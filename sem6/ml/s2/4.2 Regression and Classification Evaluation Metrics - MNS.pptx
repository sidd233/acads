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22" r:id="rId2"/>
    <p:sldId id="341" r:id="rId3"/>
    <p:sldId id="342" r:id="rId4"/>
    <p:sldId id="343" r:id="rId5"/>
    <p:sldId id="352" r:id="rId6"/>
    <p:sldId id="347" r:id="rId7"/>
    <p:sldId id="349" r:id="rId8"/>
    <p:sldId id="350" r:id="rId9"/>
    <p:sldId id="351" r:id="rId10"/>
    <p:sldId id="353" r:id="rId11"/>
    <p:sldId id="348" r:id="rId12"/>
    <p:sldId id="354" r:id="rId13"/>
    <p:sldId id="355" r:id="rId14"/>
    <p:sldId id="356" r:id="rId15"/>
    <p:sldId id="357" r:id="rId16"/>
    <p:sldId id="358" r:id="rId17"/>
    <p:sldId id="359" r:id="rId18"/>
    <p:sldId id="360" r:id="rId19"/>
    <p:sldId id="362" r:id="rId20"/>
    <p:sldId id="36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020" autoAdjust="0"/>
  </p:normalViewPr>
  <p:slideViewPr>
    <p:cSldViewPr snapToGrid="0">
      <p:cViewPr varScale="1">
        <p:scale>
          <a:sx n="66" d="100"/>
          <a:sy n="66"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E5C1A2-1C48-414A-9E42-686B93EEDFAC}"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E5926-3B22-4557-85AF-7DB0261AB173}" type="slidenum">
              <a:rPr lang="en-IN" smtClean="0"/>
              <a:t>‹#›</a:t>
            </a:fld>
            <a:endParaRPr lang="en-IN"/>
          </a:p>
        </p:txBody>
      </p:sp>
    </p:spTree>
    <p:extLst>
      <p:ext uri="{BB962C8B-B14F-4D97-AF65-F5344CB8AC3E}">
        <p14:creationId xmlns:p14="http://schemas.microsoft.com/office/powerpoint/2010/main" val="804654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dirty="0">
                <a:solidFill>
                  <a:srgbClr val="FF0000"/>
                </a:solidFill>
                <a:latin typeface="Times New Roman" panose="02020603050405020304" pitchFamily="18" charset="0"/>
                <a:cs typeface="Times New Roman" panose="02020603050405020304" pitchFamily="18" charset="0"/>
              </a:rPr>
              <a:t>R</a:t>
            </a:r>
            <a:r>
              <a:rPr lang="en-IN" sz="1200" baseline="30000" dirty="0">
                <a:solidFill>
                  <a:srgbClr val="FF0000"/>
                </a:solidFill>
                <a:latin typeface="Times New Roman" panose="02020603050405020304" pitchFamily="18" charset="0"/>
                <a:cs typeface="Times New Roman" panose="02020603050405020304" pitchFamily="18" charset="0"/>
              </a:rPr>
              <a:t>2</a:t>
            </a:r>
            <a:r>
              <a:rPr lang="en-IN" sz="1200" dirty="0">
                <a:solidFill>
                  <a:srgbClr val="FF0000"/>
                </a:solidFill>
                <a:latin typeface="Times New Roman" panose="02020603050405020304" pitchFamily="18" charset="0"/>
                <a:cs typeface="Times New Roman" panose="02020603050405020304" pitchFamily="18" charset="0"/>
              </a:rPr>
              <a:t> will remain same or increase with addition of new features. ( Suppose there were 5 features with weights w1,…, w5. Now a 6</a:t>
            </a:r>
            <a:r>
              <a:rPr lang="en-IN" sz="1200" baseline="30000" dirty="0">
                <a:solidFill>
                  <a:srgbClr val="FF0000"/>
                </a:solidFill>
                <a:latin typeface="Times New Roman" panose="02020603050405020304" pitchFamily="18" charset="0"/>
                <a:cs typeface="Times New Roman" panose="02020603050405020304" pitchFamily="18" charset="0"/>
              </a:rPr>
              <a:t>th</a:t>
            </a:r>
            <a:r>
              <a:rPr lang="en-IN" sz="1200" dirty="0">
                <a:solidFill>
                  <a:srgbClr val="FF0000"/>
                </a:solidFill>
                <a:latin typeface="Times New Roman" panose="02020603050405020304" pitchFamily="18" charset="0"/>
                <a:cs typeface="Times New Roman" panose="02020603050405020304" pitchFamily="18" charset="0"/>
              </a:rPr>
              <a:t> feature is added with weight w6 in linear regression. IF the new feature is relevant (no. of bedrooms, no. of floors, distance from airport) then w6 will have a good weightage value. IF the new feature is not relevant (</a:t>
            </a:r>
            <a:r>
              <a:rPr lang="en-IN" sz="1200" dirty="0">
                <a:latin typeface="Times New Roman" panose="02020603050405020304" pitchFamily="18" charset="0"/>
                <a:cs typeface="Times New Roman" panose="02020603050405020304" pitchFamily="18" charset="0"/>
              </a:rPr>
              <a:t>like wind-condition, temp, sky-colour on the day of sale) then w6 will be very small; The LR model tries to learn very small corelation between this irrelevant feature and the output. In fact, w6 may be Zero in the worst case – in this case the model performance is as good as the previous performance without considering this feature. So the models performance actually never decreases. So the model does not penalise the random noisy feature. </a:t>
            </a:r>
            <a:endParaRPr lang="en-IN" sz="1200" dirty="0">
              <a:solidFill>
                <a:srgbClr val="FF0000"/>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Addition of relevant features will increase R</a:t>
            </a:r>
            <a:r>
              <a:rPr lang="en-IN" sz="1200" baseline="30000" dirty="0">
                <a:latin typeface="Times New Roman" panose="02020603050405020304" pitchFamily="18" charset="0"/>
                <a:cs typeface="Times New Roman" panose="02020603050405020304" pitchFamily="18" charset="0"/>
              </a:rPr>
              <a:t>2</a:t>
            </a:r>
            <a:r>
              <a:rPr lang="en-IN" sz="1200" dirty="0">
                <a:latin typeface="Times New Roman" panose="02020603050405020304" pitchFamily="18" charset="0"/>
                <a:cs typeface="Times New Roman" panose="02020603050405020304" pitchFamily="18" charset="0"/>
              </a:rPr>
              <a:t> – Addition of no. of bedrooms can improve the model performance.</a:t>
            </a:r>
          </a:p>
          <a:p>
            <a:pPr marL="342900" indent="-34290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Addition of irrelevant features makes the learning confusing (corelation between the features and output will be confusing) – Model performance decreases and R</a:t>
            </a:r>
            <a:r>
              <a:rPr lang="en-IN" sz="1200" baseline="30000" dirty="0">
                <a:latin typeface="Times New Roman" panose="02020603050405020304" pitchFamily="18" charset="0"/>
                <a:cs typeface="Times New Roman" panose="02020603050405020304" pitchFamily="18" charset="0"/>
              </a:rPr>
              <a:t>2</a:t>
            </a:r>
            <a:r>
              <a:rPr lang="en-IN" sz="1200" dirty="0">
                <a:latin typeface="Times New Roman" panose="02020603050405020304" pitchFamily="18" charset="0"/>
                <a:cs typeface="Times New Roman" panose="02020603050405020304" pitchFamily="18" charset="0"/>
              </a:rPr>
              <a:t> should decrease. – Additions of features like wind-condition, temp, sky-colour on the day of sale.</a:t>
            </a:r>
          </a:p>
          <a:p>
            <a:pPr marL="342900" indent="-34290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But, experimentally it is found that, R</a:t>
            </a:r>
            <a:r>
              <a:rPr lang="en-IN" sz="1200" baseline="30000" dirty="0">
                <a:latin typeface="Times New Roman" panose="02020603050405020304" pitchFamily="18" charset="0"/>
                <a:cs typeface="Times New Roman" panose="02020603050405020304" pitchFamily="18" charset="0"/>
              </a:rPr>
              <a:t>2</a:t>
            </a:r>
            <a:r>
              <a:rPr lang="en-IN" sz="1200" dirty="0">
                <a:latin typeface="Times New Roman" panose="02020603050405020304" pitchFamily="18" charset="0"/>
                <a:cs typeface="Times New Roman" panose="02020603050405020304" pitchFamily="18" charset="0"/>
              </a:rPr>
              <a:t> doesn’t decrease in such cases.</a:t>
            </a:r>
          </a:p>
          <a:p>
            <a:pPr marL="342900" indent="-342900" algn="just">
              <a:buFont typeface="Arial" panose="020B0604020202020204" pitchFamily="34" charset="0"/>
              <a:buChar char="•"/>
            </a:pPr>
            <a:endParaRPr lang="en-IN" sz="1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Is there any robust metric and way to penalise the irrelevant features?</a:t>
            </a:r>
          </a:p>
          <a:p>
            <a:endParaRPr lang="en-IN" dirty="0"/>
          </a:p>
        </p:txBody>
      </p:sp>
      <p:sp>
        <p:nvSpPr>
          <p:cNvPr id="4" name="Slide Number Placeholder 3"/>
          <p:cNvSpPr>
            <a:spLocks noGrp="1"/>
          </p:cNvSpPr>
          <p:nvPr>
            <p:ph type="sldNum" sz="quarter" idx="5"/>
          </p:nvPr>
        </p:nvSpPr>
        <p:spPr/>
        <p:txBody>
          <a:bodyPr/>
          <a:lstStyle/>
          <a:p>
            <a:fld id="{CBBE5926-3B22-4557-85AF-7DB0261AB173}" type="slidenum">
              <a:rPr lang="en-IN" smtClean="0"/>
              <a:t>9</a:t>
            </a:fld>
            <a:endParaRPr lang="en-IN"/>
          </a:p>
        </p:txBody>
      </p:sp>
    </p:spTree>
    <p:extLst>
      <p:ext uri="{BB962C8B-B14F-4D97-AF65-F5344CB8AC3E}">
        <p14:creationId xmlns:p14="http://schemas.microsoft.com/office/powerpoint/2010/main" val="3908067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7A521-ADFE-6A3D-C24B-1D51790D5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A6BD9-F394-AE80-988D-1DFFE0A83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82B68-53AF-81DE-7070-7298C57A43F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60F95E-D4B0-E2A7-14BD-92C9B7ED0AF2}"/>
              </a:ext>
            </a:extLst>
          </p:cNvPr>
          <p:cNvSpPr>
            <a:spLocks noGrp="1"/>
          </p:cNvSpPr>
          <p:nvPr>
            <p:ph type="sldNum" sz="quarter" idx="5"/>
          </p:nvPr>
        </p:nvSpPr>
        <p:spPr/>
        <p:txBody>
          <a:bodyPr/>
          <a:lstStyle/>
          <a:p>
            <a:fld id="{CBBE5926-3B22-4557-85AF-7DB0261AB173}" type="slidenum">
              <a:rPr lang="en-IN" smtClean="0"/>
              <a:t>10</a:t>
            </a:fld>
            <a:endParaRPr lang="en-IN"/>
          </a:p>
        </p:txBody>
      </p:sp>
    </p:spTree>
    <p:extLst>
      <p:ext uri="{BB962C8B-B14F-4D97-AF65-F5344CB8AC3E}">
        <p14:creationId xmlns:p14="http://schemas.microsoft.com/office/powerpoint/2010/main" val="3989846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BE5926-3B22-4557-85AF-7DB0261AB173}" type="slidenum">
              <a:rPr lang="en-IN" smtClean="0"/>
              <a:t>14</a:t>
            </a:fld>
            <a:endParaRPr lang="en-IN"/>
          </a:p>
        </p:txBody>
      </p:sp>
    </p:spTree>
    <p:extLst>
      <p:ext uri="{BB962C8B-B14F-4D97-AF65-F5344CB8AC3E}">
        <p14:creationId xmlns:p14="http://schemas.microsoft.com/office/powerpoint/2010/main" val="1669980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BBE5926-3B22-4557-85AF-7DB0261AB173}" type="slidenum">
              <a:rPr lang="en-IN" smtClean="0"/>
              <a:t>18</a:t>
            </a:fld>
            <a:endParaRPr lang="en-IN"/>
          </a:p>
        </p:txBody>
      </p:sp>
    </p:spTree>
    <p:extLst>
      <p:ext uri="{BB962C8B-B14F-4D97-AF65-F5344CB8AC3E}">
        <p14:creationId xmlns:p14="http://schemas.microsoft.com/office/powerpoint/2010/main" val="3192954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1BCFB-1A0F-B991-22C1-1E54B31AA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591079-BAA6-0493-5B61-9751B74D34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9ECAB6-E688-2EEA-0536-5399C3E3ADB4}"/>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5" name="Footer Placeholder 4">
            <a:extLst>
              <a:ext uri="{FF2B5EF4-FFF2-40B4-BE49-F238E27FC236}">
                <a16:creationId xmlns:a16="http://schemas.microsoft.com/office/drawing/2014/main" id="{9B39F9E2-47BF-4F75-AEA0-1FAA1B1B54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04EFAA-574C-A150-213B-9D06038430CE}"/>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193598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AAEC-8B8D-BFF9-7CE5-A4B82BE3038D}"/>
              </a:ext>
            </a:extLst>
          </p:cNvPr>
          <p:cNvSpPr>
            <a:spLocks noGrp="1"/>
          </p:cNvSpPr>
          <p:nvPr>
            <p:ph type="title"/>
          </p:nvPr>
        </p:nvSpPr>
        <p:spPr>
          <a:xfrm>
            <a:off x="480847" y="168051"/>
            <a:ext cx="11209283" cy="746344"/>
          </a:xfrm>
        </p:spPr>
        <p:txBody>
          <a:bodyPr>
            <a:normAutofit/>
          </a:bodyPr>
          <a:lstStyle>
            <a:lvl1pPr>
              <a:defRPr sz="4000" b="1">
                <a:solidFill>
                  <a:schemeClr val="accent2"/>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D31AA3D9-F113-6BB1-6D4A-F7B86EE10F84}"/>
              </a:ext>
            </a:extLst>
          </p:cNvPr>
          <p:cNvSpPr>
            <a:spLocks noGrp="1"/>
          </p:cNvSpPr>
          <p:nvPr>
            <p:ph idx="1"/>
          </p:nvPr>
        </p:nvSpPr>
        <p:spPr>
          <a:xfrm>
            <a:off x="480847" y="969579"/>
            <a:ext cx="11209283" cy="5207384"/>
          </a:xfrm>
        </p:spPr>
        <p:txBody>
          <a:bodyPr/>
          <a:lstStyle>
            <a:lvl1pPr>
              <a:lnSpc>
                <a:spcPct val="114000"/>
              </a:lnSpc>
              <a:defRPr>
                <a:latin typeface="Times New Roman" panose="02020603050405020304" pitchFamily="18" charset="0"/>
                <a:cs typeface="Times New Roman" panose="02020603050405020304" pitchFamily="18" charset="0"/>
              </a:defRPr>
            </a:lvl1pPr>
            <a:lvl2pPr marL="685800" indent="-228600">
              <a:lnSpc>
                <a:spcPct val="114000"/>
              </a:lnSpc>
              <a:buFont typeface="Aptos" panose="020B0004020202020204" pitchFamily="34" charset="0"/>
              <a:buChar char="–"/>
              <a:defRPr>
                <a:latin typeface="Times New Roman" panose="02020603050405020304" pitchFamily="18" charset="0"/>
                <a:cs typeface="Times New Roman" panose="02020603050405020304" pitchFamily="18" charset="0"/>
              </a:defRPr>
            </a:lvl2pPr>
            <a:lvl3pPr marL="1143000" indent="-228600">
              <a:lnSpc>
                <a:spcPct val="114000"/>
              </a:lnSpc>
              <a:buFont typeface="Wingdings" panose="05000000000000000000" pitchFamily="2" charset="2"/>
              <a:buChar char="§"/>
              <a:defRPr>
                <a:latin typeface="Times New Roman" panose="02020603050405020304" pitchFamily="18" charset="0"/>
                <a:cs typeface="Times New Roman" panose="02020603050405020304" pitchFamily="18" charset="0"/>
              </a:defRPr>
            </a:lvl3pPr>
            <a:lvl4pPr>
              <a:lnSpc>
                <a:spcPct val="114000"/>
              </a:lnSpc>
              <a:defRPr>
                <a:latin typeface="Times New Roman" panose="02020603050405020304" pitchFamily="18" charset="0"/>
                <a:cs typeface="Times New Roman" panose="02020603050405020304" pitchFamily="18" charset="0"/>
              </a:defRPr>
            </a:lvl4pPr>
            <a:lvl5pPr>
              <a:lnSpc>
                <a:spcPct val="114000"/>
              </a:lnSpc>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CF3A9703-5B9A-5C5E-C671-0248AA0DEF31}"/>
              </a:ext>
            </a:extLst>
          </p:cNvPr>
          <p:cNvSpPr>
            <a:spLocks noGrp="1"/>
          </p:cNvSpPr>
          <p:nvPr>
            <p:ph type="dt" sz="half" idx="10"/>
          </p:nvPr>
        </p:nvSpPr>
        <p:spPr>
          <a:xfrm>
            <a:off x="467705" y="6356350"/>
            <a:ext cx="2743200" cy="365125"/>
          </a:xfrm>
        </p:spPr>
        <p:txBody>
          <a:bodyPr/>
          <a:lstStyle>
            <a:lvl1pPr>
              <a:defRPr>
                <a:latin typeface="Times New Roman" panose="02020603050405020304" pitchFamily="18" charset="0"/>
                <a:cs typeface="Times New Roman" panose="02020603050405020304" pitchFamily="18" charset="0"/>
              </a:defRPr>
            </a:lvl1pPr>
          </a:lstStyle>
          <a:p>
            <a:fld id="{A3B42A0E-D9AA-4109-9F59-4571262129CE}" type="datetimeFigureOut">
              <a:rPr lang="en-IN" smtClean="0"/>
              <a:pPr/>
              <a:t>28-01-2026</a:t>
            </a:fld>
            <a:endParaRPr lang="en-IN"/>
          </a:p>
        </p:txBody>
      </p:sp>
      <p:sp>
        <p:nvSpPr>
          <p:cNvPr id="5" name="Footer Placeholder 4">
            <a:extLst>
              <a:ext uri="{FF2B5EF4-FFF2-40B4-BE49-F238E27FC236}">
                <a16:creationId xmlns:a16="http://schemas.microsoft.com/office/drawing/2014/main" id="{3F02F71F-7B45-9841-9586-E66B6D769778}"/>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IN"/>
          </a:p>
        </p:txBody>
      </p:sp>
      <p:sp>
        <p:nvSpPr>
          <p:cNvPr id="6" name="Slide Number Placeholder 5">
            <a:extLst>
              <a:ext uri="{FF2B5EF4-FFF2-40B4-BE49-F238E27FC236}">
                <a16:creationId xmlns:a16="http://schemas.microsoft.com/office/drawing/2014/main" id="{391EE4AD-99C3-1121-2125-D2AE187ABA82}"/>
              </a:ext>
            </a:extLst>
          </p:cNvPr>
          <p:cNvSpPr>
            <a:spLocks noGrp="1"/>
          </p:cNvSpPr>
          <p:nvPr>
            <p:ph type="sldNum" sz="quarter" idx="12"/>
          </p:nvPr>
        </p:nvSpPr>
        <p:spPr>
          <a:xfrm>
            <a:off x="8973215" y="6356350"/>
            <a:ext cx="2743200" cy="365125"/>
          </a:xfrm>
        </p:spPr>
        <p:txBody>
          <a:bodyPr/>
          <a:lstStyle>
            <a:lvl1pPr>
              <a:defRPr>
                <a:latin typeface="Times New Roman" panose="02020603050405020304" pitchFamily="18" charset="0"/>
                <a:cs typeface="Times New Roman" panose="02020603050405020304" pitchFamily="18" charset="0"/>
              </a:defRPr>
            </a:lvl1pPr>
          </a:lstStyle>
          <a:p>
            <a:fld id="{F36F8E9E-56DC-474A-88F8-FF4DD6EC87E1}" type="slidenum">
              <a:rPr lang="en-IN" smtClean="0"/>
              <a:pPr/>
              <a:t>‹#›</a:t>
            </a:fld>
            <a:endParaRPr lang="en-IN"/>
          </a:p>
        </p:txBody>
      </p:sp>
    </p:spTree>
    <p:extLst>
      <p:ext uri="{BB962C8B-B14F-4D97-AF65-F5344CB8AC3E}">
        <p14:creationId xmlns:p14="http://schemas.microsoft.com/office/powerpoint/2010/main" val="2944131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7A90-79E9-803F-8BBB-2AEF70C826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3747C7-00A6-DEE7-FBF5-7CF3186569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DA9364-495C-E98D-D260-D16874C19E8C}"/>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5" name="Footer Placeholder 4">
            <a:extLst>
              <a:ext uri="{FF2B5EF4-FFF2-40B4-BE49-F238E27FC236}">
                <a16:creationId xmlns:a16="http://schemas.microsoft.com/office/drawing/2014/main" id="{CCF0D8BE-BF74-7CB8-CAE5-EBC5876C3E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3E6344-D752-342B-B47D-D215132F9EC7}"/>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2320867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99109-49D7-5640-F4B4-7ED9548F75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515594-8BA7-E92A-1D3D-F782DC584A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9B7743-465E-4B6C-987F-820285C0C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CB6204-F8C1-41A2-6135-7EF3F4AA0168}"/>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6" name="Footer Placeholder 5">
            <a:extLst>
              <a:ext uri="{FF2B5EF4-FFF2-40B4-BE49-F238E27FC236}">
                <a16:creationId xmlns:a16="http://schemas.microsoft.com/office/drawing/2014/main" id="{C1963826-8462-2422-189D-807170BA81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435F2A-1F16-CF9E-4292-D46FCEE792E8}"/>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4140450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5239A-24D3-D0C8-0260-D854171548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96D429-2983-25F0-B202-9EF5F91A0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0D1F79-06FB-E93A-E7DA-2F0CE5E4F7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2C68E0-7033-135B-802D-DA4C3EEEE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EEFCD-A6D7-E838-1E5A-DDC0ACA63D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24FC71-DE61-6F99-57FC-3101F0D01D60}"/>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8" name="Footer Placeholder 7">
            <a:extLst>
              <a:ext uri="{FF2B5EF4-FFF2-40B4-BE49-F238E27FC236}">
                <a16:creationId xmlns:a16="http://schemas.microsoft.com/office/drawing/2014/main" id="{49CAB66A-62FE-DD53-7574-AF1C61B37A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C283D3-72B9-AC55-FFE3-6EBDB0607FC9}"/>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3143777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61CB-0BB9-D84B-731D-28A68ED7ED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B6DF9B-60A5-E189-EB53-7AFFA8B0DA32}"/>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4" name="Footer Placeholder 3">
            <a:extLst>
              <a:ext uri="{FF2B5EF4-FFF2-40B4-BE49-F238E27FC236}">
                <a16:creationId xmlns:a16="http://schemas.microsoft.com/office/drawing/2014/main" id="{EAE46C62-9BCC-22F4-FCAA-80B593629DD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24A15-28E3-FB90-CEDB-D7D55D08C6D9}"/>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58967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B2AAD1-16EA-2D84-7EC9-3049E6ACADAC}"/>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3" name="Footer Placeholder 2">
            <a:extLst>
              <a:ext uri="{FF2B5EF4-FFF2-40B4-BE49-F238E27FC236}">
                <a16:creationId xmlns:a16="http://schemas.microsoft.com/office/drawing/2014/main" id="{FBC3858C-A4CD-2C98-B6FA-281CCE42C0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68FBF19-0631-F4AB-3990-549547F6E3B2}"/>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1025868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7182-CAC5-55B4-FEC3-338DFDB197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FA7093-FB28-75A6-2C0A-47F86C7AB7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CCBEA9-BA66-5EF3-E57F-5D37F0A33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48AA61-A86A-207C-CBBE-7443C8A3876D}"/>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6" name="Footer Placeholder 5">
            <a:extLst>
              <a:ext uri="{FF2B5EF4-FFF2-40B4-BE49-F238E27FC236}">
                <a16:creationId xmlns:a16="http://schemas.microsoft.com/office/drawing/2014/main" id="{CB8390E7-2969-A4E3-D54E-F995706A59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13F25D-86FA-EEEC-AB6F-90E414E00A2E}"/>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600842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F5DBE-F924-16E7-9A8A-C1B43A7CDF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A0F8BF-613A-00F3-5172-720A3C526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9978B0-6F3E-6A81-86F1-11598762FD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2A8DC5-752B-D198-F9CE-9B0472C44831}"/>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6" name="Footer Placeholder 5">
            <a:extLst>
              <a:ext uri="{FF2B5EF4-FFF2-40B4-BE49-F238E27FC236}">
                <a16:creationId xmlns:a16="http://schemas.microsoft.com/office/drawing/2014/main" id="{21B2BF6A-35F3-9EE7-083F-9387898DDD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62A4B1-AD28-CE33-0EC3-DA26B94B47CB}"/>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365293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ACA01-1E6A-CB74-703B-D7025738B5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681257-CB77-4162-8101-33BD3194E6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E284E5-6978-540A-8E0C-5B736AF7B51F}"/>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5" name="Footer Placeholder 4">
            <a:extLst>
              <a:ext uri="{FF2B5EF4-FFF2-40B4-BE49-F238E27FC236}">
                <a16:creationId xmlns:a16="http://schemas.microsoft.com/office/drawing/2014/main" id="{4ADD429A-3434-E83E-8504-74D1866E2A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0DF9A3-34D0-4AEA-1C5B-AA650A1348A6}"/>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566811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4A0EF2-A85C-9C9C-52DA-95A0E652BA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47A022-12FF-73CD-1AC8-1A62BE68CB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39E6B4-849E-C051-537F-BFE1F7A8387B}"/>
              </a:ext>
            </a:extLst>
          </p:cNvPr>
          <p:cNvSpPr>
            <a:spLocks noGrp="1"/>
          </p:cNvSpPr>
          <p:nvPr>
            <p:ph type="dt" sz="half" idx="10"/>
          </p:nvPr>
        </p:nvSpPr>
        <p:spPr/>
        <p:txBody>
          <a:bodyPr/>
          <a:lstStyle/>
          <a:p>
            <a:fld id="{A3B42A0E-D9AA-4109-9F59-4571262129CE}" type="datetimeFigureOut">
              <a:rPr lang="en-IN" smtClean="0"/>
              <a:t>28-01-2026</a:t>
            </a:fld>
            <a:endParaRPr lang="en-IN"/>
          </a:p>
        </p:txBody>
      </p:sp>
      <p:sp>
        <p:nvSpPr>
          <p:cNvPr id="5" name="Footer Placeholder 4">
            <a:extLst>
              <a:ext uri="{FF2B5EF4-FFF2-40B4-BE49-F238E27FC236}">
                <a16:creationId xmlns:a16="http://schemas.microsoft.com/office/drawing/2014/main" id="{2A4FB909-A582-43D6-4CFE-48F096A153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EB8AAA-18D1-B83C-AAFA-9E38634EDAED}"/>
              </a:ext>
            </a:extLst>
          </p:cNvPr>
          <p:cNvSpPr>
            <a:spLocks noGrp="1"/>
          </p:cNvSpPr>
          <p:nvPr>
            <p:ph type="sldNum" sz="quarter" idx="12"/>
          </p:nvPr>
        </p:nvSpPr>
        <p:spPr/>
        <p:txBody>
          <a:bodyPr/>
          <a:lstStyle/>
          <a:p>
            <a:fld id="{F36F8E9E-56DC-474A-88F8-FF4DD6EC87E1}" type="slidenum">
              <a:rPr lang="en-IN" smtClean="0"/>
              <a:t>‹#›</a:t>
            </a:fld>
            <a:endParaRPr lang="en-IN"/>
          </a:p>
        </p:txBody>
      </p:sp>
    </p:spTree>
    <p:extLst>
      <p:ext uri="{BB962C8B-B14F-4D97-AF65-F5344CB8AC3E}">
        <p14:creationId xmlns:p14="http://schemas.microsoft.com/office/powerpoint/2010/main" val="4166296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2F051-F95D-DEB3-C2B0-75B670A34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402AE3-E0A8-2AF3-C397-733ACE882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FFC909-DF34-3AB3-CC71-5A24CDA9F5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B42A0E-D9AA-4109-9F59-4571262129CE}" type="datetimeFigureOut">
              <a:rPr lang="en-IN" smtClean="0"/>
              <a:t>28-01-2026</a:t>
            </a:fld>
            <a:endParaRPr lang="en-IN"/>
          </a:p>
        </p:txBody>
      </p:sp>
      <p:sp>
        <p:nvSpPr>
          <p:cNvPr id="5" name="Footer Placeholder 4">
            <a:extLst>
              <a:ext uri="{FF2B5EF4-FFF2-40B4-BE49-F238E27FC236}">
                <a16:creationId xmlns:a16="http://schemas.microsoft.com/office/drawing/2014/main" id="{E5A86499-4D04-54D2-5BE4-3180DE1648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889D7AB-D3EB-3B2C-9AD0-FF7B9D2800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6F8E9E-56DC-474A-88F8-FF4DD6EC87E1}" type="slidenum">
              <a:rPr lang="en-IN" smtClean="0"/>
              <a:t>‹#›</a:t>
            </a:fld>
            <a:endParaRPr lang="en-IN"/>
          </a:p>
        </p:txBody>
      </p:sp>
    </p:spTree>
    <p:extLst>
      <p:ext uri="{BB962C8B-B14F-4D97-AF65-F5344CB8AC3E}">
        <p14:creationId xmlns:p14="http://schemas.microsoft.com/office/powerpoint/2010/main" val="3051903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58639-8490-3358-34E1-390F4AD218FA}"/>
              </a:ext>
            </a:extLst>
          </p:cNvPr>
          <p:cNvSpPr>
            <a:spLocks noGrp="1"/>
          </p:cNvSpPr>
          <p:nvPr>
            <p:ph type="title"/>
          </p:nvPr>
        </p:nvSpPr>
        <p:spPr>
          <a:xfrm>
            <a:off x="480847" y="168051"/>
            <a:ext cx="11209283" cy="6008912"/>
          </a:xfrm>
        </p:spPr>
        <p:txBody>
          <a:bodyPr>
            <a:normAutofit/>
          </a:bodyPr>
          <a:lstStyle/>
          <a:p>
            <a:pPr algn="ctr"/>
            <a:r>
              <a:rPr lang="en-GB" sz="4800" dirty="0">
                <a:solidFill>
                  <a:schemeClr val="accent1"/>
                </a:solidFill>
              </a:rPr>
              <a:t>Regression and Classification</a:t>
            </a:r>
            <a:br>
              <a:rPr lang="en-GB" sz="4800" dirty="0">
                <a:solidFill>
                  <a:schemeClr val="accent1"/>
                </a:solidFill>
              </a:rPr>
            </a:br>
            <a:br>
              <a:rPr lang="en-GB" sz="4800" dirty="0">
                <a:solidFill>
                  <a:schemeClr val="accent1"/>
                </a:solidFill>
              </a:rPr>
            </a:br>
            <a:r>
              <a:rPr lang="en-GB" sz="4800" dirty="0">
                <a:solidFill>
                  <a:schemeClr val="accent1"/>
                </a:solidFill>
              </a:rPr>
              <a:t>Performance Evaluation Metrics</a:t>
            </a:r>
            <a:endParaRPr lang="en-IN" sz="4800" dirty="0">
              <a:solidFill>
                <a:schemeClr val="accent1"/>
              </a:solidFill>
            </a:endParaRPr>
          </a:p>
        </p:txBody>
      </p:sp>
      <p:cxnSp>
        <p:nvCxnSpPr>
          <p:cNvPr id="5" name="Straight Connector 4">
            <a:extLst>
              <a:ext uri="{FF2B5EF4-FFF2-40B4-BE49-F238E27FC236}">
                <a16:creationId xmlns:a16="http://schemas.microsoft.com/office/drawing/2014/main" id="{2A30FDD4-8D92-1819-D906-0109CD81269A}"/>
              </a:ext>
            </a:extLst>
          </p:cNvPr>
          <p:cNvCxnSpPr/>
          <p:nvPr/>
        </p:nvCxnSpPr>
        <p:spPr>
          <a:xfrm>
            <a:off x="1485902" y="3249386"/>
            <a:ext cx="9144000" cy="0"/>
          </a:xfrm>
          <a:prstGeom prst="line">
            <a:avLst/>
          </a:prstGeom>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2239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0C4C6-24D4-CE9C-15CD-8901A18B2331}"/>
              </a:ext>
            </a:extLst>
          </p:cNvPr>
          <p:cNvSpPr>
            <a:spLocks noGrp="1"/>
          </p:cNvSpPr>
          <p:nvPr>
            <p:ph type="title"/>
          </p:nvPr>
        </p:nvSpPr>
        <p:spPr/>
        <p:txBody>
          <a:bodyPr/>
          <a:lstStyle/>
          <a:p>
            <a:r>
              <a:rPr lang="en-IN" dirty="0"/>
              <a:t>Why are metrics important?</a:t>
            </a:r>
          </a:p>
        </p:txBody>
      </p:sp>
      <p:sp>
        <p:nvSpPr>
          <p:cNvPr id="3" name="Content Placeholder 2">
            <a:extLst>
              <a:ext uri="{FF2B5EF4-FFF2-40B4-BE49-F238E27FC236}">
                <a16:creationId xmlns:a16="http://schemas.microsoft.com/office/drawing/2014/main" id="{22312B5F-EA9B-EFFF-3D21-53117EC34346}"/>
              </a:ext>
            </a:extLst>
          </p:cNvPr>
          <p:cNvSpPr>
            <a:spLocks noGrp="1"/>
          </p:cNvSpPr>
          <p:nvPr>
            <p:ph idx="1"/>
          </p:nvPr>
        </p:nvSpPr>
        <p:spPr/>
        <p:txBody>
          <a:bodyPr/>
          <a:lstStyle/>
          <a:p>
            <a:r>
              <a:rPr lang="en-GB" dirty="0"/>
              <a:t>Training objective (cost function) is only a proxy for real world objectives.</a:t>
            </a:r>
          </a:p>
          <a:p>
            <a:r>
              <a:rPr lang="en-GB" dirty="0"/>
              <a:t>Metrics help capture a business goal into a quantitative target (not all errors are equal).</a:t>
            </a:r>
          </a:p>
          <a:p>
            <a:r>
              <a:rPr lang="en-GB" dirty="0"/>
              <a:t>Helps organize ML team effort towards that target.</a:t>
            </a:r>
          </a:p>
          <a:p>
            <a:pPr lvl="1"/>
            <a:r>
              <a:rPr lang="en-GB" dirty="0"/>
              <a:t>Generally, in the form of improving that metric.</a:t>
            </a:r>
          </a:p>
          <a:p>
            <a:endParaRPr lang="en-IN" dirty="0"/>
          </a:p>
        </p:txBody>
      </p:sp>
    </p:spTree>
    <p:extLst>
      <p:ext uri="{BB962C8B-B14F-4D97-AF65-F5344CB8AC3E}">
        <p14:creationId xmlns:p14="http://schemas.microsoft.com/office/powerpoint/2010/main" val="1196511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96725-4EBE-3564-40B3-19AA5D95EE6B}"/>
              </a:ext>
            </a:extLst>
          </p:cNvPr>
          <p:cNvSpPr>
            <a:spLocks noGrp="1"/>
          </p:cNvSpPr>
          <p:nvPr>
            <p:ph type="title"/>
          </p:nvPr>
        </p:nvSpPr>
        <p:spPr/>
        <p:txBody>
          <a:bodyPr/>
          <a:lstStyle/>
          <a:p>
            <a:r>
              <a:rPr lang="en-GB" dirty="0"/>
              <a:t>Regession Metrics</a:t>
            </a:r>
            <a:endParaRPr lang="en-IN" dirty="0"/>
          </a:p>
        </p:txBody>
      </p:sp>
      <p:sp>
        <p:nvSpPr>
          <p:cNvPr id="3" name="Content Placeholder 2">
            <a:extLst>
              <a:ext uri="{FF2B5EF4-FFF2-40B4-BE49-F238E27FC236}">
                <a16:creationId xmlns:a16="http://schemas.microsoft.com/office/drawing/2014/main" id="{B39C35D9-4391-9BB7-F419-7AA50C3877A9}"/>
              </a:ext>
            </a:extLst>
          </p:cNvPr>
          <p:cNvSpPr>
            <a:spLocks noGrp="1"/>
          </p:cNvSpPr>
          <p:nvPr>
            <p:ph idx="1"/>
          </p:nvPr>
        </p:nvSpPr>
        <p:spPr/>
        <p:txBody>
          <a:bodyPr/>
          <a:lstStyle/>
          <a:p>
            <a:r>
              <a:rPr lang="en-GB" dirty="0"/>
              <a:t>MAE (Mean Absolute Error)</a:t>
            </a:r>
          </a:p>
          <a:p>
            <a:r>
              <a:rPr lang="en-GB" dirty="0"/>
              <a:t>MSE (Mean Square Error)</a:t>
            </a:r>
          </a:p>
          <a:p>
            <a:r>
              <a:rPr lang="en-GB" dirty="0"/>
              <a:t>RMSE (Root Mean Square Error)</a:t>
            </a:r>
          </a:p>
          <a:p>
            <a:r>
              <a:rPr lang="en-GB" dirty="0"/>
              <a:t>RMSLE (Root Mean Square Log Error)</a:t>
            </a:r>
          </a:p>
          <a:p>
            <a:r>
              <a:rPr lang="en-GB" dirty="0"/>
              <a:t>Relative Square Error</a:t>
            </a:r>
          </a:p>
          <a:p>
            <a:r>
              <a:rPr lang="en-GB" dirty="0"/>
              <a:t>R</a:t>
            </a:r>
            <a:r>
              <a:rPr lang="en-GB" baseline="30000" dirty="0"/>
              <a:t>2</a:t>
            </a:r>
            <a:r>
              <a:rPr lang="en-GB" dirty="0"/>
              <a:t> </a:t>
            </a:r>
          </a:p>
          <a:p>
            <a:r>
              <a:rPr lang="en-GB" dirty="0"/>
              <a:t>Adjusted R</a:t>
            </a:r>
            <a:r>
              <a:rPr lang="en-GB" baseline="30000" dirty="0"/>
              <a:t>2</a:t>
            </a:r>
            <a:endParaRPr lang="en-IN" dirty="0"/>
          </a:p>
        </p:txBody>
      </p:sp>
    </p:spTree>
    <p:extLst>
      <p:ext uri="{BB962C8B-B14F-4D97-AF65-F5344CB8AC3E}">
        <p14:creationId xmlns:p14="http://schemas.microsoft.com/office/powerpoint/2010/main" val="2982835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C791C-E50A-63EF-DCEA-4CC4D9A93207}"/>
              </a:ext>
            </a:extLst>
          </p:cNvPr>
          <p:cNvSpPr>
            <a:spLocks noGrp="1"/>
          </p:cNvSpPr>
          <p:nvPr>
            <p:ph type="title"/>
          </p:nvPr>
        </p:nvSpPr>
        <p:spPr/>
        <p:txBody>
          <a:bodyPr/>
          <a:lstStyle/>
          <a:p>
            <a:r>
              <a:rPr lang="en-GB" dirty="0"/>
              <a:t>Regression Metrics</a:t>
            </a:r>
            <a:endParaRPr lang="en-IN" dirty="0"/>
          </a:p>
        </p:txBody>
      </p:sp>
      <p:sp>
        <p:nvSpPr>
          <p:cNvPr id="3" name="Content Placeholder 2">
            <a:extLst>
              <a:ext uri="{FF2B5EF4-FFF2-40B4-BE49-F238E27FC236}">
                <a16:creationId xmlns:a16="http://schemas.microsoft.com/office/drawing/2014/main" id="{B9EE755E-2022-BF62-6802-6E0F24C2D429}"/>
              </a:ext>
            </a:extLst>
          </p:cNvPr>
          <p:cNvSpPr>
            <a:spLocks noGrp="1"/>
          </p:cNvSpPr>
          <p:nvPr>
            <p:ph idx="1"/>
          </p:nvPr>
        </p:nvSpPr>
        <p:spPr>
          <a:xfrm>
            <a:off x="480847" y="1042219"/>
            <a:ext cx="7148985" cy="1868129"/>
          </a:xfrm>
        </p:spPr>
        <p:txBody>
          <a:bodyPr>
            <a:normAutofit/>
          </a:bodyPr>
          <a:lstStyle/>
          <a:p>
            <a:pPr marL="0" indent="0">
              <a:lnSpc>
                <a:spcPct val="100000"/>
              </a:lnSpc>
              <a:spcBef>
                <a:spcPts val="600"/>
              </a:spcBef>
              <a:buNone/>
            </a:pPr>
            <a:r>
              <a:rPr lang="en-GB" sz="2400" b="1" dirty="0"/>
              <a:t>What is Error?</a:t>
            </a:r>
          </a:p>
          <a:p>
            <a:pPr>
              <a:lnSpc>
                <a:spcPct val="100000"/>
              </a:lnSpc>
              <a:spcBef>
                <a:spcPts val="600"/>
              </a:spcBef>
            </a:pPr>
            <a:r>
              <a:rPr lang="en-GB" sz="2400" dirty="0"/>
              <a:t>Sum of error = 0</a:t>
            </a:r>
          </a:p>
          <a:p>
            <a:pPr>
              <a:lnSpc>
                <a:spcPct val="100000"/>
              </a:lnSpc>
              <a:spcBef>
                <a:spcPts val="600"/>
              </a:spcBef>
            </a:pPr>
            <a:r>
              <a:rPr lang="en-GB" sz="2400" dirty="0">
                <a:solidFill>
                  <a:srgbClr val="FF0000"/>
                </a:solidFill>
              </a:rPr>
              <a:t>Doesn’t help!!</a:t>
            </a:r>
          </a:p>
          <a:p>
            <a:pPr>
              <a:lnSpc>
                <a:spcPct val="100000"/>
              </a:lnSpc>
              <a:spcBef>
                <a:spcPts val="600"/>
              </a:spcBef>
            </a:pPr>
            <a:r>
              <a:rPr lang="en-GB" sz="2400" dirty="0">
                <a:solidFill>
                  <a:schemeClr val="accent6"/>
                </a:solidFill>
              </a:rPr>
              <a:t>Solution: Consider </a:t>
            </a:r>
            <a:r>
              <a:rPr lang="en-GB" sz="2400" i="1" dirty="0">
                <a:solidFill>
                  <a:schemeClr val="accent6"/>
                </a:solidFill>
              </a:rPr>
              <a:t>absolute </a:t>
            </a:r>
            <a:r>
              <a:rPr lang="en-GB" sz="2400" dirty="0">
                <a:solidFill>
                  <a:schemeClr val="accent6"/>
                </a:solidFill>
              </a:rPr>
              <a:t>or </a:t>
            </a:r>
            <a:r>
              <a:rPr lang="en-GB" sz="2400" i="1" dirty="0">
                <a:solidFill>
                  <a:schemeClr val="accent6"/>
                </a:solidFill>
              </a:rPr>
              <a:t>square </a:t>
            </a:r>
            <a:r>
              <a:rPr lang="en-GB" sz="2400" dirty="0">
                <a:solidFill>
                  <a:schemeClr val="accent6"/>
                </a:solidFill>
              </a:rPr>
              <a:t>of the error</a:t>
            </a:r>
            <a:endParaRPr lang="en-IN" sz="2400" dirty="0">
              <a:solidFill>
                <a:schemeClr val="accent6"/>
              </a:solidFill>
            </a:endParaRPr>
          </a:p>
        </p:txBody>
      </p:sp>
      <p:pic>
        <p:nvPicPr>
          <p:cNvPr id="7" name="Picture 6">
            <a:extLst>
              <a:ext uri="{FF2B5EF4-FFF2-40B4-BE49-F238E27FC236}">
                <a16:creationId xmlns:a16="http://schemas.microsoft.com/office/drawing/2014/main" id="{EBB46CBF-F683-9920-B956-F2BF9EDF9A2F}"/>
              </a:ext>
            </a:extLst>
          </p:cNvPr>
          <p:cNvPicPr>
            <a:picLocks noChangeAspect="1"/>
          </p:cNvPicPr>
          <p:nvPr/>
        </p:nvPicPr>
        <p:blipFill>
          <a:blip r:embed="rId2"/>
          <a:stretch>
            <a:fillRect/>
          </a:stretch>
        </p:blipFill>
        <p:spPr>
          <a:xfrm>
            <a:off x="7933929" y="3527767"/>
            <a:ext cx="3995057" cy="3162182"/>
          </a:xfrm>
          <a:prstGeom prst="rect">
            <a:avLst/>
          </a:prstGeom>
        </p:spPr>
      </p:pic>
      <p:graphicFrame>
        <p:nvGraphicFramePr>
          <p:cNvPr id="10" name="Table 9">
            <a:extLst>
              <a:ext uri="{FF2B5EF4-FFF2-40B4-BE49-F238E27FC236}">
                <a16:creationId xmlns:a16="http://schemas.microsoft.com/office/drawing/2014/main" id="{776859E2-FAA8-38FB-6558-744C08BEDE4A}"/>
              </a:ext>
            </a:extLst>
          </p:cNvPr>
          <p:cNvGraphicFramePr>
            <a:graphicFrameLocks noGrp="1"/>
          </p:cNvGraphicFramePr>
          <p:nvPr>
            <p:extLst>
              <p:ext uri="{D42A27DB-BD31-4B8C-83A1-F6EECF244321}">
                <p14:modId xmlns:p14="http://schemas.microsoft.com/office/powerpoint/2010/main" val="3145557256"/>
              </p:ext>
            </p:extLst>
          </p:nvPr>
        </p:nvGraphicFramePr>
        <p:xfrm>
          <a:off x="7933929" y="589935"/>
          <a:ext cx="3919737" cy="2839063"/>
        </p:xfrm>
        <a:graphic>
          <a:graphicData uri="http://schemas.openxmlformats.org/drawingml/2006/table">
            <a:tbl>
              <a:tblPr firstRow="1" bandRow="1">
                <a:tableStyleId>{5940675A-B579-460E-94D1-54222C63F5DA}</a:tableStyleId>
              </a:tblPr>
              <a:tblGrid>
                <a:gridCol w="1306579">
                  <a:extLst>
                    <a:ext uri="{9D8B030D-6E8A-4147-A177-3AD203B41FA5}">
                      <a16:colId xmlns:a16="http://schemas.microsoft.com/office/drawing/2014/main" val="1713279818"/>
                    </a:ext>
                  </a:extLst>
                </a:gridCol>
                <a:gridCol w="1306579">
                  <a:extLst>
                    <a:ext uri="{9D8B030D-6E8A-4147-A177-3AD203B41FA5}">
                      <a16:colId xmlns:a16="http://schemas.microsoft.com/office/drawing/2014/main" val="3193451463"/>
                    </a:ext>
                  </a:extLst>
                </a:gridCol>
                <a:gridCol w="1306579">
                  <a:extLst>
                    <a:ext uri="{9D8B030D-6E8A-4147-A177-3AD203B41FA5}">
                      <a16:colId xmlns:a16="http://schemas.microsoft.com/office/drawing/2014/main" val="872614048"/>
                    </a:ext>
                  </a:extLst>
                </a:gridCol>
              </a:tblGrid>
              <a:tr h="714623">
                <a:tc>
                  <a:txBody>
                    <a:bodyPr/>
                    <a:lstStyle/>
                    <a:p>
                      <a:pPr algn="ctr"/>
                      <a:r>
                        <a:rPr lang="en-GB" b="1" dirty="0"/>
                        <a:t>Actual Values ($)</a:t>
                      </a:r>
                      <a:endParaRPr lang="en-IN" b="1" dirty="0"/>
                    </a:p>
                  </a:txBody>
                  <a:tcPr>
                    <a:solidFill>
                      <a:schemeClr val="accent2">
                        <a:lumMod val="20000"/>
                        <a:lumOff val="80000"/>
                      </a:schemeClr>
                    </a:solidFill>
                  </a:tcPr>
                </a:tc>
                <a:tc>
                  <a:txBody>
                    <a:bodyPr/>
                    <a:lstStyle/>
                    <a:p>
                      <a:pPr algn="ctr"/>
                      <a:r>
                        <a:rPr lang="en-GB" b="1" dirty="0"/>
                        <a:t>Predicted Values ($)</a:t>
                      </a:r>
                      <a:endParaRPr lang="en-IN" b="1" dirty="0"/>
                    </a:p>
                  </a:txBody>
                  <a:tcPr>
                    <a:solidFill>
                      <a:schemeClr val="accent2">
                        <a:lumMod val="20000"/>
                        <a:lumOff val="80000"/>
                      </a:schemeClr>
                    </a:solidFill>
                  </a:tcPr>
                </a:tc>
                <a:tc>
                  <a:txBody>
                    <a:bodyPr/>
                    <a:lstStyle/>
                    <a:p>
                      <a:pPr algn="ctr"/>
                      <a:r>
                        <a:rPr lang="en-GB" b="1" dirty="0"/>
                        <a:t>Error ($)</a:t>
                      </a:r>
                      <a:endParaRPr lang="en-IN" b="1" dirty="0"/>
                    </a:p>
                  </a:txBody>
                  <a:tcPr>
                    <a:solidFill>
                      <a:schemeClr val="accent2">
                        <a:lumMod val="20000"/>
                        <a:lumOff val="80000"/>
                      </a:schemeClr>
                    </a:solidFill>
                  </a:tcPr>
                </a:tc>
                <a:extLst>
                  <a:ext uri="{0D108BD9-81ED-4DB2-BD59-A6C34878D82A}">
                    <a16:rowId xmlns:a16="http://schemas.microsoft.com/office/drawing/2014/main" val="2949235806"/>
                  </a:ext>
                </a:extLst>
              </a:tr>
              <a:tr h="424888">
                <a:tc>
                  <a:txBody>
                    <a:bodyPr/>
                    <a:lstStyle/>
                    <a:p>
                      <a:pPr algn="ctr"/>
                      <a:r>
                        <a:rPr lang="en-GB" dirty="0"/>
                        <a:t>28</a:t>
                      </a:r>
                      <a:endParaRPr lang="en-IN" dirty="0"/>
                    </a:p>
                  </a:txBody>
                  <a:tcPr/>
                </a:tc>
                <a:tc>
                  <a:txBody>
                    <a:bodyPr/>
                    <a:lstStyle/>
                    <a:p>
                      <a:pPr algn="ctr"/>
                      <a:r>
                        <a:rPr lang="en-GB" dirty="0"/>
                        <a:t>19</a:t>
                      </a:r>
                      <a:endParaRPr lang="en-IN" dirty="0"/>
                    </a:p>
                  </a:txBody>
                  <a:tcPr/>
                </a:tc>
                <a:tc>
                  <a:txBody>
                    <a:bodyPr/>
                    <a:lstStyle/>
                    <a:p>
                      <a:pPr algn="ctr"/>
                      <a:r>
                        <a:rPr lang="en-GB" dirty="0"/>
                        <a:t>9</a:t>
                      </a:r>
                      <a:endParaRPr lang="en-IN" dirty="0"/>
                    </a:p>
                  </a:txBody>
                  <a:tcPr/>
                </a:tc>
                <a:extLst>
                  <a:ext uri="{0D108BD9-81ED-4DB2-BD59-A6C34878D82A}">
                    <a16:rowId xmlns:a16="http://schemas.microsoft.com/office/drawing/2014/main" val="121497197"/>
                  </a:ext>
                </a:extLst>
              </a:tr>
              <a:tr h="424888">
                <a:tc>
                  <a:txBody>
                    <a:bodyPr/>
                    <a:lstStyle/>
                    <a:p>
                      <a:pPr algn="ctr"/>
                      <a:r>
                        <a:rPr lang="en-GB" dirty="0"/>
                        <a:t>33</a:t>
                      </a:r>
                      <a:endParaRPr lang="en-IN" dirty="0"/>
                    </a:p>
                  </a:txBody>
                  <a:tcPr/>
                </a:tc>
                <a:tc>
                  <a:txBody>
                    <a:bodyPr/>
                    <a:lstStyle/>
                    <a:p>
                      <a:pPr algn="ctr"/>
                      <a:r>
                        <a:rPr lang="en-GB" dirty="0"/>
                        <a:t>37</a:t>
                      </a:r>
                      <a:endParaRPr lang="en-IN" dirty="0"/>
                    </a:p>
                  </a:txBody>
                  <a:tcPr/>
                </a:tc>
                <a:tc>
                  <a:txBody>
                    <a:bodyPr/>
                    <a:lstStyle/>
                    <a:p>
                      <a:pPr algn="ctr"/>
                      <a:r>
                        <a:rPr lang="en-GB" dirty="0"/>
                        <a:t>-4</a:t>
                      </a:r>
                      <a:endParaRPr lang="en-IN" dirty="0"/>
                    </a:p>
                  </a:txBody>
                  <a:tcPr/>
                </a:tc>
                <a:extLst>
                  <a:ext uri="{0D108BD9-81ED-4DB2-BD59-A6C34878D82A}">
                    <a16:rowId xmlns:a16="http://schemas.microsoft.com/office/drawing/2014/main" val="168929264"/>
                  </a:ext>
                </a:extLst>
              </a:tr>
              <a:tr h="424888">
                <a:tc>
                  <a:txBody>
                    <a:bodyPr/>
                    <a:lstStyle/>
                    <a:p>
                      <a:pPr algn="ctr"/>
                      <a:r>
                        <a:rPr lang="en-GB" dirty="0"/>
                        <a:t>20</a:t>
                      </a:r>
                      <a:endParaRPr lang="en-IN" dirty="0"/>
                    </a:p>
                  </a:txBody>
                  <a:tcPr/>
                </a:tc>
                <a:tc>
                  <a:txBody>
                    <a:bodyPr/>
                    <a:lstStyle/>
                    <a:p>
                      <a:pPr algn="ctr"/>
                      <a:r>
                        <a:rPr lang="en-GB" dirty="0"/>
                        <a:t>25</a:t>
                      </a:r>
                      <a:endParaRPr lang="en-IN" dirty="0"/>
                    </a:p>
                  </a:txBody>
                  <a:tcPr/>
                </a:tc>
                <a:tc>
                  <a:txBody>
                    <a:bodyPr/>
                    <a:lstStyle/>
                    <a:p>
                      <a:pPr algn="ctr"/>
                      <a:r>
                        <a:rPr lang="en-GB" dirty="0"/>
                        <a:t>-5</a:t>
                      </a:r>
                      <a:endParaRPr lang="en-IN" dirty="0"/>
                    </a:p>
                  </a:txBody>
                  <a:tcPr/>
                </a:tc>
                <a:extLst>
                  <a:ext uri="{0D108BD9-81ED-4DB2-BD59-A6C34878D82A}">
                    <a16:rowId xmlns:a16="http://schemas.microsoft.com/office/drawing/2014/main" val="3744025397"/>
                  </a:ext>
                </a:extLst>
              </a:tr>
              <a:tr h="424888">
                <a:tc>
                  <a:txBody>
                    <a:bodyPr/>
                    <a:lstStyle/>
                    <a:p>
                      <a:pPr algn="ctr"/>
                      <a:r>
                        <a:rPr lang="en-GB" dirty="0"/>
                        <a:t>16</a:t>
                      </a:r>
                      <a:endParaRPr lang="en-IN" dirty="0"/>
                    </a:p>
                  </a:txBody>
                  <a:tcPr/>
                </a:tc>
                <a:tc>
                  <a:txBody>
                    <a:bodyPr/>
                    <a:lstStyle/>
                    <a:p>
                      <a:pPr algn="ctr"/>
                      <a:r>
                        <a:rPr lang="en-GB" dirty="0"/>
                        <a:t>9</a:t>
                      </a:r>
                      <a:endParaRPr lang="en-IN" dirty="0"/>
                    </a:p>
                  </a:txBody>
                  <a:tcPr/>
                </a:tc>
                <a:tc>
                  <a:txBody>
                    <a:bodyPr/>
                    <a:lstStyle/>
                    <a:p>
                      <a:pPr algn="ctr"/>
                      <a:r>
                        <a:rPr lang="en-GB" dirty="0"/>
                        <a:t>7</a:t>
                      </a:r>
                      <a:endParaRPr lang="en-IN" dirty="0"/>
                    </a:p>
                  </a:txBody>
                  <a:tcPr/>
                </a:tc>
                <a:extLst>
                  <a:ext uri="{0D108BD9-81ED-4DB2-BD59-A6C34878D82A}">
                    <a16:rowId xmlns:a16="http://schemas.microsoft.com/office/drawing/2014/main" val="4081025013"/>
                  </a:ext>
                </a:extLst>
              </a:tr>
              <a:tr h="424888">
                <a:tc>
                  <a:txBody>
                    <a:bodyPr/>
                    <a:lstStyle/>
                    <a:p>
                      <a:pPr algn="ctr"/>
                      <a:r>
                        <a:rPr lang="en-GB" dirty="0"/>
                        <a:t>15</a:t>
                      </a:r>
                      <a:endParaRPr lang="en-IN" dirty="0"/>
                    </a:p>
                  </a:txBody>
                  <a:tcPr/>
                </a:tc>
                <a:tc>
                  <a:txBody>
                    <a:bodyPr/>
                    <a:lstStyle/>
                    <a:p>
                      <a:pPr algn="ctr"/>
                      <a:r>
                        <a:rPr lang="en-GB" dirty="0"/>
                        <a:t>22</a:t>
                      </a:r>
                      <a:endParaRPr lang="en-IN" dirty="0"/>
                    </a:p>
                  </a:txBody>
                  <a:tcPr/>
                </a:tc>
                <a:tc>
                  <a:txBody>
                    <a:bodyPr/>
                    <a:lstStyle/>
                    <a:p>
                      <a:pPr algn="ctr"/>
                      <a:r>
                        <a:rPr lang="en-GB" dirty="0"/>
                        <a:t>-7</a:t>
                      </a:r>
                      <a:endParaRPr lang="en-IN" dirty="0"/>
                    </a:p>
                  </a:txBody>
                  <a:tcPr/>
                </a:tc>
                <a:extLst>
                  <a:ext uri="{0D108BD9-81ED-4DB2-BD59-A6C34878D82A}">
                    <a16:rowId xmlns:a16="http://schemas.microsoft.com/office/drawing/2014/main" val="1035297323"/>
                  </a:ext>
                </a:extLst>
              </a:tr>
            </a:tbl>
          </a:graphicData>
        </a:graphic>
      </p:graphicFrame>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7838035-D179-C2FB-DCEB-7EBE5C21D083}"/>
                  </a:ext>
                </a:extLst>
              </p:cNvPr>
              <p:cNvSpPr txBox="1">
                <a:spLocks/>
              </p:cNvSpPr>
              <p:nvPr/>
            </p:nvSpPr>
            <p:spPr>
              <a:xfrm>
                <a:off x="480847" y="3038172"/>
                <a:ext cx="6775359" cy="3352796"/>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MAE (Mean Absolute Error)</a:t>
                </a:r>
              </a:p>
              <a:p>
                <a:pPr marL="0" indent="0">
                  <a:buNone/>
                </a:pPr>
                <a14:m>
                  <m:oMathPara xmlns:m="http://schemas.openxmlformats.org/officeDocument/2006/math">
                    <m:oMathParaPr>
                      <m:jc m:val="centerGroup"/>
                    </m:oMathParaPr>
                    <m:oMath xmlns:m="http://schemas.openxmlformats.org/officeDocument/2006/math">
                      <m:r>
                        <a:rPr lang="en-GB" sz="2400" i="1" smtClean="0">
                          <a:solidFill>
                            <a:schemeClr val="accent4"/>
                          </a:solidFill>
                          <a:latin typeface="Cambria Math" panose="02040503050406030204" pitchFamily="18" charset="0"/>
                        </a:rPr>
                        <m:t>𝑀𝐴𝐸</m:t>
                      </m:r>
                      <m:r>
                        <a:rPr lang="en-GB" sz="2400" i="1" smtClean="0">
                          <a:solidFill>
                            <a:schemeClr val="accent4"/>
                          </a:solidFill>
                          <a:latin typeface="Cambria Math" panose="02040503050406030204" pitchFamily="18" charset="0"/>
                        </a:rPr>
                        <m:t>= </m:t>
                      </m:r>
                      <m:f>
                        <m:fPr>
                          <m:ctrlPr>
                            <a:rPr lang="en-IN" sz="2400" i="1" smtClean="0">
                              <a:solidFill>
                                <a:schemeClr val="accent4"/>
                              </a:solidFill>
                              <a:latin typeface="Cambria Math" panose="02040503050406030204" pitchFamily="18" charset="0"/>
                            </a:rPr>
                          </m:ctrlPr>
                        </m:fPr>
                        <m:num>
                          <m:r>
                            <a:rPr lang="en-GB" sz="2400" i="1" smtClean="0">
                              <a:solidFill>
                                <a:schemeClr val="accent4"/>
                              </a:solidFill>
                              <a:latin typeface="Cambria Math" panose="02040503050406030204" pitchFamily="18" charset="0"/>
                            </a:rPr>
                            <m:t>1</m:t>
                          </m:r>
                        </m:num>
                        <m:den>
                          <m:r>
                            <a:rPr lang="en-GB" sz="2400" i="1" smtClean="0">
                              <a:solidFill>
                                <a:schemeClr val="accent4"/>
                              </a:solidFill>
                              <a:latin typeface="Cambria Math" panose="02040503050406030204" pitchFamily="18" charset="0"/>
                            </a:rPr>
                            <m:t>𝑚</m:t>
                          </m:r>
                        </m:den>
                      </m:f>
                      <m:nary>
                        <m:naryPr>
                          <m:chr m:val="∑"/>
                          <m:ctrlPr>
                            <a:rPr lang="en-IN" sz="2400" i="1" smtClean="0">
                              <a:solidFill>
                                <a:schemeClr val="accent4"/>
                              </a:solidFill>
                              <a:latin typeface="Cambria Math" panose="02040503050406030204" pitchFamily="18" charset="0"/>
                            </a:rPr>
                          </m:ctrlPr>
                        </m:naryPr>
                        <m:sub>
                          <m:r>
                            <m:rPr>
                              <m:brk m:alnAt="23"/>
                            </m:rPr>
                            <a:rPr lang="en-GB" sz="2400" i="1" smtClean="0">
                              <a:solidFill>
                                <a:schemeClr val="accent4"/>
                              </a:solidFill>
                              <a:latin typeface="Cambria Math" panose="02040503050406030204" pitchFamily="18" charset="0"/>
                            </a:rPr>
                            <m:t>𝑖</m:t>
                          </m:r>
                          <m:r>
                            <a:rPr lang="en-GB" sz="2400" i="1" smtClean="0">
                              <a:solidFill>
                                <a:schemeClr val="accent4"/>
                              </a:solidFill>
                              <a:latin typeface="Cambria Math" panose="02040503050406030204" pitchFamily="18" charset="0"/>
                            </a:rPr>
                            <m:t>=1</m:t>
                          </m:r>
                        </m:sub>
                        <m:sup>
                          <m:r>
                            <a:rPr lang="en-GB" sz="2400" i="1" smtClean="0">
                              <a:solidFill>
                                <a:schemeClr val="accent4"/>
                              </a:solidFill>
                              <a:latin typeface="Cambria Math" panose="02040503050406030204" pitchFamily="18" charset="0"/>
                            </a:rPr>
                            <m:t>𝑚</m:t>
                          </m:r>
                        </m:sup>
                        <m:e>
                          <m:r>
                            <a:rPr lang="en-GB" sz="2400" i="1" smtClean="0">
                              <a:solidFill>
                                <a:schemeClr val="accent4"/>
                              </a:solidFill>
                              <a:latin typeface="Cambria Math" panose="02040503050406030204" pitchFamily="18" charset="0"/>
                            </a:rPr>
                            <m:t>|</m:t>
                          </m:r>
                          <m:sSub>
                            <m:sSubPr>
                              <m:ctrlPr>
                                <a:rPr lang="en-GB" sz="2400" i="1">
                                  <a:solidFill>
                                    <a:schemeClr val="accent4"/>
                                  </a:solidFill>
                                  <a:latin typeface="Cambria Math" panose="02040503050406030204" pitchFamily="18" charset="0"/>
                                </a:rPr>
                              </m:ctrlPr>
                            </m:sSubPr>
                            <m:e>
                              <m:r>
                                <a:rPr lang="en-GB" sz="2400" i="1">
                                  <a:solidFill>
                                    <a:schemeClr val="accent4"/>
                                  </a:solidFill>
                                  <a:latin typeface="Cambria Math" panose="02040503050406030204" pitchFamily="18" charset="0"/>
                                </a:rPr>
                                <m:t>𝑦</m:t>
                              </m:r>
                            </m:e>
                            <m:sub>
                              <m:r>
                                <a:rPr lang="en-GB" sz="2400" i="1">
                                  <a:solidFill>
                                    <a:schemeClr val="accent4"/>
                                  </a:solidFill>
                                  <a:latin typeface="Cambria Math" panose="02040503050406030204" pitchFamily="18" charset="0"/>
                                </a:rPr>
                                <m:t>𝑖</m:t>
                              </m:r>
                            </m:sub>
                          </m:sSub>
                          <m:r>
                            <a:rPr lang="en-GB" sz="2400" i="1">
                              <a:solidFill>
                                <a:schemeClr val="accent4"/>
                              </a:solidFill>
                              <a:latin typeface="Cambria Math" panose="02040503050406030204" pitchFamily="18" charset="0"/>
                            </a:rPr>
                            <m:t>−</m:t>
                          </m:r>
                          <m:sSub>
                            <m:sSubPr>
                              <m:ctrlPr>
                                <a:rPr lang="en-GB" sz="2400" i="1">
                                  <a:solidFill>
                                    <a:schemeClr val="accent4"/>
                                  </a:solidFill>
                                  <a:latin typeface="Cambria Math" panose="02040503050406030204" pitchFamily="18" charset="0"/>
                                </a:rPr>
                              </m:ctrlPr>
                            </m:sSubPr>
                            <m:e>
                              <m:acc>
                                <m:accPr>
                                  <m:chr m:val="̂"/>
                                  <m:ctrlPr>
                                    <a:rPr lang="en-GB" sz="2400" i="1">
                                      <a:solidFill>
                                        <a:schemeClr val="accent4"/>
                                      </a:solidFill>
                                      <a:latin typeface="Cambria Math" panose="02040503050406030204" pitchFamily="18" charset="0"/>
                                    </a:rPr>
                                  </m:ctrlPr>
                                </m:accPr>
                                <m:e>
                                  <m:r>
                                    <a:rPr lang="en-GB" sz="2400" i="1">
                                      <a:solidFill>
                                        <a:schemeClr val="accent4"/>
                                      </a:solidFill>
                                      <a:latin typeface="Cambria Math" panose="02040503050406030204" pitchFamily="18" charset="0"/>
                                    </a:rPr>
                                    <m:t>𝑦</m:t>
                                  </m:r>
                                </m:e>
                              </m:acc>
                            </m:e>
                            <m:sub>
                              <m:r>
                                <a:rPr lang="en-GB" sz="2400" i="1">
                                  <a:solidFill>
                                    <a:schemeClr val="accent4"/>
                                  </a:solidFill>
                                  <a:latin typeface="Cambria Math" panose="02040503050406030204" pitchFamily="18" charset="0"/>
                                </a:rPr>
                                <m:t>𝑖</m:t>
                              </m:r>
                            </m:sub>
                          </m:sSub>
                          <m:r>
                            <m:rPr>
                              <m:brk m:alnAt="23"/>
                            </m:rPr>
                            <a:rPr lang="en-GB" sz="2400" i="1" smtClean="0">
                              <a:solidFill>
                                <a:schemeClr val="accent4"/>
                              </a:solidFill>
                              <a:latin typeface="Cambria Math" panose="02040503050406030204" pitchFamily="18" charset="0"/>
                            </a:rPr>
                            <m:t>|</m:t>
                          </m:r>
                        </m:e>
                      </m:nary>
                    </m:oMath>
                  </m:oMathPara>
                </a14:m>
                <a:endParaRPr lang="en-IN" sz="2400" dirty="0"/>
              </a:p>
              <a:p>
                <a:r>
                  <a:rPr lang="en-IN" sz="2400" dirty="0"/>
                  <a:t>MAE=5.6 $</a:t>
                </a:r>
              </a:p>
              <a:p>
                <a:r>
                  <a:rPr lang="en-IN" sz="2400" dirty="0"/>
                  <a:t>MAE does not penalize the large errors heavily.</a:t>
                </a:r>
              </a:p>
              <a:p>
                <a:r>
                  <a:rPr lang="en-IN" sz="2400" dirty="0"/>
                  <a:t>MAE is not differentiable at 0.</a:t>
                </a:r>
              </a:p>
            </p:txBody>
          </p:sp>
        </mc:Choice>
        <mc:Fallback xmlns="">
          <p:sp>
            <p:nvSpPr>
              <p:cNvPr id="8" name="Content Placeholder 2">
                <a:extLst>
                  <a:ext uri="{FF2B5EF4-FFF2-40B4-BE49-F238E27FC236}">
                    <a16:creationId xmlns:a16="http://schemas.microsoft.com/office/drawing/2014/main" id="{87838035-D179-C2FB-DCEB-7EBE5C21D083}"/>
                  </a:ext>
                </a:extLst>
              </p:cNvPr>
              <p:cNvSpPr txBox="1">
                <a:spLocks noRot="1" noChangeAspect="1" noMove="1" noResize="1" noEditPoints="1" noAdjustHandles="1" noChangeArrowheads="1" noChangeShapeType="1" noTextEdit="1"/>
              </p:cNvSpPr>
              <p:nvPr/>
            </p:nvSpPr>
            <p:spPr>
              <a:xfrm>
                <a:off x="480847" y="3038172"/>
                <a:ext cx="6775359" cy="3352796"/>
              </a:xfrm>
              <a:prstGeom prst="rect">
                <a:avLst/>
              </a:prstGeom>
              <a:blipFill>
                <a:blip r:embed="rId3"/>
                <a:stretch>
                  <a:fillRect l="-1440" t="-909" b="-1091"/>
                </a:stretch>
              </a:blipFill>
            </p:spPr>
            <p:txBody>
              <a:bodyPr/>
              <a:lstStyle/>
              <a:p>
                <a:r>
                  <a:rPr lang="en-IN">
                    <a:noFill/>
                  </a:rPr>
                  <a:t> </a:t>
                </a:r>
              </a:p>
            </p:txBody>
          </p:sp>
        </mc:Fallback>
      </mc:AlternateContent>
    </p:spTree>
    <p:extLst>
      <p:ext uri="{BB962C8B-B14F-4D97-AF65-F5344CB8AC3E}">
        <p14:creationId xmlns:p14="http://schemas.microsoft.com/office/powerpoint/2010/main" val="2076344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BBA71-1A40-CD7B-560E-0D23D7C8E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3A8B3-E565-5C23-4E6F-17D41C6DD03D}"/>
              </a:ext>
            </a:extLst>
          </p:cNvPr>
          <p:cNvSpPr>
            <a:spLocks noGrp="1"/>
          </p:cNvSpPr>
          <p:nvPr>
            <p:ph type="title"/>
          </p:nvPr>
        </p:nvSpPr>
        <p:spPr/>
        <p:txBody>
          <a:bodyPr/>
          <a:lstStyle/>
          <a:p>
            <a:r>
              <a:rPr lang="en-GB" dirty="0"/>
              <a:t>Regression Metrics</a:t>
            </a:r>
            <a:endParaRPr lang="en-IN" dirty="0"/>
          </a:p>
        </p:txBody>
      </p:sp>
      <p:graphicFrame>
        <p:nvGraphicFramePr>
          <p:cNvPr id="10" name="Table 9">
            <a:extLst>
              <a:ext uri="{FF2B5EF4-FFF2-40B4-BE49-F238E27FC236}">
                <a16:creationId xmlns:a16="http://schemas.microsoft.com/office/drawing/2014/main" id="{F04F28B8-79D9-0415-6771-BE49FAD99A63}"/>
              </a:ext>
            </a:extLst>
          </p:cNvPr>
          <p:cNvGraphicFramePr>
            <a:graphicFrameLocks noGrp="1"/>
          </p:cNvGraphicFramePr>
          <p:nvPr/>
        </p:nvGraphicFramePr>
        <p:xfrm>
          <a:off x="7933929" y="589935"/>
          <a:ext cx="3919737" cy="2839063"/>
        </p:xfrm>
        <a:graphic>
          <a:graphicData uri="http://schemas.openxmlformats.org/drawingml/2006/table">
            <a:tbl>
              <a:tblPr firstRow="1" bandRow="1">
                <a:tableStyleId>{5940675A-B579-460E-94D1-54222C63F5DA}</a:tableStyleId>
              </a:tblPr>
              <a:tblGrid>
                <a:gridCol w="1306579">
                  <a:extLst>
                    <a:ext uri="{9D8B030D-6E8A-4147-A177-3AD203B41FA5}">
                      <a16:colId xmlns:a16="http://schemas.microsoft.com/office/drawing/2014/main" val="1713279818"/>
                    </a:ext>
                  </a:extLst>
                </a:gridCol>
                <a:gridCol w="1306579">
                  <a:extLst>
                    <a:ext uri="{9D8B030D-6E8A-4147-A177-3AD203B41FA5}">
                      <a16:colId xmlns:a16="http://schemas.microsoft.com/office/drawing/2014/main" val="3193451463"/>
                    </a:ext>
                  </a:extLst>
                </a:gridCol>
                <a:gridCol w="1306579">
                  <a:extLst>
                    <a:ext uri="{9D8B030D-6E8A-4147-A177-3AD203B41FA5}">
                      <a16:colId xmlns:a16="http://schemas.microsoft.com/office/drawing/2014/main" val="872614048"/>
                    </a:ext>
                  </a:extLst>
                </a:gridCol>
              </a:tblGrid>
              <a:tr h="714623">
                <a:tc>
                  <a:txBody>
                    <a:bodyPr/>
                    <a:lstStyle/>
                    <a:p>
                      <a:pPr algn="ctr"/>
                      <a:r>
                        <a:rPr lang="en-GB" b="1" dirty="0"/>
                        <a:t>Actual Values ($)</a:t>
                      </a:r>
                      <a:endParaRPr lang="en-IN" b="1" dirty="0"/>
                    </a:p>
                  </a:txBody>
                  <a:tcPr>
                    <a:solidFill>
                      <a:schemeClr val="accent2">
                        <a:lumMod val="20000"/>
                        <a:lumOff val="80000"/>
                      </a:schemeClr>
                    </a:solidFill>
                  </a:tcPr>
                </a:tc>
                <a:tc>
                  <a:txBody>
                    <a:bodyPr/>
                    <a:lstStyle/>
                    <a:p>
                      <a:pPr algn="ctr"/>
                      <a:r>
                        <a:rPr lang="en-GB" b="1" dirty="0"/>
                        <a:t>Predicted Values ($)</a:t>
                      </a:r>
                      <a:endParaRPr lang="en-IN" b="1" dirty="0"/>
                    </a:p>
                  </a:txBody>
                  <a:tcPr>
                    <a:solidFill>
                      <a:schemeClr val="accent2">
                        <a:lumMod val="20000"/>
                        <a:lumOff val="80000"/>
                      </a:schemeClr>
                    </a:solidFill>
                  </a:tcPr>
                </a:tc>
                <a:tc>
                  <a:txBody>
                    <a:bodyPr/>
                    <a:lstStyle/>
                    <a:p>
                      <a:pPr algn="ctr"/>
                      <a:r>
                        <a:rPr lang="en-GB" b="1" dirty="0"/>
                        <a:t>Error ($)</a:t>
                      </a:r>
                      <a:endParaRPr lang="en-IN" b="1" dirty="0"/>
                    </a:p>
                  </a:txBody>
                  <a:tcPr>
                    <a:solidFill>
                      <a:schemeClr val="accent2">
                        <a:lumMod val="20000"/>
                        <a:lumOff val="80000"/>
                      </a:schemeClr>
                    </a:solidFill>
                  </a:tcPr>
                </a:tc>
                <a:extLst>
                  <a:ext uri="{0D108BD9-81ED-4DB2-BD59-A6C34878D82A}">
                    <a16:rowId xmlns:a16="http://schemas.microsoft.com/office/drawing/2014/main" val="2949235806"/>
                  </a:ext>
                </a:extLst>
              </a:tr>
              <a:tr h="424888">
                <a:tc>
                  <a:txBody>
                    <a:bodyPr/>
                    <a:lstStyle/>
                    <a:p>
                      <a:pPr algn="ctr"/>
                      <a:r>
                        <a:rPr lang="en-GB" dirty="0"/>
                        <a:t>28</a:t>
                      </a:r>
                      <a:endParaRPr lang="en-IN" dirty="0"/>
                    </a:p>
                  </a:txBody>
                  <a:tcPr/>
                </a:tc>
                <a:tc>
                  <a:txBody>
                    <a:bodyPr/>
                    <a:lstStyle/>
                    <a:p>
                      <a:pPr algn="ctr"/>
                      <a:r>
                        <a:rPr lang="en-GB" dirty="0"/>
                        <a:t>19</a:t>
                      </a:r>
                      <a:endParaRPr lang="en-IN" dirty="0"/>
                    </a:p>
                  </a:txBody>
                  <a:tcPr/>
                </a:tc>
                <a:tc>
                  <a:txBody>
                    <a:bodyPr/>
                    <a:lstStyle/>
                    <a:p>
                      <a:pPr algn="ctr"/>
                      <a:r>
                        <a:rPr lang="en-GB" dirty="0"/>
                        <a:t>9</a:t>
                      </a:r>
                      <a:endParaRPr lang="en-IN" dirty="0"/>
                    </a:p>
                  </a:txBody>
                  <a:tcPr/>
                </a:tc>
                <a:extLst>
                  <a:ext uri="{0D108BD9-81ED-4DB2-BD59-A6C34878D82A}">
                    <a16:rowId xmlns:a16="http://schemas.microsoft.com/office/drawing/2014/main" val="121497197"/>
                  </a:ext>
                </a:extLst>
              </a:tr>
              <a:tr h="424888">
                <a:tc>
                  <a:txBody>
                    <a:bodyPr/>
                    <a:lstStyle/>
                    <a:p>
                      <a:pPr algn="ctr"/>
                      <a:r>
                        <a:rPr lang="en-GB" dirty="0"/>
                        <a:t>33</a:t>
                      </a:r>
                      <a:endParaRPr lang="en-IN" dirty="0"/>
                    </a:p>
                  </a:txBody>
                  <a:tcPr/>
                </a:tc>
                <a:tc>
                  <a:txBody>
                    <a:bodyPr/>
                    <a:lstStyle/>
                    <a:p>
                      <a:pPr algn="ctr"/>
                      <a:r>
                        <a:rPr lang="en-GB" dirty="0"/>
                        <a:t>37</a:t>
                      </a:r>
                      <a:endParaRPr lang="en-IN" dirty="0"/>
                    </a:p>
                  </a:txBody>
                  <a:tcPr/>
                </a:tc>
                <a:tc>
                  <a:txBody>
                    <a:bodyPr/>
                    <a:lstStyle/>
                    <a:p>
                      <a:pPr algn="ctr"/>
                      <a:r>
                        <a:rPr lang="en-GB" dirty="0"/>
                        <a:t>-4</a:t>
                      </a:r>
                      <a:endParaRPr lang="en-IN" dirty="0"/>
                    </a:p>
                  </a:txBody>
                  <a:tcPr/>
                </a:tc>
                <a:extLst>
                  <a:ext uri="{0D108BD9-81ED-4DB2-BD59-A6C34878D82A}">
                    <a16:rowId xmlns:a16="http://schemas.microsoft.com/office/drawing/2014/main" val="168929264"/>
                  </a:ext>
                </a:extLst>
              </a:tr>
              <a:tr h="424888">
                <a:tc>
                  <a:txBody>
                    <a:bodyPr/>
                    <a:lstStyle/>
                    <a:p>
                      <a:pPr algn="ctr"/>
                      <a:r>
                        <a:rPr lang="en-GB" dirty="0"/>
                        <a:t>20</a:t>
                      </a:r>
                      <a:endParaRPr lang="en-IN" dirty="0"/>
                    </a:p>
                  </a:txBody>
                  <a:tcPr/>
                </a:tc>
                <a:tc>
                  <a:txBody>
                    <a:bodyPr/>
                    <a:lstStyle/>
                    <a:p>
                      <a:pPr algn="ctr"/>
                      <a:r>
                        <a:rPr lang="en-GB" dirty="0"/>
                        <a:t>25</a:t>
                      </a:r>
                      <a:endParaRPr lang="en-IN" dirty="0"/>
                    </a:p>
                  </a:txBody>
                  <a:tcPr/>
                </a:tc>
                <a:tc>
                  <a:txBody>
                    <a:bodyPr/>
                    <a:lstStyle/>
                    <a:p>
                      <a:pPr algn="ctr"/>
                      <a:r>
                        <a:rPr lang="en-GB" dirty="0"/>
                        <a:t>-5</a:t>
                      </a:r>
                      <a:endParaRPr lang="en-IN" dirty="0"/>
                    </a:p>
                  </a:txBody>
                  <a:tcPr/>
                </a:tc>
                <a:extLst>
                  <a:ext uri="{0D108BD9-81ED-4DB2-BD59-A6C34878D82A}">
                    <a16:rowId xmlns:a16="http://schemas.microsoft.com/office/drawing/2014/main" val="3744025397"/>
                  </a:ext>
                </a:extLst>
              </a:tr>
              <a:tr h="424888">
                <a:tc>
                  <a:txBody>
                    <a:bodyPr/>
                    <a:lstStyle/>
                    <a:p>
                      <a:pPr algn="ctr"/>
                      <a:r>
                        <a:rPr lang="en-GB" dirty="0"/>
                        <a:t>16</a:t>
                      </a:r>
                      <a:endParaRPr lang="en-IN" dirty="0"/>
                    </a:p>
                  </a:txBody>
                  <a:tcPr/>
                </a:tc>
                <a:tc>
                  <a:txBody>
                    <a:bodyPr/>
                    <a:lstStyle/>
                    <a:p>
                      <a:pPr algn="ctr"/>
                      <a:r>
                        <a:rPr lang="en-GB" dirty="0"/>
                        <a:t>9</a:t>
                      </a:r>
                      <a:endParaRPr lang="en-IN" dirty="0"/>
                    </a:p>
                  </a:txBody>
                  <a:tcPr/>
                </a:tc>
                <a:tc>
                  <a:txBody>
                    <a:bodyPr/>
                    <a:lstStyle/>
                    <a:p>
                      <a:pPr algn="ctr"/>
                      <a:r>
                        <a:rPr lang="en-GB" dirty="0"/>
                        <a:t>7</a:t>
                      </a:r>
                      <a:endParaRPr lang="en-IN" dirty="0"/>
                    </a:p>
                  </a:txBody>
                  <a:tcPr/>
                </a:tc>
                <a:extLst>
                  <a:ext uri="{0D108BD9-81ED-4DB2-BD59-A6C34878D82A}">
                    <a16:rowId xmlns:a16="http://schemas.microsoft.com/office/drawing/2014/main" val="4081025013"/>
                  </a:ext>
                </a:extLst>
              </a:tr>
              <a:tr h="424888">
                <a:tc>
                  <a:txBody>
                    <a:bodyPr/>
                    <a:lstStyle/>
                    <a:p>
                      <a:pPr algn="ctr"/>
                      <a:r>
                        <a:rPr lang="en-GB" dirty="0"/>
                        <a:t>15</a:t>
                      </a:r>
                      <a:endParaRPr lang="en-IN" dirty="0"/>
                    </a:p>
                  </a:txBody>
                  <a:tcPr/>
                </a:tc>
                <a:tc>
                  <a:txBody>
                    <a:bodyPr/>
                    <a:lstStyle/>
                    <a:p>
                      <a:pPr algn="ctr"/>
                      <a:r>
                        <a:rPr lang="en-GB" dirty="0"/>
                        <a:t>22</a:t>
                      </a:r>
                      <a:endParaRPr lang="en-IN" dirty="0"/>
                    </a:p>
                  </a:txBody>
                  <a:tcPr/>
                </a:tc>
                <a:tc>
                  <a:txBody>
                    <a:bodyPr/>
                    <a:lstStyle/>
                    <a:p>
                      <a:pPr algn="ctr"/>
                      <a:r>
                        <a:rPr lang="en-GB" dirty="0"/>
                        <a:t>-7</a:t>
                      </a:r>
                      <a:endParaRPr lang="en-IN" dirty="0"/>
                    </a:p>
                  </a:txBody>
                  <a:tcPr/>
                </a:tc>
                <a:extLst>
                  <a:ext uri="{0D108BD9-81ED-4DB2-BD59-A6C34878D82A}">
                    <a16:rowId xmlns:a16="http://schemas.microsoft.com/office/drawing/2014/main" val="1035297323"/>
                  </a:ext>
                </a:extLst>
              </a:tr>
            </a:tbl>
          </a:graphicData>
        </a:graphic>
      </p:graphicFrame>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9BD61670-B250-FFBA-E0C9-6B1BB333CB09}"/>
                  </a:ext>
                </a:extLst>
              </p:cNvPr>
              <p:cNvSpPr txBox="1">
                <a:spLocks/>
              </p:cNvSpPr>
              <p:nvPr/>
            </p:nvSpPr>
            <p:spPr>
              <a:xfrm>
                <a:off x="501869" y="914395"/>
                <a:ext cx="7268523" cy="3988934"/>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MSE (Mean Square Error)</a:t>
                </a:r>
              </a:p>
              <a:p>
                <a:pPr marL="0" indent="0">
                  <a:buNone/>
                </a:pPr>
                <a14:m>
                  <m:oMathPara xmlns:m="http://schemas.openxmlformats.org/officeDocument/2006/math">
                    <m:oMathParaPr>
                      <m:jc m:val="centerGroup"/>
                    </m:oMathParaPr>
                    <m:oMath xmlns:m="http://schemas.openxmlformats.org/officeDocument/2006/math">
                      <m:r>
                        <a:rPr lang="en-GB" sz="2400" i="1" smtClean="0">
                          <a:solidFill>
                            <a:schemeClr val="accent4"/>
                          </a:solidFill>
                          <a:latin typeface="Cambria Math" panose="02040503050406030204" pitchFamily="18" charset="0"/>
                        </a:rPr>
                        <m:t>𝑀</m:t>
                      </m:r>
                      <m:r>
                        <a:rPr lang="en-GB" sz="2400" b="0" i="1" smtClean="0">
                          <a:solidFill>
                            <a:schemeClr val="accent4"/>
                          </a:solidFill>
                          <a:latin typeface="Cambria Math" panose="02040503050406030204" pitchFamily="18" charset="0"/>
                        </a:rPr>
                        <m:t>𝑆</m:t>
                      </m:r>
                      <m:r>
                        <a:rPr lang="en-GB" sz="2400" i="1" smtClean="0">
                          <a:solidFill>
                            <a:schemeClr val="accent4"/>
                          </a:solidFill>
                          <a:latin typeface="Cambria Math" panose="02040503050406030204" pitchFamily="18" charset="0"/>
                        </a:rPr>
                        <m:t>𝐸</m:t>
                      </m:r>
                      <m:r>
                        <a:rPr lang="en-GB" sz="2400" i="1" smtClean="0">
                          <a:solidFill>
                            <a:schemeClr val="accent4"/>
                          </a:solidFill>
                          <a:latin typeface="Cambria Math" panose="02040503050406030204" pitchFamily="18" charset="0"/>
                        </a:rPr>
                        <m:t>= </m:t>
                      </m:r>
                      <m:f>
                        <m:fPr>
                          <m:ctrlPr>
                            <a:rPr lang="en-IN" sz="2400" i="1" smtClean="0">
                              <a:solidFill>
                                <a:schemeClr val="accent4"/>
                              </a:solidFill>
                              <a:latin typeface="Cambria Math" panose="02040503050406030204" pitchFamily="18" charset="0"/>
                            </a:rPr>
                          </m:ctrlPr>
                        </m:fPr>
                        <m:num>
                          <m:r>
                            <a:rPr lang="en-GB" sz="2400" i="1" smtClean="0">
                              <a:solidFill>
                                <a:schemeClr val="accent4"/>
                              </a:solidFill>
                              <a:latin typeface="Cambria Math" panose="02040503050406030204" pitchFamily="18" charset="0"/>
                            </a:rPr>
                            <m:t>1</m:t>
                          </m:r>
                        </m:num>
                        <m:den>
                          <m:r>
                            <a:rPr lang="en-GB" sz="2400" i="1" smtClean="0">
                              <a:solidFill>
                                <a:schemeClr val="accent4"/>
                              </a:solidFill>
                              <a:latin typeface="Cambria Math" panose="02040503050406030204" pitchFamily="18" charset="0"/>
                            </a:rPr>
                            <m:t>𝑚</m:t>
                          </m:r>
                        </m:den>
                      </m:f>
                      <m:nary>
                        <m:naryPr>
                          <m:chr m:val="∑"/>
                          <m:ctrlPr>
                            <a:rPr lang="en-IN" sz="2400" i="1" smtClean="0">
                              <a:solidFill>
                                <a:schemeClr val="accent4"/>
                              </a:solidFill>
                              <a:latin typeface="Cambria Math" panose="02040503050406030204" pitchFamily="18" charset="0"/>
                            </a:rPr>
                          </m:ctrlPr>
                        </m:naryPr>
                        <m:sub>
                          <m:r>
                            <m:rPr>
                              <m:brk m:alnAt="23"/>
                            </m:rPr>
                            <a:rPr lang="en-GB" sz="2400" i="1" smtClean="0">
                              <a:solidFill>
                                <a:schemeClr val="accent4"/>
                              </a:solidFill>
                              <a:latin typeface="Cambria Math" panose="02040503050406030204" pitchFamily="18" charset="0"/>
                            </a:rPr>
                            <m:t>𝑖</m:t>
                          </m:r>
                          <m:r>
                            <a:rPr lang="en-GB" sz="2400" i="1" smtClean="0">
                              <a:solidFill>
                                <a:schemeClr val="accent4"/>
                              </a:solidFill>
                              <a:latin typeface="Cambria Math" panose="02040503050406030204" pitchFamily="18" charset="0"/>
                            </a:rPr>
                            <m:t>=1</m:t>
                          </m:r>
                        </m:sub>
                        <m:sup>
                          <m:r>
                            <a:rPr lang="en-GB" sz="2400" i="1" smtClean="0">
                              <a:solidFill>
                                <a:schemeClr val="accent4"/>
                              </a:solidFill>
                              <a:latin typeface="Cambria Math" panose="02040503050406030204" pitchFamily="18" charset="0"/>
                            </a:rPr>
                            <m:t>𝑚</m:t>
                          </m:r>
                        </m:sup>
                        <m:e>
                          <m:sSup>
                            <m:sSupPr>
                              <m:ctrlPr>
                                <a:rPr lang="en-IN" sz="2400" i="1" smtClean="0">
                                  <a:solidFill>
                                    <a:schemeClr val="accent4"/>
                                  </a:solidFill>
                                  <a:latin typeface="Cambria Math" panose="02040503050406030204" pitchFamily="18" charset="0"/>
                                </a:rPr>
                              </m:ctrlPr>
                            </m:sSupPr>
                            <m:e>
                              <m:d>
                                <m:dPr>
                                  <m:ctrlPr>
                                    <a:rPr lang="en-GB" sz="2400" i="1">
                                      <a:solidFill>
                                        <a:schemeClr val="accent4"/>
                                      </a:solidFill>
                                      <a:latin typeface="Cambria Math" panose="02040503050406030204" pitchFamily="18" charset="0"/>
                                    </a:rPr>
                                  </m:ctrlPr>
                                </m:dPr>
                                <m:e>
                                  <m:sSub>
                                    <m:sSubPr>
                                      <m:ctrlPr>
                                        <a:rPr lang="en-GB" sz="2400" i="1">
                                          <a:solidFill>
                                            <a:schemeClr val="accent4"/>
                                          </a:solidFill>
                                          <a:latin typeface="Cambria Math" panose="02040503050406030204" pitchFamily="18" charset="0"/>
                                        </a:rPr>
                                      </m:ctrlPr>
                                    </m:sSubPr>
                                    <m:e>
                                      <m:r>
                                        <a:rPr lang="en-GB" sz="2400" i="1">
                                          <a:solidFill>
                                            <a:schemeClr val="accent4"/>
                                          </a:solidFill>
                                          <a:latin typeface="Cambria Math" panose="02040503050406030204" pitchFamily="18" charset="0"/>
                                        </a:rPr>
                                        <m:t>𝑦</m:t>
                                      </m:r>
                                    </m:e>
                                    <m:sub>
                                      <m:r>
                                        <a:rPr lang="en-GB" sz="2400" i="1">
                                          <a:solidFill>
                                            <a:schemeClr val="accent4"/>
                                          </a:solidFill>
                                          <a:latin typeface="Cambria Math" panose="02040503050406030204" pitchFamily="18" charset="0"/>
                                        </a:rPr>
                                        <m:t>𝑖</m:t>
                                      </m:r>
                                    </m:sub>
                                  </m:sSub>
                                  <m:r>
                                    <a:rPr lang="en-GB" sz="2400" i="1">
                                      <a:solidFill>
                                        <a:schemeClr val="accent4"/>
                                      </a:solidFill>
                                      <a:latin typeface="Cambria Math" panose="02040503050406030204" pitchFamily="18" charset="0"/>
                                    </a:rPr>
                                    <m:t>−</m:t>
                                  </m:r>
                                  <m:sSub>
                                    <m:sSubPr>
                                      <m:ctrlPr>
                                        <a:rPr lang="en-GB" sz="2400" i="1">
                                          <a:solidFill>
                                            <a:schemeClr val="accent4"/>
                                          </a:solidFill>
                                          <a:latin typeface="Cambria Math" panose="02040503050406030204" pitchFamily="18" charset="0"/>
                                        </a:rPr>
                                      </m:ctrlPr>
                                    </m:sSubPr>
                                    <m:e>
                                      <m:acc>
                                        <m:accPr>
                                          <m:chr m:val="̂"/>
                                          <m:ctrlPr>
                                            <a:rPr lang="en-GB" sz="2400" i="1">
                                              <a:solidFill>
                                                <a:schemeClr val="accent4"/>
                                              </a:solidFill>
                                              <a:latin typeface="Cambria Math" panose="02040503050406030204" pitchFamily="18" charset="0"/>
                                            </a:rPr>
                                          </m:ctrlPr>
                                        </m:accPr>
                                        <m:e>
                                          <m:r>
                                            <a:rPr lang="en-GB" sz="2400" i="1">
                                              <a:solidFill>
                                                <a:schemeClr val="accent4"/>
                                              </a:solidFill>
                                              <a:latin typeface="Cambria Math" panose="02040503050406030204" pitchFamily="18" charset="0"/>
                                            </a:rPr>
                                            <m:t>𝑦</m:t>
                                          </m:r>
                                        </m:e>
                                      </m:acc>
                                    </m:e>
                                    <m:sub>
                                      <m:r>
                                        <a:rPr lang="en-GB" sz="2400" i="1">
                                          <a:solidFill>
                                            <a:schemeClr val="accent4"/>
                                          </a:solidFill>
                                          <a:latin typeface="Cambria Math" panose="02040503050406030204" pitchFamily="18" charset="0"/>
                                        </a:rPr>
                                        <m:t>𝑖</m:t>
                                      </m:r>
                                    </m:sub>
                                  </m:sSub>
                                </m:e>
                              </m:d>
                            </m:e>
                            <m:sup>
                              <m:r>
                                <a:rPr lang="en-GB" sz="2400" b="0" i="1" smtClean="0">
                                  <a:solidFill>
                                    <a:schemeClr val="accent4"/>
                                  </a:solidFill>
                                  <a:latin typeface="Cambria Math" panose="02040503050406030204" pitchFamily="18" charset="0"/>
                                </a:rPr>
                                <m:t>2</m:t>
                              </m:r>
                            </m:sup>
                          </m:sSup>
                        </m:e>
                      </m:nary>
                    </m:oMath>
                  </m:oMathPara>
                </a14:m>
                <a:endParaRPr lang="en-IN" sz="2400" dirty="0"/>
              </a:p>
              <a:p>
                <a:r>
                  <a:rPr lang="en-IN" sz="2400" dirty="0"/>
                  <a:t>MSE=44 $</a:t>
                </a:r>
                <a:r>
                  <a:rPr lang="en-IN" sz="2400" baseline="30000" dirty="0"/>
                  <a:t>2</a:t>
                </a:r>
              </a:p>
              <a:p>
                <a:r>
                  <a:rPr lang="en-IN" sz="2400" dirty="0"/>
                  <a:t>Differentiable and can be used as a loss function.</a:t>
                </a:r>
              </a:p>
              <a:p>
                <a:r>
                  <a:rPr lang="en-IN" sz="2400" dirty="0"/>
                  <a:t>The unit is squared – may not give a good interpretation</a:t>
                </a:r>
              </a:p>
            </p:txBody>
          </p:sp>
        </mc:Choice>
        <mc:Fallback xmlns="">
          <p:sp>
            <p:nvSpPr>
              <p:cNvPr id="6" name="Content Placeholder 2">
                <a:extLst>
                  <a:ext uri="{FF2B5EF4-FFF2-40B4-BE49-F238E27FC236}">
                    <a16:creationId xmlns:a16="http://schemas.microsoft.com/office/drawing/2014/main" id="{9BD61670-B250-FFBA-E0C9-6B1BB333CB09}"/>
                  </a:ext>
                </a:extLst>
              </p:cNvPr>
              <p:cNvSpPr txBox="1">
                <a:spLocks noRot="1" noChangeAspect="1" noMove="1" noResize="1" noEditPoints="1" noAdjustHandles="1" noChangeArrowheads="1" noChangeShapeType="1" noTextEdit="1"/>
              </p:cNvSpPr>
              <p:nvPr/>
            </p:nvSpPr>
            <p:spPr>
              <a:xfrm>
                <a:off x="501869" y="914395"/>
                <a:ext cx="7268523" cy="3988934"/>
              </a:xfrm>
              <a:prstGeom prst="rect">
                <a:avLst/>
              </a:prstGeom>
              <a:blipFill>
                <a:blip r:embed="rId2"/>
                <a:stretch>
                  <a:fillRect l="-1257" t="-765" r="-922"/>
                </a:stretch>
              </a:blipFill>
            </p:spPr>
            <p:txBody>
              <a:bodyPr/>
              <a:lstStyle/>
              <a:p>
                <a:r>
                  <a:rPr lang="en-IN">
                    <a:noFill/>
                  </a:rPr>
                  <a:t> </a:t>
                </a:r>
              </a:p>
            </p:txBody>
          </p:sp>
        </mc:Fallback>
      </mc:AlternateContent>
    </p:spTree>
    <p:extLst>
      <p:ext uri="{BB962C8B-B14F-4D97-AF65-F5344CB8AC3E}">
        <p14:creationId xmlns:p14="http://schemas.microsoft.com/office/powerpoint/2010/main" val="3697235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50EE-6A07-EBA1-3C36-1EF8FE293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CCDFAB-2E4E-E8A1-3405-83A3EB759DFA}"/>
              </a:ext>
            </a:extLst>
          </p:cNvPr>
          <p:cNvSpPr>
            <a:spLocks noGrp="1"/>
          </p:cNvSpPr>
          <p:nvPr>
            <p:ph type="title"/>
          </p:nvPr>
        </p:nvSpPr>
        <p:spPr/>
        <p:txBody>
          <a:bodyPr/>
          <a:lstStyle/>
          <a:p>
            <a:r>
              <a:rPr lang="en-GB" dirty="0"/>
              <a:t>Regession Metrics</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A8C3646-E4E2-B3CF-0E6E-39E398F964AF}"/>
                  </a:ext>
                </a:extLst>
              </p:cNvPr>
              <p:cNvSpPr txBox="1">
                <a:spLocks/>
              </p:cNvSpPr>
              <p:nvPr/>
            </p:nvSpPr>
            <p:spPr>
              <a:xfrm>
                <a:off x="516795" y="914395"/>
                <a:ext cx="6105759" cy="3094271"/>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RMSE (Root Mean Square Error)</a:t>
                </a:r>
              </a:p>
              <a:p>
                <a:pPr marL="0" indent="0">
                  <a:buNone/>
                </a:pPr>
                <a14:m>
                  <m:oMathPara xmlns:m="http://schemas.openxmlformats.org/officeDocument/2006/math">
                    <m:oMathParaPr>
                      <m:jc m:val="centerGroup"/>
                    </m:oMathParaPr>
                    <m:oMath xmlns:m="http://schemas.openxmlformats.org/officeDocument/2006/math">
                      <m:r>
                        <a:rPr lang="en-GB" sz="2400" b="0" i="1" smtClean="0">
                          <a:solidFill>
                            <a:schemeClr val="accent4"/>
                          </a:solidFill>
                          <a:latin typeface="Cambria Math" panose="02040503050406030204" pitchFamily="18" charset="0"/>
                        </a:rPr>
                        <m:t>𝑅</m:t>
                      </m:r>
                      <m:r>
                        <a:rPr lang="en-GB" sz="2400" i="1" smtClean="0">
                          <a:solidFill>
                            <a:schemeClr val="accent4"/>
                          </a:solidFill>
                          <a:latin typeface="Cambria Math" panose="02040503050406030204" pitchFamily="18" charset="0"/>
                        </a:rPr>
                        <m:t>𝑀</m:t>
                      </m:r>
                      <m:r>
                        <a:rPr lang="en-GB" sz="2400" b="0" i="1" smtClean="0">
                          <a:solidFill>
                            <a:schemeClr val="accent4"/>
                          </a:solidFill>
                          <a:latin typeface="Cambria Math" panose="02040503050406030204" pitchFamily="18" charset="0"/>
                        </a:rPr>
                        <m:t>𝑆</m:t>
                      </m:r>
                      <m:r>
                        <a:rPr lang="en-GB" sz="2400" i="1" smtClean="0">
                          <a:solidFill>
                            <a:schemeClr val="accent4"/>
                          </a:solidFill>
                          <a:latin typeface="Cambria Math" panose="02040503050406030204" pitchFamily="18" charset="0"/>
                        </a:rPr>
                        <m:t>𝐸</m:t>
                      </m:r>
                      <m:r>
                        <a:rPr lang="en-GB" sz="2400" i="1" smtClean="0">
                          <a:solidFill>
                            <a:schemeClr val="accent4"/>
                          </a:solidFill>
                          <a:latin typeface="Cambria Math" panose="02040503050406030204" pitchFamily="18" charset="0"/>
                        </a:rPr>
                        <m:t>=</m:t>
                      </m:r>
                      <m:rad>
                        <m:radPr>
                          <m:degHide m:val="on"/>
                          <m:ctrlPr>
                            <a:rPr lang="en-GB" sz="2400" i="1" smtClean="0">
                              <a:solidFill>
                                <a:schemeClr val="accent4"/>
                              </a:solidFill>
                              <a:latin typeface="Cambria Math" panose="02040503050406030204" pitchFamily="18" charset="0"/>
                            </a:rPr>
                          </m:ctrlPr>
                        </m:radPr>
                        <m:deg/>
                        <m:e>
                          <m:f>
                            <m:fPr>
                              <m:ctrlPr>
                                <a:rPr lang="en-IN" sz="2400" i="1">
                                  <a:solidFill>
                                    <a:schemeClr val="accent4"/>
                                  </a:solidFill>
                                  <a:latin typeface="Cambria Math" panose="02040503050406030204" pitchFamily="18" charset="0"/>
                                </a:rPr>
                              </m:ctrlPr>
                            </m:fPr>
                            <m:num>
                              <m:r>
                                <a:rPr lang="en-GB" sz="2400" i="1">
                                  <a:solidFill>
                                    <a:schemeClr val="accent4"/>
                                  </a:solidFill>
                                  <a:latin typeface="Cambria Math" panose="02040503050406030204" pitchFamily="18" charset="0"/>
                                </a:rPr>
                                <m:t>1</m:t>
                              </m:r>
                            </m:num>
                            <m:den>
                              <m:r>
                                <a:rPr lang="en-GB" sz="2400" i="1">
                                  <a:solidFill>
                                    <a:schemeClr val="accent4"/>
                                  </a:solidFill>
                                  <a:latin typeface="Cambria Math" panose="02040503050406030204" pitchFamily="18" charset="0"/>
                                </a:rPr>
                                <m:t>𝑚</m:t>
                              </m:r>
                            </m:den>
                          </m:f>
                          <m:nary>
                            <m:naryPr>
                              <m:chr m:val="∑"/>
                              <m:ctrlPr>
                                <a:rPr lang="en-IN" sz="2400" i="1">
                                  <a:solidFill>
                                    <a:schemeClr val="accent4"/>
                                  </a:solidFill>
                                  <a:latin typeface="Cambria Math" panose="02040503050406030204" pitchFamily="18" charset="0"/>
                                </a:rPr>
                              </m:ctrlPr>
                            </m:naryPr>
                            <m:sub>
                              <m:r>
                                <m:rPr>
                                  <m:brk m:alnAt="23"/>
                                </m:rPr>
                                <a:rPr lang="en-GB" sz="2400" i="1">
                                  <a:solidFill>
                                    <a:schemeClr val="accent4"/>
                                  </a:solidFill>
                                  <a:latin typeface="Cambria Math" panose="02040503050406030204" pitchFamily="18" charset="0"/>
                                </a:rPr>
                                <m:t>𝑖</m:t>
                              </m:r>
                              <m:r>
                                <a:rPr lang="en-GB" sz="2400" i="1">
                                  <a:solidFill>
                                    <a:schemeClr val="accent4"/>
                                  </a:solidFill>
                                  <a:latin typeface="Cambria Math" panose="02040503050406030204" pitchFamily="18" charset="0"/>
                                </a:rPr>
                                <m:t>=1</m:t>
                              </m:r>
                            </m:sub>
                            <m:sup>
                              <m:r>
                                <a:rPr lang="en-GB" sz="2400" i="1">
                                  <a:solidFill>
                                    <a:schemeClr val="accent4"/>
                                  </a:solidFill>
                                  <a:latin typeface="Cambria Math" panose="02040503050406030204" pitchFamily="18" charset="0"/>
                                </a:rPr>
                                <m:t>𝑚</m:t>
                              </m:r>
                            </m:sup>
                            <m:e>
                              <m:sSup>
                                <m:sSupPr>
                                  <m:ctrlPr>
                                    <a:rPr lang="en-IN" sz="2400" i="1">
                                      <a:solidFill>
                                        <a:schemeClr val="accent4"/>
                                      </a:solidFill>
                                      <a:latin typeface="Cambria Math" panose="02040503050406030204" pitchFamily="18" charset="0"/>
                                    </a:rPr>
                                  </m:ctrlPr>
                                </m:sSupPr>
                                <m:e>
                                  <m:d>
                                    <m:dPr>
                                      <m:ctrlPr>
                                        <a:rPr lang="en-GB" sz="2400" i="1">
                                          <a:solidFill>
                                            <a:schemeClr val="accent4"/>
                                          </a:solidFill>
                                          <a:latin typeface="Cambria Math" panose="02040503050406030204" pitchFamily="18" charset="0"/>
                                        </a:rPr>
                                      </m:ctrlPr>
                                    </m:dPr>
                                    <m:e>
                                      <m:sSub>
                                        <m:sSubPr>
                                          <m:ctrlPr>
                                            <a:rPr lang="en-GB" sz="2400" i="1" smtClean="0">
                                              <a:solidFill>
                                                <a:schemeClr val="accent4"/>
                                              </a:solidFill>
                                              <a:latin typeface="Cambria Math" panose="02040503050406030204" pitchFamily="18" charset="0"/>
                                            </a:rPr>
                                          </m:ctrlPr>
                                        </m:sSubPr>
                                        <m:e>
                                          <m:r>
                                            <a:rPr lang="en-GB" sz="2400" i="1">
                                              <a:solidFill>
                                                <a:schemeClr val="accent4"/>
                                              </a:solidFill>
                                              <a:latin typeface="Cambria Math" panose="02040503050406030204" pitchFamily="18" charset="0"/>
                                            </a:rPr>
                                            <m:t>𝑦</m:t>
                                          </m:r>
                                        </m:e>
                                        <m:sub>
                                          <m:r>
                                            <a:rPr lang="en-GB" sz="2400" b="0" i="1" smtClean="0">
                                              <a:solidFill>
                                                <a:schemeClr val="accent4"/>
                                              </a:solidFill>
                                              <a:latin typeface="Cambria Math" panose="02040503050406030204" pitchFamily="18" charset="0"/>
                                            </a:rPr>
                                            <m:t>𝑖</m:t>
                                          </m:r>
                                        </m:sub>
                                      </m:sSub>
                                      <m:r>
                                        <a:rPr lang="en-GB" sz="2400" i="1">
                                          <a:solidFill>
                                            <a:schemeClr val="accent4"/>
                                          </a:solidFill>
                                          <a:latin typeface="Cambria Math" panose="02040503050406030204" pitchFamily="18" charset="0"/>
                                        </a:rPr>
                                        <m:t>−</m:t>
                                      </m:r>
                                      <m:sSub>
                                        <m:sSubPr>
                                          <m:ctrlPr>
                                            <a:rPr lang="en-GB" sz="2400" i="1" smtClean="0">
                                              <a:solidFill>
                                                <a:schemeClr val="accent4"/>
                                              </a:solidFill>
                                              <a:latin typeface="Cambria Math" panose="02040503050406030204" pitchFamily="18" charset="0"/>
                                            </a:rPr>
                                          </m:ctrlPr>
                                        </m:sSubPr>
                                        <m:e>
                                          <m:acc>
                                            <m:accPr>
                                              <m:chr m:val="̂"/>
                                              <m:ctrlPr>
                                                <a:rPr lang="en-GB" sz="2400" i="1">
                                                  <a:solidFill>
                                                    <a:schemeClr val="accent4"/>
                                                  </a:solidFill>
                                                  <a:latin typeface="Cambria Math" panose="02040503050406030204" pitchFamily="18" charset="0"/>
                                                </a:rPr>
                                              </m:ctrlPr>
                                            </m:accPr>
                                            <m:e>
                                              <m:r>
                                                <a:rPr lang="en-GB" sz="2400" i="1">
                                                  <a:solidFill>
                                                    <a:schemeClr val="accent4"/>
                                                  </a:solidFill>
                                                  <a:latin typeface="Cambria Math" panose="02040503050406030204" pitchFamily="18" charset="0"/>
                                                </a:rPr>
                                                <m:t>𝑦</m:t>
                                              </m:r>
                                            </m:e>
                                          </m:acc>
                                        </m:e>
                                        <m:sub>
                                          <m:r>
                                            <a:rPr lang="en-GB" sz="2400" b="0" i="1" smtClean="0">
                                              <a:solidFill>
                                                <a:schemeClr val="accent4"/>
                                              </a:solidFill>
                                              <a:latin typeface="Cambria Math" panose="02040503050406030204" pitchFamily="18" charset="0"/>
                                            </a:rPr>
                                            <m:t>𝑖</m:t>
                                          </m:r>
                                        </m:sub>
                                      </m:sSub>
                                    </m:e>
                                  </m:d>
                                </m:e>
                                <m:sup>
                                  <m:r>
                                    <a:rPr lang="en-GB" sz="2400" i="1">
                                      <a:solidFill>
                                        <a:schemeClr val="accent4"/>
                                      </a:solidFill>
                                      <a:latin typeface="Cambria Math" panose="02040503050406030204" pitchFamily="18" charset="0"/>
                                    </a:rPr>
                                    <m:t>2</m:t>
                                  </m:r>
                                </m:sup>
                              </m:sSup>
                            </m:e>
                          </m:nary>
                        </m:e>
                      </m:rad>
                    </m:oMath>
                  </m:oMathPara>
                </a14:m>
                <a:endParaRPr lang="en-IN" sz="2400" dirty="0"/>
              </a:p>
              <a:p>
                <a:r>
                  <a:rPr lang="en-IN" sz="2400" dirty="0"/>
                  <a:t>RMSE=6.63 $</a:t>
                </a:r>
                <a:endParaRPr lang="en-IN" sz="2400" baseline="30000" dirty="0"/>
              </a:p>
            </p:txBody>
          </p:sp>
        </mc:Choice>
        <mc:Fallback xmlns="">
          <p:sp>
            <p:nvSpPr>
              <p:cNvPr id="4" name="Content Placeholder 2">
                <a:extLst>
                  <a:ext uri="{FF2B5EF4-FFF2-40B4-BE49-F238E27FC236}">
                    <a16:creationId xmlns:a16="http://schemas.microsoft.com/office/drawing/2014/main" id="{8A8C3646-E4E2-B3CF-0E6E-39E398F964AF}"/>
                  </a:ext>
                </a:extLst>
              </p:cNvPr>
              <p:cNvSpPr txBox="1">
                <a:spLocks noRot="1" noChangeAspect="1" noMove="1" noResize="1" noEditPoints="1" noAdjustHandles="1" noChangeArrowheads="1" noChangeShapeType="1" noTextEdit="1"/>
              </p:cNvSpPr>
              <p:nvPr/>
            </p:nvSpPr>
            <p:spPr>
              <a:xfrm>
                <a:off x="516795" y="914395"/>
                <a:ext cx="6105759" cy="3094271"/>
              </a:xfrm>
              <a:prstGeom prst="rect">
                <a:avLst/>
              </a:prstGeom>
              <a:blipFill>
                <a:blip r:embed="rId2"/>
                <a:stretch>
                  <a:fillRect l="-1598" t="-98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51D8822-AF6A-6934-5D3F-6B8FA4F49332}"/>
                  </a:ext>
                </a:extLst>
              </p:cNvPr>
              <p:cNvSpPr txBox="1"/>
              <p:nvPr/>
            </p:nvSpPr>
            <p:spPr>
              <a:xfrm>
                <a:off x="480847" y="4214062"/>
                <a:ext cx="5138737" cy="1631216"/>
              </a:xfrm>
              <a:prstGeom prst="rect">
                <a:avLst/>
              </a:prstGeom>
              <a:noFill/>
            </p:spPr>
            <p:txBody>
              <a:bodyPr wrap="square">
                <a:spAutoFit/>
              </a:bodyPr>
              <a:lstStyle/>
              <a:p>
                <a:r>
                  <a:rPr lang="en-IN" sz="2000" b="1" i="1" u="sng" dirty="0">
                    <a:latin typeface="Times New Roman" panose="02020603050405020304" pitchFamily="18" charset="0"/>
                    <a:cs typeface="Times New Roman" panose="02020603050405020304" pitchFamily="18" charset="0"/>
                  </a:rPr>
                  <a:t>Interpretation depends on the unit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RMSE=6.63 $ may be acceptable for housing price prediction.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However </a:t>
                </a:r>
                <a14:m>
                  <m:oMath xmlns:m="http://schemas.openxmlformats.org/officeDocument/2006/math">
                    <m:sSup>
                      <m:sSupPr>
                        <m:ctrlPr>
                          <a:rPr lang="en-IN" sz="2000" i="1" dirty="0">
                            <a:latin typeface="Cambria Math" panose="02040503050406030204" pitchFamily="18" charset="0"/>
                          </a:rPr>
                        </m:ctrlPr>
                      </m:sSupPr>
                      <m:e>
                        <m:r>
                          <m:rPr>
                            <m:sty m:val="p"/>
                          </m:rPr>
                          <a:rPr lang="en-GB" sz="2000" b="0" i="0" dirty="0" smtClean="0">
                            <a:latin typeface="Cambria Math" panose="02040503050406030204" pitchFamily="18" charset="0"/>
                          </a:rPr>
                          <m:t>RMSE</m:t>
                        </m:r>
                        <m:r>
                          <a:rPr lang="en-GB" sz="2000" b="0" i="0" dirty="0" smtClean="0">
                            <a:latin typeface="Cambria Math" panose="02040503050406030204" pitchFamily="18" charset="0"/>
                          </a:rPr>
                          <m:t>=6.63</m:t>
                        </m:r>
                      </m:e>
                      <m:sup>
                        <m:r>
                          <a:rPr lang="en-IN" sz="2000" dirty="0">
                            <a:latin typeface="Cambria Math" panose="02040503050406030204" pitchFamily="18" charset="0"/>
                          </a:rPr>
                          <m:t>0</m:t>
                        </m:r>
                      </m:sup>
                    </m:sSup>
                    <m:r>
                      <a:rPr lang="en-GB" sz="2000" dirty="0">
                        <a:latin typeface="Cambria Math" panose="02040503050406030204" pitchFamily="18" charset="0"/>
                      </a:rPr>
                      <m:t>(</m:t>
                    </m:r>
                    <m:r>
                      <m:rPr>
                        <m:sty m:val="p"/>
                      </m:rPr>
                      <a:rPr lang="en-GB" sz="2000" dirty="0">
                        <a:latin typeface="Cambria Math" panose="02040503050406030204" pitchFamily="18" charset="0"/>
                      </a:rPr>
                      <m:t>angle</m:t>
                    </m:r>
                    <m:r>
                      <a:rPr lang="en-GB" sz="2000" dirty="0">
                        <a:latin typeface="Cambria Math" panose="02040503050406030204" pitchFamily="18" charset="0"/>
                      </a:rPr>
                      <m:t>)</m:t>
                    </m:r>
                  </m:oMath>
                </a14:m>
                <a:r>
                  <a:rPr lang="en-IN" sz="2000" dirty="0">
                    <a:latin typeface="Times New Roman" panose="02020603050405020304" pitchFamily="18" charset="0"/>
                    <a:cs typeface="Times New Roman" panose="02020603050405020304" pitchFamily="18" charset="0"/>
                  </a:rPr>
                  <a:t> in autonomous-vehicle application may not be.</a:t>
                </a:r>
              </a:p>
            </p:txBody>
          </p:sp>
        </mc:Choice>
        <mc:Fallback xmlns="">
          <p:sp>
            <p:nvSpPr>
              <p:cNvPr id="5" name="TextBox 4">
                <a:extLst>
                  <a:ext uri="{FF2B5EF4-FFF2-40B4-BE49-F238E27FC236}">
                    <a16:creationId xmlns:a16="http://schemas.microsoft.com/office/drawing/2014/main" id="{351D8822-AF6A-6934-5D3F-6B8FA4F49332}"/>
                  </a:ext>
                </a:extLst>
              </p:cNvPr>
              <p:cNvSpPr txBox="1">
                <a:spLocks noRot="1" noChangeAspect="1" noMove="1" noResize="1" noEditPoints="1" noAdjustHandles="1" noChangeArrowheads="1" noChangeShapeType="1" noTextEdit="1"/>
              </p:cNvSpPr>
              <p:nvPr/>
            </p:nvSpPr>
            <p:spPr>
              <a:xfrm>
                <a:off x="480847" y="4214062"/>
                <a:ext cx="5138737" cy="1631216"/>
              </a:xfrm>
              <a:prstGeom prst="rect">
                <a:avLst/>
              </a:prstGeom>
              <a:blipFill>
                <a:blip r:embed="rId3"/>
                <a:stretch>
                  <a:fillRect l="-1305" t="-1866" r="-1186" b="-5597"/>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3FD94DEF-F0BD-3D18-A848-DD83DCBD1D0A}"/>
              </a:ext>
            </a:extLst>
          </p:cNvPr>
          <p:cNvSpPr txBox="1"/>
          <p:nvPr/>
        </p:nvSpPr>
        <p:spPr>
          <a:xfrm>
            <a:off x="6188530" y="4214062"/>
            <a:ext cx="5902778" cy="2616101"/>
          </a:xfrm>
          <a:prstGeom prst="rect">
            <a:avLst/>
          </a:prstGeom>
          <a:noFill/>
        </p:spPr>
        <p:txBody>
          <a:bodyPr wrap="square">
            <a:spAutoFit/>
          </a:bodyPr>
          <a:lstStyle/>
          <a:p>
            <a:r>
              <a:rPr lang="en-GB" sz="2000" b="1" i="1" u="sng" dirty="0">
                <a:latin typeface="Times New Roman" panose="02020603050405020304" pitchFamily="18" charset="0"/>
                <a:cs typeface="Times New Roman" panose="02020603050405020304" pitchFamily="18" charset="0"/>
              </a:rPr>
              <a:t>RMSE may be misleading!!</a:t>
            </a:r>
          </a:p>
          <a:p>
            <a:r>
              <a:rPr lang="en-GB" sz="2000" b="1" dirty="0">
                <a:latin typeface="Times New Roman" panose="02020603050405020304" pitchFamily="18" charset="0"/>
                <a:cs typeface="Times New Roman" panose="02020603050405020304" pitchFamily="18" charset="0"/>
              </a:rPr>
              <a:t>Case1</a:t>
            </a:r>
            <a:r>
              <a:rPr lang="en-GB" sz="2000" dirty="0">
                <a:latin typeface="Times New Roman" panose="02020603050405020304" pitchFamily="18" charset="0"/>
                <a:cs typeface="Times New Roman" panose="02020603050405020304" pitchFamily="18" charset="0"/>
              </a:rPr>
              <a:t>: Actual=1; Predicted=401</a:t>
            </a:r>
          </a:p>
          <a:p>
            <a:r>
              <a:rPr lang="en-GB" sz="2000" b="1" dirty="0">
                <a:latin typeface="Times New Roman" panose="02020603050405020304" pitchFamily="18" charset="0"/>
                <a:cs typeface="Times New Roman" panose="02020603050405020304" pitchFamily="18" charset="0"/>
              </a:rPr>
              <a:t>Case2</a:t>
            </a:r>
            <a:r>
              <a:rPr lang="en-GB" sz="2000" dirty="0">
                <a:latin typeface="Times New Roman" panose="02020603050405020304" pitchFamily="18" charset="0"/>
                <a:cs typeface="Times New Roman" panose="02020603050405020304" pitchFamily="18" charset="0"/>
              </a:rPr>
              <a:t>: Actual=10,001; Predicted=10,401</a:t>
            </a:r>
          </a:p>
          <a:p>
            <a:r>
              <a:rPr lang="en-GB" sz="2000" dirty="0">
                <a:latin typeface="Times New Roman" panose="02020603050405020304" pitchFamily="18" charset="0"/>
                <a:cs typeface="Times New Roman" panose="02020603050405020304" pitchFamily="18" charset="0"/>
              </a:rPr>
              <a:t>RMSE = 282$ in both cases.</a:t>
            </a:r>
          </a:p>
          <a:p>
            <a:r>
              <a:rPr lang="en-GB" sz="2000" dirty="0">
                <a:latin typeface="Times New Roman" panose="02020603050405020304" pitchFamily="18" charset="0"/>
                <a:cs typeface="Times New Roman" panose="02020603050405020304" pitchFamily="18" charset="0"/>
              </a:rPr>
              <a:t>However, Model 2 is a good model and Model 1 is not.</a:t>
            </a:r>
          </a:p>
          <a:p>
            <a:r>
              <a:rPr lang="en-GB" sz="2000" dirty="0">
                <a:solidFill>
                  <a:srgbClr val="FF0000"/>
                </a:solidFill>
                <a:latin typeface="Times New Roman" panose="02020603050405020304" pitchFamily="18" charset="0"/>
                <a:cs typeface="Times New Roman" panose="02020603050405020304" pitchFamily="18" charset="0"/>
              </a:rPr>
              <a:t>		</a:t>
            </a:r>
            <a:r>
              <a:rPr lang="en-GB" sz="2000" b="1" dirty="0">
                <a:solidFill>
                  <a:srgbClr val="FF0000"/>
                </a:solidFill>
                <a:latin typeface="Times New Roman" panose="02020603050405020304" pitchFamily="18" charset="0"/>
                <a:cs typeface="Times New Roman" panose="02020603050405020304" pitchFamily="18" charset="0"/>
              </a:rPr>
              <a:t>Scale issue!</a:t>
            </a:r>
          </a:p>
          <a:p>
            <a:pPr marL="800100" lvl="1"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EADB495-DFF5-3837-34C4-C5D5A3A58FD0}"/>
              </a:ext>
            </a:extLst>
          </p:cNvPr>
          <p:cNvGraphicFramePr>
            <a:graphicFrameLocks noGrp="1"/>
          </p:cNvGraphicFramePr>
          <p:nvPr/>
        </p:nvGraphicFramePr>
        <p:xfrm>
          <a:off x="7933929" y="589935"/>
          <a:ext cx="3919737" cy="2839063"/>
        </p:xfrm>
        <a:graphic>
          <a:graphicData uri="http://schemas.openxmlformats.org/drawingml/2006/table">
            <a:tbl>
              <a:tblPr firstRow="1" bandRow="1">
                <a:tableStyleId>{5940675A-B579-460E-94D1-54222C63F5DA}</a:tableStyleId>
              </a:tblPr>
              <a:tblGrid>
                <a:gridCol w="1306579">
                  <a:extLst>
                    <a:ext uri="{9D8B030D-6E8A-4147-A177-3AD203B41FA5}">
                      <a16:colId xmlns:a16="http://schemas.microsoft.com/office/drawing/2014/main" val="1713279818"/>
                    </a:ext>
                  </a:extLst>
                </a:gridCol>
                <a:gridCol w="1306579">
                  <a:extLst>
                    <a:ext uri="{9D8B030D-6E8A-4147-A177-3AD203B41FA5}">
                      <a16:colId xmlns:a16="http://schemas.microsoft.com/office/drawing/2014/main" val="3193451463"/>
                    </a:ext>
                  </a:extLst>
                </a:gridCol>
                <a:gridCol w="1306579">
                  <a:extLst>
                    <a:ext uri="{9D8B030D-6E8A-4147-A177-3AD203B41FA5}">
                      <a16:colId xmlns:a16="http://schemas.microsoft.com/office/drawing/2014/main" val="872614048"/>
                    </a:ext>
                  </a:extLst>
                </a:gridCol>
              </a:tblGrid>
              <a:tr h="714623">
                <a:tc>
                  <a:txBody>
                    <a:bodyPr/>
                    <a:lstStyle/>
                    <a:p>
                      <a:pPr algn="ctr"/>
                      <a:r>
                        <a:rPr lang="en-GB" b="1" dirty="0"/>
                        <a:t>Actual Values ($)</a:t>
                      </a:r>
                      <a:endParaRPr lang="en-IN" b="1" dirty="0"/>
                    </a:p>
                  </a:txBody>
                  <a:tcPr>
                    <a:solidFill>
                      <a:schemeClr val="accent2">
                        <a:lumMod val="20000"/>
                        <a:lumOff val="80000"/>
                      </a:schemeClr>
                    </a:solidFill>
                  </a:tcPr>
                </a:tc>
                <a:tc>
                  <a:txBody>
                    <a:bodyPr/>
                    <a:lstStyle/>
                    <a:p>
                      <a:pPr algn="ctr"/>
                      <a:r>
                        <a:rPr lang="en-GB" b="1" dirty="0"/>
                        <a:t>Predicted Values ($)</a:t>
                      </a:r>
                      <a:endParaRPr lang="en-IN" b="1" dirty="0"/>
                    </a:p>
                  </a:txBody>
                  <a:tcPr>
                    <a:solidFill>
                      <a:schemeClr val="accent2">
                        <a:lumMod val="20000"/>
                        <a:lumOff val="80000"/>
                      </a:schemeClr>
                    </a:solidFill>
                  </a:tcPr>
                </a:tc>
                <a:tc>
                  <a:txBody>
                    <a:bodyPr/>
                    <a:lstStyle/>
                    <a:p>
                      <a:pPr algn="ctr"/>
                      <a:r>
                        <a:rPr lang="en-GB" b="1" dirty="0"/>
                        <a:t>Error ($)</a:t>
                      </a:r>
                      <a:endParaRPr lang="en-IN" b="1" dirty="0"/>
                    </a:p>
                  </a:txBody>
                  <a:tcPr>
                    <a:solidFill>
                      <a:schemeClr val="accent2">
                        <a:lumMod val="20000"/>
                        <a:lumOff val="80000"/>
                      </a:schemeClr>
                    </a:solidFill>
                  </a:tcPr>
                </a:tc>
                <a:extLst>
                  <a:ext uri="{0D108BD9-81ED-4DB2-BD59-A6C34878D82A}">
                    <a16:rowId xmlns:a16="http://schemas.microsoft.com/office/drawing/2014/main" val="2949235806"/>
                  </a:ext>
                </a:extLst>
              </a:tr>
              <a:tr h="424888">
                <a:tc>
                  <a:txBody>
                    <a:bodyPr/>
                    <a:lstStyle/>
                    <a:p>
                      <a:pPr algn="ctr"/>
                      <a:r>
                        <a:rPr lang="en-GB" dirty="0"/>
                        <a:t>28</a:t>
                      </a:r>
                      <a:endParaRPr lang="en-IN" dirty="0"/>
                    </a:p>
                  </a:txBody>
                  <a:tcPr/>
                </a:tc>
                <a:tc>
                  <a:txBody>
                    <a:bodyPr/>
                    <a:lstStyle/>
                    <a:p>
                      <a:pPr algn="ctr"/>
                      <a:r>
                        <a:rPr lang="en-GB" dirty="0"/>
                        <a:t>19</a:t>
                      </a:r>
                      <a:endParaRPr lang="en-IN" dirty="0"/>
                    </a:p>
                  </a:txBody>
                  <a:tcPr/>
                </a:tc>
                <a:tc>
                  <a:txBody>
                    <a:bodyPr/>
                    <a:lstStyle/>
                    <a:p>
                      <a:pPr algn="ctr"/>
                      <a:r>
                        <a:rPr lang="en-GB" dirty="0"/>
                        <a:t>9</a:t>
                      </a:r>
                      <a:endParaRPr lang="en-IN" dirty="0"/>
                    </a:p>
                  </a:txBody>
                  <a:tcPr/>
                </a:tc>
                <a:extLst>
                  <a:ext uri="{0D108BD9-81ED-4DB2-BD59-A6C34878D82A}">
                    <a16:rowId xmlns:a16="http://schemas.microsoft.com/office/drawing/2014/main" val="121497197"/>
                  </a:ext>
                </a:extLst>
              </a:tr>
              <a:tr h="424888">
                <a:tc>
                  <a:txBody>
                    <a:bodyPr/>
                    <a:lstStyle/>
                    <a:p>
                      <a:pPr algn="ctr"/>
                      <a:r>
                        <a:rPr lang="en-GB" dirty="0"/>
                        <a:t>33</a:t>
                      </a:r>
                      <a:endParaRPr lang="en-IN" dirty="0"/>
                    </a:p>
                  </a:txBody>
                  <a:tcPr/>
                </a:tc>
                <a:tc>
                  <a:txBody>
                    <a:bodyPr/>
                    <a:lstStyle/>
                    <a:p>
                      <a:pPr algn="ctr"/>
                      <a:r>
                        <a:rPr lang="en-GB" dirty="0"/>
                        <a:t>37</a:t>
                      </a:r>
                      <a:endParaRPr lang="en-IN" dirty="0"/>
                    </a:p>
                  </a:txBody>
                  <a:tcPr/>
                </a:tc>
                <a:tc>
                  <a:txBody>
                    <a:bodyPr/>
                    <a:lstStyle/>
                    <a:p>
                      <a:pPr algn="ctr"/>
                      <a:r>
                        <a:rPr lang="en-GB" dirty="0"/>
                        <a:t>-4</a:t>
                      </a:r>
                      <a:endParaRPr lang="en-IN" dirty="0"/>
                    </a:p>
                  </a:txBody>
                  <a:tcPr/>
                </a:tc>
                <a:extLst>
                  <a:ext uri="{0D108BD9-81ED-4DB2-BD59-A6C34878D82A}">
                    <a16:rowId xmlns:a16="http://schemas.microsoft.com/office/drawing/2014/main" val="168929264"/>
                  </a:ext>
                </a:extLst>
              </a:tr>
              <a:tr h="424888">
                <a:tc>
                  <a:txBody>
                    <a:bodyPr/>
                    <a:lstStyle/>
                    <a:p>
                      <a:pPr algn="ctr"/>
                      <a:r>
                        <a:rPr lang="en-GB" dirty="0"/>
                        <a:t>20</a:t>
                      </a:r>
                      <a:endParaRPr lang="en-IN" dirty="0"/>
                    </a:p>
                  </a:txBody>
                  <a:tcPr/>
                </a:tc>
                <a:tc>
                  <a:txBody>
                    <a:bodyPr/>
                    <a:lstStyle/>
                    <a:p>
                      <a:pPr algn="ctr"/>
                      <a:r>
                        <a:rPr lang="en-GB" dirty="0"/>
                        <a:t>25</a:t>
                      </a:r>
                      <a:endParaRPr lang="en-IN" dirty="0"/>
                    </a:p>
                  </a:txBody>
                  <a:tcPr/>
                </a:tc>
                <a:tc>
                  <a:txBody>
                    <a:bodyPr/>
                    <a:lstStyle/>
                    <a:p>
                      <a:pPr algn="ctr"/>
                      <a:r>
                        <a:rPr lang="en-GB" dirty="0"/>
                        <a:t>-5</a:t>
                      </a:r>
                      <a:endParaRPr lang="en-IN" dirty="0"/>
                    </a:p>
                  </a:txBody>
                  <a:tcPr/>
                </a:tc>
                <a:extLst>
                  <a:ext uri="{0D108BD9-81ED-4DB2-BD59-A6C34878D82A}">
                    <a16:rowId xmlns:a16="http://schemas.microsoft.com/office/drawing/2014/main" val="3744025397"/>
                  </a:ext>
                </a:extLst>
              </a:tr>
              <a:tr h="424888">
                <a:tc>
                  <a:txBody>
                    <a:bodyPr/>
                    <a:lstStyle/>
                    <a:p>
                      <a:pPr algn="ctr"/>
                      <a:r>
                        <a:rPr lang="en-GB" dirty="0"/>
                        <a:t>16</a:t>
                      </a:r>
                      <a:endParaRPr lang="en-IN" dirty="0"/>
                    </a:p>
                  </a:txBody>
                  <a:tcPr/>
                </a:tc>
                <a:tc>
                  <a:txBody>
                    <a:bodyPr/>
                    <a:lstStyle/>
                    <a:p>
                      <a:pPr algn="ctr"/>
                      <a:r>
                        <a:rPr lang="en-GB" dirty="0"/>
                        <a:t>9</a:t>
                      </a:r>
                      <a:endParaRPr lang="en-IN" dirty="0"/>
                    </a:p>
                  </a:txBody>
                  <a:tcPr/>
                </a:tc>
                <a:tc>
                  <a:txBody>
                    <a:bodyPr/>
                    <a:lstStyle/>
                    <a:p>
                      <a:pPr algn="ctr"/>
                      <a:r>
                        <a:rPr lang="en-GB" dirty="0"/>
                        <a:t>7</a:t>
                      </a:r>
                      <a:endParaRPr lang="en-IN" dirty="0"/>
                    </a:p>
                  </a:txBody>
                  <a:tcPr/>
                </a:tc>
                <a:extLst>
                  <a:ext uri="{0D108BD9-81ED-4DB2-BD59-A6C34878D82A}">
                    <a16:rowId xmlns:a16="http://schemas.microsoft.com/office/drawing/2014/main" val="4081025013"/>
                  </a:ext>
                </a:extLst>
              </a:tr>
              <a:tr h="424888">
                <a:tc>
                  <a:txBody>
                    <a:bodyPr/>
                    <a:lstStyle/>
                    <a:p>
                      <a:pPr algn="ctr"/>
                      <a:r>
                        <a:rPr lang="en-GB" dirty="0"/>
                        <a:t>15</a:t>
                      </a:r>
                      <a:endParaRPr lang="en-IN" dirty="0"/>
                    </a:p>
                  </a:txBody>
                  <a:tcPr/>
                </a:tc>
                <a:tc>
                  <a:txBody>
                    <a:bodyPr/>
                    <a:lstStyle/>
                    <a:p>
                      <a:pPr algn="ctr"/>
                      <a:r>
                        <a:rPr lang="en-GB" dirty="0"/>
                        <a:t>22</a:t>
                      </a:r>
                      <a:endParaRPr lang="en-IN" dirty="0"/>
                    </a:p>
                  </a:txBody>
                  <a:tcPr/>
                </a:tc>
                <a:tc>
                  <a:txBody>
                    <a:bodyPr/>
                    <a:lstStyle/>
                    <a:p>
                      <a:pPr algn="ctr"/>
                      <a:r>
                        <a:rPr lang="en-GB" dirty="0"/>
                        <a:t>-7</a:t>
                      </a:r>
                      <a:endParaRPr lang="en-IN" dirty="0"/>
                    </a:p>
                  </a:txBody>
                  <a:tcPr/>
                </a:tc>
                <a:extLst>
                  <a:ext uri="{0D108BD9-81ED-4DB2-BD59-A6C34878D82A}">
                    <a16:rowId xmlns:a16="http://schemas.microsoft.com/office/drawing/2014/main" val="1035297323"/>
                  </a:ext>
                </a:extLst>
              </a:tr>
            </a:tbl>
          </a:graphicData>
        </a:graphic>
      </p:graphicFrame>
    </p:spTree>
    <p:extLst>
      <p:ext uri="{BB962C8B-B14F-4D97-AF65-F5344CB8AC3E}">
        <p14:creationId xmlns:p14="http://schemas.microsoft.com/office/powerpoint/2010/main" val="3110966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5D451-EA1F-0659-B2F7-1B8BD7600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9A961-488D-2C8A-72D0-D74550754753}"/>
              </a:ext>
            </a:extLst>
          </p:cNvPr>
          <p:cNvSpPr>
            <a:spLocks noGrp="1"/>
          </p:cNvSpPr>
          <p:nvPr>
            <p:ph type="title"/>
          </p:nvPr>
        </p:nvSpPr>
        <p:spPr/>
        <p:txBody>
          <a:bodyPr/>
          <a:lstStyle/>
          <a:p>
            <a:r>
              <a:rPr lang="en-GB" dirty="0"/>
              <a:t>Regession Metrics</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0DB2146-4D34-3901-97D5-8D56BBB7D686}"/>
                  </a:ext>
                </a:extLst>
              </p:cNvPr>
              <p:cNvSpPr txBox="1">
                <a:spLocks/>
              </p:cNvSpPr>
              <p:nvPr/>
            </p:nvSpPr>
            <p:spPr>
              <a:xfrm>
                <a:off x="516796" y="914395"/>
                <a:ext cx="5844678" cy="2620741"/>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RMSLE (Root Mean Square Log Error)</a:t>
                </a:r>
              </a:p>
              <a:p>
                <a:pPr marL="0" indent="0">
                  <a:buNone/>
                </a:pPr>
                <a14:m>
                  <m:oMathPara xmlns:m="http://schemas.openxmlformats.org/officeDocument/2006/math">
                    <m:oMathParaPr>
                      <m:jc m:val="centerGroup"/>
                    </m:oMathParaPr>
                    <m:oMath xmlns:m="http://schemas.openxmlformats.org/officeDocument/2006/math">
                      <m:r>
                        <a:rPr lang="en-GB" sz="2000" b="0" i="1" smtClean="0">
                          <a:solidFill>
                            <a:schemeClr val="accent4"/>
                          </a:solidFill>
                          <a:latin typeface="Cambria Math" panose="02040503050406030204" pitchFamily="18" charset="0"/>
                        </a:rPr>
                        <m:t>𝑅</m:t>
                      </m:r>
                      <m:r>
                        <a:rPr lang="en-GB" sz="2000" i="1" smtClean="0">
                          <a:solidFill>
                            <a:schemeClr val="accent4"/>
                          </a:solidFill>
                          <a:latin typeface="Cambria Math" panose="02040503050406030204" pitchFamily="18" charset="0"/>
                        </a:rPr>
                        <m:t>𝑀</m:t>
                      </m:r>
                      <m:r>
                        <a:rPr lang="en-GB" sz="2000" b="0" i="1" smtClean="0">
                          <a:solidFill>
                            <a:schemeClr val="accent4"/>
                          </a:solidFill>
                          <a:latin typeface="Cambria Math" panose="02040503050406030204" pitchFamily="18" charset="0"/>
                        </a:rPr>
                        <m:t>𝑆𝐿</m:t>
                      </m:r>
                      <m:r>
                        <a:rPr lang="en-GB" sz="2000" i="1" smtClean="0">
                          <a:solidFill>
                            <a:schemeClr val="accent4"/>
                          </a:solidFill>
                          <a:latin typeface="Cambria Math" panose="02040503050406030204" pitchFamily="18" charset="0"/>
                        </a:rPr>
                        <m:t>𝐸</m:t>
                      </m:r>
                      <m:r>
                        <a:rPr lang="en-GB" sz="2000" i="1" smtClean="0">
                          <a:solidFill>
                            <a:schemeClr val="accent4"/>
                          </a:solidFill>
                          <a:latin typeface="Cambria Math" panose="02040503050406030204" pitchFamily="18" charset="0"/>
                        </a:rPr>
                        <m:t>=</m:t>
                      </m:r>
                      <m:rad>
                        <m:radPr>
                          <m:degHide m:val="on"/>
                          <m:ctrlPr>
                            <a:rPr lang="en-GB" sz="2000" i="1" smtClean="0">
                              <a:solidFill>
                                <a:schemeClr val="accent4"/>
                              </a:solidFill>
                              <a:latin typeface="Cambria Math" panose="02040503050406030204" pitchFamily="18" charset="0"/>
                            </a:rPr>
                          </m:ctrlPr>
                        </m:radPr>
                        <m:deg/>
                        <m:e>
                          <m:f>
                            <m:fPr>
                              <m:ctrlPr>
                                <a:rPr lang="en-IN" sz="2000" i="1">
                                  <a:solidFill>
                                    <a:schemeClr val="accent4"/>
                                  </a:solidFill>
                                  <a:latin typeface="Cambria Math" panose="02040503050406030204" pitchFamily="18" charset="0"/>
                                </a:rPr>
                              </m:ctrlPr>
                            </m:fPr>
                            <m:num>
                              <m:r>
                                <a:rPr lang="en-GB" sz="2000" i="1">
                                  <a:solidFill>
                                    <a:schemeClr val="accent4"/>
                                  </a:solidFill>
                                  <a:latin typeface="Cambria Math" panose="02040503050406030204" pitchFamily="18" charset="0"/>
                                </a:rPr>
                                <m:t>1</m:t>
                              </m:r>
                            </m:num>
                            <m:den>
                              <m:r>
                                <a:rPr lang="en-GB" sz="2000" i="1">
                                  <a:solidFill>
                                    <a:schemeClr val="accent4"/>
                                  </a:solidFill>
                                  <a:latin typeface="Cambria Math" panose="02040503050406030204" pitchFamily="18" charset="0"/>
                                </a:rPr>
                                <m:t>𝑚</m:t>
                              </m:r>
                            </m:den>
                          </m:f>
                          <m:nary>
                            <m:naryPr>
                              <m:chr m:val="∑"/>
                              <m:ctrlPr>
                                <a:rPr lang="en-IN" sz="2000" i="1">
                                  <a:solidFill>
                                    <a:schemeClr val="accent4"/>
                                  </a:solidFill>
                                  <a:latin typeface="Cambria Math" panose="02040503050406030204" pitchFamily="18" charset="0"/>
                                </a:rPr>
                              </m:ctrlPr>
                            </m:naryPr>
                            <m:sub>
                              <m:r>
                                <m:rPr>
                                  <m:brk m:alnAt="23"/>
                                </m:rPr>
                                <a:rPr lang="en-GB" sz="2000" i="1">
                                  <a:solidFill>
                                    <a:schemeClr val="accent4"/>
                                  </a:solidFill>
                                  <a:latin typeface="Cambria Math" panose="02040503050406030204" pitchFamily="18" charset="0"/>
                                </a:rPr>
                                <m:t>𝑖</m:t>
                              </m:r>
                              <m:r>
                                <a:rPr lang="en-GB" sz="2000" i="1">
                                  <a:solidFill>
                                    <a:schemeClr val="accent4"/>
                                  </a:solidFill>
                                  <a:latin typeface="Cambria Math" panose="02040503050406030204" pitchFamily="18" charset="0"/>
                                </a:rPr>
                                <m:t>=1</m:t>
                              </m:r>
                            </m:sub>
                            <m:sup>
                              <m:r>
                                <a:rPr lang="en-GB" sz="2000" i="1">
                                  <a:solidFill>
                                    <a:schemeClr val="accent4"/>
                                  </a:solidFill>
                                  <a:latin typeface="Cambria Math" panose="02040503050406030204" pitchFamily="18" charset="0"/>
                                </a:rPr>
                                <m:t>𝑚</m:t>
                              </m:r>
                            </m:sup>
                            <m:e>
                              <m:sSup>
                                <m:sSupPr>
                                  <m:ctrlPr>
                                    <a:rPr lang="en-IN" sz="2000" i="1">
                                      <a:solidFill>
                                        <a:schemeClr val="accent4"/>
                                      </a:solidFill>
                                      <a:latin typeface="Cambria Math" panose="02040503050406030204" pitchFamily="18" charset="0"/>
                                    </a:rPr>
                                  </m:ctrlPr>
                                </m:sSupPr>
                                <m:e>
                                  <m:d>
                                    <m:dPr>
                                      <m:ctrlPr>
                                        <a:rPr lang="en-GB" sz="2000" i="1">
                                          <a:solidFill>
                                            <a:schemeClr val="accent4"/>
                                          </a:solidFill>
                                          <a:latin typeface="Cambria Math" panose="02040503050406030204" pitchFamily="18" charset="0"/>
                                        </a:rPr>
                                      </m:ctrlPr>
                                    </m:dPr>
                                    <m:e>
                                      <m:r>
                                        <a:rPr lang="en-GB" sz="2000" b="0" i="1" smtClean="0">
                                          <a:solidFill>
                                            <a:schemeClr val="accent4"/>
                                          </a:solidFill>
                                          <a:latin typeface="Cambria Math" panose="02040503050406030204" pitchFamily="18" charset="0"/>
                                        </a:rPr>
                                        <m:t> </m:t>
                                      </m:r>
                                      <m:r>
                                        <m:rPr>
                                          <m:sty m:val="p"/>
                                        </m:rPr>
                                        <a:rPr lang="en-GB" sz="2000" b="0" i="0" smtClean="0">
                                          <a:solidFill>
                                            <a:schemeClr val="accent4"/>
                                          </a:solidFill>
                                          <a:latin typeface="Cambria Math" panose="02040503050406030204" pitchFamily="18" charset="0"/>
                                        </a:rPr>
                                        <m:t>log</m:t>
                                      </m:r>
                                      <m:r>
                                        <a:rPr lang="en-GB" sz="2000" b="0" i="1" smtClean="0">
                                          <a:solidFill>
                                            <a:schemeClr val="accent4"/>
                                          </a:solidFill>
                                          <a:latin typeface="Cambria Math" panose="02040503050406030204" pitchFamily="18" charset="0"/>
                                        </a:rPr>
                                        <m:t>⁡(</m:t>
                                      </m:r>
                                      <m:sSub>
                                        <m:sSubPr>
                                          <m:ctrlPr>
                                            <a:rPr lang="en-GB" sz="2000" b="0" i="1" smtClean="0">
                                              <a:solidFill>
                                                <a:schemeClr val="accent4"/>
                                              </a:solidFill>
                                              <a:latin typeface="Cambria Math" panose="02040503050406030204" pitchFamily="18" charset="0"/>
                                            </a:rPr>
                                          </m:ctrlPr>
                                        </m:sSubPr>
                                        <m:e>
                                          <m:r>
                                            <a:rPr lang="en-GB" sz="2000" b="0" i="1" smtClean="0">
                                              <a:solidFill>
                                                <a:schemeClr val="accent4"/>
                                              </a:solidFill>
                                              <a:latin typeface="Cambria Math" panose="02040503050406030204" pitchFamily="18" charset="0"/>
                                            </a:rPr>
                                            <m:t>𝑦</m:t>
                                          </m:r>
                                        </m:e>
                                        <m:sub>
                                          <m:r>
                                            <a:rPr lang="en-GB" sz="2000" b="0" i="1" smtClean="0">
                                              <a:solidFill>
                                                <a:schemeClr val="accent4"/>
                                              </a:solidFill>
                                              <a:latin typeface="Cambria Math" panose="02040503050406030204" pitchFamily="18" charset="0"/>
                                            </a:rPr>
                                            <m:t>𝑖</m:t>
                                          </m:r>
                                        </m:sub>
                                      </m:sSub>
                                      <m:r>
                                        <a:rPr lang="en-GB" sz="2000" b="0" i="1" smtClean="0">
                                          <a:solidFill>
                                            <a:schemeClr val="accent4"/>
                                          </a:solidFill>
                                          <a:latin typeface="Cambria Math" panose="02040503050406030204" pitchFamily="18" charset="0"/>
                                        </a:rPr>
                                        <m:t>+1)</m:t>
                                      </m:r>
                                      <m:r>
                                        <a:rPr lang="en-GB" sz="2000" i="1">
                                          <a:solidFill>
                                            <a:schemeClr val="accent4"/>
                                          </a:solidFill>
                                          <a:latin typeface="Cambria Math" panose="02040503050406030204" pitchFamily="18" charset="0"/>
                                        </a:rPr>
                                        <m:t>−</m:t>
                                      </m:r>
                                      <m:r>
                                        <m:rPr>
                                          <m:sty m:val="p"/>
                                        </m:rPr>
                                        <a:rPr lang="en-GB" sz="2000">
                                          <a:solidFill>
                                            <a:schemeClr val="accent4"/>
                                          </a:solidFill>
                                          <a:latin typeface="Cambria Math" panose="02040503050406030204" pitchFamily="18" charset="0"/>
                                        </a:rPr>
                                        <m:t>log</m:t>
                                      </m:r>
                                      <m:r>
                                        <a:rPr lang="en-GB" sz="2000" i="1">
                                          <a:solidFill>
                                            <a:schemeClr val="accent4"/>
                                          </a:solidFill>
                                          <a:latin typeface="Cambria Math" panose="02040503050406030204" pitchFamily="18" charset="0"/>
                                        </a:rPr>
                                        <m:t>⁡(</m:t>
                                      </m:r>
                                      <m:sSub>
                                        <m:sSubPr>
                                          <m:ctrlPr>
                                            <a:rPr lang="en-GB" sz="2000" i="1" smtClean="0">
                                              <a:solidFill>
                                                <a:schemeClr val="accent4"/>
                                              </a:solidFill>
                                              <a:latin typeface="Cambria Math" panose="02040503050406030204" pitchFamily="18" charset="0"/>
                                            </a:rPr>
                                          </m:ctrlPr>
                                        </m:sSubPr>
                                        <m:e>
                                          <m:acc>
                                            <m:accPr>
                                              <m:chr m:val="̂"/>
                                              <m:ctrlPr>
                                                <a:rPr lang="en-GB" sz="2000" i="1">
                                                  <a:solidFill>
                                                    <a:schemeClr val="accent4"/>
                                                  </a:solidFill>
                                                  <a:latin typeface="Cambria Math" panose="02040503050406030204" pitchFamily="18" charset="0"/>
                                                </a:rPr>
                                              </m:ctrlPr>
                                            </m:accPr>
                                            <m:e>
                                              <m:r>
                                                <a:rPr lang="en-GB" sz="2000" i="1">
                                                  <a:solidFill>
                                                    <a:schemeClr val="accent4"/>
                                                  </a:solidFill>
                                                  <a:latin typeface="Cambria Math" panose="02040503050406030204" pitchFamily="18" charset="0"/>
                                                </a:rPr>
                                                <m:t>𝑦</m:t>
                                              </m:r>
                                            </m:e>
                                          </m:acc>
                                        </m:e>
                                        <m:sub>
                                          <m:r>
                                            <a:rPr lang="en-GB" sz="2000" b="0" i="1" smtClean="0">
                                              <a:solidFill>
                                                <a:schemeClr val="accent4"/>
                                              </a:solidFill>
                                              <a:latin typeface="Cambria Math" panose="02040503050406030204" pitchFamily="18" charset="0"/>
                                            </a:rPr>
                                            <m:t>𝑖</m:t>
                                          </m:r>
                                        </m:sub>
                                      </m:sSub>
                                      <m:r>
                                        <a:rPr lang="en-GB" sz="2000" i="1">
                                          <a:solidFill>
                                            <a:schemeClr val="accent4"/>
                                          </a:solidFill>
                                          <a:latin typeface="Cambria Math" panose="02040503050406030204" pitchFamily="18" charset="0"/>
                                        </a:rPr>
                                        <m:t>+1)</m:t>
                                      </m:r>
                                      <m:r>
                                        <a:rPr lang="en-GB" sz="2000" i="1" smtClean="0">
                                          <a:solidFill>
                                            <a:schemeClr val="accent4"/>
                                          </a:solidFill>
                                          <a:latin typeface="Cambria Math" panose="02040503050406030204" pitchFamily="18" charset="0"/>
                                        </a:rPr>
                                        <m:t> </m:t>
                                      </m:r>
                                    </m:e>
                                  </m:d>
                                </m:e>
                                <m:sup>
                                  <m:r>
                                    <a:rPr lang="en-GB" sz="2000" i="1">
                                      <a:solidFill>
                                        <a:schemeClr val="accent4"/>
                                      </a:solidFill>
                                      <a:latin typeface="Cambria Math" panose="02040503050406030204" pitchFamily="18" charset="0"/>
                                    </a:rPr>
                                    <m:t>2</m:t>
                                  </m:r>
                                </m:sup>
                              </m:sSup>
                            </m:e>
                          </m:nary>
                        </m:e>
                      </m:rad>
                    </m:oMath>
                  </m:oMathPara>
                </a14:m>
                <a:endParaRPr lang="en-IN" sz="2000" dirty="0"/>
              </a:p>
            </p:txBody>
          </p:sp>
        </mc:Choice>
        <mc:Fallback xmlns="">
          <p:sp>
            <p:nvSpPr>
              <p:cNvPr id="4" name="Content Placeholder 2">
                <a:extLst>
                  <a:ext uri="{FF2B5EF4-FFF2-40B4-BE49-F238E27FC236}">
                    <a16:creationId xmlns:a16="http://schemas.microsoft.com/office/drawing/2014/main" id="{C0DB2146-4D34-3901-97D5-8D56BBB7D686}"/>
                  </a:ext>
                </a:extLst>
              </p:cNvPr>
              <p:cNvSpPr txBox="1">
                <a:spLocks noRot="1" noChangeAspect="1" noMove="1" noResize="1" noEditPoints="1" noAdjustHandles="1" noChangeArrowheads="1" noChangeShapeType="1" noTextEdit="1"/>
              </p:cNvSpPr>
              <p:nvPr/>
            </p:nvSpPr>
            <p:spPr>
              <a:xfrm>
                <a:off x="516796" y="914395"/>
                <a:ext cx="5844678" cy="2620741"/>
              </a:xfrm>
              <a:prstGeom prst="rect">
                <a:avLst/>
              </a:prstGeom>
              <a:blipFill>
                <a:blip r:embed="rId2"/>
                <a:stretch>
                  <a:fillRect l="-1668" t="-1163"/>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63652885-4972-1219-A16F-9447047D6B59}"/>
              </a:ext>
            </a:extLst>
          </p:cNvPr>
          <p:cNvSpPr txBox="1"/>
          <p:nvPr/>
        </p:nvSpPr>
        <p:spPr>
          <a:xfrm>
            <a:off x="6789029" y="3384993"/>
            <a:ext cx="5138737" cy="1015663"/>
          </a:xfrm>
          <a:prstGeom prst="rect">
            <a:avLst/>
          </a:prstGeom>
          <a:noFill/>
        </p:spPr>
        <p:txBody>
          <a:bodyPr wrap="square">
            <a:spAutoFit/>
          </a:bodyPr>
          <a:lstStyle/>
          <a:p>
            <a:r>
              <a:rPr lang="en-IN" sz="2000" u="sng" dirty="0">
                <a:solidFill>
                  <a:schemeClr val="accent2">
                    <a:lumMod val="75000"/>
                  </a:schemeClr>
                </a:solidFill>
                <a:latin typeface="Times New Roman" panose="02020603050405020304" pitchFamily="18" charset="0"/>
                <a:cs typeface="Times New Roman" panose="02020603050405020304" pitchFamily="18" charset="0"/>
              </a:rPr>
              <a:t>Interpretation still depends on the unit ($)</a:t>
            </a:r>
          </a:p>
          <a:p>
            <a:pPr marL="342900" indent="-342900" algn="just">
              <a:buFont typeface="Arial" panose="020B0604020202020204" pitchFamily="34" charset="0"/>
              <a:buChar char="•"/>
            </a:pPr>
            <a:r>
              <a:rPr lang="en-GB" sz="2000" dirty="0">
                <a:solidFill>
                  <a:schemeClr val="accent2">
                    <a:lumMod val="75000"/>
                  </a:schemeClr>
                </a:solidFill>
                <a:latin typeface="Times New Roman" panose="02020603050405020304" pitchFamily="18" charset="0"/>
                <a:cs typeface="Times New Roman" panose="02020603050405020304" pitchFamily="18" charset="0"/>
              </a:rPr>
              <a:t>Acceptable scale/magnitude of RMSLE may depend on the application. </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9045CB6-4862-35C3-4DD4-87D636CFFF44}"/>
              </a:ext>
            </a:extLst>
          </p:cNvPr>
          <p:cNvSpPr txBox="1"/>
          <p:nvPr/>
        </p:nvSpPr>
        <p:spPr>
          <a:xfrm>
            <a:off x="6715434" y="821933"/>
            <a:ext cx="5251091" cy="2308324"/>
          </a:xfrm>
          <a:prstGeom prst="rect">
            <a:avLst/>
          </a:prstGeom>
          <a:noFill/>
        </p:spPr>
        <p:txBody>
          <a:bodyPr wrap="square">
            <a:spAutoFit/>
          </a:bodyPr>
          <a:lstStyle/>
          <a:p>
            <a:r>
              <a:rPr lang="en-GB" sz="2000" b="1" dirty="0">
                <a:latin typeface="Times New Roman" panose="02020603050405020304" pitchFamily="18" charset="0"/>
                <a:cs typeface="Times New Roman" panose="02020603050405020304" pitchFamily="18" charset="0"/>
              </a:rPr>
              <a:t>Case1</a:t>
            </a:r>
            <a:r>
              <a:rPr lang="en-GB" sz="2000" dirty="0">
                <a:latin typeface="Times New Roman" panose="02020603050405020304" pitchFamily="18" charset="0"/>
                <a:cs typeface="Times New Roman" panose="02020603050405020304" pitchFamily="18" charset="0"/>
              </a:rPr>
              <a:t>: Actual=1; Predicted=401</a:t>
            </a:r>
          </a:p>
          <a:p>
            <a:r>
              <a:rPr lang="en-GB" sz="2000" b="1" dirty="0">
                <a:latin typeface="Times New Roman" panose="02020603050405020304" pitchFamily="18" charset="0"/>
                <a:cs typeface="Times New Roman" panose="02020603050405020304" pitchFamily="18" charset="0"/>
              </a:rPr>
              <a:t>Case2</a:t>
            </a:r>
            <a:r>
              <a:rPr lang="en-GB" sz="2000" dirty="0">
                <a:latin typeface="Times New Roman" panose="02020603050405020304" pitchFamily="18" charset="0"/>
                <a:cs typeface="Times New Roman" panose="02020603050405020304" pitchFamily="18" charset="0"/>
              </a:rPr>
              <a:t>: Actual=10,001; Predicted=10,401</a:t>
            </a:r>
          </a:p>
          <a:p>
            <a:r>
              <a:rPr lang="en-GB" sz="2000" b="1" dirty="0">
                <a:latin typeface="Times New Roman" panose="02020603050405020304" pitchFamily="18" charset="0"/>
                <a:cs typeface="Times New Roman" panose="02020603050405020304" pitchFamily="18" charset="0"/>
              </a:rPr>
              <a:t>RMSLE</a:t>
            </a:r>
            <a:r>
              <a:rPr lang="en-GB" sz="2000" b="1" baseline="-25000" dirty="0">
                <a:latin typeface="Times New Roman" panose="02020603050405020304" pitchFamily="18" charset="0"/>
                <a:cs typeface="Times New Roman" panose="02020603050405020304" pitchFamily="18" charset="0"/>
              </a:rPr>
              <a:t>1</a:t>
            </a:r>
            <a:r>
              <a:rPr lang="en-GB" sz="2000" b="1" dirty="0">
                <a:latin typeface="Times New Roman" panose="02020603050405020304" pitchFamily="18" charset="0"/>
                <a:cs typeface="Times New Roman" panose="02020603050405020304" pitchFamily="18" charset="0"/>
              </a:rPr>
              <a:t> = 2.65$ and RMSLE</a:t>
            </a:r>
            <a:r>
              <a:rPr lang="en-GB" sz="2000" b="1" baseline="-25000" dirty="0">
                <a:latin typeface="Times New Roman" panose="02020603050405020304" pitchFamily="18" charset="0"/>
                <a:cs typeface="Times New Roman" panose="02020603050405020304" pitchFamily="18" charset="0"/>
              </a:rPr>
              <a:t>2</a:t>
            </a:r>
            <a:r>
              <a:rPr lang="en-GB" sz="2000" b="1" dirty="0">
                <a:latin typeface="Times New Roman" panose="02020603050405020304" pitchFamily="18" charset="0"/>
                <a:cs typeface="Times New Roman" panose="02020603050405020304" pitchFamily="18" charset="0"/>
              </a:rPr>
              <a:t> = 0.00014$</a:t>
            </a:r>
          </a:p>
          <a:p>
            <a:r>
              <a:rPr lang="en-GB" sz="2000" dirty="0">
                <a:latin typeface="Times New Roman" panose="02020603050405020304" pitchFamily="18" charset="0"/>
                <a:cs typeface="Times New Roman" panose="02020603050405020304" pitchFamily="18" charset="0"/>
              </a:rPr>
              <a:t>Now, Model-2 can be accepted, and Model-1 can be rejected.</a:t>
            </a:r>
          </a:p>
          <a:p>
            <a:r>
              <a:rPr lang="en-GB" sz="2000" dirty="0">
                <a:solidFill>
                  <a:schemeClr val="accent4"/>
                </a:solidFill>
                <a:latin typeface="Times New Roman" panose="02020603050405020304" pitchFamily="18" charset="0"/>
                <a:cs typeface="Times New Roman" panose="02020603050405020304" pitchFamily="18" charset="0"/>
              </a:rPr>
              <a:t>Scale issue- resolved!</a:t>
            </a: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517A07C-5D3A-99D7-5672-A29FF30147D0}"/>
              </a:ext>
            </a:extLst>
          </p:cNvPr>
          <p:cNvSpPr txBox="1"/>
          <p:nvPr/>
        </p:nvSpPr>
        <p:spPr>
          <a:xfrm>
            <a:off x="6789029" y="4557205"/>
            <a:ext cx="4909904" cy="1015663"/>
          </a:xfrm>
          <a:prstGeom prst="rect">
            <a:avLst/>
          </a:prstGeom>
          <a:noFill/>
        </p:spPr>
        <p:txBody>
          <a:bodyPr wrap="square" rtlCol="0">
            <a:spAutoFit/>
          </a:bodyPr>
          <a:lstStyle/>
          <a:p>
            <a:r>
              <a:rPr lang="en-GB" sz="2000" u="sng" dirty="0">
                <a:solidFill>
                  <a:srgbClr val="FF0000"/>
                </a:solidFill>
                <a:latin typeface="Times New Roman" panose="02020603050405020304" pitchFamily="18" charset="0"/>
                <a:cs typeface="Times New Roman" panose="02020603050405020304" pitchFamily="18" charset="0"/>
              </a:rPr>
              <a:t>Benchmark comparison?</a:t>
            </a:r>
          </a:p>
          <a:p>
            <a:pPr marL="285750" indent="-285750">
              <a:buFont typeface="Arial" panose="020B0604020202020204" pitchFamily="34" charset="0"/>
              <a:buChar char="•"/>
            </a:pPr>
            <a:r>
              <a:rPr lang="en-GB" sz="2000" dirty="0">
                <a:solidFill>
                  <a:srgbClr val="FF0000"/>
                </a:solidFill>
                <a:latin typeface="Times New Roman" panose="02020603050405020304" pitchFamily="18" charset="0"/>
                <a:cs typeface="Times New Roman" panose="02020603050405020304" pitchFamily="18" charset="0"/>
              </a:rPr>
              <a:t>Is there any metric that can compare with the benchmark model automatically?</a:t>
            </a:r>
            <a:endParaRPr lang="en-IN" sz="2000" dirty="0">
              <a:solidFill>
                <a:srgbClr val="FF0000"/>
              </a:solidFill>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70D16717-A3C6-0E98-2BA0-EF25FBC77C75}"/>
              </a:ext>
            </a:extLst>
          </p:cNvPr>
          <p:cNvSpPr/>
          <p:nvPr/>
        </p:nvSpPr>
        <p:spPr>
          <a:xfrm>
            <a:off x="6519841" y="3384993"/>
            <a:ext cx="5478236" cy="2360436"/>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EDA80A66-A679-9D75-390F-6DC07BC46EA4}"/>
              </a:ext>
            </a:extLst>
          </p:cNvPr>
          <p:cNvCxnSpPr>
            <a:cxnSpLocks/>
          </p:cNvCxnSpPr>
          <p:nvPr/>
        </p:nvCxnSpPr>
        <p:spPr>
          <a:xfrm>
            <a:off x="6361474" y="422787"/>
            <a:ext cx="0" cy="598784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1319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arn(inVertical)">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ED22-7ECB-78A6-F20A-F39B22B7E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C28A4-3FAC-6950-CBD4-F3A5B11AAF88}"/>
              </a:ext>
            </a:extLst>
          </p:cNvPr>
          <p:cNvSpPr>
            <a:spLocks noGrp="1"/>
          </p:cNvSpPr>
          <p:nvPr>
            <p:ph type="title"/>
          </p:nvPr>
        </p:nvSpPr>
        <p:spPr/>
        <p:txBody>
          <a:bodyPr/>
          <a:lstStyle/>
          <a:p>
            <a:r>
              <a:rPr lang="en-GB" dirty="0"/>
              <a:t>Regession Metrics</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A2DDDA9-7527-8309-A018-D7694AF1CA7C}"/>
                  </a:ext>
                </a:extLst>
              </p:cNvPr>
              <p:cNvSpPr txBox="1">
                <a:spLocks/>
              </p:cNvSpPr>
              <p:nvPr/>
            </p:nvSpPr>
            <p:spPr>
              <a:xfrm>
                <a:off x="636580" y="914395"/>
                <a:ext cx="7797127" cy="2620741"/>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Relative Squared Error</a:t>
                </a:r>
              </a:p>
              <a:p>
                <a:pPr marL="0" indent="0">
                  <a:buNone/>
                </a:pPr>
                <a14:m>
                  <m:oMathPara xmlns:m="http://schemas.openxmlformats.org/officeDocument/2006/math">
                    <m:oMathParaPr>
                      <m:jc m:val="centerGroup"/>
                    </m:oMathParaPr>
                    <m:oMath xmlns:m="http://schemas.openxmlformats.org/officeDocument/2006/math">
                      <m:f>
                        <m:fPr>
                          <m:ctrlPr>
                            <a:rPr lang="en-GB" sz="2400" b="0" i="1" smtClean="0">
                              <a:solidFill>
                                <a:schemeClr val="accent4"/>
                              </a:solidFill>
                              <a:latin typeface="Cambria Math" panose="02040503050406030204" pitchFamily="18" charset="0"/>
                            </a:rPr>
                          </m:ctrlPr>
                        </m:fPr>
                        <m:num>
                          <m:r>
                            <a:rPr lang="en-GB" sz="2400" b="0" i="1" smtClean="0">
                              <a:solidFill>
                                <a:schemeClr val="accent4"/>
                              </a:solidFill>
                              <a:latin typeface="Cambria Math" panose="02040503050406030204" pitchFamily="18" charset="0"/>
                            </a:rPr>
                            <m:t>𝑀𝑆𝐸</m:t>
                          </m:r>
                          <m:r>
                            <a:rPr lang="en-GB" sz="2400" b="0" i="1" smtClean="0">
                              <a:solidFill>
                                <a:schemeClr val="accent4"/>
                              </a:solidFill>
                              <a:latin typeface="Cambria Math" panose="02040503050406030204" pitchFamily="18" charset="0"/>
                            </a:rPr>
                            <m:t>(</m:t>
                          </m:r>
                          <m:r>
                            <a:rPr lang="en-GB" sz="2400" b="0" i="1" smtClean="0">
                              <a:solidFill>
                                <a:schemeClr val="accent4"/>
                              </a:solidFill>
                              <a:latin typeface="Cambria Math" panose="02040503050406030204" pitchFamily="18" charset="0"/>
                            </a:rPr>
                            <m:t>𝑚𝑜𝑑𝑒𝑙</m:t>
                          </m:r>
                          <m:r>
                            <a:rPr lang="en-GB" sz="2400" b="0" i="1" smtClean="0">
                              <a:solidFill>
                                <a:schemeClr val="accent4"/>
                              </a:solidFill>
                              <a:latin typeface="Cambria Math" panose="02040503050406030204" pitchFamily="18" charset="0"/>
                            </a:rPr>
                            <m:t>)</m:t>
                          </m:r>
                        </m:num>
                        <m:den>
                          <m:r>
                            <a:rPr lang="en-GB" sz="2400" b="0" i="1" smtClean="0">
                              <a:solidFill>
                                <a:schemeClr val="accent4"/>
                              </a:solidFill>
                              <a:latin typeface="Cambria Math" panose="02040503050406030204" pitchFamily="18" charset="0"/>
                            </a:rPr>
                            <m:t>𝑀𝑆𝐸</m:t>
                          </m:r>
                          <m:r>
                            <a:rPr lang="en-GB" sz="2400" b="0" i="1" smtClean="0">
                              <a:solidFill>
                                <a:schemeClr val="accent4"/>
                              </a:solidFill>
                              <a:latin typeface="Cambria Math" panose="02040503050406030204" pitchFamily="18" charset="0"/>
                            </a:rPr>
                            <m:t>(</m:t>
                          </m:r>
                          <m:r>
                            <a:rPr lang="en-GB" sz="2400" b="0" i="1" smtClean="0">
                              <a:solidFill>
                                <a:schemeClr val="accent4"/>
                              </a:solidFill>
                              <a:latin typeface="Cambria Math" panose="02040503050406030204" pitchFamily="18" charset="0"/>
                            </a:rPr>
                            <m:t>𝑏𝑎𝑠𝑒𝑙𝑖𝑛𝑒</m:t>
                          </m:r>
                          <m:r>
                            <a:rPr lang="en-GB" sz="2400" b="0" i="1" smtClean="0">
                              <a:solidFill>
                                <a:schemeClr val="accent4"/>
                              </a:solidFill>
                              <a:latin typeface="Cambria Math" panose="02040503050406030204" pitchFamily="18" charset="0"/>
                            </a:rPr>
                            <m:t>)</m:t>
                          </m:r>
                        </m:den>
                      </m:f>
                      <m:r>
                        <a:rPr lang="en-GB" sz="2400" i="1" smtClean="0">
                          <a:solidFill>
                            <a:schemeClr val="accent4"/>
                          </a:solidFill>
                          <a:latin typeface="Cambria Math" panose="02040503050406030204" pitchFamily="18" charset="0"/>
                        </a:rPr>
                        <m:t>=</m:t>
                      </m:r>
                      <m:f>
                        <m:fPr>
                          <m:ctrlPr>
                            <a:rPr lang="en-GB" sz="2400" i="1" smtClean="0">
                              <a:solidFill>
                                <a:schemeClr val="accent4"/>
                              </a:solidFill>
                              <a:latin typeface="Cambria Math" panose="02040503050406030204" pitchFamily="18" charset="0"/>
                            </a:rPr>
                          </m:ctrlPr>
                        </m:fPr>
                        <m:num>
                          <m:f>
                            <m:fPr>
                              <m:ctrlPr>
                                <a:rPr lang="en-IN" sz="2400" i="1">
                                  <a:solidFill>
                                    <a:schemeClr val="accent4"/>
                                  </a:solidFill>
                                  <a:latin typeface="Cambria Math" panose="02040503050406030204" pitchFamily="18" charset="0"/>
                                </a:rPr>
                              </m:ctrlPr>
                            </m:fPr>
                            <m:num>
                              <m:r>
                                <a:rPr lang="en-GB" sz="2400" i="1">
                                  <a:solidFill>
                                    <a:schemeClr val="accent4"/>
                                  </a:solidFill>
                                  <a:latin typeface="Cambria Math" panose="02040503050406030204" pitchFamily="18" charset="0"/>
                                </a:rPr>
                                <m:t>1</m:t>
                              </m:r>
                            </m:num>
                            <m:den>
                              <m:r>
                                <a:rPr lang="en-GB" sz="2400" i="1">
                                  <a:solidFill>
                                    <a:schemeClr val="accent4"/>
                                  </a:solidFill>
                                  <a:latin typeface="Cambria Math" panose="02040503050406030204" pitchFamily="18" charset="0"/>
                                </a:rPr>
                                <m:t>𝑚</m:t>
                              </m:r>
                            </m:den>
                          </m:f>
                          <m:nary>
                            <m:naryPr>
                              <m:chr m:val="∑"/>
                              <m:ctrlPr>
                                <a:rPr lang="en-IN" sz="2400" i="1">
                                  <a:solidFill>
                                    <a:schemeClr val="accent4"/>
                                  </a:solidFill>
                                  <a:latin typeface="Cambria Math" panose="02040503050406030204" pitchFamily="18" charset="0"/>
                                </a:rPr>
                              </m:ctrlPr>
                            </m:naryPr>
                            <m:sub>
                              <m:r>
                                <m:rPr>
                                  <m:brk m:alnAt="23"/>
                                </m:rPr>
                                <a:rPr lang="en-GB" sz="2400" i="1">
                                  <a:solidFill>
                                    <a:schemeClr val="accent4"/>
                                  </a:solidFill>
                                  <a:latin typeface="Cambria Math" panose="02040503050406030204" pitchFamily="18" charset="0"/>
                                </a:rPr>
                                <m:t>𝑖</m:t>
                              </m:r>
                              <m:r>
                                <a:rPr lang="en-GB" sz="2400" i="1">
                                  <a:solidFill>
                                    <a:schemeClr val="accent4"/>
                                  </a:solidFill>
                                  <a:latin typeface="Cambria Math" panose="02040503050406030204" pitchFamily="18" charset="0"/>
                                </a:rPr>
                                <m:t>=1</m:t>
                              </m:r>
                            </m:sub>
                            <m:sup>
                              <m:r>
                                <a:rPr lang="en-GB" sz="2400" i="1">
                                  <a:solidFill>
                                    <a:schemeClr val="accent4"/>
                                  </a:solidFill>
                                  <a:latin typeface="Cambria Math" panose="02040503050406030204" pitchFamily="18" charset="0"/>
                                </a:rPr>
                                <m:t>𝑚</m:t>
                              </m:r>
                            </m:sup>
                            <m:e>
                              <m:sSup>
                                <m:sSupPr>
                                  <m:ctrlPr>
                                    <a:rPr lang="en-IN" sz="2400" i="1">
                                      <a:solidFill>
                                        <a:schemeClr val="accent4"/>
                                      </a:solidFill>
                                      <a:latin typeface="Cambria Math" panose="02040503050406030204" pitchFamily="18" charset="0"/>
                                    </a:rPr>
                                  </m:ctrlPr>
                                </m:sSupPr>
                                <m:e>
                                  <m:d>
                                    <m:dPr>
                                      <m:ctrlPr>
                                        <a:rPr lang="en-GB" sz="2400" i="1">
                                          <a:solidFill>
                                            <a:schemeClr val="accent4"/>
                                          </a:solidFill>
                                          <a:latin typeface="Cambria Math" panose="02040503050406030204" pitchFamily="18" charset="0"/>
                                        </a:rPr>
                                      </m:ctrlPr>
                                    </m:dPr>
                                    <m:e>
                                      <m:sSub>
                                        <m:sSubPr>
                                          <m:ctrlPr>
                                            <a:rPr lang="en-GB" sz="2400" i="1">
                                              <a:solidFill>
                                                <a:schemeClr val="accent4"/>
                                              </a:solidFill>
                                              <a:latin typeface="Cambria Math" panose="02040503050406030204" pitchFamily="18" charset="0"/>
                                            </a:rPr>
                                          </m:ctrlPr>
                                        </m:sSubPr>
                                        <m:e>
                                          <m:r>
                                            <a:rPr lang="en-GB" sz="2400" i="1">
                                              <a:solidFill>
                                                <a:schemeClr val="accent4"/>
                                              </a:solidFill>
                                              <a:latin typeface="Cambria Math" panose="02040503050406030204" pitchFamily="18" charset="0"/>
                                            </a:rPr>
                                            <m:t>𝑦</m:t>
                                          </m:r>
                                        </m:e>
                                        <m:sub>
                                          <m:r>
                                            <a:rPr lang="en-GB" sz="2400" i="1">
                                              <a:solidFill>
                                                <a:schemeClr val="accent4"/>
                                              </a:solidFill>
                                              <a:latin typeface="Cambria Math" panose="02040503050406030204" pitchFamily="18" charset="0"/>
                                            </a:rPr>
                                            <m:t>𝑖</m:t>
                                          </m:r>
                                        </m:sub>
                                      </m:sSub>
                                      <m:r>
                                        <a:rPr lang="en-GB" sz="2400" i="1">
                                          <a:solidFill>
                                            <a:schemeClr val="accent4"/>
                                          </a:solidFill>
                                          <a:latin typeface="Cambria Math" panose="02040503050406030204" pitchFamily="18" charset="0"/>
                                        </a:rPr>
                                        <m:t>−</m:t>
                                      </m:r>
                                      <m:sSub>
                                        <m:sSubPr>
                                          <m:ctrlPr>
                                            <a:rPr lang="en-GB" sz="2400" i="1">
                                              <a:solidFill>
                                                <a:schemeClr val="accent4"/>
                                              </a:solidFill>
                                              <a:latin typeface="Cambria Math" panose="02040503050406030204" pitchFamily="18" charset="0"/>
                                            </a:rPr>
                                          </m:ctrlPr>
                                        </m:sSubPr>
                                        <m:e>
                                          <m:acc>
                                            <m:accPr>
                                              <m:chr m:val="̂"/>
                                              <m:ctrlPr>
                                                <a:rPr lang="en-GB" sz="2400" i="1">
                                                  <a:solidFill>
                                                    <a:schemeClr val="accent4"/>
                                                  </a:solidFill>
                                                  <a:latin typeface="Cambria Math" panose="02040503050406030204" pitchFamily="18" charset="0"/>
                                                </a:rPr>
                                              </m:ctrlPr>
                                            </m:accPr>
                                            <m:e>
                                              <m:r>
                                                <a:rPr lang="en-GB" sz="2400" i="1">
                                                  <a:solidFill>
                                                    <a:schemeClr val="accent4"/>
                                                  </a:solidFill>
                                                  <a:latin typeface="Cambria Math" panose="02040503050406030204" pitchFamily="18" charset="0"/>
                                                </a:rPr>
                                                <m:t>𝑦</m:t>
                                              </m:r>
                                            </m:e>
                                          </m:acc>
                                        </m:e>
                                        <m:sub>
                                          <m:r>
                                            <a:rPr lang="en-GB" sz="2400" i="1">
                                              <a:solidFill>
                                                <a:schemeClr val="accent4"/>
                                              </a:solidFill>
                                              <a:latin typeface="Cambria Math" panose="02040503050406030204" pitchFamily="18" charset="0"/>
                                            </a:rPr>
                                            <m:t>𝑖</m:t>
                                          </m:r>
                                        </m:sub>
                                      </m:sSub>
                                    </m:e>
                                  </m:d>
                                </m:e>
                                <m:sup>
                                  <m:r>
                                    <a:rPr lang="en-GB" sz="2400" i="1">
                                      <a:solidFill>
                                        <a:schemeClr val="accent4"/>
                                      </a:solidFill>
                                      <a:latin typeface="Cambria Math" panose="02040503050406030204" pitchFamily="18" charset="0"/>
                                    </a:rPr>
                                    <m:t>2</m:t>
                                  </m:r>
                                </m:sup>
                              </m:sSup>
                            </m:e>
                          </m:nary>
                        </m:num>
                        <m:den>
                          <m:f>
                            <m:fPr>
                              <m:ctrlPr>
                                <a:rPr lang="en-IN" sz="2400" i="1">
                                  <a:solidFill>
                                    <a:schemeClr val="accent4"/>
                                  </a:solidFill>
                                  <a:latin typeface="Cambria Math" panose="02040503050406030204" pitchFamily="18" charset="0"/>
                                </a:rPr>
                              </m:ctrlPr>
                            </m:fPr>
                            <m:num>
                              <m:r>
                                <a:rPr lang="en-GB" sz="2400" i="1">
                                  <a:solidFill>
                                    <a:schemeClr val="accent4"/>
                                  </a:solidFill>
                                  <a:latin typeface="Cambria Math" panose="02040503050406030204" pitchFamily="18" charset="0"/>
                                </a:rPr>
                                <m:t>1</m:t>
                              </m:r>
                            </m:num>
                            <m:den>
                              <m:r>
                                <a:rPr lang="en-GB" sz="2400" i="1">
                                  <a:solidFill>
                                    <a:schemeClr val="accent4"/>
                                  </a:solidFill>
                                  <a:latin typeface="Cambria Math" panose="02040503050406030204" pitchFamily="18" charset="0"/>
                                </a:rPr>
                                <m:t>𝑚</m:t>
                              </m:r>
                            </m:den>
                          </m:f>
                          <m:nary>
                            <m:naryPr>
                              <m:chr m:val="∑"/>
                              <m:ctrlPr>
                                <a:rPr lang="en-IN" sz="2400" b="1" i="1" smtClean="0">
                                  <a:solidFill>
                                    <a:schemeClr val="accent4"/>
                                  </a:solidFill>
                                  <a:latin typeface="Cambria Math" panose="02040503050406030204" pitchFamily="18" charset="0"/>
                                </a:rPr>
                              </m:ctrlPr>
                            </m:naryPr>
                            <m:sub>
                              <m:r>
                                <m:rPr>
                                  <m:brk m:alnAt="23"/>
                                </m:rPr>
                                <a:rPr lang="en-GB" sz="2400" b="1" i="1">
                                  <a:solidFill>
                                    <a:schemeClr val="accent4"/>
                                  </a:solidFill>
                                  <a:latin typeface="Cambria Math" panose="02040503050406030204" pitchFamily="18" charset="0"/>
                                </a:rPr>
                                <m:t>𝒊</m:t>
                              </m:r>
                              <m:r>
                                <a:rPr lang="en-GB" sz="2400" b="1" i="1">
                                  <a:solidFill>
                                    <a:schemeClr val="accent4"/>
                                  </a:solidFill>
                                  <a:latin typeface="Cambria Math" panose="02040503050406030204" pitchFamily="18" charset="0"/>
                                </a:rPr>
                                <m:t>=</m:t>
                              </m:r>
                              <m:r>
                                <a:rPr lang="en-GB" sz="2400" b="1" i="1">
                                  <a:solidFill>
                                    <a:schemeClr val="accent4"/>
                                  </a:solidFill>
                                  <a:latin typeface="Cambria Math" panose="02040503050406030204" pitchFamily="18" charset="0"/>
                                </a:rPr>
                                <m:t>𝟏</m:t>
                              </m:r>
                            </m:sub>
                            <m:sup>
                              <m:r>
                                <a:rPr lang="en-GB" sz="2400" b="1" i="1">
                                  <a:solidFill>
                                    <a:schemeClr val="accent4"/>
                                  </a:solidFill>
                                  <a:latin typeface="Cambria Math" panose="02040503050406030204" pitchFamily="18" charset="0"/>
                                </a:rPr>
                                <m:t>𝒎</m:t>
                              </m:r>
                            </m:sup>
                            <m:e>
                              <m:sSup>
                                <m:sSupPr>
                                  <m:ctrlPr>
                                    <a:rPr lang="en-IN" sz="2400" b="1" i="1">
                                      <a:solidFill>
                                        <a:schemeClr val="accent4"/>
                                      </a:solidFill>
                                      <a:latin typeface="Cambria Math" panose="02040503050406030204" pitchFamily="18" charset="0"/>
                                    </a:rPr>
                                  </m:ctrlPr>
                                </m:sSupPr>
                                <m:e>
                                  <m:d>
                                    <m:dPr>
                                      <m:ctrlPr>
                                        <a:rPr lang="en-GB" sz="2400" b="1" i="1">
                                          <a:solidFill>
                                            <a:schemeClr val="accent4"/>
                                          </a:solidFill>
                                          <a:latin typeface="Cambria Math" panose="02040503050406030204" pitchFamily="18" charset="0"/>
                                        </a:rPr>
                                      </m:ctrlPr>
                                    </m:dPr>
                                    <m:e>
                                      <m:acc>
                                        <m:accPr>
                                          <m:chr m:val="̅"/>
                                          <m:ctrlPr>
                                            <a:rPr lang="en-GB" sz="2400" b="1" i="1">
                                              <a:solidFill>
                                                <a:schemeClr val="accent4"/>
                                              </a:solidFill>
                                              <a:latin typeface="Cambria Math" panose="02040503050406030204" pitchFamily="18" charset="0"/>
                                            </a:rPr>
                                          </m:ctrlPr>
                                        </m:accPr>
                                        <m:e>
                                          <m:r>
                                            <a:rPr lang="en-GB" sz="2400" b="1" i="1">
                                              <a:solidFill>
                                                <a:schemeClr val="accent4"/>
                                              </a:solidFill>
                                              <a:latin typeface="Cambria Math" panose="02040503050406030204" pitchFamily="18" charset="0"/>
                                            </a:rPr>
                                            <m:t>𝒚</m:t>
                                          </m:r>
                                        </m:e>
                                      </m:acc>
                                      <m:r>
                                        <a:rPr lang="en-GB" sz="2400" b="1" i="1">
                                          <a:solidFill>
                                            <a:schemeClr val="accent4"/>
                                          </a:solidFill>
                                          <a:latin typeface="Cambria Math" panose="02040503050406030204" pitchFamily="18" charset="0"/>
                                        </a:rPr>
                                        <m:t>−</m:t>
                                      </m:r>
                                      <m:sSub>
                                        <m:sSubPr>
                                          <m:ctrlPr>
                                            <a:rPr lang="en-GB" sz="2400" b="1" i="1">
                                              <a:solidFill>
                                                <a:schemeClr val="accent4"/>
                                              </a:solidFill>
                                              <a:latin typeface="Cambria Math" panose="02040503050406030204" pitchFamily="18" charset="0"/>
                                            </a:rPr>
                                          </m:ctrlPr>
                                        </m:sSubPr>
                                        <m:e>
                                          <m:acc>
                                            <m:accPr>
                                              <m:chr m:val="̂"/>
                                              <m:ctrlPr>
                                                <a:rPr lang="en-GB" sz="2400" b="1" i="1">
                                                  <a:solidFill>
                                                    <a:schemeClr val="accent4"/>
                                                  </a:solidFill>
                                                  <a:latin typeface="Cambria Math" panose="02040503050406030204" pitchFamily="18" charset="0"/>
                                                </a:rPr>
                                              </m:ctrlPr>
                                            </m:accPr>
                                            <m:e>
                                              <m:r>
                                                <a:rPr lang="en-GB" sz="2400" b="1" i="1">
                                                  <a:solidFill>
                                                    <a:schemeClr val="accent4"/>
                                                  </a:solidFill>
                                                  <a:latin typeface="Cambria Math" panose="02040503050406030204" pitchFamily="18" charset="0"/>
                                                </a:rPr>
                                                <m:t>𝒚</m:t>
                                              </m:r>
                                            </m:e>
                                          </m:acc>
                                        </m:e>
                                        <m:sub>
                                          <m:r>
                                            <a:rPr lang="en-GB" sz="2400" b="1" i="1">
                                              <a:solidFill>
                                                <a:schemeClr val="accent4"/>
                                              </a:solidFill>
                                              <a:latin typeface="Cambria Math" panose="02040503050406030204" pitchFamily="18" charset="0"/>
                                            </a:rPr>
                                            <m:t>𝒊</m:t>
                                          </m:r>
                                        </m:sub>
                                      </m:sSub>
                                    </m:e>
                                  </m:d>
                                </m:e>
                                <m:sup>
                                  <m:r>
                                    <a:rPr lang="en-GB" sz="2400" b="1" i="1">
                                      <a:solidFill>
                                        <a:schemeClr val="accent4"/>
                                      </a:solidFill>
                                      <a:latin typeface="Cambria Math" panose="02040503050406030204" pitchFamily="18" charset="0"/>
                                    </a:rPr>
                                    <m:t>𝟐</m:t>
                                  </m:r>
                                </m:sup>
                              </m:sSup>
                            </m:e>
                          </m:nary>
                        </m:den>
                      </m:f>
                      <m:r>
                        <a:rPr lang="en-GB" sz="2400" b="0" i="1" smtClean="0">
                          <a:solidFill>
                            <a:schemeClr val="accent4"/>
                          </a:solidFill>
                          <a:latin typeface="Cambria Math" panose="02040503050406030204" pitchFamily="18" charset="0"/>
                        </a:rPr>
                        <m:t>=</m:t>
                      </m:r>
                      <m:f>
                        <m:fPr>
                          <m:ctrlPr>
                            <a:rPr lang="en-GB" sz="2400" b="1" i="1">
                              <a:solidFill>
                                <a:schemeClr val="accent3"/>
                              </a:solidFill>
                              <a:latin typeface="Cambria Math" panose="02040503050406030204" pitchFamily="18" charset="0"/>
                            </a:rPr>
                          </m:ctrlPr>
                        </m:fPr>
                        <m:num>
                          <m:nary>
                            <m:naryPr>
                              <m:chr m:val="∑"/>
                              <m:ctrlPr>
                                <a:rPr lang="en-IN" sz="2400" b="1" i="1">
                                  <a:solidFill>
                                    <a:schemeClr val="accent3"/>
                                  </a:solidFill>
                                  <a:latin typeface="Cambria Math" panose="02040503050406030204" pitchFamily="18" charset="0"/>
                                </a:rPr>
                              </m:ctrlPr>
                            </m:naryPr>
                            <m:sub>
                              <m:r>
                                <m:rPr>
                                  <m:brk m:alnAt="23"/>
                                </m:rPr>
                                <a:rPr lang="en-GB" sz="2400" b="1" i="1">
                                  <a:solidFill>
                                    <a:schemeClr val="accent3"/>
                                  </a:solidFill>
                                  <a:latin typeface="Cambria Math" panose="02040503050406030204" pitchFamily="18" charset="0"/>
                                </a:rPr>
                                <m:t>𝒊</m:t>
                              </m:r>
                              <m:r>
                                <a:rPr lang="en-GB" sz="2400" b="1" i="1">
                                  <a:solidFill>
                                    <a:schemeClr val="accent3"/>
                                  </a:solidFill>
                                  <a:latin typeface="Cambria Math" panose="02040503050406030204" pitchFamily="18" charset="0"/>
                                </a:rPr>
                                <m:t>=</m:t>
                              </m:r>
                              <m:r>
                                <a:rPr lang="en-GB" sz="2400" b="1" i="1">
                                  <a:solidFill>
                                    <a:schemeClr val="accent3"/>
                                  </a:solidFill>
                                  <a:latin typeface="Cambria Math" panose="02040503050406030204" pitchFamily="18" charset="0"/>
                                </a:rPr>
                                <m:t>𝟏</m:t>
                              </m:r>
                            </m:sub>
                            <m:sup>
                              <m:r>
                                <a:rPr lang="en-GB" sz="2400" b="1" i="1">
                                  <a:solidFill>
                                    <a:schemeClr val="accent3"/>
                                  </a:solidFill>
                                  <a:latin typeface="Cambria Math" panose="02040503050406030204" pitchFamily="18" charset="0"/>
                                </a:rPr>
                                <m:t>𝒎</m:t>
                              </m:r>
                            </m:sup>
                            <m:e>
                              <m:sSup>
                                <m:sSupPr>
                                  <m:ctrlPr>
                                    <a:rPr lang="en-IN" sz="2400" b="1" i="1">
                                      <a:solidFill>
                                        <a:schemeClr val="accent3"/>
                                      </a:solidFill>
                                      <a:latin typeface="Cambria Math" panose="02040503050406030204" pitchFamily="18" charset="0"/>
                                    </a:rPr>
                                  </m:ctrlPr>
                                </m:sSupPr>
                                <m:e>
                                  <m:d>
                                    <m:dPr>
                                      <m:ctrlPr>
                                        <a:rPr lang="en-GB" sz="2400" b="1" i="1">
                                          <a:solidFill>
                                            <a:schemeClr val="accent3"/>
                                          </a:solidFill>
                                          <a:latin typeface="Cambria Math" panose="02040503050406030204" pitchFamily="18" charset="0"/>
                                        </a:rPr>
                                      </m:ctrlPr>
                                    </m:dPr>
                                    <m:e>
                                      <m:sSub>
                                        <m:sSubPr>
                                          <m:ctrlPr>
                                            <a:rPr lang="en-GB" sz="2400" b="1" i="1">
                                              <a:solidFill>
                                                <a:schemeClr val="accent3"/>
                                              </a:solidFill>
                                              <a:latin typeface="Cambria Math" panose="02040503050406030204" pitchFamily="18" charset="0"/>
                                            </a:rPr>
                                          </m:ctrlPr>
                                        </m:sSubPr>
                                        <m:e>
                                          <m:r>
                                            <a:rPr lang="en-GB" sz="2400" b="1" i="1">
                                              <a:solidFill>
                                                <a:schemeClr val="accent3"/>
                                              </a:solidFill>
                                              <a:latin typeface="Cambria Math" panose="02040503050406030204" pitchFamily="18" charset="0"/>
                                            </a:rPr>
                                            <m:t>𝒚</m:t>
                                          </m:r>
                                        </m:e>
                                        <m:sub>
                                          <m:r>
                                            <a:rPr lang="en-GB" sz="2400" b="1" i="1">
                                              <a:solidFill>
                                                <a:schemeClr val="accent3"/>
                                              </a:solidFill>
                                              <a:latin typeface="Cambria Math" panose="02040503050406030204" pitchFamily="18" charset="0"/>
                                            </a:rPr>
                                            <m:t>𝒊</m:t>
                                          </m:r>
                                        </m:sub>
                                      </m:sSub>
                                      <m:r>
                                        <a:rPr lang="en-GB" sz="2400" b="1" i="1">
                                          <a:solidFill>
                                            <a:schemeClr val="accent3"/>
                                          </a:solidFill>
                                          <a:latin typeface="Cambria Math" panose="02040503050406030204" pitchFamily="18" charset="0"/>
                                        </a:rPr>
                                        <m:t>−</m:t>
                                      </m:r>
                                      <m:sSub>
                                        <m:sSubPr>
                                          <m:ctrlPr>
                                            <a:rPr lang="en-GB" sz="2400" b="1" i="1">
                                              <a:solidFill>
                                                <a:schemeClr val="accent3"/>
                                              </a:solidFill>
                                              <a:latin typeface="Cambria Math" panose="02040503050406030204" pitchFamily="18" charset="0"/>
                                            </a:rPr>
                                          </m:ctrlPr>
                                        </m:sSubPr>
                                        <m:e>
                                          <m:acc>
                                            <m:accPr>
                                              <m:chr m:val="̂"/>
                                              <m:ctrlPr>
                                                <a:rPr lang="en-GB" sz="2400" b="1" i="1">
                                                  <a:solidFill>
                                                    <a:schemeClr val="accent3"/>
                                                  </a:solidFill>
                                                  <a:latin typeface="Cambria Math" panose="02040503050406030204" pitchFamily="18" charset="0"/>
                                                </a:rPr>
                                              </m:ctrlPr>
                                            </m:accPr>
                                            <m:e>
                                              <m:r>
                                                <a:rPr lang="en-GB" sz="2400" b="1" i="1">
                                                  <a:solidFill>
                                                    <a:schemeClr val="accent3"/>
                                                  </a:solidFill>
                                                  <a:latin typeface="Cambria Math" panose="02040503050406030204" pitchFamily="18" charset="0"/>
                                                </a:rPr>
                                                <m:t>𝒚</m:t>
                                              </m:r>
                                            </m:e>
                                          </m:acc>
                                        </m:e>
                                        <m:sub>
                                          <m:r>
                                            <a:rPr lang="en-GB" sz="2400" b="1" i="1">
                                              <a:solidFill>
                                                <a:schemeClr val="accent3"/>
                                              </a:solidFill>
                                              <a:latin typeface="Cambria Math" panose="02040503050406030204" pitchFamily="18" charset="0"/>
                                            </a:rPr>
                                            <m:t>𝒊</m:t>
                                          </m:r>
                                        </m:sub>
                                      </m:sSub>
                                    </m:e>
                                  </m:d>
                                </m:e>
                                <m:sup>
                                  <m:r>
                                    <a:rPr lang="en-GB" sz="2400" b="1" i="1">
                                      <a:solidFill>
                                        <a:schemeClr val="accent3"/>
                                      </a:solidFill>
                                      <a:latin typeface="Cambria Math" panose="02040503050406030204" pitchFamily="18" charset="0"/>
                                    </a:rPr>
                                    <m:t>𝟐</m:t>
                                  </m:r>
                                </m:sup>
                              </m:sSup>
                            </m:e>
                          </m:nary>
                        </m:num>
                        <m:den>
                          <m:nary>
                            <m:naryPr>
                              <m:chr m:val="∑"/>
                              <m:ctrlPr>
                                <a:rPr lang="en-IN" sz="2400" b="1" i="1">
                                  <a:solidFill>
                                    <a:schemeClr val="accent3"/>
                                  </a:solidFill>
                                  <a:latin typeface="Cambria Math" panose="02040503050406030204" pitchFamily="18" charset="0"/>
                                </a:rPr>
                              </m:ctrlPr>
                            </m:naryPr>
                            <m:sub>
                              <m:r>
                                <m:rPr>
                                  <m:brk m:alnAt="23"/>
                                </m:rPr>
                                <a:rPr lang="en-GB" sz="2400" b="1" i="1">
                                  <a:solidFill>
                                    <a:schemeClr val="accent3"/>
                                  </a:solidFill>
                                  <a:latin typeface="Cambria Math" panose="02040503050406030204" pitchFamily="18" charset="0"/>
                                </a:rPr>
                                <m:t>𝒊</m:t>
                              </m:r>
                              <m:r>
                                <a:rPr lang="en-GB" sz="2400" b="1" i="1">
                                  <a:solidFill>
                                    <a:schemeClr val="accent3"/>
                                  </a:solidFill>
                                  <a:latin typeface="Cambria Math" panose="02040503050406030204" pitchFamily="18" charset="0"/>
                                </a:rPr>
                                <m:t>=</m:t>
                              </m:r>
                              <m:r>
                                <a:rPr lang="en-GB" sz="2400" b="1" i="1">
                                  <a:solidFill>
                                    <a:schemeClr val="accent3"/>
                                  </a:solidFill>
                                  <a:latin typeface="Cambria Math" panose="02040503050406030204" pitchFamily="18" charset="0"/>
                                </a:rPr>
                                <m:t>𝟏</m:t>
                              </m:r>
                            </m:sub>
                            <m:sup>
                              <m:r>
                                <a:rPr lang="en-GB" sz="2400" b="1" i="1">
                                  <a:solidFill>
                                    <a:schemeClr val="accent3"/>
                                  </a:solidFill>
                                  <a:latin typeface="Cambria Math" panose="02040503050406030204" pitchFamily="18" charset="0"/>
                                </a:rPr>
                                <m:t>𝒎</m:t>
                              </m:r>
                            </m:sup>
                            <m:e>
                              <m:sSup>
                                <m:sSupPr>
                                  <m:ctrlPr>
                                    <a:rPr lang="en-IN" sz="2400" b="1" i="1">
                                      <a:solidFill>
                                        <a:schemeClr val="accent3"/>
                                      </a:solidFill>
                                      <a:latin typeface="Cambria Math" panose="02040503050406030204" pitchFamily="18" charset="0"/>
                                    </a:rPr>
                                  </m:ctrlPr>
                                </m:sSupPr>
                                <m:e>
                                  <m:d>
                                    <m:dPr>
                                      <m:ctrlPr>
                                        <a:rPr lang="en-GB" sz="2400" b="1" i="1">
                                          <a:solidFill>
                                            <a:schemeClr val="accent3"/>
                                          </a:solidFill>
                                          <a:latin typeface="Cambria Math" panose="02040503050406030204" pitchFamily="18" charset="0"/>
                                        </a:rPr>
                                      </m:ctrlPr>
                                    </m:dPr>
                                    <m:e>
                                      <m:acc>
                                        <m:accPr>
                                          <m:chr m:val="̅"/>
                                          <m:ctrlPr>
                                            <a:rPr lang="en-GB" sz="2400" b="1" i="1">
                                              <a:solidFill>
                                                <a:schemeClr val="accent3"/>
                                              </a:solidFill>
                                              <a:latin typeface="Cambria Math" panose="02040503050406030204" pitchFamily="18" charset="0"/>
                                            </a:rPr>
                                          </m:ctrlPr>
                                        </m:accPr>
                                        <m:e>
                                          <m:r>
                                            <a:rPr lang="en-GB" sz="2400" b="1" i="1">
                                              <a:solidFill>
                                                <a:schemeClr val="accent3"/>
                                              </a:solidFill>
                                              <a:latin typeface="Cambria Math" panose="02040503050406030204" pitchFamily="18" charset="0"/>
                                            </a:rPr>
                                            <m:t>𝒚</m:t>
                                          </m:r>
                                        </m:e>
                                      </m:acc>
                                      <m:r>
                                        <a:rPr lang="en-GB" sz="2400" b="1" i="1">
                                          <a:solidFill>
                                            <a:schemeClr val="accent3"/>
                                          </a:solidFill>
                                          <a:latin typeface="Cambria Math" panose="02040503050406030204" pitchFamily="18" charset="0"/>
                                        </a:rPr>
                                        <m:t>−</m:t>
                                      </m:r>
                                      <m:sSub>
                                        <m:sSubPr>
                                          <m:ctrlPr>
                                            <a:rPr lang="en-GB" sz="2400" b="1" i="1">
                                              <a:solidFill>
                                                <a:schemeClr val="accent3"/>
                                              </a:solidFill>
                                              <a:latin typeface="Cambria Math" panose="02040503050406030204" pitchFamily="18" charset="0"/>
                                            </a:rPr>
                                          </m:ctrlPr>
                                        </m:sSubPr>
                                        <m:e>
                                          <m:acc>
                                            <m:accPr>
                                              <m:chr m:val="̂"/>
                                              <m:ctrlPr>
                                                <a:rPr lang="en-GB" sz="2400" b="1" i="1">
                                                  <a:solidFill>
                                                    <a:schemeClr val="accent3"/>
                                                  </a:solidFill>
                                                  <a:latin typeface="Cambria Math" panose="02040503050406030204" pitchFamily="18" charset="0"/>
                                                </a:rPr>
                                              </m:ctrlPr>
                                            </m:accPr>
                                            <m:e>
                                              <m:r>
                                                <a:rPr lang="en-GB" sz="2400" b="1" i="1">
                                                  <a:solidFill>
                                                    <a:schemeClr val="accent3"/>
                                                  </a:solidFill>
                                                  <a:latin typeface="Cambria Math" panose="02040503050406030204" pitchFamily="18" charset="0"/>
                                                </a:rPr>
                                                <m:t>𝒚</m:t>
                                              </m:r>
                                            </m:e>
                                          </m:acc>
                                        </m:e>
                                        <m:sub>
                                          <m:r>
                                            <a:rPr lang="en-GB" sz="2400" b="1" i="1">
                                              <a:solidFill>
                                                <a:schemeClr val="accent3"/>
                                              </a:solidFill>
                                              <a:latin typeface="Cambria Math" panose="02040503050406030204" pitchFamily="18" charset="0"/>
                                            </a:rPr>
                                            <m:t>𝒊</m:t>
                                          </m:r>
                                        </m:sub>
                                      </m:sSub>
                                    </m:e>
                                  </m:d>
                                </m:e>
                                <m:sup>
                                  <m:r>
                                    <a:rPr lang="en-GB" sz="2400" b="1" i="1">
                                      <a:solidFill>
                                        <a:schemeClr val="accent3"/>
                                      </a:solidFill>
                                      <a:latin typeface="Cambria Math" panose="02040503050406030204" pitchFamily="18" charset="0"/>
                                    </a:rPr>
                                    <m:t>𝟐</m:t>
                                  </m:r>
                                </m:sup>
                              </m:sSup>
                            </m:e>
                          </m:nary>
                        </m:den>
                      </m:f>
                    </m:oMath>
                  </m:oMathPara>
                </a14:m>
                <a:endParaRPr lang="en-GB" sz="2400" dirty="0">
                  <a:solidFill>
                    <a:schemeClr val="accent4"/>
                  </a:solidFill>
                </a:endParaRPr>
              </a:p>
              <a:p>
                <a:pPr marL="0" indent="0">
                  <a:buNone/>
                </a:pPr>
                <a:endParaRPr lang="en-GB" sz="2400" dirty="0">
                  <a:solidFill>
                    <a:schemeClr val="accent4"/>
                  </a:solidFill>
                </a:endParaRPr>
              </a:p>
              <a:p>
                <a:pPr marL="0" indent="0">
                  <a:buNone/>
                </a:pPr>
                <a:endParaRPr lang="en-IN" sz="2400" dirty="0"/>
              </a:p>
            </p:txBody>
          </p:sp>
        </mc:Choice>
        <mc:Fallback xmlns="">
          <p:sp>
            <p:nvSpPr>
              <p:cNvPr id="4" name="Content Placeholder 2">
                <a:extLst>
                  <a:ext uri="{FF2B5EF4-FFF2-40B4-BE49-F238E27FC236}">
                    <a16:creationId xmlns:a16="http://schemas.microsoft.com/office/drawing/2014/main" id="{1A2DDDA9-7527-8309-A018-D7694AF1CA7C}"/>
                  </a:ext>
                </a:extLst>
              </p:cNvPr>
              <p:cNvSpPr txBox="1">
                <a:spLocks noRot="1" noChangeAspect="1" noMove="1" noResize="1" noEditPoints="1" noAdjustHandles="1" noChangeArrowheads="1" noChangeShapeType="1" noTextEdit="1"/>
              </p:cNvSpPr>
              <p:nvPr/>
            </p:nvSpPr>
            <p:spPr>
              <a:xfrm>
                <a:off x="636580" y="914395"/>
                <a:ext cx="7797127" cy="2620741"/>
              </a:xfrm>
              <a:prstGeom prst="rect">
                <a:avLst/>
              </a:prstGeom>
              <a:blipFill>
                <a:blip r:embed="rId2"/>
                <a:stretch>
                  <a:fillRect l="-1173" t="-1163"/>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9D595101-16EC-3BAF-E832-9710EE9A2166}"/>
              </a:ext>
            </a:extLst>
          </p:cNvPr>
          <p:cNvSpPr txBox="1"/>
          <p:nvPr/>
        </p:nvSpPr>
        <p:spPr>
          <a:xfrm>
            <a:off x="636580" y="3429000"/>
            <a:ext cx="7511377" cy="1015663"/>
          </a:xfrm>
          <a:prstGeom prst="rect">
            <a:avLst/>
          </a:prstGeom>
          <a:noFill/>
        </p:spPr>
        <p:txBody>
          <a:bodyPr wrap="square">
            <a:spAutoFit/>
          </a:bodyPr>
          <a:lstStyle/>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RSE compares the model performance with mean performance.</a:t>
            </a: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RSE is unit-less and expected to be in [0,1]</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48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0D324-1079-41F3-B103-DCF4DF482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53CFB-6D0B-2AF7-91D1-94C0AA3375E3}"/>
              </a:ext>
            </a:extLst>
          </p:cNvPr>
          <p:cNvSpPr>
            <a:spLocks noGrp="1"/>
          </p:cNvSpPr>
          <p:nvPr>
            <p:ph type="title"/>
          </p:nvPr>
        </p:nvSpPr>
        <p:spPr/>
        <p:txBody>
          <a:bodyPr/>
          <a:lstStyle/>
          <a:p>
            <a:r>
              <a:rPr lang="en-GB" dirty="0"/>
              <a:t>Regession Metrics</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53E63C4-21EA-2777-000C-AEE84DAE802E}"/>
                  </a:ext>
                </a:extLst>
              </p:cNvPr>
              <p:cNvSpPr txBox="1">
                <a:spLocks/>
              </p:cNvSpPr>
              <p:nvPr/>
            </p:nvSpPr>
            <p:spPr>
              <a:xfrm>
                <a:off x="636581" y="914395"/>
                <a:ext cx="9392322" cy="2620741"/>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R Square</a:t>
                </a:r>
              </a:p>
              <a:p>
                <a:pPr marL="0" indent="0">
                  <a:buNone/>
                </a:pPr>
                <a14:m>
                  <m:oMathPara xmlns:m="http://schemas.openxmlformats.org/officeDocument/2006/math">
                    <m:oMathParaPr>
                      <m:jc m:val="centerGroup"/>
                    </m:oMathParaPr>
                    <m:oMath xmlns:m="http://schemas.openxmlformats.org/officeDocument/2006/math">
                      <m:sSup>
                        <m:sSupPr>
                          <m:ctrlPr>
                            <a:rPr lang="en-GB" sz="2400" b="0" i="1" smtClean="0">
                              <a:solidFill>
                                <a:schemeClr val="accent4"/>
                              </a:solidFill>
                              <a:latin typeface="Cambria Math" panose="02040503050406030204" pitchFamily="18" charset="0"/>
                            </a:rPr>
                          </m:ctrlPr>
                        </m:sSupPr>
                        <m:e>
                          <m:r>
                            <a:rPr lang="en-GB" sz="2400" b="0" i="1" smtClean="0">
                              <a:solidFill>
                                <a:schemeClr val="accent4"/>
                              </a:solidFill>
                              <a:latin typeface="Cambria Math" panose="02040503050406030204" pitchFamily="18" charset="0"/>
                            </a:rPr>
                            <m:t>𝑅</m:t>
                          </m:r>
                        </m:e>
                        <m:sup>
                          <m:r>
                            <a:rPr lang="en-GB" sz="2400" b="0" i="1" smtClean="0">
                              <a:solidFill>
                                <a:schemeClr val="accent4"/>
                              </a:solidFill>
                              <a:latin typeface="Cambria Math" panose="02040503050406030204" pitchFamily="18" charset="0"/>
                            </a:rPr>
                            <m:t>2</m:t>
                          </m:r>
                        </m:sup>
                      </m:sSup>
                      <m:r>
                        <a:rPr lang="en-GB" sz="2400" b="0" i="1" smtClean="0">
                          <a:solidFill>
                            <a:schemeClr val="accent4"/>
                          </a:solidFill>
                          <a:latin typeface="Cambria Math" panose="02040503050406030204" pitchFamily="18" charset="0"/>
                        </a:rPr>
                        <m:t>=1−</m:t>
                      </m:r>
                      <m:f>
                        <m:fPr>
                          <m:ctrlPr>
                            <a:rPr lang="en-GB" sz="2400" b="0" i="1" smtClean="0">
                              <a:solidFill>
                                <a:schemeClr val="accent4"/>
                              </a:solidFill>
                              <a:latin typeface="Cambria Math" panose="02040503050406030204" pitchFamily="18" charset="0"/>
                            </a:rPr>
                          </m:ctrlPr>
                        </m:fPr>
                        <m:num>
                          <m:r>
                            <a:rPr lang="en-GB" sz="2400" b="0" i="1" smtClean="0">
                              <a:solidFill>
                                <a:schemeClr val="accent4"/>
                              </a:solidFill>
                              <a:latin typeface="Cambria Math" panose="02040503050406030204" pitchFamily="18" charset="0"/>
                            </a:rPr>
                            <m:t>𝑀𝑆𝐸</m:t>
                          </m:r>
                          <m:d>
                            <m:dPr>
                              <m:ctrlPr>
                                <a:rPr lang="en-GB" sz="2400" b="0" i="1" smtClean="0">
                                  <a:solidFill>
                                    <a:schemeClr val="accent4"/>
                                  </a:solidFill>
                                  <a:latin typeface="Cambria Math" panose="02040503050406030204" pitchFamily="18" charset="0"/>
                                </a:rPr>
                              </m:ctrlPr>
                            </m:dPr>
                            <m:e>
                              <m:r>
                                <a:rPr lang="en-GB" sz="2400" b="0" i="1" smtClean="0">
                                  <a:solidFill>
                                    <a:schemeClr val="accent4"/>
                                  </a:solidFill>
                                  <a:latin typeface="Cambria Math" panose="02040503050406030204" pitchFamily="18" charset="0"/>
                                </a:rPr>
                                <m:t>𝑚𝑜𝑑𝑒𝑙</m:t>
                              </m:r>
                            </m:e>
                          </m:d>
                        </m:num>
                        <m:den>
                          <m:r>
                            <a:rPr lang="en-GB" sz="2400" b="0" i="1" smtClean="0">
                              <a:solidFill>
                                <a:schemeClr val="accent4"/>
                              </a:solidFill>
                              <a:latin typeface="Cambria Math" panose="02040503050406030204" pitchFamily="18" charset="0"/>
                            </a:rPr>
                            <m:t>𝑀𝑆𝐸</m:t>
                          </m:r>
                          <m:d>
                            <m:dPr>
                              <m:ctrlPr>
                                <a:rPr lang="en-GB" sz="2400" b="0" i="1" smtClean="0">
                                  <a:solidFill>
                                    <a:schemeClr val="accent4"/>
                                  </a:solidFill>
                                  <a:latin typeface="Cambria Math" panose="02040503050406030204" pitchFamily="18" charset="0"/>
                                </a:rPr>
                              </m:ctrlPr>
                            </m:dPr>
                            <m:e>
                              <m:r>
                                <a:rPr lang="en-GB" sz="2400" b="0" i="1" smtClean="0">
                                  <a:solidFill>
                                    <a:schemeClr val="accent4"/>
                                  </a:solidFill>
                                  <a:latin typeface="Cambria Math" panose="02040503050406030204" pitchFamily="18" charset="0"/>
                                </a:rPr>
                                <m:t>𝑏𝑎𝑠𝑒𝑙𝑖𝑛𝑒</m:t>
                              </m:r>
                            </m:e>
                          </m:d>
                        </m:den>
                      </m:f>
                      <m:r>
                        <a:rPr lang="en-GB" sz="2400" b="0" i="1" smtClean="0">
                          <a:solidFill>
                            <a:schemeClr val="accent4"/>
                          </a:solidFill>
                          <a:latin typeface="Cambria Math" panose="02040503050406030204" pitchFamily="18" charset="0"/>
                        </a:rPr>
                        <m:t>=</m:t>
                      </m:r>
                      <m:r>
                        <a:rPr lang="en-GB" sz="2400" b="1" i="1" smtClean="0">
                          <a:solidFill>
                            <a:schemeClr val="accent3"/>
                          </a:solidFill>
                          <a:latin typeface="Cambria Math" panose="02040503050406030204" pitchFamily="18" charset="0"/>
                        </a:rPr>
                        <m:t>𝟏</m:t>
                      </m:r>
                      <m:r>
                        <a:rPr lang="en-GB" sz="2400" b="1" i="1" smtClean="0">
                          <a:solidFill>
                            <a:schemeClr val="accent3"/>
                          </a:solidFill>
                          <a:latin typeface="Cambria Math" panose="02040503050406030204" pitchFamily="18" charset="0"/>
                        </a:rPr>
                        <m:t>−</m:t>
                      </m:r>
                      <m:f>
                        <m:fPr>
                          <m:ctrlPr>
                            <a:rPr lang="en-GB" sz="2400" b="1" i="1">
                              <a:solidFill>
                                <a:schemeClr val="accent3"/>
                              </a:solidFill>
                              <a:latin typeface="Cambria Math" panose="02040503050406030204" pitchFamily="18" charset="0"/>
                            </a:rPr>
                          </m:ctrlPr>
                        </m:fPr>
                        <m:num>
                          <m:nary>
                            <m:naryPr>
                              <m:chr m:val="∑"/>
                              <m:ctrlPr>
                                <a:rPr lang="en-IN" sz="2400" b="1" i="1">
                                  <a:solidFill>
                                    <a:schemeClr val="accent3"/>
                                  </a:solidFill>
                                  <a:latin typeface="Cambria Math" panose="02040503050406030204" pitchFamily="18" charset="0"/>
                                </a:rPr>
                              </m:ctrlPr>
                            </m:naryPr>
                            <m:sub>
                              <m:r>
                                <m:rPr>
                                  <m:brk m:alnAt="23"/>
                                </m:rPr>
                                <a:rPr lang="en-GB" sz="2400" b="1" i="1">
                                  <a:solidFill>
                                    <a:schemeClr val="accent3"/>
                                  </a:solidFill>
                                  <a:latin typeface="Cambria Math" panose="02040503050406030204" pitchFamily="18" charset="0"/>
                                </a:rPr>
                                <m:t>𝒊</m:t>
                              </m:r>
                              <m:r>
                                <a:rPr lang="en-GB" sz="2400" b="1" i="1">
                                  <a:solidFill>
                                    <a:schemeClr val="accent3"/>
                                  </a:solidFill>
                                  <a:latin typeface="Cambria Math" panose="02040503050406030204" pitchFamily="18" charset="0"/>
                                </a:rPr>
                                <m:t>=</m:t>
                              </m:r>
                              <m:r>
                                <a:rPr lang="en-GB" sz="2400" b="1" i="1">
                                  <a:solidFill>
                                    <a:schemeClr val="accent3"/>
                                  </a:solidFill>
                                  <a:latin typeface="Cambria Math" panose="02040503050406030204" pitchFamily="18" charset="0"/>
                                </a:rPr>
                                <m:t>𝟏</m:t>
                              </m:r>
                            </m:sub>
                            <m:sup>
                              <m:r>
                                <a:rPr lang="en-GB" sz="2400" b="1" i="1">
                                  <a:solidFill>
                                    <a:schemeClr val="accent3"/>
                                  </a:solidFill>
                                  <a:latin typeface="Cambria Math" panose="02040503050406030204" pitchFamily="18" charset="0"/>
                                </a:rPr>
                                <m:t>𝒎</m:t>
                              </m:r>
                            </m:sup>
                            <m:e>
                              <m:sSup>
                                <m:sSupPr>
                                  <m:ctrlPr>
                                    <a:rPr lang="en-IN" sz="2400" b="1" i="1">
                                      <a:solidFill>
                                        <a:schemeClr val="accent3"/>
                                      </a:solidFill>
                                      <a:latin typeface="Cambria Math" panose="02040503050406030204" pitchFamily="18" charset="0"/>
                                    </a:rPr>
                                  </m:ctrlPr>
                                </m:sSupPr>
                                <m:e>
                                  <m:d>
                                    <m:dPr>
                                      <m:ctrlPr>
                                        <a:rPr lang="en-GB" sz="2400" b="1" i="1">
                                          <a:solidFill>
                                            <a:schemeClr val="accent3"/>
                                          </a:solidFill>
                                          <a:latin typeface="Cambria Math" panose="02040503050406030204" pitchFamily="18" charset="0"/>
                                        </a:rPr>
                                      </m:ctrlPr>
                                    </m:dPr>
                                    <m:e>
                                      <m:sSub>
                                        <m:sSubPr>
                                          <m:ctrlPr>
                                            <a:rPr lang="en-GB" sz="2400" b="1" i="1">
                                              <a:solidFill>
                                                <a:schemeClr val="accent3"/>
                                              </a:solidFill>
                                              <a:latin typeface="Cambria Math" panose="02040503050406030204" pitchFamily="18" charset="0"/>
                                            </a:rPr>
                                          </m:ctrlPr>
                                        </m:sSubPr>
                                        <m:e>
                                          <m:r>
                                            <a:rPr lang="en-GB" sz="2400" b="1" i="1">
                                              <a:solidFill>
                                                <a:schemeClr val="accent3"/>
                                              </a:solidFill>
                                              <a:latin typeface="Cambria Math" panose="02040503050406030204" pitchFamily="18" charset="0"/>
                                            </a:rPr>
                                            <m:t>𝒚</m:t>
                                          </m:r>
                                        </m:e>
                                        <m:sub>
                                          <m:r>
                                            <a:rPr lang="en-GB" sz="2400" b="1" i="1">
                                              <a:solidFill>
                                                <a:schemeClr val="accent3"/>
                                              </a:solidFill>
                                              <a:latin typeface="Cambria Math" panose="02040503050406030204" pitchFamily="18" charset="0"/>
                                            </a:rPr>
                                            <m:t>𝒊</m:t>
                                          </m:r>
                                        </m:sub>
                                      </m:sSub>
                                      <m:r>
                                        <a:rPr lang="en-GB" sz="2400" b="1" i="1">
                                          <a:solidFill>
                                            <a:schemeClr val="accent3"/>
                                          </a:solidFill>
                                          <a:latin typeface="Cambria Math" panose="02040503050406030204" pitchFamily="18" charset="0"/>
                                        </a:rPr>
                                        <m:t>−</m:t>
                                      </m:r>
                                      <m:sSub>
                                        <m:sSubPr>
                                          <m:ctrlPr>
                                            <a:rPr lang="en-GB" sz="2400" b="1" i="1">
                                              <a:solidFill>
                                                <a:schemeClr val="accent3"/>
                                              </a:solidFill>
                                              <a:latin typeface="Cambria Math" panose="02040503050406030204" pitchFamily="18" charset="0"/>
                                            </a:rPr>
                                          </m:ctrlPr>
                                        </m:sSubPr>
                                        <m:e>
                                          <m:acc>
                                            <m:accPr>
                                              <m:chr m:val="̂"/>
                                              <m:ctrlPr>
                                                <a:rPr lang="en-GB" sz="2400" b="1" i="1">
                                                  <a:solidFill>
                                                    <a:schemeClr val="accent3"/>
                                                  </a:solidFill>
                                                  <a:latin typeface="Cambria Math" panose="02040503050406030204" pitchFamily="18" charset="0"/>
                                                </a:rPr>
                                              </m:ctrlPr>
                                            </m:accPr>
                                            <m:e>
                                              <m:r>
                                                <a:rPr lang="en-GB" sz="2400" b="1" i="1">
                                                  <a:solidFill>
                                                    <a:schemeClr val="accent3"/>
                                                  </a:solidFill>
                                                  <a:latin typeface="Cambria Math" panose="02040503050406030204" pitchFamily="18" charset="0"/>
                                                </a:rPr>
                                                <m:t>𝒚</m:t>
                                              </m:r>
                                            </m:e>
                                          </m:acc>
                                        </m:e>
                                        <m:sub>
                                          <m:r>
                                            <a:rPr lang="en-GB" sz="2400" b="1" i="1">
                                              <a:solidFill>
                                                <a:schemeClr val="accent3"/>
                                              </a:solidFill>
                                              <a:latin typeface="Cambria Math" panose="02040503050406030204" pitchFamily="18" charset="0"/>
                                            </a:rPr>
                                            <m:t>𝒊</m:t>
                                          </m:r>
                                        </m:sub>
                                      </m:sSub>
                                    </m:e>
                                  </m:d>
                                </m:e>
                                <m:sup>
                                  <m:r>
                                    <a:rPr lang="en-GB" sz="2400" b="1" i="1">
                                      <a:solidFill>
                                        <a:schemeClr val="accent3"/>
                                      </a:solidFill>
                                      <a:latin typeface="Cambria Math" panose="02040503050406030204" pitchFamily="18" charset="0"/>
                                    </a:rPr>
                                    <m:t>𝟐</m:t>
                                  </m:r>
                                </m:sup>
                              </m:sSup>
                            </m:e>
                          </m:nary>
                        </m:num>
                        <m:den>
                          <m:nary>
                            <m:naryPr>
                              <m:chr m:val="∑"/>
                              <m:ctrlPr>
                                <a:rPr lang="en-IN" sz="2400" b="1" i="1">
                                  <a:solidFill>
                                    <a:schemeClr val="accent3"/>
                                  </a:solidFill>
                                  <a:latin typeface="Cambria Math" panose="02040503050406030204" pitchFamily="18" charset="0"/>
                                </a:rPr>
                              </m:ctrlPr>
                            </m:naryPr>
                            <m:sub>
                              <m:r>
                                <m:rPr>
                                  <m:brk m:alnAt="23"/>
                                </m:rPr>
                                <a:rPr lang="en-GB" sz="2400" b="1" i="1">
                                  <a:solidFill>
                                    <a:schemeClr val="accent3"/>
                                  </a:solidFill>
                                  <a:latin typeface="Cambria Math" panose="02040503050406030204" pitchFamily="18" charset="0"/>
                                </a:rPr>
                                <m:t>𝒊</m:t>
                              </m:r>
                              <m:r>
                                <a:rPr lang="en-GB" sz="2400" b="1" i="1">
                                  <a:solidFill>
                                    <a:schemeClr val="accent3"/>
                                  </a:solidFill>
                                  <a:latin typeface="Cambria Math" panose="02040503050406030204" pitchFamily="18" charset="0"/>
                                </a:rPr>
                                <m:t>=</m:t>
                              </m:r>
                              <m:r>
                                <a:rPr lang="en-GB" sz="2400" b="1" i="1">
                                  <a:solidFill>
                                    <a:schemeClr val="accent3"/>
                                  </a:solidFill>
                                  <a:latin typeface="Cambria Math" panose="02040503050406030204" pitchFamily="18" charset="0"/>
                                </a:rPr>
                                <m:t>𝟏</m:t>
                              </m:r>
                            </m:sub>
                            <m:sup>
                              <m:r>
                                <a:rPr lang="en-GB" sz="2400" b="1" i="1">
                                  <a:solidFill>
                                    <a:schemeClr val="accent3"/>
                                  </a:solidFill>
                                  <a:latin typeface="Cambria Math" panose="02040503050406030204" pitchFamily="18" charset="0"/>
                                </a:rPr>
                                <m:t>𝒎</m:t>
                              </m:r>
                            </m:sup>
                            <m:e>
                              <m:sSup>
                                <m:sSupPr>
                                  <m:ctrlPr>
                                    <a:rPr lang="en-IN" sz="2400" b="1" i="1">
                                      <a:solidFill>
                                        <a:schemeClr val="accent3"/>
                                      </a:solidFill>
                                      <a:latin typeface="Cambria Math" panose="02040503050406030204" pitchFamily="18" charset="0"/>
                                    </a:rPr>
                                  </m:ctrlPr>
                                </m:sSupPr>
                                <m:e>
                                  <m:d>
                                    <m:dPr>
                                      <m:ctrlPr>
                                        <a:rPr lang="en-GB" sz="2400" b="1" i="1">
                                          <a:solidFill>
                                            <a:schemeClr val="accent3"/>
                                          </a:solidFill>
                                          <a:latin typeface="Cambria Math" panose="02040503050406030204" pitchFamily="18" charset="0"/>
                                        </a:rPr>
                                      </m:ctrlPr>
                                    </m:dPr>
                                    <m:e>
                                      <m:acc>
                                        <m:accPr>
                                          <m:chr m:val="̅"/>
                                          <m:ctrlPr>
                                            <a:rPr lang="en-GB" sz="2400" b="1" i="1">
                                              <a:solidFill>
                                                <a:schemeClr val="accent3"/>
                                              </a:solidFill>
                                              <a:latin typeface="Cambria Math" panose="02040503050406030204" pitchFamily="18" charset="0"/>
                                            </a:rPr>
                                          </m:ctrlPr>
                                        </m:accPr>
                                        <m:e>
                                          <m:r>
                                            <a:rPr lang="en-GB" sz="2400" b="1" i="1">
                                              <a:solidFill>
                                                <a:schemeClr val="accent3"/>
                                              </a:solidFill>
                                              <a:latin typeface="Cambria Math" panose="02040503050406030204" pitchFamily="18" charset="0"/>
                                            </a:rPr>
                                            <m:t>𝒚</m:t>
                                          </m:r>
                                        </m:e>
                                      </m:acc>
                                      <m:r>
                                        <a:rPr lang="en-GB" sz="2400" b="1" i="1">
                                          <a:solidFill>
                                            <a:schemeClr val="accent3"/>
                                          </a:solidFill>
                                          <a:latin typeface="Cambria Math" panose="02040503050406030204" pitchFamily="18" charset="0"/>
                                        </a:rPr>
                                        <m:t>−</m:t>
                                      </m:r>
                                      <m:sSub>
                                        <m:sSubPr>
                                          <m:ctrlPr>
                                            <a:rPr lang="en-GB" sz="2400" b="1" i="1">
                                              <a:solidFill>
                                                <a:schemeClr val="accent3"/>
                                              </a:solidFill>
                                              <a:latin typeface="Cambria Math" panose="02040503050406030204" pitchFamily="18" charset="0"/>
                                            </a:rPr>
                                          </m:ctrlPr>
                                        </m:sSubPr>
                                        <m:e>
                                          <m:acc>
                                            <m:accPr>
                                              <m:chr m:val="̂"/>
                                              <m:ctrlPr>
                                                <a:rPr lang="en-GB" sz="2400" b="1" i="1">
                                                  <a:solidFill>
                                                    <a:schemeClr val="accent3"/>
                                                  </a:solidFill>
                                                  <a:latin typeface="Cambria Math" panose="02040503050406030204" pitchFamily="18" charset="0"/>
                                                </a:rPr>
                                              </m:ctrlPr>
                                            </m:accPr>
                                            <m:e>
                                              <m:r>
                                                <a:rPr lang="en-GB" sz="2400" b="1" i="1">
                                                  <a:solidFill>
                                                    <a:schemeClr val="accent3"/>
                                                  </a:solidFill>
                                                  <a:latin typeface="Cambria Math" panose="02040503050406030204" pitchFamily="18" charset="0"/>
                                                </a:rPr>
                                                <m:t>𝒚</m:t>
                                              </m:r>
                                            </m:e>
                                          </m:acc>
                                        </m:e>
                                        <m:sub>
                                          <m:r>
                                            <a:rPr lang="en-GB" sz="2400" b="1" i="1">
                                              <a:solidFill>
                                                <a:schemeClr val="accent3"/>
                                              </a:solidFill>
                                              <a:latin typeface="Cambria Math" panose="02040503050406030204" pitchFamily="18" charset="0"/>
                                            </a:rPr>
                                            <m:t>𝒊</m:t>
                                          </m:r>
                                        </m:sub>
                                      </m:sSub>
                                    </m:e>
                                  </m:d>
                                </m:e>
                                <m:sup>
                                  <m:r>
                                    <a:rPr lang="en-GB" sz="2400" b="1" i="1">
                                      <a:solidFill>
                                        <a:schemeClr val="accent3"/>
                                      </a:solidFill>
                                      <a:latin typeface="Cambria Math" panose="02040503050406030204" pitchFamily="18" charset="0"/>
                                    </a:rPr>
                                    <m:t>𝟐</m:t>
                                  </m:r>
                                </m:sup>
                              </m:sSup>
                            </m:e>
                          </m:nary>
                        </m:den>
                      </m:f>
                      <m:r>
                        <a:rPr lang="en-IN" sz="2400" b="0" i="0" smtClean="0">
                          <a:solidFill>
                            <a:schemeClr val="accent3"/>
                          </a:solidFill>
                          <a:latin typeface="Cambria Math" panose="02040503050406030204" pitchFamily="18" charset="0"/>
                        </a:rPr>
                        <m:t>=</m:t>
                      </m:r>
                      <m:r>
                        <a:rPr lang="en-IN" sz="2400" b="1" i="0" smtClean="0">
                          <a:solidFill>
                            <a:srgbClr val="7030A0"/>
                          </a:solidFill>
                          <a:latin typeface="Cambria Math" panose="02040503050406030204" pitchFamily="18" charset="0"/>
                        </a:rPr>
                        <m:t>𝟏</m:t>
                      </m:r>
                      <m:r>
                        <a:rPr lang="en-IN" sz="2400" b="1" i="0" smtClean="0">
                          <a:solidFill>
                            <a:srgbClr val="7030A0"/>
                          </a:solidFill>
                          <a:latin typeface="Cambria Math" panose="02040503050406030204" pitchFamily="18" charset="0"/>
                        </a:rPr>
                        <m:t>−</m:t>
                      </m:r>
                      <m:f>
                        <m:fPr>
                          <m:ctrlPr>
                            <a:rPr lang="en-IN" sz="2400" b="1" i="1" smtClean="0">
                              <a:solidFill>
                                <a:srgbClr val="7030A0"/>
                              </a:solidFill>
                              <a:latin typeface="Cambria Math" panose="02040503050406030204" pitchFamily="18" charset="0"/>
                            </a:rPr>
                          </m:ctrlPr>
                        </m:fPr>
                        <m:num>
                          <m:r>
                            <a:rPr lang="en-IN" sz="2400" b="1" i="1" smtClean="0">
                              <a:solidFill>
                                <a:srgbClr val="7030A0"/>
                              </a:solidFill>
                              <a:latin typeface="Cambria Math" panose="02040503050406030204" pitchFamily="18" charset="0"/>
                            </a:rPr>
                            <m:t>𝑺𝑺𝑹</m:t>
                          </m:r>
                        </m:num>
                        <m:den>
                          <m:r>
                            <a:rPr lang="en-IN" sz="2400" b="1" i="1" smtClean="0">
                              <a:solidFill>
                                <a:srgbClr val="7030A0"/>
                              </a:solidFill>
                              <a:latin typeface="Cambria Math" panose="02040503050406030204" pitchFamily="18" charset="0"/>
                            </a:rPr>
                            <m:t>𝑺𝑺𝑴</m:t>
                          </m:r>
                        </m:den>
                      </m:f>
                    </m:oMath>
                  </m:oMathPara>
                </a14:m>
                <a:endParaRPr lang="en-GB" sz="2400" b="1" dirty="0">
                  <a:solidFill>
                    <a:schemeClr val="accent4"/>
                  </a:solidFill>
                </a:endParaRPr>
              </a:p>
              <a:p>
                <a:pPr marL="0" indent="0">
                  <a:buNone/>
                </a:pPr>
                <a:endParaRPr lang="en-GB" sz="2400" dirty="0">
                  <a:solidFill>
                    <a:schemeClr val="accent4"/>
                  </a:solidFill>
                </a:endParaRPr>
              </a:p>
              <a:p>
                <a:pPr marL="0" indent="0">
                  <a:buNone/>
                </a:pPr>
                <a:endParaRPr lang="en-IN" sz="2400" dirty="0"/>
              </a:p>
            </p:txBody>
          </p:sp>
        </mc:Choice>
        <mc:Fallback xmlns="">
          <p:sp>
            <p:nvSpPr>
              <p:cNvPr id="4" name="Content Placeholder 2">
                <a:extLst>
                  <a:ext uri="{FF2B5EF4-FFF2-40B4-BE49-F238E27FC236}">
                    <a16:creationId xmlns:a16="http://schemas.microsoft.com/office/drawing/2014/main" id="{B53E63C4-21EA-2777-000C-AEE84DAE802E}"/>
                  </a:ext>
                </a:extLst>
              </p:cNvPr>
              <p:cNvSpPr txBox="1">
                <a:spLocks noRot="1" noChangeAspect="1" noMove="1" noResize="1" noEditPoints="1" noAdjustHandles="1" noChangeArrowheads="1" noChangeShapeType="1" noTextEdit="1"/>
              </p:cNvSpPr>
              <p:nvPr/>
            </p:nvSpPr>
            <p:spPr>
              <a:xfrm>
                <a:off x="636581" y="914395"/>
                <a:ext cx="9392322" cy="2620741"/>
              </a:xfrm>
              <a:prstGeom prst="rect">
                <a:avLst/>
              </a:prstGeom>
              <a:blipFill>
                <a:blip r:embed="rId3"/>
                <a:stretch>
                  <a:fillRect l="-973" t="-1163"/>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091B51BC-9503-0BC2-4583-5E15A5ED0EB2}"/>
              </a:ext>
            </a:extLst>
          </p:cNvPr>
          <p:cNvSpPr txBox="1"/>
          <p:nvPr/>
        </p:nvSpPr>
        <p:spPr>
          <a:xfrm>
            <a:off x="636580" y="2792186"/>
            <a:ext cx="10450520" cy="2554545"/>
          </a:xfrm>
          <a:prstGeom prst="rect">
            <a:avLst/>
          </a:prstGeom>
          <a:noFill/>
        </p:spPr>
        <p:txBody>
          <a:bodyPr wrap="square">
            <a:spAutoFit/>
          </a:bodyPr>
          <a:lstStyle/>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Higher is the R</a:t>
            </a:r>
            <a:r>
              <a:rPr lang="en-GB" sz="2000" baseline="30000" dirty="0">
                <a:latin typeface="Times New Roman" panose="02020603050405020304" pitchFamily="18" charset="0"/>
                <a:cs typeface="Times New Roman" panose="02020603050405020304" pitchFamily="18" charset="0"/>
              </a:rPr>
              <a:t>2</a:t>
            </a:r>
            <a:r>
              <a:rPr lang="en-GB" sz="2000" dirty="0">
                <a:latin typeface="Times New Roman" panose="02020603050405020304" pitchFamily="18" charset="0"/>
                <a:cs typeface="Times New Roman" panose="02020603050405020304" pitchFamily="18" charset="0"/>
              </a:rPr>
              <a:t>, better is the model.</a:t>
            </a:r>
          </a:p>
          <a:p>
            <a:pPr marL="342900" indent="-342900" algn="just">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solidFill>
                  <a:srgbClr val="FF0000"/>
                </a:solidFill>
                <a:latin typeface="Times New Roman" panose="02020603050405020304" pitchFamily="18" charset="0"/>
                <a:cs typeface="Times New Roman" panose="02020603050405020304" pitchFamily="18" charset="0"/>
              </a:rPr>
              <a:t>R</a:t>
            </a:r>
            <a:r>
              <a:rPr lang="en-IN" sz="2000" baseline="30000" dirty="0">
                <a:solidFill>
                  <a:srgbClr val="FF0000"/>
                </a:solidFill>
                <a:latin typeface="Times New Roman" panose="02020603050405020304" pitchFamily="18" charset="0"/>
                <a:cs typeface="Times New Roman" panose="02020603050405020304" pitchFamily="18" charset="0"/>
              </a:rPr>
              <a:t>2</a:t>
            </a:r>
            <a:r>
              <a:rPr lang="en-IN" sz="2000" dirty="0">
                <a:solidFill>
                  <a:srgbClr val="FF0000"/>
                </a:solidFill>
                <a:latin typeface="Times New Roman" panose="02020603050405020304" pitchFamily="18" charset="0"/>
                <a:cs typeface="Times New Roman" panose="02020603050405020304" pitchFamily="18" charset="0"/>
              </a:rPr>
              <a:t> will remain same or increase with addition of new features.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 the model does not penalise the random noisy features, like wind-condition, temp, sky-colour on the day of sale, mood of the seller.</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Is there any robust metric and way to penalise the irrelevant features?</a:t>
            </a:r>
          </a:p>
        </p:txBody>
      </p:sp>
    </p:spTree>
    <p:extLst>
      <p:ext uri="{BB962C8B-B14F-4D97-AF65-F5344CB8AC3E}">
        <p14:creationId xmlns:p14="http://schemas.microsoft.com/office/powerpoint/2010/main" val="13435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71A89-D95F-1186-80B9-3767BBA7D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FAD9F-F724-2AEB-74CC-61D3B5DA8480}"/>
              </a:ext>
            </a:extLst>
          </p:cNvPr>
          <p:cNvSpPr>
            <a:spLocks noGrp="1"/>
          </p:cNvSpPr>
          <p:nvPr>
            <p:ph type="title"/>
          </p:nvPr>
        </p:nvSpPr>
        <p:spPr/>
        <p:txBody>
          <a:bodyPr/>
          <a:lstStyle/>
          <a:p>
            <a:r>
              <a:rPr lang="en-GB" dirty="0"/>
              <a:t>Regession Metrics</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7E0438C-3952-E2AF-24C6-4E1E4AA015BF}"/>
                  </a:ext>
                </a:extLst>
              </p:cNvPr>
              <p:cNvSpPr txBox="1">
                <a:spLocks/>
              </p:cNvSpPr>
              <p:nvPr/>
            </p:nvSpPr>
            <p:spPr>
              <a:xfrm>
                <a:off x="636581" y="914395"/>
                <a:ext cx="6520964" cy="2620741"/>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b="1" u="sng" dirty="0"/>
                  <a:t>Adjsuted R Square</a:t>
                </a:r>
              </a:p>
              <a:p>
                <a:pPr marL="0" indent="0">
                  <a:buNone/>
                </a:pPr>
                <a14:m>
                  <m:oMathPara xmlns:m="http://schemas.openxmlformats.org/officeDocument/2006/math">
                    <m:oMathParaPr>
                      <m:jc m:val="centerGroup"/>
                    </m:oMathParaPr>
                    <m:oMath xmlns:m="http://schemas.openxmlformats.org/officeDocument/2006/math">
                      <m:sSup>
                        <m:sSupPr>
                          <m:ctrlPr>
                            <a:rPr lang="en-GB" sz="2400" b="0" i="1" smtClean="0">
                              <a:solidFill>
                                <a:schemeClr val="accent4"/>
                              </a:solidFill>
                              <a:latin typeface="Cambria Math" panose="02040503050406030204" pitchFamily="18" charset="0"/>
                            </a:rPr>
                          </m:ctrlPr>
                        </m:sSupPr>
                        <m:e>
                          <m:r>
                            <a:rPr lang="en-IN" sz="2400" b="0" i="1" smtClean="0">
                              <a:solidFill>
                                <a:schemeClr val="accent4"/>
                              </a:solidFill>
                              <a:latin typeface="Cambria Math" panose="02040503050406030204" pitchFamily="18" charset="0"/>
                            </a:rPr>
                            <m:t>𝐴𝑑𝑗𝑢𝑠𝑡𝑒𝑑</m:t>
                          </m:r>
                          <m:r>
                            <a:rPr lang="en-IN" sz="2400" b="0" i="1" smtClean="0">
                              <a:solidFill>
                                <a:schemeClr val="accent4"/>
                              </a:solidFill>
                              <a:latin typeface="Cambria Math" panose="02040503050406030204" pitchFamily="18" charset="0"/>
                            </a:rPr>
                            <m:t> </m:t>
                          </m:r>
                          <m:r>
                            <a:rPr lang="en-GB" sz="2400" b="0" i="1" smtClean="0">
                              <a:solidFill>
                                <a:schemeClr val="accent4"/>
                              </a:solidFill>
                              <a:latin typeface="Cambria Math" panose="02040503050406030204" pitchFamily="18" charset="0"/>
                            </a:rPr>
                            <m:t>𝑅</m:t>
                          </m:r>
                        </m:e>
                        <m:sup>
                          <m:r>
                            <a:rPr lang="en-GB" sz="2400" b="0" i="1" smtClean="0">
                              <a:solidFill>
                                <a:schemeClr val="accent4"/>
                              </a:solidFill>
                              <a:latin typeface="Cambria Math" panose="02040503050406030204" pitchFamily="18" charset="0"/>
                            </a:rPr>
                            <m:t>2</m:t>
                          </m:r>
                        </m:sup>
                      </m:sSup>
                      <m:r>
                        <a:rPr lang="en-GB" sz="2400" b="0" i="1" smtClean="0">
                          <a:solidFill>
                            <a:schemeClr val="accent4"/>
                          </a:solidFill>
                          <a:latin typeface="Cambria Math" panose="02040503050406030204" pitchFamily="18" charset="0"/>
                        </a:rPr>
                        <m:t>=1−</m:t>
                      </m:r>
                      <m:d>
                        <m:dPr>
                          <m:begChr m:val="["/>
                          <m:endChr m:val="]"/>
                          <m:ctrlPr>
                            <a:rPr lang="en-GB" sz="2400" b="0" i="1" smtClean="0">
                              <a:solidFill>
                                <a:schemeClr val="accent4"/>
                              </a:solidFill>
                              <a:latin typeface="Cambria Math" panose="02040503050406030204" pitchFamily="18" charset="0"/>
                            </a:rPr>
                          </m:ctrlPr>
                        </m:dPr>
                        <m:e>
                          <m:f>
                            <m:fPr>
                              <m:ctrlPr>
                                <a:rPr lang="en-IN" sz="2400" b="0" i="1" smtClean="0">
                                  <a:solidFill>
                                    <a:schemeClr val="accent4"/>
                                  </a:solidFill>
                                  <a:latin typeface="Cambria Math" panose="02040503050406030204" pitchFamily="18" charset="0"/>
                                </a:rPr>
                              </m:ctrlPr>
                            </m:fPr>
                            <m:num>
                              <m:r>
                                <a:rPr lang="en-IN" sz="2400" i="1">
                                  <a:solidFill>
                                    <a:schemeClr val="accent4"/>
                                  </a:solidFill>
                                  <a:latin typeface="Cambria Math" panose="02040503050406030204" pitchFamily="18" charset="0"/>
                                </a:rPr>
                                <m:t>(1−</m:t>
                              </m:r>
                              <m:sSup>
                                <m:sSupPr>
                                  <m:ctrlPr>
                                    <a:rPr lang="en-IN" sz="2400" i="1">
                                      <a:solidFill>
                                        <a:schemeClr val="accent4"/>
                                      </a:solidFill>
                                      <a:latin typeface="Cambria Math" panose="02040503050406030204" pitchFamily="18" charset="0"/>
                                    </a:rPr>
                                  </m:ctrlPr>
                                </m:sSupPr>
                                <m:e>
                                  <m:r>
                                    <a:rPr lang="en-IN" sz="2400" i="1">
                                      <a:solidFill>
                                        <a:schemeClr val="accent4"/>
                                      </a:solidFill>
                                      <a:latin typeface="Cambria Math" panose="02040503050406030204" pitchFamily="18" charset="0"/>
                                    </a:rPr>
                                    <m:t>𝑅</m:t>
                                  </m:r>
                                </m:e>
                                <m:sup>
                                  <m:r>
                                    <a:rPr lang="en-IN" sz="2400" i="1">
                                      <a:solidFill>
                                        <a:schemeClr val="accent4"/>
                                      </a:solidFill>
                                      <a:latin typeface="Cambria Math" panose="02040503050406030204" pitchFamily="18" charset="0"/>
                                    </a:rPr>
                                    <m:t>2</m:t>
                                  </m:r>
                                </m:sup>
                              </m:sSup>
                              <m:r>
                                <a:rPr lang="en-IN" sz="2400" b="0" i="1" smtClean="0">
                                  <a:solidFill>
                                    <a:schemeClr val="accent4"/>
                                  </a:solidFill>
                                  <a:latin typeface="Cambria Math" panose="02040503050406030204" pitchFamily="18" charset="0"/>
                                </a:rPr>
                                <m:t>)(</m:t>
                              </m:r>
                              <m:r>
                                <a:rPr lang="en-IN" sz="2400" b="0" i="1" smtClean="0">
                                  <a:solidFill>
                                    <a:schemeClr val="accent4"/>
                                  </a:solidFill>
                                  <a:latin typeface="Cambria Math" panose="02040503050406030204" pitchFamily="18" charset="0"/>
                                </a:rPr>
                                <m:t>𝑚</m:t>
                              </m:r>
                              <m:r>
                                <a:rPr lang="en-IN" sz="2400" b="0" i="1" smtClean="0">
                                  <a:solidFill>
                                    <a:schemeClr val="accent4"/>
                                  </a:solidFill>
                                  <a:latin typeface="Cambria Math" panose="02040503050406030204" pitchFamily="18" charset="0"/>
                                </a:rPr>
                                <m:t>−1)</m:t>
                              </m:r>
                            </m:num>
                            <m:den>
                              <m:r>
                                <a:rPr lang="en-IN" sz="2400" b="0" i="1" smtClean="0">
                                  <a:solidFill>
                                    <a:schemeClr val="accent4"/>
                                  </a:solidFill>
                                  <a:latin typeface="Cambria Math" panose="02040503050406030204" pitchFamily="18" charset="0"/>
                                </a:rPr>
                                <m:t>𝑚</m:t>
                              </m:r>
                              <m:r>
                                <a:rPr lang="en-IN" sz="2400" b="0" i="1" smtClean="0">
                                  <a:solidFill>
                                    <a:schemeClr val="accent4"/>
                                  </a:solidFill>
                                  <a:latin typeface="Cambria Math" panose="02040503050406030204" pitchFamily="18" charset="0"/>
                                </a:rPr>
                                <m:t>−1−</m:t>
                              </m:r>
                              <m:r>
                                <a:rPr lang="en-IN" sz="2400" b="0" i="1" smtClean="0">
                                  <a:solidFill>
                                    <a:schemeClr val="accent4"/>
                                  </a:solidFill>
                                  <a:latin typeface="Cambria Math" panose="02040503050406030204" pitchFamily="18" charset="0"/>
                                </a:rPr>
                                <m:t>𝑛</m:t>
                              </m:r>
                            </m:den>
                          </m:f>
                        </m:e>
                      </m:d>
                    </m:oMath>
                  </m:oMathPara>
                </a14:m>
                <a:endParaRPr lang="en-GB" sz="2400" b="1" dirty="0">
                  <a:solidFill>
                    <a:schemeClr val="accent4"/>
                  </a:solidFill>
                </a:endParaRPr>
              </a:p>
              <a:p>
                <a:pPr marL="0" indent="0">
                  <a:buNone/>
                </a:pPr>
                <a:endParaRPr lang="en-GB" sz="2400" dirty="0">
                  <a:solidFill>
                    <a:schemeClr val="accent4"/>
                  </a:solidFill>
                </a:endParaRPr>
              </a:p>
              <a:p>
                <a:pPr marL="0" indent="0">
                  <a:buNone/>
                </a:pPr>
                <a:endParaRPr lang="en-IN" sz="2400" dirty="0"/>
              </a:p>
            </p:txBody>
          </p:sp>
        </mc:Choice>
        <mc:Fallback xmlns="">
          <p:sp>
            <p:nvSpPr>
              <p:cNvPr id="4" name="Content Placeholder 2">
                <a:extLst>
                  <a:ext uri="{FF2B5EF4-FFF2-40B4-BE49-F238E27FC236}">
                    <a16:creationId xmlns:a16="http://schemas.microsoft.com/office/drawing/2014/main" id="{17E0438C-3952-E2AF-24C6-4E1E4AA015BF}"/>
                  </a:ext>
                </a:extLst>
              </p:cNvPr>
              <p:cNvSpPr txBox="1">
                <a:spLocks noRot="1" noChangeAspect="1" noMove="1" noResize="1" noEditPoints="1" noAdjustHandles="1" noChangeArrowheads="1" noChangeShapeType="1" noTextEdit="1"/>
              </p:cNvSpPr>
              <p:nvPr/>
            </p:nvSpPr>
            <p:spPr>
              <a:xfrm>
                <a:off x="636581" y="914395"/>
                <a:ext cx="6520964" cy="2620741"/>
              </a:xfrm>
              <a:prstGeom prst="rect">
                <a:avLst/>
              </a:prstGeom>
              <a:blipFill>
                <a:blip r:embed="rId3"/>
                <a:stretch>
                  <a:fillRect l="-1402" t="-1163"/>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B3C91E95-52AE-F6C1-8911-06E151932D2F}"/>
              </a:ext>
            </a:extLst>
          </p:cNvPr>
          <p:cNvSpPr txBox="1"/>
          <p:nvPr/>
        </p:nvSpPr>
        <p:spPr>
          <a:xfrm>
            <a:off x="636580" y="2792186"/>
            <a:ext cx="10450520" cy="2862322"/>
          </a:xfrm>
          <a:prstGeom prst="rect">
            <a:avLst/>
          </a:prstGeom>
          <a:noFill/>
        </p:spPr>
        <p:txBody>
          <a:bodyPr wrap="square">
            <a:spAutoFit/>
          </a:bodyPr>
          <a:lstStyle/>
          <a:p>
            <a:pPr algn="just"/>
            <a:r>
              <a:rPr lang="en-GB" sz="2000" dirty="0">
                <a:latin typeface="Times New Roman" panose="02020603050405020304" pitchFamily="18" charset="0"/>
                <a:cs typeface="Times New Roman" panose="02020603050405020304" pitchFamily="18" charset="0"/>
              </a:rPr>
              <a:t>With addition of new features – </a:t>
            </a: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Case1: R</a:t>
            </a:r>
            <a:r>
              <a:rPr lang="en-GB" sz="2000" baseline="30000" dirty="0">
                <a:latin typeface="Times New Roman" panose="02020603050405020304" pitchFamily="18" charset="0"/>
                <a:cs typeface="Times New Roman" panose="02020603050405020304" pitchFamily="18" charset="0"/>
              </a:rPr>
              <a:t>2</a:t>
            </a:r>
            <a:r>
              <a:rPr lang="en-GB" sz="2000" dirty="0">
                <a:latin typeface="Times New Roman" panose="02020603050405020304" pitchFamily="18" charset="0"/>
                <a:cs typeface="Times New Roman" panose="02020603050405020304" pitchFamily="18" charset="0"/>
              </a:rPr>
              <a:t> remains same –  Adjusted R</a:t>
            </a:r>
            <a:r>
              <a:rPr lang="en-GB" sz="2000" baseline="30000" dirty="0">
                <a:latin typeface="Times New Roman" panose="02020603050405020304" pitchFamily="18" charset="0"/>
                <a:cs typeface="Times New Roman" panose="02020603050405020304" pitchFamily="18" charset="0"/>
              </a:rPr>
              <a:t>2</a:t>
            </a:r>
            <a:r>
              <a:rPr lang="en-GB" sz="2000" dirty="0">
                <a:latin typeface="Times New Roman" panose="02020603050405020304" pitchFamily="18" charset="0"/>
                <a:cs typeface="Times New Roman" panose="02020603050405020304" pitchFamily="18" charset="0"/>
              </a:rPr>
              <a:t> decreases.</a:t>
            </a:r>
          </a:p>
          <a:p>
            <a:pPr marL="342900"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Case2: R</a:t>
            </a:r>
            <a:r>
              <a:rPr lang="en-GB" sz="2000" baseline="30000" dirty="0">
                <a:latin typeface="Times New Roman" panose="02020603050405020304" pitchFamily="18" charset="0"/>
                <a:cs typeface="Times New Roman" panose="02020603050405020304" pitchFamily="18" charset="0"/>
              </a:rPr>
              <a:t>2</a:t>
            </a:r>
            <a:r>
              <a:rPr lang="en-GB" sz="2000" dirty="0">
                <a:latin typeface="Times New Roman" panose="02020603050405020304" pitchFamily="18" charset="0"/>
                <a:cs typeface="Times New Roman" panose="02020603050405020304" pitchFamily="18" charset="0"/>
              </a:rPr>
              <a:t> increases</a:t>
            </a:r>
          </a:p>
          <a:p>
            <a:pPr marL="800100" lvl="1"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IF new feature is relevant then the magnitude of increase in R2 will be more and Adjusted R</a:t>
            </a:r>
            <a:r>
              <a:rPr lang="en-GB" sz="2000" baseline="30000" dirty="0">
                <a:latin typeface="Times New Roman" panose="02020603050405020304" pitchFamily="18" charset="0"/>
                <a:cs typeface="Times New Roman" panose="02020603050405020304" pitchFamily="18" charset="0"/>
              </a:rPr>
              <a:t>2</a:t>
            </a:r>
            <a:r>
              <a:rPr lang="en-GB" sz="2000" dirty="0">
                <a:latin typeface="Times New Roman" panose="02020603050405020304" pitchFamily="18" charset="0"/>
                <a:cs typeface="Times New Roman" panose="02020603050405020304" pitchFamily="18" charset="0"/>
              </a:rPr>
              <a:t> increases.</a:t>
            </a:r>
          </a:p>
          <a:p>
            <a:pPr marL="800100" lvl="1" indent="-342900" algn="just">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IF new feature is irrelevant then the magnitude of increase in R2 will be very tiny compared to the decrease in the denominator that would eventually increase the fraction and Adjusted R</a:t>
            </a:r>
            <a:r>
              <a:rPr lang="en-GB" sz="2000" baseline="30000" dirty="0">
                <a:latin typeface="Times New Roman" panose="02020603050405020304" pitchFamily="18" charset="0"/>
                <a:cs typeface="Times New Roman" panose="02020603050405020304" pitchFamily="18" charset="0"/>
              </a:rPr>
              <a:t>2</a:t>
            </a:r>
            <a:r>
              <a:rPr lang="en-GB" sz="2000" dirty="0">
                <a:latin typeface="Times New Roman" panose="02020603050405020304" pitchFamily="18" charset="0"/>
                <a:cs typeface="Times New Roman" panose="02020603050405020304" pitchFamily="18" charset="0"/>
              </a:rPr>
              <a:t> will decrease.</a:t>
            </a:r>
          </a:p>
          <a:p>
            <a:pPr marL="342900" indent="-342900" algn="just">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86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29DD1-A9F9-B9E8-37AD-85CB4870761F}"/>
              </a:ext>
            </a:extLst>
          </p:cNvPr>
          <p:cNvSpPr>
            <a:spLocks noGrp="1"/>
          </p:cNvSpPr>
          <p:nvPr>
            <p:ph type="title"/>
          </p:nvPr>
        </p:nvSpPr>
        <p:spPr/>
        <p:txBody>
          <a:bodyPr/>
          <a:lstStyle/>
          <a:p>
            <a:r>
              <a:rPr lang="en-IN" dirty="0"/>
              <a:t>Classification Metrics</a:t>
            </a:r>
          </a:p>
        </p:txBody>
      </p:sp>
      <p:sp>
        <p:nvSpPr>
          <p:cNvPr id="3" name="Content Placeholder 2">
            <a:extLst>
              <a:ext uri="{FF2B5EF4-FFF2-40B4-BE49-F238E27FC236}">
                <a16:creationId xmlns:a16="http://schemas.microsoft.com/office/drawing/2014/main" id="{2122D56A-EDBE-0EA7-553F-2F8062111393}"/>
              </a:ext>
            </a:extLst>
          </p:cNvPr>
          <p:cNvSpPr>
            <a:spLocks noGrp="1"/>
          </p:cNvSpPr>
          <p:nvPr>
            <p:ph idx="1"/>
          </p:nvPr>
        </p:nvSpPr>
        <p:spPr/>
        <p:txBody>
          <a:bodyPr/>
          <a:lstStyle/>
          <a:p>
            <a:r>
              <a:rPr lang="en-IN" dirty="0"/>
              <a:t>Accuracy</a:t>
            </a:r>
          </a:p>
          <a:p>
            <a:r>
              <a:rPr lang="en-IN" dirty="0"/>
              <a:t>Precision </a:t>
            </a:r>
          </a:p>
          <a:p>
            <a:r>
              <a:rPr lang="en-IN" dirty="0"/>
              <a:t>Recall</a:t>
            </a:r>
          </a:p>
          <a:p>
            <a:r>
              <a:rPr lang="en-IN" dirty="0"/>
              <a:t>F1 Score</a:t>
            </a:r>
          </a:p>
          <a:p>
            <a:r>
              <a:rPr lang="en-IN" dirty="0"/>
              <a:t>AUC-ROC</a:t>
            </a:r>
          </a:p>
          <a:p>
            <a:endParaRPr lang="en-IN" dirty="0"/>
          </a:p>
        </p:txBody>
      </p:sp>
    </p:spTree>
    <p:extLst>
      <p:ext uri="{BB962C8B-B14F-4D97-AF65-F5344CB8AC3E}">
        <p14:creationId xmlns:p14="http://schemas.microsoft.com/office/powerpoint/2010/main" val="2771902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1C14-2D21-40D0-77FA-2F86DD8AE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E8392-1911-BF93-4CEC-47E4A99DFA91}"/>
              </a:ext>
            </a:extLst>
          </p:cNvPr>
          <p:cNvSpPr>
            <a:spLocks noGrp="1"/>
          </p:cNvSpPr>
          <p:nvPr>
            <p:ph type="title"/>
          </p:nvPr>
        </p:nvSpPr>
        <p:spPr/>
        <p:txBody>
          <a:bodyPr/>
          <a:lstStyle/>
          <a:p>
            <a:r>
              <a:rPr lang="en-IN" dirty="0"/>
              <a:t>Classification Metrics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263C2-1224-0689-0DC7-F64960C04A4C}"/>
                  </a:ext>
                </a:extLst>
              </p:cNvPr>
              <p:cNvSpPr>
                <a:spLocks noGrp="1"/>
              </p:cNvSpPr>
              <p:nvPr>
                <p:ph idx="1"/>
              </p:nvPr>
            </p:nvSpPr>
            <p:spPr>
              <a:xfrm>
                <a:off x="480847" y="969579"/>
                <a:ext cx="5462753" cy="909704"/>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r>
                        <a:rPr lang="en-IN" sz="2400" i="1" smtClean="0">
                          <a:solidFill>
                            <a:schemeClr val="accent4"/>
                          </a:solidFill>
                          <a:latin typeface="Cambria Math" panose="02040503050406030204" pitchFamily="18" charset="0"/>
                        </a:rPr>
                        <m:t>𝐴</m:t>
                      </m:r>
                      <m:r>
                        <a:rPr lang="en-IN" sz="2400" b="0" i="1" smtClean="0">
                          <a:solidFill>
                            <a:schemeClr val="accent4"/>
                          </a:solidFill>
                          <a:latin typeface="Cambria Math" panose="02040503050406030204" pitchFamily="18" charset="0"/>
                        </a:rPr>
                        <m:t>𝑐𝑐𝑢𝑟𝑎𝑐𝑦</m:t>
                      </m:r>
                      <m:r>
                        <a:rPr lang="en-IN" sz="2400" i="1" smtClean="0">
                          <a:solidFill>
                            <a:schemeClr val="accent4"/>
                          </a:solidFill>
                          <a:latin typeface="Cambria Math" panose="02040503050406030204" pitchFamily="18" charset="0"/>
                        </a:rPr>
                        <m:t>=</m:t>
                      </m:r>
                      <m:f>
                        <m:fPr>
                          <m:ctrlPr>
                            <a:rPr lang="en-IN" sz="2400" i="1" smtClean="0">
                              <a:solidFill>
                                <a:schemeClr val="accent4"/>
                              </a:solidFill>
                              <a:latin typeface="Cambria Math" panose="02040503050406030204" pitchFamily="18" charset="0"/>
                            </a:rPr>
                          </m:ctrlPr>
                        </m:fPr>
                        <m:num>
                          <m:r>
                            <a:rPr lang="en-IN" sz="2400" b="0" i="1" smtClean="0">
                              <a:solidFill>
                                <a:schemeClr val="accent4"/>
                              </a:solidFill>
                              <a:latin typeface="Cambria Math" panose="02040503050406030204" pitchFamily="18" charset="0"/>
                            </a:rPr>
                            <m:t>𝑁𝑜</m:t>
                          </m:r>
                          <m:r>
                            <a:rPr lang="en-IN" sz="2400" b="0" i="1" smtClean="0">
                              <a:solidFill>
                                <a:schemeClr val="accent4"/>
                              </a:solidFill>
                              <a:latin typeface="Cambria Math" panose="02040503050406030204" pitchFamily="18" charset="0"/>
                            </a:rPr>
                            <m:t>. </m:t>
                          </m:r>
                          <m:r>
                            <a:rPr lang="en-IN" sz="2400" b="0" i="1" smtClean="0">
                              <a:solidFill>
                                <a:schemeClr val="accent4"/>
                              </a:solidFill>
                              <a:latin typeface="Cambria Math" panose="02040503050406030204" pitchFamily="18" charset="0"/>
                            </a:rPr>
                            <m:t>𝑜𝑓</m:t>
                          </m:r>
                          <m:r>
                            <a:rPr lang="en-IN" sz="2400" b="0" i="1" smtClean="0">
                              <a:solidFill>
                                <a:schemeClr val="accent4"/>
                              </a:solidFill>
                              <a:latin typeface="Cambria Math" panose="02040503050406030204" pitchFamily="18" charset="0"/>
                            </a:rPr>
                            <m:t> </m:t>
                          </m:r>
                          <m:r>
                            <a:rPr lang="en-IN" sz="2400" b="0" i="1" smtClean="0">
                              <a:solidFill>
                                <a:schemeClr val="accent4"/>
                              </a:solidFill>
                              <a:latin typeface="Cambria Math" panose="02040503050406030204" pitchFamily="18" charset="0"/>
                            </a:rPr>
                            <m:t>𝑐𝑜𝑟𝑟𝑒𝑐𝑡</m:t>
                          </m:r>
                          <m:r>
                            <a:rPr lang="en-IN" sz="2400" b="0" i="1" smtClean="0">
                              <a:solidFill>
                                <a:schemeClr val="accent4"/>
                              </a:solidFill>
                              <a:latin typeface="Cambria Math" panose="02040503050406030204" pitchFamily="18" charset="0"/>
                            </a:rPr>
                            <m:t> </m:t>
                          </m:r>
                          <m:r>
                            <a:rPr lang="en-IN" sz="2400" b="0" i="1" smtClean="0">
                              <a:solidFill>
                                <a:schemeClr val="accent4"/>
                              </a:solidFill>
                              <a:latin typeface="Cambria Math" panose="02040503050406030204" pitchFamily="18" charset="0"/>
                            </a:rPr>
                            <m:t>𝑝𝑟𝑒𝑑𝑖𝑐𝑡𝑖𝑜𝑛𝑠</m:t>
                          </m:r>
                        </m:num>
                        <m:den>
                          <m:r>
                            <a:rPr lang="en-IN" sz="2400" b="0" i="1" smtClean="0">
                              <a:solidFill>
                                <a:schemeClr val="accent4"/>
                              </a:solidFill>
                              <a:latin typeface="Cambria Math" panose="02040503050406030204" pitchFamily="18" charset="0"/>
                            </a:rPr>
                            <m:t>𝑇𝑜𝑡𝑎𝑙</m:t>
                          </m:r>
                          <m:r>
                            <a:rPr lang="en-IN" sz="2400" b="0" i="1" smtClean="0">
                              <a:solidFill>
                                <a:schemeClr val="accent4"/>
                              </a:solidFill>
                              <a:latin typeface="Cambria Math" panose="02040503050406030204" pitchFamily="18" charset="0"/>
                            </a:rPr>
                            <m:t> </m:t>
                          </m:r>
                          <m:r>
                            <a:rPr lang="en-IN" sz="2400" b="0" i="1" smtClean="0">
                              <a:solidFill>
                                <a:schemeClr val="accent4"/>
                              </a:solidFill>
                              <a:latin typeface="Cambria Math" panose="02040503050406030204" pitchFamily="18" charset="0"/>
                            </a:rPr>
                            <m:t>𝑛𝑜</m:t>
                          </m:r>
                          <m:r>
                            <a:rPr lang="en-IN" sz="2400" b="0" i="1" smtClean="0">
                              <a:solidFill>
                                <a:schemeClr val="accent4"/>
                              </a:solidFill>
                              <a:latin typeface="Cambria Math" panose="02040503050406030204" pitchFamily="18" charset="0"/>
                            </a:rPr>
                            <m:t>. </m:t>
                          </m:r>
                          <m:r>
                            <a:rPr lang="en-IN" sz="2400" b="0" i="1" smtClean="0">
                              <a:solidFill>
                                <a:schemeClr val="accent4"/>
                              </a:solidFill>
                              <a:latin typeface="Cambria Math" panose="02040503050406030204" pitchFamily="18" charset="0"/>
                            </a:rPr>
                            <m:t>𝑜𝑓</m:t>
                          </m:r>
                          <m:r>
                            <a:rPr lang="en-IN" sz="2400" b="0" i="1" smtClean="0">
                              <a:solidFill>
                                <a:schemeClr val="accent4"/>
                              </a:solidFill>
                              <a:latin typeface="Cambria Math" panose="02040503050406030204" pitchFamily="18" charset="0"/>
                            </a:rPr>
                            <m:t> </m:t>
                          </m:r>
                          <m:r>
                            <a:rPr lang="en-IN" sz="2400" b="0" i="1" smtClean="0">
                              <a:solidFill>
                                <a:schemeClr val="accent4"/>
                              </a:solidFill>
                              <a:latin typeface="Cambria Math" panose="02040503050406030204" pitchFamily="18" charset="0"/>
                            </a:rPr>
                            <m:t>𝑝𝑟𝑒𝑑𝑖𝑐𝑡𝑖𝑜𝑛𝑠</m:t>
                          </m:r>
                        </m:den>
                      </m:f>
                    </m:oMath>
                  </m:oMathPara>
                </a14:m>
                <a:endParaRPr lang="en-IN" sz="2400" dirty="0">
                  <a:solidFill>
                    <a:schemeClr val="accent4"/>
                  </a:solidFill>
                </a:endParaRPr>
              </a:p>
              <a:p>
                <a:endParaRPr lang="en-IN" sz="2400" dirty="0"/>
              </a:p>
            </p:txBody>
          </p:sp>
        </mc:Choice>
        <mc:Fallback xmlns="">
          <p:sp>
            <p:nvSpPr>
              <p:cNvPr id="3" name="Content Placeholder 2">
                <a:extLst>
                  <a:ext uri="{FF2B5EF4-FFF2-40B4-BE49-F238E27FC236}">
                    <a16:creationId xmlns:a16="http://schemas.microsoft.com/office/drawing/2014/main" id="{AE0263C2-1224-0689-0DC7-F64960C04A4C}"/>
                  </a:ext>
                </a:extLst>
              </p:cNvPr>
              <p:cNvSpPr>
                <a:spLocks noGrp="1" noRot="1" noChangeAspect="1" noMove="1" noResize="1" noEditPoints="1" noAdjustHandles="1" noChangeArrowheads="1" noChangeShapeType="1" noTextEdit="1"/>
              </p:cNvSpPr>
              <p:nvPr>
                <p:ph idx="1"/>
              </p:nvPr>
            </p:nvSpPr>
            <p:spPr>
              <a:xfrm>
                <a:off x="480847" y="969579"/>
                <a:ext cx="5462753" cy="909704"/>
              </a:xfrm>
              <a:blipFill>
                <a:blip r:embed="rId2"/>
                <a:stretch>
                  <a:fillRect/>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C85A3E99-1A45-FCD5-0BAA-252898C1C5A7}"/>
              </a:ext>
            </a:extLst>
          </p:cNvPr>
          <p:cNvGraphicFramePr>
            <a:graphicFrameLocks noGrp="1"/>
          </p:cNvGraphicFramePr>
          <p:nvPr>
            <p:extLst>
              <p:ext uri="{D42A27DB-BD31-4B8C-83A1-F6EECF244321}">
                <p14:modId xmlns:p14="http://schemas.microsoft.com/office/powerpoint/2010/main" val="2558513100"/>
              </p:ext>
            </p:extLst>
          </p:nvPr>
        </p:nvGraphicFramePr>
        <p:xfrm>
          <a:off x="8188545" y="914395"/>
          <a:ext cx="2850930" cy="4297680"/>
        </p:xfrm>
        <a:graphic>
          <a:graphicData uri="http://schemas.openxmlformats.org/drawingml/2006/table">
            <a:tbl>
              <a:tblPr firstRow="1" bandRow="1">
                <a:tableStyleId>{21E4AEA4-8DFA-4A89-87EB-49C32662AFE0}</a:tableStyleId>
              </a:tblPr>
              <a:tblGrid>
                <a:gridCol w="1425465">
                  <a:extLst>
                    <a:ext uri="{9D8B030D-6E8A-4147-A177-3AD203B41FA5}">
                      <a16:colId xmlns:a16="http://schemas.microsoft.com/office/drawing/2014/main" val="1222610822"/>
                    </a:ext>
                  </a:extLst>
                </a:gridCol>
                <a:gridCol w="1425465">
                  <a:extLst>
                    <a:ext uri="{9D8B030D-6E8A-4147-A177-3AD203B41FA5}">
                      <a16:colId xmlns:a16="http://schemas.microsoft.com/office/drawing/2014/main" val="2241344791"/>
                    </a:ext>
                  </a:extLst>
                </a:gridCol>
              </a:tblGrid>
              <a:tr h="358538">
                <a:tc>
                  <a:txBody>
                    <a:bodyPr/>
                    <a:lstStyle/>
                    <a:p>
                      <a:pPr algn="ctr"/>
                      <a:r>
                        <a:rPr lang="en-IN" dirty="0"/>
                        <a:t>Actual Label</a:t>
                      </a:r>
                    </a:p>
                  </a:txBody>
                  <a:tcPr/>
                </a:tc>
                <a:tc>
                  <a:txBody>
                    <a:bodyPr/>
                    <a:lstStyle/>
                    <a:p>
                      <a:pPr algn="ctr"/>
                      <a:r>
                        <a:rPr lang="en-IN" dirty="0"/>
                        <a:t>Predicted Label</a:t>
                      </a:r>
                    </a:p>
                  </a:txBody>
                  <a:tcPr/>
                </a:tc>
                <a:extLst>
                  <a:ext uri="{0D108BD9-81ED-4DB2-BD59-A6C34878D82A}">
                    <a16:rowId xmlns:a16="http://schemas.microsoft.com/office/drawing/2014/main" val="3055462430"/>
                  </a:ext>
                </a:extLst>
              </a:tr>
              <a:tr h="358538">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2109403286"/>
                  </a:ext>
                </a:extLst>
              </a:tr>
              <a:tr h="358538">
                <a:tc>
                  <a:txBody>
                    <a:bodyPr/>
                    <a:lstStyle/>
                    <a:p>
                      <a:pPr algn="ctr"/>
                      <a:r>
                        <a:rPr lang="en-IN" dirty="0">
                          <a:solidFill>
                            <a:srgbClr val="FF0000"/>
                          </a:solidFill>
                        </a:rPr>
                        <a:t>0</a:t>
                      </a:r>
                    </a:p>
                  </a:txBody>
                  <a:tcPr/>
                </a:tc>
                <a:tc>
                  <a:txBody>
                    <a:bodyPr/>
                    <a:lstStyle/>
                    <a:p>
                      <a:pPr algn="ctr"/>
                      <a:r>
                        <a:rPr lang="en-IN" dirty="0">
                          <a:solidFill>
                            <a:srgbClr val="FF0000"/>
                          </a:solidFill>
                        </a:rPr>
                        <a:t>1</a:t>
                      </a:r>
                    </a:p>
                  </a:txBody>
                  <a:tcPr/>
                </a:tc>
                <a:extLst>
                  <a:ext uri="{0D108BD9-81ED-4DB2-BD59-A6C34878D82A}">
                    <a16:rowId xmlns:a16="http://schemas.microsoft.com/office/drawing/2014/main" val="878892881"/>
                  </a:ext>
                </a:extLst>
              </a:tr>
              <a:tr h="358538">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3585655673"/>
                  </a:ext>
                </a:extLst>
              </a:tr>
              <a:tr h="358538">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3241352942"/>
                  </a:ext>
                </a:extLst>
              </a:tr>
              <a:tr h="358538">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3538833980"/>
                  </a:ext>
                </a:extLst>
              </a:tr>
              <a:tr h="358538">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2980861508"/>
                  </a:ext>
                </a:extLst>
              </a:tr>
              <a:tr h="358538">
                <a:tc>
                  <a:txBody>
                    <a:bodyPr/>
                    <a:lstStyle/>
                    <a:p>
                      <a:pPr algn="ctr"/>
                      <a:r>
                        <a:rPr lang="en-IN" dirty="0">
                          <a:solidFill>
                            <a:srgbClr val="FF0000"/>
                          </a:solidFill>
                        </a:rPr>
                        <a:t>1</a:t>
                      </a:r>
                    </a:p>
                  </a:txBody>
                  <a:tcPr/>
                </a:tc>
                <a:tc>
                  <a:txBody>
                    <a:bodyPr/>
                    <a:lstStyle/>
                    <a:p>
                      <a:pPr algn="ctr"/>
                      <a:r>
                        <a:rPr lang="en-IN" dirty="0">
                          <a:solidFill>
                            <a:srgbClr val="FF0000"/>
                          </a:solidFill>
                        </a:rPr>
                        <a:t>0</a:t>
                      </a:r>
                    </a:p>
                  </a:txBody>
                  <a:tcPr/>
                </a:tc>
                <a:extLst>
                  <a:ext uri="{0D108BD9-81ED-4DB2-BD59-A6C34878D82A}">
                    <a16:rowId xmlns:a16="http://schemas.microsoft.com/office/drawing/2014/main" val="3591885830"/>
                  </a:ext>
                </a:extLst>
              </a:tr>
              <a:tr h="358538">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352370353"/>
                  </a:ext>
                </a:extLst>
              </a:tr>
              <a:tr h="358538">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3359193166"/>
                  </a:ext>
                </a:extLst>
              </a:tr>
              <a:tr h="358538">
                <a:tc>
                  <a:txBody>
                    <a:bodyPr/>
                    <a:lstStyle/>
                    <a:p>
                      <a:pPr algn="ctr"/>
                      <a:r>
                        <a:rPr lang="en-IN" dirty="0"/>
                        <a:t>1</a:t>
                      </a:r>
                    </a:p>
                  </a:txBody>
                  <a:tcPr/>
                </a:tc>
                <a:tc>
                  <a:txBody>
                    <a:bodyPr/>
                    <a:lstStyle/>
                    <a:p>
                      <a:pPr algn="ctr"/>
                      <a:r>
                        <a:rPr lang="en-IN" dirty="0"/>
                        <a:t>1</a:t>
                      </a:r>
                    </a:p>
                  </a:txBody>
                  <a:tcPr/>
                </a:tc>
                <a:extLst>
                  <a:ext uri="{0D108BD9-81ED-4DB2-BD59-A6C34878D82A}">
                    <a16:rowId xmlns:a16="http://schemas.microsoft.com/office/drawing/2014/main" val="2086375305"/>
                  </a:ext>
                </a:extLst>
              </a:tr>
            </a:tbl>
          </a:graphicData>
        </a:graphic>
      </p:graphicFrame>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8F05C2BA-75ED-AFC5-A51A-388B577A1E31}"/>
                  </a:ext>
                </a:extLst>
              </p:cNvPr>
              <p:cNvSpPr txBox="1">
                <a:spLocks/>
              </p:cNvSpPr>
              <p:nvPr/>
            </p:nvSpPr>
            <p:spPr>
              <a:xfrm>
                <a:off x="676275" y="1879282"/>
                <a:ext cx="7210425" cy="42976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IN" sz="2400" i="1" smtClean="0">
                        <a:solidFill>
                          <a:schemeClr val="tx1"/>
                        </a:solidFill>
                        <a:latin typeface="Cambria Math" panose="02040503050406030204" pitchFamily="18" charset="0"/>
                      </a:rPr>
                      <m:t>𝐴𝑐𝑐𝑢𝑟𝑎𝑐𝑦</m:t>
                    </m:r>
                    <m:r>
                      <a:rPr lang="en-IN" sz="2400" i="1" smtClean="0">
                        <a:solidFill>
                          <a:schemeClr val="tx1"/>
                        </a:solidFill>
                        <a:latin typeface="Cambria Math" panose="02040503050406030204" pitchFamily="18" charset="0"/>
                      </a:rPr>
                      <m:t>=</m:t>
                    </m:r>
                    <m:f>
                      <m:fPr>
                        <m:ctrlPr>
                          <a:rPr lang="en-IN" sz="2400" i="1" smtClean="0">
                            <a:solidFill>
                              <a:schemeClr val="tx1"/>
                            </a:solidFill>
                            <a:latin typeface="Cambria Math" panose="02040503050406030204" pitchFamily="18" charset="0"/>
                          </a:rPr>
                        </m:ctrlPr>
                      </m:fPr>
                      <m:num>
                        <m:r>
                          <a:rPr lang="en-IN" sz="2400" b="0" i="1" smtClean="0">
                            <a:solidFill>
                              <a:schemeClr val="tx1"/>
                            </a:solidFill>
                            <a:latin typeface="Cambria Math" panose="02040503050406030204" pitchFamily="18" charset="0"/>
                          </a:rPr>
                          <m:t>8</m:t>
                        </m:r>
                      </m:num>
                      <m:den>
                        <m:r>
                          <a:rPr lang="en-IN" sz="2400" b="0" i="1" smtClean="0">
                            <a:solidFill>
                              <a:schemeClr val="tx1"/>
                            </a:solidFill>
                            <a:latin typeface="Cambria Math" panose="02040503050406030204" pitchFamily="18" charset="0"/>
                          </a:rPr>
                          <m:t>10</m:t>
                        </m:r>
                      </m:den>
                    </m:f>
                    <m:r>
                      <a:rPr lang="en-IN" sz="2400" b="0" i="1" smtClean="0">
                        <a:solidFill>
                          <a:schemeClr val="tx1"/>
                        </a:solidFill>
                        <a:latin typeface="Cambria Math" panose="02040503050406030204" pitchFamily="18" charset="0"/>
                      </a:rPr>
                      <m:t>=80%</m:t>
                    </m:r>
                  </m:oMath>
                </a14:m>
                <a:endParaRPr lang="en-IN" sz="2400" b="0" dirty="0">
                  <a:solidFill>
                    <a:schemeClr val="tx1"/>
                  </a:solidFill>
                </a:endParaRPr>
              </a:p>
              <a:p>
                <a:r>
                  <a:rPr lang="en-IN" sz="2400" dirty="0">
                    <a:solidFill>
                      <a:schemeClr val="tx1"/>
                    </a:solidFill>
                  </a:rPr>
                  <a:t>How much Accuracy is good?</a:t>
                </a:r>
              </a:p>
              <a:p>
                <a:pPr lvl="1">
                  <a:buFont typeface="Wingdings" panose="05000000000000000000" pitchFamily="2" charset="2"/>
                  <a:buChar char="§"/>
                </a:pPr>
                <a:r>
                  <a:rPr lang="en-IN" sz="2000" dirty="0"/>
                  <a:t>98% accuracy for cancer prediction is too low</a:t>
                </a:r>
              </a:p>
              <a:p>
                <a:pPr lvl="1">
                  <a:buFont typeface="Wingdings" panose="05000000000000000000" pitchFamily="2" charset="2"/>
                  <a:buChar char="§"/>
                </a:pPr>
                <a:r>
                  <a:rPr lang="en-IN" sz="2000" dirty="0">
                    <a:solidFill>
                      <a:schemeClr val="tx1"/>
                    </a:solidFill>
                  </a:rPr>
                  <a:t>90% accuracy </a:t>
                </a:r>
                <a:r>
                  <a:rPr lang="en-IN" sz="2000" dirty="0"/>
                  <a:t>for predicting if a customer will order the certain items or not, is acceptable.</a:t>
                </a:r>
                <a:endParaRPr lang="en-IN" sz="2000" dirty="0">
                  <a:solidFill>
                    <a:schemeClr val="tx1"/>
                  </a:solidFill>
                </a:endParaRPr>
              </a:p>
              <a:p>
                <a:r>
                  <a:rPr lang="en-IN" sz="2400" dirty="0" err="1"/>
                  <a:t>Disadv</a:t>
                </a:r>
                <a:r>
                  <a:rPr lang="en-IN" sz="2400" dirty="0"/>
                  <a:t>:</a:t>
                </a:r>
              </a:p>
              <a:p>
                <a:pPr lvl="1"/>
                <a:r>
                  <a:rPr lang="en-IN" sz="2000" dirty="0"/>
                  <a:t>Doesn’t say anything about nature of errors.</a:t>
                </a:r>
              </a:p>
              <a:p>
                <a:pPr lvl="1"/>
                <a:r>
                  <a:rPr lang="en-IN" sz="2000" dirty="0"/>
                  <a:t>May be misleading for class imbalance problems</a:t>
                </a:r>
              </a:p>
              <a:p>
                <a:pPr lvl="2"/>
                <a:r>
                  <a:rPr lang="en-IN" sz="1600" dirty="0"/>
                  <a:t>If the dataset contains only 1% positive examples then a random model that always gives “No” as default output will have accuracy 99%. </a:t>
                </a:r>
              </a:p>
            </p:txBody>
          </p:sp>
        </mc:Choice>
        <mc:Fallback xmlns="">
          <p:sp>
            <p:nvSpPr>
              <p:cNvPr id="5" name="Content Placeholder 2">
                <a:extLst>
                  <a:ext uri="{FF2B5EF4-FFF2-40B4-BE49-F238E27FC236}">
                    <a16:creationId xmlns:a16="http://schemas.microsoft.com/office/drawing/2014/main" id="{8F05C2BA-75ED-AFC5-A51A-388B577A1E31}"/>
                  </a:ext>
                </a:extLst>
              </p:cNvPr>
              <p:cNvSpPr txBox="1">
                <a:spLocks noRot="1" noChangeAspect="1" noMove="1" noResize="1" noEditPoints="1" noAdjustHandles="1" noChangeArrowheads="1" noChangeShapeType="1" noTextEdit="1"/>
              </p:cNvSpPr>
              <p:nvPr/>
            </p:nvSpPr>
            <p:spPr>
              <a:xfrm>
                <a:off x="676275" y="1879282"/>
                <a:ext cx="7210425" cy="4297680"/>
              </a:xfrm>
              <a:prstGeom prst="rect">
                <a:avLst/>
              </a:prstGeom>
              <a:blipFill>
                <a:blip r:embed="rId3"/>
                <a:stretch>
                  <a:fillRect l="-1183" r="-169"/>
                </a:stretch>
              </a:blipFill>
            </p:spPr>
            <p:txBody>
              <a:bodyPr/>
              <a:lstStyle/>
              <a:p>
                <a:r>
                  <a:rPr lang="en-IN">
                    <a:noFill/>
                  </a:rPr>
                  <a:t> </a:t>
                </a:r>
              </a:p>
            </p:txBody>
          </p:sp>
        </mc:Fallback>
      </mc:AlternateContent>
    </p:spTree>
    <p:extLst>
      <p:ext uri="{BB962C8B-B14F-4D97-AF65-F5344CB8AC3E}">
        <p14:creationId xmlns:p14="http://schemas.microsoft.com/office/powerpoint/2010/main" val="4258135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58EB8-789D-240C-E899-2B9C2F9CE922}"/>
              </a:ext>
            </a:extLst>
          </p:cNvPr>
          <p:cNvSpPr>
            <a:spLocks noGrp="1"/>
          </p:cNvSpPr>
          <p:nvPr>
            <p:ph type="title"/>
          </p:nvPr>
        </p:nvSpPr>
        <p:spPr/>
        <p:txBody>
          <a:bodyPr/>
          <a:lstStyle/>
          <a:p>
            <a:r>
              <a:rPr lang="en-IN" dirty="0"/>
              <a:t>Classification Metrics</a:t>
            </a:r>
          </a:p>
        </p:txBody>
      </p:sp>
      <p:graphicFrame>
        <p:nvGraphicFramePr>
          <p:cNvPr id="5" name="Table 4">
            <a:extLst>
              <a:ext uri="{FF2B5EF4-FFF2-40B4-BE49-F238E27FC236}">
                <a16:creationId xmlns:a16="http://schemas.microsoft.com/office/drawing/2014/main" id="{948536BF-51FF-3DE7-1108-35B1F0BBC118}"/>
              </a:ext>
            </a:extLst>
          </p:cNvPr>
          <p:cNvGraphicFramePr>
            <a:graphicFrameLocks noGrp="1"/>
          </p:cNvGraphicFramePr>
          <p:nvPr>
            <p:extLst>
              <p:ext uri="{D42A27DB-BD31-4B8C-83A1-F6EECF244321}">
                <p14:modId xmlns:p14="http://schemas.microsoft.com/office/powerpoint/2010/main" val="412318066"/>
              </p:ext>
            </p:extLst>
          </p:nvPr>
        </p:nvGraphicFramePr>
        <p:xfrm>
          <a:off x="7805792" y="1191608"/>
          <a:ext cx="3768726" cy="3082938"/>
        </p:xfrm>
        <a:graphic>
          <a:graphicData uri="http://schemas.openxmlformats.org/drawingml/2006/table">
            <a:tbl>
              <a:tblPr firstRow="1" bandRow="1">
                <a:tableStyleId>{5940675A-B579-460E-94D1-54222C63F5DA}</a:tableStyleId>
              </a:tblPr>
              <a:tblGrid>
                <a:gridCol w="1884363">
                  <a:extLst>
                    <a:ext uri="{9D8B030D-6E8A-4147-A177-3AD203B41FA5}">
                      <a16:colId xmlns:a16="http://schemas.microsoft.com/office/drawing/2014/main" val="790990858"/>
                    </a:ext>
                  </a:extLst>
                </a:gridCol>
                <a:gridCol w="1884363">
                  <a:extLst>
                    <a:ext uri="{9D8B030D-6E8A-4147-A177-3AD203B41FA5}">
                      <a16:colId xmlns:a16="http://schemas.microsoft.com/office/drawing/2014/main" val="2480158943"/>
                    </a:ext>
                  </a:extLst>
                </a:gridCol>
              </a:tblGrid>
              <a:tr h="1541469">
                <a:tc>
                  <a:txBody>
                    <a:bodyPr/>
                    <a:lstStyle/>
                    <a:p>
                      <a:pPr algn="ctr"/>
                      <a:r>
                        <a:rPr lang="en-IN" dirty="0"/>
                        <a:t>True Positive</a:t>
                      </a:r>
                    </a:p>
                    <a:p>
                      <a:pPr algn="ctr"/>
                      <a:r>
                        <a:rPr lang="en-IN" dirty="0"/>
                        <a:t>(TP)</a:t>
                      </a:r>
                    </a:p>
                  </a:txBody>
                  <a:tcPr anchor="ctr">
                    <a:solidFill>
                      <a:schemeClr val="accent3">
                        <a:lumMod val="40000"/>
                        <a:lumOff val="60000"/>
                      </a:schemeClr>
                    </a:solidFill>
                  </a:tcPr>
                </a:tc>
                <a:tc>
                  <a:txBody>
                    <a:bodyPr/>
                    <a:lstStyle/>
                    <a:p>
                      <a:pPr algn="ctr"/>
                      <a:r>
                        <a:rPr lang="en-IN" dirty="0"/>
                        <a:t>False Negative</a:t>
                      </a:r>
                    </a:p>
                    <a:p>
                      <a:pPr algn="ctr"/>
                      <a:r>
                        <a:rPr lang="en-IN" dirty="0"/>
                        <a:t>(FN)</a:t>
                      </a:r>
                    </a:p>
                  </a:txBody>
                  <a:tcPr anchor="ctr">
                    <a:solidFill>
                      <a:schemeClr val="accent2">
                        <a:lumMod val="60000"/>
                        <a:lumOff val="40000"/>
                      </a:schemeClr>
                    </a:solidFill>
                  </a:tcPr>
                </a:tc>
                <a:extLst>
                  <a:ext uri="{0D108BD9-81ED-4DB2-BD59-A6C34878D82A}">
                    <a16:rowId xmlns:a16="http://schemas.microsoft.com/office/drawing/2014/main" val="297487501"/>
                  </a:ext>
                </a:extLst>
              </a:tr>
              <a:tr h="1541469">
                <a:tc>
                  <a:txBody>
                    <a:bodyPr/>
                    <a:lstStyle/>
                    <a:p>
                      <a:pPr algn="ctr"/>
                      <a:r>
                        <a:rPr lang="en-IN" dirty="0"/>
                        <a:t>False Positive</a:t>
                      </a:r>
                    </a:p>
                    <a:p>
                      <a:pPr algn="ctr"/>
                      <a:r>
                        <a:rPr lang="en-IN" dirty="0"/>
                        <a:t>(FP)</a:t>
                      </a:r>
                    </a:p>
                  </a:txBody>
                  <a:tcPr anchor="ctr">
                    <a:solidFill>
                      <a:schemeClr val="accent2">
                        <a:lumMod val="60000"/>
                        <a:lumOff val="40000"/>
                      </a:schemeClr>
                    </a:solidFill>
                  </a:tcPr>
                </a:tc>
                <a:tc>
                  <a:txBody>
                    <a:bodyPr/>
                    <a:lstStyle/>
                    <a:p>
                      <a:pPr algn="ctr"/>
                      <a:r>
                        <a:rPr lang="en-IN" dirty="0"/>
                        <a:t>True Negative</a:t>
                      </a:r>
                    </a:p>
                    <a:p>
                      <a:pPr algn="ctr"/>
                      <a:r>
                        <a:rPr lang="en-IN" dirty="0"/>
                        <a:t>(TN)</a:t>
                      </a:r>
                    </a:p>
                  </a:txBody>
                  <a:tcPr anchor="ctr">
                    <a:solidFill>
                      <a:schemeClr val="accent3">
                        <a:lumMod val="40000"/>
                        <a:lumOff val="60000"/>
                      </a:schemeClr>
                    </a:solidFill>
                  </a:tcPr>
                </a:tc>
                <a:extLst>
                  <a:ext uri="{0D108BD9-81ED-4DB2-BD59-A6C34878D82A}">
                    <a16:rowId xmlns:a16="http://schemas.microsoft.com/office/drawing/2014/main" val="2577430992"/>
                  </a:ext>
                </a:extLst>
              </a:tr>
            </a:tbl>
          </a:graphicData>
        </a:graphic>
      </p:graphicFrame>
      <p:grpSp>
        <p:nvGrpSpPr>
          <p:cNvPr id="15" name="Group 14">
            <a:extLst>
              <a:ext uri="{FF2B5EF4-FFF2-40B4-BE49-F238E27FC236}">
                <a16:creationId xmlns:a16="http://schemas.microsoft.com/office/drawing/2014/main" id="{BCD0A110-B907-0026-2686-B5E0CCECF575}"/>
              </a:ext>
            </a:extLst>
          </p:cNvPr>
          <p:cNvGrpSpPr/>
          <p:nvPr/>
        </p:nvGrpSpPr>
        <p:grpSpPr>
          <a:xfrm>
            <a:off x="6680425" y="84627"/>
            <a:ext cx="4894093" cy="4217771"/>
            <a:chOff x="6796037" y="378916"/>
            <a:chExt cx="4894093" cy="4217771"/>
          </a:xfrm>
        </p:grpSpPr>
        <p:sp>
          <p:nvSpPr>
            <p:cNvPr id="8" name="TextBox 7">
              <a:extLst>
                <a:ext uri="{FF2B5EF4-FFF2-40B4-BE49-F238E27FC236}">
                  <a16:creationId xmlns:a16="http://schemas.microsoft.com/office/drawing/2014/main" id="{E5D2A4FF-F821-C223-16D3-42BF28138A6D}"/>
                </a:ext>
              </a:extLst>
            </p:cNvPr>
            <p:cNvSpPr txBox="1"/>
            <p:nvPr/>
          </p:nvSpPr>
          <p:spPr>
            <a:xfrm>
              <a:off x="7919928" y="674304"/>
              <a:ext cx="3768726" cy="646331"/>
            </a:xfrm>
            <a:prstGeom prst="rect">
              <a:avLst/>
            </a:prstGeom>
            <a:noFill/>
          </p:spPr>
          <p:txBody>
            <a:bodyPr wrap="square">
              <a:spAutoFit/>
            </a:bodyPr>
            <a:lstStyle/>
            <a:p>
              <a:pPr algn="ctr"/>
              <a:endParaRPr lang="en-IN" b="1" u="sng" dirty="0">
                <a:solidFill>
                  <a:schemeClr val="accent2"/>
                </a:solidFill>
              </a:endParaRPr>
            </a:p>
            <a:p>
              <a:pPr algn="ctr"/>
              <a:r>
                <a:rPr lang="en-IN" b="1" dirty="0">
                  <a:solidFill>
                    <a:schemeClr val="accent2"/>
                  </a:solidFill>
                </a:rPr>
                <a:t>Positive 		Negative</a:t>
              </a:r>
            </a:p>
          </p:txBody>
        </p:sp>
        <p:sp>
          <p:nvSpPr>
            <p:cNvPr id="9" name="Left Brace 8">
              <a:extLst>
                <a:ext uri="{FF2B5EF4-FFF2-40B4-BE49-F238E27FC236}">
                  <a16:creationId xmlns:a16="http://schemas.microsoft.com/office/drawing/2014/main" id="{0BBA95C1-187A-1FFB-2738-2798DF672A68}"/>
                </a:ext>
              </a:extLst>
            </p:cNvPr>
            <p:cNvSpPr/>
            <p:nvPr/>
          </p:nvSpPr>
          <p:spPr>
            <a:xfrm rot="5400000">
              <a:off x="9635111" y="-929325"/>
              <a:ext cx="341312" cy="3768726"/>
            </a:xfrm>
            <a:prstGeom prst="lef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vert="vert270" rtlCol="0" anchor="ctr"/>
            <a:lstStyle/>
            <a:p>
              <a:pPr algn="ctr"/>
              <a:endParaRPr lang="en-IN" b="1" dirty="0">
                <a:solidFill>
                  <a:schemeClr val="accent2"/>
                </a:solidFill>
              </a:endParaRPr>
            </a:p>
          </p:txBody>
        </p:sp>
        <p:sp>
          <p:nvSpPr>
            <p:cNvPr id="11" name="TextBox 10">
              <a:extLst>
                <a:ext uri="{FF2B5EF4-FFF2-40B4-BE49-F238E27FC236}">
                  <a16:creationId xmlns:a16="http://schemas.microsoft.com/office/drawing/2014/main" id="{4C792154-DC9C-9D83-25A0-48D45BB6EC68}"/>
                </a:ext>
              </a:extLst>
            </p:cNvPr>
            <p:cNvSpPr txBox="1"/>
            <p:nvPr/>
          </p:nvSpPr>
          <p:spPr>
            <a:xfrm>
              <a:off x="8280180" y="378916"/>
              <a:ext cx="3048000" cy="369332"/>
            </a:xfrm>
            <a:prstGeom prst="rect">
              <a:avLst/>
            </a:prstGeom>
            <a:noFill/>
          </p:spPr>
          <p:txBody>
            <a:bodyPr wrap="square">
              <a:spAutoFit/>
            </a:bodyPr>
            <a:lstStyle/>
            <a:p>
              <a:pPr algn="ctr"/>
              <a:r>
                <a:rPr lang="en-IN" b="1" dirty="0">
                  <a:solidFill>
                    <a:schemeClr val="accent2"/>
                  </a:solidFill>
                </a:rPr>
                <a:t>Predicted Class</a:t>
              </a:r>
            </a:p>
          </p:txBody>
        </p:sp>
        <p:sp>
          <p:nvSpPr>
            <p:cNvPr id="12" name="TextBox 11">
              <a:extLst>
                <a:ext uri="{FF2B5EF4-FFF2-40B4-BE49-F238E27FC236}">
                  <a16:creationId xmlns:a16="http://schemas.microsoft.com/office/drawing/2014/main" id="{BC64311B-33A2-DA13-CD0C-E174E52FEA8E}"/>
                </a:ext>
              </a:extLst>
            </p:cNvPr>
            <p:cNvSpPr txBox="1"/>
            <p:nvPr/>
          </p:nvSpPr>
          <p:spPr>
            <a:xfrm rot="16200000">
              <a:off x="6006969" y="2704200"/>
              <a:ext cx="2967192" cy="646331"/>
            </a:xfrm>
            <a:prstGeom prst="rect">
              <a:avLst/>
            </a:prstGeom>
            <a:noFill/>
          </p:spPr>
          <p:txBody>
            <a:bodyPr wrap="square">
              <a:spAutoFit/>
            </a:bodyPr>
            <a:lstStyle/>
            <a:p>
              <a:pPr algn="ctr"/>
              <a:endParaRPr lang="en-IN" b="1" u="sng" dirty="0">
                <a:solidFill>
                  <a:schemeClr val="accent2"/>
                </a:solidFill>
              </a:endParaRPr>
            </a:p>
            <a:p>
              <a:pPr algn="ctr"/>
              <a:r>
                <a:rPr lang="en-IN" b="1" dirty="0">
                  <a:solidFill>
                    <a:schemeClr val="accent1"/>
                  </a:solidFill>
                </a:rPr>
                <a:t>Negative             Positive</a:t>
              </a:r>
            </a:p>
          </p:txBody>
        </p:sp>
        <p:sp>
          <p:nvSpPr>
            <p:cNvPr id="13" name="Left Brace 12">
              <a:extLst>
                <a:ext uri="{FF2B5EF4-FFF2-40B4-BE49-F238E27FC236}">
                  <a16:creationId xmlns:a16="http://schemas.microsoft.com/office/drawing/2014/main" id="{B31A0793-AECE-7A96-557C-A2212999633F}"/>
                </a:ext>
              </a:extLst>
            </p:cNvPr>
            <p:cNvSpPr/>
            <p:nvPr/>
          </p:nvSpPr>
          <p:spPr>
            <a:xfrm>
              <a:off x="7148893" y="1543769"/>
              <a:ext cx="341312" cy="3024000"/>
            </a:xfrm>
            <a:prstGeom prst="leftBrace">
              <a:avLst/>
            </a:prstGeom>
            <a:ln>
              <a:solidFill>
                <a:schemeClr val="accent1"/>
              </a:solidFill>
            </a:ln>
          </p:spPr>
          <p:style>
            <a:lnRef idx="2">
              <a:schemeClr val="accent4"/>
            </a:lnRef>
            <a:fillRef idx="1">
              <a:schemeClr val="lt1"/>
            </a:fillRef>
            <a:effectRef idx="0">
              <a:schemeClr val="accent4"/>
            </a:effectRef>
            <a:fontRef idx="minor">
              <a:schemeClr val="dk1"/>
            </a:fontRef>
          </p:style>
          <p:txBody>
            <a:bodyPr vert="vert270" rtlCol="0" anchor="ctr"/>
            <a:lstStyle/>
            <a:p>
              <a:pPr algn="ctr"/>
              <a:endParaRPr lang="en-IN" b="1" dirty="0">
                <a:solidFill>
                  <a:schemeClr val="accent2"/>
                </a:solidFill>
              </a:endParaRPr>
            </a:p>
          </p:txBody>
        </p:sp>
        <p:sp>
          <p:nvSpPr>
            <p:cNvPr id="14" name="TextBox 13">
              <a:extLst>
                <a:ext uri="{FF2B5EF4-FFF2-40B4-BE49-F238E27FC236}">
                  <a16:creationId xmlns:a16="http://schemas.microsoft.com/office/drawing/2014/main" id="{A389BC19-B6C9-E9EF-97B4-86100819CB28}"/>
                </a:ext>
              </a:extLst>
            </p:cNvPr>
            <p:cNvSpPr txBox="1"/>
            <p:nvPr/>
          </p:nvSpPr>
          <p:spPr>
            <a:xfrm rot="16200000">
              <a:off x="5456703" y="2888021"/>
              <a:ext cx="3048000" cy="369332"/>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en-IN" b="1" dirty="0">
                  <a:solidFill>
                    <a:schemeClr val="accent1"/>
                  </a:solidFill>
                </a:rPr>
                <a:t>Actual Class</a:t>
              </a:r>
            </a:p>
          </p:txBody>
        </p:sp>
      </p:grpSp>
      <p:sp>
        <p:nvSpPr>
          <p:cNvPr id="17" name="TextBox 16">
            <a:extLst>
              <a:ext uri="{FF2B5EF4-FFF2-40B4-BE49-F238E27FC236}">
                <a16:creationId xmlns:a16="http://schemas.microsoft.com/office/drawing/2014/main" id="{73EDA977-DB24-F61D-C21B-4A8B56851CFE}"/>
              </a:ext>
            </a:extLst>
          </p:cNvPr>
          <p:cNvSpPr txBox="1"/>
          <p:nvPr/>
        </p:nvSpPr>
        <p:spPr>
          <a:xfrm>
            <a:off x="8037788" y="2837691"/>
            <a:ext cx="1376211" cy="369332"/>
          </a:xfrm>
          <a:prstGeom prst="rect">
            <a:avLst/>
          </a:prstGeom>
          <a:noFill/>
        </p:spPr>
        <p:txBody>
          <a:bodyPr wrap="none" rtlCol="0">
            <a:spAutoFit/>
          </a:bodyPr>
          <a:lstStyle/>
          <a:p>
            <a:r>
              <a:rPr lang="en-IN" b="1" dirty="0">
                <a:solidFill>
                  <a:srgbClr val="FF0000"/>
                </a:solidFill>
              </a:rPr>
              <a:t>Type-I error</a:t>
            </a:r>
          </a:p>
        </p:txBody>
      </p:sp>
      <p:sp>
        <p:nvSpPr>
          <p:cNvPr id="18" name="TextBox 17">
            <a:extLst>
              <a:ext uri="{FF2B5EF4-FFF2-40B4-BE49-F238E27FC236}">
                <a16:creationId xmlns:a16="http://schemas.microsoft.com/office/drawing/2014/main" id="{06C9AC34-3F84-4BEE-E061-41936D614C8E}"/>
              </a:ext>
            </a:extLst>
          </p:cNvPr>
          <p:cNvSpPr txBox="1"/>
          <p:nvPr/>
        </p:nvSpPr>
        <p:spPr>
          <a:xfrm>
            <a:off x="9881375" y="1246140"/>
            <a:ext cx="1443537" cy="369332"/>
          </a:xfrm>
          <a:prstGeom prst="rect">
            <a:avLst/>
          </a:prstGeom>
          <a:noFill/>
        </p:spPr>
        <p:txBody>
          <a:bodyPr wrap="none" rtlCol="0">
            <a:spAutoFit/>
          </a:bodyPr>
          <a:lstStyle/>
          <a:p>
            <a:r>
              <a:rPr lang="en-IN" b="1" dirty="0">
                <a:solidFill>
                  <a:srgbClr val="FF0000"/>
                </a:solidFill>
              </a:rPr>
              <a:t>Type-II error</a:t>
            </a:r>
          </a:p>
        </p:txBody>
      </p: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09856F49-11D0-4A93-12B9-BDBF0BDBE283}"/>
                  </a:ext>
                </a:extLst>
              </p:cNvPr>
              <p:cNvSpPr txBox="1">
                <a:spLocks/>
              </p:cNvSpPr>
              <p:nvPr/>
            </p:nvSpPr>
            <p:spPr>
              <a:xfrm>
                <a:off x="480847" y="1172443"/>
                <a:ext cx="5105400" cy="898914"/>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IN" sz="2400" i="1" smtClean="0">
                        <a:solidFill>
                          <a:schemeClr val="accent4"/>
                        </a:solidFill>
                        <a:latin typeface="Cambria Math" panose="02040503050406030204" pitchFamily="18" charset="0"/>
                      </a:rPr>
                      <m:t>𝐴𝑐𝑐𝑢𝑟𝑎𝑐𝑦</m:t>
                    </m:r>
                    <m:r>
                      <a:rPr lang="en-IN" sz="2400" i="1" smtClean="0">
                        <a:solidFill>
                          <a:schemeClr val="accent4"/>
                        </a:solidFill>
                        <a:latin typeface="Cambria Math" panose="02040503050406030204" pitchFamily="18" charset="0"/>
                      </a:rPr>
                      <m:t>=</m:t>
                    </m:r>
                    <m:f>
                      <m:fPr>
                        <m:ctrlPr>
                          <a:rPr lang="en-IN" sz="2400" i="1" smtClean="0">
                            <a:solidFill>
                              <a:schemeClr val="accent4"/>
                            </a:solidFill>
                            <a:latin typeface="Cambria Math" panose="02040503050406030204" pitchFamily="18" charset="0"/>
                          </a:rPr>
                        </m:ctrlPr>
                      </m:fPr>
                      <m:num>
                        <m:r>
                          <a:rPr lang="en-IN" sz="2400" b="0" i="1" smtClean="0">
                            <a:solidFill>
                              <a:schemeClr val="accent4"/>
                            </a:solidFill>
                            <a:latin typeface="Cambria Math" panose="02040503050406030204" pitchFamily="18" charset="0"/>
                          </a:rPr>
                          <m:t>𝑇𝑃</m:t>
                        </m:r>
                        <m:r>
                          <a:rPr lang="en-IN" sz="2400" b="0" i="1" smtClean="0">
                            <a:solidFill>
                              <a:schemeClr val="accent4"/>
                            </a:solidFill>
                            <a:latin typeface="Cambria Math" panose="02040503050406030204" pitchFamily="18" charset="0"/>
                          </a:rPr>
                          <m:t>+</m:t>
                        </m:r>
                        <m:r>
                          <a:rPr lang="en-IN" sz="2400" b="0" i="1" smtClean="0">
                            <a:solidFill>
                              <a:schemeClr val="accent4"/>
                            </a:solidFill>
                            <a:latin typeface="Cambria Math" panose="02040503050406030204" pitchFamily="18" charset="0"/>
                          </a:rPr>
                          <m:t>𝑇𝑁</m:t>
                        </m:r>
                      </m:num>
                      <m:den>
                        <m:r>
                          <a:rPr lang="en-IN" sz="2400" b="0" i="1" smtClean="0">
                            <a:solidFill>
                              <a:schemeClr val="accent4"/>
                            </a:solidFill>
                            <a:latin typeface="Cambria Math" panose="02040503050406030204" pitchFamily="18" charset="0"/>
                          </a:rPr>
                          <m:t>𝑇𝑃</m:t>
                        </m:r>
                        <m:r>
                          <a:rPr lang="en-IN" sz="2400" b="0" i="1" smtClean="0">
                            <a:solidFill>
                              <a:schemeClr val="accent4"/>
                            </a:solidFill>
                            <a:latin typeface="Cambria Math" panose="02040503050406030204" pitchFamily="18" charset="0"/>
                          </a:rPr>
                          <m:t>+</m:t>
                        </m:r>
                        <m:r>
                          <a:rPr lang="en-IN" sz="2400" b="0" i="1" smtClean="0">
                            <a:solidFill>
                              <a:schemeClr val="accent4"/>
                            </a:solidFill>
                            <a:latin typeface="Cambria Math" panose="02040503050406030204" pitchFamily="18" charset="0"/>
                          </a:rPr>
                          <m:t>𝐹𝑃</m:t>
                        </m:r>
                        <m:r>
                          <a:rPr lang="en-IN" sz="2400" b="0" i="1" smtClean="0">
                            <a:solidFill>
                              <a:schemeClr val="accent4"/>
                            </a:solidFill>
                            <a:latin typeface="Cambria Math" panose="02040503050406030204" pitchFamily="18" charset="0"/>
                          </a:rPr>
                          <m:t>+</m:t>
                        </m:r>
                        <m:r>
                          <a:rPr lang="en-IN" sz="2400" b="0" i="1" smtClean="0">
                            <a:solidFill>
                              <a:schemeClr val="accent4"/>
                            </a:solidFill>
                            <a:latin typeface="Cambria Math" panose="02040503050406030204" pitchFamily="18" charset="0"/>
                          </a:rPr>
                          <m:t>𝑇𝑁</m:t>
                        </m:r>
                        <m:r>
                          <a:rPr lang="en-IN" sz="2400" b="0" i="1" smtClean="0">
                            <a:solidFill>
                              <a:schemeClr val="accent4"/>
                            </a:solidFill>
                            <a:latin typeface="Cambria Math" panose="02040503050406030204" pitchFamily="18" charset="0"/>
                          </a:rPr>
                          <m:t>+</m:t>
                        </m:r>
                        <m:r>
                          <a:rPr lang="en-IN" sz="2400" b="0" i="1" smtClean="0">
                            <a:solidFill>
                              <a:schemeClr val="accent4"/>
                            </a:solidFill>
                            <a:latin typeface="Cambria Math" panose="02040503050406030204" pitchFamily="18" charset="0"/>
                          </a:rPr>
                          <m:t>𝐹𝑁</m:t>
                        </m:r>
                      </m:den>
                    </m:f>
                  </m:oMath>
                </a14:m>
                <a:endParaRPr lang="en-IN" sz="2400" b="0" dirty="0">
                  <a:solidFill>
                    <a:schemeClr val="accent4"/>
                  </a:solidFill>
                </a:endParaRPr>
              </a:p>
            </p:txBody>
          </p:sp>
        </mc:Choice>
        <mc:Fallback xmlns="">
          <p:sp>
            <p:nvSpPr>
              <p:cNvPr id="19" name="Content Placeholder 2">
                <a:extLst>
                  <a:ext uri="{FF2B5EF4-FFF2-40B4-BE49-F238E27FC236}">
                    <a16:creationId xmlns:a16="http://schemas.microsoft.com/office/drawing/2014/main" id="{09856F49-11D0-4A93-12B9-BDBF0BDBE283}"/>
                  </a:ext>
                </a:extLst>
              </p:cNvPr>
              <p:cNvSpPr txBox="1">
                <a:spLocks noRot="1" noChangeAspect="1" noMove="1" noResize="1" noEditPoints="1" noAdjustHandles="1" noChangeArrowheads="1" noChangeShapeType="1" noTextEdit="1"/>
              </p:cNvSpPr>
              <p:nvPr/>
            </p:nvSpPr>
            <p:spPr>
              <a:xfrm>
                <a:off x="480847" y="1172443"/>
                <a:ext cx="5105400" cy="898914"/>
              </a:xfrm>
              <a:prstGeom prst="rect">
                <a:avLst/>
              </a:prstGeom>
              <a:blipFill>
                <a:blip r:embed="rId2"/>
                <a:stretch>
                  <a:fillRect/>
                </a:stretch>
              </a:blipFill>
            </p:spPr>
            <p:txBody>
              <a:bodyPr/>
              <a:lstStyle/>
              <a:p>
                <a:r>
                  <a:rPr lang="en-IN">
                    <a:noFill/>
                  </a:rPr>
                  <a:t> </a:t>
                </a:r>
              </a:p>
            </p:txBody>
          </p:sp>
        </mc:Fallback>
      </mc:AlternateContent>
      <p:graphicFrame>
        <p:nvGraphicFramePr>
          <p:cNvPr id="21" name="Table 20">
            <a:extLst>
              <a:ext uri="{FF2B5EF4-FFF2-40B4-BE49-F238E27FC236}">
                <a16:creationId xmlns:a16="http://schemas.microsoft.com/office/drawing/2014/main" id="{BBB60B50-8056-0C61-30E1-05BE87852B86}"/>
              </a:ext>
            </a:extLst>
          </p:cNvPr>
          <p:cNvGraphicFramePr>
            <a:graphicFrameLocks noGrp="1"/>
          </p:cNvGraphicFramePr>
          <p:nvPr>
            <p:extLst>
              <p:ext uri="{D42A27DB-BD31-4B8C-83A1-F6EECF244321}">
                <p14:modId xmlns:p14="http://schemas.microsoft.com/office/powerpoint/2010/main" val="225840025"/>
              </p:ext>
            </p:extLst>
          </p:nvPr>
        </p:nvGraphicFramePr>
        <p:xfrm>
          <a:off x="568351" y="2197754"/>
          <a:ext cx="3597276" cy="1868452"/>
        </p:xfrm>
        <a:graphic>
          <a:graphicData uri="http://schemas.openxmlformats.org/drawingml/2006/table">
            <a:tbl>
              <a:tblPr firstRow="1" bandRow="1">
                <a:tableStyleId>{5940675A-B579-460E-94D1-54222C63F5DA}</a:tableStyleId>
              </a:tblPr>
              <a:tblGrid>
                <a:gridCol w="1199092">
                  <a:extLst>
                    <a:ext uri="{9D8B030D-6E8A-4147-A177-3AD203B41FA5}">
                      <a16:colId xmlns:a16="http://schemas.microsoft.com/office/drawing/2014/main" val="1433488093"/>
                    </a:ext>
                  </a:extLst>
                </a:gridCol>
                <a:gridCol w="1199092">
                  <a:extLst>
                    <a:ext uri="{9D8B030D-6E8A-4147-A177-3AD203B41FA5}">
                      <a16:colId xmlns:a16="http://schemas.microsoft.com/office/drawing/2014/main" val="2871067180"/>
                    </a:ext>
                  </a:extLst>
                </a:gridCol>
                <a:gridCol w="1199092">
                  <a:extLst>
                    <a:ext uri="{9D8B030D-6E8A-4147-A177-3AD203B41FA5}">
                      <a16:colId xmlns:a16="http://schemas.microsoft.com/office/drawing/2014/main" val="1724417120"/>
                    </a:ext>
                  </a:extLst>
                </a:gridCol>
              </a:tblGrid>
              <a:tr h="614186">
                <a:tc>
                  <a:txBody>
                    <a:bodyPr/>
                    <a:lstStyle/>
                    <a:p>
                      <a:r>
                        <a:rPr lang="en-IN" b="1" u="sng" dirty="0"/>
                        <a:t>Model-1</a:t>
                      </a:r>
                    </a:p>
                  </a:txBody>
                  <a:tcPr/>
                </a:tc>
                <a:tc>
                  <a:txBody>
                    <a:bodyPr/>
                    <a:lstStyle/>
                    <a:p>
                      <a:r>
                        <a:rPr lang="en-IN" dirty="0"/>
                        <a:t>Predicted</a:t>
                      </a:r>
                    </a:p>
                    <a:p>
                      <a:r>
                        <a:rPr lang="en-IN" dirty="0"/>
                        <a:t>Spam</a:t>
                      </a:r>
                    </a:p>
                  </a:txBody>
                  <a:tcPr/>
                </a:tc>
                <a:tc>
                  <a:txBody>
                    <a:bodyPr/>
                    <a:lstStyle/>
                    <a:p>
                      <a:r>
                        <a:rPr lang="en-IN" dirty="0"/>
                        <a:t>Predicted Not-Spam</a:t>
                      </a:r>
                    </a:p>
                  </a:txBody>
                  <a:tcPr/>
                </a:tc>
                <a:extLst>
                  <a:ext uri="{0D108BD9-81ED-4DB2-BD59-A6C34878D82A}">
                    <a16:rowId xmlns:a16="http://schemas.microsoft.com/office/drawing/2014/main" val="3556202668"/>
                  </a:ext>
                </a:extLst>
              </a:tr>
              <a:tr h="614186">
                <a:tc>
                  <a:txBody>
                    <a:bodyPr/>
                    <a:lstStyle/>
                    <a:p>
                      <a:r>
                        <a:rPr lang="en-IN" dirty="0"/>
                        <a:t>Spam</a:t>
                      </a:r>
                    </a:p>
                  </a:txBody>
                  <a:tcPr/>
                </a:tc>
                <a:tc>
                  <a:txBody>
                    <a:bodyPr/>
                    <a:lstStyle/>
                    <a:p>
                      <a:pPr algn="ctr"/>
                      <a:r>
                        <a:rPr lang="en-IN" dirty="0">
                          <a:solidFill>
                            <a:schemeClr val="accent4"/>
                          </a:solidFill>
                        </a:rPr>
                        <a:t>100</a:t>
                      </a:r>
                    </a:p>
                  </a:txBody>
                  <a:tcPr anchor="ctr">
                    <a:solidFill>
                      <a:schemeClr val="tx2">
                        <a:lumMod val="10000"/>
                        <a:lumOff val="90000"/>
                      </a:schemeClr>
                    </a:solidFill>
                  </a:tcPr>
                </a:tc>
                <a:tc>
                  <a:txBody>
                    <a:bodyPr/>
                    <a:lstStyle/>
                    <a:p>
                      <a:pPr algn="ctr"/>
                      <a:r>
                        <a:rPr lang="en-IN" dirty="0">
                          <a:solidFill>
                            <a:schemeClr val="accent4"/>
                          </a:solidFill>
                        </a:rPr>
                        <a:t>170</a:t>
                      </a:r>
                    </a:p>
                  </a:txBody>
                  <a:tcPr anchor="ctr">
                    <a:solidFill>
                      <a:schemeClr val="tx2">
                        <a:lumMod val="10000"/>
                        <a:lumOff val="90000"/>
                      </a:schemeClr>
                    </a:solidFill>
                  </a:tcPr>
                </a:tc>
                <a:extLst>
                  <a:ext uri="{0D108BD9-81ED-4DB2-BD59-A6C34878D82A}">
                    <a16:rowId xmlns:a16="http://schemas.microsoft.com/office/drawing/2014/main" val="3529563913"/>
                  </a:ext>
                </a:extLst>
              </a:tr>
              <a:tr h="614186">
                <a:tc>
                  <a:txBody>
                    <a:bodyPr/>
                    <a:lstStyle/>
                    <a:p>
                      <a:r>
                        <a:rPr lang="en-IN" dirty="0"/>
                        <a:t>Not-Spam</a:t>
                      </a:r>
                    </a:p>
                  </a:txBody>
                  <a:tcPr/>
                </a:tc>
                <a:tc>
                  <a:txBody>
                    <a:bodyPr/>
                    <a:lstStyle/>
                    <a:p>
                      <a:pPr algn="ctr"/>
                      <a:r>
                        <a:rPr lang="en-IN" dirty="0">
                          <a:solidFill>
                            <a:schemeClr val="accent4"/>
                          </a:solidFill>
                        </a:rPr>
                        <a:t>30</a:t>
                      </a:r>
                    </a:p>
                  </a:txBody>
                  <a:tcPr anchor="ctr">
                    <a:solidFill>
                      <a:schemeClr val="tx2">
                        <a:lumMod val="10000"/>
                        <a:lumOff val="90000"/>
                      </a:schemeClr>
                    </a:solidFill>
                  </a:tcPr>
                </a:tc>
                <a:tc>
                  <a:txBody>
                    <a:bodyPr/>
                    <a:lstStyle/>
                    <a:p>
                      <a:pPr algn="ctr"/>
                      <a:r>
                        <a:rPr lang="en-IN" dirty="0">
                          <a:solidFill>
                            <a:schemeClr val="accent4"/>
                          </a:solidFill>
                        </a:rPr>
                        <a:t>700</a:t>
                      </a:r>
                    </a:p>
                  </a:txBody>
                  <a:tcPr anchor="ctr">
                    <a:solidFill>
                      <a:schemeClr val="tx2">
                        <a:lumMod val="10000"/>
                        <a:lumOff val="90000"/>
                      </a:schemeClr>
                    </a:solidFill>
                  </a:tcPr>
                </a:tc>
                <a:extLst>
                  <a:ext uri="{0D108BD9-81ED-4DB2-BD59-A6C34878D82A}">
                    <a16:rowId xmlns:a16="http://schemas.microsoft.com/office/drawing/2014/main" val="2134640688"/>
                  </a:ext>
                </a:extLst>
              </a:tr>
            </a:tbl>
          </a:graphicData>
        </a:graphic>
      </p:graphicFrame>
      <p:graphicFrame>
        <p:nvGraphicFramePr>
          <p:cNvPr id="22" name="Table 21">
            <a:extLst>
              <a:ext uri="{FF2B5EF4-FFF2-40B4-BE49-F238E27FC236}">
                <a16:creationId xmlns:a16="http://schemas.microsoft.com/office/drawing/2014/main" id="{01ADBB41-28CA-6C9B-9260-722BA0942CEC}"/>
              </a:ext>
            </a:extLst>
          </p:cNvPr>
          <p:cNvGraphicFramePr>
            <a:graphicFrameLocks noGrp="1"/>
          </p:cNvGraphicFramePr>
          <p:nvPr>
            <p:extLst>
              <p:ext uri="{D42A27DB-BD31-4B8C-83A1-F6EECF244321}">
                <p14:modId xmlns:p14="http://schemas.microsoft.com/office/powerpoint/2010/main" val="2789762810"/>
              </p:ext>
            </p:extLst>
          </p:nvPr>
        </p:nvGraphicFramePr>
        <p:xfrm>
          <a:off x="568351" y="4375767"/>
          <a:ext cx="3597276" cy="1868452"/>
        </p:xfrm>
        <a:graphic>
          <a:graphicData uri="http://schemas.openxmlformats.org/drawingml/2006/table">
            <a:tbl>
              <a:tblPr firstRow="1" bandRow="1">
                <a:tableStyleId>{5940675A-B579-460E-94D1-54222C63F5DA}</a:tableStyleId>
              </a:tblPr>
              <a:tblGrid>
                <a:gridCol w="1199092">
                  <a:extLst>
                    <a:ext uri="{9D8B030D-6E8A-4147-A177-3AD203B41FA5}">
                      <a16:colId xmlns:a16="http://schemas.microsoft.com/office/drawing/2014/main" val="1433488093"/>
                    </a:ext>
                  </a:extLst>
                </a:gridCol>
                <a:gridCol w="1199092">
                  <a:extLst>
                    <a:ext uri="{9D8B030D-6E8A-4147-A177-3AD203B41FA5}">
                      <a16:colId xmlns:a16="http://schemas.microsoft.com/office/drawing/2014/main" val="2871067180"/>
                    </a:ext>
                  </a:extLst>
                </a:gridCol>
                <a:gridCol w="1199092">
                  <a:extLst>
                    <a:ext uri="{9D8B030D-6E8A-4147-A177-3AD203B41FA5}">
                      <a16:colId xmlns:a16="http://schemas.microsoft.com/office/drawing/2014/main" val="1724417120"/>
                    </a:ext>
                  </a:extLst>
                </a:gridCol>
              </a:tblGrid>
              <a:tr h="614186">
                <a:tc>
                  <a:txBody>
                    <a:bodyPr/>
                    <a:lstStyle/>
                    <a:p>
                      <a:r>
                        <a:rPr lang="en-IN" b="1" u="sng" dirty="0"/>
                        <a:t>Model-2</a:t>
                      </a:r>
                    </a:p>
                  </a:txBody>
                  <a:tcPr/>
                </a:tc>
                <a:tc>
                  <a:txBody>
                    <a:bodyPr/>
                    <a:lstStyle/>
                    <a:p>
                      <a:r>
                        <a:rPr lang="en-IN" dirty="0"/>
                        <a:t>Predicted</a:t>
                      </a:r>
                    </a:p>
                    <a:p>
                      <a:r>
                        <a:rPr lang="en-IN" dirty="0"/>
                        <a:t>Spam</a:t>
                      </a:r>
                    </a:p>
                  </a:txBody>
                  <a:tcPr/>
                </a:tc>
                <a:tc>
                  <a:txBody>
                    <a:bodyPr/>
                    <a:lstStyle/>
                    <a:p>
                      <a:r>
                        <a:rPr lang="en-IN" dirty="0"/>
                        <a:t>Predicted Not-Spam</a:t>
                      </a:r>
                    </a:p>
                  </a:txBody>
                  <a:tcPr/>
                </a:tc>
                <a:extLst>
                  <a:ext uri="{0D108BD9-81ED-4DB2-BD59-A6C34878D82A}">
                    <a16:rowId xmlns:a16="http://schemas.microsoft.com/office/drawing/2014/main" val="3556202668"/>
                  </a:ext>
                </a:extLst>
              </a:tr>
              <a:tr h="614186">
                <a:tc>
                  <a:txBody>
                    <a:bodyPr/>
                    <a:lstStyle/>
                    <a:p>
                      <a:r>
                        <a:rPr lang="en-IN" dirty="0"/>
                        <a:t>Spam</a:t>
                      </a:r>
                    </a:p>
                  </a:txBody>
                  <a:tcPr/>
                </a:tc>
                <a:tc>
                  <a:txBody>
                    <a:bodyPr/>
                    <a:lstStyle/>
                    <a:p>
                      <a:pPr algn="ctr"/>
                      <a:r>
                        <a:rPr lang="en-IN" dirty="0">
                          <a:solidFill>
                            <a:schemeClr val="accent4"/>
                          </a:solidFill>
                        </a:rPr>
                        <a:t>100</a:t>
                      </a:r>
                    </a:p>
                  </a:txBody>
                  <a:tcPr anchor="ctr">
                    <a:solidFill>
                      <a:schemeClr val="tx2">
                        <a:lumMod val="10000"/>
                        <a:lumOff val="90000"/>
                      </a:schemeClr>
                    </a:solidFill>
                  </a:tcPr>
                </a:tc>
                <a:tc>
                  <a:txBody>
                    <a:bodyPr/>
                    <a:lstStyle/>
                    <a:p>
                      <a:pPr algn="ctr"/>
                      <a:r>
                        <a:rPr lang="en-IN" dirty="0">
                          <a:solidFill>
                            <a:schemeClr val="accent4"/>
                          </a:solidFill>
                        </a:rPr>
                        <a:t>190</a:t>
                      </a:r>
                    </a:p>
                  </a:txBody>
                  <a:tcPr anchor="ctr">
                    <a:solidFill>
                      <a:schemeClr val="tx2">
                        <a:lumMod val="10000"/>
                        <a:lumOff val="90000"/>
                      </a:schemeClr>
                    </a:solidFill>
                  </a:tcPr>
                </a:tc>
                <a:extLst>
                  <a:ext uri="{0D108BD9-81ED-4DB2-BD59-A6C34878D82A}">
                    <a16:rowId xmlns:a16="http://schemas.microsoft.com/office/drawing/2014/main" val="3529563913"/>
                  </a:ext>
                </a:extLst>
              </a:tr>
              <a:tr h="614186">
                <a:tc>
                  <a:txBody>
                    <a:bodyPr/>
                    <a:lstStyle/>
                    <a:p>
                      <a:r>
                        <a:rPr lang="en-IN" dirty="0"/>
                        <a:t>Not-Spam</a:t>
                      </a:r>
                    </a:p>
                  </a:txBody>
                  <a:tcPr/>
                </a:tc>
                <a:tc>
                  <a:txBody>
                    <a:bodyPr/>
                    <a:lstStyle/>
                    <a:p>
                      <a:pPr algn="ctr"/>
                      <a:r>
                        <a:rPr lang="en-IN" dirty="0">
                          <a:solidFill>
                            <a:schemeClr val="accent4"/>
                          </a:solidFill>
                        </a:rPr>
                        <a:t>10</a:t>
                      </a:r>
                    </a:p>
                  </a:txBody>
                  <a:tcPr anchor="ctr">
                    <a:solidFill>
                      <a:schemeClr val="tx2">
                        <a:lumMod val="10000"/>
                        <a:lumOff val="90000"/>
                      </a:schemeClr>
                    </a:solidFill>
                  </a:tcPr>
                </a:tc>
                <a:tc>
                  <a:txBody>
                    <a:bodyPr/>
                    <a:lstStyle/>
                    <a:p>
                      <a:pPr algn="ctr"/>
                      <a:r>
                        <a:rPr lang="en-IN" dirty="0">
                          <a:solidFill>
                            <a:schemeClr val="accent4"/>
                          </a:solidFill>
                        </a:rPr>
                        <a:t>700</a:t>
                      </a:r>
                    </a:p>
                  </a:txBody>
                  <a:tcPr anchor="ctr">
                    <a:solidFill>
                      <a:schemeClr val="tx2">
                        <a:lumMod val="10000"/>
                        <a:lumOff val="90000"/>
                      </a:schemeClr>
                    </a:solidFill>
                  </a:tcPr>
                </a:tc>
                <a:extLst>
                  <a:ext uri="{0D108BD9-81ED-4DB2-BD59-A6C34878D82A}">
                    <a16:rowId xmlns:a16="http://schemas.microsoft.com/office/drawing/2014/main" val="2134640688"/>
                  </a:ext>
                </a:extLst>
              </a:tr>
            </a:tbl>
          </a:graphicData>
        </a:graphic>
      </p:graphicFrame>
      <p:sp>
        <p:nvSpPr>
          <p:cNvPr id="25" name="TextBox 24">
            <a:extLst>
              <a:ext uri="{FF2B5EF4-FFF2-40B4-BE49-F238E27FC236}">
                <a16:creationId xmlns:a16="http://schemas.microsoft.com/office/drawing/2014/main" id="{037DBAE8-6208-7B51-CA0C-EFA8DA43CD61}"/>
              </a:ext>
            </a:extLst>
          </p:cNvPr>
          <p:cNvSpPr txBox="1"/>
          <p:nvPr/>
        </p:nvSpPr>
        <p:spPr>
          <a:xfrm rot="18924053">
            <a:off x="4219491" y="3885996"/>
            <a:ext cx="2311851" cy="400110"/>
          </a:xfrm>
          <a:prstGeom prst="rect">
            <a:avLst/>
          </a:prstGeom>
          <a:noFill/>
        </p:spPr>
        <p:txBody>
          <a:bodyPr wrap="none" rtlCol="0">
            <a:spAutoFit/>
          </a:bodyPr>
          <a:lstStyle/>
          <a:p>
            <a:r>
              <a:rPr lang="en-IN" sz="2000" b="1" dirty="0"/>
              <a:t>Acc1 = Acc2 = 80%</a:t>
            </a:r>
          </a:p>
        </p:txBody>
      </p:sp>
      <p:pic>
        <p:nvPicPr>
          <p:cNvPr id="3" name="Google Shape;334;p24" descr="BnRtUkRCIAAn60g.jpg">
            <a:extLst>
              <a:ext uri="{FF2B5EF4-FFF2-40B4-BE49-F238E27FC236}">
                <a16:creationId xmlns:a16="http://schemas.microsoft.com/office/drawing/2014/main" id="{4AB33988-067D-94D6-9B4D-519CC23EEFF4}"/>
              </a:ext>
            </a:extLst>
          </p:cNvPr>
          <p:cNvPicPr preferRelativeResize="0"/>
          <p:nvPr/>
        </p:nvPicPr>
        <p:blipFill>
          <a:blip r:embed="rId3">
            <a:alphaModFix/>
          </a:blip>
          <a:stretch>
            <a:fillRect/>
          </a:stretch>
        </p:blipFill>
        <p:spPr>
          <a:xfrm>
            <a:off x="7319411" y="4510983"/>
            <a:ext cx="4738314" cy="2310818"/>
          </a:xfrm>
          <a:prstGeom prst="rect">
            <a:avLst/>
          </a:prstGeom>
          <a:noFill/>
          <a:ln>
            <a:noFill/>
          </a:ln>
        </p:spPr>
      </p:pic>
    </p:spTree>
    <p:extLst>
      <p:ext uri="{BB962C8B-B14F-4D97-AF65-F5344CB8AC3E}">
        <p14:creationId xmlns:p14="http://schemas.microsoft.com/office/powerpoint/2010/main" val="337323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ircle(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58A34-1544-2275-DA64-97DEACC81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8BBB4-AE65-CD19-9535-FA7D00A38F2B}"/>
              </a:ext>
            </a:extLst>
          </p:cNvPr>
          <p:cNvSpPr>
            <a:spLocks noGrp="1"/>
          </p:cNvSpPr>
          <p:nvPr>
            <p:ph type="title"/>
          </p:nvPr>
        </p:nvSpPr>
        <p:spPr/>
        <p:txBody>
          <a:bodyPr/>
          <a:lstStyle/>
          <a:p>
            <a:r>
              <a:rPr lang="en-IN" dirty="0"/>
              <a:t>Classification Metrics</a:t>
            </a:r>
          </a:p>
        </p:txBody>
      </p:sp>
      <p:graphicFrame>
        <p:nvGraphicFramePr>
          <p:cNvPr id="4" name="Table 3">
            <a:extLst>
              <a:ext uri="{FF2B5EF4-FFF2-40B4-BE49-F238E27FC236}">
                <a16:creationId xmlns:a16="http://schemas.microsoft.com/office/drawing/2014/main" id="{70B289D4-047A-4C73-900F-716CFF891BD4}"/>
              </a:ext>
            </a:extLst>
          </p:cNvPr>
          <p:cNvGraphicFramePr>
            <a:graphicFrameLocks noGrp="1"/>
          </p:cNvGraphicFramePr>
          <p:nvPr>
            <p:extLst>
              <p:ext uri="{D42A27DB-BD31-4B8C-83A1-F6EECF244321}">
                <p14:modId xmlns:p14="http://schemas.microsoft.com/office/powerpoint/2010/main" val="1829519584"/>
              </p:ext>
            </p:extLst>
          </p:nvPr>
        </p:nvGraphicFramePr>
        <p:xfrm>
          <a:off x="617536" y="1023936"/>
          <a:ext cx="3597276" cy="1868452"/>
        </p:xfrm>
        <a:graphic>
          <a:graphicData uri="http://schemas.openxmlformats.org/drawingml/2006/table">
            <a:tbl>
              <a:tblPr firstRow="1" bandRow="1">
                <a:tableStyleId>{5940675A-B579-460E-94D1-54222C63F5DA}</a:tableStyleId>
              </a:tblPr>
              <a:tblGrid>
                <a:gridCol w="1199092">
                  <a:extLst>
                    <a:ext uri="{9D8B030D-6E8A-4147-A177-3AD203B41FA5}">
                      <a16:colId xmlns:a16="http://schemas.microsoft.com/office/drawing/2014/main" val="1433488093"/>
                    </a:ext>
                  </a:extLst>
                </a:gridCol>
                <a:gridCol w="1199092">
                  <a:extLst>
                    <a:ext uri="{9D8B030D-6E8A-4147-A177-3AD203B41FA5}">
                      <a16:colId xmlns:a16="http://schemas.microsoft.com/office/drawing/2014/main" val="2871067180"/>
                    </a:ext>
                  </a:extLst>
                </a:gridCol>
                <a:gridCol w="1199092">
                  <a:extLst>
                    <a:ext uri="{9D8B030D-6E8A-4147-A177-3AD203B41FA5}">
                      <a16:colId xmlns:a16="http://schemas.microsoft.com/office/drawing/2014/main" val="1724417120"/>
                    </a:ext>
                  </a:extLst>
                </a:gridCol>
              </a:tblGrid>
              <a:tr h="614186">
                <a:tc>
                  <a:txBody>
                    <a:bodyPr/>
                    <a:lstStyle/>
                    <a:p>
                      <a:r>
                        <a:rPr lang="en-IN" b="1" u="sng" dirty="0"/>
                        <a:t>Model-1</a:t>
                      </a:r>
                    </a:p>
                  </a:txBody>
                  <a:tcPr/>
                </a:tc>
                <a:tc>
                  <a:txBody>
                    <a:bodyPr/>
                    <a:lstStyle/>
                    <a:p>
                      <a:r>
                        <a:rPr lang="en-IN" dirty="0"/>
                        <a:t>Predicted</a:t>
                      </a:r>
                    </a:p>
                    <a:p>
                      <a:r>
                        <a:rPr lang="en-IN" dirty="0"/>
                        <a:t>Spam</a:t>
                      </a:r>
                    </a:p>
                  </a:txBody>
                  <a:tcPr/>
                </a:tc>
                <a:tc>
                  <a:txBody>
                    <a:bodyPr/>
                    <a:lstStyle/>
                    <a:p>
                      <a:r>
                        <a:rPr lang="en-IN" dirty="0"/>
                        <a:t>Predicted Not-Spam</a:t>
                      </a:r>
                    </a:p>
                  </a:txBody>
                  <a:tcPr/>
                </a:tc>
                <a:extLst>
                  <a:ext uri="{0D108BD9-81ED-4DB2-BD59-A6C34878D82A}">
                    <a16:rowId xmlns:a16="http://schemas.microsoft.com/office/drawing/2014/main" val="3556202668"/>
                  </a:ext>
                </a:extLst>
              </a:tr>
              <a:tr h="614186">
                <a:tc>
                  <a:txBody>
                    <a:bodyPr/>
                    <a:lstStyle/>
                    <a:p>
                      <a:r>
                        <a:rPr lang="en-IN" dirty="0"/>
                        <a:t>Spam</a:t>
                      </a:r>
                    </a:p>
                  </a:txBody>
                  <a:tcPr/>
                </a:tc>
                <a:tc>
                  <a:txBody>
                    <a:bodyPr/>
                    <a:lstStyle/>
                    <a:p>
                      <a:pPr algn="ctr"/>
                      <a:r>
                        <a:rPr lang="en-IN" dirty="0">
                          <a:solidFill>
                            <a:schemeClr val="accent4"/>
                          </a:solidFill>
                        </a:rPr>
                        <a:t>100</a:t>
                      </a:r>
                    </a:p>
                  </a:txBody>
                  <a:tcPr anchor="ctr">
                    <a:solidFill>
                      <a:schemeClr val="tx2">
                        <a:lumMod val="10000"/>
                        <a:lumOff val="90000"/>
                      </a:schemeClr>
                    </a:solidFill>
                  </a:tcPr>
                </a:tc>
                <a:tc>
                  <a:txBody>
                    <a:bodyPr/>
                    <a:lstStyle/>
                    <a:p>
                      <a:pPr algn="ctr"/>
                      <a:r>
                        <a:rPr lang="en-IN" dirty="0">
                          <a:solidFill>
                            <a:schemeClr val="accent4"/>
                          </a:solidFill>
                        </a:rPr>
                        <a:t>170</a:t>
                      </a:r>
                    </a:p>
                  </a:txBody>
                  <a:tcPr anchor="ctr">
                    <a:solidFill>
                      <a:schemeClr val="tx2">
                        <a:lumMod val="10000"/>
                        <a:lumOff val="90000"/>
                      </a:schemeClr>
                    </a:solidFill>
                  </a:tcPr>
                </a:tc>
                <a:extLst>
                  <a:ext uri="{0D108BD9-81ED-4DB2-BD59-A6C34878D82A}">
                    <a16:rowId xmlns:a16="http://schemas.microsoft.com/office/drawing/2014/main" val="3529563913"/>
                  </a:ext>
                </a:extLst>
              </a:tr>
              <a:tr h="614186">
                <a:tc>
                  <a:txBody>
                    <a:bodyPr/>
                    <a:lstStyle/>
                    <a:p>
                      <a:r>
                        <a:rPr lang="en-IN" dirty="0"/>
                        <a:t>Not-Spam</a:t>
                      </a:r>
                    </a:p>
                  </a:txBody>
                  <a:tcPr/>
                </a:tc>
                <a:tc>
                  <a:txBody>
                    <a:bodyPr/>
                    <a:lstStyle/>
                    <a:p>
                      <a:pPr algn="ctr"/>
                      <a:r>
                        <a:rPr lang="en-IN" dirty="0">
                          <a:solidFill>
                            <a:schemeClr val="accent4"/>
                          </a:solidFill>
                        </a:rPr>
                        <a:t>30</a:t>
                      </a:r>
                    </a:p>
                  </a:txBody>
                  <a:tcPr anchor="ctr">
                    <a:solidFill>
                      <a:schemeClr val="tx2">
                        <a:lumMod val="10000"/>
                        <a:lumOff val="90000"/>
                      </a:schemeClr>
                    </a:solidFill>
                  </a:tcPr>
                </a:tc>
                <a:tc>
                  <a:txBody>
                    <a:bodyPr/>
                    <a:lstStyle/>
                    <a:p>
                      <a:pPr algn="ctr"/>
                      <a:r>
                        <a:rPr lang="en-IN" dirty="0">
                          <a:solidFill>
                            <a:schemeClr val="accent4"/>
                          </a:solidFill>
                        </a:rPr>
                        <a:t>700</a:t>
                      </a:r>
                    </a:p>
                  </a:txBody>
                  <a:tcPr anchor="ctr">
                    <a:solidFill>
                      <a:schemeClr val="tx2">
                        <a:lumMod val="10000"/>
                        <a:lumOff val="90000"/>
                      </a:schemeClr>
                    </a:solidFill>
                  </a:tcPr>
                </a:tc>
                <a:extLst>
                  <a:ext uri="{0D108BD9-81ED-4DB2-BD59-A6C34878D82A}">
                    <a16:rowId xmlns:a16="http://schemas.microsoft.com/office/drawing/2014/main" val="2134640688"/>
                  </a:ext>
                </a:extLst>
              </a:tr>
            </a:tbl>
          </a:graphicData>
        </a:graphic>
      </p:graphicFrame>
      <p:pic>
        <p:nvPicPr>
          <p:cNvPr id="10" name="Picture 9">
            <a:extLst>
              <a:ext uri="{FF2B5EF4-FFF2-40B4-BE49-F238E27FC236}">
                <a16:creationId xmlns:a16="http://schemas.microsoft.com/office/drawing/2014/main" id="{B30534D4-C0E8-676B-75AF-406A8C82A55A}"/>
              </a:ext>
            </a:extLst>
          </p:cNvPr>
          <p:cNvPicPr>
            <a:picLocks noChangeAspect="1"/>
          </p:cNvPicPr>
          <p:nvPr/>
        </p:nvPicPr>
        <p:blipFill>
          <a:blip r:embed="rId3"/>
          <a:stretch>
            <a:fillRect/>
          </a:stretch>
        </p:blipFill>
        <p:spPr>
          <a:xfrm>
            <a:off x="9391650" y="110901"/>
            <a:ext cx="2643352" cy="2271325"/>
          </a:xfrm>
          <a:prstGeom prst="rect">
            <a:avLst/>
          </a:prstGeom>
        </p:spPr>
      </p:pic>
      <p:graphicFrame>
        <p:nvGraphicFramePr>
          <p:cNvPr id="16" name="Table 15">
            <a:extLst>
              <a:ext uri="{FF2B5EF4-FFF2-40B4-BE49-F238E27FC236}">
                <a16:creationId xmlns:a16="http://schemas.microsoft.com/office/drawing/2014/main" id="{EC32BF77-8927-C502-047A-C17FB9F26B05}"/>
              </a:ext>
            </a:extLst>
          </p:cNvPr>
          <p:cNvGraphicFramePr>
            <a:graphicFrameLocks noGrp="1"/>
          </p:cNvGraphicFramePr>
          <p:nvPr>
            <p:extLst>
              <p:ext uri="{D42A27DB-BD31-4B8C-83A1-F6EECF244321}">
                <p14:modId xmlns:p14="http://schemas.microsoft.com/office/powerpoint/2010/main" val="865878411"/>
              </p:ext>
            </p:extLst>
          </p:nvPr>
        </p:nvGraphicFramePr>
        <p:xfrm>
          <a:off x="617536" y="3201949"/>
          <a:ext cx="3597276" cy="1868452"/>
        </p:xfrm>
        <a:graphic>
          <a:graphicData uri="http://schemas.openxmlformats.org/drawingml/2006/table">
            <a:tbl>
              <a:tblPr firstRow="1" bandRow="1">
                <a:tableStyleId>{5940675A-B579-460E-94D1-54222C63F5DA}</a:tableStyleId>
              </a:tblPr>
              <a:tblGrid>
                <a:gridCol w="1199092">
                  <a:extLst>
                    <a:ext uri="{9D8B030D-6E8A-4147-A177-3AD203B41FA5}">
                      <a16:colId xmlns:a16="http://schemas.microsoft.com/office/drawing/2014/main" val="1433488093"/>
                    </a:ext>
                  </a:extLst>
                </a:gridCol>
                <a:gridCol w="1199092">
                  <a:extLst>
                    <a:ext uri="{9D8B030D-6E8A-4147-A177-3AD203B41FA5}">
                      <a16:colId xmlns:a16="http://schemas.microsoft.com/office/drawing/2014/main" val="2871067180"/>
                    </a:ext>
                  </a:extLst>
                </a:gridCol>
                <a:gridCol w="1199092">
                  <a:extLst>
                    <a:ext uri="{9D8B030D-6E8A-4147-A177-3AD203B41FA5}">
                      <a16:colId xmlns:a16="http://schemas.microsoft.com/office/drawing/2014/main" val="1724417120"/>
                    </a:ext>
                  </a:extLst>
                </a:gridCol>
              </a:tblGrid>
              <a:tr h="614186">
                <a:tc>
                  <a:txBody>
                    <a:bodyPr/>
                    <a:lstStyle/>
                    <a:p>
                      <a:r>
                        <a:rPr lang="en-IN" b="1" u="sng" dirty="0"/>
                        <a:t>Model-2</a:t>
                      </a:r>
                    </a:p>
                  </a:txBody>
                  <a:tcPr/>
                </a:tc>
                <a:tc>
                  <a:txBody>
                    <a:bodyPr/>
                    <a:lstStyle/>
                    <a:p>
                      <a:r>
                        <a:rPr lang="en-IN" dirty="0"/>
                        <a:t>Predicted</a:t>
                      </a:r>
                    </a:p>
                    <a:p>
                      <a:r>
                        <a:rPr lang="en-IN" dirty="0"/>
                        <a:t>Spam</a:t>
                      </a:r>
                    </a:p>
                  </a:txBody>
                  <a:tcPr/>
                </a:tc>
                <a:tc>
                  <a:txBody>
                    <a:bodyPr/>
                    <a:lstStyle/>
                    <a:p>
                      <a:r>
                        <a:rPr lang="en-IN" dirty="0"/>
                        <a:t>Predicted Not-Spam</a:t>
                      </a:r>
                    </a:p>
                  </a:txBody>
                  <a:tcPr/>
                </a:tc>
                <a:extLst>
                  <a:ext uri="{0D108BD9-81ED-4DB2-BD59-A6C34878D82A}">
                    <a16:rowId xmlns:a16="http://schemas.microsoft.com/office/drawing/2014/main" val="3556202668"/>
                  </a:ext>
                </a:extLst>
              </a:tr>
              <a:tr h="614186">
                <a:tc>
                  <a:txBody>
                    <a:bodyPr/>
                    <a:lstStyle/>
                    <a:p>
                      <a:r>
                        <a:rPr lang="en-IN" dirty="0"/>
                        <a:t>Spam</a:t>
                      </a:r>
                    </a:p>
                  </a:txBody>
                  <a:tcPr/>
                </a:tc>
                <a:tc>
                  <a:txBody>
                    <a:bodyPr/>
                    <a:lstStyle/>
                    <a:p>
                      <a:pPr algn="ctr"/>
                      <a:r>
                        <a:rPr lang="en-IN" dirty="0">
                          <a:solidFill>
                            <a:schemeClr val="accent4"/>
                          </a:solidFill>
                        </a:rPr>
                        <a:t>100</a:t>
                      </a:r>
                    </a:p>
                  </a:txBody>
                  <a:tcPr anchor="ctr">
                    <a:solidFill>
                      <a:schemeClr val="tx2">
                        <a:lumMod val="10000"/>
                        <a:lumOff val="90000"/>
                      </a:schemeClr>
                    </a:solidFill>
                  </a:tcPr>
                </a:tc>
                <a:tc>
                  <a:txBody>
                    <a:bodyPr/>
                    <a:lstStyle/>
                    <a:p>
                      <a:pPr algn="ctr"/>
                      <a:r>
                        <a:rPr lang="en-IN" dirty="0">
                          <a:solidFill>
                            <a:schemeClr val="accent4"/>
                          </a:solidFill>
                        </a:rPr>
                        <a:t>190</a:t>
                      </a:r>
                    </a:p>
                  </a:txBody>
                  <a:tcPr anchor="ctr">
                    <a:solidFill>
                      <a:schemeClr val="tx2">
                        <a:lumMod val="10000"/>
                        <a:lumOff val="90000"/>
                      </a:schemeClr>
                    </a:solidFill>
                  </a:tcPr>
                </a:tc>
                <a:extLst>
                  <a:ext uri="{0D108BD9-81ED-4DB2-BD59-A6C34878D82A}">
                    <a16:rowId xmlns:a16="http://schemas.microsoft.com/office/drawing/2014/main" val="3529563913"/>
                  </a:ext>
                </a:extLst>
              </a:tr>
              <a:tr h="614186">
                <a:tc>
                  <a:txBody>
                    <a:bodyPr/>
                    <a:lstStyle/>
                    <a:p>
                      <a:r>
                        <a:rPr lang="en-IN" dirty="0"/>
                        <a:t>Not-Spam</a:t>
                      </a:r>
                    </a:p>
                  </a:txBody>
                  <a:tcPr/>
                </a:tc>
                <a:tc>
                  <a:txBody>
                    <a:bodyPr/>
                    <a:lstStyle/>
                    <a:p>
                      <a:pPr algn="ctr"/>
                      <a:r>
                        <a:rPr lang="en-IN" dirty="0">
                          <a:solidFill>
                            <a:schemeClr val="accent4"/>
                          </a:solidFill>
                        </a:rPr>
                        <a:t>10</a:t>
                      </a:r>
                    </a:p>
                  </a:txBody>
                  <a:tcPr anchor="ctr">
                    <a:solidFill>
                      <a:schemeClr val="tx2">
                        <a:lumMod val="10000"/>
                        <a:lumOff val="90000"/>
                      </a:schemeClr>
                    </a:solidFill>
                  </a:tcPr>
                </a:tc>
                <a:tc>
                  <a:txBody>
                    <a:bodyPr/>
                    <a:lstStyle/>
                    <a:p>
                      <a:pPr algn="ctr"/>
                      <a:r>
                        <a:rPr lang="en-IN" dirty="0">
                          <a:solidFill>
                            <a:schemeClr val="accent4"/>
                          </a:solidFill>
                        </a:rPr>
                        <a:t>700</a:t>
                      </a:r>
                    </a:p>
                  </a:txBody>
                  <a:tcPr anchor="ctr">
                    <a:solidFill>
                      <a:schemeClr val="tx2">
                        <a:lumMod val="10000"/>
                        <a:lumOff val="90000"/>
                      </a:schemeClr>
                    </a:solidFill>
                  </a:tcPr>
                </a:tc>
                <a:extLst>
                  <a:ext uri="{0D108BD9-81ED-4DB2-BD59-A6C34878D82A}">
                    <a16:rowId xmlns:a16="http://schemas.microsoft.com/office/drawing/2014/main" val="2134640688"/>
                  </a:ext>
                </a:extLst>
              </a:tr>
            </a:tbl>
          </a:graphicData>
        </a:graphic>
      </p:graphicFrame>
      <p:sp>
        <p:nvSpPr>
          <p:cNvPr id="22" name="TextBox 21">
            <a:extLst>
              <a:ext uri="{FF2B5EF4-FFF2-40B4-BE49-F238E27FC236}">
                <a16:creationId xmlns:a16="http://schemas.microsoft.com/office/drawing/2014/main" id="{4A8E873E-D344-91D0-A4DA-89F288E8B3C9}"/>
              </a:ext>
            </a:extLst>
          </p:cNvPr>
          <p:cNvSpPr txBox="1"/>
          <p:nvPr/>
        </p:nvSpPr>
        <p:spPr>
          <a:xfrm>
            <a:off x="588961" y="5296292"/>
            <a:ext cx="3735389" cy="646331"/>
          </a:xfrm>
          <a:prstGeom prst="rect">
            <a:avLst/>
          </a:prstGeom>
          <a:noFill/>
        </p:spPr>
        <p:txBody>
          <a:bodyPr wrap="square" rtlCol="0">
            <a:spAutoFit/>
          </a:bodyPr>
          <a:lstStyle/>
          <a:p>
            <a:r>
              <a:rPr lang="en-IN" dirty="0"/>
              <a:t>Cannot afford Type-1 error (FP) – Pick Model.2</a:t>
            </a:r>
          </a:p>
        </p:txBody>
      </p:sp>
      <p:graphicFrame>
        <p:nvGraphicFramePr>
          <p:cNvPr id="23" name="Table 22">
            <a:extLst>
              <a:ext uri="{FF2B5EF4-FFF2-40B4-BE49-F238E27FC236}">
                <a16:creationId xmlns:a16="http://schemas.microsoft.com/office/drawing/2014/main" id="{CD1AA5C9-79EE-4E0D-B3F9-CCD3B06F6D21}"/>
              </a:ext>
            </a:extLst>
          </p:cNvPr>
          <p:cNvGraphicFramePr>
            <a:graphicFrameLocks noGrp="1"/>
          </p:cNvGraphicFramePr>
          <p:nvPr>
            <p:extLst>
              <p:ext uri="{D42A27DB-BD31-4B8C-83A1-F6EECF244321}">
                <p14:modId xmlns:p14="http://schemas.microsoft.com/office/powerpoint/2010/main" val="731809954"/>
              </p:ext>
            </p:extLst>
          </p:nvPr>
        </p:nvGraphicFramePr>
        <p:xfrm>
          <a:off x="5020895" y="1023936"/>
          <a:ext cx="3706815" cy="1894346"/>
        </p:xfrm>
        <a:graphic>
          <a:graphicData uri="http://schemas.openxmlformats.org/drawingml/2006/table">
            <a:tbl>
              <a:tblPr firstRow="1" bandRow="1">
                <a:tableStyleId>{5940675A-B579-460E-94D1-54222C63F5DA}</a:tableStyleId>
              </a:tblPr>
              <a:tblGrid>
                <a:gridCol w="1235605">
                  <a:extLst>
                    <a:ext uri="{9D8B030D-6E8A-4147-A177-3AD203B41FA5}">
                      <a16:colId xmlns:a16="http://schemas.microsoft.com/office/drawing/2014/main" val="1433488093"/>
                    </a:ext>
                  </a:extLst>
                </a:gridCol>
                <a:gridCol w="1235605">
                  <a:extLst>
                    <a:ext uri="{9D8B030D-6E8A-4147-A177-3AD203B41FA5}">
                      <a16:colId xmlns:a16="http://schemas.microsoft.com/office/drawing/2014/main" val="2871067180"/>
                    </a:ext>
                  </a:extLst>
                </a:gridCol>
                <a:gridCol w="1235605">
                  <a:extLst>
                    <a:ext uri="{9D8B030D-6E8A-4147-A177-3AD203B41FA5}">
                      <a16:colId xmlns:a16="http://schemas.microsoft.com/office/drawing/2014/main" val="1724417120"/>
                    </a:ext>
                  </a:extLst>
                </a:gridCol>
              </a:tblGrid>
              <a:tr h="614186">
                <a:tc>
                  <a:txBody>
                    <a:bodyPr/>
                    <a:lstStyle/>
                    <a:p>
                      <a:r>
                        <a:rPr lang="en-IN" b="1" u="sng" dirty="0"/>
                        <a:t>Model-3</a:t>
                      </a:r>
                    </a:p>
                  </a:txBody>
                  <a:tcPr/>
                </a:tc>
                <a:tc>
                  <a:txBody>
                    <a:bodyPr/>
                    <a:lstStyle/>
                    <a:p>
                      <a:r>
                        <a:rPr lang="en-IN" dirty="0"/>
                        <a:t>Predicted</a:t>
                      </a:r>
                    </a:p>
                    <a:p>
                      <a:r>
                        <a:rPr lang="en-IN" dirty="0"/>
                        <a:t>Cancer</a:t>
                      </a:r>
                    </a:p>
                  </a:txBody>
                  <a:tcPr/>
                </a:tc>
                <a:tc>
                  <a:txBody>
                    <a:bodyPr/>
                    <a:lstStyle/>
                    <a:p>
                      <a:r>
                        <a:rPr lang="en-IN" dirty="0"/>
                        <a:t>Predicted No-cancer</a:t>
                      </a:r>
                    </a:p>
                  </a:txBody>
                  <a:tcPr/>
                </a:tc>
                <a:extLst>
                  <a:ext uri="{0D108BD9-81ED-4DB2-BD59-A6C34878D82A}">
                    <a16:rowId xmlns:a16="http://schemas.microsoft.com/office/drawing/2014/main" val="3556202668"/>
                  </a:ext>
                </a:extLst>
              </a:tr>
              <a:tr h="614186">
                <a:tc>
                  <a:txBody>
                    <a:bodyPr/>
                    <a:lstStyle/>
                    <a:p>
                      <a:r>
                        <a:rPr lang="en-IN" dirty="0"/>
                        <a:t>Cancer</a:t>
                      </a:r>
                    </a:p>
                  </a:txBody>
                  <a:tcPr/>
                </a:tc>
                <a:tc>
                  <a:txBody>
                    <a:bodyPr/>
                    <a:lstStyle/>
                    <a:p>
                      <a:pPr algn="ctr"/>
                      <a:r>
                        <a:rPr lang="en-IN" dirty="0">
                          <a:solidFill>
                            <a:schemeClr val="accent4"/>
                          </a:solidFill>
                        </a:rPr>
                        <a:t>1000</a:t>
                      </a:r>
                    </a:p>
                  </a:txBody>
                  <a:tcPr anchor="ctr">
                    <a:solidFill>
                      <a:schemeClr val="tx2">
                        <a:lumMod val="10000"/>
                        <a:lumOff val="90000"/>
                      </a:schemeClr>
                    </a:solidFill>
                  </a:tcPr>
                </a:tc>
                <a:tc>
                  <a:txBody>
                    <a:bodyPr/>
                    <a:lstStyle/>
                    <a:p>
                      <a:pPr algn="ctr"/>
                      <a:r>
                        <a:rPr lang="en-IN" dirty="0">
                          <a:solidFill>
                            <a:schemeClr val="accent4"/>
                          </a:solidFill>
                        </a:rPr>
                        <a:t>200</a:t>
                      </a:r>
                    </a:p>
                  </a:txBody>
                  <a:tcPr anchor="ctr">
                    <a:solidFill>
                      <a:schemeClr val="tx2">
                        <a:lumMod val="10000"/>
                        <a:lumOff val="90000"/>
                      </a:schemeClr>
                    </a:solidFill>
                  </a:tcPr>
                </a:tc>
                <a:extLst>
                  <a:ext uri="{0D108BD9-81ED-4DB2-BD59-A6C34878D82A}">
                    <a16:rowId xmlns:a16="http://schemas.microsoft.com/office/drawing/2014/main" val="3529563913"/>
                  </a:ext>
                </a:extLst>
              </a:tr>
              <a:tr h="614186">
                <a:tc>
                  <a:txBody>
                    <a:bodyPr/>
                    <a:lstStyle/>
                    <a:p>
                      <a:r>
                        <a:rPr lang="en-IN" dirty="0"/>
                        <a:t>No Cancer</a:t>
                      </a:r>
                    </a:p>
                  </a:txBody>
                  <a:tcPr/>
                </a:tc>
                <a:tc>
                  <a:txBody>
                    <a:bodyPr/>
                    <a:lstStyle/>
                    <a:p>
                      <a:pPr algn="ctr"/>
                      <a:r>
                        <a:rPr lang="en-IN" dirty="0">
                          <a:solidFill>
                            <a:schemeClr val="accent4"/>
                          </a:solidFill>
                        </a:rPr>
                        <a:t>800</a:t>
                      </a:r>
                    </a:p>
                  </a:txBody>
                  <a:tcPr anchor="ctr">
                    <a:solidFill>
                      <a:schemeClr val="tx2">
                        <a:lumMod val="10000"/>
                        <a:lumOff val="90000"/>
                      </a:schemeClr>
                    </a:solidFill>
                  </a:tcPr>
                </a:tc>
                <a:tc>
                  <a:txBody>
                    <a:bodyPr/>
                    <a:lstStyle/>
                    <a:p>
                      <a:pPr algn="ctr"/>
                      <a:r>
                        <a:rPr lang="en-IN" dirty="0">
                          <a:solidFill>
                            <a:schemeClr val="accent4"/>
                          </a:solidFill>
                        </a:rPr>
                        <a:t>8000</a:t>
                      </a:r>
                    </a:p>
                  </a:txBody>
                  <a:tcPr anchor="ctr">
                    <a:solidFill>
                      <a:schemeClr val="tx2">
                        <a:lumMod val="10000"/>
                        <a:lumOff val="90000"/>
                      </a:schemeClr>
                    </a:solidFill>
                  </a:tcPr>
                </a:tc>
                <a:extLst>
                  <a:ext uri="{0D108BD9-81ED-4DB2-BD59-A6C34878D82A}">
                    <a16:rowId xmlns:a16="http://schemas.microsoft.com/office/drawing/2014/main" val="2134640688"/>
                  </a:ext>
                </a:extLst>
              </a:tr>
            </a:tbl>
          </a:graphicData>
        </a:graphic>
      </p:graphicFrame>
      <p:sp>
        <p:nvSpPr>
          <p:cNvPr id="25" name="TextBox 24">
            <a:extLst>
              <a:ext uri="{FF2B5EF4-FFF2-40B4-BE49-F238E27FC236}">
                <a16:creationId xmlns:a16="http://schemas.microsoft.com/office/drawing/2014/main" id="{AB245AEE-0EDA-6D62-7651-3661022C20DF}"/>
              </a:ext>
            </a:extLst>
          </p:cNvPr>
          <p:cNvSpPr txBox="1"/>
          <p:nvPr/>
        </p:nvSpPr>
        <p:spPr>
          <a:xfrm>
            <a:off x="4992320" y="5334000"/>
            <a:ext cx="3735389" cy="646331"/>
          </a:xfrm>
          <a:prstGeom prst="rect">
            <a:avLst/>
          </a:prstGeom>
          <a:noFill/>
        </p:spPr>
        <p:txBody>
          <a:bodyPr wrap="square" rtlCol="0">
            <a:spAutoFit/>
          </a:bodyPr>
          <a:lstStyle/>
          <a:p>
            <a:r>
              <a:rPr lang="en-IN" dirty="0"/>
              <a:t>Cannot afford Type-2 error (FN) – Pick Model.3</a:t>
            </a:r>
          </a:p>
        </p:txBody>
      </p:sp>
      <p:graphicFrame>
        <p:nvGraphicFramePr>
          <p:cNvPr id="26" name="Table 25">
            <a:extLst>
              <a:ext uri="{FF2B5EF4-FFF2-40B4-BE49-F238E27FC236}">
                <a16:creationId xmlns:a16="http://schemas.microsoft.com/office/drawing/2014/main" id="{23730CAD-480D-A1A4-F414-8DE616940B91}"/>
              </a:ext>
            </a:extLst>
          </p:cNvPr>
          <p:cNvGraphicFramePr>
            <a:graphicFrameLocks noGrp="1"/>
          </p:cNvGraphicFramePr>
          <p:nvPr>
            <p:extLst>
              <p:ext uri="{D42A27DB-BD31-4B8C-83A1-F6EECF244321}">
                <p14:modId xmlns:p14="http://schemas.microsoft.com/office/powerpoint/2010/main" val="4083279529"/>
              </p:ext>
            </p:extLst>
          </p:nvPr>
        </p:nvGraphicFramePr>
        <p:xfrm>
          <a:off x="5011370" y="3186111"/>
          <a:ext cx="3706815" cy="1894346"/>
        </p:xfrm>
        <a:graphic>
          <a:graphicData uri="http://schemas.openxmlformats.org/drawingml/2006/table">
            <a:tbl>
              <a:tblPr firstRow="1" bandRow="1">
                <a:tableStyleId>{5940675A-B579-460E-94D1-54222C63F5DA}</a:tableStyleId>
              </a:tblPr>
              <a:tblGrid>
                <a:gridCol w="1235605">
                  <a:extLst>
                    <a:ext uri="{9D8B030D-6E8A-4147-A177-3AD203B41FA5}">
                      <a16:colId xmlns:a16="http://schemas.microsoft.com/office/drawing/2014/main" val="1433488093"/>
                    </a:ext>
                  </a:extLst>
                </a:gridCol>
                <a:gridCol w="1235605">
                  <a:extLst>
                    <a:ext uri="{9D8B030D-6E8A-4147-A177-3AD203B41FA5}">
                      <a16:colId xmlns:a16="http://schemas.microsoft.com/office/drawing/2014/main" val="2871067180"/>
                    </a:ext>
                  </a:extLst>
                </a:gridCol>
                <a:gridCol w="1235605">
                  <a:extLst>
                    <a:ext uri="{9D8B030D-6E8A-4147-A177-3AD203B41FA5}">
                      <a16:colId xmlns:a16="http://schemas.microsoft.com/office/drawing/2014/main" val="1724417120"/>
                    </a:ext>
                  </a:extLst>
                </a:gridCol>
              </a:tblGrid>
              <a:tr h="614186">
                <a:tc>
                  <a:txBody>
                    <a:bodyPr/>
                    <a:lstStyle/>
                    <a:p>
                      <a:r>
                        <a:rPr lang="en-IN" b="1" u="sng" dirty="0"/>
                        <a:t>Model-3</a:t>
                      </a:r>
                    </a:p>
                  </a:txBody>
                  <a:tcPr/>
                </a:tc>
                <a:tc>
                  <a:txBody>
                    <a:bodyPr/>
                    <a:lstStyle/>
                    <a:p>
                      <a:r>
                        <a:rPr lang="en-IN" dirty="0"/>
                        <a:t>Predicted</a:t>
                      </a:r>
                    </a:p>
                    <a:p>
                      <a:r>
                        <a:rPr lang="en-IN" dirty="0"/>
                        <a:t>Cancer</a:t>
                      </a:r>
                    </a:p>
                  </a:txBody>
                  <a:tcPr/>
                </a:tc>
                <a:tc>
                  <a:txBody>
                    <a:bodyPr/>
                    <a:lstStyle/>
                    <a:p>
                      <a:r>
                        <a:rPr lang="en-IN" dirty="0"/>
                        <a:t>Predicted No-cancer</a:t>
                      </a:r>
                    </a:p>
                  </a:txBody>
                  <a:tcPr/>
                </a:tc>
                <a:extLst>
                  <a:ext uri="{0D108BD9-81ED-4DB2-BD59-A6C34878D82A}">
                    <a16:rowId xmlns:a16="http://schemas.microsoft.com/office/drawing/2014/main" val="3556202668"/>
                  </a:ext>
                </a:extLst>
              </a:tr>
              <a:tr h="614186">
                <a:tc>
                  <a:txBody>
                    <a:bodyPr/>
                    <a:lstStyle/>
                    <a:p>
                      <a:r>
                        <a:rPr lang="en-IN" dirty="0"/>
                        <a:t>Cancer</a:t>
                      </a:r>
                    </a:p>
                  </a:txBody>
                  <a:tcPr/>
                </a:tc>
                <a:tc>
                  <a:txBody>
                    <a:bodyPr/>
                    <a:lstStyle/>
                    <a:p>
                      <a:pPr algn="ctr"/>
                      <a:r>
                        <a:rPr lang="en-IN" dirty="0">
                          <a:solidFill>
                            <a:schemeClr val="accent4"/>
                          </a:solidFill>
                        </a:rPr>
                        <a:t>1000</a:t>
                      </a:r>
                    </a:p>
                  </a:txBody>
                  <a:tcPr anchor="ctr">
                    <a:solidFill>
                      <a:schemeClr val="tx2">
                        <a:lumMod val="10000"/>
                        <a:lumOff val="90000"/>
                      </a:schemeClr>
                    </a:solidFill>
                  </a:tcPr>
                </a:tc>
                <a:tc>
                  <a:txBody>
                    <a:bodyPr/>
                    <a:lstStyle/>
                    <a:p>
                      <a:pPr algn="ctr"/>
                      <a:r>
                        <a:rPr lang="en-IN" dirty="0">
                          <a:solidFill>
                            <a:schemeClr val="accent4"/>
                          </a:solidFill>
                        </a:rPr>
                        <a:t>500</a:t>
                      </a:r>
                    </a:p>
                  </a:txBody>
                  <a:tcPr anchor="ctr">
                    <a:solidFill>
                      <a:schemeClr val="tx2">
                        <a:lumMod val="10000"/>
                        <a:lumOff val="90000"/>
                      </a:schemeClr>
                    </a:solidFill>
                  </a:tcPr>
                </a:tc>
                <a:extLst>
                  <a:ext uri="{0D108BD9-81ED-4DB2-BD59-A6C34878D82A}">
                    <a16:rowId xmlns:a16="http://schemas.microsoft.com/office/drawing/2014/main" val="3529563913"/>
                  </a:ext>
                </a:extLst>
              </a:tr>
              <a:tr h="614186">
                <a:tc>
                  <a:txBody>
                    <a:bodyPr/>
                    <a:lstStyle/>
                    <a:p>
                      <a:r>
                        <a:rPr lang="en-IN" dirty="0"/>
                        <a:t>No Cancer</a:t>
                      </a:r>
                    </a:p>
                  </a:txBody>
                  <a:tcPr/>
                </a:tc>
                <a:tc>
                  <a:txBody>
                    <a:bodyPr/>
                    <a:lstStyle/>
                    <a:p>
                      <a:pPr algn="ctr"/>
                      <a:r>
                        <a:rPr lang="en-IN" dirty="0">
                          <a:solidFill>
                            <a:schemeClr val="accent4"/>
                          </a:solidFill>
                        </a:rPr>
                        <a:t>500</a:t>
                      </a:r>
                    </a:p>
                  </a:txBody>
                  <a:tcPr anchor="ctr">
                    <a:solidFill>
                      <a:schemeClr val="tx2">
                        <a:lumMod val="10000"/>
                        <a:lumOff val="90000"/>
                      </a:schemeClr>
                    </a:solidFill>
                  </a:tcPr>
                </a:tc>
                <a:tc>
                  <a:txBody>
                    <a:bodyPr/>
                    <a:lstStyle/>
                    <a:p>
                      <a:pPr algn="ctr"/>
                      <a:r>
                        <a:rPr lang="en-IN" dirty="0">
                          <a:solidFill>
                            <a:schemeClr val="accent4"/>
                          </a:solidFill>
                        </a:rPr>
                        <a:t>8000</a:t>
                      </a:r>
                    </a:p>
                  </a:txBody>
                  <a:tcPr anchor="ctr">
                    <a:solidFill>
                      <a:schemeClr val="tx2">
                        <a:lumMod val="10000"/>
                        <a:lumOff val="90000"/>
                      </a:schemeClr>
                    </a:solidFill>
                  </a:tcPr>
                </a:tc>
                <a:extLst>
                  <a:ext uri="{0D108BD9-81ED-4DB2-BD59-A6C34878D82A}">
                    <a16:rowId xmlns:a16="http://schemas.microsoft.com/office/drawing/2014/main" val="2134640688"/>
                  </a:ext>
                </a:extLst>
              </a:tr>
            </a:tbl>
          </a:graphicData>
        </a:graphic>
      </p:graphicFrame>
      <p:cxnSp>
        <p:nvCxnSpPr>
          <p:cNvPr id="28" name="Straight Connector 27">
            <a:extLst>
              <a:ext uri="{FF2B5EF4-FFF2-40B4-BE49-F238E27FC236}">
                <a16:creationId xmlns:a16="http://schemas.microsoft.com/office/drawing/2014/main" id="{09E16773-A95F-B226-E5DC-7A60C2708ED0}"/>
              </a:ext>
            </a:extLst>
          </p:cNvPr>
          <p:cNvCxnSpPr/>
          <p:nvPr/>
        </p:nvCxnSpPr>
        <p:spPr>
          <a:xfrm>
            <a:off x="4609708" y="825969"/>
            <a:ext cx="0" cy="54720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A79C0C7-D63A-31F5-BDDA-C99600B23980}"/>
                  </a:ext>
                </a:extLst>
              </p:cNvPr>
              <p:cNvSpPr txBox="1"/>
              <p:nvPr/>
            </p:nvSpPr>
            <p:spPr>
              <a:xfrm>
                <a:off x="8926362" y="2615730"/>
                <a:ext cx="3108635" cy="1172437"/>
              </a:xfrm>
              <a:prstGeom prst="rect">
                <a:avLst/>
              </a:prstGeom>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1600" b="0" i="1" smtClean="0">
                          <a:solidFill>
                            <a:schemeClr val="accent4"/>
                          </a:solidFill>
                          <a:latin typeface="Cambria Math" panose="02040503050406030204" pitchFamily="18" charset="0"/>
                        </a:rPr>
                        <m:t>𝑃𝑟𝑒𝑐𝑖𝑠𝑖𝑜𝑛</m:t>
                      </m:r>
                      <m:r>
                        <a:rPr lang="en-IN" sz="1600" b="0" i="1" smtClean="0">
                          <a:solidFill>
                            <a:schemeClr val="accent4"/>
                          </a:solidFill>
                          <a:latin typeface="Cambria Math" panose="02040503050406030204" pitchFamily="18" charset="0"/>
                        </a:rPr>
                        <m:t>=</m:t>
                      </m:r>
                      <m:f>
                        <m:fPr>
                          <m:ctrlPr>
                            <a:rPr lang="en-IN" sz="1600" b="0" i="1" smtClean="0">
                              <a:solidFill>
                                <a:schemeClr val="accent4"/>
                              </a:solidFill>
                              <a:latin typeface="Cambria Math" panose="02040503050406030204" pitchFamily="18" charset="0"/>
                            </a:rPr>
                          </m:ctrlPr>
                        </m:fPr>
                        <m:num>
                          <m:r>
                            <a:rPr lang="en-IN" sz="1600" b="0" i="1" smtClean="0">
                              <a:solidFill>
                                <a:schemeClr val="accent4"/>
                              </a:solidFill>
                              <a:latin typeface="Cambria Math" panose="02040503050406030204" pitchFamily="18" charset="0"/>
                            </a:rPr>
                            <m:t>𝑇𝑟𝑢𝑒</m:t>
                          </m:r>
                          <m:r>
                            <a:rPr lang="en-IN" sz="1600" b="0" i="1" smtClean="0">
                              <a:solidFill>
                                <a:schemeClr val="accent4"/>
                              </a:solidFill>
                              <a:latin typeface="Cambria Math" panose="02040503050406030204" pitchFamily="18" charset="0"/>
                            </a:rPr>
                            <m:t> </m:t>
                          </m:r>
                          <m:r>
                            <a:rPr lang="en-IN" sz="1600" b="0" i="1" smtClean="0">
                              <a:solidFill>
                                <a:schemeClr val="accent4"/>
                              </a:solidFill>
                              <a:latin typeface="Cambria Math" panose="02040503050406030204" pitchFamily="18" charset="0"/>
                            </a:rPr>
                            <m:t>𝑃𝑜𝑠𝑖𝑡𝑖𝑣𝑒</m:t>
                          </m:r>
                        </m:num>
                        <m:den>
                          <m:r>
                            <a:rPr lang="en-IN" sz="1600" b="0" i="1" smtClean="0">
                              <a:solidFill>
                                <a:schemeClr val="accent4"/>
                              </a:solidFill>
                              <a:latin typeface="Cambria Math" panose="02040503050406030204" pitchFamily="18" charset="0"/>
                            </a:rPr>
                            <m:t>𝑃𝑟𝑒𝑑𝑖𝑐𝑡𝑒𝑑</m:t>
                          </m:r>
                          <m:r>
                            <a:rPr lang="en-IN" sz="1600" b="0" i="1" smtClean="0">
                              <a:solidFill>
                                <a:schemeClr val="accent4"/>
                              </a:solidFill>
                              <a:latin typeface="Cambria Math" panose="02040503050406030204" pitchFamily="18" charset="0"/>
                            </a:rPr>
                            <m:t> </m:t>
                          </m:r>
                          <m:r>
                            <a:rPr lang="en-IN" sz="1600" b="0" i="1" smtClean="0">
                              <a:solidFill>
                                <a:schemeClr val="accent4"/>
                              </a:solidFill>
                              <a:latin typeface="Cambria Math" panose="02040503050406030204" pitchFamily="18" charset="0"/>
                            </a:rPr>
                            <m:t>𝑃𝑜𝑠𝑖𝑡𝑖𝑣𝑒</m:t>
                          </m:r>
                        </m:den>
                      </m:f>
                    </m:oMath>
                  </m:oMathPara>
                </a14:m>
                <a:endParaRPr lang="en-IN" sz="1600" b="0" i="1" dirty="0">
                  <a:solidFill>
                    <a:schemeClr val="accent4"/>
                  </a:solidFill>
                  <a:latin typeface="Cambria Math" panose="02040503050406030204" pitchFamily="18" charset="0"/>
                </a:endParaRPr>
              </a:p>
              <a:p>
                <a:endParaRPr lang="en-IN" sz="1600" b="0" i="1" dirty="0">
                  <a:solidFill>
                    <a:schemeClr val="accent4"/>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sz="1600" b="0" i="1" smtClean="0">
                          <a:solidFill>
                            <a:schemeClr val="accent4"/>
                          </a:solidFill>
                          <a:latin typeface="Cambria Math" panose="02040503050406030204" pitchFamily="18" charset="0"/>
                        </a:rPr>
                        <m:t>=</m:t>
                      </m:r>
                      <m:f>
                        <m:fPr>
                          <m:ctrlPr>
                            <a:rPr lang="en-IN" sz="1600" b="0" i="1" smtClean="0">
                              <a:solidFill>
                                <a:schemeClr val="accent4"/>
                              </a:solidFill>
                              <a:latin typeface="Cambria Math" panose="02040503050406030204" pitchFamily="18" charset="0"/>
                            </a:rPr>
                          </m:ctrlPr>
                        </m:fPr>
                        <m:num>
                          <m:r>
                            <a:rPr lang="en-IN" sz="1600" b="0" i="1" smtClean="0">
                              <a:solidFill>
                                <a:schemeClr val="accent4"/>
                              </a:solidFill>
                              <a:latin typeface="Cambria Math" panose="02040503050406030204" pitchFamily="18" charset="0"/>
                            </a:rPr>
                            <m:t>𝑇𝑃</m:t>
                          </m:r>
                        </m:num>
                        <m:den>
                          <m:r>
                            <a:rPr lang="en-IN" sz="1600" b="0" i="1" smtClean="0">
                              <a:solidFill>
                                <a:schemeClr val="accent4"/>
                              </a:solidFill>
                              <a:latin typeface="Cambria Math" panose="02040503050406030204" pitchFamily="18" charset="0"/>
                            </a:rPr>
                            <m:t>𝑇𝑃</m:t>
                          </m:r>
                          <m:r>
                            <a:rPr lang="en-IN" sz="1600" b="0" i="1" smtClean="0">
                              <a:solidFill>
                                <a:schemeClr val="accent4"/>
                              </a:solidFill>
                              <a:latin typeface="Cambria Math" panose="02040503050406030204" pitchFamily="18" charset="0"/>
                            </a:rPr>
                            <m:t>+</m:t>
                          </m:r>
                          <m:r>
                            <a:rPr lang="en-IN" sz="1600" b="0" i="1" smtClean="0">
                              <a:solidFill>
                                <a:schemeClr val="accent4"/>
                              </a:solidFill>
                              <a:latin typeface="Cambria Math" panose="02040503050406030204" pitchFamily="18" charset="0"/>
                            </a:rPr>
                            <m:t>𝐹𝑃</m:t>
                          </m:r>
                        </m:den>
                      </m:f>
                    </m:oMath>
                  </m:oMathPara>
                </a14:m>
                <a:endParaRPr lang="en-IN" sz="1600" dirty="0">
                  <a:solidFill>
                    <a:schemeClr val="accent4"/>
                  </a:solidFill>
                </a:endParaRPr>
              </a:p>
            </p:txBody>
          </p:sp>
        </mc:Choice>
        <mc:Fallback xmlns="">
          <p:sp>
            <p:nvSpPr>
              <p:cNvPr id="29" name="TextBox 28">
                <a:extLst>
                  <a:ext uri="{FF2B5EF4-FFF2-40B4-BE49-F238E27FC236}">
                    <a16:creationId xmlns:a16="http://schemas.microsoft.com/office/drawing/2014/main" id="{5A79C0C7-D63A-31F5-BDDA-C99600B23980}"/>
                  </a:ext>
                </a:extLst>
              </p:cNvPr>
              <p:cNvSpPr txBox="1">
                <a:spLocks noRot="1" noChangeAspect="1" noMove="1" noResize="1" noEditPoints="1" noAdjustHandles="1" noChangeArrowheads="1" noChangeShapeType="1" noTextEdit="1"/>
              </p:cNvSpPr>
              <p:nvPr/>
            </p:nvSpPr>
            <p:spPr>
              <a:xfrm>
                <a:off x="8926362" y="2615730"/>
                <a:ext cx="3108635" cy="1172437"/>
              </a:xfrm>
              <a:prstGeom prst="rect">
                <a:avLst/>
              </a:prstGeom>
              <a:blipFill>
                <a:blip r:embed="rId4"/>
                <a:stretch>
                  <a:fillRect/>
                </a:stretch>
              </a:blipFill>
            </p:spPr>
            <p:txBody>
              <a:bodyPr/>
              <a:lstStyle/>
              <a:p>
                <a:r>
                  <a:rPr lang="en-IN">
                    <a:noFill/>
                  </a:rPr>
                  <a:t> </a:t>
                </a:r>
              </a:p>
            </p:txBody>
          </p:sp>
        </mc:Fallback>
      </mc:AlternateContent>
      <p:sp>
        <p:nvSpPr>
          <p:cNvPr id="30" name="Rectangle: Rounded Corners 29">
            <a:extLst>
              <a:ext uri="{FF2B5EF4-FFF2-40B4-BE49-F238E27FC236}">
                <a16:creationId xmlns:a16="http://schemas.microsoft.com/office/drawing/2014/main" id="{3B459796-616E-4852-1562-83D92E856FB4}"/>
              </a:ext>
            </a:extLst>
          </p:cNvPr>
          <p:cNvSpPr/>
          <p:nvPr/>
        </p:nvSpPr>
        <p:spPr>
          <a:xfrm>
            <a:off x="1756298" y="6008612"/>
            <a:ext cx="1319751" cy="317638"/>
          </a:xfrm>
          <a:prstGeom prst="roundRect">
            <a:avLst/>
          </a:prstGeom>
          <a:ln w="38100">
            <a:no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Precision</a:t>
            </a:r>
          </a:p>
        </p:txBody>
      </p:sp>
      <p:sp>
        <p:nvSpPr>
          <p:cNvPr id="31" name="Rectangle: Rounded Corners 30">
            <a:extLst>
              <a:ext uri="{FF2B5EF4-FFF2-40B4-BE49-F238E27FC236}">
                <a16:creationId xmlns:a16="http://schemas.microsoft.com/office/drawing/2014/main" id="{1435D97A-355E-0D37-180B-D58419B41FC8}"/>
              </a:ext>
            </a:extLst>
          </p:cNvPr>
          <p:cNvSpPr/>
          <p:nvPr/>
        </p:nvSpPr>
        <p:spPr>
          <a:xfrm>
            <a:off x="6200138" y="6075055"/>
            <a:ext cx="1319751" cy="317638"/>
          </a:xfrm>
          <a:prstGeom prst="roundRect">
            <a:avLst/>
          </a:prstGeom>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Recall</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65A699F-88E2-CA49-A45E-46013D84BA40}"/>
                  </a:ext>
                </a:extLst>
              </p:cNvPr>
              <p:cNvSpPr txBox="1"/>
              <p:nvPr/>
            </p:nvSpPr>
            <p:spPr>
              <a:xfrm>
                <a:off x="8926361" y="3956011"/>
                <a:ext cx="3108635" cy="1172437"/>
              </a:xfrm>
              <a:prstGeom prst="rect">
                <a:avLst/>
              </a:prstGeom>
              <a:ln>
                <a:solidFill>
                  <a:schemeClr val="accent3"/>
                </a:solidFill>
              </a:ln>
            </p:spPr>
            <p:style>
              <a:lnRef idx="2">
                <a:schemeClr val="accent6"/>
              </a:lnRef>
              <a:fillRef idx="1">
                <a:schemeClr val="lt1"/>
              </a:fillRef>
              <a:effectRef idx="0">
                <a:schemeClr val="accent6"/>
              </a:effectRef>
              <a:fontRef idx="minor">
                <a:schemeClr val="dk1"/>
              </a:fontRef>
            </p:style>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1600" b="0" i="1" smtClean="0">
                          <a:solidFill>
                            <a:schemeClr val="accent6"/>
                          </a:solidFill>
                          <a:latin typeface="Cambria Math" panose="02040503050406030204" pitchFamily="18" charset="0"/>
                        </a:rPr>
                        <m:t>𝑅𝑒𝑐𝑎𝑙𝑙</m:t>
                      </m:r>
                      <m:r>
                        <a:rPr lang="en-IN" sz="1600" b="0" i="1" smtClean="0">
                          <a:solidFill>
                            <a:schemeClr val="accent6"/>
                          </a:solidFill>
                          <a:latin typeface="Cambria Math" panose="02040503050406030204" pitchFamily="18" charset="0"/>
                        </a:rPr>
                        <m:t>=</m:t>
                      </m:r>
                      <m:f>
                        <m:fPr>
                          <m:ctrlPr>
                            <a:rPr lang="en-IN" sz="1600" b="0" i="1" smtClean="0">
                              <a:solidFill>
                                <a:schemeClr val="accent6"/>
                              </a:solidFill>
                              <a:latin typeface="Cambria Math" panose="02040503050406030204" pitchFamily="18" charset="0"/>
                            </a:rPr>
                          </m:ctrlPr>
                        </m:fPr>
                        <m:num>
                          <m:r>
                            <a:rPr lang="en-IN" sz="1600" b="0" i="1" smtClean="0">
                              <a:solidFill>
                                <a:schemeClr val="accent6"/>
                              </a:solidFill>
                              <a:latin typeface="Cambria Math" panose="02040503050406030204" pitchFamily="18" charset="0"/>
                            </a:rPr>
                            <m:t>𝑇𝑟𝑢𝑒</m:t>
                          </m:r>
                          <m:r>
                            <a:rPr lang="en-IN" sz="1600" b="0" i="1" smtClean="0">
                              <a:solidFill>
                                <a:schemeClr val="accent6"/>
                              </a:solidFill>
                              <a:latin typeface="Cambria Math" panose="02040503050406030204" pitchFamily="18" charset="0"/>
                            </a:rPr>
                            <m:t> </m:t>
                          </m:r>
                          <m:r>
                            <a:rPr lang="en-IN" sz="1600" b="0" i="1" smtClean="0">
                              <a:solidFill>
                                <a:schemeClr val="accent6"/>
                              </a:solidFill>
                              <a:latin typeface="Cambria Math" panose="02040503050406030204" pitchFamily="18" charset="0"/>
                            </a:rPr>
                            <m:t>𝑃𝑜𝑠𝑖𝑡𝑖𝑣𝑒</m:t>
                          </m:r>
                        </m:num>
                        <m:den>
                          <m:r>
                            <a:rPr lang="en-IN" sz="1600" b="0" i="1" smtClean="0">
                              <a:solidFill>
                                <a:schemeClr val="accent6"/>
                              </a:solidFill>
                              <a:latin typeface="Cambria Math" panose="02040503050406030204" pitchFamily="18" charset="0"/>
                            </a:rPr>
                            <m:t>𝐴𝑐𝑡𝑢𝑎𝑙</m:t>
                          </m:r>
                          <m:r>
                            <a:rPr lang="en-IN" sz="1600" b="0" i="1" smtClean="0">
                              <a:solidFill>
                                <a:schemeClr val="accent6"/>
                              </a:solidFill>
                              <a:latin typeface="Cambria Math" panose="02040503050406030204" pitchFamily="18" charset="0"/>
                            </a:rPr>
                            <m:t> </m:t>
                          </m:r>
                          <m:r>
                            <a:rPr lang="en-IN" sz="1600" b="0" i="1" smtClean="0">
                              <a:solidFill>
                                <a:schemeClr val="accent6"/>
                              </a:solidFill>
                              <a:latin typeface="Cambria Math" panose="02040503050406030204" pitchFamily="18" charset="0"/>
                            </a:rPr>
                            <m:t>𝑃𝑜𝑠𝑖𝑡𝑖𝑣𝑒</m:t>
                          </m:r>
                        </m:den>
                      </m:f>
                    </m:oMath>
                  </m:oMathPara>
                </a14:m>
                <a:endParaRPr lang="en-IN" sz="1600" b="0" i="1" dirty="0">
                  <a:solidFill>
                    <a:schemeClr val="accent6"/>
                  </a:solidFill>
                  <a:latin typeface="Cambria Math" panose="02040503050406030204" pitchFamily="18" charset="0"/>
                </a:endParaRPr>
              </a:p>
              <a:p>
                <a:endParaRPr lang="en-IN" sz="1600" b="0" i="1" dirty="0">
                  <a:solidFill>
                    <a:schemeClr val="accent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sz="1600" b="0" i="1" smtClean="0">
                          <a:solidFill>
                            <a:schemeClr val="accent6"/>
                          </a:solidFill>
                          <a:latin typeface="Cambria Math" panose="02040503050406030204" pitchFamily="18" charset="0"/>
                        </a:rPr>
                        <m:t>=</m:t>
                      </m:r>
                      <m:f>
                        <m:fPr>
                          <m:ctrlPr>
                            <a:rPr lang="en-IN" sz="1600" b="0" i="1" smtClean="0">
                              <a:solidFill>
                                <a:schemeClr val="accent6"/>
                              </a:solidFill>
                              <a:latin typeface="Cambria Math" panose="02040503050406030204" pitchFamily="18" charset="0"/>
                            </a:rPr>
                          </m:ctrlPr>
                        </m:fPr>
                        <m:num>
                          <m:r>
                            <a:rPr lang="en-IN" sz="1600" b="0" i="1" smtClean="0">
                              <a:solidFill>
                                <a:schemeClr val="accent6"/>
                              </a:solidFill>
                              <a:latin typeface="Cambria Math" panose="02040503050406030204" pitchFamily="18" charset="0"/>
                            </a:rPr>
                            <m:t>𝑇𝑃</m:t>
                          </m:r>
                        </m:num>
                        <m:den>
                          <m:r>
                            <a:rPr lang="en-IN" sz="1600" b="0" i="1" smtClean="0">
                              <a:solidFill>
                                <a:schemeClr val="accent6"/>
                              </a:solidFill>
                              <a:latin typeface="Cambria Math" panose="02040503050406030204" pitchFamily="18" charset="0"/>
                            </a:rPr>
                            <m:t>𝑇𝑃</m:t>
                          </m:r>
                          <m:r>
                            <a:rPr lang="en-IN" sz="1600" b="0" i="1" smtClean="0">
                              <a:solidFill>
                                <a:schemeClr val="accent6"/>
                              </a:solidFill>
                              <a:latin typeface="Cambria Math" panose="02040503050406030204" pitchFamily="18" charset="0"/>
                            </a:rPr>
                            <m:t>+</m:t>
                          </m:r>
                          <m:r>
                            <a:rPr lang="en-IN" sz="1600" b="0" i="1" smtClean="0">
                              <a:solidFill>
                                <a:schemeClr val="accent6"/>
                              </a:solidFill>
                              <a:latin typeface="Cambria Math" panose="02040503050406030204" pitchFamily="18" charset="0"/>
                            </a:rPr>
                            <m:t>𝐹𝑁</m:t>
                          </m:r>
                        </m:den>
                      </m:f>
                    </m:oMath>
                  </m:oMathPara>
                </a14:m>
                <a:endParaRPr lang="en-IN" sz="1600" dirty="0">
                  <a:solidFill>
                    <a:schemeClr val="accent6"/>
                  </a:solidFill>
                </a:endParaRPr>
              </a:p>
            </p:txBody>
          </p:sp>
        </mc:Choice>
        <mc:Fallback xmlns="">
          <p:sp>
            <p:nvSpPr>
              <p:cNvPr id="32" name="TextBox 31">
                <a:extLst>
                  <a:ext uri="{FF2B5EF4-FFF2-40B4-BE49-F238E27FC236}">
                    <a16:creationId xmlns:a16="http://schemas.microsoft.com/office/drawing/2014/main" id="{E65A699F-88E2-CA49-A45E-46013D84BA40}"/>
                  </a:ext>
                </a:extLst>
              </p:cNvPr>
              <p:cNvSpPr txBox="1">
                <a:spLocks noRot="1" noChangeAspect="1" noMove="1" noResize="1" noEditPoints="1" noAdjustHandles="1" noChangeArrowheads="1" noChangeShapeType="1" noTextEdit="1"/>
              </p:cNvSpPr>
              <p:nvPr/>
            </p:nvSpPr>
            <p:spPr>
              <a:xfrm>
                <a:off x="8926361" y="3956011"/>
                <a:ext cx="3108635" cy="1172437"/>
              </a:xfrm>
              <a:prstGeom prst="rect">
                <a:avLst/>
              </a:prstGeom>
              <a:blipFill>
                <a:blip r:embed="rId5"/>
                <a:stretch>
                  <a:fillRect/>
                </a:stretch>
              </a:blipFill>
              <a:ln>
                <a:solidFill>
                  <a:schemeClr val="accent3"/>
                </a:solidFill>
              </a:ln>
            </p:spPr>
            <p:txBody>
              <a:bodyPr/>
              <a:lstStyle/>
              <a:p>
                <a:r>
                  <a:rPr lang="en-IN">
                    <a:noFill/>
                  </a:rPr>
                  <a:t> </a:t>
                </a:r>
              </a:p>
            </p:txBody>
          </p:sp>
        </mc:Fallback>
      </mc:AlternateContent>
      <p:graphicFrame>
        <p:nvGraphicFramePr>
          <p:cNvPr id="34" name="Table 33">
            <a:extLst>
              <a:ext uri="{FF2B5EF4-FFF2-40B4-BE49-F238E27FC236}">
                <a16:creationId xmlns:a16="http://schemas.microsoft.com/office/drawing/2014/main" id="{430509E8-606C-2B70-F642-ED248544BDB4}"/>
              </a:ext>
            </a:extLst>
          </p:cNvPr>
          <p:cNvGraphicFramePr>
            <a:graphicFrameLocks noGrp="1"/>
          </p:cNvGraphicFramePr>
          <p:nvPr>
            <p:extLst>
              <p:ext uri="{D42A27DB-BD31-4B8C-83A1-F6EECF244321}">
                <p14:modId xmlns:p14="http://schemas.microsoft.com/office/powerpoint/2010/main" val="3409903897"/>
              </p:ext>
            </p:extLst>
          </p:nvPr>
        </p:nvGraphicFramePr>
        <p:xfrm>
          <a:off x="8926358" y="5296292"/>
          <a:ext cx="3108636" cy="1440000"/>
        </p:xfrm>
        <a:graphic>
          <a:graphicData uri="http://schemas.openxmlformats.org/drawingml/2006/table">
            <a:tbl>
              <a:tblPr firstRow="1" bandRow="1">
                <a:tableStyleId>{5940675A-B579-460E-94D1-54222C63F5DA}</a:tableStyleId>
              </a:tblPr>
              <a:tblGrid>
                <a:gridCol w="777159">
                  <a:extLst>
                    <a:ext uri="{9D8B030D-6E8A-4147-A177-3AD203B41FA5}">
                      <a16:colId xmlns:a16="http://schemas.microsoft.com/office/drawing/2014/main" val="3787892746"/>
                    </a:ext>
                  </a:extLst>
                </a:gridCol>
                <a:gridCol w="777159">
                  <a:extLst>
                    <a:ext uri="{9D8B030D-6E8A-4147-A177-3AD203B41FA5}">
                      <a16:colId xmlns:a16="http://schemas.microsoft.com/office/drawing/2014/main" val="1991906451"/>
                    </a:ext>
                  </a:extLst>
                </a:gridCol>
                <a:gridCol w="777159">
                  <a:extLst>
                    <a:ext uri="{9D8B030D-6E8A-4147-A177-3AD203B41FA5}">
                      <a16:colId xmlns:a16="http://schemas.microsoft.com/office/drawing/2014/main" val="851307550"/>
                    </a:ext>
                  </a:extLst>
                </a:gridCol>
                <a:gridCol w="777159">
                  <a:extLst>
                    <a:ext uri="{9D8B030D-6E8A-4147-A177-3AD203B41FA5}">
                      <a16:colId xmlns:a16="http://schemas.microsoft.com/office/drawing/2014/main" val="1248889417"/>
                    </a:ext>
                  </a:extLst>
                </a:gridCol>
              </a:tblGrid>
              <a:tr h="288000">
                <a:tc>
                  <a:txBody>
                    <a:bodyPr/>
                    <a:lstStyle/>
                    <a:p>
                      <a:pPr algn="ctr"/>
                      <a:endParaRPr lang="en-IN" sz="1400" dirty="0"/>
                    </a:p>
                  </a:txBody>
                  <a:tcPr marL="0" marR="0" marT="0" marB="0" anchor="ctr"/>
                </a:tc>
                <a:tc>
                  <a:txBody>
                    <a:bodyPr/>
                    <a:lstStyle/>
                    <a:p>
                      <a:pPr algn="ctr"/>
                      <a:r>
                        <a:rPr lang="en-IN" sz="1400" dirty="0"/>
                        <a:t>P</a:t>
                      </a:r>
                    </a:p>
                  </a:txBody>
                  <a:tcPr marL="0" marR="0" marT="0" marB="0" anchor="ctr"/>
                </a:tc>
                <a:tc>
                  <a:txBody>
                    <a:bodyPr/>
                    <a:lstStyle/>
                    <a:p>
                      <a:pPr algn="ctr"/>
                      <a:r>
                        <a:rPr lang="en-IN" sz="1400" dirty="0"/>
                        <a:t>R</a:t>
                      </a:r>
                    </a:p>
                  </a:txBody>
                  <a:tcPr marL="0" marR="0" marT="0" marB="0" anchor="ctr"/>
                </a:tc>
                <a:tc>
                  <a:txBody>
                    <a:bodyPr/>
                    <a:lstStyle/>
                    <a:p>
                      <a:pPr algn="ctr"/>
                      <a:r>
                        <a:rPr lang="en-IN" sz="1400" dirty="0"/>
                        <a:t>Ac</a:t>
                      </a:r>
                    </a:p>
                  </a:txBody>
                  <a:tcPr marL="0" marR="0" marT="0" marB="0" anchor="ctr"/>
                </a:tc>
                <a:extLst>
                  <a:ext uri="{0D108BD9-81ED-4DB2-BD59-A6C34878D82A}">
                    <a16:rowId xmlns:a16="http://schemas.microsoft.com/office/drawing/2014/main" val="1740245437"/>
                  </a:ext>
                </a:extLst>
              </a:tr>
              <a:tr h="288000">
                <a:tc>
                  <a:txBody>
                    <a:bodyPr/>
                    <a:lstStyle/>
                    <a:p>
                      <a:pPr algn="ctr"/>
                      <a:r>
                        <a:rPr lang="en-IN" sz="1400" dirty="0"/>
                        <a:t>M1</a:t>
                      </a:r>
                    </a:p>
                  </a:txBody>
                  <a:tcPr marL="0" marR="0" marT="0" marB="0" anchor="ctr"/>
                </a:tc>
                <a:tc>
                  <a:txBody>
                    <a:bodyPr/>
                    <a:lstStyle/>
                    <a:p>
                      <a:pPr algn="ctr"/>
                      <a:r>
                        <a:rPr lang="en-IN" sz="1400" dirty="0"/>
                        <a:t>0.7692</a:t>
                      </a:r>
                    </a:p>
                  </a:txBody>
                  <a:tcPr marL="0" marR="0" marT="0" marB="0" anchor="ctr"/>
                </a:tc>
                <a:tc>
                  <a:txBody>
                    <a:bodyPr/>
                    <a:lstStyle/>
                    <a:p>
                      <a:pPr algn="ctr"/>
                      <a:r>
                        <a:rPr lang="en-IN" sz="1400" dirty="0"/>
                        <a:t>0.3703</a:t>
                      </a:r>
                    </a:p>
                  </a:txBody>
                  <a:tcPr marL="0" marR="0" marT="0" marB="0" anchor="ctr"/>
                </a:tc>
                <a:tc>
                  <a:txBody>
                    <a:bodyPr/>
                    <a:lstStyle/>
                    <a:p>
                      <a:pPr algn="ctr"/>
                      <a:r>
                        <a:rPr lang="en-IN" sz="1400" dirty="0"/>
                        <a:t>0.80</a:t>
                      </a:r>
                    </a:p>
                  </a:txBody>
                  <a:tcPr marL="0" marR="0" marT="0" marB="0" anchor="ctr"/>
                </a:tc>
                <a:extLst>
                  <a:ext uri="{0D108BD9-81ED-4DB2-BD59-A6C34878D82A}">
                    <a16:rowId xmlns:a16="http://schemas.microsoft.com/office/drawing/2014/main" val="236710500"/>
                  </a:ext>
                </a:extLst>
              </a:tr>
              <a:tr h="288000">
                <a:tc>
                  <a:txBody>
                    <a:bodyPr/>
                    <a:lstStyle/>
                    <a:p>
                      <a:pPr algn="ctr"/>
                      <a:r>
                        <a:rPr lang="en-IN" sz="1400" dirty="0"/>
                        <a:t>M2</a:t>
                      </a:r>
                    </a:p>
                  </a:txBody>
                  <a:tcPr marL="0" marR="0" marT="0" marB="0" anchor="ctr"/>
                </a:tc>
                <a:tc>
                  <a:txBody>
                    <a:bodyPr/>
                    <a:lstStyle/>
                    <a:p>
                      <a:pPr algn="ctr"/>
                      <a:r>
                        <a:rPr lang="en-IN" sz="1400" dirty="0"/>
                        <a:t>0.9090</a:t>
                      </a:r>
                    </a:p>
                  </a:txBody>
                  <a:tcPr marL="0" marR="0" marT="0" marB="0" anchor="ctr">
                    <a:solidFill>
                      <a:schemeClr val="accent1">
                        <a:lumMod val="20000"/>
                        <a:lumOff val="80000"/>
                      </a:schemeClr>
                    </a:solidFill>
                  </a:tcPr>
                </a:tc>
                <a:tc>
                  <a:txBody>
                    <a:bodyPr/>
                    <a:lstStyle/>
                    <a:p>
                      <a:pPr algn="ctr"/>
                      <a:r>
                        <a:rPr lang="en-IN" sz="1400" dirty="0"/>
                        <a:t>0.3448</a:t>
                      </a:r>
                    </a:p>
                  </a:txBody>
                  <a:tcPr marL="0" marR="0" marT="0" marB="0" anchor="ctr"/>
                </a:tc>
                <a:tc>
                  <a:txBody>
                    <a:bodyPr/>
                    <a:lstStyle/>
                    <a:p>
                      <a:pPr algn="ctr"/>
                      <a:r>
                        <a:rPr lang="en-IN" sz="1400" dirty="0"/>
                        <a:t>0.80</a:t>
                      </a:r>
                    </a:p>
                  </a:txBody>
                  <a:tcPr marL="0" marR="0" marT="0" marB="0" anchor="ctr"/>
                </a:tc>
                <a:extLst>
                  <a:ext uri="{0D108BD9-81ED-4DB2-BD59-A6C34878D82A}">
                    <a16:rowId xmlns:a16="http://schemas.microsoft.com/office/drawing/2014/main" val="4135377798"/>
                  </a:ext>
                </a:extLst>
              </a:tr>
              <a:tr h="288000">
                <a:tc>
                  <a:txBody>
                    <a:bodyPr/>
                    <a:lstStyle/>
                    <a:p>
                      <a:pPr algn="ctr"/>
                      <a:r>
                        <a:rPr lang="en-IN" sz="1400" dirty="0"/>
                        <a:t>M3</a:t>
                      </a:r>
                    </a:p>
                  </a:txBody>
                  <a:tcPr marL="0" marR="0" marT="0" marB="0" anchor="ctr"/>
                </a:tc>
                <a:tc>
                  <a:txBody>
                    <a:bodyPr/>
                    <a:lstStyle/>
                    <a:p>
                      <a:pPr algn="ctr"/>
                      <a:r>
                        <a:rPr lang="en-IN" sz="1400" dirty="0"/>
                        <a:t>0.5555</a:t>
                      </a:r>
                    </a:p>
                  </a:txBody>
                  <a:tcPr marL="0" marR="0" marT="0" marB="0" anchor="ctr"/>
                </a:tc>
                <a:tc>
                  <a:txBody>
                    <a:bodyPr/>
                    <a:lstStyle/>
                    <a:p>
                      <a:pPr algn="ctr"/>
                      <a:r>
                        <a:rPr lang="en-IN" sz="1400" dirty="0"/>
                        <a:t>0.8333</a:t>
                      </a:r>
                    </a:p>
                  </a:txBody>
                  <a:tcPr marL="0" marR="0" marT="0" marB="0" anchor="ctr">
                    <a:solidFill>
                      <a:schemeClr val="accent6">
                        <a:lumMod val="20000"/>
                        <a:lumOff val="80000"/>
                      </a:schemeClr>
                    </a:solidFill>
                  </a:tcPr>
                </a:tc>
                <a:tc>
                  <a:txBody>
                    <a:bodyPr/>
                    <a:lstStyle/>
                    <a:p>
                      <a:pPr algn="ctr"/>
                      <a:r>
                        <a:rPr lang="en-IN" sz="1400" dirty="0"/>
                        <a:t>0.90</a:t>
                      </a:r>
                    </a:p>
                  </a:txBody>
                  <a:tcPr marL="0" marR="0" marT="0" marB="0" anchor="ctr"/>
                </a:tc>
                <a:extLst>
                  <a:ext uri="{0D108BD9-81ED-4DB2-BD59-A6C34878D82A}">
                    <a16:rowId xmlns:a16="http://schemas.microsoft.com/office/drawing/2014/main" val="1656777246"/>
                  </a:ext>
                </a:extLst>
              </a:tr>
              <a:tr h="288000">
                <a:tc>
                  <a:txBody>
                    <a:bodyPr/>
                    <a:lstStyle/>
                    <a:p>
                      <a:pPr algn="ctr"/>
                      <a:r>
                        <a:rPr lang="en-IN" sz="1400" dirty="0"/>
                        <a:t>M4</a:t>
                      </a:r>
                    </a:p>
                  </a:txBody>
                  <a:tcPr marL="0" marR="0" marT="0" marB="0" anchor="ctr"/>
                </a:tc>
                <a:tc>
                  <a:txBody>
                    <a:bodyPr/>
                    <a:lstStyle/>
                    <a:p>
                      <a:pPr algn="ctr"/>
                      <a:r>
                        <a:rPr lang="en-IN" sz="1400" dirty="0"/>
                        <a:t>0.6666</a:t>
                      </a:r>
                    </a:p>
                  </a:txBody>
                  <a:tcPr marL="0" marR="0" marT="0" marB="0" anchor="ctr"/>
                </a:tc>
                <a:tc>
                  <a:txBody>
                    <a:bodyPr/>
                    <a:lstStyle/>
                    <a:p>
                      <a:pPr algn="ctr"/>
                      <a:r>
                        <a:rPr lang="en-IN" sz="1400" dirty="0"/>
                        <a:t>0.6666</a:t>
                      </a:r>
                    </a:p>
                  </a:txBody>
                  <a:tcPr marL="0" marR="0" marT="0" marB="0" anchor="ctr"/>
                </a:tc>
                <a:tc>
                  <a:txBody>
                    <a:bodyPr/>
                    <a:lstStyle/>
                    <a:p>
                      <a:pPr algn="ctr"/>
                      <a:r>
                        <a:rPr lang="en-IN" sz="1400" dirty="0"/>
                        <a:t>0.90</a:t>
                      </a:r>
                    </a:p>
                  </a:txBody>
                  <a:tcPr marL="0" marR="0" marT="0" marB="0" anchor="ctr"/>
                </a:tc>
                <a:extLst>
                  <a:ext uri="{0D108BD9-81ED-4DB2-BD59-A6C34878D82A}">
                    <a16:rowId xmlns:a16="http://schemas.microsoft.com/office/drawing/2014/main" val="2161500397"/>
                  </a:ext>
                </a:extLst>
              </a:tr>
            </a:tbl>
          </a:graphicData>
        </a:graphic>
      </p:graphicFrame>
    </p:spTree>
    <p:extLst>
      <p:ext uri="{BB962C8B-B14F-4D97-AF65-F5344CB8AC3E}">
        <p14:creationId xmlns:p14="http://schemas.microsoft.com/office/powerpoint/2010/main" val="251833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circle(in)">
                                      <p:cBhvr>
                                        <p:cTn id="30" dur="20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circle(in)">
                                      <p:cBhvr>
                                        <p:cTn id="35" dur="20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34"/>
                                        </p:tgtEl>
                                        <p:attrNameLst>
                                          <p:attrName>style.visibility</p:attrName>
                                        </p:attrNameLst>
                                      </p:cBhvr>
                                      <p:to>
                                        <p:strVal val="visible"/>
                                      </p:to>
                                    </p:set>
                                    <p:anim calcmode="lin" valueType="num">
                                      <p:cBhvr>
                                        <p:cTn id="50" dur="500" fill="hold"/>
                                        <p:tgtEl>
                                          <p:spTgt spid="34"/>
                                        </p:tgtEl>
                                        <p:attrNameLst>
                                          <p:attrName>ppt_w</p:attrName>
                                        </p:attrNameLst>
                                      </p:cBhvr>
                                      <p:tavLst>
                                        <p:tav tm="0">
                                          <p:val>
                                            <p:fltVal val="0"/>
                                          </p:val>
                                        </p:tav>
                                        <p:tav tm="100000">
                                          <p:val>
                                            <p:strVal val="#ppt_w"/>
                                          </p:val>
                                        </p:tav>
                                      </p:tavLst>
                                    </p:anim>
                                    <p:anim calcmode="lin" valueType="num">
                                      <p:cBhvr>
                                        <p:cTn id="51" dur="500" fill="hold"/>
                                        <p:tgtEl>
                                          <p:spTgt spid="34"/>
                                        </p:tgtEl>
                                        <p:attrNameLst>
                                          <p:attrName>ppt_h</p:attrName>
                                        </p:attrNameLst>
                                      </p:cBhvr>
                                      <p:tavLst>
                                        <p:tav tm="0">
                                          <p:val>
                                            <p:fltVal val="0"/>
                                          </p:val>
                                        </p:tav>
                                        <p:tav tm="100000">
                                          <p:val>
                                            <p:strVal val="#ppt_h"/>
                                          </p:val>
                                        </p:tav>
                                      </p:tavLst>
                                    </p:anim>
                                    <p:animEffect transition="in" filter="fade">
                                      <p:cBhvr>
                                        <p:cTn id="5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P spid="29" grpId="0" animBg="1"/>
      <p:bldP spid="30" grpId="0" animBg="1"/>
      <p:bldP spid="31"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E1255-3027-A56E-45FD-C739F3C26ED7}"/>
              </a:ext>
            </a:extLst>
          </p:cNvPr>
          <p:cNvSpPr>
            <a:spLocks noGrp="1"/>
          </p:cNvSpPr>
          <p:nvPr>
            <p:ph type="title"/>
          </p:nvPr>
        </p:nvSpPr>
        <p:spPr/>
        <p:txBody>
          <a:bodyPr/>
          <a:lstStyle/>
          <a:p>
            <a:r>
              <a:rPr lang="en-IN" dirty="0"/>
              <a:t>Classification Metrics</a:t>
            </a:r>
          </a:p>
        </p:txBody>
      </p:sp>
      <p:sp>
        <p:nvSpPr>
          <p:cNvPr id="3" name="Content Placeholder 2">
            <a:extLst>
              <a:ext uri="{FF2B5EF4-FFF2-40B4-BE49-F238E27FC236}">
                <a16:creationId xmlns:a16="http://schemas.microsoft.com/office/drawing/2014/main" id="{6D3CF047-681B-4448-2028-791F98FED3B8}"/>
              </a:ext>
            </a:extLst>
          </p:cNvPr>
          <p:cNvSpPr>
            <a:spLocks noGrp="1"/>
          </p:cNvSpPr>
          <p:nvPr>
            <p:ph idx="1"/>
          </p:nvPr>
        </p:nvSpPr>
        <p:spPr>
          <a:xfrm>
            <a:off x="480847" y="969579"/>
            <a:ext cx="5615153" cy="3272483"/>
          </a:xfrm>
        </p:spPr>
        <p:txBody>
          <a:bodyPr>
            <a:normAutofit/>
          </a:bodyPr>
          <a:lstStyle/>
          <a:p>
            <a:pPr marL="0" indent="0">
              <a:buNone/>
            </a:pPr>
            <a:r>
              <a:rPr lang="en-IN" sz="2000" b="1" u="sng" dirty="0"/>
              <a:t>F1 Score</a:t>
            </a:r>
          </a:p>
          <a:p>
            <a:r>
              <a:rPr lang="en-IN" sz="2000" dirty="0"/>
              <a:t>Consider a </a:t>
            </a:r>
            <a:r>
              <a:rPr lang="en-IN" sz="2000" b="1" i="1" dirty="0"/>
              <a:t>dog vs. cat </a:t>
            </a:r>
            <a:r>
              <a:rPr lang="en-IN" sz="2000" dirty="0"/>
              <a:t>classification [Class 1 (dogs) and Class 0 (Cats)]</a:t>
            </a:r>
          </a:p>
          <a:p>
            <a:r>
              <a:rPr lang="en-IN" sz="2000" dirty="0"/>
              <a:t>Type-I or Type-II error is important!!</a:t>
            </a:r>
          </a:p>
          <a:p>
            <a:r>
              <a:rPr lang="en-IN" sz="2000" dirty="0"/>
              <a:t>Such problems require balance between </a:t>
            </a:r>
            <a:r>
              <a:rPr lang="en-IN" sz="2000" i="1" dirty="0"/>
              <a:t>Precision</a:t>
            </a:r>
            <a:r>
              <a:rPr lang="en-IN" sz="2000" dirty="0"/>
              <a:t> and </a:t>
            </a:r>
            <a:r>
              <a:rPr lang="en-IN" sz="2000" i="1" dirty="0"/>
              <a:t>Recall</a:t>
            </a:r>
            <a:r>
              <a:rPr lang="en-IN" sz="2000" dirty="0"/>
              <a:t>.</a:t>
            </a:r>
          </a:p>
          <a:p>
            <a:r>
              <a:rPr lang="en-IN" sz="2000" dirty="0"/>
              <a:t>F1 Score is derived from </a:t>
            </a:r>
            <a:r>
              <a:rPr lang="en-IN" sz="2000" i="1" dirty="0"/>
              <a:t>Precision</a:t>
            </a:r>
            <a:r>
              <a:rPr lang="en-IN" sz="2000" dirty="0"/>
              <a:t> and </a:t>
            </a:r>
            <a:r>
              <a:rPr lang="en-IN" sz="2000" i="1" dirty="0"/>
              <a:t>Recall.</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F92202F-0182-088D-3CE1-36DC18382C2D}"/>
                  </a:ext>
                </a:extLst>
              </p:cNvPr>
              <p:cNvSpPr txBox="1">
                <a:spLocks/>
              </p:cNvSpPr>
              <p:nvPr/>
            </p:nvSpPr>
            <p:spPr>
              <a:xfrm>
                <a:off x="6289329" y="969579"/>
                <a:ext cx="5615153" cy="231094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i="1" u="sng" dirty="0"/>
                  <a:t>Choice 1</a:t>
                </a:r>
                <a:r>
                  <a:rPr lang="en-IN" sz="2000" i="1" u="sng" dirty="0"/>
                  <a:t>: </a:t>
                </a:r>
                <a:r>
                  <a:rPr lang="en-IN" sz="2000" dirty="0"/>
                  <a:t>F1 Score is Arithmetic mean of </a:t>
                </a:r>
                <a:r>
                  <a:rPr lang="en-IN" sz="2000" i="1" dirty="0"/>
                  <a:t>Precision</a:t>
                </a:r>
                <a:r>
                  <a:rPr lang="en-IN" sz="2000" dirty="0"/>
                  <a:t> and </a:t>
                </a:r>
                <a:r>
                  <a:rPr lang="en-IN" sz="2000" i="1" dirty="0"/>
                  <a:t>Recall.</a:t>
                </a:r>
                <a:r>
                  <a:rPr lang="en-IN" sz="2000" dirty="0"/>
                  <a:t> </a:t>
                </a:r>
                <a14:m>
                  <m:oMath xmlns:m="http://schemas.openxmlformats.org/officeDocument/2006/math">
                    <m:r>
                      <a:rPr lang="en-IN" sz="2000" b="1" i="1">
                        <a:solidFill>
                          <a:schemeClr val="accent4"/>
                        </a:solidFill>
                        <a:latin typeface="Cambria Math" panose="02040503050406030204" pitchFamily="18" charset="0"/>
                      </a:rPr>
                      <m:t>𝑭</m:t>
                    </m:r>
                    <m:r>
                      <a:rPr lang="en-IN" sz="2000" b="1" i="1">
                        <a:solidFill>
                          <a:schemeClr val="accent4"/>
                        </a:solidFill>
                        <a:latin typeface="Cambria Math" panose="02040503050406030204" pitchFamily="18" charset="0"/>
                      </a:rPr>
                      <m:t>𝟏</m:t>
                    </m:r>
                    <m:r>
                      <a:rPr lang="en-IN" sz="2000" b="1" i="1">
                        <a:solidFill>
                          <a:schemeClr val="accent4"/>
                        </a:solidFill>
                        <a:latin typeface="Cambria Math" panose="02040503050406030204" pitchFamily="18" charset="0"/>
                      </a:rPr>
                      <m:t>=</m:t>
                    </m:r>
                    <m:f>
                      <m:fPr>
                        <m:ctrlPr>
                          <a:rPr lang="en-IN" sz="2000" b="1" i="1">
                            <a:solidFill>
                              <a:schemeClr val="accent4"/>
                            </a:solidFill>
                            <a:latin typeface="Cambria Math" panose="02040503050406030204" pitchFamily="18" charset="0"/>
                          </a:rPr>
                        </m:ctrlPr>
                      </m:fPr>
                      <m:num>
                        <m:r>
                          <a:rPr lang="en-IN" sz="2000" b="1" i="1">
                            <a:solidFill>
                              <a:schemeClr val="accent4"/>
                            </a:solidFill>
                            <a:latin typeface="Cambria Math" panose="02040503050406030204" pitchFamily="18" charset="0"/>
                          </a:rPr>
                          <m:t>𝑷</m:t>
                        </m:r>
                        <m:r>
                          <a:rPr lang="en-IN" sz="2000" b="1" i="1">
                            <a:solidFill>
                              <a:schemeClr val="accent4"/>
                            </a:solidFill>
                            <a:latin typeface="Cambria Math" panose="02040503050406030204" pitchFamily="18" charset="0"/>
                          </a:rPr>
                          <m:t>+</m:t>
                        </m:r>
                        <m:r>
                          <a:rPr lang="en-IN" sz="2000" b="1" i="1">
                            <a:solidFill>
                              <a:schemeClr val="accent4"/>
                            </a:solidFill>
                            <a:latin typeface="Cambria Math" panose="02040503050406030204" pitchFamily="18" charset="0"/>
                          </a:rPr>
                          <m:t>𝑹</m:t>
                        </m:r>
                      </m:num>
                      <m:den>
                        <m:r>
                          <a:rPr lang="en-IN" sz="2000" b="1" i="1">
                            <a:solidFill>
                              <a:schemeClr val="accent4"/>
                            </a:solidFill>
                            <a:latin typeface="Cambria Math" panose="02040503050406030204" pitchFamily="18" charset="0"/>
                          </a:rPr>
                          <m:t>𝟐</m:t>
                        </m:r>
                      </m:den>
                    </m:f>
                  </m:oMath>
                </a14:m>
                <a:endParaRPr lang="en-IN" sz="2000" b="1" dirty="0"/>
              </a:p>
              <a:p>
                <a:r>
                  <a:rPr lang="en-IN" sz="2000" dirty="0"/>
                  <a:t>Consider two models</a:t>
                </a:r>
              </a:p>
              <a:p>
                <a:pPr lvl="1">
                  <a:buFont typeface="Wingdings" panose="05000000000000000000" pitchFamily="2" charset="2"/>
                  <a:buChar char="§"/>
                </a:pPr>
                <a:r>
                  <a:rPr lang="en-IN" sz="1800" dirty="0"/>
                  <a:t>Model-1: P=80 and R=80 →</a:t>
                </a:r>
                <a:r>
                  <a:rPr lang="en-IN" sz="1800" dirty="0">
                    <a:sym typeface="Wingdings" panose="05000000000000000000" pitchFamily="2" charset="2"/>
                  </a:rPr>
                  <a:t> F1=80</a:t>
                </a:r>
                <a:endParaRPr lang="en-IN" sz="1800" dirty="0"/>
              </a:p>
              <a:p>
                <a:pPr lvl="1">
                  <a:buFont typeface="Wingdings" panose="05000000000000000000" pitchFamily="2" charset="2"/>
                  <a:buChar char="§"/>
                </a:pPr>
                <a:r>
                  <a:rPr lang="en-IN" sz="1800" dirty="0"/>
                  <a:t>Model-2: P=60 and R=100 → </a:t>
                </a:r>
                <a:r>
                  <a:rPr lang="en-IN" sz="1800" dirty="0">
                    <a:sym typeface="Wingdings" panose="05000000000000000000" pitchFamily="2" charset="2"/>
                  </a:rPr>
                  <a:t>F1=80</a:t>
                </a:r>
                <a:endParaRPr lang="en-IN" sz="1800" dirty="0"/>
              </a:p>
            </p:txBody>
          </p:sp>
        </mc:Choice>
        <mc:Fallback xmlns="">
          <p:sp>
            <p:nvSpPr>
              <p:cNvPr id="4" name="Content Placeholder 2">
                <a:extLst>
                  <a:ext uri="{FF2B5EF4-FFF2-40B4-BE49-F238E27FC236}">
                    <a16:creationId xmlns:a16="http://schemas.microsoft.com/office/drawing/2014/main" id="{CF92202F-0182-088D-3CE1-36DC18382C2D}"/>
                  </a:ext>
                </a:extLst>
              </p:cNvPr>
              <p:cNvSpPr txBox="1">
                <a:spLocks noRot="1" noChangeAspect="1" noMove="1" noResize="1" noEditPoints="1" noAdjustHandles="1" noChangeArrowheads="1" noChangeShapeType="1" noTextEdit="1"/>
              </p:cNvSpPr>
              <p:nvPr/>
            </p:nvSpPr>
            <p:spPr>
              <a:xfrm>
                <a:off x="6289329" y="969579"/>
                <a:ext cx="5615153" cy="2310949"/>
              </a:xfrm>
              <a:prstGeom prst="rect">
                <a:avLst/>
              </a:prstGeom>
              <a:blipFill>
                <a:blip r:embed="rId2"/>
                <a:stretch>
                  <a:fillRect l="-866" t="-26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1AB9726-AA02-1FC4-3484-B3689025B3D9}"/>
                  </a:ext>
                </a:extLst>
              </p:cNvPr>
              <p:cNvSpPr txBox="1">
                <a:spLocks/>
              </p:cNvSpPr>
              <p:nvPr/>
            </p:nvSpPr>
            <p:spPr>
              <a:xfrm>
                <a:off x="6289328" y="3431544"/>
                <a:ext cx="5615153" cy="3006963"/>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ormAutofit fontScale="70000" lnSpcReduction="20000"/>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b="1" i="1" u="sng" dirty="0"/>
                  <a:t>Choice 2</a:t>
                </a:r>
                <a:r>
                  <a:rPr lang="en-IN" sz="2400" i="1" u="sng" dirty="0"/>
                  <a:t>: </a:t>
                </a:r>
                <a:r>
                  <a:rPr lang="en-IN" sz="2400" dirty="0"/>
                  <a:t>F1 Score is Harmonic mean of </a:t>
                </a:r>
                <a:r>
                  <a:rPr lang="en-IN" sz="2400" i="1" dirty="0"/>
                  <a:t>Precision</a:t>
                </a:r>
                <a:r>
                  <a:rPr lang="en-IN" sz="2400" dirty="0"/>
                  <a:t> and </a:t>
                </a:r>
                <a:r>
                  <a:rPr lang="en-IN" sz="2400" i="1" dirty="0"/>
                  <a:t>Recall.</a:t>
                </a:r>
                <a:r>
                  <a:rPr lang="en-IN" sz="2400" dirty="0"/>
                  <a:t> </a:t>
                </a:r>
              </a:p>
              <a:p>
                <a:pPr marL="0" indent="0">
                  <a:buNone/>
                </a:pPr>
                <a14:m>
                  <m:oMathPara xmlns:m="http://schemas.openxmlformats.org/officeDocument/2006/math">
                    <m:oMathParaPr>
                      <m:jc m:val="centerGroup"/>
                    </m:oMathParaPr>
                    <m:oMath xmlns:m="http://schemas.openxmlformats.org/officeDocument/2006/math">
                      <m:f>
                        <m:fPr>
                          <m:ctrlPr>
                            <a:rPr lang="en-IN" sz="2300" b="1" i="1" smtClean="0">
                              <a:solidFill>
                                <a:schemeClr val="accent4"/>
                              </a:solidFill>
                              <a:latin typeface="Cambria Math" panose="02040503050406030204" pitchFamily="18" charset="0"/>
                            </a:rPr>
                          </m:ctrlPr>
                        </m:fPr>
                        <m:num>
                          <m:r>
                            <a:rPr lang="en-IN" sz="2300" b="1" i="1" smtClean="0">
                              <a:solidFill>
                                <a:schemeClr val="accent4"/>
                              </a:solidFill>
                              <a:latin typeface="Cambria Math" panose="02040503050406030204" pitchFamily="18" charset="0"/>
                            </a:rPr>
                            <m:t>𝟏</m:t>
                          </m:r>
                        </m:num>
                        <m:den>
                          <m:sSub>
                            <m:sSubPr>
                              <m:ctrlPr>
                                <a:rPr lang="en-IN" sz="2300" b="1" i="1" smtClean="0">
                                  <a:solidFill>
                                    <a:schemeClr val="accent4"/>
                                  </a:solidFill>
                                  <a:latin typeface="Cambria Math" panose="02040503050406030204" pitchFamily="18" charset="0"/>
                                </a:rPr>
                              </m:ctrlPr>
                            </m:sSubPr>
                            <m:e>
                              <m:r>
                                <a:rPr lang="en-IN" sz="2300" b="1" i="1" smtClean="0">
                                  <a:solidFill>
                                    <a:schemeClr val="accent4"/>
                                  </a:solidFill>
                                  <a:latin typeface="Cambria Math" panose="02040503050406030204" pitchFamily="18" charset="0"/>
                                </a:rPr>
                                <m:t>𝑯</m:t>
                              </m:r>
                            </m:e>
                            <m:sub>
                              <m:r>
                                <a:rPr lang="en-IN" sz="2300" b="1" i="1" smtClean="0">
                                  <a:solidFill>
                                    <a:schemeClr val="accent4"/>
                                  </a:solidFill>
                                  <a:latin typeface="Cambria Math" panose="02040503050406030204" pitchFamily="18" charset="0"/>
                                </a:rPr>
                                <m:t>𝒎𝒆𝒂𝒏</m:t>
                              </m:r>
                            </m:sub>
                          </m:sSub>
                        </m:den>
                      </m:f>
                      <m:r>
                        <a:rPr lang="en-IN" sz="2300" b="1" i="1" smtClean="0">
                          <a:solidFill>
                            <a:schemeClr val="accent4"/>
                          </a:solidFill>
                          <a:latin typeface="Cambria Math" panose="02040503050406030204" pitchFamily="18" charset="0"/>
                        </a:rPr>
                        <m:t>=</m:t>
                      </m:r>
                      <m:f>
                        <m:fPr>
                          <m:ctrlPr>
                            <a:rPr lang="en-IN" sz="2300" b="1" i="1" smtClean="0">
                              <a:solidFill>
                                <a:schemeClr val="accent4"/>
                              </a:solidFill>
                              <a:latin typeface="Cambria Math" panose="02040503050406030204" pitchFamily="18" charset="0"/>
                            </a:rPr>
                          </m:ctrlPr>
                        </m:fPr>
                        <m:num>
                          <m:d>
                            <m:dPr>
                              <m:ctrlPr>
                                <a:rPr lang="en-IN" sz="2300" b="1" i="1" smtClean="0">
                                  <a:solidFill>
                                    <a:schemeClr val="accent4"/>
                                  </a:solidFill>
                                  <a:latin typeface="Cambria Math" panose="02040503050406030204" pitchFamily="18" charset="0"/>
                                </a:rPr>
                              </m:ctrlPr>
                            </m:dPr>
                            <m:e>
                              <m:f>
                                <m:fPr>
                                  <m:ctrlPr>
                                    <a:rPr lang="en-IN" sz="2300" b="1" i="1">
                                      <a:solidFill>
                                        <a:schemeClr val="accent4"/>
                                      </a:solidFill>
                                      <a:latin typeface="Cambria Math" panose="02040503050406030204" pitchFamily="18" charset="0"/>
                                    </a:rPr>
                                  </m:ctrlPr>
                                </m:fPr>
                                <m:num>
                                  <m:r>
                                    <a:rPr lang="en-IN" sz="2300" b="1" i="1">
                                      <a:solidFill>
                                        <a:schemeClr val="accent4"/>
                                      </a:solidFill>
                                      <a:latin typeface="Cambria Math" panose="02040503050406030204" pitchFamily="18" charset="0"/>
                                    </a:rPr>
                                    <m:t>𝟏</m:t>
                                  </m:r>
                                </m:num>
                                <m:den>
                                  <m:sSub>
                                    <m:sSubPr>
                                      <m:ctrlPr>
                                        <a:rPr lang="en-IN" sz="2300" b="1" i="1">
                                          <a:solidFill>
                                            <a:schemeClr val="accent4"/>
                                          </a:solidFill>
                                          <a:latin typeface="Cambria Math" panose="02040503050406030204" pitchFamily="18" charset="0"/>
                                        </a:rPr>
                                      </m:ctrlPr>
                                    </m:sSubPr>
                                    <m:e>
                                      <m:r>
                                        <a:rPr lang="en-IN" sz="2300" b="1" i="1">
                                          <a:solidFill>
                                            <a:schemeClr val="accent4"/>
                                          </a:solidFill>
                                          <a:latin typeface="Cambria Math" panose="02040503050406030204" pitchFamily="18" charset="0"/>
                                        </a:rPr>
                                        <m:t>𝒙</m:t>
                                      </m:r>
                                    </m:e>
                                    <m:sub>
                                      <m:r>
                                        <a:rPr lang="en-IN" sz="2300" b="1" i="1">
                                          <a:solidFill>
                                            <a:schemeClr val="accent4"/>
                                          </a:solidFill>
                                          <a:latin typeface="Cambria Math" panose="02040503050406030204" pitchFamily="18" charset="0"/>
                                        </a:rPr>
                                        <m:t>𝟏</m:t>
                                      </m:r>
                                    </m:sub>
                                  </m:sSub>
                                </m:den>
                              </m:f>
                            </m:e>
                          </m:d>
                          <m:r>
                            <a:rPr lang="en-IN" sz="2300" b="1" i="1" smtClean="0">
                              <a:solidFill>
                                <a:schemeClr val="accent4"/>
                              </a:solidFill>
                              <a:latin typeface="Cambria Math" panose="02040503050406030204" pitchFamily="18" charset="0"/>
                            </a:rPr>
                            <m:t>+…+</m:t>
                          </m:r>
                          <m:d>
                            <m:dPr>
                              <m:ctrlPr>
                                <a:rPr lang="en-IN" sz="2300" b="1" i="1">
                                  <a:solidFill>
                                    <a:schemeClr val="accent4"/>
                                  </a:solidFill>
                                  <a:latin typeface="Cambria Math" panose="02040503050406030204" pitchFamily="18" charset="0"/>
                                </a:rPr>
                              </m:ctrlPr>
                            </m:dPr>
                            <m:e>
                              <m:f>
                                <m:fPr>
                                  <m:ctrlPr>
                                    <a:rPr lang="en-IN" sz="2300" b="1" i="1">
                                      <a:solidFill>
                                        <a:schemeClr val="accent4"/>
                                      </a:solidFill>
                                      <a:latin typeface="Cambria Math" panose="02040503050406030204" pitchFamily="18" charset="0"/>
                                    </a:rPr>
                                  </m:ctrlPr>
                                </m:fPr>
                                <m:num>
                                  <m:r>
                                    <a:rPr lang="en-IN" sz="2300" b="1" i="1">
                                      <a:solidFill>
                                        <a:schemeClr val="accent4"/>
                                      </a:solidFill>
                                      <a:latin typeface="Cambria Math" panose="02040503050406030204" pitchFamily="18" charset="0"/>
                                    </a:rPr>
                                    <m:t>𝟏</m:t>
                                  </m:r>
                                </m:num>
                                <m:den>
                                  <m:sSub>
                                    <m:sSubPr>
                                      <m:ctrlPr>
                                        <a:rPr lang="en-IN" sz="2300" b="1" i="1">
                                          <a:solidFill>
                                            <a:schemeClr val="accent4"/>
                                          </a:solidFill>
                                          <a:latin typeface="Cambria Math" panose="02040503050406030204" pitchFamily="18" charset="0"/>
                                        </a:rPr>
                                      </m:ctrlPr>
                                    </m:sSubPr>
                                    <m:e>
                                      <m:r>
                                        <a:rPr lang="en-IN" sz="2300" b="1" i="1">
                                          <a:solidFill>
                                            <a:schemeClr val="accent4"/>
                                          </a:solidFill>
                                          <a:latin typeface="Cambria Math" panose="02040503050406030204" pitchFamily="18" charset="0"/>
                                        </a:rPr>
                                        <m:t>𝒙</m:t>
                                      </m:r>
                                    </m:e>
                                    <m:sub>
                                      <m:r>
                                        <a:rPr lang="en-IN" sz="2300" b="1" i="1" smtClean="0">
                                          <a:solidFill>
                                            <a:schemeClr val="accent4"/>
                                          </a:solidFill>
                                          <a:latin typeface="Cambria Math" panose="02040503050406030204" pitchFamily="18" charset="0"/>
                                        </a:rPr>
                                        <m:t>𝒏</m:t>
                                      </m:r>
                                    </m:sub>
                                  </m:sSub>
                                </m:den>
                              </m:f>
                            </m:e>
                          </m:d>
                        </m:num>
                        <m:den>
                          <m:r>
                            <a:rPr lang="en-IN" sz="2300" b="1" i="1" smtClean="0">
                              <a:solidFill>
                                <a:schemeClr val="accent4"/>
                              </a:solidFill>
                              <a:latin typeface="Cambria Math" panose="02040503050406030204" pitchFamily="18" charset="0"/>
                            </a:rPr>
                            <m:t>𝒏</m:t>
                          </m:r>
                        </m:den>
                      </m:f>
                    </m:oMath>
                  </m:oMathPara>
                </a14:m>
                <a:endParaRPr lang="en-IN" sz="2400" b="1" i="1" dirty="0">
                  <a:solidFill>
                    <a:schemeClr val="accent4"/>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2400" b="1" i="1" smtClean="0">
                          <a:solidFill>
                            <a:schemeClr val="accent4"/>
                          </a:solidFill>
                          <a:latin typeface="Cambria Math" panose="02040503050406030204" pitchFamily="18" charset="0"/>
                        </a:rPr>
                        <m:t>⇒ </m:t>
                      </m:r>
                      <m:r>
                        <a:rPr lang="en-IN" sz="2400" b="1" i="1">
                          <a:solidFill>
                            <a:schemeClr val="accent4"/>
                          </a:solidFill>
                          <a:latin typeface="Cambria Math" panose="02040503050406030204" pitchFamily="18" charset="0"/>
                        </a:rPr>
                        <m:t>𝑭</m:t>
                      </m:r>
                      <m:r>
                        <a:rPr lang="en-IN" sz="2400" b="1" i="1">
                          <a:solidFill>
                            <a:schemeClr val="accent4"/>
                          </a:solidFill>
                          <a:latin typeface="Cambria Math" panose="02040503050406030204" pitchFamily="18" charset="0"/>
                        </a:rPr>
                        <m:t>𝟏</m:t>
                      </m:r>
                      <m:r>
                        <a:rPr lang="en-IN" sz="2400" b="1" i="1">
                          <a:solidFill>
                            <a:schemeClr val="accent4"/>
                          </a:solidFill>
                          <a:latin typeface="Cambria Math" panose="02040503050406030204" pitchFamily="18" charset="0"/>
                        </a:rPr>
                        <m:t>=</m:t>
                      </m:r>
                      <m:f>
                        <m:fPr>
                          <m:ctrlPr>
                            <a:rPr lang="en-IN" sz="2400" b="1" i="1">
                              <a:solidFill>
                                <a:schemeClr val="accent4"/>
                              </a:solidFill>
                              <a:latin typeface="Cambria Math" panose="02040503050406030204" pitchFamily="18" charset="0"/>
                            </a:rPr>
                          </m:ctrlPr>
                        </m:fPr>
                        <m:num>
                          <m:r>
                            <a:rPr lang="en-IN" sz="2400" b="1" i="1" smtClean="0">
                              <a:solidFill>
                                <a:schemeClr val="accent4"/>
                              </a:solidFill>
                              <a:latin typeface="Cambria Math" panose="02040503050406030204" pitchFamily="18" charset="0"/>
                            </a:rPr>
                            <m:t>𝟐</m:t>
                          </m:r>
                          <m:r>
                            <a:rPr lang="en-IN" sz="2400" b="1" i="1" smtClean="0">
                              <a:solidFill>
                                <a:schemeClr val="accent4"/>
                              </a:solidFill>
                              <a:latin typeface="Cambria Math" panose="02040503050406030204" pitchFamily="18" charset="0"/>
                            </a:rPr>
                            <m:t>𝑷𝑹</m:t>
                          </m:r>
                        </m:num>
                        <m:den>
                          <m:r>
                            <a:rPr lang="en-IN" sz="2400" b="1" i="1">
                              <a:solidFill>
                                <a:schemeClr val="accent4"/>
                              </a:solidFill>
                              <a:latin typeface="Cambria Math" panose="02040503050406030204" pitchFamily="18" charset="0"/>
                            </a:rPr>
                            <m:t>𝑷</m:t>
                          </m:r>
                          <m:r>
                            <a:rPr lang="en-IN" sz="2400" b="1" i="1">
                              <a:solidFill>
                                <a:schemeClr val="accent4"/>
                              </a:solidFill>
                              <a:latin typeface="Cambria Math" panose="02040503050406030204" pitchFamily="18" charset="0"/>
                            </a:rPr>
                            <m:t>+</m:t>
                          </m:r>
                          <m:r>
                            <a:rPr lang="en-IN" sz="2400" b="1" i="1">
                              <a:solidFill>
                                <a:schemeClr val="accent4"/>
                              </a:solidFill>
                              <a:latin typeface="Cambria Math" panose="02040503050406030204" pitchFamily="18" charset="0"/>
                            </a:rPr>
                            <m:t>𝑹</m:t>
                          </m:r>
                        </m:den>
                      </m:f>
                    </m:oMath>
                  </m:oMathPara>
                </a14:m>
                <a:endParaRPr lang="en-IN" sz="2400" b="1" dirty="0"/>
              </a:p>
              <a:p>
                <a:r>
                  <a:rPr lang="en-IN" sz="2600" dirty="0"/>
                  <a:t>Consider two models</a:t>
                </a:r>
              </a:p>
              <a:p>
                <a:pPr lvl="1">
                  <a:buFont typeface="Wingdings" panose="05000000000000000000" pitchFamily="2" charset="2"/>
                  <a:buChar char="§"/>
                </a:pPr>
                <a:r>
                  <a:rPr lang="en-IN" sz="2300" dirty="0"/>
                  <a:t>Model-1: P=80 and R=80 →</a:t>
                </a:r>
                <a:r>
                  <a:rPr lang="en-IN" sz="2300" dirty="0">
                    <a:sym typeface="Wingdings" panose="05000000000000000000" pitchFamily="2" charset="2"/>
                  </a:rPr>
                  <a:t> </a:t>
                </a:r>
                <a:r>
                  <a:rPr lang="en-IN" sz="2300" b="1" dirty="0">
                    <a:solidFill>
                      <a:schemeClr val="bg1"/>
                    </a:solidFill>
                    <a:highlight>
                      <a:srgbClr val="008080"/>
                    </a:highlight>
                    <a:sym typeface="Wingdings" panose="05000000000000000000" pitchFamily="2" charset="2"/>
                  </a:rPr>
                  <a:t>F1=80</a:t>
                </a:r>
                <a:endParaRPr lang="en-IN" sz="2300" b="1" dirty="0">
                  <a:solidFill>
                    <a:schemeClr val="bg1"/>
                  </a:solidFill>
                  <a:highlight>
                    <a:srgbClr val="008080"/>
                  </a:highlight>
                </a:endParaRPr>
              </a:p>
              <a:p>
                <a:pPr lvl="1">
                  <a:buFont typeface="Wingdings" panose="05000000000000000000" pitchFamily="2" charset="2"/>
                  <a:buChar char="§"/>
                </a:pPr>
                <a:r>
                  <a:rPr lang="en-IN" sz="2300" dirty="0"/>
                  <a:t>Model-2: P=60 and R=100 → </a:t>
                </a:r>
                <a:r>
                  <a:rPr lang="en-IN" sz="2300" dirty="0">
                    <a:sym typeface="Wingdings" panose="05000000000000000000" pitchFamily="2" charset="2"/>
                  </a:rPr>
                  <a:t>F1=75</a:t>
                </a:r>
                <a:endParaRPr lang="en-IN" sz="2300" dirty="0"/>
              </a:p>
              <a:p>
                <a:endParaRPr lang="en-IN" sz="2400" b="1" dirty="0"/>
              </a:p>
            </p:txBody>
          </p:sp>
        </mc:Choice>
        <mc:Fallback xmlns="">
          <p:sp>
            <p:nvSpPr>
              <p:cNvPr id="5" name="Content Placeholder 2">
                <a:extLst>
                  <a:ext uri="{FF2B5EF4-FFF2-40B4-BE49-F238E27FC236}">
                    <a16:creationId xmlns:a16="http://schemas.microsoft.com/office/drawing/2014/main" id="{51AB9726-AA02-1FC4-3484-B3689025B3D9}"/>
                  </a:ext>
                </a:extLst>
              </p:cNvPr>
              <p:cNvSpPr txBox="1">
                <a:spLocks noRot="1" noChangeAspect="1" noMove="1" noResize="1" noEditPoints="1" noAdjustHandles="1" noChangeArrowheads="1" noChangeShapeType="1" noTextEdit="1"/>
              </p:cNvSpPr>
              <p:nvPr/>
            </p:nvSpPr>
            <p:spPr>
              <a:xfrm>
                <a:off x="6289328" y="3431544"/>
                <a:ext cx="5615153" cy="3006963"/>
              </a:xfrm>
              <a:prstGeom prst="rect">
                <a:avLst/>
              </a:prstGeom>
              <a:blipFill>
                <a:blip r:embed="rId3"/>
                <a:stretch>
                  <a:fillRect l="-649" t="-806"/>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27A63F0D-3D20-0940-9C49-BBC4D9EC310D}"/>
              </a:ext>
            </a:extLst>
          </p:cNvPr>
          <p:cNvSpPr txBox="1"/>
          <p:nvPr/>
        </p:nvSpPr>
        <p:spPr>
          <a:xfrm>
            <a:off x="1492657" y="4685535"/>
            <a:ext cx="3591532" cy="1477328"/>
          </a:xfrm>
          <a:prstGeom prst="rect">
            <a:avLst/>
          </a:prstGeom>
          <a:solidFill>
            <a:schemeClr val="accent1">
              <a:lumMod val="20000"/>
              <a:lumOff val="80000"/>
            </a:schemeClr>
          </a:solidFill>
          <a:effectLst>
            <a:glow rad="139700">
              <a:schemeClr val="accent1">
                <a:satMod val="175000"/>
                <a:alpha val="40000"/>
              </a:schemeClr>
            </a:glow>
          </a:effectLst>
        </p:spPr>
        <p:txBody>
          <a:bodyPr wrap="square" rtlCol="0">
            <a:spAutoFit/>
          </a:bodyPr>
          <a:lstStyle/>
          <a:p>
            <a:pPr algn="ctr"/>
            <a:r>
              <a:rPr lang="en-IN" dirty="0"/>
              <a:t>Harmonic mean always tends towards the lower numbers</a:t>
            </a:r>
          </a:p>
          <a:p>
            <a:pPr algn="ctr"/>
            <a:endParaRPr lang="en-IN" dirty="0"/>
          </a:p>
          <a:p>
            <a:pPr algn="ctr"/>
            <a:r>
              <a:rPr lang="en-IN" dirty="0"/>
              <a:t>Arithmetic mean gives the exact mid-point of two numbers</a:t>
            </a:r>
          </a:p>
        </p:txBody>
      </p:sp>
    </p:spTree>
    <p:extLst>
      <p:ext uri="{BB962C8B-B14F-4D97-AF65-F5344CB8AC3E}">
        <p14:creationId xmlns:p14="http://schemas.microsoft.com/office/powerpoint/2010/main" val="6636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475F8-03BC-500C-821A-941A797F9D77}"/>
              </a:ext>
            </a:extLst>
          </p:cNvPr>
          <p:cNvSpPr>
            <a:spLocks noGrp="1"/>
          </p:cNvSpPr>
          <p:nvPr>
            <p:ph type="title"/>
          </p:nvPr>
        </p:nvSpPr>
        <p:spPr/>
        <p:txBody>
          <a:bodyPr/>
          <a:lstStyle/>
          <a:p>
            <a:r>
              <a:rPr lang="en-IN" dirty="0"/>
              <a:t>Classification Metrics</a:t>
            </a:r>
          </a:p>
        </p:txBody>
      </p:sp>
      <p:sp>
        <p:nvSpPr>
          <p:cNvPr id="3" name="Content Placeholder 2">
            <a:extLst>
              <a:ext uri="{FF2B5EF4-FFF2-40B4-BE49-F238E27FC236}">
                <a16:creationId xmlns:a16="http://schemas.microsoft.com/office/drawing/2014/main" id="{43A883C4-0E8D-AD76-A9F1-5826E2A7CABD}"/>
              </a:ext>
            </a:extLst>
          </p:cNvPr>
          <p:cNvSpPr>
            <a:spLocks noGrp="1"/>
          </p:cNvSpPr>
          <p:nvPr>
            <p:ph idx="1"/>
          </p:nvPr>
        </p:nvSpPr>
        <p:spPr>
          <a:xfrm>
            <a:off x="480847" y="817179"/>
            <a:ext cx="11209283" cy="604697"/>
          </a:xfrm>
        </p:spPr>
        <p:txBody>
          <a:bodyPr>
            <a:normAutofit/>
          </a:bodyPr>
          <a:lstStyle/>
          <a:p>
            <a:pPr marL="0" indent="0">
              <a:buNone/>
            </a:pPr>
            <a:r>
              <a:rPr lang="en-IN" sz="2400" b="1" u="sng" dirty="0"/>
              <a:t>Accuracy, Precision, Recall, F1-Score in Multi-class classification</a:t>
            </a:r>
          </a:p>
          <a:p>
            <a:endParaRPr lang="en-IN" sz="2400" b="1" u="sng" dirty="0"/>
          </a:p>
        </p:txBody>
      </p:sp>
      <p:graphicFrame>
        <p:nvGraphicFramePr>
          <p:cNvPr id="4" name="Table 3">
            <a:extLst>
              <a:ext uri="{FF2B5EF4-FFF2-40B4-BE49-F238E27FC236}">
                <a16:creationId xmlns:a16="http://schemas.microsoft.com/office/drawing/2014/main" id="{09C01F4F-9DA8-87D4-C348-56F6BB61368C}"/>
              </a:ext>
            </a:extLst>
          </p:cNvPr>
          <p:cNvGraphicFramePr>
            <a:graphicFrameLocks noGrp="1"/>
          </p:cNvGraphicFramePr>
          <p:nvPr>
            <p:extLst>
              <p:ext uri="{D42A27DB-BD31-4B8C-83A1-F6EECF244321}">
                <p14:modId xmlns:p14="http://schemas.microsoft.com/office/powerpoint/2010/main" val="2187037052"/>
              </p:ext>
            </p:extLst>
          </p:nvPr>
        </p:nvGraphicFramePr>
        <p:xfrm>
          <a:off x="768809" y="1709480"/>
          <a:ext cx="4019085" cy="1976940"/>
        </p:xfrm>
        <a:graphic>
          <a:graphicData uri="http://schemas.openxmlformats.org/drawingml/2006/table">
            <a:tbl>
              <a:tblPr firstRow="1" bandRow="1">
                <a:tableStyleId>{5940675A-B579-460E-94D1-54222C63F5DA}</a:tableStyleId>
              </a:tblPr>
              <a:tblGrid>
                <a:gridCol w="910272">
                  <a:extLst>
                    <a:ext uri="{9D8B030D-6E8A-4147-A177-3AD203B41FA5}">
                      <a16:colId xmlns:a16="http://schemas.microsoft.com/office/drawing/2014/main" val="2016627427"/>
                    </a:ext>
                  </a:extLst>
                </a:gridCol>
                <a:gridCol w="732847">
                  <a:extLst>
                    <a:ext uri="{9D8B030D-6E8A-4147-A177-3AD203B41FA5}">
                      <a16:colId xmlns:a16="http://schemas.microsoft.com/office/drawing/2014/main" val="1683990641"/>
                    </a:ext>
                  </a:extLst>
                </a:gridCol>
                <a:gridCol w="732847">
                  <a:extLst>
                    <a:ext uri="{9D8B030D-6E8A-4147-A177-3AD203B41FA5}">
                      <a16:colId xmlns:a16="http://schemas.microsoft.com/office/drawing/2014/main" val="2168396273"/>
                    </a:ext>
                  </a:extLst>
                </a:gridCol>
                <a:gridCol w="910272">
                  <a:extLst>
                    <a:ext uri="{9D8B030D-6E8A-4147-A177-3AD203B41FA5}">
                      <a16:colId xmlns:a16="http://schemas.microsoft.com/office/drawing/2014/main" val="808426176"/>
                    </a:ext>
                  </a:extLst>
                </a:gridCol>
                <a:gridCol w="732847">
                  <a:extLst>
                    <a:ext uri="{9D8B030D-6E8A-4147-A177-3AD203B41FA5}">
                      <a16:colId xmlns:a16="http://schemas.microsoft.com/office/drawing/2014/main" val="3928821306"/>
                    </a:ext>
                  </a:extLst>
                </a:gridCol>
              </a:tblGrid>
              <a:tr h="395388">
                <a:tc>
                  <a:txBody>
                    <a:bodyPr/>
                    <a:lstStyle/>
                    <a:p>
                      <a:pPr algn="ctr"/>
                      <a:endParaRPr lang="en-IN"/>
                    </a:p>
                  </a:txBody>
                  <a:tcPr anchor="ctr"/>
                </a:tc>
                <a:tc>
                  <a:txBody>
                    <a:bodyPr/>
                    <a:lstStyle/>
                    <a:p>
                      <a:pPr algn="ctr"/>
                      <a:r>
                        <a:rPr lang="en-IN" b="1" dirty="0"/>
                        <a:t>Dog</a:t>
                      </a:r>
                    </a:p>
                  </a:txBody>
                  <a:tcPr anchor="ctr"/>
                </a:tc>
                <a:tc>
                  <a:txBody>
                    <a:bodyPr/>
                    <a:lstStyle/>
                    <a:p>
                      <a:pPr algn="ctr"/>
                      <a:r>
                        <a:rPr lang="en-IN" b="1" dirty="0"/>
                        <a:t>Cat</a:t>
                      </a:r>
                    </a:p>
                  </a:txBody>
                  <a:tcPr anchor="ctr"/>
                </a:tc>
                <a:tc>
                  <a:txBody>
                    <a:bodyPr/>
                    <a:lstStyle/>
                    <a:p>
                      <a:pPr algn="ctr"/>
                      <a:r>
                        <a:rPr lang="en-IN" b="1" dirty="0"/>
                        <a:t>Rabbit</a:t>
                      </a:r>
                    </a:p>
                  </a:txBody>
                  <a:tcPr anchor="ctr"/>
                </a:tc>
                <a:tc>
                  <a:txBody>
                    <a:bodyPr/>
                    <a:lstStyle/>
                    <a:p>
                      <a:pPr algn="ctr"/>
                      <a:r>
                        <a:rPr lang="en-IN" b="1" dirty="0"/>
                        <a:t>Total</a:t>
                      </a:r>
                    </a:p>
                  </a:txBody>
                  <a:tcPr anchor="ctr"/>
                </a:tc>
                <a:extLst>
                  <a:ext uri="{0D108BD9-81ED-4DB2-BD59-A6C34878D82A}">
                    <a16:rowId xmlns:a16="http://schemas.microsoft.com/office/drawing/2014/main" val="1198352366"/>
                  </a:ext>
                </a:extLst>
              </a:tr>
              <a:tr h="395388">
                <a:tc>
                  <a:txBody>
                    <a:bodyPr/>
                    <a:lstStyle/>
                    <a:p>
                      <a:pPr algn="ctr"/>
                      <a:r>
                        <a:rPr lang="en-IN" b="1" dirty="0"/>
                        <a:t>Dog</a:t>
                      </a:r>
                    </a:p>
                  </a:txBody>
                  <a:tcPr anchor="ctr"/>
                </a:tc>
                <a:tc>
                  <a:txBody>
                    <a:bodyPr/>
                    <a:lstStyle/>
                    <a:p>
                      <a:pPr algn="ctr"/>
                      <a:r>
                        <a:rPr lang="en-IN" dirty="0">
                          <a:solidFill>
                            <a:schemeClr val="accent4"/>
                          </a:solidFill>
                        </a:rPr>
                        <a:t>25</a:t>
                      </a:r>
                    </a:p>
                  </a:txBody>
                  <a:tcPr anchor="ctr">
                    <a:solidFill>
                      <a:schemeClr val="accent1">
                        <a:lumMod val="20000"/>
                        <a:lumOff val="80000"/>
                      </a:schemeClr>
                    </a:solidFill>
                  </a:tcPr>
                </a:tc>
                <a:tc>
                  <a:txBody>
                    <a:bodyPr/>
                    <a:lstStyle/>
                    <a:p>
                      <a:pPr algn="ctr"/>
                      <a:r>
                        <a:rPr lang="en-IN" dirty="0">
                          <a:solidFill>
                            <a:schemeClr val="accent4"/>
                          </a:solidFill>
                        </a:rPr>
                        <a:t>5</a:t>
                      </a:r>
                    </a:p>
                  </a:txBody>
                  <a:tcPr anchor="ctr">
                    <a:solidFill>
                      <a:schemeClr val="accent1">
                        <a:lumMod val="20000"/>
                        <a:lumOff val="80000"/>
                      </a:schemeClr>
                    </a:solidFill>
                  </a:tcPr>
                </a:tc>
                <a:tc>
                  <a:txBody>
                    <a:bodyPr/>
                    <a:lstStyle/>
                    <a:p>
                      <a:pPr algn="ctr"/>
                      <a:r>
                        <a:rPr lang="en-IN" dirty="0">
                          <a:solidFill>
                            <a:schemeClr val="accent4"/>
                          </a:solidFill>
                        </a:rPr>
                        <a:t>10</a:t>
                      </a:r>
                    </a:p>
                  </a:txBody>
                  <a:tcPr anchor="ctr">
                    <a:solidFill>
                      <a:schemeClr val="accent1">
                        <a:lumMod val="20000"/>
                        <a:lumOff val="80000"/>
                      </a:schemeClr>
                    </a:solidFill>
                  </a:tcPr>
                </a:tc>
                <a:tc>
                  <a:txBody>
                    <a:bodyPr/>
                    <a:lstStyle/>
                    <a:p>
                      <a:pPr algn="ctr"/>
                      <a:r>
                        <a:rPr lang="en-IN" dirty="0"/>
                        <a:t>40</a:t>
                      </a:r>
                    </a:p>
                  </a:txBody>
                  <a:tcPr anchor="ctr">
                    <a:solidFill>
                      <a:schemeClr val="accent6">
                        <a:lumMod val="20000"/>
                        <a:lumOff val="80000"/>
                      </a:schemeClr>
                    </a:solidFill>
                  </a:tcPr>
                </a:tc>
                <a:extLst>
                  <a:ext uri="{0D108BD9-81ED-4DB2-BD59-A6C34878D82A}">
                    <a16:rowId xmlns:a16="http://schemas.microsoft.com/office/drawing/2014/main" val="2789374285"/>
                  </a:ext>
                </a:extLst>
              </a:tr>
              <a:tr h="395388">
                <a:tc>
                  <a:txBody>
                    <a:bodyPr/>
                    <a:lstStyle/>
                    <a:p>
                      <a:pPr algn="ctr"/>
                      <a:r>
                        <a:rPr lang="en-IN" b="1" dirty="0"/>
                        <a:t>Cat</a:t>
                      </a:r>
                    </a:p>
                  </a:txBody>
                  <a:tcPr anchor="ctr"/>
                </a:tc>
                <a:tc>
                  <a:txBody>
                    <a:bodyPr/>
                    <a:lstStyle/>
                    <a:p>
                      <a:pPr algn="ctr"/>
                      <a:r>
                        <a:rPr lang="en-IN" dirty="0">
                          <a:solidFill>
                            <a:schemeClr val="accent4"/>
                          </a:solidFill>
                        </a:rPr>
                        <a:t>0</a:t>
                      </a:r>
                    </a:p>
                  </a:txBody>
                  <a:tcPr anchor="ctr">
                    <a:solidFill>
                      <a:schemeClr val="accent1">
                        <a:lumMod val="20000"/>
                        <a:lumOff val="80000"/>
                      </a:schemeClr>
                    </a:solidFill>
                  </a:tcPr>
                </a:tc>
                <a:tc>
                  <a:txBody>
                    <a:bodyPr/>
                    <a:lstStyle/>
                    <a:p>
                      <a:pPr algn="ctr"/>
                      <a:r>
                        <a:rPr lang="en-IN" dirty="0">
                          <a:solidFill>
                            <a:schemeClr val="accent4"/>
                          </a:solidFill>
                        </a:rPr>
                        <a:t>30</a:t>
                      </a:r>
                    </a:p>
                  </a:txBody>
                  <a:tcPr anchor="ctr">
                    <a:solidFill>
                      <a:schemeClr val="accent1">
                        <a:lumMod val="20000"/>
                        <a:lumOff val="80000"/>
                      </a:schemeClr>
                    </a:solidFill>
                  </a:tcPr>
                </a:tc>
                <a:tc>
                  <a:txBody>
                    <a:bodyPr/>
                    <a:lstStyle/>
                    <a:p>
                      <a:pPr algn="ctr"/>
                      <a:r>
                        <a:rPr lang="en-IN" dirty="0">
                          <a:solidFill>
                            <a:schemeClr val="accent4"/>
                          </a:solidFill>
                        </a:rPr>
                        <a:t>4</a:t>
                      </a:r>
                    </a:p>
                  </a:txBody>
                  <a:tcPr anchor="ctr">
                    <a:solidFill>
                      <a:schemeClr val="accent1">
                        <a:lumMod val="20000"/>
                        <a:lumOff val="80000"/>
                      </a:schemeClr>
                    </a:solidFill>
                  </a:tcPr>
                </a:tc>
                <a:tc>
                  <a:txBody>
                    <a:bodyPr/>
                    <a:lstStyle/>
                    <a:p>
                      <a:pPr algn="ctr"/>
                      <a:r>
                        <a:rPr lang="en-IN" dirty="0"/>
                        <a:t>34</a:t>
                      </a:r>
                    </a:p>
                  </a:txBody>
                  <a:tcPr anchor="ctr">
                    <a:solidFill>
                      <a:schemeClr val="accent6">
                        <a:lumMod val="20000"/>
                        <a:lumOff val="80000"/>
                      </a:schemeClr>
                    </a:solidFill>
                  </a:tcPr>
                </a:tc>
                <a:extLst>
                  <a:ext uri="{0D108BD9-81ED-4DB2-BD59-A6C34878D82A}">
                    <a16:rowId xmlns:a16="http://schemas.microsoft.com/office/drawing/2014/main" val="1182828474"/>
                  </a:ext>
                </a:extLst>
              </a:tr>
              <a:tr h="395388">
                <a:tc>
                  <a:txBody>
                    <a:bodyPr/>
                    <a:lstStyle/>
                    <a:p>
                      <a:pPr algn="ctr"/>
                      <a:r>
                        <a:rPr lang="en-IN" b="1" dirty="0"/>
                        <a:t>Rabbit</a:t>
                      </a:r>
                    </a:p>
                  </a:txBody>
                  <a:tcPr anchor="ctr"/>
                </a:tc>
                <a:tc>
                  <a:txBody>
                    <a:bodyPr/>
                    <a:lstStyle/>
                    <a:p>
                      <a:pPr algn="ctr"/>
                      <a:r>
                        <a:rPr lang="en-IN" dirty="0">
                          <a:solidFill>
                            <a:schemeClr val="accent4"/>
                          </a:solidFill>
                        </a:rPr>
                        <a:t>4</a:t>
                      </a:r>
                    </a:p>
                  </a:txBody>
                  <a:tcPr anchor="ctr">
                    <a:solidFill>
                      <a:schemeClr val="accent1">
                        <a:lumMod val="20000"/>
                        <a:lumOff val="80000"/>
                      </a:schemeClr>
                    </a:solidFill>
                  </a:tcPr>
                </a:tc>
                <a:tc>
                  <a:txBody>
                    <a:bodyPr/>
                    <a:lstStyle/>
                    <a:p>
                      <a:pPr algn="ctr"/>
                      <a:r>
                        <a:rPr lang="en-IN" dirty="0">
                          <a:solidFill>
                            <a:schemeClr val="accent4"/>
                          </a:solidFill>
                        </a:rPr>
                        <a:t>10</a:t>
                      </a:r>
                    </a:p>
                  </a:txBody>
                  <a:tcPr anchor="ctr">
                    <a:solidFill>
                      <a:schemeClr val="accent1">
                        <a:lumMod val="20000"/>
                        <a:lumOff val="80000"/>
                      </a:schemeClr>
                    </a:solidFill>
                  </a:tcPr>
                </a:tc>
                <a:tc>
                  <a:txBody>
                    <a:bodyPr/>
                    <a:lstStyle/>
                    <a:p>
                      <a:pPr algn="ctr"/>
                      <a:r>
                        <a:rPr lang="en-IN" dirty="0">
                          <a:solidFill>
                            <a:schemeClr val="accent4"/>
                          </a:solidFill>
                        </a:rPr>
                        <a:t>20</a:t>
                      </a:r>
                    </a:p>
                  </a:txBody>
                  <a:tcPr anchor="ctr">
                    <a:solidFill>
                      <a:schemeClr val="accent1">
                        <a:lumMod val="20000"/>
                        <a:lumOff val="80000"/>
                      </a:schemeClr>
                    </a:solidFill>
                  </a:tcPr>
                </a:tc>
                <a:tc>
                  <a:txBody>
                    <a:bodyPr/>
                    <a:lstStyle/>
                    <a:p>
                      <a:pPr algn="ctr"/>
                      <a:r>
                        <a:rPr lang="en-IN" dirty="0"/>
                        <a:t>34</a:t>
                      </a:r>
                    </a:p>
                  </a:txBody>
                  <a:tcPr anchor="ctr">
                    <a:solidFill>
                      <a:schemeClr val="accent6">
                        <a:lumMod val="20000"/>
                        <a:lumOff val="80000"/>
                      </a:schemeClr>
                    </a:solidFill>
                  </a:tcPr>
                </a:tc>
                <a:extLst>
                  <a:ext uri="{0D108BD9-81ED-4DB2-BD59-A6C34878D82A}">
                    <a16:rowId xmlns:a16="http://schemas.microsoft.com/office/drawing/2014/main" val="830110722"/>
                  </a:ext>
                </a:extLst>
              </a:tr>
              <a:tr h="395388">
                <a:tc>
                  <a:txBody>
                    <a:bodyPr/>
                    <a:lstStyle/>
                    <a:p>
                      <a:pPr algn="ctr"/>
                      <a:r>
                        <a:rPr lang="en-IN" b="1" dirty="0"/>
                        <a:t>Total</a:t>
                      </a:r>
                    </a:p>
                  </a:txBody>
                  <a:tcPr anchor="ctr"/>
                </a:tc>
                <a:tc>
                  <a:txBody>
                    <a:bodyPr/>
                    <a:lstStyle/>
                    <a:p>
                      <a:pPr algn="ctr"/>
                      <a:r>
                        <a:rPr lang="en-IN" dirty="0"/>
                        <a:t>29</a:t>
                      </a:r>
                    </a:p>
                  </a:txBody>
                  <a:tcPr anchor="ctr">
                    <a:solidFill>
                      <a:schemeClr val="accent6">
                        <a:lumMod val="20000"/>
                        <a:lumOff val="80000"/>
                      </a:schemeClr>
                    </a:solidFill>
                  </a:tcPr>
                </a:tc>
                <a:tc>
                  <a:txBody>
                    <a:bodyPr/>
                    <a:lstStyle/>
                    <a:p>
                      <a:pPr algn="ctr"/>
                      <a:r>
                        <a:rPr lang="en-IN" dirty="0"/>
                        <a:t>45</a:t>
                      </a:r>
                    </a:p>
                  </a:txBody>
                  <a:tcPr anchor="ctr">
                    <a:solidFill>
                      <a:schemeClr val="accent6">
                        <a:lumMod val="20000"/>
                        <a:lumOff val="80000"/>
                      </a:schemeClr>
                    </a:solidFill>
                  </a:tcPr>
                </a:tc>
                <a:tc>
                  <a:txBody>
                    <a:bodyPr/>
                    <a:lstStyle/>
                    <a:p>
                      <a:pPr algn="ctr"/>
                      <a:r>
                        <a:rPr lang="en-IN" dirty="0"/>
                        <a:t>34</a:t>
                      </a:r>
                    </a:p>
                  </a:txBody>
                  <a:tcPr anchor="ctr">
                    <a:solidFill>
                      <a:schemeClr val="accent6">
                        <a:lumMod val="20000"/>
                        <a:lumOff val="80000"/>
                      </a:schemeClr>
                    </a:solidFill>
                  </a:tcPr>
                </a:tc>
                <a:tc>
                  <a:txBody>
                    <a:bodyPr/>
                    <a:lstStyle/>
                    <a:p>
                      <a:pPr algn="ctr"/>
                      <a:endParaRPr lang="en-IN" dirty="0"/>
                    </a:p>
                  </a:txBody>
                  <a:tcPr anchor="ctr"/>
                </a:tc>
                <a:extLst>
                  <a:ext uri="{0D108BD9-81ED-4DB2-BD59-A6C34878D82A}">
                    <a16:rowId xmlns:a16="http://schemas.microsoft.com/office/drawing/2014/main" val="3461491528"/>
                  </a:ext>
                </a:extLst>
              </a:tr>
            </a:tbl>
          </a:graphicData>
        </a:graphic>
      </p:graphicFrame>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77406BC5-0069-DF25-5C78-F29EE56D5D5E}"/>
                  </a:ext>
                </a:extLst>
              </p:cNvPr>
              <p:cNvSpPr txBox="1">
                <a:spLocks/>
              </p:cNvSpPr>
              <p:nvPr/>
            </p:nvSpPr>
            <p:spPr>
              <a:xfrm>
                <a:off x="5750351" y="1411663"/>
                <a:ext cx="6212263" cy="527828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000" b="1" u="sng" dirty="0"/>
                  <a:t>Precision</a:t>
                </a:r>
              </a:p>
              <a:p>
                <a:pPr marL="0" indent="0">
                  <a:buNone/>
                </a:pPr>
                <a14:m>
                  <m:oMathPara xmlns:m="http://schemas.openxmlformats.org/officeDocument/2006/math">
                    <m:oMathParaPr>
                      <m:jc m:val="left"/>
                    </m:oMathParaPr>
                    <m:oMath xmlns:m="http://schemas.openxmlformats.org/officeDocument/2006/math">
                      <m:sSub>
                        <m:sSubPr>
                          <m:ctrlPr>
                            <a:rPr lang="en-IN" sz="1800" i="1" smtClean="0">
                              <a:latin typeface="Cambria Math" panose="02040503050406030204" pitchFamily="18" charset="0"/>
                            </a:rPr>
                          </m:ctrlPr>
                        </m:sSubPr>
                        <m:e>
                          <m:r>
                            <a:rPr lang="en-IN" sz="1800" b="0" i="1" smtClean="0">
                              <a:latin typeface="Cambria Math" panose="02040503050406030204" pitchFamily="18" charset="0"/>
                            </a:rPr>
                            <m:t>𝑃</m:t>
                          </m:r>
                        </m:e>
                        <m:sub>
                          <m:r>
                            <a:rPr lang="en-IN" sz="1800" b="0" i="1" smtClean="0">
                              <a:latin typeface="Cambria Math" panose="02040503050406030204" pitchFamily="18" charset="0"/>
                            </a:rPr>
                            <m:t>𝐷𝑜𝑔</m:t>
                          </m:r>
                        </m:sub>
                      </m:sSub>
                      <m:r>
                        <a:rPr lang="en-IN" sz="1800" b="0" i="1" smtClean="0">
                          <a:latin typeface="Cambria Math" panose="02040503050406030204" pitchFamily="18" charset="0"/>
                        </a:rPr>
                        <m:t>=</m:t>
                      </m:r>
                      <m:f>
                        <m:fPr>
                          <m:ctrlPr>
                            <a:rPr lang="en-IN" sz="1800" b="0" i="1" smtClean="0">
                              <a:latin typeface="Cambria Math" panose="02040503050406030204" pitchFamily="18" charset="0"/>
                            </a:rPr>
                          </m:ctrlPr>
                        </m:fPr>
                        <m:num>
                          <m:r>
                            <a:rPr lang="en-IN" sz="1800" b="0" i="1" smtClean="0">
                              <a:latin typeface="Cambria Math" panose="02040503050406030204" pitchFamily="18" charset="0"/>
                            </a:rPr>
                            <m:t>25</m:t>
                          </m:r>
                        </m:num>
                        <m:den>
                          <m:r>
                            <a:rPr lang="en-IN" sz="1800" b="0" i="1" smtClean="0">
                              <a:latin typeface="Cambria Math" panose="02040503050406030204" pitchFamily="18" charset="0"/>
                            </a:rPr>
                            <m:t>29</m:t>
                          </m:r>
                        </m:den>
                      </m:f>
                      <m:r>
                        <a:rPr lang="en-IN" sz="1800" b="0" i="1" smtClean="0">
                          <a:latin typeface="Cambria Math" panose="02040503050406030204" pitchFamily="18" charset="0"/>
                        </a:rPr>
                        <m:t>=0.86 , </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𝑃</m:t>
                          </m:r>
                        </m:e>
                        <m:sub>
                          <m:r>
                            <a:rPr lang="en-IN" sz="1800" b="0" i="1" smtClean="0">
                              <a:latin typeface="Cambria Math" panose="02040503050406030204" pitchFamily="18" charset="0"/>
                            </a:rPr>
                            <m:t>𝐶𝑎𝑡</m:t>
                          </m:r>
                        </m:sub>
                      </m:sSub>
                      <m:r>
                        <a:rPr lang="en-IN" sz="1800" b="0" i="1" smtClean="0">
                          <a:latin typeface="Cambria Math" panose="02040503050406030204" pitchFamily="18" charset="0"/>
                        </a:rPr>
                        <m:t>=</m:t>
                      </m:r>
                      <m:f>
                        <m:fPr>
                          <m:ctrlPr>
                            <a:rPr lang="en-IN" sz="1800" b="0" i="1" smtClean="0">
                              <a:latin typeface="Cambria Math" panose="02040503050406030204" pitchFamily="18" charset="0"/>
                            </a:rPr>
                          </m:ctrlPr>
                        </m:fPr>
                        <m:num>
                          <m:r>
                            <a:rPr lang="en-IN" sz="1800" b="0" i="1" smtClean="0">
                              <a:latin typeface="Cambria Math" panose="02040503050406030204" pitchFamily="18" charset="0"/>
                            </a:rPr>
                            <m:t>30</m:t>
                          </m:r>
                        </m:num>
                        <m:den>
                          <m:r>
                            <a:rPr lang="en-IN" sz="1800" b="0" i="1" smtClean="0">
                              <a:latin typeface="Cambria Math" panose="02040503050406030204" pitchFamily="18" charset="0"/>
                            </a:rPr>
                            <m:t>45</m:t>
                          </m:r>
                        </m:den>
                      </m:f>
                      <m:r>
                        <a:rPr lang="en-IN" sz="1800" b="0" i="1" smtClean="0">
                          <a:latin typeface="Cambria Math" panose="02040503050406030204" pitchFamily="18" charset="0"/>
                        </a:rPr>
                        <m:t>=0.66 , </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𝑃</m:t>
                          </m:r>
                        </m:e>
                        <m:sub>
                          <m:r>
                            <a:rPr lang="en-IN" sz="1800" b="0" i="1" smtClean="0">
                              <a:latin typeface="Cambria Math" panose="02040503050406030204" pitchFamily="18" charset="0"/>
                            </a:rPr>
                            <m:t>𝑅𝑎𝑏𝑏𝑖𝑡</m:t>
                          </m:r>
                        </m:sub>
                      </m:sSub>
                      <m:r>
                        <a:rPr lang="en-IN" sz="1800" b="0" i="1" smtClean="0">
                          <a:latin typeface="Cambria Math" panose="02040503050406030204" pitchFamily="18" charset="0"/>
                        </a:rPr>
                        <m:t>=</m:t>
                      </m:r>
                      <m:f>
                        <m:fPr>
                          <m:ctrlPr>
                            <a:rPr lang="en-IN" sz="1800" b="0" i="1" smtClean="0">
                              <a:latin typeface="Cambria Math" panose="02040503050406030204" pitchFamily="18" charset="0"/>
                            </a:rPr>
                          </m:ctrlPr>
                        </m:fPr>
                        <m:num>
                          <m:r>
                            <a:rPr lang="en-IN" sz="1800" b="0" i="1" smtClean="0">
                              <a:latin typeface="Cambria Math" panose="02040503050406030204" pitchFamily="18" charset="0"/>
                            </a:rPr>
                            <m:t>20</m:t>
                          </m:r>
                        </m:num>
                        <m:den>
                          <m:r>
                            <a:rPr lang="en-IN" sz="1800" b="0" i="1" smtClean="0">
                              <a:latin typeface="Cambria Math" panose="02040503050406030204" pitchFamily="18" charset="0"/>
                            </a:rPr>
                            <m:t>34</m:t>
                          </m:r>
                        </m:den>
                      </m:f>
                      <m:r>
                        <a:rPr lang="en-IN" sz="1800" b="0" i="1" smtClean="0">
                          <a:latin typeface="Cambria Math" panose="02040503050406030204" pitchFamily="18" charset="0"/>
                        </a:rPr>
                        <m:t>=0.58</m:t>
                      </m:r>
                    </m:oMath>
                  </m:oMathPara>
                </a14:m>
                <a:endParaRPr lang="en-IN" sz="1800" dirty="0"/>
              </a:p>
              <a:p>
                <a:pPr marL="0" indent="0">
                  <a:buNone/>
                </a:pPr>
                <a14:m>
                  <m:oMathPara xmlns:m="http://schemas.openxmlformats.org/officeDocument/2006/math">
                    <m:oMathParaPr>
                      <m:jc m:val="left"/>
                    </m:oMathParaPr>
                    <m:oMath xmlns:m="http://schemas.openxmlformats.org/officeDocument/2006/math">
                      <m:r>
                        <a:rPr lang="en-IN" sz="2000" b="0" i="1" smtClean="0">
                          <a:latin typeface="Cambria Math" panose="02040503050406030204" pitchFamily="18" charset="0"/>
                        </a:rPr>
                        <m:t>𝑀𝑎𝑐𝑟𝑜</m:t>
                      </m:r>
                      <m:r>
                        <a:rPr lang="en-IN" sz="2000" b="0" i="1" smtClean="0">
                          <a:latin typeface="Cambria Math" panose="02040503050406030204" pitchFamily="18" charset="0"/>
                        </a:rPr>
                        <m:t> </m:t>
                      </m:r>
                      <m:r>
                        <a:rPr lang="en-IN" sz="2000" b="0" i="1" smtClean="0">
                          <a:latin typeface="Cambria Math" panose="02040503050406030204" pitchFamily="18" charset="0"/>
                        </a:rPr>
                        <m:t>𝑃𝑟𝑒𝑐𝑖𝑠𝑖𝑜𝑛</m:t>
                      </m:r>
                      <m:r>
                        <a:rPr lang="en-IN" sz="2000" b="0" i="1" smtClean="0">
                          <a:latin typeface="Cambria Math" panose="02040503050406030204" pitchFamily="18" charset="0"/>
                        </a:rPr>
                        <m:t>= </m:t>
                      </m:r>
                      <m:f>
                        <m:fPr>
                          <m:ctrlPr>
                            <a:rPr lang="en-IN" sz="2000" b="0" i="1" smtClean="0">
                              <a:latin typeface="Cambria Math" panose="02040503050406030204" pitchFamily="18" charset="0"/>
                            </a:rPr>
                          </m:ctrlPr>
                        </m:fPr>
                        <m:num>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𝑃</m:t>
                              </m:r>
                            </m:e>
                            <m:sub>
                              <m:r>
                                <a:rPr lang="en-IN" sz="2000" b="0" i="1" smtClean="0">
                                  <a:latin typeface="Cambria Math" panose="02040503050406030204" pitchFamily="18" charset="0"/>
                                </a:rPr>
                                <m:t>𝐷</m:t>
                              </m:r>
                            </m:sub>
                          </m:sSub>
                          <m:r>
                            <a:rPr lang="en-IN" sz="2000" b="0" i="1" smtClean="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𝑃</m:t>
                              </m:r>
                            </m:e>
                            <m:sub>
                              <m:r>
                                <a:rPr lang="en-IN" sz="2000" b="0" i="1" smtClean="0">
                                  <a:latin typeface="Cambria Math" panose="02040503050406030204" pitchFamily="18" charset="0"/>
                                </a:rPr>
                                <m:t>𝐶</m:t>
                              </m:r>
                            </m:sub>
                          </m:sSub>
                          <m:r>
                            <a:rPr lang="en-IN" sz="2000" b="0" i="1" smtClean="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𝑃</m:t>
                              </m:r>
                            </m:e>
                            <m:sub>
                              <m:r>
                                <a:rPr lang="en-IN" sz="2000" b="0" i="1" smtClean="0">
                                  <a:latin typeface="Cambria Math" panose="02040503050406030204" pitchFamily="18" charset="0"/>
                                </a:rPr>
                                <m:t>𝑅</m:t>
                              </m:r>
                            </m:sub>
                          </m:sSub>
                        </m:num>
                        <m:den>
                          <m:r>
                            <a:rPr lang="en-IN" sz="2000" b="0" i="1" smtClean="0">
                              <a:latin typeface="Cambria Math" panose="02040503050406030204" pitchFamily="18" charset="0"/>
                            </a:rPr>
                            <m:t>3</m:t>
                          </m:r>
                        </m:den>
                      </m:f>
                      <m:r>
                        <a:rPr lang="en-IN" sz="2000" b="0" i="1" smtClean="0">
                          <a:latin typeface="Cambria Math" panose="02040503050406030204" pitchFamily="18" charset="0"/>
                        </a:rPr>
                        <m:t>=0.70</m:t>
                      </m:r>
                    </m:oMath>
                  </m:oMathPara>
                </a14:m>
                <a:endParaRPr lang="en-IN" sz="2000" dirty="0"/>
              </a:p>
              <a:p>
                <a:pPr marL="0" indent="0">
                  <a:buNone/>
                </a:pPr>
                <a14:m>
                  <m:oMathPara xmlns:m="http://schemas.openxmlformats.org/officeDocument/2006/math">
                    <m:oMathParaPr>
                      <m:jc m:val="left"/>
                    </m:oMathParaPr>
                    <m:oMath xmlns:m="http://schemas.openxmlformats.org/officeDocument/2006/math">
                      <m:r>
                        <a:rPr lang="en-IN" sz="1900" b="0" i="1" smtClean="0">
                          <a:latin typeface="Cambria Math" panose="02040503050406030204" pitchFamily="18" charset="0"/>
                        </a:rPr>
                        <m:t>𝑊𝑒𝑖𝑔h𝑡𝑒𝑑</m:t>
                      </m:r>
                      <m:r>
                        <a:rPr lang="en-IN" sz="1900" b="0" i="1" smtClean="0">
                          <a:latin typeface="Cambria Math" panose="02040503050406030204" pitchFamily="18" charset="0"/>
                        </a:rPr>
                        <m:t> </m:t>
                      </m:r>
                      <m:r>
                        <a:rPr lang="en-IN" sz="1900" b="0" i="1" smtClean="0">
                          <a:latin typeface="Cambria Math" panose="02040503050406030204" pitchFamily="18" charset="0"/>
                        </a:rPr>
                        <m:t>𝑃𝑟𝑒𝑐𝑖𝑠𝑖𝑜𝑛</m:t>
                      </m:r>
                      <m:r>
                        <a:rPr lang="en-IN" sz="1900" b="0" i="1" smtClean="0">
                          <a:latin typeface="Cambria Math" panose="02040503050406030204" pitchFamily="18" charset="0"/>
                        </a:rPr>
                        <m:t>= </m:t>
                      </m:r>
                      <m:f>
                        <m:fPr>
                          <m:ctrlPr>
                            <a:rPr lang="en-IN" sz="1900" b="0" i="1" smtClean="0">
                              <a:latin typeface="Cambria Math" panose="02040503050406030204" pitchFamily="18" charset="0"/>
                            </a:rPr>
                          </m:ctrlPr>
                        </m:fPr>
                        <m:num>
                          <m:r>
                            <a:rPr lang="en-IN" sz="1900" b="0" i="1" smtClean="0">
                              <a:latin typeface="Cambria Math" panose="02040503050406030204" pitchFamily="18" charset="0"/>
                            </a:rPr>
                            <m:t>40</m:t>
                          </m:r>
                        </m:num>
                        <m:den>
                          <m:r>
                            <a:rPr lang="en-IN" sz="1900" b="0" i="1" smtClean="0">
                              <a:latin typeface="Cambria Math" panose="02040503050406030204" pitchFamily="18" charset="0"/>
                            </a:rPr>
                            <m:t>108</m:t>
                          </m:r>
                        </m:den>
                      </m:f>
                      <m:r>
                        <a:rPr lang="en-IN" sz="1900" b="0" i="1" smtClean="0">
                          <a:latin typeface="Cambria Math" panose="02040503050406030204" pitchFamily="18" charset="0"/>
                        </a:rPr>
                        <m:t>×</m:t>
                      </m:r>
                      <m:sSub>
                        <m:sSubPr>
                          <m:ctrlPr>
                            <a:rPr lang="en-IN" sz="1900" b="0" i="1" smtClean="0">
                              <a:latin typeface="Cambria Math" panose="02040503050406030204" pitchFamily="18" charset="0"/>
                            </a:rPr>
                          </m:ctrlPr>
                        </m:sSubPr>
                        <m:e>
                          <m:r>
                            <a:rPr lang="en-IN" sz="1900" b="0" i="1" smtClean="0">
                              <a:latin typeface="Cambria Math" panose="02040503050406030204" pitchFamily="18" charset="0"/>
                            </a:rPr>
                            <m:t>𝑃</m:t>
                          </m:r>
                        </m:e>
                        <m:sub>
                          <m:r>
                            <a:rPr lang="en-IN" sz="1900" b="0" i="1" smtClean="0">
                              <a:latin typeface="Cambria Math" panose="02040503050406030204" pitchFamily="18" charset="0"/>
                            </a:rPr>
                            <m:t>𝐷</m:t>
                          </m:r>
                        </m:sub>
                      </m:sSub>
                      <m:r>
                        <a:rPr lang="en-IN" sz="1900" b="0" i="1" smtClean="0">
                          <a:latin typeface="Cambria Math" panose="02040503050406030204" pitchFamily="18" charset="0"/>
                        </a:rPr>
                        <m:t>+</m:t>
                      </m:r>
                      <m:f>
                        <m:fPr>
                          <m:ctrlPr>
                            <a:rPr lang="en-IN" sz="1900" i="1">
                              <a:latin typeface="Cambria Math" panose="02040503050406030204" pitchFamily="18" charset="0"/>
                            </a:rPr>
                          </m:ctrlPr>
                        </m:fPr>
                        <m:num>
                          <m:r>
                            <a:rPr lang="en-IN" sz="1900" b="0" i="1" smtClean="0">
                              <a:latin typeface="Cambria Math" panose="02040503050406030204" pitchFamily="18" charset="0"/>
                            </a:rPr>
                            <m:t>34</m:t>
                          </m:r>
                        </m:num>
                        <m:den>
                          <m:r>
                            <a:rPr lang="en-IN" sz="1900" i="1">
                              <a:latin typeface="Cambria Math" panose="02040503050406030204" pitchFamily="18" charset="0"/>
                            </a:rPr>
                            <m:t>108</m:t>
                          </m:r>
                        </m:den>
                      </m:f>
                      <m:r>
                        <a:rPr lang="en-IN" sz="1900" i="1">
                          <a:latin typeface="Cambria Math" panose="02040503050406030204" pitchFamily="18" charset="0"/>
                        </a:rPr>
                        <m:t>×</m:t>
                      </m:r>
                      <m:sSub>
                        <m:sSubPr>
                          <m:ctrlPr>
                            <a:rPr lang="en-IN" sz="1900" i="1">
                              <a:latin typeface="Cambria Math" panose="02040503050406030204" pitchFamily="18" charset="0"/>
                            </a:rPr>
                          </m:ctrlPr>
                        </m:sSubPr>
                        <m:e>
                          <m:r>
                            <a:rPr lang="en-IN" sz="1900" i="1">
                              <a:latin typeface="Cambria Math" panose="02040503050406030204" pitchFamily="18" charset="0"/>
                            </a:rPr>
                            <m:t>𝑃</m:t>
                          </m:r>
                        </m:e>
                        <m:sub>
                          <m:r>
                            <a:rPr lang="en-IN" sz="1900" b="0" i="1" smtClean="0">
                              <a:latin typeface="Cambria Math" panose="02040503050406030204" pitchFamily="18" charset="0"/>
                            </a:rPr>
                            <m:t>𝐶</m:t>
                          </m:r>
                        </m:sub>
                      </m:sSub>
                      <m:r>
                        <a:rPr lang="en-IN" sz="1900" b="0" i="1" smtClean="0">
                          <a:latin typeface="Cambria Math" panose="02040503050406030204" pitchFamily="18" charset="0"/>
                        </a:rPr>
                        <m:t>+</m:t>
                      </m:r>
                      <m:f>
                        <m:fPr>
                          <m:ctrlPr>
                            <a:rPr lang="en-IN" sz="1900" i="1">
                              <a:latin typeface="Cambria Math" panose="02040503050406030204" pitchFamily="18" charset="0"/>
                            </a:rPr>
                          </m:ctrlPr>
                        </m:fPr>
                        <m:num>
                          <m:r>
                            <a:rPr lang="en-IN" sz="1900" b="0" i="1" smtClean="0">
                              <a:latin typeface="Cambria Math" panose="02040503050406030204" pitchFamily="18" charset="0"/>
                            </a:rPr>
                            <m:t>34</m:t>
                          </m:r>
                        </m:num>
                        <m:den>
                          <m:r>
                            <a:rPr lang="en-IN" sz="1900" i="1">
                              <a:latin typeface="Cambria Math" panose="02040503050406030204" pitchFamily="18" charset="0"/>
                            </a:rPr>
                            <m:t>108</m:t>
                          </m:r>
                        </m:den>
                      </m:f>
                      <m:r>
                        <a:rPr lang="en-IN" sz="1900" i="1">
                          <a:latin typeface="Cambria Math" panose="02040503050406030204" pitchFamily="18" charset="0"/>
                        </a:rPr>
                        <m:t>×</m:t>
                      </m:r>
                      <m:sSub>
                        <m:sSubPr>
                          <m:ctrlPr>
                            <a:rPr lang="en-IN" sz="1900" i="1">
                              <a:latin typeface="Cambria Math" panose="02040503050406030204" pitchFamily="18" charset="0"/>
                            </a:rPr>
                          </m:ctrlPr>
                        </m:sSubPr>
                        <m:e>
                          <m:r>
                            <a:rPr lang="en-IN" sz="1900" i="1">
                              <a:latin typeface="Cambria Math" panose="02040503050406030204" pitchFamily="18" charset="0"/>
                            </a:rPr>
                            <m:t>𝑃</m:t>
                          </m:r>
                        </m:e>
                        <m:sub>
                          <m:r>
                            <a:rPr lang="en-IN" sz="1900" b="0" i="1" smtClean="0">
                              <a:latin typeface="Cambria Math" panose="02040503050406030204" pitchFamily="18" charset="0"/>
                            </a:rPr>
                            <m:t>𝑅</m:t>
                          </m:r>
                        </m:sub>
                      </m:sSub>
                      <m:r>
                        <a:rPr lang="en-IN" sz="1900" b="0" i="1" smtClean="0">
                          <a:latin typeface="Cambria Math" panose="02040503050406030204" pitchFamily="18" charset="0"/>
                        </a:rPr>
                        <m:t>=0.71</m:t>
                      </m:r>
                    </m:oMath>
                  </m:oMathPara>
                </a14:m>
                <a:endParaRPr lang="en-IN" sz="1900" dirty="0"/>
              </a:p>
              <a:p>
                <a:pPr marL="0" indent="0">
                  <a:buNone/>
                </a:pPr>
                <a:r>
                  <a:rPr lang="en-IN" sz="2000" b="1" u="sng" dirty="0"/>
                  <a:t>Recall</a:t>
                </a:r>
              </a:p>
              <a:p>
                <a:pPr marL="0" indent="0">
                  <a:buNone/>
                </a:pPr>
                <a14:m>
                  <m:oMathPara xmlns:m="http://schemas.openxmlformats.org/officeDocument/2006/math">
                    <m:oMathParaPr>
                      <m:jc m:val="left"/>
                    </m:oMathParaPr>
                    <m:oMath xmlns:m="http://schemas.openxmlformats.org/officeDocument/2006/math">
                      <m:sSub>
                        <m:sSubPr>
                          <m:ctrlPr>
                            <a:rPr lang="en-IN" sz="2000" i="1">
                              <a:latin typeface="Cambria Math" panose="02040503050406030204" pitchFamily="18" charset="0"/>
                            </a:rPr>
                          </m:ctrlPr>
                        </m:sSubPr>
                        <m:e>
                          <m:r>
                            <a:rPr lang="en-IN" sz="2000" b="0" i="1" smtClean="0">
                              <a:latin typeface="Cambria Math" panose="02040503050406030204" pitchFamily="18" charset="0"/>
                            </a:rPr>
                            <m:t>𝑅</m:t>
                          </m:r>
                        </m:e>
                        <m:sub>
                          <m:r>
                            <a:rPr lang="en-IN" sz="2000" i="1">
                              <a:latin typeface="Cambria Math" panose="02040503050406030204" pitchFamily="18" charset="0"/>
                            </a:rPr>
                            <m:t>𝐷𝑜𝑔</m:t>
                          </m:r>
                        </m:sub>
                      </m:sSub>
                      <m:r>
                        <a:rPr lang="en-IN" sz="2000" i="1">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25</m:t>
                          </m:r>
                        </m:num>
                        <m:den>
                          <m:r>
                            <a:rPr lang="en-IN" sz="2000" b="0" i="1" smtClean="0">
                              <a:latin typeface="Cambria Math" panose="02040503050406030204" pitchFamily="18" charset="0"/>
                            </a:rPr>
                            <m:t>40</m:t>
                          </m:r>
                        </m:den>
                      </m:f>
                      <m:r>
                        <a:rPr lang="en-IN" sz="2000" i="1">
                          <a:latin typeface="Cambria Math" panose="02040503050406030204" pitchFamily="18" charset="0"/>
                        </a:rPr>
                        <m:t>=0.</m:t>
                      </m:r>
                      <m:r>
                        <a:rPr lang="en-IN" sz="2000" b="0" i="1" smtClean="0">
                          <a:latin typeface="Cambria Math" panose="02040503050406030204" pitchFamily="18" charset="0"/>
                        </a:rPr>
                        <m:t>62</m:t>
                      </m:r>
                      <m:r>
                        <a:rPr lang="en-IN" sz="2000" i="1">
                          <a:latin typeface="Cambria Math" panose="02040503050406030204" pitchFamily="18" charset="0"/>
                        </a:rPr>
                        <m:t> , </m:t>
                      </m:r>
                      <m:sSub>
                        <m:sSubPr>
                          <m:ctrlPr>
                            <a:rPr lang="en-IN" sz="2000" i="1">
                              <a:latin typeface="Cambria Math" panose="02040503050406030204" pitchFamily="18" charset="0"/>
                            </a:rPr>
                          </m:ctrlPr>
                        </m:sSubPr>
                        <m:e>
                          <m:r>
                            <a:rPr lang="en-IN" sz="2000" b="0" i="1" smtClean="0">
                              <a:latin typeface="Cambria Math" panose="02040503050406030204" pitchFamily="18" charset="0"/>
                            </a:rPr>
                            <m:t>𝑅</m:t>
                          </m:r>
                        </m:e>
                        <m:sub>
                          <m:r>
                            <a:rPr lang="en-IN" sz="2000" i="1">
                              <a:latin typeface="Cambria Math" panose="02040503050406030204" pitchFamily="18" charset="0"/>
                            </a:rPr>
                            <m:t>𝐶𝑎𝑡</m:t>
                          </m:r>
                        </m:sub>
                      </m:sSub>
                      <m:r>
                        <a:rPr lang="en-IN" sz="2000" i="1">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30</m:t>
                          </m:r>
                        </m:num>
                        <m:den>
                          <m:r>
                            <a:rPr lang="en-IN" sz="2000" b="0" i="1" smtClean="0">
                              <a:latin typeface="Cambria Math" panose="02040503050406030204" pitchFamily="18" charset="0"/>
                            </a:rPr>
                            <m:t>34</m:t>
                          </m:r>
                        </m:den>
                      </m:f>
                      <m:r>
                        <a:rPr lang="en-IN" sz="2000" i="1">
                          <a:latin typeface="Cambria Math" panose="02040503050406030204" pitchFamily="18" charset="0"/>
                        </a:rPr>
                        <m:t>=0.</m:t>
                      </m:r>
                      <m:r>
                        <a:rPr lang="en-IN" sz="2000" b="0" i="1" smtClean="0">
                          <a:latin typeface="Cambria Math" panose="02040503050406030204" pitchFamily="18" charset="0"/>
                        </a:rPr>
                        <m:t>88</m:t>
                      </m:r>
                      <m:r>
                        <a:rPr lang="en-IN" sz="2000" i="1">
                          <a:latin typeface="Cambria Math" panose="02040503050406030204" pitchFamily="18" charset="0"/>
                        </a:rPr>
                        <m:t> , </m:t>
                      </m:r>
                      <m:sSub>
                        <m:sSubPr>
                          <m:ctrlPr>
                            <a:rPr lang="en-IN" sz="2000" i="1">
                              <a:latin typeface="Cambria Math" panose="02040503050406030204" pitchFamily="18" charset="0"/>
                            </a:rPr>
                          </m:ctrlPr>
                        </m:sSubPr>
                        <m:e>
                          <m:r>
                            <a:rPr lang="en-IN" sz="2000" b="0" i="1" smtClean="0">
                              <a:latin typeface="Cambria Math" panose="02040503050406030204" pitchFamily="18" charset="0"/>
                            </a:rPr>
                            <m:t>𝑅</m:t>
                          </m:r>
                        </m:e>
                        <m:sub>
                          <m:r>
                            <a:rPr lang="en-IN" sz="2000" i="1">
                              <a:latin typeface="Cambria Math" panose="02040503050406030204" pitchFamily="18" charset="0"/>
                            </a:rPr>
                            <m:t>𝑅𝑎𝑏𝑏𝑖𝑡</m:t>
                          </m:r>
                        </m:sub>
                      </m:sSub>
                      <m:r>
                        <a:rPr lang="en-IN" sz="2000" i="1">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20</m:t>
                          </m:r>
                        </m:num>
                        <m:den>
                          <m:r>
                            <a:rPr lang="en-IN" sz="2000" i="1">
                              <a:latin typeface="Cambria Math" panose="02040503050406030204" pitchFamily="18" charset="0"/>
                            </a:rPr>
                            <m:t>34</m:t>
                          </m:r>
                        </m:den>
                      </m:f>
                      <m:r>
                        <a:rPr lang="en-IN" sz="2000" i="1">
                          <a:latin typeface="Cambria Math" panose="02040503050406030204" pitchFamily="18" charset="0"/>
                        </a:rPr>
                        <m:t>=0.58</m:t>
                      </m:r>
                    </m:oMath>
                  </m:oMathPara>
                </a14:m>
                <a:endParaRPr lang="en-IN" sz="2000" dirty="0"/>
              </a:p>
              <a:p>
                <a:pPr marL="0" indent="0">
                  <a:buNone/>
                </a:pPr>
                <a14:m>
                  <m:oMathPara xmlns:m="http://schemas.openxmlformats.org/officeDocument/2006/math">
                    <m:oMathParaPr>
                      <m:jc m:val="left"/>
                    </m:oMathParaPr>
                    <m:oMath xmlns:m="http://schemas.openxmlformats.org/officeDocument/2006/math">
                      <m:r>
                        <a:rPr lang="en-IN" sz="2100" i="1">
                          <a:latin typeface="Cambria Math" panose="02040503050406030204" pitchFamily="18" charset="0"/>
                        </a:rPr>
                        <m:t>𝑀𝑎𝑐𝑟𝑜</m:t>
                      </m:r>
                      <m:r>
                        <a:rPr lang="en-IN" sz="2100" i="1">
                          <a:latin typeface="Cambria Math" panose="02040503050406030204" pitchFamily="18" charset="0"/>
                        </a:rPr>
                        <m:t> </m:t>
                      </m:r>
                      <m:r>
                        <a:rPr lang="en-IN" sz="2100" b="0" i="1" smtClean="0">
                          <a:latin typeface="Cambria Math" panose="02040503050406030204" pitchFamily="18" charset="0"/>
                        </a:rPr>
                        <m:t>𝑅𝑒𝑐𝑎𝑙𝑙</m:t>
                      </m:r>
                      <m:r>
                        <a:rPr lang="en-IN" sz="2100" i="1">
                          <a:latin typeface="Cambria Math" panose="02040503050406030204" pitchFamily="18" charset="0"/>
                        </a:rPr>
                        <m:t>= </m:t>
                      </m:r>
                      <m:f>
                        <m:fPr>
                          <m:ctrlPr>
                            <a:rPr lang="en-IN" sz="2100" i="1">
                              <a:latin typeface="Cambria Math" panose="02040503050406030204" pitchFamily="18" charset="0"/>
                            </a:rPr>
                          </m:ctrlPr>
                        </m:fPr>
                        <m:num>
                          <m:sSub>
                            <m:sSubPr>
                              <m:ctrlPr>
                                <a:rPr lang="en-IN" sz="2100" i="1">
                                  <a:latin typeface="Cambria Math" panose="02040503050406030204" pitchFamily="18" charset="0"/>
                                </a:rPr>
                              </m:ctrlPr>
                            </m:sSubPr>
                            <m:e>
                              <m:r>
                                <a:rPr lang="en-IN" sz="2100" b="0" i="1" smtClean="0">
                                  <a:latin typeface="Cambria Math" panose="02040503050406030204" pitchFamily="18" charset="0"/>
                                </a:rPr>
                                <m:t>𝑅</m:t>
                              </m:r>
                            </m:e>
                            <m:sub>
                              <m:r>
                                <a:rPr lang="en-IN" sz="2100" i="1">
                                  <a:latin typeface="Cambria Math" panose="02040503050406030204" pitchFamily="18" charset="0"/>
                                </a:rPr>
                                <m:t>𝐷</m:t>
                              </m:r>
                            </m:sub>
                          </m:sSub>
                          <m:r>
                            <a:rPr lang="en-IN" sz="2100" i="1">
                              <a:latin typeface="Cambria Math" panose="02040503050406030204" pitchFamily="18" charset="0"/>
                            </a:rPr>
                            <m:t>+</m:t>
                          </m:r>
                          <m:sSub>
                            <m:sSubPr>
                              <m:ctrlPr>
                                <a:rPr lang="en-IN" sz="2100" i="1">
                                  <a:latin typeface="Cambria Math" panose="02040503050406030204" pitchFamily="18" charset="0"/>
                                </a:rPr>
                              </m:ctrlPr>
                            </m:sSubPr>
                            <m:e>
                              <m:r>
                                <a:rPr lang="en-IN" sz="2100" b="0" i="1" smtClean="0">
                                  <a:latin typeface="Cambria Math" panose="02040503050406030204" pitchFamily="18" charset="0"/>
                                </a:rPr>
                                <m:t>𝑅</m:t>
                              </m:r>
                            </m:e>
                            <m:sub>
                              <m:r>
                                <a:rPr lang="en-IN" sz="2100" i="1">
                                  <a:latin typeface="Cambria Math" panose="02040503050406030204" pitchFamily="18" charset="0"/>
                                </a:rPr>
                                <m:t>𝐶</m:t>
                              </m:r>
                            </m:sub>
                          </m:sSub>
                          <m:r>
                            <a:rPr lang="en-IN" sz="2100" i="1">
                              <a:latin typeface="Cambria Math" panose="02040503050406030204" pitchFamily="18" charset="0"/>
                            </a:rPr>
                            <m:t>+</m:t>
                          </m:r>
                          <m:sSub>
                            <m:sSubPr>
                              <m:ctrlPr>
                                <a:rPr lang="en-IN" sz="2100" i="1">
                                  <a:latin typeface="Cambria Math" panose="02040503050406030204" pitchFamily="18" charset="0"/>
                                </a:rPr>
                              </m:ctrlPr>
                            </m:sSubPr>
                            <m:e>
                              <m:r>
                                <a:rPr lang="en-IN" sz="2100" b="0" i="1" smtClean="0">
                                  <a:latin typeface="Cambria Math" panose="02040503050406030204" pitchFamily="18" charset="0"/>
                                </a:rPr>
                                <m:t>𝑅</m:t>
                              </m:r>
                            </m:e>
                            <m:sub>
                              <m:r>
                                <a:rPr lang="en-IN" sz="2100" i="1">
                                  <a:latin typeface="Cambria Math" panose="02040503050406030204" pitchFamily="18" charset="0"/>
                                </a:rPr>
                                <m:t>𝑅</m:t>
                              </m:r>
                            </m:sub>
                          </m:sSub>
                        </m:num>
                        <m:den>
                          <m:r>
                            <a:rPr lang="en-IN" sz="2100" i="1">
                              <a:latin typeface="Cambria Math" panose="02040503050406030204" pitchFamily="18" charset="0"/>
                            </a:rPr>
                            <m:t>3</m:t>
                          </m:r>
                        </m:den>
                      </m:f>
                      <m:r>
                        <a:rPr lang="en-IN" sz="2100" i="1">
                          <a:latin typeface="Cambria Math" panose="02040503050406030204" pitchFamily="18" charset="0"/>
                        </a:rPr>
                        <m:t>=0.</m:t>
                      </m:r>
                      <m:r>
                        <a:rPr lang="en-IN" sz="2100" b="0" i="1" smtClean="0">
                          <a:latin typeface="Cambria Math" panose="02040503050406030204" pitchFamily="18" charset="0"/>
                        </a:rPr>
                        <m:t>693</m:t>
                      </m:r>
                    </m:oMath>
                  </m:oMathPara>
                </a14:m>
                <a:endParaRPr lang="en-IN" sz="2100" dirty="0"/>
              </a:p>
              <a:p>
                <a:pPr marL="0" indent="0">
                  <a:buNone/>
                </a:pPr>
                <a14:m>
                  <m:oMath xmlns:m="http://schemas.openxmlformats.org/officeDocument/2006/math">
                    <m:r>
                      <a:rPr lang="en-IN" sz="2100" i="1">
                        <a:latin typeface="Cambria Math" panose="02040503050406030204" pitchFamily="18" charset="0"/>
                      </a:rPr>
                      <m:t>𝑊𝑒𝑖𝑔h𝑡𝑒𝑑</m:t>
                    </m:r>
                    <m:r>
                      <a:rPr lang="en-IN" sz="2100" i="1">
                        <a:latin typeface="Cambria Math" panose="02040503050406030204" pitchFamily="18" charset="0"/>
                      </a:rPr>
                      <m:t> </m:t>
                    </m:r>
                    <m:r>
                      <a:rPr lang="en-IN" sz="2100" i="1">
                        <a:latin typeface="Cambria Math" panose="02040503050406030204" pitchFamily="18" charset="0"/>
                      </a:rPr>
                      <m:t>𝑃𝑟𝑒𝑐𝑖𝑠𝑖𝑜𝑛</m:t>
                    </m:r>
                    <m:r>
                      <a:rPr lang="en-IN" sz="2100" i="1">
                        <a:latin typeface="Cambria Math" panose="02040503050406030204" pitchFamily="18" charset="0"/>
                      </a:rPr>
                      <m:t>= </m:t>
                    </m:r>
                    <m:f>
                      <m:fPr>
                        <m:ctrlPr>
                          <a:rPr lang="en-IN" sz="2100" i="1">
                            <a:latin typeface="Cambria Math" panose="02040503050406030204" pitchFamily="18" charset="0"/>
                          </a:rPr>
                        </m:ctrlPr>
                      </m:fPr>
                      <m:num>
                        <m:r>
                          <a:rPr lang="en-IN" sz="2100" i="1">
                            <a:latin typeface="Cambria Math" panose="02040503050406030204" pitchFamily="18" charset="0"/>
                          </a:rPr>
                          <m:t>40</m:t>
                        </m:r>
                      </m:num>
                      <m:den>
                        <m:r>
                          <a:rPr lang="en-IN" sz="2100" i="1">
                            <a:latin typeface="Cambria Math" panose="02040503050406030204" pitchFamily="18" charset="0"/>
                          </a:rPr>
                          <m:t>108</m:t>
                        </m:r>
                      </m:den>
                    </m:f>
                    <m:r>
                      <a:rPr lang="en-IN" sz="2100" i="1">
                        <a:latin typeface="Cambria Math" panose="02040503050406030204" pitchFamily="18" charset="0"/>
                      </a:rPr>
                      <m:t>×</m:t>
                    </m:r>
                    <m:sSub>
                      <m:sSubPr>
                        <m:ctrlPr>
                          <a:rPr lang="en-IN" sz="2100" i="1">
                            <a:latin typeface="Cambria Math" panose="02040503050406030204" pitchFamily="18" charset="0"/>
                          </a:rPr>
                        </m:ctrlPr>
                      </m:sSubPr>
                      <m:e>
                        <m:r>
                          <a:rPr lang="en-IN" sz="2100" b="0" i="1" smtClean="0">
                            <a:latin typeface="Cambria Math" panose="02040503050406030204" pitchFamily="18" charset="0"/>
                          </a:rPr>
                          <m:t>𝑅</m:t>
                        </m:r>
                      </m:e>
                      <m:sub>
                        <m:r>
                          <a:rPr lang="en-IN" sz="2100" i="1">
                            <a:latin typeface="Cambria Math" panose="02040503050406030204" pitchFamily="18" charset="0"/>
                          </a:rPr>
                          <m:t>𝐷</m:t>
                        </m:r>
                      </m:sub>
                    </m:sSub>
                    <m:r>
                      <a:rPr lang="en-IN" sz="2100" i="1">
                        <a:latin typeface="Cambria Math" panose="02040503050406030204" pitchFamily="18" charset="0"/>
                      </a:rPr>
                      <m:t>+</m:t>
                    </m:r>
                    <m:f>
                      <m:fPr>
                        <m:ctrlPr>
                          <a:rPr lang="en-IN" sz="2100" i="1">
                            <a:latin typeface="Cambria Math" panose="02040503050406030204" pitchFamily="18" charset="0"/>
                          </a:rPr>
                        </m:ctrlPr>
                      </m:fPr>
                      <m:num>
                        <m:r>
                          <a:rPr lang="en-IN" sz="2100" i="1">
                            <a:latin typeface="Cambria Math" panose="02040503050406030204" pitchFamily="18" charset="0"/>
                          </a:rPr>
                          <m:t>34</m:t>
                        </m:r>
                      </m:num>
                      <m:den>
                        <m:r>
                          <a:rPr lang="en-IN" sz="2100" i="1">
                            <a:latin typeface="Cambria Math" panose="02040503050406030204" pitchFamily="18" charset="0"/>
                          </a:rPr>
                          <m:t>108</m:t>
                        </m:r>
                      </m:den>
                    </m:f>
                    <m:r>
                      <a:rPr lang="en-IN" sz="2100" i="1">
                        <a:latin typeface="Cambria Math" panose="02040503050406030204" pitchFamily="18" charset="0"/>
                      </a:rPr>
                      <m:t>×</m:t>
                    </m:r>
                    <m:sSub>
                      <m:sSubPr>
                        <m:ctrlPr>
                          <a:rPr lang="en-IN" sz="2100" i="1">
                            <a:latin typeface="Cambria Math" panose="02040503050406030204" pitchFamily="18" charset="0"/>
                          </a:rPr>
                        </m:ctrlPr>
                      </m:sSubPr>
                      <m:e>
                        <m:r>
                          <a:rPr lang="en-IN" sz="2100" b="0" i="1" smtClean="0">
                            <a:latin typeface="Cambria Math" panose="02040503050406030204" pitchFamily="18" charset="0"/>
                          </a:rPr>
                          <m:t>𝑅</m:t>
                        </m:r>
                      </m:e>
                      <m:sub>
                        <m:r>
                          <a:rPr lang="en-IN" sz="2100" i="1">
                            <a:latin typeface="Cambria Math" panose="02040503050406030204" pitchFamily="18" charset="0"/>
                          </a:rPr>
                          <m:t>𝐶</m:t>
                        </m:r>
                      </m:sub>
                    </m:sSub>
                    <m:r>
                      <a:rPr lang="en-IN" sz="2100" i="1">
                        <a:latin typeface="Cambria Math" panose="02040503050406030204" pitchFamily="18" charset="0"/>
                      </a:rPr>
                      <m:t>+</m:t>
                    </m:r>
                    <m:f>
                      <m:fPr>
                        <m:ctrlPr>
                          <a:rPr lang="en-IN" sz="2100" i="1">
                            <a:latin typeface="Cambria Math" panose="02040503050406030204" pitchFamily="18" charset="0"/>
                          </a:rPr>
                        </m:ctrlPr>
                      </m:fPr>
                      <m:num>
                        <m:r>
                          <a:rPr lang="en-IN" sz="2100" i="1">
                            <a:latin typeface="Cambria Math" panose="02040503050406030204" pitchFamily="18" charset="0"/>
                          </a:rPr>
                          <m:t>34</m:t>
                        </m:r>
                      </m:num>
                      <m:den>
                        <m:r>
                          <a:rPr lang="en-IN" sz="2100" i="1">
                            <a:latin typeface="Cambria Math" panose="02040503050406030204" pitchFamily="18" charset="0"/>
                          </a:rPr>
                          <m:t>108</m:t>
                        </m:r>
                      </m:den>
                    </m:f>
                    <m:r>
                      <a:rPr lang="en-IN" sz="2100" i="1">
                        <a:latin typeface="Cambria Math" panose="02040503050406030204" pitchFamily="18" charset="0"/>
                      </a:rPr>
                      <m:t>×</m:t>
                    </m:r>
                    <m:sSub>
                      <m:sSubPr>
                        <m:ctrlPr>
                          <a:rPr lang="en-IN" sz="2100" i="1" smtClean="0">
                            <a:latin typeface="Cambria Math" panose="02040503050406030204" pitchFamily="18" charset="0"/>
                          </a:rPr>
                        </m:ctrlPr>
                      </m:sSubPr>
                      <m:e>
                        <m:r>
                          <a:rPr lang="en-IN" sz="2100" b="0" i="1" smtClean="0">
                            <a:latin typeface="Cambria Math" panose="02040503050406030204" pitchFamily="18" charset="0"/>
                          </a:rPr>
                          <m:t>𝑅</m:t>
                        </m:r>
                      </m:e>
                      <m:sub>
                        <m:r>
                          <a:rPr lang="en-IN" sz="2100" i="1">
                            <a:latin typeface="Cambria Math" panose="02040503050406030204" pitchFamily="18" charset="0"/>
                          </a:rPr>
                          <m:t>𝑅</m:t>
                        </m:r>
                      </m:sub>
                    </m:sSub>
                  </m:oMath>
                </a14:m>
                <a:r>
                  <a:rPr lang="en-IN" sz="1900" dirty="0"/>
                  <a:t>=0.689</a:t>
                </a:r>
              </a:p>
              <a:p>
                <a:pPr marL="0" indent="0">
                  <a:buNone/>
                </a:pPr>
                <a:r>
                  <a:rPr lang="en-IN" sz="2000" b="1" u="sng" dirty="0"/>
                  <a:t>F1 Score</a:t>
                </a:r>
              </a:p>
              <a:p>
                <a:pPr marL="0" indent="0">
                  <a:buNone/>
                </a:pPr>
                <a14:m>
                  <m:oMathPara xmlns:m="http://schemas.openxmlformats.org/officeDocument/2006/math">
                    <m:oMathParaPr>
                      <m:jc m:val="left"/>
                    </m:oMathParaPr>
                    <m:oMath xmlns:m="http://schemas.openxmlformats.org/officeDocument/2006/math">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𝐹</m:t>
                          </m:r>
                          <m:r>
                            <a:rPr lang="en-IN" sz="2000" b="0" i="1" smtClean="0">
                              <a:latin typeface="Cambria Math" panose="02040503050406030204" pitchFamily="18" charset="0"/>
                            </a:rPr>
                            <m:t>1</m:t>
                          </m:r>
                        </m:e>
                        <m:sub>
                          <m:r>
                            <a:rPr lang="en-IN" sz="2000" b="0" i="1" smtClean="0">
                              <a:latin typeface="Cambria Math" panose="02040503050406030204" pitchFamily="18" charset="0"/>
                            </a:rPr>
                            <m:t>𝐷</m:t>
                          </m:r>
                        </m:sub>
                      </m:sSub>
                      <m:r>
                        <a:rPr lang="en-IN" sz="2000" b="0" i="1" smtClean="0">
                          <a:latin typeface="Cambria Math" panose="02040503050406030204" pitchFamily="18" charset="0"/>
                        </a:rPr>
                        <m:t>=</m:t>
                      </m:r>
                      <m:f>
                        <m:fPr>
                          <m:ctrlPr>
                            <a:rPr lang="en-IN" sz="2000" i="1" smtClean="0">
                              <a:latin typeface="Cambria Math" panose="02040503050406030204" pitchFamily="18" charset="0"/>
                            </a:rPr>
                          </m:ctrlPr>
                        </m:fPr>
                        <m:num>
                          <m:r>
                            <a:rPr lang="en-IN" sz="2000" b="0" i="1" smtClean="0">
                              <a:latin typeface="Cambria Math" panose="02040503050406030204" pitchFamily="18" charset="0"/>
                            </a:rPr>
                            <m:t>2</m:t>
                          </m:r>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m:t>
                              </m:r>
                              <m:r>
                                <a:rPr lang="en-IN" sz="2000" b="0" i="1" smtClean="0">
                                  <a:latin typeface="Cambria Math" panose="02040503050406030204" pitchFamily="18" charset="0"/>
                                </a:rPr>
                                <m:t>𝑃</m:t>
                              </m:r>
                            </m:e>
                            <m:sub>
                              <m:r>
                                <a:rPr lang="en-IN" sz="2000" b="0" i="1" smtClean="0">
                                  <a:latin typeface="Cambria Math" panose="02040503050406030204" pitchFamily="18" charset="0"/>
                                </a:rPr>
                                <m:t>𝐷</m:t>
                              </m:r>
                            </m:sub>
                          </m:sSub>
                          <m:r>
                            <a:rPr lang="en-IN" sz="2000" b="0" i="1" smtClean="0">
                              <a:latin typeface="Cambria Math" panose="02040503050406030204" pitchFamily="18" charset="0"/>
                            </a:rPr>
                            <m:t>.</m:t>
                          </m:r>
                          <m:sSub>
                            <m:sSubPr>
                              <m:ctrlPr>
                                <a:rPr lang="en-IN" sz="2000" i="1">
                                  <a:latin typeface="Cambria Math" panose="02040503050406030204" pitchFamily="18" charset="0"/>
                                </a:rPr>
                              </m:ctrlPr>
                            </m:sSubPr>
                            <m:e>
                              <m:r>
                                <a:rPr lang="en-IN" sz="2000" b="0" i="1" smtClean="0">
                                  <a:latin typeface="Cambria Math" panose="02040503050406030204" pitchFamily="18" charset="0"/>
                                </a:rPr>
                                <m:t>𝑅</m:t>
                              </m:r>
                            </m:e>
                            <m:sub>
                              <m:r>
                                <a:rPr lang="en-IN" sz="2000" b="0" i="1">
                                  <a:latin typeface="Cambria Math" panose="02040503050406030204" pitchFamily="18" charset="0"/>
                                </a:rPr>
                                <m:t>𝐷</m:t>
                              </m:r>
                            </m:sub>
                          </m:sSub>
                        </m:num>
                        <m:den>
                          <m:sSub>
                            <m:sSubPr>
                              <m:ctrlPr>
                                <a:rPr lang="en-IN" sz="2000" i="1">
                                  <a:latin typeface="Cambria Math" panose="02040503050406030204" pitchFamily="18" charset="0"/>
                                </a:rPr>
                              </m:ctrlPr>
                            </m:sSubPr>
                            <m:e>
                              <m:r>
                                <a:rPr lang="en-IN" sz="2000" b="0" i="1">
                                  <a:latin typeface="Cambria Math" panose="02040503050406030204" pitchFamily="18" charset="0"/>
                                </a:rPr>
                                <m:t>𝑃</m:t>
                              </m:r>
                            </m:e>
                            <m:sub>
                              <m:r>
                                <a:rPr lang="en-IN" sz="2000" b="0" i="1">
                                  <a:latin typeface="Cambria Math" panose="02040503050406030204" pitchFamily="18" charset="0"/>
                                </a:rPr>
                                <m:t>𝐷</m:t>
                              </m:r>
                            </m:sub>
                          </m:sSub>
                          <m:r>
                            <a:rPr lang="en-IN" sz="2000" b="0" i="1" smtClean="0">
                              <a:latin typeface="Cambria Math" panose="02040503050406030204" pitchFamily="18" charset="0"/>
                            </a:rPr>
                            <m:t>+</m:t>
                          </m:r>
                          <m:sSub>
                            <m:sSubPr>
                              <m:ctrlPr>
                                <a:rPr lang="en-IN" sz="2000" i="1">
                                  <a:latin typeface="Cambria Math" panose="02040503050406030204" pitchFamily="18" charset="0"/>
                                </a:rPr>
                              </m:ctrlPr>
                            </m:sSubPr>
                            <m:e>
                              <m:r>
                                <a:rPr lang="en-IN" sz="2000" b="0" i="1" smtClean="0">
                                  <a:latin typeface="Cambria Math" panose="02040503050406030204" pitchFamily="18" charset="0"/>
                                </a:rPr>
                                <m:t>𝑅</m:t>
                              </m:r>
                            </m:e>
                            <m:sub>
                              <m:r>
                                <a:rPr lang="en-IN" sz="2000" b="0" i="1">
                                  <a:latin typeface="Cambria Math" panose="02040503050406030204" pitchFamily="18" charset="0"/>
                                </a:rPr>
                                <m:t>𝐷</m:t>
                              </m:r>
                            </m:sub>
                          </m:sSub>
                        </m:den>
                      </m:f>
                      <m:r>
                        <a:rPr lang="en-IN" sz="2000" b="0" i="1" smtClean="0">
                          <a:latin typeface="Cambria Math" panose="02040503050406030204" pitchFamily="18" charset="0"/>
                        </a:rPr>
                        <m:t>=0.72, </m:t>
                      </m:r>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𝐹</m:t>
                          </m:r>
                          <m:r>
                            <a:rPr lang="en-IN" sz="2000" b="0" i="1" smtClean="0">
                              <a:latin typeface="Cambria Math" panose="02040503050406030204" pitchFamily="18" charset="0"/>
                            </a:rPr>
                            <m:t>1</m:t>
                          </m:r>
                        </m:e>
                        <m:sub>
                          <m:r>
                            <a:rPr lang="en-IN" sz="2000" b="0" i="1" smtClean="0">
                              <a:latin typeface="Cambria Math" panose="02040503050406030204" pitchFamily="18" charset="0"/>
                            </a:rPr>
                            <m:t>𝐶</m:t>
                          </m:r>
                        </m:sub>
                      </m:sSub>
                      <m:r>
                        <a:rPr lang="en-IN" sz="2000" b="0" i="1" smtClean="0">
                          <a:latin typeface="Cambria Math" panose="02040503050406030204" pitchFamily="18" charset="0"/>
                        </a:rPr>
                        <m:t>=0.75 , </m:t>
                      </m:r>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𝐹</m:t>
                          </m:r>
                          <m:r>
                            <a:rPr lang="en-IN" sz="2000" b="0" i="1" smtClean="0">
                              <a:latin typeface="Cambria Math" panose="02040503050406030204" pitchFamily="18" charset="0"/>
                            </a:rPr>
                            <m:t>1</m:t>
                          </m:r>
                        </m:e>
                        <m:sub>
                          <m:r>
                            <a:rPr lang="en-IN" sz="2000" b="0" i="1" smtClean="0">
                              <a:latin typeface="Cambria Math" panose="02040503050406030204" pitchFamily="18" charset="0"/>
                            </a:rPr>
                            <m:t>𝑅</m:t>
                          </m:r>
                        </m:sub>
                      </m:sSub>
                      <m:r>
                        <a:rPr lang="en-IN" sz="2000" b="0" i="1" smtClean="0">
                          <a:latin typeface="Cambria Math" panose="02040503050406030204" pitchFamily="18" charset="0"/>
                        </a:rPr>
                        <m:t>=0.58</m:t>
                      </m:r>
                    </m:oMath>
                  </m:oMathPara>
                </a14:m>
                <a:endParaRPr lang="en-IN" sz="2000" i="1" dirty="0"/>
              </a:p>
              <a:p>
                <a:pPr marL="0" indent="0">
                  <a:buNone/>
                </a:pPr>
                <a14:m>
                  <m:oMathPara xmlns:m="http://schemas.openxmlformats.org/officeDocument/2006/math">
                    <m:oMathParaPr>
                      <m:jc m:val="left"/>
                    </m:oMathParaPr>
                    <m:oMath xmlns:m="http://schemas.openxmlformats.org/officeDocument/2006/math">
                      <m:r>
                        <a:rPr lang="en-IN" sz="2000" b="0" i="1" smtClean="0">
                          <a:latin typeface="Cambria Math" panose="02040503050406030204" pitchFamily="18" charset="0"/>
                        </a:rPr>
                        <m:t>𝑀𝑎𝑐𝑟𝑜</m:t>
                      </m:r>
                      <m:r>
                        <a:rPr lang="en-IN" sz="2000" b="0" i="1" smtClean="0">
                          <a:latin typeface="Cambria Math" panose="02040503050406030204" pitchFamily="18" charset="0"/>
                        </a:rPr>
                        <m:t> </m:t>
                      </m:r>
                      <m:r>
                        <a:rPr lang="en-IN" sz="2000" b="0" i="1" smtClean="0">
                          <a:latin typeface="Cambria Math" panose="02040503050406030204" pitchFamily="18" charset="0"/>
                        </a:rPr>
                        <m:t>𝐹</m:t>
                      </m:r>
                      <m:r>
                        <a:rPr lang="en-IN" sz="2000" b="0" i="1" smtClean="0">
                          <a:latin typeface="Cambria Math" panose="02040503050406030204" pitchFamily="18" charset="0"/>
                        </a:rPr>
                        <m:t>1=0.6849  ;</m:t>
                      </m:r>
                      <m:r>
                        <a:rPr lang="en-IN" sz="2000" b="0" i="1" smtClean="0">
                          <a:latin typeface="Cambria Math" panose="02040503050406030204" pitchFamily="18" charset="0"/>
                        </a:rPr>
                        <m:t>𝑊𝑒𝑖𝑔h𝑡𝑒𝑑</m:t>
                      </m:r>
                      <m:r>
                        <a:rPr lang="en-IN" sz="2000" b="0" i="1" smtClean="0">
                          <a:latin typeface="Cambria Math" panose="02040503050406030204" pitchFamily="18" charset="0"/>
                        </a:rPr>
                        <m:t> </m:t>
                      </m:r>
                      <m:r>
                        <a:rPr lang="en-IN" sz="2000" b="0" i="1" smtClean="0">
                          <a:latin typeface="Cambria Math" panose="02040503050406030204" pitchFamily="18" charset="0"/>
                        </a:rPr>
                        <m:t>𝐹</m:t>
                      </m:r>
                      <m:r>
                        <a:rPr lang="en-IN" sz="2000" b="0" i="1" smtClean="0">
                          <a:latin typeface="Cambria Math" panose="02040503050406030204" pitchFamily="18" charset="0"/>
                        </a:rPr>
                        <m:t>1=0.6853</m:t>
                      </m:r>
                    </m:oMath>
                  </m:oMathPara>
                </a14:m>
                <a:endParaRPr lang="en-IN" sz="2000" i="1" dirty="0"/>
              </a:p>
            </p:txBody>
          </p:sp>
        </mc:Choice>
        <mc:Fallback xmlns="">
          <p:sp>
            <p:nvSpPr>
              <p:cNvPr id="5" name="Content Placeholder 2">
                <a:extLst>
                  <a:ext uri="{FF2B5EF4-FFF2-40B4-BE49-F238E27FC236}">
                    <a16:creationId xmlns:a16="http://schemas.microsoft.com/office/drawing/2014/main" id="{77406BC5-0069-DF25-5C78-F29EE56D5D5E}"/>
                  </a:ext>
                </a:extLst>
              </p:cNvPr>
              <p:cNvSpPr txBox="1">
                <a:spLocks noRot="1" noChangeAspect="1" noMove="1" noResize="1" noEditPoints="1" noAdjustHandles="1" noChangeArrowheads="1" noChangeShapeType="1" noTextEdit="1"/>
              </p:cNvSpPr>
              <p:nvPr/>
            </p:nvSpPr>
            <p:spPr>
              <a:xfrm>
                <a:off x="5750351" y="1411663"/>
                <a:ext cx="6212263" cy="5278286"/>
              </a:xfrm>
              <a:prstGeom prst="rect">
                <a:avLst/>
              </a:prstGeom>
              <a:blipFill>
                <a:blip r:embed="rId2"/>
                <a:stretch>
                  <a:fillRect l="-589" t="-5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EAB066-66BB-C254-156E-263301ED0DDC}"/>
                  </a:ext>
                </a:extLst>
              </p:cNvPr>
              <p:cNvSpPr txBox="1"/>
              <p:nvPr/>
            </p:nvSpPr>
            <p:spPr>
              <a:xfrm>
                <a:off x="480847" y="4483530"/>
                <a:ext cx="5039894" cy="10550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𝑇𝑟𝑢𝑒</m:t>
                              </m:r>
                            </m:e>
                            <m:sub>
                              <m:r>
                                <a:rPr lang="en-IN" b="0" i="1" smtClean="0">
                                  <a:latin typeface="Cambria Math" panose="02040503050406030204" pitchFamily="18" charset="0"/>
                                </a:rPr>
                                <m:t>𝐷</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𝑇𝑟𝑢𝑒</m:t>
                              </m:r>
                            </m:e>
                            <m:sub>
                              <m:r>
                                <a:rPr lang="en-IN" b="0" i="1" smtClean="0">
                                  <a:latin typeface="Cambria Math" panose="02040503050406030204" pitchFamily="18" charset="0"/>
                                </a:rPr>
                                <m:t>𝐶</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𝑇𝑟𝑢𝑒</m:t>
                              </m:r>
                            </m:e>
                            <m:sub>
                              <m:r>
                                <a:rPr lang="en-IN" b="0" i="1" smtClean="0">
                                  <a:latin typeface="Cambria Math" panose="02040503050406030204" pitchFamily="18" charset="0"/>
                                </a:rPr>
                                <m:t>𝑅</m:t>
                              </m:r>
                            </m:sub>
                          </m:sSub>
                        </m:num>
                        <m:den>
                          <m:r>
                            <a:rPr lang="en-IN" b="0" i="1" smtClean="0">
                              <a:latin typeface="Cambria Math" panose="02040503050406030204" pitchFamily="18" charset="0"/>
                            </a:rPr>
                            <m:t>𝑇𝑜𝑡𝑎𝑙</m:t>
                          </m:r>
                          <m:r>
                            <a:rPr lang="en-IN" b="0" i="1" smtClean="0">
                              <a:latin typeface="Cambria Math" panose="02040503050406030204" pitchFamily="18" charset="0"/>
                            </a:rPr>
                            <m:t> </m:t>
                          </m:r>
                          <m:r>
                            <a:rPr lang="en-IN" b="0" i="1" smtClean="0">
                              <a:latin typeface="Cambria Math" panose="02040503050406030204" pitchFamily="18" charset="0"/>
                            </a:rPr>
                            <m:t>𝑠𝑎𝑚𝑝𝑙𝑒𝑠</m:t>
                          </m:r>
                        </m:den>
                      </m:f>
                    </m:oMath>
                  </m:oMathPara>
                </a14:m>
                <a:endParaRPr lang="en-IN" b="0" i="1" dirty="0">
                  <a:latin typeface="Cambria Math" panose="02040503050406030204" pitchFamily="18" charset="0"/>
                </a:endParaRPr>
              </a:p>
              <a:p>
                <a:r>
                  <a:rPr lang="en-IN" b="0" dirty="0"/>
                  <a:t>	</a:t>
                </a:r>
                <a14:m>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75</m:t>
                        </m:r>
                      </m:num>
                      <m:den>
                        <m:r>
                          <a:rPr lang="en-IN" b="0" i="1" smtClean="0">
                            <a:latin typeface="Cambria Math" panose="02040503050406030204" pitchFamily="18" charset="0"/>
                          </a:rPr>
                          <m:t>108</m:t>
                        </m:r>
                      </m:den>
                    </m:f>
                    <m:r>
                      <a:rPr lang="en-IN" b="0" i="1" smtClean="0">
                        <a:latin typeface="Cambria Math" panose="02040503050406030204" pitchFamily="18" charset="0"/>
                      </a:rPr>
                      <m:t>=0.6944</m:t>
                    </m:r>
                  </m:oMath>
                </a14:m>
                <a:endParaRPr lang="en-IN" b="0" dirty="0"/>
              </a:p>
            </p:txBody>
          </p:sp>
        </mc:Choice>
        <mc:Fallback xmlns="">
          <p:sp>
            <p:nvSpPr>
              <p:cNvPr id="7" name="TextBox 6">
                <a:extLst>
                  <a:ext uri="{FF2B5EF4-FFF2-40B4-BE49-F238E27FC236}">
                    <a16:creationId xmlns:a16="http://schemas.microsoft.com/office/drawing/2014/main" id="{95EAB066-66BB-C254-156E-263301ED0DDC}"/>
                  </a:ext>
                </a:extLst>
              </p:cNvPr>
              <p:cNvSpPr txBox="1">
                <a:spLocks noRot="1" noChangeAspect="1" noMove="1" noResize="1" noEditPoints="1" noAdjustHandles="1" noChangeArrowheads="1" noChangeShapeType="1" noTextEdit="1"/>
              </p:cNvSpPr>
              <p:nvPr/>
            </p:nvSpPr>
            <p:spPr>
              <a:xfrm>
                <a:off x="480847" y="4483530"/>
                <a:ext cx="5039894" cy="1055032"/>
              </a:xfrm>
              <a:prstGeom prst="rect">
                <a:avLst/>
              </a:prstGeom>
              <a:blipFill>
                <a:blip r:embed="rId3"/>
                <a:stretch>
                  <a:fillRect/>
                </a:stretch>
              </a:blipFill>
            </p:spPr>
            <p:txBody>
              <a:bodyPr/>
              <a:lstStyle/>
              <a:p>
                <a:r>
                  <a:rPr lang="en-IN">
                    <a:noFill/>
                  </a:rPr>
                  <a:t> </a:t>
                </a:r>
              </a:p>
            </p:txBody>
          </p:sp>
        </mc:Fallback>
      </mc:AlternateContent>
      <p:cxnSp>
        <p:nvCxnSpPr>
          <p:cNvPr id="9" name="Straight Connector 8">
            <a:extLst>
              <a:ext uri="{FF2B5EF4-FFF2-40B4-BE49-F238E27FC236}">
                <a16:creationId xmlns:a16="http://schemas.microsoft.com/office/drawing/2014/main" id="{4C64A968-9097-35C5-B269-BCE57EFDC20D}"/>
              </a:ext>
            </a:extLst>
          </p:cNvPr>
          <p:cNvCxnSpPr/>
          <p:nvPr/>
        </p:nvCxnSpPr>
        <p:spPr>
          <a:xfrm>
            <a:off x="5435600" y="3352800"/>
            <a:ext cx="652701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CD97C89-2596-B286-5E38-A4809FBEADD8}"/>
              </a:ext>
            </a:extLst>
          </p:cNvPr>
          <p:cNvCxnSpPr/>
          <p:nvPr/>
        </p:nvCxnSpPr>
        <p:spPr>
          <a:xfrm>
            <a:off x="5435600" y="5354320"/>
            <a:ext cx="652701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B1CB835-B492-FA89-A34B-14BA0959E6B6}"/>
              </a:ext>
            </a:extLst>
          </p:cNvPr>
          <p:cNvCxnSpPr/>
          <p:nvPr/>
        </p:nvCxnSpPr>
        <p:spPr>
          <a:xfrm>
            <a:off x="5510581" y="1421876"/>
            <a:ext cx="652701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9C9B361-F926-6C44-E30B-713D48596EAF}"/>
              </a:ext>
            </a:extLst>
          </p:cNvPr>
          <p:cNvCxnSpPr/>
          <p:nvPr/>
        </p:nvCxnSpPr>
        <p:spPr>
          <a:xfrm>
            <a:off x="5469941" y="6689949"/>
            <a:ext cx="652701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594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E7BC8-DEA9-904A-BD9E-69B164A0E715}"/>
              </a:ext>
            </a:extLst>
          </p:cNvPr>
          <p:cNvSpPr>
            <a:spLocks noGrp="1"/>
          </p:cNvSpPr>
          <p:nvPr>
            <p:ph type="title"/>
          </p:nvPr>
        </p:nvSpPr>
        <p:spPr/>
        <p:txBody>
          <a:bodyPr/>
          <a:lstStyle/>
          <a:p>
            <a:r>
              <a:rPr lang="en-IN" dirty="0"/>
              <a:t>Classification Metrics</a:t>
            </a:r>
          </a:p>
        </p:txBody>
      </p:sp>
      <p:sp>
        <p:nvSpPr>
          <p:cNvPr id="3" name="Content Placeholder 2">
            <a:extLst>
              <a:ext uri="{FF2B5EF4-FFF2-40B4-BE49-F238E27FC236}">
                <a16:creationId xmlns:a16="http://schemas.microsoft.com/office/drawing/2014/main" id="{564320E5-260B-6A90-6E6C-5B1D4C8D4E68}"/>
              </a:ext>
            </a:extLst>
          </p:cNvPr>
          <p:cNvSpPr>
            <a:spLocks noGrp="1"/>
          </p:cNvSpPr>
          <p:nvPr>
            <p:ph idx="1"/>
          </p:nvPr>
        </p:nvSpPr>
        <p:spPr>
          <a:xfrm>
            <a:off x="480848" y="969579"/>
            <a:ext cx="5442424" cy="1275781"/>
          </a:xfrm>
        </p:spPr>
        <p:txBody>
          <a:bodyPr>
            <a:normAutofit/>
          </a:bodyPr>
          <a:lstStyle/>
          <a:p>
            <a:r>
              <a:rPr lang="en-IN" dirty="0"/>
              <a:t>How to choose a good threshold?</a:t>
            </a:r>
          </a:p>
          <a:p>
            <a:pPr lvl="1">
              <a:buFont typeface="Wingdings" panose="05000000000000000000" pitchFamily="2" charset="2"/>
              <a:buChar char="§"/>
            </a:pPr>
            <a:r>
              <a:rPr lang="en-IN" dirty="0"/>
              <a:t>ROC Curve	</a:t>
            </a:r>
          </a:p>
          <a:p>
            <a:pPr>
              <a:buFont typeface="Wingdings" panose="05000000000000000000" pitchFamily="2" charset="2"/>
              <a:buChar char="§"/>
            </a:pPr>
            <a:endParaRPr lang="en-IN" dirty="0"/>
          </a:p>
        </p:txBody>
      </p:sp>
      <p:grpSp>
        <p:nvGrpSpPr>
          <p:cNvPr id="31" name="Group 30">
            <a:extLst>
              <a:ext uri="{FF2B5EF4-FFF2-40B4-BE49-F238E27FC236}">
                <a16:creationId xmlns:a16="http://schemas.microsoft.com/office/drawing/2014/main" id="{F8065D14-40CB-C644-59BD-916F3BCD7352}"/>
              </a:ext>
            </a:extLst>
          </p:cNvPr>
          <p:cNvGrpSpPr/>
          <p:nvPr/>
        </p:nvGrpSpPr>
        <p:grpSpPr>
          <a:xfrm>
            <a:off x="5114814" y="2034594"/>
            <a:ext cx="5238226" cy="4216405"/>
            <a:chOff x="5044088" y="1960881"/>
            <a:chExt cx="5253072" cy="4614514"/>
          </a:xfrm>
        </p:grpSpPr>
        <p:sp>
          <p:nvSpPr>
            <p:cNvPr id="7" name="Flowchart: Process 6">
              <a:extLst>
                <a:ext uri="{FF2B5EF4-FFF2-40B4-BE49-F238E27FC236}">
                  <a16:creationId xmlns:a16="http://schemas.microsoft.com/office/drawing/2014/main" id="{0530F796-282E-3F2D-0C27-7D3F3B30BEE7}"/>
                </a:ext>
              </a:extLst>
            </p:cNvPr>
            <p:cNvSpPr/>
            <p:nvPr/>
          </p:nvSpPr>
          <p:spPr>
            <a:xfrm>
              <a:off x="6238240" y="1960881"/>
              <a:ext cx="2773680" cy="74168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Training Set</a:t>
              </a:r>
            </a:p>
          </p:txBody>
        </p:sp>
        <p:sp>
          <p:nvSpPr>
            <p:cNvPr id="9" name="Flowchart: Process 8">
              <a:extLst>
                <a:ext uri="{FF2B5EF4-FFF2-40B4-BE49-F238E27FC236}">
                  <a16:creationId xmlns:a16="http://schemas.microsoft.com/office/drawing/2014/main" id="{B5C66CBB-A232-59F2-88B7-B4E1DBC3EA86}"/>
                </a:ext>
              </a:extLst>
            </p:cNvPr>
            <p:cNvSpPr/>
            <p:nvPr/>
          </p:nvSpPr>
          <p:spPr>
            <a:xfrm>
              <a:off x="6238240" y="3058160"/>
              <a:ext cx="2773680" cy="74168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Spam Classifier Model</a:t>
              </a:r>
            </a:p>
          </p:txBody>
        </p:sp>
        <p:cxnSp>
          <p:nvCxnSpPr>
            <p:cNvPr id="13" name="Straight Arrow Connector 12">
              <a:extLst>
                <a:ext uri="{FF2B5EF4-FFF2-40B4-BE49-F238E27FC236}">
                  <a16:creationId xmlns:a16="http://schemas.microsoft.com/office/drawing/2014/main" id="{0C313AF8-A871-E10D-7BFD-D7530DC4D61E}"/>
                </a:ext>
              </a:extLst>
            </p:cNvPr>
            <p:cNvCxnSpPr>
              <a:cxnSpLocks/>
              <a:stCxn id="7" idx="2"/>
              <a:endCxn id="9" idx="0"/>
            </p:cNvCxnSpPr>
            <p:nvPr/>
          </p:nvCxnSpPr>
          <p:spPr>
            <a:xfrm>
              <a:off x="7625080" y="2702561"/>
              <a:ext cx="0" cy="3555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Flowchart: Decision 13">
              <a:extLst>
                <a:ext uri="{FF2B5EF4-FFF2-40B4-BE49-F238E27FC236}">
                  <a16:creationId xmlns:a16="http://schemas.microsoft.com/office/drawing/2014/main" id="{1547E8D2-697F-1FED-AC33-0FD339709F8B}"/>
                </a:ext>
              </a:extLst>
            </p:cNvPr>
            <p:cNvSpPr/>
            <p:nvPr/>
          </p:nvSpPr>
          <p:spPr>
            <a:xfrm>
              <a:off x="6324600" y="4511229"/>
              <a:ext cx="2600960" cy="1059689"/>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Score &gt;= Threshold?</a:t>
              </a:r>
            </a:p>
          </p:txBody>
        </p:sp>
        <p:cxnSp>
          <p:nvCxnSpPr>
            <p:cNvPr id="16" name="Straight Arrow Connector 15" descr="spam score">
              <a:extLst>
                <a:ext uri="{FF2B5EF4-FFF2-40B4-BE49-F238E27FC236}">
                  <a16:creationId xmlns:a16="http://schemas.microsoft.com/office/drawing/2014/main" id="{770FBE26-6922-8AE2-87C7-28B572A54694}"/>
                </a:ext>
              </a:extLst>
            </p:cNvPr>
            <p:cNvCxnSpPr>
              <a:cxnSpLocks/>
              <a:stCxn id="9" idx="2"/>
              <a:endCxn id="14" idx="0"/>
            </p:cNvCxnSpPr>
            <p:nvPr/>
          </p:nvCxnSpPr>
          <p:spPr>
            <a:xfrm>
              <a:off x="7625080" y="3799840"/>
              <a:ext cx="0" cy="711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56E69044-5FCD-7707-34B8-A5D372A29D68}"/>
                </a:ext>
              </a:extLst>
            </p:cNvPr>
            <p:cNvSpPr txBox="1"/>
            <p:nvPr/>
          </p:nvSpPr>
          <p:spPr>
            <a:xfrm>
              <a:off x="7626541" y="3944111"/>
              <a:ext cx="1251048" cy="338554"/>
            </a:xfrm>
            <a:prstGeom prst="rect">
              <a:avLst/>
            </a:prstGeom>
            <a:noFill/>
          </p:spPr>
          <p:txBody>
            <a:bodyPr wrap="none" rtlCol="0">
              <a:spAutoFit/>
            </a:bodyPr>
            <a:lstStyle/>
            <a:p>
              <a:r>
                <a:rPr lang="en-IN" sz="1600" dirty="0"/>
                <a:t>Spam Score</a:t>
              </a:r>
            </a:p>
          </p:txBody>
        </p:sp>
        <p:sp>
          <p:nvSpPr>
            <p:cNvPr id="20" name="Flowchart: Display 19">
              <a:extLst>
                <a:ext uri="{FF2B5EF4-FFF2-40B4-BE49-F238E27FC236}">
                  <a16:creationId xmlns:a16="http://schemas.microsoft.com/office/drawing/2014/main" id="{8A904E37-1200-9995-D23F-68F77B3839AC}"/>
                </a:ext>
              </a:extLst>
            </p:cNvPr>
            <p:cNvSpPr/>
            <p:nvPr/>
          </p:nvSpPr>
          <p:spPr>
            <a:xfrm>
              <a:off x="5044088" y="5833715"/>
              <a:ext cx="1610360" cy="741680"/>
            </a:xfrm>
            <a:prstGeom prst="flowChartDisp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Not Spam</a:t>
              </a:r>
            </a:p>
          </p:txBody>
        </p:sp>
        <p:sp>
          <p:nvSpPr>
            <p:cNvPr id="21" name="Flowchart: Display 20">
              <a:extLst>
                <a:ext uri="{FF2B5EF4-FFF2-40B4-BE49-F238E27FC236}">
                  <a16:creationId xmlns:a16="http://schemas.microsoft.com/office/drawing/2014/main" id="{D699D4F1-BB7D-5018-84B7-A3BD45A3BF3F}"/>
                </a:ext>
              </a:extLst>
            </p:cNvPr>
            <p:cNvSpPr/>
            <p:nvPr/>
          </p:nvSpPr>
          <p:spPr>
            <a:xfrm>
              <a:off x="8686800" y="5816283"/>
              <a:ext cx="1610360" cy="741680"/>
            </a:xfrm>
            <a:prstGeom prst="flowChartDispla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Spam</a:t>
              </a:r>
            </a:p>
          </p:txBody>
        </p:sp>
        <p:cxnSp>
          <p:nvCxnSpPr>
            <p:cNvPr id="23" name="Connector: Elbow 22">
              <a:extLst>
                <a:ext uri="{FF2B5EF4-FFF2-40B4-BE49-F238E27FC236}">
                  <a16:creationId xmlns:a16="http://schemas.microsoft.com/office/drawing/2014/main" id="{6F107E08-57F0-284C-8B77-7E97652B9E9A}"/>
                </a:ext>
              </a:extLst>
            </p:cNvPr>
            <p:cNvCxnSpPr>
              <a:stCxn id="14" idx="1"/>
              <a:endCxn id="20" idx="0"/>
            </p:cNvCxnSpPr>
            <p:nvPr/>
          </p:nvCxnSpPr>
          <p:spPr>
            <a:xfrm rot="10800000" flipV="1">
              <a:off x="5849268" y="5041073"/>
              <a:ext cx="475332" cy="7926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C984E830-2808-C31B-99B0-7E152D772453}"/>
                </a:ext>
              </a:extLst>
            </p:cNvPr>
            <p:cNvCxnSpPr>
              <a:stCxn id="14" idx="3"/>
              <a:endCxn id="21" idx="0"/>
            </p:cNvCxnSpPr>
            <p:nvPr/>
          </p:nvCxnSpPr>
          <p:spPr>
            <a:xfrm>
              <a:off x="8925560" y="5041074"/>
              <a:ext cx="566420" cy="77520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21AADEA-21DD-98C9-A583-FED9D1808367}"/>
                </a:ext>
              </a:extLst>
            </p:cNvPr>
            <p:cNvSpPr txBox="1"/>
            <p:nvPr/>
          </p:nvSpPr>
          <p:spPr>
            <a:xfrm>
              <a:off x="8910320" y="4725728"/>
              <a:ext cx="487762" cy="338554"/>
            </a:xfrm>
            <a:prstGeom prst="rect">
              <a:avLst/>
            </a:prstGeom>
            <a:noFill/>
          </p:spPr>
          <p:txBody>
            <a:bodyPr wrap="none" rtlCol="0">
              <a:spAutoFit/>
            </a:bodyPr>
            <a:lstStyle/>
            <a:p>
              <a:r>
                <a:rPr lang="en-IN" sz="1600" dirty="0"/>
                <a:t>Yes</a:t>
              </a:r>
            </a:p>
          </p:txBody>
        </p:sp>
        <p:sp>
          <p:nvSpPr>
            <p:cNvPr id="27" name="TextBox 26">
              <a:extLst>
                <a:ext uri="{FF2B5EF4-FFF2-40B4-BE49-F238E27FC236}">
                  <a16:creationId xmlns:a16="http://schemas.microsoft.com/office/drawing/2014/main" id="{4391B4E4-F828-D34F-54C0-897C6A9E083D}"/>
                </a:ext>
              </a:extLst>
            </p:cNvPr>
            <p:cNvSpPr txBox="1"/>
            <p:nvPr/>
          </p:nvSpPr>
          <p:spPr>
            <a:xfrm>
              <a:off x="5874230" y="4702519"/>
              <a:ext cx="442750" cy="338554"/>
            </a:xfrm>
            <a:prstGeom prst="rect">
              <a:avLst/>
            </a:prstGeom>
            <a:noFill/>
          </p:spPr>
          <p:txBody>
            <a:bodyPr wrap="none" rtlCol="0">
              <a:spAutoFit/>
            </a:bodyPr>
            <a:lstStyle/>
            <a:p>
              <a:r>
                <a:rPr lang="en-IN" sz="1600" dirty="0"/>
                <a:t>No</a:t>
              </a:r>
            </a:p>
          </p:txBody>
        </p:sp>
      </p:grpSp>
      <mc:AlternateContent xmlns:mc="http://schemas.openxmlformats.org/markup-compatibility/2006" xmlns:a14="http://schemas.microsoft.com/office/drawing/2010/main">
        <mc:Choice Requires="a14">
          <p:sp>
            <p:nvSpPr>
              <p:cNvPr id="32" name="Content Placeholder 2">
                <a:extLst>
                  <a:ext uri="{FF2B5EF4-FFF2-40B4-BE49-F238E27FC236}">
                    <a16:creationId xmlns:a16="http://schemas.microsoft.com/office/drawing/2014/main" id="{B95DA96F-27C2-01EC-B9D7-5E3F87FE3251}"/>
                  </a:ext>
                </a:extLst>
              </p:cNvPr>
              <p:cNvSpPr txBox="1">
                <a:spLocks/>
              </p:cNvSpPr>
              <p:nvPr/>
            </p:nvSpPr>
            <p:spPr>
              <a:xfrm>
                <a:off x="480848" y="2212921"/>
                <a:ext cx="5442424" cy="2843262"/>
              </a:xfrm>
              <a:prstGeom prst="rect">
                <a:avLst/>
              </a:prstGeom>
            </p:spPr>
            <p:txBody>
              <a:bodyPr vert="horz" lIns="91440" tIns="45720" rIns="91440" bIns="45720" rtlCol="0">
                <a:normAutofit/>
              </a:bodyPr>
              <a:lst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14000"/>
                  </a:lnSpc>
                  <a:spcBef>
                    <a:spcPts val="500"/>
                  </a:spcBef>
                  <a:buFont typeface="Aptos" panose="020B00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14000"/>
                  </a:lnSpc>
                  <a:spcBef>
                    <a:spcPts val="500"/>
                  </a:spcBef>
                  <a:buFont typeface="Wingdings" panose="05000000000000000000" pitchFamily="2" charset="2"/>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True Positive Rate (TPR)</a:t>
                </a:r>
              </a:p>
              <a:p>
                <a:pPr marL="0" indent="0">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𝑇𝑃𝑅</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𝑇𝑃</m:t>
                          </m:r>
                        </m:num>
                        <m:den>
                          <m:r>
                            <a:rPr lang="en-IN" sz="2400" b="0" i="1" smtClean="0">
                              <a:latin typeface="Cambria Math" panose="02040503050406030204" pitchFamily="18" charset="0"/>
                            </a:rPr>
                            <m:t>𝑇𝑃</m:t>
                          </m:r>
                          <m:r>
                            <a:rPr lang="en-IN" sz="2400" b="0" i="1" smtClean="0">
                              <a:latin typeface="Cambria Math" panose="02040503050406030204" pitchFamily="18" charset="0"/>
                            </a:rPr>
                            <m:t>+</m:t>
                          </m:r>
                          <m:r>
                            <a:rPr lang="en-IN" sz="2400" b="0" i="1" smtClean="0">
                              <a:latin typeface="Cambria Math" panose="02040503050406030204" pitchFamily="18" charset="0"/>
                            </a:rPr>
                            <m:t>𝐹𝑁</m:t>
                          </m:r>
                        </m:den>
                      </m:f>
                    </m:oMath>
                  </m:oMathPara>
                </a14:m>
                <a:endParaRPr lang="en-IN" sz="2400" dirty="0"/>
              </a:p>
              <a:p>
                <a:r>
                  <a:rPr lang="en-IN" sz="2400" dirty="0"/>
                  <a:t>False Positive Rate (FPR)</a:t>
                </a:r>
              </a:p>
              <a:p>
                <a:pPr marL="0" indent="0" algn="ctr">
                  <a:buNone/>
                </a:pPr>
                <a14:m>
                  <m:oMath xmlns:m="http://schemas.openxmlformats.org/officeDocument/2006/math">
                    <m:r>
                      <a:rPr lang="en-IN" sz="2400" b="0" i="1" smtClean="0">
                        <a:latin typeface="Cambria Math" panose="02040503050406030204" pitchFamily="18" charset="0"/>
                      </a:rPr>
                      <m:t>𝐹</m:t>
                    </m:r>
                    <m:r>
                      <a:rPr lang="en-IN" sz="2400" i="1">
                        <a:latin typeface="Cambria Math" panose="02040503050406030204" pitchFamily="18" charset="0"/>
                      </a:rPr>
                      <m:t>𝑃𝑅</m:t>
                    </m:r>
                    <m:r>
                      <a:rPr lang="en-IN" sz="2400" i="1">
                        <a:latin typeface="Cambria Math" panose="02040503050406030204" pitchFamily="18" charset="0"/>
                      </a:rPr>
                      <m:t>=</m:t>
                    </m:r>
                    <m:f>
                      <m:fPr>
                        <m:ctrlPr>
                          <a:rPr lang="en-IN" sz="2400" i="1">
                            <a:latin typeface="Cambria Math" panose="02040503050406030204" pitchFamily="18" charset="0"/>
                          </a:rPr>
                        </m:ctrlPr>
                      </m:fPr>
                      <m:num>
                        <m:r>
                          <a:rPr lang="en-IN" sz="2400" b="0" i="1" smtClean="0">
                            <a:latin typeface="Cambria Math" panose="02040503050406030204" pitchFamily="18" charset="0"/>
                          </a:rPr>
                          <m:t>𝐹</m:t>
                        </m:r>
                        <m:r>
                          <a:rPr lang="en-IN" sz="2400" i="1">
                            <a:latin typeface="Cambria Math" panose="02040503050406030204" pitchFamily="18" charset="0"/>
                          </a:rPr>
                          <m:t>𝑃</m:t>
                        </m:r>
                      </m:num>
                      <m:den>
                        <m:r>
                          <a:rPr lang="en-IN" sz="2400" b="0" i="1" smtClean="0">
                            <a:latin typeface="Cambria Math" panose="02040503050406030204" pitchFamily="18" charset="0"/>
                          </a:rPr>
                          <m:t>𝐹</m:t>
                        </m:r>
                        <m:r>
                          <a:rPr lang="en-IN" sz="2400" i="1">
                            <a:latin typeface="Cambria Math" panose="02040503050406030204" pitchFamily="18" charset="0"/>
                          </a:rPr>
                          <m:t>𝑃</m:t>
                        </m:r>
                        <m:r>
                          <a:rPr lang="en-IN" sz="2400" i="1">
                            <a:latin typeface="Cambria Math" panose="02040503050406030204" pitchFamily="18" charset="0"/>
                          </a:rPr>
                          <m:t>+</m:t>
                        </m:r>
                        <m:r>
                          <a:rPr lang="en-IN" sz="2400" b="0" i="1" smtClean="0">
                            <a:latin typeface="Cambria Math" panose="02040503050406030204" pitchFamily="18" charset="0"/>
                          </a:rPr>
                          <m:t>𝑇</m:t>
                        </m:r>
                        <m:r>
                          <a:rPr lang="en-IN" sz="2400" i="1">
                            <a:latin typeface="Cambria Math" panose="02040503050406030204" pitchFamily="18" charset="0"/>
                          </a:rPr>
                          <m:t>𝑁</m:t>
                        </m:r>
                      </m:den>
                    </m:f>
                  </m:oMath>
                </a14:m>
                <a:r>
                  <a:rPr lang="en-IN" sz="2400" dirty="0"/>
                  <a:t>	</a:t>
                </a:r>
              </a:p>
              <a:p>
                <a:endParaRPr lang="en-IN" sz="2400" dirty="0"/>
              </a:p>
            </p:txBody>
          </p:sp>
        </mc:Choice>
        <mc:Fallback xmlns="">
          <p:sp>
            <p:nvSpPr>
              <p:cNvPr id="32" name="Content Placeholder 2">
                <a:extLst>
                  <a:ext uri="{FF2B5EF4-FFF2-40B4-BE49-F238E27FC236}">
                    <a16:creationId xmlns:a16="http://schemas.microsoft.com/office/drawing/2014/main" id="{B95DA96F-27C2-01EC-B9D7-5E3F87FE3251}"/>
                  </a:ext>
                </a:extLst>
              </p:cNvPr>
              <p:cNvSpPr txBox="1">
                <a:spLocks noRot="1" noChangeAspect="1" noMove="1" noResize="1" noEditPoints="1" noAdjustHandles="1" noChangeArrowheads="1" noChangeShapeType="1" noTextEdit="1"/>
              </p:cNvSpPr>
              <p:nvPr/>
            </p:nvSpPr>
            <p:spPr>
              <a:xfrm>
                <a:off x="480848" y="2212921"/>
                <a:ext cx="5442424" cy="2843262"/>
              </a:xfrm>
              <a:prstGeom prst="rect">
                <a:avLst/>
              </a:prstGeom>
              <a:blipFill>
                <a:blip r:embed="rId2"/>
                <a:stretch>
                  <a:fillRect l="-1568" t="-1073"/>
                </a:stretch>
              </a:blipFill>
            </p:spPr>
            <p:txBody>
              <a:bodyPr/>
              <a:lstStyle/>
              <a:p>
                <a:r>
                  <a:rPr lang="en-IN">
                    <a:noFill/>
                  </a:rPr>
                  <a:t> </a:t>
                </a:r>
              </a:p>
            </p:txBody>
          </p:sp>
        </mc:Fallback>
      </mc:AlternateContent>
      <p:pic>
        <p:nvPicPr>
          <p:cNvPr id="33" name="Picture 32">
            <a:extLst>
              <a:ext uri="{FF2B5EF4-FFF2-40B4-BE49-F238E27FC236}">
                <a16:creationId xmlns:a16="http://schemas.microsoft.com/office/drawing/2014/main" id="{DEF396E3-C032-C2DD-C8DB-A0B454F0F6C8}"/>
              </a:ext>
            </a:extLst>
          </p:cNvPr>
          <p:cNvPicPr>
            <a:picLocks noChangeAspect="1"/>
          </p:cNvPicPr>
          <p:nvPr/>
        </p:nvPicPr>
        <p:blipFill>
          <a:blip r:embed="rId3"/>
          <a:stretch>
            <a:fillRect/>
          </a:stretch>
        </p:blipFill>
        <p:spPr>
          <a:xfrm>
            <a:off x="9165730" y="110901"/>
            <a:ext cx="2838792" cy="2439259"/>
          </a:xfrm>
          <a:prstGeom prst="rect">
            <a:avLst/>
          </a:prstGeom>
        </p:spPr>
      </p:pic>
      <p:sp>
        <p:nvSpPr>
          <p:cNvPr id="38" name="TextBox 37">
            <a:extLst>
              <a:ext uri="{FF2B5EF4-FFF2-40B4-BE49-F238E27FC236}">
                <a16:creationId xmlns:a16="http://schemas.microsoft.com/office/drawing/2014/main" id="{83DDB242-167E-BFE5-863C-82E6731F4AF0}"/>
              </a:ext>
            </a:extLst>
          </p:cNvPr>
          <p:cNvSpPr txBox="1"/>
          <p:nvPr/>
        </p:nvSpPr>
        <p:spPr>
          <a:xfrm>
            <a:off x="856228" y="5373543"/>
            <a:ext cx="3571273" cy="1077218"/>
          </a:xfrm>
          <a:prstGeom prst="rect">
            <a:avLst/>
          </a:prstGeom>
          <a:solidFill>
            <a:schemeClr val="accent1">
              <a:lumMod val="20000"/>
              <a:lumOff val="80000"/>
            </a:schemeClr>
          </a:solidFill>
          <a:effectLst>
            <a:glow rad="139700">
              <a:schemeClr val="accent1">
                <a:satMod val="175000"/>
                <a:alpha val="40000"/>
              </a:schemeClr>
            </a:glow>
          </a:effectLst>
        </p:spPr>
        <p:txBody>
          <a:bodyPr wrap="square" rtlCol="0">
            <a:spAutoFit/>
          </a:bodyPr>
          <a:lstStyle/>
          <a:p>
            <a:pPr>
              <a:spcAft>
                <a:spcPts val="1200"/>
              </a:spcAft>
            </a:pPr>
            <a:r>
              <a:rPr lang="en-IN" dirty="0">
                <a:latin typeface="Times New Roman" panose="02020603050405020304" pitchFamily="18" charset="0"/>
                <a:cs typeface="Times New Roman" panose="02020603050405020304" pitchFamily="18" charset="0"/>
              </a:rPr>
              <a:t>ROC is FPR </a:t>
            </a:r>
            <a:r>
              <a:rPr lang="en-IN" i="1" dirty="0">
                <a:latin typeface="Times New Roman" panose="02020603050405020304" pitchFamily="18" charset="0"/>
                <a:cs typeface="Times New Roman" panose="02020603050405020304" pitchFamily="18" charset="0"/>
              </a:rPr>
              <a:t>vs.</a:t>
            </a:r>
            <a:r>
              <a:rPr lang="en-IN" dirty="0">
                <a:latin typeface="Times New Roman" panose="02020603050405020304" pitchFamily="18" charset="0"/>
                <a:cs typeface="Times New Roman" panose="02020603050405020304" pitchFamily="18" charset="0"/>
              </a:rPr>
              <a:t> TPR</a:t>
            </a:r>
          </a:p>
          <a:p>
            <a:r>
              <a:rPr lang="en-IN" dirty="0">
                <a:latin typeface="Times New Roman" panose="02020603050405020304" pitchFamily="18" charset="0"/>
                <a:cs typeface="Times New Roman" panose="02020603050405020304" pitchFamily="18" charset="0"/>
              </a:rPr>
              <a:t>It show the performance of the model at all the thresholds in [0, 1]</a:t>
            </a:r>
          </a:p>
        </p:txBody>
      </p:sp>
    </p:spTree>
    <p:extLst>
      <p:ext uri="{BB962C8B-B14F-4D97-AF65-F5344CB8AC3E}">
        <p14:creationId xmlns:p14="http://schemas.microsoft.com/office/powerpoint/2010/main" val="253038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1000"/>
                                        <p:tgtEl>
                                          <p:spTgt spid="38"/>
                                        </p:tgtEl>
                                      </p:cBhvr>
                                    </p:animEffect>
                                    <p:anim calcmode="lin" valueType="num">
                                      <p:cBhvr>
                                        <p:cTn id="17" dur="1000" fill="hold"/>
                                        <p:tgtEl>
                                          <p:spTgt spid="38"/>
                                        </p:tgtEl>
                                        <p:attrNameLst>
                                          <p:attrName>ppt_x</p:attrName>
                                        </p:attrNameLst>
                                      </p:cBhvr>
                                      <p:tavLst>
                                        <p:tav tm="0">
                                          <p:val>
                                            <p:strVal val="#ppt_x"/>
                                          </p:val>
                                        </p:tav>
                                        <p:tav tm="100000">
                                          <p:val>
                                            <p:strVal val="#ppt_x"/>
                                          </p:val>
                                        </p:tav>
                                      </p:tavLst>
                                    </p:anim>
                                    <p:anim calcmode="lin" valueType="num">
                                      <p:cBhvr>
                                        <p:cTn id="18"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79E5F-FE4D-1562-04F2-8A912089FCAB}"/>
              </a:ext>
            </a:extLst>
          </p:cNvPr>
          <p:cNvSpPr>
            <a:spLocks noGrp="1"/>
          </p:cNvSpPr>
          <p:nvPr>
            <p:ph type="title"/>
          </p:nvPr>
        </p:nvSpPr>
        <p:spPr/>
        <p:txBody>
          <a:bodyPr/>
          <a:lstStyle/>
          <a:p>
            <a:r>
              <a:rPr lang="en-IN" dirty="0"/>
              <a:t>Classification Metrics</a:t>
            </a:r>
          </a:p>
        </p:txBody>
      </p:sp>
      <p:pic>
        <p:nvPicPr>
          <p:cNvPr id="7" name="Picture 6">
            <a:extLst>
              <a:ext uri="{FF2B5EF4-FFF2-40B4-BE49-F238E27FC236}">
                <a16:creationId xmlns:a16="http://schemas.microsoft.com/office/drawing/2014/main" id="{72934A1A-650A-0130-B878-CC90FF0DDC3E}"/>
              </a:ext>
            </a:extLst>
          </p:cNvPr>
          <p:cNvPicPr>
            <a:picLocks noChangeAspect="1"/>
          </p:cNvPicPr>
          <p:nvPr/>
        </p:nvPicPr>
        <p:blipFill>
          <a:blip r:embed="rId3"/>
          <a:stretch>
            <a:fillRect/>
          </a:stretch>
        </p:blipFill>
        <p:spPr>
          <a:xfrm>
            <a:off x="3130093" y="2900290"/>
            <a:ext cx="3086531" cy="2333951"/>
          </a:xfrm>
          <a:prstGeom prst="rect">
            <a:avLst/>
          </a:prstGeom>
        </p:spPr>
      </p:pic>
      <p:grpSp>
        <p:nvGrpSpPr>
          <p:cNvPr id="18" name="Group 17">
            <a:extLst>
              <a:ext uri="{FF2B5EF4-FFF2-40B4-BE49-F238E27FC236}">
                <a16:creationId xmlns:a16="http://schemas.microsoft.com/office/drawing/2014/main" id="{8EC22035-9E8C-09EE-4846-0B219930A7AC}"/>
              </a:ext>
            </a:extLst>
          </p:cNvPr>
          <p:cNvGrpSpPr/>
          <p:nvPr/>
        </p:nvGrpSpPr>
        <p:grpSpPr>
          <a:xfrm>
            <a:off x="6956171" y="2959533"/>
            <a:ext cx="5160679" cy="3669557"/>
            <a:chOff x="6015392" y="1524000"/>
            <a:chExt cx="5160679" cy="3669557"/>
          </a:xfrm>
        </p:grpSpPr>
        <p:pic>
          <p:nvPicPr>
            <p:cNvPr id="9" name="Picture 8">
              <a:extLst>
                <a:ext uri="{FF2B5EF4-FFF2-40B4-BE49-F238E27FC236}">
                  <a16:creationId xmlns:a16="http://schemas.microsoft.com/office/drawing/2014/main" id="{756E90AE-FA2A-AC07-0371-4DE058E5E357}"/>
                </a:ext>
              </a:extLst>
            </p:cNvPr>
            <p:cNvPicPr>
              <a:picLocks noChangeAspect="1"/>
            </p:cNvPicPr>
            <p:nvPr/>
          </p:nvPicPr>
          <p:blipFill>
            <a:blip r:embed="rId4"/>
            <a:stretch>
              <a:fillRect/>
            </a:stretch>
          </p:blipFill>
          <p:spPr>
            <a:xfrm>
              <a:off x="6015392" y="1524000"/>
              <a:ext cx="5160679" cy="3669557"/>
            </a:xfrm>
            <a:prstGeom prst="rect">
              <a:avLst/>
            </a:prstGeom>
          </p:spPr>
        </p:pic>
        <p:sp>
          <p:nvSpPr>
            <p:cNvPr id="10" name="TextBox 9">
              <a:extLst>
                <a:ext uri="{FF2B5EF4-FFF2-40B4-BE49-F238E27FC236}">
                  <a16:creationId xmlns:a16="http://schemas.microsoft.com/office/drawing/2014/main" id="{402A38C4-A875-047F-E354-104909F4E09F}"/>
                </a:ext>
              </a:extLst>
            </p:cNvPr>
            <p:cNvSpPr txBox="1"/>
            <p:nvPr/>
          </p:nvSpPr>
          <p:spPr>
            <a:xfrm>
              <a:off x="7091680" y="4194094"/>
              <a:ext cx="1640257" cy="369332"/>
            </a:xfrm>
            <a:prstGeom prst="rect">
              <a:avLst/>
            </a:prstGeom>
            <a:noFill/>
          </p:spPr>
          <p:txBody>
            <a:bodyPr wrap="none" rtlCol="0">
              <a:spAutoFit/>
            </a:bodyPr>
            <a:lstStyle/>
            <a:p>
              <a:r>
                <a:rPr lang="en-US" dirty="0">
                  <a:solidFill>
                    <a:schemeClr val="accent2"/>
                  </a:solidFill>
                </a:rPr>
                <a:t>High threshold</a:t>
              </a:r>
              <a:endParaRPr lang="en-IN" dirty="0">
                <a:solidFill>
                  <a:schemeClr val="accent2"/>
                </a:solidFill>
              </a:endParaRPr>
            </a:p>
          </p:txBody>
        </p:sp>
        <p:sp>
          <p:nvSpPr>
            <p:cNvPr id="11" name="TextBox 10">
              <a:extLst>
                <a:ext uri="{FF2B5EF4-FFF2-40B4-BE49-F238E27FC236}">
                  <a16:creationId xmlns:a16="http://schemas.microsoft.com/office/drawing/2014/main" id="{D873AA48-F6E9-4376-DEAA-FC6F830BAFA4}"/>
                </a:ext>
              </a:extLst>
            </p:cNvPr>
            <p:cNvSpPr txBox="1"/>
            <p:nvPr/>
          </p:nvSpPr>
          <p:spPr>
            <a:xfrm>
              <a:off x="9249942" y="2066498"/>
              <a:ext cx="1590500" cy="369332"/>
            </a:xfrm>
            <a:prstGeom prst="rect">
              <a:avLst/>
            </a:prstGeom>
            <a:noFill/>
          </p:spPr>
          <p:txBody>
            <a:bodyPr wrap="none" rtlCol="0">
              <a:spAutoFit/>
            </a:bodyPr>
            <a:lstStyle/>
            <a:p>
              <a:r>
                <a:rPr lang="en-US" dirty="0">
                  <a:solidFill>
                    <a:schemeClr val="accent5"/>
                  </a:solidFill>
                </a:rPr>
                <a:t>Low threshold</a:t>
              </a:r>
              <a:endParaRPr lang="en-IN" dirty="0">
                <a:solidFill>
                  <a:schemeClr val="accent5"/>
                </a:solidFill>
              </a:endParaRPr>
            </a:p>
          </p:txBody>
        </p:sp>
        <p:sp>
          <p:nvSpPr>
            <p:cNvPr id="14" name="Oval 13">
              <a:extLst>
                <a:ext uri="{FF2B5EF4-FFF2-40B4-BE49-F238E27FC236}">
                  <a16:creationId xmlns:a16="http://schemas.microsoft.com/office/drawing/2014/main" id="{BF99FAC6-8DE8-78A1-FF59-9DBA35DC2971}"/>
                </a:ext>
              </a:extLst>
            </p:cNvPr>
            <p:cNvSpPr/>
            <p:nvPr/>
          </p:nvSpPr>
          <p:spPr>
            <a:xfrm rot="802465">
              <a:off x="6573654" y="3896129"/>
              <a:ext cx="297151" cy="82661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15" name="Oval 14">
              <a:extLst>
                <a:ext uri="{FF2B5EF4-FFF2-40B4-BE49-F238E27FC236}">
                  <a16:creationId xmlns:a16="http://schemas.microsoft.com/office/drawing/2014/main" id="{6677F2BC-3542-400F-69D4-6C96636FD5DA}"/>
                </a:ext>
              </a:extLst>
            </p:cNvPr>
            <p:cNvSpPr/>
            <p:nvPr/>
          </p:nvSpPr>
          <p:spPr>
            <a:xfrm rot="5400000">
              <a:off x="9756203" y="1013345"/>
              <a:ext cx="369332" cy="1492232"/>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16" name="Oval 15">
              <a:extLst>
                <a:ext uri="{FF2B5EF4-FFF2-40B4-BE49-F238E27FC236}">
                  <a16:creationId xmlns:a16="http://schemas.microsoft.com/office/drawing/2014/main" id="{1ADDAF97-CFAB-3E65-94C0-E02A30FE2962}"/>
                </a:ext>
              </a:extLst>
            </p:cNvPr>
            <p:cNvSpPr/>
            <p:nvPr/>
          </p:nvSpPr>
          <p:spPr>
            <a:xfrm rot="2480027">
              <a:off x="7219533" y="1985616"/>
              <a:ext cx="342358" cy="799055"/>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TextBox 16">
              <a:extLst>
                <a:ext uri="{FF2B5EF4-FFF2-40B4-BE49-F238E27FC236}">
                  <a16:creationId xmlns:a16="http://schemas.microsoft.com/office/drawing/2014/main" id="{DC471678-4482-9A34-7591-DFAAACD3A641}"/>
                </a:ext>
              </a:extLst>
            </p:cNvPr>
            <p:cNvSpPr txBox="1"/>
            <p:nvPr/>
          </p:nvSpPr>
          <p:spPr>
            <a:xfrm>
              <a:off x="7552525" y="2608996"/>
              <a:ext cx="1927066" cy="369332"/>
            </a:xfrm>
            <a:prstGeom prst="rect">
              <a:avLst/>
            </a:prstGeom>
            <a:noFill/>
          </p:spPr>
          <p:txBody>
            <a:bodyPr wrap="none" rtlCol="0">
              <a:spAutoFit/>
            </a:bodyPr>
            <a:lstStyle/>
            <a:p>
              <a:r>
                <a:rPr lang="en-US" dirty="0">
                  <a:solidFill>
                    <a:schemeClr val="accent6"/>
                  </a:solidFill>
                </a:rPr>
                <a:t>Perfect Threshold</a:t>
              </a:r>
              <a:endParaRPr lang="en-IN" dirty="0">
                <a:solidFill>
                  <a:schemeClr val="accent6"/>
                </a:solidFill>
              </a:endParaRPr>
            </a:p>
          </p:txBody>
        </p:sp>
      </p:grpSp>
      <p:sp>
        <p:nvSpPr>
          <p:cNvPr id="44" name="TextBox 43">
            <a:extLst>
              <a:ext uri="{FF2B5EF4-FFF2-40B4-BE49-F238E27FC236}">
                <a16:creationId xmlns:a16="http://schemas.microsoft.com/office/drawing/2014/main" id="{F40DA712-E0A7-37B2-0B14-DB43293E2C0B}"/>
              </a:ext>
            </a:extLst>
          </p:cNvPr>
          <p:cNvSpPr txBox="1"/>
          <p:nvPr/>
        </p:nvSpPr>
        <p:spPr>
          <a:xfrm>
            <a:off x="2803578" y="979099"/>
            <a:ext cx="7138667" cy="1200329"/>
          </a:xfrm>
          <a:prstGeom prst="rect">
            <a:avLst/>
          </a:prstGeom>
          <a:noFill/>
        </p:spPr>
        <p:txBody>
          <a:bodyPr wrap="square">
            <a:spAutoFit/>
          </a:bodyPr>
          <a:lstStyle/>
          <a:p>
            <a:pPr marL="285750" lvl="0" indent="-285750" algn="l" rtl="0">
              <a:spcBef>
                <a:spcPts val="0"/>
              </a:spcBef>
              <a:spcAft>
                <a:spcPts val="0"/>
              </a:spcAft>
              <a:buFont typeface="Arial" panose="020B0604020202020204" pitchFamily="34" charset="0"/>
              <a:buChar char="•"/>
            </a:pPr>
            <a:r>
              <a:rPr lang="en-US" dirty="0"/>
              <a:t>Dots are examples: </a:t>
            </a:r>
          </a:p>
          <a:p>
            <a:pPr marL="742950" lvl="1" indent="-285750">
              <a:buFont typeface="Arial" panose="020B0604020202020204" pitchFamily="34" charset="0"/>
              <a:buChar char="•"/>
            </a:pPr>
            <a:r>
              <a:rPr lang="en-US" dirty="0"/>
              <a:t>Green = positive label, gray = negative label.</a:t>
            </a:r>
          </a:p>
          <a:p>
            <a:pPr marL="285750" lvl="0" indent="-285750" algn="l" rtl="0">
              <a:spcBef>
                <a:spcPts val="0"/>
              </a:spcBef>
              <a:spcAft>
                <a:spcPts val="0"/>
              </a:spcAft>
              <a:buFont typeface="Arial" panose="020B0604020202020204" pitchFamily="34" charset="0"/>
              <a:buChar char="•"/>
            </a:pPr>
            <a:r>
              <a:rPr lang="en-US" dirty="0"/>
              <a:t>Consider score to be probability output of Logistic Regression.</a:t>
            </a:r>
          </a:p>
          <a:p>
            <a:pPr marL="285750" lvl="0" indent="-285750" algn="l" rtl="0">
              <a:spcBef>
                <a:spcPts val="0"/>
              </a:spcBef>
              <a:spcAft>
                <a:spcPts val="0"/>
              </a:spcAft>
              <a:buFont typeface="Arial" panose="020B0604020202020204" pitchFamily="34" charset="0"/>
              <a:buChar char="•"/>
            </a:pPr>
            <a:r>
              <a:rPr lang="en-US" dirty="0"/>
              <a:t>Position of example on scoring line based on model output</a:t>
            </a:r>
            <a:endParaRPr lang="en-IN" dirty="0"/>
          </a:p>
        </p:txBody>
      </p:sp>
      <p:sp>
        <p:nvSpPr>
          <p:cNvPr id="45" name="TextBox 44">
            <a:extLst>
              <a:ext uri="{FF2B5EF4-FFF2-40B4-BE49-F238E27FC236}">
                <a16:creationId xmlns:a16="http://schemas.microsoft.com/office/drawing/2014/main" id="{DC4C03C9-2E52-2252-24F3-4E4ADF56EC95}"/>
              </a:ext>
            </a:extLst>
          </p:cNvPr>
          <p:cNvSpPr txBox="1"/>
          <p:nvPr/>
        </p:nvSpPr>
        <p:spPr>
          <a:xfrm>
            <a:off x="3174090" y="5515223"/>
            <a:ext cx="625492" cy="646331"/>
          </a:xfrm>
          <a:prstGeom prst="rect">
            <a:avLst/>
          </a:prstGeom>
          <a:noFill/>
        </p:spPr>
        <p:txBody>
          <a:bodyPr wrap="none" rtlCol="0">
            <a:spAutoFit/>
          </a:bodyPr>
          <a:lstStyle/>
          <a:p>
            <a:r>
              <a:rPr lang="en-US" dirty="0"/>
              <a:t>TPR</a:t>
            </a:r>
          </a:p>
          <a:p>
            <a:r>
              <a:rPr lang="en-US" dirty="0"/>
              <a:t>FPR </a:t>
            </a:r>
            <a:endParaRPr lang="en-IN" dirty="0"/>
          </a:p>
        </p:txBody>
      </p:sp>
      <p:sp>
        <p:nvSpPr>
          <p:cNvPr id="46" name="Arrow: Up 45">
            <a:extLst>
              <a:ext uri="{FF2B5EF4-FFF2-40B4-BE49-F238E27FC236}">
                <a16:creationId xmlns:a16="http://schemas.microsoft.com/office/drawing/2014/main" id="{E95D7554-D6DF-1AC2-C750-695993026F92}"/>
              </a:ext>
            </a:extLst>
          </p:cNvPr>
          <p:cNvSpPr/>
          <p:nvPr/>
        </p:nvSpPr>
        <p:spPr>
          <a:xfrm>
            <a:off x="3791288" y="5571915"/>
            <a:ext cx="175777" cy="49581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E24D0D2A-FF36-54EA-0946-8431FE1DC742}"/>
              </a:ext>
            </a:extLst>
          </p:cNvPr>
          <p:cNvSpPr txBox="1"/>
          <p:nvPr/>
        </p:nvSpPr>
        <p:spPr>
          <a:xfrm>
            <a:off x="5275579" y="5571915"/>
            <a:ext cx="625492" cy="646331"/>
          </a:xfrm>
          <a:prstGeom prst="rect">
            <a:avLst/>
          </a:prstGeom>
          <a:noFill/>
        </p:spPr>
        <p:txBody>
          <a:bodyPr wrap="none" rtlCol="0">
            <a:spAutoFit/>
          </a:bodyPr>
          <a:lstStyle/>
          <a:p>
            <a:r>
              <a:rPr lang="en-US" dirty="0"/>
              <a:t>TPR</a:t>
            </a:r>
          </a:p>
          <a:p>
            <a:r>
              <a:rPr lang="en-US" dirty="0"/>
              <a:t>FPR </a:t>
            </a:r>
            <a:endParaRPr lang="en-IN" dirty="0"/>
          </a:p>
        </p:txBody>
      </p:sp>
      <p:sp>
        <p:nvSpPr>
          <p:cNvPr id="48" name="Arrow: Up 47">
            <a:extLst>
              <a:ext uri="{FF2B5EF4-FFF2-40B4-BE49-F238E27FC236}">
                <a16:creationId xmlns:a16="http://schemas.microsoft.com/office/drawing/2014/main" id="{FDD84365-3672-23C9-1D17-5B6DD5AE1788}"/>
              </a:ext>
            </a:extLst>
          </p:cNvPr>
          <p:cNvSpPr/>
          <p:nvPr/>
        </p:nvSpPr>
        <p:spPr>
          <a:xfrm rot="10800000">
            <a:off x="5892777" y="5628607"/>
            <a:ext cx="175777" cy="49581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2B177EBE-A991-C1CC-327C-CFE9AD25C30E}"/>
              </a:ext>
            </a:extLst>
          </p:cNvPr>
          <p:cNvSpPr txBox="1"/>
          <p:nvPr/>
        </p:nvSpPr>
        <p:spPr>
          <a:xfrm>
            <a:off x="2772661" y="5128534"/>
            <a:ext cx="1590500" cy="369332"/>
          </a:xfrm>
          <a:prstGeom prst="rect">
            <a:avLst/>
          </a:prstGeom>
          <a:noFill/>
        </p:spPr>
        <p:txBody>
          <a:bodyPr wrap="none" rtlCol="0">
            <a:spAutoFit/>
          </a:bodyPr>
          <a:lstStyle/>
          <a:p>
            <a:r>
              <a:rPr lang="en-US" dirty="0">
                <a:solidFill>
                  <a:schemeClr val="accent5"/>
                </a:solidFill>
              </a:rPr>
              <a:t>Low threshold</a:t>
            </a:r>
            <a:endParaRPr lang="en-IN" dirty="0">
              <a:solidFill>
                <a:schemeClr val="accent5"/>
              </a:solidFill>
            </a:endParaRPr>
          </a:p>
        </p:txBody>
      </p:sp>
      <p:sp>
        <p:nvSpPr>
          <p:cNvPr id="50" name="TextBox 49">
            <a:extLst>
              <a:ext uri="{FF2B5EF4-FFF2-40B4-BE49-F238E27FC236}">
                <a16:creationId xmlns:a16="http://schemas.microsoft.com/office/drawing/2014/main" id="{351EB06C-C11D-66A5-24D9-F6501D3EEEBC}"/>
              </a:ext>
            </a:extLst>
          </p:cNvPr>
          <p:cNvSpPr txBox="1"/>
          <p:nvPr/>
        </p:nvSpPr>
        <p:spPr>
          <a:xfrm>
            <a:off x="4872105" y="5162180"/>
            <a:ext cx="1640257" cy="369332"/>
          </a:xfrm>
          <a:prstGeom prst="rect">
            <a:avLst/>
          </a:prstGeom>
          <a:noFill/>
        </p:spPr>
        <p:txBody>
          <a:bodyPr wrap="none" rtlCol="0">
            <a:spAutoFit/>
          </a:bodyPr>
          <a:lstStyle/>
          <a:p>
            <a:r>
              <a:rPr lang="en-US" dirty="0">
                <a:solidFill>
                  <a:schemeClr val="accent2"/>
                </a:solidFill>
              </a:rPr>
              <a:t>High threshold</a:t>
            </a:r>
            <a:endParaRPr lang="en-IN" dirty="0">
              <a:solidFill>
                <a:schemeClr val="accent2"/>
              </a:solidFill>
            </a:endParaRPr>
          </a:p>
        </p:txBody>
      </p:sp>
      <p:sp>
        <p:nvSpPr>
          <p:cNvPr id="52" name="TextBox 51">
            <a:extLst>
              <a:ext uri="{FF2B5EF4-FFF2-40B4-BE49-F238E27FC236}">
                <a16:creationId xmlns:a16="http://schemas.microsoft.com/office/drawing/2014/main" id="{B39A0A44-5C37-0AA6-2B23-69D635807EE9}"/>
              </a:ext>
            </a:extLst>
          </p:cNvPr>
          <p:cNvSpPr txBox="1"/>
          <p:nvPr/>
        </p:nvSpPr>
        <p:spPr>
          <a:xfrm>
            <a:off x="517230" y="916568"/>
            <a:ext cx="2999623" cy="461665"/>
          </a:xfrm>
          <a:prstGeom prst="rect">
            <a:avLst/>
          </a:prstGeom>
          <a:noFill/>
        </p:spPr>
        <p:txBody>
          <a:bodyPr wrap="square">
            <a:spAutoFit/>
          </a:bodyPr>
          <a:lstStyle/>
          <a:p>
            <a:r>
              <a:rPr lang="en-IN" sz="2400" b="1" u="sng" dirty="0"/>
              <a:t>ROC Curve</a:t>
            </a:r>
          </a:p>
        </p:txBody>
      </p:sp>
      <p:grpSp>
        <p:nvGrpSpPr>
          <p:cNvPr id="3" name="Group 2">
            <a:extLst>
              <a:ext uri="{FF2B5EF4-FFF2-40B4-BE49-F238E27FC236}">
                <a16:creationId xmlns:a16="http://schemas.microsoft.com/office/drawing/2014/main" id="{5FB076C3-2A74-0758-2330-709A8A0C2591}"/>
              </a:ext>
            </a:extLst>
          </p:cNvPr>
          <p:cNvGrpSpPr/>
          <p:nvPr/>
        </p:nvGrpSpPr>
        <p:grpSpPr>
          <a:xfrm>
            <a:off x="176793" y="1458333"/>
            <a:ext cx="3147809" cy="5135345"/>
            <a:chOff x="464126" y="1271925"/>
            <a:chExt cx="1983124" cy="2899996"/>
          </a:xfrm>
        </p:grpSpPr>
        <p:cxnSp>
          <p:nvCxnSpPr>
            <p:cNvPr id="4" name="Google Shape;601;p31">
              <a:extLst>
                <a:ext uri="{FF2B5EF4-FFF2-40B4-BE49-F238E27FC236}">
                  <a16:creationId xmlns:a16="http://schemas.microsoft.com/office/drawing/2014/main" id="{D2E59C3B-42CF-D96D-2976-4B18DC256D1B}"/>
                </a:ext>
              </a:extLst>
            </p:cNvPr>
            <p:cNvCxnSpPr/>
            <p:nvPr/>
          </p:nvCxnSpPr>
          <p:spPr>
            <a:xfrm>
              <a:off x="1600675" y="1502700"/>
              <a:ext cx="4200" cy="2567400"/>
            </a:xfrm>
            <a:prstGeom prst="straightConnector1">
              <a:avLst/>
            </a:prstGeom>
            <a:noFill/>
            <a:ln w="9525" cap="flat" cmpd="sng">
              <a:solidFill>
                <a:schemeClr val="dk2"/>
              </a:solidFill>
              <a:prstDash val="solid"/>
              <a:round/>
              <a:headEnd type="none" w="med" len="med"/>
              <a:tailEnd type="none" w="med" len="med"/>
            </a:ln>
          </p:spPr>
        </p:cxnSp>
        <p:sp>
          <p:nvSpPr>
            <p:cNvPr id="5" name="Google Shape;602;p31">
              <a:extLst>
                <a:ext uri="{FF2B5EF4-FFF2-40B4-BE49-F238E27FC236}">
                  <a16:creationId xmlns:a16="http://schemas.microsoft.com/office/drawing/2014/main" id="{F1EE1EA0-7501-2571-108B-F7A0EFDD4C42}"/>
                </a:ext>
              </a:extLst>
            </p:cNvPr>
            <p:cNvSpPr/>
            <p:nvPr/>
          </p:nvSpPr>
          <p:spPr>
            <a:xfrm>
              <a:off x="1561975" y="17494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 name="Google Shape;603;p31">
              <a:extLst>
                <a:ext uri="{FF2B5EF4-FFF2-40B4-BE49-F238E27FC236}">
                  <a16:creationId xmlns:a16="http://schemas.microsoft.com/office/drawing/2014/main" id="{B0FE4FA2-891D-3CC3-BDF7-96328FA15538}"/>
                </a:ext>
              </a:extLst>
            </p:cNvPr>
            <p:cNvSpPr/>
            <p:nvPr/>
          </p:nvSpPr>
          <p:spPr>
            <a:xfrm>
              <a:off x="1559400" y="22453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8" name="Google Shape;604;p31">
              <a:extLst>
                <a:ext uri="{FF2B5EF4-FFF2-40B4-BE49-F238E27FC236}">
                  <a16:creationId xmlns:a16="http://schemas.microsoft.com/office/drawing/2014/main" id="{C7573D81-3A83-ABB2-4EE6-739AA0DD43DC}"/>
                </a:ext>
              </a:extLst>
            </p:cNvPr>
            <p:cNvSpPr/>
            <p:nvPr/>
          </p:nvSpPr>
          <p:spPr>
            <a:xfrm>
              <a:off x="1559400" y="28174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12" name="Google Shape;605;p31">
              <a:extLst>
                <a:ext uri="{FF2B5EF4-FFF2-40B4-BE49-F238E27FC236}">
                  <a16:creationId xmlns:a16="http://schemas.microsoft.com/office/drawing/2014/main" id="{D85FD73C-5AFB-C2D8-333B-DE7E40D947CA}"/>
                </a:ext>
              </a:extLst>
            </p:cNvPr>
            <p:cNvSpPr/>
            <p:nvPr/>
          </p:nvSpPr>
          <p:spPr>
            <a:xfrm>
              <a:off x="1561975" y="302037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13" name="Google Shape;606;p31">
              <a:extLst>
                <a:ext uri="{FF2B5EF4-FFF2-40B4-BE49-F238E27FC236}">
                  <a16:creationId xmlns:a16="http://schemas.microsoft.com/office/drawing/2014/main" id="{21A9FD8F-EA21-D1DD-B8AB-52C853752AB5}"/>
                </a:ext>
              </a:extLst>
            </p:cNvPr>
            <p:cNvSpPr/>
            <p:nvPr/>
          </p:nvSpPr>
          <p:spPr>
            <a:xfrm>
              <a:off x="1559400" y="32371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43" name="Google Shape;607;p31">
              <a:extLst>
                <a:ext uri="{FF2B5EF4-FFF2-40B4-BE49-F238E27FC236}">
                  <a16:creationId xmlns:a16="http://schemas.microsoft.com/office/drawing/2014/main" id="{80DFE108-35FB-4404-6C4C-309663635EA7}"/>
                </a:ext>
              </a:extLst>
            </p:cNvPr>
            <p:cNvSpPr/>
            <p:nvPr/>
          </p:nvSpPr>
          <p:spPr>
            <a:xfrm>
              <a:off x="1559400" y="340250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1" name="Google Shape;608;p31">
              <a:extLst>
                <a:ext uri="{FF2B5EF4-FFF2-40B4-BE49-F238E27FC236}">
                  <a16:creationId xmlns:a16="http://schemas.microsoft.com/office/drawing/2014/main" id="{546F3F49-4C8B-3695-C01A-4A05776D6005}"/>
                </a:ext>
              </a:extLst>
            </p:cNvPr>
            <p:cNvSpPr/>
            <p:nvPr/>
          </p:nvSpPr>
          <p:spPr>
            <a:xfrm>
              <a:off x="1561975" y="351192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3" name="Google Shape;609;p31">
              <a:extLst>
                <a:ext uri="{FF2B5EF4-FFF2-40B4-BE49-F238E27FC236}">
                  <a16:creationId xmlns:a16="http://schemas.microsoft.com/office/drawing/2014/main" id="{6B89E545-E9A5-AB01-2BAA-E053C06A69F7}"/>
                </a:ext>
              </a:extLst>
            </p:cNvPr>
            <p:cNvSpPr/>
            <p:nvPr/>
          </p:nvSpPr>
          <p:spPr>
            <a:xfrm>
              <a:off x="1559400" y="36213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4" name="Google Shape;610;p31">
              <a:extLst>
                <a:ext uri="{FF2B5EF4-FFF2-40B4-BE49-F238E27FC236}">
                  <a16:creationId xmlns:a16="http://schemas.microsoft.com/office/drawing/2014/main" id="{38ADE1BC-A1FC-6F9F-4ABE-6EC9E467FF2F}"/>
                </a:ext>
              </a:extLst>
            </p:cNvPr>
            <p:cNvSpPr/>
            <p:nvPr/>
          </p:nvSpPr>
          <p:spPr>
            <a:xfrm>
              <a:off x="1559400" y="374802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5" name="Google Shape;611;p31">
              <a:extLst>
                <a:ext uri="{FF2B5EF4-FFF2-40B4-BE49-F238E27FC236}">
                  <a16:creationId xmlns:a16="http://schemas.microsoft.com/office/drawing/2014/main" id="{F2E19069-6916-04F9-E956-88CF3A5DCE97}"/>
                </a:ext>
              </a:extLst>
            </p:cNvPr>
            <p:cNvSpPr/>
            <p:nvPr/>
          </p:nvSpPr>
          <p:spPr>
            <a:xfrm>
              <a:off x="1559400" y="391757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6" name="Google Shape;612;p31">
              <a:extLst>
                <a:ext uri="{FF2B5EF4-FFF2-40B4-BE49-F238E27FC236}">
                  <a16:creationId xmlns:a16="http://schemas.microsoft.com/office/drawing/2014/main" id="{08247C49-EA80-82C4-1B8D-4B0FDA301308}"/>
                </a:ext>
              </a:extLst>
            </p:cNvPr>
            <p:cNvSpPr/>
            <p:nvPr/>
          </p:nvSpPr>
          <p:spPr>
            <a:xfrm>
              <a:off x="1559400" y="153922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7" name="Google Shape;613;p31">
              <a:extLst>
                <a:ext uri="{FF2B5EF4-FFF2-40B4-BE49-F238E27FC236}">
                  <a16:creationId xmlns:a16="http://schemas.microsoft.com/office/drawing/2014/main" id="{D4A8235C-7346-DCEE-A62F-48FEB2DD9F68}"/>
                </a:ext>
              </a:extLst>
            </p:cNvPr>
            <p:cNvSpPr/>
            <p:nvPr/>
          </p:nvSpPr>
          <p:spPr>
            <a:xfrm>
              <a:off x="1559400" y="1644338"/>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8" name="Google Shape;614;p31">
              <a:extLst>
                <a:ext uri="{FF2B5EF4-FFF2-40B4-BE49-F238E27FC236}">
                  <a16:creationId xmlns:a16="http://schemas.microsoft.com/office/drawing/2014/main" id="{6A618D1E-F5C9-CB01-F46E-3E20E2196C64}"/>
                </a:ext>
              </a:extLst>
            </p:cNvPr>
            <p:cNvSpPr/>
            <p:nvPr/>
          </p:nvSpPr>
          <p:spPr>
            <a:xfrm>
              <a:off x="1561975" y="185455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9" name="Google Shape;615;p31">
              <a:extLst>
                <a:ext uri="{FF2B5EF4-FFF2-40B4-BE49-F238E27FC236}">
                  <a16:creationId xmlns:a16="http://schemas.microsoft.com/office/drawing/2014/main" id="{EE965D62-7420-3470-CF14-53A35D44A297}"/>
                </a:ext>
              </a:extLst>
            </p:cNvPr>
            <p:cNvSpPr/>
            <p:nvPr/>
          </p:nvSpPr>
          <p:spPr>
            <a:xfrm>
              <a:off x="1561975" y="199740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0" name="Google Shape;616;p31">
              <a:extLst>
                <a:ext uri="{FF2B5EF4-FFF2-40B4-BE49-F238E27FC236}">
                  <a16:creationId xmlns:a16="http://schemas.microsoft.com/office/drawing/2014/main" id="{99856934-79CB-352C-2E3D-9A0A58B798FA}"/>
                </a:ext>
              </a:extLst>
            </p:cNvPr>
            <p:cNvSpPr/>
            <p:nvPr/>
          </p:nvSpPr>
          <p:spPr>
            <a:xfrm>
              <a:off x="1561975" y="212137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1" name="Google Shape;617;p31">
              <a:extLst>
                <a:ext uri="{FF2B5EF4-FFF2-40B4-BE49-F238E27FC236}">
                  <a16:creationId xmlns:a16="http://schemas.microsoft.com/office/drawing/2014/main" id="{68909944-2AA0-F1BF-598E-FF5E1EB3D230}"/>
                </a:ext>
              </a:extLst>
            </p:cNvPr>
            <p:cNvSpPr/>
            <p:nvPr/>
          </p:nvSpPr>
          <p:spPr>
            <a:xfrm>
              <a:off x="1559400" y="236932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2" name="Google Shape;618;p31">
              <a:extLst>
                <a:ext uri="{FF2B5EF4-FFF2-40B4-BE49-F238E27FC236}">
                  <a16:creationId xmlns:a16="http://schemas.microsoft.com/office/drawing/2014/main" id="{036D2EB7-1C8B-64AB-8FA2-C845E2CEAF1F}"/>
                </a:ext>
              </a:extLst>
            </p:cNvPr>
            <p:cNvSpPr/>
            <p:nvPr/>
          </p:nvSpPr>
          <p:spPr>
            <a:xfrm>
              <a:off x="1559400" y="2671563"/>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3" name="Google Shape;619;p31">
              <a:extLst>
                <a:ext uri="{FF2B5EF4-FFF2-40B4-BE49-F238E27FC236}">
                  <a16:creationId xmlns:a16="http://schemas.microsoft.com/office/drawing/2014/main" id="{937A322A-4C4D-DB64-E907-63A0B27F100D}"/>
                </a:ext>
              </a:extLst>
            </p:cNvPr>
            <p:cNvSpPr/>
            <p:nvPr/>
          </p:nvSpPr>
          <p:spPr>
            <a:xfrm>
              <a:off x="1561975" y="384020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4" name="Google Shape;620;p31">
              <a:extLst>
                <a:ext uri="{FF2B5EF4-FFF2-40B4-BE49-F238E27FC236}">
                  <a16:creationId xmlns:a16="http://schemas.microsoft.com/office/drawing/2014/main" id="{735EA64C-E94F-10A8-BF0B-229A0F90B7CC}"/>
                </a:ext>
              </a:extLst>
            </p:cNvPr>
            <p:cNvSpPr/>
            <p:nvPr/>
          </p:nvSpPr>
          <p:spPr>
            <a:xfrm>
              <a:off x="1559400" y="249330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5" name="Google Shape;621;p31">
              <a:extLst>
                <a:ext uri="{FF2B5EF4-FFF2-40B4-BE49-F238E27FC236}">
                  <a16:creationId xmlns:a16="http://schemas.microsoft.com/office/drawing/2014/main" id="{43C64E09-E408-F01C-5D0A-8594CF7E4CDB}"/>
                </a:ext>
              </a:extLst>
            </p:cNvPr>
            <p:cNvSpPr/>
            <p:nvPr/>
          </p:nvSpPr>
          <p:spPr>
            <a:xfrm>
              <a:off x="1559400" y="261727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6" name="Google Shape;622;p31">
              <a:extLst>
                <a:ext uri="{FF2B5EF4-FFF2-40B4-BE49-F238E27FC236}">
                  <a16:creationId xmlns:a16="http://schemas.microsoft.com/office/drawing/2014/main" id="{ADD9B8DE-B819-DF0C-1924-7BB6F244C0A0}"/>
                </a:ext>
              </a:extLst>
            </p:cNvPr>
            <p:cNvSpPr txBox="1"/>
            <p:nvPr/>
          </p:nvSpPr>
          <p:spPr>
            <a:xfrm>
              <a:off x="1275150" y="1271925"/>
              <a:ext cx="1172100" cy="1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latin typeface="Cambria Math" panose="02040503050406030204" pitchFamily="18" charset="0"/>
                  <a:ea typeface="Cambria Math" panose="02040503050406030204" pitchFamily="18" charset="0"/>
                </a:rPr>
                <a:t>Score = 1</a:t>
              </a:r>
              <a:endParaRPr sz="1200" b="1">
                <a:latin typeface="Cambria Math" panose="02040503050406030204" pitchFamily="18" charset="0"/>
                <a:ea typeface="Cambria Math" panose="02040503050406030204" pitchFamily="18" charset="0"/>
              </a:endParaRPr>
            </a:p>
          </p:txBody>
        </p:sp>
        <p:sp>
          <p:nvSpPr>
            <p:cNvPr id="67" name="Google Shape;623;p31">
              <a:extLst>
                <a:ext uri="{FF2B5EF4-FFF2-40B4-BE49-F238E27FC236}">
                  <a16:creationId xmlns:a16="http://schemas.microsoft.com/office/drawing/2014/main" id="{1C268C85-07BF-5928-F539-DCDA299F16D0}"/>
                </a:ext>
              </a:extLst>
            </p:cNvPr>
            <p:cNvSpPr txBox="1"/>
            <p:nvPr/>
          </p:nvSpPr>
          <p:spPr>
            <a:xfrm>
              <a:off x="1275150" y="4015125"/>
              <a:ext cx="1172100" cy="1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latin typeface="Cambria Math" panose="02040503050406030204" pitchFamily="18" charset="0"/>
                  <a:ea typeface="Cambria Math" panose="02040503050406030204" pitchFamily="18" charset="0"/>
                </a:rPr>
                <a:t>Score = 0</a:t>
              </a:r>
              <a:endParaRPr sz="1200" b="1">
                <a:latin typeface="Cambria Math" panose="02040503050406030204" pitchFamily="18" charset="0"/>
                <a:ea typeface="Cambria Math" panose="02040503050406030204" pitchFamily="18" charset="0"/>
              </a:endParaRPr>
            </a:p>
          </p:txBody>
        </p:sp>
        <p:cxnSp>
          <p:nvCxnSpPr>
            <p:cNvPr id="68" name="Google Shape;624;p31">
              <a:extLst>
                <a:ext uri="{FF2B5EF4-FFF2-40B4-BE49-F238E27FC236}">
                  <a16:creationId xmlns:a16="http://schemas.microsoft.com/office/drawing/2014/main" id="{C94585A4-0B6B-FA49-BA00-E8589F0E2422}"/>
                </a:ext>
              </a:extLst>
            </p:cNvPr>
            <p:cNvCxnSpPr/>
            <p:nvPr/>
          </p:nvCxnSpPr>
          <p:spPr>
            <a:xfrm rot="10800000" flipH="1">
              <a:off x="1167025" y="151363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69" name="Google Shape;625;p31">
              <a:extLst>
                <a:ext uri="{FF2B5EF4-FFF2-40B4-BE49-F238E27FC236}">
                  <a16:creationId xmlns:a16="http://schemas.microsoft.com/office/drawing/2014/main" id="{0958AF0F-DBA5-1624-7819-1EE49DD62108}"/>
                </a:ext>
              </a:extLst>
            </p:cNvPr>
            <p:cNvCxnSpPr/>
            <p:nvPr/>
          </p:nvCxnSpPr>
          <p:spPr>
            <a:xfrm rot="10800000" flipH="1">
              <a:off x="1164450" y="162567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0" name="Google Shape;626;p31">
              <a:extLst>
                <a:ext uri="{FF2B5EF4-FFF2-40B4-BE49-F238E27FC236}">
                  <a16:creationId xmlns:a16="http://schemas.microsoft.com/office/drawing/2014/main" id="{C4848AC5-D84B-F1A5-A79D-84E75720278C}"/>
                </a:ext>
              </a:extLst>
            </p:cNvPr>
            <p:cNvCxnSpPr/>
            <p:nvPr/>
          </p:nvCxnSpPr>
          <p:spPr>
            <a:xfrm rot="10800000" flipH="1">
              <a:off x="1167025" y="17376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1" name="Google Shape;627;p31">
              <a:extLst>
                <a:ext uri="{FF2B5EF4-FFF2-40B4-BE49-F238E27FC236}">
                  <a16:creationId xmlns:a16="http://schemas.microsoft.com/office/drawing/2014/main" id="{A55FFE41-516B-B6DE-0313-FB879A036246}"/>
                </a:ext>
              </a:extLst>
            </p:cNvPr>
            <p:cNvCxnSpPr/>
            <p:nvPr/>
          </p:nvCxnSpPr>
          <p:spPr>
            <a:xfrm rot="10800000" flipH="1">
              <a:off x="1164450" y="18428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2" name="Google Shape;628;p31">
              <a:extLst>
                <a:ext uri="{FF2B5EF4-FFF2-40B4-BE49-F238E27FC236}">
                  <a16:creationId xmlns:a16="http://schemas.microsoft.com/office/drawing/2014/main" id="{4A51AA90-EC3D-E80E-E8BB-C2295CCF9D28}"/>
                </a:ext>
              </a:extLst>
            </p:cNvPr>
            <p:cNvCxnSpPr/>
            <p:nvPr/>
          </p:nvCxnSpPr>
          <p:spPr>
            <a:xfrm rot="10800000" flipH="1">
              <a:off x="1167025" y="196677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3" name="Google Shape;629;p31">
              <a:extLst>
                <a:ext uri="{FF2B5EF4-FFF2-40B4-BE49-F238E27FC236}">
                  <a16:creationId xmlns:a16="http://schemas.microsoft.com/office/drawing/2014/main" id="{A59369B3-E0BB-C835-5E28-11BE87494150}"/>
                </a:ext>
              </a:extLst>
            </p:cNvPr>
            <p:cNvCxnSpPr/>
            <p:nvPr/>
          </p:nvCxnSpPr>
          <p:spPr>
            <a:xfrm rot="10800000" flipH="1">
              <a:off x="1167775" y="21001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4" name="Google Shape;630;p31">
              <a:extLst>
                <a:ext uri="{FF2B5EF4-FFF2-40B4-BE49-F238E27FC236}">
                  <a16:creationId xmlns:a16="http://schemas.microsoft.com/office/drawing/2014/main" id="{EF52BB2E-7AD5-1660-8563-9B702AEDB403}"/>
                </a:ext>
              </a:extLst>
            </p:cNvPr>
            <p:cNvCxnSpPr/>
            <p:nvPr/>
          </p:nvCxnSpPr>
          <p:spPr>
            <a:xfrm rot="10800000" flipH="1">
              <a:off x="1167775" y="22241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5" name="Google Shape;631;p31">
              <a:extLst>
                <a:ext uri="{FF2B5EF4-FFF2-40B4-BE49-F238E27FC236}">
                  <a16:creationId xmlns:a16="http://schemas.microsoft.com/office/drawing/2014/main" id="{FB0B7F2E-BEBF-DD4C-C281-03B89B448E94}"/>
                </a:ext>
              </a:extLst>
            </p:cNvPr>
            <p:cNvCxnSpPr/>
            <p:nvPr/>
          </p:nvCxnSpPr>
          <p:spPr>
            <a:xfrm rot="10800000" flipH="1">
              <a:off x="1164450" y="234813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6" name="Google Shape;632;p31">
              <a:extLst>
                <a:ext uri="{FF2B5EF4-FFF2-40B4-BE49-F238E27FC236}">
                  <a16:creationId xmlns:a16="http://schemas.microsoft.com/office/drawing/2014/main" id="{ED1C9B21-02E6-6237-95EF-46D4A4A7396F}"/>
                </a:ext>
              </a:extLst>
            </p:cNvPr>
            <p:cNvCxnSpPr/>
            <p:nvPr/>
          </p:nvCxnSpPr>
          <p:spPr>
            <a:xfrm rot="10800000" flipH="1">
              <a:off x="1167775" y="247211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7" name="Google Shape;633;p31">
              <a:extLst>
                <a:ext uri="{FF2B5EF4-FFF2-40B4-BE49-F238E27FC236}">
                  <a16:creationId xmlns:a16="http://schemas.microsoft.com/office/drawing/2014/main" id="{6BC994B8-3B3D-DC8F-C374-5F9B64D2B028}"/>
                </a:ext>
              </a:extLst>
            </p:cNvPr>
            <p:cNvCxnSpPr/>
            <p:nvPr/>
          </p:nvCxnSpPr>
          <p:spPr>
            <a:xfrm rot="10800000" flipH="1">
              <a:off x="1167775" y="25960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8" name="Google Shape;634;p31">
              <a:extLst>
                <a:ext uri="{FF2B5EF4-FFF2-40B4-BE49-F238E27FC236}">
                  <a16:creationId xmlns:a16="http://schemas.microsoft.com/office/drawing/2014/main" id="{79271201-A7F7-8592-884A-DC5D8108F9BC}"/>
                </a:ext>
              </a:extLst>
            </p:cNvPr>
            <p:cNvCxnSpPr/>
            <p:nvPr/>
          </p:nvCxnSpPr>
          <p:spPr>
            <a:xfrm rot="10800000" flipH="1">
              <a:off x="1164450" y="27067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9" name="Google Shape;635;p31">
              <a:extLst>
                <a:ext uri="{FF2B5EF4-FFF2-40B4-BE49-F238E27FC236}">
                  <a16:creationId xmlns:a16="http://schemas.microsoft.com/office/drawing/2014/main" id="{E2FF0D54-9F8E-24FC-5788-62558D119A3B}"/>
                </a:ext>
              </a:extLst>
            </p:cNvPr>
            <p:cNvCxnSpPr/>
            <p:nvPr/>
          </p:nvCxnSpPr>
          <p:spPr>
            <a:xfrm rot="10800000" flipH="1">
              <a:off x="1167775" y="280822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0" name="Google Shape;636;p31">
              <a:extLst>
                <a:ext uri="{FF2B5EF4-FFF2-40B4-BE49-F238E27FC236}">
                  <a16:creationId xmlns:a16="http://schemas.microsoft.com/office/drawing/2014/main" id="{AAD03D6C-2285-4AEC-B4C9-02089AD78C5B}"/>
                </a:ext>
              </a:extLst>
            </p:cNvPr>
            <p:cNvCxnSpPr/>
            <p:nvPr/>
          </p:nvCxnSpPr>
          <p:spPr>
            <a:xfrm rot="10800000" flipH="1">
              <a:off x="1167775" y="29597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1" name="Google Shape;637;p31">
              <a:extLst>
                <a:ext uri="{FF2B5EF4-FFF2-40B4-BE49-F238E27FC236}">
                  <a16:creationId xmlns:a16="http://schemas.microsoft.com/office/drawing/2014/main" id="{D3D529E9-9612-6B32-F456-C0CF3407EF09}"/>
                </a:ext>
              </a:extLst>
            </p:cNvPr>
            <p:cNvCxnSpPr/>
            <p:nvPr/>
          </p:nvCxnSpPr>
          <p:spPr>
            <a:xfrm rot="10800000" flipH="1">
              <a:off x="1164450" y="31588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2" name="Google Shape;638;p31">
              <a:extLst>
                <a:ext uri="{FF2B5EF4-FFF2-40B4-BE49-F238E27FC236}">
                  <a16:creationId xmlns:a16="http://schemas.microsoft.com/office/drawing/2014/main" id="{230D9DCD-3B2A-EB94-50AF-5412B24564E6}"/>
                </a:ext>
              </a:extLst>
            </p:cNvPr>
            <p:cNvCxnSpPr/>
            <p:nvPr/>
          </p:nvCxnSpPr>
          <p:spPr>
            <a:xfrm rot="10800000" flipH="1">
              <a:off x="1164450" y="33354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3" name="Google Shape;639;p31">
              <a:extLst>
                <a:ext uri="{FF2B5EF4-FFF2-40B4-BE49-F238E27FC236}">
                  <a16:creationId xmlns:a16="http://schemas.microsoft.com/office/drawing/2014/main" id="{35BC3139-ED54-B487-BC3C-ACCF45331418}"/>
                </a:ext>
              </a:extLst>
            </p:cNvPr>
            <p:cNvCxnSpPr/>
            <p:nvPr/>
          </p:nvCxnSpPr>
          <p:spPr>
            <a:xfrm rot="10800000" flipH="1">
              <a:off x="1167775" y="34980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4" name="Google Shape;640;p31">
              <a:extLst>
                <a:ext uri="{FF2B5EF4-FFF2-40B4-BE49-F238E27FC236}">
                  <a16:creationId xmlns:a16="http://schemas.microsoft.com/office/drawing/2014/main" id="{C939BEE3-A5AD-B8FF-3780-BD7E791F9FD8}"/>
                </a:ext>
              </a:extLst>
            </p:cNvPr>
            <p:cNvCxnSpPr/>
            <p:nvPr/>
          </p:nvCxnSpPr>
          <p:spPr>
            <a:xfrm rot="10800000" flipH="1">
              <a:off x="1164450" y="361605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5" name="Google Shape;641;p31">
              <a:extLst>
                <a:ext uri="{FF2B5EF4-FFF2-40B4-BE49-F238E27FC236}">
                  <a16:creationId xmlns:a16="http://schemas.microsoft.com/office/drawing/2014/main" id="{59757F12-6C56-606B-57A6-404BFC8BBFF6}"/>
                </a:ext>
              </a:extLst>
            </p:cNvPr>
            <p:cNvCxnSpPr/>
            <p:nvPr/>
          </p:nvCxnSpPr>
          <p:spPr>
            <a:xfrm rot="10800000" flipH="1">
              <a:off x="1164450" y="372547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6" name="Google Shape;642;p31">
              <a:extLst>
                <a:ext uri="{FF2B5EF4-FFF2-40B4-BE49-F238E27FC236}">
                  <a16:creationId xmlns:a16="http://schemas.microsoft.com/office/drawing/2014/main" id="{E136592C-B45A-D0EA-A619-3116334A7777}"/>
                </a:ext>
              </a:extLst>
            </p:cNvPr>
            <p:cNvCxnSpPr/>
            <p:nvPr/>
          </p:nvCxnSpPr>
          <p:spPr>
            <a:xfrm rot="10800000" flipH="1">
              <a:off x="1164450" y="38521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7" name="Google Shape;643;p31">
              <a:extLst>
                <a:ext uri="{FF2B5EF4-FFF2-40B4-BE49-F238E27FC236}">
                  <a16:creationId xmlns:a16="http://schemas.microsoft.com/office/drawing/2014/main" id="{AF3E5ABE-EEB2-4AB1-81C0-2C4F0FA220F3}"/>
                </a:ext>
              </a:extLst>
            </p:cNvPr>
            <p:cNvCxnSpPr/>
            <p:nvPr/>
          </p:nvCxnSpPr>
          <p:spPr>
            <a:xfrm rot="10800000" flipH="1">
              <a:off x="1167775" y="39223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8" name="Google Shape;644;p31">
              <a:extLst>
                <a:ext uri="{FF2B5EF4-FFF2-40B4-BE49-F238E27FC236}">
                  <a16:creationId xmlns:a16="http://schemas.microsoft.com/office/drawing/2014/main" id="{C383E54C-612C-1ECA-2C55-6F30DA42B2D6}"/>
                </a:ext>
              </a:extLst>
            </p:cNvPr>
            <p:cNvCxnSpPr/>
            <p:nvPr/>
          </p:nvCxnSpPr>
          <p:spPr>
            <a:xfrm rot="10800000" flipH="1">
              <a:off x="1164450" y="4036513"/>
              <a:ext cx="871500" cy="8700"/>
            </a:xfrm>
            <a:prstGeom prst="straightConnector1">
              <a:avLst/>
            </a:prstGeom>
            <a:noFill/>
            <a:ln w="9525" cap="flat" cmpd="sng">
              <a:solidFill>
                <a:srgbClr val="B7B7B7"/>
              </a:solidFill>
              <a:prstDash val="dash"/>
              <a:round/>
              <a:headEnd type="none" w="med" len="med"/>
              <a:tailEnd type="none" w="med" len="med"/>
            </a:ln>
          </p:spPr>
        </p:cxnSp>
        <p:sp>
          <p:nvSpPr>
            <p:cNvPr id="89" name="Google Shape;645;p31">
              <a:extLst>
                <a:ext uri="{FF2B5EF4-FFF2-40B4-BE49-F238E27FC236}">
                  <a16:creationId xmlns:a16="http://schemas.microsoft.com/office/drawing/2014/main" id="{49F38C78-6971-AF52-B247-489E5D8A8DFB}"/>
                </a:ext>
              </a:extLst>
            </p:cNvPr>
            <p:cNvSpPr txBox="1"/>
            <p:nvPr/>
          </p:nvSpPr>
          <p:spPr>
            <a:xfrm>
              <a:off x="464126" y="3940009"/>
              <a:ext cx="759900" cy="2319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Cambria Math" panose="02040503050406030204" pitchFamily="18" charset="0"/>
                  <a:ea typeface="Cambria Math" panose="02040503050406030204" pitchFamily="18" charset="0"/>
                </a:rPr>
                <a:t>Thres = 0.00</a:t>
              </a:r>
              <a:endParaRPr sz="1200" b="1" dirty="0">
                <a:latin typeface="Cambria Math" panose="02040503050406030204" pitchFamily="18" charset="0"/>
                <a:ea typeface="Cambria Math" panose="02040503050406030204" pitchFamily="18" charset="0"/>
              </a:endParaRPr>
            </a:p>
          </p:txBody>
        </p:sp>
        <p:sp>
          <p:nvSpPr>
            <p:cNvPr id="90" name="Google Shape;646;p31">
              <a:extLst>
                <a:ext uri="{FF2B5EF4-FFF2-40B4-BE49-F238E27FC236}">
                  <a16:creationId xmlns:a16="http://schemas.microsoft.com/office/drawing/2014/main" id="{DE62E670-055A-C610-D5F0-84959345B2B5}"/>
                </a:ext>
              </a:extLst>
            </p:cNvPr>
            <p:cNvSpPr txBox="1"/>
            <p:nvPr/>
          </p:nvSpPr>
          <p:spPr>
            <a:xfrm>
              <a:off x="483088" y="1418928"/>
              <a:ext cx="759900" cy="26651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Cambria Math" panose="02040503050406030204" pitchFamily="18" charset="0"/>
                  <a:ea typeface="Cambria Math" panose="02040503050406030204" pitchFamily="18" charset="0"/>
                </a:rPr>
                <a:t>Thres = 1.00</a:t>
              </a:r>
              <a:endParaRPr sz="1200" b="1" dirty="0">
                <a:latin typeface="Cambria Math" panose="02040503050406030204" pitchFamily="18" charset="0"/>
                <a:ea typeface="Cambria Math" panose="02040503050406030204" pitchFamily="18" charset="0"/>
              </a:endParaRPr>
            </a:p>
          </p:txBody>
        </p:sp>
      </p:grpSp>
    </p:spTree>
    <p:extLst>
      <p:ext uri="{BB962C8B-B14F-4D97-AF65-F5344CB8AC3E}">
        <p14:creationId xmlns:p14="http://schemas.microsoft.com/office/powerpoint/2010/main" val="1517433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8CCEA-EC84-6745-CDC8-675398F54867}"/>
              </a:ext>
            </a:extLst>
          </p:cNvPr>
          <p:cNvSpPr>
            <a:spLocks noGrp="1"/>
          </p:cNvSpPr>
          <p:nvPr>
            <p:ph type="title"/>
          </p:nvPr>
        </p:nvSpPr>
        <p:spPr/>
        <p:txBody>
          <a:bodyPr/>
          <a:lstStyle/>
          <a:p>
            <a:r>
              <a:rPr lang="en-IN" dirty="0"/>
              <a:t>Classification Metrics</a:t>
            </a:r>
          </a:p>
        </p:txBody>
      </p:sp>
      <p:graphicFrame>
        <p:nvGraphicFramePr>
          <p:cNvPr id="4" name="Google Shape;600;p31">
            <a:extLst>
              <a:ext uri="{FF2B5EF4-FFF2-40B4-BE49-F238E27FC236}">
                <a16:creationId xmlns:a16="http://schemas.microsoft.com/office/drawing/2014/main" id="{FD0BF5DA-22F9-4416-0458-71982B1E76A1}"/>
              </a:ext>
            </a:extLst>
          </p:cNvPr>
          <p:cNvGraphicFramePr/>
          <p:nvPr>
            <p:extLst>
              <p:ext uri="{D42A27DB-BD31-4B8C-83A1-F6EECF244321}">
                <p14:modId xmlns:p14="http://schemas.microsoft.com/office/powerpoint/2010/main" val="2687822114"/>
              </p:ext>
            </p:extLst>
          </p:nvPr>
        </p:nvGraphicFramePr>
        <p:xfrm>
          <a:off x="4918396" y="1091859"/>
          <a:ext cx="6152838" cy="5137597"/>
        </p:xfrm>
        <a:graphic>
          <a:graphicData uri="http://schemas.openxmlformats.org/drawingml/2006/table">
            <a:tbl>
              <a:tblPr>
                <a:noFill/>
              </a:tblPr>
              <a:tblGrid>
                <a:gridCol w="868976">
                  <a:extLst>
                    <a:ext uri="{9D8B030D-6E8A-4147-A177-3AD203B41FA5}">
                      <a16:colId xmlns:a16="http://schemas.microsoft.com/office/drawing/2014/main" val="20000"/>
                    </a:ext>
                  </a:extLst>
                </a:gridCol>
                <a:gridCol w="412096">
                  <a:extLst>
                    <a:ext uri="{9D8B030D-6E8A-4147-A177-3AD203B41FA5}">
                      <a16:colId xmlns:a16="http://schemas.microsoft.com/office/drawing/2014/main" val="20001"/>
                    </a:ext>
                  </a:extLst>
                </a:gridCol>
                <a:gridCol w="422861">
                  <a:extLst>
                    <a:ext uri="{9D8B030D-6E8A-4147-A177-3AD203B41FA5}">
                      <a16:colId xmlns:a16="http://schemas.microsoft.com/office/drawing/2014/main" val="20002"/>
                    </a:ext>
                  </a:extLst>
                </a:gridCol>
                <a:gridCol w="374541">
                  <a:extLst>
                    <a:ext uri="{9D8B030D-6E8A-4147-A177-3AD203B41FA5}">
                      <a16:colId xmlns:a16="http://schemas.microsoft.com/office/drawing/2014/main" val="20003"/>
                    </a:ext>
                  </a:extLst>
                </a:gridCol>
                <a:gridCol w="412127">
                  <a:extLst>
                    <a:ext uri="{9D8B030D-6E8A-4147-A177-3AD203B41FA5}">
                      <a16:colId xmlns:a16="http://schemas.microsoft.com/office/drawing/2014/main" val="20004"/>
                    </a:ext>
                  </a:extLst>
                </a:gridCol>
                <a:gridCol w="793711">
                  <a:extLst>
                    <a:ext uri="{9D8B030D-6E8A-4147-A177-3AD203B41FA5}">
                      <a16:colId xmlns:a16="http://schemas.microsoft.com/office/drawing/2014/main" val="20005"/>
                    </a:ext>
                  </a:extLst>
                </a:gridCol>
                <a:gridCol w="739946">
                  <a:extLst>
                    <a:ext uri="{9D8B030D-6E8A-4147-A177-3AD203B41FA5}">
                      <a16:colId xmlns:a16="http://schemas.microsoft.com/office/drawing/2014/main" val="20006"/>
                    </a:ext>
                  </a:extLst>
                </a:gridCol>
                <a:gridCol w="842477">
                  <a:extLst>
                    <a:ext uri="{9D8B030D-6E8A-4147-A177-3AD203B41FA5}">
                      <a16:colId xmlns:a16="http://schemas.microsoft.com/office/drawing/2014/main" val="20007"/>
                    </a:ext>
                  </a:extLst>
                </a:gridCol>
                <a:gridCol w="648242">
                  <a:extLst>
                    <a:ext uri="{9D8B030D-6E8A-4147-A177-3AD203B41FA5}">
                      <a16:colId xmlns:a16="http://schemas.microsoft.com/office/drawing/2014/main" val="20008"/>
                    </a:ext>
                  </a:extLst>
                </a:gridCol>
                <a:gridCol w="637861">
                  <a:extLst>
                    <a:ext uri="{9D8B030D-6E8A-4147-A177-3AD203B41FA5}">
                      <a16:colId xmlns:a16="http://schemas.microsoft.com/office/drawing/2014/main" val="20009"/>
                    </a:ext>
                  </a:extLst>
                </a:gridCol>
              </a:tblGrid>
              <a:tr h="226553">
                <a:tc>
                  <a:txBody>
                    <a:bodyPr/>
                    <a:lstStyle/>
                    <a:p>
                      <a:pPr marL="0" lvl="0" indent="0" algn="l" rtl="0">
                        <a:lnSpc>
                          <a:spcPct val="115000"/>
                        </a:lnSpc>
                        <a:spcBef>
                          <a:spcPts val="0"/>
                        </a:spcBef>
                        <a:spcAft>
                          <a:spcPts val="0"/>
                        </a:spcAft>
                        <a:buNone/>
                      </a:pPr>
                      <a:r>
                        <a:rPr lang="en" sz="1000"/>
                        <a:t>Threshold</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TP</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TN</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FP</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FN</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Accuracy</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Precision</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Recall (TPR) (Sensitivity)</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dirty="0"/>
                        <a:t>Specificity (FPR)</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000"/>
                        <a:t>F1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26553">
                <a:tc>
                  <a:txBody>
                    <a:bodyPr/>
                    <a:lstStyle/>
                    <a:p>
                      <a:pPr marL="0" lvl="0" indent="0" algn="r" rtl="0">
                        <a:lnSpc>
                          <a:spcPct val="115000"/>
                        </a:lnSpc>
                        <a:spcBef>
                          <a:spcPts val="0"/>
                        </a:spcBef>
                        <a:spcAft>
                          <a:spcPts val="0"/>
                        </a:spcAft>
                        <a:buNone/>
                      </a:pPr>
                      <a:r>
                        <a:rPr lang="en" sz="1000"/>
                        <a:t>1.00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26553">
                <a:tc>
                  <a:txBody>
                    <a:bodyPr/>
                    <a:lstStyle/>
                    <a:p>
                      <a:pPr marL="0" lvl="0" indent="0" algn="r" rtl="0">
                        <a:lnSpc>
                          <a:spcPct val="115000"/>
                        </a:lnSpc>
                        <a:spcBef>
                          <a:spcPts val="0"/>
                        </a:spcBef>
                        <a:spcAft>
                          <a:spcPts val="0"/>
                        </a:spcAft>
                        <a:buNone/>
                      </a:pPr>
                      <a:r>
                        <a:rPr lang="en" sz="1000"/>
                        <a:t>0.95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0.182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26553">
                <a:tc>
                  <a:txBody>
                    <a:bodyPr/>
                    <a:lstStyle/>
                    <a:p>
                      <a:pPr marL="0" lvl="0" indent="0" algn="r" rtl="0">
                        <a:lnSpc>
                          <a:spcPct val="115000"/>
                        </a:lnSpc>
                        <a:spcBef>
                          <a:spcPts val="0"/>
                        </a:spcBef>
                        <a:spcAft>
                          <a:spcPts val="0"/>
                        </a:spcAft>
                        <a:buNone/>
                      </a:pPr>
                      <a:r>
                        <a:rPr lang="en" sz="1000"/>
                        <a:t>0.90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0.333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26553">
                <a:tc>
                  <a:txBody>
                    <a:bodyPr/>
                    <a:lstStyle/>
                    <a:p>
                      <a:pPr marL="0" lvl="0" indent="0" algn="r" rtl="0">
                        <a:lnSpc>
                          <a:spcPct val="115000"/>
                        </a:lnSpc>
                        <a:spcBef>
                          <a:spcPts val="0"/>
                        </a:spcBef>
                        <a:spcAft>
                          <a:spcPts val="0"/>
                        </a:spcAft>
                        <a:buNone/>
                      </a:pPr>
                      <a:r>
                        <a:rPr lang="en" sz="1000"/>
                        <a:t>0.85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0.667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0.308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26553">
                <a:tc>
                  <a:txBody>
                    <a:bodyPr/>
                    <a:lstStyle/>
                    <a:p>
                      <a:pPr marL="0" lvl="0" indent="0" algn="r" rtl="0">
                        <a:lnSpc>
                          <a:spcPct val="115000"/>
                        </a:lnSpc>
                        <a:spcBef>
                          <a:spcPts val="0"/>
                        </a:spcBef>
                        <a:spcAft>
                          <a:spcPts val="0"/>
                        </a:spcAft>
                        <a:buNone/>
                      </a:pPr>
                      <a:r>
                        <a:rPr lang="en" sz="1000"/>
                        <a:t>0.80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0.429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26553">
                <a:tc>
                  <a:txBody>
                    <a:bodyPr/>
                    <a:lstStyle/>
                    <a:p>
                      <a:pPr marL="0" lvl="0" indent="0" algn="r" rtl="0">
                        <a:lnSpc>
                          <a:spcPct val="115000"/>
                        </a:lnSpc>
                        <a:spcBef>
                          <a:spcPts val="0"/>
                        </a:spcBef>
                        <a:spcAft>
                          <a:spcPts val="0"/>
                        </a:spcAft>
                        <a:buNone/>
                      </a:pPr>
                      <a:r>
                        <a:rPr lang="en" sz="1000"/>
                        <a:t>0.75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0.533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226553">
                <a:tc>
                  <a:txBody>
                    <a:bodyPr/>
                    <a:lstStyle/>
                    <a:p>
                      <a:pPr marL="0" lvl="0" indent="0" algn="r" rtl="0">
                        <a:lnSpc>
                          <a:spcPct val="115000"/>
                        </a:lnSpc>
                        <a:spcBef>
                          <a:spcPts val="0"/>
                        </a:spcBef>
                        <a:spcAft>
                          <a:spcPts val="0"/>
                        </a:spcAft>
                        <a:buNone/>
                      </a:pPr>
                      <a:r>
                        <a:rPr lang="en" sz="1000"/>
                        <a:t>0.70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0.833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0.625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226553">
                <a:tc>
                  <a:txBody>
                    <a:bodyPr/>
                    <a:lstStyle/>
                    <a:p>
                      <a:pPr marL="0" lvl="0" indent="0" algn="r" rtl="0">
                        <a:lnSpc>
                          <a:spcPct val="115000"/>
                        </a:lnSpc>
                        <a:spcBef>
                          <a:spcPts val="0"/>
                        </a:spcBef>
                        <a:spcAft>
                          <a:spcPts val="0"/>
                        </a:spcAft>
                        <a:buNone/>
                      </a:pPr>
                      <a:r>
                        <a:rPr lang="en" sz="1000"/>
                        <a:t>0.65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0.714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0.588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226553">
                <a:tc>
                  <a:txBody>
                    <a:bodyPr/>
                    <a:lstStyle/>
                    <a:p>
                      <a:pPr marL="0" lvl="0" indent="0" algn="r" rtl="0">
                        <a:lnSpc>
                          <a:spcPct val="115000"/>
                        </a:lnSpc>
                        <a:spcBef>
                          <a:spcPts val="0"/>
                        </a:spcBef>
                        <a:spcAft>
                          <a:spcPts val="0"/>
                        </a:spcAft>
                        <a:buNone/>
                      </a:pPr>
                      <a:r>
                        <a:rPr lang="en" sz="1000"/>
                        <a:t>0.60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0.667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r h="226553">
                <a:tc>
                  <a:txBody>
                    <a:bodyPr/>
                    <a:lstStyle/>
                    <a:p>
                      <a:pPr marL="0" lvl="0" indent="0" algn="r" rtl="0">
                        <a:lnSpc>
                          <a:spcPct val="115000"/>
                        </a:lnSpc>
                        <a:spcBef>
                          <a:spcPts val="0"/>
                        </a:spcBef>
                        <a:spcAft>
                          <a:spcPts val="0"/>
                        </a:spcAft>
                        <a:buNone/>
                      </a:pPr>
                      <a:r>
                        <a:rPr lang="en" sz="1000"/>
                        <a:t>0.55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0.778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0.737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0"/>
                  </a:ext>
                </a:extLst>
              </a:tr>
              <a:tr h="226553">
                <a:tc>
                  <a:txBody>
                    <a:bodyPr/>
                    <a:lstStyle/>
                    <a:p>
                      <a:pPr marL="0" lvl="0" indent="0" algn="r" rtl="0">
                        <a:lnSpc>
                          <a:spcPct val="115000"/>
                        </a:lnSpc>
                        <a:spcBef>
                          <a:spcPts val="0"/>
                        </a:spcBef>
                        <a:spcAft>
                          <a:spcPts val="0"/>
                        </a:spcAft>
                        <a:buNone/>
                      </a:pPr>
                      <a:r>
                        <a:rPr lang="en" sz="1000"/>
                        <a:t>0.50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dirty="0"/>
                        <a:t>8</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1"/>
                  </a:ext>
                </a:extLst>
              </a:tr>
              <a:tr h="226553">
                <a:tc>
                  <a:txBody>
                    <a:bodyPr/>
                    <a:lstStyle/>
                    <a:p>
                      <a:pPr marL="0" lvl="0" indent="0" algn="r" rtl="0">
                        <a:lnSpc>
                          <a:spcPct val="115000"/>
                        </a:lnSpc>
                        <a:spcBef>
                          <a:spcPts val="0"/>
                        </a:spcBef>
                        <a:spcAft>
                          <a:spcPts val="0"/>
                        </a:spcAft>
                        <a:buNone/>
                      </a:pPr>
                      <a:r>
                        <a:rPr lang="en" sz="1000"/>
                        <a:t>0.45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0.818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0.857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2"/>
                  </a:ext>
                </a:extLst>
              </a:tr>
              <a:tr h="226553">
                <a:tc>
                  <a:txBody>
                    <a:bodyPr/>
                    <a:lstStyle/>
                    <a:p>
                      <a:pPr marL="0" lvl="0" indent="0" algn="r" rtl="0">
                        <a:lnSpc>
                          <a:spcPct val="115000"/>
                        </a:lnSpc>
                        <a:spcBef>
                          <a:spcPts val="0"/>
                        </a:spcBef>
                        <a:spcAft>
                          <a:spcPts val="0"/>
                        </a:spcAft>
                        <a:buNone/>
                      </a:pPr>
                      <a:r>
                        <a:rPr lang="en" sz="1000"/>
                        <a:t>0.40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0.818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3"/>
                  </a:ext>
                </a:extLst>
              </a:tr>
              <a:tr h="226553">
                <a:tc>
                  <a:txBody>
                    <a:bodyPr/>
                    <a:lstStyle/>
                    <a:p>
                      <a:pPr marL="0" lvl="0" indent="0" algn="r" rtl="0">
                        <a:lnSpc>
                          <a:spcPct val="115000"/>
                        </a:lnSpc>
                        <a:spcBef>
                          <a:spcPts val="0"/>
                        </a:spcBef>
                        <a:spcAft>
                          <a:spcPts val="0"/>
                        </a:spcAft>
                        <a:buNone/>
                      </a:pPr>
                      <a:r>
                        <a:rPr lang="en" sz="1000"/>
                        <a:t>0.35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0.692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0.783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4"/>
                  </a:ext>
                </a:extLst>
              </a:tr>
              <a:tr h="226553">
                <a:tc>
                  <a:txBody>
                    <a:bodyPr/>
                    <a:lstStyle/>
                    <a:p>
                      <a:pPr marL="0" lvl="0" indent="0" algn="r" rtl="0">
                        <a:lnSpc>
                          <a:spcPct val="115000"/>
                        </a:lnSpc>
                        <a:spcBef>
                          <a:spcPts val="0"/>
                        </a:spcBef>
                        <a:spcAft>
                          <a:spcPts val="0"/>
                        </a:spcAft>
                        <a:buNone/>
                      </a:pPr>
                      <a:r>
                        <a:rPr lang="en" sz="1000"/>
                        <a:t>0.30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0.643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5"/>
                  </a:ext>
                </a:extLst>
              </a:tr>
              <a:tr h="226553">
                <a:tc>
                  <a:txBody>
                    <a:bodyPr/>
                    <a:lstStyle/>
                    <a:p>
                      <a:pPr marL="0" lvl="0" indent="0" algn="r" rtl="0">
                        <a:lnSpc>
                          <a:spcPct val="115000"/>
                        </a:lnSpc>
                        <a:spcBef>
                          <a:spcPts val="0"/>
                        </a:spcBef>
                        <a:spcAft>
                          <a:spcPts val="0"/>
                        </a:spcAft>
                        <a:buNone/>
                      </a:pPr>
                      <a:r>
                        <a:rPr lang="en" sz="1000"/>
                        <a:t>0.25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0.4</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0.720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6"/>
                  </a:ext>
                </a:extLst>
              </a:tr>
              <a:tr h="226553">
                <a:tc>
                  <a:txBody>
                    <a:bodyPr/>
                    <a:lstStyle/>
                    <a:p>
                      <a:pPr marL="0" lvl="0" indent="0" algn="r" rtl="0">
                        <a:lnSpc>
                          <a:spcPct val="115000"/>
                        </a:lnSpc>
                        <a:spcBef>
                          <a:spcPts val="0"/>
                        </a:spcBef>
                        <a:spcAft>
                          <a:spcPts val="0"/>
                        </a:spcAft>
                        <a:buNone/>
                      </a:pPr>
                      <a:r>
                        <a:rPr lang="en" sz="1000"/>
                        <a:t>0.20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0.562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0.692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7"/>
                  </a:ext>
                </a:extLst>
              </a:tr>
              <a:tr h="226553">
                <a:tc>
                  <a:txBody>
                    <a:bodyPr/>
                    <a:lstStyle/>
                    <a:p>
                      <a:pPr marL="0" lvl="0" indent="0" algn="r" rtl="0">
                        <a:lnSpc>
                          <a:spcPct val="115000"/>
                        </a:lnSpc>
                        <a:spcBef>
                          <a:spcPts val="0"/>
                        </a:spcBef>
                        <a:spcAft>
                          <a:spcPts val="0"/>
                        </a:spcAft>
                        <a:buNone/>
                      </a:pPr>
                      <a:r>
                        <a:rPr lang="en" sz="1000"/>
                        <a:t>0.15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8</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0.529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0.2</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0.667</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8"/>
                  </a:ext>
                </a:extLst>
              </a:tr>
              <a:tr h="226553">
                <a:tc>
                  <a:txBody>
                    <a:bodyPr/>
                    <a:lstStyle/>
                    <a:p>
                      <a:pPr marL="0" lvl="0" indent="0" algn="r" rtl="0">
                        <a:lnSpc>
                          <a:spcPct val="115000"/>
                        </a:lnSpc>
                        <a:spcBef>
                          <a:spcPts val="0"/>
                        </a:spcBef>
                        <a:spcAft>
                          <a:spcPts val="0"/>
                        </a:spcAft>
                        <a:buNone/>
                      </a:pPr>
                      <a:r>
                        <a:rPr lang="en" sz="1000"/>
                        <a:t>0.10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0.643</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9"/>
                  </a:ext>
                </a:extLst>
              </a:tr>
              <a:tr h="226553">
                <a:tc>
                  <a:txBody>
                    <a:bodyPr/>
                    <a:lstStyle/>
                    <a:p>
                      <a:pPr marL="0" lvl="0" indent="0" algn="r" rtl="0">
                        <a:lnSpc>
                          <a:spcPct val="115000"/>
                        </a:lnSpc>
                        <a:spcBef>
                          <a:spcPts val="0"/>
                        </a:spcBef>
                        <a:spcAft>
                          <a:spcPts val="0"/>
                        </a:spcAft>
                        <a:buNone/>
                      </a:pPr>
                      <a:r>
                        <a:rPr lang="en" sz="1000"/>
                        <a:t>0.05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9</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0.55</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0.526</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0.690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20"/>
                  </a:ext>
                </a:extLst>
              </a:tr>
              <a:tr h="226553">
                <a:tc>
                  <a:txBody>
                    <a:bodyPr/>
                    <a:lstStyle/>
                    <a:p>
                      <a:pPr marL="0" lvl="0" indent="0" algn="r" rtl="0">
                        <a:lnSpc>
                          <a:spcPct val="115000"/>
                        </a:lnSpc>
                        <a:spcBef>
                          <a:spcPts val="0"/>
                        </a:spcBef>
                        <a:spcAft>
                          <a:spcPts val="0"/>
                        </a:spcAft>
                        <a:buNone/>
                      </a:pPr>
                      <a:r>
                        <a:rPr lang="en" sz="1000"/>
                        <a:t>0.00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0.500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1</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a:t>0</a:t>
                      </a:r>
                      <a:endParaRPr sz="100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1000" dirty="0"/>
                        <a:t>0.667</a:t>
                      </a:r>
                      <a:endParaRPr sz="1000" dirty="0"/>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21"/>
                  </a:ext>
                </a:extLst>
              </a:tr>
            </a:tbl>
          </a:graphicData>
        </a:graphic>
      </p:graphicFrame>
      <p:grpSp>
        <p:nvGrpSpPr>
          <p:cNvPr id="52" name="Group 51">
            <a:extLst>
              <a:ext uri="{FF2B5EF4-FFF2-40B4-BE49-F238E27FC236}">
                <a16:creationId xmlns:a16="http://schemas.microsoft.com/office/drawing/2014/main" id="{97A48953-1DD7-079A-3720-905BF1BE07ED}"/>
              </a:ext>
            </a:extLst>
          </p:cNvPr>
          <p:cNvGrpSpPr/>
          <p:nvPr/>
        </p:nvGrpSpPr>
        <p:grpSpPr>
          <a:xfrm>
            <a:off x="480847" y="940676"/>
            <a:ext cx="3147809" cy="5135345"/>
            <a:chOff x="464126" y="1271925"/>
            <a:chExt cx="1983124" cy="2899996"/>
          </a:xfrm>
        </p:grpSpPr>
        <p:cxnSp>
          <p:nvCxnSpPr>
            <p:cNvPr id="53" name="Google Shape;601;p31">
              <a:extLst>
                <a:ext uri="{FF2B5EF4-FFF2-40B4-BE49-F238E27FC236}">
                  <a16:creationId xmlns:a16="http://schemas.microsoft.com/office/drawing/2014/main" id="{094273FF-E6CF-6BC4-4B34-1646DD4D89C0}"/>
                </a:ext>
              </a:extLst>
            </p:cNvPr>
            <p:cNvCxnSpPr/>
            <p:nvPr/>
          </p:nvCxnSpPr>
          <p:spPr>
            <a:xfrm>
              <a:off x="1600675" y="1502700"/>
              <a:ext cx="4200" cy="2567400"/>
            </a:xfrm>
            <a:prstGeom prst="straightConnector1">
              <a:avLst/>
            </a:prstGeom>
            <a:noFill/>
            <a:ln w="9525" cap="flat" cmpd="sng">
              <a:solidFill>
                <a:schemeClr val="dk2"/>
              </a:solidFill>
              <a:prstDash val="solid"/>
              <a:round/>
              <a:headEnd type="none" w="med" len="med"/>
              <a:tailEnd type="none" w="med" len="med"/>
            </a:ln>
          </p:spPr>
        </p:cxnSp>
        <p:sp>
          <p:nvSpPr>
            <p:cNvPr id="54" name="Google Shape;602;p31">
              <a:extLst>
                <a:ext uri="{FF2B5EF4-FFF2-40B4-BE49-F238E27FC236}">
                  <a16:creationId xmlns:a16="http://schemas.microsoft.com/office/drawing/2014/main" id="{6EC44EE7-E5A0-E638-57F8-5A2E30424158}"/>
                </a:ext>
              </a:extLst>
            </p:cNvPr>
            <p:cNvSpPr/>
            <p:nvPr/>
          </p:nvSpPr>
          <p:spPr>
            <a:xfrm>
              <a:off x="1561975" y="17494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5" name="Google Shape;603;p31">
              <a:extLst>
                <a:ext uri="{FF2B5EF4-FFF2-40B4-BE49-F238E27FC236}">
                  <a16:creationId xmlns:a16="http://schemas.microsoft.com/office/drawing/2014/main" id="{176F6339-13E6-2835-F9A9-6ED071142AA6}"/>
                </a:ext>
              </a:extLst>
            </p:cNvPr>
            <p:cNvSpPr/>
            <p:nvPr/>
          </p:nvSpPr>
          <p:spPr>
            <a:xfrm>
              <a:off x="1559400" y="22453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6" name="Google Shape;604;p31">
              <a:extLst>
                <a:ext uri="{FF2B5EF4-FFF2-40B4-BE49-F238E27FC236}">
                  <a16:creationId xmlns:a16="http://schemas.microsoft.com/office/drawing/2014/main" id="{488E8CDB-EBA8-9B0C-B6B4-21AFB555FF9B}"/>
                </a:ext>
              </a:extLst>
            </p:cNvPr>
            <p:cNvSpPr/>
            <p:nvPr/>
          </p:nvSpPr>
          <p:spPr>
            <a:xfrm>
              <a:off x="1559400" y="28174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7" name="Google Shape;605;p31">
              <a:extLst>
                <a:ext uri="{FF2B5EF4-FFF2-40B4-BE49-F238E27FC236}">
                  <a16:creationId xmlns:a16="http://schemas.microsoft.com/office/drawing/2014/main" id="{10D6EA0D-EF79-E8C7-E4C3-D5834D05F3CB}"/>
                </a:ext>
              </a:extLst>
            </p:cNvPr>
            <p:cNvSpPr/>
            <p:nvPr/>
          </p:nvSpPr>
          <p:spPr>
            <a:xfrm>
              <a:off x="1561975" y="302037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8" name="Google Shape;606;p31">
              <a:extLst>
                <a:ext uri="{FF2B5EF4-FFF2-40B4-BE49-F238E27FC236}">
                  <a16:creationId xmlns:a16="http://schemas.microsoft.com/office/drawing/2014/main" id="{0D7E97EF-EE34-0B96-BC48-3AFF2DC13918}"/>
                </a:ext>
              </a:extLst>
            </p:cNvPr>
            <p:cNvSpPr/>
            <p:nvPr/>
          </p:nvSpPr>
          <p:spPr>
            <a:xfrm>
              <a:off x="1559400" y="32371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59" name="Google Shape;607;p31">
              <a:extLst>
                <a:ext uri="{FF2B5EF4-FFF2-40B4-BE49-F238E27FC236}">
                  <a16:creationId xmlns:a16="http://schemas.microsoft.com/office/drawing/2014/main" id="{7D910FFF-191E-424E-E761-1C66B5AA7476}"/>
                </a:ext>
              </a:extLst>
            </p:cNvPr>
            <p:cNvSpPr/>
            <p:nvPr/>
          </p:nvSpPr>
          <p:spPr>
            <a:xfrm>
              <a:off x="1559400" y="340250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0" name="Google Shape;608;p31">
              <a:extLst>
                <a:ext uri="{FF2B5EF4-FFF2-40B4-BE49-F238E27FC236}">
                  <a16:creationId xmlns:a16="http://schemas.microsoft.com/office/drawing/2014/main" id="{211BF11D-BDB4-4D09-7BA4-EC84B469B023}"/>
                </a:ext>
              </a:extLst>
            </p:cNvPr>
            <p:cNvSpPr/>
            <p:nvPr/>
          </p:nvSpPr>
          <p:spPr>
            <a:xfrm>
              <a:off x="1561975" y="351192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1" name="Google Shape;609;p31">
              <a:extLst>
                <a:ext uri="{FF2B5EF4-FFF2-40B4-BE49-F238E27FC236}">
                  <a16:creationId xmlns:a16="http://schemas.microsoft.com/office/drawing/2014/main" id="{BA08EBCB-DE61-CCB2-E8D5-0FFAB2965F02}"/>
                </a:ext>
              </a:extLst>
            </p:cNvPr>
            <p:cNvSpPr/>
            <p:nvPr/>
          </p:nvSpPr>
          <p:spPr>
            <a:xfrm>
              <a:off x="1559400" y="3621350"/>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2" name="Google Shape;610;p31">
              <a:extLst>
                <a:ext uri="{FF2B5EF4-FFF2-40B4-BE49-F238E27FC236}">
                  <a16:creationId xmlns:a16="http://schemas.microsoft.com/office/drawing/2014/main" id="{94A91763-E3AF-453E-4F78-8CD10B21C326}"/>
                </a:ext>
              </a:extLst>
            </p:cNvPr>
            <p:cNvSpPr/>
            <p:nvPr/>
          </p:nvSpPr>
          <p:spPr>
            <a:xfrm>
              <a:off x="1559400" y="374802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3" name="Google Shape;611;p31">
              <a:extLst>
                <a:ext uri="{FF2B5EF4-FFF2-40B4-BE49-F238E27FC236}">
                  <a16:creationId xmlns:a16="http://schemas.microsoft.com/office/drawing/2014/main" id="{FD53781B-D742-D319-CA40-9871B7EC3974}"/>
                </a:ext>
              </a:extLst>
            </p:cNvPr>
            <p:cNvSpPr/>
            <p:nvPr/>
          </p:nvSpPr>
          <p:spPr>
            <a:xfrm>
              <a:off x="1559400" y="3917575"/>
              <a:ext cx="81600" cy="90300"/>
            </a:xfrm>
            <a:prstGeom prst="flowChartConnector">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4" name="Google Shape;612;p31">
              <a:extLst>
                <a:ext uri="{FF2B5EF4-FFF2-40B4-BE49-F238E27FC236}">
                  <a16:creationId xmlns:a16="http://schemas.microsoft.com/office/drawing/2014/main" id="{E7DF3BD1-B3AD-C68C-77E7-D971C14D525C}"/>
                </a:ext>
              </a:extLst>
            </p:cNvPr>
            <p:cNvSpPr/>
            <p:nvPr/>
          </p:nvSpPr>
          <p:spPr>
            <a:xfrm>
              <a:off x="1559400" y="153922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5" name="Google Shape;613;p31">
              <a:extLst>
                <a:ext uri="{FF2B5EF4-FFF2-40B4-BE49-F238E27FC236}">
                  <a16:creationId xmlns:a16="http://schemas.microsoft.com/office/drawing/2014/main" id="{9A5295D4-EC1E-85FB-8B12-901BB71DBB98}"/>
                </a:ext>
              </a:extLst>
            </p:cNvPr>
            <p:cNvSpPr/>
            <p:nvPr/>
          </p:nvSpPr>
          <p:spPr>
            <a:xfrm>
              <a:off x="1559400" y="1644338"/>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6" name="Google Shape;614;p31">
              <a:extLst>
                <a:ext uri="{FF2B5EF4-FFF2-40B4-BE49-F238E27FC236}">
                  <a16:creationId xmlns:a16="http://schemas.microsoft.com/office/drawing/2014/main" id="{791FDF59-519D-9283-46B9-C153E25F3668}"/>
                </a:ext>
              </a:extLst>
            </p:cNvPr>
            <p:cNvSpPr/>
            <p:nvPr/>
          </p:nvSpPr>
          <p:spPr>
            <a:xfrm>
              <a:off x="1561975" y="185455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7" name="Google Shape;615;p31">
              <a:extLst>
                <a:ext uri="{FF2B5EF4-FFF2-40B4-BE49-F238E27FC236}">
                  <a16:creationId xmlns:a16="http://schemas.microsoft.com/office/drawing/2014/main" id="{18653A73-C32E-DC87-5C78-E849F68F4CD7}"/>
                </a:ext>
              </a:extLst>
            </p:cNvPr>
            <p:cNvSpPr/>
            <p:nvPr/>
          </p:nvSpPr>
          <p:spPr>
            <a:xfrm>
              <a:off x="1561975" y="199740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8" name="Google Shape;616;p31">
              <a:extLst>
                <a:ext uri="{FF2B5EF4-FFF2-40B4-BE49-F238E27FC236}">
                  <a16:creationId xmlns:a16="http://schemas.microsoft.com/office/drawing/2014/main" id="{0A415E72-4354-432B-C30F-685664FA291A}"/>
                </a:ext>
              </a:extLst>
            </p:cNvPr>
            <p:cNvSpPr/>
            <p:nvPr/>
          </p:nvSpPr>
          <p:spPr>
            <a:xfrm>
              <a:off x="1561975" y="212137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69" name="Google Shape;617;p31">
              <a:extLst>
                <a:ext uri="{FF2B5EF4-FFF2-40B4-BE49-F238E27FC236}">
                  <a16:creationId xmlns:a16="http://schemas.microsoft.com/office/drawing/2014/main" id="{82A9C441-E3AE-5924-92D0-5F9FA768D8E6}"/>
                </a:ext>
              </a:extLst>
            </p:cNvPr>
            <p:cNvSpPr/>
            <p:nvPr/>
          </p:nvSpPr>
          <p:spPr>
            <a:xfrm>
              <a:off x="1559400" y="236932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70" name="Google Shape;618;p31">
              <a:extLst>
                <a:ext uri="{FF2B5EF4-FFF2-40B4-BE49-F238E27FC236}">
                  <a16:creationId xmlns:a16="http://schemas.microsoft.com/office/drawing/2014/main" id="{D5F39FDC-4432-F748-5320-60798D31991D}"/>
                </a:ext>
              </a:extLst>
            </p:cNvPr>
            <p:cNvSpPr/>
            <p:nvPr/>
          </p:nvSpPr>
          <p:spPr>
            <a:xfrm>
              <a:off x="1559400" y="2671563"/>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71" name="Google Shape;619;p31">
              <a:extLst>
                <a:ext uri="{FF2B5EF4-FFF2-40B4-BE49-F238E27FC236}">
                  <a16:creationId xmlns:a16="http://schemas.microsoft.com/office/drawing/2014/main" id="{C97AADCB-1A06-4E4B-959F-86016E363998}"/>
                </a:ext>
              </a:extLst>
            </p:cNvPr>
            <p:cNvSpPr/>
            <p:nvPr/>
          </p:nvSpPr>
          <p:spPr>
            <a:xfrm>
              <a:off x="1561975" y="384020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72" name="Google Shape;620;p31">
              <a:extLst>
                <a:ext uri="{FF2B5EF4-FFF2-40B4-BE49-F238E27FC236}">
                  <a16:creationId xmlns:a16="http://schemas.microsoft.com/office/drawing/2014/main" id="{F5831875-9D11-985C-D0D1-DFD957E41BAF}"/>
                </a:ext>
              </a:extLst>
            </p:cNvPr>
            <p:cNvSpPr/>
            <p:nvPr/>
          </p:nvSpPr>
          <p:spPr>
            <a:xfrm>
              <a:off x="1559400" y="2493300"/>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73" name="Google Shape;621;p31">
              <a:extLst>
                <a:ext uri="{FF2B5EF4-FFF2-40B4-BE49-F238E27FC236}">
                  <a16:creationId xmlns:a16="http://schemas.microsoft.com/office/drawing/2014/main" id="{6E4BCC9C-50C2-E20E-97E1-04B7013BBD0D}"/>
                </a:ext>
              </a:extLst>
            </p:cNvPr>
            <p:cNvSpPr/>
            <p:nvPr/>
          </p:nvSpPr>
          <p:spPr>
            <a:xfrm>
              <a:off x="1559400" y="2617275"/>
              <a:ext cx="81600" cy="90300"/>
            </a:xfrm>
            <a:prstGeom prst="flowChartConnector">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b="1">
                <a:latin typeface="Cambria Math" panose="02040503050406030204" pitchFamily="18" charset="0"/>
                <a:ea typeface="Cambria Math" panose="02040503050406030204" pitchFamily="18" charset="0"/>
              </a:endParaRPr>
            </a:p>
          </p:txBody>
        </p:sp>
        <p:sp>
          <p:nvSpPr>
            <p:cNvPr id="74" name="Google Shape;622;p31">
              <a:extLst>
                <a:ext uri="{FF2B5EF4-FFF2-40B4-BE49-F238E27FC236}">
                  <a16:creationId xmlns:a16="http://schemas.microsoft.com/office/drawing/2014/main" id="{56688FFD-9589-5070-3FF8-35BC69F8565F}"/>
                </a:ext>
              </a:extLst>
            </p:cNvPr>
            <p:cNvSpPr txBox="1"/>
            <p:nvPr/>
          </p:nvSpPr>
          <p:spPr>
            <a:xfrm>
              <a:off x="1275150" y="1271925"/>
              <a:ext cx="1172100" cy="1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latin typeface="Cambria Math" panose="02040503050406030204" pitchFamily="18" charset="0"/>
                  <a:ea typeface="Cambria Math" panose="02040503050406030204" pitchFamily="18" charset="0"/>
                </a:rPr>
                <a:t>Score = 1</a:t>
              </a:r>
              <a:endParaRPr sz="1200" b="1">
                <a:latin typeface="Cambria Math" panose="02040503050406030204" pitchFamily="18" charset="0"/>
                <a:ea typeface="Cambria Math" panose="02040503050406030204" pitchFamily="18" charset="0"/>
              </a:endParaRPr>
            </a:p>
          </p:txBody>
        </p:sp>
        <p:sp>
          <p:nvSpPr>
            <p:cNvPr id="75" name="Google Shape;623;p31">
              <a:extLst>
                <a:ext uri="{FF2B5EF4-FFF2-40B4-BE49-F238E27FC236}">
                  <a16:creationId xmlns:a16="http://schemas.microsoft.com/office/drawing/2014/main" id="{52BA807F-18F1-DD86-99D3-71BD8455067C}"/>
                </a:ext>
              </a:extLst>
            </p:cNvPr>
            <p:cNvSpPr txBox="1"/>
            <p:nvPr/>
          </p:nvSpPr>
          <p:spPr>
            <a:xfrm>
              <a:off x="1275150" y="4015125"/>
              <a:ext cx="1172100" cy="1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latin typeface="Cambria Math" panose="02040503050406030204" pitchFamily="18" charset="0"/>
                  <a:ea typeface="Cambria Math" panose="02040503050406030204" pitchFamily="18" charset="0"/>
                </a:rPr>
                <a:t>Score = 0</a:t>
              </a:r>
              <a:endParaRPr sz="1200" b="1">
                <a:latin typeface="Cambria Math" panose="02040503050406030204" pitchFamily="18" charset="0"/>
                <a:ea typeface="Cambria Math" panose="02040503050406030204" pitchFamily="18" charset="0"/>
              </a:endParaRPr>
            </a:p>
          </p:txBody>
        </p:sp>
        <p:cxnSp>
          <p:nvCxnSpPr>
            <p:cNvPr id="76" name="Google Shape;624;p31">
              <a:extLst>
                <a:ext uri="{FF2B5EF4-FFF2-40B4-BE49-F238E27FC236}">
                  <a16:creationId xmlns:a16="http://schemas.microsoft.com/office/drawing/2014/main" id="{6F482068-ADFE-64D7-1E1B-0C9823C43B27}"/>
                </a:ext>
              </a:extLst>
            </p:cNvPr>
            <p:cNvCxnSpPr/>
            <p:nvPr/>
          </p:nvCxnSpPr>
          <p:spPr>
            <a:xfrm rot="10800000" flipH="1">
              <a:off x="1167025" y="151363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7" name="Google Shape;625;p31">
              <a:extLst>
                <a:ext uri="{FF2B5EF4-FFF2-40B4-BE49-F238E27FC236}">
                  <a16:creationId xmlns:a16="http://schemas.microsoft.com/office/drawing/2014/main" id="{50C76FBE-7D2C-C6E5-71C5-FDE22DE675AA}"/>
                </a:ext>
              </a:extLst>
            </p:cNvPr>
            <p:cNvCxnSpPr/>
            <p:nvPr/>
          </p:nvCxnSpPr>
          <p:spPr>
            <a:xfrm rot="10800000" flipH="1">
              <a:off x="1164450" y="162567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8" name="Google Shape;626;p31">
              <a:extLst>
                <a:ext uri="{FF2B5EF4-FFF2-40B4-BE49-F238E27FC236}">
                  <a16:creationId xmlns:a16="http://schemas.microsoft.com/office/drawing/2014/main" id="{82012E7E-4FF8-11D6-240C-45D015639BAF}"/>
                </a:ext>
              </a:extLst>
            </p:cNvPr>
            <p:cNvCxnSpPr/>
            <p:nvPr/>
          </p:nvCxnSpPr>
          <p:spPr>
            <a:xfrm rot="10800000" flipH="1">
              <a:off x="1167025" y="17376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79" name="Google Shape;627;p31">
              <a:extLst>
                <a:ext uri="{FF2B5EF4-FFF2-40B4-BE49-F238E27FC236}">
                  <a16:creationId xmlns:a16="http://schemas.microsoft.com/office/drawing/2014/main" id="{AFC1DE98-947E-53FA-20C1-88222D52D269}"/>
                </a:ext>
              </a:extLst>
            </p:cNvPr>
            <p:cNvCxnSpPr/>
            <p:nvPr/>
          </p:nvCxnSpPr>
          <p:spPr>
            <a:xfrm rot="10800000" flipH="1">
              <a:off x="1164450" y="18428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0" name="Google Shape;628;p31">
              <a:extLst>
                <a:ext uri="{FF2B5EF4-FFF2-40B4-BE49-F238E27FC236}">
                  <a16:creationId xmlns:a16="http://schemas.microsoft.com/office/drawing/2014/main" id="{CA114D87-7440-D0EF-2E75-2A1F648FCDE6}"/>
                </a:ext>
              </a:extLst>
            </p:cNvPr>
            <p:cNvCxnSpPr/>
            <p:nvPr/>
          </p:nvCxnSpPr>
          <p:spPr>
            <a:xfrm rot="10800000" flipH="1">
              <a:off x="1167025" y="196677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1" name="Google Shape;629;p31">
              <a:extLst>
                <a:ext uri="{FF2B5EF4-FFF2-40B4-BE49-F238E27FC236}">
                  <a16:creationId xmlns:a16="http://schemas.microsoft.com/office/drawing/2014/main" id="{86D0847E-A07E-8300-E662-B514B5B2A576}"/>
                </a:ext>
              </a:extLst>
            </p:cNvPr>
            <p:cNvCxnSpPr/>
            <p:nvPr/>
          </p:nvCxnSpPr>
          <p:spPr>
            <a:xfrm rot="10800000" flipH="1">
              <a:off x="1167775" y="21001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2" name="Google Shape;630;p31">
              <a:extLst>
                <a:ext uri="{FF2B5EF4-FFF2-40B4-BE49-F238E27FC236}">
                  <a16:creationId xmlns:a16="http://schemas.microsoft.com/office/drawing/2014/main" id="{B8DDE598-D0CC-9309-A3E8-CAB195FABF2A}"/>
                </a:ext>
              </a:extLst>
            </p:cNvPr>
            <p:cNvCxnSpPr/>
            <p:nvPr/>
          </p:nvCxnSpPr>
          <p:spPr>
            <a:xfrm rot="10800000" flipH="1">
              <a:off x="1167775" y="22241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3" name="Google Shape;631;p31">
              <a:extLst>
                <a:ext uri="{FF2B5EF4-FFF2-40B4-BE49-F238E27FC236}">
                  <a16:creationId xmlns:a16="http://schemas.microsoft.com/office/drawing/2014/main" id="{C0C22B4D-8421-1BE5-CD07-40A87357C316}"/>
                </a:ext>
              </a:extLst>
            </p:cNvPr>
            <p:cNvCxnSpPr/>
            <p:nvPr/>
          </p:nvCxnSpPr>
          <p:spPr>
            <a:xfrm rot="10800000" flipH="1">
              <a:off x="1164450" y="234813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4" name="Google Shape;632;p31">
              <a:extLst>
                <a:ext uri="{FF2B5EF4-FFF2-40B4-BE49-F238E27FC236}">
                  <a16:creationId xmlns:a16="http://schemas.microsoft.com/office/drawing/2014/main" id="{9A8A53C8-3A20-4343-EEFA-BE3C46582D6F}"/>
                </a:ext>
              </a:extLst>
            </p:cNvPr>
            <p:cNvCxnSpPr/>
            <p:nvPr/>
          </p:nvCxnSpPr>
          <p:spPr>
            <a:xfrm rot="10800000" flipH="1">
              <a:off x="1167775" y="247211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5" name="Google Shape;633;p31">
              <a:extLst>
                <a:ext uri="{FF2B5EF4-FFF2-40B4-BE49-F238E27FC236}">
                  <a16:creationId xmlns:a16="http://schemas.microsoft.com/office/drawing/2014/main" id="{BF41BF49-27AB-5641-CC12-0C166C83C8E9}"/>
                </a:ext>
              </a:extLst>
            </p:cNvPr>
            <p:cNvCxnSpPr/>
            <p:nvPr/>
          </p:nvCxnSpPr>
          <p:spPr>
            <a:xfrm rot="10800000" flipH="1">
              <a:off x="1167775" y="25960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6" name="Google Shape;634;p31">
              <a:extLst>
                <a:ext uri="{FF2B5EF4-FFF2-40B4-BE49-F238E27FC236}">
                  <a16:creationId xmlns:a16="http://schemas.microsoft.com/office/drawing/2014/main" id="{9BC262D1-DAF0-5121-12AE-E3BCCA9F866B}"/>
                </a:ext>
              </a:extLst>
            </p:cNvPr>
            <p:cNvCxnSpPr/>
            <p:nvPr/>
          </p:nvCxnSpPr>
          <p:spPr>
            <a:xfrm rot="10800000" flipH="1">
              <a:off x="1164450" y="27067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7" name="Google Shape;635;p31">
              <a:extLst>
                <a:ext uri="{FF2B5EF4-FFF2-40B4-BE49-F238E27FC236}">
                  <a16:creationId xmlns:a16="http://schemas.microsoft.com/office/drawing/2014/main" id="{8000F557-0DEB-8787-B80E-8B17B4A2A937}"/>
                </a:ext>
              </a:extLst>
            </p:cNvPr>
            <p:cNvCxnSpPr/>
            <p:nvPr/>
          </p:nvCxnSpPr>
          <p:spPr>
            <a:xfrm rot="10800000" flipH="1">
              <a:off x="1167775" y="280822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8" name="Google Shape;636;p31">
              <a:extLst>
                <a:ext uri="{FF2B5EF4-FFF2-40B4-BE49-F238E27FC236}">
                  <a16:creationId xmlns:a16="http://schemas.microsoft.com/office/drawing/2014/main" id="{DDD914BF-0E3C-94BF-BEAD-1B2EDAE9FC36}"/>
                </a:ext>
              </a:extLst>
            </p:cNvPr>
            <p:cNvCxnSpPr/>
            <p:nvPr/>
          </p:nvCxnSpPr>
          <p:spPr>
            <a:xfrm rot="10800000" flipH="1">
              <a:off x="1167775" y="29597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89" name="Google Shape;637;p31">
              <a:extLst>
                <a:ext uri="{FF2B5EF4-FFF2-40B4-BE49-F238E27FC236}">
                  <a16:creationId xmlns:a16="http://schemas.microsoft.com/office/drawing/2014/main" id="{2636E8B9-C43D-039A-6755-D24C756AC5F1}"/>
                </a:ext>
              </a:extLst>
            </p:cNvPr>
            <p:cNvCxnSpPr/>
            <p:nvPr/>
          </p:nvCxnSpPr>
          <p:spPr>
            <a:xfrm rot="10800000" flipH="1">
              <a:off x="1164450" y="3158888"/>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0" name="Google Shape;638;p31">
              <a:extLst>
                <a:ext uri="{FF2B5EF4-FFF2-40B4-BE49-F238E27FC236}">
                  <a16:creationId xmlns:a16="http://schemas.microsoft.com/office/drawing/2014/main" id="{9096F739-F218-8079-40E3-E5FAABC0BDEF}"/>
                </a:ext>
              </a:extLst>
            </p:cNvPr>
            <p:cNvCxnSpPr/>
            <p:nvPr/>
          </p:nvCxnSpPr>
          <p:spPr>
            <a:xfrm rot="10800000" flipH="1">
              <a:off x="1164450" y="33354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1" name="Google Shape;639;p31">
              <a:extLst>
                <a:ext uri="{FF2B5EF4-FFF2-40B4-BE49-F238E27FC236}">
                  <a16:creationId xmlns:a16="http://schemas.microsoft.com/office/drawing/2014/main" id="{6963C8C5-3EE3-6CFF-9E35-8A70C841D251}"/>
                </a:ext>
              </a:extLst>
            </p:cNvPr>
            <p:cNvCxnSpPr/>
            <p:nvPr/>
          </p:nvCxnSpPr>
          <p:spPr>
            <a:xfrm rot="10800000" flipH="1">
              <a:off x="1167775" y="349800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2" name="Google Shape;640;p31">
              <a:extLst>
                <a:ext uri="{FF2B5EF4-FFF2-40B4-BE49-F238E27FC236}">
                  <a16:creationId xmlns:a16="http://schemas.microsoft.com/office/drawing/2014/main" id="{7EA7D49A-0EBF-5E3F-BD74-856DD94620C6}"/>
                </a:ext>
              </a:extLst>
            </p:cNvPr>
            <p:cNvCxnSpPr/>
            <p:nvPr/>
          </p:nvCxnSpPr>
          <p:spPr>
            <a:xfrm rot="10800000" flipH="1">
              <a:off x="1164450" y="3616050"/>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3" name="Google Shape;641;p31">
              <a:extLst>
                <a:ext uri="{FF2B5EF4-FFF2-40B4-BE49-F238E27FC236}">
                  <a16:creationId xmlns:a16="http://schemas.microsoft.com/office/drawing/2014/main" id="{16BAC59D-FC18-B5E9-2421-47B1139248FF}"/>
                </a:ext>
              </a:extLst>
            </p:cNvPr>
            <p:cNvCxnSpPr/>
            <p:nvPr/>
          </p:nvCxnSpPr>
          <p:spPr>
            <a:xfrm rot="10800000" flipH="1">
              <a:off x="1164450" y="3725475"/>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4" name="Google Shape;642;p31">
              <a:extLst>
                <a:ext uri="{FF2B5EF4-FFF2-40B4-BE49-F238E27FC236}">
                  <a16:creationId xmlns:a16="http://schemas.microsoft.com/office/drawing/2014/main" id="{0D88AD85-E55D-32CE-D814-0E7EA359F621}"/>
                </a:ext>
              </a:extLst>
            </p:cNvPr>
            <p:cNvCxnSpPr/>
            <p:nvPr/>
          </p:nvCxnSpPr>
          <p:spPr>
            <a:xfrm rot="10800000" flipH="1">
              <a:off x="1164450" y="38521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5" name="Google Shape;643;p31">
              <a:extLst>
                <a:ext uri="{FF2B5EF4-FFF2-40B4-BE49-F238E27FC236}">
                  <a16:creationId xmlns:a16="http://schemas.microsoft.com/office/drawing/2014/main" id="{F1234D74-E9DA-07E5-3251-F485799FD2AA}"/>
                </a:ext>
              </a:extLst>
            </p:cNvPr>
            <p:cNvCxnSpPr/>
            <p:nvPr/>
          </p:nvCxnSpPr>
          <p:spPr>
            <a:xfrm rot="10800000" flipH="1">
              <a:off x="1167775" y="3922363"/>
              <a:ext cx="871500" cy="8700"/>
            </a:xfrm>
            <a:prstGeom prst="straightConnector1">
              <a:avLst/>
            </a:prstGeom>
            <a:noFill/>
            <a:ln w="9525" cap="flat" cmpd="sng">
              <a:solidFill>
                <a:srgbClr val="B7B7B7"/>
              </a:solidFill>
              <a:prstDash val="dash"/>
              <a:round/>
              <a:headEnd type="none" w="med" len="med"/>
              <a:tailEnd type="none" w="med" len="med"/>
            </a:ln>
          </p:spPr>
        </p:cxnSp>
        <p:cxnSp>
          <p:nvCxnSpPr>
            <p:cNvPr id="96" name="Google Shape;644;p31">
              <a:extLst>
                <a:ext uri="{FF2B5EF4-FFF2-40B4-BE49-F238E27FC236}">
                  <a16:creationId xmlns:a16="http://schemas.microsoft.com/office/drawing/2014/main" id="{A34153B6-423F-5DDD-AA5C-92D0836AEF3A}"/>
                </a:ext>
              </a:extLst>
            </p:cNvPr>
            <p:cNvCxnSpPr/>
            <p:nvPr/>
          </p:nvCxnSpPr>
          <p:spPr>
            <a:xfrm rot="10800000" flipH="1">
              <a:off x="1164450" y="4036513"/>
              <a:ext cx="871500" cy="8700"/>
            </a:xfrm>
            <a:prstGeom prst="straightConnector1">
              <a:avLst/>
            </a:prstGeom>
            <a:noFill/>
            <a:ln w="9525" cap="flat" cmpd="sng">
              <a:solidFill>
                <a:srgbClr val="B7B7B7"/>
              </a:solidFill>
              <a:prstDash val="dash"/>
              <a:round/>
              <a:headEnd type="none" w="med" len="med"/>
              <a:tailEnd type="none" w="med" len="med"/>
            </a:ln>
          </p:spPr>
        </p:cxnSp>
        <p:sp>
          <p:nvSpPr>
            <p:cNvPr id="97" name="Google Shape;645;p31">
              <a:extLst>
                <a:ext uri="{FF2B5EF4-FFF2-40B4-BE49-F238E27FC236}">
                  <a16:creationId xmlns:a16="http://schemas.microsoft.com/office/drawing/2014/main" id="{44182472-27F0-67C0-972E-F6F2264852E6}"/>
                </a:ext>
              </a:extLst>
            </p:cNvPr>
            <p:cNvSpPr txBox="1"/>
            <p:nvPr/>
          </p:nvSpPr>
          <p:spPr>
            <a:xfrm>
              <a:off x="464126" y="3940009"/>
              <a:ext cx="759900" cy="23191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Cambria Math" panose="02040503050406030204" pitchFamily="18" charset="0"/>
                  <a:ea typeface="Cambria Math" panose="02040503050406030204" pitchFamily="18" charset="0"/>
                </a:rPr>
                <a:t>Thres = 0.00</a:t>
              </a:r>
              <a:endParaRPr sz="1200" b="1" dirty="0">
                <a:latin typeface="Cambria Math" panose="02040503050406030204" pitchFamily="18" charset="0"/>
                <a:ea typeface="Cambria Math" panose="02040503050406030204" pitchFamily="18" charset="0"/>
              </a:endParaRPr>
            </a:p>
          </p:txBody>
        </p:sp>
        <p:sp>
          <p:nvSpPr>
            <p:cNvPr id="98" name="Google Shape;646;p31">
              <a:extLst>
                <a:ext uri="{FF2B5EF4-FFF2-40B4-BE49-F238E27FC236}">
                  <a16:creationId xmlns:a16="http://schemas.microsoft.com/office/drawing/2014/main" id="{A3BAF12F-AC06-2D0E-053F-5AA44829A4E4}"/>
                </a:ext>
              </a:extLst>
            </p:cNvPr>
            <p:cNvSpPr txBox="1"/>
            <p:nvPr/>
          </p:nvSpPr>
          <p:spPr>
            <a:xfrm>
              <a:off x="483088" y="1418928"/>
              <a:ext cx="759900" cy="26651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latin typeface="Cambria Math" panose="02040503050406030204" pitchFamily="18" charset="0"/>
                  <a:ea typeface="Cambria Math" panose="02040503050406030204" pitchFamily="18" charset="0"/>
                </a:rPr>
                <a:t>Thres = 1.00</a:t>
              </a:r>
              <a:endParaRPr sz="1200" b="1" dirty="0">
                <a:latin typeface="Cambria Math" panose="02040503050406030204" pitchFamily="18" charset="0"/>
                <a:ea typeface="Cambria Math" panose="02040503050406030204" pitchFamily="18" charset="0"/>
              </a:endParaRPr>
            </a:p>
          </p:txBody>
        </p:sp>
      </p:grpSp>
    </p:spTree>
    <p:extLst>
      <p:ext uri="{BB962C8B-B14F-4D97-AF65-F5344CB8AC3E}">
        <p14:creationId xmlns:p14="http://schemas.microsoft.com/office/powerpoint/2010/main" val="784038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40CE1-27CB-BD52-58C2-EB06F3F2838E}"/>
              </a:ext>
            </a:extLst>
          </p:cNvPr>
          <p:cNvSpPr>
            <a:spLocks noGrp="1"/>
          </p:cNvSpPr>
          <p:nvPr>
            <p:ph type="title"/>
          </p:nvPr>
        </p:nvSpPr>
        <p:spPr/>
        <p:txBody>
          <a:bodyPr/>
          <a:lstStyle/>
          <a:p>
            <a:r>
              <a:rPr lang="en-IN" dirty="0"/>
              <a:t>Classification Metrics</a:t>
            </a:r>
          </a:p>
        </p:txBody>
      </p:sp>
      <p:sp>
        <p:nvSpPr>
          <p:cNvPr id="3" name="Content Placeholder 2">
            <a:extLst>
              <a:ext uri="{FF2B5EF4-FFF2-40B4-BE49-F238E27FC236}">
                <a16:creationId xmlns:a16="http://schemas.microsoft.com/office/drawing/2014/main" id="{22410359-5753-1EDF-F148-165C4466B2B7}"/>
              </a:ext>
            </a:extLst>
          </p:cNvPr>
          <p:cNvSpPr>
            <a:spLocks noGrp="1"/>
          </p:cNvSpPr>
          <p:nvPr>
            <p:ph idx="1"/>
          </p:nvPr>
        </p:nvSpPr>
        <p:spPr>
          <a:xfrm>
            <a:off x="480848" y="969578"/>
            <a:ext cx="7082294" cy="5573461"/>
          </a:xfrm>
        </p:spPr>
        <p:txBody>
          <a:bodyPr>
            <a:normAutofit fontScale="92500" lnSpcReduction="10000"/>
          </a:bodyPr>
          <a:lstStyle/>
          <a:p>
            <a:pPr marL="0" indent="0">
              <a:buNone/>
            </a:pPr>
            <a:r>
              <a:rPr lang="en-IN" b="1" u="sng" dirty="0"/>
              <a:t>AUC-ROC</a:t>
            </a:r>
          </a:p>
          <a:p>
            <a:r>
              <a:rPr lang="en-IN" dirty="0"/>
              <a:t>It is the area under the ROC curve. </a:t>
            </a:r>
          </a:p>
          <a:p>
            <a:r>
              <a:rPr lang="en-IN" dirty="0"/>
              <a:t>It provides the aggregate performance across all possible thresholds</a:t>
            </a:r>
          </a:p>
          <a:p>
            <a:pPr lvl="1">
              <a:buFont typeface="Wingdings" panose="05000000000000000000" pitchFamily="2" charset="2"/>
              <a:buChar char="§"/>
            </a:pPr>
            <a:r>
              <a:rPr lang="en-IN" dirty="0"/>
              <a:t>An AUC of 1 indicates that model has perfect discrimination – the best</a:t>
            </a:r>
          </a:p>
          <a:p>
            <a:pPr lvl="1">
              <a:buFont typeface="Wingdings" panose="05000000000000000000" pitchFamily="2" charset="2"/>
              <a:buChar char="§"/>
            </a:pPr>
            <a:r>
              <a:rPr lang="en-IN" dirty="0"/>
              <a:t>An AUC of 0.5 suggests has no discrimination ability – it is as good as a random classification</a:t>
            </a:r>
          </a:p>
          <a:p>
            <a:pPr lvl="1">
              <a:buFont typeface="Wingdings" panose="05000000000000000000" pitchFamily="2" charset="2"/>
              <a:buChar char="§"/>
            </a:pPr>
            <a:r>
              <a:rPr lang="en-IN" dirty="0"/>
              <a:t>An AUC of 0 indicates that the model is completely wrong. It classifies all positive examples as negative and all negatives as positive. </a:t>
            </a:r>
          </a:p>
          <a:p>
            <a:pPr lvl="1">
              <a:buFont typeface="Wingdings" panose="05000000000000000000" pitchFamily="2" charset="2"/>
              <a:buChar char="§"/>
            </a:pPr>
            <a:r>
              <a:rPr lang="en-IN" dirty="0"/>
              <a:t>In practice, AUC value fall between 0.5 (random)  and  1.0 (perfect)</a:t>
            </a:r>
            <a:r>
              <a:rPr lang="en-US" dirty="0"/>
              <a:t>.</a:t>
            </a:r>
            <a:endParaRPr lang="en-IN" dirty="0"/>
          </a:p>
          <a:p>
            <a:pPr lvl="1"/>
            <a:endParaRPr lang="en-IN" dirty="0"/>
          </a:p>
        </p:txBody>
      </p:sp>
      <p:pic>
        <p:nvPicPr>
          <p:cNvPr id="4" name="Picture 3">
            <a:extLst>
              <a:ext uri="{FF2B5EF4-FFF2-40B4-BE49-F238E27FC236}">
                <a16:creationId xmlns:a16="http://schemas.microsoft.com/office/drawing/2014/main" id="{9854E312-799B-D7A3-AB8C-FA7A641EA5F2}"/>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rcRect t="1126"/>
          <a:stretch>
            <a:fillRect/>
          </a:stretch>
        </p:blipFill>
        <p:spPr>
          <a:xfrm>
            <a:off x="7685061" y="914395"/>
            <a:ext cx="4374859" cy="4302349"/>
          </a:xfrm>
          <a:prstGeom prst="rect">
            <a:avLst/>
          </a:prstGeom>
        </p:spPr>
      </p:pic>
    </p:spTree>
    <p:extLst>
      <p:ext uri="{BB962C8B-B14F-4D97-AF65-F5344CB8AC3E}">
        <p14:creationId xmlns:p14="http://schemas.microsoft.com/office/powerpoint/2010/main" val="1256430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11456</TotalTime>
  <Words>1971</Words>
  <Application>Microsoft Office PowerPoint</Application>
  <PresentationFormat>Widescreen</PresentationFormat>
  <Paragraphs>617</Paragraphs>
  <Slides>20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Cambria Math</vt:lpstr>
      <vt:lpstr>Times New Roman</vt:lpstr>
      <vt:lpstr>Wingdings</vt:lpstr>
      <vt:lpstr>Office Theme</vt:lpstr>
      <vt:lpstr>Regression and Classification  Performance Evaluation Metrics</vt:lpstr>
      <vt:lpstr>Why are metrics important?</vt:lpstr>
      <vt:lpstr>Regession Metrics</vt:lpstr>
      <vt:lpstr>Regression Metrics</vt:lpstr>
      <vt:lpstr>Regression Metrics</vt:lpstr>
      <vt:lpstr>Regession Metrics</vt:lpstr>
      <vt:lpstr>Regession Metrics</vt:lpstr>
      <vt:lpstr>Regession Metrics</vt:lpstr>
      <vt:lpstr>Regession Metrics</vt:lpstr>
      <vt:lpstr>Regession Metrics</vt:lpstr>
      <vt:lpstr>Classification Metrics</vt:lpstr>
      <vt:lpstr>Classification Metrics</vt:lpstr>
      <vt:lpstr>Classification Metrics</vt:lpstr>
      <vt:lpstr>Classification Metrics</vt:lpstr>
      <vt:lpstr>Classification Metrics</vt:lpstr>
      <vt:lpstr>Classification Metrics</vt:lpstr>
      <vt:lpstr>Classification Metrics</vt:lpstr>
      <vt:lpstr>Classification Metrics</vt:lpstr>
      <vt:lpstr>Classification Metrics</vt:lpstr>
      <vt:lpstr>Classification Metrics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Manmath Narayan Sahoo</dc:creator>
  <cp:lastModifiedBy>Prof. Manmath Narayan Sahoo</cp:lastModifiedBy>
  <cp:revision>126</cp:revision>
  <dcterms:created xsi:type="dcterms:W3CDTF">2025-01-08T18:01:07Z</dcterms:created>
  <dcterms:modified xsi:type="dcterms:W3CDTF">2026-01-28T07:50:18Z</dcterms:modified>
</cp:coreProperties>
</file>