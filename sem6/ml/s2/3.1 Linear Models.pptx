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334" r:id="rId3"/>
    <p:sldId id="336" r:id="rId4"/>
    <p:sldId id="337" r:id="rId5"/>
    <p:sldId id="338" r:id="rId6"/>
    <p:sldId id="34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yush Rai" initials="PR" lastIdx="1" clrIdx="0">
    <p:extLst>
      <p:ext uri="{19B8F6BF-5375-455C-9EA6-DF929625EA0E}">
        <p15:presenceInfo xmlns:p15="http://schemas.microsoft.com/office/powerpoint/2012/main" userId="S-1-5-21-1815594393-203851566-323931515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060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079FB-1158-44A5-81BA-70742E8B8B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C2274-7721-4180-95CA-BE03DFC6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2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2E8B-E765-4F58-A257-0E1E2EC1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0D9F0-86A6-48DF-B30E-B8448776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9CD7-9DDA-4CF9-AA93-4DE94EF0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955A-2DC5-4511-A53D-598F496EDEEE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22E9-1D05-4AD0-BFC0-2527F712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B85C-0DA1-4C64-8F01-7A91FEF1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4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DEA5-031B-494A-B467-EFFEB276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22B5-97C1-4FAC-9285-AA741BFE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5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27FE-0F44-497F-BF33-83303D14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ABBA3-F0E8-4C36-916A-E54529F1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16D18-BB11-4BFD-9E7A-8DFB408A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7B4F-85E2-411C-AFB6-1A374A5D39B8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F1CC-7685-4FAD-B5F7-982834C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5F9D9-79E8-4C23-9200-19A6857E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9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6550-E91F-4D00-83FE-94375199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5A4F-9318-4630-A9C7-16E2FD6AF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5E241-2474-417E-B544-69CF28611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0B88-78D9-4019-8BFF-8F7C0DCD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0B707-0551-48AD-BAF3-CE20FCE94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66B9-A417-4624-91D6-6D6295C21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A6971-440D-4631-80F7-B3123104A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84CD4-B32C-429C-8FDB-C3993DE5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11BC8-FB4C-4B9C-8A71-BB4D1F6A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1E0-72C8-4CC8-AE53-DCEAAFB58B8B}" type="datetime1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3E117-C4A9-4FF3-9C91-FFD40695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9C272-E75C-4778-96BF-8B2BC99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60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DEF5-DE48-45E6-AB10-8EDCE19D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1AE6-4821-4359-BA0A-71E21BF0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9225-93B0-4D75-98A5-1AA74F5D545B}" type="datetime1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27195-022D-4F59-91AC-F6EF60F0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CDE4F-8C95-4584-8FBF-AF73E2F5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37068-89ED-42F9-9A72-92111C5A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F8A65-8968-44A1-8A19-3117F08B5A38}" type="datetime1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62B2C-1FE1-496D-9296-45C99FB4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FDE75-9B7A-49B3-9B56-4758899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0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39A8-6449-4746-8F81-EF24B312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EEFD-9C86-41A8-9E20-FB51AE36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D5B7E-7597-4AD6-A029-CB20B9FB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E2B30-B4F2-4EC2-B501-40677FFA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3029C-FE30-49AA-946C-8160924AD21C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346B0-D5A7-4730-8667-0678E784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53FD6-F916-41FC-BA8C-069D6DA0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3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521F-28F4-406E-9485-88EB85F4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819DE-9E94-437E-8A68-6E165BAA9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2149-A870-4DC0-8F9C-DDB1FD58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4BED7-7934-4480-A6EE-DA895423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F262-89E0-4714-A1CF-8A83C222FB9B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B16A-A6D8-4778-B7F0-21B6BFD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4C42-23E8-4F2C-AC3E-A5BBDF4E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7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F842-6D8B-4C86-8F39-4F97C9A0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9E737-F70E-42FA-A4AC-876FA6F16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1A242-E710-4C98-92C7-184F6C18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AA5C-2D5F-4D58-9A50-D19B643441D4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ABB8-F14F-4280-A105-4070853E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0805-AFD9-468A-8350-47B0059B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CE3C8-84F1-4290-9648-5C9E9A23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FA146-680D-4C44-80AE-61ACEA18E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229F1-7D33-4055-BCFB-C0B4E177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576-788D-4E35-9930-DF0255718A2B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8B88A-8C21-46C7-8EDF-2F9AEE5A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208B-689D-4C89-B6D0-6D893F5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0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DB4A9-B55E-4623-A2D9-A87B7B55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CFFDC-2115-4CD1-967C-545001D0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EF888-538C-4F90-BE4E-FDD77BCBC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6463-DA8A-478C-9FC8-00C83590963D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CDA8E-891B-4E76-B24D-670B7EB40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AB6D-2CD0-4185-A303-317BFF965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ED9D3-AF84-488D-8A6A-726D5349CD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12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png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AC89-BE04-43C0-8DE4-613238CF2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866" y="2781479"/>
            <a:ext cx="11492918" cy="821886"/>
          </a:xfrm>
        </p:spPr>
        <p:txBody>
          <a:bodyPr>
            <a:noAutofit/>
          </a:bodyPr>
          <a:lstStyle/>
          <a:p>
            <a:br>
              <a:rPr lang="en-GB" b="1" dirty="0">
                <a:latin typeface="Garamond" panose="02020404030301010803" pitchFamily="18" charset="0"/>
                <a:cs typeface="Aldhabi" panose="020B0604020202020204" pitchFamily="2" charset="-78"/>
              </a:rPr>
            </a:br>
            <a:br>
              <a:rPr lang="en-GB" b="1" dirty="0">
                <a:latin typeface="Garamond" panose="02020404030301010803" pitchFamily="18" charset="0"/>
                <a:cs typeface="Aldhabi" panose="020B0604020202020204" pitchFamily="2" charset="-78"/>
              </a:rPr>
            </a:br>
            <a:br>
              <a:rPr lang="en-GB" sz="4800" b="1" dirty="0">
                <a:latin typeface="Garamond" panose="02020404030301010803" pitchFamily="18" charset="0"/>
                <a:cs typeface="Aldhabi" panose="020B0604020202020204" pitchFamily="2" charset="-78"/>
              </a:rPr>
            </a:br>
            <a:br>
              <a:rPr lang="en-GB" sz="4800" b="1" dirty="0">
                <a:latin typeface="Garamond" panose="02020404030301010803" pitchFamily="18" charset="0"/>
                <a:cs typeface="Aldhabi" panose="020B0604020202020204" pitchFamily="2" charset="-78"/>
              </a:rPr>
            </a:br>
            <a:r>
              <a:rPr lang="en-GB" sz="4800" b="1" dirty="0">
                <a:latin typeface="Garamond" panose="02020404030301010803" pitchFamily="18" charset="0"/>
                <a:cs typeface="Aldhabi" panose="020B0604020202020204" pitchFamily="2" charset="-78"/>
              </a:rPr>
              <a:t>Linear Models</a:t>
            </a:r>
            <a:endParaRPr lang="en-IN" sz="4800" b="1" dirty="0">
              <a:latin typeface="Garamond" panose="02020404030301010803" pitchFamily="18" charset="0"/>
              <a:cs typeface="Aldhabi" panose="020B0604020202020204" pitchFamily="2" charset="-78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0ABFC-207D-052D-EB2A-B05CA7ED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36"/>
    </mc:Choice>
    <mc:Fallback xmlns="">
      <p:transition spd="slow" advTm="209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300" dirty="0">
                    <a:latin typeface="Abadi Extra Light" panose="020B0204020104020204" pitchFamily="34" charset="0"/>
                  </a:rPr>
                  <a:t>Consider learning to map an input</a:t>
                </a:r>
                <a14:m>
                  <m:oMath xmlns:m="http://schemas.openxmlformats.org/officeDocument/2006/math">
                    <m:r>
                      <a:rPr lang="en-GB" sz="2300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23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3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GB" sz="23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</m:t>
                        </m:r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300" dirty="0">
                    <a:latin typeface="Abadi Extra Light" panose="020B0204020104020204" pitchFamily="34" charset="0"/>
                  </a:rPr>
                  <a:t> to the corresponding (say real-valued) output </a:t>
                </a:r>
                <a14:m>
                  <m:oMath xmlns:m="http://schemas.openxmlformats.org/officeDocument/2006/math">
                    <m:r>
                      <a:rPr lang="en-IN" sz="23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3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Assume the output to be a linear weighted combination of the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input features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This simple model can be used for </a:t>
                </a:r>
                <a:r>
                  <a:rPr lang="en-GB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Linear Regression</a:t>
                </a:r>
                <a:endParaRPr lang="en-GB" sz="24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This simple model can also be used as a “building block” for more complex models</a:t>
                </a: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/>
                <a:stretch>
                  <a:fillRect l="-727" t="-1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7954184-E0FE-4A6C-8A87-7180B9E58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3527" y="2613583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A606C004-D010-4597-BD27-A7483BB011D6}"/>
                  </a:ext>
                </a:extLst>
              </p:cNvPr>
              <p:cNvSpPr/>
              <p:nvPr/>
            </p:nvSpPr>
            <p:spPr>
              <a:xfrm>
                <a:off x="7418143" y="2294469"/>
                <a:ext cx="3575424" cy="965224"/>
              </a:xfrm>
              <a:prstGeom prst="wedgeRectCallout">
                <a:avLst>
                  <a:gd name="adj1" fmla="val 59318"/>
                  <a:gd name="adj2" fmla="val 28371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This defines a linear model with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b="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parameters given by a “weight vector”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b="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A606C004-D010-4597-BD27-A7483BB01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143" y="2294469"/>
                <a:ext cx="3575424" cy="965224"/>
              </a:xfrm>
              <a:prstGeom prst="wedgeRectCallout">
                <a:avLst>
                  <a:gd name="adj1" fmla="val 59318"/>
                  <a:gd name="adj2" fmla="val 28371"/>
                </a:avLst>
              </a:prstGeom>
              <a:blipFill>
                <a:blip r:embed="rId5"/>
                <a:stretch>
                  <a:fillRect l="-1240" t="-1242" b="-807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472DBF81-0F92-4117-B0D7-7288A2588739}"/>
                  </a:ext>
                </a:extLst>
              </p:cNvPr>
              <p:cNvSpPr/>
              <p:nvPr/>
            </p:nvSpPr>
            <p:spPr>
              <a:xfrm>
                <a:off x="7039788" y="3435931"/>
                <a:ext cx="5000250" cy="888418"/>
              </a:xfrm>
              <a:prstGeom prst="wedgeRectCallout">
                <a:avLst>
                  <a:gd name="adj1" fmla="val -393"/>
                  <a:gd name="adj2" fmla="val -69198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Each of these weights have a simple interpretation: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b="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the “weight” or importance </a:t>
                </a:r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IN" b="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feature in making this prediction </a:t>
                </a:r>
              </a:p>
            </p:txBody>
          </p:sp>
        </mc:Choice>
        <mc:Fallback xmlns="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472DBF81-0F92-4117-B0D7-7288A25887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788" y="3435931"/>
                <a:ext cx="5000250" cy="888418"/>
              </a:xfrm>
              <a:prstGeom prst="wedgeRectCallout">
                <a:avLst>
                  <a:gd name="adj1" fmla="val -393"/>
                  <a:gd name="adj2" fmla="val -69198"/>
                </a:avLst>
              </a:prstGeom>
              <a:blipFill>
                <a:blip r:embed="rId6"/>
                <a:stretch>
                  <a:fillRect l="-973" r="-608" b="-11364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528C92F1-DF49-4C97-8300-0C9446561C08}"/>
              </a:ext>
            </a:extLst>
          </p:cNvPr>
          <p:cNvSpPr/>
          <p:nvPr/>
        </p:nvSpPr>
        <p:spPr>
          <a:xfrm>
            <a:off x="7858563" y="4458451"/>
            <a:ext cx="4215651" cy="888418"/>
          </a:xfrm>
          <a:prstGeom prst="wedgeRectCallout">
            <a:avLst>
              <a:gd name="adj1" fmla="val 76"/>
              <a:gd name="adj2" fmla="val -649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The “optimal” weights are unknown and have to be learned by solving an </a:t>
            </a:r>
            <a:r>
              <a:rPr lang="en-IN" sz="1600" dirty="0">
                <a:solidFill>
                  <a:srgbClr val="FF0000"/>
                </a:solidFill>
                <a:latin typeface="Abadi Extra Light" panose="020B0204020104020204" pitchFamily="34" charset="0"/>
              </a:rPr>
              <a:t>optimization problem</a:t>
            </a:r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, using some </a:t>
            </a:r>
            <a:r>
              <a:rPr lang="en-IN" sz="16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training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53CF7-645B-A435-FFDF-0684373D0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970" y="2353033"/>
            <a:ext cx="4429125" cy="1809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E63C6-0B7A-BB1C-83E2-D0B06576F13E}"/>
                  </a:ext>
                </a:extLst>
              </p:cNvPr>
              <p:cNvSpPr txBox="1"/>
              <p:nvPr/>
            </p:nvSpPr>
            <p:spPr>
              <a:xfrm>
                <a:off x="298133" y="2606669"/>
                <a:ext cx="2685029" cy="879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⃗"/>
                              <m:ctrlPr>
                                <a:rPr lang="en-GB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r>
                            <a:rPr lang="en-GB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GB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E63C6-0B7A-BB1C-83E2-D0B06576F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33" y="2606669"/>
                <a:ext cx="2685029" cy="8798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29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909"/>
    </mc:Choice>
    <mc:Fallback xmlns="">
      <p:transition spd="slow" advTm="268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Simple Linear Models as Building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In some regression problems, each output itself is a real-valued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GB" sz="2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GB" sz="2400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dirty="0">
                    <a:latin typeface="Abadi Extra Light" panose="020B0204020104020204" pitchFamily="34" charset="0"/>
                  </a:rPr>
                  <a:t>Example: Given a full body image of a person, predict height, weight, hand size, and leg size (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=4)</m:t>
                    </m:r>
                  </m:oMath>
                </a14:m>
                <a:endParaRPr lang="en-IN" sz="2000" b="0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sz="2000" dirty="0">
                    <a:latin typeface="Abadi Extra Light" panose="020B0204020104020204" pitchFamily="34" charset="0"/>
                  </a:rPr>
                  <a:t>OR Stage-1, 2, 3, 4 cancer prediction</a:t>
                </a:r>
                <a:endParaRPr lang="en-IN" sz="2000" b="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Such problems are commonly known as </a:t>
                </a:r>
                <a:r>
                  <a:rPr lang="en-GB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multi-output regression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latin typeface="Abadi Extra Light" panose="020B0204020104020204" pitchFamily="34" charset="0"/>
                  </a:rPr>
                  <a:t>We can assume a separate linear model for each of the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4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/>
                <a:stretch>
                  <a:fillRect l="-727" t="-1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781C68-CF57-46B0-86E5-37267DC56814}"/>
                  </a:ext>
                </a:extLst>
              </p:cNvPr>
              <p:cNvSpPr txBox="1"/>
              <p:nvPr/>
            </p:nvSpPr>
            <p:spPr>
              <a:xfrm>
                <a:off x="5857805" y="3741483"/>
                <a:ext cx="2082493" cy="539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1" i="1" dirty="0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3200" b="1" i="1" dirty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acc>
                      <m:r>
                        <a:rPr lang="en-GB" sz="3200" b="1" i="1" dirty="0" smtClean="0">
                          <a:latin typeface="Cambria Math" panose="02040503050406030204" pitchFamily="18" charset="0"/>
                        </a:rPr>
                        <m:t> . </m:t>
                      </m:r>
                      <m:acc>
                        <m:accPr>
                          <m:chr m:val="⃗"/>
                          <m:ctrlPr>
                            <a:rPr lang="en-GB" sz="32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sz="32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781C68-CF57-46B0-86E5-37267DC5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05" y="3741483"/>
                <a:ext cx="2082493" cy="5390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2A751E-A675-4A7C-8920-6145EEB28C57}"/>
                  </a:ext>
                </a:extLst>
              </p:cNvPr>
              <p:cNvSpPr txBox="1"/>
              <p:nvPr/>
            </p:nvSpPr>
            <p:spPr>
              <a:xfrm>
                <a:off x="5857805" y="4465383"/>
                <a:ext cx="177330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GB" sz="3200" b="1" i="1" baseline="3000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IN" sz="32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32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2A751E-A675-4A7C-8920-6145EEB2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05" y="4465383"/>
                <a:ext cx="177330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6B2D860-3E57-4C89-AFA8-F26490C09BC0}"/>
              </a:ext>
            </a:extLst>
          </p:cNvPr>
          <p:cNvSpPr/>
          <p:nvPr/>
        </p:nvSpPr>
        <p:spPr>
          <a:xfrm rot="16200000">
            <a:off x="4284922" y="5262167"/>
            <a:ext cx="142875" cy="14001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F9AF6C-2A02-4326-B8F5-12A4896D419A}"/>
                  </a:ext>
                </a:extLst>
              </p:cNvPr>
              <p:cNvSpPr txBox="1"/>
              <p:nvPr/>
            </p:nvSpPr>
            <p:spPr>
              <a:xfrm>
                <a:off x="1612441" y="6127250"/>
                <a:ext cx="1907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F9AF6C-2A02-4326-B8F5-12A4896D4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41" y="6127250"/>
                <a:ext cx="190757" cy="276999"/>
              </a:xfrm>
              <a:prstGeom prst="rect">
                <a:avLst/>
              </a:prstGeom>
              <a:blipFill>
                <a:blip r:embed="rId6"/>
                <a:stretch>
                  <a:fillRect l="-32258" r="-32258" b="-23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554148-723D-4B17-91F9-8E6C9CE25E97}"/>
                  </a:ext>
                </a:extLst>
              </p:cNvPr>
              <p:cNvSpPr txBox="1"/>
              <p:nvPr/>
            </p:nvSpPr>
            <p:spPr>
              <a:xfrm>
                <a:off x="6058374" y="6590806"/>
                <a:ext cx="360675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GB" b="1" i="0" baseline="30000" smtClean="0">
                          <a:latin typeface="Cambria Math" panose="02040503050406030204" pitchFamily="18" charset="0"/>
                        </a:rPr>
                        <m:t>𝐓</m:t>
                      </m:r>
                    </m:oMath>
                  </m:oMathPara>
                </a14:m>
                <a:endParaRPr lang="en-IN" baseline="30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554148-723D-4B17-91F9-8E6C9CE2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374" y="6590806"/>
                <a:ext cx="360675" cy="270652"/>
              </a:xfrm>
              <a:prstGeom prst="rect">
                <a:avLst/>
              </a:prstGeom>
              <a:blipFill>
                <a:blip r:embed="rId7"/>
                <a:stretch>
                  <a:fillRect l="-18644" r="-10169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Speech Bubble: Rectangle 34">
                <a:extLst>
                  <a:ext uri="{FF2B5EF4-FFF2-40B4-BE49-F238E27FC236}">
                    <a16:creationId xmlns:a16="http://schemas.microsoft.com/office/drawing/2014/main" id="{91F8B844-D5AB-44A7-BD57-C8EA54DA1FF8}"/>
                  </a:ext>
                </a:extLst>
              </p:cNvPr>
              <p:cNvSpPr/>
              <p:nvPr/>
            </p:nvSpPr>
            <p:spPr>
              <a:xfrm>
                <a:off x="8496304" y="3333750"/>
                <a:ext cx="3430451" cy="969403"/>
              </a:xfrm>
              <a:prstGeom prst="wedgeRectCallout">
                <a:avLst>
                  <a:gd name="adj1" fmla="val -67305"/>
                  <a:gd name="adj2" fmla="val 19695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2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Now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</m:t>
                        </m:r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a weight vector for predicting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output </a:t>
                </a:r>
                <a:endParaRPr lang="en-IN" sz="2000" b="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5" name="Speech Bubble: Rectangle 34">
                <a:extLst>
                  <a:ext uri="{FF2B5EF4-FFF2-40B4-BE49-F238E27FC236}">
                    <a16:creationId xmlns:a16="http://schemas.microsoft.com/office/drawing/2014/main" id="{91F8B844-D5AB-44A7-BD57-C8EA54D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4" y="3333750"/>
                <a:ext cx="3430451" cy="969403"/>
              </a:xfrm>
              <a:prstGeom prst="wedgeRectCallout">
                <a:avLst>
                  <a:gd name="adj1" fmla="val -67305"/>
                  <a:gd name="adj2" fmla="val 19695"/>
                </a:avLst>
              </a:prstGeom>
              <a:blipFill>
                <a:blip r:embed="rId8"/>
                <a:stretch>
                  <a:fillRect t="-5590" b="-14286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peech Bubble: Rectangle 35">
                <a:extLst>
                  <a:ext uri="{FF2B5EF4-FFF2-40B4-BE49-F238E27FC236}">
                    <a16:creationId xmlns:a16="http://schemas.microsoft.com/office/drawing/2014/main" id="{BB2ADCE1-8995-4C7C-BB7E-C9DDE726B91C}"/>
                  </a:ext>
                </a:extLst>
              </p:cNvPr>
              <p:cNvSpPr/>
              <p:nvPr/>
            </p:nvSpPr>
            <p:spPr>
              <a:xfrm>
                <a:off x="7892347" y="4442757"/>
                <a:ext cx="3732995" cy="556111"/>
              </a:xfrm>
              <a:prstGeom prst="wedgeRectCallout">
                <a:avLst>
                  <a:gd name="adj1" fmla="val -61275"/>
                  <a:gd name="adj2" fmla="val -4869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an </a:t>
                </a:r>
                <a:r>
                  <a:rPr lang="en-IN" i="1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Mxn</a:t>
                </a:r>
                <a:r>
                  <a:rPr lang="en-IN" i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 </a:t>
                </a:r>
                <a:r>
                  <a:rPr lang="en-IN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weight matrix </a:t>
                </a:r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with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row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  <a:endParaRPr lang="en-IN" b="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6" name="Speech Bubble: Rectangle 35">
                <a:extLst>
                  <a:ext uri="{FF2B5EF4-FFF2-40B4-BE49-F238E27FC236}">
                    <a16:creationId xmlns:a16="http://schemas.microsoft.com/office/drawing/2014/main" id="{BB2ADCE1-8995-4C7C-BB7E-C9DDE726B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347" y="4442757"/>
                <a:ext cx="3732995" cy="556111"/>
              </a:xfrm>
              <a:prstGeom prst="wedgeRectCallout">
                <a:avLst>
                  <a:gd name="adj1" fmla="val -61275"/>
                  <a:gd name="adj2" fmla="val -4869"/>
                </a:avLst>
              </a:prstGeom>
              <a:blipFill>
                <a:blip r:embed="rId9"/>
                <a:stretch>
                  <a:fillRect t="-15054" r="-1306" b="-2258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peech Bubble: Rectangle 36">
                <a:extLst>
                  <a:ext uri="{FF2B5EF4-FFF2-40B4-BE49-F238E27FC236}">
                    <a16:creationId xmlns:a16="http://schemas.microsoft.com/office/drawing/2014/main" id="{5A24B4C1-BCD9-4B3E-851D-7B920738F57E}"/>
                  </a:ext>
                </a:extLst>
              </p:cNvPr>
              <p:cNvSpPr/>
              <p:nvPr/>
            </p:nvSpPr>
            <p:spPr>
              <a:xfrm>
                <a:off x="8447472" y="5360327"/>
                <a:ext cx="3219479" cy="1156327"/>
              </a:xfrm>
              <a:prstGeom prst="wedgeRectCallout">
                <a:avLst>
                  <a:gd name="adj1" fmla="val -37"/>
                  <a:gd name="adj2" fmla="val -82047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Learning this model will require us to learn this weight matrix (or equivalently, the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weight vectors)</a:t>
                </a:r>
                <a:endParaRPr lang="en-IN" b="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7" name="Speech Bubble: Rectangle 36">
                <a:extLst>
                  <a:ext uri="{FF2B5EF4-FFF2-40B4-BE49-F238E27FC236}">
                    <a16:creationId xmlns:a16="http://schemas.microsoft.com/office/drawing/2014/main" id="{5A24B4C1-BCD9-4B3E-851D-7B920738F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472" y="5360327"/>
                <a:ext cx="3219479" cy="1156327"/>
              </a:xfrm>
              <a:prstGeom prst="wedgeRectCallout">
                <a:avLst>
                  <a:gd name="adj1" fmla="val -37"/>
                  <a:gd name="adj2" fmla="val -82047"/>
                </a:avLst>
              </a:prstGeom>
              <a:blipFill>
                <a:blip r:embed="rId10"/>
                <a:stretch>
                  <a:fillRect l="-1509" r="-2830" b="-708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9000E39-46A4-E723-1DC7-D529A6A46C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861" y="3192920"/>
            <a:ext cx="3752850" cy="19526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E190E4-1004-F3B3-2768-EA71DEC4086A}"/>
              </a:ext>
            </a:extLst>
          </p:cNvPr>
          <p:cNvSpPr/>
          <p:nvPr/>
        </p:nvSpPr>
        <p:spPr>
          <a:xfrm>
            <a:off x="5498225" y="5192751"/>
            <a:ext cx="1407302" cy="14001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373355-3602-3845-07B9-48703124610E}"/>
              </a:ext>
            </a:extLst>
          </p:cNvPr>
          <p:cNvCxnSpPr>
            <a:cxnSpLocks/>
          </p:cNvCxnSpPr>
          <p:nvPr/>
        </p:nvCxnSpPr>
        <p:spPr>
          <a:xfrm>
            <a:off x="5667627" y="5269660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9A6B41-2BAF-20A9-B59A-DEF41FE998E5}"/>
              </a:ext>
            </a:extLst>
          </p:cNvPr>
          <p:cNvCxnSpPr>
            <a:cxnSpLocks/>
          </p:cNvCxnSpPr>
          <p:nvPr/>
        </p:nvCxnSpPr>
        <p:spPr>
          <a:xfrm>
            <a:off x="5998256" y="5269659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E69A48-6337-AF6A-7A60-EAB52A1605FC}"/>
              </a:ext>
            </a:extLst>
          </p:cNvPr>
          <p:cNvCxnSpPr>
            <a:cxnSpLocks/>
          </p:cNvCxnSpPr>
          <p:nvPr/>
        </p:nvCxnSpPr>
        <p:spPr>
          <a:xfrm>
            <a:off x="6623356" y="5247370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92C238-87E1-CD35-EDB6-6F91DC41EA9A}"/>
              </a:ext>
            </a:extLst>
          </p:cNvPr>
          <p:cNvCxnSpPr>
            <a:cxnSpLocks/>
          </p:cNvCxnSpPr>
          <p:nvPr/>
        </p:nvCxnSpPr>
        <p:spPr>
          <a:xfrm>
            <a:off x="5667627" y="6116450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24572D-6A1C-045A-B810-8C2832953075}"/>
              </a:ext>
            </a:extLst>
          </p:cNvPr>
          <p:cNvCxnSpPr>
            <a:cxnSpLocks/>
          </p:cNvCxnSpPr>
          <p:nvPr/>
        </p:nvCxnSpPr>
        <p:spPr>
          <a:xfrm>
            <a:off x="5990507" y="6116449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1B0B8D-8B9B-1A9F-4AD7-F13670981AA9}"/>
              </a:ext>
            </a:extLst>
          </p:cNvPr>
          <p:cNvCxnSpPr>
            <a:cxnSpLocks/>
          </p:cNvCxnSpPr>
          <p:nvPr/>
        </p:nvCxnSpPr>
        <p:spPr>
          <a:xfrm>
            <a:off x="6623356" y="6094160"/>
            <a:ext cx="0" cy="44732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35B4AD3-DE37-BB94-F198-DE58B6946A86}"/>
                  </a:ext>
                </a:extLst>
              </p:cNvPr>
              <p:cNvSpPr txBox="1"/>
              <p:nvPr/>
            </p:nvSpPr>
            <p:spPr>
              <a:xfrm>
                <a:off x="5522555" y="5743727"/>
                <a:ext cx="338041" cy="280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35B4AD3-DE37-BB94-F198-DE58B6946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555" y="5743727"/>
                <a:ext cx="338041" cy="280333"/>
              </a:xfrm>
              <a:prstGeom prst="rect">
                <a:avLst/>
              </a:prstGeom>
              <a:blipFill>
                <a:blip r:embed="rId12"/>
                <a:stretch>
                  <a:fillRect l="-12727" r="-727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26DC72-8D76-8D43-D3A7-0E9C363F9A4D}"/>
                  </a:ext>
                </a:extLst>
              </p:cNvPr>
              <p:cNvSpPr txBox="1"/>
              <p:nvPr/>
            </p:nvSpPr>
            <p:spPr>
              <a:xfrm>
                <a:off x="5860596" y="5750394"/>
                <a:ext cx="338041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26DC72-8D76-8D43-D3A7-0E9C363F9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96" y="5750394"/>
                <a:ext cx="338041" cy="280846"/>
              </a:xfrm>
              <a:prstGeom prst="rect">
                <a:avLst/>
              </a:prstGeom>
              <a:blipFill>
                <a:blip r:embed="rId13"/>
                <a:stretch>
                  <a:fillRect l="-12500" r="-5357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7A0002E-94AE-BB09-0C88-EF113DD2B600}"/>
                  </a:ext>
                </a:extLst>
              </p:cNvPr>
              <p:cNvSpPr txBox="1"/>
              <p:nvPr/>
            </p:nvSpPr>
            <p:spPr>
              <a:xfrm>
                <a:off x="6430440" y="5686485"/>
                <a:ext cx="358624" cy="280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N" baseline="-25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7A0002E-94AE-BB09-0C88-EF113DD2B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440" y="5686485"/>
                <a:ext cx="358624" cy="280974"/>
              </a:xfrm>
              <a:prstGeom prst="rect">
                <a:avLst/>
              </a:prstGeom>
              <a:blipFill>
                <a:blip r:embed="rId14"/>
                <a:stretch>
                  <a:fillRect l="-11864" r="-5085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5EB2C5-6590-76EA-EC01-2D20745BDD4D}"/>
              </a:ext>
            </a:extLst>
          </p:cNvPr>
          <p:cNvCxnSpPr>
            <a:cxnSpLocks/>
          </p:cNvCxnSpPr>
          <p:nvPr/>
        </p:nvCxnSpPr>
        <p:spPr>
          <a:xfrm>
            <a:off x="6198637" y="5890817"/>
            <a:ext cx="260825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981B282-888B-CF7A-EA95-AD2D96E68B78}"/>
              </a:ext>
            </a:extLst>
          </p:cNvPr>
          <p:cNvSpPr/>
          <p:nvPr/>
        </p:nvSpPr>
        <p:spPr>
          <a:xfrm rot="16200000">
            <a:off x="1731761" y="5266441"/>
            <a:ext cx="142875" cy="14001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E922266-C2BE-D705-7B9C-AC9B52A36A0B}"/>
                  </a:ext>
                </a:extLst>
              </p:cNvPr>
              <p:cNvSpPr txBox="1"/>
              <p:nvPr/>
            </p:nvSpPr>
            <p:spPr>
              <a:xfrm>
                <a:off x="4260980" y="6094160"/>
                <a:ext cx="1907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E922266-C2BE-D705-7B9C-AC9B52A36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980" y="6094160"/>
                <a:ext cx="190757" cy="276999"/>
              </a:xfrm>
              <a:prstGeom prst="rect">
                <a:avLst/>
              </a:prstGeom>
              <a:blipFill>
                <a:blip r:embed="rId15"/>
                <a:stretch>
                  <a:fillRect l="-16129" r="-193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7F9EFB-D3F1-BEC1-0630-BA53E26B9222}"/>
                  </a:ext>
                </a:extLst>
              </p:cNvPr>
              <p:cNvSpPr txBox="1"/>
              <p:nvPr/>
            </p:nvSpPr>
            <p:spPr>
              <a:xfrm>
                <a:off x="3023735" y="5814624"/>
                <a:ext cx="1907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7F9EFB-D3F1-BEC1-0630-BA53E26B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735" y="5814624"/>
                <a:ext cx="190757" cy="276999"/>
              </a:xfrm>
              <a:prstGeom prst="rect">
                <a:avLst/>
              </a:prstGeom>
              <a:blipFill>
                <a:blip r:embed="rId16"/>
                <a:stretch>
                  <a:fillRect l="-19355" r="-25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003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027"/>
    </mc:Choice>
    <mc:Fallback xmlns="">
      <p:transition spd="slow" advTm="3180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5" grpId="0" animBg="1"/>
      <p:bldP spid="23" grpId="0"/>
      <p:bldP spid="33" grpId="0"/>
      <p:bldP spid="35" grpId="0" animBg="1"/>
      <p:bldP spid="36" grpId="0" animBg="1"/>
      <p:bldP spid="37" grpId="0" animBg="1"/>
      <p:bldP spid="9" grpId="0" animBg="1"/>
      <p:bldP spid="31" grpId="0"/>
      <p:bldP spid="32" grpId="0"/>
      <p:bldP spid="38" grpId="0"/>
      <p:bldP spid="43" grpId="0" animBg="1"/>
      <p:bldP spid="44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Simple Linear Models as Building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latin typeface="Abadi Extra Light" panose="020B0204020104020204" pitchFamily="34" charset="0"/>
                  </a:rPr>
                  <a:t>A linear model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 .</m:t>
                    </m:r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</a:t>
                </a:r>
                <a:r>
                  <a:rPr lang="en-IN" sz="2400" dirty="0">
                    <a:latin typeface="Abadi Extra Light" panose="020B0204020104020204" pitchFamily="34" charset="0"/>
                  </a:rPr>
                  <a:t>can also be used in classification problems</a:t>
                </a:r>
                <a:endParaRPr lang="en-IN" sz="2000" b="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9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For </a:t>
                </a:r>
                <a:r>
                  <a:rPr lang="en-GB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binary </a:t>
                </a:r>
                <a:r>
                  <a:rPr lang="en-GB" sz="2400" dirty="0" err="1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classfn</a:t>
                </a:r>
                <a:r>
                  <a:rPr lang="en-GB" sz="2400" dirty="0">
                    <a:latin typeface="Abadi Extra Light" panose="020B0204020104020204" pitchFamily="34" charset="0"/>
                  </a:rPr>
                  <a:t>, can treat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GB" sz="2400" b="1" i="1" dirty="0">
                        <a:latin typeface="Cambria Math" panose="02040503050406030204" pitchFamily="18" charset="0"/>
                      </a:rPr>
                      <m:t> .</m:t>
                    </m:r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as the “score” of input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and </a:t>
                </a:r>
                <a:r>
                  <a:rPr lang="en-GB" sz="2400" u="sng" dirty="0">
                    <a:latin typeface="Abadi Extra Light" panose="020B0204020104020204" pitchFamily="34" charset="0"/>
                  </a:rPr>
                  <a:t>threshold</a:t>
                </a:r>
                <a:r>
                  <a:rPr lang="en-GB" sz="2400" dirty="0">
                    <a:latin typeface="Abadi Extra Light" panose="020B0204020104020204" pitchFamily="34" charset="0"/>
                  </a:rPr>
                  <a:t> to get binary label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4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/>
                <a:stretch>
                  <a:fillRect l="-727" t="-1535" r="-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44989DB5-742F-4035-9DE9-7A4F7AFD5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586" y="2278100"/>
            <a:ext cx="1010687" cy="965223"/>
          </a:xfrm>
          <a:prstGeom prst="rect">
            <a:avLst/>
          </a:pr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56CC4F98-5479-45CD-9FAD-E327A7BD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629149"/>
            <a:ext cx="11811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Speech Bubble: Rectangle 37">
                <a:extLst>
                  <a:ext uri="{FF2B5EF4-FFF2-40B4-BE49-F238E27FC236}">
                    <a16:creationId xmlns:a16="http://schemas.microsoft.com/office/drawing/2014/main" id="{264C2CB1-D305-4787-990D-D82A74C2D1A0}"/>
                  </a:ext>
                </a:extLst>
              </p:cNvPr>
              <p:cNvSpPr/>
              <p:nvPr/>
            </p:nvSpPr>
            <p:spPr>
              <a:xfrm>
                <a:off x="1446345" y="4831290"/>
                <a:ext cx="2811329" cy="1589304"/>
              </a:xfrm>
              <a:prstGeom prst="wedgeRectCallout">
                <a:avLst>
                  <a:gd name="adj1" fmla="val -84283"/>
                  <a:gd name="adj2" fmla="val -15047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Wait – </a:t>
                </a:r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usually, the linear model is of the form </a:t>
                </a:r>
                <a:r>
                  <a:rPr lang="en-GB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y=w</a:t>
                </a:r>
                <a:r>
                  <a:rPr lang="en-GB" b="1" baseline="-25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1</a:t>
                </a:r>
                <a:r>
                  <a:rPr lang="en-GB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x</a:t>
                </a:r>
                <a:r>
                  <a:rPr lang="en-GB" b="1" baseline="-250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1</a:t>
                </a:r>
                <a:r>
                  <a:rPr lang="en-GB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+b </a:t>
                </a:r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or more generally </a:t>
                </a:r>
                <a14:m>
                  <m:oMath xmlns:m="http://schemas.openxmlformats.org/officeDocument/2006/math">
                    <m:r>
                      <a:rPr lang="en-GB" b="1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GB" b="1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GB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.</m:t>
                    </m:r>
                    <m:acc>
                      <m:accPr>
                        <m:chr m:val="⃗"/>
                        <m:ctrlP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GB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? Where did the “bias” term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go? </a:t>
                </a:r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8" name="Speech Bubble: Rectangle 37">
                <a:extLst>
                  <a:ext uri="{FF2B5EF4-FFF2-40B4-BE49-F238E27FC236}">
                    <a16:creationId xmlns:a16="http://schemas.microsoft.com/office/drawing/2014/main" id="{264C2CB1-D305-4787-990D-D82A74C2D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45" y="4831290"/>
                <a:ext cx="2811329" cy="1589304"/>
              </a:xfrm>
              <a:prstGeom prst="wedgeRectCallout">
                <a:avLst>
                  <a:gd name="adj1" fmla="val -84283"/>
                  <a:gd name="adj2" fmla="val -15047"/>
                </a:avLst>
              </a:prstGeom>
              <a:blipFill>
                <a:blip r:embed="rId6"/>
                <a:stretch>
                  <a:fillRect r="-1431" b="-1521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Speech Bubble: Rectangle 40">
                <a:extLst>
                  <a:ext uri="{FF2B5EF4-FFF2-40B4-BE49-F238E27FC236}">
                    <a16:creationId xmlns:a16="http://schemas.microsoft.com/office/drawing/2014/main" id="{CB515741-C3CE-41FE-ABC8-5D8D927108D9}"/>
                  </a:ext>
                </a:extLst>
              </p:cNvPr>
              <p:cNvSpPr/>
              <p:nvPr/>
            </p:nvSpPr>
            <p:spPr>
              <a:xfrm>
                <a:off x="6925931" y="2933873"/>
                <a:ext cx="3193763" cy="841207"/>
              </a:xfrm>
              <a:prstGeom prst="wedgeRectCallout">
                <a:avLst>
                  <a:gd name="adj1" fmla="val 81721"/>
                  <a:gd name="adj2" fmla="val -69410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Don’t worry. Can easily fold-in the bias term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here as shown in the figure below</a:t>
                </a:r>
                <a:endParaRPr lang="en-IN" b="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1" name="Speech Bubble: Rectangle 40">
                <a:extLst>
                  <a:ext uri="{FF2B5EF4-FFF2-40B4-BE49-F238E27FC236}">
                    <a16:creationId xmlns:a16="http://schemas.microsoft.com/office/drawing/2014/main" id="{CB515741-C3CE-41FE-ABC8-5D8D92710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931" y="2933873"/>
                <a:ext cx="3193763" cy="841207"/>
              </a:xfrm>
              <a:prstGeom prst="wedgeRectCallout">
                <a:avLst>
                  <a:gd name="adj1" fmla="val 81721"/>
                  <a:gd name="adj2" fmla="val -69410"/>
                </a:avLst>
              </a:prstGeom>
              <a:blipFill>
                <a:blip r:embed="rId7"/>
                <a:stretch>
                  <a:fillRect l="-1001" b="-1235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Speech Bubble: Rectangle 41">
                <a:extLst>
                  <a:ext uri="{FF2B5EF4-FFF2-40B4-BE49-F238E27FC236}">
                    <a16:creationId xmlns:a16="http://schemas.microsoft.com/office/drawing/2014/main" id="{28244BA1-ECB2-4119-8C75-DC1F452BD4D7}"/>
                  </a:ext>
                </a:extLst>
              </p:cNvPr>
              <p:cNvSpPr/>
              <p:nvPr/>
            </p:nvSpPr>
            <p:spPr>
              <a:xfrm>
                <a:off x="4486109" y="4532243"/>
                <a:ext cx="3625047" cy="2218731"/>
              </a:xfrm>
              <a:prstGeom prst="wedgeRectCallout">
                <a:avLst>
                  <a:gd name="adj1" fmla="val 39418"/>
                  <a:gd name="adj2" fmla="val -92825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Can append a constant feature “1” for each input and rewrite as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GB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.</m:t>
                    </m:r>
                    <m:acc>
                      <m:accPr>
                        <m:chr m:val="⃗"/>
                        <m:ctrlP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where now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IN" b="1" i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1×(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b="1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i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We will assume the same and omit the explicit bias for simplicity of notation</a:t>
                </a:r>
                <a:endParaRPr lang="en-IN" b="1" i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2" name="Speech Bubble: Rectangle 41">
                <a:extLst>
                  <a:ext uri="{FF2B5EF4-FFF2-40B4-BE49-F238E27FC236}">
                    <a16:creationId xmlns:a16="http://schemas.microsoft.com/office/drawing/2014/main" id="{28244BA1-ECB2-4119-8C75-DC1F452BD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109" y="4532243"/>
                <a:ext cx="3625047" cy="2218731"/>
              </a:xfrm>
              <a:prstGeom prst="wedgeRectCallout">
                <a:avLst>
                  <a:gd name="adj1" fmla="val 39418"/>
                  <a:gd name="adj2" fmla="val -92825"/>
                </a:avLst>
              </a:prstGeom>
              <a:blipFill>
                <a:blip r:embed="rId8"/>
                <a:stretch>
                  <a:fillRect l="-1340" b="-4198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5D3A217-6C6F-FD60-B032-1E49710A3C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134" y="2362283"/>
            <a:ext cx="6067425" cy="2038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B36404-4DF8-9424-6499-F8985A93788E}"/>
                  </a:ext>
                </a:extLst>
              </p:cNvPr>
              <p:cNvSpPr txBox="1"/>
              <p:nvPr/>
            </p:nvSpPr>
            <p:spPr>
              <a:xfrm>
                <a:off x="8400512" y="5133871"/>
                <a:ext cx="2982153" cy="1492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⃗"/>
                              <m:ctrlP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r>
                            <a:rPr lang="en-GB" sz="16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GB" sz="16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nary>
                      <m:r>
                        <a:rPr lang="en-GB" sz="1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⃗"/>
                              <m:ctrlP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r>
                            <a:rPr lang="en-GB" sz="16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B36404-4DF8-9424-6499-F8985A937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12" y="5133871"/>
                <a:ext cx="2982153" cy="14924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720E047-F664-19BF-D95E-1E4C9CE5A8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812" y="3853612"/>
            <a:ext cx="2982153" cy="11673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828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623"/>
    </mc:Choice>
    <mc:Fallback xmlns="">
      <p:transition spd="slow" advTm="2086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Simple Linear Models as Building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latin typeface="Abadi Extra Light" panose="020B0204020104020204" pitchFamily="34" charset="0"/>
                  </a:rPr>
                  <a:t>Linear models are also used in </a:t>
                </a:r>
                <a:r>
                  <a:rPr lang="en-IN" sz="24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multiclass classification </a:t>
                </a:r>
                <a:r>
                  <a:rPr lang="en-IN" sz="2400" dirty="0">
                    <a:latin typeface="Abadi Extra Light" panose="020B0204020104020204" pitchFamily="34" charset="0"/>
                  </a:rPr>
                  <a:t>problems</a:t>
                </a:r>
              </a:p>
              <a:p>
                <a:pPr marL="0" indent="0">
                  <a:buNone/>
                </a:pPr>
                <a:endParaRPr lang="en-IN" sz="8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latin typeface="Abadi Extra Light" panose="020B0204020104020204" pitchFamily="34" charset="0"/>
                  </a:rPr>
                  <a:t>Assuming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classes, we can assume the following model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Can think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acc>
                    <m:r>
                      <a:rPr lang="en-GB" sz="2400" b="1" i="1" dirty="0">
                        <a:latin typeface="Cambria Math" panose="02040503050406030204" pitchFamily="18" charset="0"/>
                      </a:rPr>
                      <m:t> . </m:t>
                    </m:r>
                    <m:acc>
                      <m:accPr>
                        <m:chr m:val="⃗"/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as the score of the input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class</a:t>
                </a: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Abadi Extra Light" panose="020B0204020104020204" pitchFamily="34" charset="0"/>
                  </a:rPr>
                  <a:t>Once learned (using some optimization technique), these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400" dirty="0">
                    <a:latin typeface="Abadi Extra Light" panose="020B0204020104020204" pitchFamily="34" charset="0"/>
                  </a:rPr>
                  <a:t> weight vectors (one for each class) can sometimes have nice interpretations, especially when the inputs are images</a:t>
                </a:r>
              </a:p>
              <a:p>
                <a:pPr marL="0" indent="0">
                  <a:buNone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4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4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0A06722-EDF2-4418-9797-499014F6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/>
                <a:stretch>
                  <a:fillRect l="-727" t="-1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156971C2-6806-478D-AC45-3E46F3F201C7}"/>
              </a:ext>
            </a:extLst>
          </p:cNvPr>
          <p:cNvSpPr txBox="1">
            <a:spLocks/>
          </p:cNvSpPr>
          <p:nvPr/>
        </p:nvSpPr>
        <p:spPr>
          <a:xfrm>
            <a:off x="11323930" y="136939"/>
            <a:ext cx="60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2FF8AA-BDCD-45C7-99C0-FFB7298B59D3}"/>
                  </a:ext>
                </a:extLst>
              </p:cNvPr>
              <p:cNvSpPr txBox="1"/>
              <p:nvPr/>
            </p:nvSpPr>
            <p:spPr>
              <a:xfrm>
                <a:off x="3629025" y="2433637"/>
                <a:ext cx="5000856" cy="540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320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32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∈{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1,2,…,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GB" sz="32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1" i="1" dirty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3200" b="1" i="1" dirty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acc>
                      <m:r>
                        <a:rPr lang="en-GB" sz="3200" b="1" i="1" dirty="0">
                          <a:latin typeface="Cambria Math" panose="02040503050406030204" pitchFamily="18" charset="0"/>
                        </a:rPr>
                        <m:t> . </m:t>
                      </m:r>
                      <m:acc>
                        <m:accPr>
                          <m:chr m:val="⃗"/>
                          <m:ctrlPr>
                            <a:rPr lang="en-GB" sz="32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2FF8AA-BDCD-45C7-99C0-FFB7298B5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025" y="2433637"/>
                <a:ext cx="5000856" cy="54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39CAA694-502F-498B-9A2E-58548ED28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168" y="4717563"/>
            <a:ext cx="102870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2B5924C-EF19-4C2E-BC52-15A0019D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568" y="4746138"/>
            <a:ext cx="10001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D757B095-CC00-4616-9ECD-4A6295025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572" y="4755663"/>
            <a:ext cx="1000125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41B1FDB-75C4-4B4F-B2B5-BF2140A0B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576" y="4777823"/>
            <a:ext cx="98107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E5DA1F-B486-4F95-9508-33A4606B0349}"/>
                  </a:ext>
                </a:extLst>
              </p:cNvPr>
              <p:cNvSpPr txBox="1"/>
              <p:nvPr/>
            </p:nvSpPr>
            <p:spPr>
              <a:xfrm>
                <a:off x="3579718" y="5760973"/>
                <a:ext cx="529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E5DA1F-B486-4F95-9508-33A4606B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718" y="5760973"/>
                <a:ext cx="529440" cy="276999"/>
              </a:xfrm>
              <a:prstGeom prst="rect">
                <a:avLst/>
              </a:prstGeom>
              <a:blipFill>
                <a:blip r:embed="rId9"/>
                <a:stretch>
                  <a:fillRect l="-5747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E93316-8B46-4BCE-81CD-4E4A7283552B}"/>
                  </a:ext>
                </a:extLst>
              </p:cNvPr>
              <p:cNvSpPr txBox="1"/>
              <p:nvPr/>
            </p:nvSpPr>
            <p:spPr>
              <a:xfrm>
                <a:off x="4783910" y="5754696"/>
                <a:ext cx="633314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𝑓𝑟𝑜𝑔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E93316-8B46-4BCE-81CD-4E4A72835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910" y="5754696"/>
                <a:ext cx="633314" cy="299569"/>
              </a:xfrm>
              <a:prstGeom prst="rect">
                <a:avLst/>
              </a:prstGeom>
              <a:blipFill>
                <a:blip r:embed="rId10"/>
                <a:stretch>
                  <a:fillRect l="-4808" r="-4808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5BC130-C354-496B-9E3C-93A3F7EC0397}"/>
                  </a:ext>
                </a:extLst>
              </p:cNvPr>
              <p:cNvSpPr txBox="1"/>
              <p:nvPr/>
            </p:nvSpPr>
            <p:spPr>
              <a:xfrm>
                <a:off x="6184085" y="5754696"/>
                <a:ext cx="715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h𝑜𝑟𝑠𝑒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5BC130-C354-496B-9E3C-93A3F7EC0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085" y="5754696"/>
                <a:ext cx="715132" cy="276999"/>
              </a:xfrm>
              <a:prstGeom prst="rect">
                <a:avLst/>
              </a:prstGeom>
              <a:blipFill>
                <a:blip r:embed="rId11"/>
                <a:stretch>
                  <a:fillRect l="-4237" r="-1695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989F31-2FC8-4600-8871-DDDB54FDDFD2}"/>
                  </a:ext>
                </a:extLst>
              </p:cNvPr>
              <p:cNvSpPr txBox="1"/>
              <p:nvPr/>
            </p:nvSpPr>
            <p:spPr>
              <a:xfrm>
                <a:off x="7565987" y="5746263"/>
                <a:ext cx="5125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989F31-2FC8-4600-8871-DDDB54FDD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987" y="5746263"/>
                <a:ext cx="512576" cy="276999"/>
              </a:xfrm>
              <a:prstGeom prst="rect">
                <a:avLst/>
              </a:prstGeom>
              <a:blipFill>
                <a:blip r:embed="rId12"/>
                <a:stretch>
                  <a:fillRect l="-5952" r="-3571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B8F742B2-DBE0-4449-9C93-00FA57FCA7F9}"/>
              </a:ext>
            </a:extLst>
          </p:cNvPr>
          <p:cNvSpPr/>
          <p:nvPr/>
        </p:nvSpPr>
        <p:spPr>
          <a:xfrm>
            <a:off x="314551" y="4774714"/>
            <a:ext cx="2481942" cy="1913604"/>
          </a:xfrm>
          <a:prstGeom prst="wedgeRectCallout">
            <a:avLst>
              <a:gd name="adj1" fmla="val 68529"/>
              <a:gd name="adj2" fmla="val -11754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The learned weight vectors of each of the 4 classes visualized as images – they kind of look like a “template” of what the images from that class should look like</a:t>
            </a:r>
            <a:endParaRPr lang="en-IN" sz="16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EE7F629-5418-4396-9392-950170A85726}"/>
              </a:ext>
            </a:extLst>
          </p:cNvPr>
          <p:cNvSpPr/>
          <p:nvPr/>
        </p:nvSpPr>
        <p:spPr>
          <a:xfrm>
            <a:off x="3078576" y="6122537"/>
            <a:ext cx="5481773" cy="562399"/>
          </a:xfrm>
          <a:prstGeom prst="wedgeRectCallout">
            <a:avLst>
              <a:gd name="adj1" fmla="val -55734"/>
              <a:gd name="adj2" fmla="val -1731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That’s why the dot product of each of these weight vectors with an image from the correct class will be expected to be the largest</a:t>
            </a:r>
            <a:endParaRPr lang="en-IN" sz="14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8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725"/>
    </mc:Choice>
    <mc:Fallback xmlns="">
      <p:transition spd="slow" advTm="3987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9" grpId="0"/>
      <p:bldP spid="20" grpId="0"/>
      <p:bldP spid="21" grpId="0"/>
      <p:bldP spid="22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Learning Linear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A948B-C3D4-4204-B2DD-0ACA7B418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7" y="1288807"/>
            <a:ext cx="10284031" cy="9308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760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94"/>
    </mc:Choice>
    <mc:Fallback xmlns="">
      <p:transition spd="slow" advTm="51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8.7|13.3|38.1|41.8|37.8|15.8|30.8|13.3|3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29.8|24.2|19.6|24.4|23.6|17.5|12.5|12.8|15.4|34.2|2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31.4|11.6|10.5|33.4|24.6|10.6|4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14.2|15.7|32.3|36.8|49.8|120.7|69|43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.3|23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8440</TotalTime>
  <Words>585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Abadi Extra Light</vt:lpstr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    Linear Models</vt:lpstr>
      <vt:lpstr>Linear Models</vt:lpstr>
      <vt:lpstr>Simple Linear Models as Building Blocks</vt:lpstr>
      <vt:lpstr>Simple Linear Models as Building Blocks</vt:lpstr>
      <vt:lpstr>Simple Linear Models as Building Blocks</vt:lpstr>
      <vt:lpstr>Learning Linear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Piyush Rai</dc:creator>
  <cp:lastModifiedBy>Prof. Manmath Narayan Sahoo</cp:lastModifiedBy>
  <cp:revision>869</cp:revision>
  <dcterms:created xsi:type="dcterms:W3CDTF">2020-07-07T20:42:16Z</dcterms:created>
  <dcterms:modified xsi:type="dcterms:W3CDTF">2026-01-08T18:47:06Z</dcterms:modified>
</cp:coreProperties>
</file>