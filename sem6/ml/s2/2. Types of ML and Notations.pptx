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1.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2"/>
  </p:notesMasterIdLst>
  <p:sldIdLst>
    <p:sldId id="256" r:id="rId3"/>
    <p:sldId id="270" r:id="rId4"/>
    <p:sldId id="277" r:id="rId5"/>
    <p:sldId id="278" r:id="rId6"/>
    <p:sldId id="279" r:id="rId7"/>
    <p:sldId id="280" r:id="rId8"/>
    <p:sldId id="281" r:id="rId9"/>
    <p:sldId id="282" r:id="rId10"/>
    <p:sldId id="284" r:id="rId11"/>
    <p:sldId id="285" r:id="rId12"/>
    <p:sldId id="283" r:id="rId13"/>
    <p:sldId id="288" r:id="rId14"/>
    <p:sldId id="290" r:id="rId15"/>
    <p:sldId id="297" r:id="rId16"/>
    <p:sldId id="293" r:id="rId17"/>
    <p:sldId id="294" r:id="rId18"/>
    <p:sldId id="298" r:id="rId19"/>
    <p:sldId id="295" r:id="rId20"/>
    <p:sldId id="29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9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FC04D3-A71C-4DF6-A0EC-73578846B5B9}" type="datetimeFigureOut">
              <a:rPr lang="en-IN" smtClean="0"/>
              <a:t>09-01-2026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399A3B-C46C-4B1C-8396-B08DE02C6651}" type="slidenum">
              <a:rPr lang="en-IN" smtClean="0"/>
              <a:t>‹#›</a:t>
            </a:fld>
            <a:endParaRPr lang="en-IN"/>
          </a:p>
        </p:txBody>
      </p:sp>
    </p:spTree>
    <p:extLst>
      <p:ext uri="{BB962C8B-B14F-4D97-AF65-F5344CB8AC3E}">
        <p14:creationId xmlns:p14="http://schemas.microsoft.com/office/powerpoint/2010/main" val="2202310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0399A3B-C46C-4B1C-8396-B08DE02C6651}" type="slidenum">
              <a:rPr lang="en-IN" smtClean="0"/>
              <a:t>12</a:t>
            </a:fld>
            <a:endParaRPr lang="en-IN"/>
          </a:p>
        </p:txBody>
      </p:sp>
    </p:spTree>
    <p:extLst>
      <p:ext uri="{BB962C8B-B14F-4D97-AF65-F5344CB8AC3E}">
        <p14:creationId xmlns:p14="http://schemas.microsoft.com/office/powerpoint/2010/main" val="34359653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B2529-A4A5-2163-9E45-EF9B3AE177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3AA5E86-2ECB-5591-3D93-B76DB1A2CC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F035D53-53A2-2237-CB51-6DE21CEAEA63}"/>
              </a:ext>
            </a:extLst>
          </p:cNvPr>
          <p:cNvSpPr>
            <a:spLocks noGrp="1"/>
          </p:cNvSpPr>
          <p:nvPr>
            <p:ph type="dt" sz="half" idx="10"/>
          </p:nvPr>
        </p:nvSpPr>
        <p:spPr/>
        <p:txBody>
          <a:bodyPr/>
          <a:lstStyle/>
          <a:p>
            <a:fld id="{4E91B5D1-4C17-46EA-A77A-FA565E8FA75F}" type="datetimeFigureOut">
              <a:rPr lang="en-IN" smtClean="0"/>
              <a:t>09-01-2026</a:t>
            </a:fld>
            <a:endParaRPr lang="en-IN"/>
          </a:p>
        </p:txBody>
      </p:sp>
      <p:sp>
        <p:nvSpPr>
          <p:cNvPr id="5" name="Footer Placeholder 4">
            <a:extLst>
              <a:ext uri="{FF2B5EF4-FFF2-40B4-BE49-F238E27FC236}">
                <a16:creationId xmlns:a16="http://schemas.microsoft.com/office/drawing/2014/main" id="{169D0BF6-8296-D664-4F8C-0F13CEE4BF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798D98-9C07-4E79-1CA3-CC8D3A38D344}"/>
              </a:ext>
            </a:extLst>
          </p:cNvPr>
          <p:cNvSpPr>
            <a:spLocks noGrp="1"/>
          </p:cNvSpPr>
          <p:nvPr>
            <p:ph type="sldNum" sz="quarter" idx="12"/>
          </p:nvPr>
        </p:nvSpPr>
        <p:spPr/>
        <p:txBody>
          <a:bodyPr/>
          <a:lstStyle/>
          <a:p>
            <a:fld id="{C36FDDC0-DA64-43F6-81E5-EA6231BE836E}" type="slidenum">
              <a:rPr lang="en-IN" smtClean="0"/>
              <a:t>‹#›</a:t>
            </a:fld>
            <a:endParaRPr lang="en-IN"/>
          </a:p>
        </p:txBody>
      </p:sp>
    </p:spTree>
    <p:extLst>
      <p:ext uri="{BB962C8B-B14F-4D97-AF65-F5344CB8AC3E}">
        <p14:creationId xmlns:p14="http://schemas.microsoft.com/office/powerpoint/2010/main" val="40311214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A26DC-A182-0A6B-3BF1-0D0C169B50A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886F601-1FCE-1341-8B7B-55C288973CBF}"/>
              </a:ext>
            </a:extLst>
          </p:cNvPr>
          <p:cNvSpPr>
            <a:spLocks noGrp="1"/>
          </p:cNvSpPr>
          <p:nvPr>
            <p:ph idx="1"/>
          </p:nvPr>
        </p:nvSpPr>
        <p:spPr/>
        <p:txBody>
          <a:bodyPr/>
          <a:lstStyle>
            <a:lvl1pPr algn="just">
              <a:lnSpc>
                <a:spcPct val="114000"/>
              </a:lnSpc>
              <a:defRPr/>
            </a:lvl1pPr>
            <a:lvl2pPr algn="just">
              <a:lnSpc>
                <a:spcPct val="114000"/>
              </a:lnSpc>
              <a:defRPr/>
            </a:lvl2pPr>
            <a:lvl3pPr algn="just">
              <a:lnSpc>
                <a:spcPct val="114000"/>
              </a:lnSpc>
              <a:defRPr/>
            </a:lvl3pPr>
            <a:lvl4pPr algn="just">
              <a:lnSpc>
                <a:spcPct val="114000"/>
              </a:lnSpc>
              <a:defRPr/>
            </a:lvl4pPr>
            <a:lvl5pPr algn="just">
              <a:lnSpc>
                <a:spcPct val="114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16C20086-6C70-1D10-A845-DA26B0DF2653}"/>
              </a:ext>
            </a:extLst>
          </p:cNvPr>
          <p:cNvSpPr>
            <a:spLocks noGrp="1"/>
          </p:cNvSpPr>
          <p:nvPr>
            <p:ph type="dt" sz="half" idx="10"/>
          </p:nvPr>
        </p:nvSpPr>
        <p:spPr/>
        <p:txBody>
          <a:bodyPr/>
          <a:lstStyle/>
          <a:p>
            <a:fld id="{4E91B5D1-4C17-46EA-A77A-FA565E8FA75F}" type="datetimeFigureOut">
              <a:rPr lang="en-IN" smtClean="0"/>
              <a:t>09-01-2026</a:t>
            </a:fld>
            <a:endParaRPr lang="en-IN"/>
          </a:p>
        </p:txBody>
      </p:sp>
      <p:sp>
        <p:nvSpPr>
          <p:cNvPr id="5" name="Footer Placeholder 4">
            <a:extLst>
              <a:ext uri="{FF2B5EF4-FFF2-40B4-BE49-F238E27FC236}">
                <a16:creationId xmlns:a16="http://schemas.microsoft.com/office/drawing/2014/main" id="{38659910-93C8-25E3-5204-01DE26CFC0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60B266-3874-A675-C2C3-7F02F64E3F0F}"/>
              </a:ext>
            </a:extLst>
          </p:cNvPr>
          <p:cNvSpPr>
            <a:spLocks noGrp="1"/>
          </p:cNvSpPr>
          <p:nvPr>
            <p:ph type="sldNum" sz="quarter" idx="12"/>
          </p:nvPr>
        </p:nvSpPr>
        <p:spPr/>
        <p:txBody>
          <a:bodyPr/>
          <a:lstStyle/>
          <a:p>
            <a:fld id="{C36FDDC0-DA64-43F6-81E5-EA6231BE836E}" type="slidenum">
              <a:rPr lang="en-IN" smtClean="0"/>
              <a:t>‹#›</a:t>
            </a:fld>
            <a:endParaRPr lang="en-IN"/>
          </a:p>
        </p:txBody>
      </p:sp>
    </p:spTree>
    <p:extLst>
      <p:ext uri="{BB962C8B-B14F-4D97-AF65-F5344CB8AC3E}">
        <p14:creationId xmlns:p14="http://schemas.microsoft.com/office/powerpoint/2010/main" val="2270131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42F4B-9A61-5187-70A1-4FEE0C26EB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9E74954-9EFE-4E34-B07C-F833CBB1191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2BCFF8-8A37-3FF8-99F5-B4C2C02B2F60}"/>
              </a:ext>
            </a:extLst>
          </p:cNvPr>
          <p:cNvSpPr>
            <a:spLocks noGrp="1"/>
          </p:cNvSpPr>
          <p:nvPr>
            <p:ph type="dt" sz="half" idx="10"/>
          </p:nvPr>
        </p:nvSpPr>
        <p:spPr/>
        <p:txBody>
          <a:bodyPr/>
          <a:lstStyle/>
          <a:p>
            <a:fld id="{4E91B5D1-4C17-46EA-A77A-FA565E8FA75F}" type="datetimeFigureOut">
              <a:rPr lang="en-IN" smtClean="0"/>
              <a:t>09-01-2026</a:t>
            </a:fld>
            <a:endParaRPr lang="en-IN"/>
          </a:p>
        </p:txBody>
      </p:sp>
      <p:sp>
        <p:nvSpPr>
          <p:cNvPr id="5" name="Footer Placeholder 4">
            <a:extLst>
              <a:ext uri="{FF2B5EF4-FFF2-40B4-BE49-F238E27FC236}">
                <a16:creationId xmlns:a16="http://schemas.microsoft.com/office/drawing/2014/main" id="{022257E6-AA9F-35AE-4A2D-B6D28889CE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EBDAED-AF57-C37C-2F4D-685E38A07007}"/>
              </a:ext>
            </a:extLst>
          </p:cNvPr>
          <p:cNvSpPr>
            <a:spLocks noGrp="1"/>
          </p:cNvSpPr>
          <p:nvPr>
            <p:ph type="sldNum" sz="quarter" idx="12"/>
          </p:nvPr>
        </p:nvSpPr>
        <p:spPr/>
        <p:txBody>
          <a:bodyPr/>
          <a:lstStyle/>
          <a:p>
            <a:fld id="{C36FDDC0-DA64-43F6-81E5-EA6231BE836E}" type="slidenum">
              <a:rPr lang="en-IN" smtClean="0"/>
              <a:t>‹#›</a:t>
            </a:fld>
            <a:endParaRPr lang="en-IN"/>
          </a:p>
        </p:txBody>
      </p:sp>
    </p:spTree>
    <p:extLst>
      <p:ext uri="{BB962C8B-B14F-4D97-AF65-F5344CB8AC3E}">
        <p14:creationId xmlns:p14="http://schemas.microsoft.com/office/powerpoint/2010/main" val="15785560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1DC2D-D2F7-B650-B887-1052F4CC7A4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DA0207E-1129-6B41-F3FB-19537D6666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424E2F8-F46C-EE9B-2ABE-E762B81E10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0A490E4-FDCD-B5C1-C3DD-249EA326C4AE}"/>
              </a:ext>
            </a:extLst>
          </p:cNvPr>
          <p:cNvSpPr>
            <a:spLocks noGrp="1"/>
          </p:cNvSpPr>
          <p:nvPr>
            <p:ph type="dt" sz="half" idx="10"/>
          </p:nvPr>
        </p:nvSpPr>
        <p:spPr/>
        <p:txBody>
          <a:bodyPr/>
          <a:lstStyle/>
          <a:p>
            <a:fld id="{4E91B5D1-4C17-46EA-A77A-FA565E8FA75F}" type="datetimeFigureOut">
              <a:rPr lang="en-IN" smtClean="0"/>
              <a:t>09-01-2026</a:t>
            </a:fld>
            <a:endParaRPr lang="en-IN"/>
          </a:p>
        </p:txBody>
      </p:sp>
      <p:sp>
        <p:nvSpPr>
          <p:cNvPr id="6" name="Footer Placeholder 5">
            <a:extLst>
              <a:ext uri="{FF2B5EF4-FFF2-40B4-BE49-F238E27FC236}">
                <a16:creationId xmlns:a16="http://schemas.microsoft.com/office/drawing/2014/main" id="{69D22F23-B5DD-1279-3F83-BF18FA0526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B3CD496-C71B-5594-45CE-272A91552064}"/>
              </a:ext>
            </a:extLst>
          </p:cNvPr>
          <p:cNvSpPr>
            <a:spLocks noGrp="1"/>
          </p:cNvSpPr>
          <p:nvPr>
            <p:ph type="sldNum" sz="quarter" idx="12"/>
          </p:nvPr>
        </p:nvSpPr>
        <p:spPr/>
        <p:txBody>
          <a:bodyPr/>
          <a:lstStyle/>
          <a:p>
            <a:fld id="{C36FDDC0-DA64-43F6-81E5-EA6231BE836E}" type="slidenum">
              <a:rPr lang="en-IN" smtClean="0"/>
              <a:t>‹#›</a:t>
            </a:fld>
            <a:endParaRPr lang="en-IN"/>
          </a:p>
        </p:txBody>
      </p:sp>
    </p:spTree>
    <p:extLst>
      <p:ext uri="{BB962C8B-B14F-4D97-AF65-F5344CB8AC3E}">
        <p14:creationId xmlns:p14="http://schemas.microsoft.com/office/powerpoint/2010/main" val="3607836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2F690-D7A0-A21F-2B52-A5BF5340E99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9CEF0AC-E2A9-820F-B5D7-00C0DF8E3F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F3F98B-11AC-2269-A271-AF0F8DAE7E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5FB6B55-E352-5E34-D733-8F617B9EE3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98C170-27EC-37C1-E2F9-FF55FE1B4E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752D87A-B15D-56F2-0E4A-4886FEC4ADEF}"/>
              </a:ext>
            </a:extLst>
          </p:cNvPr>
          <p:cNvSpPr>
            <a:spLocks noGrp="1"/>
          </p:cNvSpPr>
          <p:nvPr>
            <p:ph type="dt" sz="half" idx="10"/>
          </p:nvPr>
        </p:nvSpPr>
        <p:spPr/>
        <p:txBody>
          <a:bodyPr/>
          <a:lstStyle/>
          <a:p>
            <a:fld id="{4E91B5D1-4C17-46EA-A77A-FA565E8FA75F}" type="datetimeFigureOut">
              <a:rPr lang="en-IN" smtClean="0"/>
              <a:t>09-01-2026</a:t>
            </a:fld>
            <a:endParaRPr lang="en-IN"/>
          </a:p>
        </p:txBody>
      </p:sp>
      <p:sp>
        <p:nvSpPr>
          <p:cNvPr id="8" name="Footer Placeholder 7">
            <a:extLst>
              <a:ext uri="{FF2B5EF4-FFF2-40B4-BE49-F238E27FC236}">
                <a16:creationId xmlns:a16="http://schemas.microsoft.com/office/drawing/2014/main" id="{809B51F6-2A0C-9B84-3E9C-71BEE11F119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1C5D0F-214D-A3E1-2D27-9C06D7F00DE0}"/>
              </a:ext>
            </a:extLst>
          </p:cNvPr>
          <p:cNvSpPr>
            <a:spLocks noGrp="1"/>
          </p:cNvSpPr>
          <p:nvPr>
            <p:ph type="sldNum" sz="quarter" idx="12"/>
          </p:nvPr>
        </p:nvSpPr>
        <p:spPr/>
        <p:txBody>
          <a:bodyPr/>
          <a:lstStyle/>
          <a:p>
            <a:fld id="{C36FDDC0-DA64-43F6-81E5-EA6231BE836E}" type="slidenum">
              <a:rPr lang="en-IN" smtClean="0"/>
              <a:t>‹#›</a:t>
            </a:fld>
            <a:endParaRPr lang="en-IN"/>
          </a:p>
        </p:txBody>
      </p:sp>
    </p:spTree>
    <p:extLst>
      <p:ext uri="{BB962C8B-B14F-4D97-AF65-F5344CB8AC3E}">
        <p14:creationId xmlns:p14="http://schemas.microsoft.com/office/powerpoint/2010/main" val="3288870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D46EC-96CA-80CA-DDDD-DDBBEF88129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54C714F-F075-A042-07A6-6E012E292850}"/>
              </a:ext>
            </a:extLst>
          </p:cNvPr>
          <p:cNvSpPr>
            <a:spLocks noGrp="1"/>
          </p:cNvSpPr>
          <p:nvPr>
            <p:ph type="dt" sz="half" idx="10"/>
          </p:nvPr>
        </p:nvSpPr>
        <p:spPr/>
        <p:txBody>
          <a:bodyPr/>
          <a:lstStyle/>
          <a:p>
            <a:fld id="{4E91B5D1-4C17-46EA-A77A-FA565E8FA75F}" type="datetimeFigureOut">
              <a:rPr lang="en-IN" smtClean="0"/>
              <a:t>09-01-2026</a:t>
            </a:fld>
            <a:endParaRPr lang="en-IN"/>
          </a:p>
        </p:txBody>
      </p:sp>
      <p:sp>
        <p:nvSpPr>
          <p:cNvPr id="4" name="Footer Placeholder 3">
            <a:extLst>
              <a:ext uri="{FF2B5EF4-FFF2-40B4-BE49-F238E27FC236}">
                <a16:creationId xmlns:a16="http://schemas.microsoft.com/office/drawing/2014/main" id="{DE4629C2-913F-7040-45DF-DE1E10DCED3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85A3341-9993-E548-9BA8-BAB469BC1FDC}"/>
              </a:ext>
            </a:extLst>
          </p:cNvPr>
          <p:cNvSpPr>
            <a:spLocks noGrp="1"/>
          </p:cNvSpPr>
          <p:nvPr>
            <p:ph type="sldNum" sz="quarter" idx="12"/>
          </p:nvPr>
        </p:nvSpPr>
        <p:spPr/>
        <p:txBody>
          <a:bodyPr/>
          <a:lstStyle/>
          <a:p>
            <a:fld id="{C36FDDC0-DA64-43F6-81E5-EA6231BE836E}" type="slidenum">
              <a:rPr lang="en-IN" smtClean="0"/>
              <a:t>‹#›</a:t>
            </a:fld>
            <a:endParaRPr lang="en-IN"/>
          </a:p>
        </p:txBody>
      </p:sp>
    </p:spTree>
    <p:extLst>
      <p:ext uri="{BB962C8B-B14F-4D97-AF65-F5344CB8AC3E}">
        <p14:creationId xmlns:p14="http://schemas.microsoft.com/office/powerpoint/2010/main" val="38382055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D9228D-A319-707F-5EC8-D1842B211152}"/>
              </a:ext>
            </a:extLst>
          </p:cNvPr>
          <p:cNvSpPr>
            <a:spLocks noGrp="1"/>
          </p:cNvSpPr>
          <p:nvPr>
            <p:ph type="dt" sz="half" idx="10"/>
          </p:nvPr>
        </p:nvSpPr>
        <p:spPr/>
        <p:txBody>
          <a:bodyPr/>
          <a:lstStyle/>
          <a:p>
            <a:fld id="{4E91B5D1-4C17-46EA-A77A-FA565E8FA75F}" type="datetimeFigureOut">
              <a:rPr lang="en-IN" smtClean="0"/>
              <a:t>09-01-2026</a:t>
            </a:fld>
            <a:endParaRPr lang="en-IN"/>
          </a:p>
        </p:txBody>
      </p:sp>
      <p:sp>
        <p:nvSpPr>
          <p:cNvPr id="3" name="Footer Placeholder 2">
            <a:extLst>
              <a:ext uri="{FF2B5EF4-FFF2-40B4-BE49-F238E27FC236}">
                <a16:creationId xmlns:a16="http://schemas.microsoft.com/office/drawing/2014/main" id="{12D06FC3-3BB3-09FA-15C8-D10A335A4CE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CEC8D3D-E7C2-0726-006D-8F89D2648703}"/>
              </a:ext>
            </a:extLst>
          </p:cNvPr>
          <p:cNvSpPr>
            <a:spLocks noGrp="1"/>
          </p:cNvSpPr>
          <p:nvPr>
            <p:ph type="sldNum" sz="quarter" idx="12"/>
          </p:nvPr>
        </p:nvSpPr>
        <p:spPr/>
        <p:txBody>
          <a:bodyPr/>
          <a:lstStyle/>
          <a:p>
            <a:fld id="{C36FDDC0-DA64-43F6-81E5-EA6231BE836E}" type="slidenum">
              <a:rPr lang="en-IN" smtClean="0"/>
              <a:t>‹#›</a:t>
            </a:fld>
            <a:endParaRPr lang="en-IN"/>
          </a:p>
        </p:txBody>
      </p:sp>
    </p:spTree>
    <p:extLst>
      <p:ext uri="{BB962C8B-B14F-4D97-AF65-F5344CB8AC3E}">
        <p14:creationId xmlns:p14="http://schemas.microsoft.com/office/powerpoint/2010/main" val="2413040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B6F1E-DBE5-057E-1C46-C04873C2CD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DBE0983-7201-98FD-12DB-BE7C3EF7BE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40EAF39-8060-4EC6-AB61-D9A389EA68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9A19BB-969D-B4EA-DE2A-4886A6BDF5AE}"/>
              </a:ext>
            </a:extLst>
          </p:cNvPr>
          <p:cNvSpPr>
            <a:spLocks noGrp="1"/>
          </p:cNvSpPr>
          <p:nvPr>
            <p:ph type="dt" sz="half" idx="10"/>
          </p:nvPr>
        </p:nvSpPr>
        <p:spPr/>
        <p:txBody>
          <a:bodyPr/>
          <a:lstStyle/>
          <a:p>
            <a:fld id="{4E91B5D1-4C17-46EA-A77A-FA565E8FA75F}" type="datetimeFigureOut">
              <a:rPr lang="en-IN" smtClean="0"/>
              <a:t>09-01-2026</a:t>
            </a:fld>
            <a:endParaRPr lang="en-IN"/>
          </a:p>
        </p:txBody>
      </p:sp>
      <p:sp>
        <p:nvSpPr>
          <p:cNvPr id="6" name="Footer Placeholder 5">
            <a:extLst>
              <a:ext uri="{FF2B5EF4-FFF2-40B4-BE49-F238E27FC236}">
                <a16:creationId xmlns:a16="http://schemas.microsoft.com/office/drawing/2014/main" id="{B0C310E8-3EEB-0E2B-89C4-BE39C35D5F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2D67E1B-9AFD-3B91-6A62-84EEE342A7D2}"/>
              </a:ext>
            </a:extLst>
          </p:cNvPr>
          <p:cNvSpPr>
            <a:spLocks noGrp="1"/>
          </p:cNvSpPr>
          <p:nvPr>
            <p:ph type="sldNum" sz="quarter" idx="12"/>
          </p:nvPr>
        </p:nvSpPr>
        <p:spPr/>
        <p:txBody>
          <a:bodyPr/>
          <a:lstStyle/>
          <a:p>
            <a:fld id="{C36FDDC0-DA64-43F6-81E5-EA6231BE836E}" type="slidenum">
              <a:rPr lang="en-IN" smtClean="0"/>
              <a:t>‹#›</a:t>
            </a:fld>
            <a:endParaRPr lang="en-IN"/>
          </a:p>
        </p:txBody>
      </p:sp>
    </p:spTree>
    <p:extLst>
      <p:ext uri="{BB962C8B-B14F-4D97-AF65-F5344CB8AC3E}">
        <p14:creationId xmlns:p14="http://schemas.microsoft.com/office/powerpoint/2010/main" val="38113150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9092E-50C4-1946-C272-CCE9A84EBC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2297417-0D9D-4CDB-8F1A-709351C6D4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01C473F-0021-5D0D-991C-4F7C4AD65B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20A5D8-5854-9667-88FF-874B677F3A5A}"/>
              </a:ext>
            </a:extLst>
          </p:cNvPr>
          <p:cNvSpPr>
            <a:spLocks noGrp="1"/>
          </p:cNvSpPr>
          <p:nvPr>
            <p:ph type="dt" sz="half" idx="10"/>
          </p:nvPr>
        </p:nvSpPr>
        <p:spPr/>
        <p:txBody>
          <a:bodyPr/>
          <a:lstStyle/>
          <a:p>
            <a:fld id="{4E91B5D1-4C17-46EA-A77A-FA565E8FA75F}" type="datetimeFigureOut">
              <a:rPr lang="en-IN" smtClean="0"/>
              <a:t>09-01-2026</a:t>
            </a:fld>
            <a:endParaRPr lang="en-IN"/>
          </a:p>
        </p:txBody>
      </p:sp>
      <p:sp>
        <p:nvSpPr>
          <p:cNvPr id="6" name="Footer Placeholder 5">
            <a:extLst>
              <a:ext uri="{FF2B5EF4-FFF2-40B4-BE49-F238E27FC236}">
                <a16:creationId xmlns:a16="http://schemas.microsoft.com/office/drawing/2014/main" id="{5D478212-A2D9-320A-95FC-8DFE8392E43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14B3145-9C4A-98F5-1F22-713E31F41D8F}"/>
              </a:ext>
            </a:extLst>
          </p:cNvPr>
          <p:cNvSpPr>
            <a:spLocks noGrp="1"/>
          </p:cNvSpPr>
          <p:nvPr>
            <p:ph type="sldNum" sz="quarter" idx="12"/>
          </p:nvPr>
        </p:nvSpPr>
        <p:spPr/>
        <p:txBody>
          <a:bodyPr/>
          <a:lstStyle/>
          <a:p>
            <a:fld id="{C36FDDC0-DA64-43F6-81E5-EA6231BE836E}" type="slidenum">
              <a:rPr lang="en-IN" smtClean="0"/>
              <a:t>‹#›</a:t>
            </a:fld>
            <a:endParaRPr lang="en-IN"/>
          </a:p>
        </p:txBody>
      </p:sp>
    </p:spTree>
    <p:extLst>
      <p:ext uri="{BB962C8B-B14F-4D97-AF65-F5344CB8AC3E}">
        <p14:creationId xmlns:p14="http://schemas.microsoft.com/office/powerpoint/2010/main" val="576948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54FF4-04D1-2FF3-6185-07D5F44F03B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A18906C-2552-4F6F-3B0F-4B92CA81B7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B5653E-D215-63F9-68F5-9C4CD0D3ADD7}"/>
              </a:ext>
            </a:extLst>
          </p:cNvPr>
          <p:cNvSpPr>
            <a:spLocks noGrp="1"/>
          </p:cNvSpPr>
          <p:nvPr>
            <p:ph type="dt" sz="half" idx="10"/>
          </p:nvPr>
        </p:nvSpPr>
        <p:spPr/>
        <p:txBody>
          <a:bodyPr/>
          <a:lstStyle/>
          <a:p>
            <a:fld id="{4E91B5D1-4C17-46EA-A77A-FA565E8FA75F}" type="datetimeFigureOut">
              <a:rPr lang="en-IN" smtClean="0"/>
              <a:t>09-01-2026</a:t>
            </a:fld>
            <a:endParaRPr lang="en-IN"/>
          </a:p>
        </p:txBody>
      </p:sp>
      <p:sp>
        <p:nvSpPr>
          <p:cNvPr id="5" name="Footer Placeholder 4">
            <a:extLst>
              <a:ext uri="{FF2B5EF4-FFF2-40B4-BE49-F238E27FC236}">
                <a16:creationId xmlns:a16="http://schemas.microsoft.com/office/drawing/2014/main" id="{41652EC5-49E9-E474-B7CC-89D1102300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080E569-FBD9-914A-465E-8EAD5BAFE358}"/>
              </a:ext>
            </a:extLst>
          </p:cNvPr>
          <p:cNvSpPr>
            <a:spLocks noGrp="1"/>
          </p:cNvSpPr>
          <p:nvPr>
            <p:ph type="sldNum" sz="quarter" idx="12"/>
          </p:nvPr>
        </p:nvSpPr>
        <p:spPr/>
        <p:txBody>
          <a:bodyPr/>
          <a:lstStyle/>
          <a:p>
            <a:fld id="{C36FDDC0-DA64-43F6-81E5-EA6231BE836E}" type="slidenum">
              <a:rPr lang="en-IN" smtClean="0"/>
              <a:t>‹#›</a:t>
            </a:fld>
            <a:endParaRPr lang="en-IN"/>
          </a:p>
        </p:txBody>
      </p:sp>
    </p:spTree>
    <p:extLst>
      <p:ext uri="{BB962C8B-B14F-4D97-AF65-F5344CB8AC3E}">
        <p14:creationId xmlns:p14="http://schemas.microsoft.com/office/powerpoint/2010/main" val="4276419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79CC2D-AD36-6D2E-04E1-92E765F4226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352F1B9-970A-CB01-EEA8-76C1694E575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9D6A62-95CD-F3F3-7C3F-39B71F9F908E}"/>
              </a:ext>
            </a:extLst>
          </p:cNvPr>
          <p:cNvSpPr>
            <a:spLocks noGrp="1"/>
          </p:cNvSpPr>
          <p:nvPr>
            <p:ph type="dt" sz="half" idx="10"/>
          </p:nvPr>
        </p:nvSpPr>
        <p:spPr/>
        <p:txBody>
          <a:bodyPr/>
          <a:lstStyle/>
          <a:p>
            <a:fld id="{4E91B5D1-4C17-46EA-A77A-FA565E8FA75F}" type="datetimeFigureOut">
              <a:rPr lang="en-IN" smtClean="0"/>
              <a:t>09-01-2026</a:t>
            </a:fld>
            <a:endParaRPr lang="en-IN"/>
          </a:p>
        </p:txBody>
      </p:sp>
      <p:sp>
        <p:nvSpPr>
          <p:cNvPr id="5" name="Footer Placeholder 4">
            <a:extLst>
              <a:ext uri="{FF2B5EF4-FFF2-40B4-BE49-F238E27FC236}">
                <a16:creationId xmlns:a16="http://schemas.microsoft.com/office/drawing/2014/main" id="{A0933F5C-4DEA-358B-BFBF-544D279DE8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4CB813-CACB-8270-51F1-869900E6CE11}"/>
              </a:ext>
            </a:extLst>
          </p:cNvPr>
          <p:cNvSpPr>
            <a:spLocks noGrp="1"/>
          </p:cNvSpPr>
          <p:nvPr>
            <p:ph type="sldNum" sz="quarter" idx="12"/>
          </p:nvPr>
        </p:nvSpPr>
        <p:spPr/>
        <p:txBody>
          <a:bodyPr/>
          <a:lstStyle/>
          <a:p>
            <a:fld id="{C36FDDC0-DA64-43F6-81E5-EA6231BE836E}" type="slidenum">
              <a:rPr lang="en-IN" smtClean="0"/>
              <a:t>‹#›</a:t>
            </a:fld>
            <a:endParaRPr lang="en-IN"/>
          </a:p>
        </p:txBody>
      </p:sp>
    </p:spTree>
    <p:extLst>
      <p:ext uri="{BB962C8B-B14F-4D97-AF65-F5344CB8AC3E}">
        <p14:creationId xmlns:p14="http://schemas.microsoft.com/office/powerpoint/2010/main" val="8346190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02E8B-E765-4F58-A257-0E1E2EC1E1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FB0D9F0-86A6-48DF-B30E-B84487765E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67E9CD7-9DDA-4CF9-AA93-4DE94EF05F48}"/>
              </a:ext>
            </a:extLst>
          </p:cNvPr>
          <p:cNvSpPr>
            <a:spLocks noGrp="1"/>
          </p:cNvSpPr>
          <p:nvPr>
            <p:ph type="dt" sz="half" idx="10"/>
          </p:nvPr>
        </p:nvSpPr>
        <p:spPr/>
        <p:txBody>
          <a:bodyPr/>
          <a:lstStyle/>
          <a:p>
            <a:fld id="{66A9955A-2DC5-4511-A53D-598F496EDEEE}" type="datetime1">
              <a:rPr lang="en-IN" smtClean="0"/>
              <a:t>09-01-2026</a:t>
            </a:fld>
            <a:endParaRPr lang="en-IN"/>
          </a:p>
        </p:txBody>
      </p:sp>
      <p:sp>
        <p:nvSpPr>
          <p:cNvPr id="5" name="Footer Placeholder 4">
            <a:extLst>
              <a:ext uri="{FF2B5EF4-FFF2-40B4-BE49-F238E27FC236}">
                <a16:creationId xmlns:a16="http://schemas.microsoft.com/office/drawing/2014/main" id="{1C5422E9-1D05-4AD0-BFC0-2527F71217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BFB85C-0DA1-4C64-8F01-7A91FEF10534}"/>
              </a:ext>
            </a:extLst>
          </p:cNvPr>
          <p:cNvSpPr>
            <a:spLocks noGrp="1"/>
          </p:cNvSpPr>
          <p:nvPr>
            <p:ph type="sldNum" sz="quarter" idx="12"/>
          </p:nvPr>
        </p:nvSpPr>
        <p:spPr/>
        <p:txBody>
          <a:bodyPr/>
          <a:lstStyle/>
          <a:p>
            <a:fld id="{80FED9D3-AF84-488D-8A6A-726D5349CDAB}" type="slidenum">
              <a:rPr lang="en-IN" smtClean="0"/>
              <a:t>‹#›</a:t>
            </a:fld>
            <a:endParaRPr lang="en-IN"/>
          </a:p>
        </p:txBody>
      </p:sp>
    </p:spTree>
    <p:extLst>
      <p:ext uri="{BB962C8B-B14F-4D97-AF65-F5344CB8AC3E}">
        <p14:creationId xmlns:p14="http://schemas.microsoft.com/office/powerpoint/2010/main" val="30669163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BDEA5-031B-494A-B467-EFFEB2766D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BAD22B5-97C1-4FAC-9285-AA741BFE1F1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2521508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027FE-0F44-497F-BF33-83303D147F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96ABBA3-F0E8-4C36-916A-E54529F1409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6A16D18-BB11-4BFD-9E7A-8DFB408A75BB}"/>
              </a:ext>
            </a:extLst>
          </p:cNvPr>
          <p:cNvSpPr>
            <a:spLocks noGrp="1"/>
          </p:cNvSpPr>
          <p:nvPr>
            <p:ph type="dt" sz="half" idx="10"/>
          </p:nvPr>
        </p:nvSpPr>
        <p:spPr/>
        <p:txBody>
          <a:bodyPr/>
          <a:lstStyle/>
          <a:p>
            <a:fld id="{4CFD7B4F-85E2-411C-AFB6-1A374A5D39B8}" type="datetime1">
              <a:rPr lang="en-IN" smtClean="0"/>
              <a:t>09-01-2026</a:t>
            </a:fld>
            <a:endParaRPr lang="en-IN"/>
          </a:p>
        </p:txBody>
      </p:sp>
      <p:sp>
        <p:nvSpPr>
          <p:cNvPr id="5" name="Footer Placeholder 4">
            <a:extLst>
              <a:ext uri="{FF2B5EF4-FFF2-40B4-BE49-F238E27FC236}">
                <a16:creationId xmlns:a16="http://schemas.microsoft.com/office/drawing/2014/main" id="{8533F1CC-7685-4FAD-B5F7-982834C412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65F9D9-79E8-4C23-9200-19A6857E3D87}"/>
              </a:ext>
            </a:extLst>
          </p:cNvPr>
          <p:cNvSpPr>
            <a:spLocks noGrp="1"/>
          </p:cNvSpPr>
          <p:nvPr>
            <p:ph type="sldNum" sz="quarter" idx="12"/>
          </p:nvPr>
        </p:nvSpPr>
        <p:spPr/>
        <p:txBody>
          <a:bodyPr/>
          <a:lstStyle/>
          <a:p>
            <a:fld id="{80FED9D3-AF84-488D-8A6A-726D5349CDAB}" type="slidenum">
              <a:rPr lang="en-IN" smtClean="0"/>
              <a:t>‹#›</a:t>
            </a:fld>
            <a:endParaRPr lang="en-IN"/>
          </a:p>
        </p:txBody>
      </p:sp>
    </p:spTree>
    <p:extLst>
      <p:ext uri="{BB962C8B-B14F-4D97-AF65-F5344CB8AC3E}">
        <p14:creationId xmlns:p14="http://schemas.microsoft.com/office/powerpoint/2010/main" val="4911338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A6550-E91F-4D00-83FE-94375199494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A4E5A4F-9318-4630-A9C7-16E2FD6AF77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795E241-2474-417E-B544-69CF2861124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7854602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F0B88-78D9-4019-8BFF-8F7C0DCD4F7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960B707-0551-48AD-BAF3-CE20FCE94C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9A6066B9-A417-4624-91D6-6D6295C2100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B5A6971-440D-4631-80F7-B3123104A6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4D684CD4-B32C-429C-8FDB-C3993DE51CF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2C11BC8-FB4C-4B9C-8A71-BB4D1F6A2DBB}"/>
              </a:ext>
            </a:extLst>
          </p:cNvPr>
          <p:cNvSpPr>
            <a:spLocks noGrp="1"/>
          </p:cNvSpPr>
          <p:nvPr>
            <p:ph type="dt" sz="half" idx="10"/>
          </p:nvPr>
        </p:nvSpPr>
        <p:spPr/>
        <p:txBody>
          <a:bodyPr/>
          <a:lstStyle/>
          <a:p>
            <a:fld id="{E1C471E0-72C8-4CC8-AE53-DCEAAFB58B8B}" type="datetime1">
              <a:rPr lang="en-IN" smtClean="0"/>
              <a:t>09-01-2026</a:t>
            </a:fld>
            <a:endParaRPr lang="en-IN"/>
          </a:p>
        </p:txBody>
      </p:sp>
      <p:sp>
        <p:nvSpPr>
          <p:cNvPr id="8" name="Footer Placeholder 7">
            <a:extLst>
              <a:ext uri="{FF2B5EF4-FFF2-40B4-BE49-F238E27FC236}">
                <a16:creationId xmlns:a16="http://schemas.microsoft.com/office/drawing/2014/main" id="{3783E117-C4A9-4FF3-9C91-FFD40695E55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B29C272-E75C-4778-96BF-8B2BC996BA08}"/>
              </a:ext>
            </a:extLst>
          </p:cNvPr>
          <p:cNvSpPr>
            <a:spLocks noGrp="1"/>
          </p:cNvSpPr>
          <p:nvPr>
            <p:ph type="sldNum" sz="quarter" idx="12"/>
          </p:nvPr>
        </p:nvSpPr>
        <p:spPr/>
        <p:txBody>
          <a:bodyPr/>
          <a:lstStyle/>
          <a:p>
            <a:fld id="{80FED9D3-AF84-488D-8A6A-726D5349CDAB}" type="slidenum">
              <a:rPr lang="en-IN" smtClean="0"/>
              <a:t>‹#›</a:t>
            </a:fld>
            <a:endParaRPr lang="en-IN"/>
          </a:p>
        </p:txBody>
      </p:sp>
    </p:spTree>
    <p:extLst>
      <p:ext uri="{BB962C8B-B14F-4D97-AF65-F5344CB8AC3E}">
        <p14:creationId xmlns:p14="http://schemas.microsoft.com/office/powerpoint/2010/main" val="12400576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BDEF5-DE48-45E6-AB10-8EDCE19D9B3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E021AE6-4821-4359-BA0A-71E21BF0BC09}"/>
              </a:ext>
            </a:extLst>
          </p:cNvPr>
          <p:cNvSpPr>
            <a:spLocks noGrp="1"/>
          </p:cNvSpPr>
          <p:nvPr>
            <p:ph type="dt" sz="half" idx="10"/>
          </p:nvPr>
        </p:nvSpPr>
        <p:spPr/>
        <p:txBody>
          <a:bodyPr/>
          <a:lstStyle/>
          <a:p>
            <a:fld id="{71899225-93B0-4D75-98A5-1AA74F5D545B}" type="datetime1">
              <a:rPr lang="en-IN" smtClean="0"/>
              <a:t>09-01-2026</a:t>
            </a:fld>
            <a:endParaRPr lang="en-IN"/>
          </a:p>
        </p:txBody>
      </p:sp>
      <p:sp>
        <p:nvSpPr>
          <p:cNvPr id="4" name="Footer Placeholder 3">
            <a:extLst>
              <a:ext uri="{FF2B5EF4-FFF2-40B4-BE49-F238E27FC236}">
                <a16:creationId xmlns:a16="http://schemas.microsoft.com/office/drawing/2014/main" id="{7C427195-022D-4F59-91AC-F6EF60F074F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ABCDE4F-8C95-4584-8FBF-AF73E2F5BF95}"/>
              </a:ext>
            </a:extLst>
          </p:cNvPr>
          <p:cNvSpPr>
            <a:spLocks noGrp="1"/>
          </p:cNvSpPr>
          <p:nvPr>
            <p:ph type="sldNum" sz="quarter" idx="12"/>
          </p:nvPr>
        </p:nvSpPr>
        <p:spPr/>
        <p:txBody>
          <a:bodyPr/>
          <a:lstStyle/>
          <a:p>
            <a:fld id="{80FED9D3-AF84-488D-8A6A-726D5349CDAB}" type="slidenum">
              <a:rPr lang="en-IN" smtClean="0"/>
              <a:t>‹#›</a:t>
            </a:fld>
            <a:endParaRPr lang="en-IN"/>
          </a:p>
        </p:txBody>
      </p:sp>
    </p:spTree>
    <p:extLst>
      <p:ext uri="{BB962C8B-B14F-4D97-AF65-F5344CB8AC3E}">
        <p14:creationId xmlns:p14="http://schemas.microsoft.com/office/powerpoint/2010/main" val="18481931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937068-89ED-42F9-9A72-92111C5A53CC}"/>
              </a:ext>
            </a:extLst>
          </p:cNvPr>
          <p:cNvSpPr>
            <a:spLocks noGrp="1"/>
          </p:cNvSpPr>
          <p:nvPr>
            <p:ph type="dt" sz="half" idx="10"/>
          </p:nvPr>
        </p:nvSpPr>
        <p:spPr/>
        <p:txBody>
          <a:bodyPr/>
          <a:lstStyle/>
          <a:p>
            <a:fld id="{EA2F8A65-8968-44A1-8A19-3117F08B5A38}" type="datetime1">
              <a:rPr lang="en-IN" smtClean="0"/>
              <a:t>09-01-2026</a:t>
            </a:fld>
            <a:endParaRPr lang="en-IN"/>
          </a:p>
        </p:txBody>
      </p:sp>
      <p:sp>
        <p:nvSpPr>
          <p:cNvPr id="3" name="Footer Placeholder 2">
            <a:extLst>
              <a:ext uri="{FF2B5EF4-FFF2-40B4-BE49-F238E27FC236}">
                <a16:creationId xmlns:a16="http://schemas.microsoft.com/office/drawing/2014/main" id="{CFD62B2C-1FE1-496D-9296-45C99FB44B7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FBFDE75-9B7A-49B3-9B56-475889999285}"/>
              </a:ext>
            </a:extLst>
          </p:cNvPr>
          <p:cNvSpPr>
            <a:spLocks noGrp="1"/>
          </p:cNvSpPr>
          <p:nvPr>
            <p:ph type="sldNum" sz="quarter" idx="12"/>
          </p:nvPr>
        </p:nvSpPr>
        <p:spPr/>
        <p:txBody>
          <a:bodyPr/>
          <a:lstStyle/>
          <a:p>
            <a:fld id="{80FED9D3-AF84-488D-8A6A-726D5349CDAB}" type="slidenum">
              <a:rPr lang="en-IN" smtClean="0"/>
              <a:t>‹#›</a:t>
            </a:fld>
            <a:endParaRPr lang="en-IN"/>
          </a:p>
        </p:txBody>
      </p:sp>
    </p:spTree>
    <p:extLst>
      <p:ext uri="{BB962C8B-B14F-4D97-AF65-F5344CB8AC3E}">
        <p14:creationId xmlns:p14="http://schemas.microsoft.com/office/powerpoint/2010/main" val="3046344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639A8-6449-4746-8F81-EF24B31227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688EEFD-9C86-41A8-9E20-FB51AE3652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C7D5B7E-7597-4AD6-A029-CB20B9FBF1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10E2B30-B4F2-4EC2-B501-40677FFA1103}"/>
              </a:ext>
            </a:extLst>
          </p:cNvPr>
          <p:cNvSpPr>
            <a:spLocks noGrp="1"/>
          </p:cNvSpPr>
          <p:nvPr>
            <p:ph type="dt" sz="half" idx="10"/>
          </p:nvPr>
        </p:nvSpPr>
        <p:spPr/>
        <p:txBody>
          <a:bodyPr/>
          <a:lstStyle/>
          <a:p>
            <a:fld id="{26D3029C-FE30-49AA-946C-8160924AD21C}" type="datetime1">
              <a:rPr lang="en-IN" smtClean="0"/>
              <a:t>09-01-2026</a:t>
            </a:fld>
            <a:endParaRPr lang="en-IN"/>
          </a:p>
        </p:txBody>
      </p:sp>
      <p:sp>
        <p:nvSpPr>
          <p:cNvPr id="6" name="Footer Placeholder 5">
            <a:extLst>
              <a:ext uri="{FF2B5EF4-FFF2-40B4-BE49-F238E27FC236}">
                <a16:creationId xmlns:a16="http://schemas.microsoft.com/office/drawing/2014/main" id="{EFD346B0-D5A7-4730-8667-0678E78485C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353FD6-F916-41FC-BA8C-069D6DA07BA5}"/>
              </a:ext>
            </a:extLst>
          </p:cNvPr>
          <p:cNvSpPr>
            <a:spLocks noGrp="1"/>
          </p:cNvSpPr>
          <p:nvPr>
            <p:ph type="sldNum" sz="quarter" idx="12"/>
          </p:nvPr>
        </p:nvSpPr>
        <p:spPr/>
        <p:txBody>
          <a:bodyPr/>
          <a:lstStyle/>
          <a:p>
            <a:fld id="{80FED9D3-AF84-488D-8A6A-726D5349CDAB}" type="slidenum">
              <a:rPr lang="en-IN" smtClean="0"/>
              <a:t>‹#›</a:t>
            </a:fld>
            <a:endParaRPr lang="en-IN"/>
          </a:p>
        </p:txBody>
      </p:sp>
    </p:spTree>
    <p:extLst>
      <p:ext uri="{BB962C8B-B14F-4D97-AF65-F5344CB8AC3E}">
        <p14:creationId xmlns:p14="http://schemas.microsoft.com/office/powerpoint/2010/main" val="1571155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9521F-28F4-406E-9485-88EB85F4DD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B4819DE-9E94-437E-8A68-6E165BAA96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C872149-A870-4DC0-8F9C-DDB1FD5826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FF4BED7-7934-4480-A6EE-DA8954235B6B}"/>
              </a:ext>
            </a:extLst>
          </p:cNvPr>
          <p:cNvSpPr>
            <a:spLocks noGrp="1"/>
          </p:cNvSpPr>
          <p:nvPr>
            <p:ph type="dt" sz="half" idx="10"/>
          </p:nvPr>
        </p:nvSpPr>
        <p:spPr/>
        <p:txBody>
          <a:bodyPr/>
          <a:lstStyle/>
          <a:p>
            <a:fld id="{9ECCF262-89E0-4714-A1CF-8A83C222FB9B}" type="datetime1">
              <a:rPr lang="en-IN" smtClean="0"/>
              <a:t>09-01-2026</a:t>
            </a:fld>
            <a:endParaRPr lang="en-IN"/>
          </a:p>
        </p:txBody>
      </p:sp>
      <p:sp>
        <p:nvSpPr>
          <p:cNvPr id="6" name="Footer Placeholder 5">
            <a:extLst>
              <a:ext uri="{FF2B5EF4-FFF2-40B4-BE49-F238E27FC236}">
                <a16:creationId xmlns:a16="http://schemas.microsoft.com/office/drawing/2014/main" id="{BC7CB16A-A6D8-4778-B7F0-21B6BFD28B0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C254C42-23E8-4F2C-AC3E-A5BBDF4E66E5}"/>
              </a:ext>
            </a:extLst>
          </p:cNvPr>
          <p:cNvSpPr>
            <a:spLocks noGrp="1"/>
          </p:cNvSpPr>
          <p:nvPr>
            <p:ph type="sldNum" sz="quarter" idx="12"/>
          </p:nvPr>
        </p:nvSpPr>
        <p:spPr/>
        <p:txBody>
          <a:bodyPr/>
          <a:lstStyle/>
          <a:p>
            <a:fld id="{80FED9D3-AF84-488D-8A6A-726D5349CDAB}" type="slidenum">
              <a:rPr lang="en-IN" smtClean="0"/>
              <a:t>‹#›</a:t>
            </a:fld>
            <a:endParaRPr lang="en-IN"/>
          </a:p>
        </p:txBody>
      </p:sp>
    </p:spTree>
    <p:extLst>
      <p:ext uri="{BB962C8B-B14F-4D97-AF65-F5344CB8AC3E}">
        <p14:creationId xmlns:p14="http://schemas.microsoft.com/office/powerpoint/2010/main" val="22646887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9F842-6D8B-4C86-8F39-4F97C9A0899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B19E737-F70E-42FA-A4AC-876FA6F1635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11A242-E710-4C98-92C7-184F6C186352}"/>
              </a:ext>
            </a:extLst>
          </p:cNvPr>
          <p:cNvSpPr>
            <a:spLocks noGrp="1"/>
          </p:cNvSpPr>
          <p:nvPr>
            <p:ph type="dt" sz="half" idx="10"/>
          </p:nvPr>
        </p:nvSpPr>
        <p:spPr/>
        <p:txBody>
          <a:bodyPr/>
          <a:lstStyle/>
          <a:p>
            <a:fld id="{C7CCAA5C-2D5F-4D58-9A50-D19B643441D4}" type="datetime1">
              <a:rPr lang="en-IN" smtClean="0"/>
              <a:t>09-01-2026</a:t>
            </a:fld>
            <a:endParaRPr lang="en-IN"/>
          </a:p>
        </p:txBody>
      </p:sp>
      <p:sp>
        <p:nvSpPr>
          <p:cNvPr id="5" name="Footer Placeholder 4">
            <a:extLst>
              <a:ext uri="{FF2B5EF4-FFF2-40B4-BE49-F238E27FC236}">
                <a16:creationId xmlns:a16="http://schemas.microsoft.com/office/drawing/2014/main" id="{84C3ABB8-F14F-4280-A105-4070853E67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F30805-AFD9-468A-8350-47B0059B70D1}"/>
              </a:ext>
            </a:extLst>
          </p:cNvPr>
          <p:cNvSpPr>
            <a:spLocks noGrp="1"/>
          </p:cNvSpPr>
          <p:nvPr>
            <p:ph type="sldNum" sz="quarter" idx="12"/>
          </p:nvPr>
        </p:nvSpPr>
        <p:spPr/>
        <p:txBody>
          <a:bodyPr/>
          <a:lstStyle/>
          <a:p>
            <a:fld id="{80FED9D3-AF84-488D-8A6A-726D5349CDAB}" type="slidenum">
              <a:rPr lang="en-IN" smtClean="0"/>
              <a:t>‹#›</a:t>
            </a:fld>
            <a:endParaRPr lang="en-IN"/>
          </a:p>
        </p:txBody>
      </p:sp>
    </p:spTree>
    <p:extLst>
      <p:ext uri="{BB962C8B-B14F-4D97-AF65-F5344CB8AC3E}">
        <p14:creationId xmlns:p14="http://schemas.microsoft.com/office/powerpoint/2010/main" val="41226845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3CE3C8-84F1-4290-9648-5C9E9A23246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9CFA146-680D-4C44-80AE-61ACEA18EF2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2229F1-7D33-4055-BCFB-C0B4E177D5C8}"/>
              </a:ext>
            </a:extLst>
          </p:cNvPr>
          <p:cNvSpPr>
            <a:spLocks noGrp="1"/>
          </p:cNvSpPr>
          <p:nvPr>
            <p:ph type="dt" sz="half" idx="10"/>
          </p:nvPr>
        </p:nvSpPr>
        <p:spPr/>
        <p:txBody>
          <a:bodyPr/>
          <a:lstStyle/>
          <a:p>
            <a:fld id="{24DF1576-788D-4E35-9930-DF0255718A2B}" type="datetime1">
              <a:rPr lang="en-IN" smtClean="0"/>
              <a:t>09-01-2026</a:t>
            </a:fld>
            <a:endParaRPr lang="en-IN"/>
          </a:p>
        </p:txBody>
      </p:sp>
      <p:sp>
        <p:nvSpPr>
          <p:cNvPr id="5" name="Footer Placeholder 4">
            <a:extLst>
              <a:ext uri="{FF2B5EF4-FFF2-40B4-BE49-F238E27FC236}">
                <a16:creationId xmlns:a16="http://schemas.microsoft.com/office/drawing/2014/main" id="{A958B88A-8C21-46C7-8EDF-2F9AEE5A2A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61208B-689D-4C89-B6D0-6D893F5C0C63}"/>
              </a:ext>
            </a:extLst>
          </p:cNvPr>
          <p:cNvSpPr>
            <a:spLocks noGrp="1"/>
          </p:cNvSpPr>
          <p:nvPr>
            <p:ph type="sldNum" sz="quarter" idx="12"/>
          </p:nvPr>
        </p:nvSpPr>
        <p:spPr/>
        <p:txBody>
          <a:bodyPr/>
          <a:lstStyle/>
          <a:p>
            <a:fld id="{80FED9D3-AF84-488D-8A6A-726D5349CDAB}" type="slidenum">
              <a:rPr lang="en-IN" smtClean="0"/>
              <a:t>‹#›</a:t>
            </a:fld>
            <a:endParaRPr lang="en-IN"/>
          </a:p>
        </p:txBody>
      </p:sp>
    </p:spTree>
    <p:extLst>
      <p:ext uri="{BB962C8B-B14F-4D97-AF65-F5344CB8AC3E}">
        <p14:creationId xmlns:p14="http://schemas.microsoft.com/office/powerpoint/2010/main" val="24406285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178E60-7138-09B5-8ABB-B267B8A6E1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DCD29E5-5C08-68CA-EB7B-0D2370B52B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489A55-D83D-E276-2EAF-B54B87D60E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91B5D1-4C17-46EA-A77A-FA565E8FA75F}" type="datetimeFigureOut">
              <a:rPr lang="en-IN" smtClean="0"/>
              <a:t>09-01-2026</a:t>
            </a:fld>
            <a:endParaRPr lang="en-IN"/>
          </a:p>
        </p:txBody>
      </p:sp>
      <p:sp>
        <p:nvSpPr>
          <p:cNvPr id="5" name="Footer Placeholder 4">
            <a:extLst>
              <a:ext uri="{FF2B5EF4-FFF2-40B4-BE49-F238E27FC236}">
                <a16:creationId xmlns:a16="http://schemas.microsoft.com/office/drawing/2014/main" id="{0B5F0245-58BC-19D4-2F4A-927082EC6F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85638E5-E8A7-DF46-7533-BCC0F1A9FE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36FDDC0-DA64-43F6-81E5-EA6231BE836E}" type="slidenum">
              <a:rPr lang="en-IN" smtClean="0"/>
              <a:t>‹#›</a:t>
            </a:fld>
            <a:endParaRPr lang="en-IN"/>
          </a:p>
        </p:txBody>
      </p:sp>
    </p:spTree>
    <p:extLst>
      <p:ext uri="{BB962C8B-B14F-4D97-AF65-F5344CB8AC3E}">
        <p14:creationId xmlns:p14="http://schemas.microsoft.com/office/powerpoint/2010/main" val="32698301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3DB4A9-B55E-4623-A2D9-A87B7B5582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7CCFFDC-2115-4CD1-967C-545001D0D0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339EF888-538C-4F90-BE4E-FDD77BCBC8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176463-DA8A-478C-9FC8-00C83590963D}" type="datetime1">
              <a:rPr lang="en-IN" smtClean="0"/>
              <a:t>09-01-2026</a:t>
            </a:fld>
            <a:endParaRPr lang="en-IN"/>
          </a:p>
        </p:txBody>
      </p:sp>
      <p:sp>
        <p:nvSpPr>
          <p:cNvPr id="5" name="Footer Placeholder 4">
            <a:extLst>
              <a:ext uri="{FF2B5EF4-FFF2-40B4-BE49-F238E27FC236}">
                <a16:creationId xmlns:a16="http://schemas.microsoft.com/office/drawing/2014/main" id="{A65CDA8E-891B-4E76-B24D-670B7EB402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FF6AB6D-2CD0-4185-A303-317BFF965D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FED9D3-AF84-488D-8A6A-726D5349CDAB}" type="slidenum">
              <a:rPr lang="en-IN" smtClean="0"/>
              <a:t>‹#›</a:t>
            </a:fld>
            <a:endParaRPr lang="en-IN" dirty="0"/>
          </a:p>
        </p:txBody>
      </p:sp>
    </p:spTree>
    <p:extLst>
      <p:ext uri="{BB962C8B-B14F-4D97-AF65-F5344CB8AC3E}">
        <p14:creationId xmlns:p14="http://schemas.microsoft.com/office/powerpoint/2010/main" val="13877013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3.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0.gif"/><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hyperlink" Target="http://www.pngtree.com/" TargetMode="External"/><Relationship Id="rId2" Type="http://schemas.openxmlformats.org/officeDocument/2006/relationships/slideLayout" Target="../slideLayouts/slideLayout13.xml"/><Relationship Id="rId1" Type="http://schemas.openxmlformats.org/officeDocument/2006/relationships/tags" Target="../tags/tag3.xml"/><Relationship Id="rId6" Type="http://schemas.openxmlformats.org/officeDocument/2006/relationships/image" Target="../media/image5.png"/><Relationship Id="rId11" Type="http://schemas.openxmlformats.org/officeDocument/2006/relationships/hyperlink" Target="https://www.pinclipart.com/" TargetMode="External"/><Relationship Id="rId5" Type="http://schemas.openxmlformats.org/officeDocument/2006/relationships/image" Target="../media/image4.png"/><Relationship Id="rId15" Type="http://schemas.openxmlformats.org/officeDocument/2006/relationships/image" Target="../media/image11.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pn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9.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png"/><Relationship Id="rId2" Type="http://schemas.openxmlformats.org/officeDocument/2006/relationships/slideLayout" Target="../slideLayouts/slideLayout13.xml"/><Relationship Id="rId1" Type="http://schemas.openxmlformats.org/officeDocument/2006/relationships/tags" Target="../tags/tag4.xml"/><Relationship Id="rId6" Type="http://schemas.openxmlformats.org/officeDocument/2006/relationships/image" Target="../media/image5.png"/><Relationship Id="rId11" Type="http://schemas.openxmlformats.org/officeDocument/2006/relationships/image" Target="../media/image10.gif"/><Relationship Id="rId5" Type="http://schemas.openxmlformats.org/officeDocument/2006/relationships/image" Target="../media/image4.png"/><Relationship Id="rId10" Type="http://schemas.openxmlformats.org/officeDocument/2006/relationships/hyperlink" Target="http://www.pngtree.com/" TargetMode="External"/><Relationship Id="rId4" Type="http://schemas.openxmlformats.org/officeDocument/2006/relationships/image" Target="../media/image3.png"/><Relationship Id="rId9" Type="http://schemas.openxmlformats.org/officeDocument/2006/relationships/hyperlink" Target="https://www.pinclipart.com/" TargetMode="Externa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tags" Target="../tags/tag7.xml"/><Relationship Id="rId7" Type="http://schemas.openxmlformats.org/officeDocument/2006/relationships/slideLayout" Target="../slideLayouts/slideLayout13.xml"/><Relationship Id="rId12" Type="http://schemas.openxmlformats.org/officeDocument/2006/relationships/image" Target="../media/image16.png"/><Relationship Id="rId2" Type="http://schemas.openxmlformats.org/officeDocument/2006/relationships/tags" Target="../tags/tag6.xml"/><Relationship Id="rId16" Type="http://schemas.openxmlformats.org/officeDocument/2006/relationships/image" Target="../media/image20.png"/><Relationship Id="rId1" Type="http://schemas.openxmlformats.org/officeDocument/2006/relationships/tags" Target="../tags/tag5.xml"/><Relationship Id="rId6" Type="http://schemas.openxmlformats.org/officeDocument/2006/relationships/tags" Target="../tags/tag10.xml"/><Relationship Id="rId11" Type="http://schemas.openxmlformats.org/officeDocument/2006/relationships/image" Target="../media/image15.png"/><Relationship Id="rId5" Type="http://schemas.openxmlformats.org/officeDocument/2006/relationships/tags" Target="../tags/tag9.xml"/><Relationship Id="rId15" Type="http://schemas.openxmlformats.org/officeDocument/2006/relationships/image" Target="../media/image19.png"/><Relationship Id="rId10" Type="http://schemas.openxmlformats.org/officeDocument/2006/relationships/image" Target="../media/image14.png"/><Relationship Id="rId4" Type="http://schemas.openxmlformats.org/officeDocument/2006/relationships/tags" Target="../tags/tag8.xml"/><Relationship Id="rId9" Type="http://schemas.openxmlformats.org/officeDocument/2006/relationships/image" Target="../media/image13.png"/><Relationship Id="rId14" Type="http://schemas.openxmlformats.org/officeDocument/2006/relationships/image" Target="../media/image18.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13.xml"/><Relationship Id="rId1" Type="http://schemas.openxmlformats.org/officeDocument/2006/relationships/tags" Target="../tags/tag13.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13.xml"/><Relationship Id="rId1" Type="http://schemas.openxmlformats.org/officeDocument/2006/relationships/tags" Target="../tags/tag14.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3.xml"/><Relationship Id="rId1" Type="http://schemas.openxmlformats.org/officeDocument/2006/relationships/tags" Target="../tags/tag16.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13.xml"/><Relationship Id="rId1" Type="http://schemas.openxmlformats.org/officeDocument/2006/relationships/tags" Target="../tags/tag18.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13.xml"/><Relationship Id="rId1" Type="http://schemas.openxmlformats.org/officeDocument/2006/relationships/tags" Target="../tags/tag19.xml"/></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6.png"/><Relationship Id="rId1" Type="http://schemas.openxmlformats.org/officeDocument/2006/relationships/slideLayout" Target="../slideLayouts/slideLayout1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260.png"/><Relationship Id="rId7" Type="http://schemas.openxmlformats.org/officeDocument/2006/relationships/image" Target="../media/image30.png"/><Relationship Id="rId2" Type="http://schemas.openxmlformats.org/officeDocument/2006/relationships/slideLayout" Target="../slideLayouts/slideLayout13.xml"/><Relationship Id="rId1" Type="http://schemas.openxmlformats.org/officeDocument/2006/relationships/tags" Target="../tags/tag20.xml"/><Relationship Id="rId6" Type="http://schemas.openxmlformats.org/officeDocument/2006/relationships/image" Target="../media/image290.png"/><Relationship Id="rId5" Type="http://schemas.openxmlformats.org/officeDocument/2006/relationships/image" Target="../media/image280.png"/><Relationship Id="rId4" Type="http://schemas.openxmlformats.org/officeDocument/2006/relationships/image" Target="../media/image270.png"/><Relationship Id="rId9" Type="http://schemas.openxmlformats.org/officeDocument/2006/relationships/image" Target="../media/image31.png"/></Relationships>
</file>

<file path=ppt/slides/_rels/slide1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2.png"/><Relationship Id="rId7" Type="http://schemas.openxmlformats.org/officeDocument/2006/relationships/image" Target="../media/image1.png"/><Relationship Id="rId2" Type="http://schemas.openxmlformats.org/officeDocument/2006/relationships/slideLayout" Target="../slideLayouts/slideLayout13.xml"/><Relationship Id="rId1" Type="http://schemas.openxmlformats.org/officeDocument/2006/relationships/tags" Target="../tags/tag2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7EE05-DF3A-5F7B-E4FF-89F728B166ED}"/>
              </a:ext>
            </a:extLst>
          </p:cNvPr>
          <p:cNvSpPr>
            <a:spLocks noGrp="1"/>
          </p:cNvSpPr>
          <p:nvPr>
            <p:ph type="ctrTitle"/>
          </p:nvPr>
        </p:nvSpPr>
        <p:spPr/>
        <p:txBody>
          <a:bodyPr/>
          <a:lstStyle/>
          <a:p>
            <a:r>
              <a:rPr lang="en-GB" dirty="0"/>
              <a:t>Machine Learning</a:t>
            </a:r>
            <a:endParaRPr lang="en-IN" dirty="0"/>
          </a:p>
        </p:txBody>
      </p:sp>
      <p:sp>
        <p:nvSpPr>
          <p:cNvPr id="3" name="Subtitle 2">
            <a:extLst>
              <a:ext uri="{FF2B5EF4-FFF2-40B4-BE49-F238E27FC236}">
                <a16:creationId xmlns:a16="http://schemas.microsoft.com/office/drawing/2014/main" id="{4E20DE24-64A9-FD91-B902-B37A2D2EDD27}"/>
              </a:ext>
            </a:extLst>
          </p:cNvPr>
          <p:cNvSpPr>
            <a:spLocks noGrp="1"/>
          </p:cNvSpPr>
          <p:nvPr>
            <p:ph type="subTitle" idx="1"/>
          </p:nvPr>
        </p:nvSpPr>
        <p:spPr/>
        <p:txBody>
          <a:bodyPr/>
          <a:lstStyle/>
          <a:p>
            <a:r>
              <a:rPr lang="en-GB" dirty="0"/>
              <a:t>Basics</a:t>
            </a:r>
            <a:endParaRPr lang="en-IN" dirty="0"/>
          </a:p>
        </p:txBody>
      </p:sp>
    </p:spTree>
    <p:extLst>
      <p:ext uri="{BB962C8B-B14F-4D97-AF65-F5344CB8AC3E}">
        <p14:creationId xmlns:p14="http://schemas.microsoft.com/office/powerpoint/2010/main" val="703962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57946-FC7F-477C-9867-0ED704A858E1}"/>
              </a:ext>
            </a:extLst>
          </p:cNvPr>
          <p:cNvSpPr>
            <a:spLocks noGrp="1"/>
          </p:cNvSpPr>
          <p:nvPr>
            <p:ph type="title"/>
          </p:nvPr>
        </p:nvSpPr>
        <p:spPr>
          <a:xfrm>
            <a:off x="265245" y="169682"/>
            <a:ext cx="11740617" cy="821500"/>
          </a:xfrm>
        </p:spPr>
        <p:txBody>
          <a:bodyPr>
            <a:normAutofit/>
          </a:bodyPr>
          <a:lstStyle/>
          <a:p>
            <a:r>
              <a:rPr lang="en-IN" dirty="0">
                <a:solidFill>
                  <a:schemeClr val="accent2">
                    <a:lumMod val="75000"/>
                  </a:schemeClr>
                </a:solidFill>
              </a:rPr>
              <a:t>Keep in mind: ML is like an exam</a:t>
            </a:r>
          </a:p>
        </p:txBody>
      </p:sp>
      <p:sp>
        <p:nvSpPr>
          <p:cNvPr id="12" name="Slide Number Placeholder 11">
            <a:extLst>
              <a:ext uri="{FF2B5EF4-FFF2-40B4-BE49-F238E27FC236}">
                <a16:creationId xmlns:a16="http://schemas.microsoft.com/office/drawing/2014/main" id="{F77B66E3-3803-4788-BC62-221F4919CBCE}"/>
              </a:ext>
            </a:extLst>
          </p:cNvPr>
          <p:cNvSpPr>
            <a:spLocks noGrp="1"/>
          </p:cNvSpPr>
          <p:nvPr>
            <p:ph type="sldNum" sz="quarter" idx="4294967295"/>
          </p:nvPr>
        </p:nvSpPr>
        <p:spPr>
          <a:xfrm>
            <a:off x="11323930" y="136939"/>
            <a:ext cx="602825"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FED9D3-AF84-488D-8A6A-726D5349CDAB}" type="slidenum">
              <a:rPr kumimoji="0" lang="en-IN" sz="2800" b="0" i="0" u="none" strike="noStrike" kern="1200" cap="none" spc="0" normalizeH="0" baseline="0" noProof="0" smtClean="0">
                <a:ln>
                  <a:noFill/>
                </a:ln>
                <a:solidFill>
                  <a:srgbClr val="ED7D31">
                    <a:lumMod val="40000"/>
                    <a:lumOff val="60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IN" sz="2800" b="0" i="0" u="none" strike="noStrike" kern="1200" cap="none" spc="0" normalizeH="0" baseline="0" noProof="0" dirty="0">
              <a:ln>
                <a:noFill/>
              </a:ln>
              <a:solidFill>
                <a:srgbClr val="ED7D31">
                  <a:lumMod val="40000"/>
                  <a:lumOff val="60000"/>
                </a:srgbClr>
              </a:solidFill>
              <a:effectLst/>
              <a:uLnTx/>
              <a:uFillTx/>
              <a:latin typeface="Calibri" panose="020F0502020204030204"/>
              <a:ea typeface="+mn-ea"/>
              <a:cs typeface="+mn-cs"/>
            </a:endParaRPr>
          </a:p>
        </p:txBody>
      </p:sp>
      <p:sp>
        <p:nvSpPr>
          <p:cNvPr id="34" name="Content Placeholder 2">
            <a:extLst>
              <a:ext uri="{FF2B5EF4-FFF2-40B4-BE49-F238E27FC236}">
                <a16:creationId xmlns:a16="http://schemas.microsoft.com/office/drawing/2014/main" id="{E1DF4C8E-2FB0-4CA2-9D9A-034196FC982E}"/>
              </a:ext>
            </a:extLst>
          </p:cNvPr>
          <p:cNvSpPr>
            <a:spLocks noGrp="1"/>
          </p:cNvSpPr>
          <p:nvPr>
            <p:ph idx="1"/>
          </p:nvPr>
        </p:nvSpPr>
        <p:spPr>
          <a:xfrm>
            <a:off x="265245" y="1130786"/>
            <a:ext cx="11740617" cy="5557532"/>
          </a:xfrm>
        </p:spPr>
        <p:txBody>
          <a:bodyPr>
            <a:normAutofit/>
          </a:bodyPr>
          <a:lstStyle/>
          <a:p>
            <a:pPr>
              <a:buFont typeface="Wingdings" panose="05000000000000000000" pitchFamily="2" charset="2"/>
              <a:buChar char="§"/>
            </a:pPr>
            <a:r>
              <a:rPr lang="en-GB" sz="2600" dirty="0"/>
              <a:t>It’s the performance on the D-day which matters</a:t>
            </a:r>
          </a:p>
          <a:p>
            <a:pPr marL="0" indent="0">
              <a:buNone/>
            </a:pPr>
            <a:endParaRPr lang="en-GB" sz="2600" dirty="0"/>
          </a:p>
          <a:p>
            <a:pPr>
              <a:buFont typeface="Wingdings" panose="05000000000000000000" pitchFamily="2" charset="2"/>
              <a:buChar char="§"/>
            </a:pPr>
            <a:r>
              <a:rPr lang="en-GB" sz="2600" dirty="0"/>
              <a:t>In an exam, our success is measured based on how well we did on the questions in the test (not on the questions we practiced on)</a:t>
            </a:r>
          </a:p>
          <a:p>
            <a:pPr marL="0" indent="0">
              <a:buNone/>
            </a:pPr>
            <a:endParaRPr lang="en-GB" sz="2600" dirty="0"/>
          </a:p>
          <a:p>
            <a:pPr>
              <a:buFont typeface="Wingdings" panose="05000000000000000000" pitchFamily="2" charset="2"/>
              <a:buChar char="§"/>
            </a:pPr>
            <a:r>
              <a:rPr lang="en-GB" sz="2600" dirty="0"/>
              <a:t>Likewise, in ML, success of the learned model is measured based on how well it predicts/fits the future </a:t>
            </a:r>
            <a:r>
              <a:rPr lang="en-GB" sz="2600" dirty="0">
                <a:solidFill>
                  <a:srgbClr val="FF0000"/>
                </a:solidFill>
              </a:rPr>
              <a:t>test data </a:t>
            </a:r>
            <a:r>
              <a:rPr lang="en-GB" sz="2600" dirty="0"/>
              <a:t>(not the training data)</a:t>
            </a:r>
          </a:p>
        </p:txBody>
      </p:sp>
      <p:sp>
        <p:nvSpPr>
          <p:cNvPr id="3" name="Rectangle: Rounded Corners 2">
            <a:extLst>
              <a:ext uri="{FF2B5EF4-FFF2-40B4-BE49-F238E27FC236}">
                <a16:creationId xmlns:a16="http://schemas.microsoft.com/office/drawing/2014/main" id="{DFF68102-CE26-42CA-B402-17D5BD57CAF1}"/>
              </a:ext>
            </a:extLst>
          </p:cNvPr>
          <p:cNvSpPr/>
          <p:nvPr/>
        </p:nvSpPr>
        <p:spPr>
          <a:xfrm>
            <a:off x="2143125" y="4714875"/>
            <a:ext cx="7620000" cy="1676400"/>
          </a:xfrm>
          <a:prstGeom prst="round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In Machine Learning, </a:t>
            </a:r>
            <a:r>
              <a:rPr kumimoji="0" lang="en-IN" sz="2800" b="0" i="0" u="none" strike="noStrike" kern="1200" cap="none" spc="0" normalizeH="0" baseline="0" noProof="0" dirty="0">
                <a:ln>
                  <a:noFill/>
                </a:ln>
                <a:solidFill>
                  <a:srgbClr val="FF0000"/>
                </a:solidFill>
                <a:effectLst/>
                <a:uLnTx/>
                <a:uFillTx/>
                <a:latin typeface="Calibri" panose="020F0502020204030204"/>
                <a:ea typeface="+mn-ea"/>
                <a:cs typeface="+mn-cs"/>
              </a:rPr>
              <a:t>generalization performance </a:t>
            </a: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on the test data matters</a:t>
            </a:r>
          </a:p>
        </p:txBody>
      </p:sp>
    </p:spTree>
    <p:custDataLst>
      <p:tags r:id="rId1"/>
    </p:custDataLst>
    <p:extLst>
      <p:ext uri="{BB962C8B-B14F-4D97-AF65-F5344CB8AC3E}">
        <p14:creationId xmlns:p14="http://schemas.microsoft.com/office/powerpoint/2010/main" val="2706743122"/>
      </p:ext>
    </p:extLst>
  </p:cSld>
  <p:clrMapOvr>
    <a:masterClrMapping/>
  </p:clrMapOvr>
  <mc:AlternateContent xmlns:mc="http://schemas.openxmlformats.org/markup-compatibility/2006" xmlns:p14="http://schemas.microsoft.com/office/powerpoint/2010/main">
    <mc:Choice Requires="p14">
      <p:transition spd="slow" p14:dur="2000" advTm="66402"/>
    </mc:Choice>
    <mc:Fallback xmlns="">
      <p:transition spd="slow" advTm="6640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animEffect transition="in" filter="wipe(down)">
                                      <p:cBhvr>
                                        <p:cTn id="7" dur="500"/>
                                        <p:tgtEl>
                                          <p:spTgt spid="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4">
                                            <p:txEl>
                                              <p:pRg st="2" end="2"/>
                                            </p:txEl>
                                          </p:spTgt>
                                        </p:tgtEl>
                                        <p:attrNameLst>
                                          <p:attrName>style.visibility</p:attrName>
                                        </p:attrNameLst>
                                      </p:cBhvr>
                                      <p:to>
                                        <p:strVal val="visible"/>
                                      </p:to>
                                    </p:set>
                                    <p:animEffect transition="in" filter="wipe(down)">
                                      <p:cBhvr>
                                        <p:cTn id="12" dur="500"/>
                                        <p:tgtEl>
                                          <p:spTgt spid="3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4">
                                            <p:txEl>
                                              <p:pRg st="4" end="4"/>
                                            </p:txEl>
                                          </p:spTgt>
                                        </p:tgtEl>
                                        <p:attrNameLst>
                                          <p:attrName>style.visibility</p:attrName>
                                        </p:attrNameLst>
                                      </p:cBhvr>
                                      <p:to>
                                        <p:strVal val="visible"/>
                                      </p:to>
                                    </p:set>
                                    <p:animEffect transition="in" filter="wipe(down)">
                                      <p:cBhvr>
                                        <p:cTn id="17" dur="500"/>
                                        <p:tgtEl>
                                          <p:spTgt spid="3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down)">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uiExpand="1" build="p"/>
      <p:bldP spid="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57946-FC7F-477C-9867-0ED704A858E1}"/>
              </a:ext>
            </a:extLst>
          </p:cNvPr>
          <p:cNvSpPr>
            <a:spLocks noGrp="1"/>
          </p:cNvSpPr>
          <p:nvPr>
            <p:ph type="title"/>
          </p:nvPr>
        </p:nvSpPr>
        <p:spPr>
          <a:xfrm>
            <a:off x="265245" y="169682"/>
            <a:ext cx="11740617" cy="821500"/>
          </a:xfrm>
        </p:spPr>
        <p:txBody>
          <a:bodyPr>
            <a:normAutofit/>
          </a:bodyPr>
          <a:lstStyle/>
          <a:p>
            <a:r>
              <a:rPr lang="en-IN" dirty="0">
                <a:solidFill>
                  <a:schemeClr val="accent2">
                    <a:lumMod val="75000"/>
                  </a:schemeClr>
                </a:solidFill>
              </a:rPr>
              <a:t>A Loose Taxonomy of ML</a:t>
            </a:r>
          </a:p>
        </p:txBody>
      </p:sp>
      <p:sp>
        <p:nvSpPr>
          <p:cNvPr id="4" name="CustomShape 1">
            <a:extLst>
              <a:ext uri="{FF2B5EF4-FFF2-40B4-BE49-F238E27FC236}">
                <a16:creationId xmlns:a16="http://schemas.microsoft.com/office/drawing/2014/main" id="{FE2FDF5E-2EFD-40E5-812B-E4D393F2B13B}"/>
              </a:ext>
            </a:extLst>
          </p:cNvPr>
          <p:cNvSpPr>
            <a:spLocks noChangeAspect="1"/>
          </p:cNvSpPr>
          <p:nvPr/>
        </p:nvSpPr>
        <p:spPr>
          <a:xfrm>
            <a:off x="4868719" y="2958023"/>
            <a:ext cx="1641600" cy="1641600"/>
          </a:xfrm>
          <a:prstGeom prst="ellipse">
            <a:avLst/>
          </a:prstGeom>
          <a:solidFill>
            <a:srgbClr val="FF9900"/>
          </a:solidFill>
          <a:ln w="0">
            <a:solidFill>
              <a:srgbClr val="3465A4"/>
            </a:solidFill>
          </a:ln>
        </p:spPr>
        <p:style>
          <a:lnRef idx="0">
            <a:scrgbClr r="0" g="0" b="0"/>
          </a:lnRef>
          <a:fillRef idx="0">
            <a:scrgbClr r="0" g="0" b="0"/>
          </a:fillRef>
          <a:effectRef idx="0">
            <a:scrgbClr r="0" g="0" b="0"/>
          </a:effectRef>
          <a:fontRef idx="minor"/>
        </p:style>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Shape 2">
            <a:extLst>
              <a:ext uri="{FF2B5EF4-FFF2-40B4-BE49-F238E27FC236}">
                <a16:creationId xmlns:a16="http://schemas.microsoft.com/office/drawing/2014/main" id="{E642F54F-393E-4868-BA3B-20BA9E34448B}"/>
              </a:ext>
            </a:extLst>
          </p:cNvPr>
          <p:cNvSpPr txBox="1">
            <a:spLocks noChangeAspect="1"/>
          </p:cNvSpPr>
          <p:nvPr/>
        </p:nvSpPr>
        <p:spPr>
          <a:xfrm>
            <a:off x="5125561" y="3479188"/>
            <a:ext cx="1207564" cy="697204"/>
          </a:xfrm>
          <a:prstGeom prst="rect">
            <a:avLst/>
          </a:prstGeom>
          <a:noFill/>
          <a:ln w="0">
            <a:noFill/>
          </a:ln>
        </p:spPr>
        <p:txBody>
          <a:bodyPr lIns="90000" tIns="45000" rIns="90000" bIns="4500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1" normalizeH="0" baseline="0" noProof="0" dirty="0">
                <a:ln>
                  <a:noFill/>
                </a:ln>
                <a:solidFill>
                  <a:prstClr val="black"/>
                </a:solidFill>
                <a:effectLst/>
                <a:uLnTx/>
                <a:uFillTx/>
                <a:latin typeface="Arial"/>
                <a:ea typeface="+mn-ea"/>
                <a:cs typeface="+mn-cs"/>
              </a:rPr>
              <a:t>Machine Learning</a:t>
            </a:r>
          </a:p>
        </p:txBody>
      </p:sp>
      <p:sp>
        <p:nvSpPr>
          <p:cNvPr id="6" name="CustomShape 3">
            <a:extLst>
              <a:ext uri="{FF2B5EF4-FFF2-40B4-BE49-F238E27FC236}">
                <a16:creationId xmlns:a16="http://schemas.microsoft.com/office/drawing/2014/main" id="{13D48D48-1420-4889-A0A5-210808D495AE}"/>
              </a:ext>
            </a:extLst>
          </p:cNvPr>
          <p:cNvSpPr>
            <a:spLocks noChangeAspect="1"/>
          </p:cNvSpPr>
          <p:nvPr/>
        </p:nvSpPr>
        <p:spPr>
          <a:xfrm>
            <a:off x="3140593" y="2193241"/>
            <a:ext cx="1252800" cy="1252800"/>
          </a:xfrm>
          <a:prstGeom prst="ellipse">
            <a:avLst/>
          </a:prstGeom>
          <a:solidFill>
            <a:srgbClr val="3399FF"/>
          </a:solidFill>
          <a:ln w="0">
            <a:solidFill>
              <a:srgbClr val="3465A4"/>
            </a:solidFill>
          </a:ln>
        </p:spPr>
        <p:style>
          <a:lnRef idx="0">
            <a:scrgbClr r="0" g="0" b="0"/>
          </a:lnRef>
          <a:fillRef idx="0">
            <a:scrgbClr r="0" g="0" b="0"/>
          </a:fillRef>
          <a:effectRef idx="0">
            <a:scrgbClr r="0" g="0" b="0"/>
          </a:effectRef>
          <a:fontRef idx="minor"/>
        </p:style>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Shape 4">
            <a:extLst>
              <a:ext uri="{FF2B5EF4-FFF2-40B4-BE49-F238E27FC236}">
                <a16:creationId xmlns:a16="http://schemas.microsoft.com/office/drawing/2014/main" id="{6C66BB42-517D-47DE-939E-FC314EAA2AD2}"/>
              </a:ext>
            </a:extLst>
          </p:cNvPr>
          <p:cNvSpPr txBox="1">
            <a:spLocks noChangeAspect="1"/>
          </p:cNvSpPr>
          <p:nvPr/>
        </p:nvSpPr>
        <p:spPr>
          <a:xfrm>
            <a:off x="3040819" y="2534212"/>
            <a:ext cx="1353689" cy="604801"/>
          </a:xfrm>
          <a:prstGeom prst="rect">
            <a:avLst/>
          </a:prstGeom>
          <a:noFill/>
          <a:ln w="0">
            <a:noFill/>
          </a:ln>
        </p:spPr>
        <p:txBody>
          <a:bodyPr lIns="90000" tIns="45000" rIns="90000" bIns="4500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1" normalizeH="0" baseline="0" noProof="0" dirty="0">
                <a:ln>
                  <a:noFill/>
                </a:ln>
                <a:solidFill>
                  <a:prstClr val="black"/>
                </a:solidFill>
                <a:effectLst/>
                <a:uLnTx/>
                <a:uFillTx/>
                <a:latin typeface="Arial"/>
                <a:ea typeface="+mn-ea"/>
                <a:cs typeface="+mn-cs"/>
              </a:rPr>
              <a:t>Supervised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1" normalizeH="0" baseline="0" noProof="0" dirty="0">
                <a:ln>
                  <a:noFill/>
                </a:ln>
                <a:solidFill>
                  <a:prstClr val="black"/>
                </a:solidFill>
                <a:effectLst/>
                <a:uLnTx/>
                <a:uFillTx/>
                <a:latin typeface="Arial"/>
                <a:ea typeface="+mn-ea"/>
                <a:cs typeface="+mn-cs"/>
              </a:rPr>
              <a:t>  Learning</a:t>
            </a:r>
          </a:p>
        </p:txBody>
      </p:sp>
      <p:sp>
        <p:nvSpPr>
          <p:cNvPr id="8" name="CustomShape 5">
            <a:extLst>
              <a:ext uri="{FF2B5EF4-FFF2-40B4-BE49-F238E27FC236}">
                <a16:creationId xmlns:a16="http://schemas.microsoft.com/office/drawing/2014/main" id="{5B5F21C0-38C7-4CB8-AFEE-159B7E60EEBA}"/>
              </a:ext>
            </a:extLst>
          </p:cNvPr>
          <p:cNvSpPr>
            <a:spLocks noChangeAspect="1"/>
          </p:cNvSpPr>
          <p:nvPr/>
        </p:nvSpPr>
        <p:spPr>
          <a:xfrm>
            <a:off x="6877889" y="2193240"/>
            <a:ext cx="1252800" cy="1252800"/>
          </a:xfrm>
          <a:prstGeom prst="ellipse">
            <a:avLst/>
          </a:prstGeom>
          <a:solidFill>
            <a:srgbClr val="009933"/>
          </a:solidFill>
          <a:ln w="0">
            <a:solidFill>
              <a:srgbClr val="3465A4"/>
            </a:solidFill>
          </a:ln>
        </p:spPr>
        <p:style>
          <a:lnRef idx="0">
            <a:scrgbClr r="0" g="0" b="0"/>
          </a:lnRef>
          <a:fillRef idx="0">
            <a:scrgbClr r="0" g="0" b="0"/>
          </a:fillRef>
          <a:effectRef idx="0">
            <a:scrgbClr r="0" g="0" b="0"/>
          </a:effectRef>
          <a:fontRef idx="minor"/>
        </p:style>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CustomShape 7">
            <a:extLst>
              <a:ext uri="{FF2B5EF4-FFF2-40B4-BE49-F238E27FC236}">
                <a16:creationId xmlns:a16="http://schemas.microsoft.com/office/drawing/2014/main" id="{11C5435D-FAB8-4050-85FC-21E9FDF6531C}"/>
              </a:ext>
            </a:extLst>
          </p:cNvPr>
          <p:cNvSpPr>
            <a:spLocks noChangeAspect="1"/>
          </p:cNvSpPr>
          <p:nvPr/>
        </p:nvSpPr>
        <p:spPr>
          <a:xfrm>
            <a:off x="5063119" y="5090848"/>
            <a:ext cx="1252800" cy="1252800"/>
          </a:xfrm>
          <a:prstGeom prst="ellipse">
            <a:avLst/>
          </a:prstGeom>
          <a:solidFill>
            <a:srgbClr val="FF6666"/>
          </a:solidFill>
          <a:ln w="0">
            <a:solidFill>
              <a:srgbClr val="3465A4"/>
            </a:solidFill>
          </a:ln>
        </p:spPr>
        <p:style>
          <a:lnRef idx="0">
            <a:scrgbClr r="0" g="0" b="0"/>
          </a:lnRef>
          <a:fillRef idx="0">
            <a:scrgbClr r="0" g="0" b="0"/>
          </a:fillRef>
          <a:effectRef idx="0">
            <a:scrgbClr r="0" g="0" b="0"/>
          </a:effectRef>
          <a:fontRef idx="minor"/>
        </p:style>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Shape 8">
            <a:extLst>
              <a:ext uri="{FF2B5EF4-FFF2-40B4-BE49-F238E27FC236}">
                <a16:creationId xmlns:a16="http://schemas.microsoft.com/office/drawing/2014/main" id="{2E850BFC-0FD7-4D7B-A70D-EDF8B931E935}"/>
              </a:ext>
            </a:extLst>
          </p:cNvPr>
          <p:cNvSpPr txBox="1">
            <a:spLocks noChangeAspect="1"/>
          </p:cNvSpPr>
          <p:nvPr/>
        </p:nvSpPr>
        <p:spPr>
          <a:xfrm>
            <a:off x="4957316" y="5338762"/>
            <a:ext cx="1464406" cy="691178"/>
          </a:xfrm>
          <a:prstGeom prst="rect">
            <a:avLst/>
          </a:prstGeom>
          <a:noFill/>
          <a:ln w="0">
            <a:noFill/>
          </a:ln>
        </p:spPr>
        <p:txBody>
          <a:bodyPr lIns="90000" tIns="45000" rIns="90000" bIns="4500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1" normalizeH="0" baseline="0" noProof="0" dirty="0">
                <a:ln>
                  <a:noFill/>
                </a:ln>
                <a:solidFill>
                  <a:prstClr val="black"/>
                </a:solidFill>
                <a:effectLst/>
                <a:uLnTx/>
                <a:uFillTx/>
                <a:latin typeface="Arial"/>
                <a:ea typeface="+mn-ea"/>
                <a:cs typeface="+mn-cs"/>
              </a:rPr>
              <a:t>     Reinforcement   Learning</a:t>
            </a:r>
          </a:p>
        </p:txBody>
      </p:sp>
      <p:sp>
        <p:nvSpPr>
          <p:cNvPr id="13" name="CustomShape 9">
            <a:extLst>
              <a:ext uri="{FF2B5EF4-FFF2-40B4-BE49-F238E27FC236}">
                <a16:creationId xmlns:a16="http://schemas.microsoft.com/office/drawing/2014/main" id="{EEC63181-3556-41EA-B8B3-721046F6EEDB}"/>
              </a:ext>
            </a:extLst>
          </p:cNvPr>
          <p:cNvSpPr>
            <a:spLocks noChangeAspect="1"/>
          </p:cNvSpPr>
          <p:nvPr/>
        </p:nvSpPr>
        <p:spPr>
          <a:xfrm rot="8555400">
            <a:off x="6421865" y="3106700"/>
            <a:ext cx="445176" cy="151200"/>
          </a:xfrm>
          <a:custGeom>
            <a:avLst/>
            <a:gdLst/>
            <a:ahLst/>
            <a:cxnLst/>
            <a:rect l="0" t="0" r="r" b="b"/>
            <a:pathLst>
              <a:path w="2063" h="701">
                <a:moveTo>
                  <a:pt x="2062" y="175"/>
                </a:moveTo>
                <a:lnTo>
                  <a:pt x="515" y="174"/>
                </a:lnTo>
                <a:lnTo>
                  <a:pt x="515" y="0"/>
                </a:lnTo>
                <a:lnTo>
                  <a:pt x="0" y="350"/>
                </a:lnTo>
                <a:lnTo>
                  <a:pt x="515" y="700"/>
                </a:lnTo>
                <a:lnTo>
                  <a:pt x="515" y="524"/>
                </a:lnTo>
                <a:lnTo>
                  <a:pt x="2061" y="525"/>
                </a:lnTo>
                <a:lnTo>
                  <a:pt x="2062" y="175"/>
                </a:lnTo>
              </a:path>
            </a:pathLst>
          </a:custGeom>
          <a:solidFill>
            <a:srgbClr val="729FCF"/>
          </a:solidFill>
          <a:ln w="0">
            <a:solidFill>
              <a:srgbClr val="3465A4"/>
            </a:solidFill>
          </a:ln>
        </p:spPr>
        <p:style>
          <a:lnRef idx="0">
            <a:scrgbClr r="0" g="0" b="0"/>
          </a:lnRef>
          <a:fillRef idx="0">
            <a:scrgbClr r="0" g="0" b="0"/>
          </a:fillRef>
          <a:effectRef idx="0">
            <a:scrgbClr r="0" g="0" b="0"/>
          </a:effectRef>
          <a:fontRef idx="minor"/>
        </p:style>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CustomShape 10">
            <a:extLst>
              <a:ext uri="{FF2B5EF4-FFF2-40B4-BE49-F238E27FC236}">
                <a16:creationId xmlns:a16="http://schemas.microsoft.com/office/drawing/2014/main" id="{ED6301C5-DBF5-42C6-95BA-D54969D880F2}"/>
              </a:ext>
            </a:extLst>
          </p:cNvPr>
          <p:cNvSpPr>
            <a:spLocks noChangeAspect="1"/>
          </p:cNvSpPr>
          <p:nvPr/>
        </p:nvSpPr>
        <p:spPr>
          <a:xfrm rot="1941600">
            <a:off x="4468647" y="3187443"/>
            <a:ext cx="445176" cy="151200"/>
          </a:xfrm>
          <a:custGeom>
            <a:avLst/>
            <a:gdLst/>
            <a:ahLst/>
            <a:cxnLst/>
            <a:rect l="0" t="0" r="r" b="b"/>
            <a:pathLst>
              <a:path w="2063" h="702">
                <a:moveTo>
                  <a:pt x="2062" y="174"/>
                </a:moveTo>
                <a:lnTo>
                  <a:pt x="515" y="175"/>
                </a:lnTo>
                <a:lnTo>
                  <a:pt x="514" y="0"/>
                </a:lnTo>
                <a:lnTo>
                  <a:pt x="0" y="351"/>
                </a:lnTo>
                <a:lnTo>
                  <a:pt x="515" y="701"/>
                </a:lnTo>
                <a:lnTo>
                  <a:pt x="515" y="526"/>
                </a:lnTo>
                <a:lnTo>
                  <a:pt x="2062" y="525"/>
                </a:lnTo>
                <a:lnTo>
                  <a:pt x="2062" y="174"/>
                </a:lnTo>
              </a:path>
            </a:pathLst>
          </a:custGeom>
          <a:solidFill>
            <a:srgbClr val="729FCF"/>
          </a:solidFill>
          <a:ln w="0">
            <a:solidFill>
              <a:srgbClr val="3465A4"/>
            </a:solidFill>
          </a:ln>
        </p:spPr>
        <p:style>
          <a:lnRef idx="0">
            <a:scrgbClr r="0" g="0" b="0"/>
          </a:lnRef>
          <a:fillRef idx="0">
            <a:scrgbClr r="0" g="0" b="0"/>
          </a:fillRef>
          <a:effectRef idx="0">
            <a:scrgbClr r="0" g="0" b="0"/>
          </a:effectRef>
          <a:fontRef idx="minor"/>
        </p:style>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CustomShape 11">
            <a:extLst>
              <a:ext uri="{FF2B5EF4-FFF2-40B4-BE49-F238E27FC236}">
                <a16:creationId xmlns:a16="http://schemas.microsoft.com/office/drawing/2014/main" id="{47F4D668-8D9B-4E51-AF5E-D8F5A4F7105A}"/>
              </a:ext>
            </a:extLst>
          </p:cNvPr>
          <p:cNvSpPr>
            <a:spLocks noChangeAspect="1"/>
          </p:cNvSpPr>
          <p:nvPr/>
        </p:nvSpPr>
        <p:spPr>
          <a:xfrm rot="16240800">
            <a:off x="5521501" y="4799317"/>
            <a:ext cx="381024" cy="151200"/>
          </a:xfrm>
          <a:custGeom>
            <a:avLst/>
            <a:gdLst/>
            <a:ahLst/>
            <a:cxnLst/>
            <a:rect l="0" t="0" r="r" b="b"/>
            <a:pathLst>
              <a:path w="1766" h="702">
                <a:moveTo>
                  <a:pt x="1765" y="174"/>
                </a:moveTo>
                <a:lnTo>
                  <a:pt x="441" y="175"/>
                </a:lnTo>
                <a:lnTo>
                  <a:pt x="441" y="0"/>
                </a:lnTo>
                <a:lnTo>
                  <a:pt x="0" y="351"/>
                </a:lnTo>
                <a:lnTo>
                  <a:pt x="441" y="701"/>
                </a:lnTo>
                <a:lnTo>
                  <a:pt x="441" y="525"/>
                </a:lnTo>
                <a:lnTo>
                  <a:pt x="1765" y="524"/>
                </a:lnTo>
                <a:lnTo>
                  <a:pt x="1765" y="174"/>
                </a:lnTo>
              </a:path>
            </a:pathLst>
          </a:custGeom>
          <a:solidFill>
            <a:srgbClr val="729FCF"/>
          </a:solidFill>
          <a:ln w="0">
            <a:solidFill>
              <a:srgbClr val="3465A4"/>
            </a:solidFill>
          </a:ln>
        </p:spPr>
        <p:style>
          <a:lnRef idx="0">
            <a:scrgbClr r="0" g="0" b="0"/>
          </a:lnRef>
          <a:fillRef idx="0">
            <a:scrgbClr r="0" g="0" b="0"/>
          </a:fillRef>
          <a:effectRef idx="0">
            <a:scrgbClr r="0" g="0" b="0"/>
          </a:effectRef>
          <a:fontRef idx="minor"/>
        </p:style>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CustomShape 12">
            <a:extLst>
              <a:ext uri="{FF2B5EF4-FFF2-40B4-BE49-F238E27FC236}">
                <a16:creationId xmlns:a16="http://schemas.microsoft.com/office/drawing/2014/main" id="{74AD465A-438C-4CFB-A90D-DA4634600F33}"/>
              </a:ext>
            </a:extLst>
          </p:cNvPr>
          <p:cNvSpPr>
            <a:spLocks noChangeAspect="1"/>
          </p:cNvSpPr>
          <p:nvPr/>
        </p:nvSpPr>
        <p:spPr>
          <a:xfrm>
            <a:off x="189277" y="1950304"/>
            <a:ext cx="2299670" cy="1252800"/>
          </a:xfrm>
          <a:prstGeom prst="wedgeRoundRectCallout">
            <a:avLst>
              <a:gd name="adj1" fmla="val 76774"/>
              <a:gd name="adj2" fmla="val 24761"/>
              <a:gd name="adj3" fmla="val 16667"/>
            </a:avLst>
          </a:prstGeom>
          <a:solidFill>
            <a:srgbClr val="FFFFFF"/>
          </a:solidFill>
          <a:ln w="38160">
            <a:solidFill>
              <a:srgbClr val="000000"/>
            </a:solidFill>
            <a:round/>
          </a:ln>
        </p:spPr>
        <p:style>
          <a:lnRef idx="0">
            <a:scrgbClr r="0" g="0" b="0"/>
          </a:lnRef>
          <a:fillRef idx="0">
            <a:scrgbClr r="0" g="0" b="0"/>
          </a:fillRef>
          <a:effectRef idx="0">
            <a:scrgbClr r="0" g="0" b="0"/>
          </a:effectRef>
          <a:fontRef idx="minor"/>
        </p:style>
        <p:txBody>
          <a:bodyPr wrap="none" lIns="109080" tIns="64080" rIns="109080" bIns="6408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1" normalizeH="0" baseline="0" noProof="0" dirty="0">
                <a:ln>
                  <a:noFill/>
                </a:ln>
                <a:solidFill>
                  <a:prstClr val="black"/>
                </a:solidFill>
                <a:effectLst/>
                <a:uLnTx/>
                <a:uFillTx/>
                <a:latin typeface="Arial"/>
                <a:ea typeface="+mn-ea"/>
                <a:cs typeface="+mn-cs"/>
              </a:rPr>
              <a:t>Some examples of</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1" normalizeH="0" baseline="0" noProof="0" dirty="0">
                <a:ln>
                  <a:noFill/>
                </a:ln>
                <a:solidFill>
                  <a:prstClr val="black"/>
                </a:solidFill>
                <a:effectLst/>
                <a:uLnTx/>
                <a:uFillTx/>
                <a:latin typeface="Arial"/>
                <a:ea typeface="+mn-ea"/>
                <a:cs typeface="+mn-cs"/>
              </a:rPr>
              <a:t>supervised learning problems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1" normalizeH="0" baseline="0" noProof="0" dirty="0">
              <a:ln>
                <a:noFill/>
              </a:ln>
              <a:solidFill>
                <a:prstClr val="black"/>
              </a:solidFill>
              <a:effectLst/>
              <a:uLnTx/>
              <a:uFillTx/>
              <a:latin typeface="Arial"/>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IN" sz="1200" b="0" i="0" u="none" strike="noStrike" kern="1200" cap="none" spc="-1" normalizeH="0" baseline="0" noProof="0" dirty="0">
                <a:ln>
                  <a:noFill/>
                </a:ln>
                <a:solidFill>
                  <a:prstClr val="black"/>
                </a:solidFill>
                <a:effectLst/>
                <a:uLnTx/>
                <a:uFillTx/>
                <a:latin typeface="Arial"/>
                <a:ea typeface="+mn-ea"/>
                <a:cs typeface="+mn-cs"/>
              </a:rPr>
              <a:t>Classification</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IN" sz="1200" b="0" i="0" u="none" strike="noStrike" kern="1200" cap="none" spc="-1" normalizeH="0" baseline="0" noProof="0" dirty="0">
                <a:ln>
                  <a:noFill/>
                </a:ln>
                <a:solidFill>
                  <a:prstClr val="black"/>
                </a:solidFill>
                <a:effectLst/>
                <a:uLnTx/>
                <a:uFillTx/>
                <a:latin typeface="Arial"/>
                <a:ea typeface="+mn-ea"/>
                <a:cs typeface="+mn-cs"/>
              </a:rPr>
              <a:t>Regression</a:t>
            </a:r>
          </a:p>
        </p:txBody>
      </p:sp>
      <p:sp>
        <p:nvSpPr>
          <p:cNvPr id="17" name="CustomShape 13">
            <a:extLst>
              <a:ext uri="{FF2B5EF4-FFF2-40B4-BE49-F238E27FC236}">
                <a16:creationId xmlns:a16="http://schemas.microsoft.com/office/drawing/2014/main" id="{CC8F8ACF-25A7-480D-8779-0B023D709681}"/>
              </a:ext>
            </a:extLst>
          </p:cNvPr>
          <p:cNvSpPr>
            <a:spLocks noChangeAspect="1"/>
          </p:cNvSpPr>
          <p:nvPr/>
        </p:nvSpPr>
        <p:spPr>
          <a:xfrm>
            <a:off x="8631694" y="2482735"/>
            <a:ext cx="3371029" cy="1399130"/>
          </a:xfrm>
          <a:prstGeom prst="wedgeRoundRectCallout">
            <a:avLst>
              <a:gd name="adj1" fmla="val -68032"/>
              <a:gd name="adj2" fmla="val 6479"/>
              <a:gd name="adj3" fmla="val 16667"/>
            </a:avLst>
          </a:prstGeom>
          <a:solidFill>
            <a:srgbClr val="FFFFFF"/>
          </a:solidFill>
          <a:ln w="38160">
            <a:solidFill>
              <a:srgbClr val="000000"/>
            </a:solidFill>
            <a:round/>
          </a:ln>
        </p:spPr>
        <p:style>
          <a:lnRef idx="0">
            <a:scrgbClr r="0" g="0" b="0"/>
          </a:lnRef>
          <a:fillRef idx="0">
            <a:scrgbClr r="0" g="0" b="0"/>
          </a:fillRef>
          <a:effectRef idx="0">
            <a:scrgbClr r="0" g="0" b="0"/>
          </a:effectRef>
          <a:fontRef idx="minor"/>
        </p:style>
        <p:txBody>
          <a:bodyPr wrap="none" lIns="109080" tIns="64080" rIns="109080" bIns="6408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1" normalizeH="0" baseline="0" noProof="0" dirty="0">
                <a:ln>
                  <a:noFill/>
                </a:ln>
                <a:solidFill>
                  <a:prstClr val="black"/>
                </a:solidFill>
                <a:effectLst/>
                <a:uLnTx/>
                <a:uFillTx/>
                <a:latin typeface="Arial"/>
                <a:ea typeface="+mn-ea"/>
                <a:cs typeface="+mn-cs"/>
              </a:rPr>
              <a:t>Some examples of</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1" normalizeH="0" baseline="0" noProof="0" dirty="0">
                <a:ln>
                  <a:noFill/>
                </a:ln>
                <a:solidFill>
                  <a:prstClr val="black"/>
                </a:solidFill>
                <a:effectLst/>
                <a:uLnTx/>
                <a:uFillTx/>
                <a:latin typeface="Arial"/>
                <a:ea typeface="+mn-ea"/>
                <a:cs typeface="+mn-cs"/>
              </a:rPr>
              <a:t>unsupervised learning problems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1" normalizeH="0" baseline="0" noProof="0" dirty="0">
              <a:ln>
                <a:noFill/>
              </a:ln>
              <a:solidFill>
                <a:prstClr val="black"/>
              </a:solidFill>
              <a:effectLst/>
              <a:uLnTx/>
              <a:uFillTx/>
              <a:latin typeface="Arial"/>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IN" sz="1200" b="0" i="0" u="none" strike="noStrike" kern="1200" cap="none" spc="-1" normalizeH="0" baseline="0" noProof="0" dirty="0">
                <a:ln>
                  <a:noFill/>
                </a:ln>
                <a:solidFill>
                  <a:prstClr val="black"/>
                </a:solidFill>
                <a:effectLst/>
                <a:uLnTx/>
                <a:uFillTx/>
                <a:latin typeface="Arial"/>
                <a:ea typeface="+mn-ea"/>
                <a:cs typeface="+mn-cs"/>
              </a:rPr>
              <a:t>Clustering</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IN" sz="1200" b="0" i="0" u="none" strike="noStrike" kern="1200" cap="none" spc="-1" normalizeH="0" baseline="0" noProof="0" dirty="0">
                <a:ln>
                  <a:noFill/>
                </a:ln>
                <a:solidFill>
                  <a:prstClr val="black"/>
                </a:solidFill>
                <a:effectLst/>
                <a:uLnTx/>
                <a:uFillTx/>
                <a:latin typeface="Arial"/>
                <a:ea typeface="+mn-ea"/>
                <a:cs typeface="+mn-cs"/>
              </a:rPr>
              <a:t>Dimensionality Reduction</a:t>
            </a:r>
          </a:p>
        </p:txBody>
      </p:sp>
      <p:sp>
        <p:nvSpPr>
          <p:cNvPr id="18" name="TextShape 14">
            <a:extLst>
              <a:ext uri="{FF2B5EF4-FFF2-40B4-BE49-F238E27FC236}">
                <a16:creationId xmlns:a16="http://schemas.microsoft.com/office/drawing/2014/main" id="{061DF09D-AD50-4F27-BBC6-A9FBCEFF2CDD}"/>
              </a:ext>
            </a:extLst>
          </p:cNvPr>
          <p:cNvSpPr txBox="1">
            <a:spLocks noChangeAspect="1"/>
          </p:cNvSpPr>
          <p:nvPr/>
        </p:nvSpPr>
        <p:spPr>
          <a:xfrm>
            <a:off x="7467124" y="4029513"/>
            <a:ext cx="3962581" cy="2412624"/>
          </a:xfrm>
          <a:prstGeom prst="rect">
            <a:avLst/>
          </a:prstGeom>
          <a:noFill/>
          <a:ln w="0">
            <a:noFill/>
          </a:ln>
        </p:spPr>
        <p:txBody>
          <a:bodyPr lIns="90000" tIns="45000" rIns="90000" bIns="4500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1" normalizeH="0" baseline="0" noProof="0" dirty="0">
                <a:ln>
                  <a:noFill/>
                </a:ln>
                <a:solidFill>
                  <a:srgbClr val="000000"/>
                </a:solidFill>
                <a:effectLst/>
                <a:uLnTx/>
                <a:uFillTx/>
                <a:latin typeface="Arial"/>
                <a:ea typeface="+mn-ea"/>
                <a:cs typeface="+mn-cs"/>
              </a:rPr>
              <a:t>Many other specialized </a:t>
            </a:r>
            <a:r>
              <a:rPr kumimoji="0" lang="en-IN" sz="1400" b="0" i="0" u="none" strike="noStrike" kern="1200" cap="none" spc="-1" normalizeH="0" baseline="0" noProof="0" dirty="0" err="1">
                <a:ln>
                  <a:noFill/>
                </a:ln>
                <a:solidFill>
                  <a:srgbClr val="000000"/>
                </a:solidFill>
                <a:effectLst/>
                <a:uLnTx/>
                <a:uFillTx/>
                <a:latin typeface="Arial"/>
                <a:ea typeface="+mn-ea"/>
                <a:cs typeface="+mn-cs"/>
              </a:rPr>
              <a:t>flavors</a:t>
            </a:r>
            <a:r>
              <a:rPr kumimoji="0" lang="en-IN" sz="1400" b="0" i="0" u="none" strike="noStrike" kern="1200" cap="none" spc="-1" normalizeH="0" baseline="0" noProof="0" dirty="0">
                <a:ln>
                  <a:noFill/>
                </a:ln>
                <a:solidFill>
                  <a:srgbClr val="000000"/>
                </a:solidFill>
                <a:effectLst/>
                <a:uLnTx/>
                <a:uFillTx/>
                <a:latin typeface="Arial"/>
                <a:ea typeface="+mn-ea"/>
                <a:cs typeface="+mn-cs"/>
              </a:rPr>
              <a:t> of ML also exist, </a:t>
            </a:r>
            <a:endParaRPr kumimoji="0" lang="en-IN" sz="1400" b="0" i="0" u="none" strike="noStrike" kern="1200" cap="none" spc="-1"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1" normalizeH="0" baseline="0" noProof="0" dirty="0">
                <a:ln>
                  <a:noFill/>
                </a:ln>
                <a:solidFill>
                  <a:srgbClr val="000000"/>
                </a:solidFill>
                <a:effectLst/>
                <a:uLnTx/>
                <a:uFillTx/>
                <a:latin typeface="Arial"/>
                <a:ea typeface="+mn-ea"/>
                <a:cs typeface="+mn-cs"/>
              </a:rPr>
              <a:t>some of which include</a:t>
            </a:r>
            <a:endParaRPr kumimoji="0" lang="en-IN" sz="1400" b="0" i="0" u="none" strike="noStrike" kern="1200" cap="none" spc="-1"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1" normalizeH="0" baseline="0" noProof="0" dirty="0">
              <a:ln>
                <a:noFill/>
              </a:ln>
              <a:solidFill>
                <a:prstClr val="black"/>
              </a:solidFill>
              <a:effectLst/>
              <a:uLnTx/>
              <a:uFillTx/>
              <a:latin typeface="Arial"/>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IN" sz="1400" b="0" i="0" u="none" strike="noStrike" kern="1200" cap="none" spc="-1" normalizeH="0" baseline="0" noProof="0" dirty="0">
                <a:ln>
                  <a:noFill/>
                </a:ln>
                <a:solidFill>
                  <a:srgbClr val="000000"/>
                </a:solidFill>
                <a:effectLst/>
                <a:uLnTx/>
                <a:uFillTx/>
                <a:latin typeface="Arial"/>
                <a:ea typeface="+mn-ea"/>
                <a:cs typeface="+mn-cs"/>
              </a:rPr>
              <a:t>Semi-supervised Learning</a:t>
            </a:r>
            <a:endParaRPr kumimoji="0" lang="en-IN" sz="1400" b="0" i="0" u="none" strike="noStrike" kern="1200" cap="none" spc="-1" normalizeH="0" baseline="0" noProof="0" dirty="0">
              <a:ln>
                <a:noFill/>
              </a:ln>
              <a:solidFill>
                <a:prstClr val="black"/>
              </a:solidFill>
              <a:effectLst/>
              <a:uLnTx/>
              <a:uFillTx/>
              <a:latin typeface="Arial"/>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IN" sz="1400" b="0" i="0" u="none" strike="noStrike" kern="1200" cap="none" spc="-1" normalizeH="0" baseline="0" noProof="0" dirty="0">
                <a:ln>
                  <a:noFill/>
                </a:ln>
                <a:solidFill>
                  <a:srgbClr val="000000"/>
                </a:solidFill>
                <a:effectLst/>
                <a:uLnTx/>
                <a:uFillTx/>
                <a:latin typeface="Arial"/>
                <a:ea typeface="+mn-ea"/>
                <a:cs typeface="+mn-cs"/>
              </a:rPr>
              <a:t>Active Learning</a:t>
            </a:r>
            <a:endParaRPr kumimoji="0" lang="en-IN" sz="1400" b="0" i="0" u="none" strike="noStrike" kern="1200" cap="none" spc="-1" normalizeH="0" baseline="0" noProof="0" dirty="0">
              <a:ln>
                <a:noFill/>
              </a:ln>
              <a:solidFill>
                <a:prstClr val="black"/>
              </a:solidFill>
              <a:effectLst/>
              <a:uLnTx/>
              <a:uFillTx/>
              <a:latin typeface="Arial"/>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IN" sz="1400" b="0" i="0" u="none" strike="noStrike" kern="1200" cap="none" spc="-1" normalizeH="0" baseline="0" noProof="0" dirty="0">
                <a:ln>
                  <a:noFill/>
                </a:ln>
                <a:solidFill>
                  <a:srgbClr val="000000"/>
                </a:solidFill>
                <a:effectLst/>
                <a:uLnTx/>
                <a:uFillTx/>
                <a:latin typeface="Arial"/>
                <a:ea typeface="+mn-ea"/>
                <a:cs typeface="+mn-cs"/>
              </a:rPr>
              <a:t>Transfer Learning</a:t>
            </a:r>
            <a:endParaRPr kumimoji="0" lang="en-IN" sz="1400" b="0" i="0" u="none" strike="noStrike" kern="1200" cap="none" spc="-1" normalizeH="0" baseline="0" noProof="0" dirty="0">
              <a:ln>
                <a:noFill/>
              </a:ln>
              <a:solidFill>
                <a:prstClr val="black"/>
              </a:solidFill>
              <a:effectLst/>
              <a:uLnTx/>
              <a:uFillTx/>
              <a:latin typeface="Arial"/>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IN" sz="1400" b="0" i="0" u="none" strike="noStrike" kern="1200" cap="none" spc="-1" normalizeH="0" baseline="0" noProof="0" dirty="0">
                <a:ln>
                  <a:noFill/>
                </a:ln>
                <a:solidFill>
                  <a:srgbClr val="000000"/>
                </a:solidFill>
                <a:effectLst/>
                <a:uLnTx/>
                <a:uFillTx/>
                <a:latin typeface="Arial"/>
                <a:ea typeface="+mn-ea"/>
                <a:cs typeface="+mn-cs"/>
              </a:rPr>
              <a:t>Multitask Learning</a:t>
            </a:r>
            <a:endParaRPr kumimoji="0" lang="en-IN" sz="1400" b="0" i="0" u="none" strike="noStrike" kern="1200" cap="none" spc="-1" normalizeH="0" baseline="0" noProof="0" dirty="0">
              <a:ln>
                <a:noFill/>
              </a:ln>
              <a:solidFill>
                <a:prstClr val="black"/>
              </a:solidFill>
              <a:effectLst/>
              <a:uLnTx/>
              <a:uFillTx/>
              <a:latin typeface="Arial"/>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IN" sz="1400" b="0" i="0" u="none" strike="noStrike" kern="1200" cap="none" spc="-1" normalizeH="0" baseline="0" noProof="0" dirty="0">
                <a:ln>
                  <a:noFill/>
                </a:ln>
                <a:solidFill>
                  <a:prstClr val="black"/>
                </a:solidFill>
                <a:effectLst/>
                <a:uLnTx/>
                <a:uFillTx/>
                <a:latin typeface="Arial"/>
                <a:ea typeface="+mn-ea"/>
                <a:cs typeface="+mn-cs"/>
              </a:rPr>
              <a:t>Imitation Learning (somewhat related to RL)</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IN" sz="1400" b="0" i="0" u="none" strike="noStrike" kern="1200" cap="none" spc="-1" normalizeH="0" baseline="0" noProof="0" dirty="0">
                <a:ln>
                  <a:noFill/>
                </a:ln>
                <a:solidFill>
                  <a:srgbClr val="000000"/>
                </a:solidFill>
                <a:effectLst/>
                <a:uLnTx/>
                <a:uFillTx/>
                <a:latin typeface="Arial"/>
                <a:ea typeface="+mn-ea"/>
                <a:cs typeface="+mn-cs"/>
              </a:rPr>
              <a:t>Zero-Shot Learning</a:t>
            </a:r>
            <a:endParaRPr kumimoji="0" lang="en-IN" sz="1400" b="0" i="0" u="none" strike="noStrike" kern="1200" cap="none" spc="-1" normalizeH="0" baseline="0" noProof="0" dirty="0">
              <a:ln>
                <a:noFill/>
              </a:ln>
              <a:solidFill>
                <a:prstClr val="black"/>
              </a:solidFill>
              <a:effectLst/>
              <a:uLnTx/>
              <a:uFillTx/>
              <a:latin typeface="Arial"/>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IN" sz="1400" b="0" i="0" u="none" strike="noStrike" kern="1200" cap="none" spc="-1" normalizeH="0" baseline="0" noProof="0" dirty="0">
                <a:ln>
                  <a:noFill/>
                </a:ln>
                <a:solidFill>
                  <a:srgbClr val="000000"/>
                </a:solidFill>
                <a:effectLst/>
                <a:uLnTx/>
                <a:uFillTx/>
                <a:latin typeface="Arial"/>
                <a:ea typeface="+mn-ea"/>
                <a:cs typeface="+mn-cs"/>
              </a:rPr>
              <a:t>Few-Shot Learning</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IN" sz="1400" b="0" i="0" u="none" strike="noStrike" kern="1200" cap="none" spc="-1" normalizeH="0" baseline="0" noProof="0" dirty="0">
                <a:ln>
                  <a:noFill/>
                </a:ln>
                <a:solidFill>
                  <a:srgbClr val="000000"/>
                </a:solidFill>
                <a:effectLst/>
                <a:uLnTx/>
                <a:uFillTx/>
                <a:latin typeface="Arial"/>
                <a:ea typeface="+mn-ea"/>
                <a:cs typeface="+mn-cs"/>
              </a:rPr>
              <a:t>Continual learning</a:t>
            </a:r>
            <a:endParaRPr kumimoji="0" lang="en-IN" sz="1400" b="0" i="0" u="none" strike="noStrike" kern="1200" cap="none" spc="-1" normalizeH="0" baseline="0" noProof="0" dirty="0">
              <a:ln>
                <a:noFill/>
              </a:ln>
              <a:solidFill>
                <a:prstClr val="black"/>
              </a:solidFill>
              <a:effectLst/>
              <a:uLnTx/>
              <a:uFillTx/>
              <a:latin typeface="Arial"/>
              <a:ea typeface="+mn-ea"/>
              <a:cs typeface="+mn-cs"/>
            </a:endParaRPr>
          </a:p>
        </p:txBody>
      </p:sp>
      <p:sp>
        <p:nvSpPr>
          <p:cNvPr id="19" name="TextShape 15">
            <a:extLst>
              <a:ext uri="{FF2B5EF4-FFF2-40B4-BE49-F238E27FC236}">
                <a16:creationId xmlns:a16="http://schemas.microsoft.com/office/drawing/2014/main" id="{8778F6E4-3F83-497F-BFE8-DBBDE90430D2}"/>
              </a:ext>
            </a:extLst>
          </p:cNvPr>
          <p:cNvSpPr txBox="1">
            <a:spLocks noChangeAspect="1"/>
          </p:cNvSpPr>
          <p:nvPr/>
        </p:nvSpPr>
        <p:spPr>
          <a:xfrm>
            <a:off x="2733076" y="1072078"/>
            <a:ext cx="2067834" cy="703535"/>
          </a:xfrm>
          <a:prstGeom prst="rect">
            <a:avLst/>
          </a:prstGeom>
          <a:noFill/>
          <a:ln w="0">
            <a:noFill/>
          </a:ln>
        </p:spPr>
        <p:txBody>
          <a:bodyPr lIns="90000" tIns="45000" rIns="90000" bIns="4500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200" b="0" i="0" u="none" strike="noStrike" kern="1200" cap="none" spc="-1" normalizeH="0" baseline="0" noProof="0" dirty="0">
                <a:ln>
                  <a:noFill/>
                </a:ln>
                <a:solidFill>
                  <a:prstClr val="black"/>
                </a:solidFill>
                <a:effectLst/>
                <a:uLnTx/>
                <a:uFillTx/>
                <a:latin typeface="Arial"/>
                <a:ea typeface="+mn-ea"/>
                <a:cs typeface="+mn-cs"/>
              </a:rPr>
              <a:t>Learning using </a:t>
            </a:r>
            <a:r>
              <a:rPr kumimoji="0" lang="en-IN" sz="2200" b="1" i="0" u="none" strike="noStrike" kern="1200" cap="none" spc="-1" normalizeH="0" baseline="0" noProof="0" dirty="0" err="1">
                <a:ln>
                  <a:noFill/>
                </a:ln>
                <a:solidFill>
                  <a:srgbClr val="FF3333"/>
                </a:solidFill>
                <a:effectLst/>
                <a:uLnTx/>
                <a:uFillTx/>
                <a:latin typeface="Arial"/>
                <a:ea typeface="+mn-ea"/>
                <a:cs typeface="+mn-cs"/>
              </a:rPr>
              <a:t>labeled</a:t>
            </a:r>
            <a:r>
              <a:rPr kumimoji="0" lang="en-IN" sz="2200" b="0" i="0" u="none" strike="noStrike" kern="1200" cap="none" spc="-1" normalizeH="0" baseline="0" noProof="0" dirty="0">
                <a:ln>
                  <a:noFill/>
                </a:ln>
                <a:solidFill>
                  <a:prstClr val="black"/>
                </a:solidFill>
                <a:effectLst/>
                <a:uLnTx/>
                <a:uFillTx/>
                <a:latin typeface="Arial"/>
                <a:ea typeface="+mn-ea"/>
                <a:cs typeface="+mn-cs"/>
              </a:rPr>
              <a:t> data</a:t>
            </a:r>
          </a:p>
        </p:txBody>
      </p:sp>
      <p:sp>
        <p:nvSpPr>
          <p:cNvPr id="21" name="CustomShape 17">
            <a:extLst>
              <a:ext uri="{FF2B5EF4-FFF2-40B4-BE49-F238E27FC236}">
                <a16:creationId xmlns:a16="http://schemas.microsoft.com/office/drawing/2014/main" id="{E332B00F-A5E0-4D21-A598-93C50D79760E}"/>
              </a:ext>
            </a:extLst>
          </p:cNvPr>
          <p:cNvSpPr>
            <a:spLocks noChangeAspect="1"/>
          </p:cNvSpPr>
          <p:nvPr/>
        </p:nvSpPr>
        <p:spPr>
          <a:xfrm>
            <a:off x="2647525" y="1026841"/>
            <a:ext cx="2268000" cy="842400"/>
          </a:xfrm>
          <a:prstGeom prst="rect">
            <a:avLst/>
          </a:prstGeom>
          <a:noFill/>
          <a:ln w="0">
            <a:solidFill>
              <a:srgbClr val="3465A4"/>
            </a:solidFill>
          </a:ln>
        </p:spPr>
        <p:style>
          <a:lnRef idx="0">
            <a:scrgbClr r="0" g="0" b="0"/>
          </a:lnRef>
          <a:fillRef idx="0">
            <a:scrgbClr r="0" g="0" b="0"/>
          </a:fillRef>
          <a:effectRef idx="0">
            <a:scrgbClr r="0" g="0" b="0"/>
          </a:effectRef>
          <a:fontRef idx="minor"/>
        </p:style>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Line 19">
            <a:extLst>
              <a:ext uri="{FF2B5EF4-FFF2-40B4-BE49-F238E27FC236}">
                <a16:creationId xmlns:a16="http://schemas.microsoft.com/office/drawing/2014/main" id="{0CD9B176-C7E9-4630-984A-10722B52814F}"/>
              </a:ext>
            </a:extLst>
          </p:cNvPr>
          <p:cNvSpPr>
            <a:spLocks noChangeAspect="1"/>
          </p:cNvSpPr>
          <p:nvPr/>
        </p:nvSpPr>
        <p:spPr>
          <a:xfrm>
            <a:off x="3768688" y="1869241"/>
            <a:ext cx="0" cy="324000"/>
          </a:xfrm>
          <a:prstGeom prst="line">
            <a:avLst/>
          </a:prstGeom>
          <a:ln w="0">
            <a:solidFill>
              <a:srgbClr val="000000"/>
            </a:solidFill>
            <a:tailEnd type="triangle" w="med" len="med"/>
          </a:ln>
        </p:spPr>
        <p:style>
          <a:lnRef idx="0">
            <a:scrgbClr r="0" g="0" b="0"/>
          </a:lnRef>
          <a:fillRef idx="0">
            <a:scrgbClr r="0" g="0" b="0"/>
          </a:fillRef>
          <a:effectRef idx="0">
            <a:scrgbClr r="0" g="0" b="0"/>
          </a:effectRef>
          <a:fontRef idx="minor"/>
        </p:style>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Shape 21">
            <a:extLst>
              <a:ext uri="{FF2B5EF4-FFF2-40B4-BE49-F238E27FC236}">
                <a16:creationId xmlns:a16="http://schemas.microsoft.com/office/drawing/2014/main" id="{243AC9AB-7891-4602-9E30-D4423815FC8C}"/>
              </a:ext>
            </a:extLst>
          </p:cNvPr>
          <p:cNvSpPr txBox="1">
            <a:spLocks noChangeAspect="1"/>
          </p:cNvSpPr>
          <p:nvPr/>
        </p:nvSpPr>
        <p:spPr>
          <a:xfrm>
            <a:off x="1298876" y="5245275"/>
            <a:ext cx="3604099" cy="991656"/>
          </a:xfrm>
          <a:prstGeom prst="rect">
            <a:avLst/>
          </a:prstGeom>
          <a:noFill/>
          <a:ln w="0">
            <a:noFill/>
          </a:ln>
        </p:spPr>
        <p:txBody>
          <a:bodyPr lIns="90000" tIns="45000" rIns="90000" bIns="4500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1" normalizeH="0" baseline="0" noProof="0" dirty="0">
                <a:ln>
                  <a:noFill/>
                </a:ln>
                <a:solidFill>
                  <a:prstClr val="black"/>
                </a:solidFill>
                <a:effectLst/>
                <a:uLnTx/>
                <a:uFillTx/>
                <a:latin typeface="Arial"/>
                <a:ea typeface="+mn-ea"/>
                <a:cs typeface="+mn-cs"/>
              </a:rPr>
              <a:t>RL doesn’t use “</a:t>
            </a:r>
            <a:r>
              <a:rPr kumimoji="0" lang="en-IN" sz="1600" b="0" i="0" u="none" strike="noStrike" kern="1200" cap="none" spc="-1" normalizeH="0" baseline="0" noProof="0" dirty="0" err="1">
                <a:ln>
                  <a:noFill/>
                </a:ln>
                <a:solidFill>
                  <a:prstClr val="black"/>
                </a:solidFill>
                <a:effectLst/>
                <a:uLnTx/>
                <a:uFillTx/>
                <a:latin typeface="Arial"/>
                <a:ea typeface="+mn-ea"/>
                <a:cs typeface="+mn-cs"/>
              </a:rPr>
              <a:t>labeled</a:t>
            </a:r>
            <a:r>
              <a:rPr kumimoji="0" lang="en-IN" sz="1600" b="0" i="0" u="none" strike="noStrike" kern="1200" cap="none" spc="-1" normalizeH="0" baseline="0" noProof="0" dirty="0">
                <a:ln>
                  <a:noFill/>
                </a:ln>
                <a:solidFill>
                  <a:prstClr val="black"/>
                </a:solidFill>
                <a:effectLst/>
                <a:uLnTx/>
                <a:uFillTx/>
                <a:latin typeface="Arial"/>
                <a:ea typeface="+mn-ea"/>
                <a:cs typeface="+mn-cs"/>
              </a:rPr>
              <a:t>” or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1" normalizeH="0" baseline="0" noProof="0" dirty="0">
                <a:ln>
                  <a:noFill/>
                </a:ln>
                <a:solidFill>
                  <a:prstClr val="black"/>
                </a:solidFill>
                <a:effectLst/>
                <a:uLnTx/>
                <a:uFillTx/>
                <a:latin typeface="Arial"/>
                <a:ea typeface="+mn-ea"/>
                <a:cs typeface="+mn-cs"/>
              </a:rPr>
              <a:t>“</a:t>
            </a:r>
            <a:r>
              <a:rPr kumimoji="0" lang="en-IN" sz="1600" b="0" i="0" u="none" strike="noStrike" kern="1200" cap="none" spc="-1" normalizeH="0" baseline="0" noProof="0" dirty="0" err="1">
                <a:ln>
                  <a:noFill/>
                </a:ln>
                <a:solidFill>
                  <a:prstClr val="black"/>
                </a:solidFill>
                <a:effectLst/>
                <a:uLnTx/>
                <a:uFillTx/>
                <a:latin typeface="Arial"/>
                <a:ea typeface="+mn-ea"/>
                <a:cs typeface="+mn-cs"/>
              </a:rPr>
              <a:t>unlabeled</a:t>
            </a:r>
            <a:r>
              <a:rPr kumimoji="0" lang="en-IN" sz="1600" b="0" i="0" u="none" strike="noStrike" kern="1200" cap="none" spc="-1" normalizeH="0" baseline="0" noProof="0" dirty="0">
                <a:ln>
                  <a:noFill/>
                </a:ln>
                <a:solidFill>
                  <a:prstClr val="black"/>
                </a:solidFill>
                <a:effectLst/>
                <a:uLnTx/>
                <a:uFillTx/>
                <a:latin typeface="Arial"/>
                <a:ea typeface="+mn-ea"/>
                <a:cs typeface="+mn-cs"/>
              </a:rPr>
              <a:t>” data in the traditional sense!  In RL, an agent learns via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1" normalizeH="0" baseline="0" noProof="0" dirty="0">
                <a:ln>
                  <a:noFill/>
                </a:ln>
                <a:solidFill>
                  <a:prstClr val="black"/>
                </a:solidFill>
                <a:effectLst/>
                <a:uLnTx/>
                <a:uFillTx/>
                <a:latin typeface="Arial"/>
                <a:ea typeface="+mn-ea"/>
                <a:cs typeface="+mn-cs"/>
              </a:rPr>
              <a:t>its interactions with an environment</a:t>
            </a:r>
          </a:p>
        </p:txBody>
      </p:sp>
      <p:sp>
        <p:nvSpPr>
          <p:cNvPr id="26" name="CustomShape 22">
            <a:extLst>
              <a:ext uri="{FF2B5EF4-FFF2-40B4-BE49-F238E27FC236}">
                <a16:creationId xmlns:a16="http://schemas.microsoft.com/office/drawing/2014/main" id="{8A746067-819A-4057-AD2E-052F9376159A}"/>
              </a:ext>
            </a:extLst>
          </p:cNvPr>
          <p:cNvSpPr>
            <a:spLocks noChangeAspect="1"/>
          </p:cNvSpPr>
          <p:nvPr/>
        </p:nvSpPr>
        <p:spPr>
          <a:xfrm>
            <a:off x="1222263" y="5226786"/>
            <a:ext cx="3497465" cy="1028635"/>
          </a:xfrm>
          <a:prstGeom prst="rect">
            <a:avLst/>
          </a:prstGeom>
          <a:noFill/>
          <a:ln w="0">
            <a:solidFill>
              <a:srgbClr val="3465A4"/>
            </a:solidFill>
          </a:ln>
        </p:spPr>
        <p:style>
          <a:lnRef idx="0">
            <a:scrgbClr r="0" g="0" b="0"/>
          </a:lnRef>
          <a:fillRef idx="0">
            <a:scrgbClr r="0" g="0" b="0"/>
          </a:fillRef>
          <a:effectRef idx="0">
            <a:scrgbClr r="0" g="0" b="0"/>
          </a:effectRef>
          <a:fontRef idx="minor"/>
        </p:style>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Line 23">
            <a:extLst>
              <a:ext uri="{FF2B5EF4-FFF2-40B4-BE49-F238E27FC236}">
                <a16:creationId xmlns:a16="http://schemas.microsoft.com/office/drawing/2014/main" id="{7BAB9EF4-968B-42AC-B99D-DCE2AE567523}"/>
              </a:ext>
            </a:extLst>
          </p:cNvPr>
          <p:cNvSpPr>
            <a:spLocks noChangeAspect="1"/>
          </p:cNvSpPr>
          <p:nvPr/>
        </p:nvSpPr>
        <p:spPr>
          <a:xfrm>
            <a:off x="4772630" y="5719270"/>
            <a:ext cx="280800" cy="0"/>
          </a:xfrm>
          <a:prstGeom prst="line">
            <a:avLst/>
          </a:prstGeom>
          <a:ln w="0">
            <a:solidFill>
              <a:srgbClr val="000000"/>
            </a:solidFill>
            <a:tailEnd type="triangle" w="med" len="med"/>
          </a:ln>
        </p:spPr>
        <p:style>
          <a:lnRef idx="0">
            <a:scrgbClr r="0" g="0" b="0"/>
          </a:lnRef>
          <a:fillRef idx="0">
            <a:scrgbClr r="0" g="0" b="0"/>
          </a:fillRef>
          <a:effectRef idx="0">
            <a:scrgbClr r="0" g="0" b="0"/>
          </a:effectRef>
          <a:fontRef idx="minor"/>
        </p:style>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Shape 15">
            <a:extLst>
              <a:ext uri="{FF2B5EF4-FFF2-40B4-BE49-F238E27FC236}">
                <a16:creationId xmlns:a16="http://schemas.microsoft.com/office/drawing/2014/main" id="{37C3B480-169A-461A-AD7B-412FBF089BF6}"/>
              </a:ext>
            </a:extLst>
          </p:cNvPr>
          <p:cNvSpPr txBox="1">
            <a:spLocks noChangeAspect="1"/>
          </p:cNvSpPr>
          <p:nvPr/>
        </p:nvSpPr>
        <p:spPr>
          <a:xfrm>
            <a:off x="6388736" y="1023925"/>
            <a:ext cx="2182449" cy="703535"/>
          </a:xfrm>
          <a:prstGeom prst="rect">
            <a:avLst/>
          </a:prstGeom>
          <a:noFill/>
          <a:ln w="0">
            <a:noFill/>
          </a:ln>
        </p:spPr>
        <p:txBody>
          <a:bodyPr lIns="90000" tIns="45000" rIns="90000" bIns="4500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200" b="0" i="0" u="none" strike="noStrike" kern="1200" cap="none" spc="-1" normalizeH="0" baseline="0" noProof="0" dirty="0">
                <a:ln>
                  <a:noFill/>
                </a:ln>
                <a:solidFill>
                  <a:prstClr val="black"/>
                </a:solidFill>
                <a:effectLst/>
                <a:uLnTx/>
                <a:uFillTx/>
                <a:latin typeface="Arial"/>
                <a:ea typeface="+mn-ea"/>
                <a:cs typeface="+mn-cs"/>
              </a:rPr>
              <a:t>Learning using </a:t>
            </a:r>
            <a:r>
              <a:rPr kumimoji="0" lang="en-IN" sz="2200" b="1" i="0" u="none" strike="noStrike" kern="1200" cap="none" spc="-1" normalizeH="0" baseline="0" noProof="0" dirty="0" err="1">
                <a:ln>
                  <a:noFill/>
                </a:ln>
                <a:solidFill>
                  <a:srgbClr val="FF0000"/>
                </a:solidFill>
                <a:effectLst/>
                <a:uLnTx/>
                <a:uFillTx/>
                <a:latin typeface="Arial"/>
                <a:ea typeface="+mn-ea"/>
                <a:cs typeface="+mn-cs"/>
              </a:rPr>
              <a:t>unlabeled</a:t>
            </a:r>
            <a:r>
              <a:rPr kumimoji="0" lang="en-IN" sz="2200" b="0" i="0" u="none" strike="noStrike" kern="1200" cap="none" spc="-1" normalizeH="0" baseline="0" noProof="0" dirty="0">
                <a:ln>
                  <a:noFill/>
                </a:ln>
                <a:solidFill>
                  <a:prstClr val="black"/>
                </a:solidFill>
                <a:effectLst/>
                <a:uLnTx/>
                <a:uFillTx/>
                <a:latin typeface="Arial"/>
                <a:ea typeface="+mn-ea"/>
                <a:cs typeface="+mn-cs"/>
              </a:rPr>
              <a:t> data</a:t>
            </a:r>
          </a:p>
        </p:txBody>
      </p:sp>
      <p:sp>
        <p:nvSpPr>
          <p:cNvPr id="29" name="CustomShape 17">
            <a:extLst>
              <a:ext uri="{FF2B5EF4-FFF2-40B4-BE49-F238E27FC236}">
                <a16:creationId xmlns:a16="http://schemas.microsoft.com/office/drawing/2014/main" id="{8B02B13D-828C-4B97-BA12-D5286821C6D7}"/>
              </a:ext>
            </a:extLst>
          </p:cNvPr>
          <p:cNvSpPr>
            <a:spLocks noChangeAspect="1"/>
          </p:cNvSpPr>
          <p:nvPr/>
        </p:nvSpPr>
        <p:spPr>
          <a:xfrm>
            <a:off x="6333125" y="1034331"/>
            <a:ext cx="2268000" cy="842400"/>
          </a:xfrm>
          <a:prstGeom prst="rect">
            <a:avLst/>
          </a:prstGeom>
          <a:noFill/>
          <a:ln w="0">
            <a:solidFill>
              <a:srgbClr val="3465A4"/>
            </a:solidFill>
          </a:ln>
        </p:spPr>
        <p:style>
          <a:lnRef idx="0">
            <a:scrgbClr r="0" g="0" b="0"/>
          </a:lnRef>
          <a:fillRef idx="0">
            <a:scrgbClr r="0" g="0" b="0"/>
          </a:fillRef>
          <a:effectRef idx="0">
            <a:scrgbClr r="0" g="0" b="0"/>
          </a:effectRef>
          <a:fontRef idx="minor"/>
        </p:style>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Line 19">
            <a:extLst>
              <a:ext uri="{FF2B5EF4-FFF2-40B4-BE49-F238E27FC236}">
                <a16:creationId xmlns:a16="http://schemas.microsoft.com/office/drawing/2014/main" id="{CCAE51AD-F80B-4A38-97AC-45ABC0096E09}"/>
              </a:ext>
            </a:extLst>
          </p:cNvPr>
          <p:cNvSpPr>
            <a:spLocks noChangeAspect="1"/>
          </p:cNvSpPr>
          <p:nvPr/>
        </p:nvSpPr>
        <p:spPr>
          <a:xfrm>
            <a:off x="7490664" y="1876731"/>
            <a:ext cx="0" cy="324000"/>
          </a:xfrm>
          <a:prstGeom prst="line">
            <a:avLst/>
          </a:prstGeom>
          <a:ln w="0">
            <a:solidFill>
              <a:srgbClr val="000000"/>
            </a:solidFill>
            <a:tailEnd type="triangle" w="med" len="med"/>
          </a:ln>
        </p:spPr>
        <p:style>
          <a:lnRef idx="0">
            <a:scrgbClr r="0" g="0" b="0"/>
          </a:lnRef>
          <a:fillRef idx="0">
            <a:scrgbClr r="0" g="0" b="0"/>
          </a:fillRef>
          <a:effectRef idx="0">
            <a:scrgbClr r="0" g="0" b="0"/>
          </a:effectRef>
          <a:fontRef idx="minor"/>
        </p:style>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Shape 4">
            <a:extLst>
              <a:ext uri="{FF2B5EF4-FFF2-40B4-BE49-F238E27FC236}">
                <a16:creationId xmlns:a16="http://schemas.microsoft.com/office/drawing/2014/main" id="{A2989A6E-0A9F-4353-B1A0-4518C173A997}"/>
              </a:ext>
            </a:extLst>
          </p:cNvPr>
          <p:cNvSpPr txBox="1">
            <a:spLocks noChangeAspect="1"/>
          </p:cNvSpPr>
          <p:nvPr/>
        </p:nvSpPr>
        <p:spPr>
          <a:xfrm>
            <a:off x="6790280" y="2569303"/>
            <a:ext cx="1353689" cy="604801"/>
          </a:xfrm>
          <a:prstGeom prst="rect">
            <a:avLst/>
          </a:prstGeom>
          <a:noFill/>
          <a:ln w="0">
            <a:noFill/>
          </a:ln>
        </p:spPr>
        <p:txBody>
          <a:bodyPr lIns="90000" tIns="45000" rIns="90000" bIns="4500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1" normalizeH="0" baseline="0" noProof="0" dirty="0">
                <a:ln>
                  <a:noFill/>
                </a:ln>
                <a:solidFill>
                  <a:prstClr val="black"/>
                </a:solidFill>
                <a:effectLst/>
                <a:uLnTx/>
                <a:uFillTx/>
                <a:latin typeface="Arial"/>
                <a:ea typeface="+mn-ea"/>
                <a:cs typeface="+mn-cs"/>
              </a:rPr>
              <a:t> Unsupervised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1" normalizeH="0" baseline="0" noProof="0" dirty="0">
                <a:ln>
                  <a:noFill/>
                </a:ln>
                <a:solidFill>
                  <a:prstClr val="black"/>
                </a:solidFill>
                <a:effectLst/>
                <a:uLnTx/>
                <a:uFillTx/>
                <a:latin typeface="Arial"/>
                <a:ea typeface="+mn-ea"/>
                <a:cs typeface="+mn-cs"/>
              </a:rPr>
              <a:t>  Learning</a:t>
            </a:r>
          </a:p>
        </p:txBody>
      </p:sp>
      <p:pic>
        <p:nvPicPr>
          <p:cNvPr id="32" name="Picture 31">
            <a:extLst>
              <a:ext uri="{FF2B5EF4-FFF2-40B4-BE49-F238E27FC236}">
                <a16:creationId xmlns:a16="http://schemas.microsoft.com/office/drawing/2014/main" id="{E7724663-42FF-43B7-9930-5A3469E7B3A2}"/>
              </a:ext>
            </a:extLst>
          </p:cNvPr>
          <p:cNvPicPr>
            <a:picLocks noChangeAspect="1"/>
          </p:cNvPicPr>
          <p:nvPr/>
        </p:nvPicPr>
        <p:blipFill>
          <a:blip r:embed="rId3"/>
          <a:stretch>
            <a:fillRect/>
          </a:stretch>
        </p:blipFill>
        <p:spPr>
          <a:xfrm>
            <a:off x="11020881" y="583206"/>
            <a:ext cx="1010687" cy="965223"/>
          </a:xfrm>
          <a:prstGeom prst="rect">
            <a:avLst/>
          </a:prstGeom>
        </p:spPr>
      </p:pic>
      <p:sp>
        <p:nvSpPr>
          <p:cNvPr id="33" name="Speech Bubble: Rectangle 32">
            <a:extLst>
              <a:ext uri="{FF2B5EF4-FFF2-40B4-BE49-F238E27FC236}">
                <a16:creationId xmlns:a16="http://schemas.microsoft.com/office/drawing/2014/main" id="{8BFA13E5-29D5-4B45-8225-5CA1452CB8AD}"/>
              </a:ext>
            </a:extLst>
          </p:cNvPr>
          <p:cNvSpPr/>
          <p:nvPr/>
        </p:nvSpPr>
        <p:spPr>
          <a:xfrm>
            <a:off x="8747393" y="169681"/>
            <a:ext cx="1933931" cy="2165406"/>
          </a:xfrm>
          <a:prstGeom prst="wedgeRectCallout">
            <a:avLst>
              <a:gd name="adj1" fmla="val 70940"/>
              <a:gd name="adj2" fmla="val -14583"/>
            </a:avLst>
          </a:prstGeom>
          <a:solidFill>
            <a:schemeClr val="bg1"/>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IN" sz="1600" b="0" i="0" u="none" strike="noStrike" kern="1200" cap="none" spc="0" normalizeH="0" baseline="0" noProof="0" dirty="0" err="1">
                <a:ln>
                  <a:noFill/>
                </a:ln>
                <a:solidFill>
                  <a:prstClr val="black"/>
                </a:solidFill>
                <a:effectLst/>
                <a:uLnTx/>
                <a:uFillTx/>
                <a:latin typeface="Calibri" panose="020F0502020204030204"/>
                <a:ea typeface="+mn-ea"/>
                <a:cs typeface="+mn-cs"/>
              </a:rPr>
              <a:t>Labeled</a:t>
            </a: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 means, during training, for each input, the corresponding output is available (i.e., the machine learner is explicitly told that a cat image is of a cat)</a:t>
            </a:r>
          </a:p>
        </p:txBody>
      </p:sp>
    </p:spTree>
    <p:custDataLst>
      <p:tags r:id="rId1"/>
    </p:custDataLst>
    <p:extLst>
      <p:ext uri="{BB962C8B-B14F-4D97-AF65-F5344CB8AC3E}">
        <p14:creationId xmlns:p14="http://schemas.microsoft.com/office/powerpoint/2010/main" val="4251496977"/>
      </p:ext>
    </p:extLst>
  </p:cSld>
  <p:clrMapOvr>
    <a:masterClrMapping/>
  </p:clrMapOvr>
  <mc:AlternateContent xmlns:mc="http://schemas.openxmlformats.org/markup-compatibility/2006" xmlns:p14="http://schemas.microsoft.com/office/powerpoint/2010/main">
    <mc:Choice Requires="p14">
      <p:transition spd="slow" p14:dur="2000" advTm="204301"/>
    </mc:Choice>
    <mc:Fallback xmlns="">
      <p:transition spd="slow" advTm="20430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down)">
                                      <p:cBhvr>
                                        <p:cTn id="15" dur="500"/>
                                        <p:tgtEl>
                                          <p:spTgt spid="14"/>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down)">
                                      <p:cBhvr>
                                        <p:cTn id="18" dur="500"/>
                                        <p:tgtEl>
                                          <p:spTgt spid="6"/>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down)">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wipe(down)">
                                      <p:cBhvr>
                                        <p:cTn id="26" dur="500"/>
                                        <p:tgtEl>
                                          <p:spTgt spid="21"/>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wipe(down)">
                                      <p:cBhvr>
                                        <p:cTn id="29" dur="500"/>
                                        <p:tgtEl>
                                          <p:spTgt spid="19"/>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ipe(down)">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wipe(down)">
                                      <p:cBhvr>
                                        <p:cTn id="37" dur="500"/>
                                        <p:tgtEl>
                                          <p:spTgt spid="32"/>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wipe(down)">
                                      <p:cBhvr>
                                        <p:cTn id="40" dur="500"/>
                                        <p:tgtEl>
                                          <p:spTgt spid="3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wipe(down)">
                                      <p:cBhvr>
                                        <p:cTn id="45" dur="500"/>
                                        <p:tgtEl>
                                          <p:spTgt spid="16"/>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wipe(down)">
                                      <p:cBhvr>
                                        <p:cTn id="50" dur="500"/>
                                        <p:tgtEl>
                                          <p:spTgt spid="13"/>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8"/>
                                        </p:tgtEl>
                                        <p:attrNameLst>
                                          <p:attrName>style.visibility</p:attrName>
                                        </p:attrNameLst>
                                      </p:cBhvr>
                                      <p:to>
                                        <p:strVal val="visible"/>
                                      </p:to>
                                    </p:set>
                                    <p:animEffect transition="in" filter="wipe(down)">
                                      <p:cBhvr>
                                        <p:cTn id="53" dur="500"/>
                                        <p:tgtEl>
                                          <p:spTgt spid="8"/>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31"/>
                                        </p:tgtEl>
                                        <p:attrNameLst>
                                          <p:attrName>style.visibility</p:attrName>
                                        </p:attrNameLst>
                                      </p:cBhvr>
                                      <p:to>
                                        <p:strVal val="visible"/>
                                      </p:to>
                                    </p:set>
                                    <p:animEffect transition="in" filter="wipe(down)">
                                      <p:cBhvr>
                                        <p:cTn id="56" dur="500"/>
                                        <p:tgtEl>
                                          <p:spTgt spid="31"/>
                                        </p:tgtEl>
                                      </p:cBhvr>
                                    </p:animEffect>
                                  </p:childTnLst>
                                </p:cTn>
                              </p:par>
                            </p:childTnLst>
                          </p:cTn>
                        </p:par>
                      </p:childTnLst>
                    </p:cTn>
                  </p:par>
                  <p:par>
                    <p:cTn id="57" fill="hold">
                      <p:stCondLst>
                        <p:cond delay="indefinite"/>
                      </p:stCondLst>
                      <p:childTnLst>
                        <p:par>
                          <p:cTn id="58" fill="hold">
                            <p:stCondLst>
                              <p:cond delay="0"/>
                            </p:stCondLst>
                            <p:childTnLst>
                              <p:par>
                                <p:cTn id="59" presetID="6" presetClass="entr" presetSubtype="16" fill="hold" grpId="0" nodeType="click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circle(in)">
                                      <p:cBhvr>
                                        <p:cTn id="61" dur="2000"/>
                                        <p:tgtEl>
                                          <p:spTgt spid="29"/>
                                        </p:tgtEl>
                                      </p:cBhvr>
                                    </p:animEffect>
                                  </p:childTnLst>
                                </p:cTn>
                              </p:par>
                              <p:par>
                                <p:cTn id="62" presetID="6" presetClass="entr" presetSubtype="16" fill="hold" grpId="0" nodeType="withEffect">
                                  <p:stCondLst>
                                    <p:cond delay="0"/>
                                  </p:stCondLst>
                                  <p:childTnLst>
                                    <p:set>
                                      <p:cBhvr>
                                        <p:cTn id="63" dur="1" fill="hold">
                                          <p:stCondLst>
                                            <p:cond delay="0"/>
                                          </p:stCondLst>
                                        </p:cTn>
                                        <p:tgtEl>
                                          <p:spTgt spid="30"/>
                                        </p:tgtEl>
                                        <p:attrNameLst>
                                          <p:attrName>style.visibility</p:attrName>
                                        </p:attrNameLst>
                                      </p:cBhvr>
                                      <p:to>
                                        <p:strVal val="visible"/>
                                      </p:to>
                                    </p:set>
                                    <p:animEffect transition="in" filter="circle(in)">
                                      <p:cBhvr>
                                        <p:cTn id="64" dur="2000"/>
                                        <p:tgtEl>
                                          <p:spTgt spid="30"/>
                                        </p:tgtEl>
                                      </p:cBhvr>
                                    </p:animEffect>
                                  </p:childTnLst>
                                </p:cTn>
                              </p:par>
                              <p:par>
                                <p:cTn id="65" presetID="22" presetClass="entr" presetSubtype="4" fill="hold" grpId="0" nodeType="with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wipe(down)">
                                      <p:cBhvr>
                                        <p:cTn id="67" dur="500"/>
                                        <p:tgtEl>
                                          <p:spTgt spid="28"/>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wipe(down)">
                                      <p:cBhvr>
                                        <p:cTn id="72" dur="500"/>
                                        <p:tgtEl>
                                          <p:spTgt spid="17"/>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grpId="0" nodeType="clickEffect">
                                  <p:stCondLst>
                                    <p:cond delay="0"/>
                                  </p:stCondLst>
                                  <p:childTnLst>
                                    <p:set>
                                      <p:cBhvr>
                                        <p:cTn id="76" dur="1" fill="hold">
                                          <p:stCondLst>
                                            <p:cond delay="0"/>
                                          </p:stCondLst>
                                        </p:cTn>
                                        <p:tgtEl>
                                          <p:spTgt spid="15"/>
                                        </p:tgtEl>
                                        <p:attrNameLst>
                                          <p:attrName>style.visibility</p:attrName>
                                        </p:attrNameLst>
                                      </p:cBhvr>
                                      <p:to>
                                        <p:strVal val="visible"/>
                                      </p:to>
                                    </p:set>
                                    <p:animEffect transition="in" filter="wipe(down)">
                                      <p:cBhvr>
                                        <p:cTn id="77" dur="500"/>
                                        <p:tgtEl>
                                          <p:spTgt spid="15"/>
                                        </p:tgtEl>
                                      </p:cBhvr>
                                    </p:animEffect>
                                  </p:childTnLst>
                                </p:cTn>
                              </p:par>
                              <p:par>
                                <p:cTn id="78" presetID="22" presetClass="entr" presetSubtype="4" fill="hold" grpId="0" nodeType="withEffect">
                                  <p:stCondLst>
                                    <p:cond delay="0"/>
                                  </p:stCondLst>
                                  <p:childTnLst>
                                    <p:set>
                                      <p:cBhvr>
                                        <p:cTn id="79" dur="1" fill="hold">
                                          <p:stCondLst>
                                            <p:cond delay="0"/>
                                          </p:stCondLst>
                                        </p:cTn>
                                        <p:tgtEl>
                                          <p:spTgt spid="10"/>
                                        </p:tgtEl>
                                        <p:attrNameLst>
                                          <p:attrName>style.visibility</p:attrName>
                                        </p:attrNameLst>
                                      </p:cBhvr>
                                      <p:to>
                                        <p:strVal val="visible"/>
                                      </p:to>
                                    </p:set>
                                    <p:animEffect transition="in" filter="wipe(down)">
                                      <p:cBhvr>
                                        <p:cTn id="80" dur="500"/>
                                        <p:tgtEl>
                                          <p:spTgt spid="10"/>
                                        </p:tgtEl>
                                      </p:cBhvr>
                                    </p:animEffect>
                                  </p:childTnLst>
                                </p:cTn>
                              </p:par>
                              <p:par>
                                <p:cTn id="81" presetID="22" presetClass="entr" presetSubtype="4" fill="hold" grpId="0" nodeType="withEffect">
                                  <p:stCondLst>
                                    <p:cond delay="0"/>
                                  </p:stCondLst>
                                  <p:childTnLst>
                                    <p:set>
                                      <p:cBhvr>
                                        <p:cTn id="82" dur="1" fill="hold">
                                          <p:stCondLst>
                                            <p:cond delay="0"/>
                                          </p:stCondLst>
                                        </p:cTn>
                                        <p:tgtEl>
                                          <p:spTgt spid="11"/>
                                        </p:tgtEl>
                                        <p:attrNameLst>
                                          <p:attrName>style.visibility</p:attrName>
                                        </p:attrNameLst>
                                      </p:cBhvr>
                                      <p:to>
                                        <p:strVal val="visible"/>
                                      </p:to>
                                    </p:set>
                                    <p:animEffect transition="in" filter="wipe(down)">
                                      <p:cBhvr>
                                        <p:cTn id="83" dur="500"/>
                                        <p:tgtEl>
                                          <p:spTgt spid="11"/>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4" fill="hold" grpId="0" nodeType="clickEffect">
                                  <p:stCondLst>
                                    <p:cond delay="0"/>
                                  </p:stCondLst>
                                  <p:childTnLst>
                                    <p:set>
                                      <p:cBhvr>
                                        <p:cTn id="87" dur="1" fill="hold">
                                          <p:stCondLst>
                                            <p:cond delay="0"/>
                                          </p:stCondLst>
                                        </p:cTn>
                                        <p:tgtEl>
                                          <p:spTgt spid="25"/>
                                        </p:tgtEl>
                                        <p:attrNameLst>
                                          <p:attrName>style.visibility</p:attrName>
                                        </p:attrNameLst>
                                      </p:cBhvr>
                                      <p:to>
                                        <p:strVal val="visible"/>
                                      </p:to>
                                    </p:set>
                                    <p:animEffect transition="in" filter="wipe(down)">
                                      <p:cBhvr>
                                        <p:cTn id="88" dur="500"/>
                                        <p:tgtEl>
                                          <p:spTgt spid="25"/>
                                        </p:tgtEl>
                                      </p:cBhvr>
                                    </p:animEffect>
                                  </p:childTnLst>
                                </p:cTn>
                              </p:par>
                              <p:par>
                                <p:cTn id="89" presetID="22" presetClass="entr" presetSubtype="4" fill="hold" grpId="0" nodeType="withEffect">
                                  <p:stCondLst>
                                    <p:cond delay="0"/>
                                  </p:stCondLst>
                                  <p:childTnLst>
                                    <p:set>
                                      <p:cBhvr>
                                        <p:cTn id="90" dur="1" fill="hold">
                                          <p:stCondLst>
                                            <p:cond delay="0"/>
                                          </p:stCondLst>
                                        </p:cTn>
                                        <p:tgtEl>
                                          <p:spTgt spid="26"/>
                                        </p:tgtEl>
                                        <p:attrNameLst>
                                          <p:attrName>style.visibility</p:attrName>
                                        </p:attrNameLst>
                                      </p:cBhvr>
                                      <p:to>
                                        <p:strVal val="visible"/>
                                      </p:to>
                                    </p:set>
                                    <p:animEffect transition="in" filter="wipe(down)">
                                      <p:cBhvr>
                                        <p:cTn id="91" dur="500"/>
                                        <p:tgtEl>
                                          <p:spTgt spid="26"/>
                                        </p:tgtEl>
                                      </p:cBhvr>
                                    </p:animEffect>
                                  </p:childTnLst>
                                </p:cTn>
                              </p:par>
                              <p:par>
                                <p:cTn id="92" presetID="22" presetClass="entr" presetSubtype="4" fill="hold" grpId="0" nodeType="withEffect">
                                  <p:stCondLst>
                                    <p:cond delay="0"/>
                                  </p:stCondLst>
                                  <p:childTnLst>
                                    <p:set>
                                      <p:cBhvr>
                                        <p:cTn id="93" dur="1" fill="hold">
                                          <p:stCondLst>
                                            <p:cond delay="0"/>
                                          </p:stCondLst>
                                        </p:cTn>
                                        <p:tgtEl>
                                          <p:spTgt spid="27"/>
                                        </p:tgtEl>
                                        <p:attrNameLst>
                                          <p:attrName>style.visibility</p:attrName>
                                        </p:attrNameLst>
                                      </p:cBhvr>
                                      <p:to>
                                        <p:strVal val="visible"/>
                                      </p:to>
                                    </p:set>
                                    <p:animEffect transition="in" filter="wipe(down)">
                                      <p:cBhvr>
                                        <p:cTn id="94" dur="500"/>
                                        <p:tgtEl>
                                          <p:spTgt spid="27"/>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4" fill="hold" grpId="0" nodeType="clickEffect">
                                  <p:stCondLst>
                                    <p:cond delay="0"/>
                                  </p:stCondLst>
                                  <p:childTnLst>
                                    <p:set>
                                      <p:cBhvr>
                                        <p:cTn id="98" dur="1" fill="hold">
                                          <p:stCondLst>
                                            <p:cond delay="0"/>
                                          </p:stCondLst>
                                        </p:cTn>
                                        <p:tgtEl>
                                          <p:spTgt spid="18"/>
                                        </p:tgtEl>
                                        <p:attrNameLst>
                                          <p:attrName>style.visibility</p:attrName>
                                        </p:attrNameLst>
                                      </p:cBhvr>
                                      <p:to>
                                        <p:strVal val="visible"/>
                                      </p:to>
                                    </p:set>
                                    <p:animEffect transition="in" filter="wipe(down)">
                                      <p:cBhvr>
                                        <p:cTn id="9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7" grpId="0"/>
      <p:bldP spid="8" grpId="0" animBg="1"/>
      <p:bldP spid="10" grpId="0" animBg="1"/>
      <p:bldP spid="11" grpId="0"/>
      <p:bldP spid="13" grpId="0" animBg="1"/>
      <p:bldP spid="14" grpId="0" animBg="1"/>
      <p:bldP spid="15" grpId="0" animBg="1"/>
      <p:bldP spid="16" grpId="0" animBg="1"/>
      <p:bldP spid="17" grpId="0" animBg="1"/>
      <p:bldP spid="18" grpId="0"/>
      <p:bldP spid="19" grpId="0"/>
      <p:bldP spid="21" grpId="0" animBg="1"/>
      <p:bldP spid="23" grpId="0" animBg="1"/>
      <p:bldP spid="25" grpId="0"/>
      <p:bldP spid="26" grpId="0" animBg="1"/>
      <p:bldP spid="27" grpId="0" animBg="1"/>
      <p:bldP spid="28" grpId="0"/>
      <p:bldP spid="29" grpId="0" animBg="1"/>
      <p:bldP spid="30" grpId="0" animBg="1"/>
      <p:bldP spid="31" grpId="0"/>
      <p:bldP spid="3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57946-FC7F-477C-9867-0ED704A858E1}"/>
              </a:ext>
            </a:extLst>
          </p:cNvPr>
          <p:cNvSpPr>
            <a:spLocks noGrp="1"/>
          </p:cNvSpPr>
          <p:nvPr>
            <p:ph type="title"/>
          </p:nvPr>
        </p:nvSpPr>
        <p:spPr>
          <a:xfrm>
            <a:off x="265245" y="169682"/>
            <a:ext cx="11740617" cy="821500"/>
          </a:xfrm>
        </p:spPr>
        <p:txBody>
          <a:bodyPr>
            <a:normAutofit/>
          </a:bodyPr>
          <a:lstStyle/>
          <a:p>
            <a:r>
              <a:rPr lang="en-IN" dirty="0">
                <a:solidFill>
                  <a:schemeClr val="accent2">
                    <a:lumMod val="75000"/>
                  </a:schemeClr>
                </a:solidFill>
              </a:rPr>
              <a:t>A Typical Supervised Learning Workflow</a:t>
            </a:r>
          </a:p>
        </p:txBody>
      </p:sp>
      <p:pic>
        <p:nvPicPr>
          <p:cNvPr id="10" name="Picture 9">
            <a:extLst>
              <a:ext uri="{FF2B5EF4-FFF2-40B4-BE49-F238E27FC236}">
                <a16:creationId xmlns:a16="http://schemas.microsoft.com/office/drawing/2014/main" id="{260E92D8-8B28-47DE-992C-09EAD1A89A7E}"/>
              </a:ext>
            </a:extLst>
          </p:cNvPr>
          <p:cNvPicPr/>
          <p:nvPr/>
        </p:nvPicPr>
        <p:blipFill>
          <a:blip r:embed="rId3"/>
          <a:stretch/>
        </p:blipFill>
        <p:spPr>
          <a:xfrm>
            <a:off x="2543469" y="1820870"/>
            <a:ext cx="494113" cy="418029"/>
          </a:xfrm>
          <a:prstGeom prst="rect">
            <a:avLst/>
          </a:prstGeom>
          <a:ln w="0">
            <a:noFill/>
          </a:ln>
        </p:spPr>
      </p:pic>
      <p:pic>
        <p:nvPicPr>
          <p:cNvPr id="11" name="Picture 10">
            <a:extLst>
              <a:ext uri="{FF2B5EF4-FFF2-40B4-BE49-F238E27FC236}">
                <a16:creationId xmlns:a16="http://schemas.microsoft.com/office/drawing/2014/main" id="{35E04D56-8D4F-4CF0-93DD-966914BF2402}"/>
              </a:ext>
            </a:extLst>
          </p:cNvPr>
          <p:cNvPicPr/>
          <p:nvPr/>
        </p:nvPicPr>
        <p:blipFill>
          <a:blip r:embed="rId4"/>
          <a:stretch/>
        </p:blipFill>
        <p:spPr>
          <a:xfrm>
            <a:off x="2334388" y="2161837"/>
            <a:ext cx="487260" cy="393953"/>
          </a:xfrm>
          <a:prstGeom prst="rect">
            <a:avLst/>
          </a:prstGeom>
          <a:ln w="0">
            <a:noFill/>
          </a:ln>
        </p:spPr>
      </p:pic>
      <p:pic>
        <p:nvPicPr>
          <p:cNvPr id="13" name="Picture 12">
            <a:extLst>
              <a:ext uri="{FF2B5EF4-FFF2-40B4-BE49-F238E27FC236}">
                <a16:creationId xmlns:a16="http://schemas.microsoft.com/office/drawing/2014/main" id="{66F1707D-2E71-4DB0-83D2-ED1D3B4C8CE8}"/>
              </a:ext>
            </a:extLst>
          </p:cNvPr>
          <p:cNvPicPr/>
          <p:nvPr/>
        </p:nvPicPr>
        <p:blipFill>
          <a:blip r:embed="rId5"/>
          <a:stretch/>
        </p:blipFill>
        <p:spPr>
          <a:xfrm>
            <a:off x="2091798" y="2457313"/>
            <a:ext cx="451671" cy="419918"/>
          </a:xfrm>
          <a:prstGeom prst="rect">
            <a:avLst/>
          </a:prstGeom>
          <a:ln w="0">
            <a:noFill/>
          </a:ln>
        </p:spPr>
      </p:pic>
      <p:pic>
        <p:nvPicPr>
          <p:cNvPr id="14" name="Picture 13">
            <a:extLst>
              <a:ext uri="{FF2B5EF4-FFF2-40B4-BE49-F238E27FC236}">
                <a16:creationId xmlns:a16="http://schemas.microsoft.com/office/drawing/2014/main" id="{AEA6978C-756F-444F-8CB5-6A1AFCB6AEEA}"/>
              </a:ext>
            </a:extLst>
          </p:cNvPr>
          <p:cNvPicPr/>
          <p:nvPr/>
        </p:nvPicPr>
        <p:blipFill>
          <a:blip r:embed="rId6"/>
          <a:stretch/>
        </p:blipFill>
        <p:spPr>
          <a:xfrm>
            <a:off x="1848805" y="2797819"/>
            <a:ext cx="474725" cy="401174"/>
          </a:xfrm>
          <a:prstGeom prst="rect">
            <a:avLst/>
          </a:prstGeom>
          <a:ln w="0">
            <a:noFill/>
          </a:ln>
        </p:spPr>
      </p:pic>
      <p:pic>
        <p:nvPicPr>
          <p:cNvPr id="15" name="Picture 14">
            <a:extLst>
              <a:ext uri="{FF2B5EF4-FFF2-40B4-BE49-F238E27FC236}">
                <a16:creationId xmlns:a16="http://schemas.microsoft.com/office/drawing/2014/main" id="{F676AA90-F415-408A-B3BD-ECDC02710F81}"/>
              </a:ext>
            </a:extLst>
          </p:cNvPr>
          <p:cNvPicPr/>
          <p:nvPr/>
        </p:nvPicPr>
        <p:blipFill>
          <a:blip r:embed="rId7"/>
          <a:stretch/>
        </p:blipFill>
        <p:spPr>
          <a:xfrm>
            <a:off x="1614116" y="3134003"/>
            <a:ext cx="505914" cy="393840"/>
          </a:xfrm>
          <a:prstGeom prst="rect">
            <a:avLst/>
          </a:prstGeom>
          <a:ln w="0">
            <a:noFill/>
          </a:ln>
        </p:spPr>
      </p:pic>
      <p:pic>
        <p:nvPicPr>
          <p:cNvPr id="16" name="Picture 15">
            <a:extLst>
              <a:ext uri="{FF2B5EF4-FFF2-40B4-BE49-F238E27FC236}">
                <a16:creationId xmlns:a16="http://schemas.microsoft.com/office/drawing/2014/main" id="{50DE49E3-7B49-42BC-BBE7-79E103B28DF9}"/>
              </a:ext>
            </a:extLst>
          </p:cNvPr>
          <p:cNvPicPr/>
          <p:nvPr/>
        </p:nvPicPr>
        <p:blipFill>
          <a:blip r:embed="rId8"/>
          <a:stretch/>
        </p:blipFill>
        <p:spPr>
          <a:xfrm>
            <a:off x="1413703" y="3438807"/>
            <a:ext cx="462469" cy="393840"/>
          </a:xfrm>
          <a:prstGeom prst="rect">
            <a:avLst/>
          </a:prstGeom>
          <a:ln w="0">
            <a:noFill/>
          </a:ln>
        </p:spPr>
      </p:pic>
      <p:sp>
        <p:nvSpPr>
          <p:cNvPr id="19" name="TextShape 3">
            <a:extLst>
              <a:ext uri="{FF2B5EF4-FFF2-40B4-BE49-F238E27FC236}">
                <a16:creationId xmlns:a16="http://schemas.microsoft.com/office/drawing/2014/main" id="{ED83869D-8D47-455D-BCCF-C43C7C239DF2}"/>
              </a:ext>
            </a:extLst>
          </p:cNvPr>
          <p:cNvSpPr txBox="1"/>
          <p:nvPr/>
        </p:nvSpPr>
        <p:spPr>
          <a:xfrm>
            <a:off x="2455008" y="2668011"/>
            <a:ext cx="610804" cy="296551"/>
          </a:xfrm>
          <a:prstGeom prst="rect">
            <a:avLst/>
          </a:prstGeom>
          <a:noFill/>
          <a:ln w="0">
            <a:noFill/>
          </a:ln>
        </p:spPr>
        <p:txBody>
          <a:bodyPr lIns="90000" tIns="45000" rIns="90000" bIns="4500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1" normalizeH="0" baseline="0" noProof="0" dirty="0">
                <a:ln>
                  <a:noFill/>
                </a:ln>
                <a:solidFill>
                  <a:prstClr val="black"/>
                </a:solidFill>
                <a:effectLst/>
                <a:uLnTx/>
                <a:uFillTx/>
                <a:latin typeface="Arial"/>
                <a:ea typeface="+mn-ea"/>
                <a:cs typeface="+mn-cs"/>
              </a:rPr>
              <a:t>“dog”</a:t>
            </a:r>
          </a:p>
        </p:txBody>
      </p:sp>
      <p:sp>
        <p:nvSpPr>
          <p:cNvPr id="22" name="TextShape 6">
            <a:extLst>
              <a:ext uri="{FF2B5EF4-FFF2-40B4-BE49-F238E27FC236}">
                <a16:creationId xmlns:a16="http://schemas.microsoft.com/office/drawing/2014/main" id="{F7009B0F-EBF1-4439-94BA-1967C66C26E6}"/>
              </a:ext>
            </a:extLst>
          </p:cNvPr>
          <p:cNvSpPr txBox="1"/>
          <p:nvPr/>
        </p:nvSpPr>
        <p:spPr>
          <a:xfrm>
            <a:off x="1815753" y="3539384"/>
            <a:ext cx="702000" cy="346320"/>
          </a:xfrm>
          <a:prstGeom prst="rect">
            <a:avLst/>
          </a:prstGeom>
          <a:noFill/>
          <a:ln w="0">
            <a:noFill/>
          </a:ln>
        </p:spPr>
        <p:txBody>
          <a:bodyPr lIns="90000" tIns="45000" rIns="90000" bIns="4500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1" normalizeH="0" baseline="0" noProof="0" dirty="0">
                <a:ln>
                  <a:noFill/>
                </a:ln>
                <a:solidFill>
                  <a:prstClr val="black"/>
                </a:solidFill>
                <a:effectLst/>
                <a:uLnTx/>
                <a:uFillTx/>
                <a:latin typeface="Arial"/>
                <a:ea typeface="+mn-ea"/>
                <a:cs typeface="+mn-cs"/>
              </a:rPr>
              <a:t>“</a:t>
            </a:r>
            <a:r>
              <a:rPr kumimoji="0" lang="en-IN" sz="1400" b="0" i="0" u="none" strike="noStrike" kern="1200" cap="none" spc="-1" normalizeH="0" baseline="0" noProof="0" dirty="0">
                <a:ln>
                  <a:noFill/>
                </a:ln>
                <a:solidFill>
                  <a:prstClr val="black"/>
                </a:solidFill>
                <a:effectLst/>
                <a:uLnTx/>
                <a:uFillTx/>
                <a:latin typeface="Arial"/>
                <a:ea typeface="+mn-ea"/>
                <a:cs typeface="+mn-cs"/>
              </a:rPr>
              <a:t>cat</a:t>
            </a:r>
            <a:r>
              <a:rPr kumimoji="0" lang="en-IN" sz="1800" b="0" i="0" u="none" strike="noStrike" kern="1200" cap="none" spc="-1" normalizeH="0" baseline="0" noProof="0" dirty="0">
                <a:ln>
                  <a:noFill/>
                </a:ln>
                <a:solidFill>
                  <a:prstClr val="black"/>
                </a:solidFill>
                <a:effectLst/>
                <a:uLnTx/>
                <a:uFillTx/>
                <a:latin typeface="Arial"/>
                <a:ea typeface="+mn-ea"/>
                <a:cs typeface="+mn-cs"/>
              </a:rPr>
              <a:t>”</a:t>
            </a:r>
          </a:p>
        </p:txBody>
      </p:sp>
      <p:sp>
        <p:nvSpPr>
          <p:cNvPr id="23" name="TextShape 7">
            <a:extLst>
              <a:ext uri="{FF2B5EF4-FFF2-40B4-BE49-F238E27FC236}">
                <a16:creationId xmlns:a16="http://schemas.microsoft.com/office/drawing/2014/main" id="{BC1A0BE4-1A0C-4575-A2CC-3C2DF6D838EC}"/>
              </a:ext>
            </a:extLst>
          </p:cNvPr>
          <p:cNvSpPr txBox="1"/>
          <p:nvPr/>
        </p:nvSpPr>
        <p:spPr>
          <a:xfrm>
            <a:off x="957212" y="1812752"/>
            <a:ext cx="1121753" cy="985680"/>
          </a:xfrm>
          <a:prstGeom prst="rect">
            <a:avLst/>
          </a:prstGeom>
          <a:noFill/>
          <a:ln w="0">
            <a:noFill/>
          </a:ln>
        </p:spPr>
        <p:txBody>
          <a:bodyPr lIns="90000" tIns="45000" rIns="90000" bIns="4500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600" b="0" i="0" u="none" strike="noStrike" kern="1200" cap="none" spc="-1" normalizeH="0" baseline="0" noProof="0" dirty="0">
                <a:ln>
                  <a:noFill/>
                </a:ln>
                <a:solidFill>
                  <a:prstClr val="black"/>
                </a:solidFill>
                <a:effectLst/>
                <a:uLnTx/>
                <a:uFillTx/>
                <a:latin typeface="Arial"/>
                <a:ea typeface="+mn-ea"/>
                <a:cs typeface="+mn-cs"/>
              </a:rPr>
              <a:t> </a:t>
            </a:r>
            <a:r>
              <a:rPr kumimoji="0" lang="en-IN" sz="1800" b="0" i="0" u="none" strike="noStrike" kern="1200" cap="none" spc="-1" normalizeH="0" baseline="0" noProof="0" dirty="0" err="1">
                <a:ln>
                  <a:noFill/>
                </a:ln>
                <a:solidFill>
                  <a:prstClr val="black"/>
                </a:solidFill>
                <a:effectLst/>
                <a:uLnTx/>
                <a:uFillTx/>
                <a:latin typeface="Arial"/>
                <a:ea typeface="+mn-ea"/>
                <a:cs typeface="+mn-cs"/>
              </a:rPr>
              <a:t>Labeled</a:t>
            </a:r>
            <a:endParaRPr kumimoji="0" lang="en-IN" sz="1800" b="0" i="0" u="none" strike="noStrike" kern="1200" cap="none" spc="-1"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1" normalizeH="0" baseline="0" noProof="0" dirty="0">
                <a:ln>
                  <a:noFill/>
                </a:ln>
                <a:solidFill>
                  <a:prstClr val="black"/>
                </a:solidFill>
                <a:effectLst/>
                <a:uLnTx/>
                <a:uFillTx/>
                <a:latin typeface="Arial"/>
                <a:ea typeface="+mn-ea"/>
                <a:cs typeface="+mn-cs"/>
              </a:rPr>
              <a:t> Training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1" normalizeH="0" baseline="0" noProof="0" dirty="0">
                <a:ln>
                  <a:noFill/>
                </a:ln>
                <a:solidFill>
                  <a:prstClr val="black"/>
                </a:solidFill>
                <a:effectLst/>
                <a:uLnTx/>
                <a:uFillTx/>
                <a:latin typeface="Arial"/>
                <a:ea typeface="+mn-ea"/>
                <a:cs typeface="+mn-cs"/>
              </a:rPr>
              <a:t>   Data</a:t>
            </a:r>
          </a:p>
        </p:txBody>
      </p:sp>
      <p:sp>
        <p:nvSpPr>
          <p:cNvPr id="29" name="CustomShape 13">
            <a:extLst>
              <a:ext uri="{FF2B5EF4-FFF2-40B4-BE49-F238E27FC236}">
                <a16:creationId xmlns:a16="http://schemas.microsoft.com/office/drawing/2014/main" id="{1612BFB8-F448-4084-86D3-7E2632A3CD98}"/>
              </a:ext>
            </a:extLst>
          </p:cNvPr>
          <p:cNvSpPr/>
          <p:nvPr/>
        </p:nvSpPr>
        <p:spPr>
          <a:xfrm>
            <a:off x="4382639" y="3474524"/>
            <a:ext cx="74571" cy="532978"/>
          </a:xfrm>
          <a:prstGeom prst="rect">
            <a:avLst/>
          </a:prstGeom>
          <a:solidFill>
            <a:schemeClr val="accent4">
              <a:lumMod val="75000"/>
            </a:schemeClr>
          </a:solidFill>
          <a:ln w="0">
            <a:solidFill>
              <a:srgbClr val="3465A4"/>
            </a:solid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TextShape 21">
            <a:extLst>
              <a:ext uri="{FF2B5EF4-FFF2-40B4-BE49-F238E27FC236}">
                <a16:creationId xmlns:a16="http://schemas.microsoft.com/office/drawing/2014/main" id="{A717CF15-96AB-454A-B01B-5CF9977681CD}"/>
              </a:ext>
            </a:extLst>
          </p:cNvPr>
          <p:cNvSpPr txBox="1"/>
          <p:nvPr/>
        </p:nvSpPr>
        <p:spPr>
          <a:xfrm>
            <a:off x="3117053" y="3096347"/>
            <a:ext cx="1005685" cy="539380"/>
          </a:xfrm>
          <a:prstGeom prst="rect">
            <a:avLst/>
          </a:prstGeom>
          <a:noFill/>
          <a:ln w="0">
            <a:noFill/>
          </a:ln>
        </p:spPr>
        <p:txBody>
          <a:bodyPr lIns="90000" tIns="45000" rIns="90000" bIns="4500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1" normalizeH="0" baseline="0" noProof="0" dirty="0">
                <a:ln>
                  <a:noFill/>
                </a:ln>
                <a:solidFill>
                  <a:prstClr val="black"/>
                </a:solidFill>
                <a:effectLst/>
                <a:uLnTx/>
                <a:uFillTx/>
                <a:latin typeface="Arial"/>
                <a:ea typeface="+mn-ea"/>
                <a:cs typeface="+mn-cs"/>
              </a:rPr>
              <a:t> “Feature”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1" normalizeH="0" baseline="0" noProof="0" dirty="0">
                <a:ln>
                  <a:noFill/>
                </a:ln>
                <a:solidFill>
                  <a:prstClr val="black"/>
                </a:solidFill>
                <a:effectLst/>
                <a:uLnTx/>
                <a:uFillTx/>
                <a:latin typeface="Arial"/>
                <a:ea typeface="+mn-ea"/>
                <a:cs typeface="+mn-cs"/>
              </a:rPr>
              <a:t>Extraction</a:t>
            </a:r>
          </a:p>
        </p:txBody>
      </p:sp>
      <p:sp>
        <p:nvSpPr>
          <p:cNvPr id="38" name="CustomShape 22">
            <a:extLst>
              <a:ext uri="{FF2B5EF4-FFF2-40B4-BE49-F238E27FC236}">
                <a16:creationId xmlns:a16="http://schemas.microsoft.com/office/drawing/2014/main" id="{A0AA987F-9F76-4831-9948-8CFC7E4DD552}"/>
              </a:ext>
            </a:extLst>
          </p:cNvPr>
          <p:cNvSpPr/>
          <p:nvPr/>
        </p:nvSpPr>
        <p:spPr>
          <a:xfrm>
            <a:off x="3307888" y="2886747"/>
            <a:ext cx="701996" cy="191444"/>
          </a:xfrm>
          <a:custGeom>
            <a:avLst/>
            <a:gdLst/>
            <a:ahLst/>
            <a:cxnLst/>
            <a:rect l="0" t="0" r="r" b="b"/>
            <a:pathLst>
              <a:path w="4202" h="1002">
                <a:moveTo>
                  <a:pt x="0" y="250"/>
                </a:moveTo>
                <a:lnTo>
                  <a:pt x="3150" y="250"/>
                </a:lnTo>
                <a:lnTo>
                  <a:pt x="3150" y="0"/>
                </a:lnTo>
                <a:lnTo>
                  <a:pt x="4201" y="500"/>
                </a:lnTo>
                <a:lnTo>
                  <a:pt x="3150" y="1001"/>
                </a:lnTo>
                <a:lnTo>
                  <a:pt x="3150" y="750"/>
                </a:lnTo>
                <a:lnTo>
                  <a:pt x="0" y="750"/>
                </a:lnTo>
                <a:lnTo>
                  <a:pt x="0" y="250"/>
                </a:lnTo>
              </a:path>
            </a:pathLst>
          </a:custGeom>
          <a:solidFill>
            <a:srgbClr val="729FCF"/>
          </a:solidFill>
          <a:ln w="0">
            <a:solidFill>
              <a:srgbClr val="3465A4"/>
            </a:solid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CustomShape 24">
            <a:extLst>
              <a:ext uri="{FF2B5EF4-FFF2-40B4-BE49-F238E27FC236}">
                <a16:creationId xmlns:a16="http://schemas.microsoft.com/office/drawing/2014/main" id="{A05C4763-9D4E-473A-9D01-70ED7AB6BFDE}"/>
              </a:ext>
            </a:extLst>
          </p:cNvPr>
          <p:cNvSpPr/>
          <p:nvPr/>
        </p:nvSpPr>
        <p:spPr>
          <a:xfrm>
            <a:off x="6303698" y="2641461"/>
            <a:ext cx="1680528" cy="1143201"/>
          </a:xfrm>
          <a:prstGeom prst="rect">
            <a:avLst/>
          </a:prstGeom>
          <a:solidFill>
            <a:srgbClr val="B2B2B2"/>
          </a:solidFill>
          <a:ln w="38160">
            <a:solidFill>
              <a:srgbClr val="000000"/>
            </a:solidFill>
            <a:round/>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Shape 25">
            <a:extLst>
              <a:ext uri="{FF2B5EF4-FFF2-40B4-BE49-F238E27FC236}">
                <a16:creationId xmlns:a16="http://schemas.microsoft.com/office/drawing/2014/main" id="{9AB077CA-173A-4D06-BA9B-0A90CCFFD5C8}"/>
              </a:ext>
            </a:extLst>
          </p:cNvPr>
          <p:cNvSpPr txBox="1"/>
          <p:nvPr/>
        </p:nvSpPr>
        <p:spPr>
          <a:xfrm>
            <a:off x="6289180" y="3302544"/>
            <a:ext cx="1788624" cy="520536"/>
          </a:xfrm>
          <a:prstGeom prst="rect">
            <a:avLst/>
          </a:prstGeom>
          <a:noFill/>
          <a:ln w="0">
            <a:noFill/>
          </a:ln>
        </p:spPr>
        <p:txBody>
          <a:bodyPr lIns="90000" tIns="45000" rIns="90000" bIns="4500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1" normalizeH="0" baseline="0" noProof="0" dirty="0">
                <a:ln>
                  <a:noFill/>
                </a:ln>
                <a:solidFill>
                  <a:prstClr val="black"/>
                </a:solidFill>
                <a:effectLst/>
                <a:uLnTx/>
                <a:uFillTx/>
                <a:latin typeface="Arial"/>
                <a:ea typeface="+mn-ea"/>
                <a:cs typeface="+mn-cs"/>
              </a:rPr>
              <a:t>ML Algorithm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1" normalizeH="0" baseline="0" noProof="0" dirty="0">
                <a:ln>
                  <a:noFill/>
                </a:ln>
                <a:solidFill>
                  <a:prstClr val="black"/>
                </a:solidFill>
                <a:effectLst/>
                <a:uLnTx/>
                <a:uFillTx/>
                <a:latin typeface="Arial"/>
                <a:ea typeface="+mn-ea"/>
                <a:cs typeface="+mn-cs"/>
              </a:rPr>
              <a:t>(outputs a “model”)</a:t>
            </a:r>
          </a:p>
        </p:txBody>
      </p:sp>
      <p:sp>
        <p:nvSpPr>
          <p:cNvPr id="42" name="CustomShape 26">
            <a:extLst>
              <a:ext uri="{FF2B5EF4-FFF2-40B4-BE49-F238E27FC236}">
                <a16:creationId xmlns:a16="http://schemas.microsoft.com/office/drawing/2014/main" id="{B5B41828-EB83-4944-846D-A6D9728430C3}"/>
              </a:ext>
            </a:extLst>
          </p:cNvPr>
          <p:cNvSpPr/>
          <p:nvPr/>
        </p:nvSpPr>
        <p:spPr>
          <a:xfrm rot="5456400">
            <a:off x="6864651" y="4125764"/>
            <a:ext cx="517229" cy="205843"/>
          </a:xfrm>
          <a:custGeom>
            <a:avLst/>
            <a:gdLst/>
            <a:ahLst/>
            <a:cxnLst/>
            <a:rect l="0" t="0" r="r" b="b"/>
            <a:pathLst>
              <a:path w="4699" h="1880">
                <a:moveTo>
                  <a:pt x="0" y="474"/>
                </a:moveTo>
                <a:lnTo>
                  <a:pt x="3523" y="469"/>
                </a:lnTo>
                <a:lnTo>
                  <a:pt x="3522" y="0"/>
                </a:lnTo>
                <a:lnTo>
                  <a:pt x="4698" y="939"/>
                </a:lnTo>
                <a:lnTo>
                  <a:pt x="3523" y="1879"/>
                </a:lnTo>
                <a:lnTo>
                  <a:pt x="3523" y="1409"/>
                </a:lnTo>
                <a:lnTo>
                  <a:pt x="2" y="1413"/>
                </a:lnTo>
                <a:lnTo>
                  <a:pt x="0" y="474"/>
                </a:lnTo>
              </a:path>
            </a:pathLst>
          </a:custGeom>
          <a:solidFill>
            <a:srgbClr val="729FCF"/>
          </a:solidFill>
          <a:ln w="0">
            <a:solidFill>
              <a:srgbClr val="3465A4"/>
            </a:solid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5" name="Picture 44">
            <a:extLst>
              <a:ext uri="{FF2B5EF4-FFF2-40B4-BE49-F238E27FC236}">
                <a16:creationId xmlns:a16="http://schemas.microsoft.com/office/drawing/2014/main" id="{E5FFD937-A812-4948-8123-986E0C611D6E}"/>
              </a:ext>
            </a:extLst>
          </p:cNvPr>
          <p:cNvPicPr/>
          <p:nvPr/>
        </p:nvPicPr>
        <p:blipFill>
          <a:blip r:embed="rId9"/>
          <a:stretch/>
        </p:blipFill>
        <p:spPr>
          <a:xfrm>
            <a:off x="3982023" y="4609110"/>
            <a:ext cx="801231" cy="626426"/>
          </a:xfrm>
          <a:prstGeom prst="rect">
            <a:avLst/>
          </a:prstGeom>
          <a:ln w="0">
            <a:noFill/>
          </a:ln>
        </p:spPr>
      </p:pic>
      <p:sp>
        <p:nvSpPr>
          <p:cNvPr id="46" name="CustomShape 29">
            <a:extLst>
              <a:ext uri="{FF2B5EF4-FFF2-40B4-BE49-F238E27FC236}">
                <a16:creationId xmlns:a16="http://schemas.microsoft.com/office/drawing/2014/main" id="{C4496D92-854F-486D-B138-35948AFEB153}"/>
              </a:ext>
            </a:extLst>
          </p:cNvPr>
          <p:cNvSpPr/>
          <p:nvPr/>
        </p:nvSpPr>
        <p:spPr>
          <a:xfrm>
            <a:off x="5633315" y="4713751"/>
            <a:ext cx="77151" cy="626426"/>
          </a:xfrm>
          <a:prstGeom prst="rect">
            <a:avLst/>
          </a:prstGeom>
          <a:solidFill>
            <a:schemeClr val="accent2">
              <a:lumMod val="75000"/>
            </a:schemeClr>
          </a:solidFill>
          <a:ln w="0">
            <a:solidFill>
              <a:srgbClr val="3465A4"/>
            </a:solid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TextShape 32">
            <a:extLst>
              <a:ext uri="{FF2B5EF4-FFF2-40B4-BE49-F238E27FC236}">
                <a16:creationId xmlns:a16="http://schemas.microsoft.com/office/drawing/2014/main" id="{60D0A8C3-EA4A-4EE9-AB2B-CB3E6D4F217F}"/>
              </a:ext>
            </a:extLst>
          </p:cNvPr>
          <p:cNvSpPr txBox="1"/>
          <p:nvPr/>
        </p:nvSpPr>
        <p:spPr>
          <a:xfrm>
            <a:off x="3866816" y="5228244"/>
            <a:ext cx="961311" cy="587089"/>
          </a:xfrm>
          <a:prstGeom prst="rect">
            <a:avLst/>
          </a:prstGeom>
          <a:noFill/>
          <a:ln w="0">
            <a:noFill/>
          </a:ln>
        </p:spPr>
        <p:txBody>
          <a:bodyPr lIns="90000" tIns="45000" rIns="90000" bIns="4500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1" normalizeH="0" baseline="0" noProof="0" dirty="0">
                <a:ln>
                  <a:noFill/>
                </a:ln>
                <a:solidFill>
                  <a:prstClr val="black"/>
                </a:solidFill>
                <a:effectLst/>
                <a:uLnTx/>
                <a:uFillTx/>
                <a:latin typeface="Arial"/>
                <a:ea typeface="+mn-ea"/>
                <a:cs typeface="+mn-cs"/>
              </a:rPr>
              <a:t>    Test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1" normalizeH="0" baseline="0" noProof="0" dirty="0">
                <a:ln>
                  <a:noFill/>
                </a:ln>
                <a:solidFill>
                  <a:prstClr val="black"/>
                </a:solidFill>
                <a:effectLst/>
                <a:uLnTx/>
                <a:uFillTx/>
                <a:latin typeface="Arial"/>
                <a:ea typeface="+mn-ea"/>
                <a:cs typeface="+mn-cs"/>
              </a:rPr>
              <a:t>   Image</a:t>
            </a:r>
          </a:p>
        </p:txBody>
      </p:sp>
      <p:sp>
        <p:nvSpPr>
          <p:cNvPr id="52" name="TextShape 35">
            <a:extLst>
              <a:ext uri="{FF2B5EF4-FFF2-40B4-BE49-F238E27FC236}">
                <a16:creationId xmlns:a16="http://schemas.microsoft.com/office/drawing/2014/main" id="{8242D29A-0B0A-4303-A32E-AB88EE04FC96}"/>
              </a:ext>
            </a:extLst>
          </p:cNvPr>
          <p:cNvSpPr txBox="1"/>
          <p:nvPr/>
        </p:nvSpPr>
        <p:spPr>
          <a:xfrm>
            <a:off x="8437724" y="4849570"/>
            <a:ext cx="1858145" cy="609058"/>
          </a:xfrm>
          <a:prstGeom prst="rect">
            <a:avLst/>
          </a:prstGeom>
          <a:noFill/>
          <a:ln w="0">
            <a:noFill/>
          </a:ln>
        </p:spPr>
        <p:txBody>
          <a:bodyPr lIns="90000" tIns="45000" rIns="90000" bIns="4500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1" normalizeH="0" baseline="0" noProof="0" dirty="0">
                <a:ln>
                  <a:noFill/>
                </a:ln>
                <a:solidFill>
                  <a:prstClr val="black"/>
                </a:solidFill>
                <a:effectLst/>
                <a:uLnTx/>
                <a:uFillTx/>
                <a:latin typeface="Arial"/>
                <a:ea typeface="+mn-ea"/>
                <a:cs typeface="+mn-cs"/>
              </a:rPr>
              <a:t>Predicted Label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1" normalizeH="0" baseline="0" noProof="0" dirty="0">
                <a:ln>
                  <a:noFill/>
                </a:ln>
                <a:solidFill>
                  <a:prstClr val="black"/>
                </a:solidFill>
                <a:effectLst/>
                <a:uLnTx/>
                <a:uFillTx/>
                <a:latin typeface="Arial"/>
                <a:ea typeface="+mn-ea"/>
                <a:cs typeface="+mn-cs"/>
              </a:rPr>
              <a:t>(cat/dog)</a:t>
            </a:r>
          </a:p>
        </p:txBody>
      </p:sp>
      <p:pic>
        <p:nvPicPr>
          <p:cNvPr id="1028" name="Picture 4" descr="Clipart Thanksgiving Hand Clip Black And White Stock - Thinking Light Bulb Clip Art - Png Download (950x1015), Png Download">
            <a:extLst>
              <a:ext uri="{FF2B5EF4-FFF2-40B4-BE49-F238E27FC236}">
                <a16:creationId xmlns:a16="http://schemas.microsoft.com/office/drawing/2014/main" id="{5036D7BB-F011-4841-9281-ACB9055572B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908497" y="4331244"/>
            <a:ext cx="1075043" cy="1263380"/>
          </a:xfrm>
          <a:prstGeom prst="rect">
            <a:avLst/>
          </a:prstGeom>
          <a:noFill/>
          <a:extLst>
            <a:ext uri="{909E8E84-426E-40DD-AFC4-6F175D3DCCD1}">
              <a14:hiddenFill xmlns:a14="http://schemas.microsoft.com/office/drawing/2010/main">
                <a:solidFill>
                  <a:srgbClr val="FFFFFF"/>
                </a:solidFill>
              </a14:hiddenFill>
            </a:ext>
          </a:extLst>
        </p:spPr>
      </p:pic>
      <p:sp>
        <p:nvSpPr>
          <p:cNvPr id="57" name="TextShape 6">
            <a:extLst>
              <a:ext uri="{FF2B5EF4-FFF2-40B4-BE49-F238E27FC236}">
                <a16:creationId xmlns:a16="http://schemas.microsoft.com/office/drawing/2014/main" id="{C3E1DE8C-3A4F-4D3F-A302-C679C6E4C834}"/>
              </a:ext>
            </a:extLst>
          </p:cNvPr>
          <p:cNvSpPr txBox="1"/>
          <p:nvPr/>
        </p:nvSpPr>
        <p:spPr>
          <a:xfrm>
            <a:off x="2020674" y="3215046"/>
            <a:ext cx="702000" cy="346320"/>
          </a:xfrm>
          <a:prstGeom prst="rect">
            <a:avLst/>
          </a:prstGeom>
          <a:noFill/>
          <a:ln w="0">
            <a:noFill/>
          </a:ln>
        </p:spPr>
        <p:txBody>
          <a:bodyPr lIns="90000" tIns="45000" rIns="90000" bIns="4500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1" normalizeH="0" baseline="0" noProof="0" dirty="0">
                <a:ln>
                  <a:noFill/>
                </a:ln>
                <a:solidFill>
                  <a:prstClr val="black"/>
                </a:solidFill>
                <a:effectLst/>
                <a:uLnTx/>
                <a:uFillTx/>
                <a:latin typeface="Arial"/>
                <a:ea typeface="+mn-ea"/>
                <a:cs typeface="+mn-cs"/>
              </a:rPr>
              <a:t>“</a:t>
            </a:r>
            <a:r>
              <a:rPr kumimoji="0" lang="en-IN" sz="1400" b="0" i="0" u="none" strike="noStrike" kern="1200" cap="none" spc="-1" normalizeH="0" baseline="0" noProof="0" dirty="0">
                <a:ln>
                  <a:noFill/>
                </a:ln>
                <a:solidFill>
                  <a:prstClr val="black"/>
                </a:solidFill>
                <a:effectLst/>
                <a:uLnTx/>
                <a:uFillTx/>
                <a:latin typeface="Arial"/>
                <a:ea typeface="+mn-ea"/>
                <a:cs typeface="+mn-cs"/>
              </a:rPr>
              <a:t>cat</a:t>
            </a:r>
            <a:r>
              <a:rPr kumimoji="0" lang="en-IN" sz="1800" b="0" i="0" u="none" strike="noStrike" kern="1200" cap="none" spc="-1" normalizeH="0" baseline="0" noProof="0" dirty="0">
                <a:ln>
                  <a:noFill/>
                </a:ln>
                <a:solidFill>
                  <a:prstClr val="black"/>
                </a:solidFill>
                <a:effectLst/>
                <a:uLnTx/>
                <a:uFillTx/>
                <a:latin typeface="Arial"/>
                <a:ea typeface="+mn-ea"/>
                <a:cs typeface="+mn-cs"/>
              </a:rPr>
              <a:t>”</a:t>
            </a:r>
          </a:p>
        </p:txBody>
      </p:sp>
      <p:sp>
        <p:nvSpPr>
          <p:cNvPr id="58" name="TextShape 6">
            <a:extLst>
              <a:ext uri="{FF2B5EF4-FFF2-40B4-BE49-F238E27FC236}">
                <a16:creationId xmlns:a16="http://schemas.microsoft.com/office/drawing/2014/main" id="{E6BCB218-7F92-4B73-A92A-4FD5CEE1A47C}"/>
              </a:ext>
            </a:extLst>
          </p:cNvPr>
          <p:cNvSpPr txBox="1"/>
          <p:nvPr/>
        </p:nvSpPr>
        <p:spPr>
          <a:xfrm>
            <a:off x="2243184" y="2919327"/>
            <a:ext cx="702000" cy="346320"/>
          </a:xfrm>
          <a:prstGeom prst="rect">
            <a:avLst/>
          </a:prstGeom>
          <a:noFill/>
          <a:ln w="0">
            <a:noFill/>
          </a:ln>
        </p:spPr>
        <p:txBody>
          <a:bodyPr lIns="90000" tIns="45000" rIns="90000" bIns="4500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1" normalizeH="0" baseline="0" noProof="0" dirty="0">
                <a:ln>
                  <a:noFill/>
                </a:ln>
                <a:solidFill>
                  <a:prstClr val="black"/>
                </a:solidFill>
                <a:effectLst/>
                <a:uLnTx/>
                <a:uFillTx/>
                <a:latin typeface="Arial"/>
                <a:ea typeface="+mn-ea"/>
                <a:cs typeface="+mn-cs"/>
              </a:rPr>
              <a:t>“</a:t>
            </a:r>
            <a:r>
              <a:rPr kumimoji="0" lang="en-IN" sz="1400" b="0" i="0" u="none" strike="noStrike" kern="1200" cap="none" spc="-1" normalizeH="0" baseline="0" noProof="0" dirty="0">
                <a:ln>
                  <a:noFill/>
                </a:ln>
                <a:solidFill>
                  <a:prstClr val="black"/>
                </a:solidFill>
                <a:effectLst/>
                <a:uLnTx/>
                <a:uFillTx/>
                <a:latin typeface="Arial"/>
                <a:ea typeface="+mn-ea"/>
                <a:cs typeface="+mn-cs"/>
              </a:rPr>
              <a:t>cat</a:t>
            </a:r>
            <a:r>
              <a:rPr kumimoji="0" lang="en-IN" sz="1800" b="0" i="0" u="none" strike="noStrike" kern="1200" cap="none" spc="-1" normalizeH="0" baseline="0" noProof="0" dirty="0">
                <a:ln>
                  <a:noFill/>
                </a:ln>
                <a:solidFill>
                  <a:prstClr val="black"/>
                </a:solidFill>
                <a:effectLst/>
                <a:uLnTx/>
                <a:uFillTx/>
                <a:latin typeface="Arial"/>
                <a:ea typeface="+mn-ea"/>
                <a:cs typeface="+mn-cs"/>
              </a:rPr>
              <a:t>”</a:t>
            </a:r>
          </a:p>
        </p:txBody>
      </p:sp>
      <p:sp>
        <p:nvSpPr>
          <p:cNvPr id="59" name="TextShape 3">
            <a:extLst>
              <a:ext uri="{FF2B5EF4-FFF2-40B4-BE49-F238E27FC236}">
                <a16:creationId xmlns:a16="http://schemas.microsoft.com/office/drawing/2014/main" id="{C9E743C0-B744-49E2-AAEE-F2B6829DD8DF}"/>
              </a:ext>
            </a:extLst>
          </p:cNvPr>
          <p:cNvSpPr txBox="1"/>
          <p:nvPr/>
        </p:nvSpPr>
        <p:spPr>
          <a:xfrm>
            <a:off x="2756088" y="2366734"/>
            <a:ext cx="610804" cy="296551"/>
          </a:xfrm>
          <a:prstGeom prst="rect">
            <a:avLst/>
          </a:prstGeom>
          <a:noFill/>
          <a:ln w="0">
            <a:noFill/>
          </a:ln>
        </p:spPr>
        <p:txBody>
          <a:bodyPr lIns="90000" tIns="45000" rIns="90000" bIns="4500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1" normalizeH="0" baseline="0" noProof="0" dirty="0">
                <a:ln>
                  <a:noFill/>
                </a:ln>
                <a:solidFill>
                  <a:prstClr val="black"/>
                </a:solidFill>
                <a:effectLst/>
                <a:uLnTx/>
                <a:uFillTx/>
                <a:latin typeface="Arial"/>
                <a:ea typeface="+mn-ea"/>
                <a:cs typeface="+mn-cs"/>
              </a:rPr>
              <a:t>“dog”</a:t>
            </a:r>
          </a:p>
        </p:txBody>
      </p:sp>
      <p:sp>
        <p:nvSpPr>
          <p:cNvPr id="60" name="TextShape 3">
            <a:extLst>
              <a:ext uri="{FF2B5EF4-FFF2-40B4-BE49-F238E27FC236}">
                <a16:creationId xmlns:a16="http://schemas.microsoft.com/office/drawing/2014/main" id="{AF866022-CC4A-40F9-BF08-088D3B289E33}"/>
              </a:ext>
            </a:extLst>
          </p:cNvPr>
          <p:cNvSpPr txBox="1"/>
          <p:nvPr/>
        </p:nvSpPr>
        <p:spPr>
          <a:xfrm>
            <a:off x="2982293" y="2021569"/>
            <a:ext cx="610804" cy="296551"/>
          </a:xfrm>
          <a:prstGeom prst="rect">
            <a:avLst/>
          </a:prstGeom>
          <a:noFill/>
          <a:ln w="0">
            <a:noFill/>
          </a:ln>
        </p:spPr>
        <p:txBody>
          <a:bodyPr lIns="90000" tIns="45000" rIns="90000" bIns="4500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1" normalizeH="0" baseline="0" noProof="0" dirty="0">
                <a:ln>
                  <a:noFill/>
                </a:ln>
                <a:solidFill>
                  <a:prstClr val="black"/>
                </a:solidFill>
                <a:effectLst/>
                <a:uLnTx/>
                <a:uFillTx/>
                <a:latin typeface="Arial"/>
                <a:ea typeface="+mn-ea"/>
                <a:cs typeface="+mn-cs"/>
              </a:rPr>
              <a:t>“dog”</a:t>
            </a:r>
          </a:p>
        </p:txBody>
      </p:sp>
      <p:sp>
        <p:nvSpPr>
          <p:cNvPr id="61" name="CustomShape 13">
            <a:extLst>
              <a:ext uri="{FF2B5EF4-FFF2-40B4-BE49-F238E27FC236}">
                <a16:creationId xmlns:a16="http://schemas.microsoft.com/office/drawing/2014/main" id="{AC943A8B-EDF2-416F-B60E-8C3C3998B1EE}"/>
              </a:ext>
            </a:extLst>
          </p:cNvPr>
          <p:cNvSpPr/>
          <p:nvPr/>
        </p:nvSpPr>
        <p:spPr>
          <a:xfrm>
            <a:off x="4503908" y="3168665"/>
            <a:ext cx="74571" cy="532978"/>
          </a:xfrm>
          <a:prstGeom prst="rect">
            <a:avLst/>
          </a:prstGeom>
          <a:solidFill>
            <a:srgbClr val="0070C0"/>
          </a:solidFill>
          <a:ln w="0">
            <a:solidFill>
              <a:srgbClr val="3465A4"/>
            </a:solid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CustomShape 13">
            <a:extLst>
              <a:ext uri="{FF2B5EF4-FFF2-40B4-BE49-F238E27FC236}">
                <a16:creationId xmlns:a16="http://schemas.microsoft.com/office/drawing/2014/main" id="{8C550C72-051A-4F72-9EB3-2066351997AF}"/>
              </a:ext>
            </a:extLst>
          </p:cNvPr>
          <p:cNvSpPr/>
          <p:nvPr/>
        </p:nvSpPr>
        <p:spPr>
          <a:xfrm>
            <a:off x="4631538" y="2810536"/>
            <a:ext cx="74571" cy="532978"/>
          </a:xfrm>
          <a:prstGeom prst="rect">
            <a:avLst/>
          </a:prstGeom>
          <a:solidFill>
            <a:srgbClr val="FF0000"/>
          </a:solidFill>
          <a:ln w="0">
            <a:solidFill>
              <a:srgbClr val="3465A4"/>
            </a:solid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CustomShape 13">
            <a:extLst>
              <a:ext uri="{FF2B5EF4-FFF2-40B4-BE49-F238E27FC236}">
                <a16:creationId xmlns:a16="http://schemas.microsoft.com/office/drawing/2014/main" id="{898F5D3C-195D-4597-8A65-CA24059F042B}"/>
              </a:ext>
            </a:extLst>
          </p:cNvPr>
          <p:cNvSpPr/>
          <p:nvPr/>
        </p:nvSpPr>
        <p:spPr>
          <a:xfrm>
            <a:off x="4774895" y="2465428"/>
            <a:ext cx="74571" cy="532978"/>
          </a:xfrm>
          <a:prstGeom prst="rect">
            <a:avLst/>
          </a:prstGeom>
          <a:solidFill>
            <a:schemeClr val="accent4">
              <a:lumMod val="40000"/>
              <a:lumOff val="60000"/>
            </a:schemeClr>
          </a:solidFill>
          <a:ln w="0">
            <a:solidFill>
              <a:srgbClr val="3465A4"/>
            </a:solid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CustomShape 13">
            <a:extLst>
              <a:ext uri="{FF2B5EF4-FFF2-40B4-BE49-F238E27FC236}">
                <a16:creationId xmlns:a16="http://schemas.microsoft.com/office/drawing/2014/main" id="{AB601A5C-4E4B-4C72-9B29-5F77226B9512}"/>
              </a:ext>
            </a:extLst>
          </p:cNvPr>
          <p:cNvSpPr/>
          <p:nvPr/>
        </p:nvSpPr>
        <p:spPr>
          <a:xfrm>
            <a:off x="4891288" y="2095736"/>
            <a:ext cx="74571" cy="532978"/>
          </a:xfrm>
          <a:prstGeom prst="rect">
            <a:avLst/>
          </a:prstGeom>
          <a:solidFill>
            <a:schemeClr val="accent5"/>
          </a:solidFill>
          <a:ln w="0">
            <a:solidFill>
              <a:srgbClr val="3465A4"/>
            </a:solid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CustomShape 13">
            <a:extLst>
              <a:ext uri="{FF2B5EF4-FFF2-40B4-BE49-F238E27FC236}">
                <a16:creationId xmlns:a16="http://schemas.microsoft.com/office/drawing/2014/main" id="{FC1E62D9-4AE3-47D0-A635-F24B2E7E8C73}"/>
              </a:ext>
            </a:extLst>
          </p:cNvPr>
          <p:cNvSpPr/>
          <p:nvPr/>
        </p:nvSpPr>
        <p:spPr>
          <a:xfrm>
            <a:off x="5031452" y="1681199"/>
            <a:ext cx="74571" cy="532978"/>
          </a:xfrm>
          <a:prstGeom prst="rect">
            <a:avLst/>
          </a:prstGeom>
          <a:solidFill>
            <a:schemeClr val="accent2">
              <a:lumMod val="40000"/>
              <a:lumOff val="60000"/>
            </a:schemeClr>
          </a:solidFill>
          <a:ln w="0">
            <a:solidFill>
              <a:srgbClr val="3465A4"/>
            </a:solid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TextShape 6">
            <a:extLst>
              <a:ext uri="{FF2B5EF4-FFF2-40B4-BE49-F238E27FC236}">
                <a16:creationId xmlns:a16="http://schemas.microsoft.com/office/drawing/2014/main" id="{D8C96160-0622-420A-BEA3-E4CB5AC14048}"/>
              </a:ext>
            </a:extLst>
          </p:cNvPr>
          <p:cNvSpPr txBox="1"/>
          <p:nvPr/>
        </p:nvSpPr>
        <p:spPr>
          <a:xfrm>
            <a:off x="4366737" y="3784663"/>
            <a:ext cx="702000" cy="346320"/>
          </a:xfrm>
          <a:prstGeom prst="rect">
            <a:avLst/>
          </a:prstGeom>
          <a:noFill/>
          <a:ln w="0">
            <a:noFill/>
          </a:ln>
        </p:spPr>
        <p:txBody>
          <a:bodyPr lIns="90000" tIns="45000" rIns="90000" bIns="4500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1" normalizeH="0" baseline="0" noProof="0" dirty="0">
                <a:ln>
                  <a:noFill/>
                </a:ln>
                <a:solidFill>
                  <a:prstClr val="black"/>
                </a:solidFill>
                <a:effectLst/>
                <a:uLnTx/>
                <a:uFillTx/>
                <a:latin typeface="Arial"/>
                <a:ea typeface="+mn-ea"/>
                <a:cs typeface="+mn-cs"/>
              </a:rPr>
              <a:t>“</a:t>
            </a:r>
            <a:r>
              <a:rPr kumimoji="0" lang="en-IN" sz="1400" b="0" i="0" u="none" strike="noStrike" kern="1200" cap="none" spc="-1" normalizeH="0" baseline="0" noProof="0" dirty="0">
                <a:ln>
                  <a:noFill/>
                </a:ln>
                <a:solidFill>
                  <a:prstClr val="black"/>
                </a:solidFill>
                <a:effectLst/>
                <a:uLnTx/>
                <a:uFillTx/>
                <a:latin typeface="Arial"/>
                <a:ea typeface="+mn-ea"/>
                <a:cs typeface="+mn-cs"/>
              </a:rPr>
              <a:t>cat</a:t>
            </a:r>
            <a:r>
              <a:rPr kumimoji="0" lang="en-IN" sz="1800" b="0" i="0" u="none" strike="noStrike" kern="1200" cap="none" spc="-1" normalizeH="0" baseline="0" noProof="0" dirty="0">
                <a:ln>
                  <a:noFill/>
                </a:ln>
                <a:solidFill>
                  <a:prstClr val="black"/>
                </a:solidFill>
                <a:effectLst/>
                <a:uLnTx/>
                <a:uFillTx/>
                <a:latin typeface="Arial"/>
                <a:ea typeface="+mn-ea"/>
                <a:cs typeface="+mn-cs"/>
              </a:rPr>
              <a:t>”</a:t>
            </a:r>
          </a:p>
        </p:txBody>
      </p:sp>
      <p:sp>
        <p:nvSpPr>
          <p:cNvPr id="67" name="TextShape 6">
            <a:extLst>
              <a:ext uri="{FF2B5EF4-FFF2-40B4-BE49-F238E27FC236}">
                <a16:creationId xmlns:a16="http://schemas.microsoft.com/office/drawing/2014/main" id="{007BDC3C-A36C-4E4A-99F3-3C2A5F6E2013}"/>
              </a:ext>
            </a:extLst>
          </p:cNvPr>
          <p:cNvSpPr txBox="1"/>
          <p:nvPr/>
        </p:nvSpPr>
        <p:spPr>
          <a:xfrm>
            <a:off x="4516438" y="3448929"/>
            <a:ext cx="702000" cy="346320"/>
          </a:xfrm>
          <a:prstGeom prst="rect">
            <a:avLst/>
          </a:prstGeom>
          <a:noFill/>
          <a:ln w="0">
            <a:noFill/>
          </a:ln>
        </p:spPr>
        <p:txBody>
          <a:bodyPr lIns="90000" tIns="45000" rIns="90000" bIns="4500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1" normalizeH="0" baseline="0" noProof="0" dirty="0">
                <a:ln>
                  <a:noFill/>
                </a:ln>
                <a:solidFill>
                  <a:prstClr val="black"/>
                </a:solidFill>
                <a:effectLst/>
                <a:uLnTx/>
                <a:uFillTx/>
                <a:latin typeface="Arial"/>
                <a:ea typeface="+mn-ea"/>
                <a:cs typeface="+mn-cs"/>
              </a:rPr>
              <a:t>“</a:t>
            </a:r>
            <a:r>
              <a:rPr kumimoji="0" lang="en-IN" sz="1400" b="0" i="0" u="none" strike="noStrike" kern="1200" cap="none" spc="-1" normalizeH="0" baseline="0" noProof="0" dirty="0">
                <a:ln>
                  <a:noFill/>
                </a:ln>
                <a:solidFill>
                  <a:prstClr val="black"/>
                </a:solidFill>
                <a:effectLst/>
                <a:uLnTx/>
                <a:uFillTx/>
                <a:latin typeface="Arial"/>
                <a:ea typeface="+mn-ea"/>
                <a:cs typeface="+mn-cs"/>
              </a:rPr>
              <a:t>cat</a:t>
            </a:r>
            <a:r>
              <a:rPr kumimoji="0" lang="en-IN" sz="1800" b="0" i="0" u="none" strike="noStrike" kern="1200" cap="none" spc="-1" normalizeH="0" baseline="0" noProof="0" dirty="0">
                <a:ln>
                  <a:noFill/>
                </a:ln>
                <a:solidFill>
                  <a:prstClr val="black"/>
                </a:solidFill>
                <a:effectLst/>
                <a:uLnTx/>
                <a:uFillTx/>
                <a:latin typeface="Arial"/>
                <a:ea typeface="+mn-ea"/>
                <a:cs typeface="+mn-cs"/>
              </a:rPr>
              <a:t>”</a:t>
            </a:r>
          </a:p>
        </p:txBody>
      </p:sp>
      <p:sp>
        <p:nvSpPr>
          <p:cNvPr id="68" name="TextShape 6">
            <a:extLst>
              <a:ext uri="{FF2B5EF4-FFF2-40B4-BE49-F238E27FC236}">
                <a16:creationId xmlns:a16="http://schemas.microsoft.com/office/drawing/2014/main" id="{6A65F0E0-8626-4C55-8220-0BFEE1C5B378}"/>
              </a:ext>
            </a:extLst>
          </p:cNvPr>
          <p:cNvSpPr txBox="1"/>
          <p:nvPr/>
        </p:nvSpPr>
        <p:spPr>
          <a:xfrm>
            <a:off x="4646033" y="3148580"/>
            <a:ext cx="702000" cy="346320"/>
          </a:xfrm>
          <a:prstGeom prst="rect">
            <a:avLst/>
          </a:prstGeom>
          <a:noFill/>
          <a:ln w="0">
            <a:noFill/>
          </a:ln>
        </p:spPr>
        <p:txBody>
          <a:bodyPr lIns="90000" tIns="45000" rIns="90000" bIns="4500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1" normalizeH="0" baseline="0" noProof="0" dirty="0">
                <a:ln>
                  <a:noFill/>
                </a:ln>
                <a:solidFill>
                  <a:prstClr val="black"/>
                </a:solidFill>
                <a:effectLst/>
                <a:uLnTx/>
                <a:uFillTx/>
                <a:latin typeface="Arial"/>
                <a:ea typeface="+mn-ea"/>
                <a:cs typeface="+mn-cs"/>
              </a:rPr>
              <a:t>“</a:t>
            </a:r>
            <a:r>
              <a:rPr kumimoji="0" lang="en-IN" sz="1400" b="0" i="0" u="none" strike="noStrike" kern="1200" cap="none" spc="-1" normalizeH="0" baseline="0" noProof="0" dirty="0">
                <a:ln>
                  <a:noFill/>
                </a:ln>
                <a:solidFill>
                  <a:prstClr val="black"/>
                </a:solidFill>
                <a:effectLst/>
                <a:uLnTx/>
                <a:uFillTx/>
                <a:latin typeface="Arial"/>
                <a:ea typeface="+mn-ea"/>
                <a:cs typeface="+mn-cs"/>
              </a:rPr>
              <a:t>cat</a:t>
            </a:r>
            <a:r>
              <a:rPr kumimoji="0" lang="en-IN" sz="1800" b="0" i="0" u="none" strike="noStrike" kern="1200" cap="none" spc="-1" normalizeH="0" baseline="0" noProof="0" dirty="0">
                <a:ln>
                  <a:noFill/>
                </a:ln>
                <a:solidFill>
                  <a:prstClr val="black"/>
                </a:solidFill>
                <a:effectLst/>
                <a:uLnTx/>
                <a:uFillTx/>
                <a:latin typeface="Arial"/>
                <a:ea typeface="+mn-ea"/>
                <a:cs typeface="+mn-cs"/>
              </a:rPr>
              <a:t>”</a:t>
            </a:r>
          </a:p>
        </p:txBody>
      </p:sp>
      <p:sp>
        <p:nvSpPr>
          <p:cNvPr id="69" name="TextShape 3">
            <a:extLst>
              <a:ext uri="{FF2B5EF4-FFF2-40B4-BE49-F238E27FC236}">
                <a16:creationId xmlns:a16="http://schemas.microsoft.com/office/drawing/2014/main" id="{E4256094-80DA-455F-87F4-EFEA11AA2846}"/>
              </a:ext>
            </a:extLst>
          </p:cNvPr>
          <p:cNvSpPr txBox="1"/>
          <p:nvPr/>
        </p:nvSpPr>
        <p:spPr>
          <a:xfrm>
            <a:off x="4778117" y="2834149"/>
            <a:ext cx="610804" cy="296551"/>
          </a:xfrm>
          <a:prstGeom prst="rect">
            <a:avLst/>
          </a:prstGeom>
          <a:noFill/>
          <a:ln w="0">
            <a:noFill/>
          </a:ln>
        </p:spPr>
        <p:txBody>
          <a:bodyPr lIns="90000" tIns="45000" rIns="90000" bIns="4500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1" normalizeH="0" baseline="0" noProof="0" dirty="0">
                <a:ln>
                  <a:noFill/>
                </a:ln>
                <a:solidFill>
                  <a:prstClr val="black"/>
                </a:solidFill>
                <a:effectLst/>
                <a:uLnTx/>
                <a:uFillTx/>
                <a:latin typeface="Arial"/>
                <a:ea typeface="+mn-ea"/>
                <a:cs typeface="+mn-cs"/>
              </a:rPr>
              <a:t>“dog”</a:t>
            </a:r>
          </a:p>
        </p:txBody>
      </p:sp>
      <p:sp>
        <p:nvSpPr>
          <p:cNvPr id="70" name="TextShape 3">
            <a:extLst>
              <a:ext uri="{FF2B5EF4-FFF2-40B4-BE49-F238E27FC236}">
                <a16:creationId xmlns:a16="http://schemas.microsoft.com/office/drawing/2014/main" id="{0B20E285-07ED-4032-ADD0-0E779A4296FA}"/>
              </a:ext>
            </a:extLst>
          </p:cNvPr>
          <p:cNvSpPr txBox="1"/>
          <p:nvPr/>
        </p:nvSpPr>
        <p:spPr>
          <a:xfrm>
            <a:off x="4922392" y="2437306"/>
            <a:ext cx="610804" cy="296551"/>
          </a:xfrm>
          <a:prstGeom prst="rect">
            <a:avLst/>
          </a:prstGeom>
          <a:noFill/>
          <a:ln w="0">
            <a:noFill/>
          </a:ln>
        </p:spPr>
        <p:txBody>
          <a:bodyPr lIns="90000" tIns="45000" rIns="90000" bIns="4500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1" normalizeH="0" baseline="0" noProof="0" dirty="0">
                <a:ln>
                  <a:noFill/>
                </a:ln>
                <a:solidFill>
                  <a:prstClr val="black"/>
                </a:solidFill>
                <a:effectLst/>
                <a:uLnTx/>
                <a:uFillTx/>
                <a:latin typeface="Arial"/>
                <a:ea typeface="+mn-ea"/>
                <a:cs typeface="+mn-cs"/>
              </a:rPr>
              <a:t>“dog”</a:t>
            </a:r>
          </a:p>
        </p:txBody>
      </p:sp>
      <p:sp>
        <p:nvSpPr>
          <p:cNvPr id="71" name="TextShape 3">
            <a:extLst>
              <a:ext uri="{FF2B5EF4-FFF2-40B4-BE49-F238E27FC236}">
                <a16:creationId xmlns:a16="http://schemas.microsoft.com/office/drawing/2014/main" id="{332D673E-BA44-4189-9598-C812CAB50D86}"/>
              </a:ext>
            </a:extLst>
          </p:cNvPr>
          <p:cNvSpPr txBox="1"/>
          <p:nvPr/>
        </p:nvSpPr>
        <p:spPr>
          <a:xfrm>
            <a:off x="5083519" y="2068056"/>
            <a:ext cx="610804" cy="296551"/>
          </a:xfrm>
          <a:prstGeom prst="rect">
            <a:avLst/>
          </a:prstGeom>
          <a:noFill/>
          <a:ln w="0">
            <a:noFill/>
          </a:ln>
        </p:spPr>
        <p:txBody>
          <a:bodyPr lIns="90000" tIns="45000" rIns="90000" bIns="4500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1" normalizeH="0" baseline="0" noProof="0" dirty="0">
                <a:ln>
                  <a:noFill/>
                </a:ln>
                <a:solidFill>
                  <a:prstClr val="black"/>
                </a:solidFill>
                <a:effectLst/>
                <a:uLnTx/>
                <a:uFillTx/>
                <a:latin typeface="Arial"/>
                <a:ea typeface="+mn-ea"/>
                <a:cs typeface="+mn-cs"/>
              </a:rPr>
              <a:t>“dog”</a:t>
            </a:r>
          </a:p>
        </p:txBody>
      </p:sp>
      <p:sp>
        <p:nvSpPr>
          <p:cNvPr id="72" name="CustomShape 22">
            <a:extLst>
              <a:ext uri="{FF2B5EF4-FFF2-40B4-BE49-F238E27FC236}">
                <a16:creationId xmlns:a16="http://schemas.microsoft.com/office/drawing/2014/main" id="{BE481459-1DCF-4F1C-A4C9-89CF63CC05DA}"/>
              </a:ext>
            </a:extLst>
          </p:cNvPr>
          <p:cNvSpPr/>
          <p:nvPr/>
        </p:nvSpPr>
        <p:spPr>
          <a:xfrm>
            <a:off x="5482163" y="2903152"/>
            <a:ext cx="701996" cy="191444"/>
          </a:xfrm>
          <a:custGeom>
            <a:avLst/>
            <a:gdLst/>
            <a:ahLst/>
            <a:cxnLst/>
            <a:rect l="0" t="0" r="r" b="b"/>
            <a:pathLst>
              <a:path w="4202" h="1002">
                <a:moveTo>
                  <a:pt x="0" y="250"/>
                </a:moveTo>
                <a:lnTo>
                  <a:pt x="3150" y="250"/>
                </a:lnTo>
                <a:lnTo>
                  <a:pt x="3150" y="0"/>
                </a:lnTo>
                <a:lnTo>
                  <a:pt x="4201" y="500"/>
                </a:lnTo>
                <a:lnTo>
                  <a:pt x="3150" y="1001"/>
                </a:lnTo>
                <a:lnTo>
                  <a:pt x="3150" y="750"/>
                </a:lnTo>
                <a:lnTo>
                  <a:pt x="0" y="750"/>
                </a:lnTo>
                <a:lnTo>
                  <a:pt x="0" y="250"/>
                </a:lnTo>
              </a:path>
            </a:pathLst>
          </a:custGeom>
          <a:solidFill>
            <a:srgbClr val="729FCF"/>
          </a:solidFill>
          <a:ln w="0">
            <a:solidFill>
              <a:srgbClr val="3465A4"/>
            </a:solid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TextBox 53">
            <a:extLst>
              <a:ext uri="{FF2B5EF4-FFF2-40B4-BE49-F238E27FC236}">
                <a16:creationId xmlns:a16="http://schemas.microsoft.com/office/drawing/2014/main" id="{AC0B2FDF-A92B-41D0-9601-7ED9F1C8DD67}"/>
              </a:ext>
            </a:extLst>
          </p:cNvPr>
          <p:cNvSpPr txBox="1"/>
          <p:nvPr/>
        </p:nvSpPr>
        <p:spPr>
          <a:xfrm>
            <a:off x="0" y="6565207"/>
            <a:ext cx="3082895"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hlinkClick r:id="rId11"/>
              </a:rPr>
              <a:t>https://www.pinclipart.com/</a:t>
            </a: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hlinkClick r:id="rId12"/>
              </a:rPr>
              <a:t>http://www.pngtree.com</a:t>
            </a: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pic>
        <p:nvPicPr>
          <p:cNvPr id="56" name="Picture 55" descr="A picture containing wheel&#10;&#10;Description automatically generated">
            <a:extLst>
              <a:ext uri="{FF2B5EF4-FFF2-40B4-BE49-F238E27FC236}">
                <a16:creationId xmlns:a16="http://schemas.microsoft.com/office/drawing/2014/main" id="{1F50F2AD-F31C-4DE0-A9F3-00712042DA3E}"/>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599370" y="2666613"/>
            <a:ext cx="1062830" cy="750623"/>
          </a:xfrm>
          <a:prstGeom prst="rect">
            <a:avLst/>
          </a:prstGeom>
        </p:spPr>
      </p:pic>
      <p:sp>
        <p:nvSpPr>
          <p:cNvPr id="76" name="CustomShape 22">
            <a:extLst>
              <a:ext uri="{FF2B5EF4-FFF2-40B4-BE49-F238E27FC236}">
                <a16:creationId xmlns:a16="http://schemas.microsoft.com/office/drawing/2014/main" id="{522FBAB0-9EEC-4DB4-8A78-0A0968CFDE35}"/>
              </a:ext>
            </a:extLst>
          </p:cNvPr>
          <p:cNvSpPr/>
          <p:nvPr/>
        </p:nvSpPr>
        <p:spPr>
          <a:xfrm>
            <a:off x="4873822" y="4959813"/>
            <a:ext cx="701996" cy="191444"/>
          </a:xfrm>
          <a:custGeom>
            <a:avLst/>
            <a:gdLst/>
            <a:ahLst/>
            <a:cxnLst/>
            <a:rect l="0" t="0" r="r" b="b"/>
            <a:pathLst>
              <a:path w="4202" h="1002">
                <a:moveTo>
                  <a:pt x="0" y="250"/>
                </a:moveTo>
                <a:lnTo>
                  <a:pt x="3150" y="250"/>
                </a:lnTo>
                <a:lnTo>
                  <a:pt x="3150" y="0"/>
                </a:lnTo>
                <a:lnTo>
                  <a:pt x="4201" y="500"/>
                </a:lnTo>
                <a:lnTo>
                  <a:pt x="3150" y="1001"/>
                </a:lnTo>
                <a:lnTo>
                  <a:pt x="3150" y="750"/>
                </a:lnTo>
                <a:lnTo>
                  <a:pt x="0" y="750"/>
                </a:lnTo>
                <a:lnTo>
                  <a:pt x="0" y="250"/>
                </a:lnTo>
              </a:path>
            </a:pathLst>
          </a:custGeom>
          <a:solidFill>
            <a:srgbClr val="729FCF"/>
          </a:solidFill>
          <a:ln w="0">
            <a:solidFill>
              <a:srgbClr val="3465A4"/>
            </a:solid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CustomShape 22">
            <a:extLst>
              <a:ext uri="{FF2B5EF4-FFF2-40B4-BE49-F238E27FC236}">
                <a16:creationId xmlns:a16="http://schemas.microsoft.com/office/drawing/2014/main" id="{19BA744F-FD06-4CF7-8C78-DA7755FADC66}"/>
              </a:ext>
            </a:extLst>
          </p:cNvPr>
          <p:cNvSpPr/>
          <p:nvPr/>
        </p:nvSpPr>
        <p:spPr>
          <a:xfrm>
            <a:off x="5812637" y="4944220"/>
            <a:ext cx="562415" cy="216771"/>
          </a:xfrm>
          <a:custGeom>
            <a:avLst/>
            <a:gdLst/>
            <a:ahLst/>
            <a:cxnLst/>
            <a:rect l="0" t="0" r="r" b="b"/>
            <a:pathLst>
              <a:path w="4202" h="1002">
                <a:moveTo>
                  <a:pt x="0" y="250"/>
                </a:moveTo>
                <a:lnTo>
                  <a:pt x="3150" y="250"/>
                </a:lnTo>
                <a:lnTo>
                  <a:pt x="3150" y="0"/>
                </a:lnTo>
                <a:lnTo>
                  <a:pt x="4201" y="500"/>
                </a:lnTo>
                <a:lnTo>
                  <a:pt x="3150" y="1001"/>
                </a:lnTo>
                <a:lnTo>
                  <a:pt x="3150" y="750"/>
                </a:lnTo>
                <a:lnTo>
                  <a:pt x="0" y="750"/>
                </a:lnTo>
                <a:lnTo>
                  <a:pt x="0" y="250"/>
                </a:lnTo>
              </a:path>
            </a:pathLst>
          </a:custGeom>
          <a:solidFill>
            <a:srgbClr val="729FCF"/>
          </a:solidFill>
          <a:ln w="0">
            <a:solidFill>
              <a:srgbClr val="3465A4"/>
            </a:solid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CustomShape 22">
            <a:extLst>
              <a:ext uri="{FF2B5EF4-FFF2-40B4-BE49-F238E27FC236}">
                <a16:creationId xmlns:a16="http://schemas.microsoft.com/office/drawing/2014/main" id="{01804E7F-693F-457D-A3B4-70F80BDE78EB}"/>
              </a:ext>
            </a:extLst>
          </p:cNvPr>
          <p:cNvSpPr/>
          <p:nvPr/>
        </p:nvSpPr>
        <p:spPr>
          <a:xfrm>
            <a:off x="7875309" y="4934486"/>
            <a:ext cx="562415" cy="216771"/>
          </a:xfrm>
          <a:custGeom>
            <a:avLst/>
            <a:gdLst/>
            <a:ahLst/>
            <a:cxnLst/>
            <a:rect l="0" t="0" r="r" b="b"/>
            <a:pathLst>
              <a:path w="4202" h="1002">
                <a:moveTo>
                  <a:pt x="0" y="250"/>
                </a:moveTo>
                <a:lnTo>
                  <a:pt x="3150" y="250"/>
                </a:lnTo>
                <a:lnTo>
                  <a:pt x="3150" y="0"/>
                </a:lnTo>
                <a:lnTo>
                  <a:pt x="4201" y="500"/>
                </a:lnTo>
                <a:lnTo>
                  <a:pt x="3150" y="1001"/>
                </a:lnTo>
                <a:lnTo>
                  <a:pt x="3150" y="750"/>
                </a:lnTo>
                <a:lnTo>
                  <a:pt x="0" y="750"/>
                </a:lnTo>
                <a:lnTo>
                  <a:pt x="0" y="250"/>
                </a:lnTo>
              </a:path>
            </a:pathLst>
          </a:custGeom>
          <a:solidFill>
            <a:srgbClr val="729FCF"/>
          </a:solidFill>
          <a:ln w="0">
            <a:solidFill>
              <a:srgbClr val="3465A4"/>
            </a:solid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4" name="Picture 73">
            <a:extLst>
              <a:ext uri="{FF2B5EF4-FFF2-40B4-BE49-F238E27FC236}">
                <a16:creationId xmlns:a16="http://schemas.microsoft.com/office/drawing/2014/main" id="{17EF2E86-E56C-4954-A16D-B96CA86FD043}"/>
              </a:ext>
            </a:extLst>
          </p:cNvPr>
          <p:cNvPicPr>
            <a:picLocks noChangeAspect="1"/>
          </p:cNvPicPr>
          <p:nvPr/>
        </p:nvPicPr>
        <p:blipFill>
          <a:blip r:embed="rId14"/>
          <a:stretch>
            <a:fillRect/>
          </a:stretch>
        </p:blipFill>
        <p:spPr>
          <a:xfrm>
            <a:off x="0" y="5534551"/>
            <a:ext cx="1010687" cy="965223"/>
          </a:xfrm>
          <a:prstGeom prst="rect">
            <a:avLst/>
          </a:prstGeom>
        </p:spPr>
      </p:pic>
      <p:sp>
        <p:nvSpPr>
          <p:cNvPr id="75" name="Speech Bubble: Rectangle 74">
            <a:extLst>
              <a:ext uri="{FF2B5EF4-FFF2-40B4-BE49-F238E27FC236}">
                <a16:creationId xmlns:a16="http://schemas.microsoft.com/office/drawing/2014/main" id="{CBDCF6DC-2D1B-43F3-ADD9-0ECE52C5419D}"/>
              </a:ext>
            </a:extLst>
          </p:cNvPr>
          <p:cNvSpPr/>
          <p:nvPr/>
        </p:nvSpPr>
        <p:spPr>
          <a:xfrm>
            <a:off x="225105" y="4102833"/>
            <a:ext cx="3517930" cy="1101806"/>
          </a:xfrm>
          <a:prstGeom prst="wedgeRectCallout">
            <a:avLst>
              <a:gd name="adj1" fmla="val -41073"/>
              <a:gd name="adj2" fmla="val 79441"/>
            </a:avLst>
          </a:prstGeom>
          <a:solidFill>
            <a:schemeClr val="bg1"/>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FF0000"/>
                </a:solidFill>
                <a:effectLst/>
                <a:uLnTx/>
                <a:uFillTx/>
                <a:latin typeface="Calibri" panose="020F0502020204030204"/>
                <a:ea typeface="+mn-ea"/>
                <a:cs typeface="+mn-cs"/>
              </a:rPr>
              <a:t>Feature extraction </a:t>
            </a: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converts raw inputs to a </a:t>
            </a:r>
            <a:r>
              <a:rPr kumimoji="0" lang="en-IN" sz="1600" b="0" i="0" u="none" strike="noStrike" kern="1200" cap="none" spc="0" normalizeH="0" baseline="0" noProof="0" dirty="0">
                <a:ln>
                  <a:noFill/>
                </a:ln>
                <a:solidFill>
                  <a:srgbClr val="FF0000"/>
                </a:solidFill>
                <a:effectLst/>
                <a:uLnTx/>
                <a:uFillTx/>
                <a:latin typeface="Calibri" panose="020F0502020204030204"/>
                <a:ea typeface="+mn-ea"/>
                <a:cs typeface="+mn-cs"/>
              </a:rPr>
              <a:t>numeric representation </a:t>
            </a: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that the ML algo can understand and work with. More on feature extraction later.</a:t>
            </a:r>
          </a:p>
        </p:txBody>
      </p:sp>
      <p:sp>
        <p:nvSpPr>
          <p:cNvPr id="85" name="Speech Bubble: Rectangle 84">
            <a:extLst>
              <a:ext uri="{FF2B5EF4-FFF2-40B4-BE49-F238E27FC236}">
                <a16:creationId xmlns:a16="http://schemas.microsoft.com/office/drawing/2014/main" id="{E5B35374-571D-4473-85AF-50658342711C}"/>
              </a:ext>
            </a:extLst>
          </p:cNvPr>
          <p:cNvSpPr/>
          <p:nvPr/>
        </p:nvSpPr>
        <p:spPr>
          <a:xfrm>
            <a:off x="8317871" y="2802266"/>
            <a:ext cx="3681236" cy="1171879"/>
          </a:xfrm>
          <a:prstGeom prst="wedgeRectCallout">
            <a:avLst>
              <a:gd name="adj1" fmla="val 35954"/>
              <a:gd name="adj2" fmla="val 95064"/>
            </a:avLst>
          </a:prstGeom>
          <a:solidFill>
            <a:schemeClr val="bg1"/>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Is feature extraction done “manually” as a pre-processing step before the ML algo starts working? Can’t we “automate” this part? Can’t we “learn” good features directly from raw inputs?</a:t>
            </a:r>
          </a:p>
        </p:txBody>
      </p:sp>
      <p:sp>
        <p:nvSpPr>
          <p:cNvPr id="87" name="Speech Bubble: Rectangle 86">
            <a:extLst>
              <a:ext uri="{FF2B5EF4-FFF2-40B4-BE49-F238E27FC236}">
                <a16:creationId xmlns:a16="http://schemas.microsoft.com/office/drawing/2014/main" id="{59B109A1-3EFE-49D8-829A-14717599B027}"/>
              </a:ext>
            </a:extLst>
          </p:cNvPr>
          <p:cNvSpPr/>
          <p:nvPr/>
        </p:nvSpPr>
        <p:spPr>
          <a:xfrm>
            <a:off x="8270006" y="5595627"/>
            <a:ext cx="2595305" cy="1101806"/>
          </a:xfrm>
          <a:prstGeom prst="wedgeRectCallout">
            <a:avLst>
              <a:gd name="adj1" fmla="val 46766"/>
              <a:gd name="adj2" fmla="val -215132"/>
            </a:avLst>
          </a:prstGeom>
          <a:solidFill>
            <a:schemeClr val="bg1"/>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Indeed. </a:t>
            </a:r>
            <a:r>
              <a:rPr kumimoji="0" lang="en-IN" sz="1600" b="0" i="0" u="none" strike="noStrike" kern="1200" cap="none" spc="0" normalizeH="0" baseline="0" noProof="0" dirty="0">
                <a:ln>
                  <a:noFill/>
                </a:ln>
                <a:solidFill>
                  <a:srgbClr val="FF0000"/>
                </a:solidFill>
                <a:effectLst/>
                <a:uLnTx/>
                <a:uFillTx/>
                <a:latin typeface="Calibri" panose="020F0502020204030204"/>
                <a:ea typeface="+mn-ea"/>
                <a:cs typeface="+mn-cs"/>
              </a:rPr>
              <a:t>Deep Learning </a:t>
            </a: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algos do precisely that!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IN" sz="1600" b="0" i="0" u="none" strike="noStrike" kern="1200" cap="none" spc="0" normalizeH="0" baseline="0" noProof="0" dirty="0">
                <a:ln>
                  <a:noFill/>
                </a:ln>
                <a:solidFill>
                  <a:srgbClr val="FF0000"/>
                </a:solidFill>
                <a:effectLst/>
                <a:uLnTx/>
                <a:uFillTx/>
                <a:latin typeface="Calibri" panose="020F0502020204030204"/>
                <a:ea typeface="+mn-ea"/>
                <a:cs typeface="+mn-cs"/>
              </a:rPr>
              <a:t>feature + model learning</a:t>
            </a: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 More on Deep Learning later.</a:t>
            </a:r>
          </a:p>
        </p:txBody>
      </p:sp>
      <p:pic>
        <p:nvPicPr>
          <p:cNvPr id="83" name="Picture 82" descr="A picture containing photo, different, small, old&#10;&#10;Description automatically generated">
            <a:extLst>
              <a:ext uri="{FF2B5EF4-FFF2-40B4-BE49-F238E27FC236}">
                <a16:creationId xmlns:a16="http://schemas.microsoft.com/office/drawing/2014/main" id="{980D67E6-3D1A-4B4B-8430-D4110474DD7B}"/>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596286" y="4713040"/>
            <a:ext cx="995031" cy="745588"/>
          </a:xfrm>
          <a:prstGeom prst="rect">
            <a:avLst/>
          </a:prstGeom>
        </p:spPr>
      </p:pic>
      <p:sp>
        <p:nvSpPr>
          <p:cNvPr id="88" name="Rectangle 87">
            <a:extLst>
              <a:ext uri="{FF2B5EF4-FFF2-40B4-BE49-F238E27FC236}">
                <a16:creationId xmlns:a16="http://schemas.microsoft.com/office/drawing/2014/main" id="{32680F7B-D1D1-4A8C-BB23-CCF722A91B15}"/>
              </a:ext>
            </a:extLst>
          </p:cNvPr>
          <p:cNvSpPr/>
          <p:nvPr/>
        </p:nvSpPr>
        <p:spPr>
          <a:xfrm>
            <a:off x="6540785" y="4623113"/>
            <a:ext cx="1162248" cy="925441"/>
          </a:xfrm>
          <a:prstGeom prst="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 name="TextBox 88">
            <a:extLst>
              <a:ext uri="{FF2B5EF4-FFF2-40B4-BE49-F238E27FC236}">
                <a16:creationId xmlns:a16="http://schemas.microsoft.com/office/drawing/2014/main" id="{964B48DB-515A-4E0C-874A-4CBEBAE864F0}"/>
              </a:ext>
            </a:extLst>
          </p:cNvPr>
          <p:cNvSpPr txBox="1"/>
          <p:nvPr/>
        </p:nvSpPr>
        <p:spPr>
          <a:xfrm>
            <a:off x="6210920" y="5594624"/>
            <a:ext cx="1794274"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     Cat vs Dog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Prediction model</a:t>
            </a:r>
          </a:p>
        </p:txBody>
      </p:sp>
      <p:pic>
        <p:nvPicPr>
          <p:cNvPr id="94" name="Picture 93">
            <a:extLst>
              <a:ext uri="{FF2B5EF4-FFF2-40B4-BE49-F238E27FC236}">
                <a16:creationId xmlns:a16="http://schemas.microsoft.com/office/drawing/2014/main" id="{DE458777-C515-46B4-BDFB-686F87323FCF}"/>
              </a:ext>
            </a:extLst>
          </p:cNvPr>
          <p:cNvPicPr>
            <a:picLocks noChangeAspect="1"/>
          </p:cNvPicPr>
          <p:nvPr/>
        </p:nvPicPr>
        <p:blipFill>
          <a:blip r:embed="rId14"/>
          <a:stretch>
            <a:fillRect/>
          </a:stretch>
        </p:blipFill>
        <p:spPr>
          <a:xfrm>
            <a:off x="10728463" y="1023925"/>
            <a:ext cx="1010687" cy="965223"/>
          </a:xfrm>
          <a:prstGeom prst="rect">
            <a:avLst/>
          </a:prstGeom>
        </p:spPr>
      </p:pic>
      <p:sp>
        <p:nvSpPr>
          <p:cNvPr id="95" name="Speech Bubble: Rectangle 94">
            <a:extLst>
              <a:ext uri="{FF2B5EF4-FFF2-40B4-BE49-F238E27FC236}">
                <a16:creationId xmlns:a16="http://schemas.microsoft.com/office/drawing/2014/main" id="{EF14DC8B-4D0F-40C6-8279-C0662065E0C0}"/>
              </a:ext>
            </a:extLst>
          </p:cNvPr>
          <p:cNvSpPr/>
          <p:nvPr/>
        </p:nvSpPr>
        <p:spPr>
          <a:xfrm>
            <a:off x="7447403" y="1163234"/>
            <a:ext cx="2941503" cy="821500"/>
          </a:xfrm>
          <a:prstGeom prst="wedgeRectCallout">
            <a:avLst>
              <a:gd name="adj1" fmla="val 70940"/>
              <a:gd name="adj2" fmla="val -14583"/>
            </a:avLst>
          </a:prstGeom>
          <a:solidFill>
            <a:schemeClr val="bg1"/>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Note: This example is for the problem of </a:t>
            </a:r>
            <a:r>
              <a:rPr kumimoji="0" lang="en-IN" sz="1600" b="0" i="0" u="none" strike="noStrike" kern="1200" cap="none" spc="0" normalizeH="0" baseline="0" noProof="0" dirty="0">
                <a:ln>
                  <a:noFill/>
                </a:ln>
                <a:solidFill>
                  <a:srgbClr val="FF0000"/>
                </a:solidFill>
                <a:effectLst/>
                <a:uLnTx/>
                <a:uFillTx/>
                <a:latin typeface="Calibri" panose="020F0502020204030204"/>
                <a:ea typeface="+mn-ea"/>
                <a:cs typeface="+mn-cs"/>
              </a:rPr>
              <a:t>binary classification</a:t>
            </a: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 a supervised learning problem</a:t>
            </a:r>
          </a:p>
        </p:txBody>
      </p:sp>
      <p:sp>
        <p:nvSpPr>
          <p:cNvPr id="55" name="TextShape 21">
            <a:extLst>
              <a:ext uri="{FF2B5EF4-FFF2-40B4-BE49-F238E27FC236}">
                <a16:creationId xmlns:a16="http://schemas.microsoft.com/office/drawing/2014/main" id="{6B773867-74FD-4271-9317-355351D31FF1}"/>
              </a:ext>
            </a:extLst>
          </p:cNvPr>
          <p:cNvSpPr txBox="1"/>
          <p:nvPr/>
        </p:nvSpPr>
        <p:spPr>
          <a:xfrm>
            <a:off x="4750112" y="5174283"/>
            <a:ext cx="1005685" cy="539380"/>
          </a:xfrm>
          <a:prstGeom prst="rect">
            <a:avLst/>
          </a:prstGeom>
          <a:noFill/>
          <a:ln w="0">
            <a:noFill/>
          </a:ln>
        </p:spPr>
        <p:txBody>
          <a:bodyPr lIns="90000" tIns="45000" rIns="90000" bIns="4500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1" normalizeH="0" baseline="0" noProof="0" dirty="0">
                <a:ln>
                  <a:noFill/>
                </a:ln>
                <a:solidFill>
                  <a:prstClr val="black"/>
                </a:solidFill>
                <a:effectLst/>
                <a:uLnTx/>
                <a:uFillTx/>
                <a:latin typeface="Arial"/>
                <a:ea typeface="+mn-ea"/>
                <a:cs typeface="+mn-cs"/>
              </a:rPr>
              <a:t> “Feature”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1" normalizeH="0" baseline="0" noProof="0" dirty="0">
                <a:ln>
                  <a:noFill/>
                </a:ln>
                <a:solidFill>
                  <a:prstClr val="black"/>
                </a:solidFill>
                <a:effectLst/>
                <a:uLnTx/>
                <a:uFillTx/>
                <a:latin typeface="Arial"/>
                <a:ea typeface="+mn-ea"/>
                <a:cs typeface="+mn-cs"/>
              </a:rPr>
              <a:t>Extraction</a:t>
            </a:r>
          </a:p>
        </p:txBody>
      </p:sp>
    </p:spTree>
    <p:custDataLst>
      <p:tags r:id="rId1"/>
    </p:custDataLst>
    <p:extLst>
      <p:ext uri="{BB962C8B-B14F-4D97-AF65-F5344CB8AC3E}">
        <p14:creationId xmlns:p14="http://schemas.microsoft.com/office/powerpoint/2010/main" val="3316238225"/>
      </p:ext>
    </p:extLst>
  </p:cSld>
  <p:clrMapOvr>
    <a:masterClrMapping/>
  </p:clrMapOvr>
  <mc:AlternateContent xmlns:mc="http://schemas.openxmlformats.org/markup-compatibility/2006" xmlns:p14="http://schemas.microsoft.com/office/powerpoint/2010/main">
    <mc:Choice Requires="p14">
      <p:transition spd="slow" p14:dur="2000" advTm="183374"/>
    </mc:Choice>
    <mc:Fallback xmlns="">
      <p:transition spd="slow" advTm="18337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4"/>
                                        </p:tgtEl>
                                        <p:attrNameLst>
                                          <p:attrName>style.visibility</p:attrName>
                                        </p:attrNameLst>
                                      </p:cBhvr>
                                      <p:to>
                                        <p:strVal val="visible"/>
                                      </p:to>
                                    </p:set>
                                    <p:animEffect transition="in" filter="wipe(down)">
                                      <p:cBhvr>
                                        <p:cTn id="7" dur="500"/>
                                        <p:tgtEl>
                                          <p:spTgt spid="94"/>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95"/>
                                        </p:tgtEl>
                                        <p:attrNameLst>
                                          <p:attrName>style.visibility</p:attrName>
                                        </p:attrNameLst>
                                      </p:cBhvr>
                                      <p:to>
                                        <p:strVal val="visible"/>
                                      </p:to>
                                    </p:set>
                                    <p:animEffect transition="in" filter="wipe(down)">
                                      <p:cBhvr>
                                        <p:cTn id="10" dur="500"/>
                                        <p:tgtEl>
                                          <p:spTgt spid="9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down)">
                                      <p:cBhvr>
                                        <p:cTn id="15" dur="500"/>
                                        <p:tgtEl>
                                          <p:spTgt spid="10"/>
                                        </p:tgtEl>
                                      </p:cBhvr>
                                    </p:animEffect>
                                  </p:childTnLst>
                                </p:cTn>
                              </p:par>
                              <p:par>
                                <p:cTn id="16" presetID="22" presetClass="entr" presetSubtype="4"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down)">
                                      <p:cBhvr>
                                        <p:cTn id="18" dur="500"/>
                                        <p:tgtEl>
                                          <p:spTgt spid="11"/>
                                        </p:tgtEl>
                                      </p:cBhvr>
                                    </p:animEffect>
                                  </p:childTnLst>
                                </p:cTn>
                              </p:par>
                              <p:par>
                                <p:cTn id="19" presetID="22" presetClass="entr" presetSubtype="4"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down)">
                                      <p:cBhvr>
                                        <p:cTn id="21" dur="500"/>
                                        <p:tgtEl>
                                          <p:spTgt spid="13"/>
                                        </p:tgtEl>
                                      </p:cBhvr>
                                    </p:animEffect>
                                  </p:childTnLst>
                                </p:cTn>
                              </p:par>
                              <p:par>
                                <p:cTn id="22" presetID="22" presetClass="entr" presetSubtype="4"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down)">
                                      <p:cBhvr>
                                        <p:cTn id="24" dur="500"/>
                                        <p:tgtEl>
                                          <p:spTgt spid="14"/>
                                        </p:tgtEl>
                                      </p:cBhvr>
                                    </p:animEffect>
                                  </p:childTnLst>
                                </p:cTn>
                              </p:par>
                              <p:par>
                                <p:cTn id="25" presetID="22" presetClass="entr" presetSubtype="4"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down)">
                                      <p:cBhvr>
                                        <p:cTn id="27" dur="500"/>
                                        <p:tgtEl>
                                          <p:spTgt spid="15"/>
                                        </p:tgtEl>
                                      </p:cBhvr>
                                    </p:animEffect>
                                  </p:childTnLst>
                                </p:cTn>
                              </p:par>
                              <p:par>
                                <p:cTn id="28" presetID="22" presetClass="entr" presetSubtype="4" fill="hold"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down)">
                                      <p:cBhvr>
                                        <p:cTn id="30" dur="5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wipe(down)">
                                      <p:cBhvr>
                                        <p:cTn id="35" dur="500"/>
                                        <p:tgtEl>
                                          <p:spTgt spid="60"/>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59"/>
                                        </p:tgtEl>
                                        <p:attrNameLst>
                                          <p:attrName>style.visibility</p:attrName>
                                        </p:attrNameLst>
                                      </p:cBhvr>
                                      <p:to>
                                        <p:strVal val="visible"/>
                                      </p:to>
                                    </p:set>
                                    <p:animEffect transition="in" filter="wipe(down)">
                                      <p:cBhvr>
                                        <p:cTn id="38" dur="500"/>
                                        <p:tgtEl>
                                          <p:spTgt spid="59"/>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wipe(down)">
                                      <p:cBhvr>
                                        <p:cTn id="41" dur="500"/>
                                        <p:tgtEl>
                                          <p:spTgt spid="19"/>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58"/>
                                        </p:tgtEl>
                                        <p:attrNameLst>
                                          <p:attrName>style.visibility</p:attrName>
                                        </p:attrNameLst>
                                      </p:cBhvr>
                                      <p:to>
                                        <p:strVal val="visible"/>
                                      </p:to>
                                    </p:set>
                                    <p:animEffect transition="in" filter="wipe(down)">
                                      <p:cBhvr>
                                        <p:cTn id="44" dur="500"/>
                                        <p:tgtEl>
                                          <p:spTgt spid="58"/>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57"/>
                                        </p:tgtEl>
                                        <p:attrNameLst>
                                          <p:attrName>style.visibility</p:attrName>
                                        </p:attrNameLst>
                                      </p:cBhvr>
                                      <p:to>
                                        <p:strVal val="visible"/>
                                      </p:to>
                                    </p:set>
                                    <p:animEffect transition="in" filter="wipe(down)">
                                      <p:cBhvr>
                                        <p:cTn id="47" dur="500"/>
                                        <p:tgtEl>
                                          <p:spTgt spid="57"/>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wipe(down)">
                                      <p:cBhvr>
                                        <p:cTn id="50" dur="500"/>
                                        <p:tgtEl>
                                          <p:spTgt spid="22"/>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wipe(down)">
                                      <p:cBhvr>
                                        <p:cTn id="53" dur="500"/>
                                        <p:tgtEl>
                                          <p:spTgt spid="23"/>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wipe(down)">
                                      <p:cBhvr>
                                        <p:cTn id="58" dur="500"/>
                                        <p:tgtEl>
                                          <p:spTgt spid="38"/>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37"/>
                                        </p:tgtEl>
                                        <p:attrNameLst>
                                          <p:attrName>style.visibility</p:attrName>
                                        </p:attrNameLst>
                                      </p:cBhvr>
                                      <p:to>
                                        <p:strVal val="visible"/>
                                      </p:to>
                                    </p:set>
                                    <p:animEffect transition="in" filter="wipe(down)">
                                      <p:cBhvr>
                                        <p:cTn id="61" dur="500"/>
                                        <p:tgtEl>
                                          <p:spTgt spid="37"/>
                                        </p:tgtEl>
                                      </p:cBhvr>
                                    </p:animEffect>
                                  </p:childTnLst>
                                </p:cTn>
                              </p:par>
                              <p:par>
                                <p:cTn id="62" presetID="22" presetClass="entr" presetSubtype="4" fill="hold" nodeType="with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wipe(down)">
                                      <p:cBhvr>
                                        <p:cTn id="64" dur="500"/>
                                        <p:tgtEl>
                                          <p:spTgt spid="29"/>
                                        </p:tgtEl>
                                      </p:cBhvr>
                                    </p:animEffect>
                                  </p:childTnLst>
                                </p:cTn>
                              </p:par>
                              <p:par>
                                <p:cTn id="65" presetID="22" presetClass="entr" presetSubtype="4" fill="hold" nodeType="withEffect">
                                  <p:stCondLst>
                                    <p:cond delay="0"/>
                                  </p:stCondLst>
                                  <p:childTnLst>
                                    <p:set>
                                      <p:cBhvr>
                                        <p:cTn id="66" dur="1" fill="hold">
                                          <p:stCondLst>
                                            <p:cond delay="0"/>
                                          </p:stCondLst>
                                        </p:cTn>
                                        <p:tgtEl>
                                          <p:spTgt spid="61"/>
                                        </p:tgtEl>
                                        <p:attrNameLst>
                                          <p:attrName>style.visibility</p:attrName>
                                        </p:attrNameLst>
                                      </p:cBhvr>
                                      <p:to>
                                        <p:strVal val="visible"/>
                                      </p:to>
                                    </p:set>
                                    <p:animEffect transition="in" filter="wipe(down)">
                                      <p:cBhvr>
                                        <p:cTn id="67" dur="500"/>
                                        <p:tgtEl>
                                          <p:spTgt spid="61"/>
                                        </p:tgtEl>
                                      </p:cBhvr>
                                    </p:animEffect>
                                  </p:childTnLst>
                                </p:cTn>
                              </p:par>
                              <p:par>
                                <p:cTn id="68" presetID="22" presetClass="entr" presetSubtype="4" fill="hold" nodeType="withEffect">
                                  <p:stCondLst>
                                    <p:cond delay="0"/>
                                  </p:stCondLst>
                                  <p:childTnLst>
                                    <p:set>
                                      <p:cBhvr>
                                        <p:cTn id="69" dur="1" fill="hold">
                                          <p:stCondLst>
                                            <p:cond delay="0"/>
                                          </p:stCondLst>
                                        </p:cTn>
                                        <p:tgtEl>
                                          <p:spTgt spid="62"/>
                                        </p:tgtEl>
                                        <p:attrNameLst>
                                          <p:attrName>style.visibility</p:attrName>
                                        </p:attrNameLst>
                                      </p:cBhvr>
                                      <p:to>
                                        <p:strVal val="visible"/>
                                      </p:to>
                                    </p:set>
                                    <p:animEffect transition="in" filter="wipe(down)">
                                      <p:cBhvr>
                                        <p:cTn id="70" dur="500"/>
                                        <p:tgtEl>
                                          <p:spTgt spid="62"/>
                                        </p:tgtEl>
                                      </p:cBhvr>
                                    </p:animEffect>
                                  </p:childTnLst>
                                </p:cTn>
                              </p:par>
                              <p:par>
                                <p:cTn id="71" presetID="22" presetClass="entr" presetSubtype="4" fill="hold" nodeType="withEffect">
                                  <p:stCondLst>
                                    <p:cond delay="0"/>
                                  </p:stCondLst>
                                  <p:childTnLst>
                                    <p:set>
                                      <p:cBhvr>
                                        <p:cTn id="72" dur="1" fill="hold">
                                          <p:stCondLst>
                                            <p:cond delay="0"/>
                                          </p:stCondLst>
                                        </p:cTn>
                                        <p:tgtEl>
                                          <p:spTgt spid="63"/>
                                        </p:tgtEl>
                                        <p:attrNameLst>
                                          <p:attrName>style.visibility</p:attrName>
                                        </p:attrNameLst>
                                      </p:cBhvr>
                                      <p:to>
                                        <p:strVal val="visible"/>
                                      </p:to>
                                    </p:set>
                                    <p:animEffect transition="in" filter="wipe(down)">
                                      <p:cBhvr>
                                        <p:cTn id="73" dur="500"/>
                                        <p:tgtEl>
                                          <p:spTgt spid="63"/>
                                        </p:tgtEl>
                                      </p:cBhvr>
                                    </p:animEffect>
                                  </p:childTnLst>
                                </p:cTn>
                              </p:par>
                              <p:par>
                                <p:cTn id="74" presetID="22" presetClass="entr" presetSubtype="4" fill="hold" nodeType="withEffect">
                                  <p:stCondLst>
                                    <p:cond delay="0"/>
                                  </p:stCondLst>
                                  <p:childTnLst>
                                    <p:set>
                                      <p:cBhvr>
                                        <p:cTn id="75" dur="1" fill="hold">
                                          <p:stCondLst>
                                            <p:cond delay="0"/>
                                          </p:stCondLst>
                                        </p:cTn>
                                        <p:tgtEl>
                                          <p:spTgt spid="64"/>
                                        </p:tgtEl>
                                        <p:attrNameLst>
                                          <p:attrName>style.visibility</p:attrName>
                                        </p:attrNameLst>
                                      </p:cBhvr>
                                      <p:to>
                                        <p:strVal val="visible"/>
                                      </p:to>
                                    </p:set>
                                    <p:animEffect transition="in" filter="wipe(down)">
                                      <p:cBhvr>
                                        <p:cTn id="76" dur="500"/>
                                        <p:tgtEl>
                                          <p:spTgt spid="64"/>
                                        </p:tgtEl>
                                      </p:cBhvr>
                                    </p:animEffect>
                                  </p:childTnLst>
                                </p:cTn>
                              </p:par>
                              <p:par>
                                <p:cTn id="77" presetID="22" presetClass="entr" presetSubtype="4" fill="hold" nodeType="withEffect">
                                  <p:stCondLst>
                                    <p:cond delay="0"/>
                                  </p:stCondLst>
                                  <p:childTnLst>
                                    <p:set>
                                      <p:cBhvr>
                                        <p:cTn id="78" dur="1" fill="hold">
                                          <p:stCondLst>
                                            <p:cond delay="0"/>
                                          </p:stCondLst>
                                        </p:cTn>
                                        <p:tgtEl>
                                          <p:spTgt spid="65"/>
                                        </p:tgtEl>
                                        <p:attrNameLst>
                                          <p:attrName>style.visibility</p:attrName>
                                        </p:attrNameLst>
                                      </p:cBhvr>
                                      <p:to>
                                        <p:strVal val="visible"/>
                                      </p:to>
                                    </p:set>
                                    <p:animEffect transition="in" filter="wipe(down)">
                                      <p:cBhvr>
                                        <p:cTn id="79" dur="500"/>
                                        <p:tgtEl>
                                          <p:spTgt spid="65"/>
                                        </p:tgtEl>
                                      </p:cBhvr>
                                    </p:animEffect>
                                  </p:childTnLst>
                                </p:cTn>
                              </p:par>
                              <p:par>
                                <p:cTn id="80" presetID="22" presetClass="entr" presetSubtype="4" fill="hold" grpId="0" nodeType="withEffect">
                                  <p:stCondLst>
                                    <p:cond delay="0"/>
                                  </p:stCondLst>
                                  <p:childTnLst>
                                    <p:set>
                                      <p:cBhvr>
                                        <p:cTn id="81" dur="1" fill="hold">
                                          <p:stCondLst>
                                            <p:cond delay="0"/>
                                          </p:stCondLst>
                                        </p:cTn>
                                        <p:tgtEl>
                                          <p:spTgt spid="66"/>
                                        </p:tgtEl>
                                        <p:attrNameLst>
                                          <p:attrName>style.visibility</p:attrName>
                                        </p:attrNameLst>
                                      </p:cBhvr>
                                      <p:to>
                                        <p:strVal val="visible"/>
                                      </p:to>
                                    </p:set>
                                    <p:animEffect transition="in" filter="wipe(down)">
                                      <p:cBhvr>
                                        <p:cTn id="82" dur="500"/>
                                        <p:tgtEl>
                                          <p:spTgt spid="66"/>
                                        </p:tgtEl>
                                      </p:cBhvr>
                                    </p:animEffect>
                                  </p:childTnLst>
                                </p:cTn>
                              </p:par>
                              <p:par>
                                <p:cTn id="83" presetID="22" presetClass="entr" presetSubtype="4" fill="hold" grpId="0" nodeType="withEffect">
                                  <p:stCondLst>
                                    <p:cond delay="0"/>
                                  </p:stCondLst>
                                  <p:childTnLst>
                                    <p:set>
                                      <p:cBhvr>
                                        <p:cTn id="84" dur="1" fill="hold">
                                          <p:stCondLst>
                                            <p:cond delay="0"/>
                                          </p:stCondLst>
                                        </p:cTn>
                                        <p:tgtEl>
                                          <p:spTgt spid="67"/>
                                        </p:tgtEl>
                                        <p:attrNameLst>
                                          <p:attrName>style.visibility</p:attrName>
                                        </p:attrNameLst>
                                      </p:cBhvr>
                                      <p:to>
                                        <p:strVal val="visible"/>
                                      </p:to>
                                    </p:set>
                                    <p:animEffect transition="in" filter="wipe(down)">
                                      <p:cBhvr>
                                        <p:cTn id="85" dur="500"/>
                                        <p:tgtEl>
                                          <p:spTgt spid="67"/>
                                        </p:tgtEl>
                                      </p:cBhvr>
                                    </p:animEffect>
                                  </p:childTnLst>
                                </p:cTn>
                              </p:par>
                              <p:par>
                                <p:cTn id="86" presetID="22" presetClass="entr" presetSubtype="4" fill="hold" grpId="0" nodeType="withEffect">
                                  <p:stCondLst>
                                    <p:cond delay="0"/>
                                  </p:stCondLst>
                                  <p:childTnLst>
                                    <p:set>
                                      <p:cBhvr>
                                        <p:cTn id="87" dur="1" fill="hold">
                                          <p:stCondLst>
                                            <p:cond delay="0"/>
                                          </p:stCondLst>
                                        </p:cTn>
                                        <p:tgtEl>
                                          <p:spTgt spid="68"/>
                                        </p:tgtEl>
                                        <p:attrNameLst>
                                          <p:attrName>style.visibility</p:attrName>
                                        </p:attrNameLst>
                                      </p:cBhvr>
                                      <p:to>
                                        <p:strVal val="visible"/>
                                      </p:to>
                                    </p:set>
                                    <p:animEffect transition="in" filter="wipe(down)">
                                      <p:cBhvr>
                                        <p:cTn id="88" dur="500"/>
                                        <p:tgtEl>
                                          <p:spTgt spid="68"/>
                                        </p:tgtEl>
                                      </p:cBhvr>
                                    </p:animEffect>
                                  </p:childTnLst>
                                </p:cTn>
                              </p:par>
                              <p:par>
                                <p:cTn id="89" presetID="22" presetClass="entr" presetSubtype="4" fill="hold" grpId="0" nodeType="withEffect">
                                  <p:stCondLst>
                                    <p:cond delay="0"/>
                                  </p:stCondLst>
                                  <p:childTnLst>
                                    <p:set>
                                      <p:cBhvr>
                                        <p:cTn id="90" dur="1" fill="hold">
                                          <p:stCondLst>
                                            <p:cond delay="0"/>
                                          </p:stCondLst>
                                        </p:cTn>
                                        <p:tgtEl>
                                          <p:spTgt spid="69"/>
                                        </p:tgtEl>
                                        <p:attrNameLst>
                                          <p:attrName>style.visibility</p:attrName>
                                        </p:attrNameLst>
                                      </p:cBhvr>
                                      <p:to>
                                        <p:strVal val="visible"/>
                                      </p:to>
                                    </p:set>
                                    <p:animEffect transition="in" filter="wipe(down)">
                                      <p:cBhvr>
                                        <p:cTn id="91" dur="500"/>
                                        <p:tgtEl>
                                          <p:spTgt spid="69"/>
                                        </p:tgtEl>
                                      </p:cBhvr>
                                    </p:animEffect>
                                  </p:childTnLst>
                                </p:cTn>
                              </p:par>
                              <p:par>
                                <p:cTn id="92" presetID="22" presetClass="entr" presetSubtype="4" fill="hold" grpId="0" nodeType="withEffect">
                                  <p:stCondLst>
                                    <p:cond delay="0"/>
                                  </p:stCondLst>
                                  <p:childTnLst>
                                    <p:set>
                                      <p:cBhvr>
                                        <p:cTn id="93" dur="1" fill="hold">
                                          <p:stCondLst>
                                            <p:cond delay="0"/>
                                          </p:stCondLst>
                                        </p:cTn>
                                        <p:tgtEl>
                                          <p:spTgt spid="70"/>
                                        </p:tgtEl>
                                        <p:attrNameLst>
                                          <p:attrName>style.visibility</p:attrName>
                                        </p:attrNameLst>
                                      </p:cBhvr>
                                      <p:to>
                                        <p:strVal val="visible"/>
                                      </p:to>
                                    </p:set>
                                    <p:animEffect transition="in" filter="wipe(down)">
                                      <p:cBhvr>
                                        <p:cTn id="94" dur="500"/>
                                        <p:tgtEl>
                                          <p:spTgt spid="70"/>
                                        </p:tgtEl>
                                      </p:cBhvr>
                                    </p:animEffect>
                                  </p:childTnLst>
                                </p:cTn>
                              </p:par>
                              <p:par>
                                <p:cTn id="95" presetID="22" presetClass="entr" presetSubtype="4" fill="hold" grpId="0" nodeType="withEffect">
                                  <p:stCondLst>
                                    <p:cond delay="0"/>
                                  </p:stCondLst>
                                  <p:childTnLst>
                                    <p:set>
                                      <p:cBhvr>
                                        <p:cTn id="96" dur="1" fill="hold">
                                          <p:stCondLst>
                                            <p:cond delay="0"/>
                                          </p:stCondLst>
                                        </p:cTn>
                                        <p:tgtEl>
                                          <p:spTgt spid="71"/>
                                        </p:tgtEl>
                                        <p:attrNameLst>
                                          <p:attrName>style.visibility</p:attrName>
                                        </p:attrNameLst>
                                      </p:cBhvr>
                                      <p:to>
                                        <p:strVal val="visible"/>
                                      </p:to>
                                    </p:set>
                                    <p:animEffect transition="in" filter="wipe(down)">
                                      <p:cBhvr>
                                        <p:cTn id="97" dur="500"/>
                                        <p:tgtEl>
                                          <p:spTgt spid="71"/>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4" fill="hold" nodeType="clickEffect">
                                  <p:stCondLst>
                                    <p:cond delay="0"/>
                                  </p:stCondLst>
                                  <p:childTnLst>
                                    <p:set>
                                      <p:cBhvr>
                                        <p:cTn id="101" dur="1" fill="hold">
                                          <p:stCondLst>
                                            <p:cond delay="0"/>
                                          </p:stCondLst>
                                        </p:cTn>
                                        <p:tgtEl>
                                          <p:spTgt spid="74"/>
                                        </p:tgtEl>
                                        <p:attrNameLst>
                                          <p:attrName>style.visibility</p:attrName>
                                        </p:attrNameLst>
                                      </p:cBhvr>
                                      <p:to>
                                        <p:strVal val="visible"/>
                                      </p:to>
                                    </p:set>
                                    <p:animEffect transition="in" filter="wipe(down)">
                                      <p:cBhvr>
                                        <p:cTn id="102" dur="500"/>
                                        <p:tgtEl>
                                          <p:spTgt spid="74"/>
                                        </p:tgtEl>
                                      </p:cBhvr>
                                    </p:animEffect>
                                  </p:childTnLst>
                                </p:cTn>
                              </p:par>
                              <p:par>
                                <p:cTn id="103" presetID="22" presetClass="entr" presetSubtype="4" fill="hold" grpId="0" nodeType="withEffect">
                                  <p:stCondLst>
                                    <p:cond delay="0"/>
                                  </p:stCondLst>
                                  <p:childTnLst>
                                    <p:set>
                                      <p:cBhvr>
                                        <p:cTn id="104" dur="1" fill="hold">
                                          <p:stCondLst>
                                            <p:cond delay="0"/>
                                          </p:stCondLst>
                                        </p:cTn>
                                        <p:tgtEl>
                                          <p:spTgt spid="75"/>
                                        </p:tgtEl>
                                        <p:attrNameLst>
                                          <p:attrName>style.visibility</p:attrName>
                                        </p:attrNameLst>
                                      </p:cBhvr>
                                      <p:to>
                                        <p:strVal val="visible"/>
                                      </p:to>
                                    </p:set>
                                    <p:animEffect transition="in" filter="wipe(down)">
                                      <p:cBhvr>
                                        <p:cTn id="105" dur="500"/>
                                        <p:tgtEl>
                                          <p:spTgt spid="75"/>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4" fill="hold" nodeType="clickEffect">
                                  <p:stCondLst>
                                    <p:cond delay="0"/>
                                  </p:stCondLst>
                                  <p:childTnLst>
                                    <p:set>
                                      <p:cBhvr>
                                        <p:cTn id="109" dur="1" fill="hold">
                                          <p:stCondLst>
                                            <p:cond delay="0"/>
                                          </p:stCondLst>
                                        </p:cTn>
                                        <p:tgtEl>
                                          <p:spTgt spid="72"/>
                                        </p:tgtEl>
                                        <p:attrNameLst>
                                          <p:attrName>style.visibility</p:attrName>
                                        </p:attrNameLst>
                                      </p:cBhvr>
                                      <p:to>
                                        <p:strVal val="visible"/>
                                      </p:to>
                                    </p:set>
                                    <p:animEffect transition="in" filter="wipe(down)">
                                      <p:cBhvr>
                                        <p:cTn id="110" dur="500"/>
                                        <p:tgtEl>
                                          <p:spTgt spid="72"/>
                                        </p:tgtEl>
                                      </p:cBhvr>
                                    </p:animEffect>
                                  </p:childTnLst>
                                </p:cTn>
                              </p:par>
                              <p:par>
                                <p:cTn id="111" presetID="22" presetClass="entr" presetSubtype="4" fill="hold" nodeType="withEffect">
                                  <p:stCondLst>
                                    <p:cond delay="0"/>
                                  </p:stCondLst>
                                  <p:childTnLst>
                                    <p:set>
                                      <p:cBhvr>
                                        <p:cTn id="112" dur="1" fill="hold">
                                          <p:stCondLst>
                                            <p:cond delay="0"/>
                                          </p:stCondLst>
                                        </p:cTn>
                                        <p:tgtEl>
                                          <p:spTgt spid="56"/>
                                        </p:tgtEl>
                                        <p:attrNameLst>
                                          <p:attrName>style.visibility</p:attrName>
                                        </p:attrNameLst>
                                      </p:cBhvr>
                                      <p:to>
                                        <p:strVal val="visible"/>
                                      </p:to>
                                    </p:set>
                                    <p:animEffect transition="in" filter="wipe(down)">
                                      <p:cBhvr>
                                        <p:cTn id="113" dur="500"/>
                                        <p:tgtEl>
                                          <p:spTgt spid="56"/>
                                        </p:tgtEl>
                                      </p:cBhvr>
                                    </p:animEffect>
                                  </p:childTnLst>
                                </p:cTn>
                              </p:par>
                              <p:par>
                                <p:cTn id="114" presetID="22" presetClass="entr" presetSubtype="4" fill="hold" grpId="0" nodeType="withEffect">
                                  <p:stCondLst>
                                    <p:cond delay="0"/>
                                  </p:stCondLst>
                                  <p:childTnLst>
                                    <p:set>
                                      <p:cBhvr>
                                        <p:cTn id="115" dur="1" fill="hold">
                                          <p:stCondLst>
                                            <p:cond delay="0"/>
                                          </p:stCondLst>
                                        </p:cTn>
                                        <p:tgtEl>
                                          <p:spTgt spid="41"/>
                                        </p:tgtEl>
                                        <p:attrNameLst>
                                          <p:attrName>style.visibility</p:attrName>
                                        </p:attrNameLst>
                                      </p:cBhvr>
                                      <p:to>
                                        <p:strVal val="visible"/>
                                      </p:to>
                                    </p:set>
                                    <p:animEffect transition="in" filter="wipe(down)">
                                      <p:cBhvr>
                                        <p:cTn id="116" dur="500"/>
                                        <p:tgtEl>
                                          <p:spTgt spid="41"/>
                                        </p:tgtEl>
                                      </p:cBhvr>
                                    </p:animEffect>
                                  </p:childTnLst>
                                </p:cTn>
                              </p:par>
                              <p:par>
                                <p:cTn id="117" presetID="22" presetClass="entr" presetSubtype="4" fill="hold" grpId="0" nodeType="withEffect">
                                  <p:stCondLst>
                                    <p:cond delay="0"/>
                                  </p:stCondLst>
                                  <p:childTnLst>
                                    <p:set>
                                      <p:cBhvr>
                                        <p:cTn id="118" dur="1" fill="hold">
                                          <p:stCondLst>
                                            <p:cond delay="0"/>
                                          </p:stCondLst>
                                        </p:cTn>
                                        <p:tgtEl>
                                          <p:spTgt spid="40"/>
                                        </p:tgtEl>
                                        <p:attrNameLst>
                                          <p:attrName>style.visibility</p:attrName>
                                        </p:attrNameLst>
                                      </p:cBhvr>
                                      <p:to>
                                        <p:strVal val="visible"/>
                                      </p:to>
                                    </p:set>
                                    <p:animEffect transition="in" filter="wipe(down)">
                                      <p:cBhvr>
                                        <p:cTn id="119" dur="500"/>
                                        <p:tgtEl>
                                          <p:spTgt spid="40"/>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4" fill="hold" nodeType="clickEffect">
                                  <p:stCondLst>
                                    <p:cond delay="0"/>
                                  </p:stCondLst>
                                  <p:childTnLst>
                                    <p:set>
                                      <p:cBhvr>
                                        <p:cTn id="123" dur="1" fill="hold">
                                          <p:stCondLst>
                                            <p:cond delay="0"/>
                                          </p:stCondLst>
                                        </p:cTn>
                                        <p:tgtEl>
                                          <p:spTgt spid="42"/>
                                        </p:tgtEl>
                                        <p:attrNameLst>
                                          <p:attrName>style.visibility</p:attrName>
                                        </p:attrNameLst>
                                      </p:cBhvr>
                                      <p:to>
                                        <p:strVal val="visible"/>
                                      </p:to>
                                    </p:set>
                                    <p:animEffect transition="in" filter="wipe(down)">
                                      <p:cBhvr>
                                        <p:cTn id="124" dur="500"/>
                                        <p:tgtEl>
                                          <p:spTgt spid="42"/>
                                        </p:tgtEl>
                                      </p:cBhvr>
                                    </p:animEffect>
                                  </p:childTnLst>
                                </p:cTn>
                              </p:par>
                              <p:par>
                                <p:cTn id="125" presetID="22" presetClass="entr" presetSubtype="4" fill="hold" grpId="0" nodeType="withEffect">
                                  <p:stCondLst>
                                    <p:cond delay="0"/>
                                  </p:stCondLst>
                                  <p:childTnLst>
                                    <p:set>
                                      <p:cBhvr>
                                        <p:cTn id="126" dur="1" fill="hold">
                                          <p:stCondLst>
                                            <p:cond delay="0"/>
                                          </p:stCondLst>
                                        </p:cTn>
                                        <p:tgtEl>
                                          <p:spTgt spid="88"/>
                                        </p:tgtEl>
                                        <p:attrNameLst>
                                          <p:attrName>style.visibility</p:attrName>
                                        </p:attrNameLst>
                                      </p:cBhvr>
                                      <p:to>
                                        <p:strVal val="visible"/>
                                      </p:to>
                                    </p:set>
                                    <p:animEffect transition="in" filter="wipe(down)">
                                      <p:cBhvr>
                                        <p:cTn id="127" dur="500"/>
                                        <p:tgtEl>
                                          <p:spTgt spid="88"/>
                                        </p:tgtEl>
                                      </p:cBhvr>
                                    </p:animEffect>
                                  </p:childTnLst>
                                </p:cTn>
                              </p:par>
                              <p:par>
                                <p:cTn id="128" presetID="22" presetClass="entr" presetSubtype="4" fill="hold" nodeType="withEffect">
                                  <p:stCondLst>
                                    <p:cond delay="0"/>
                                  </p:stCondLst>
                                  <p:childTnLst>
                                    <p:set>
                                      <p:cBhvr>
                                        <p:cTn id="129" dur="1" fill="hold">
                                          <p:stCondLst>
                                            <p:cond delay="0"/>
                                          </p:stCondLst>
                                        </p:cTn>
                                        <p:tgtEl>
                                          <p:spTgt spid="83"/>
                                        </p:tgtEl>
                                        <p:attrNameLst>
                                          <p:attrName>style.visibility</p:attrName>
                                        </p:attrNameLst>
                                      </p:cBhvr>
                                      <p:to>
                                        <p:strVal val="visible"/>
                                      </p:to>
                                    </p:set>
                                    <p:animEffect transition="in" filter="wipe(down)">
                                      <p:cBhvr>
                                        <p:cTn id="130" dur="500"/>
                                        <p:tgtEl>
                                          <p:spTgt spid="83"/>
                                        </p:tgtEl>
                                      </p:cBhvr>
                                    </p:animEffect>
                                  </p:childTnLst>
                                </p:cTn>
                              </p:par>
                              <p:par>
                                <p:cTn id="131" presetID="22" presetClass="entr" presetSubtype="4" fill="hold" grpId="0" nodeType="withEffect">
                                  <p:stCondLst>
                                    <p:cond delay="0"/>
                                  </p:stCondLst>
                                  <p:childTnLst>
                                    <p:set>
                                      <p:cBhvr>
                                        <p:cTn id="132" dur="1" fill="hold">
                                          <p:stCondLst>
                                            <p:cond delay="0"/>
                                          </p:stCondLst>
                                        </p:cTn>
                                        <p:tgtEl>
                                          <p:spTgt spid="89"/>
                                        </p:tgtEl>
                                        <p:attrNameLst>
                                          <p:attrName>style.visibility</p:attrName>
                                        </p:attrNameLst>
                                      </p:cBhvr>
                                      <p:to>
                                        <p:strVal val="visible"/>
                                      </p:to>
                                    </p:set>
                                    <p:animEffect transition="in" filter="wipe(down)">
                                      <p:cBhvr>
                                        <p:cTn id="133" dur="500"/>
                                        <p:tgtEl>
                                          <p:spTgt spid="89"/>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4" fill="hold" nodeType="clickEffect">
                                  <p:stCondLst>
                                    <p:cond delay="0"/>
                                  </p:stCondLst>
                                  <p:childTnLst>
                                    <p:set>
                                      <p:cBhvr>
                                        <p:cTn id="137" dur="1" fill="hold">
                                          <p:stCondLst>
                                            <p:cond delay="0"/>
                                          </p:stCondLst>
                                        </p:cTn>
                                        <p:tgtEl>
                                          <p:spTgt spid="45"/>
                                        </p:tgtEl>
                                        <p:attrNameLst>
                                          <p:attrName>style.visibility</p:attrName>
                                        </p:attrNameLst>
                                      </p:cBhvr>
                                      <p:to>
                                        <p:strVal val="visible"/>
                                      </p:to>
                                    </p:set>
                                    <p:animEffect transition="in" filter="wipe(down)">
                                      <p:cBhvr>
                                        <p:cTn id="138" dur="500"/>
                                        <p:tgtEl>
                                          <p:spTgt spid="45"/>
                                        </p:tgtEl>
                                      </p:cBhvr>
                                    </p:animEffect>
                                  </p:childTnLst>
                                </p:cTn>
                              </p:par>
                              <p:par>
                                <p:cTn id="139" presetID="22" presetClass="entr" presetSubtype="4" fill="hold" grpId="0" nodeType="withEffect">
                                  <p:stCondLst>
                                    <p:cond delay="0"/>
                                  </p:stCondLst>
                                  <p:childTnLst>
                                    <p:set>
                                      <p:cBhvr>
                                        <p:cTn id="140" dur="1" fill="hold">
                                          <p:stCondLst>
                                            <p:cond delay="0"/>
                                          </p:stCondLst>
                                        </p:cTn>
                                        <p:tgtEl>
                                          <p:spTgt spid="49"/>
                                        </p:tgtEl>
                                        <p:attrNameLst>
                                          <p:attrName>style.visibility</p:attrName>
                                        </p:attrNameLst>
                                      </p:cBhvr>
                                      <p:to>
                                        <p:strVal val="visible"/>
                                      </p:to>
                                    </p:set>
                                    <p:animEffect transition="in" filter="wipe(down)">
                                      <p:cBhvr>
                                        <p:cTn id="141" dur="500"/>
                                        <p:tgtEl>
                                          <p:spTgt spid="49"/>
                                        </p:tgtEl>
                                      </p:cBhvr>
                                    </p:animEffect>
                                  </p:childTnLst>
                                </p:cTn>
                              </p:par>
                            </p:childTnLst>
                          </p:cTn>
                        </p:par>
                      </p:childTnLst>
                    </p:cTn>
                  </p:par>
                  <p:par>
                    <p:cTn id="142" fill="hold">
                      <p:stCondLst>
                        <p:cond delay="indefinite"/>
                      </p:stCondLst>
                      <p:childTnLst>
                        <p:par>
                          <p:cTn id="143" fill="hold">
                            <p:stCondLst>
                              <p:cond delay="0"/>
                            </p:stCondLst>
                            <p:childTnLst>
                              <p:par>
                                <p:cTn id="144" presetID="22" presetClass="entr" presetSubtype="4" fill="hold" nodeType="clickEffect">
                                  <p:stCondLst>
                                    <p:cond delay="0"/>
                                  </p:stCondLst>
                                  <p:childTnLst>
                                    <p:set>
                                      <p:cBhvr>
                                        <p:cTn id="145" dur="1" fill="hold">
                                          <p:stCondLst>
                                            <p:cond delay="0"/>
                                          </p:stCondLst>
                                        </p:cTn>
                                        <p:tgtEl>
                                          <p:spTgt spid="76"/>
                                        </p:tgtEl>
                                        <p:attrNameLst>
                                          <p:attrName>style.visibility</p:attrName>
                                        </p:attrNameLst>
                                      </p:cBhvr>
                                      <p:to>
                                        <p:strVal val="visible"/>
                                      </p:to>
                                    </p:set>
                                    <p:animEffect transition="in" filter="wipe(down)">
                                      <p:cBhvr>
                                        <p:cTn id="146" dur="500"/>
                                        <p:tgtEl>
                                          <p:spTgt spid="76"/>
                                        </p:tgtEl>
                                      </p:cBhvr>
                                    </p:animEffect>
                                  </p:childTnLst>
                                </p:cTn>
                              </p:par>
                              <p:par>
                                <p:cTn id="147" presetID="22" presetClass="entr" presetSubtype="4" fill="hold" grpId="0" nodeType="withEffect">
                                  <p:stCondLst>
                                    <p:cond delay="0"/>
                                  </p:stCondLst>
                                  <p:childTnLst>
                                    <p:set>
                                      <p:cBhvr>
                                        <p:cTn id="148" dur="1" fill="hold">
                                          <p:stCondLst>
                                            <p:cond delay="0"/>
                                          </p:stCondLst>
                                        </p:cTn>
                                        <p:tgtEl>
                                          <p:spTgt spid="55"/>
                                        </p:tgtEl>
                                        <p:attrNameLst>
                                          <p:attrName>style.visibility</p:attrName>
                                        </p:attrNameLst>
                                      </p:cBhvr>
                                      <p:to>
                                        <p:strVal val="visible"/>
                                      </p:to>
                                    </p:set>
                                    <p:animEffect transition="in" filter="wipe(down)">
                                      <p:cBhvr>
                                        <p:cTn id="149" dur="500"/>
                                        <p:tgtEl>
                                          <p:spTgt spid="55"/>
                                        </p:tgtEl>
                                      </p:cBhvr>
                                    </p:animEffect>
                                  </p:childTnLst>
                                </p:cTn>
                              </p:par>
                              <p:par>
                                <p:cTn id="150" presetID="22" presetClass="entr" presetSubtype="4" fill="hold" nodeType="withEffect">
                                  <p:stCondLst>
                                    <p:cond delay="0"/>
                                  </p:stCondLst>
                                  <p:childTnLst>
                                    <p:set>
                                      <p:cBhvr>
                                        <p:cTn id="151" dur="1" fill="hold">
                                          <p:stCondLst>
                                            <p:cond delay="0"/>
                                          </p:stCondLst>
                                        </p:cTn>
                                        <p:tgtEl>
                                          <p:spTgt spid="46"/>
                                        </p:tgtEl>
                                        <p:attrNameLst>
                                          <p:attrName>style.visibility</p:attrName>
                                        </p:attrNameLst>
                                      </p:cBhvr>
                                      <p:to>
                                        <p:strVal val="visible"/>
                                      </p:to>
                                    </p:set>
                                    <p:animEffect transition="in" filter="wipe(down)">
                                      <p:cBhvr>
                                        <p:cTn id="152" dur="500"/>
                                        <p:tgtEl>
                                          <p:spTgt spid="46"/>
                                        </p:tgtEl>
                                      </p:cBhvr>
                                    </p:animEffect>
                                  </p:childTnLst>
                                </p:cTn>
                              </p:par>
                            </p:childTnLst>
                          </p:cTn>
                        </p:par>
                      </p:childTnLst>
                    </p:cTn>
                  </p:par>
                  <p:par>
                    <p:cTn id="153" fill="hold">
                      <p:stCondLst>
                        <p:cond delay="indefinite"/>
                      </p:stCondLst>
                      <p:childTnLst>
                        <p:par>
                          <p:cTn id="154" fill="hold">
                            <p:stCondLst>
                              <p:cond delay="0"/>
                            </p:stCondLst>
                            <p:childTnLst>
                              <p:par>
                                <p:cTn id="155" presetID="22" presetClass="entr" presetSubtype="4" fill="hold" nodeType="clickEffect">
                                  <p:stCondLst>
                                    <p:cond delay="0"/>
                                  </p:stCondLst>
                                  <p:childTnLst>
                                    <p:set>
                                      <p:cBhvr>
                                        <p:cTn id="156" dur="1" fill="hold">
                                          <p:stCondLst>
                                            <p:cond delay="0"/>
                                          </p:stCondLst>
                                        </p:cTn>
                                        <p:tgtEl>
                                          <p:spTgt spid="77"/>
                                        </p:tgtEl>
                                        <p:attrNameLst>
                                          <p:attrName>style.visibility</p:attrName>
                                        </p:attrNameLst>
                                      </p:cBhvr>
                                      <p:to>
                                        <p:strVal val="visible"/>
                                      </p:to>
                                    </p:set>
                                    <p:animEffect transition="in" filter="wipe(down)">
                                      <p:cBhvr>
                                        <p:cTn id="157" dur="500"/>
                                        <p:tgtEl>
                                          <p:spTgt spid="77"/>
                                        </p:tgtEl>
                                      </p:cBhvr>
                                    </p:animEffect>
                                  </p:childTnLst>
                                </p:cTn>
                              </p:par>
                            </p:childTnLst>
                          </p:cTn>
                        </p:par>
                      </p:childTnLst>
                    </p:cTn>
                  </p:par>
                  <p:par>
                    <p:cTn id="158" fill="hold">
                      <p:stCondLst>
                        <p:cond delay="indefinite"/>
                      </p:stCondLst>
                      <p:childTnLst>
                        <p:par>
                          <p:cTn id="159" fill="hold">
                            <p:stCondLst>
                              <p:cond delay="0"/>
                            </p:stCondLst>
                            <p:childTnLst>
                              <p:par>
                                <p:cTn id="160" presetID="22" presetClass="entr" presetSubtype="4" fill="hold" nodeType="clickEffect">
                                  <p:stCondLst>
                                    <p:cond delay="0"/>
                                  </p:stCondLst>
                                  <p:childTnLst>
                                    <p:set>
                                      <p:cBhvr>
                                        <p:cTn id="161" dur="1" fill="hold">
                                          <p:stCondLst>
                                            <p:cond delay="0"/>
                                          </p:stCondLst>
                                        </p:cTn>
                                        <p:tgtEl>
                                          <p:spTgt spid="78"/>
                                        </p:tgtEl>
                                        <p:attrNameLst>
                                          <p:attrName>style.visibility</p:attrName>
                                        </p:attrNameLst>
                                      </p:cBhvr>
                                      <p:to>
                                        <p:strVal val="visible"/>
                                      </p:to>
                                    </p:set>
                                    <p:animEffect transition="in" filter="wipe(down)">
                                      <p:cBhvr>
                                        <p:cTn id="162" dur="500"/>
                                        <p:tgtEl>
                                          <p:spTgt spid="78"/>
                                        </p:tgtEl>
                                      </p:cBhvr>
                                    </p:animEffect>
                                  </p:childTnLst>
                                </p:cTn>
                              </p:par>
                              <p:par>
                                <p:cTn id="163" presetID="22" presetClass="entr" presetSubtype="4" fill="hold" grpId="0" nodeType="withEffect">
                                  <p:stCondLst>
                                    <p:cond delay="0"/>
                                  </p:stCondLst>
                                  <p:childTnLst>
                                    <p:set>
                                      <p:cBhvr>
                                        <p:cTn id="164" dur="1" fill="hold">
                                          <p:stCondLst>
                                            <p:cond delay="0"/>
                                          </p:stCondLst>
                                        </p:cTn>
                                        <p:tgtEl>
                                          <p:spTgt spid="52"/>
                                        </p:tgtEl>
                                        <p:attrNameLst>
                                          <p:attrName>style.visibility</p:attrName>
                                        </p:attrNameLst>
                                      </p:cBhvr>
                                      <p:to>
                                        <p:strVal val="visible"/>
                                      </p:to>
                                    </p:set>
                                    <p:animEffect transition="in" filter="wipe(down)">
                                      <p:cBhvr>
                                        <p:cTn id="165" dur="500"/>
                                        <p:tgtEl>
                                          <p:spTgt spid="52"/>
                                        </p:tgtEl>
                                      </p:cBhvr>
                                    </p:animEffect>
                                  </p:childTnLst>
                                </p:cTn>
                              </p:par>
                            </p:childTnLst>
                          </p:cTn>
                        </p:par>
                      </p:childTnLst>
                    </p:cTn>
                  </p:par>
                  <p:par>
                    <p:cTn id="166" fill="hold">
                      <p:stCondLst>
                        <p:cond delay="indefinite"/>
                      </p:stCondLst>
                      <p:childTnLst>
                        <p:par>
                          <p:cTn id="167" fill="hold">
                            <p:stCondLst>
                              <p:cond delay="0"/>
                            </p:stCondLst>
                            <p:childTnLst>
                              <p:par>
                                <p:cTn id="168" presetID="22" presetClass="entr" presetSubtype="4" fill="hold" nodeType="clickEffect">
                                  <p:stCondLst>
                                    <p:cond delay="0"/>
                                  </p:stCondLst>
                                  <p:childTnLst>
                                    <p:set>
                                      <p:cBhvr>
                                        <p:cTn id="169" dur="1" fill="hold">
                                          <p:stCondLst>
                                            <p:cond delay="0"/>
                                          </p:stCondLst>
                                        </p:cTn>
                                        <p:tgtEl>
                                          <p:spTgt spid="1028"/>
                                        </p:tgtEl>
                                        <p:attrNameLst>
                                          <p:attrName>style.visibility</p:attrName>
                                        </p:attrNameLst>
                                      </p:cBhvr>
                                      <p:to>
                                        <p:strVal val="visible"/>
                                      </p:to>
                                    </p:set>
                                    <p:animEffect transition="in" filter="wipe(down)">
                                      <p:cBhvr>
                                        <p:cTn id="170" dur="500"/>
                                        <p:tgtEl>
                                          <p:spTgt spid="1028"/>
                                        </p:tgtEl>
                                      </p:cBhvr>
                                    </p:animEffect>
                                  </p:childTnLst>
                                </p:cTn>
                              </p:par>
                              <p:par>
                                <p:cTn id="171" presetID="22" presetClass="entr" presetSubtype="4" fill="hold" grpId="0" nodeType="withEffect">
                                  <p:stCondLst>
                                    <p:cond delay="0"/>
                                  </p:stCondLst>
                                  <p:childTnLst>
                                    <p:set>
                                      <p:cBhvr>
                                        <p:cTn id="172" dur="1" fill="hold">
                                          <p:stCondLst>
                                            <p:cond delay="0"/>
                                          </p:stCondLst>
                                        </p:cTn>
                                        <p:tgtEl>
                                          <p:spTgt spid="85"/>
                                        </p:tgtEl>
                                        <p:attrNameLst>
                                          <p:attrName>style.visibility</p:attrName>
                                        </p:attrNameLst>
                                      </p:cBhvr>
                                      <p:to>
                                        <p:strVal val="visible"/>
                                      </p:to>
                                    </p:set>
                                    <p:animEffect transition="in" filter="wipe(down)">
                                      <p:cBhvr>
                                        <p:cTn id="173" dur="500"/>
                                        <p:tgtEl>
                                          <p:spTgt spid="85"/>
                                        </p:tgtEl>
                                      </p:cBhvr>
                                    </p:animEffect>
                                  </p:childTnLst>
                                </p:cTn>
                              </p:par>
                            </p:childTnLst>
                          </p:cTn>
                        </p:par>
                      </p:childTnLst>
                    </p:cTn>
                  </p:par>
                  <p:par>
                    <p:cTn id="174" fill="hold">
                      <p:stCondLst>
                        <p:cond delay="indefinite"/>
                      </p:stCondLst>
                      <p:childTnLst>
                        <p:par>
                          <p:cTn id="175" fill="hold">
                            <p:stCondLst>
                              <p:cond delay="0"/>
                            </p:stCondLst>
                            <p:childTnLst>
                              <p:par>
                                <p:cTn id="176" presetID="22" presetClass="entr" presetSubtype="4" fill="hold" grpId="0" nodeType="clickEffect">
                                  <p:stCondLst>
                                    <p:cond delay="0"/>
                                  </p:stCondLst>
                                  <p:childTnLst>
                                    <p:set>
                                      <p:cBhvr>
                                        <p:cTn id="177" dur="1" fill="hold">
                                          <p:stCondLst>
                                            <p:cond delay="0"/>
                                          </p:stCondLst>
                                        </p:cTn>
                                        <p:tgtEl>
                                          <p:spTgt spid="87"/>
                                        </p:tgtEl>
                                        <p:attrNameLst>
                                          <p:attrName>style.visibility</p:attrName>
                                        </p:attrNameLst>
                                      </p:cBhvr>
                                      <p:to>
                                        <p:strVal val="visible"/>
                                      </p:to>
                                    </p:set>
                                    <p:animEffect transition="in" filter="wipe(down)">
                                      <p:cBhvr>
                                        <p:cTn id="178" dur="500"/>
                                        <p:tgtEl>
                                          <p:spTgt spid="87"/>
                                        </p:tgtEl>
                                      </p:cBhvr>
                                    </p:animEffect>
                                  </p:childTnLst>
                                </p:cTn>
                              </p:par>
                            </p:childTnLst>
                          </p:cTn>
                        </p:par>
                      </p:childTnLst>
                    </p:cTn>
                  </p:par>
                  <p:par>
                    <p:cTn id="179" fill="hold">
                      <p:stCondLst>
                        <p:cond delay="indefinite"/>
                      </p:stCondLst>
                      <p:childTnLst>
                        <p:par>
                          <p:cTn id="180" fill="hold">
                            <p:stCondLst>
                              <p:cond delay="0"/>
                            </p:stCondLst>
                            <p:childTnLst>
                              <p:par>
                                <p:cTn id="181" presetID="22" presetClass="entr" presetSubtype="4" fill="hold" grpId="0" nodeType="clickEffect">
                                  <p:stCondLst>
                                    <p:cond delay="0"/>
                                  </p:stCondLst>
                                  <p:childTnLst>
                                    <p:set>
                                      <p:cBhvr>
                                        <p:cTn id="182" dur="1" fill="hold">
                                          <p:stCondLst>
                                            <p:cond delay="0"/>
                                          </p:stCondLst>
                                        </p:cTn>
                                        <p:tgtEl>
                                          <p:spTgt spid="54"/>
                                        </p:tgtEl>
                                        <p:attrNameLst>
                                          <p:attrName>style.visibility</p:attrName>
                                        </p:attrNameLst>
                                      </p:cBhvr>
                                      <p:to>
                                        <p:strVal val="visible"/>
                                      </p:to>
                                    </p:set>
                                    <p:animEffect transition="in" filter="wipe(down)">
                                      <p:cBhvr>
                                        <p:cTn id="183"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2" grpId="0"/>
      <p:bldP spid="23" grpId="0"/>
      <p:bldP spid="37" grpId="0"/>
      <p:bldP spid="40" grpId="0" animBg="1"/>
      <p:bldP spid="41" grpId="0"/>
      <p:bldP spid="49" grpId="0"/>
      <p:bldP spid="52" grpId="0"/>
      <p:bldP spid="57" grpId="0"/>
      <p:bldP spid="58" grpId="0"/>
      <p:bldP spid="59" grpId="0"/>
      <p:bldP spid="60" grpId="0"/>
      <p:bldP spid="66" grpId="0"/>
      <p:bldP spid="67" grpId="0"/>
      <p:bldP spid="68" grpId="0"/>
      <p:bldP spid="69" grpId="0"/>
      <p:bldP spid="70" grpId="0"/>
      <p:bldP spid="71" grpId="0"/>
      <p:bldP spid="54" grpId="0"/>
      <p:bldP spid="75" grpId="0" animBg="1"/>
      <p:bldP spid="85" grpId="0" animBg="1"/>
      <p:bldP spid="87" grpId="0" animBg="1"/>
      <p:bldP spid="88" grpId="0" animBg="1"/>
      <p:bldP spid="89" grpId="0"/>
      <p:bldP spid="95" grpId="0" animBg="1"/>
      <p:bldP spid="5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57946-FC7F-477C-9867-0ED704A858E1}"/>
              </a:ext>
            </a:extLst>
          </p:cNvPr>
          <p:cNvSpPr>
            <a:spLocks noGrp="1"/>
          </p:cNvSpPr>
          <p:nvPr>
            <p:ph type="title"/>
          </p:nvPr>
        </p:nvSpPr>
        <p:spPr>
          <a:xfrm>
            <a:off x="265245" y="169682"/>
            <a:ext cx="11740617" cy="821500"/>
          </a:xfrm>
        </p:spPr>
        <p:txBody>
          <a:bodyPr>
            <a:normAutofit/>
          </a:bodyPr>
          <a:lstStyle/>
          <a:p>
            <a:r>
              <a:rPr lang="en-IN" dirty="0">
                <a:solidFill>
                  <a:schemeClr val="accent2">
                    <a:lumMod val="75000"/>
                  </a:schemeClr>
                </a:solidFill>
              </a:rPr>
              <a:t>A Typical Unsupervised Learning Workflow</a:t>
            </a:r>
          </a:p>
        </p:txBody>
      </p:sp>
      <p:pic>
        <p:nvPicPr>
          <p:cNvPr id="10" name="Picture 9">
            <a:extLst>
              <a:ext uri="{FF2B5EF4-FFF2-40B4-BE49-F238E27FC236}">
                <a16:creationId xmlns:a16="http://schemas.microsoft.com/office/drawing/2014/main" id="{260E92D8-8B28-47DE-992C-09EAD1A89A7E}"/>
              </a:ext>
            </a:extLst>
          </p:cNvPr>
          <p:cNvPicPr/>
          <p:nvPr/>
        </p:nvPicPr>
        <p:blipFill>
          <a:blip r:embed="rId3"/>
          <a:stretch/>
        </p:blipFill>
        <p:spPr>
          <a:xfrm>
            <a:off x="2543469" y="1820870"/>
            <a:ext cx="494113" cy="418029"/>
          </a:xfrm>
          <a:prstGeom prst="rect">
            <a:avLst/>
          </a:prstGeom>
          <a:ln w="0">
            <a:noFill/>
          </a:ln>
        </p:spPr>
      </p:pic>
      <p:pic>
        <p:nvPicPr>
          <p:cNvPr id="11" name="Picture 10">
            <a:extLst>
              <a:ext uri="{FF2B5EF4-FFF2-40B4-BE49-F238E27FC236}">
                <a16:creationId xmlns:a16="http://schemas.microsoft.com/office/drawing/2014/main" id="{35E04D56-8D4F-4CF0-93DD-966914BF2402}"/>
              </a:ext>
            </a:extLst>
          </p:cNvPr>
          <p:cNvPicPr/>
          <p:nvPr/>
        </p:nvPicPr>
        <p:blipFill>
          <a:blip r:embed="rId4"/>
          <a:stretch/>
        </p:blipFill>
        <p:spPr>
          <a:xfrm>
            <a:off x="2334388" y="2161837"/>
            <a:ext cx="487260" cy="393953"/>
          </a:xfrm>
          <a:prstGeom prst="rect">
            <a:avLst/>
          </a:prstGeom>
          <a:ln w="0">
            <a:noFill/>
          </a:ln>
        </p:spPr>
      </p:pic>
      <p:pic>
        <p:nvPicPr>
          <p:cNvPr id="13" name="Picture 12">
            <a:extLst>
              <a:ext uri="{FF2B5EF4-FFF2-40B4-BE49-F238E27FC236}">
                <a16:creationId xmlns:a16="http://schemas.microsoft.com/office/drawing/2014/main" id="{66F1707D-2E71-4DB0-83D2-ED1D3B4C8CE8}"/>
              </a:ext>
            </a:extLst>
          </p:cNvPr>
          <p:cNvPicPr/>
          <p:nvPr/>
        </p:nvPicPr>
        <p:blipFill>
          <a:blip r:embed="rId5"/>
          <a:stretch/>
        </p:blipFill>
        <p:spPr>
          <a:xfrm>
            <a:off x="2091798" y="2457313"/>
            <a:ext cx="451671" cy="419918"/>
          </a:xfrm>
          <a:prstGeom prst="rect">
            <a:avLst/>
          </a:prstGeom>
          <a:ln w="0">
            <a:noFill/>
          </a:ln>
        </p:spPr>
      </p:pic>
      <p:pic>
        <p:nvPicPr>
          <p:cNvPr id="14" name="Picture 13">
            <a:extLst>
              <a:ext uri="{FF2B5EF4-FFF2-40B4-BE49-F238E27FC236}">
                <a16:creationId xmlns:a16="http://schemas.microsoft.com/office/drawing/2014/main" id="{AEA6978C-756F-444F-8CB5-6A1AFCB6AEEA}"/>
              </a:ext>
            </a:extLst>
          </p:cNvPr>
          <p:cNvPicPr/>
          <p:nvPr/>
        </p:nvPicPr>
        <p:blipFill>
          <a:blip r:embed="rId6"/>
          <a:stretch/>
        </p:blipFill>
        <p:spPr>
          <a:xfrm>
            <a:off x="1848805" y="2797819"/>
            <a:ext cx="474725" cy="401174"/>
          </a:xfrm>
          <a:prstGeom prst="rect">
            <a:avLst/>
          </a:prstGeom>
          <a:ln w="0">
            <a:noFill/>
          </a:ln>
        </p:spPr>
      </p:pic>
      <p:pic>
        <p:nvPicPr>
          <p:cNvPr id="15" name="Picture 14">
            <a:extLst>
              <a:ext uri="{FF2B5EF4-FFF2-40B4-BE49-F238E27FC236}">
                <a16:creationId xmlns:a16="http://schemas.microsoft.com/office/drawing/2014/main" id="{F676AA90-F415-408A-B3BD-ECDC02710F81}"/>
              </a:ext>
            </a:extLst>
          </p:cNvPr>
          <p:cNvPicPr/>
          <p:nvPr/>
        </p:nvPicPr>
        <p:blipFill>
          <a:blip r:embed="rId7"/>
          <a:stretch/>
        </p:blipFill>
        <p:spPr>
          <a:xfrm>
            <a:off x="1614116" y="3134003"/>
            <a:ext cx="505914" cy="393840"/>
          </a:xfrm>
          <a:prstGeom prst="rect">
            <a:avLst/>
          </a:prstGeom>
          <a:ln w="0">
            <a:noFill/>
          </a:ln>
        </p:spPr>
      </p:pic>
      <p:pic>
        <p:nvPicPr>
          <p:cNvPr id="16" name="Picture 15">
            <a:extLst>
              <a:ext uri="{FF2B5EF4-FFF2-40B4-BE49-F238E27FC236}">
                <a16:creationId xmlns:a16="http://schemas.microsoft.com/office/drawing/2014/main" id="{50DE49E3-7B49-42BC-BBE7-79E103B28DF9}"/>
              </a:ext>
            </a:extLst>
          </p:cNvPr>
          <p:cNvPicPr/>
          <p:nvPr/>
        </p:nvPicPr>
        <p:blipFill>
          <a:blip r:embed="rId8"/>
          <a:stretch/>
        </p:blipFill>
        <p:spPr>
          <a:xfrm>
            <a:off x="1413703" y="3438807"/>
            <a:ext cx="462469" cy="393840"/>
          </a:xfrm>
          <a:prstGeom prst="rect">
            <a:avLst/>
          </a:prstGeom>
          <a:ln w="0">
            <a:noFill/>
          </a:ln>
        </p:spPr>
      </p:pic>
      <p:sp>
        <p:nvSpPr>
          <p:cNvPr id="23" name="TextShape 7">
            <a:extLst>
              <a:ext uri="{FF2B5EF4-FFF2-40B4-BE49-F238E27FC236}">
                <a16:creationId xmlns:a16="http://schemas.microsoft.com/office/drawing/2014/main" id="{BC1A0BE4-1A0C-4575-A2CC-3C2DF6D838EC}"/>
              </a:ext>
            </a:extLst>
          </p:cNvPr>
          <p:cNvSpPr txBox="1"/>
          <p:nvPr/>
        </p:nvSpPr>
        <p:spPr>
          <a:xfrm>
            <a:off x="745926" y="1812752"/>
            <a:ext cx="1333040" cy="767938"/>
          </a:xfrm>
          <a:prstGeom prst="rect">
            <a:avLst/>
          </a:prstGeom>
          <a:noFill/>
          <a:ln w="0">
            <a:noFill/>
          </a:ln>
        </p:spPr>
        <p:txBody>
          <a:bodyPr lIns="90000" tIns="45000" rIns="90000" bIns="4500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600" b="0" i="0" u="none" strike="noStrike" kern="1200" cap="none" spc="-1" normalizeH="0" baseline="0" noProof="0" dirty="0">
                <a:ln>
                  <a:noFill/>
                </a:ln>
                <a:solidFill>
                  <a:prstClr val="black"/>
                </a:solidFill>
                <a:effectLst/>
                <a:uLnTx/>
                <a:uFillTx/>
                <a:latin typeface="Arial"/>
                <a:ea typeface="+mn-ea"/>
                <a:cs typeface="+mn-cs"/>
              </a:rPr>
              <a:t> </a:t>
            </a:r>
            <a:r>
              <a:rPr kumimoji="0" lang="en-IN" sz="1800" b="0" i="0" u="none" strike="noStrike" kern="1200" cap="none" spc="-1" normalizeH="0" baseline="0" noProof="0" dirty="0" err="1">
                <a:ln>
                  <a:noFill/>
                </a:ln>
                <a:solidFill>
                  <a:prstClr val="black"/>
                </a:solidFill>
                <a:effectLst/>
                <a:uLnTx/>
                <a:uFillTx/>
                <a:latin typeface="Arial"/>
                <a:ea typeface="+mn-ea"/>
                <a:cs typeface="+mn-cs"/>
              </a:rPr>
              <a:t>Unlabeled</a:t>
            </a:r>
            <a:endParaRPr kumimoji="0" lang="en-IN" sz="1800" b="0" i="0" u="none" strike="noStrike" kern="1200" cap="none" spc="-1" normalizeH="0" baseline="0" noProof="0" dirty="0">
              <a:ln>
                <a:noFill/>
              </a:ln>
              <a:solidFill>
                <a:prstClr val="black"/>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1" normalizeH="0" baseline="0" noProof="0" dirty="0">
                <a:ln>
                  <a:noFill/>
                </a:ln>
                <a:solidFill>
                  <a:prstClr val="black"/>
                </a:solidFill>
                <a:effectLst/>
                <a:uLnTx/>
                <a:uFillTx/>
                <a:latin typeface="Arial"/>
                <a:ea typeface="+mn-ea"/>
                <a:cs typeface="+mn-cs"/>
              </a:rPr>
              <a:t>   Data</a:t>
            </a:r>
          </a:p>
        </p:txBody>
      </p:sp>
      <p:sp>
        <p:nvSpPr>
          <p:cNvPr id="29" name="CustomShape 13">
            <a:extLst>
              <a:ext uri="{FF2B5EF4-FFF2-40B4-BE49-F238E27FC236}">
                <a16:creationId xmlns:a16="http://schemas.microsoft.com/office/drawing/2014/main" id="{1612BFB8-F448-4084-86D3-7E2632A3CD98}"/>
              </a:ext>
            </a:extLst>
          </p:cNvPr>
          <p:cNvSpPr/>
          <p:nvPr/>
        </p:nvSpPr>
        <p:spPr>
          <a:xfrm>
            <a:off x="4382639" y="3474524"/>
            <a:ext cx="74571" cy="532978"/>
          </a:xfrm>
          <a:prstGeom prst="rect">
            <a:avLst/>
          </a:prstGeom>
          <a:solidFill>
            <a:schemeClr val="accent4">
              <a:lumMod val="75000"/>
            </a:schemeClr>
          </a:solidFill>
          <a:ln w="0">
            <a:solidFill>
              <a:srgbClr val="3465A4"/>
            </a:solid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CustomShape 24">
            <a:extLst>
              <a:ext uri="{FF2B5EF4-FFF2-40B4-BE49-F238E27FC236}">
                <a16:creationId xmlns:a16="http://schemas.microsoft.com/office/drawing/2014/main" id="{A05C4763-9D4E-473A-9D01-70ED7AB6BFDE}"/>
              </a:ext>
            </a:extLst>
          </p:cNvPr>
          <p:cNvSpPr/>
          <p:nvPr/>
        </p:nvSpPr>
        <p:spPr>
          <a:xfrm>
            <a:off x="6303697" y="2641461"/>
            <a:ext cx="1699535" cy="1153788"/>
          </a:xfrm>
          <a:prstGeom prst="rect">
            <a:avLst/>
          </a:prstGeom>
          <a:solidFill>
            <a:srgbClr val="B2B2B2"/>
          </a:solidFill>
          <a:ln w="38160">
            <a:solidFill>
              <a:srgbClr val="000000"/>
            </a:solidFill>
            <a:round/>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Shape 25">
            <a:extLst>
              <a:ext uri="{FF2B5EF4-FFF2-40B4-BE49-F238E27FC236}">
                <a16:creationId xmlns:a16="http://schemas.microsoft.com/office/drawing/2014/main" id="{9AB077CA-173A-4D06-BA9B-0A90CCFFD5C8}"/>
              </a:ext>
            </a:extLst>
          </p:cNvPr>
          <p:cNvSpPr txBox="1"/>
          <p:nvPr/>
        </p:nvSpPr>
        <p:spPr>
          <a:xfrm>
            <a:off x="6184159" y="3302544"/>
            <a:ext cx="1893645" cy="520536"/>
          </a:xfrm>
          <a:prstGeom prst="rect">
            <a:avLst/>
          </a:prstGeom>
          <a:noFill/>
          <a:ln w="0">
            <a:noFill/>
          </a:ln>
        </p:spPr>
        <p:txBody>
          <a:bodyPr lIns="90000" tIns="45000" rIns="90000" bIns="4500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1" normalizeH="0" baseline="0" noProof="0" dirty="0">
                <a:ln>
                  <a:noFill/>
                </a:ln>
                <a:solidFill>
                  <a:prstClr val="black"/>
                </a:solidFill>
                <a:effectLst/>
                <a:uLnTx/>
                <a:uFillTx/>
                <a:latin typeface="Arial"/>
                <a:ea typeface="+mn-ea"/>
                <a:cs typeface="+mn-cs"/>
              </a:rPr>
              <a:t>ML Algorithm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1" normalizeH="0" baseline="0" noProof="0" dirty="0">
                <a:ln>
                  <a:noFill/>
                </a:ln>
                <a:solidFill>
                  <a:prstClr val="black"/>
                </a:solidFill>
                <a:effectLst/>
                <a:uLnTx/>
                <a:uFillTx/>
                <a:latin typeface="Arial"/>
                <a:ea typeface="+mn-ea"/>
                <a:cs typeface="+mn-cs"/>
              </a:rPr>
              <a:t> (outputs a clustering)</a:t>
            </a:r>
          </a:p>
        </p:txBody>
      </p:sp>
      <p:sp>
        <p:nvSpPr>
          <p:cNvPr id="42" name="CustomShape 26">
            <a:extLst>
              <a:ext uri="{FF2B5EF4-FFF2-40B4-BE49-F238E27FC236}">
                <a16:creationId xmlns:a16="http://schemas.microsoft.com/office/drawing/2014/main" id="{B5B41828-EB83-4944-846D-A6D9728430C3}"/>
              </a:ext>
            </a:extLst>
          </p:cNvPr>
          <p:cNvSpPr/>
          <p:nvPr/>
        </p:nvSpPr>
        <p:spPr>
          <a:xfrm rot="5456400">
            <a:off x="6864651" y="4125764"/>
            <a:ext cx="517229" cy="205843"/>
          </a:xfrm>
          <a:custGeom>
            <a:avLst/>
            <a:gdLst/>
            <a:ahLst/>
            <a:cxnLst/>
            <a:rect l="0" t="0" r="r" b="b"/>
            <a:pathLst>
              <a:path w="4699" h="1880">
                <a:moveTo>
                  <a:pt x="0" y="474"/>
                </a:moveTo>
                <a:lnTo>
                  <a:pt x="3523" y="469"/>
                </a:lnTo>
                <a:lnTo>
                  <a:pt x="3522" y="0"/>
                </a:lnTo>
                <a:lnTo>
                  <a:pt x="4698" y="939"/>
                </a:lnTo>
                <a:lnTo>
                  <a:pt x="3523" y="1879"/>
                </a:lnTo>
                <a:lnTo>
                  <a:pt x="3523" y="1409"/>
                </a:lnTo>
                <a:lnTo>
                  <a:pt x="2" y="1413"/>
                </a:lnTo>
                <a:lnTo>
                  <a:pt x="0" y="474"/>
                </a:lnTo>
              </a:path>
            </a:pathLst>
          </a:custGeom>
          <a:solidFill>
            <a:srgbClr val="729FCF"/>
          </a:solidFill>
          <a:ln w="0">
            <a:solidFill>
              <a:srgbClr val="3465A4"/>
            </a:solid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CustomShape 13">
            <a:extLst>
              <a:ext uri="{FF2B5EF4-FFF2-40B4-BE49-F238E27FC236}">
                <a16:creationId xmlns:a16="http://schemas.microsoft.com/office/drawing/2014/main" id="{AC943A8B-EDF2-416F-B60E-8C3C3998B1EE}"/>
              </a:ext>
            </a:extLst>
          </p:cNvPr>
          <p:cNvSpPr/>
          <p:nvPr/>
        </p:nvSpPr>
        <p:spPr>
          <a:xfrm>
            <a:off x="4503908" y="3168665"/>
            <a:ext cx="74571" cy="532978"/>
          </a:xfrm>
          <a:prstGeom prst="rect">
            <a:avLst/>
          </a:prstGeom>
          <a:solidFill>
            <a:srgbClr val="0070C0"/>
          </a:solidFill>
          <a:ln w="0">
            <a:solidFill>
              <a:srgbClr val="3465A4"/>
            </a:solid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CustomShape 13">
            <a:extLst>
              <a:ext uri="{FF2B5EF4-FFF2-40B4-BE49-F238E27FC236}">
                <a16:creationId xmlns:a16="http://schemas.microsoft.com/office/drawing/2014/main" id="{8C550C72-051A-4F72-9EB3-2066351997AF}"/>
              </a:ext>
            </a:extLst>
          </p:cNvPr>
          <p:cNvSpPr/>
          <p:nvPr/>
        </p:nvSpPr>
        <p:spPr>
          <a:xfrm>
            <a:off x="4631538" y="2810536"/>
            <a:ext cx="74571" cy="532978"/>
          </a:xfrm>
          <a:prstGeom prst="rect">
            <a:avLst/>
          </a:prstGeom>
          <a:solidFill>
            <a:srgbClr val="FF0000"/>
          </a:solidFill>
          <a:ln w="0">
            <a:solidFill>
              <a:srgbClr val="3465A4"/>
            </a:solid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CustomShape 13">
            <a:extLst>
              <a:ext uri="{FF2B5EF4-FFF2-40B4-BE49-F238E27FC236}">
                <a16:creationId xmlns:a16="http://schemas.microsoft.com/office/drawing/2014/main" id="{898F5D3C-195D-4597-8A65-CA24059F042B}"/>
              </a:ext>
            </a:extLst>
          </p:cNvPr>
          <p:cNvSpPr/>
          <p:nvPr/>
        </p:nvSpPr>
        <p:spPr>
          <a:xfrm>
            <a:off x="4774895" y="2465428"/>
            <a:ext cx="74571" cy="532978"/>
          </a:xfrm>
          <a:prstGeom prst="rect">
            <a:avLst/>
          </a:prstGeom>
          <a:solidFill>
            <a:schemeClr val="accent4">
              <a:lumMod val="40000"/>
              <a:lumOff val="60000"/>
            </a:schemeClr>
          </a:solidFill>
          <a:ln w="0">
            <a:solidFill>
              <a:srgbClr val="3465A4"/>
            </a:solid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CustomShape 13">
            <a:extLst>
              <a:ext uri="{FF2B5EF4-FFF2-40B4-BE49-F238E27FC236}">
                <a16:creationId xmlns:a16="http://schemas.microsoft.com/office/drawing/2014/main" id="{AB601A5C-4E4B-4C72-9B29-5F77226B9512}"/>
              </a:ext>
            </a:extLst>
          </p:cNvPr>
          <p:cNvSpPr/>
          <p:nvPr/>
        </p:nvSpPr>
        <p:spPr>
          <a:xfrm>
            <a:off x="4891288" y="2095736"/>
            <a:ext cx="74571" cy="532978"/>
          </a:xfrm>
          <a:prstGeom prst="rect">
            <a:avLst/>
          </a:prstGeom>
          <a:solidFill>
            <a:schemeClr val="accent5"/>
          </a:solidFill>
          <a:ln w="0">
            <a:solidFill>
              <a:srgbClr val="3465A4"/>
            </a:solid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CustomShape 13">
            <a:extLst>
              <a:ext uri="{FF2B5EF4-FFF2-40B4-BE49-F238E27FC236}">
                <a16:creationId xmlns:a16="http://schemas.microsoft.com/office/drawing/2014/main" id="{FC1E62D9-4AE3-47D0-A635-F24B2E7E8C73}"/>
              </a:ext>
            </a:extLst>
          </p:cNvPr>
          <p:cNvSpPr/>
          <p:nvPr/>
        </p:nvSpPr>
        <p:spPr>
          <a:xfrm>
            <a:off x="5031452" y="1681199"/>
            <a:ext cx="74571" cy="532978"/>
          </a:xfrm>
          <a:prstGeom prst="rect">
            <a:avLst/>
          </a:prstGeom>
          <a:solidFill>
            <a:schemeClr val="accent2">
              <a:lumMod val="40000"/>
              <a:lumOff val="60000"/>
            </a:schemeClr>
          </a:solidFill>
          <a:ln w="0">
            <a:solidFill>
              <a:srgbClr val="3465A4"/>
            </a:solid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CustomShape 22">
            <a:extLst>
              <a:ext uri="{FF2B5EF4-FFF2-40B4-BE49-F238E27FC236}">
                <a16:creationId xmlns:a16="http://schemas.microsoft.com/office/drawing/2014/main" id="{BE481459-1DCF-4F1C-A4C9-89CF63CC05DA}"/>
              </a:ext>
            </a:extLst>
          </p:cNvPr>
          <p:cNvSpPr/>
          <p:nvPr/>
        </p:nvSpPr>
        <p:spPr>
          <a:xfrm>
            <a:off x="5482163" y="2903152"/>
            <a:ext cx="701996" cy="191444"/>
          </a:xfrm>
          <a:custGeom>
            <a:avLst/>
            <a:gdLst/>
            <a:ahLst/>
            <a:cxnLst/>
            <a:rect l="0" t="0" r="r" b="b"/>
            <a:pathLst>
              <a:path w="4202" h="1002">
                <a:moveTo>
                  <a:pt x="0" y="250"/>
                </a:moveTo>
                <a:lnTo>
                  <a:pt x="3150" y="250"/>
                </a:lnTo>
                <a:lnTo>
                  <a:pt x="3150" y="0"/>
                </a:lnTo>
                <a:lnTo>
                  <a:pt x="4201" y="500"/>
                </a:lnTo>
                <a:lnTo>
                  <a:pt x="3150" y="1001"/>
                </a:lnTo>
                <a:lnTo>
                  <a:pt x="3150" y="750"/>
                </a:lnTo>
                <a:lnTo>
                  <a:pt x="0" y="750"/>
                </a:lnTo>
                <a:lnTo>
                  <a:pt x="0" y="250"/>
                </a:lnTo>
              </a:path>
            </a:pathLst>
          </a:custGeom>
          <a:solidFill>
            <a:srgbClr val="729FCF"/>
          </a:solidFill>
          <a:ln w="0">
            <a:solidFill>
              <a:srgbClr val="3465A4"/>
            </a:solid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TextBox 53">
            <a:extLst>
              <a:ext uri="{FF2B5EF4-FFF2-40B4-BE49-F238E27FC236}">
                <a16:creationId xmlns:a16="http://schemas.microsoft.com/office/drawing/2014/main" id="{AC0B2FDF-A92B-41D0-9601-7ED9F1C8DD67}"/>
              </a:ext>
            </a:extLst>
          </p:cNvPr>
          <p:cNvSpPr txBox="1"/>
          <p:nvPr/>
        </p:nvSpPr>
        <p:spPr>
          <a:xfrm>
            <a:off x="0" y="6565207"/>
            <a:ext cx="3082895"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hlinkClick r:id="rId9"/>
              </a:rPr>
              <a:t>https://www.pinclipart.com/</a:t>
            </a: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hlinkClick r:id="rId10"/>
              </a:rPr>
              <a:t>http://www.pngtree.com</a:t>
            </a: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pic>
        <p:nvPicPr>
          <p:cNvPr id="56" name="Picture 55" descr="A picture containing wheel&#10;&#10;Description automatically generated">
            <a:extLst>
              <a:ext uri="{FF2B5EF4-FFF2-40B4-BE49-F238E27FC236}">
                <a16:creationId xmlns:a16="http://schemas.microsoft.com/office/drawing/2014/main" id="{1F50F2AD-F31C-4DE0-A9F3-00712042DA3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599370" y="2666613"/>
            <a:ext cx="1062830" cy="750623"/>
          </a:xfrm>
          <a:prstGeom prst="rect">
            <a:avLst/>
          </a:prstGeom>
        </p:spPr>
      </p:pic>
      <p:pic>
        <p:nvPicPr>
          <p:cNvPr id="53" name="Picture 52">
            <a:extLst>
              <a:ext uri="{FF2B5EF4-FFF2-40B4-BE49-F238E27FC236}">
                <a16:creationId xmlns:a16="http://schemas.microsoft.com/office/drawing/2014/main" id="{5AA50184-1331-4C3C-9474-E9E0F2FEE1D7}"/>
              </a:ext>
            </a:extLst>
          </p:cNvPr>
          <p:cNvPicPr>
            <a:picLocks noChangeAspect="1"/>
          </p:cNvPicPr>
          <p:nvPr/>
        </p:nvPicPr>
        <p:blipFill>
          <a:blip r:embed="rId12"/>
          <a:stretch>
            <a:fillRect/>
          </a:stretch>
        </p:blipFill>
        <p:spPr>
          <a:xfrm>
            <a:off x="10728463" y="1023925"/>
            <a:ext cx="1010687" cy="965223"/>
          </a:xfrm>
          <a:prstGeom prst="rect">
            <a:avLst/>
          </a:prstGeom>
        </p:spPr>
      </p:pic>
      <p:sp>
        <p:nvSpPr>
          <p:cNvPr id="55" name="Speech Bubble: Rectangle 54">
            <a:extLst>
              <a:ext uri="{FF2B5EF4-FFF2-40B4-BE49-F238E27FC236}">
                <a16:creationId xmlns:a16="http://schemas.microsoft.com/office/drawing/2014/main" id="{AF2A1CFB-5240-49E5-BEC9-373D7B0D92B5}"/>
              </a:ext>
            </a:extLst>
          </p:cNvPr>
          <p:cNvSpPr/>
          <p:nvPr/>
        </p:nvSpPr>
        <p:spPr>
          <a:xfrm>
            <a:off x="7447403" y="1163234"/>
            <a:ext cx="2941503" cy="821500"/>
          </a:xfrm>
          <a:prstGeom prst="wedgeRectCallout">
            <a:avLst>
              <a:gd name="adj1" fmla="val 70940"/>
              <a:gd name="adj2" fmla="val -14583"/>
            </a:avLst>
          </a:prstGeom>
          <a:solidFill>
            <a:schemeClr val="bg1"/>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Note: This example is for the problem of </a:t>
            </a:r>
            <a:r>
              <a:rPr kumimoji="0" lang="en-IN" sz="1600" b="0" i="0" u="none" strike="noStrike" kern="1200" cap="none" spc="0" normalizeH="0" baseline="0" noProof="0" dirty="0">
                <a:ln>
                  <a:noFill/>
                </a:ln>
                <a:solidFill>
                  <a:srgbClr val="FF0000"/>
                </a:solidFill>
                <a:effectLst/>
                <a:uLnTx/>
                <a:uFillTx/>
                <a:latin typeface="Calibri" panose="020F0502020204030204"/>
                <a:ea typeface="+mn-ea"/>
                <a:cs typeface="+mn-cs"/>
              </a:rPr>
              <a:t>data clustering</a:t>
            </a: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 an unsupervised learning problem</a:t>
            </a:r>
          </a:p>
        </p:txBody>
      </p:sp>
      <p:sp>
        <p:nvSpPr>
          <p:cNvPr id="73" name="TextShape 21">
            <a:extLst>
              <a:ext uri="{FF2B5EF4-FFF2-40B4-BE49-F238E27FC236}">
                <a16:creationId xmlns:a16="http://schemas.microsoft.com/office/drawing/2014/main" id="{68481D5E-33AD-4993-962D-511D9C3FA476}"/>
              </a:ext>
            </a:extLst>
          </p:cNvPr>
          <p:cNvSpPr txBox="1"/>
          <p:nvPr/>
        </p:nvSpPr>
        <p:spPr>
          <a:xfrm>
            <a:off x="3117053" y="3096347"/>
            <a:ext cx="1005685" cy="539380"/>
          </a:xfrm>
          <a:prstGeom prst="rect">
            <a:avLst/>
          </a:prstGeom>
          <a:noFill/>
          <a:ln w="0">
            <a:noFill/>
          </a:ln>
        </p:spPr>
        <p:txBody>
          <a:bodyPr lIns="90000" tIns="45000" rIns="90000" bIns="4500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1" normalizeH="0" baseline="0" noProof="0" dirty="0">
                <a:ln>
                  <a:noFill/>
                </a:ln>
                <a:solidFill>
                  <a:prstClr val="black"/>
                </a:solidFill>
                <a:effectLst/>
                <a:uLnTx/>
                <a:uFillTx/>
                <a:latin typeface="Arial"/>
                <a:ea typeface="+mn-ea"/>
                <a:cs typeface="+mn-cs"/>
              </a:rPr>
              <a:t> “Feature”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1" normalizeH="0" baseline="0" noProof="0" dirty="0">
                <a:ln>
                  <a:noFill/>
                </a:ln>
                <a:solidFill>
                  <a:prstClr val="black"/>
                </a:solidFill>
                <a:effectLst/>
                <a:uLnTx/>
                <a:uFillTx/>
                <a:latin typeface="Arial"/>
                <a:ea typeface="+mn-ea"/>
                <a:cs typeface="+mn-cs"/>
              </a:rPr>
              <a:t>Extraction</a:t>
            </a:r>
          </a:p>
        </p:txBody>
      </p:sp>
      <p:sp>
        <p:nvSpPr>
          <p:cNvPr id="79" name="CustomShape 22">
            <a:extLst>
              <a:ext uri="{FF2B5EF4-FFF2-40B4-BE49-F238E27FC236}">
                <a16:creationId xmlns:a16="http://schemas.microsoft.com/office/drawing/2014/main" id="{2229C921-0FA5-4D08-B85B-5920E591977A}"/>
              </a:ext>
            </a:extLst>
          </p:cNvPr>
          <p:cNvSpPr/>
          <p:nvPr/>
        </p:nvSpPr>
        <p:spPr>
          <a:xfrm>
            <a:off x="3307888" y="2886747"/>
            <a:ext cx="701996" cy="191444"/>
          </a:xfrm>
          <a:custGeom>
            <a:avLst/>
            <a:gdLst/>
            <a:ahLst/>
            <a:cxnLst/>
            <a:rect l="0" t="0" r="r" b="b"/>
            <a:pathLst>
              <a:path w="4202" h="1002">
                <a:moveTo>
                  <a:pt x="0" y="250"/>
                </a:moveTo>
                <a:lnTo>
                  <a:pt x="3150" y="250"/>
                </a:lnTo>
                <a:lnTo>
                  <a:pt x="3150" y="0"/>
                </a:lnTo>
                <a:lnTo>
                  <a:pt x="4201" y="500"/>
                </a:lnTo>
                <a:lnTo>
                  <a:pt x="3150" y="1001"/>
                </a:lnTo>
                <a:lnTo>
                  <a:pt x="3150" y="750"/>
                </a:lnTo>
                <a:lnTo>
                  <a:pt x="0" y="750"/>
                </a:lnTo>
                <a:lnTo>
                  <a:pt x="0" y="250"/>
                </a:lnTo>
              </a:path>
            </a:pathLst>
          </a:custGeom>
          <a:solidFill>
            <a:srgbClr val="729FCF"/>
          </a:solidFill>
          <a:ln w="0">
            <a:solidFill>
              <a:srgbClr val="3465A4"/>
            </a:solid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2" name="Picture 81">
            <a:extLst>
              <a:ext uri="{FF2B5EF4-FFF2-40B4-BE49-F238E27FC236}">
                <a16:creationId xmlns:a16="http://schemas.microsoft.com/office/drawing/2014/main" id="{9538C4F8-C00C-44F8-8212-16F940A6EC25}"/>
              </a:ext>
            </a:extLst>
          </p:cNvPr>
          <p:cNvPicPr/>
          <p:nvPr/>
        </p:nvPicPr>
        <p:blipFill>
          <a:blip r:embed="rId6"/>
          <a:stretch/>
        </p:blipFill>
        <p:spPr>
          <a:xfrm>
            <a:off x="6165891" y="4607786"/>
            <a:ext cx="474725" cy="401174"/>
          </a:xfrm>
          <a:prstGeom prst="rect">
            <a:avLst/>
          </a:prstGeom>
          <a:ln w="0">
            <a:noFill/>
          </a:ln>
        </p:spPr>
      </p:pic>
      <p:pic>
        <p:nvPicPr>
          <p:cNvPr id="84" name="Picture 83">
            <a:extLst>
              <a:ext uri="{FF2B5EF4-FFF2-40B4-BE49-F238E27FC236}">
                <a16:creationId xmlns:a16="http://schemas.microsoft.com/office/drawing/2014/main" id="{3D939427-9C11-493F-95BE-A12066A50EE8}"/>
              </a:ext>
            </a:extLst>
          </p:cNvPr>
          <p:cNvPicPr/>
          <p:nvPr/>
        </p:nvPicPr>
        <p:blipFill>
          <a:blip r:embed="rId7"/>
          <a:stretch/>
        </p:blipFill>
        <p:spPr>
          <a:xfrm>
            <a:off x="5931202" y="4943970"/>
            <a:ext cx="505914" cy="393840"/>
          </a:xfrm>
          <a:prstGeom prst="rect">
            <a:avLst/>
          </a:prstGeom>
          <a:ln w="0">
            <a:noFill/>
          </a:ln>
        </p:spPr>
      </p:pic>
      <p:pic>
        <p:nvPicPr>
          <p:cNvPr id="90" name="Picture 89">
            <a:extLst>
              <a:ext uri="{FF2B5EF4-FFF2-40B4-BE49-F238E27FC236}">
                <a16:creationId xmlns:a16="http://schemas.microsoft.com/office/drawing/2014/main" id="{07871056-A8E6-4EE1-97A6-58CD87D11DCD}"/>
              </a:ext>
            </a:extLst>
          </p:cNvPr>
          <p:cNvPicPr/>
          <p:nvPr/>
        </p:nvPicPr>
        <p:blipFill>
          <a:blip r:embed="rId8"/>
          <a:stretch/>
        </p:blipFill>
        <p:spPr>
          <a:xfrm>
            <a:off x="5730789" y="5248774"/>
            <a:ext cx="462469" cy="393840"/>
          </a:xfrm>
          <a:prstGeom prst="rect">
            <a:avLst/>
          </a:prstGeom>
          <a:ln w="0">
            <a:noFill/>
          </a:ln>
        </p:spPr>
      </p:pic>
      <p:pic>
        <p:nvPicPr>
          <p:cNvPr id="91" name="Picture 90">
            <a:extLst>
              <a:ext uri="{FF2B5EF4-FFF2-40B4-BE49-F238E27FC236}">
                <a16:creationId xmlns:a16="http://schemas.microsoft.com/office/drawing/2014/main" id="{BBAD47B6-B4A7-4D6B-A66D-A89CFE060D17}"/>
              </a:ext>
            </a:extLst>
          </p:cNvPr>
          <p:cNvPicPr/>
          <p:nvPr/>
        </p:nvPicPr>
        <p:blipFill>
          <a:blip r:embed="rId3"/>
          <a:stretch/>
        </p:blipFill>
        <p:spPr>
          <a:xfrm>
            <a:off x="7662200" y="4664252"/>
            <a:ext cx="494113" cy="418029"/>
          </a:xfrm>
          <a:prstGeom prst="rect">
            <a:avLst/>
          </a:prstGeom>
          <a:ln w="0">
            <a:noFill/>
          </a:ln>
        </p:spPr>
      </p:pic>
      <p:pic>
        <p:nvPicPr>
          <p:cNvPr id="92" name="Picture 91">
            <a:extLst>
              <a:ext uri="{FF2B5EF4-FFF2-40B4-BE49-F238E27FC236}">
                <a16:creationId xmlns:a16="http://schemas.microsoft.com/office/drawing/2014/main" id="{D2DDA42D-8BEF-4D30-AE73-24E8CE717D25}"/>
              </a:ext>
            </a:extLst>
          </p:cNvPr>
          <p:cNvPicPr/>
          <p:nvPr/>
        </p:nvPicPr>
        <p:blipFill>
          <a:blip r:embed="rId4"/>
          <a:stretch/>
        </p:blipFill>
        <p:spPr>
          <a:xfrm>
            <a:off x="7453119" y="5005219"/>
            <a:ext cx="487260" cy="393953"/>
          </a:xfrm>
          <a:prstGeom prst="rect">
            <a:avLst/>
          </a:prstGeom>
          <a:ln w="0">
            <a:noFill/>
          </a:ln>
        </p:spPr>
      </p:pic>
      <p:pic>
        <p:nvPicPr>
          <p:cNvPr id="93" name="Picture 92">
            <a:extLst>
              <a:ext uri="{FF2B5EF4-FFF2-40B4-BE49-F238E27FC236}">
                <a16:creationId xmlns:a16="http://schemas.microsoft.com/office/drawing/2014/main" id="{492F99DB-35FF-43DD-BAD1-9C372805F410}"/>
              </a:ext>
            </a:extLst>
          </p:cNvPr>
          <p:cNvPicPr/>
          <p:nvPr/>
        </p:nvPicPr>
        <p:blipFill>
          <a:blip r:embed="rId5"/>
          <a:stretch/>
        </p:blipFill>
        <p:spPr>
          <a:xfrm>
            <a:off x="7210529" y="5300695"/>
            <a:ext cx="451671" cy="419918"/>
          </a:xfrm>
          <a:prstGeom prst="rect">
            <a:avLst/>
          </a:prstGeom>
          <a:ln w="0">
            <a:noFill/>
          </a:ln>
        </p:spPr>
      </p:pic>
      <p:sp>
        <p:nvSpPr>
          <p:cNvPr id="3" name="Oval 2">
            <a:extLst>
              <a:ext uri="{FF2B5EF4-FFF2-40B4-BE49-F238E27FC236}">
                <a16:creationId xmlns:a16="http://schemas.microsoft.com/office/drawing/2014/main" id="{19DB5395-F675-44E6-9888-BD6C03023F39}"/>
              </a:ext>
            </a:extLst>
          </p:cNvPr>
          <p:cNvSpPr/>
          <p:nvPr/>
        </p:nvSpPr>
        <p:spPr>
          <a:xfrm rot="2007383">
            <a:off x="5750058" y="4279978"/>
            <a:ext cx="809242" cy="1810033"/>
          </a:xfrm>
          <a:prstGeom prst="ellipse">
            <a:avLst/>
          </a:prstGeom>
          <a:solidFill>
            <a:schemeClr val="accent1">
              <a:alpha val="3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4" name="Oval 93">
            <a:extLst>
              <a:ext uri="{FF2B5EF4-FFF2-40B4-BE49-F238E27FC236}">
                <a16:creationId xmlns:a16="http://schemas.microsoft.com/office/drawing/2014/main" id="{39F6410E-FFCC-41D3-95A0-34E9D92EEFB3}"/>
              </a:ext>
            </a:extLst>
          </p:cNvPr>
          <p:cNvSpPr/>
          <p:nvPr/>
        </p:nvSpPr>
        <p:spPr>
          <a:xfrm rot="2007383">
            <a:off x="7233242" y="4296445"/>
            <a:ext cx="868979" cy="1810033"/>
          </a:xfrm>
          <a:prstGeom prst="ellipse">
            <a:avLst/>
          </a:prstGeom>
          <a:solidFill>
            <a:schemeClr val="accent1">
              <a:alpha val="3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5" name="Picture 4" descr="Clipart Thanksgiving Hand Clip Black And White Stock - Thinking Light Bulb Clip Art - Png Download (950x1015), Png Download">
            <a:extLst>
              <a:ext uri="{FF2B5EF4-FFF2-40B4-BE49-F238E27FC236}">
                <a16:creationId xmlns:a16="http://schemas.microsoft.com/office/drawing/2014/main" id="{E6945D77-C74F-4440-8DDA-DB50095FFB1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6404" y="4975699"/>
            <a:ext cx="1075043" cy="1263380"/>
          </a:xfrm>
          <a:prstGeom prst="rect">
            <a:avLst/>
          </a:prstGeom>
          <a:noFill/>
          <a:extLst>
            <a:ext uri="{909E8E84-426E-40DD-AFC4-6F175D3DCCD1}">
              <a14:hiddenFill xmlns:a14="http://schemas.microsoft.com/office/drawing/2010/main">
                <a:solidFill>
                  <a:srgbClr val="FFFFFF"/>
                </a:solidFill>
              </a14:hiddenFill>
            </a:ext>
          </a:extLst>
        </p:spPr>
      </p:pic>
      <p:sp>
        <p:nvSpPr>
          <p:cNvPr id="96" name="Speech Bubble: Rectangle 95">
            <a:extLst>
              <a:ext uri="{FF2B5EF4-FFF2-40B4-BE49-F238E27FC236}">
                <a16:creationId xmlns:a16="http://schemas.microsoft.com/office/drawing/2014/main" id="{AED79316-F476-44D9-A0F0-D65D06C08FDF}"/>
              </a:ext>
            </a:extLst>
          </p:cNvPr>
          <p:cNvSpPr/>
          <p:nvPr/>
        </p:nvSpPr>
        <p:spPr>
          <a:xfrm>
            <a:off x="1927851" y="4554976"/>
            <a:ext cx="2941503" cy="1038178"/>
          </a:xfrm>
          <a:prstGeom prst="wedgeRectCallout">
            <a:avLst>
              <a:gd name="adj1" fmla="val -62393"/>
              <a:gd name="adj2" fmla="val 44424"/>
            </a:avLst>
          </a:prstGeom>
          <a:solidFill>
            <a:schemeClr val="bg1"/>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Does unsupervised learning also have a test phase? That is, can we also predict the cluster of a new test input?</a:t>
            </a:r>
          </a:p>
        </p:txBody>
      </p:sp>
      <p:pic>
        <p:nvPicPr>
          <p:cNvPr id="97" name="Picture 96">
            <a:extLst>
              <a:ext uri="{FF2B5EF4-FFF2-40B4-BE49-F238E27FC236}">
                <a16:creationId xmlns:a16="http://schemas.microsoft.com/office/drawing/2014/main" id="{055AED24-59EE-4FB6-ACFA-F24C0EDA182B}"/>
              </a:ext>
            </a:extLst>
          </p:cNvPr>
          <p:cNvPicPr>
            <a:picLocks noChangeAspect="1"/>
          </p:cNvPicPr>
          <p:nvPr/>
        </p:nvPicPr>
        <p:blipFill>
          <a:blip r:embed="rId12"/>
          <a:stretch>
            <a:fillRect/>
          </a:stretch>
        </p:blipFill>
        <p:spPr>
          <a:xfrm>
            <a:off x="11088072" y="3900446"/>
            <a:ext cx="1010687" cy="965223"/>
          </a:xfrm>
          <a:prstGeom prst="rect">
            <a:avLst/>
          </a:prstGeom>
        </p:spPr>
      </p:pic>
      <p:sp>
        <p:nvSpPr>
          <p:cNvPr id="98" name="Speech Bubble: Rectangle 97">
            <a:extLst>
              <a:ext uri="{FF2B5EF4-FFF2-40B4-BE49-F238E27FC236}">
                <a16:creationId xmlns:a16="http://schemas.microsoft.com/office/drawing/2014/main" id="{76ECFA42-1EE0-4859-97C4-03D5D4F89EE9}"/>
              </a:ext>
            </a:extLst>
          </p:cNvPr>
          <p:cNvSpPr/>
          <p:nvPr/>
        </p:nvSpPr>
        <p:spPr>
          <a:xfrm>
            <a:off x="8523634" y="2902480"/>
            <a:ext cx="3215515" cy="821500"/>
          </a:xfrm>
          <a:prstGeom prst="wedgeRectCallout">
            <a:avLst>
              <a:gd name="adj1" fmla="val 37160"/>
              <a:gd name="adj2" fmla="val 90020"/>
            </a:avLst>
          </a:prstGeom>
          <a:solidFill>
            <a:schemeClr val="bg1"/>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Calibri" panose="020F0502020204030204"/>
                <a:ea typeface="+mn-ea"/>
                <a:cs typeface="+mn-cs"/>
              </a:rPr>
              <a:t>Yes. In this example, given a new “test” cat/dog image, we can assign it to the cluster with closer centroid</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1506593249"/>
      </p:ext>
    </p:extLst>
  </p:cSld>
  <p:clrMapOvr>
    <a:masterClrMapping/>
  </p:clrMapOvr>
  <mc:AlternateContent xmlns:mc="http://schemas.openxmlformats.org/markup-compatibility/2006" xmlns:p14="http://schemas.microsoft.com/office/powerpoint/2010/main">
    <mc:Choice Requires="p14">
      <p:transition spd="slow" p14:dur="2000" advTm="91868"/>
    </mc:Choice>
    <mc:Fallback xmlns="">
      <p:transition spd="slow" advTm="9186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wipe(down)">
                                      <p:cBhvr>
                                        <p:cTn id="7" dur="500"/>
                                        <p:tgtEl>
                                          <p:spTgt spid="5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5"/>
                                        </p:tgtEl>
                                        <p:attrNameLst>
                                          <p:attrName>style.visibility</p:attrName>
                                        </p:attrNameLst>
                                      </p:cBhvr>
                                      <p:to>
                                        <p:strVal val="visible"/>
                                      </p:to>
                                    </p:set>
                                    <p:animEffect transition="in" filter="wipe(down)">
                                      <p:cBhvr>
                                        <p:cTn id="10" dur="500"/>
                                        <p:tgtEl>
                                          <p:spTgt spid="5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down)">
                                      <p:cBhvr>
                                        <p:cTn id="15" dur="500"/>
                                        <p:tgtEl>
                                          <p:spTgt spid="10"/>
                                        </p:tgtEl>
                                      </p:cBhvr>
                                    </p:animEffect>
                                  </p:childTnLst>
                                </p:cTn>
                              </p:par>
                              <p:par>
                                <p:cTn id="16" presetID="22" presetClass="entr" presetSubtype="4"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down)">
                                      <p:cBhvr>
                                        <p:cTn id="18" dur="500"/>
                                        <p:tgtEl>
                                          <p:spTgt spid="11"/>
                                        </p:tgtEl>
                                      </p:cBhvr>
                                    </p:animEffect>
                                  </p:childTnLst>
                                </p:cTn>
                              </p:par>
                              <p:par>
                                <p:cTn id="19" presetID="22" presetClass="entr" presetSubtype="4"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down)">
                                      <p:cBhvr>
                                        <p:cTn id="21" dur="500"/>
                                        <p:tgtEl>
                                          <p:spTgt spid="13"/>
                                        </p:tgtEl>
                                      </p:cBhvr>
                                    </p:animEffect>
                                  </p:childTnLst>
                                </p:cTn>
                              </p:par>
                              <p:par>
                                <p:cTn id="22" presetID="22" presetClass="entr" presetSubtype="4"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down)">
                                      <p:cBhvr>
                                        <p:cTn id="24" dur="500"/>
                                        <p:tgtEl>
                                          <p:spTgt spid="14"/>
                                        </p:tgtEl>
                                      </p:cBhvr>
                                    </p:animEffect>
                                  </p:childTnLst>
                                </p:cTn>
                              </p:par>
                              <p:par>
                                <p:cTn id="25" presetID="22" presetClass="entr" presetSubtype="4"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down)">
                                      <p:cBhvr>
                                        <p:cTn id="27" dur="500"/>
                                        <p:tgtEl>
                                          <p:spTgt spid="15"/>
                                        </p:tgtEl>
                                      </p:cBhvr>
                                    </p:animEffect>
                                  </p:childTnLst>
                                </p:cTn>
                              </p:par>
                              <p:par>
                                <p:cTn id="28" presetID="22" presetClass="entr" presetSubtype="4" fill="hold"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down)">
                                      <p:cBhvr>
                                        <p:cTn id="30" dur="500"/>
                                        <p:tgtEl>
                                          <p:spTgt spid="16"/>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wipe(down)">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wipe(down)">
                                      <p:cBhvr>
                                        <p:cTn id="38" dur="500"/>
                                        <p:tgtEl>
                                          <p:spTgt spid="29"/>
                                        </p:tgtEl>
                                      </p:cBhvr>
                                    </p:animEffect>
                                  </p:childTnLst>
                                </p:cTn>
                              </p:par>
                              <p:par>
                                <p:cTn id="39" presetID="22" presetClass="entr" presetSubtype="4" fill="hold" nodeType="withEffect">
                                  <p:stCondLst>
                                    <p:cond delay="0"/>
                                  </p:stCondLst>
                                  <p:childTnLst>
                                    <p:set>
                                      <p:cBhvr>
                                        <p:cTn id="40" dur="1" fill="hold">
                                          <p:stCondLst>
                                            <p:cond delay="0"/>
                                          </p:stCondLst>
                                        </p:cTn>
                                        <p:tgtEl>
                                          <p:spTgt spid="61"/>
                                        </p:tgtEl>
                                        <p:attrNameLst>
                                          <p:attrName>style.visibility</p:attrName>
                                        </p:attrNameLst>
                                      </p:cBhvr>
                                      <p:to>
                                        <p:strVal val="visible"/>
                                      </p:to>
                                    </p:set>
                                    <p:animEffect transition="in" filter="wipe(down)">
                                      <p:cBhvr>
                                        <p:cTn id="41" dur="500"/>
                                        <p:tgtEl>
                                          <p:spTgt spid="61"/>
                                        </p:tgtEl>
                                      </p:cBhvr>
                                    </p:animEffect>
                                  </p:childTnLst>
                                </p:cTn>
                              </p:par>
                              <p:par>
                                <p:cTn id="42" presetID="22" presetClass="entr" presetSubtype="4" fill="hold" nodeType="withEffect">
                                  <p:stCondLst>
                                    <p:cond delay="0"/>
                                  </p:stCondLst>
                                  <p:childTnLst>
                                    <p:set>
                                      <p:cBhvr>
                                        <p:cTn id="43" dur="1" fill="hold">
                                          <p:stCondLst>
                                            <p:cond delay="0"/>
                                          </p:stCondLst>
                                        </p:cTn>
                                        <p:tgtEl>
                                          <p:spTgt spid="62"/>
                                        </p:tgtEl>
                                        <p:attrNameLst>
                                          <p:attrName>style.visibility</p:attrName>
                                        </p:attrNameLst>
                                      </p:cBhvr>
                                      <p:to>
                                        <p:strVal val="visible"/>
                                      </p:to>
                                    </p:set>
                                    <p:animEffect transition="in" filter="wipe(down)">
                                      <p:cBhvr>
                                        <p:cTn id="44" dur="500"/>
                                        <p:tgtEl>
                                          <p:spTgt spid="62"/>
                                        </p:tgtEl>
                                      </p:cBhvr>
                                    </p:animEffect>
                                  </p:childTnLst>
                                </p:cTn>
                              </p:par>
                              <p:par>
                                <p:cTn id="45" presetID="22" presetClass="entr" presetSubtype="4" fill="hold" nodeType="withEffect">
                                  <p:stCondLst>
                                    <p:cond delay="0"/>
                                  </p:stCondLst>
                                  <p:childTnLst>
                                    <p:set>
                                      <p:cBhvr>
                                        <p:cTn id="46" dur="1" fill="hold">
                                          <p:stCondLst>
                                            <p:cond delay="0"/>
                                          </p:stCondLst>
                                        </p:cTn>
                                        <p:tgtEl>
                                          <p:spTgt spid="63"/>
                                        </p:tgtEl>
                                        <p:attrNameLst>
                                          <p:attrName>style.visibility</p:attrName>
                                        </p:attrNameLst>
                                      </p:cBhvr>
                                      <p:to>
                                        <p:strVal val="visible"/>
                                      </p:to>
                                    </p:set>
                                    <p:animEffect transition="in" filter="wipe(down)">
                                      <p:cBhvr>
                                        <p:cTn id="47" dur="500"/>
                                        <p:tgtEl>
                                          <p:spTgt spid="63"/>
                                        </p:tgtEl>
                                      </p:cBhvr>
                                    </p:animEffect>
                                  </p:childTnLst>
                                </p:cTn>
                              </p:par>
                              <p:par>
                                <p:cTn id="48" presetID="22" presetClass="entr" presetSubtype="4" fill="hold" nodeType="withEffect">
                                  <p:stCondLst>
                                    <p:cond delay="0"/>
                                  </p:stCondLst>
                                  <p:childTnLst>
                                    <p:set>
                                      <p:cBhvr>
                                        <p:cTn id="49" dur="1" fill="hold">
                                          <p:stCondLst>
                                            <p:cond delay="0"/>
                                          </p:stCondLst>
                                        </p:cTn>
                                        <p:tgtEl>
                                          <p:spTgt spid="64"/>
                                        </p:tgtEl>
                                        <p:attrNameLst>
                                          <p:attrName>style.visibility</p:attrName>
                                        </p:attrNameLst>
                                      </p:cBhvr>
                                      <p:to>
                                        <p:strVal val="visible"/>
                                      </p:to>
                                    </p:set>
                                    <p:animEffect transition="in" filter="wipe(down)">
                                      <p:cBhvr>
                                        <p:cTn id="50" dur="500"/>
                                        <p:tgtEl>
                                          <p:spTgt spid="64"/>
                                        </p:tgtEl>
                                      </p:cBhvr>
                                    </p:animEffect>
                                  </p:childTnLst>
                                </p:cTn>
                              </p:par>
                              <p:par>
                                <p:cTn id="51" presetID="22" presetClass="entr" presetSubtype="4" fill="hold" nodeType="withEffect">
                                  <p:stCondLst>
                                    <p:cond delay="0"/>
                                  </p:stCondLst>
                                  <p:childTnLst>
                                    <p:set>
                                      <p:cBhvr>
                                        <p:cTn id="52" dur="1" fill="hold">
                                          <p:stCondLst>
                                            <p:cond delay="0"/>
                                          </p:stCondLst>
                                        </p:cTn>
                                        <p:tgtEl>
                                          <p:spTgt spid="65"/>
                                        </p:tgtEl>
                                        <p:attrNameLst>
                                          <p:attrName>style.visibility</p:attrName>
                                        </p:attrNameLst>
                                      </p:cBhvr>
                                      <p:to>
                                        <p:strVal val="visible"/>
                                      </p:to>
                                    </p:set>
                                    <p:animEffect transition="in" filter="wipe(down)">
                                      <p:cBhvr>
                                        <p:cTn id="53" dur="500"/>
                                        <p:tgtEl>
                                          <p:spTgt spid="65"/>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73"/>
                                        </p:tgtEl>
                                        <p:attrNameLst>
                                          <p:attrName>style.visibility</p:attrName>
                                        </p:attrNameLst>
                                      </p:cBhvr>
                                      <p:to>
                                        <p:strVal val="visible"/>
                                      </p:to>
                                    </p:set>
                                    <p:animEffect transition="in" filter="wipe(down)">
                                      <p:cBhvr>
                                        <p:cTn id="56" dur="500"/>
                                        <p:tgtEl>
                                          <p:spTgt spid="73"/>
                                        </p:tgtEl>
                                      </p:cBhvr>
                                    </p:animEffect>
                                  </p:childTnLst>
                                </p:cTn>
                              </p:par>
                              <p:par>
                                <p:cTn id="57" presetID="22" presetClass="entr" presetSubtype="4" fill="hold" nodeType="withEffect">
                                  <p:stCondLst>
                                    <p:cond delay="0"/>
                                  </p:stCondLst>
                                  <p:childTnLst>
                                    <p:set>
                                      <p:cBhvr>
                                        <p:cTn id="58" dur="1" fill="hold">
                                          <p:stCondLst>
                                            <p:cond delay="0"/>
                                          </p:stCondLst>
                                        </p:cTn>
                                        <p:tgtEl>
                                          <p:spTgt spid="79"/>
                                        </p:tgtEl>
                                        <p:attrNameLst>
                                          <p:attrName>style.visibility</p:attrName>
                                        </p:attrNameLst>
                                      </p:cBhvr>
                                      <p:to>
                                        <p:strVal val="visible"/>
                                      </p:to>
                                    </p:set>
                                    <p:animEffect transition="in" filter="wipe(down)">
                                      <p:cBhvr>
                                        <p:cTn id="59" dur="500"/>
                                        <p:tgtEl>
                                          <p:spTgt spid="79"/>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nodeType="clickEffect">
                                  <p:stCondLst>
                                    <p:cond delay="0"/>
                                  </p:stCondLst>
                                  <p:childTnLst>
                                    <p:set>
                                      <p:cBhvr>
                                        <p:cTn id="63" dur="1" fill="hold">
                                          <p:stCondLst>
                                            <p:cond delay="0"/>
                                          </p:stCondLst>
                                        </p:cTn>
                                        <p:tgtEl>
                                          <p:spTgt spid="72"/>
                                        </p:tgtEl>
                                        <p:attrNameLst>
                                          <p:attrName>style.visibility</p:attrName>
                                        </p:attrNameLst>
                                      </p:cBhvr>
                                      <p:to>
                                        <p:strVal val="visible"/>
                                      </p:to>
                                    </p:set>
                                    <p:animEffect transition="in" filter="wipe(down)">
                                      <p:cBhvr>
                                        <p:cTn id="64" dur="500"/>
                                        <p:tgtEl>
                                          <p:spTgt spid="72"/>
                                        </p:tgtEl>
                                      </p:cBhvr>
                                    </p:animEffect>
                                  </p:childTnLst>
                                </p:cTn>
                              </p:par>
                              <p:par>
                                <p:cTn id="65" presetID="22" presetClass="entr" presetSubtype="4" fill="hold" nodeType="withEffect">
                                  <p:stCondLst>
                                    <p:cond delay="0"/>
                                  </p:stCondLst>
                                  <p:childTnLst>
                                    <p:set>
                                      <p:cBhvr>
                                        <p:cTn id="66" dur="1" fill="hold">
                                          <p:stCondLst>
                                            <p:cond delay="0"/>
                                          </p:stCondLst>
                                        </p:cTn>
                                        <p:tgtEl>
                                          <p:spTgt spid="56"/>
                                        </p:tgtEl>
                                        <p:attrNameLst>
                                          <p:attrName>style.visibility</p:attrName>
                                        </p:attrNameLst>
                                      </p:cBhvr>
                                      <p:to>
                                        <p:strVal val="visible"/>
                                      </p:to>
                                    </p:set>
                                    <p:animEffect transition="in" filter="wipe(down)">
                                      <p:cBhvr>
                                        <p:cTn id="67" dur="500"/>
                                        <p:tgtEl>
                                          <p:spTgt spid="56"/>
                                        </p:tgtEl>
                                      </p:cBhvr>
                                    </p:animEffect>
                                  </p:childTnLst>
                                </p:cTn>
                              </p:par>
                              <p:par>
                                <p:cTn id="68" presetID="22" presetClass="entr" presetSubtype="4" fill="hold" grpId="0" nodeType="withEffect">
                                  <p:stCondLst>
                                    <p:cond delay="0"/>
                                  </p:stCondLst>
                                  <p:childTnLst>
                                    <p:set>
                                      <p:cBhvr>
                                        <p:cTn id="69" dur="1" fill="hold">
                                          <p:stCondLst>
                                            <p:cond delay="0"/>
                                          </p:stCondLst>
                                        </p:cTn>
                                        <p:tgtEl>
                                          <p:spTgt spid="41"/>
                                        </p:tgtEl>
                                        <p:attrNameLst>
                                          <p:attrName>style.visibility</p:attrName>
                                        </p:attrNameLst>
                                      </p:cBhvr>
                                      <p:to>
                                        <p:strVal val="visible"/>
                                      </p:to>
                                    </p:set>
                                    <p:animEffect transition="in" filter="wipe(down)">
                                      <p:cBhvr>
                                        <p:cTn id="70" dur="500"/>
                                        <p:tgtEl>
                                          <p:spTgt spid="41"/>
                                        </p:tgtEl>
                                      </p:cBhvr>
                                    </p:animEffect>
                                  </p:childTnLst>
                                </p:cTn>
                              </p:par>
                              <p:par>
                                <p:cTn id="71" presetID="22" presetClass="entr" presetSubtype="4" fill="hold" grpId="0" nodeType="withEffect">
                                  <p:stCondLst>
                                    <p:cond delay="0"/>
                                  </p:stCondLst>
                                  <p:childTnLst>
                                    <p:set>
                                      <p:cBhvr>
                                        <p:cTn id="72" dur="1" fill="hold">
                                          <p:stCondLst>
                                            <p:cond delay="0"/>
                                          </p:stCondLst>
                                        </p:cTn>
                                        <p:tgtEl>
                                          <p:spTgt spid="40"/>
                                        </p:tgtEl>
                                        <p:attrNameLst>
                                          <p:attrName>style.visibility</p:attrName>
                                        </p:attrNameLst>
                                      </p:cBhvr>
                                      <p:to>
                                        <p:strVal val="visible"/>
                                      </p:to>
                                    </p:set>
                                    <p:animEffect transition="in" filter="wipe(down)">
                                      <p:cBhvr>
                                        <p:cTn id="73" dur="500"/>
                                        <p:tgtEl>
                                          <p:spTgt spid="40"/>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4" fill="hold" grpId="0" nodeType="clickEffect">
                                  <p:stCondLst>
                                    <p:cond delay="0"/>
                                  </p:stCondLst>
                                  <p:childTnLst>
                                    <p:set>
                                      <p:cBhvr>
                                        <p:cTn id="77" dur="1" fill="hold">
                                          <p:stCondLst>
                                            <p:cond delay="0"/>
                                          </p:stCondLst>
                                        </p:cTn>
                                        <p:tgtEl>
                                          <p:spTgt spid="3"/>
                                        </p:tgtEl>
                                        <p:attrNameLst>
                                          <p:attrName>style.visibility</p:attrName>
                                        </p:attrNameLst>
                                      </p:cBhvr>
                                      <p:to>
                                        <p:strVal val="visible"/>
                                      </p:to>
                                    </p:set>
                                    <p:animEffect transition="in" filter="wipe(down)">
                                      <p:cBhvr>
                                        <p:cTn id="78" dur="500"/>
                                        <p:tgtEl>
                                          <p:spTgt spid="3"/>
                                        </p:tgtEl>
                                      </p:cBhvr>
                                    </p:animEffect>
                                  </p:childTnLst>
                                </p:cTn>
                              </p:par>
                              <p:par>
                                <p:cTn id="79" presetID="22" presetClass="entr" presetSubtype="4" fill="hold" nodeType="withEffect">
                                  <p:stCondLst>
                                    <p:cond delay="0"/>
                                  </p:stCondLst>
                                  <p:childTnLst>
                                    <p:set>
                                      <p:cBhvr>
                                        <p:cTn id="80" dur="1" fill="hold">
                                          <p:stCondLst>
                                            <p:cond delay="0"/>
                                          </p:stCondLst>
                                        </p:cTn>
                                        <p:tgtEl>
                                          <p:spTgt spid="42"/>
                                        </p:tgtEl>
                                        <p:attrNameLst>
                                          <p:attrName>style.visibility</p:attrName>
                                        </p:attrNameLst>
                                      </p:cBhvr>
                                      <p:to>
                                        <p:strVal val="visible"/>
                                      </p:to>
                                    </p:set>
                                    <p:animEffect transition="in" filter="wipe(down)">
                                      <p:cBhvr>
                                        <p:cTn id="81" dur="500"/>
                                        <p:tgtEl>
                                          <p:spTgt spid="42"/>
                                        </p:tgtEl>
                                      </p:cBhvr>
                                    </p:animEffect>
                                  </p:childTnLst>
                                </p:cTn>
                              </p:par>
                              <p:par>
                                <p:cTn id="82" presetID="22" presetClass="entr" presetSubtype="4" fill="hold" grpId="0" nodeType="withEffect">
                                  <p:stCondLst>
                                    <p:cond delay="0"/>
                                  </p:stCondLst>
                                  <p:childTnLst>
                                    <p:set>
                                      <p:cBhvr>
                                        <p:cTn id="83" dur="1" fill="hold">
                                          <p:stCondLst>
                                            <p:cond delay="0"/>
                                          </p:stCondLst>
                                        </p:cTn>
                                        <p:tgtEl>
                                          <p:spTgt spid="94"/>
                                        </p:tgtEl>
                                        <p:attrNameLst>
                                          <p:attrName>style.visibility</p:attrName>
                                        </p:attrNameLst>
                                      </p:cBhvr>
                                      <p:to>
                                        <p:strVal val="visible"/>
                                      </p:to>
                                    </p:set>
                                    <p:animEffect transition="in" filter="wipe(down)">
                                      <p:cBhvr>
                                        <p:cTn id="84" dur="500"/>
                                        <p:tgtEl>
                                          <p:spTgt spid="94"/>
                                        </p:tgtEl>
                                      </p:cBhvr>
                                    </p:animEffect>
                                  </p:childTnLst>
                                </p:cTn>
                              </p:par>
                              <p:par>
                                <p:cTn id="85" presetID="22" presetClass="entr" presetSubtype="4" fill="hold" nodeType="withEffect">
                                  <p:stCondLst>
                                    <p:cond delay="0"/>
                                  </p:stCondLst>
                                  <p:childTnLst>
                                    <p:set>
                                      <p:cBhvr>
                                        <p:cTn id="86" dur="1" fill="hold">
                                          <p:stCondLst>
                                            <p:cond delay="0"/>
                                          </p:stCondLst>
                                        </p:cTn>
                                        <p:tgtEl>
                                          <p:spTgt spid="82"/>
                                        </p:tgtEl>
                                        <p:attrNameLst>
                                          <p:attrName>style.visibility</p:attrName>
                                        </p:attrNameLst>
                                      </p:cBhvr>
                                      <p:to>
                                        <p:strVal val="visible"/>
                                      </p:to>
                                    </p:set>
                                    <p:animEffect transition="in" filter="wipe(down)">
                                      <p:cBhvr>
                                        <p:cTn id="87" dur="500"/>
                                        <p:tgtEl>
                                          <p:spTgt spid="82"/>
                                        </p:tgtEl>
                                      </p:cBhvr>
                                    </p:animEffect>
                                  </p:childTnLst>
                                </p:cTn>
                              </p:par>
                              <p:par>
                                <p:cTn id="88" presetID="22" presetClass="entr" presetSubtype="4" fill="hold" nodeType="withEffect">
                                  <p:stCondLst>
                                    <p:cond delay="0"/>
                                  </p:stCondLst>
                                  <p:childTnLst>
                                    <p:set>
                                      <p:cBhvr>
                                        <p:cTn id="89" dur="1" fill="hold">
                                          <p:stCondLst>
                                            <p:cond delay="0"/>
                                          </p:stCondLst>
                                        </p:cTn>
                                        <p:tgtEl>
                                          <p:spTgt spid="84"/>
                                        </p:tgtEl>
                                        <p:attrNameLst>
                                          <p:attrName>style.visibility</p:attrName>
                                        </p:attrNameLst>
                                      </p:cBhvr>
                                      <p:to>
                                        <p:strVal val="visible"/>
                                      </p:to>
                                    </p:set>
                                    <p:animEffect transition="in" filter="wipe(down)">
                                      <p:cBhvr>
                                        <p:cTn id="90" dur="500"/>
                                        <p:tgtEl>
                                          <p:spTgt spid="84"/>
                                        </p:tgtEl>
                                      </p:cBhvr>
                                    </p:animEffect>
                                  </p:childTnLst>
                                </p:cTn>
                              </p:par>
                              <p:par>
                                <p:cTn id="91" presetID="22" presetClass="entr" presetSubtype="4" fill="hold" nodeType="withEffect">
                                  <p:stCondLst>
                                    <p:cond delay="0"/>
                                  </p:stCondLst>
                                  <p:childTnLst>
                                    <p:set>
                                      <p:cBhvr>
                                        <p:cTn id="92" dur="1" fill="hold">
                                          <p:stCondLst>
                                            <p:cond delay="0"/>
                                          </p:stCondLst>
                                        </p:cTn>
                                        <p:tgtEl>
                                          <p:spTgt spid="90"/>
                                        </p:tgtEl>
                                        <p:attrNameLst>
                                          <p:attrName>style.visibility</p:attrName>
                                        </p:attrNameLst>
                                      </p:cBhvr>
                                      <p:to>
                                        <p:strVal val="visible"/>
                                      </p:to>
                                    </p:set>
                                    <p:animEffect transition="in" filter="wipe(down)">
                                      <p:cBhvr>
                                        <p:cTn id="93" dur="500"/>
                                        <p:tgtEl>
                                          <p:spTgt spid="90"/>
                                        </p:tgtEl>
                                      </p:cBhvr>
                                    </p:animEffect>
                                  </p:childTnLst>
                                </p:cTn>
                              </p:par>
                              <p:par>
                                <p:cTn id="94" presetID="22" presetClass="entr" presetSubtype="4" fill="hold" nodeType="withEffect">
                                  <p:stCondLst>
                                    <p:cond delay="0"/>
                                  </p:stCondLst>
                                  <p:childTnLst>
                                    <p:set>
                                      <p:cBhvr>
                                        <p:cTn id="95" dur="1" fill="hold">
                                          <p:stCondLst>
                                            <p:cond delay="0"/>
                                          </p:stCondLst>
                                        </p:cTn>
                                        <p:tgtEl>
                                          <p:spTgt spid="91"/>
                                        </p:tgtEl>
                                        <p:attrNameLst>
                                          <p:attrName>style.visibility</p:attrName>
                                        </p:attrNameLst>
                                      </p:cBhvr>
                                      <p:to>
                                        <p:strVal val="visible"/>
                                      </p:to>
                                    </p:set>
                                    <p:animEffect transition="in" filter="wipe(down)">
                                      <p:cBhvr>
                                        <p:cTn id="96" dur="500"/>
                                        <p:tgtEl>
                                          <p:spTgt spid="91"/>
                                        </p:tgtEl>
                                      </p:cBhvr>
                                    </p:animEffect>
                                  </p:childTnLst>
                                </p:cTn>
                              </p:par>
                              <p:par>
                                <p:cTn id="97" presetID="22" presetClass="entr" presetSubtype="4" fill="hold" nodeType="withEffect">
                                  <p:stCondLst>
                                    <p:cond delay="0"/>
                                  </p:stCondLst>
                                  <p:childTnLst>
                                    <p:set>
                                      <p:cBhvr>
                                        <p:cTn id="98" dur="1" fill="hold">
                                          <p:stCondLst>
                                            <p:cond delay="0"/>
                                          </p:stCondLst>
                                        </p:cTn>
                                        <p:tgtEl>
                                          <p:spTgt spid="92"/>
                                        </p:tgtEl>
                                        <p:attrNameLst>
                                          <p:attrName>style.visibility</p:attrName>
                                        </p:attrNameLst>
                                      </p:cBhvr>
                                      <p:to>
                                        <p:strVal val="visible"/>
                                      </p:to>
                                    </p:set>
                                    <p:animEffect transition="in" filter="wipe(down)">
                                      <p:cBhvr>
                                        <p:cTn id="99" dur="500"/>
                                        <p:tgtEl>
                                          <p:spTgt spid="92"/>
                                        </p:tgtEl>
                                      </p:cBhvr>
                                    </p:animEffect>
                                  </p:childTnLst>
                                </p:cTn>
                              </p:par>
                              <p:par>
                                <p:cTn id="100" presetID="22" presetClass="entr" presetSubtype="4" fill="hold" nodeType="withEffect">
                                  <p:stCondLst>
                                    <p:cond delay="0"/>
                                  </p:stCondLst>
                                  <p:childTnLst>
                                    <p:set>
                                      <p:cBhvr>
                                        <p:cTn id="101" dur="1" fill="hold">
                                          <p:stCondLst>
                                            <p:cond delay="0"/>
                                          </p:stCondLst>
                                        </p:cTn>
                                        <p:tgtEl>
                                          <p:spTgt spid="93"/>
                                        </p:tgtEl>
                                        <p:attrNameLst>
                                          <p:attrName>style.visibility</p:attrName>
                                        </p:attrNameLst>
                                      </p:cBhvr>
                                      <p:to>
                                        <p:strVal val="visible"/>
                                      </p:to>
                                    </p:set>
                                    <p:animEffect transition="in" filter="wipe(down)">
                                      <p:cBhvr>
                                        <p:cTn id="102" dur="500"/>
                                        <p:tgtEl>
                                          <p:spTgt spid="93"/>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4" fill="hold" nodeType="clickEffect">
                                  <p:stCondLst>
                                    <p:cond delay="0"/>
                                  </p:stCondLst>
                                  <p:childTnLst>
                                    <p:set>
                                      <p:cBhvr>
                                        <p:cTn id="106" dur="1" fill="hold">
                                          <p:stCondLst>
                                            <p:cond delay="0"/>
                                          </p:stCondLst>
                                        </p:cTn>
                                        <p:tgtEl>
                                          <p:spTgt spid="95"/>
                                        </p:tgtEl>
                                        <p:attrNameLst>
                                          <p:attrName>style.visibility</p:attrName>
                                        </p:attrNameLst>
                                      </p:cBhvr>
                                      <p:to>
                                        <p:strVal val="visible"/>
                                      </p:to>
                                    </p:set>
                                    <p:animEffect transition="in" filter="wipe(down)">
                                      <p:cBhvr>
                                        <p:cTn id="107" dur="500"/>
                                        <p:tgtEl>
                                          <p:spTgt spid="95"/>
                                        </p:tgtEl>
                                      </p:cBhvr>
                                    </p:animEffect>
                                  </p:childTnLst>
                                </p:cTn>
                              </p:par>
                              <p:par>
                                <p:cTn id="108" presetID="22" presetClass="entr" presetSubtype="4" fill="hold" grpId="0" nodeType="withEffect">
                                  <p:stCondLst>
                                    <p:cond delay="0"/>
                                  </p:stCondLst>
                                  <p:childTnLst>
                                    <p:set>
                                      <p:cBhvr>
                                        <p:cTn id="109" dur="1" fill="hold">
                                          <p:stCondLst>
                                            <p:cond delay="0"/>
                                          </p:stCondLst>
                                        </p:cTn>
                                        <p:tgtEl>
                                          <p:spTgt spid="96"/>
                                        </p:tgtEl>
                                        <p:attrNameLst>
                                          <p:attrName>style.visibility</p:attrName>
                                        </p:attrNameLst>
                                      </p:cBhvr>
                                      <p:to>
                                        <p:strVal val="visible"/>
                                      </p:to>
                                    </p:set>
                                    <p:animEffect transition="in" filter="wipe(down)">
                                      <p:cBhvr>
                                        <p:cTn id="110" dur="500"/>
                                        <p:tgtEl>
                                          <p:spTgt spid="96"/>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4" fill="hold" nodeType="clickEffect">
                                  <p:stCondLst>
                                    <p:cond delay="0"/>
                                  </p:stCondLst>
                                  <p:childTnLst>
                                    <p:set>
                                      <p:cBhvr>
                                        <p:cTn id="114" dur="1" fill="hold">
                                          <p:stCondLst>
                                            <p:cond delay="0"/>
                                          </p:stCondLst>
                                        </p:cTn>
                                        <p:tgtEl>
                                          <p:spTgt spid="97"/>
                                        </p:tgtEl>
                                        <p:attrNameLst>
                                          <p:attrName>style.visibility</p:attrName>
                                        </p:attrNameLst>
                                      </p:cBhvr>
                                      <p:to>
                                        <p:strVal val="visible"/>
                                      </p:to>
                                    </p:set>
                                    <p:animEffect transition="in" filter="wipe(down)">
                                      <p:cBhvr>
                                        <p:cTn id="115" dur="500"/>
                                        <p:tgtEl>
                                          <p:spTgt spid="97"/>
                                        </p:tgtEl>
                                      </p:cBhvr>
                                    </p:animEffect>
                                  </p:childTnLst>
                                </p:cTn>
                              </p:par>
                              <p:par>
                                <p:cTn id="116" presetID="22" presetClass="entr" presetSubtype="4" fill="hold" grpId="0" nodeType="withEffect">
                                  <p:stCondLst>
                                    <p:cond delay="0"/>
                                  </p:stCondLst>
                                  <p:childTnLst>
                                    <p:set>
                                      <p:cBhvr>
                                        <p:cTn id="117" dur="1" fill="hold">
                                          <p:stCondLst>
                                            <p:cond delay="0"/>
                                          </p:stCondLst>
                                        </p:cTn>
                                        <p:tgtEl>
                                          <p:spTgt spid="98"/>
                                        </p:tgtEl>
                                        <p:attrNameLst>
                                          <p:attrName>style.visibility</p:attrName>
                                        </p:attrNameLst>
                                      </p:cBhvr>
                                      <p:to>
                                        <p:strVal val="visible"/>
                                      </p:to>
                                    </p:set>
                                    <p:animEffect transition="in" filter="wipe(down)">
                                      <p:cBhvr>
                                        <p:cTn id="118" dur="500"/>
                                        <p:tgtEl>
                                          <p:spTgt spid="98"/>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4" fill="hold" grpId="0" nodeType="clickEffect">
                                  <p:stCondLst>
                                    <p:cond delay="0"/>
                                  </p:stCondLst>
                                  <p:childTnLst>
                                    <p:set>
                                      <p:cBhvr>
                                        <p:cTn id="122" dur="1" fill="hold">
                                          <p:stCondLst>
                                            <p:cond delay="0"/>
                                          </p:stCondLst>
                                        </p:cTn>
                                        <p:tgtEl>
                                          <p:spTgt spid="54"/>
                                        </p:tgtEl>
                                        <p:attrNameLst>
                                          <p:attrName>style.visibility</p:attrName>
                                        </p:attrNameLst>
                                      </p:cBhvr>
                                      <p:to>
                                        <p:strVal val="visible"/>
                                      </p:to>
                                    </p:set>
                                    <p:animEffect transition="in" filter="wipe(down)">
                                      <p:cBhvr>
                                        <p:cTn id="123"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40" grpId="0" animBg="1"/>
      <p:bldP spid="41" grpId="0"/>
      <p:bldP spid="54" grpId="0"/>
      <p:bldP spid="55" grpId="0" animBg="1"/>
      <p:bldP spid="73" grpId="0"/>
      <p:bldP spid="3" grpId="0" animBg="1"/>
      <p:bldP spid="94" grpId="0" animBg="1"/>
      <p:bldP spid="96" grpId="0" animBg="1"/>
      <p:bldP spid="9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57946-FC7F-477C-9867-0ED704A858E1}"/>
              </a:ext>
            </a:extLst>
          </p:cNvPr>
          <p:cNvSpPr>
            <a:spLocks noGrp="1"/>
          </p:cNvSpPr>
          <p:nvPr>
            <p:ph type="title"/>
          </p:nvPr>
        </p:nvSpPr>
        <p:spPr>
          <a:xfrm>
            <a:off x="265245" y="169682"/>
            <a:ext cx="11740617" cy="821500"/>
          </a:xfrm>
        </p:spPr>
        <p:txBody>
          <a:bodyPr>
            <a:normAutofit/>
          </a:bodyPr>
          <a:lstStyle/>
          <a:p>
            <a:r>
              <a:rPr lang="en-IN" dirty="0">
                <a:solidFill>
                  <a:schemeClr val="accent2">
                    <a:lumMod val="75000"/>
                  </a:schemeClr>
                </a:solidFill>
              </a:rPr>
              <a:t>A Typical Reinforcement Learning Workflow</a:t>
            </a:r>
          </a:p>
        </p:txBody>
      </p:sp>
      <p:pic>
        <p:nvPicPr>
          <p:cNvPr id="2054" name="Picture 6">
            <a:extLst>
              <a:ext uri="{FF2B5EF4-FFF2-40B4-BE49-F238E27FC236}">
                <a16:creationId xmlns:a16="http://schemas.microsoft.com/office/drawing/2014/main" id="{3384886C-7A42-469D-9AB1-49A23194353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84837" y="3221555"/>
            <a:ext cx="1614370" cy="119525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195D9FA9-C71A-42D6-B765-2D595DA5E7C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3762" y="3284582"/>
            <a:ext cx="1465199" cy="1069199"/>
          </a:xfrm>
          <a:prstGeom prst="rect">
            <a:avLst/>
          </a:prstGeom>
          <a:noFill/>
          <a:extLst>
            <a:ext uri="{909E8E84-426E-40DD-AFC4-6F175D3DCCD1}">
              <a14:hiddenFill xmlns:a14="http://schemas.microsoft.com/office/drawing/2010/main">
                <a:solidFill>
                  <a:srgbClr val="FFFFFF"/>
                </a:solidFill>
              </a14:hiddenFill>
            </a:ext>
          </a:extLst>
        </p:spPr>
      </p:pic>
      <p:sp>
        <p:nvSpPr>
          <p:cNvPr id="4" name="Smiley Face 3">
            <a:extLst>
              <a:ext uri="{FF2B5EF4-FFF2-40B4-BE49-F238E27FC236}">
                <a16:creationId xmlns:a16="http://schemas.microsoft.com/office/drawing/2014/main" id="{14325CCD-69CE-48E7-AC73-184840FBED1C}"/>
              </a:ext>
            </a:extLst>
          </p:cNvPr>
          <p:cNvSpPr/>
          <p:nvPr/>
        </p:nvSpPr>
        <p:spPr>
          <a:xfrm>
            <a:off x="3761982" y="1752560"/>
            <a:ext cx="860079" cy="821500"/>
          </a:xfrm>
          <a:prstGeom prst="smileyFac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descr="A close up of a computer screen&#10;&#10;Description automatically generated">
            <a:extLst>
              <a:ext uri="{FF2B5EF4-FFF2-40B4-BE49-F238E27FC236}">
                <a16:creationId xmlns:a16="http://schemas.microsoft.com/office/drawing/2014/main" id="{ED3255A0-ABD6-4482-893A-56EF3D6D554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681620" y="5081712"/>
            <a:ext cx="1006303" cy="786686"/>
          </a:xfrm>
          <a:prstGeom prst="rect">
            <a:avLst/>
          </a:prstGeom>
        </p:spPr>
      </p:pic>
      <p:pic>
        <p:nvPicPr>
          <p:cNvPr id="7" name="Picture 6">
            <a:extLst>
              <a:ext uri="{FF2B5EF4-FFF2-40B4-BE49-F238E27FC236}">
                <a16:creationId xmlns:a16="http://schemas.microsoft.com/office/drawing/2014/main" id="{C4CECE31-E92D-4F7A-9F0B-CF67C5E2D3F5}"/>
              </a:ext>
            </a:extLst>
          </p:cNvPr>
          <p:cNvPicPr>
            <a:picLocks noChangeAspect="1"/>
          </p:cNvPicPr>
          <p:nvPr/>
        </p:nvPicPr>
        <p:blipFill>
          <a:blip r:embed="rId11"/>
          <a:stretch>
            <a:fillRect/>
          </a:stretch>
        </p:blipFill>
        <p:spPr>
          <a:xfrm>
            <a:off x="6015083" y="3221555"/>
            <a:ext cx="1704477" cy="1080757"/>
          </a:xfrm>
          <a:prstGeom prst="rect">
            <a:avLst/>
          </a:prstGeom>
        </p:spPr>
      </p:pic>
      <p:cxnSp>
        <p:nvCxnSpPr>
          <p:cNvPr id="9" name="Connector: Elbow 8">
            <a:extLst>
              <a:ext uri="{FF2B5EF4-FFF2-40B4-BE49-F238E27FC236}">
                <a16:creationId xmlns:a16="http://schemas.microsoft.com/office/drawing/2014/main" id="{A4BD9E33-6695-4438-9470-462AE2B25A36}"/>
              </a:ext>
            </a:extLst>
          </p:cNvPr>
          <p:cNvCxnSpPr>
            <a:stCxn id="2056" idx="0"/>
            <a:endCxn id="4" idx="2"/>
          </p:cNvCxnSpPr>
          <p:nvPr/>
        </p:nvCxnSpPr>
        <p:spPr>
          <a:xfrm rot="5400000" flipH="1" flipV="1">
            <a:off x="2138536" y="1661136"/>
            <a:ext cx="1121272" cy="2125620"/>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onnector: Elbow 48">
            <a:extLst>
              <a:ext uri="{FF2B5EF4-FFF2-40B4-BE49-F238E27FC236}">
                <a16:creationId xmlns:a16="http://schemas.microsoft.com/office/drawing/2014/main" id="{144EC33C-542D-4124-9297-34A084DC4809}"/>
              </a:ext>
            </a:extLst>
          </p:cNvPr>
          <p:cNvCxnSpPr>
            <a:cxnSpLocks/>
            <a:stCxn id="4" idx="6"/>
            <a:endCxn id="7" idx="0"/>
          </p:cNvCxnSpPr>
          <p:nvPr/>
        </p:nvCxnSpPr>
        <p:spPr>
          <a:xfrm>
            <a:off x="4622061" y="2163310"/>
            <a:ext cx="2245261" cy="1058245"/>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AF27290-BD75-4F27-8384-232DD03F7519}"/>
              </a:ext>
            </a:extLst>
          </p:cNvPr>
          <p:cNvCxnSpPr>
            <a:cxnSpLocks/>
            <a:stCxn id="2054" idx="0"/>
            <a:endCxn id="4" idx="4"/>
          </p:cNvCxnSpPr>
          <p:nvPr/>
        </p:nvCxnSpPr>
        <p:spPr>
          <a:xfrm flipV="1">
            <a:off x="4192022" y="2574060"/>
            <a:ext cx="0" cy="64749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75F03129-6A1B-4611-A110-A319B3A0D600}"/>
              </a:ext>
            </a:extLst>
          </p:cNvPr>
          <p:cNvCxnSpPr>
            <a:cxnSpLocks/>
          </p:cNvCxnSpPr>
          <p:nvPr/>
        </p:nvCxnSpPr>
        <p:spPr>
          <a:xfrm flipV="1">
            <a:off x="4184772" y="4416810"/>
            <a:ext cx="0" cy="64749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58">
            <a:extLst>
              <a:ext uri="{FF2B5EF4-FFF2-40B4-BE49-F238E27FC236}">
                <a16:creationId xmlns:a16="http://schemas.microsoft.com/office/drawing/2014/main" id="{E627BC7A-1D4B-4659-8CD0-A3B81C4BD2D3}"/>
              </a:ext>
            </a:extLst>
          </p:cNvPr>
          <p:cNvCxnSpPr>
            <a:cxnSpLocks/>
            <a:stCxn id="6" idx="1"/>
            <a:endCxn id="2056" idx="2"/>
          </p:cNvCxnSpPr>
          <p:nvPr/>
        </p:nvCxnSpPr>
        <p:spPr>
          <a:xfrm rot="10800000">
            <a:off x="1636362" y="4353781"/>
            <a:ext cx="2045258" cy="1121274"/>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Connector: Elbow 65">
            <a:extLst>
              <a:ext uri="{FF2B5EF4-FFF2-40B4-BE49-F238E27FC236}">
                <a16:creationId xmlns:a16="http://schemas.microsoft.com/office/drawing/2014/main" id="{4E3E059D-8A70-4641-AC77-5602C067DE1C}"/>
              </a:ext>
            </a:extLst>
          </p:cNvPr>
          <p:cNvCxnSpPr>
            <a:cxnSpLocks/>
            <a:stCxn id="7" idx="2"/>
            <a:endCxn id="6" idx="3"/>
          </p:cNvCxnSpPr>
          <p:nvPr/>
        </p:nvCxnSpPr>
        <p:spPr>
          <a:xfrm rot="5400000">
            <a:off x="5191252" y="3798984"/>
            <a:ext cx="1172743" cy="2179399"/>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CBF08829-0238-449B-94DC-57642FBD0DFC}"/>
              </a:ext>
            </a:extLst>
          </p:cNvPr>
          <p:cNvSpPr txBox="1"/>
          <p:nvPr/>
        </p:nvSpPr>
        <p:spPr>
          <a:xfrm>
            <a:off x="2978326" y="5955291"/>
            <a:ext cx="287610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Environment State at time t  </a:t>
            </a:r>
          </a:p>
        </p:txBody>
      </p:sp>
      <p:pic>
        <p:nvPicPr>
          <p:cNvPr id="33" name="Picture 32">
            <a:extLst>
              <a:ext uri="{FF2B5EF4-FFF2-40B4-BE49-F238E27FC236}">
                <a16:creationId xmlns:a16="http://schemas.microsoft.com/office/drawing/2014/main" id="{5CC09AD6-214C-4FBC-872B-8DA6423CB71B}"/>
              </a:ext>
            </a:extLst>
          </p:cNvPr>
          <p:cNvPicPr>
            <a:picLocks noChangeAspect="1"/>
          </p:cNvPicPr>
          <p:nvPr>
            <p:custDataLst>
              <p:tags r:id="rId2"/>
            </p:custDataLst>
          </p:nvPr>
        </p:nvPicPr>
        <p:blipFill>
          <a:blip r:embed="rId12">
            <a:extLst>
              <a:ext uri="{28A0092B-C50C-407E-A947-70E740481C1C}">
                <a14:useLocalDpi xmlns:a14="http://schemas.microsoft.com/office/drawing/2010/main" val="0"/>
              </a:ext>
            </a:extLst>
          </a:blip>
          <a:stretch>
            <a:fillRect/>
          </a:stretch>
        </p:blipFill>
        <p:spPr>
          <a:xfrm>
            <a:off x="4082277" y="6348634"/>
            <a:ext cx="341821" cy="339684"/>
          </a:xfrm>
          <a:prstGeom prst="rect">
            <a:avLst/>
          </a:prstGeom>
        </p:spPr>
      </p:pic>
      <p:sp>
        <p:nvSpPr>
          <p:cNvPr id="68" name="TextBox 67">
            <a:extLst>
              <a:ext uri="{FF2B5EF4-FFF2-40B4-BE49-F238E27FC236}">
                <a16:creationId xmlns:a16="http://schemas.microsoft.com/office/drawing/2014/main" id="{E5350A36-44D0-4E1F-8395-C43388547E70}"/>
              </a:ext>
            </a:extLst>
          </p:cNvPr>
          <p:cNvSpPr txBox="1"/>
          <p:nvPr/>
        </p:nvSpPr>
        <p:spPr>
          <a:xfrm>
            <a:off x="265245" y="2861411"/>
            <a:ext cx="132786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Observation</a:t>
            </a:r>
          </a:p>
        </p:txBody>
      </p:sp>
      <p:pic>
        <p:nvPicPr>
          <p:cNvPr id="35" name="Picture 34">
            <a:extLst>
              <a:ext uri="{FF2B5EF4-FFF2-40B4-BE49-F238E27FC236}">
                <a16:creationId xmlns:a16="http://schemas.microsoft.com/office/drawing/2014/main" id="{08785CAB-A924-4A94-8373-1C2E9A475F44}"/>
              </a:ext>
            </a:extLst>
          </p:cNvPr>
          <p:cNvPicPr>
            <a:picLocks noChangeAspect="1"/>
          </p:cNvPicPr>
          <p:nvPr>
            <p:custDataLst>
              <p:tags r:id="rId3"/>
            </p:custDataLst>
          </p:nvPr>
        </p:nvPicPr>
        <p:blipFill>
          <a:blip r:embed="rId13">
            <a:extLst>
              <a:ext uri="{28A0092B-C50C-407E-A947-70E740481C1C}">
                <a14:useLocalDpi xmlns:a14="http://schemas.microsoft.com/office/drawing/2010/main" val="0"/>
              </a:ext>
            </a:extLst>
          </a:blip>
          <a:stretch>
            <a:fillRect/>
          </a:stretch>
        </p:blipFill>
        <p:spPr>
          <a:xfrm>
            <a:off x="1792051" y="2970968"/>
            <a:ext cx="249971" cy="217962"/>
          </a:xfrm>
          <a:prstGeom prst="rect">
            <a:avLst/>
          </a:prstGeom>
        </p:spPr>
      </p:pic>
      <p:sp>
        <p:nvSpPr>
          <p:cNvPr id="71" name="TextBox 70">
            <a:extLst>
              <a:ext uri="{FF2B5EF4-FFF2-40B4-BE49-F238E27FC236}">
                <a16:creationId xmlns:a16="http://schemas.microsoft.com/office/drawing/2014/main" id="{425953C2-76C2-4A1F-B5AA-4F81CFFE284D}"/>
              </a:ext>
            </a:extLst>
          </p:cNvPr>
          <p:cNvSpPr txBox="1"/>
          <p:nvPr/>
        </p:nvSpPr>
        <p:spPr>
          <a:xfrm>
            <a:off x="6045132" y="2768035"/>
            <a:ext cx="7889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Action</a:t>
            </a:r>
          </a:p>
        </p:txBody>
      </p:sp>
      <p:pic>
        <p:nvPicPr>
          <p:cNvPr id="37" name="Picture 36">
            <a:extLst>
              <a:ext uri="{FF2B5EF4-FFF2-40B4-BE49-F238E27FC236}">
                <a16:creationId xmlns:a16="http://schemas.microsoft.com/office/drawing/2014/main" id="{DB337F53-0608-4AF1-B7FE-24E18DD13206}"/>
              </a:ext>
            </a:extLst>
          </p:cNvPr>
          <p:cNvPicPr>
            <a:picLocks noChangeAspect="1"/>
          </p:cNvPicPr>
          <p:nvPr>
            <p:custDataLst>
              <p:tags r:id="rId4"/>
            </p:custDataLst>
          </p:nvPr>
        </p:nvPicPr>
        <p:blipFill>
          <a:blip r:embed="rId14">
            <a:extLst>
              <a:ext uri="{28A0092B-C50C-407E-A947-70E740481C1C}">
                <a14:useLocalDpi xmlns:a14="http://schemas.microsoft.com/office/drawing/2010/main" val="0"/>
              </a:ext>
            </a:extLst>
          </a:blip>
          <a:stretch>
            <a:fillRect/>
          </a:stretch>
        </p:blipFill>
        <p:spPr>
          <a:xfrm>
            <a:off x="7058209" y="2863679"/>
            <a:ext cx="251495" cy="221011"/>
          </a:xfrm>
          <a:prstGeom prst="rect">
            <a:avLst/>
          </a:prstGeom>
        </p:spPr>
      </p:pic>
      <p:pic>
        <p:nvPicPr>
          <p:cNvPr id="39" name="Picture 38">
            <a:extLst>
              <a:ext uri="{FF2B5EF4-FFF2-40B4-BE49-F238E27FC236}">
                <a16:creationId xmlns:a16="http://schemas.microsoft.com/office/drawing/2014/main" id="{4626E228-B98E-4614-8D79-BAC68F3C6A6D}"/>
              </a:ext>
            </a:extLst>
          </p:cNvPr>
          <p:cNvPicPr>
            <a:picLocks noChangeAspect="1"/>
          </p:cNvPicPr>
          <p:nvPr>
            <p:custDataLst>
              <p:tags r:id="rId5"/>
            </p:custDataLst>
          </p:nvPr>
        </p:nvPicPr>
        <p:blipFill>
          <a:blip r:embed="rId15">
            <a:extLst>
              <a:ext uri="{28A0092B-C50C-407E-A947-70E740481C1C}">
                <a14:useLocalDpi xmlns:a14="http://schemas.microsoft.com/office/drawing/2010/main" val="0"/>
              </a:ext>
            </a:extLst>
          </a:blip>
          <a:stretch>
            <a:fillRect/>
          </a:stretch>
        </p:blipFill>
        <p:spPr>
          <a:xfrm>
            <a:off x="4416380" y="2891751"/>
            <a:ext cx="249971" cy="211866"/>
          </a:xfrm>
          <a:prstGeom prst="rect">
            <a:avLst/>
          </a:prstGeom>
        </p:spPr>
      </p:pic>
      <p:sp>
        <p:nvSpPr>
          <p:cNvPr id="76" name="TextBox 75">
            <a:extLst>
              <a:ext uri="{FF2B5EF4-FFF2-40B4-BE49-F238E27FC236}">
                <a16:creationId xmlns:a16="http://schemas.microsoft.com/office/drawing/2014/main" id="{AB19B85D-A866-4288-B585-4DC1DC7D2DBD}"/>
              </a:ext>
            </a:extLst>
          </p:cNvPr>
          <p:cNvSpPr txBox="1"/>
          <p:nvPr/>
        </p:nvSpPr>
        <p:spPr>
          <a:xfrm>
            <a:off x="3266920" y="2808777"/>
            <a:ext cx="89191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Reward</a:t>
            </a:r>
          </a:p>
        </p:txBody>
      </p:sp>
      <p:sp>
        <p:nvSpPr>
          <p:cNvPr id="77" name="TextBox 76">
            <a:extLst>
              <a:ext uri="{FF2B5EF4-FFF2-40B4-BE49-F238E27FC236}">
                <a16:creationId xmlns:a16="http://schemas.microsoft.com/office/drawing/2014/main" id="{742574E2-01F7-4CD2-9E46-E2BC6A6D8855}"/>
              </a:ext>
            </a:extLst>
          </p:cNvPr>
          <p:cNvSpPr txBox="1"/>
          <p:nvPr/>
        </p:nvSpPr>
        <p:spPr>
          <a:xfrm>
            <a:off x="2916226" y="1414226"/>
            <a:ext cx="142673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Agent State  </a:t>
            </a:r>
          </a:p>
        </p:txBody>
      </p:sp>
      <p:pic>
        <p:nvPicPr>
          <p:cNvPr id="44" name="Picture 43">
            <a:extLst>
              <a:ext uri="{FF2B5EF4-FFF2-40B4-BE49-F238E27FC236}">
                <a16:creationId xmlns:a16="http://schemas.microsoft.com/office/drawing/2014/main" id="{ECD20407-5417-4314-ADDB-9FA8C89003C9}"/>
              </a:ext>
            </a:extLst>
          </p:cNvPr>
          <p:cNvPicPr>
            <a:picLocks noChangeAspect="1"/>
          </p:cNvPicPr>
          <p:nvPr>
            <p:custDataLst>
              <p:tags r:id="rId6"/>
            </p:custDataLst>
          </p:nvPr>
        </p:nvPicPr>
        <p:blipFill>
          <a:blip r:embed="rId16">
            <a:extLst>
              <a:ext uri="{28A0092B-C50C-407E-A947-70E740481C1C}">
                <a14:useLocalDpi xmlns:a14="http://schemas.microsoft.com/office/drawing/2010/main" val="0"/>
              </a:ext>
            </a:extLst>
          </a:blip>
          <a:stretch>
            <a:fillRect/>
          </a:stretch>
        </p:blipFill>
        <p:spPr>
          <a:xfrm>
            <a:off x="4506904" y="1480718"/>
            <a:ext cx="362038" cy="340616"/>
          </a:xfrm>
          <a:prstGeom prst="rect">
            <a:avLst/>
          </a:prstGeom>
        </p:spPr>
      </p:pic>
      <p:sp>
        <p:nvSpPr>
          <p:cNvPr id="81" name="TextShape 1">
            <a:extLst>
              <a:ext uri="{FF2B5EF4-FFF2-40B4-BE49-F238E27FC236}">
                <a16:creationId xmlns:a16="http://schemas.microsoft.com/office/drawing/2014/main" id="{E7916DFC-6A57-48E7-A600-9F8DA7E265B4}"/>
              </a:ext>
            </a:extLst>
          </p:cNvPr>
          <p:cNvSpPr txBox="1"/>
          <p:nvPr/>
        </p:nvSpPr>
        <p:spPr>
          <a:xfrm>
            <a:off x="7500590" y="1128047"/>
            <a:ext cx="4607496" cy="2484286"/>
          </a:xfrm>
          <a:prstGeom prst="rect">
            <a:avLst/>
          </a:prstGeom>
          <a:noFill/>
          <a:ln w="0">
            <a:noFill/>
          </a:ln>
        </p:spPr>
        <p:txBody>
          <a:bodyPr lIns="90000" tIns="45000" rIns="90000" bIns="4500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1" normalizeH="0" baseline="0" noProof="0" dirty="0">
                <a:ln>
                  <a:noFill/>
                </a:ln>
                <a:solidFill>
                  <a:prstClr val="black"/>
                </a:solidFill>
                <a:effectLst/>
                <a:uLnTx/>
                <a:uFillTx/>
                <a:latin typeface="Calibri" panose="020F0502020204030204"/>
                <a:ea typeface="+mn-ea"/>
                <a:cs typeface="+mn-cs"/>
              </a:rPr>
              <a:t>Wish to teach an agent optimal policy for some task</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1"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1" normalizeH="0" baseline="0" noProof="0" dirty="0">
                <a:ln>
                  <a:noFill/>
                </a:ln>
                <a:solidFill>
                  <a:prstClr val="black"/>
                </a:solidFill>
                <a:effectLst/>
                <a:uLnTx/>
                <a:uFillTx/>
                <a:latin typeface="Calibri" panose="020F0502020204030204"/>
                <a:ea typeface="+mn-ea"/>
                <a:cs typeface="+mn-cs"/>
              </a:rPr>
              <a:t>Agent does the following repeatedly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1"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IN" sz="1600" b="0" i="0" u="none" strike="noStrike" kern="1200" cap="none" spc="-1" normalizeH="0" baseline="0" noProof="0" dirty="0">
                <a:ln>
                  <a:noFill/>
                </a:ln>
                <a:solidFill>
                  <a:prstClr val="black"/>
                </a:solidFill>
                <a:effectLst/>
                <a:uLnTx/>
                <a:uFillTx/>
                <a:latin typeface="Calibri" panose="020F0502020204030204"/>
                <a:ea typeface="+mn-ea"/>
                <a:cs typeface="+mn-cs"/>
              </a:rPr>
              <a:t>Senses/observes the environment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IN" sz="1600" b="0" i="0" u="none" strike="noStrike" kern="1200" cap="none" spc="-1" normalizeH="0" baseline="0" noProof="0" dirty="0">
                <a:ln>
                  <a:noFill/>
                </a:ln>
                <a:solidFill>
                  <a:prstClr val="black"/>
                </a:solidFill>
                <a:effectLst/>
                <a:uLnTx/>
                <a:uFillTx/>
                <a:latin typeface="Calibri" panose="020F0502020204030204"/>
                <a:ea typeface="+mn-ea"/>
                <a:cs typeface="+mn-cs"/>
              </a:rPr>
              <a:t>Takes an action based on its current policy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IN" sz="1600" b="0" i="0" u="none" strike="noStrike" kern="1200" cap="none" spc="-1" normalizeH="0" baseline="0" noProof="0" dirty="0">
                <a:ln>
                  <a:noFill/>
                </a:ln>
                <a:solidFill>
                  <a:prstClr val="black"/>
                </a:solidFill>
                <a:effectLst/>
                <a:uLnTx/>
                <a:uFillTx/>
                <a:latin typeface="Calibri" panose="020F0502020204030204"/>
                <a:ea typeface="+mn-ea"/>
                <a:cs typeface="+mn-cs"/>
              </a:rPr>
              <a:t>Receives a reward for that action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IN" sz="1600" b="0" i="0" u="none" strike="noStrike" kern="1200" cap="none" spc="-1" normalizeH="0" baseline="0" noProof="0" dirty="0">
                <a:ln>
                  <a:noFill/>
                </a:ln>
                <a:solidFill>
                  <a:prstClr val="black"/>
                </a:solidFill>
                <a:effectLst/>
                <a:uLnTx/>
                <a:uFillTx/>
                <a:latin typeface="Calibri" panose="020F0502020204030204"/>
                <a:ea typeface="+mn-ea"/>
                <a:cs typeface="+mn-cs"/>
              </a:rPr>
              <a:t>Updates its policy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IN" sz="1600" b="0" i="0" u="none" strike="noStrike" kern="1200" cap="none" spc="-1"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1" normalizeH="0" baseline="0" noProof="0" dirty="0">
                <a:ln>
                  <a:noFill/>
                </a:ln>
                <a:solidFill>
                  <a:prstClr val="black"/>
                </a:solidFill>
                <a:effectLst/>
                <a:uLnTx/>
                <a:uFillTx/>
                <a:latin typeface="Arial"/>
                <a:ea typeface="+mn-ea"/>
                <a:cs typeface="+mn-cs"/>
              </a:rPr>
              <a:t>Agent’s goal is to maximize its overall reward</a:t>
            </a:r>
          </a:p>
        </p:txBody>
      </p:sp>
      <p:sp>
        <p:nvSpPr>
          <p:cNvPr id="83" name="CustomShape 2">
            <a:extLst>
              <a:ext uri="{FF2B5EF4-FFF2-40B4-BE49-F238E27FC236}">
                <a16:creationId xmlns:a16="http://schemas.microsoft.com/office/drawing/2014/main" id="{ED5886CF-18C3-40F5-819B-97F105E7BE60}"/>
              </a:ext>
            </a:extLst>
          </p:cNvPr>
          <p:cNvSpPr/>
          <p:nvPr/>
        </p:nvSpPr>
        <p:spPr>
          <a:xfrm>
            <a:off x="7510145" y="1075370"/>
            <a:ext cx="4607496" cy="2609390"/>
          </a:xfrm>
          <a:prstGeom prst="rect">
            <a:avLst/>
          </a:prstGeom>
          <a:noFill/>
          <a:ln w="0">
            <a:solidFill>
              <a:srgbClr val="3465A4"/>
            </a:solid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3146801833"/>
      </p:ext>
    </p:extLst>
  </p:cSld>
  <p:clrMapOvr>
    <a:masterClrMapping/>
  </p:clrMapOvr>
  <mc:AlternateContent xmlns:mc="http://schemas.openxmlformats.org/markup-compatibility/2006" xmlns:p14="http://schemas.microsoft.com/office/powerpoint/2010/main">
    <mc:Choice Requires="p14">
      <p:transition spd="slow" p14:dur="2000" advTm="150477"/>
    </mc:Choice>
    <mc:Fallback xmlns="">
      <p:transition spd="slow" advTm="15047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wipe(down)">
                                      <p:cBhvr>
                                        <p:cTn id="7" dur="500"/>
                                        <p:tgtEl>
                                          <p:spTgt spid="8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81"/>
                                        </p:tgtEl>
                                        <p:attrNameLst>
                                          <p:attrName>style.visibility</p:attrName>
                                        </p:attrNameLst>
                                      </p:cBhvr>
                                      <p:to>
                                        <p:strVal val="visible"/>
                                      </p:to>
                                    </p:set>
                                    <p:animEffect transition="in" filter="wipe(down)">
                                      <p:cBhvr>
                                        <p:cTn id="10" dur="500"/>
                                        <p:tgtEl>
                                          <p:spTgt spid="81"/>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500"/>
                                        <p:tgtEl>
                                          <p:spTgt spid="6"/>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wipe(down)">
                                      <p:cBhvr>
                                        <p:cTn id="18" dur="500"/>
                                        <p:tgtEl>
                                          <p:spTgt spid="31"/>
                                        </p:tgtEl>
                                      </p:cBhvr>
                                    </p:animEffect>
                                  </p:childTnLst>
                                </p:cTn>
                              </p:par>
                              <p:par>
                                <p:cTn id="19" presetID="22" presetClass="entr" presetSubtype="4" fill="hold" nodeType="with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wipe(down)">
                                      <p:cBhvr>
                                        <p:cTn id="21" dur="500"/>
                                        <p:tgtEl>
                                          <p:spTgt spid="33"/>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down)">
                                      <p:cBhvr>
                                        <p:cTn id="24" dur="500"/>
                                        <p:tgtEl>
                                          <p:spTgt spid="4"/>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77"/>
                                        </p:tgtEl>
                                        <p:attrNameLst>
                                          <p:attrName>style.visibility</p:attrName>
                                        </p:attrNameLst>
                                      </p:cBhvr>
                                      <p:to>
                                        <p:strVal val="visible"/>
                                      </p:to>
                                    </p:set>
                                    <p:animEffect transition="in" filter="wipe(down)">
                                      <p:cBhvr>
                                        <p:cTn id="27" dur="500"/>
                                        <p:tgtEl>
                                          <p:spTgt spid="77"/>
                                        </p:tgtEl>
                                      </p:cBhvr>
                                    </p:animEffect>
                                  </p:childTnLst>
                                </p:cTn>
                              </p:par>
                              <p:par>
                                <p:cTn id="28" presetID="22" presetClass="entr" presetSubtype="4" fill="hold" nodeType="withEffect">
                                  <p:stCondLst>
                                    <p:cond delay="0"/>
                                  </p:stCondLst>
                                  <p:childTnLst>
                                    <p:set>
                                      <p:cBhvr>
                                        <p:cTn id="29" dur="1" fill="hold">
                                          <p:stCondLst>
                                            <p:cond delay="0"/>
                                          </p:stCondLst>
                                        </p:cTn>
                                        <p:tgtEl>
                                          <p:spTgt spid="44"/>
                                        </p:tgtEl>
                                        <p:attrNameLst>
                                          <p:attrName>style.visibility</p:attrName>
                                        </p:attrNameLst>
                                      </p:cBhvr>
                                      <p:to>
                                        <p:strVal val="visible"/>
                                      </p:to>
                                    </p:set>
                                    <p:animEffect transition="in" filter="wipe(down)">
                                      <p:cBhvr>
                                        <p:cTn id="30" dur="500"/>
                                        <p:tgtEl>
                                          <p:spTgt spid="4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59"/>
                                        </p:tgtEl>
                                        <p:attrNameLst>
                                          <p:attrName>style.visibility</p:attrName>
                                        </p:attrNameLst>
                                      </p:cBhvr>
                                      <p:to>
                                        <p:strVal val="visible"/>
                                      </p:to>
                                    </p:set>
                                    <p:animEffect transition="in" filter="wipe(down)">
                                      <p:cBhvr>
                                        <p:cTn id="35" dur="500"/>
                                        <p:tgtEl>
                                          <p:spTgt spid="59"/>
                                        </p:tgtEl>
                                      </p:cBhvr>
                                    </p:animEffect>
                                  </p:childTnLst>
                                </p:cTn>
                              </p:par>
                              <p:par>
                                <p:cTn id="36" presetID="22" presetClass="entr" presetSubtype="4" fill="hold" nodeType="withEffect">
                                  <p:stCondLst>
                                    <p:cond delay="0"/>
                                  </p:stCondLst>
                                  <p:childTnLst>
                                    <p:set>
                                      <p:cBhvr>
                                        <p:cTn id="37" dur="1" fill="hold">
                                          <p:stCondLst>
                                            <p:cond delay="0"/>
                                          </p:stCondLst>
                                        </p:cTn>
                                        <p:tgtEl>
                                          <p:spTgt spid="2056"/>
                                        </p:tgtEl>
                                        <p:attrNameLst>
                                          <p:attrName>style.visibility</p:attrName>
                                        </p:attrNameLst>
                                      </p:cBhvr>
                                      <p:to>
                                        <p:strVal val="visible"/>
                                      </p:to>
                                    </p:set>
                                    <p:animEffect transition="in" filter="wipe(down)">
                                      <p:cBhvr>
                                        <p:cTn id="38" dur="500"/>
                                        <p:tgtEl>
                                          <p:spTgt spid="2056"/>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68"/>
                                        </p:tgtEl>
                                        <p:attrNameLst>
                                          <p:attrName>style.visibility</p:attrName>
                                        </p:attrNameLst>
                                      </p:cBhvr>
                                      <p:to>
                                        <p:strVal val="visible"/>
                                      </p:to>
                                    </p:set>
                                    <p:animEffect transition="in" filter="wipe(down)">
                                      <p:cBhvr>
                                        <p:cTn id="41" dur="500"/>
                                        <p:tgtEl>
                                          <p:spTgt spid="68"/>
                                        </p:tgtEl>
                                      </p:cBhvr>
                                    </p:animEffect>
                                  </p:childTnLst>
                                </p:cTn>
                              </p:par>
                              <p:par>
                                <p:cTn id="42" presetID="22" presetClass="entr" presetSubtype="4" fill="hold" nodeType="withEffect">
                                  <p:stCondLst>
                                    <p:cond delay="0"/>
                                  </p:stCondLst>
                                  <p:childTnLst>
                                    <p:set>
                                      <p:cBhvr>
                                        <p:cTn id="43" dur="1" fill="hold">
                                          <p:stCondLst>
                                            <p:cond delay="0"/>
                                          </p:stCondLst>
                                        </p:cTn>
                                        <p:tgtEl>
                                          <p:spTgt spid="35"/>
                                        </p:tgtEl>
                                        <p:attrNameLst>
                                          <p:attrName>style.visibility</p:attrName>
                                        </p:attrNameLst>
                                      </p:cBhvr>
                                      <p:to>
                                        <p:strVal val="visible"/>
                                      </p:to>
                                    </p:set>
                                    <p:animEffect transition="in" filter="wipe(down)">
                                      <p:cBhvr>
                                        <p:cTn id="44" dur="500"/>
                                        <p:tgtEl>
                                          <p:spTgt spid="35"/>
                                        </p:tgtEl>
                                      </p:cBhvr>
                                    </p:animEffect>
                                  </p:childTnLst>
                                </p:cTn>
                              </p:par>
                              <p:par>
                                <p:cTn id="45" presetID="22" presetClass="entr" presetSubtype="4" fill="hold" nodeType="with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down)">
                                      <p:cBhvr>
                                        <p:cTn id="47" dur="500"/>
                                        <p:tgtEl>
                                          <p:spTgt spid="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49"/>
                                        </p:tgtEl>
                                        <p:attrNameLst>
                                          <p:attrName>style.visibility</p:attrName>
                                        </p:attrNameLst>
                                      </p:cBhvr>
                                      <p:to>
                                        <p:strVal val="visible"/>
                                      </p:to>
                                    </p:set>
                                    <p:animEffect transition="in" filter="wipe(down)">
                                      <p:cBhvr>
                                        <p:cTn id="52" dur="500"/>
                                        <p:tgtEl>
                                          <p:spTgt spid="49"/>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71"/>
                                        </p:tgtEl>
                                        <p:attrNameLst>
                                          <p:attrName>style.visibility</p:attrName>
                                        </p:attrNameLst>
                                      </p:cBhvr>
                                      <p:to>
                                        <p:strVal val="visible"/>
                                      </p:to>
                                    </p:set>
                                    <p:animEffect transition="in" filter="wipe(down)">
                                      <p:cBhvr>
                                        <p:cTn id="55" dur="500"/>
                                        <p:tgtEl>
                                          <p:spTgt spid="71"/>
                                        </p:tgtEl>
                                      </p:cBhvr>
                                    </p:animEffect>
                                  </p:childTnLst>
                                </p:cTn>
                              </p:par>
                              <p:par>
                                <p:cTn id="56" presetID="22" presetClass="entr" presetSubtype="4" fill="hold" nodeType="withEffect">
                                  <p:stCondLst>
                                    <p:cond delay="0"/>
                                  </p:stCondLst>
                                  <p:childTnLst>
                                    <p:set>
                                      <p:cBhvr>
                                        <p:cTn id="57" dur="1" fill="hold">
                                          <p:stCondLst>
                                            <p:cond delay="0"/>
                                          </p:stCondLst>
                                        </p:cTn>
                                        <p:tgtEl>
                                          <p:spTgt spid="37"/>
                                        </p:tgtEl>
                                        <p:attrNameLst>
                                          <p:attrName>style.visibility</p:attrName>
                                        </p:attrNameLst>
                                      </p:cBhvr>
                                      <p:to>
                                        <p:strVal val="visible"/>
                                      </p:to>
                                    </p:set>
                                    <p:animEffect transition="in" filter="wipe(down)">
                                      <p:cBhvr>
                                        <p:cTn id="58" dur="500"/>
                                        <p:tgtEl>
                                          <p:spTgt spid="37"/>
                                        </p:tgtEl>
                                      </p:cBhvr>
                                    </p:animEffect>
                                  </p:childTnLst>
                                </p:cTn>
                              </p:par>
                              <p:par>
                                <p:cTn id="59" presetID="22" presetClass="entr" presetSubtype="4" fill="hold" nodeType="withEffect">
                                  <p:stCondLst>
                                    <p:cond delay="0"/>
                                  </p:stCondLst>
                                  <p:childTnLst>
                                    <p:set>
                                      <p:cBhvr>
                                        <p:cTn id="60" dur="1" fill="hold">
                                          <p:stCondLst>
                                            <p:cond delay="0"/>
                                          </p:stCondLst>
                                        </p:cTn>
                                        <p:tgtEl>
                                          <p:spTgt spid="7"/>
                                        </p:tgtEl>
                                        <p:attrNameLst>
                                          <p:attrName>style.visibility</p:attrName>
                                        </p:attrNameLst>
                                      </p:cBhvr>
                                      <p:to>
                                        <p:strVal val="visible"/>
                                      </p:to>
                                    </p:set>
                                    <p:animEffect transition="in" filter="wipe(down)">
                                      <p:cBhvr>
                                        <p:cTn id="61" dur="500"/>
                                        <p:tgtEl>
                                          <p:spTgt spid="7"/>
                                        </p:tgtEl>
                                      </p:cBhvr>
                                    </p:animEffect>
                                  </p:childTnLst>
                                </p:cTn>
                              </p:par>
                              <p:par>
                                <p:cTn id="62" presetID="22" presetClass="entr" presetSubtype="4" fill="hold" nodeType="withEffect">
                                  <p:stCondLst>
                                    <p:cond delay="0"/>
                                  </p:stCondLst>
                                  <p:childTnLst>
                                    <p:set>
                                      <p:cBhvr>
                                        <p:cTn id="63" dur="1" fill="hold">
                                          <p:stCondLst>
                                            <p:cond delay="0"/>
                                          </p:stCondLst>
                                        </p:cTn>
                                        <p:tgtEl>
                                          <p:spTgt spid="66"/>
                                        </p:tgtEl>
                                        <p:attrNameLst>
                                          <p:attrName>style.visibility</p:attrName>
                                        </p:attrNameLst>
                                      </p:cBhvr>
                                      <p:to>
                                        <p:strVal val="visible"/>
                                      </p:to>
                                    </p:set>
                                    <p:animEffect transition="in" filter="wipe(down)">
                                      <p:cBhvr>
                                        <p:cTn id="64" dur="500"/>
                                        <p:tgtEl>
                                          <p:spTgt spid="66"/>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nodeType="clickEffect">
                                  <p:stCondLst>
                                    <p:cond delay="0"/>
                                  </p:stCondLst>
                                  <p:childTnLst>
                                    <p:set>
                                      <p:cBhvr>
                                        <p:cTn id="68" dur="1" fill="hold">
                                          <p:stCondLst>
                                            <p:cond delay="0"/>
                                          </p:stCondLst>
                                        </p:cTn>
                                        <p:tgtEl>
                                          <p:spTgt spid="58"/>
                                        </p:tgtEl>
                                        <p:attrNameLst>
                                          <p:attrName>style.visibility</p:attrName>
                                        </p:attrNameLst>
                                      </p:cBhvr>
                                      <p:to>
                                        <p:strVal val="visible"/>
                                      </p:to>
                                    </p:set>
                                    <p:animEffect transition="in" filter="wipe(down)">
                                      <p:cBhvr>
                                        <p:cTn id="69" dur="500"/>
                                        <p:tgtEl>
                                          <p:spTgt spid="58"/>
                                        </p:tgtEl>
                                      </p:cBhvr>
                                    </p:animEffect>
                                  </p:childTnLst>
                                </p:cTn>
                              </p:par>
                              <p:par>
                                <p:cTn id="70" presetID="22" presetClass="entr" presetSubtype="4" fill="hold" nodeType="withEffect">
                                  <p:stCondLst>
                                    <p:cond delay="0"/>
                                  </p:stCondLst>
                                  <p:childTnLst>
                                    <p:set>
                                      <p:cBhvr>
                                        <p:cTn id="71" dur="1" fill="hold">
                                          <p:stCondLst>
                                            <p:cond delay="0"/>
                                          </p:stCondLst>
                                        </p:cTn>
                                        <p:tgtEl>
                                          <p:spTgt spid="2054"/>
                                        </p:tgtEl>
                                        <p:attrNameLst>
                                          <p:attrName>style.visibility</p:attrName>
                                        </p:attrNameLst>
                                      </p:cBhvr>
                                      <p:to>
                                        <p:strVal val="visible"/>
                                      </p:to>
                                    </p:set>
                                    <p:animEffect transition="in" filter="wipe(down)">
                                      <p:cBhvr>
                                        <p:cTn id="72" dur="500"/>
                                        <p:tgtEl>
                                          <p:spTgt spid="2054"/>
                                        </p:tgtEl>
                                      </p:cBhvr>
                                    </p:animEffect>
                                  </p:childTnLst>
                                </p:cTn>
                              </p:par>
                              <p:par>
                                <p:cTn id="73" presetID="22" presetClass="entr" presetSubtype="4" fill="hold" grpId="0" nodeType="withEffect">
                                  <p:stCondLst>
                                    <p:cond delay="0"/>
                                  </p:stCondLst>
                                  <p:childTnLst>
                                    <p:set>
                                      <p:cBhvr>
                                        <p:cTn id="74" dur="1" fill="hold">
                                          <p:stCondLst>
                                            <p:cond delay="0"/>
                                          </p:stCondLst>
                                        </p:cTn>
                                        <p:tgtEl>
                                          <p:spTgt spid="76"/>
                                        </p:tgtEl>
                                        <p:attrNameLst>
                                          <p:attrName>style.visibility</p:attrName>
                                        </p:attrNameLst>
                                      </p:cBhvr>
                                      <p:to>
                                        <p:strVal val="visible"/>
                                      </p:to>
                                    </p:set>
                                    <p:animEffect transition="in" filter="wipe(down)">
                                      <p:cBhvr>
                                        <p:cTn id="75" dur="500"/>
                                        <p:tgtEl>
                                          <p:spTgt spid="76"/>
                                        </p:tgtEl>
                                      </p:cBhvr>
                                    </p:animEffect>
                                  </p:childTnLst>
                                </p:cTn>
                              </p:par>
                              <p:par>
                                <p:cTn id="76" presetID="22" presetClass="entr" presetSubtype="4" fill="hold" nodeType="with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wipe(down)">
                                      <p:cBhvr>
                                        <p:cTn id="78" dur="500"/>
                                        <p:tgtEl>
                                          <p:spTgt spid="39"/>
                                        </p:tgtEl>
                                      </p:cBhvr>
                                    </p:animEffect>
                                  </p:childTnLst>
                                </p:cTn>
                              </p:par>
                              <p:par>
                                <p:cTn id="79" presetID="22" presetClass="entr" presetSubtype="4" fill="hold" nodeType="withEffect">
                                  <p:stCondLst>
                                    <p:cond delay="0"/>
                                  </p:stCondLst>
                                  <p:childTnLst>
                                    <p:set>
                                      <p:cBhvr>
                                        <p:cTn id="80" dur="1" fill="hold">
                                          <p:stCondLst>
                                            <p:cond delay="0"/>
                                          </p:stCondLst>
                                        </p:cTn>
                                        <p:tgtEl>
                                          <p:spTgt spid="20"/>
                                        </p:tgtEl>
                                        <p:attrNameLst>
                                          <p:attrName>style.visibility</p:attrName>
                                        </p:attrNameLst>
                                      </p:cBhvr>
                                      <p:to>
                                        <p:strVal val="visible"/>
                                      </p:to>
                                    </p:set>
                                    <p:animEffect transition="in" filter="wipe(down)">
                                      <p:cBhvr>
                                        <p:cTn id="8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1" grpId="0"/>
      <p:bldP spid="68" grpId="0"/>
      <p:bldP spid="71" grpId="0"/>
      <p:bldP spid="76" grpId="0"/>
      <p:bldP spid="77" grpId="0"/>
      <p:bldP spid="8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57946-FC7F-477C-9867-0ED704A858E1}"/>
              </a:ext>
            </a:extLst>
          </p:cNvPr>
          <p:cNvSpPr>
            <a:spLocks noGrp="1"/>
          </p:cNvSpPr>
          <p:nvPr>
            <p:ph type="title"/>
          </p:nvPr>
        </p:nvSpPr>
        <p:spPr>
          <a:xfrm>
            <a:off x="3213279" y="2655305"/>
            <a:ext cx="6117465" cy="821500"/>
          </a:xfrm>
        </p:spPr>
        <p:txBody>
          <a:bodyPr>
            <a:noAutofit/>
          </a:bodyPr>
          <a:lstStyle/>
          <a:p>
            <a:r>
              <a:rPr lang="en-IN" sz="6000" dirty="0">
                <a:solidFill>
                  <a:schemeClr val="accent2">
                    <a:lumMod val="75000"/>
                  </a:schemeClr>
                </a:solidFill>
              </a:rPr>
              <a:t>Data and Features</a:t>
            </a:r>
          </a:p>
        </p:txBody>
      </p:sp>
    </p:spTree>
    <p:custDataLst>
      <p:tags r:id="rId1"/>
    </p:custDataLst>
    <p:extLst>
      <p:ext uri="{BB962C8B-B14F-4D97-AF65-F5344CB8AC3E}">
        <p14:creationId xmlns:p14="http://schemas.microsoft.com/office/powerpoint/2010/main" val="2656030156"/>
      </p:ext>
    </p:extLst>
  </p:cSld>
  <p:clrMapOvr>
    <a:masterClrMapping/>
  </p:clrMapOvr>
  <mc:AlternateContent xmlns:mc="http://schemas.openxmlformats.org/markup-compatibility/2006" xmlns:p14="http://schemas.microsoft.com/office/powerpoint/2010/main">
    <mc:Choice Requires="p14">
      <p:transition spd="slow" p14:dur="2000" advTm="7089"/>
    </mc:Choice>
    <mc:Fallback xmlns="">
      <p:transition spd="slow" advTm="7089"/>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57946-FC7F-477C-9867-0ED704A858E1}"/>
              </a:ext>
            </a:extLst>
          </p:cNvPr>
          <p:cNvSpPr>
            <a:spLocks noGrp="1"/>
          </p:cNvSpPr>
          <p:nvPr>
            <p:ph type="title"/>
          </p:nvPr>
        </p:nvSpPr>
        <p:spPr>
          <a:xfrm>
            <a:off x="265245" y="169682"/>
            <a:ext cx="11740617" cy="821500"/>
          </a:xfrm>
        </p:spPr>
        <p:txBody>
          <a:bodyPr>
            <a:normAutofit/>
          </a:bodyPr>
          <a:lstStyle/>
          <a:p>
            <a:r>
              <a:rPr lang="en-IN" dirty="0">
                <a:solidFill>
                  <a:schemeClr val="accent2">
                    <a:lumMod val="75000"/>
                  </a:schemeClr>
                </a:solidFill>
              </a:rPr>
              <a:t>Data and Features</a:t>
            </a:r>
          </a:p>
        </p:txBody>
      </p:sp>
      <p:sp>
        <p:nvSpPr>
          <p:cNvPr id="4" name="Content Placeholder 2">
            <a:extLst>
              <a:ext uri="{FF2B5EF4-FFF2-40B4-BE49-F238E27FC236}">
                <a16:creationId xmlns:a16="http://schemas.microsoft.com/office/drawing/2014/main" id="{571867A3-7A18-448A-97D5-C2A63946A635}"/>
              </a:ext>
            </a:extLst>
          </p:cNvPr>
          <p:cNvSpPr>
            <a:spLocks noGrp="1"/>
          </p:cNvSpPr>
          <p:nvPr>
            <p:ph idx="1"/>
          </p:nvPr>
        </p:nvSpPr>
        <p:spPr>
          <a:xfrm>
            <a:off x="265245" y="1130786"/>
            <a:ext cx="11740617" cy="5557532"/>
          </a:xfrm>
        </p:spPr>
        <p:txBody>
          <a:bodyPr>
            <a:normAutofit/>
          </a:bodyPr>
          <a:lstStyle/>
          <a:p>
            <a:pPr>
              <a:buFont typeface="Wingdings" panose="05000000000000000000" pitchFamily="2" charset="2"/>
              <a:buChar char="§"/>
            </a:pPr>
            <a:r>
              <a:rPr lang="en-GB" dirty="0"/>
              <a:t>ML algos require a numeric </a:t>
            </a:r>
            <a:r>
              <a:rPr lang="en-GB" dirty="0">
                <a:solidFill>
                  <a:srgbClr val="060AB2"/>
                </a:solidFill>
              </a:rPr>
              <a:t>feature representation </a:t>
            </a:r>
            <a:r>
              <a:rPr lang="en-GB" dirty="0"/>
              <a:t>of the inputs</a:t>
            </a:r>
          </a:p>
          <a:p>
            <a:pPr marL="0" indent="0">
              <a:buNone/>
            </a:pPr>
            <a:endParaRPr lang="en-GB" dirty="0"/>
          </a:p>
          <a:p>
            <a:pPr>
              <a:buFont typeface="Wingdings" panose="05000000000000000000" pitchFamily="2" charset="2"/>
              <a:buChar char="§"/>
            </a:pPr>
            <a:r>
              <a:rPr lang="en-GB" dirty="0"/>
              <a:t>Features can be obtained using one of the two approaches</a:t>
            </a:r>
          </a:p>
          <a:p>
            <a:pPr lvl="1">
              <a:buFont typeface="Wingdings" panose="05000000000000000000" pitchFamily="2" charset="2"/>
              <a:buChar char="§"/>
            </a:pPr>
            <a:r>
              <a:rPr lang="en-GB" sz="2800" dirty="0"/>
              <a:t>Approach 1: Extracting/constructing features </a:t>
            </a:r>
            <a:r>
              <a:rPr lang="en-GB" sz="2800" u="sng" dirty="0"/>
              <a:t>manually</a:t>
            </a:r>
            <a:r>
              <a:rPr lang="en-GB" sz="2800" dirty="0"/>
              <a:t> from raw inputs</a:t>
            </a:r>
          </a:p>
          <a:p>
            <a:pPr lvl="1">
              <a:buFont typeface="Wingdings" panose="05000000000000000000" pitchFamily="2" charset="2"/>
              <a:buChar char="§"/>
            </a:pPr>
            <a:r>
              <a:rPr lang="en-GB" sz="2800" dirty="0"/>
              <a:t>Approach 2: </a:t>
            </a:r>
            <a:r>
              <a:rPr lang="en-GB" sz="2800" u="sng" dirty="0"/>
              <a:t>Learning</a:t>
            </a:r>
            <a:r>
              <a:rPr lang="en-GB" sz="2800" dirty="0"/>
              <a:t> the features from raw inputs</a:t>
            </a:r>
          </a:p>
          <a:p>
            <a:pPr lvl="1">
              <a:buFont typeface="Wingdings" panose="05000000000000000000" pitchFamily="2" charset="2"/>
              <a:buChar char="§"/>
            </a:pPr>
            <a:endParaRPr lang="en-GB" dirty="0"/>
          </a:p>
          <a:p>
            <a:pPr>
              <a:buFont typeface="Wingdings" panose="05000000000000000000" pitchFamily="2" charset="2"/>
              <a:buChar char="§"/>
            </a:pPr>
            <a:r>
              <a:rPr lang="en-GB" dirty="0"/>
              <a:t>Approach 1 is what we will focus on primarily for now</a:t>
            </a:r>
          </a:p>
          <a:p>
            <a:pPr>
              <a:buFont typeface="Wingdings" panose="05000000000000000000" pitchFamily="2" charset="2"/>
              <a:buChar char="§"/>
            </a:pPr>
            <a:endParaRPr lang="en-GB" dirty="0"/>
          </a:p>
          <a:p>
            <a:pPr>
              <a:buFont typeface="Wingdings" panose="05000000000000000000" pitchFamily="2" charset="2"/>
              <a:buChar char="§"/>
            </a:pPr>
            <a:r>
              <a:rPr lang="en-GB" dirty="0"/>
              <a:t>Approach 2 is what is followed in </a:t>
            </a:r>
            <a:r>
              <a:rPr lang="en-GB" dirty="0">
                <a:solidFill>
                  <a:srgbClr val="FF0000"/>
                </a:solidFill>
              </a:rPr>
              <a:t>Deep Learning </a:t>
            </a:r>
            <a:r>
              <a:rPr lang="en-GB" dirty="0"/>
              <a:t>algorithms</a:t>
            </a:r>
          </a:p>
          <a:p>
            <a:pPr marL="0" indent="0">
              <a:buNone/>
            </a:pPr>
            <a:endParaRPr lang="en-GB" dirty="0"/>
          </a:p>
          <a:p>
            <a:pPr>
              <a:buFont typeface="Wingdings" panose="05000000000000000000" pitchFamily="2" charset="2"/>
              <a:buChar char="§"/>
            </a:pPr>
            <a:r>
              <a:rPr lang="en-GB" dirty="0"/>
              <a:t>Approach 1 is not as powerful as Approach 2 but still used widely</a:t>
            </a:r>
          </a:p>
          <a:p>
            <a:pPr>
              <a:buFont typeface="Wingdings" panose="05000000000000000000" pitchFamily="2" charset="2"/>
              <a:buChar char="§"/>
            </a:pPr>
            <a:endParaRPr lang="en-GB" sz="2400" dirty="0"/>
          </a:p>
          <a:p>
            <a:pPr>
              <a:buFont typeface="Wingdings" panose="05000000000000000000" pitchFamily="2" charset="2"/>
              <a:buChar char="§"/>
            </a:pPr>
            <a:endParaRPr lang="en-GB" sz="2400" dirty="0"/>
          </a:p>
          <a:p>
            <a:pPr marL="0" indent="0">
              <a:buNone/>
            </a:pPr>
            <a:endParaRPr lang="en-GB" sz="2400" dirty="0"/>
          </a:p>
          <a:p>
            <a:pPr>
              <a:buFont typeface="Wingdings" panose="05000000000000000000" pitchFamily="2" charset="2"/>
              <a:buChar char="§"/>
            </a:pPr>
            <a:endParaRPr lang="en-IN" sz="2600" dirty="0"/>
          </a:p>
        </p:txBody>
      </p:sp>
      <p:pic>
        <p:nvPicPr>
          <p:cNvPr id="18" name="Picture 17">
            <a:extLst>
              <a:ext uri="{FF2B5EF4-FFF2-40B4-BE49-F238E27FC236}">
                <a16:creationId xmlns:a16="http://schemas.microsoft.com/office/drawing/2014/main" id="{2873E054-A5A5-49FF-BBFE-DAD91D64CB83}"/>
              </a:ext>
            </a:extLst>
          </p:cNvPr>
          <p:cNvPicPr>
            <a:picLocks noChangeAspect="1"/>
          </p:cNvPicPr>
          <p:nvPr/>
        </p:nvPicPr>
        <p:blipFill>
          <a:blip r:embed="rId3"/>
          <a:stretch>
            <a:fillRect/>
          </a:stretch>
        </p:blipFill>
        <p:spPr>
          <a:xfrm>
            <a:off x="11119998" y="817172"/>
            <a:ext cx="1010687" cy="965223"/>
          </a:xfrm>
          <a:prstGeom prst="rect">
            <a:avLst/>
          </a:prstGeom>
        </p:spPr>
      </p:pic>
      <p:sp>
        <p:nvSpPr>
          <p:cNvPr id="19" name="Speech Bubble: Rectangle 18">
            <a:extLst>
              <a:ext uri="{FF2B5EF4-FFF2-40B4-BE49-F238E27FC236}">
                <a16:creationId xmlns:a16="http://schemas.microsoft.com/office/drawing/2014/main" id="{1EBA340A-C551-4D56-B729-7C178F36C624}"/>
              </a:ext>
            </a:extLst>
          </p:cNvPr>
          <p:cNvSpPr/>
          <p:nvPr/>
        </p:nvSpPr>
        <p:spPr>
          <a:xfrm>
            <a:off x="7148945" y="169682"/>
            <a:ext cx="3676073" cy="991182"/>
          </a:xfrm>
          <a:prstGeom prst="wedgeRectCallout">
            <a:avLst>
              <a:gd name="adj1" fmla="val 64779"/>
              <a:gd name="adj2" fmla="val 54271"/>
            </a:avLst>
          </a:prstGeom>
          <a:solidFill>
            <a:schemeClr val="bg1"/>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Calibri" panose="020F0502020204030204"/>
                <a:ea typeface="+mn-ea"/>
                <a:cs typeface="+mn-cs"/>
              </a:rPr>
              <a:t>Features represent semantics of the inputs. Being able to extract good features is key to the success of ML algos</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4000446371"/>
      </p:ext>
    </p:extLst>
  </p:cSld>
  <p:clrMapOvr>
    <a:masterClrMapping/>
  </p:clrMapOvr>
  <mc:AlternateContent xmlns:mc="http://schemas.openxmlformats.org/markup-compatibility/2006" xmlns:p14="http://schemas.microsoft.com/office/powerpoint/2010/main">
    <mc:Choice Requires="p14">
      <p:transition spd="slow" p14:dur="2000" advTm="123805"/>
    </mc:Choice>
    <mc:Fallback xmlns="">
      <p:transition spd="slow" advTm="12380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down)">
                                      <p:cBhvr>
                                        <p:cTn id="12" dur="500"/>
                                        <p:tgtEl>
                                          <p:spTgt spid="18"/>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down)">
                                      <p:cBhvr>
                                        <p:cTn id="15" dur="5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Effect transition="in" filter="wipe(down)">
                                      <p:cBhvr>
                                        <p:cTn id="20" dur="500"/>
                                        <p:tgtEl>
                                          <p:spTgt spid="4">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Effect transition="in" filter="wipe(down)">
                                      <p:cBhvr>
                                        <p:cTn id="25" dur="500"/>
                                        <p:tgtEl>
                                          <p:spTgt spid="4">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4">
                                            <p:txEl>
                                              <p:pRg st="4" end="4"/>
                                            </p:txEl>
                                          </p:spTgt>
                                        </p:tgtEl>
                                        <p:attrNameLst>
                                          <p:attrName>style.visibility</p:attrName>
                                        </p:attrNameLst>
                                      </p:cBhvr>
                                      <p:to>
                                        <p:strVal val="visible"/>
                                      </p:to>
                                    </p:set>
                                    <p:animEffect transition="in" filter="wipe(down)">
                                      <p:cBhvr>
                                        <p:cTn id="30" dur="500"/>
                                        <p:tgtEl>
                                          <p:spTgt spid="4">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animEffect transition="in" filter="wipe(down)">
                                      <p:cBhvr>
                                        <p:cTn id="35" dur="500"/>
                                        <p:tgtEl>
                                          <p:spTgt spid="4">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4">
                                            <p:txEl>
                                              <p:pRg st="8" end="8"/>
                                            </p:txEl>
                                          </p:spTgt>
                                        </p:tgtEl>
                                        <p:attrNameLst>
                                          <p:attrName>style.visibility</p:attrName>
                                        </p:attrNameLst>
                                      </p:cBhvr>
                                      <p:to>
                                        <p:strVal val="visible"/>
                                      </p:to>
                                    </p:set>
                                    <p:animEffect transition="in" filter="wipe(down)">
                                      <p:cBhvr>
                                        <p:cTn id="40" dur="500"/>
                                        <p:tgtEl>
                                          <p:spTgt spid="4">
                                            <p:txEl>
                                              <p:pRg st="8" end="8"/>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4">
                                            <p:txEl>
                                              <p:pRg st="10" end="10"/>
                                            </p:txEl>
                                          </p:spTgt>
                                        </p:tgtEl>
                                        <p:attrNameLst>
                                          <p:attrName>style.visibility</p:attrName>
                                        </p:attrNameLst>
                                      </p:cBhvr>
                                      <p:to>
                                        <p:strVal val="visible"/>
                                      </p:to>
                                    </p:set>
                                    <p:animEffect transition="in" filter="wipe(down)">
                                      <p:cBhvr>
                                        <p:cTn id="45"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57946-FC7F-477C-9867-0ED704A858E1}"/>
              </a:ext>
            </a:extLst>
          </p:cNvPr>
          <p:cNvSpPr>
            <a:spLocks noGrp="1"/>
          </p:cNvSpPr>
          <p:nvPr>
            <p:ph type="title"/>
          </p:nvPr>
        </p:nvSpPr>
        <p:spPr>
          <a:xfrm>
            <a:off x="265245" y="169682"/>
            <a:ext cx="11740617" cy="821500"/>
          </a:xfrm>
        </p:spPr>
        <p:txBody>
          <a:bodyPr>
            <a:normAutofit/>
          </a:bodyPr>
          <a:lstStyle/>
          <a:p>
            <a:r>
              <a:rPr lang="en-IN" dirty="0">
                <a:solidFill>
                  <a:schemeClr val="accent2">
                    <a:lumMod val="75000"/>
                  </a:schemeClr>
                </a:solidFill>
              </a:rPr>
              <a:t>Example: Feature Extraction for Text Data</a:t>
            </a:r>
          </a:p>
        </p:txBody>
      </p:sp>
      <p:sp>
        <p:nvSpPr>
          <p:cNvPr id="4" name="Content Placeholder 2">
            <a:extLst>
              <a:ext uri="{FF2B5EF4-FFF2-40B4-BE49-F238E27FC236}">
                <a16:creationId xmlns:a16="http://schemas.microsoft.com/office/drawing/2014/main" id="{571867A3-7A18-448A-97D5-C2A63946A635}"/>
              </a:ext>
            </a:extLst>
          </p:cNvPr>
          <p:cNvSpPr>
            <a:spLocks noGrp="1"/>
          </p:cNvSpPr>
          <p:nvPr>
            <p:ph idx="1"/>
          </p:nvPr>
        </p:nvSpPr>
        <p:spPr>
          <a:xfrm>
            <a:off x="265245" y="1130786"/>
            <a:ext cx="11740617" cy="5557532"/>
          </a:xfrm>
        </p:spPr>
        <p:txBody>
          <a:bodyPr>
            <a:normAutofit/>
          </a:bodyPr>
          <a:lstStyle/>
          <a:p>
            <a:pPr>
              <a:buFont typeface="Wingdings" panose="05000000000000000000" pitchFamily="2" charset="2"/>
              <a:buChar char="§"/>
            </a:pPr>
            <a:r>
              <a:rPr lang="en-GB" dirty="0"/>
              <a:t>Consider some text data consisting of the following sentences: </a:t>
            </a:r>
          </a:p>
          <a:p>
            <a:pPr lvl="1">
              <a:buFont typeface="Wingdings" panose="05000000000000000000" pitchFamily="2" charset="2"/>
              <a:buChar char="§"/>
            </a:pPr>
            <a:r>
              <a:rPr lang="en-GB" dirty="0"/>
              <a:t>John likes to watch movies </a:t>
            </a:r>
          </a:p>
          <a:p>
            <a:pPr lvl="1">
              <a:buFont typeface="Wingdings" panose="05000000000000000000" pitchFamily="2" charset="2"/>
              <a:buChar char="§"/>
            </a:pPr>
            <a:r>
              <a:rPr lang="en-GB" dirty="0"/>
              <a:t>Mary likes movies too </a:t>
            </a:r>
          </a:p>
          <a:p>
            <a:pPr lvl="1">
              <a:buFont typeface="Wingdings" panose="05000000000000000000" pitchFamily="2" charset="2"/>
              <a:buChar char="§"/>
            </a:pPr>
            <a:r>
              <a:rPr lang="en-GB" dirty="0"/>
              <a:t>John also likes football</a:t>
            </a:r>
            <a:endParaRPr lang="en-GB" sz="2400" dirty="0"/>
          </a:p>
          <a:p>
            <a:pPr>
              <a:buFont typeface="Wingdings" panose="05000000000000000000" pitchFamily="2" charset="2"/>
              <a:buChar char="§"/>
            </a:pPr>
            <a:r>
              <a:rPr lang="en-GB" dirty="0"/>
              <a:t>Want to construct a </a:t>
            </a:r>
            <a:r>
              <a:rPr lang="en-GB" dirty="0">
                <a:solidFill>
                  <a:srgbClr val="FF0000"/>
                </a:solidFill>
              </a:rPr>
              <a:t>feature representation </a:t>
            </a:r>
            <a:r>
              <a:rPr lang="en-GB" dirty="0"/>
              <a:t>for these sentences</a:t>
            </a:r>
          </a:p>
          <a:p>
            <a:pPr>
              <a:buFont typeface="Wingdings" panose="05000000000000000000" pitchFamily="2" charset="2"/>
              <a:buChar char="§"/>
            </a:pPr>
            <a:r>
              <a:rPr lang="en-GB" dirty="0"/>
              <a:t>Here is a </a:t>
            </a:r>
            <a:r>
              <a:rPr lang="en-GB" dirty="0">
                <a:solidFill>
                  <a:srgbClr val="FF0000"/>
                </a:solidFill>
              </a:rPr>
              <a:t>“bag-of-words” </a:t>
            </a:r>
            <a:r>
              <a:rPr lang="en-GB" dirty="0"/>
              <a:t>(</a:t>
            </a:r>
            <a:r>
              <a:rPr lang="en-GB" dirty="0" err="1"/>
              <a:t>BoW</a:t>
            </a:r>
            <a:r>
              <a:rPr lang="en-GB" dirty="0"/>
              <a:t>) feature representation of these sentences</a:t>
            </a:r>
          </a:p>
          <a:p>
            <a:pPr>
              <a:buFont typeface="Wingdings" panose="05000000000000000000" pitchFamily="2" charset="2"/>
              <a:buChar char="§"/>
            </a:pPr>
            <a:endParaRPr lang="en-GB" dirty="0"/>
          </a:p>
          <a:p>
            <a:pPr>
              <a:buFont typeface="Wingdings" panose="05000000000000000000" pitchFamily="2" charset="2"/>
              <a:buChar char="§"/>
            </a:pPr>
            <a:endParaRPr lang="en-IN" sz="2600" dirty="0"/>
          </a:p>
          <a:p>
            <a:pPr>
              <a:buFont typeface="Wingdings" panose="05000000000000000000" pitchFamily="2" charset="2"/>
              <a:buChar char="§"/>
            </a:pPr>
            <a:endParaRPr lang="en-IN" sz="2600" dirty="0"/>
          </a:p>
          <a:p>
            <a:pPr>
              <a:buFont typeface="Wingdings" panose="05000000000000000000" pitchFamily="2" charset="2"/>
              <a:buChar char="§"/>
            </a:pPr>
            <a:endParaRPr lang="en-IN" sz="2600" dirty="0"/>
          </a:p>
          <a:p>
            <a:pPr>
              <a:buFont typeface="Wingdings" panose="05000000000000000000" pitchFamily="2" charset="2"/>
              <a:buChar char="§"/>
            </a:pPr>
            <a:r>
              <a:rPr lang="en-IN" sz="2600" dirty="0"/>
              <a:t>Each sentence is now represented as a </a:t>
            </a:r>
            <a:r>
              <a:rPr lang="en-IN" sz="2600" dirty="0">
                <a:solidFill>
                  <a:srgbClr val="FF0000"/>
                </a:solidFill>
              </a:rPr>
              <a:t>binary vector </a:t>
            </a:r>
            <a:r>
              <a:rPr lang="en-IN" sz="2600" dirty="0"/>
              <a:t>(each feature is a binary value, denoting presence or absence of a word). </a:t>
            </a:r>
            <a:r>
              <a:rPr lang="en-IN" sz="2600" dirty="0" err="1"/>
              <a:t>BoW</a:t>
            </a:r>
            <a:r>
              <a:rPr lang="en-IN" sz="2600" dirty="0"/>
              <a:t> is also called </a:t>
            </a:r>
            <a:r>
              <a:rPr lang="en-IN" sz="2600" dirty="0">
                <a:solidFill>
                  <a:srgbClr val="FF0000"/>
                </a:solidFill>
              </a:rPr>
              <a:t>“unigram” </a:t>
            </a:r>
            <a:r>
              <a:rPr lang="en-IN" sz="2600" dirty="0"/>
              <a:t>rep.</a:t>
            </a:r>
          </a:p>
        </p:txBody>
      </p:sp>
      <p:pic>
        <p:nvPicPr>
          <p:cNvPr id="1026" name="Picture 2">
            <a:extLst>
              <a:ext uri="{FF2B5EF4-FFF2-40B4-BE49-F238E27FC236}">
                <a16:creationId xmlns:a16="http://schemas.microsoft.com/office/drawing/2014/main" id="{1F5ECEA4-245C-45E2-B4A0-90331BE86F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1096" y="4055856"/>
            <a:ext cx="8258860" cy="142594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F688746-B949-4CE4-97FA-68AF57AE96A1}"/>
              </a:ext>
            </a:extLst>
          </p:cNvPr>
          <p:cNvPicPr>
            <a:picLocks noChangeAspect="1"/>
          </p:cNvPicPr>
          <p:nvPr/>
        </p:nvPicPr>
        <p:blipFill>
          <a:blip r:embed="rId4"/>
          <a:stretch>
            <a:fillRect/>
          </a:stretch>
        </p:blipFill>
        <p:spPr>
          <a:xfrm>
            <a:off x="11117008" y="1982044"/>
            <a:ext cx="1010687" cy="965223"/>
          </a:xfrm>
          <a:prstGeom prst="rect">
            <a:avLst/>
          </a:prstGeom>
        </p:spPr>
      </p:pic>
      <p:sp>
        <p:nvSpPr>
          <p:cNvPr id="7" name="Speech Bubble: Rectangle 6">
            <a:extLst>
              <a:ext uri="{FF2B5EF4-FFF2-40B4-BE49-F238E27FC236}">
                <a16:creationId xmlns:a16="http://schemas.microsoft.com/office/drawing/2014/main" id="{CB3F3E5B-CE84-4B32-A165-E5268CA96ED7}"/>
              </a:ext>
            </a:extLst>
          </p:cNvPr>
          <p:cNvSpPr/>
          <p:nvPr/>
        </p:nvSpPr>
        <p:spPr>
          <a:xfrm>
            <a:off x="6924675" y="1629112"/>
            <a:ext cx="3789852" cy="1173032"/>
          </a:xfrm>
          <a:prstGeom prst="wedgeRectCallout">
            <a:avLst>
              <a:gd name="adj1" fmla="val 70000"/>
              <a:gd name="adj2" fmla="val 16957"/>
            </a:avLst>
          </a:prstGeom>
          <a:solidFill>
            <a:schemeClr val="bg1"/>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Calibri" panose="020F0502020204030204"/>
                <a:ea typeface="+mn-ea"/>
                <a:cs typeface="+mn-cs"/>
              </a:rPr>
              <a:t>BoW</a:t>
            </a:r>
            <a:r>
              <a:rPr kumimoji="0" lang="en-GB" sz="1600" b="0" i="0" u="none" strike="noStrike" kern="1200" cap="none" spc="0" normalizeH="0" baseline="0" noProof="0" dirty="0">
                <a:ln>
                  <a:noFill/>
                </a:ln>
                <a:solidFill>
                  <a:prstClr val="black"/>
                </a:solidFill>
                <a:effectLst/>
                <a:uLnTx/>
                <a:uFillTx/>
                <a:latin typeface="Calibri" panose="020F0502020204030204"/>
                <a:ea typeface="+mn-ea"/>
                <a:cs typeface="+mn-cs"/>
              </a:rPr>
              <a:t> is just one of the many ways of doing feature extraction for text data. Not the most optimal one, and has various flaws (can you think of some?), but often works reasonably well </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3773015246"/>
      </p:ext>
    </p:extLst>
  </p:cSld>
  <p:clrMapOvr>
    <a:masterClrMapping/>
  </p:clrMapOvr>
  <mc:AlternateContent xmlns:mc="http://schemas.openxmlformats.org/markup-compatibility/2006" xmlns:p14="http://schemas.microsoft.com/office/powerpoint/2010/main">
    <mc:Choice Requires="p14">
      <p:transition spd="slow" p14:dur="2000" advTm="135355"/>
    </mc:Choice>
    <mc:Fallback xmlns="">
      <p:transition spd="slow" advTm="13535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down)">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down)">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down)">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wipe(down)">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wipe(down)">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026"/>
                                        </p:tgtEl>
                                        <p:attrNameLst>
                                          <p:attrName>style.visibility</p:attrName>
                                        </p:attrNameLst>
                                      </p:cBhvr>
                                      <p:to>
                                        <p:strVal val="visible"/>
                                      </p:to>
                                    </p:set>
                                    <p:animEffect transition="in" filter="wipe(down)">
                                      <p:cBhvr>
                                        <p:cTn id="37" dur="500"/>
                                        <p:tgtEl>
                                          <p:spTgt spid="102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down)">
                                      <p:cBhvr>
                                        <p:cTn id="42" dur="500"/>
                                        <p:tgtEl>
                                          <p:spTgt spid="6"/>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wipe(down)">
                                      <p:cBhvr>
                                        <p:cTn id="45" dur="500"/>
                                        <p:tgtEl>
                                          <p:spTgt spid="7"/>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4">
                                            <p:txEl>
                                              <p:pRg st="10" end="10"/>
                                            </p:txEl>
                                          </p:spTgt>
                                        </p:tgtEl>
                                        <p:attrNameLst>
                                          <p:attrName>style.visibility</p:attrName>
                                        </p:attrNameLst>
                                      </p:cBhvr>
                                      <p:to>
                                        <p:strVal val="visible"/>
                                      </p:to>
                                    </p:set>
                                    <p:animEffect transition="in" filter="wipe(down)">
                                      <p:cBhvr>
                                        <p:cTn id="50"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57946-FC7F-477C-9867-0ED704A858E1}"/>
              </a:ext>
            </a:extLst>
          </p:cNvPr>
          <p:cNvSpPr>
            <a:spLocks noGrp="1"/>
          </p:cNvSpPr>
          <p:nvPr>
            <p:ph type="title"/>
          </p:nvPr>
        </p:nvSpPr>
        <p:spPr>
          <a:xfrm>
            <a:off x="265245" y="169682"/>
            <a:ext cx="11740617" cy="821500"/>
          </a:xfrm>
        </p:spPr>
        <p:txBody>
          <a:bodyPr>
            <a:normAutofit/>
          </a:bodyPr>
          <a:lstStyle/>
          <a:p>
            <a:r>
              <a:rPr lang="en-IN" dirty="0">
                <a:solidFill>
                  <a:schemeClr val="accent2">
                    <a:lumMod val="75000"/>
                  </a:schemeClr>
                </a:solidFill>
              </a:rPr>
              <a:t>Example: Feature Extraction for Image Data</a:t>
            </a:r>
          </a:p>
        </p:txBody>
      </p:sp>
      <p:sp>
        <p:nvSpPr>
          <p:cNvPr id="4" name="Content Placeholder 2">
            <a:extLst>
              <a:ext uri="{FF2B5EF4-FFF2-40B4-BE49-F238E27FC236}">
                <a16:creationId xmlns:a16="http://schemas.microsoft.com/office/drawing/2014/main" id="{571867A3-7A18-448A-97D5-C2A63946A635}"/>
              </a:ext>
            </a:extLst>
          </p:cNvPr>
          <p:cNvSpPr>
            <a:spLocks noGrp="1"/>
          </p:cNvSpPr>
          <p:nvPr>
            <p:ph idx="1"/>
          </p:nvPr>
        </p:nvSpPr>
        <p:spPr>
          <a:xfrm>
            <a:off x="265245" y="1130786"/>
            <a:ext cx="11740617" cy="5557532"/>
          </a:xfrm>
        </p:spPr>
        <p:txBody>
          <a:bodyPr>
            <a:normAutofit/>
          </a:bodyPr>
          <a:lstStyle/>
          <a:p>
            <a:pPr>
              <a:buFont typeface="Wingdings" panose="05000000000000000000" pitchFamily="2" charset="2"/>
              <a:buChar char="§"/>
            </a:pPr>
            <a:r>
              <a:rPr lang="en-IN" dirty="0"/>
              <a:t>A very simple feature extraction approach for image data is </a:t>
            </a:r>
            <a:r>
              <a:rPr lang="en-IN" dirty="0">
                <a:solidFill>
                  <a:srgbClr val="FF0000"/>
                </a:solidFill>
              </a:rPr>
              <a:t>flattening</a:t>
            </a:r>
          </a:p>
          <a:p>
            <a:pPr>
              <a:buFont typeface="Wingdings" panose="05000000000000000000" pitchFamily="2" charset="2"/>
              <a:buChar char="§"/>
            </a:pPr>
            <a:endParaRPr lang="en-IN" sz="2600" dirty="0"/>
          </a:p>
          <a:p>
            <a:pPr>
              <a:buFont typeface="Wingdings" panose="05000000000000000000" pitchFamily="2" charset="2"/>
              <a:buChar char="§"/>
            </a:pPr>
            <a:endParaRPr lang="en-IN" sz="2600" dirty="0"/>
          </a:p>
          <a:p>
            <a:pPr>
              <a:buFont typeface="Wingdings" panose="05000000000000000000" pitchFamily="2" charset="2"/>
              <a:buChar char="§"/>
            </a:pPr>
            <a:endParaRPr lang="en-IN" sz="2600" dirty="0"/>
          </a:p>
          <a:p>
            <a:pPr marL="0" indent="0">
              <a:buNone/>
            </a:pPr>
            <a:endParaRPr lang="en-IN" sz="2600" dirty="0"/>
          </a:p>
          <a:p>
            <a:pPr>
              <a:buFont typeface="Wingdings" panose="05000000000000000000" pitchFamily="2" charset="2"/>
              <a:buChar char="§"/>
            </a:pPr>
            <a:endParaRPr lang="en-IN" sz="2600" dirty="0"/>
          </a:p>
          <a:p>
            <a:pPr>
              <a:buFont typeface="Wingdings" panose="05000000000000000000" pitchFamily="2" charset="2"/>
              <a:buChar char="§"/>
            </a:pPr>
            <a:endParaRPr lang="en-IN" sz="2600" dirty="0"/>
          </a:p>
          <a:p>
            <a:pPr>
              <a:buFont typeface="Wingdings" panose="05000000000000000000" pitchFamily="2" charset="2"/>
              <a:buChar char="§"/>
            </a:pPr>
            <a:r>
              <a:rPr lang="en-IN" sz="2600" dirty="0"/>
              <a:t>Many other manual feature extraction techniques developed in computer vision and image processing communities (SIFT, </a:t>
            </a:r>
            <a:r>
              <a:rPr lang="en-IN" sz="2600" dirty="0" err="1"/>
              <a:t>HoG</a:t>
            </a:r>
            <a:r>
              <a:rPr lang="en-IN" sz="2600" dirty="0"/>
              <a:t>, and others)</a:t>
            </a:r>
          </a:p>
        </p:txBody>
      </p:sp>
      <p:pic>
        <p:nvPicPr>
          <p:cNvPr id="3" name="Picture 2">
            <a:extLst>
              <a:ext uri="{FF2B5EF4-FFF2-40B4-BE49-F238E27FC236}">
                <a16:creationId xmlns:a16="http://schemas.microsoft.com/office/drawing/2014/main" id="{B5EB7C6E-62D0-4ACC-8DB3-ACF500D80F82}"/>
              </a:ext>
            </a:extLst>
          </p:cNvPr>
          <p:cNvPicPr>
            <a:picLocks noChangeAspect="1"/>
          </p:cNvPicPr>
          <p:nvPr/>
        </p:nvPicPr>
        <p:blipFill>
          <a:blip r:embed="rId3"/>
          <a:stretch>
            <a:fillRect/>
          </a:stretch>
        </p:blipFill>
        <p:spPr>
          <a:xfrm>
            <a:off x="3763110" y="1655053"/>
            <a:ext cx="1778952" cy="1271495"/>
          </a:xfrm>
          <a:prstGeom prst="rect">
            <a:avLst/>
          </a:prstGeom>
        </p:spPr>
      </p:pic>
      <p:sp>
        <p:nvSpPr>
          <p:cNvPr id="5" name="TextBox 4">
            <a:extLst>
              <a:ext uri="{FF2B5EF4-FFF2-40B4-BE49-F238E27FC236}">
                <a16:creationId xmlns:a16="http://schemas.microsoft.com/office/drawing/2014/main" id="{BC363D1F-A65F-420E-811B-9909E83A0A4D}"/>
              </a:ext>
            </a:extLst>
          </p:cNvPr>
          <p:cNvSpPr txBox="1"/>
          <p:nvPr/>
        </p:nvSpPr>
        <p:spPr>
          <a:xfrm>
            <a:off x="3608032" y="2742986"/>
            <a:ext cx="1183657"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7x7 image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(49 pixels)</a:t>
            </a:r>
          </a:p>
        </p:txBody>
      </p:sp>
      <p:sp>
        <p:nvSpPr>
          <p:cNvPr id="10" name="TextBox 9">
            <a:extLst>
              <a:ext uri="{FF2B5EF4-FFF2-40B4-BE49-F238E27FC236}">
                <a16:creationId xmlns:a16="http://schemas.microsoft.com/office/drawing/2014/main" id="{2EF52B15-6B47-45B3-9371-CB4625329465}"/>
              </a:ext>
            </a:extLst>
          </p:cNvPr>
          <p:cNvSpPr txBox="1"/>
          <p:nvPr/>
        </p:nvSpPr>
        <p:spPr>
          <a:xfrm>
            <a:off x="4636611" y="2846154"/>
            <a:ext cx="1581908"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Vector of pixel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   intensities</a:t>
            </a:r>
          </a:p>
        </p:txBody>
      </p:sp>
      <p:pic>
        <p:nvPicPr>
          <p:cNvPr id="11" name="Picture 10">
            <a:extLst>
              <a:ext uri="{FF2B5EF4-FFF2-40B4-BE49-F238E27FC236}">
                <a16:creationId xmlns:a16="http://schemas.microsoft.com/office/drawing/2014/main" id="{FD4DD240-DB86-4802-B7DC-CF196D6302CA}"/>
              </a:ext>
            </a:extLst>
          </p:cNvPr>
          <p:cNvPicPr>
            <a:picLocks noChangeAspect="1"/>
          </p:cNvPicPr>
          <p:nvPr/>
        </p:nvPicPr>
        <p:blipFill>
          <a:blip r:embed="rId4"/>
          <a:stretch>
            <a:fillRect/>
          </a:stretch>
        </p:blipFill>
        <p:spPr>
          <a:xfrm>
            <a:off x="10429379" y="2179555"/>
            <a:ext cx="1010687" cy="965223"/>
          </a:xfrm>
          <a:prstGeom prst="rect">
            <a:avLst/>
          </a:prstGeom>
        </p:spPr>
      </p:pic>
      <p:sp>
        <p:nvSpPr>
          <p:cNvPr id="13" name="Speech Bubble: Rectangle 12">
            <a:extLst>
              <a:ext uri="{FF2B5EF4-FFF2-40B4-BE49-F238E27FC236}">
                <a16:creationId xmlns:a16="http://schemas.microsoft.com/office/drawing/2014/main" id="{1C1A8FEB-972F-4DA4-9142-C3DE8C5BCFD8}"/>
              </a:ext>
            </a:extLst>
          </p:cNvPr>
          <p:cNvSpPr/>
          <p:nvPr/>
        </p:nvSpPr>
        <p:spPr>
          <a:xfrm>
            <a:off x="6995326" y="1959542"/>
            <a:ext cx="3126822" cy="1075958"/>
          </a:xfrm>
          <a:prstGeom prst="wedgeRectCallout">
            <a:avLst>
              <a:gd name="adj1" fmla="val 64212"/>
              <a:gd name="adj2" fmla="val -443"/>
            </a:avLst>
          </a:prstGeom>
          <a:solidFill>
            <a:schemeClr val="bg1"/>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Calibri" panose="020F0502020204030204"/>
                <a:ea typeface="+mn-ea"/>
                <a:cs typeface="+mn-cs"/>
              </a:rPr>
              <a:t>Flattening and histogram based methods destroy the spatial information in the image but often still work reasonably well</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Shape 3">
            <a:extLst>
              <a:ext uri="{FF2B5EF4-FFF2-40B4-BE49-F238E27FC236}">
                <a16:creationId xmlns:a16="http://schemas.microsoft.com/office/drawing/2014/main" id="{1FDEB9CA-0B10-41F4-B0D0-EE6ED3145EE6}"/>
              </a:ext>
            </a:extLst>
          </p:cNvPr>
          <p:cNvSpPr txBox="1"/>
          <p:nvPr/>
        </p:nvSpPr>
        <p:spPr>
          <a:xfrm>
            <a:off x="70109" y="6585382"/>
            <a:ext cx="8928000" cy="242540"/>
          </a:xfrm>
          <a:prstGeom prst="rect">
            <a:avLst/>
          </a:prstGeom>
          <a:noFill/>
          <a:ln>
            <a:noFill/>
          </a:ln>
        </p:spPr>
        <p:txBody>
          <a:bodyPr lIns="90000" tIns="45000" rIns="90000" bIns="4500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1" normalizeH="0" baseline="0" noProof="0" dirty="0">
                <a:ln>
                  <a:noFill/>
                </a:ln>
                <a:solidFill>
                  <a:srgbClr val="000000"/>
                </a:solidFill>
                <a:effectLst/>
                <a:uLnTx/>
                <a:uFill>
                  <a:solidFill>
                    <a:srgbClr val="FFFFFF"/>
                  </a:solidFill>
                </a:uFill>
                <a:latin typeface="Arial"/>
                <a:ea typeface="+mn-ea"/>
                <a:cs typeface="+mn-cs"/>
              </a:rPr>
              <a:t>Pic credit: </a:t>
            </a:r>
            <a:r>
              <a:rPr kumimoji="0" lang="en-IN" sz="1100" b="0" i="0" u="none" strike="noStrike" kern="1200" cap="none" spc="0" normalizeH="0" baseline="0" noProof="0" dirty="0">
                <a:ln>
                  <a:noFill/>
                </a:ln>
                <a:solidFill>
                  <a:prstClr val="black"/>
                </a:solidFill>
                <a:effectLst/>
                <a:uLnTx/>
                <a:uFillTx/>
                <a:latin typeface="Calibri" panose="020F0502020204030204"/>
                <a:ea typeface="+mn-ea"/>
                <a:cs typeface="+mn-cs"/>
              </a:rPr>
              <a:t>cat.uab.cat/Research/object-recognition</a:t>
            </a:r>
            <a:endParaRPr kumimoji="0" lang="en-IN" sz="1100" b="0" i="0" u="none" strike="noStrike" kern="1200" cap="none" spc="-1" normalizeH="0" baseline="0" noProof="0" dirty="0">
              <a:ln>
                <a:noFill/>
              </a:ln>
              <a:solidFill>
                <a:srgbClr val="000000"/>
              </a:solidFill>
              <a:effectLst/>
              <a:uLnTx/>
              <a:uFill>
                <a:solidFill>
                  <a:srgbClr val="FFFFFF"/>
                </a:solidFill>
              </a:uFill>
              <a:latin typeface="Arial"/>
              <a:ea typeface="+mn-ea"/>
              <a:cs typeface="+mn-cs"/>
            </a:endParaRPr>
          </a:p>
        </p:txBody>
      </p:sp>
    </p:spTree>
    <p:custDataLst>
      <p:tags r:id="rId1"/>
    </p:custDataLst>
    <p:extLst>
      <p:ext uri="{BB962C8B-B14F-4D97-AF65-F5344CB8AC3E}">
        <p14:creationId xmlns:p14="http://schemas.microsoft.com/office/powerpoint/2010/main" val="3292723206"/>
      </p:ext>
    </p:extLst>
  </p:cSld>
  <p:clrMapOvr>
    <a:masterClrMapping/>
  </p:clrMapOvr>
  <mc:AlternateContent xmlns:mc="http://schemas.openxmlformats.org/markup-compatibility/2006" xmlns:p14="http://schemas.microsoft.com/office/powerpoint/2010/main">
    <mc:Choice Requires="p14">
      <p:transition spd="slow" p14:dur="2000" advTm="140677"/>
    </mc:Choice>
    <mc:Fallback xmlns="">
      <p:transition spd="slow" advTm="14067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down)">
                                      <p:cBhvr>
                                        <p:cTn id="15" dur="500"/>
                                        <p:tgtEl>
                                          <p:spTgt spid="5"/>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down)">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down)">
                                      <p:cBhvr>
                                        <p:cTn id="23" dur="500"/>
                                        <p:tgtEl>
                                          <p:spTgt spid="11"/>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down)">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animEffect transition="in" filter="wipe(down)">
                                      <p:cBhvr>
                                        <p:cTn id="31"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p:bldP spid="10" grpId="0"/>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57946-FC7F-477C-9867-0ED704A858E1}"/>
              </a:ext>
            </a:extLst>
          </p:cNvPr>
          <p:cNvSpPr>
            <a:spLocks noGrp="1"/>
          </p:cNvSpPr>
          <p:nvPr>
            <p:ph type="title"/>
          </p:nvPr>
        </p:nvSpPr>
        <p:spPr>
          <a:xfrm>
            <a:off x="265245" y="169682"/>
            <a:ext cx="11740617" cy="821500"/>
          </a:xfrm>
        </p:spPr>
        <p:txBody>
          <a:bodyPr>
            <a:normAutofit/>
          </a:bodyPr>
          <a:lstStyle/>
          <a:p>
            <a:r>
              <a:rPr lang="en-IN" dirty="0">
                <a:solidFill>
                  <a:schemeClr val="accent2">
                    <a:lumMod val="75000"/>
                  </a:schemeClr>
                </a:solidFill>
              </a:rPr>
              <a:t>Feature Selection</a:t>
            </a:r>
          </a:p>
        </p:txBody>
      </p:sp>
      <p:sp>
        <p:nvSpPr>
          <p:cNvPr id="4" name="Content Placeholder 2">
            <a:extLst>
              <a:ext uri="{FF2B5EF4-FFF2-40B4-BE49-F238E27FC236}">
                <a16:creationId xmlns:a16="http://schemas.microsoft.com/office/drawing/2014/main" id="{571867A3-7A18-448A-97D5-C2A63946A635}"/>
              </a:ext>
            </a:extLst>
          </p:cNvPr>
          <p:cNvSpPr>
            <a:spLocks noGrp="1"/>
          </p:cNvSpPr>
          <p:nvPr>
            <p:ph idx="1"/>
          </p:nvPr>
        </p:nvSpPr>
        <p:spPr>
          <a:xfrm>
            <a:off x="265245" y="1130786"/>
            <a:ext cx="11740617" cy="5557532"/>
          </a:xfrm>
        </p:spPr>
        <p:txBody>
          <a:bodyPr>
            <a:normAutofit/>
          </a:bodyPr>
          <a:lstStyle/>
          <a:p>
            <a:pPr>
              <a:buFont typeface="Wingdings" panose="05000000000000000000" pitchFamily="2" charset="2"/>
              <a:buChar char="§"/>
            </a:pPr>
            <a:r>
              <a:rPr lang="en-GB" dirty="0"/>
              <a:t>Not all the extracted features may be relevant for learning the model (some may even confuse the learner)</a:t>
            </a:r>
          </a:p>
          <a:p>
            <a:pPr>
              <a:buFont typeface="Wingdings" panose="05000000000000000000" pitchFamily="2" charset="2"/>
              <a:buChar char="§"/>
            </a:pPr>
            <a:r>
              <a:rPr lang="en-GB" dirty="0">
                <a:solidFill>
                  <a:srgbClr val="FF0000"/>
                </a:solidFill>
              </a:rPr>
              <a:t>Feature selection </a:t>
            </a:r>
            <a:r>
              <a:rPr lang="en-GB" dirty="0"/>
              <a:t>(a step after feature extraction) can be used to identify the features that matter, and discard the others, for more effective learning</a:t>
            </a:r>
          </a:p>
          <a:p>
            <a:pPr>
              <a:buFont typeface="Wingdings" panose="05000000000000000000" pitchFamily="2" charset="2"/>
              <a:buChar char="§"/>
            </a:pPr>
            <a:endParaRPr lang="en-GB" dirty="0"/>
          </a:p>
          <a:p>
            <a:pPr marL="0" indent="0">
              <a:buNone/>
            </a:pPr>
            <a:endParaRPr lang="en-GB" dirty="0"/>
          </a:p>
          <a:p>
            <a:pPr marL="0" indent="0">
              <a:buNone/>
            </a:pPr>
            <a:endParaRPr lang="en-GB" dirty="0"/>
          </a:p>
          <a:p>
            <a:pPr marL="0" indent="0">
              <a:buNone/>
            </a:pPr>
            <a:endParaRPr lang="en-GB" dirty="0"/>
          </a:p>
          <a:p>
            <a:pPr>
              <a:buFont typeface="Wingdings" panose="05000000000000000000" pitchFamily="2" charset="2"/>
              <a:buChar char="§"/>
            </a:pPr>
            <a:r>
              <a:rPr lang="en-GB" dirty="0"/>
              <a:t>Many techniques exist – some based on intuition, some based on algorithmic principles </a:t>
            </a:r>
          </a:p>
          <a:p>
            <a:pPr>
              <a:buFont typeface="Wingdings" panose="05000000000000000000" pitchFamily="2" charset="2"/>
              <a:buChar char="§"/>
            </a:pPr>
            <a:endParaRPr lang="en-GB" dirty="0"/>
          </a:p>
          <a:p>
            <a:pPr marL="0" indent="0">
              <a:buNone/>
            </a:pPr>
            <a:endParaRPr lang="en-GB" dirty="0"/>
          </a:p>
          <a:p>
            <a:pPr marL="0" indent="0">
              <a:buNone/>
            </a:pPr>
            <a:endParaRPr lang="en-GB" sz="2400" dirty="0"/>
          </a:p>
          <a:p>
            <a:pPr marL="0" indent="0">
              <a:buNone/>
            </a:pPr>
            <a:endParaRPr lang="en-GB" sz="2400" dirty="0"/>
          </a:p>
          <a:p>
            <a:pPr>
              <a:buFont typeface="Wingdings" panose="05000000000000000000" pitchFamily="2" charset="2"/>
              <a:buChar char="§"/>
            </a:pPr>
            <a:endParaRPr lang="en-IN" sz="2600" dirty="0"/>
          </a:p>
        </p:txBody>
      </p:sp>
      <p:sp>
        <p:nvSpPr>
          <p:cNvPr id="3" name="TextBox 2">
            <a:extLst>
              <a:ext uri="{FF2B5EF4-FFF2-40B4-BE49-F238E27FC236}">
                <a16:creationId xmlns:a16="http://schemas.microsoft.com/office/drawing/2014/main" id="{FDEC35DF-7AFB-431C-8CB8-2D3CE6BA775C}"/>
              </a:ext>
            </a:extLst>
          </p:cNvPr>
          <p:cNvSpPr txBox="1"/>
          <p:nvPr/>
        </p:nvSpPr>
        <p:spPr>
          <a:xfrm>
            <a:off x="4219925" y="3247832"/>
            <a:ext cx="941861" cy="13234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Age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Gender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Height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Weight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Eye </a:t>
            </a:r>
            <a:r>
              <a:rPr kumimoji="0" lang="en-IN" sz="1600" b="0" i="0" u="none" strike="noStrike" kern="1200" cap="none" spc="0" normalizeH="0" baseline="0" noProof="0" dirty="0" err="1">
                <a:ln>
                  <a:noFill/>
                </a:ln>
                <a:solidFill>
                  <a:prstClr val="black"/>
                </a:solidFill>
                <a:effectLst/>
                <a:uLnTx/>
                <a:uFillTx/>
                <a:latin typeface="Calibri" panose="020F0502020204030204"/>
                <a:ea typeface="+mn-ea"/>
                <a:cs typeface="+mn-cs"/>
              </a:rPr>
              <a:t>color</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3F67FAAA-02FC-4A33-B74D-47DB43B0DFFF}"/>
              </a:ext>
            </a:extLst>
          </p:cNvPr>
          <p:cNvSpPr/>
          <p:nvPr/>
        </p:nvSpPr>
        <p:spPr>
          <a:xfrm>
            <a:off x="4168834" y="3255047"/>
            <a:ext cx="936170" cy="1249141"/>
          </a:xfrm>
          <a:prstGeom prst="rect">
            <a:avLst/>
          </a:prstGeom>
          <a:solidFill>
            <a:schemeClr val="bg1">
              <a:alpha val="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39ED5D2C-60B1-490D-AD72-F7393A6AB61A}"/>
              </a:ext>
            </a:extLst>
          </p:cNvPr>
          <p:cNvSpPr txBox="1"/>
          <p:nvPr/>
        </p:nvSpPr>
        <p:spPr>
          <a:xfrm>
            <a:off x="6007701" y="3676073"/>
            <a:ext cx="233724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Body-mass index (BMI)</a:t>
            </a:r>
          </a:p>
        </p:txBody>
      </p:sp>
      <p:sp>
        <p:nvSpPr>
          <p:cNvPr id="7" name="Arrow: Right 6">
            <a:extLst>
              <a:ext uri="{FF2B5EF4-FFF2-40B4-BE49-F238E27FC236}">
                <a16:creationId xmlns:a16="http://schemas.microsoft.com/office/drawing/2014/main" id="{A068AFE4-370E-47CB-832C-F51F4EF336DE}"/>
              </a:ext>
            </a:extLst>
          </p:cNvPr>
          <p:cNvSpPr/>
          <p:nvPr/>
        </p:nvSpPr>
        <p:spPr>
          <a:xfrm>
            <a:off x="5161786" y="3676073"/>
            <a:ext cx="767960" cy="3036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1" name="Straight Connector 10">
            <a:extLst>
              <a:ext uri="{FF2B5EF4-FFF2-40B4-BE49-F238E27FC236}">
                <a16:creationId xmlns:a16="http://schemas.microsoft.com/office/drawing/2014/main" id="{B253E177-73E1-4B07-B6D9-AEDB46705758}"/>
              </a:ext>
            </a:extLst>
          </p:cNvPr>
          <p:cNvCxnSpPr/>
          <p:nvPr/>
        </p:nvCxnSpPr>
        <p:spPr>
          <a:xfrm>
            <a:off x="4403846" y="3585268"/>
            <a:ext cx="212436" cy="24707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A109323-AE49-429B-8E7C-C63A8CBC346B}"/>
              </a:ext>
            </a:extLst>
          </p:cNvPr>
          <p:cNvCxnSpPr>
            <a:cxnSpLocks/>
          </p:cNvCxnSpPr>
          <p:nvPr/>
        </p:nvCxnSpPr>
        <p:spPr>
          <a:xfrm flipH="1">
            <a:off x="4403846" y="3585268"/>
            <a:ext cx="212436" cy="24707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B980C0C-140E-4A11-8077-CCA72A5116F7}"/>
              </a:ext>
            </a:extLst>
          </p:cNvPr>
          <p:cNvCxnSpPr/>
          <p:nvPr/>
        </p:nvCxnSpPr>
        <p:spPr>
          <a:xfrm>
            <a:off x="4381197" y="3322128"/>
            <a:ext cx="212436" cy="24707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BE9F51F-0D5A-42C7-8B7A-F2A74471A253}"/>
              </a:ext>
            </a:extLst>
          </p:cNvPr>
          <p:cNvCxnSpPr>
            <a:cxnSpLocks/>
          </p:cNvCxnSpPr>
          <p:nvPr/>
        </p:nvCxnSpPr>
        <p:spPr>
          <a:xfrm flipH="1">
            <a:off x="4381197" y="3322128"/>
            <a:ext cx="212436" cy="24707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1A04AEA-ECFA-4266-925A-9E6E0DC7779D}"/>
              </a:ext>
            </a:extLst>
          </p:cNvPr>
          <p:cNvCxnSpPr/>
          <p:nvPr/>
        </p:nvCxnSpPr>
        <p:spPr>
          <a:xfrm>
            <a:off x="4424483" y="4257115"/>
            <a:ext cx="212436" cy="24707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4DC1649-72C4-4CFA-8035-34C651527A93}"/>
              </a:ext>
            </a:extLst>
          </p:cNvPr>
          <p:cNvCxnSpPr>
            <a:cxnSpLocks/>
          </p:cNvCxnSpPr>
          <p:nvPr/>
        </p:nvCxnSpPr>
        <p:spPr>
          <a:xfrm flipH="1">
            <a:off x="4424483" y="4257115"/>
            <a:ext cx="212436" cy="24707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DB2307C1-11F5-4331-8F09-7EB1EE6B6E4C}"/>
              </a:ext>
            </a:extLst>
          </p:cNvPr>
          <p:cNvPicPr>
            <a:picLocks noChangeAspect="1"/>
          </p:cNvPicPr>
          <p:nvPr/>
        </p:nvPicPr>
        <p:blipFill>
          <a:blip r:embed="rId3"/>
          <a:stretch>
            <a:fillRect/>
          </a:stretch>
        </p:blipFill>
        <p:spPr>
          <a:xfrm>
            <a:off x="11073130" y="3322128"/>
            <a:ext cx="1010687" cy="965223"/>
          </a:xfrm>
          <a:prstGeom prst="rect">
            <a:avLst/>
          </a:prstGeom>
        </p:spPr>
      </p:pic>
      <p:sp>
        <p:nvSpPr>
          <p:cNvPr id="21" name="Speech Bubble: Rectangle 20">
            <a:extLst>
              <a:ext uri="{FF2B5EF4-FFF2-40B4-BE49-F238E27FC236}">
                <a16:creationId xmlns:a16="http://schemas.microsoft.com/office/drawing/2014/main" id="{59B968BC-17E5-4600-89D9-5AB411A9E7ED}"/>
              </a:ext>
            </a:extLst>
          </p:cNvPr>
          <p:cNvSpPr/>
          <p:nvPr/>
        </p:nvSpPr>
        <p:spPr>
          <a:xfrm>
            <a:off x="8655053" y="3203311"/>
            <a:ext cx="2107967" cy="1249141"/>
          </a:xfrm>
          <a:prstGeom prst="wedgeRectCallout">
            <a:avLst>
              <a:gd name="adj1" fmla="val 73852"/>
              <a:gd name="adj2" fmla="val -6765"/>
            </a:avLst>
          </a:prstGeom>
          <a:solidFill>
            <a:schemeClr val="bg1"/>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black"/>
                </a:solidFill>
                <a:effectLst/>
                <a:uLnTx/>
                <a:uFillTx/>
                <a:latin typeface="Calibri" panose="020F0502020204030204"/>
                <a:ea typeface="+mn-ea"/>
                <a:cs typeface="+mn-cs"/>
              </a:rPr>
              <a:t>Calculating BMI from this data doesn’t require ML but this simple example is just to illustrate the idea of feature selection </a:t>
            </a:r>
            <a:r>
              <a:rPr kumimoji="0" lang="en-GB" sz="140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a:t>
            </a:r>
            <a:endPar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3277653860"/>
      </p:ext>
    </p:extLst>
  </p:cSld>
  <p:clrMapOvr>
    <a:masterClrMapping/>
  </p:clrMapOvr>
  <mc:AlternateContent xmlns:mc="http://schemas.openxmlformats.org/markup-compatibility/2006" xmlns:p14="http://schemas.microsoft.com/office/powerpoint/2010/main">
    <mc:Choice Requires="p14">
      <p:transition spd="slow" p14:dur="2000" advTm="158928"/>
    </mc:Choice>
    <mc:Fallback xmlns="">
      <p:transition spd="slow" advTm="15892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down)">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down)">
                                      <p:cBhvr>
                                        <p:cTn id="20" dur="500"/>
                                        <p:tgtEl>
                                          <p:spTgt spid="7"/>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down)">
                                      <p:cBhvr>
                                        <p:cTn id="23" dur="500"/>
                                        <p:tgtEl>
                                          <p:spTgt spid="6"/>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down)">
                                      <p:cBhvr>
                                        <p:cTn id="26" dur="5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down)">
                                      <p:cBhvr>
                                        <p:cTn id="31" dur="500"/>
                                        <p:tgtEl>
                                          <p:spTgt spid="11"/>
                                        </p:tgtEl>
                                      </p:cBhvr>
                                    </p:animEffect>
                                  </p:childTnLst>
                                </p:cTn>
                              </p:par>
                              <p:par>
                                <p:cTn id="32" presetID="22" presetClass="entr" presetSubtype="4"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wipe(down)">
                                      <p:cBhvr>
                                        <p:cTn id="34" dur="500"/>
                                        <p:tgtEl>
                                          <p:spTgt spid="13"/>
                                        </p:tgtEl>
                                      </p:cBhvr>
                                    </p:animEffect>
                                  </p:childTnLst>
                                </p:cTn>
                              </p:par>
                              <p:par>
                                <p:cTn id="35" presetID="22" presetClass="entr" presetSubtype="4"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down)">
                                      <p:cBhvr>
                                        <p:cTn id="37" dur="500"/>
                                        <p:tgtEl>
                                          <p:spTgt spid="17"/>
                                        </p:tgtEl>
                                      </p:cBhvr>
                                    </p:animEffect>
                                  </p:childTnLst>
                                </p:cTn>
                              </p:par>
                              <p:par>
                                <p:cTn id="38" presetID="22" presetClass="entr" presetSubtype="4" fill="hold"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wipe(down)">
                                      <p:cBhvr>
                                        <p:cTn id="40" dur="500"/>
                                        <p:tgtEl>
                                          <p:spTgt spid="16"/>
                                        </p:tgtEl>
                                      </p:cBhvr>
                                    </p:animEffect>
                                  </p:childTnLst>
                                </p:cTn>
                              </p:par>
                              <p:par>
                                <p:cTn id="41" presetID="22" presetClass="entr" presetSubtype="4" fill="hold"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wipe(down)">
                                      <p:cBhvr>
                                        <p:cTn id="43" dur="500"/>
                                        <p:tgtEl>
                                          <p:spTgt spid="19"/>
                                        </p:tgtEl>
                                      </p:cBhvr>
                                    </p:animEffect>
                                  </p:childTnLst>
                                </p:cTn>
                              </p:par>
                              <p:par>
                                <p:cTn id="44" presetID="22" presetClass="entr" presetSubtype="4" fill="hold"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wipe(down)">
                                      <p:cBhvr>
                                        <p:cTn id="46" dur="500"/>
                                        <p:tgtEl>
                                          <p:spTgt spid="18"/>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wipe(down)">
                                      <p:cBhvr>
                                        <p:cTn id="51" dur="500"/>
                                        <p:tgtEl>
                                          <p:spTgt spid="20"/>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wipe(down)">
                                      <p:cBhvr>
                                        <p:cTn id="54" dur="500"/>
                                        <p:tgtEl>
                                          <p:spTgt spid="21"/>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grpId="0" nodeType="clickEffect">
                                  <p:stCondLst>
                                    <p:cond delay="0"/>
                                  </p:stCondLst>
                                  <p:childTnLst>
                                    <p:set>
                                      <p:cBhvr>
                                        <p:cTn id="58" dur="1" fill="hold">
                                          <p:stCondLst>
                                            <p:cond delay="0"/>
                                          </p:stCondLst>
                                        </p:cTn>
                                        <p:tgtEl>
                                          <p:spTgt spid="4">
                                            <p:txEl>
                                              <p:pRg st="6" end="6"/>
                                            </p:txEl>
                                          </p:spTgt>
                                        </p:tgtEl>
                                        <p:attrNameLst>
                                          <p:attrName>style.visibility</p:attrName>
                                        </p:attrNameLst>
                                      </p:cBhvr>
                                      <p:to>
                                        <p:strVal val="visible"/>
                                      </p:to>
                                    </p:set>
                                    <p:animEffect transition="in" filter="wipe(down)">
                                      <p:cBhvr>
                                        <p:cTn id="59"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3" grpId="0"/>
      <p:bldP spid="5" grpId="0" animBg="1"/>
      <p:bldP spid="6" grpId="0"/>
      <p:bldP spid="7" grpId="0" animBg="1"/>
      <p:bldP spid="2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57946-FC7F-477C-9867-0ED704A858E1}"/>
              </a:ext>
            </a:extLst>
          </p:cNvPr>
          <p:cNvSpPr>
            <a:spLocks noGrp="1"/>
          </p:cNvSpPr>
          <p:nvPr>
            <p:ph type="title"/>
          </p:nvPr>
        </p:nvSpPr>
        <p:spPr>
          <a:xfrm>
            <a:off x="265245" y="169682"/>
            <a:ext cx="11740617" cy="821500"/>
          </a:xfrm>
        </p:spPr>
        <p:txBody>
          <a:bodyPr>
            <a:normAutofit/>
          </a:bodyPr>
          <a:lstStyle/>
          <a:p>
            <a:r>
              <a:rPr lang="en-IN" dirty="0">
                <a:solidFill>
                  <a:schemeClr val="accent2">
                    <a:lumMod val="75000"/>
                  </a:schemeClr>
                </a:solidFill>
              </a:rPr>
              <a:t>Some More Postprocessing: Feature Scaling</a:t>
            </a:r>
          </a:p>
        </p:txBody>
      </p:sp>
      <p:sp>
        <p:nvSpPr>
          <p:cNvPr id="4" name="Content Placeholder 2">
            <a:extLst>
              <a:ext uri="{FF2B5EF4-FFF2-40B4-BE49-F238E27FC236}">
                <a16:creationId xmlns:a16="http://schemas.microsoft.com/office/drawing/2014/main" id="{571867A3-7A18-448A-97D5-C2A63946A635}"/>
              </a:ext>
            </a:extLst>
          </p:cNvPr>
          <p:cNvSpPr>
            <a:spLocks noGrp="1"/>
          </p:cNvSpPr>
          <p:nvPr>
            <p:ph idx="1"/>
          </p:nvPr>
        </p:nvSpPr>
        <p:spPr>
          <a:xfrm>
            <a:off x="265245" y="1130786"/>
            <a:ext cx="11740617" cy="5557532"/>
          </a:xfrm>
        </p:spPr>
        <p:txBody>
          <a:bodyPr>
            <a:normAutofit/>
          </a:bodyPr>
          <a:lstStyle/>
          <a:p>
            <a:pPr>
              <a:buFont typeface="Wingdings" panose="05000000000000000000" pitchFamily="2" charset="2"/>
              <a:buChar char="§"/>
            </a:pPr>
            <a:r>
              <a:rPr lang="en-GB" sz="2400" dirty="0"/>
              <a:t>Even after feature selection, the features may not be on the same scale</a:t>
            </a:r>
          </a:p>
          <a:p>
            <a:pPr>
              <a:buFont typeface="Wingdings" panose="05000000000000000000" pitchFamily="2" charset="2"/>
              <a:buChar char="§"/>
            </a:pPr>
            <a:r>
              <a:rPr lang="en-GB" sz="2400" dirty="0"/>
              <a:t>This can be problematic when comparing two inputs – features that have larger scales may dominate the result of such comparisons</a:t>
            </a:r>
          </a:p>
          <a:p>
            <a:pPr>
              <a:buFont typeface="Wingdings" panose="05000000000000000000" pitchFamily="2" charset="2"/>
              <a:buChar char="§"/>
            </a:pPr>
            <a:r>
              <a:rPr lang="en-GB" sz="2400" dirty="0"/>
              <a:t>Therefore, helpful to standardize the features (e.g., by bringing all of them on the same scale such as between 0 to 1)</a:t>
            </a:r>
          </a:p>
          <a:p>
            <a:pPr marL="0" indent="0">
              <a:buNone/>
            </a:pPr>
            <a:endParaRPr lang="en-GB" sz="2400" dirty="0"/>
          </a:p>
          <a:p>
            <a:pPr marL="0" indent="0">
              <a:buNone/>
            </a:pPr>
            <a:endParaRPr lang="en-GB" sz="2400" dirty="0"/>
          </a:p>
          <a:p>
            <a:pPr marL="0" indent="0">
              <a:buNone/>
            </a:pPr>
            <a:endParaRPr lang="en-GB" sz="2400" dirty="0"/>
          </a:p>
          <a:p>
            <a:pPr marL="0" indent="0">
              <a:buNone/>
            </a:pPr>
            <a:endParaRPr lang="en-GB" sz="2400" dirty="0"/>
          </a:p>
          <a:p>
            <a:pPr marL="0" indent="0">
              <a:buNone/>
            </a:pPr>
            <a:endParaRPr lang="en-GB" sz="2400" dirty="0"/>
          </a:p>
          <a:p>
            <a:pPr>
              <a:buFont typeface="Wingdings" panose="05000000000000000000" pitchFamily="2" charset="2"/>
              <a:buChar char="§"/>
            </a:pPr>
            <a:endParaRPr lang="en-GB" sz="2400" dirty="0"/>
          </a:p>
          <a:p>
            <a:pPr>
              <a:buFont typeface="Wingdings" panose="05000000000000000000" pitchFamily="2" charset="2"/>
              <a:buChar char="§"/>
            </a:pPr>
            <a:endParaRPr lang="en-GB" sz="2400" dirty="0"/>
          </a:p>
          <a:p>
            <a:pPr marL="0" indent="0">
              <a:buNone/>
            </a:pPr>
            <a:endParaRPr lang="en-GB" dirty="0"/>
          </a:p>
          <a:p>
            <a:pPr marL="0" indent="0">
              <a:buNone/>
            </a:pPr>
            <a:endParaRPr lang="en-GB" dirty="0"/>
          </a:p>
          <a:p>
            <a:pPr marL="0" indent="0">
              <a:buNone/>
            </a:pPr>
            <a:endParaRPr lang="en-GB" sz="2400" dirty="0"/>
          </a:p>
          <a:p>
            <a:pPr marL="0" indent="0">
              <a:buNone/>
            </a:pPr>
            <a:endParaRPr lang="en-GB" sz="2400" dirty="0"/>
          </a:p>
          <a:p>
            <a:pPr>
              <a:buFont typeface="Wingdings" panose="05000000000000000000" pitchFamily="2" charset="2"/>
              <a:buChar char="§"/>
            </a:pPr>
            <a:endParaRPr lang="en-IN" sz="2600" dirty="0"/>
          </a:p>
        </p:txBody>
      </p:sp>
      <p:pic>
        <p:nvPicPr>
          <p:cNvPr id="5" name="Picture 4">
            <a:extLst>
              <a:ext uri="{FF2B5EF4-FFF2-40B4-BE49-F238E27FC236}">
                <a16:creationId xmlns:a16="http://schemas.microsoft.com/office/drawing/2014/main" id="{4929E617-A6B0-4EE3-8A77-FD4E11F4CCC5}"/>
              </a:ext>
            </a:extLst>
          </p:cNvPr>
          <p:cNvPicPr/>
          <p:nvPr/>
        </p:nvPicPr>
        <p:blipFill>
          <a:blip r:embed="rId4"/>
          <a:stretch/>
        </p:blipFill>
        <p:spPr>
          <a:xfrm>
            <a:off x="4543855" y="2957126"/>
            <a:ext cx="6657546" cy="3246111"/>
          </a:xfrm>
          <a:prstGeom prst="rect">
            <a:avLst/>
          </a:prstGeom>
          <a:ln>
            <a:noFill/>
          </a:ln>
        </p:spPr>
      </p:pic>
      <p:sp>
        <p:nvSpPr>
          <p:cNvPr id="7" name="TextShape 3">
            <a:extLst>
              <a:ext uri="{FF2B5EF4-FFF2-40B4-BE49-F238E27FC236}">
                <a16:creationId xmlns:a16="http://schemas.microsoft.com/office/drawing/2014/main" id="{65CF910D-0E93-495C-90AE-0A4E22EFD95B}"/>
              </a:ext>
            </a:extLst>
          </p:cNvPr>
          <p:cNvSpPr txBox="1"/>
          <p:nvPr/>
        </p:nvSpPr>
        <p:spPr>
          <a:xfrm>
            <a:off x="70109" y="6585382"/>
            <a:ext cx="8928000" cy="242540"/>
          </a:xfrm>
          <a:prstGeom prst="rect">
            <a:avLst/>
          </a:prstGeom>
          <a:noFill/>
          <a:ln>
            <a:noFill/>
          </a:ln>
        </p:spPr>
        <p:txBody>
          <a:bodyPr lIns="90000" tIns="45000" rIns="90000" bIns="4500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1" normalizeH="0" baseline="0" noProof="0" dirty="0">
                <a:ln>
                  <a:noFill/>
                </a:ln>
                <a:solidFill>
                  <a:srgbClr val="000000"/>
                </a:solidFill>
                <a:effectLst/>
                <a:uLnTx/>
                <a:uFill>
                  <a:solidFill>
                    <a:srgbClr val="FFFFFF"/>
                  </a:solidFill>
                </a:uFill>
                <a:latin typeface="Arial"/>
                <a:ea typeface="+mn-ea"/>
                <a:cs typeface="+mn-cs"/>
              </a:rPr>
              <a:t>Pic credit: </a:t>
            </a:r>
            <a:r>
              <a:rPr kumimoji="0" lang="en-IN" sz="1100" b="0" i="0" u="none" strike="noStrike" kern="1200" cap="none" spc="0" normalizeH="0" baseline="0" noProof="0" dirty="0">
                <a:ln>
                  <a:noFill/>
                </a:ln>
                <a:solidFill>
                  <a:prstClr val="black"/>
                </a:solidFill>
                <a:effectLst/>
                <a:uLnTx/>
                <a:uFillTx/>
                <a:latin typeface="Calibri" panose="020F0502020204030204"/>
                <a:ea typeface="+mn-ea"/>
                <a:cs typeface="+mn-cs"/>
              </a:rPr>
              <a:t>https://becominghuman.ai/demystifying-feature-scaling-baff53e9b3fd</a:t>
            </a:r>
            <a:r>
              <a:rPr kumimoji="0" lang="en-IN" sz="1100" b="0" i="0" u="none" strike="noStrike" kern="1200" cap="none" spc="-1" normalizeH="0" baseline="0" noProof="0" dirty="0">
                <a:ln>
                  <a:noFill/>
                </a:ln>
                <a:solidFill>
                  <a:srgbClr val="000000"/>
                </a:solidFill>
                <a:effectLst/>
                <a:uLnTx/>
                <a:uFill>
                  <a:solidFill>
                    <a:srgbClr val="FFFFFF"/>
                  </a:solidFill>
                </a:uFill>
                <a:latin typeface="Arial"/>
                <a:ea typeface="+mn-ea"/>
                <a:cs typeface="+mn-cs"/>
              </a:rPr>
              <a:t>, </a:t>
            </a:r>
            <a:r>
              <a:rPr kumimoji="0" lang="en-IN" sz="1100" b="0" i="0" u="none" strike="noStrike" kern="1200" cap="none" spc="0" normalizeH="0" baseline="0" noProof="0" dirty="0">
                <a:ln>
                  <a:noFill/>
                </a:ln>
                <a:solidFill>
                  <a:prstClr val="black"/>
                </a:solidFill>
                <a:effectLst/>
                <a:uLnTx/>
                <a:uFillTx/>
                <a:latin typeface="Calibri" panose="020F0502020204030204"/>
                <a:ea typeface="+mn-ea"/>
                <a:cs typeface="+mn-cs"/>
              </a:rPr>
              <a:t>https://stackoverflow.com/</a:t>
            </a:r>
            <a:endParaRPr kumimoji="0" lang="en-IN" sz="1100" b="0" i="0" u="none" strike="noStrike" kern="1200" cap="none" spc="-1" normalizeH="0" baseline="0" noProof="0" dirty="0">
              <a:ln>
                <a:noFill/>
              </a:ln>
              <a:solidFill>
                <a:srgbClr val="000000"/>
              </a:solidFill>
              <a:effectLst/>
              <a:uLnTx/>
              <a:uFill>
                <a:solidFill>
                  <a:srgbClr val="FFFFFF"/>
                </a:solidFill>
              </a:uFill>
              <a:latin typeface="Arial"/>
              <a:ea typeface="+mn-ea"/>
              <a:cs typeface="+mn-cs"/>
            </a:endParaRPr>
          </a:p>
        </p:txBody>
      </p:sp>
    </p:spTree>
    <p:custDataLst>
      <p:tags r:id="rId1"/>
    </p:custDataLst>
    <p:extLst>
      <p:ext uri="{BB962C8B-B14F-4D97-AF65-F5344CB8AC3E}">
        <p14:creationId xmlns:p14="http://schemas.microsoft.com/office/powerpoint/2010/main" val="1487839840"/>
      </p:ext>
    </p:extLst>
  </p:cSld>
  <p:clrMapOvr>
    <a:masterClrMapping/>
  </p:clrMapOvr>
  <mc:AlternateContent xmlns:mc="http://schemas.openxmlformats.org/markup-compatibility/2006" xmlns:p14="http://schemas.microsoft.com/office/powerpoint/2010/main">
    <mc:Choice Requires="p14">
      <p:transition spd="slow" p14:dur="2000" advTm="123581"/>
    </mc:Choice>
    <mc:Fallback xmlns="">
      <p:transition spd="slow" advTm="12358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down)">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down)">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57946-FC7F-477C-9867-0ED704A858E1}"/>
              </a:ext>
            </a:extLst>
          </p:cNvPr>
          <p:cNvSpPr>
            <a:spLocks noGrp="1"/>
          </p:cNvSpPr>
          <p:nvPr>
            <p:ph type="title"/>
          </p:nvPr>
        </p:nvSpPr>
        <p:spPr>
          <a:xfrm>
            <a:off x="265245" y="169682"/>
            <a:ext cx="11740617" cy="821500"/>
          </a:xfrm>
        </p:spPr>
        <p:txBody>
          <a:bodyPr>
            <a:normAutofit/>
          </a:bodyPr>
          <a:lstStyle/>
          <a:p>
            <a:r>
              <a:rPr lang="en-GB" dirty="0">
                <a:solidFill>
                  <a:schemeClr val="accent2">
                    <a:lumMod val="75000"/>
                  </a:schemeClr>
                </a:solidFill>
              </a:rPr>
              <a:t>Types of Features and Types of Outputs</a:t>
            </a:r>
            <a:endParaRPr lang="en-IN" dirty="0">
              <a:solidFill>
                <a:schemeClr val="accent2">
                  <a:lumMod val="75000"/>
                </a:schemeClr>
              </a:solidFill>
            </a:endParaRPr>
          </a:p>
        </p:txBody>
      </p:sp>
      <p:sp>
        <p:nvSpPr>
          <p:cNvPr id="4" name="Content Placeholder 2">
            <a:extLst>
              <a:ext uri="{FF2B5EF4-FFF2-40B4-BE49-F238E27FC236}">
                <a16:creationId xmlns:a16="http://schemas.microsoft.com/office/drawing/2014/main" id="{22B7DD1A-7A4A-49F3-9BB1-17CB482EDFAC}"/>
              </a:ext>
            </a:extLst>
          </p:cNvPr>
          <p:cNvSpPr>
            <a:spLocks noGrp="1"/>
          </p:cNvSpPr>
          <p:nvPr>
            <p:ph idx="1"/>
          </p:nvPr>
        </p:nvSpPr>
        <p:spPr>
          <a:xfrm>
            <a:off x="265245" y="1130786"/>
            <a:ext cx="11740617" cy="5557532"/>
          </a:xfrm>
        </p:spPr>
        <p:txBody>
          <a:bodyPr>
            <a:noAutofit/>
          </a:bodyPr>
          <a:lstStyle/>
          <a:p>
            <a:pPr>
              <a:buFont typeface="Wingdings" panose="05000000000000000000" pitchFamily="2" charset="2"/>
              <a:buChar char="§"/>
            </a:pPr>
            <a:r>
              <a:rPr lang="en-GB" sz="2400" dirty="0"/>
              <a:t>Features as well as outputs can be real-valued, binary, categorical, ordinal, etc. </a:t>
            </a:r>
          </a:p>
          <a:p>
            <a:pPr marL="0" indent="0">
              <a:buNone/>
            </a:pPr>
            <a:endParaRPr lang="en-GB" sz="2400" dirty="0"/>
          </a:p>
          <a:p>
            <a:pPr>
              <a:buFont typeface="Wingdings" panose="05000000000000000000" pitchFamily="2" charset="2"/>
              <a:buChar char="§"/>
            </a:pPr>
            <a:r>
              <a:rPr lang="en-GB" sz="2400" dirty="0">
                <a:solidFill>
                  <a:srgbClr val="FF0000"/>
                </a:solidFill>
              </a:rPr>
              <a:t>Real-valued:</a:t>
            </a:r>
            <a:r>
              <a:rPr lang="en-GB" sz="2400" dirty="0"/>
              <a:t> Pixel intensity, house area, house price, rainfall amount, temperature, etc</a:t>
            </a:r>
          </a:p>
          <a:p>
            <a:pPr marL="0" indent="0">
              <a:buNone/>
            </a:pPr>
            <a:endParaRPr lang="en-GB" sz="2400" dirty="0"/>
          </a:p>
          <a:p>
            <a:pPr>
              <a:buFont typeface="Wingdings" panose="05000000000000000000" pitchFamily="2" charset="2"/>
              <a:buChar char="§"/>
            </a:pPr>
            <a:r>
              <a:rPr lang="en-GB" sz="2400" dirty="0">
                <a:solidFill>
                  <a:srgbClr val="FF0000"/>
                </a:solidFill>
              </a:rPr>
              <a:t>Binary:</a:t>
            </a:r>
            <a:r>
              <a:rPr lang="en-GB" sz="2400" dirty="0"/>
              <a:t> Male/female, adult/non-adult, or any yes/no or present/absent type value</a:t>
            </a:r>
          </a:p>
          <a:p>
            <a:pPr marL="0" indent="0">
              <a:buNone/>
            </a:pPr>
            <a:endParaRPr lang="en-GB" sz="2400" dirty="0"/>
          </a:p>
          <a:p>
            <a:pPr>
              <a:buFont typeface="Wingdings" panose="05000000000000000000" pitchFamily="2" charset="2"/>
              <a:buChar char="§"/>
            </a:pPr>
            <a:r>
              <a:rPr lang="en-GB" sz="2400" dirty="0">
                <a:solidFill>
                  <a:srgbClr val="FF0000"/>
                </a:solidFill>
              </a:rPr>
              <a:t>Categorical/Discrete: </a:t>
            </a:r>
            <a:r>
              <a:rPr lang="en-GB" sz="2400" dirty="0" err="1"/>
              <a:t>Zipcode</a:t>
            </a:r>
            <a:r>
              <a:rPr lang="en-GB" sz="2400" dirty="0"/>
              <a:t>, blood-group, or any “one from a finite many choices“ value</a:t>
            </a:r>
          </a:p>
          <a:p>
            <a:pPr>
              <a:buFont typeface="Wingdings" panose="05000000000000000000" pitchFamily="2" charset="2"/>
              <a:buChar char="§"/>
            </a:pPr>
            <a:endParaRPr lang="en-GB" sz="2400" dirty="0"/>
          </a:p>
          <a:p>
            <a:pPr>
              <a:buFont typeface="Wingdings" panose="05000000000000000000" pitchFamily="2" charset="2"/>
              <a:buChar char="§"/>
            </a:pPr>
            <a:r>
              <a:rPr lang="en-GB" sz="2400" dirty="0">
                <a:solidFill>
                  <a:srgbClr val="FF0000"/>
                </a:solidFill>
              </a:rPr>
              <a:t>Ordinal:</a:t>
            </a:r>
            <a:r>
              <a:rPr lang="en-GB" sz="2400" dirty="0"/>
              <a:t> Grade (A/B/C etc.) in a course, or any other type where relative values matter</a:t>
            </a:r>
          </a:p>
          <a:p>
            <a:pPr>
              <a:buFont typeface="Wingdings" panose="05000000000000000000" pitchFamily="2" charset="2"/>
              <a:buChar char="§"/>
            </a:pPr>
            <a:endParaRPr lang="en-GB" sz="2400" dirty="0"/>
          </a:p>
          <a:p>
            <a:pPr>
              <a:buFont typeface="Wingdings" panose="05000000000000000000" pitchFamily="2" charset="2"/>
              <a:buChar char="§"/>
            </a:pPr>
            <a:r>
              <a:rPr lang="en-GB" sz="2400" dirty="0"/>
              <a:t>Often, the features can be of mixed types (some real, some categorical, some ordinal, etc.)</a:t>
            </a:r>
          </a:p>
        </p:txBody>
      </p:sp>
    </p:spTree>
    <p:custDataLst>
      <p:tags r:id="rId1"/>
    </p:custDataLst>
    <p:extLst>
      <p:ext uri="{BB962C8B-B14F-4D97-AF65-F5344CB8AC3E}">
        <p14:creationId xmlns:p14="http://schemas.microsoft.com/office/powerpoint/2010/main" val="2308838584"/>
      </p:ext>
    </p:extLst>
  </p:cSld>
  <p:clrMapOvr>
    <a:masterClrMapping/>
  </p:clrMapOvr>
  <mc:AlternateContent xmlns:mc="http://schemas.openxmlformats.org/markup-compatibility/2006" xmlns:p14="http://schemas.microsoft.com/office/powerpoint/2010/main">
    <mc:Choice Requires="p14">
      <p:transition spd="slow" p14:dur="2000" advTm="91238"/>
    </mc:Choice>
    <mc:Fallback xmlns="">
      <p:transition spd="slow" advTm="9123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wipe(down)">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wipe(down)">
                                      <p:cBhvr>
                                        <p:cTn id="17" dur="5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wipe(down)">
                                      <p:cBhvr>
                                        <p:cTn id="22" dur="500"/>
                                        <p:tgtEl>
                                          <p:spTgt spid="4">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animEffect transition="in" filter="wipe(down)">
                                      <p:cBhvr>
                                        <p:cTn id="27" dur="500"/>
                                        <p:tgtEl>
                                          <p:spTgt spid="4">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4">
                                            <p:txEl>
                                              <p:pRg st="10" end="10"/>
                                            </p:txEl>
                                          </p:spTgt>
                                        </p:tgtEl>
                                        <p:attrNameLst>
                                          <p:attrName>style.visibility</p:attrName>
                                        </p:attrNameLst>
                                      </p:cBhvr>
                                      <p:to>
                                        <p:strVal val="visible"/>
                                      </p:to>
                                    </p:set>
                                    <p:animEffect transition="in" filter="wipe(down)">
                                      <p:cBhvr>
                                        <p:cTn id="32"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D0DD9-2065-BF39-64E2-56362420D161}"/>
              </a:ext>
            </a:extLst>
          </p:cNvPr>
          <p:cNvSpPr>
            <a:spLocks noGrp="1"/>
          </p:cNvSpPr>
          <p:nvPr>
            <p:ph type="title"/>
          </p:nvPr>
        </p:nvSpPr>
        <p:spPr>
          <a:xfrm>
            <a:off x="838200" y="2593975"/>
            <a:ext cx="10515600" cy="1325563"/>
          </a:xfrm>
        </p:spPr>
        <p:txBody>
          <a:bodyPr/>
          <a:lstStyle/>
          <a:p>
            <a:pPr algn="ctr"/>
            <a:r>
              <a:rPr lang="en-GB" b="1" dirty="0">
                <a:solidFill>
                  <a:schemeClr val="accent2"/>
                </a:solidFill>
              </a:rPr>
              <a:t>Notations and Conventions</a:t>
            </a:r>
            <a:endParaRPr lang="en-IN" b="1" dirty="0">
              <a:solidFill>
                <a:schemeClr val="accent2"/>
              </a:solidFill>
            </a:endParaRPr>
          </a:p>
        </p:txBody>
      </p:sp>
    </p:spTree>
    <p:extLst>
      <p:ext uri="{BB962C8B-B14F-4D97-AF65-F5344CB8AC3E}">
        <p14:creationId xmlns:p14="http://schemas.microsoft.com/office/powerpoint/2010/main" val="7298161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57946-FC7F-477C-9867-0ED704A858E1}"/>
              </a:ext>
            </a:extLst>
          </p:cNvPr>
          <p:cNvSpPr>
            <a:spLocks noGrp="1"/>
          </p:cNvSpPr>
          <p:nvPr>
            <p:ph type="title"/>
          </p:nvPr>
        </p:nvSpPr>
        <p:spPr>
          <a:xfrm>
            <a:off x="265245" y="169682"/>
            <a:ext cx="11740617" cy="821500"/>
          </a:xfrm>
        </p:spPr>
        <p:txBody>
          <a:bodyPr>
            <a:normAutofit/>
          </a:bodyPr>
          <a:lstStyle/>
          <a:p>
            <a:r>
              <a:rPr lang="en-IN" dirty="0">
                <a:solidFill>
                  <a:schemeClr val="accent2">
                    <a:lumMod val="75000"/>
                  </a:schemeClr>
                </a:solidFill>
                <a:latin typeface="Abadi Extra Light" panose="020B0204020104020204" pitchFamily="34" charset="0"/>
              </a:rPr>
              <a:t>Some Notation and Conventions</a:t>
            </a:r>
          </a:p>
        </p:txBody>
      </p:sp>
      <mc:AlternateContent xmlns:mc="http://schemas.openxmlformats.org/markup-compatibility/2006" xmlns:a14="http://schemas.microsoft.com/office/drawing/2010/main">
        <mc:Choice Requires="a14">
          <p:sp>
            <p:nvSpPr>
              <p:cNvPr id="34" name="Content Placeholder 2">
                <a:extLst>
                  <a:ext uri="{FF2B5EF4-FFF2-40B4-BE49-F238E27FC236}">
                    <a16:creationId xmlns:a16="http://schemas.microsoft.com/office/drawing/2014/main" id="{E1DF4C8E-2FB0-4CA2-9D9A-034196FC982E}"/>
                  </a:ext>
                </a:extLst>
              </p:cNvPr>
              <p:cNvSpPr>
                <a:spLocks noGrp="1"/>
              </p:cNvSpPr>
              <p:nvPr>
                <p:ph idx="1"/>
              </p:nvPr>
            </p:nvSpPr>
            <p:spPr>
              <a:xfrm>
                <a:off x="265245" y="1130786"/>
                <a:ext cx="11740617" cy="5557532"/>
              </a:xfrm>
            </p:spPr>
            <p:txBody>
              <a:bodyPr>
                <a:normAutofit fontScale="92500" lnSpcReduction="10000"/>
              </a:bodyPr>
              <a:lstStyle/>
              <a:p>
                <a:pPr>
                  <a:buFont typeface="Wingdings" panose="05000000000000000000" pitchFamily="2" charset="2"/>
                  <a:buChar char="§"/>
                </a:pPr>
                <a:r>
                  <a:rPr lang="en-GB" sz="3200" dirty="0">
                    <a:latin typeface="Abadi Extra Light" panose="020B0604020202020204" pitchFamily="34" charset="0"/>
                  </a:rPr>
                  <a:t>In ML, inputs are usually represented by vectors</a:t>
                </a:r>
              </a:p>
              <a:p>
                <a:pPr>
                  <a:buFont typeface="Wingdings" panose="05000000000000000000" pitchFamily="2" charset="2"/>
                  <a:buChar char="§"/>
                </a:pPr>
                <a:r>
                  <a:rPr lang="en-GB" sz="3200" dirty="0">
                    <a:latin typeface="Abadi Extra Light" panose="020B0604020202020204" pitchFamily="34" charset="0"/>
                  </a:rPr>
                  <a:t>A vector consists of an array of scalar values</a:t>
                </a:r>
              </a:p>
              <a:p>
                <a:pPr>
                  <a:buFont typeface="Wingdings" panose="05000000000000000000" pitchFamily="2" charset="2"/>
                  <a:buChar char="§"/>
                </a:pPr>
                <a:r>
                  <a:rPr lang="en-GB" sz="3200" dirty="0">
                    <a:latin typeface="Abadi Extra Light" panose="020B0604020202020204" pitchFamily="34" charset="0"/>
                  </a:rPr>
                  <a:t>Geometrically, a vector is just a point in a vector space, e.g., </a:t>
                </a:r>
              </a:p>
              <a:p>
                <a:pPr lvl="1">
                  <a:buFont typeface="Wingdings" panose="05000000000000000000" pitchFamily="2" charset="2"/>
                  <a:buChar char="§"/>
                </a:pPr>
                <a:r>
                  <a:rPr lang="en-GB" sz="2800" dirty="0">
                    <a:latin typeface="Abadi Extra Light" panose="020B0604020202020204" pitchFamily="34" charset="0"/>
                  </a:rPr>
                  <a:t>A length 2 vector is a point in 2-dim vector space</a:t>
                </a:r>
              </a:p>
              <a:p>
                <a:pPr lvl="1">
                  <a:buFont typeface="Wingdings" panose="05000000000000000000" pitchFamily="2" charset="2"/>
                  <a:buChar char="§"/>
                </a:pPr>
                <a:r>
                  <a:rPr lang="en-GB" sz="2800" dirty="0">
                    <a:latin typeface="Abadi Extra Light" panose="020B0604020202020204" pitchFamily="34" charset="0"/>
                  </a:rPr>
                  <a:t>A length 3 vector is a point in 3-dim vector space</a:t>
                </a:r>
              </a:p>
              <a:p>
                <a:pPr marL="457200" lvl="1" indent="0">
                  <a:buNone/>
                </a:pPr>
                <a:endParaRPr lang="en-GB" dirty="0">
                  <a:latin typeface="Abadi Extra Light" panose="020B0604020202020204" pitchFamily="34" charset="0"/>
                </a:endParaRPr>
              </a:p>
              <a:p>
                <a:pPr>
                  <a:buFont typeface="Wingdings" panose="05000000000000000000" pitchFamily="2" charset="2"/>
                  <a:buChar char="§"/>
                </a:pPr>
                <a:endParaRPr lang="en-GB" sz="3200" dirty="0">
                  <a:latin typeface="Abadi Extra Light" panose="020B0604020202020204" pitchFamily="34" charset="0"/>
                </a:endParaRPr>
              </a:p>
              <a:p>
                <a:pPr>
                  <a:buFont typeface="Wingdings" panose="05000000000000000000" pitchFamily="2" charset="2"/>
                  <a:buChar char="§"/>
                </a:pPr>
                <a:endParaRPr lang="en-GB" sz="3200" dirty="0">
                  <a:latin typeface="Abadi Extra Light" panose="020B0604020202020204" pitchFamily="34" charset="0"/>
                </a:endParaRPr>
              </a:p>
              <a:p>
                <a:pPr marL="457200" lvl="1" indent="0">
                  <a:buNone/>
                </a:pPr>
                <a:endParaRPr lang="en-GB" sz="2800" dirty="0">
                  <a:latin typeface="Abadi Extra Light" panose="020B0604020202020204" pitchFamily="34" charset="0"/>
                </a:endParaRPr>
              </a:p>
              <a:p>
                <a:pPr>
                  <a:buFont typeface="Wingdings" panose="05000000000000000000" pitchFamily="2" charset="2"/>
                  <a:buChar char="§"/>
                </a:pPr>
                <a:r>
                  <a:rPr lang="en-GB" sz="3200" dirty="0">
                    <a:latin typeface="Abadi Extra Light" panose="020B0604020202020204" pitchFamily="34" charset="0"/>
                  </a:rPr>
                  <a:t>Unless specified otherwise</a:t>
                </a:r>
              </a:p>
              <a:p>
                <a:pPr lvl="1">
                  <a:buFont typeface="Wingdings" panose="05000000000000000000" pitchFamily="2" charset="2"/>
                  <a:buChar char="§"/>
                </a:pPr>
                <a:r>
                  <a:rPr lang="en-GB" sz="2800" dirty="0">
                    <a:latin typeface="Abadi Extra Light" panose="020B0604020202020204" pitchFamily="34" charset="0"/>
                  </a:rPr>
                  <a:t>Small letters with an arrow above will denote vectors, e.g., </a:t>
                </a:r>
                <a14:m>
                  <m:oMath xmlns:m="http://schemas.openxmlformats.org/officeDocument/2006/math">
                    <m:acc>
                      <m:accPr>
                        <m:chr m:val="⃗"/>
                        <m:ctrlPr>
                          <a:rPr lang="en-GB" sz="2800" i="1" smtClean="0">
                            <a:latin typeface="Cambria Math" panose="02040503050406030204" pitchFamily="18" charset="0"/>
                          </a:rPr>
                        </m:ctrlPr>
                      </m:accPr>
                      <m:e>
                        <m:r>
                          <a:rPr lang="en-GB" sz="2800" i="1" smtClean="0">
                            <a:latin typeface="Cambria Math" panose="02040503050406030204" pitchFamily="18" charset="0"/>
                          </a:rPr>
                          <m:t>𝑥</m:t>
                        </m:r>
                      </m:e>
                    </m:acc>
                  </m:oMath>
                </a14:m>
                <a:r>
                  <a:rPr lang="en-GB" sz="2800" dirty="0">
                    <a:latin typeface="Abadi Extra Light" panose="020B0604020202020204" pitchFamily="34" charset="0"/>
                  </a:rPr>
                  <a:t>, </a:t>
                </a:r>
                <a14:m>
                  <m:oMath xmlns:m="http://schemas.openxmlformats.org/officeDocument/2006/math">
                    <m:acc>
                      <m:accPr>
                        <m:chr m:val="⃗"/>
                        <m:ctrlPr>
                          <a:rPr lang="en-GB" sz="2800" i="1">
                            <a:latin typeface="Cambria Math" panose="02040503050406030204" pitchFamily="18" charset="0"/>
                          </a:rPr>
                        </m:ctrlPr>
                      </m:accPr>
                      <m:e>
                        <m:r>
                          <a:rPr lang="en-GB" sz="2800" b="0" i="1" smtClean="0">
                            <a:latin typeface="Cambria Math" panose="02040503050406030204" pitchFamily="18" charset="0"/>
                          </a:rPr>
                          <m:t>𝑤</m:t>
                        </m:r>
                      </m:e>
                    </m:acc>
                  </m:oMath>
                </a14:m>
                <a:r>
                  <a:rPr lang="en-GB" sz="2800" dirty="0"/>
                  <a:t> </a:t>
                </a:r>
                <a:r>
                  <a:rPr lang="en-GB" sz="2800" dirty="0">
                    <a:latin typeface="Abadi Extra Light" panose="020B0604020202020204" pitchFamily="34" charset="0"/>
                  </a:rPr>
                  <a:t>etc .</a:t>
                </a:r>
              </a:p>
              <a:p>
                <a:pPr lvl="1">
                  <a:buFont typeface="Wingdings" panose="05000000000000000000" pitchFamily="2" charset="2"/>
                  <a:buChar char="§"/>
                </a:pPr>
                <a:r>
                  <a:rPr lang="en-GB" sz="2800" dirty="0">
                    <a:latin typeface="Abadi Extra Light" panose="020B0604020202020204" pitchFamily="34" charset="0"/>
                  </a:rPr>
                  <a:t>Small letters without </a:t>
                </a:r>
                <a:r>
                  <a:rPr lang="en-GB" sz="2800" dirty="0" err="1">
                    <a:latin typeface="Abadi Extra Light" panose="020B0604020202020204" pitchFamily="34" charset="0"/>
                  </a:rPr>
                  <a:t>arrw</a:t>
                </a:r>
                <a:r>
                  <a:rPr lang="en-GB" sz="2800" dirty="0">
                    <a:latin typeface="Abadi Extra Light" panose="020B0604020202020204" pitchFamily="34" charset="0"/>
                  </a:rPr>
                  <a:t> will denote scalars, e.g. </a:t>
                </a:r>
                <a14:m>
                  <m:oMath xmlns:m="http://schemas.openxmlformats.org/officeDocument/2006/math">
                    <m:r>
                      <a:rPr lang="en-IN" sz="2800" b="0" i="1" smtClean="0">
                        <a:latin typeface="Cambria Math" panose="02040503050406030204" pitchFamily="18" charset="0"/>
                      </a:rPr>
                      <m:t>𝑥</m:t>
                    </m:r>
                    <m:r>
                      <a:rPr lang="en-IN" sz="2800" b="0" i="1" smtClean="0">
                        <a:latin typeface="Cambria Math" panose="02040503050406030204" pitchFamily="18" charset="0"/>
                      </a:rPr>
                      <m:t>, </m:t>
                    </m:r>
                    <m:r>
                      <a:rPr lang="en-IN" sz="2800" b="0" i="1" smtClean="0">
                        <a:latin typeface="Cambria Math" panose="02040503050406030204" pitchFamily="18" charset="0"/>
                      </a:rPr>
                      <m:t>𝑎</m:t>
                    </m:r>
                    <m:r>
                      <a:rPr lang="en-IN" sz="2800" b="0" i="1" smtClean="0">
                        <a:latin typeface="Cambria Math" panose="02040503050406030204" pitchFamily="18" charset="0"/>
                      </a:rPr>
                      <m:t>, </m:t>
                    </m:r>
                    <m:r>
                      <a:rPr lang="en-IN" sz="2800" b="0" i="1" smtClean="0">
                        <a:latin typeface="Cambria Math" panose="02040503050406030204" pitchFamily="18" charset="0"/>
                      </a:rPr>
                      <m:t>𝑏</m:t>
                    </m:r>
                  </m:oMath>
                </a14:m>
                <a:r>
                  <a:rPr lang="en-GB" sz="2800" dirty="0">
                    <a:latin typeface="Abadi Extra Light" panose="020B0604020202020204" pitchFamily="34" charset="0"/>
                  </a:rPr>
                  <a:t>, etc</a:t>
                </a:r>
              </a:p>
              <a:p>
                <a:pPr lvl="1">
                  <a:buFont typeface="Wingdings" panose="05000000000000000000" pitchFamily="2" charset="2"/>
                  <a:buChar char="§"/>
                </a:pPr>
                <a:r>
                  <a:rPr lang="en-GB" sz="2800" dirty="0">
                    <a:latin typeface="Abadi Extra Light" panose="020B0604020202020204" pitchFamily="34" charset="0"/>
                  </a:rPr>
                  <a:t>Capital letters in bold font will denote matrices (2-dim arrays), e.g., </a:t>
                </a:r>
                <a14:m>
                  <m:oMath xmlns:m="http://schemas.openxmlformats.org/officeDocument/2006/math">
                    <m:r>
                      <a:rPr lang="en-IN" sz="2800" b="1" i="0" smtClean="0">
                        <a:latin typeface="Cambria Math" panose="02040503050406030204" pitchFamily="18" charset="0"/>
                      </a:rPr>
                      <m:t>𝐗</m:t>
                    </m:r>
                    <m:r>
                      <a:rPr lang="en-IN" sz="2800" b="1" i="0" smtClean="0">
                        <a:latin typeface="Cambria Math" panose="02040503050406030204" pitchFamily="18" charset="0"/>
                      </a:rPr>
                      <m:t>, </m:t>
                    </m:r>
                    <m:r>
                      <a:rPr lang="en-IN" sz="2800" b="1" i="0" smtClean="0">
                        <a:latin typeface="Cambria Math" panose="02040503050406030204" pitchFamily="18" charset="0"/>
                      </a:rPr>
                      <m:t>𝐀</m:t>
                    </m:r>
                    <m:r>
                      <a:rPr lang="en-IN" sz="2800" b="1" i="0" smtClean="0">
                        <a:latin typeface="Cambria Math" panose="02040503050406030204" pitchFamily="18" charset="0"/>
                      </a:rPr>
                      <m:t>, </m:t>
                    </m:r>
                    <m:r>
                      <a:rPr lang="en-IN" sz="2800" b="1" i="0" smtClean="0">
                        <a:latin typeface="Cambria Math" panose="02040503050406030204" pitchFamily="18" charset="0"/>
                      </a:rPr>
                      <m:t>𝐁</m:t>
                    </m:r>
                  </m:oMath>
                </a14:m>
                <a:r>
                  <a:rPr lang="en-GB" sz="2800" dirty="0">
                    <a:latin typeface="Abadi Extra Light" panose="020B0604020202020204" pitchFamily="34" charset="0"/>
                  </a:rPr>
                  <a:t>, etc</a:t>
                </a:r>
              </a:p>
            </p:txBody>
          </p:sp>
        </mc:Choice>
        <mc:Fallback xmlns="">
          <p:sp>
            <p:nvSpPr>
              <p:cNvPr id="34" name="Content Placeholder 2">
                <a:extLst>
                  <a:ext uri="{FF2B5EF4-FFF2-40B4-BE49-F238E27FC236}">
                    <a16:creationId xmlns:a16="http://schemas.microsoft.com/office/drawing/2014/main" id="{E1DF4C8E-2FB0-4CA2-9D9A-034196FC982E}"/>
                  </a:ext>
                </a:extLst>
              </p:cNvPr>
              <p:cNvSpPr>
                <a:spLocks noGrp="1" noRot="1" noChangeAspect="1" noMove="1" noResize="1" noEditPoints="1" noAdjustHandles="1" noChangeArrowheads="1" noChangeShapeType="1" noTextEdit="1"/>
              </p:cNvSpPr>
              <p:nvPr>
                <p:ph idx="1"/>
              </p:nvPr>
            </p:nvSpPr>
            <p:spPr>
              <a:xfrm>
                <a:off x="265245" y="1130786"/>
                <a:ext cx="11740617" cy="5557532"/>
              </a:xfrm>
              <a:blipFill>
                <a:blip r:embed="rId3"/>
                <a:stretch>
                  <a:fillRect l="-1091" t="-2851" b="-2632"/>
                </a:stretch>
              </a:blipFill>
            </p:spPr>
            <p:txBody>
              <a:bodyPr/>
              <a:lstStyle/>
              <a:p>
                <a:r>
                  <a:rPr lang="en-IN">
                    <a:noFill/>
                  </a:rPr>
                  <a:t> </a:t>
                </a:r>
              </a:p>
            </p:txBody>
          </p:sp>
        </mc:Fallback>
      </mc:AlternateContent>
      <p:graphicFrame>
        <p:nvGraphicFramePr>
          <p:cNvPr id="3" name="Table 3">
            <a:extLst>
              <a:ext uri="{FF2B5EF4-FFF2-40B4-BE49-F238E27FC236}">
                <a16:creationId xmlns:a16="http://schemas.microsoft.com/office/drawing/2014/main" id="{783A365E-8AB1-4CD8-A7F4-4D2414144BF4}"/>
              </a:ext>
            </a:extLst>
          </p:cNvPr>
          <p:cNvGraphicFramePr>
            <a:graphicFrameLocks noGrp="1"/>
          </p:cNvGraphicFramePr>
          <p:nvPr/>
        </p:nvGraphicFramePr>
        <p:xfrm>
          <a:off x="8305101" y="1483064"/>
          <a:ext cx="3447879" cy="238138"/>
        </p:xfrm>
        <a:graphic>
          <a:graphicData uri="http://schemas.openxmlformats.org/drawingml/2006/table">
            <a:tbl>
              <a:tblPr firstRow="1" bandRow="1">
                <a:tableStyleId>{5C22544A-7EE6-4342-B048-85BDC9FD1C3A}</a:tableStyleId>
              </a:tblPr>
              <a:tblGrid>
                <a:gridCol w="344788">
                  <a:extLst>
                    <a:ext uri="{9D8B030D-6E8A-4147-A177-3AD203B41FA5}">
                      <a16:colId xmlns:a16="http://schemas.microsoft.com/office/drawing/2014/main" val="3854861144"/>
                    </a:ext>
                  </a:extLst>
                </a:gridCol>
                <a:gridCol w="366970">
                  <a:extLst>
                    <a:ext uri="{9D8B030D-6E8A-4147-A177-3AD203B41FA5}">
                      <a16:colId xmlns:a16="http://schemas.microsoft.com/office/drawing/2014/main" val="256184923"/>
                    </a:ext>
                  </a:extLst>
                </a:gridCol>
                <a:gridCol w="322605">
                  <a:extLst>
                    <a:ext uri="{9D8B030D-6E8A-4147-A177-3AD203B41FA5}">
                      <a16:colId xmlns:a16="http://schemas.microsoft.com/office/drawing/2014/main" val="3866973990"/>
                    </a:ext>
                  </a:extLst>
                </a:gridCol>
                <a:gridCol w="344788">
                  <a:extLst>
                    <a:ext uri="{9D8B030D-6E8A-4147-A177-3AD203B41FA5}">
                      <a16:colId xmlns:a16="http://schemas.microsoft.com/office/drawing/2014/main" val="1879397274"/>
                    </a:ext>
                  </a:extLst>
                </a:gridCol>
                <a:gridCol w="344788">
                  <a:extLst>
                    <a:ext uri="{9D8B030D-6E8A-4147-A177-3AD203B41FA5}">
                      <a16:colId xmlns:a16="http://schemas.microsoft.com/office/drawing/2014/main" val="2986904658"/>
                    </a:ext>
                  </a:extLst>
                </a:gridCol>
                <a:gridCol w="344788">
                  <a:extLst>
                    <a:ext uri="{9D8B030D-6E8A-4147-A177-3AD203B41FA5}">
                      <a16:colId xmlns:a16="http://schemas.microsoft.com/office/drawing/2014/main" val="596298407"/>
                    </a:ext>
                  </a:extLst>
                </a:gridCol>
                <a:gridCol w="344788">
                  <a:extLst>
                    <a:ext uri="{9D8B030D-6E8A-4147-A177-3AD203B41FA5}">
                      <a16:colId xmlns:a16="http://schemas.microsoft.com/office/drawing/2014/main" val="362989291"/>
                    </a:ext>
                  </a:extLst>
                </a:gridCol>
                <a:gridCol w="344788">
                  <a:extLst>
                    <a:ext uri="{9D8B030D-6E8A-4147-A177-3AD203B41FA5}">
                      <a16:colId xmlns:a16="http://schemas.microsoft.com/office/drawing/2014/main" val="1572016170"/>
                    </a:ext>
                  </a:extLst>
                </a:gridCol>
                <a:gridCol w="344788">
                  <a:extLst>
                    <a:ext uri="{9D8B030D-6E8A-4147-A177-3AD203B41FA5}">
                      <a16:colId xmlns:a16="http://schemas.microsoft.com/office/drawing/2014/main" val="4250917338"/>
                    </a:ext>
                  </a:extLst>
                </a:gridCol>
                <a:gridCol w="344788">
                  <a:extLst>
                    <a:ext uri="{9D8B030D-6E8A-4147-A177-3AD203B41FA5}">
                      <a16:colId xmlns:a16="http://schemas.microsoft.com/office/drawing/2014/main" val="2123395191"/>
                    </a:ext>
                  </a:extLst>
                </a:gridCol>
              </a:tblGrid>
              <a:tr h="238138">
                <a:tc>
                  <a:txBody>
                    <a:bodyPr/>
                    <a:lstStyle/>
                    <a:p>
                      <a:r>
                        <a:rPr lang="en-IN" sz="800" dirty="0">
                          <a:solidFill>
                            <a:schemeClr val="tx1"/>
                          </a:solidFill>
                          <a:latin typeface="Abadi Extra Light" panose="020B0204020104020204" pitchFamily="34" charset="0"/>
                        </a:rPr>
                        <a:t>0.5</a:t>
                      </a:r>
                    </a:p>
                  </a:txBody>
                  <a:tcP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dirty="0">
                          <a:solidFill>
                            <a:schemeClr val="tx1"/>
                          </a:solidFill>
                          <a:latin typeface="Abadi Extra Light" panose="020B0204020104020204" pitchFamily="34" charset="0"/>
                        </a:rPr>
                        <a:t>0.3</a:t>
                      </a:r>
                    </a:p>
                  </a:txBody>
                  <a:tcPr>
                    <a:solidFill>
                      <a:schemeClr val="accent2"/>
                    </a:solidFill>
                  </a:tcPr>
                </a:tc>
                <a:tc>
                  <a:txBody>
                    <a:bodyPr/>
                    <a:lstStyle/>
                    <a:p>
                      <a:r>
                        <a:rPr lang="en-IN" sz="800" dirty="0">
                          <a:solidFill>
                            <a:schemeClr val="tx1"/>
                          </a:solidFill>
                          <a:latin typeface="Abadi Extra Light" panose="020B0204020104020204" pitchFamily="34" charset="0"/>
                        </a:rPr>
                        <a:t>0.6</a:t>
                      </a:r>
                    </a:p>
                  </a:txBody>
                  <a:tcP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dirty="0">
                          <a:solidFill>
                            <a:schemeClr val="tx1"/>
                          </a:solidFill>
                          <a:latin typeface="Abadi Extra Light" panose="020B0204020104020204" pitchFamily="34" charset="0"/>
                        </a:rPr>
                        <a:t>0.1</a:t>
                      </a:r>
                    </a:p>
                  </a:txBody>
                  <a:tcPr>
                    <a:solidFill>
                      <a:schemeClr val="accent2"/>
                    </a:solidFill>
                  </a:tcPr>
                </a:tc>
                <a:tc>
                  <a:txBody>
                    <a:bodyPr/>
                    <a:lstStyle/>
                    <a:p>
                      <a:r>
                        <a:rPr lang="en-IN" sz="800" dirty="0">
                          <a:solidFill>
                            <a:schemeClr val="tx1"/>
                          </a:solidFill>
                          <a:latin typeface="Abadi Extra Light" panose="020B0204020104020204" pitchFamily="34" charset="0"/>
                        </a:rPr>
                        <a:t>0.2</a:t>
                      </a:r>
                    </a:p>
                  </a:txBody>
                  <a:tcP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dirty="0">
                          <a:solidFill>
                            <a:schemeClr val="tx1"/>
                          </a:solidFill>
                          <a:latin typeface="Abadi Extra Light" panose="020B0204020104020204" pitchFamily="34" charset="0"/>
                        </a:rPr>
                        <a:t>0.5</a:t>
                      </a:r>
                    </a:p>
                  </a:txBody>
                  <a:tcPr>
                    <a:solidFill>
                      <a:schemeClr val="accent2"/>
                    </a:solidFill>
                  </a:tcPr>
                </a:tc>
                <a:tc>
                  <a:txBody>
                    <a:bodyPr/>
                    <a:lstStyle/>
                    <a:p>
                      <a:r>
                        <a:rPr lang="en-IN" sz="800" dirty="0">
                          <a:solidFill>
                            <a:schemeClr val="tx1"/>
                          </a:solidFill>
                          <a:latin typeface="Abadi Extra Light" panose="020B0204020104020204" pitchFamily="34" charset="0"/>
                        </a:rPr>
                        <a:t>0.9</a:t>
                      </a:r>
                    </a:p>
                  </a:txBody>
                  <a:tcP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dirty="0">
                          <a:solidFill>
                            <a:schemeClr val="tx1"/>
                          </a:solidFill>
                          <a:latin typeface="Abadi Extra Light" panose="020B0204020104020204" pitchFamily="34" charset="0"/>
                        </a:rPr>
                        <a:t>0.2</a:t>
                      </a:r>
                    </a:p>
                  </a:txBody>
                  <a:tcPr>
                    <a:solidFill>
                      <a:schemeClr val="accent2"/>
                    </a:solidFill>
                  </a:tcPr>
                </a:tc>
                <a:tc>
                  <a:txBody>
                    <a:bodyPr/>
                    <a:lstStyle/>
                    <a:p>
                      <a:r>
                        <a:rPr lang="en-IN" sz="800" dirty="0">
                          <a:solidFill>
                            <a:schemeClr val="tx1"/>
                          </a:solidFill>
                          <a:latin typeface="Abadi Extra Light" panose="020B0204020104020204" pitchFamily="34" charset="0"/>
                        </a:rPr>
                        <a:t>0.1</a:t>
                      </a:r>
                    </a:p>
                  </a:txBody>
                  <a:tcP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dirty="0">
                          <a:solidFill>
                            <a:schemeClr val="tx1"/>
                          </a:solidFill>
                          <a:latin typeface="Abadi Extra Light" panose="020B0204020104020204" pitchFamily="34" charset="0"/>
                        </a:rPr>
                        <a:t>0.5</a:t>
                      </a:r>
                    </a:p>
                  </a:txBody>
                  <a:tcPr>
                    <a:solidFill>
                      <a:schemeClr val="accent2"/>
                    </a:solidFill>
                  </a:tcPr>
                </a:tc>
                <a:extLst>
                  <a:ext uri="{0D108BD9-81ED-4DB2-BD59-A6C34878D82A}">
                    <a16:rowId xmlns:a16="http://schemas.microsoft.com/office/drawing/2014/main" val="4227624515"/>
                  </a:ext>
                </a:extLst>
              </a:tr>
            </a:tbl>
          </a:graphicData>
        </a:graphic>
      </p:graphicFrame>
      <p:graphicFrame>
        <p:nvGraphicFramePr>
          <p:cNvPr id="5" name="Table 4">
            <a:extLst>
              <a:ext uri="{FF2B5EF4-FFF2-40B4-BE49-F238E27FC236}">
                <a16:creationId xmlns:a16="http://schemas.microsoft.com/office/drawing/2014/main" id="{26C6EE84-2309-4CDF-BD95-75DFD67A689A}"/>
              </a:ext>
            </a:extLst>
          </p:cNvPr>
          <p:cNvGraphicFramePr>
            <a:graphicFrameLocks noGrp="1"/>
          </p:cNvGraphicFramePr>
          <p:nvPr/>
        </p:nvGraphicFramePr>
        <p:xfrm>
          <a:off x="2565400" y="4089199"/>
          <a:ext cx="711758" cy="238138"/>
        </p:xfrm>
        <a:graphic>
          <a:graphicData uri="http://schemas.openxmlformats.org/drawingml/2006/table">
            <a:tbl>
              <a:tblPr firstRow="1" bandRow="1">
                <a:tableStyleId>{5C22544A-7EE6-4342-B048-85BDC9FD1C3A}</a:tableStyleId>
              </a:tblPr>
              <a:tblGrid>
                <a:gridCol w="344788">
                  <a:extLst>
                    <a:ext uri="{9D8B030D-6E8A-4147-A177-3AD203B41FA5}">
                      <a16:colId xmlns:a16="http://schemas.microsoft.com/office/drawing/2014/main" val="2783819659"/>
                    </a:ext>
                  </a:extLst>
                </a:gridCol>
                <a:gridCol w="366970">
                  <a:extLst>
                    <a:ext uri="{9D8B030D-6E8A-4147-A177-3AD203B41FA5}">
                      <a16:colId xmlns:a16="http://schemas.microsoft.com/office/drawing/2014/main" val="1108785770"/>
                    </a:ext>
                  </a:extLst>
                </a:gridCol>
              </a:tblGrid>
              <a:tr h="238138">
                <a:tc>
                  <a:txBody>
                    <a:bodyPr/>
                    <a:lstStyle/>
                    <a:p>
                      <a:r>
                        <a:rPr lang="en-IN" sz="800" dirty="0">
                          <a:solidFill>
                            <a:schemeClr val="tx1"/>
                          </a:solidFill>
                          <a:latin typeface="Abadi Extra Light" panose="020B0204020104020204" pitchFamily="34" charset="0"/>
                        </a:rPr>
                        <a:t>0.5</a:t>
                      </a:r>
                    </a:p>
                  </a:txBody>
                  <a:tcP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dirty="0">
                          <a:solidFill>
                            <a:schemeClr val="tx1"/>
                          </a:solidFill>
                          <a:latin typeface="Abadi Extra Light" panose="020B0204020104020204" pitchFamily="34" charset="0"/>
                        </a:rPr>
                        <a:t>0.3</a:t>
                      </a:r>
                    </a:p>
                  </a:txBody>
                  <a:tcPr>
                    <a:solidFill>
                      <a:schemeClr val="accent2"/>
                    </a:solidFill>
                  </a:tcPr>
                </a:tc>
                <a:extLst>
                  <a:ext uri="{0D108BD9-81ED-4DB2-BD59-A6C34878D82A}">
                    <a16:rowId xmlns:a16="http://schemas.microsoft.com/office/drawing/2014/main" val="3127192186"/>
                  </a:ext>
                </a:extLst>
              </a:tr>
            </a:tbl>
          </a:graphicData>
        </a:graphic>
      </p:graphicFrame>
      <p:cxnSp>
        <p:nvCxnSpPr>
          <p:cNvPr id="7" name="Straight Arrow Connector 6">
            <a:extLst>
              <a:ext uri="{FF2B5EF4-FFF2-40B4-BE49-F238E27FC236}">
                <a16:creationId xmlns:a16="http://schemas.microsoft.com/office/drawing/2014/main" id="{BF4CC1C8-EB96-4856-854B-1E7D20C6D137}"/>
              </a:ext>
            </a:extLst>
          </p:cNvPr>
          <p:cNvCxnSpPr>
            <a:cxnSpLocks/>
          </p:cNvCxnSpPr>
          <p:nvPr/>
        </p:nvCxnSpPr>
        <p:spPr>
          <a:xfrm flipV="1">
            <a:off x="3796145" y="3608648"/>
            <a:ext cx="0" cy="104139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8CB956F-1BC3-4597-B985-0083A2B96FC4}"/>
              </a:ext>
            </a:extLst>
          </p:cNvPr>
          <p:cNvCxnSpPr>
            <a:cxnSpLocks/>
          </p:cNvCxnSpPr>
          <p:nvPr/>
        </p:nvCxnSpPr>
        <p:spPr>
          <a:xfrm flipV="1">
            <a:off x="3796145" y="4650047"/>
            <a:ext cx="1112982"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3" name="Table 12">
            <a:extLst>
              <a:ext uri="{FF2B5EF4-FFF2-40B4-BE49-F238E27FC236}">
                <a16:creationId xmlns:a16="http://schemas.microsoft.com/office/drawing/2014/main" id="{003DBBAB-7F21-492A-BF21-53EC232A5FEF}"/>
              </a:ext>
            </a:extLst>
          </p:cNvPr>
          <p:cNvGraphicFramePr>
            <a:graphicFrameLocks noGrp="1"/>
          </p:cNvGraphicFramePr>
          <p:nvPr/>
        </p:nvGraphicFramePr>
        <p:xfrm>
          <a:off x="6455945" y="3941988"/>
          <a:ext cx="969687" cy="238138"/>
        </p:xfrm>
        <a:graphic>
          <a:graphicData uri="http://schemas.openxmlformats.org/drawingml/2006/table">
            <a:tbl>
              <a:tblPr firstRow="1" bandRow="1">
                <a:tableStyleId>{5C22544A-7EE6-4342-B048-85BDC9FD1C3A}</a:tableStyleId>
              </a:tblPr>
              <a:tblGrid>
                <a:gridCol w="323229">
                  <a:extLst>
                    <a:ext uri="{9D8B030D-6E8A-4147-A177-3AD203B41FA5}">
                      <a16:colId xmlns:a16="http://schemas.microsoft.com/office/drawing/2014/main" val="2783819659"/>
                    </a:ext>
                  </a:extLst>
                </a:gridCol>
                <a:gridCol w="323229">
                  <a:extLst>
                    <a:ext uri="{9D8B030D-6E8A-4147-A177-3AD203B41FA5}">
                      <a16:colId xmlns:a16="http://schemas.microsoft.com/office/drawing/2014/main" val="1108785770"/>
                    </a:ext>
                  </a:extLst>
                </a:gridCol>
                <a:gridCol w="323229">
                  <a:extLst>
                    <a:ext uri="{9D8B030D-6E8A-4147-A177-3AD203B41FA5}">
                      <a16:colId xmlns:a16="http://schemas.microsoft.com/office/drawing/2014/main" val="3754831555"/>
                    </a:ext>
                  </a:extLst>
                </a:gridCol>
              </a:tblGrid>
              <a:tr h="238138">
                <a:tc>
                  <a:txBody>
                    <a:bodyPr/>
                    <a:lstStyle/>
                    <a:p>
                      <a:r>
                        <a:rPr lang="en-IN" sz="800" dirty="0">
                          <a:solidFill>
                            <a:schemeClr val="tx1"/>
                          </a:solidFill>
                          <a:latin typeface="Abadi Extra Light" panose="020B0204020104020204" pitchFamily="34" charset="0"/>
                        </a:rPr>
                        <a:t>0.5</a:t>
                      </a:r>
                    </a:p>
                  </a:txBody>
                  <a:tcP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dirty="0">
                          <a:solidFill>
                            <a:schemeClr val="tx1"/>
                          </a:solidFill>
                          <a:latin typeface="Abadi Extra Light" panose="020B0204020104020204" pitchFamily="34" charset="0"/>
                        </a:rPr>
                        <a:t>0.3</a:t>
                      </a:r>
                    </a:p>
                  </a:txBody>
                  <a:tcP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dirty="0">
                          <a:solidFill>
                            <a:schemeClr val="tx1"/>
                          </a:solidFill>
                          <a:latin typeface="Abadi Extra Light" panose="020B0204020104020204" pitchFamily="34" charset="0"/>
                        </a:rPr>
                        <a:t>0.6</a:t>
                      </a:r>
                    </a:p>
                  </a:txBody>
                  <a:tcPr>
                    <a:solidFill>
                      <a:schemeClr val="accent2"/>
                    </a:solidFill>
                  </a:tcPr>
                </a:tc>
                <a:extLst>
                  <a:ext uri="{0D108BD9-81ED-4DB2-BD59-A6C34878D82A}">
                    <a16:rowId xmlns:a16="http://schemas.microsoft.com/office/drawing/2014/main" val="3127192186"/>
                  </a:ext>
                </a:extLst>
              </a:tr>
            </a:tbl>
          </a:graphicData>
        </a:graphic>
      </p:graphicFrame>
      <p:sp>
        <p:nvSpPr>
          <p:cNvPr id="18" name="Oval 17">
            <a:extLst>
              <a:ext uri="{FF2B5EF4-FFF2-40B4-BE49-F238E27FC236}">
                <a16:creationId xmlns:a16="http://schemas.microsoft.com/office/drawing/2014/main" id="{667D841A-6BF4-4A7D-A628-CA70C9A46688}"/>
              </a:ext>
            </a:extLst>
          </p:cNvPr>
          <p:cNvSpPr/>
          <p:nvPr/>
        </p:nvSpPr>
        <p:spPr>
          <a:xfrm>
            <a:off x="4340133" y="3815511"/>
            <a:ext cx="100800" cy="10193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1" name="Straight Arrow Connector 30">
            <a:extLst>
              <a:ext uri="{FF2B5EF4-FFF2-40B4-BE49-F238E27FC236}">
                <a16:creationId xmlns:a16="http://schemas.microsoft.com/office/drawing/2014/main" id="{AA50976D-9BE1-4A13-9900-64C3F1B9A9DF}"/>
              </a:ext>
            </a:extLst>
          </p:cNvPr>
          <p:cNvCxnSpPr>
            <a:cxnSpLocks/>
          </p:cNvCxnSpPr>
          <p:nvPr/>
        </p:nvCxnSpPr>
        <p:spPr>
          <a:xfrm flipV="1">
            <a:off x="8083896" y="3461436"/>
            <a:ext cx="0" cy="104139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5EA590D5-69C3-4417-A37C-A9FA1B989335}"/>
              </a:ext>
            </a:extLst>
          </p:cNvPr>
          <p:cNvCxnSpPr>
            <a:cxnSpLocks/>
          </p:cNvCxnSpPr>
          <p:nvPr/>
        </p:nvCxnSpPr>
        <p:spPr>
          <a:xfrm flipV="1">
            <a:off x="8083896" y="4502835"/>
            <a:ext cx="1112982"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3B4FF680-5C9B-446F-A143-91802335C541}"/>
              </a:ext>
            </a:extLst>
          </p:cNvPr>
          <p:cNvSpPr/>
          <p:nvPr/>
        </p:nvSpPr>
        <p:spPr>
          <a:xfrm>
            <a:off x="8350641" y="3840058"/>
            <a:ext cx="100800" cy="10193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5" name="Straight Arrow Connector 34">
            <a:extLst>
              <a:ext uri="{FF2B5EF4-FFF2-40B4-BE49-F238E27FC236}">
                <a16:creationId xmlns:a16="http://schemas.microsoft.com/office/drawing/2014/main" id="{4170B402-DB3B-470B-BC2A-FCD66B95B68A}"/>
              </a:ext>
            </a:extLst>
          </p:cNvPr>
          <p:cNvCxnSpPr>
            <a:cxnSpLocks/>
          </p:cNvCxnSpPr>
          <p:nvPr/>
        </p:nvCxnSpPr>
        <p:spPr>
          <a:xfrm flipH="1">
            <a:off x="7365594" y="4506202"/>
            <a:ext cx="718301" cy="27247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EAD88F06-DE17-4F5B-BBE5-7913F1230BF4}"/>
              </a:ext>
            </a:extLst>
          </p:cNvPr>
          <p:cNvSpPr txBox="1"/>
          <p:nvPr/>
        </p:nvSpPr>
        <p:spPr>
          <a:xfrm>
            <a:off x="4427211" y="3630845"/>
            <a:ext cx="966931" cy="369332"/>
          </a:xfrm>
          <a:prstGeom prst="rect">
            <a:avLst/>
          </a:prstGeom>
          <a:noFill/>
        </p:spPr>
        <p:txBody>
          <a:bodyPr wrap="none" rtlCol="0">
            <a:spAutoFit/>
          </a:bodyPr>
          <a:lstStyle/>
          <a:p>
            <a:r>
              <a:rPr lang="en-IN" dirty="0"/>
              <a:t>(0.5,0.3)</a:t>
            </a:r>
          </a:p>
        </p:txBody>
      </p:sp>
      <p:sp>
        <p:nvSpPr>
          <p:cNvPr id="37" name="TextBox 36">
            <a:extLst>
              <a:ext uri="{FF2B5EF4-FFF2-40B4-BE49-F238E27FC236}">
                <a16:creationId xmlns:a16="http://schemas.microsoft.com/office/drawing/2014/main" id="{D184C58D-ED6E-4198-8C66-A82C1BF1B91F}"/>
              </a:ext>
            </a:extLst>
          </p:cNvPr>
          <p:cNvSpPr txBox="1"/>
          <p:nvPr/>
        </p:nvSpPr>
        <p:spPr>
          <a:xfrm>
            <a:off x="8403958" y="3655392"/>
            <a:ext cx="1316386" cy="369332"/>
          </a:xfrm>
          <a:prstGeom prst="rect">
            <a:avLst/>
          </a:prstGeom>
          <a:noFill/>
        </p:spPr>
        <p:txBody>
          <a:bodyPr wrap="none" rtlCol="0">
            <a:spAutoFit/>
          </a:bodyPr>
          <a:lstStyle/>
          <a:p>
            <a:r>
              <a:rPr lang="en-IN" dirty="0"/>
              <a:t>(0.5,0.3,0.6)</a:t>
            </a:r>
          </a:p>
        </p:txBody>
      </p:sp>
      <p:sp>
        <p:nvSpPr>
          <p:cNvPr id="38" name="Arrow: Right 37">
            <a:extLst>
              <a:ext uri="{FF2B5EF4-FFF2-40B4-BE49-F238E27FC236}">
                <a16:creationId xmlns:a16="http://schemas.microsoft.com/office/drawing/2014/main" id="{63FFA3F2-7157-4263-8DD3-5E6A5C88CAFE}"/>
              </a:ext>
            </a:extLst>
          </p:cNvPr>
          <p:cNvSpPr/>
          <p:nvPr/>
        </p:nvSpPr>
        <p:spPr>
          <a:xfrm rot="20534035">
            <a:off x="3424961" y="3998128"/>
            <a:ext cx="817373" cy="802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Arrow: Right 38">
            <a:extLst>
              <a:ext uri="{FF2B5EF4-FFF2-40B4-BE49-F238E27FC236}">
                <a16:creationId xmlns:a16="http://schemas.microsoft.com/office/drawing/2014/main" id="{E4CEFAD5-5213-451D-8912-0288A8B9B42D}"/>
              </a:ext>
            </a:extLst>
          </p:cNvPr>
          <p:cNvSpPr/>
          <p:nvPr/>
        </p:nvSpPr>
        <p:spPr>
          <a:xfrm rot="21114023">
            <a:off x="7525718" y="3990622"/>
            <a:ext cx="694844" cy="634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1" name="Picture 40">
            <a:extLst>
              <a:ext uri="{FF2B5EF4-FFF2-40B4-BE49-F238E27FC236}">
                <a16:creationId xmlns:a16="http://schemas.microsoft.com/office/drawing/2014/main" id="{2772F419-39A1-4481-9761-C7D5D44BD622}"/>
              </a:ext>
            </a:extLst>
          </p:cNvPr>
          <p:cNvPicPr>
            <a:picLocks noChangeAspect="1"/>
          </p:cNvPicPr>
          <p:nvPr/>
        </p:nvPicPr>
        <p:blipFill>
          <a:blip r:embed="rId4"/>
          <a:stretch>
            <a:fillRect/>
          </a:stretch>
        </p:blipFill>
        <p:spPr>
          <a:xfrm>
            <a:off x="11082253" y="2756925"/>
            <a:ext cx="1010687" cy="965223"/>
          </a:xfrm>
          <a:prstGeom prst="rect">
            <a:avLst/>
          </a:prstGeom>
        </p:spPr>
      </p:pic>
      <p:sp>
        <p:nvSpPr>
          <p:cNvPr id="42" name="Speech Bubble: Rectangle 41">
            <a:extLst>
              <a:ext uri="{FF2B5EF4-FFF2-40B4-BE49-F238E27FC236}">
                <a16:creationId xmlns:a16="http://schemas.microsoft.com/office/drawing/2014/main" id="{0BCDD940-B39B-4E04-B889-E9B2DDF68BB2}"/>
              </a:ext>
            </a:extLst>
          </p:cNvPr>
          <p:cNvSpPr/>
          <p:nvPr/>
        </p:nvSpPr>
        <p:spPr>
          <a:xfrm>
            <a:off x="8570566" y="2817020"/>
            <a:ext cx="2404426" cy="723133"/>
          </a:xfrm>
          <a:prstGeom prst="wedgeRectCallout">
            <a:avLst>
              <a:gd name="adj1" fmla="val 67859"/>
              <a:gd name="adj2" fmla="val 161"/>
            </a:avLst>
          </a:prstGeom>
          <a:solidFill>
            <a:schemeClr val="bg1"/>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dirty="0">
                <a:solidFill>
                  <a:schemeClr val="tx1"/>
                </a:solidFill>
                <a:latin typeface="Abadi Extra Light" panose="020B0204020104020204" pitchFamily="34" charset="0"/>
              </a:rPr>
              <a:t>Likewise for higher dimensions, even though harder to visualize</a:t>
            </a:r>
          </a:p>
        </p:txBody>
      </p:sp>
    </p:spTree>
    <p:custDataLst>
      <p:tags r:id="rId1"/>
    </p:custDataLst>
    <p:extLst>
      <p:ext uri="{BB962C8B-B14F-4D97-AF65-F5344CB8AC3E}">
        <p14:creationId xmlns:p14="http://schemas.microsoft.com/office/powerpoint/2010/main" val="3993459671"/>
      </p:ext>
    </p:extLst>
  </p:cSld>
  <p:clrMapOvr>
    <a:masterClrMapping/>
  </p:clrMapOvr>
  <mc:AlternateContent xmlns:mc="http://schemas.openxmlformats.org/markup-compatibility/2006" xmlns:p14="http://schemas.microsoft.com/office/powerpoint/2010/main">
    <mc:Choice Requires="p14">
      <p:transition spd="slow" p14:dur="2000" advTm="105536"/>
    </mc:Choice>
    <mc:Fallback xmlns="">
      <p:transition spd="slow" advTm="10553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animEffect transition="in" filter="wipe(down)">
                                      <p:cBhvr>
                                        <p:cTn id="7" dur="500"/>
                                        <p:tgtEl>
                                          <p:spTgt spid="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4">
                                            <p:txEl>
                                              <p:pRg st="1" end="1"/>
                                            </p:txEl>
                                          </p:spTgt>
                                        </p:tgtEl>
                                        <p:attrNameLst>
                                          <p:attrName>style.visibility</p:attrName>
                                        </p:attrNameLst>
                                      </p:cBhvr>
                                      <p:to>
                                        <p:strVal val="visible"/>
                                      </p:to>
                                    </p:set>
                                    <p:animEffect transition="in" filter="wipe(down)">
                                      <p:cBhvr>
                                        <p:cTn id="12" dur="500"/>
                                        <p:tgtEl>
                                          <p:spTgt spid="3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4">
                                            <p:txEl>
                                              <p:pRg st="2" end="2"/>
                                            </p:txEl>
                                          </p:spTgt>
                                        </p:tgtEl>
                                        <p:attrNameLst>
                                          <p:attrName>style.visibility</p:attrName>
                                        </p:attrNameLst>
                                      </p:cBhvr>
                                      <p:to>
                                        <p:strVal val="visible"/>
                                      </p:to>
                                    </p:set>
                                    <p:animEffect transition="in" filter="wipe(down)">
                                      <p:cBhvr>
                                        <p:cTn id="17" dur="500"/>
                                        <p:tgtEl>
                                          <p:spTgt spid="34">
                                            <p:txEl>
                                              <p:pRg st="2" end="2"/>
                                            </p:txEl>
                                          </p:spTgt>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34">
                                            <p:txEl>
                                              <p:pRg st="3" end="3"/>
                                            </p:txEl>
                                          </p:spTgt>
                                        </p:tgtEl>
                                        <p:attrNameLst>
                                          <p:attrName>style.visibility</p:attrName>
                                        </p:attrNameLst>
                                      </p:cBhvr>
                                      <p:to>
                                        <p:strVal val="visible"/>
                                      </p:to>
                                    </p:set>
                                    <p:animEffect transition="in" filter="wipe(down)">
                                      <p:cBhvr>
                                        <p:cTn id="20" dur="500"/>
                                        <p:tgtEl>
                                          <p:spTgt spid="34">
                                            <p:txEl>
                                              <p:pRg st="3" end="3"/>
                                            </p:txEl>
                                          </p:spTgt>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34">
                                            <p:txEl>
                                              <p:pRg st="4" end="4"/>
                                            </p:txEl>
                                          </p:spTgt>
                                        </p:tgtEl>
                                        <p:attrNameLst>
                                          <p:attrName>style.visibility</p:attrName>
                                        </p:attrNameLst>
                                      </p:cBhvr>
                                      <p:to>
                                        <p:strVal val="visible"/>
                                      </p:to>
                                    </p:set>
                                    <p:animEffect transition="in" filter="wipe(down)">
                                      <p:cBhvr>
                                        <p:cTn id="23" dur="500"/>
                                        <p:tgtEl>
                                          <p:spTgt spid="34">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34">
                                            <p:txEl>
                                              <p:pRg st="9" end="9"/>
                                            </p:txEl>
                                          </p:spTgt>
                                        </p:tgtEl>
                                        <p:attrNameLst>
                                          <p:attrName>style.visibility</p:attrName>
                                        </p:attrNameLst>
                                      </p:cBhvr>
                                      <p:to>
                                        <p:strVal val="visible"/>
                                      </p:to>
                                    </p:set>
                                    <p:animEffect transition="in" filter="wipe(down)">
                                      <p:cBhvr>
                                        <p:cTn id="28" dur="500"/>
                                        <p:tgtEl>
                                          <p:spTgt spid="34">
                                            <p:txEl>
                                              <p:pRg st="9" end="9"/>
                                            </p:txEl>
                                          </p:spTgt>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34">
                                            <p:txEl>
                                              <p:pRg st="10" end="10"/>
                                            </p:txEl>
                                          </p:spTgt>
                                        </p:tgtEl>
                                        <p:attrNameLst>
                                          <p:attrName>style.visibility</p:attrName>
                                        </p:attrNameLst>
                                      </p:cBhvr>
                                      <p:to>
                                        <p:strVal val="visible"/>
                                      </p:to>
                                    </p:set>
                                    <p:animEffect transition="in" filter="wipe(down)">
                                      <p:cBhvr>
                                        <p:cTn id="31" dur="500"/>
                                        <p:tgtEl>
                                          <p:spTgt spid="34">
                                            <p:txEl>
                                              <p:pRg st="10" end="10"/>
                                            </p:txEl>
                                          </p:spTgt>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34">
                                            <p:txEl>
                                              <p:pRg st="11" end="11"/>
                                            </p:txEl>
                                          </p:spTgt>
                                        </p:tgtEl>
                                        <p:attrNameLst>
                                          <p:attrName>style.visibility</p:attrName>
                                        </p:attrNameLst>
                                      </p:cBhvr>
                                      <p:to>
                                        <p:strVal val="visible"/>
                                      </p:to>
                                    </p:set>
                                    <p:animEffect transition="in" filter="wipe(down)">
                                      <p:cBhvr>
                                        <p:cTn id="34" dur="500"/>
                                        <p:tgtEl>
                                          <p:spTgt spid="34">
                                            <p:txEl>
                                              <p:pRg st="11" end="11"/>
                                            </p:txEl>
                                          </p:spTgt>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34">
                                            <p:txEl>
                                              <p:pRg st="12" end="12"/>
                                            </p:txEl>
                                          </p:spTgt>
                                        </p:tgtEl>
                                        <p:attrNameLst>
                                          <p:attrName>style.visibility</p:attrName>
                                        </p:attrNameLst>
                                      </p:cBhvr>
                                      <p:to>
                                        <p:strVal val="visible"/>
                                      </p:to>
                                    </p:set>
                                    <p:animEffect transition="in" filter="wipe(down)">
                                      <p:cBhvr>
                                        <p:cTn id="37" dur="500"/>
                                        <p:tgtEl>
                                          <p:spTgt spid="34">
                                            <p:txEl>
                                              <p:pRg st="12" end="1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down)">
                                      <p:cBhvr>
                                        <p:cTn id="42" dur="5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wipe(down)">
                                      <p:cBhvr>
                                        <p:cTn id="47" dur="500"/>
                                        <p:tgtEl>
                                          <p:spTgt spid="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wipe(down)">
                                      <p:cBhvr>
                                        <p:cTn id="52" dur="500"/>
                                        <p:tgtEl>
                                          <p:spTgt spid="7"/>
                                        </p:tgtEl>
                                      </p:cBhvr>
                                    </p:animEffect>
                                  </p:childTnLst>
                                </p:cTn>
                              </p:par>
                              <p:par>
                                <p:cTn id="53" presetID="22" presetClass="entr" presetSubtype="4" fill="hold" nodeType="with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wipe(down)">
                                      <p:cBhvr>
                                        <p:cTn id="55" dur="500"/>
                                        <p:tgtEl>
                                          <p:spTgt spid="11"/>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38"/>
                                        </p:tgtEl>
                                        <p:attrNameLst>
                                          <p:attrName>style.visibility</p:attrName>
                                        </p:attrNameLst>
                                      </p:cBhvr>
                                      <p:to>
                                        <p:strVal val="visible"/>
                                      </p:to>
                                    </p:set>
                                    <p:animEffect transition="in" filter="wipe(down)">
                                      <p:cBhvr>
                                        <p:cTn id="60" dur="500"/>
                                        <p:tgtEl>
                                          <p:spTgt spid="38"/>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wipe(down)">
                                      <p:cBhvr>
                                        <p:cTn id="65" dur="500"/>
                                        <p:tgtEl>
                                          <p:spTgt spid="18"/>
                                        </p:tgtEl>
                                      </p:cBhvr>
                                    </p:animEffect>
                                  </p:childTnLst>
                                </p:cTn>
                              </p:par>
                              <p:par>
                                <p:cTn id="66" presetID="22" presetClass="entr" presetSubtype="4" fill="hold" grpId="0" nodeType="withEffect">
                                  <p:stCondLst>
                                    <p:cond delay="0"/>
                                  </p:stCondLst>
                                  <p:childTnLst>
                                    <p:set>
                                      <p:cBhvr>
                                        <p:cTn id="67" dur="1" fill="hold">
                                          <p:stCondLst>
                                            <p:cond delay="0"/>
                                          </p:stCondLst>
                                        </p:cTn>
                                        <p:tgtEl>
                                          <p:spTgt spid="36"/>
                                        </p:tgtEl>
                                        <p:attrNameLst>
                                          <p:attrName>style.visibility</p:attrName>
                                        </p:attrNameLst>
                                      </p:cBhvr>
                                      <p:to>
                                        <p:strVal val="visible"/>
                                      </p:to>
                                    </p:set>
                                    <p:animEffect transition="in" filter="wipe(down)">
                                      <p:cBhvr>
                                        <p:cTn id="68" dur="500"/>
                                        <p:tgtEl>
                                          <p:spTgt spid="36"/>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nodeType="clickEffect">
                                  <p:stCondLst>
                                    <p:cond delay="0"/>
                                  </p:stCondLst>
                                  <p:childTnLst>
                                    <p:set>
                                      <p:cBhvr>
                                        <p:cTn id="72" dur="1" fill="hold">
                                          <p:stCondLst>
                                            <p:cond delay="0"/>
                                          </p:stCondLst>
                                        </p:cTn>
                                        <p:tgtEl>
                                          <p:spTgt spid="13"/>
                                        </p:tgtEl>
                                        <p:attrNameLst>
                                          <p:attrName>style.visibility</p:attrName>
                                        </p:attrNameLst>
                                      </p:cBhvr>
                                      <p:to>
                                        <p:strVal val="visible"/>
                                      </p:to>
                                    </p:set>
                                    <p:animEffect transition="in" filter="wipe(down)">
                                      <p:cBhvr>
                                        <p:cTn id="73" dur="500"/>
                                        <p:tgtEl>
                                          <p:spTgt spid="13"/>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4" fill="hold" nodeType="clickEffect">
                                  <p:stCondLst>
                                    <p:cond delay="0"/>
                                  </p:stCondLst>
                                  <p:childTnLst>
                                    <p:set>
                                      <p:cBhvr>
                                        <p:cTn id="77" dur="1" fill="hold">
                                          <p:stCondLst>
                                            <p:cond delay="0"/>
                                          </p:stCondLst>
                                        </p:cTn>
                                        <p:tgtEl>
                                          <p:spTgt spid="31"/>
                                        </p:tgtEl>
                                        <p:attrNameLst>
                                          <p:attrName>style.visibility</p:attrName>
                                        </p:attrNameLst>
                                      </p:cBhvr>
                                      <p:to>
                                        <p:strVal val="visible"/>
                                      </p:to>
                                    </p:set>
                                    <p:animEffect transition="in" filter="wipe(down)">
                                      <p:cBhvr>
                                        <p:cTn id="78" dur="500"/>
                                        <p:tgtEl>
                                          <p:spTgt spid="31"/>
                                        </p:tgtEl>
                                      </p:cBhvr>
                                    </p:animEffect>
                                  </p:childTnLst>
                                </p:cTn>
                              </p:par>
                              <p:par>
                                <p:cTn id="79" presetID="22" presetClass="entr" presetSubtype="4" fill="hold" nodeType="withEffect">
                                  <p:stCondLst>
                                    <p:cond delay="0"/>
                                  </p:stCondLst>
                                  <p:childTnLst>
                                    <p:set>
                                      <p:cBhvr>
                                        <p:cTn id="80" dur="1" fill="hold">
                                          <p:stCondLst>
                                            <p:cond delay="0"/>
                                          </p:stCondLst>
                                        </p:cTn>
                                        <p:tgtEl>
                                          <p:spTgt spid="32"/>
                                        </p:tgtEl>
                                        <p:attrNameLst>
                                          <p:attrName>style.visibility</p:attrName>
                                        </p:attrNameLst>
                                      </p:cBhvr>
                                      <p:to>
                                        <p:strVal val="visible"/>
                                      </p:to>
                                    </p:set>
                                    <p:animEffect transition="in" filter="wipe(down)">
                                      <p:cBhvr>
                                        <p:cTn id="81" dur="500"/>
                                        <p:tgtEl>
                                          <p:spTgt spid="32"/>
                                        </p:tgtEl>
                                      </p:cBhvr>
                                    </p:animEffect>
                                  </p:childTnLst>
                                </p:cTn>
                              </p:par>
                              <p:par>
                                <p:cTn id="82" presetID="22" presetClass="entr" presetSubtype="4" fill="hold" nodeType="withEffect">
                                  <p:stCondLst>
                                    <p:cond delay="0"/>
                                  </p:stCondLst>
                                  <p:childTnLst>
                                    <p:set>
                                      <p:cBhvr>
                                        <p:cTn id="83" dur="1" fill="hold">
                                          <p:stCondLst>
                                            <p:cond delay="0"/>
                                          </p:stCondLst>
                                        </p:cTn>
                                        <p:tgtEl>
                                          <p:spTgt spid="35"/>
                                        </p:tgtEl>
                                        <p:attrNameLst>
                                          <p:attrName>style.visibility</p:attrName>
                                        </p:attrNameLst>
                                      </p:cBhvr>
                                      <p:to>
                                        <p:strVal val="visible"/>
                                      </p:to>
                                    </p:set>
                                    <p:animEffect transition="in" filter="wipe(down)">
                                      <p:cBhvr>
                                        <p:cTn id="84" dur="500"/>
                                        <p:tgtEl>
                                          <p:spTgt spid="35"/>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4" fill="hold" grpId="0" nodeType="clickEffect">
                                  <p:stCondLst>
                                    <p:cond delay="0"/>
                                  </p:stCondLst>
                                  <p:childTnLst>
                                    <p:set>
                                      <p:cBhvr>
                                        <p:cTn id="88" dur="1" fill="hold">
                                          <p:stCondLst>
                                            <p:cond delay="0"/>
                                          </p:stCondLst>
                                        </p:cTn>
                                        <p:tgtEl>
                                          <p:spTgt spid="39"/>
                                        </p:tgtEl>
                                        <p:attrNameLst>
                                          <p:attrName>style.visibility</p:attrName>
                                        </p:attrNameLst>
                                      </p:cBhvr>
                                      <p:to>
                                        <p:strVal val="visible"/>
                                      </p:to>
                                    </p:set>
                                    <p:animEffect transition="in" filter="wipe(down)">
                                      <p:cBhvr>
                                        <p:cTn id="89" dur="500"/>
                                        <p:tgtEl>
                                          <p:spTgt spid="39"/>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4" fill="hold" grpId="0" nodeType="click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wipe(down)">
                                      <p:cBhvr>
                                        <p:cTn id="94" dur="500"/>
                                        <p:tgtEl>
                                          <p:spTgt spid="33"/>
                                        </p:tgtEl>
                                      </p:cBhvr>
                                    </p:animEffect>
                                  </p:childTnLst>
                                </p:cTn>
                              </p:par>
                              <p:par>
                                <p:cTn id="95" presetID="22" presetClass="entr" presetSubtype="4" fill="hold" grpId="0" nodeType="withEffect">
                                  <p:stCondLst>
                                    <p:cond delay="0"/>
                                  </p:stCondLst>
                                  <p:childTnLst>
                                    <p:set>
                                      <p:cBhvr>
                                        <p:cTn id="96" dur="1" fill="hold">
                                          <p:stCondLst>
                                            <p:cond delay="0"/>
                                          </p:stCondLst>
                                        </p:cTn>
                                        <p:tgtEl>
                                          <p:spTgt spid="37"/>
                                        </p:tgtEl>
                                        <p:attrNameLst>
                                          <p:attrName>style.visibility</p:attrName>
                                        </p:attrNameLst>
                                      </p:cBhvr>
                                      <p:to>
                                        <p:strVal val="visible"/>
                                      </p:to>
                                    </p:set>
                                    <p:animEffect transition="in" filter="wipe(down)">
                                      <p:cBhvr>
                                        <p:cTn id="97" dur="500"/>
                                        <p:tgtEl>
                                          <p:spTgt spid="37"/>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4" fill="hold" nodeType="clickEffect">
                                  <p:stCondLst>
                                    <p:cond delay="0"/>
                                  </p:stCondLst>
                                  <p:childTnLst>
                                    <p:set>
                                      <p:cBhvr>
                                        <p:cTn id="101" dur="1" fill="hold">
                                          <p:stCondLst>
                                            <p:cond delay="0"/>
                                          </p:stCondLst>
                                        </p:cTn>
                                        <p:tgtEl>
                                          <p:spTgt spid="41"/>
                                        </p:tgtEl>
                                        <p:attrNameLst>
                                          <p:attrName>style.visibility</p:attrName>
                                        </p:attrNameLst>
                                      </p:cBhvr>
                                      <p:to>
                                        <p:strVal val="visible"/>
                                      </p:to>
                                    </p:set>
                                    <p:animEffect transition="in" filter="wipe(down)">
                                      <p:cBhvr>
                                        <p:cTn id="102" dur="500"/>
                                        <p:tgtEl>
                                          <p:spTgt spid="41"/>
                                        </p:tgtEl>
                                      </p:cBhvr>
                                    </p:animEffect>
                                  </p:childTnLst>
                                </p:cTn>
                              </p:par>
                              <p:par>
                                <p:cTn id="103" presetID="22" presetClass="entr" presetSubtype="4" fill="hold" grpId="0" nodeType="withEffect">
                                  <p:stCondLst>
                                    <p:cond delay="0"/>
                                  </p:stCondLst>
                                  <p:childTnLst>
                                    <p:set>
                                      <p:cBhvr>
                                        <p:cTn id="104" dur="1" fill="hold">
                                          <p:stCondLst>
                                            <p:cond delay="0"/>
                                          </p:stCondLst>
                                        </p:cTn>
                                        <p:tgtEl>
                                          <p:spTgt spid="42"/>
                                        </p:tgtEl>
                                        <p:attrNameLst>
                                          <p:attrName>style.visibility</p:attrName>
                                        </p:attrNameLst>
                                      </p:cBhvr>
                                      <p:to>
                                        <p:strVal val="visible"/>
                                      </p:to>
                                    </p:set>
                                    <p:animEffect transition="in" filter="wipe(down)">
                                      <p:cBhvr>
                                        <p:cTn id="105"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uiExpand="1" build="p"/>
      <p:bldP spid="18" grpId="0" animBg="1"/>
      <p:bldP spid="33" grpId="0" animBg="1"/>
      <p:bldP spid="36" grpId="0"/>
      <p:bldP spid="37" grpId="0"/>
      <p:bldP spid="38" grpId="0" animBg="1"/>
      <p:bldP spid="39" grpId="0" animBg="1"/>
      <p:bldP spid="4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57946-FC7F-477C-9867-0ED704A858E1}"/>
              </a:ext>
            </a:extLst>
          </p:cNvPr>
          <p:cNvSpPr>
            <a:spLocks noGrp="1"/>
          </p:cNvSpPr>
          <p:nvPr>
            <p:ph type="title"/>
          </p:nvPr>
        </p:nvSpPr>
        <p:spPr>
          <a:xfrm>
            <a:off x="265245" y="169682"/>
            <a:ext cx="11740617" cy="821500"/>
          </a:xfrm>
        </p:spPr>
        <p:txBody>
          <a:bodyPr>
            <a:normAutofit/>
          </a:bodyPr>
          <a:lstStyle/>
          <a:p>
            <a:r>
              <a:rPr lang="en-IN" dirty="0">
                <a:solidFill>
                  <a:schemeClr val="accent2">
                    <a:lumMod val="75000"/>
                  </a:schemeClr>
                </a:solidFill>
                <a:latin typeface="Abadi Extra Light" panose="020B0204020104020204" pitchFamily="34" charset="0"/>
              </a:rPr>
              <a:t>Some Notation and Conventions</a:t>
            </a:r>
          </a:p>
        </p:txBody>
      </p:sp>
      <mc:AlternateContent xmlns:mc="http://schemas.openxmlformats.org/markup-compatibility/2006" xmlns:a14="http://schemas.microsoft.com/office/drawing/2010/main">
        <mc:Choice Requires="a14">
          <p:sp>
            <p:nvSpPr>
              <p:cNvPr id="34" name="Content Placeholder 2">
                <a:extLst>
                  <a:ext uri="{FF2B5EF4-FFF2-40B4-BE49-F238E27FC236}">
                    <a16:creationId xmlns:a16="http://schemas.microsoft.com/office/drawing/2014/main" id="{E1DF4C8E-2FB0-4CA2-9D9A-034196FC982E}"/>
                  </a:ext>
                </a:extLst>
              </p:cNvPr>
              <p:cNvSpPr>
                <a:spLocks noGrp="1"/>
              </p:cNvSpPr>
              <p:nvPr>
                <p:ph idx="1"/>
              </p:nvPr>
            </p:nvSpPr>
            <p:spPr>
              <a:xfrm>
                <a:off x="265245" y="1130786"/>
                <a:ext cx="11740617" cy="5557532"/>
              </a:xfrm>
            </p:spPr>
            <p:txBody>
              <a:bodyPr>
                <a:normAutofit fontScale="92500" lnSpcReduction="10000"/>
              </a:bodyPr>
              <a:lstStyle/>
              <a:p>
                <a:pPr>
                  <a:buFont typeface="Wingdings" panose="05000000000000000000" pitchFamily="2" charset="2"/>
                  <a:buChar char="§"/>
                </a:pPr>
                <a:r>
                  <a:rPr lang="en-IN" dirty="0">
                    <a:latin typeface="Abadi Extra Light" panose="020B0204020104020204" pitchFamily="34" charset="0"/>
                  </a:rPr>
                  <a:t>A single vector will be assumed to be of the form </a:t>
                </a:r>
                <a14:m>
                  <m:oMath xmlns:m="http://schemas.openxmlformats.org/officeDocument/2006/math">
                    <m:acc>
                      <m:accPr>
                        <m:chr m:val="⃗"/>
                        <m:ctrlPr>
                          <a:rPr lang="en-GB" i="1">
                            <a:latin typeface="Cambria Math" panose="02040503050406030204" pitchFamily="18" charset="0"/>
                          </a:rPr>
                        </m:ctrlPr>
                      </m:accPr>
                      <m:e>
                        <m:r>
                          <a:rPr lang="en-GB" i="1">
                            <a:latin typeface="Cambria Math" panose="02040503050406030204" pitchFamily="18" charset="0"/>
                          </a:rPr>
                          <m:t>𝑥</m:t>
                        </m:r>
                      </m:e>
                    </m:acc>
                    <m:r>
                      <a:rPr lang="en-IN" b="0" i="0" smtClean="0">
                        <a:latin typeface="Cambria Math" panose="02040503050406030204" pitchFamily="18" charset="0"/>
                      </a:rPr>
                      <m:t>= </m:t>
                    </m:r>
                    <m:d>
                      <m:dPr>
                        <m:begChr m:val="["/>
                        <m:endChr m:val="]"/>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GB" b="0" i="1" smtClean="0">
                                <a:latin typeface="Cambria Math" panose="02040503050406030204" pitchFamily="18" charset="0"/>
                              </a:rPr>
                              <m:t>𝑛</m:t>
                            </m:r>
                          </m:sub>
                        </m:sSub>
                      </m:e>
                    </m:d>
                  </m:oMath>
                </a14:m>
                <a:endParaRPr lang="en-IN" b="0" i="1" dirty="0">
                  <a:latin typeface="Cambria Math" panose="02040503050406030204" pitchFamily="18" charset="0"/>
                </a:endParaRPr>
              </a:p>
              <a:p>
                <a:pPr marL="0" indent="0">
                  <a:buNone/>
                </a:pPr>
                <a:endParaRPr lang="en-IN" sz="2000" b="0" i="1" dirty="0">
                  <a:latin typeface="Cambria Math" panose="02040503050406030204" pitchFamily="18" charset="0"/>
                </a:endParaRPr>
              </a:p>
              <a:p>
                <a:pPr>
                  <a:buFont typeface="Wingdings" panose="05000000000000000000" pitchFamily="2" charset="2"/>
                  <a:buChar char="§"/>
                </a:pPr>
                <a:r>
                  <a:rPr lang="en-GB" dirty="0">
                    <a:latin typeface="Abadi Extra Light" panose="020B0604020202020204" pitchFamily="34" charset="0"/>
                  </a:rPr>
                  <a:t>Unless specified otherwise, vectors will be assumed to be row vectors</a:t>
                </a:r>
              </a:p>
              <a:p>
                <a:pPr lvl="1">
                  <a:buFont typeface="Wingdings" panose="05000000000000000000" pitchFamily="2" charset="2"/>
                  <a:buChar char="§"/>
                </a:pPr>
                <a:r>
                  <a:rPr lang="en-GB" dirty="0">
                    <a:latin typeface="Abadi Extra Light" panose="020B0604020202020204" pitchFamily="34" charset="0"/>
                  </a:rPr>
                  <a:t>So we will assume </a:t>
                </a:r>
                <a14:m>
                  <m:oMath xmlns:m="http://schemas.openxmlformats.org/officeDocument/2006/math">
                    <m:acc>
                      <m:accPr>
                        <m:chr m:val="⃗"/>
                        <m:ctrlPr>
                          <a:rPr lang="en-GB" i="1">
                            <a:latin typeface="Cambria Math" panose="02040503050406030204" pitchFamily="18" charset="0"/>
                          </a:rPr>
                        </m:ctrlPr>
                      </m:accPr>
                      <m:e>
                        <m:r>
                          <a:rPr lang="en-GB" i="1">
                            <a:latin typeface="Cambria Math" panose="02040503050406030204" pitchFamily="18" charset="0"/>
                          </a:rPr>
                          <m:t>𝑥</m:t>
                        </m:r>
                      </m:e>
                    </m:acc>
                    <m:r>
                      <a:rPr lang="en-IN">
                        <a:latin typeface="Cambria Math" panose="02040503050406030204" pitchFamily="18" charset="0"/>
                      </a:rPr>
                      <m:t>= </m:t>
                    </m:r>
                    <m:d>
                      <m:dPr>
                        <m:begChr m:val="["/>
                        <m:endChr m:val="]"/>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1</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2</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GB" b="0" i="1" smtClean="0">
                                <a:latin typeface="Cambria Math" panose="02040503050406030204" pitchFamily="18" charset="0"/>
                              </a:rPr>
                              <m:t>𝑛</m:t>
                            </m:r>
                          </m:sub>
                        </m:sSub>
                      </m:e>
                    </m:d>
                  </m:oMath>
                </a14:m>
                <a:r>
                  <a:rPr lang="en-GB" dirty="0">
                    <a:latin typeface="Abadi Extra Light" panose="020B0604020202020204" pitchFamily="34" charset="0"/>
                  </a:rPr>
                  <a:t> to be a column vector of size </a:t>
                </a:r>
                <a14:m>
                  <m:oMath xmlns:m="http://schemas.openxmlformats.org/officeDocument/2006/math">
                    <m:r>
                      <a:rPr lang="en-GB" b="0" i="1" smtClean="0">
                        <a:latin typeface="Cambria Math" panose="02040503050406030204" pitchFamily="18" charset="0"/>
                      </a:rPr>
                      <m:t>1</m:t>
                    </m:r>
                    <m:r>
                      <a:rPr lang="en-IN" b="0" i="1" smtClean="0">
                        <a:latin typeface="Cambria Math" panose="02040503050406030204" pitchFamily="18" charset="0"/>
                      </a:rPr>
                      <m:t>×</m:t>
                    </m:r>
                    <m:r>
                      <a:rPr lang="en-GB" b="0" i="1" smtClean="0">
                        <a:latin typeface="Cambria Math" panose="02040503050406030204" pitchFamily="18" charset="0"/>
                      </a:rPr>
                      <m:t>𝑛</m:t>
                    </m:r>
                  </m:oMath>
                </a14:m>
                <a:endParaRPr lang="en-GB" dirty="0">
                  <a:latin typeface="Abadi Extra Light" panose="020B0604020202020204" pitchFamily="34" charset="0"/>
                </a:endParaRPr>
              </a:p>
              <a:p>
                <a:pPr lvl="1">
                  <a:buFont typeface="Wingdings" panose="05000000000000000000" pitchFamily="2" charset="2"/>
                  <a:buChar char="§"/>
                </a:pPr>
                <a:r>
                  <a:rPr lang="en-GB" dirty="0">
                    <a:latin typeface="Abadi Extra Light" panose="020B0604020202020204" pitchFamily="34" charset="0"/>
                  </a:rPr>
                  <a:t>Assuming each element to be real-valued scalar, </a:t>
                </a:r>
                <a14:m>
                  <m:oMath xmlns:m="http://schemas.openxmlformats.org/officeDocument/2006/math">
                    <m:acc>
                      <m:accPr>
                        <m:chr m:val="⃗"/>
                        <m:ctrlPr>
                          <a:rPr lang="en-GB" i="1">
                            <a:latin typeface="Cambria Math" panose="02040503050406030204" pitchFamily="18" charset="0"/>
                          </a:rPr>
                        </m:ctrlPr>
                      </m:accPr>
                      <m:e>
                        <m:r>
                          <a:rPr lang="en-GB" i="1">
                            <a:latin typeface="Cambria Math" panose="02040503050406030204" pitchFamily="18" charset="0"/>
                          </a:rPr>
                          <m:t>𝑥</m:t>
                        </m:r>
                      </m:e>
                    </m:acc>
                    <m:r>
                      <a:rPr lang="en-GB" i="1" dirty="0" smtClean="0">
                        <a:latin typeface="Cambria Math" panose="02040503050406030204" pitchFamily="18" charset="0"/>
                        <a:ea typeface="Cambria Math" panose="02040503050406030204" pitchFamily="18" charset="0"/>
                      </a:rPr>
                      <m:t>∈</m:t>
                    </m:r>
                    <m:sSup>
                      <m:sSupPr>
                        <m:ctrlPr>
                          <a:rPr lang="en-IN" b="0" i="1" smtClean="0">
                            <a:latin typeface="Cambria Math" panose="02040503050406030204" pitchFamily="18" charset="0"/>
                            <a:ea typeface="Cambria Math" panose="02040503050406030204" pitchFamily="18" charset="0"/>
                          </a:rPr>
                        </m:ctrlPr>
                      </m:sSupPr>
                      <m:e>
                        <m:r>
                          <a:rPr lang="en-IN" i="1">
                            <a:latin typeface="Cambria Math" panose="02040503050406030204" pitchFamily="18" charset="0"/>
                            <a:ea typeface="Cambria Math" panose="02040503050406030204" pitchFamily="18" charset="0"/>
                          </a:rPr>
                          <m:t>ℝ</m:t>
                        </m:r>
                      </m:e>
                      <m:sup>
                        <m:r>
                          <a:rPr lang="en-GB" b="0" i="1" smtClean="0">
                            <a:latin typeface="Cambria Math" panose="02040503050406030204" pitchFamily="18" charset="0"/>
                            <a:ea typeface="Cambria Math" panose="02040503050406030204" pitchFamily="18" charset="0"/>
                          </a:rPr>
                          <m:t>1</m:t>
                        </m:r>
                        <m:r>
                          <a:rPr lang="en-IN"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𝑛</m:t>
                        </m:r>
                      </m:sup>
                    </m:sSup>
                  </m:oMath>
                </a14:m>
                <a:r>
                  <a:rPr lang="en-GB" dirty="0">
                    <a:latin typeface="Abadi Extra Light" panose="020B0604020202020204" pitchFamily="34" charset="0"/>
                  </a:rPr>
                  <a:t> (</a:t>
                </a:r>
                <a14:m>
                  <m:oMath xmlns:m="http://schemas.openxmlformats.org/officeDocument/2006/math">
                    <m:r>
                      <a:rPr lang="en-IN" i="1">
                        <a:latin typeface="Cambria Math" panose="02040503050406030204" pitchFamily="18" charset="0"/>
                        <a:ea typeface="Cambria Math" panose="02040503050406030204" pitchFamily="18" charset="0"/>
                      </a:rPr>
                      <m:t>ℝ</m:t>
                    </m:r>
                  </m:oMath>
                </a14:m>
                <a:r>
                  <a:rPr lang="en-GB" dirty="0">
                    <a:latin typeface="Abadi Extra Light" panose="020B0604020202020204" pitchFamily="34" charset="0"/>
                  </a:rPr>
                  <a:t>: space of reals)</a:t>
                </a:r>
              </a:p>
              <a:p>
                <a:pPr marL="0" indent="0">
                  <a:buNone/>
                </a:pPr>
                <a:endParaRPr lang="en-IN" sz="2000" b="0" i="1" dirty="0">
                  <a:latin typeface="Cambria Math" panose="02040503050406030204" pitchFamily="18" charset="0"/>
                </a:endParaRPr>
              </a:p>
              <a:p>
                <a:pPr>
                  <a:buFont typeface="Wingdings" panose="05000000000000000000" pitchFamily="2" charset="2"/>
                  <a:buChar char="§"/>
                </a:pPr>
                <a:r>
                  <a:rPr lang="en-IN" dirty="0">
                    <a:latin typeface="Abadi Extra Light" panose="020B0204020104020204" pitchFamily="34" charset="0"/>
                  </a:rPr>
                  <a:t>If </a:t>
                </a:r>
                <a14:m>
                  <m:oMath xmlns:m="http://schemas.openxmlformats.org/officeDocument/2006/math">
                    <m:acc>
                      <m:accPr>
                        <m:chr m:val="⃗"/>
                        <m:ctrlPr>
                          <a:rPr lang="en-GB" i="1">
                            <a:latin typeface="Cambria Math" panose="02040503050406030204" pitchFamily="18" charset="0"/>
                          </a:rPr>
                        </m:ctrlPr>
                      </m:accPr>
                      <m:e>
                        <m:r>
                          <a:rPr lang="en-GB" i="1">
                            <a:latin typeface="Cambria Math" panose="02040503050406030204" pitchFamily="18" charset="0"/>
                          </a:rPr>
                          <m:t>𝑥</m:t>
                        </m:r>
                      </m:e>
                    </m:acc>
                    <m:r>
                      <a:rPr lang="en-IN">
                        <a:latin typeface="Cambria Math" panose="02040503050406030204" pitchFamily="18" charset="0"/>
                      </a:rPr>
                      <m:t>= </m:t>
                    </m:r>
                    <m:d>
                      <m:dPr>
                        <m:begChr m:val="["/>
                        <m:endChr m:val="]"/>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1</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2</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GB" b="0" i="1" smtClean="0">
                                <a:latin typeface="Cambria Math" panose="02040503050406030204" pitchFamily="18" charset="0"/>
                              </a:rPr>
                              <m:t>𝑛</m:t>
                            </m:r>
                          </m:sub>
                        </m:sSub>
                      </m:e>
                    </m:d>
                  </m:oMath>
                </a14:m>
                <a:r>
                  <a:rPr lang="en-IN" dirty="0">
                    <a:latin typeface="Abadi Extra Light" panose="020B0204020104020204" pitchFamily="34" charset="0"/>
                  </a:rPr>
                  <a:t> is a feature vector representing and input example, then</a:t>
                </a:r>
              </a:p>
              <a:p>
                <a:pPr lvl="1">
                  <a:buFont typeface="Wingdings" panose="05000000000000000000" pitchFamily="2" charset="2"/>
                  <a:buChar char="§"/>
                </a:pPr>
                <a14:m>
                  <m:oMath xmlns:m="http://schemas.openxmlformats.org/officeDocument/2006/math">
                    <m:r>
                      <a:rPr lang="en-GB" b="0" i="1" smtClean="0">
                        <a:latin typeface="Cambria Math" panose="02040503050406030204" pitchFamily="18" charset="0"/>
                      </a:rPr>
                      <m:t>𝑛</m:t>
                    </m:r>
                  </m:oMath>
                </a14:m>
                <a:r>
                  <a:rPr lang="en-GB" dirty="0">
                    <a:latin typeface="Abadi Extra Light" panose="020B0604020202020204" pitchFamily="34" charset="0"/>
                  </a:rPr>
                  <a:t> denotes the dimensionality of this feature vector (number of features)</a:t>
                </a:r>
                <a:endParaRPr lang="en-IN" dirty="0">
                  <a:latin typeface="Abadi Extra Light" panose="020B0204020104020204" pitchFamily="34" charset="0"/>
                </a:endParaRPr>
              </a:p>
              <a:p>
                <a:pPr lvl="1">
                  <a:buFont typeface="Wingdings" panose="05000000000000000000" pitchFamily="2" charset="2"/>
                  <a:buChar char="§"/>
                </a:pPr>
                <a:r>
                  <a:rPr lang="en-IN" dirty="0">
                    <a:latin typeface="Abadi Extra Light" panose="020B0204020104020204" pitchFamily="34" charset="0"/>
                  </a:rPr>
                  <a:t>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b="0" i="1" smtClean="0">
                            <a:latin typeface="Cambria Math" panose="02040503050406030204" pitchFamily="18" charset="0"/>
                          </a:rPr>
                          <m:t>𝑖</m:t>
                        </m:r>
                      </m:sub>
                    </m:sSub>
                    <m:r>
                      <a:rPr lang="en-IN" i="1">
                        <a:latin typeface="Cambria Math" panose="02040503050406030204" pitchFamily="18" charset="0"/>
                      </a:rPr>
                      <m:t> </m:t>
                    </m:r>
                  </m:oMath>
                </a14:m>
                <a:r>
                  <a:rPr lang="en-GB" dirty="0">
                    <a:latin typeface="Abadi Extra Light" panose="020B0604020202020204" pitchFamily="34" charset="0"/>
                  </a:rPr>
                  <a:t>(a scalar) denotes the value of </a:t>
                </a:r>
                <a14:m>
                  <m:oMath xmlns:m="http://schemas.openxmlformats.org/officeDocument/2006/math">
                    <m:sSup>
                      <m:sSupPr>
                        <m:ctrlPr>
                          <a:rPr lang="en-IN" b="0" i="1" smtClean="0">
                            <a:latin typeface="Cambria Math" panose="02040503050406030204" pitchFamily="18" charset="0"/>
                          </a:rPr>
                        </m:ctrlPr>
                      </m:sSupPr>
                      <m:e>
                        <m:r>
                          <a:rPr lang="en-IN" b="0" i="1" smtClean="0">
                            <a:latin typeface="Cambria Math" panose="02040503050406030204" pitchFamily="18" charset="0"/>
                          </a:rPr>
                          <m:t>𝑖</m:t>
                        </m:r>
                      </m:e>
                      <m:sup>
                        <m:r>
                          <a:rPr lang="en-IN" b="0" i="1" smtClean="0">
                            <a:latin typeface="Cambria Math" panose="02040503050406030204" pitchFamily="18" charset="0"/>
                          </a:rPr>
                          <m:t>𝑡h</m:t>
                        </m:r>
                      </m:sup>
                    </m:sSup>
                    <m:r>
                      <a:rPr lang="en-IN" b="0" i="0" smtClean="0">
                        <a:latin typeface="Cambria Math" panose="02040503050406030204" pitchFamily="18" charset="0"/>
                      </a:rPr>
                      <m:t> </m:t>
                    </m:r>
                  </m:oMath>
                </a14:m>
                <a:r>
                  <a:rPr lang="en-GB" dirty="0">
                    <a:latin typeface="Abadi Extra Light" panose="020B0604020202020204" pitchFamily="34" charset="0"/>
                  </a:rPr>
                  <a:t>feature in the example</a:t>
                </a:r>
              </a:p>
              <a:p>
                <a:pPr marL="457200" lvl="1" indent="0">
                  <a:buNone/>
                </a:pPr>
                <a:endParaRPr lang="en-GB" dirty="0">
                  <a:latin typeface="Abadi Extra Light" panose="020B0604020202020204" pitchFamily="34" charset="0"/>
                </a:endParaRPr>
              </a:p>
              <a:p>
                <a:pPr>
                  <a:buFont typeface="Wingdings" panose="05000000000000000000" pitchFamily="2" charset="2"/>
                  <a:buChar char="§"/>
                </a:pPr>
                <a:r>
                  <a:rPr lang="en-GB" dirty="0">
                    <a:latin typeface="Abadi Extra Light" panose="020B0604020202020204" pitchFamily="34" charset="0"/>
                  </a:rPr>
                  <a:t>For denoting multiple vectors, we will use a superscript with each vector, e.g., </a:t>
                </a:r>
              </a:p>
              <a:p>
                <a:pPr lvl="1">
                  <a:buFont typeface="Wingdings" panose="05000000000000000000" pitchFamily="2" charset="2"/>
                  <a:buChar char="§"/>
                </a:pPr>
                <a:r>
                  <a:rPr lang="en-GB" dirty="0">
                    <a:latin typeface="Abadi Extra Light" panose="020B0604020202020204" pitchFamily="34" charset="0"/>
                  </a:rPr>
                  <a:t>N images denoted by N feature vectors </a:t>
                </a:r>
                <a14:m>
                  <m:oMath xmlns:m="http://schemas.openxmlformats.org/officeDocument/2006/math">
                    <m:sSup>
                      <m:sSupPr>
                        <m:ctrlPr>
                          <a:rPr lang="en-GB" i="1" smtClean="0">
                            <a:latin typeface="Cambria Math" panose="02040503050406030204" pitchFamily="18" charset="0"/>
                          </a:rPr>
                        </m:ctrlPr>
                      </m:sSupPr>
                      <m:e>
                        <m:acc>
                          <m:accPr>
                            <m:chr m:val="⃗"/>
                            <m:ctrlPr>
                              <a:rPr lang="en-GB" b="1" i="1" dirty="0">
                                <a:latin typeface="Cambria Math" panose="02040503050406030204" pitchFamily="18" charset="0"/>
                              </a:rPr>
                            </m:ctrlPr>
                          </m:accPr>
                          <m:e>
                            <m:r>
                              <a:rPr lang="en-GB" b="1" i="1" dirty="0">
                                <a:latin typeface="Cambria Math" panose="02040503050406030204" pitchFamily="18" charset="0"/>
                              </a:rPr>
                              <m:t>𝒙</m:t>
                            </m:r>
                          </m:e>
                        </m:acc>
                      </m:e>
                      <m:sup>
                        <m:r>
                          <a:rPr lang="en-GB" b="0" i="1" smtClean="0">
                            <a:latin typeface="Cambria Math" panose="02040503050406030204" pitchFamily="18" charset="0"/>
                          </a:rPr>
                          <m:t>(1)</m:t>
                        </m:r>
                      </m:sup>
                    </m:sSup>
                  </m:oMath>
                </a14:m>
                <a:r>
                  <a:rPr lang="en-GB" b="1" dirty="0">
                    <a:latin typeface="Abadi Extra Light" panose="020B0604020202020204" pitchFamily="34" charset="0"/>
                  </a:rPr>
                  <a:t>,</a:t>
                </a:r>
                <a14:m>
                  <m:oMath xmlns:m="http://schemas.openxmlformats.org/officeDocument/2006/math">
                    <m:sSup>
                      <m:sSupPr>
                        <m:ctrlPr>
                          <a:rPr lang="en-GB" i="1">
                            <a:latin typeface="Cambria Math" panose="02040503050406030204" pitchFamily="18" charset="0"/>
                          </a:rPr>
                        </m:ctrlPr>
                      </m:sSupPr>
                      <m:e>
                        <m:acc>
                          <m:accPr>
                            <m:chr m:val="⃗"/>
                            <m:ctrlPr>
                              <a:rPr lang="en-GB" b="1" i="1" dirty="0">
                                <a:latin typeface="Cambria Math" panose="02040503050406030204" pitchFamily="18" charset="0"/>
                              </a:rPr>
                            </m:ctrlPr>
                          </m:accPr>
                          <m:e>
                            <m:r>
                              <a:rPr lang="en-GB" b="1" i="1" dirty="0">
                                <a:latin typeface="Cambria Math" panose="02040503050406030204" pitchFamily="18" charset="0"/>
                              </a:rPr>
                              <m:t>𝒙</m:t>
                            </m:r>
                          </m:e>
                        </m:acc>
                      </m:e>
                      <m:sup>
                        <m:r>
                          <a:rPr lang="en-GB" i="1">
                            <a:latin typeface="Cambria Math" panose="02040503050406030204" pitchFamily="18" charset="0"/>
                          </a:rPr>
                          <m:t>(</m:t>
                        </m:r>
                        <m:r>
                          <a:rPr lang="en-GB" b="0" i="1" smtClean="0">
                            <a:latin typeface="Cambria Math" panose="02040503050406030204" pitchFamily="18" charset="0"/>
                          </a:rPr>
                          <m:t>2</m:t>
                        </m:r>
                        <m:r>
                          <a:rPr lang="en-GB" i="1">
                            <a:latin typeface="Cambria Math" panose="02040503050406030204" pitchFamily="18" charset="0"/>
                          </a:rPr>
                          <m:t>)</m:t>
                        </m:r>
                      </m:sup>
                    </m:sSup>
                  </m:oMath>
                </a14:m>
                <a:r>
                  <a:rPr lang="en-GB" b="1" dirty="0">
                    <a:latin typeface="Abadi Extra Light" panose="020B0604020202020204" pitchFamily="34" charset="0"/>
                  </a:rPr>
                  <a:t>, …,</a:t>
                </a:r>
                <a14:m>
                  <m:oMath xmlns:m="http://schemas.openxmlformats.org/officeDocument/2006/math">
                    <m:sSup>
                      <m:sSupPr>
                        <m:ctrlPr>
                          <a:rPr lang="en-GB" i="1">
                            <a:latin typeface="Cambria Math" panose="02040503050406030204" pitchFamily="18" charset="0"/>
                          </a:rPr>
                        </m:ctrlPr>
                      </m:sSupPr>
                      <m:e>
                        <m:acc>
                          <m:accPr>
                            <m:chr m:val="⃗"/>
                            <m:ctrlPr>
                              <a:rPr lang="en-GB" b="1" i="1" dirty="0">
                                <a:latin typeface="Cambria Math" panose="02040503050406030204" pitchFamily="18" charset="0"/>
                              </a:rPr>
                            </m:ctrlPr>
                          </m:accPr>
                          <m:e>
                            <m:r>
                              <a:rPr lang="en-GB" b="1" i="1" dirty="0">
                                <a:latin typeface="Cambria Math" panose="02040503050406030204" pitchFamily="18" charset="0"/>
                              </a:rPr>
                              <m:t>𝒙</m:t>
                            </m:r>
                          </m:e>
                        </m:acc>
                      </m:e>
                      <m:sup>
                        <m:r>
                          <a:rPr lang="en-GB" i="1">
                            <a:latin typeface="Cambria Math" panose="02040503050406030204" pitchFamily="18" charset="0"/>
                          </a:rPr>
                          <m:t>(</m:t>
                        </m:r>
                        <m:r>
                          <a:rPr lang="en-GB" b="0" i="1" smtClean="0">
                            <a:latin typeface="Cambria Math" panose="02040503050406030204" pitchFamily="18" charset="0"/>
                          </a:rPr>
                          <m:t>𝑚</m:t>
                        </m:r>
                        <m:r>
                          <a:rPr lang="en-GB" i="1">
                            <a:latin typeface="Cambria Math" panose="02040503050406030204" pitchFamily="18" charset="0"/>
                          </a:rPr>
                          <m:t>)</m:t>
                        </m:r>
                      </m:sup>
                    </m:sSup>
                  </m:oMath>
                </a14:m>
                <a:r>
                  <a:rPr lang="en-GB" dirty="0">
                    <a:latin typeface="Abadi Extra Light" panose="020B0604020202020204" pitchFamily="34" charset="0"/>
                  </a:rPr>
                  <a:t>, or compactly as </a:t>
                </a:r>
                <a14:m>
                  <m:oMath xmlns:m="http://schemas.openxmlformats.org/officeDocument/2006/math">
                    <m:sSubSup>
                      <m:sSubSupPr>
                        <m:ctrlPr>
                          <a:rPr lang="en-GB" i="1" smtClean="0">
                            <a:latin typeface="Cambria Math" panose="02040503050406030204" pitchFamily="18" charset="0"/>
                          </a:rPr>
                        </m:ctrlPr>
                      </m:sSubSupPr>
                      <m:e>
                        <m:d>
                          <m:dPr>
                            <m:begChr m:val="{"/>
                            <m:endChr m:val="}"/>
                            <m:ctrlPr>
                              <a:rPr lang="en-IN" b="0" i="1" smtClean="0">
                                <a:latin typeface="Cambria Math" panose="02040503050406030204" pitchFamily="18" charset="0"/>
                              </a:rPr>
                            </m:ctrlPr>
                          </m:dPr>
                          <m:e>
                            <m:sSup>
                              <m:sSupPr>
                                <m:ctrlPr>
                                  <a:rPr lang="en-GB" i="1">
                                    <a:latin typeface="Cambria Math" panose="02040503050406030204" pitchFamily="18" charset="0"/>
                                  </a:rPr>
                                </m:ctrlPr>
                              </m:sSupPr>
                              <m:e>
                                <m:acc>
                                  <m:accPr>
                                    <m:chr m:val="⃗"/>
                                    <m:ctrlPr>
                                      <a:rPr lang="en-GB" b="1" i="1" dirty="0">
                                        <a:latin typeface="Cambria Math" panose="02040503050406030204" pitchFamily="18" charset="0"/>
                                      </a:rPr>
                                    </m:ctrlPr>
                                  </m:accPr>
                                  <m:e>
                                    <m:r>
                                      <a:rPr lang="en-GB" b="1" i="1" dirty="0">
                                        <a:latin typeface="Cambria Math" panose="02040503050406030204" pitchFamily="18" charset="0"/>
                                      </a:rPr>
                                      <m:t>𝒙</m:t>
                                    </m:r>
                                  </m:e>
                                </m:acc>
                              </m:e>
                              <m:sup>
                                <m:r>
                                  <a:rPr lang="en-GB" i="1">
                                    <a:latin typeface="Cambria Math" panose="02040503050406030204" pitchFamily="18" charset="0"/>
                                  </a:rPr>
                                  <m:t>(</m:t>
                                </m:r>
                                <m:r>
                                  <a:rPr lang="en-GB" b="0" i="1" smtClean="0">
                                    <a:latin typeface="Cambria Math" panose="02040503050406030204" pitchFamily="18" charset="0"/>
                                  </a:rPr>
                                  <m:t>𝑖</m:t>
                                </m:r>
                                <m:r>
                                  <a:rPr lang="en-GB" i="1">
                                    <a:latin typeface="Cambria Math" panose="02040503050406030204" pitchFamily="18" charset="0"/>
                                  </a:rPr>
                                  <m:t>)</m:t>
                                </m:r>
                              </m:sup>
                            </m:sSup>
                          </m:e>
                        </m:d>
                      </m:e>
                      <m:sub>
                        <m:r>
                          <a:rPr lang="en-GB" b="0" i="1" smtClean="0">
                            <a:latin typeface="Cambria Math" panose="02040503050406030204" pitchFamily="18" charset="0"/>
                          </a:rPr>
                          <m:t>𝑖</m:t>
                        </m:r>
                        <m:r>
                          <a:rPr lang="en-IN" b="0" i="1" smtClean="0">
                            <a:latin typeface="Cambria Math" panose="02040503050406030204" pitchFamily="18" charset="0"/>
                          </a:rPr>
                          <m:t>=1</m:t>
                        </m:r>
                      </m:sub>
                      <m:sup>
                        <m:r>
                          <a:rPr lang="en-GB" b="0" i="1" smtClean="0">
                            <a:latin typeface="Cambria Math" panose="02040503050406030204" pitchFamily="18" charset="0"/>
                          </a:rPr>
                          <m:t>𝑚</m:t>
                        </m:r>
                      </m:sup>
                    </m:sSubSup>
                  </m:oMath>
                </a14:m>
                <a:endParaRPr lang="en-GB" dirty="0">
                  <a:latin typeface="Abadi Extra Light" panose="020B0604020202020204" pitchFamily="34" charset="0"/>
                </a:endParaRPr>
              </a:p>
              <a:p>
                <a:pPr lvl="1">
                  <a:buFont typeface="Wingdings" panose="05000000000000000000" pitchFamily="2" charset="2"/>
                  <a:buChar char="§"/>
                </a:pPr>
                <a:r>
                  <a:rPr lang="en-GB" dirty="0">
                    <a:latin typeface="Abadi Extra Light" panose="020B0604020202020204" pitchFamily="34" charset="0"/>
                  </a:rPr>
                  <a:t>The vector </a:t>
                </a:r>
                <a14:m>
                  <m:oMath xmlns:m="http://schemas.openxmlformats.org/officeDocument/2006/math">
                    <m:sSup>
                      <m:sSupPr>
                        <m:ctrlPr>
                          <a:rPr lang="en-GB" i="1">
                            <a:latin typeface="Cambria Math" panose="02040503050406030204" pitchFamily="18" charset="0"/>
                          </a:rPr>
                        </m:ctrlPr>
                      </m:sSupPr>
                      <m:e>
                        <m:acc>
                          <m:accPr>
                            <m:chr m:val="⃗"/>
                            <m:ctrlPr>
                              <a:rPr lang="en-GB" b="1" i="1" dirty="0">
                                <a:latin typeface="Cambria Math" panose="02040503050406030204" pitchFamily="18" charset="0"/>
                              </a:rPr>
                            </m:ctrlPr>
                          </m:accPr>
                          <m:e>
                            <m:r>
                              <a:rPr lang="en-GB" b="1" i="1" dirty="0">
                                <a:latin typeface="Cambria Math" panose="02040503050406030204" pitchFamily="18" charset="0"/>
                              </a:rPr>
                              <m:t>𝒙</m:t>
                            </m:r>
                          </m:e>
                        </m:acc>
                      </m:e>
                      <m:sup>
                        <m:r>
                          <a:rPr lang="en-GB" i="1">
                            <a:latin typeface="Cambria Math" panose="02040503050406030204" pitchFamily="18" charset="0"/>
                          </a:rPr>
                          <m:t>(</m:t>
                        </m:r>
                        <m:r>
                          <a:rPr lang="en-GB" b="0" i="1" smtClean="0">
                            <a:latin typeface="Cambria Math" panose="02040503050406030204" pitchFamily="18" charset="0"/>
                          </a:rPr>
                          <m:t>𝑖</m:t>
                        </m:r>
                        <m:r>
                          <a:rPr lang="en-GB" i="1">
                            <a:latin typeface="Cambria Math" panose="02040503050406030204" pitchFamily="18" charset="0"/>
                          </a:rPr>
                          <m:t>)</m:t>
                        </m:r>
                      </m:sup>
                    </m:sSup>
                  </m:oMath>
                </a14:m>
                <a:r>
                  <a:rPr lang="en-GB" dirty="0">
                    <a:latin typeface="Abadi Extra Light" panose="020B0604020202020204" pitchFamily="34" charset="0"/>
                  </a:rPr>
                  <a:t>denotes the </a:t>
                </a:r>
                <a14:m>
                  <m:oMath xmlns:m="http://schemas.openxmlformats.org/officeDocument/2006/math">
                    <m:sSup>
                      <m:sSupPr>
                        <m:ctrlPr>
                          <a:rPr lang="en-IN" i="1">
                            <a:latin typeface="Cambria Math" panose="02040503050406030204" pitchFamily="18" charset="0"/>
                          </a:rPr>
                        </m:ctrlPr>
                      </m:sSupPr>
                      <m:e>
                        <m:r>
                          <a:rPr lang="en-GB" b="0" i="1" smtClean="0">
                            <a:latin typeface="Cambria Math" panose="02040503050406030204" pitchFamily="18" charset="0"/>
                          </a:rPr>
                          <m:t>𝑖</m:t>
                        </m:r>
                      </m:e>
                      <m:sup>
                        <m:r>
                          <a:rPr lang="en-IN" i="1">
                            <a:latin typeface="Cambria Math" panose="02040503050406030204" pitchFamily="18" charset="0"/>
                          </a:rPr>
                          <m:t>𝑡h</m:t>
                        </m:r>
                      </m:sup>
                    </m:sSup>
                  </m:oMath>
                </a14:m>
                <a:r>
                  <a:rPr lang="en-GB" dirty="0">
                    <a:latin typeface="Abadi Extra Light" panose="020B0604020202020204" pitchFamily="34" charset="0"/>
                  </a:rPr>
                  <a:t> example</a:t>
                </a:r>
              </a:p>
              <a:p>
                <a:pPr lvl="1">
                  <a:buFont typeface="Wingdings" panose="05000000000000000000" pitchFamily="2" charset="2"/>
                  <a:buChar char="§"/>
                </a:pPr>
                <a14:m>
                  <m:oMath xmlns:m="http://schemas.openxmlformats.org/officeDocument/2006/math">
                    <m:sSubSup>
                      <m:sSubSupPr>
                        <m:ctrlPr>
                          <a:rPr lang="en-GB" i="1" smtClean="0">
                            <a:latin typeface="Cambria Math" panose="02040503050406030204" pitchFamily="18" charset="0"/>
                          </a:rPr>
                        </m:ctrlPr>
                      </m:sSubSupPr>
                      <m:e>
                        <m:r>
                          <a:rPr lang="en-GB" b="0" i="1" smtClean="0">
                            <a:latin typeface="Cambria Math" panose="02040503050406030204" pitchFamily="18" charset="0"/>
                          </a:rPr>
                          <m:t>𝑥</m:t>
                        </m:r>
                      </m:e>
                      <m:sub>
                        <m:r>
                          <a:rPr lang="en-GB" b="0" i="1" smtClean="0">
                            <a:latin typeface="Cambria Math" panose="02040503050406030204" pitchFamily="18" charset="0"/>
                          </a:rPr>
                          <m:t>𝑗</m:t>
                        </m:r>
                      </m:sub>
                      <m:sup>
                        <m:r>
                          <a:rPr lang="en-GB" b="0" i="1" smtClean="0">
                            <a:latin typeface="Cambria Math" panose="02040503050406030204" pitchFamily="18" charset="0"/>
                          </a:rPr>
                          <m:t>(</m:t>
                        </m:r>
                        <m:r>
                          <a:rPr lang="en-GB" b="0" i="1" smtClean="0">
                            <a:latin typeface="Cambria Math" panose="02040503050406030204" pitchFamily="18" charset="0"/>
                          </a:rPr>
                          <m:t>𝑖</m:t>
                        </m:r>
                        <m:r>
                          <a:rPr lang="en-GB" b="0" i="1" smtClean="0">
                            <a:latin typeface="Cambria Math" panose="02040503050406030204" pitchFamily="18" charset="0"/>
                          </a:rPr>
                          <m:t>)</m:t>
                        </m:r>
                      </m:sup>
                    </m:sSubSup>
                  </m:oMath>
                </a14:m>
                <a:r>
                  <a:rPr lang="en-GB" dirty="0">
                    <a:latin typeface="Abadi Extra Light" panose="020B0604020202020204" pitchFamily="34" charset="0"/>
                  </a:rPr>
                  <a:t>(a scalar) denotes the </a:t>
                </a:r>
                <a14:m>
                  <m:oMath xmlns:m="http://schemas.openxmlformats.org/officeDocument/2006/math">
                    <m:sSup>
                      <m:sSupPr>
                        <m:ctrlPr>
                          <a:rPr lang="en-IN" i="1">
                            <a:latin typeface="Cambria Math" panose="02040503050406030204" pitchFamily="18" charset="0"/>
                          </a:rPr>
                        </m:ctrlPr>
                      </m:sSupPr>
                      <m:e>
                        <m:r>
                          <a:rPr lang="en-GB" b="0" i="1" smtClean="0">
                            <a:latin typeface="Cambria Math" panose="02040503050406030204" pitchFamily="18" charset="0"/>
                          </a:rPr>
                          <m:t>𝑗</m:t>
                        </m:r>
                      </m:e>
                      <m:sup>
                        <m:r>
                          <a:rPr lang="en-IN" i="1">
                            <a:latin typeface="Cambria Math" panose="02040503050406030204" pitchFamily="18" charset="0"/>
                          </a:rPr>
                          <m:t>𝑡h</m:t>
                        </m:r>
                      </m:sup>
                    </m:sSup>
                  </m:oMath>
                </a14:m>
                <a:r>
                  <a:rPr lang="en-GB" dirty="0">
                    <a:latin typeface="Abadi Extra Light" panose="020B0604020202020204" pitchFamily="34" charset="0"/>
                  </a:rPr>
                  <a:t> feature value (</a:t>
                </a:r>
                <a14:m>
                  <m:oMath xmlns:m="http://schemas.openxmlformats.org/officeDocument/2006/math">
                    <m:r>
                      <a:rPr lang="en-GB" b="0" i="1" smtClean="0">
                        <a:latin typeface="Cambria Math" panose="02040503050406030204" pitchFamily="18" charset="0"/>
                      </a:rPr>
                      <m:t>𝑗</m:t>
                    </m:r>
                    <m:r>
                      <a:rPr lang="en-IN" b="0" i="1" smtClean="0">
                        <a:latin typeface="Cambria Math" panose="02040503050406030204" pitchFamily="18" charset="0"/>
                      </a:rPr>
                      <m:t>=1,2,…,</m:t>
                    </m:r>
                    <m:r>
                      <a:rPr lang="en-GB" b="0" i="1" smtClean="0">
                        <a:latin typeface="Cambria Math" panose="02040503050406030204" pitchFamily="18" charset="0"/>
                      </a:rPr>
                      <m:t>𝑛</m:t>
                    </m:r>
                  </m:oMath>
                </a14:m>
                <a:r>
                  <a:rPr lang="en-GB" dirty="0">
                    <a:latin typeface="Abadi Extra Light" panose="020B0604020202020204" pitchFamily="34" charset="0"/>
                  </a:rPr>
                  <a:t>) of the </a:t>
                </a:r>
                <a14:m>
                  <m:oMath xmlns:m="http://schemas.openxmlformats.org/officeDocument/2006/math">
                    <m:sSup>
                      <m:sSupPr>
                        <m:ctrlPr>
                          <a:rPr lang="en-IN" i="1">
                            <a:latin typeface="Cambria Math" panose="02040503050406030204" pitchFamily="18" charset="0"/>
                          </a:rPr>
                        </m:ctrlPr>
                      </m:sSupPr>
                      <m:e>
                        <m:r>
                          <a:rPr lang="en-GB" b="0" i="1" smtClean="0">
                            <a:latin typeface="Cambria Math" panose="02040503050406030204" pitchFamily="18" charset="0"/>
                          </a:rPr>
                          <m:t>𝑖</m:t>
                        </m:r>
                      </m:e>
                      <m:sup>
                        <m:r>
                          <a:rPr lang="en-IN" i="1">
                            <a:latin typeface="Cambria Math" panose="02040503050406030204" pitchFamily="18" charset="0"/>
                          </a:rPr>
                          <m:t>𝑡h</m:t>
                        </m:r>
                      </m:sup>
                    </m:sSup>
                  </m:oMath>
                </a14:m>
                <a:r>
                  <a:rPr lang="en-GB" dirty="0">
                    <a:latin typeface="Abadi Extra Light" panose="020B0604020202020204" pitchFamily="34" charset="0"/>
                  </a:rPr>
                  <a:t> example</a:t>
                </a:r>
              </a:p>
              <a:p>
                <a:pPr lvl="1">
                  <a:buFont typeface="Wingdings" panose="05000000000000000000" pitchFamily="2" charset="2"/>
                  <a:buChar char="§"/>
                </a:pPr>
                <a:endParaRPr lang="en-GB" dirty="0">
                  <a:latin typeface="Abadi Extra Light" panose="020B0604020202020204" pitchFamily="34" charset="0"/>
                </a:endParaRPr>
              </a:p>
            </p:txBody>
          </p:sp>
        </mc:Choice>
        <mc:Fallback xmlns="">
          <p:sp>
            <p:nvSpPr>
              <p:cNvPr id="34" name="Content Placeholder 2">
                <a:extLst>
                  <a:ext uri="{FF2B5EF4-FFF2-40B4-BE49-F238E27FC236}">
                    <a16:creationId xmlns:a16="http://schemas.microsoft.com/office/drawing/2014/main" id="{E1DF4C8E-2FB0-4CA2-9D9A-034196FC982E}"/>
                  </a:ext>
                </a:extLst>
              </p:cNvPr>
              <p:cNvSpPr>
                <a:spLocks noGrp="1" noRot="1" noChangeAspect="1" noMove="1" noResize="1" noEditPoints="1" noAdjustHandles="1" noChangeArrowheads="1" noChangeShapeType="1" noTextEdit="1"/>
              </p:cNvSpPr>
              <p:nvPr>
                <p:ph idx="1"/>
              </p:nvPr>
            </p:nvSpPr>
            <p:spPr>
              <a:xfrm>
                <a:off x="265245" y="1130786"/>
                <a:ext cx="11740617" cy="5557532"/>
              </a:xfrm>
              <a:blipFill>
                <a:blip r:embed="rId3"/>
                <a:stretch>
                  <a:fillRect l="-831" t="-2193"/>
                </a:stretch>
              </a:blipFill>
            </p:spPr>
            <p:txBody>
              <a:bodyPr/>
              <a:lstStyle/>
              <a:p>
                <a:r>
                  <a:rPr lang="en-IN">
                    <a:noFill/>
                  </a:rPr>
                  <a:t> </a:t>
                </a:r>
              </a:p>
            </p:txBody>
          </p:sp>
        </mc:Fallback>
      </mc:AlternateContent>
    </p:spTree>
    <p:custDataLst>
      <p:tags r:id="rId1"/>
    </p:custDataLst>
    <p:extLst>
      <p:ext uri="{BB962C8B-B14F-4D97-AF65-F5344CB8AC3E}">
        <p14:creationId xmlns:p14="http://schemas.microsoft.com/office/powerpoint/2010/main" val="2947815517"/>
      </p:ext>
    </p:extLst>
  </p:cSld>
  <p:clrMapOvr>
    <a:masterClrMapping/>
  </p:clrMapOvr>
  <mc:AlternateContent xmlns:mc="http://schemas.openxmlformats.org/markup-compatibility/2006" xmlns:p14="http://schemas.microsoft.com/office/powerpoint/2010/main">
    <mc:Choice Requires="p14">
      <p:transition spd="slow" p14:dur="2000" advTm="155556"/>
    </mc:Choice>
    <mc:Fallback xmlns="">
      <p:transition spd="slow" advTm="15555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animEffect transition="in" filter="wipe(down)">
                                      <p:cBhvr>
                                        <p:cTn id="7" dur="500"/>
                                        <p:tgtEl>
                                          <p:spTgt spid="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4">
                                            <p:txEl>
                                              <p:pRg st="2" end="2"/>
                                            </p:txEl>
                                          </p:spTgt>
                                        </p:tgtEl>
                                        <p:attrNameLst>
                                          <p:attrName>style.visibility</p:attrName>
                                        </p:attrNameLst>
                                      </p:cBhvr>
                                      <p:to>
                                        <p:strVal val="visible"/>
                                      </p:to>
                                    </p:set>
                                    <p:animEffect transition="in" filter="wipe(down)">
                                      <p:cBhvr>
                                        <p:cTn id="12" dur="500"/>
                                        <p:tgtEl>
                                          <p:spTgt spid="34">
                                            <p:txEl>
                                              <p:pRg st="2" end="2"/>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34">
                                            <p:txEl>
                                              <p:pRg st="3" end="3"/>
                                            </p:txEl>
                                          </p:spTgt>
                                        </p:tgtEl>
                                        <p:attrNameLst>
                                          <p:attrName>style.visibility</p:attrName>
                                        </p:attrNameLst>
                                      </p:cBhvr>
                                      <p:to>
                                        <p:strVal val="visible"/>
                                      </p:to>
                                    </p:set>
                                    <p:animEffect transition="in" filter="wipe(down)">
                                      <p:cBhvr>
                                        <p:cTn id="15" dur="500"/>
                                        <p:tgtEl>
                                          <p:spTgt spid="34">
                                            <p:txEl>
                                              <p:pRg st="3" end="3"/>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4">
                                            <p:txEl>
                                              <p:pRg st="4" end="4"/>
                                            </p:txEl>
                                          </p:spTgt>
                                        </p:tgtEl>
                                        <p:attrNameLst>
                                          <p:attrName>style.visibility</p:attrName>
                                        </p:attrNameLst>
                                      </p:cBhvr>
                                      <p:to>
                                        <p:strVal val="visible"/>
                                      </p:to>
                                    </p:set>
                                    <p:animEffect transition="in" filter="wipe(down)">
                                      <p:cBhvr>
                                        <p:cTn id="18" dur="500"/>
                                        <p:tgtEl>
                                          <p:spTgt spid="34">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34">
                                            <p:txEl>
                                              <p:pRg st="6" end="6"/>
                                            </p:txEl>
                                          </p:spTgt>
                                        </p:tgtEl>
                                        <p:attrNameLst>
                                          <p:attrName>style.visibility</p:attrName>
                                        </p:attrNameLst>
                                      </p:cBhvr>
                                      <p:to>
                                        <p:strVal val="visible"/>
                                      </p:to>
                                    </p:set>
                                    <p:animEffect transition="in" filter="wipe(down)">
                                      <p:cBhvr>
                                        <p:cTn id="23" dur="500"/>
                                        <p:tgtEl>
                                          <p:spTgt spid="34">
                                            <p:txEl>
                                              <p:pRg st="6" end="6"/>
                                            </p:txEl>
                                          </p:spTgt>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34">
                                            <p:txEl>
                                              <p:pRg st="7" end="7"/>
                                            </p:txEl>
                                          </p:spTgt>
                                        </p:tgtEl>
                                        <p:attrNameLst>
                                          <p:attrName>style.visibility</p:attrName>
                                        </p:attrNameLst>
                                      </p:cBhvr>
                                      <p:to>
                                        <p:strVal val="visible"/>
                                      </p:to>
                                    </p:set>
                                    <p:animEffect transition="in" filter="wipe(down)">
                                      <p:cBhvr>
                                        <p:cTn id="26" dur="500"/>
                                        <p:tgtEl>
                                          <p:spTgt spid="34">
                                            <p:txEl>
                                              <p:pRg st="7" end="7"/>
                                            </p:txEl>
                                          </p:spTgt>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34">
                                            <p:txEl>
                                              <p:pRg st="8" end="8"/>
                                            </p:txEl>
                                          </p:spTgt>
                                        </p:tgtEl>
                                        <p:attrNameLst>
                                          <p:attrName>style.visibility</p:attrName>
                                        </p:attrNameLst>
                                      </p:cBhvr>
                                      <p:to>
                                        <p:strVal val="visible"/>
                                      </p:to>
                                    </p:set>
                                    <p:animEffect transition="in" filter="wipe(down)">
                                      <p:cBhvr>
                                        <p:cTn id="29" dur="500"/>
                                        <p:tgtEl>
                                          <p:spTgt spid="34">
                                            <p:txEl>
                                              <p:pRg st="8" end="8"/>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34">
                                            <p:txEl>
                                              <p:pRg st="10" end="10"/>
                                            </p:txEl>
                                          </p:spTgt>
                                        </p:tgtEl>
                                        <p:attrNameLst>
                                          <p:attrName>style.visibility</p:attrName>
                                        </p:attrNameLst>
                                      </p:cBhvr>
                                      <p:to>
                                        <p:strVal val="visible"/>
                                      </p:to>
                                    </p:set>
                                    <p:animEffect transition="in" filter="wipe(down)">
                                      <p:cBhvr>
                                        <p:cTn id="34" dur="500"/>
                                        <p:tgtEl>
                                          <p:spTgt spid="34">
                                            <p:txEl>
                                              <p:pRg st="10" end="10"/>
                                            </p:txEl>
                                          </p:spTgt>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34">
                                            <p:txEl>
                                              <p:pRg st="11" end="11"/>
                                            </p:txEl>
                                          </p:spTgt>
                                        </p:tgtEl>
                                        <p:attrNameLst>
                                          <p:attrName>style.visibility</p:attrName>
                                        </p:attrNameLst>
                                      </p:cBhvr>
                                      <p:to>
                                        <p:strVal val="visible"/>
                                      </p:to>
                                    </p:set>
                                    <p:animEffect transition="in" filter="wipe(down)">
                                      <p:cBhvr>
                                        <p:cTn id="37" dur="500"/>
                                        <p:tgtEl>
                                          <p:spTgt spid="34">
                                            <p:txEl>
                                              <p:pRg st="11" end="11"/>
                                            </p:txEl>
                                          </p:spTgt>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34">
                                            <p:txEl>
                                              <p:pRg st="12" end="12"/>
                                            </p:txEl>
                                          </p:spTgt>
                                        </p:tgtEl>
                                        <p:attrNameLst>
                                          <p:attrName>style.visibility</p:attrName>
                                        </p:attrNameLst>
                                      </p:cBhvr>
                                      <p:to>
                                        <p:strVal val="visible"/>
                                      </p:to>
                                    </p:set>
                                    <p:animEffect transition="in" filter="wipe(down)">
                                      <p:cBhvr>
                                        <p:cTn id="40" dur="500"/>
                                        <p:tgtEl>
                                          <p:spTgt spid="34">
                                            <p:txEl>
                                              <p:pRg st="12" end="12"/>
                                            </p:txEl>
                                          </p:spTgt>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34">
                                            <p:txEl>
                                              <p:pRg st="13" end="13"/>
                                            </p:txEl>
                                          </p:spTgt>
                                        </p:tgtEl>
                                        <p:attrNameLst>
                                          <p:attrName>style.visibility</p:attrName>
                                        </p:attrNameLst>
                                      </p:cBhvr>
                                      <p:to>
                                        <p:strVal val="visible"/>
                                      </p:to>
                                    </p:set>
                                    <p:animEffect transition="in" filter="wipe(down)">
                                      <p:cBhvr>
                                        <p:cTn id="43" dur="500"/>
                                        <p:tgtEl>
                                          <p:spTgt spid="34">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B6FD1-388E-C84A-C2C4-C9E0FEB41E5F}"/>
              </a:ext>
            </a:extLst>
          </p:cNvPr>
          <p:cNvSpPr>
            <a:spLocks noGrp="1"/>
          </p:cNvSpPr>
          <p:nvPr>
            <p:ph type="title"/>
          </p:nvPr>
        </p:nvSpPr>
        <p:spPr/>
        <p:txBody>
          <a:bodyPr/>
          <a:lstStyle/>
          <a:p>
            <a:r>
              <a:rPr lang="en-IN" dirty="0">
                <a:solidFill>
                  <a:schemeClr val="accent2">
                    <a:lumMod val="75000"/>
                  </a:schemeClr>
                </a:solidFill>
                <a:latin typeface="Abadi Extra Light" panose="020B0204020104020204" pitchFamily="34" charset="0"/>
              </a:rPr>
              <a:t>Some Notation and Conventions</a:t>
            </a:r>
            <a:endParaRPr lang="en-IN" dirty="0"/>
          </a:p>
        </p:txBody>
      </p:sp>
      <p:sp>
        <p:nvSpPr>
          <p:cNvPr id="3" name="Content Placeholder 2">
            <a:extLst>
              <a:ext uri="{FF2B5EF4-FFF2-40B4-BE49-F238E27FC236}">
                <a16:creationId xmlns:a16="http://schemas.microsoft.com/office/drawing/2014/main" id="{15E8889C-4C68-E25B-244A-3C347ADA2BA3}"/>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BAD6DDB7-AAC2-C97C-61F1-9A405FE5AA5D}"/>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Lst>
          </a:blip>
          <a:stretch>
            <a:fillRect/>
          </a:stretch>
        </p:blipFill>
        <p:spPr>
          <a:xfrm>
            <a:off x="1062949" y="4713296"/>
            <a:ext cx="6296665" cy="1472970"/>
          </a:xfrm>
          <a:prstGeom prst="rect">
            <a:avLst/>
          </a:prstGeom>
        </p:spPr>
      </p:pic>
      <p:grpSp>
        <p:nvGrpSpPr>
          <p:cNvPr id="14" name="Group 13">
            <a:extLst>
              <a:ext uri="{FF2B5EF4-FFF2-40B4-BE49-F238E27FC236}">
                <a16:creationId xmlns:a16="http://schemas.microsoft.com/office/drawing/2014/main" id="{32A75C2D-5BB1-E073-C610-87D67F7722F1}"/>
              </a:ext>
            </a:extLst>
          </p:cNvPr>
          <p:cNvGrpSpPr/>
          <p:nvPr/>
        </p:nvGrpSpPr>
        <p:grpSpPr>
          <a:xfrm>
            <a:off x="850250" y="1735317"/>
            <a:ext cx="8234756" cy="2824317"/>
            <a:chOff x="574508" y="1061883"/>
            <a:chExt cx="9999406" cy="3584597"/>
          </a:xfrm>
        </p:grpSpPr>
        <p:pic>
          <p:nvPicPr>
            <p:cNvPr id="4" name="Picture 3">
              <a:extLst>
                <a:ext uri="{FF2B5EF4-FFF2-40B4-BE49-F238E27FC236}">
                  <a16:creationId xmlns:a16="http://schemas.microsoft.com/office/drawing/2014/main" id="{C803354D-8BDF-A29E-84A1-FA5219E766D6}"/>
                </a:ext>
              </a:extLst>
            </p:cNvPr>
            <p:cNvPicPr>
              <a:picLocks noChangeAspect="1"/>
            </p:cNvPicPr>
            <p:nvPr/>
          </p:nvPicPr>
          <p:blipFill>
            <a:blip r:embed="rId4"/>
            <a:srcRect t="18726"/>
            <a:stretch/>
          </p:blipFill>
          <p:spPr>
            <a:xfrm>
              <a:off x="574508" y="1061883"/>
              <a:ext cx="9999406" cy="3584597"/>
            </a:xfrm>
            <a:prstGeom prst="rect">
              <a:avLst/>
            </a:prstGeom>
          </p:spPr>
        </p:pic>
        <p:sp>
          <p:nvSpPr>
            <p:cNvPr id="6" name="TextBox 5">
              <a:extLst>
                <a:ext uri="{FF2B5EF4-FFF2-40B4-BE49-F238E27FC236}">
                  <a16:creationId xmlns:a16="http://schemas.microsoft.com/office/drawing/2014/main" id="{B18FFEE9-CBBC-A41D-78BF-4415D53A97B7}"/>
                </a:ext>
              </a:extLst>
            </p:cNvPr>
            <p:cNvSpPr txBox="1"/>
            <p:nvPr/>
          </p:nvSpPr>
          <p:spPr>
            <a:xfrm>
              <a:off x="1750142" y="1828798"/>
              <a:ext cx="445956" cy="461665"/>
            </a:xfrm>
            <a:prstGeom prst="rect">
              <a:avLst/>
            </a:prstGeom>
            <a:noFill/>
          </p:spPr>
          <p:txBody>
            <a:bodyPr wrap="none" rtlCol="0">
              <a:spAutoFit/>
            </a:bodyPr>
            <a:lstStyle/>
            <a:p>
              <a:r>
                <a:rPr lang="en-IN" sz="2400" b="1" dirty="0">
                  <a:solidFill>
                    <a:srgbClr val="FF0000"/>
                  </a:solidFill>
                </a:rPr>
                <a:t>x</a:t>
              </a:r>
              <a:r>
                <a:rPr lang="en-IN" sz="2400" b="1" baseline="-25000" dirty="0">
                  <a:solidFill>
                    <a:srgbClr val="FF0000"/>
                  </a:solidFill>
                </a:rPr>
                <a:t>1</a:t>
              </a:r>
            </a:p>
          </p:txBody>
        </p:sp>
        <p:sp>
          <p:nvSpPr>
            <p:cNvPr id="7" name="TextBox 6">
              <a:extLst>
                <a:ext uri="{FF2B5EF4-FFF2-40B4-BE49-F238E27FC236}">
                  <a16:creationId xmlns:a16="http://schemas.microsoft.com/office/drawing/2014/main" id="{C396B2E7-069A-BB99-C47C-E3A3644D2F9B}"/>
                </a:ext>
              </a:extLst>
            </p:cNvPr>
            <p:cNvSpPr txBox="1"/>
            <p:nvPr/>
          </p:nvSpPr>
          <p:spPr>
            <a:xfrm>
              <a:off x="3298723" y="1828797"/>
              <a:ext cx="445956" cy="461665"/>
            </a:xfrm>
            <a:prstGeom prst="rect">
              <a:avLst/>
            </a:prstGeom>
            <a:noFill/>
          </p:spPr>
          <p:txBody>
            <a:bodyPr wrap="none" rtlCol="0">
              <a:spAutoFit/>
            </a:bodyPr>
            <a:lstStyle/>
            <a:p>
              <a:r>
                <a:rPr lang="en-IN" sz="2400" b="1" dirty="0">
                  <a:solidFill>
                    <a:srgbClr val="FF0000"/>
                  </a:solidFill>
                </a:rPr>
                <a:t>x</a:t>
              </a:r>
              <a:r>
                <a:rPr lang="en-IN" sz="2400" b="1" baseline="-25000" dirty="0">
                  <a:solidFill>
                    <a:srgbClr val="FF0000"/>
                  </a:solidFill>
                </a:rPr>
                <a:t>2</a:t>
              </a:r>
            </a:p>
          </p:txBody>
        </p:sp>
        <p:sp>
          <p:nvSpPr>
            <p:cNvPr id="8" name="TextBox 7">
              <a:extLst>
                <a:ext uri="{FF2B5EF4-FFF2-40B4-BE49-F238E27FC236}">
                  <a16:creationId xmlns:a16="http://schemas.microsoft.com/office/drawing/2014/main" id="{1AD4CE87-F9C2-45FC-7A45-DE195F1B713F}"/>
                </a:ext>
              </a:extLst>
            </p:cNvPr>
            <p:cNvSpPr txBox="1"/>
            <p:nvPr/>
          </p:nvSpPr>
          <p:spPr>
            <a:xfrm>
              <a:off x="4970121" y="1828797"/>
              <a:ext cx="445956" cy="461665"/>
            </a:xfrm>
            <a:prstGeom prst="rect">
              <a:avLst/>
            </a:prstGeom>
            <a:noFill/>
          </p:spPr>
          <p:txBody>
            <a:bodyPr wrap="none" rtlCol="0">
              <a:spAutoFit/>
            </a:bodyPr>
            <a:lstStyle/>
            <a:p>
              <a:r>
                <a:rPr lang="en-IN" sz="2400" b="1" dirty="0">
                  <a:solidFill>
                    <a:srgbClr val="FF0000"/>
                  </a:solidFill>
                </a:rPr>
                <a:t>x</a:t>
              </a:r>
              <a:r>
                <a:rPr lang="en-IN" sz="2400" b="1" baseline="-25000" dirty="0">
                  <a:solidFill>
                    <a:srgbClr val="FF0000"/>
                  </a:solidFill>
                </a:rPr>
                <a:t>3</a:t>
              </a:r>
            </a:p>
          </p:txBody>
        </p:sp>
        <p:sp>
          <p:nvSpPr>
            <p:cNvPr id="9" name="TextBox 8">
              <a:extLst>
                <a:ext uri="{FF2B5EF4-FFF2-40B4-BE49-F238E27FC236}">
                  <a16:creationId xmlns:a16="http://schemas.microsoft.com/office/drawing/2014/main" id="{63FCA674-7AEE-285C-FF76-C13691431D6B}"/>
                </a:ext>
              </a:extLst>
            </p:cNvPr>
            <p:cNvSpPr txBox="1"/>
            <p:nvPr/>
          </p:nvSpPr>
          <p:spPr>
            <a:xfrm>
              <a:off x="6897329" y="1828796"/>
              <a:ext cx="445956" cy="461665"/>
            </a:xfrm>
            <a:prstGeom prst="rect">
              <a:avLst/>
            </a:prstGeom>
            <a:noFill/>
          </p:spPr>
          <p:txBody>
            <a:bodyPr wrap="none" rtlCol="0">
              <a:spAutoFit/>
            </a:bodyPr>
            <a:lstStyle/>
            <a:p>
              <a:r>
                <a:rPr lang="en-IN" sz="2400" b="1" dirty="0">
                  <a:solidFill>
                    <a:srgbClr val="FF0000"/>
                  </a:solidFill>
                </a:rPr>
                <a:t>x</a:t>
              </a:r>
              <a:r>
                <a:rPr lang="en-IN" sz="2400" b="1" baseline="-25000" dirty="0">
                  <a:solidFill>
                    <a:srgbClr val="FF0000"/>
                  </a:solidFill>
                </a:rPr>
                <a:t>4</a:t>
              </a:r>
            </a:p>
          </p:txBody>
        </p:sp>
        <p:sp>
          <p:nvSpPr>
            <p:cNvPr id="10" name="TextBox 9">
              <a:extLst>
                <a:ext uri="{FF2B5EF4-FFF2-40B4-BE49-F238E27FC236}">
                  <a16:creationId xmlns:a16="http://schemas.microsoft.com/office/drawing/2014/main" id="{CBF3392B-AA06-7AB0-A59C-E18C94A152DD}"/>
                </a:ext>
              </a:extLst>
            </p:cNvPr>
            <p:cNvSpPr txBox="1"/>
            <p:nvPr/>
          </p:nvSpPr>
          <p:spPr>
            <a:xfrm>
              <a:off x="9085006" y="1828795"/>
              <a:ext cx="336952" cy="461665"/>
            </a:xfrm>
            <a:prstGeom prst="rect">
              <a:avLst/>
            </a:prstGeom>
            <a:noFill/>
          </p:spPr>
          <p:txBody>
            <a:bodyPr wrap="none" rtlCol="0">
              <a:spAutoFit/>
            </a:bodyPr>
            <a:lstStyle/>
            <a:p>
              <a:r>
                <a:rPr lang="en-IN" sz="2400" b="1" dirty="0">
                  <a:solidFill>
                    <a:schemeClr val="accent6"/>
                  </a:solidFill>
                </a:rPr>
                <a:t>y</a:t>
              </a:r>
              <a:endParaRPr lang="en-IN" sz="2400" b="1" baseline="-25000" dirty="0">
                <a:solidFill>
                  <a:schemeClr val="accent6"/>
                </a:solidFill>
              </a:endParaRPr>
            </a:p>
          </p:txBody>
        </p:sp>
      </p:gr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F641F48-A23E-C8C6-0148-10D3AE4E71B4}"/>
                  </a:ext>
                </a:extLst>
              </p:cNvPr>
              <p:cNvSpPr txBox="1"/>
              <p:nvPr/>
            </p:nvSpPr>
            <p:spPr>
              <a:xfrm>
                <a:off x="8986390" y="5367630"/>
                <a:ext cx="2303451" cy="2887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b="1" i="1" smtClean="0">
                              <a:latin typeface="Cambria Math" panose="02040503050406030204" pitchFamily="18" charset="0"/>
                            </a:rPr>
                          </m:ctrlPr>
                        </m:sSupPr>
                        <m:e>
                          <m:r>
                            <a:rPr lang="en-IN" b="1" i="1" smtClean="0">
                              <a:latin typeface="Cambria Math" panose="02040503050406030204" pitchFamily="18" charset="0"/>
                            </a:rPr>
                            <m:t>𝒙</m:t>
                          </m:r>
                        </m:e>
                        <m:sup>
                          <m:r>
                            <a:rPr lang="en-IN" b="1" i="1" smtClean="0">
                              <a:latin typeface="Cambria Math" panose="02040503050406030204" pitchFamily="18" charset="0"/>
                            </a:rPr>
                            <m:t>(</m:t>
                          </m:r>
                          <m:r>
                            <a:rPr lang="en-IN" b="1" i="1" smtClean="0">
                              <a:latin typeface="Cambria Math" panose="02040503050406030204" pitchFamily="18" charset="0"/>
                            </a:rPr>
                            <m:t>𝟐</m:t>
                          </m:r>
                          <m:r>
                            <a:rPr lang="en-IN" b="1" i="1" smtClean="0">
                              <a:latin typeface="Cambria Math" panose="02040503050406030204" pitchFamily="18" charset="0"/>
                            </a:rPr>
                            <m:t>)</m:t>
                          </m:r>
                        </m:sup>
                      </m:sSup>
                      <m:r>
                        <a:rPr lang="en-IN" b="1" i="1" smtClean="0">
                          <a:latin typeface="Cambria Math" panose="02040503050406030204" pitchFamily="18" charset="0"/>
                        </a:rPr>
                        <m:t>=[</m:t>
                      </m:r>
                      <m:r>
                        <a:rPr lang="en-IN" b="1" i="1" smtClean="0">
                          <a:latin typeface="Cambria Math" panose="02040503050406030204" pitchFamily="18" charset="0"/>
                        </a:rPr>
                        <m:t>𝟏𝟒𝟏𝟔</m:t>
                      </m:r>
                      <m:r>
                        <a:rPr lang="en-IN" b="1" i="1" smtClean="0">
                          <a:latin typeface="Cambria Math" panose="02040503050406030204" pitchFamily="18" charset="0"/>
                        </a:rPr>
                        <m:t>  </m:t>
                      </m:r>
                      <m:r>
                        <a:rPr lang="en-IN" b="1" i="1" smtClean="0">
                          <a:latin typeface="Cambria Math" panose="02040503050406030204" pitchFamily="18" charset="0"/>
                        </a:rPr>
                        <m:t>𝟑</m:t>
                      </m:r>
                      <m:r>
                        <a:rPr lang="en-IN" b="1" i="1" smtClean="0">
                          <a:latin typeface="Cambria Math" panose="02040503050406030204" pitchFamily="18" charset="0"/>
                        </a:rPr>
                        <m:t>  </m:t>
                      </m:r>
                      <m:r>
                        <a:rPr lang="en-IN" b="1" i="1" smtClean="0">
                          <a:latin typeface="Cambria Math" panose="02040503050406030204" pitchFamily="18" charset="0"/>
                        </a:rPr>
                        <m:t>𝟐</m:t>
                      </m:r>
                      <m:r>
                        <a:rPr lang="en-IN" b="1" i="1" smtClean="0">
                          <a:latin typeface="Cambria Math" panose="02040503050406030204" pitchFamily="18" charset="0"/>
                        </a:rPr>
                        <m:t>  </m:t>
                      </m:r>
                      <m:r>
                        <a:rPr lang="en-IN" b="1" i="1" smtClean="0">
                          <a:latin typeface="Cambria Math" panose="02040503050406030204" pitchFamily="18" charset="0"/>
                        </a:rPr>
                        <m:t>𝟒𝟎</m:t>
                      </m:r>
                      <m:r>
                        <a:rPr lang="en-IN" b="1" i="1" smtClean="0">
                          <a:latin typeface="Cambria Math" panose="02040503050406030204" pitchFamily="18" charset="0"/>
                        </a:rPr>
                        <m:t>]</m:t>
                      </m:r>
                    </m:oMath>
                  </m:oMathPara>
                </a14:m>
                <a:endParaRPr lang="en-IN" b="1" dirty="0"/>
              </a:p>
            </p:txBody>
          </p:sp>
        </mc:Choice>
        <mc:Fallback xmlns="">
          <p:sp>
            <p:nvSpPr>
              <p:cNvPr id="11" name="TextBox 10">
                <a:extLst>
                  <a:ext uri="{FF2B5EF4-FFF2-40B4-BE49-F238E27FC236}">
                    <a16:creationId xmlns:a16="http://schemas.microsoft.com/office/drawing/2014/main" id="{2F641F48-A23E-C8C6-0148-10D3AE4E71B4}"/>
                  </a:ext>
                </a:extLst>
              </p:cNvPr>
              <p:cNvSpPr txBox="1">
                <a:spLocks noRot="1" noChangeAspect="1" noMove="1" noResize="1" noEditPoints="1" noAdjustHandles="1" noChangeArrowheads="1" noChangeShapeType="1" noTextEdit="1"/>
              </p:cNvSpPr>
              <p:nvPr/>
            </p:nvSpPr>
            <p:spPr>
              <a:xfrm>
                <a:off x="8986390" y="5367630"/>
                <a:ext cx="2303451" cy="288797"/>
              </a:xfrm>
              <a:prstGeom prst="rect">
                <a:avLst/>
              </a:prstGeom>
              <a:blipFill>
                <a:blip r:embed="rId5"/>
                <a:stretch>
                  <a:fillRect l="-1323" t="-6383" r="-3704" b="-3617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ACED731-2034-412B-6F83-4585D9F90A88}"/>
                  </a:ext>
                </a:extLst>
              </p:cNvPr>
              <p:cNvSpPr txBox="1"/>
              <p:nvPr/>
            </p:nvSpPr>
            <p:spPr>
              <a:xfrm>
                <a:off x="8986390" y="5758683"/>
                <a:ext cx="972959" cy="35105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b="1" i="1" smtClean="0">
                              <a:latin typeface="Cambria Math" panose="02040503050406030204" pitchFamily="18" charset="0"/>
                            </a:rPr>
                          </m:ctrlPr>
                        </m:sSubSupPr>
                        <m:e>
                          <m:r>
                            <a:rPr lang="en-IN" b="1" i="1" smtClean="0">
                              <a:latin typeface="Cambria Math" panose="02040503050406030204" pitchFamily="18" charset="0"/>
                            </a:rPr>
                            <m:t>𝒙</m:t>
                          </m:r>
                        </m:e>
                        <m:sub>
                          <m:r>
                            <a:rPr lang="en-IN" b="1" i="1" smtClean="0">
                              <a:latin typeface="Cambria Math" panose="02040503050406030204" pitchFamily="18" charset="0"/>
                            </a:rPr>
                            <m:t>𝟑</m:t>
                          </m:r>
                        </m:sub>
                        <m:sup>
                          <m:r>
                            <a:rPr lang="en-IN" b="1" i="1" smtClean="0">
                              <a:latin typeface="Cambria Math" panose="02040503050406030204" pitchFamily="18" charset="0"/>
                            </a:rPr>
                            <m:t>(</m:t>
                          </m:r>
                          <m:r>
                            <a:rPr lang="en-IN" b="1" i="1" smtClean="0">
                              <a:latin typeface="Cambria Math" panose="02040503050406030204" pitchFamily="18" charset="0"/>
                            </a:rPr>
                            <m:t>𝟐</m:t>
                          </m:r>
                          <m:r>
                            <a:rPr lang="en-IN" b="1" i="1" smtClean="0">
                              <a:latin typeface="Cambria Math" panose="02040503050406030204" pitchFamily="18" charset="0"/>
                            </a:rPr>
                            <m:t>)</m:t>
                          </m:r>
                        </m:sup>
                      </m:sSubSup>
                      <m:r>
                        <a:rPr lang="en-IN" b="1" i="1" smtClean="0">
                          <a:latin typeface="Cambria Math" panose="02040503050406030204" pitchFamily="18" charset="0"/>
                        </a:rPr>
                        <m:t>= </m:t>
                      </m:r>
                      <m:r>
                        <a:rPr lang="en-IN" b="1" i="1" smtClean="0">
                          <a:latin typeface="Cambria Math" panose="02040503050406030204" pitchFamily="18" charset="0"/>
                        </a:rPr>
                        <m:t>𝟐</m:t>
                      </m:r>
                      <m:r>
                        <a:rPr lang="en-IN" b="1" i="1" smtClean="0">
                          <a:latin typeface="Cambria Math" panose="02040503050406030204" pitchFamily="18" charset="0"/>
                        </a:rPr>
                        <m:t> </m:t>
                      </m:r>
                    </m:oMath>
                  </m:oMathPara>
                </a14:m>
                <a:endParaRPr lang="en-IN" b="1" dirty="0"/>
              </a:p>
            </p:txBody>
          </p:sp>
        </mc:Choice>
        <mc:Fallback xmlns="">
          <p:sp>
            <p:nvSpPr>
              <p:cNvPr id="12" name="TextBox 11">
                <a:extLst>
                  <a:ext uri="{FF2B5EF4-FFF2-40B4-BE49-F238E27FC236}">
                    <a16:creationId xmlns:a16="http://schemas.microsoft.com/office/drawing/2014/main" id="{AACED731-2034-412B-6F83-4585D9F90A88}"/>
                  </a:ext>
                </a:extLst>
              </p:cNvPr>
              <p:cNvSpPr txBox="1">
                <a:spLocks noRot="1" noChangeAspect="1" noMove="1" noResize="1" noEditPoints="1" noAdjustHandles="1" noChangeArrowheads="1" noChangeShapeType="1" noTextEdit="1"/>
              </p:cNvSpPr>
              <p:nvPr/>
            </p:nvSpPr>
            <p:spPr>
              <a:xfrm>
                <a:off x="8986390" y="5758683"/>
                <a:ext cx="972959" cy="351058"/>
              </a:xfrm>
              <a:prstGeom prst="rect">
                <a:avLst/>
              </a:prstGeom>
              <a:blipFill>
                <a:blip r:embed="rId6"/>
                <a:stretch>
                  <a:fillRect l="-3750" t="-1754" r="-625" b="-15789"/>
                </a:stretch>
              </a:blipFill>
            </p:spPr>
            <p:txBody>
              <a:bodyPr/>
              <a:lstStyle/>
              <a:p>
                <a:r>
                  <a:rPr lang="en-IN">
                    <a:noFill/>
                  </a:rPr>
                  <a:t> </a:t>
                </a:r>
              </a:p>
            </p:txBody>
          </p:sp>
        </mc:Fallback>
      </mc:AlternateContent>
      <p:sp>
        <p:nvSpPr>
          <p:cNvPr id="13" name="Rectangle: Rounded Corners 12">
            <a:extLst>
              <a:ext uri="{FF2B5EF4-FFF2-40B4-BE49-F238E27FC236}">
                <a16:creationId xmlns:a16="http://schemas.microsoft.com/office/drawing/2014/main" id="{799EEA9E-1DA6-E661-0B69-B8C2F0CE5884}"/>
              </a:ext>
            </a:extLst>
          </p:cNvPr>
          <p:cNvSpPr/>
          <p:nvPr/>
        </p:nvSpPr>
        <p:spPr>
          <a:xfrm>
            <a:off x="8782928" y="5338134"/>
            <a:ext cx="2506913" cy="795876"/>
          </a:xfrm>
          <a:prstGeom prst="round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0519848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57946-FC7F-477C-9867-0ED704A858E1}"/>
              </a:ext>
            </a:extLst>
          </p:cNvPr>
          <p:cNvSpPr>
            <a:spLocks noGrp="1"/>
          </p:cNvSpPr>
          <p:nvPr>
            <p:ph type="title"/>
          </p:nvPr>
        </p:nvSpPr>
        <p:spPr>
          <a:xfrm>
            <a:off x="265245" y="169682"/>
            <a:ext cx="11740617" cy="821500"/>
          </a:xfrm>
        </p:spPr>
        <p:txBody>
          <a:bodyPr>
            <a:normAutofit/>
          </a:bodyPr>
          <a:lstStyle/>
          <a:p>
            <a:r>
              <a:rPr lang="en-IN" dirty="0">
                <a:solidFill>
                  <a:schemeClr val="accent2">
                    <a:lumMod val="75000"/>
                  </a:schemeClr>
                </a:solidFill>
                <a:latin typeface="Abadi Extra Light" panose="020B0204020104020204" pitchFamily="34" charset="0"/>
              </a:rPr>
              <a:t>Some Basic Operations on Vectors</a:t>
            </a:r>
          </a:p>
        </p:txBody>
      </p:sp>
      <mc:AlternateContent xmlns:mc="http://schemas.openxmlformats.org/markup-compatibility/2006" xmlns:a14="http://schemas.microsoft.com/office/drawing/2010/main">
        <mc:Choice Requires="a14">
          <p:sp>
            <p:nvSpPr>
              <p:cNvPr id="34" name="Content Placeholder 2">
                <a:extLst>
                  <a:ext uri="{FF2B5EF4-FFF2-40B4-BE49-F238E27FC236}">
                    <a16:creationId xmlns:a16="http://schemas.microsoft.com/office/drawing/2014/main" id="{E1DF4C8E-2FB0-4CA2-9D9A-034196FC982E}"/>
                  </a:ext>
                </a:extLst>
              </p:cNvPr>
              <p:cNvSpPr>
                <a:spLocks noGrp="1"/>
              </p:cNvSpPr>
              <p:nvPr>
                <p:ph idx="1"/>
              </p:nvPr>
            </p:nvSpPr>
            <p:spPr>
              <a:xfrm>
                <a:off x="265245" y="1130786"/>
                <a:ext cx="11740617" cy="5557532"/>
              </a:xfrm>
            </p:spPr>
            <p:txBody>
              <a:bodyPr>
                <a:normAutofit/>
              </a:bodyPr>
              <a:lstStyle/>
              <a:p>
                <a:pPr>
                  <a:buFont typeface="Wingdings" panose="05000000000000000000" pitchFamily="2" charset="2"/>
                  <a:buChar char="§"/>
                </a:pPr>
                <a:r>
                  <a:rPr lang="en-IN" dirty="0">
                    <a:latin typeface="Abadi Extra Light" panose="020B0204020104020204" pitchFamily="34" charset="0"/>
                  </a:rPr>
                  <a:t>Addition/subtraction of two vectors gives another vector of the same size</a:t>
                </a:r>
              </a:p>
              <a:p>
                <a:pPr marL="0" indent="0">
                  <a:buNone/>
                </a:pPr>
                <a:endParaRPr lang="en-IN" sz="2000" dirty="0">
                  <a:latin typeface="Abadi Extra Light" panose="020B0204020104020204" pitchFamily="34" charset="0"/>
                </a:endParaRPr>
              </a:p>
              <a:p>
                <a:pPr>
                  <a:buFont typeface="Wingdings" panose="05000000000000000000" pitchFamily="2" charset="2"/>
                  <a:buChar char="§"/>
                </a:pPr>
                <a:r>
                  <a:rPr lang="en-IN" dirty="0">
                    <a:latin typeface="Abadi Extra Light" panose="020B0204020104020204" pitchFamily="34" charset="0"/>
                  </a:rPr>
                  <a:t>The mean </a:t>
                </a:r>
                <a14:m>
                  <m:oMath xmlns:m="http://schemas.openxmlformats.org/officeDocument/2006/math">
                    <m:r>
                      <a:rPr lang="en-IN" i="1">
                        <a:latin typeface="Cambria Math" panose="02040503050406030204" pitchFamily="18" charset="0"/>
                      </a:rPr>
                      <m:t>𝜇</m:t>
                    </m:r>
                  </m:oMath>
                </a14:m>
                <a:r>
                  <a:rPr lang="en-IN" dirty="0">
                    <a:latin typeface="Abadi Extra Light" panose="020B0204020104020204" pitchFamily="34" charset="0"/>
                  </a:rPr>
                  <a:t>(average or centroid) of </a:t>
                </a:r>
                <a14:m>
                  <m:oMath xmlns:m="http://schemas.openxmlformats.org/officeDocument/2006/math">
                    <m:r>
                      <a:rPr lang="en-GB" b="0" i="1" smtClean="0">
                        <a:latin typeface="Cambria Math" panose="02040503050406030204" pitchFamily="18" charset="0"/>
                      </a:rPr>
                      <m:t>𝑚</m:t>
                    </m:r>
                  </m:oMath>
                </a14:m>
                <a:r>
                  <a:rPr lang="en-IN" dirty="0">
                    <a:latin typeface="Abadi Extra Light" panose="020B0204020104020204" pitchFamily="34" charset="0"/>
                  </a:rPr>
                  <a:t> vectors </a:t>
                </a:r>
                <a14:m>
                  <m:oMath xmlns:m="http://schemas.openxmlformats.org/officeDocument/2006/math">
                    <m:sSubSup>
                      <m:sSubSupPr>
                        <m:ctrlPr>
                          <a:rPr lang="en-GB" i="1">
                            <a:latin typeface="Cambria Math" panose="02040503050406030204" pitchFamily="18" charset="0"/>
                          </a:rPr>
                        </m:ctrlPr>
                      </m:sSubSupPr>
                      <m:e>
                        <m:d>
                          <m:dPr>
                            <m:begChr m:val="{"/>
                            <m:endChr m:val="}"/>
                            <m:ctrlPr>
                              <a:rPr lang="en-IN" i="1">
                                <a:latin typeface="Cambria Math" panose="02040503050406030204" pitchFamily="18" charset="0"/>
                              </a:rPr>
                            </m:ctrlPr>
                          </m:dPr>
                          <m:e>
                            <m:sSup>
                              <m:sSupPr>
                                <m:ctrlPr>
                                  <a:rPr lang="en-GB" i="1">
                                    <a:latin typeface="Cambria Math" panose="02040503050406030204" pitchFamily="18" charset="0"/>
                                  </a:rPr>
                                </m:ctrlPr>
                              </m:sSupPr>
                              <m:e>
                                <m:acc>
                                  <m:accPr>
                                    <m:chr m:val="⃗"/>
                                    <m:ctrlPr>
                                      <a:rPr lang="en-GB" b="1" i="1" dirty="0">
                                        <a:latin typeface="Cambria Math" panose="02040503050406030204" pitchFamily="18" charset="0"/>
                                      </a:rPr>
                                    </m:ctrlPr>
                                  </m:accPr>
                                  <m:e>
                                    <m:r>
                                      <a:rPr lang="en-GB" b="1" i="1" dirty="0">
                                        <a:latin typeface="Cambria Math" panose="02040503050406030204" pitchFamily="18" charset="0"/>
                                      </a:rPr>
                                      <m:t>𝒙</m:t>
                                    </m:r>
                                  </m:e>
                                </m:acc>
                              </m:e>
                              <m:sup>
                                <m:r>
                                  <a:rPr lang="en-GB" i="1">
                                    <a:latin typeface="Cambria Math" panose="02040503050406030204" pitchFamily="18" charset="0"/>
                                  </a:rPr>
                                  <m:t>(</m:t>
                                </m:r>
                                <m:r>
                                  <a:rPr lang="en-GB" i="1">
                                    <a:latin typeface="Cambria Math" panose="02040503050406030204" pitchFamily="18" charset="0"/>
                                  </a:rPr>
                                  <m:t>𝑖</m:t>
                                </m:r>
                                <m:r>
                                  <a:rPr lang="en-GB" i="1">
                                    <a:latin typeface="Cambria Math" panose="02040503050406030204" pitchFamily="18" charset="0"/>
                                  </a:rPr>
                                  <m:t>)</m:t>
                                </m:r>
                              </m:sup>
                            </m:sSup>
                          </m:e>
                        </m:d>
                      </m:e>
                      <m:sub>
                        <m:r>
                          <a:rPr lang="en-GB" i="1">
                            <a:latin typeface="Cambria Math" panose="02040503050406030204" pitchFamily="18" charset="0"/>
                          </a:rPr>
                          <m:t>𝑖</m:t>
                        </m:r>
                        <m:r>
                          <a:rPr lang="en-IN" i="1">
                            <a:latin typeface="Cambria Math" panose="02040503050406030204" pitchFamily="18" charset="0"/>
                          </a:rPr>
                          <m:t>=1</m:t>
                        </m:r>
                      </m:sub>
                      <m:sup>
                        <m:r>
                          <a:rPr lang="en-GB" i="1">
                            <a:latin typeface="Cambria Math" panose="02040503050406030204" pitchFamily="18" charset="0"/>
                          </a:rPr>
                          <m:t>𝑚</m:t>
                        </m:r>
                      </m:sup>
                    </m:sSubSup>
                  </m:oMath>
                </a14:m>
                <a:endParaRPr lang="en-GB" dirty="0">
                  <a:latin typeface="Abadi Extra Light" panose="020B0604020202020204" pitchFamily="34" charset="0"/>
                </a:endParaRPr>
              </a:p>
              <a:p>
                <a:pPr marL="0" indent="0">
                  <a:buNone/>
                </a:pPr>
                <a:r>
                  <a:rPr lang="en-IN" dirty="0">
                    <a:latin typeface="Abadi Extra Light" panose="020B0204020104020204" pitchFamily="34" charset="0"/>
                  </a:rPr>
                  <a:t> </a:t>
                </a:r>
              </a:p>
              <a:p>
                <a:pPr>
                  <a:buFont typeface="Wingdings" panose="05000000000000000000" pitchFamily="2" charset="2"/>
                  <a:buChar char="§"/>
                </a:pPr>
                <a:endParaRPr lang="en-IN" dirty="0">
                  <a:latin typeface="Abadi Extra Light" panose="020B0204020104020204" pitchFamily="34" charset="0"/>
                </a:endParaRPr>
              </a:p>
              <a:p>
                <a:pPr>
                  <a:buFont typeface="Wingdings" panose="05000000000000000000" pitchFamily="2" charset="2"/>
                  <a:buChar char="§"/>
                </a:pPr>
                <a:r>
                  <a:rPr lang="en-IN" dirty="0">
                    <a:latin typeface="Abadi Extra Light" panose="020B0204020104020204" pitchFamily="34" charset="0"/>
                  </a:rPr>
                  <a:t>The dot product of two vectors </a:t>
                </a:r>
                <a14:m>
                  <m:oMath xmlns:m="http://schemas.openxmlformats.org/officeDocument/2006/math">
                    <m:acc>
                      <m:accPr>
                        <m:chr m:val="⃗"/>
                        <m:ctrlPr>
                          <a:rPr lang="en-GB" b="1" i="1" dirty="0">
                            <a:latin typeface="Cambria Math" panose="02040503050406030204" pitchFamily="18" charset="0"/>
                          </a:rPr>
                        </m:ctrlPr>
                      </m:accPr>
                      <m:e>
                        <m:r>
                          <a:rPr lang="en-GB" b="1" i="1" dirty="0" smtClean="0">
                            <a:latin typeface="Cambria Math" panose="02040503050406030204" pitchFamily="18" charset="0"/>
                          </a:rPr>
                          <m:t>𝒂</m:t>
                        </m:r>
                      </m:e>
                    </m:acc>
                    <m:r>
                      <a:rPr lang="en-GB" i="1" dirty="0">
                        <a:latin typeface="Cambria Math" panose="02040503050406030204" pitchFamily="18" charset="0"/>
                        <a:ea typeface="Cambria Math" panose="02040503050406030204" pitchFamily="18" charset="0"/>
                      </a:rPr>
                      <m:t>∈</m:t>
                    </m:r>
                    <m:sSup>
                      <m:sSupPr>
                        <m:ctrlPr>
                          <a:rPr lang="en-IN" i="1">
                            <a:latin typeface="Cambria Math" panose="02040503050406030204" pitchFamily="18" charset="0"/>
                            <a:ea typeface="Cambria Math" panose="02040503050406030204" pitchFamily="18" charset="0"/>
                          </a:rPr>
                        </m:ctrlPr>
                      </m:sSupPr>
                      <m:e>
                        <m:r>
                          <a:rPr lang="en-IN" i="1">
                            <a:latin typeface="Cambria Math" panose="02040503050406030204" pitchFamily="18" charset="0"/>
                            <a:ea typeface="Cambria Math" panose="02040503050406030204" pitchFamily="18" charset="0"/>
                          </a:rPr>
                          <m:t>ℝ</m:t>
                        </m:r>
                      </m:e>
                      <m:sup>
                        <m:r>
                          <a:rPr lang="en-GB" b="0" i="1" smtClean="0">
                            <a:latin typeface="Cambria Math" panose="02040503050406030204" pitchFamily="18" charset="0"/>
                            <a:ea typeface="Cambria Math" panose="02040503050406030204" pitchFamily="18" charset="0"/>
                          </a:rPr>
                          <m:t>1×</m:t>
                        </m:r>
                        <m:r>
                          <a:rPr lang="en-GB" b="0" i="1" smtClean="0">
                            <a:latin typeface="Cambria Math" panose="02040503050406030204" pitchFamily="18" charset="0"/>
                            <a:ea typeface="Cambria Math" panose="02040503050406030204" pitchFamily="18" charset="0"/>
                          </a:rPr>
                          <m:t>𝑛</m:t>
                        </m:r>
                      </m:sup>
                    </m:sSup>
                    <m:r>
                      <a:rPr lang="en-IN" i="1">
                        <a:latin typeface="Cambria Math" panose="02040503050406030204" pitchFamily="18" charset="0"/>
                        <a:ea typeface="Cambria Math" panose="02040503050406030204" pitchFamily="18" charset="0"/>
                      </a:rPr>
                      <m:t> </m:t>
                    </m:r>
                  </m:oMath>
                </a14:m>
                <a:r>
                  <a:rPr lang="en-IN" dirty="0">
                    <a:latin typeface="Abadi Extra Light" panose="020B0204020104020204" pitchFamily="34" charset="0"/>
                  </a:rPr>
                  <a:t>and </a:t>
                </a:r>
                <a14:m>
                  <m:oMath xmlns:m="http://schemas.openxmlformats.org/officeDocument/2006/math">
                    <m:acc>
                      <m:accPr>
                        <m:chr m:val="⃗"/>
                        <m:ctrlPr>
                          <a:rPr lang="en-GB" b="1" i="1" dirty="0">
                            <a:latin typeface="Cambria Math" panose="02040503050406030204" pitchFamily="18" charset="0"/>
                          </a:rPr>
                        </m:ctrlPr>
                      </m:accPr>
                      <m:e>
                        <m:r>
                          <a:rPr lang="en-GB" b="1" i="1" dirty="0" smtClean="0">
                            <a:latin typeface="Cambria Math" panose="02040503050406030204" pitchFamily="18" charset="0"/>
                          </a:rPr>
                          <m:t>𝒃</m:t>
                        </m:r>
                      </m:e>
                    </m:acc>
                  </m:oMath>
                </a14:m>
                <a:r>
                  <a:rPr lang="en-GB" dirty="0">
                    <a:latin typeface="Abadi Extra Light" panose="020B0604020202020204" pitchFamily="34" charset="0"/>
                  </a:rPr>
                  <a:t> </a:t>
                </a:r>
                <a14:m>
                  <m:oMath xmlns:m="http://schemas.openxmlformats.org/officeDocument/2006/math">
                    <m:r>
                      <a:rPr lang="en-GB" i="1" dirty="0">
                        <a:latin typeface="Cambria Math" panose="02040503050406030204" pitchFamily="18" charset="0"/>
                        <a:ea typeface="Cambria Math" panose="02040503050406030204" pitchFamily="18" charset="0"/>
                      </a:rPr>
                      <m:t>∈</m:t>
                    </m:r>
                    <m:sSup>
                      <m:sSupPr>
                        <m:ctrlPr>
                          <a:rPr lang="en-IN" i="1">
                            <a:latin typeface="Cambria Math" panose="02040503050406030204" pitchFamily="18" charset="0"/>
                            <a:ea typeface="Cambria Math" panose="02040503050406030204" pitchFamily="18" charset="0"/>
                          </a:rPr>
                        </m:ctrlPr>
                      </m:sSupPr>
                      <m:e>
                        <m:r>
                          <a:rPr lang="en-IN" i="1">
                            <a:latin typeface="Cambria Math" panose="02040503050406030204" pitchFamily="18" charset="0"/>
                            <a:ea typeface="Cambria Math" panose="02040503050406030204" pitchFamily="18" charset="0"/>
                          </a:rPr>
                          <m:t>ℝ</m:t>
                        </m:r>
                      </m:e>
                      <m:sup>
                        <m:r>
                          <a:rPr lang="en-GB" b="0" i="1" smtClean="0">
                            <a:latin typeface="Cambria Math" panose="02040503050406030204" pitchFamily="18" charset="0"/>
                            <a:ea typeface="Cambria Math" panose="02040503050406030204" pitchFamily="18" charset="0"/>
                          </a:rPr>
                          <m:t>1×</m:t>
                        </m:r>
                        <m:r>
                          <a:rPr lang="en-GB" b="0" i="1" smtClean="0">
                            <a:latin typeface="Cambria Math" panose="02040503050406030204" pitchFamily="18" charset="0"/>
                            <a:ea typeface="Cambria Math" panose="02040503050406030204" pitchFamily="18" charset="0"/>
                          </a:rPr>
                          <m:t>𝑛</m:t>
                        </m:r>
                      </m:sup>
                    </m:sSup>
                    <m:r>
                      <a:rPr lang="en-IN" i="1">
                        <a:latin typeface="Cambria Math" panose="02040503050406030204" pitchFamily="18" charset="0"/>
                        <a:ea typeface="Cambria Math" panose="02040503050406030204" pitchFamily="18" charset="0"/>
                      </a:rPr>
                      <m:t> </m:t>
                    </m:r>
                  </m:oMath>
                </a14:m>
                <a:endParaRPr lang="en-IN" dirty="0">
                  <a:latin typeface="Abadi Extra Light" panose="020B0204020104020204" pitchFamily="34" charset="0"/>
                </a:endParaRPr>
              </a:p>
              <a:p>
                <a:pPr marL="0" indent="0">
                  <a:buNone/>
                </a:pPr>
                <a:endParaRPr lang="en-IN" dirty="0">
                  <a:latin typeface="Abadi Extra Light" panose="020B0204020104020204" pitchFamily="34" charset="0"/>
                </a:endParaRPr>
              </a:p>
              <a:p>
                <a:pPr>
                  <a:buFont typeface="Wingdings" panose="05000000000000000000" pitchFamily="2" charset="2"/>
                  <a:buChar char="§"/>
                </a:pPr>
                <a:endParaRPr lang="en-IN" dirty="0">
                  <a:latin typeface="Abadi Extra Light" panose="020B0204020104020204" pitchFamily="34" charset="0"/>
                </a:endParaRPr>
              </a:p>
              <a:p>
                <a:pPr>
                  <a:spcBef>
                    <a:spcPts val="0"/>
                  </a:spcBef>
                  <a:buFont typeface="Wingdings" panose="05000000000000000000" pitchFamily="2" charset="2"/>
                  <a:buChar char="§"/>
                </a:pPr>
                <a:r>
                  <a:rPr lang="en-IN" sz="2400" dirty="0">
                    <a:latin typeface="Abadi Extra Light" panose="020B0204020104020204" pitchFamily="34" charset="0"/>
                  </a:rPr>
                  <a:t>For a vector </a:t>
                </a:r>
                <a14:m>
                  <m:oMath xmlns:m="http://schemas.openxmlformats.org/officeDocument/2006/math">
                    <m:acc>
                      <m:accPr>
                        <m:chr m:val="⃗"/>
                        <m:ctrlPr>
                          <a:rPr lang="en-GB" sz="2400" b="1" i="1" dirty="0">
                            <a:latin typeface="Cambria Math" panose="02040503050406030204" pitchFamily="18" charset="0"/>
                          </a:rPr>
                        </m:ctrlPr>
                      </m:accPr>
                      <m:e>
                        <m:r>
                          <a:rPr lang="en-GB" sz="2400" b="1" i="1" dirty="0">
                            <a:latin typeface="Cambria Math" panose="02040503050406030204" pitchFamily="18" charset="0"/>
                          </a:rPr>
                          <m:t>𝒂</m:t>
                        </m:r>
                      </m:e>
                    </m:acc>
                  </m:oMath>
                </a14:m>
                <a:r>
                  <a:rPr lang="en-GB" sz="2400" dirty="0">
                    <a:latin typeface="Abadi Extra Light" panose="020B0604020202020204" pitchFamily="34" charset="0"/>
                  </a:rPr>
                  <a:t> </a:t>
                </a:r>
                <a14:m>
                  <m:oMath xmlns:m="http://schemas.openxmlformats.org/officeDocument/2006/math">
                    <m:r>
                      <a:rPr lang="en-GB" sz="2400" i="1" dirty="0">
                        <a:latin typeface="Cambria Math" panose="02040503050406030204" pitchFamily="18" charset="0"/>
                        <a:ea typeface="Cambria Math" panose="02040503050406030204" pitchFamily="18" charset="0"/>
                      </a:rPr>
                      <m:t>∈</m:t>
                    </m:r>
                    <m:sSup>
                      <m:sSupPr>
                        <m:ctrlPr>
                          <a:rPr lang="en-IN" sz="2400" i="1">
                            <a:latin typeface="Cambria Math" panose="02040503050406030204" pitchFamily="18" charset="0"/>
                            <a:ea typeface="Cambria Math" panose="02040503050406030204" pitchFamily="18" charset="0"/>
                          </a:rPr>
                        </m:ctrlPr>
                      </m:sSupPr>
                      <m:e>
                        <m:r>
                          <a:rPr lang="en-IN" sz="2400" i="1">
                            <a:latin typeface="Cambria Math" panose="02040503050406030204" pitchFamily="18" charset="0"/>
                            <a:ea typeface="Cambria Math" panose="02040503050406030204" pitchFamily="18" charset="0"/>
                          </a:rPr>
                          <m:t>ℝ</m:t>
                        </m:r>
                      </m:e>
                      <m:sup>
                        <m:r>
                          <a:rPr lang="en-GB" sz="2400" b="0" i="1" smtClean="0">
                            <a:latin typeface="Cambria Math" panose="02040503050406030204" pitchFamily="18" charset="0"/>
                            <a:ea typeface="Cambria Math" panose="02040503050406030204" pitchFamily="18" charset="0"/>
                          </a:rPr>
                          <m:t>1×</m:t>
                        </m:r>
                        <m:r>
                          <a:rPr lang="en-IN" sz="2400" i="1">
                            <a:latin typeface="Cambria Math" panose="02040503050406030204" pitchFamily="18" charset="0"/>
                            <a:ea typeface="Cambria Math" panose="02040503050406030204" pitchFamily="18" charset="0"/>
                          </a:rPr>
                          <m:t>𝐷</m:t>
                        </m:r>
                      </m:sup>
                    </m:sSup>
                  </m:oMath>
                </a14:m>
                <a:r>
                  <a:rPr lang="en-IN" sz="2400" dirty="0">
                    <a:latin typeface="Abadi Extra Light" panose="020B0204020104020204" pitchFamily="34" charset="0"/>
                  </a:rPr>
                  <a:t>, its </a:t>
                </a:r>
                <a:r>
                  <a:rPr lang="en-IN" sz="2400" dirty="0">
                    <a:solidFill>
                      <a:srgbClr val="0000FF"/>
                    </a:solidFill>
                    <a:latin typeface="Abadi Extra Light" panose="020B0204020104020204" pitchFamily="34" charset="0"/>
                  </a:rPr>
                  <a:t>Euclidean norm </a:t>
                </a:r>
                <a:r>
                  <a:rPr lang="en-IN" sz="2400" dirty="0">
                    <a:latin typeface="Abadi Extra Light" panose="020B0204020104020204" pitchFamily="34" charset="0"/>
                  </a:rPr>
                  <a:t>is defined as sqrt( its dot product with itself OR inner product with its transpose)</a:t>
                </a:r>
                <a:endParaRPr lang="en-IN" sz="2400" dirty="0">
                  <a:solidFill>
                    <a:srgbClr val="0000FF"/>
                  </a:solidFill>
                  <a:latin typeface="Abadi Extra Light" panose="020B0204020104020204" pitchFamily="34" charset="0"/>
                </a:endParaRPr>
              </a:p>
              <a:p>
                <a:pPr marL="0" indent="0">
                  <a:buNone/>
                </a:pPr>
                <a:endParaRPr lang="en-IN" dirty="0">
                  <a:latin typeface="Abadi Extra Light" panose="020B0204020104020204" pitchFamily="34" charset="0"/>
                </a:endParaRPr>
              </a:p>
            </p:txBody>
          </p:sp>
        </mc:Choice>
        <mc:Fallback xmlns="">
          <p:sp>
            <p:nvSpPr>
              <p:cNvPr id="34" name="Content Placeholder 2">
                <a:extLst>
                  <a:ext uri="{FF2B5EF4-FFF2-40B4-BE49-F238E27FC236}">
                    <a16:creationId xmlns:a16="http://schemas.microsoft.com/office/drawing/2014/main" id="{E1DF4C8E-2FB0-4CA2-9D9A-034196FC982E}"/>
                  </a:ext>
                </a:extLst>
              </p:cNvPr>
              <p:cNvSpPr>
                <a:spLocks noGrp="1" noRot="1" noChangeAspect="1" noMove="1" noResize="1" noEditPoints="1" noAdjustHandles="1" noChangeArrowheads="1" noChangeShapeType="1" noTextEdit="1"/>
              </p:cNvSpPr>
              <p:nvPr>
                <p:ph idx="1"/>
              </p:nvPr>
            </p:nvSpPr>
            <p:spPr>
              <a:xfrm>
                <a:off x="265245" y="1130786"/>
                <a:ext cx="11740617" cy="5557532"/>
              </a:xfrm>
              <a:blipFill>
                <a:blip r:embed="rId3"/>
                <a:stretch>
                  <a:fillRect l="-935" t="-175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E3C0F27-BA29-4308-B6CC-EA1F311C8179}"/>
                  </a:ext>
                </a:extLst>
              </p:cNvPr>
              <p:cNvSpPr txBox="1"/>
              <p:nvPr/>
            </p:nvSpPr>
            <p:spPr>
              <a:xfrm>
                <a:off x="4593773" y="2503657"/>
                <a:ext cx="1949828" cy="10082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sz="2400" b="1" i="1" dirty="0" smtClean="0">
                              <a:latin typeface="Cambria Math" panose="02040503050406030204" pitchFamily="18" charset="0"/>
                            </a:rPr>
                          </m:ctrlPr>
                        </m:accPr>
                        <m:e>
                          <m:r>
                            <a:rPr lang="en-IN" sz="2400" b="1" i="1">
                              <a:latin typeface="Cambria Math" panose="02040503050406030204" pitchFamily="18" charset="0"/>
                            </a:rPr>
                            <m:t>𝝁</m:t>
                          </m:r>
                        </m:e>
                      </m:acc>
                      <m:r>
                        <a:rPr lang="en-IN" sz="2400" b="0" i="1" smtClean="0">
                          <a:latin typeface="Cambria Math" panose="02040503050406030204" pitchFamily="18" charset="0"/>
                        </a:rPr>
                        <m:t>= </m:t>
                      </m:r>
                      <m:f>
                        <m:fPr>
                          <m:ctrlPr>
                            <a:rPr lang="en-IN" sz="2400" b="0" i="1" smtClean="0">
                              <a:latin typeface="Cambria Math" panose="02040503050406030204" pitchFamily="18" charset="0"/>
                            </a:rPr>
                          </m:ctrlPr>
                        </m:fPr>
                        <m:num>
                          <m:r>
                            <a:rPr lang="en-IN" sz="2400" b="0" i="1" smtClean="0">
                              <a:latin typeface="Cambria Math" panose="02040503050406030204" pitchFamily="18" charset="0"/>
                            </a:rPr>
                            <m:t>1</m:t>
                          </m:r>
                        </m:num>
                        <m:den>
                          <m:r>
                            <a:rPr lang="en-GB" sz="2400" b="0" i="1" smtClean="0">
                              <a:latin typeface="Cambria Math" panose="02040503050406030204" pitchFamily="18" charset="0"/>
                            </a:rPr>
                            <m:t>𝑚</m:t>
                          </m:r>
                        </m:den>
                      </m:f>
                      <m:nary>
                        <m:naryPr>
                          <m:chr m:val="∑"/>
                          <m:ctrlPr>
                            <a:rPr lang="en-IN" sz="2400" b="0" i="1" smtClean="0">
                              <a:latin typeface="Cambria Math" panose="02040503050406030204" pitchFamily="18" charset="0"/>
                            </a:rPr>
                          </m:ctrlPr>
                        </m:naryPr>
                        <m:sub>
                          <m:r>
                            <a:rPr lang="en-GB" sz="2400" b="0" i="1" smtClean="0">
                              <a:latin typeface="Cambria Math" panose="02040503050406030204" pitchFamily="18" charset="0"/>
                            </a:rPr>
                            <m:t>𝑖</m:t>
                          </m:r>
                          <m:r>
                            <a:rPr lang="en-IN" sz="2400" b="0" i="1" smtClean="0">
                              <a:latin typeface="Cambria Math" panose="02040503050406030204" pitchFamily="18" charset="0"/>
                            </a:rPr>
                            <m:t>=1</m:t>
                          </m:r>
                        </m:sub>
                        <m:sup>
                          <m:r>
                            <a:rPr lang="en-GB" sz="2400" b="0" i="1" smtClean="0">
                              <a:latin typeface="Cambria Math" panose="02040503050406030204" pitchFamily="18" charset="0"/>
                            </a:rPr>
                            <m:t>𝑚</m:t>
                          </m:r>
                        </m:sup>
                        <m:e>
                          <m:sSup>
                            <m:sSupPr>
                              <m:ctrlPr>
                                <a:rPr lang="en-GB" sz="2400" i="1">
                                  <a:latin typeface="Cambria Math" panose="02040503050406030204" pitchFamily="18" charset="0"/>
                                </a:rPr>
                              </m:ctrlPr>
                            </m:sSupPr>
                            <m:e>
                              <m:acc>
                                <m:accPr>
                                  <m:chr m:val="⃗"/>
                                  <m:ctrlPr>
                                    <a:rPr lang="en-GB" sz="2400" b="1" i="1" dirty="0">
                                      <a:latin typeface="Cambria Math" panose="02040503050406030204" pitchFamily="18" charset="0"/>
                                    </a:rPr>
                                  </m:ctrlPr>
                                </m:accPr>
                                <m:e>
                                  <m:r>
                                    <a:rPr lang="en-GB" sz="2400" b="1" i="1" dirty="0">
                                      <a:latin typeface="Cambria Math" panose="02040503050406030204" pitchFamily="18" charset="0"/>
                                    </a:rPr>
                                    <m:t>𝒙</m:t>
                                  </m:r>
                                </m:e>
                              </m:acc>
                            </m:e>
                            <m:sup>
                              <m:r>
                                <a:rPr lang="en-GB" sz="2400" i="1">
                                  <a:latin typeface="Cambria Math" panose="02040503050406030204" pitchFamily="18" charset="0"/>
                                </a:rPr>
                                <m:t>(</m:t>
                              </m:r>
                              <m:r>
                                <a:rPr lang="en-GB" sz="2400" i="1">
                                  <a:latin typeface="Cambria Math" panose="02040503050406030204" pitchFamily="18" charset="0"/>
                                </a:rPr>
                                <m:t>𝑖</m:t>
                              </m:r>
                              <m:r>
                                <a:rPr lang="en-GB" sz="2400" i="1">
                                  <a:latin typeface="Cambria Math" panose="02040503050406030204" pitchFamily="18" charset="0"/>
                                </a:rPr>
                                <m:t>)</m:t>
                              </m:r>
                            </m:sup>
                          </m:sSup>
                        </m:e>
                      </m:nary>
                    </m:oMath>
                  </m:oMathPara>
                </a14:m>
                <a:endParaRPr lang="en-IN" sz="2400" dirty="0"/>
              </a:p>
            </p:txBody>
          </p:sp>
        </mc:Choice>
        <mc:Fallback xmlns="">
          <p:sp>
            <p:nvSpPr>
              <p:cNvPr id="4" name="TextBox 3">
                <a:extLst>
                  <a:ext uri="{FF2B5EF4-FFF2-40B4-BE49-F238E27FC236}">
                    <a16:creationId xmlns:a16="http://schemas.microsoft.com/office/drawing/2014/main" id="{EE3C0F27-BA29-4308-B6CC-EA1F311C8179}"/>
                  </a:ext>
                </a:extLst>
              </p:cNvPr>
              <p:cNvSpPr txBox="1">
                <a:spLocks noRot="1" noChangeAspect="1" noMove="1" noResize="1" noEditPoints="1" noAdjustHandles="1" noChangeArrowheads="1" noChangeShapeType="1" noTextEdit="1"/>
              </p:cNvSpPr>
              <p:nvPr/>
            </p:nvSpPr>
            <p:spPr>
              <a:xfrm>
                <a:off x="4593773" y="2503657"/>
                <a:ext cx="1949828" cy="1008225"/>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37C6525-A4E8-4FA8-AAB9-56E2BD5590B8}"/>
                  </a:ext>
                </a:extLst>
              </p:cNvPr>
              <p:cNvSpPr txBox="1"/>
              <p:nvPr/>
            </p:nvSpPr>
            <p:spPr>
              <a:xfrm>
                <a:off x="1125515" y="4417533"/>
                <a:ext cx="3468258" cy="64357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sz="2400" b="1" i="1" dirty="0" smtClean="0">
                              <a:latin typeface="Cambria Math" panose="02040503050406030204" pitchFamily="18" charset="0"/>
                            </a:rPr>
                          </m:ctrlPr>
                        </m:accPr>
                        <m:e>
                          <m:r>
                            <a:rPr lang="en-GB" sz="2400" b="1" i="1" dirty="0">
                              <a:latin typeface="Cambria Math" panose="02040503050406030204" pitchFamily="18" charset="0"/>
                            </a:rPr>
                            <m:t>𝒂</m:t>
                          </m:r>
                        </m:e>
                      </m:acc>
                      <m:r>
                        <a:rPr lang="en-GB" sz="2400" b="1" i="1" dirty="0" smtClean="0">
                          <a:latin typeface="Cambria Math" panose="02040503050406030204" pitchFamily="18" charset="0"/>
                        </a:rPr>
                        <m:t> . </m:t>
                      </m:r>
                      <m:acc>
                        <m:accPr>
                          <m:chr m:val="⃗"/>
                          <m:ctrlPr>
                            <a:rPr lang="en-GB" sz="2400" b="1" i="1" dirty="0">
                              <a:latin typeface="Cambria Math" panose="02040503050406030204" pitchFamily="18" charset="0"/>
                            </a:rPr>
                          </m:ctrlPr>
                        </m:accPr>
                        <m:e>
                          <m:r>
                            <a:rPr lang="en-GB" sz="2400" b="1" i="1" dirty="0">
                              <a:latin typeface="Cambria Math" panose="02040503050406030204" pitchFamily="18" charset="0"/>
                            </a:rPr>
                            <m:t>𝒃</m:t>
                          </m:r>
                        </m:e>
                      </m:acc>
                      <m:r>
                        <a:rPr lang="en-GB" sz="2400" b="1" i="1" dirty="0">
                          <a:latin typeface="Cambria Math" panose="02040503050406030204" pitchFamily="18" charset="0"/>
                        </a:rPr>
                        <m:t> </m:t>
                      </m:r>
                      <m:r>
                        <a:rPr lang="en-IN" sz="2000" b="1" i="1" smtClean="0">
                          <a:latin typeface="Cambria Math" panose="02040503050406030204" pitchFamily="18" charset="0"/>
                        </a:rPr>
                        <m:t>=</m:t>
                      </m:r>
                      <m:nary>
                        <m:naryPr>
                          <m:chr m:val="∑"/>
                          <m:limLoc m:val="subSup"/>
                          <m:ctrlPr>
                            <a:rPr lang="en-IN" sz="2000" i="1">
                              <a:latin typeface="Cambria Math" panose="02040503050406030204" pitchFamily="18" charset="0"/>
                            </a:rPr>
                          </m:ctrlPr>
                        </m:naryPr>
                        <m:sub>
                          <m:r>
                            <m:rPr>
                              <m:brk m:alnAt="1"/>
                            </m:rPr>
                            <a:rPr lang="en-GB" sz="2000" b="0" i="1" smtClean="0">
                              <a:latin typeface="Cambria Math" panose="02040503050406030204" pitchFamily="18" charset="0"/>
                            </a:rPr>
                            <m:t>𝑗</m:t>
                          </m:r>
                          <m:r>
                            <a:rPr lang="en-IN" sz="2000" i="1">
                              <a:latin typeface="Cambria Math" panose="02040503050406030204" pitchFamily="18" charset="0"/>
                            </a:rPr>
                            <m:t>=1</m:t>
                          </m:r>
                        </m:sub>
                        <m:sup>
                          <m:r>
                            <a:rPr lang="en-GB" sz="2000" b="0" i="1" smtClean="0">
                              <a:latin typeface="Cambria Math" panose="02040503050406030204" pitchFamily="18" charset="0"/>
                            </a:rPr>
                            <m:t>𝑛</m:t>
                          </m:r>
                        </m:sup>
                        <m:e>
                          <m:sSub>
                            <m:sSubPr>
                              <m:ctrlPr>
                                <a:rPr lang="en-IN" sz="2000" b="0" i="1" smtClean="0">
                                  <a:latin typeface="Cambria Math" panose="02040503050406030204" pitchFamily="18" charset="0"/>
                                </a:rPr>
                              </m:ctrlPr>
                            </m:sSubPr>
                            <m:e>
                              <m:r>
                                <a:rPr lang="en-IN" sz="2000" i="1" smtClean="0">
                                  <a:latin typeface="Cambria Math" panose="02040503050406030204" pitchFamily="18" charset="0"/>
                                </a:rPr>
                                <m:t>𝑎</m:t>
                              </m:r>
                            </m:e>
                            <m:sub>
                              <m:r>
                                <a:rPr lang="en-GB" sz="2000" b="0" i="1" smtClean="0">
                                  <a:latin typeface="Cambria Math" panose="02040503050406030204" pitchFamily="18" charset="0"/>
                                </a:rPr>
                                <m:t>𝑗</m:t>
                              </m:r>
                            </m:sub>
                          </m:sSub>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𝑏</m:t>
                              </m:r>
                            </m:e>
                            <m:sub>
                              <m:r>
                                <a:rPr lang="en-GB" sz="2000" b="0" i="1" smtClean="0">
                                  <a:latin typeface="Cambria Math" panose="02040503050406030204" pitchFamily="18" charset="0"/>
                                </a:rPr>
                                <m:t>𝑗</m:t>
                              </m:r>
                            </m:sub>
                          </m:sSub>
                        </m:e>
                      </m:nary>
                    </m:oMath>
                  </m:oMathPara>
                </a14:m>
                <a:endParaRPr lang="en-IN" sz="2000" b="1" dirty="0"/>
              </a:p>
            </p:txBody>
          </p:sp>
        </mc:Choice>
        <mc:Fallback xmlns="">
          <p:sp>
            <p:nvSpPr>
              <p:cNvPr id="5" name="TextBox 4">
                <a:extLst>
                  <a:ext uri="{FF2B5EF4-FFF2-40B4-BE49-F238E27FC236}">
                    <a16:creationId xmlns:a16="http://schemas.microsoft.com/office/drawing/2014/main" id="{F37C6525-A4E8-4FA8-AAB9-56E2BD5590B8}"/>
                  </a:ext>
                </a:extLst>
              </p:cNvPr>
              <p:cNvSpPr txBox="1">
                <a:spLocks noRot="1" noChangeAspect="1" noMove="1" noResize="1" noEditPoints="1" noAdjustHandles="1" noChangeArrowheads="1" noChangeShapeType="1" noTextEdit="1"/>
              </p:cNvSpPr>
              <p:nvPr/>
            </p:nvSpPr>
            <p:spPr>
              <a:xfrm>
                <a:off x="1125515" y="4417533"/>
                <a:ext cx="3468258" cy="643574"/>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9BA43C3-1F8B-41C3-8C7D-DDD8F4592BD4}"/>
                  </a:ext>
                </a:extLst>
              </p:cNvPr>
              <p:cNvSpPr txBox="1"/>
              <p:nvPr/>
            </p:nvSpPr>
            <p:spPr>
              <a:xfrm>
                <a:off x="6991927" y="2901863"/>
                <a:ext cx="3978077" cy="476990"/>
              </a:xfrm>
              <a:prstGeom prst="rect">
                <a:avLst/>
              </a:prstGeom>
              <a:noFill/>
            </p:spPr>
            <p:txBody>
              <a:bodyPr wrap="none" rtlCol="0">
                <a:spAutoFit/>
              </a:bodyPr>
              <a:lstStyle/>
              <a:p>
                <a:r>
                  <a:rPr lang="en-IN" sz="2400" dirty="0">
                    <a:latin typeface="Abadi Extra Light" panose="020B0204020104020204" pitchFamily="34" charset="0"/>
                  </a:rPr>
                  <a:t>(of the same size as each </a:t>
                </a:r>
                <a14:m>
                  <m:oMath xmlns:m="http://schemas.openxmlformats.org/officeDocument/2006/math">
                    <m:sSup>
                      <m:sSupPr>
                        <m:ctrlPr>
                          <a:rPr lang="en-GB" sz="2400" i="1">
                            <a:latin typeface="Cambria Math" panose="02040503050406030204" pitchFamily="18" charset="0"/>
                          </a:rPr>
                        </m:ctrlPr>
                      </m:sSupPr>
                      <m:e>
                        <m:acc>
                          <m:accPr>
                            <m:chr m:val="⃗"/>
                            <m:ctrlPr>
                              <a:rPr lang="en-GB" sz="2400" b="1" i="1" dirty="0">
                                <a:latin typeface="Cambria Math" panose="02040503050406030204" pitchFamily="18" charset="0"/>
                              </a:rPr>
                            </m:ctrlPr>
                          </m:accPr>
                          <m:e>
                            <m:r>
                              <a:rPr lang="en-GB" sz="2400" b="1" i="1" dirty="0">
                                <a:latin typeface="Cambria Math" panose="02040503050406030204" pitchFamily="18" charset="0"/>
                              </a:rPr>
                              <m:t>𝒙</m:t>
                            </m:r>
                          </m:e>
                        </m:acc>
                      </m:e>
                      <m:sup>
                        <m:r>
                          <a:rPr lang="en-GB" sz="2400" i="1">
                            <a:latin typeface="Cambria Math" panose="02040503050406030204" pitchFamily="18" charset="0"/>
                          </a:rPr>
                          <m:t>(</m:t>
                        </m:r>
                        <m:r>
                          <a:rPr lang="en-GB" sz="2400" i="1">
                            <a:latin typeface="Cambria Math" panose="02040503050406030204" pitchFamily="18" charset="0"/>
                          </a:rPr>
                          <m:t>𝑖</m:t>
                        </m:r>
                        <m:r>
                          <a:rPr lang="en-GB" sz="2400" i="1">
                            <a:latin typeface="Cambria Math" panose="02040503050406030204" pitchFamily="18" charset="0"/>
                          </a:rPr>
                          <m:t>)</m:t>
                        </m:r>
                      </m:sup>
                    </m:sSup>
                  </m:oMath>
                </a14:m>
                <a:r>
                  <a:rPr lang="en-IN" sz="2400" dirty="0">
                    <a:latin typeface="Abadi Extra Light" panose="020B0204020104020204" pitchFamily="34" charset="0"/>
                  </a:rPr>
                  <a:t>) </a:t>
                </a:r>
              </a:p>
            </p:txBody>
          </p:sp>
        </mc:Choice>
        <mc:Fallback xmlns="">
          <p:sp>
            <p:nvSpPr>
              <p:cNvPr id="7" name="TextBox 6">
                <a:extLst>
                  <a:ext uri="{FF2B5EF4-FFF2-40B4-BE49-F238E27FC236}">
                    <a16:creationId xmlns:a16="http://schemas.microsoft.com/office/drawing/2014/main" id="{B9BA43C3-1F8B-41C3-8C7D-DDD8F4592BD4}"/>
                  </a:ext>
                </a:extLst>
              </p:cNvPr>
              <p:cNvSpPr txBox="1">
                <a:spLocks noRot="1" noChangeAspect="1" noMove="1" noResize="1" noEditPoints="1" noAdjustHandles="1" noChangeArrowheads="1" noChangeShapeType="1" noTextEdit="1"/>
              </p:cNvSpPr>
              <p:nvPr/>
            </p:nvSpPr>
            <p:spPr>
              <a:xfrm>
                <a:off x="6991927" y="2901863"/>
                <a:ext cx="3978077" cy="476990"/>
              </a:xfrm>
              <a:prstGeom prst="rect">
                <a:avLst/>
              </a:prstGeom>
              <a:blipFill>
                <a:blip r:embed="rId6"/>
                <a:stretch>
                  <a:fillRect l="-2450" t="-6410" r="-1225" b="-2948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582C691-F478-4CF1-A5D8-0F9C2C1D8BA6}"/>
                  </a:ext>
                </a:extLst>
              </p:cNvPr>
              <p:cNvSpPr txBox="1"/>
              <p:nvPr/>
            </p:nvSpPr>
            <p:spPr>
              <a:xfrm>
                <a:off x="1278611" y="5819526"/>
                <a:ext cx="5114440" cy="751552"/>
              </a:xfrm>
              <a:prstGeom prst="rect">
                <a:avLst/>
              </a:prstGeom>
              <a:noFill/>
            </p:spPr>
            <p:txBody>
              <a:bodyPr wrap="square" lIns="0" tIns="0" rIns="0" bIns="0" rtlCol="0">
                <a:spAutoFit/>
              </a:bodyPr>
              <a:lstStyle/>
              <a:p>
                <a14:m>
                  <m:oMath xmlns:m="http://schemas.openxmlformats.org/officeDocument/2006/math">
                    <m:sSub>
                      <m:sSubPr>
                        <m:ctrlPr>
                          <a:rPr lang="en-IN" sz="2400" b="0" i="1" smtClean="0">
                            <a:latin typeface="Cambria Math" panose="02040503050406030204" pitchFamily="18" charset="0"/>
                          </a:rPr>
                        </m:ctrlPr>
                      </m:sSubPr>
                      <m:e>
                        <m:d>
                          <m:dPr>
                            <m:begChr m:val="‖"/>
                            <m:endChr m:val="‖"/>
                            <m:ctrlPr>
                              <a:rPr lang="en-IN" sz="2400" i="1" smtClean="0">
                                <a:latin typeface="Cambria Math" panose="02040503050406030204" pitchFamily="18" charset="0"/>
                              </a:rPr>
                            </m:ctrlPr>
                          </m:dPr>
                          <m:e>
                            <m:acc>
                              <m:accPr>
                                <m:chr m:val="⃗"/>
                                <m:ctrlPr>
                                  <a:rPr lang="en-GB" sz="2400" b="1" i="1" dirty="0">
                                    <a:latin typeface="Cambria Math" panose="02040503050406030204" pitchFamily="18" charset="0"/>
                                  </a:rPr>
                                </m:ctrlPr>
                              </m:accPr>
                              <m:e>
                                <m:r>
                                  <a:rPr lang="en-GB" sz="2400" b="1" i="1" dirty="0">
                                    <a:latin typeface="Cambria Math" panose="02040503050406030204" pitchFamily="18" charset="0"/>
                                  </a:rPr>
                                  <m:t>𝒂</m:t>
                                </m:r>
                              </m:e>
                            </m:acc>
                          </m:e>
                        </m:d>
                      </m:e>
                      <m:sub>
                        <m:r>
                          <a:rPr lang="en-IN" sz="2400" b="0" i="1" smtClean="0">
                            <a:latin typeface="Cambria Math" panose="02040503050406030204" pitchFamily="18" charset="0"/>
                          </a:rPr>
                          <m:t>2</m:t>
                        </m:r>
                      </m:sub>
                    </m:sSub>
                    <m:r>
                      <a:rPr lang="en-IN" sz="2400" b="0" i="1" smtClean="0">
                        <a:latin typeface="Cambria Math" panose="02040503050406030204" pitchFamily="18" charset="0"/>
                      </a:rPr>
                      <m:t>=</m:t>
                    </m:r>
                  </m:oMath>
                </a14:m>
                <a:r>
                  <a:rPr lang="en-IN" sz="2400" dirty="0"/>
                  <a:t> </a:t>
                </a:r>
                <a14:m>
                  <m:oMath xmlns:m="http://schemas.openxmlformats.org/officeDocument/2006/math">
                    <m:rad>
                      <m:radPr>
                        <m:degHide m:val="on"/>
                        <m:ctrlPr>
                          <a:rPr lang="en-IN" sz="2400" b="1" i="1" smtClean="0">
                            <a:latin typeface="Cambria Math" panose="02040503050406030204" pitchFamily="18" charset="0"/>
                          </a:rPr>
                        </m:ctrlPr>
                      </m:radPr>
                      <m:deg/>
                      <m:e>
                        <m:acc>
                          <m:accPr>
                            <m:chr m:val="⃗"/>
                            <m:ctrlPr>
                              <a:rPr lang="en-GB" sz="2400" b="1" i="1" dirty="0">
                                <a:latin typeface="Cambria Math" panose="02040503050406030204" pitchFamily="18" charset="0"/>
                              </a:rPr>
                            </m:ctrlPr>
                          </m:accPr>
                          <m:e>
                            <m:r>
                              <a:rPr lang="en-GB" sz="2400" b="1" i="1" dirty="0">
                                <a:latin typeface="Cambria Math" panose="02040503050406030204" pitchFamily="18" charset="0"/>
                              </a:rPr>
                              <m:t>𝒂</m:t>
                            </m:r>
                          </m:e>
                        </m:acc>
                        <m:r>
                          <a:rPr lang="en-GB" sz="2400" b="1" i="1" dirty="0">
                            <a:latin typeface="Cambria Math" panose="02040503050406030204" pitchFamily="18" charset="0"/>
                          </a:rPr>
                          <m:t> . </m:t>
                        </m:r>
                        <m:acc>
                          <m:accPr>
                            <m:chr m:val="⃗"/>
                            <m:ctrlPr>
                              <a:rPr lang="en-GB" sz="2400" b="1" i="1" dirty="0">
                                <a:latin typeface="Cambria Math" panose="02040503050406030204" pitchFamily="18" charset="0"/>
                              </a:rPr>
                            </m:ctrlPr>
                          </m:accPr>
                          <m:e>
                            <m:r>
                              <a:rPr lang="en-GB" sz="2400" b="1" i="1" dirty="0" smtClean="0">
                                <a:latin typeface="Cambria Math" panose="02040503050406030204" pitchFamily="18" charset="0"/>
                              </a:rPr>
                              <m:t>𝒂</m:t>
                            </m:r>
                          </m:e>
                        </m:acc>
                      </m:e>
                    </m:rad>
                    <m:r>
                      <a:rPr lang="en-GB" sz="2400" b="1" i="1" smtClean="0">
                        <a:latin typeface="Cambria Math" panose="02040503050406030204" pitchFamily="18" charset="0"/>
                      </a:rPr>
                      <m:t>=</m:t>
                    </m:r>
                    <m:rad>
                      <m:radPr>
                        <m:degHide m:val="on"/>
                        <m:ctrlPr>
                          <a:rPr lang="en-IN" sz="2400" b="1" i="1">
                            <a:latin typeface="Cambria Math" panose="02040503050406030204" pitchFamily="18" charset="0"/>
                          </a:rPr>
                        </m:ctrlPr>
                      </m:radPr>
                      <m:deg/>
                      <m:e>
                        <m:acc>
                          <m:accPr>
                            <m:chr m:val="⃗"/>
                            <m:ctrlPr>
                              <a:rPr lang="en-GB" sz="2400" b="1" i="1" dirty="0">
                                <a:latin typeface="Cambria Math" panose="02040503050406030204" pitchFamily="18" charset="0"/>
                              </a:rPr>
                            </m:ctrlPr>
                          </m:accPr>
                          <m:e>
                            <m:r>
                              <a:rPr lang="en-GB" sz="2400" b="1" i="1" dirty="0">
                                <a:latin typeface="Cambria Math" panose="02040503050406030204" pitchFamily="18" charset="0"/>
                              </a:rPr>
                              <m:t>𝒂</m:t>
                            </m:r>
                          </m:e>
                        </m:acc>
                        <m:r>
                          <a:rPr lang="en-GB" sz="2400" b="1" i="1" dirty="0">
                            <a:latin typeface="Cambria Math" panose="02040503050406030204" pitchFamily="18" charset="0"/>
                          </a:rPr>
                          <m:t> </m:t>
                        </m:r>
                        <m:r>
                          <a:rPr lang="en-GB" sz="2400" b="1" i="1" dirty="0" smtClean="0">
                            <a:latin typeface="Cambria Math" panose="02040503050406030204" pitchFamily="18" charset="0"/>
                          </a:rPr>
                          <m:t> </m:t>
                        </m:r>
                        <m:acc>
                          <m:accPr>
                            <m:chr m:val="⃗"/>
                            <m:ctrlPr>
                              <a:rPr lang="en-GB" sz="2400" b="1" i="1" dirty="0">
                                <a:latin typeface="Cambria Math" panose="02040503050406030204" pitchFamily="18" charset="0"/>
                              </a:rPr>
                            </m:ctrlPr>
                          </m:accPr>
                          <m:e>
                            <m:r>
                              <a:rPr lang="en-GB" sz="2400" b="1" i="1" dirty="0">
                                <a:latin typeface="Cambria Math" panose="02040503050406030204" pitchFamily="18" charset="0"/>
                              </a:rPr>
                              <m:t>𝒂</m:t>
                            </m:r>
                          </m:e>
                        </m:acc>
                        <m:r>
                          <a:rPr lang="en-GB" sz="2400" b="1" i="1" baseline="30000" dirty="0" smtClean="0">
                            <a:latin typeface="Cambria Math" panose="02040503050406030204" pitchFamily="18" charset="0"/>
                          </a:rPr>
                          <m:t>𝑻</m:t>
                        </m:r>
                      </m:e>
                    </m:rad>
                    <m:r>
                      <a:rPr lang="en-IN" sz="2400" b="1" i="1" smtClean="0">
                        <a:latin typeface="Cambria Math" panose="02040503050406030204" pitchFamily="18" charset="0"/>
                      </a:rPr>
                      <m:t>=</m:t>
                    </m:r>
                  </m:oMath>
                </a14:m>
                <a:r>
                  <a:rPr lang="en-IN" sz="2400" b="1" dirty="0"/>
                  <a:t> </a:t>
                </a:r>
                <a14:m>
                  <m:oMath xmlns:m="http://schemas.openxmlformats.org/officeDocument/2006/math">
                    <m:rad>
                      <m:radPr>
                        <m:degHide m:val="on"/>
                        <m:ctrlPr>
                          <a:rPr lang="en-IN" sz="2400" b="1" i="1" dirty="0" smtClean="0">
                            <a:latin typeface="Cambria Math" panose="02040503050406030204" pitchFamily="18" charset="0"/>
                          </a:rPr>
                        </m:ctrlPr>
                      </m:radPr>
                      <m:deg/>
                      <m:e>
                        <m:nary>
                          <m:naryPr>
                            <m:chr m:val="∑"/>
                            <m:limLoc m:val="subSup"/>
                            <m:ctrlPr>
                              <a:rPr lang="en-IN" sz="2400" i="1">
                                <a:latin typeface="Cambria Math" panose="02040503050406030204" pitchFamily="18" charset="0"/>
                              </a:rPr>
                            </m:ctrlPr>
                          </m:naryPr>
                          <m:sub>
                            <m:r>
                              <m:rPr>
                                <m:brk m:alnAt="1"/>
                              </m:rPr>
                              <a:rPr lang="en-GB" sz="2400" b="0" i="1" smtClean="0">
                                <a:latin typeface="Cambria Math" panose="02040503050406030204" pitchFamily="18" charset="0"/>
                              </a:rPr>
                              <m:t>𝑗</m:t>
                            </m:r>
                            <m:r>
                              <a:rPr lang="en-IN" sz="2400" i="1">
                                <a:latin typeface="Cambria Math" panose="02040503050406030204" pitchFamily="18" charset="0"/>
                              </a:rPr>
                              <m:t>=1</m:t>
                            </m:r>
                          </m:sub>
                          <m:sup>
                            <m:r>
                              <a:rPr lang="en-GB" sz="2400" b="0" i="1" smtClean="0">
                                <a:latin typeface="Cambria Math" panose="02040503050406030204" pitchFamily="18" charset="0"/>
                              </a:rPr>
                              <m:t>𝑛</m:t>
                            </m:r>
                          </m:sup>
                          <m:e>
                            <m:sSubSup>
                              <m:sSubSupPr>
                                <m:ctrlPr>
                                  <a:rPr lang="en-IN" sz="2400" i="1">
                                    <a:latin typeface="Cambria Math" panose="02040503050406030204" pitchFamily="18" charset="0"/>
                                  </a:rPr>
                                </m:ctrlPr>
                              </m:sSubSupPr>
                              <m:e>
                                <m:r>
                                  <a:rPr lang="en-IN" sz="2400" i="1">
                                    <a:latin typeface="Cambria Math" panose="02040503050406030204" pitchFamily="18" charset="0"/>
                                  </a:rPr>
                                  <m:t>𝑎</m:t>
                                </m:r>
                              </m:e>
                              <m:sub>
                                <m:r>
                                  <a:rPr lang="en-GB" sz="2400" b="0" i="1" smtClean="0">
                                    <a:latin typeface="Cambria Math" panose="02040503050406030204" pitchFamily="18" charset="0"/>
                                  </a:rPr>
                                  <m:t>𝑗</m:t>
                                </m:r>
                              </m:sub>
                              <m:sup>
                                <m:r>
                                  <a:rPr lang="en-IN" sz="2400" i="1">
                                    <a:latin typeface="Cambria Math" panose="02040503050406030204" pitchFamily="18" charset="0"/>
                                  </a:rPr>
                                  <m:t>2</m:t>
                                </m:r>
                              </m:sup>
                            </m:sSubSup>
                          </m:e>
                        </m:nary>
                      </m:e>
                    </m:rad>
                  </m:oMath>
                </a14:m>
                <a:endParaRPr lang="en-IN" sz="2400" b="1" dirty="0"/>
              </a:p>
            </p:txBody>
          </p:sp>
        </mc:Choice>
        <mc:Fallback xmlns="">
          <p:sp>
            <p:nvSpPr>
              <p:cNvPr id="13" name="TextBox 12">
                <a:extLst>
                  <a:ext uri="{FF2B5EF4-FFF2-40B4-BE49-F238E27FC236}">
                    <a16:creationId xmlns:a16="http://schemas.microsoft.com/office/drawing/2014/main" id="{1582C691-F478-4CF1-A5D8-0F9C2C1D8BA6}"/>
                  </a:ext>
                </a:extLst>
              </p:cNvPr>
              <p:cNvSpPr txBox="1">
                <a:spLocks noRot="1" noChangeAspect="1" noMove="1" noResize="1" noEditPoints="1" noAdjustHandles="1" noChangeArrowheads="1" noChangeShapeType="1" noTextEdit="1"/>
              </p:cNvSpPr>
              <p:nvPr/>
            </p:nvSpPr>
            <p:spPr>
              <a:xfrm>
                <a:off x="1278611" y="5819526"/>
                <a:ext cx="5114440" cy="751552"/>
              </a:xfrm>
              <a:prstGeom prst="rect">
                <a:avLst/>
              </a:prstGeom>
              <a:blipFill>
                <a:blip r:embed="rId7"/>
                <a:stretch>
                  <a:fillRect/>
                </a:stretch>
              </a:blipFill>
            </p:spPr>
            <p:txBody>
              <a:bodyPr/>
              <a:lstStyle/>
              <a:p>
                <a:r>
                  <a:rPr lang="en-IN">
                    <a:noFill/>
                  </a:rPr>
                  <a:t> </a:t>
                </a:r>
              </a:p>
            </p:txBody>
          </p:sp>
        </mc:Fallback>
      </mc:AlternateContent>
      <p:pic>
        <p:nvPicPr>
          <p:cNvPr id="14" name="Picture 13">
            <a:extLst>
              <a:ext uri="{FF2B5EF4-FFF2-40B4-BE49-F238E27FC236}">
                <a16:creationId xmlns:a16="http://schemas.microsoft.com/office/drawing/2014/main" id="{166CA9D7-3786-4CF7-B9EB-F19E127D45DE}"/>
              </a:ext>
            </a:extLst>
          </p:cNvPr>
          <p:cNvPicPr>
            <a:picLocks noChangeAspect="1"/>
          </p:cNvPicPr>
          <p:nvPr/>
        </p:nvPicPr>
        <p:blipFill>
          <a:blip r:embed="rId8"/>
          <a:stretch>
            <a:fillRect/>
          </a:stretch>
        </p:blipFill>
        <p:spPr>
          <a:xfrm>
            <a:off x="11119998" y="5791836"/>
            <a:ext cx="1010687" cy="965223"/>
          </a:xfrm>
          <a:prstGeom prst="rect">
            <a:avLst/>
          </a:prstGeom>
        </p:spPr>
      </p:pic>
      <mc:AlternateContent xmlns:mc="http://schemas.openxmlformats.org/markup-compatibility/2006" xmlns:a14="http://schemas.microsoft.com/office/drawing/2010/main">
        <mc:Choice Requires="a14">
          <p:sp>
            <p:nvSpPr>
              <p:cNvPr id="17" name="Speech Bubble: Rectangle 16">
                <a:extLst>
                  <a:ext uri="{FF2B5EF4-FFF2-40B4-BE49-F238E27FC236}">
                    <a16:creationId xmlns:a16="http://schemas.microsoft.com/office/drawing/2014/main" id="{A7DD8658-7B76-4B0A-95CF-BB1FED982AA8}"/>
                  </a:ext>
                </a:extLst>
              </p:cNvPr>
              <p:cNvSpPr/>
              <p:nvPr/>
            </p:nvSpPr>
            <p:spPr>
              <a:xfrm>
                <a:off x="6648774" y="5791836"/>
                <a:ext cx="4348754" cy="779673"/>
              </a:xfrm>
              <a:prstGeom prst="wedgeRectCallout">
                <a:avLst>
                  <a:gd name="adj1" fmla="val 58927"/>
                  <a:gd name="adj2" fmla="val -11685"/>
                </a:avLst>
              </a:prstGeom>
              <a:solidFill>
                <a:schemeClr val="bg1"/>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
                </a:pPr>
                <a:r>
                  <a:rPr lang="en-IN" sz="1600" dirty="0">
                    <a:solidFill>
                      <a:schemeClr val="tx1"/>
                    </a:solidFill>
                    <a:latin typeface="Abadi Extra Light" panose="020B0204020104020204" pitchFamily="34" charset="0"/>
                  </a:rPr>
                  <a:t>Also the Euclidean distance of  </a:t>
                </a:r>
                <a14:m>
                  <m:oMath xmlns:m="http://schemas.openxmlformats.org/officeDocument/2006/math">
                    <m:acc>
                      <m:accPr>
                        <m:chr m:val="⃗"/>
                        <m:ctrlPr>
                          <a:rPr lang="en-GB" b="1" i="1" dirty="0">
                            <a:solidFill>
                              <a:prstClr val="black"/>
                            </a:solidFill>
                            <a:latin typeface="Cambria Math" panose="02040503050406030204" pitchFamily="18" charset="0"/>
                          </a:rPr>
                        </m:ctrlPr>
                      </m:accPr>
                      <m:e>
                        <m:r>
                          <a:rPr lang="en-GB" b="1" i="1" dirty="0">
                            <a:solidFill>
                              <a:prstClr val="black"/>
                            </a:solidFill>
                            <a:latin typeface="Cambria Math" panose="02040503050406030204" pitchFamily="18" charset="0"/>
                          </a:rPr>
                          <m:t>𝒂</m:t>
                        </m:r>
                      </m:e>
                    </m:acc>
                    <m:r>
                      <a:rPr lang="en-GB" b="1" i="1" dirty="0">
                        <a:solidFill>
                          <a:prstClr val="black"/>
                        </a:solidFill>
                        <a:latin typeface="Cambria Math" panose="02040503050406030204" pitchFamily="18" charset="0"/>
                      </a:rPr>
                      <m:t> </m:t>
                    </m:r>
                  </m:oMath>
                </a14:m>
                <a:r>
                  <a:rPr lang="en-IN" sz="1600" dirty="0">
                    <a:solidFill>
                      <a:schemeClr val="tx1"/>
                    </a:solidFill>
                    <a:latin typeface="Abadi Extra Light" panose="020B0204020104020204" pitchFamily="34" charset="0"/>
                  </a:rPr>
                  <a:t>from origin</a:t>
                </a:r>
              </a:p>
              <a:p>
                <a:pPr marL="285750" indent="-285750">
                  <a:buFont typeface="Wingdings" panose="05000000000000000000" pitchFamily="2" charset="2"/>
                  <a:buChar char="§"/>
                </a:pPr>
                <a:r>
                  <a:rPr lang="en-IN" sz="1600" dirty="0">
                    <a:solidFill>
                      <a:schemeClr val="tx1"/>
                    </a:solidFill>
                    <a:latin typeface="Abadi Extra Light" panose="020B0204020104020204" pitchFamily="34" charset="0"/>
                  </a:rPr>
                  <a:t>Note: Euclidean norm is also called L2 norm</a:t>
                </a:r>
              </a:p>
            </p:txBody>
          </p:sp>
        </mc:Choice>
        <mc:Fallback xmlns="">
          <p:sp>
            <p:nvSpPr>
              <p:cNvPr id="17" name="Speech Bubble: Rectangle 16">
                <a:extLst>
                  <a:ext uri="{FF2B5EF4-FFF2-40B4-BE49-F238E27FC236}">
                    <a16:creationId xmlns:a16="http://schemas.microsoft.com/office/drawing/2014/main" id="{A7DD8658-7B76-4B0A-95CF-BB1FED982AA8}"/>
                  </a:ext>
                </a:extLst>
              </p:cNvPr>
              <p:cNvSpPr>
                <a:spLocks noRot="1" noChangeAspect="1" noMove="1" noResize="1" noEditPoints="1" noAdjustHandles="1" noChangeArrowheads="1" noChangeShapeType="1" noTextEdit="1"/>
              </p:cNvSpPr>
              <p:nvPr/>
            </p:nvSpPr>
            <p:spPr>
              <a:xfrm>
                <a:off x="6648774" y="5791836"/>
                <a:ext cx="4348754" cy="779673"/>
              </a:xfrm>
              <a:prstGeom prst="wedgeRectCallout">
                <a:avLst>
                  <a:gd name="adj1" fmla="val 58927"/>
                  <a:gd name="adj2" fmla="val -11685"/>
                </a:avLst>
              </a:prstGeom>
              <a:blipFill>
                <a:blip r:embed="rId9"/>
                <a:stretch>
                  <a:fillRect l="-382"/>
                </a:stretch>
              </a:blipFill>
              <a:ln w="19050">
                <a:solidFill>
                  <a:schemeClr val="accent2"/>
                </a:solidFill>
              </a:ln>
            </p:spPr>
            <p:txBody>
              <a:bodyPr/>
              <a:lstStyle/>
              <a:p>
                <a:r>
                  <a:rPr lang="en-IN">
                    <a:noFill/>
                  </a:rPr>
                  <a:t> </a:t>
                </a:r>
              </a:p>
            </p:txBody>
          </p:sp>
        </mc:Fallback>
      </mc:AlternateContent>
    </p:spTree>
    <p:custDataLst>
      <p:tags r:id="rId1"/>
    </p:custDataLst>
    <p:extLst>
      <p:ext uri="{BB962C8B-B14F-4D97-AF65-F5344CB8AC3E}">
        <p14:creationId xmlns:p14="http://schemas.microsoft.com/office/powerpoint/2010/main" val="940310473"/>
      </p:ext>
    </p:extLst>
  </p:cSld>
  <p:clrMapOvr>
    <a:masterClrMapping/>
  </p:clrMapOvr>
  <mc:AlternateContent xmlns:mc="http://schemas.openxmlformats.org/markup-compatibility/2006" xmlns:p14="http://schemas.microsoft.com/office/powerpoint/2010/main">
    <mc:Choice Requires="p14">
      <p:transition spd="slow" p14:dur="2000" advTm="155334"/>
    </mc:Choice>
    <mc:Fallback xmlns="">
      <p:transition spd="slow" advTm="15533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animEffect transition="in" filter="wipe(down)">
                                      <p:cBhvr>
                                        <p:cTn id="7" dur="500"/>
                                        <p:tgtEl>
                                          <p:spTgt spid="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4">
                                            <p:txEl>
                                              <p:pRg st="2" end="2"/>
                                            </p:txEl>
                                          </p:spTgt>
                                        </p:tgtEl>
                                        <p:attrNameLst>
                                          <p:attrName>style.visibility</p:attrName>
                                        </p:attrNameLst>
                                      </p:cBhvr>
                                      <p:to>
                                        <p:strVal val="visible"/>
                                      </p:to>
                                    </p:set>
                                    <p:animEffect transition="in" filter="wipe(down)">
                                      <p:cBhvr>
                                        <p:cTn id="12" dur="500"/>
                                        <p:tgtEl>
                                          <p:spTgt spid="3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4">
                                            <p:txEl>
                                              <p:pRg st="3" end="3"/>
                                            </p:txEl>
                                          </p:spTgt>
                                        </p:tgtEl>
                                        <p:attrNameLst>
                                          <p:attrName>style.visibility</p:attrName>
                                        </p:attrNameLst>
                                      </p:cBhvr>
                                      <p:to>
                                        <p:strVal val="visible"/>
                                      </p:to>
                                    </p:set>
                                    <p:animEffect transition="in" filter="wipe(down)">
                                      <p:cBhvr>
                                        <p:cTn id="17" dur="500"/>
                                        <p:tgtEl>
                                          <p:spTgt spid="3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4">
                                            <p:txEl>
                                              <p:pRg st="5" end="5"/>
                                            </p:txEl>
                                          </p:spTgt>
                                        </p:tgtEl>
                                        <p:attrNameLst>
                                          <p:attrName>style.visibility</p:attrName>
                                        </p:attrNameLst>
                                      </p:cBhvr>
                                      <p:to>
                                        <p:strVal val="visible"/>
                                      </p:to>
                                    </p:set>
                                    <p:animEffect transition="in" filter="wipe(down)">
                                      <p:cBhvr>
                                        <p:cTn id="22" dur="500"/>
                                        <p:tgtEl>
                                          <p:spTgt spid="3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4">
                                            <p:txEl>
                                              <p:pRg st="8" end="8"/>
                                            </p:txEl>
                                          </p:spTgt>
                                        </p:tgtEl>
                                        <p:attrNameLst>
                                          <p:attrName>style.visibility</p:attrName>
                                        </p:attrNameLst>
                                      </p:cBhvr>
                                      <p:to>
                                        <p:strVal val="visible"/>
                                      </p:to>
                                    </p:set>
                                    <p:animEffect transition="in" filter="wipe(down)">
                                      <p:cBhvr>
                                        <p:cTn id="27" dur="500"/>
                                        <p:tgtEl>
                                          <p:spTgt spid="34">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down)">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down)">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5">
                                            <p:txEl>
                                              <p:pRg st="0" end="0"/>
                                            </p:txEl>
                                          </p:spTgt>
                                        </p:tgtEl>
                                        <p:attrNameLst>
                                          <p:attrName>style.visibility</p:attrName>
                                        </p:attrNameLst>
                                      </p:cBhvr>
                                      <p:to>
                                        <p:strVal val="visible"/>
                                      </p:to>
                                    </p:set>
                                    <p:animEffect transition="in" filter="wipe(down)">
                                      <p:cBhvr>
                                        <p:cTn id="42" dur="500"/>
                                        <p:tgtEl>
                                          <p:spTgt spid="5">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down)">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wipe(down)">
                                      <p:cBhvr>
                                        <p:cTn id="52" dur="500"/>
                                        <p:tgtEl>
                                          <p:spTgt spid="1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down)">
                                      <p:cBhvr>
                                        <p:cTn id="5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uiExpand="1" build="p"/>
      <p:bldP spid="4" grpId="0"/>
      <p:bldP spid="7" grpId="0"/>
      <p:bldP spid="13" grpId="0"/>
      <p:bldP spid="1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57946-FC7F-477C-9867-0ED704A858E1}"/>
              </a:ext>
            </a:extLst>
          </p:cNvPr>
          <p:cNvSpPr>
            <a:spLocks noGrp="1"/>
          </p:cNvSpPr>
          <p:nvPr>
            <p:ph type="title"/>
          </p:nvPr>
        </p:nvSpPr>
        <p:spPr>
          <a:xfrm>
            <a:off x="265245" y="169682"/>
            <a:ext cx="11740617" cy="821500"/>
          </a:xfrm>
        </p:spPr>
        <p:txBody>
          <a:bodyPr>
            <a:normAutofit/>
          </a:bodyPr>
          <a:lstStyle/>
          <a:p>
            <a:r>
              <a:rPr lang="en-IN" dirty="0">
                <a:solidFill>
                  <a:schemeClr val="accent2">
                    <a:lumMod val="75000"/>
                  </a:schemeClr>
                </a:solidFill>
                <a:latin typeface="Abadi Extra Light" panose="020B0204020104020204" pitchFamily="34" charset="0"/>
              </a:rPr>
              <a:t>Computing Distances</a:t>
            </a:r>
          </a:p>
        </p:txBody>
      </p:sp>
      <mc:AlternateContent xmlns:mc="http://schemas.openxmlformats.org/markup-compatibility/2006" xmlns:a14="http://schemas.microsoft.com/office/drawing/2010/main">
        <mc:Choice Requires="a14">
          <p:sp>
            <p:nvSpPr>
              <p:cNvPr id="34" name="Content Placeholder 2">
                <a:extLst>
                  <a:ext uri="{FF2B5EF4-FFF2-40B4-BE49-F238E27FC236}">
                    <a16:creationId xmlns:a16="http://schemas.microsoft.com/office/drawing/2014/main" id="{E1DF4C8E-2FB0-4CA2-9D9A-034196FC982E}"/>
                  </a:ext>
                </a:extLst>
              </p:cNvPr>
              <p:cNvSpPr>
                <a:spLocks noGrp="1"/>
              </p:cNvSpPr>
              <p:nvPr>
                <p:ph idx="1"/>
              </p:nvPr>
            </p:nvSpPr>
            <p:spPr>
              <a:xfrm>
                <a:off x="265245" y="1130786"/>
                <a:ext cx="11740617" cy="5557532"/>
              </a:xfrm>
            </p:spPr>
            <p:txBody>
              <a:bodyPr>
                <a:normAutofit/>
              </a:bodyPr>
              <a:lstStyle/>
              <a:p>
                <a:pPr>
                  <a:buFont typeface="Wingdings" panose="05000000000000000000" pitchFamily="2" charset="2"/>
                  <a:buChar char="§"/>
                </a:pPr>
                <a:r>
                  <a:rPr lang="en-IN" dirty="0">
                    <a:latin typeface="Abadi Extra Light" panose="020B0204020104020204" pitchFamily="34" charset="0"/>
                  </a:rPr>
                  <a:t>Euclidean (L2 norm) distance between two vectors </a:t>
                </a:r>
                <a14:m>
                  <m:oMath xmlns:m="http://schemas.openxmlformats.org/officeDocument/2006/math">
                    <m:acc>
                      <m:accPr>
                        <m:chr m:val="⃗"/>
                        <m:ctrlPr>
                          <a:rPr lang="en-GB" b="1" i="1" dirty="0">
                            <a:latin typeface="Cambria Math" panose="02040503050406030204" pitchFamily="18" charset="0"/>
                          </a:rPr>
                        </m:ctrlPr>
                      </m:accPr>
                      <m:e>
                        <m:r>
                          <a:rPr lang="en-GB" b="1" i="1" dirty="0">
                            <a:latin typeface="Cambria Math" panose="02040503050406030204" pitchFamily="18" charset="0"/>
                          </a:rPr>
                          <m:t>𝒂</m:t>
                        </m:r>
                      </m:e>
                    </m:acc>
                    <m:r>
                      <a:rPr lang="en-GB" i="1" dirty="0">
                        <a:latin typeface="Cambria Math" panose="02040503050406030204" pitchFamily="18" charset="0"/>
                        <a:ea typeface="Cambria Math" panose="02040503050406030204" pitchFamily="18" charset="0"/>
                      </a:rPr>
                      <m:t>∈</m:t>
                    </m:r>
                    <m:sSup>
                      <m:sSupPr>
                        <m:ctrlPr>
                          <a:rPr lang="en-IN" i="1">
                            <a:latin typeface="Cambria Math" panose="02040503050406030204" pitchFamily="18" charset="0"/>
                            <a:ea typeface="Cambria Math" panose="02040503050406030204" pitchFamily="18" charset="0"/>
                          </a:rPr>
                        </m:ctrlPr>
                      </m:sSupPr>
                      <m:e>
                        <m:r>
                          <a:rPr lang="en-IN" i="1">
                            <a:latin typeface="Cambria Math" panose="02040503050406030204" pitchFamily="18" charset="0"/>
                            <a:ea typeface="Cambria Math" panose="02040503050406030204" pitchFamily="18" charset="0"/>
                          </a:rPr>
                          <m:t>ℝ</m:t>
                        </m:r>
                      </m:e>
                      <m:sup>
                        <m:r>
                          <a:rPr lang="en-GB" i="1">
                            <a:latin typeface="Cambria Math" panose="02040503050406030204" pitchFamily="18" charset="0"/>
                            <a:ea typeface="Cambria Math" panose="02040503050406030204" pitchFamily="18" charset="0"/>
                          </a:rPr>
                          <m:t>1×</m:t>
                        </m:r>
                        <m:r>
                          <a:rPr lang="en-GB" i="1">
                            <a:latin typeface="Cambria Math" panose="02040503050406030204" pitchFamily="18" charset="0"/>
                            <a:ea typeface="Cambria Math" panose="02040503050406030204" pitchFamily="18" charset="0"/>
                          </a:rPr>
                          <m:t>𝑛</m:t>
                        </m:r>
                      </m:sup>
                    </m:sSup>
                    <m:r>
                      <a:rPr lang="en-IN" i="1">
                        <a:latin typeface="Cambria Math" panose="02040503050406030204" pitchFamily="18" charset="0"/>
                        <a:ea typeface="Cambria Math" panose="02040503050406030204" pitchFamily="18" charset="0"/>
                      </a:rPr>
                      <m:t> </m:t>
                    </m:r>
                  </m:oMath>
                </a14:m>
                <a:r>
                  <a:rPr lang="en-IN" dirty="0">
                    <a:latin typeface="Abadi Extra Light" panose="020B0204020104020204" pitchFamily="34" charset="0"/>
                  </a:rPr>
                  <a:t>and </a:t>
                </a:r>
                <a14:m>
                  <m:oMath xmlns:m="http://schemas.openxmlformats.org/officeDocument/2006/math">
                    <m:acc>
                      <m:accPr>
                        <m:chr m:val="⃗"/>
                        <m:ctrlPr>
                          <a:rPr lang="en-GB" b="1" i="1" dirty="0">
                            <a:latin typeface="Cambria Math" panose="02040503050406030204" pitchFamily="18" charset="0"/>
                          </a:rPr>
                        </m:ctrlPr>
                      </m:accPr>
                      <m:e>
                        <m:r>
                          <a:rPr lang="en-GB" b="1" i="1" dirty="0">
                            <a:latin typeface="Cambria Math" panose="02040503050406030204" pitchFamily="18" charset="0"/>
                          </a:rPr>
                          <m:t>𝒃</m:t>
                        </m:r>
                      </m:e>
                    </m:acc>
                  </m:oMath>
                </a14:m>
                <a:r>
                  <a:rPr lang="en-GB" dirty="0">
                    <a:latin typeface="Abadi Extra Light" panose="020B0604020202020204" pitchFamily="34" charset="0"/>
                  </a:rPr>
                  <a:t> </a:t>
                </a:r>
                <a14:m>
                  <m:oMath xmlns:m="http://schemas.openxmlformats.org/officeDocument/2006/math">
                    <m:r>
                      <a:rPr lang="en-GB" i="1" dirty="0">
                        <a:latin typeface="Cambria Math" panose="02040503050406030204" pitchFamily="18" charset="0"/>
                        <a:ea typeface="Cambria Math" panose="02040503050406030204" pitchFamily="18" charset="0"/>
                      </a:rPr>
                      <m:t>∈</m:t>
                    </m:r>
                    <m:sSup>
                      <m:sSupPr>
                        <m:ctrlPr>
                          <a:rPr lang="en-IN" i="1">
                            <a:latin typeface="Cambria Math" panose="02040503050406030204" pitchFamily="18" charset="0"/>
                            <a:ea typeface="Cambria Math" panose="02040503050406030204" pitchFamily="18" charset="0"/>
                          </a:rPr>
                        </m:ctrlPr>
                      </m:sSupPr>
                      <m:e>
                        <m:r>
                          <a:rPr lang="en-IN" i="1">
                            <a:latin typeface="Cambria Math" panose="02040503050406030204" pitchFamily="18" charset="0"/>
                            <a:ea typeface="Cambria Math" panose="02040503050406030204" pitchFamily="18" charset="0"/>
                          </a:rPr>
                          <m:t>ℝ</m:t>
                        </m:r>
                      </m:e>
                      <m:sup>
                        <m:r>
                          <a:rPr lang="en-GB" i="1">
                            <a:latin typeface="Cambria Math" panose="02040503050406030204" pitchFamily="18" charset="0"/>
                            <a:ea typeface="Cambria Math" panose="02040503050406030204" pitchFamily="18" charset="0"/>
                          </a:rPr>
                          <m:t>1×</m:t>
                        </m:r>
                        <m:r>
                          <a:rPr lang="en-GB" i="1">
                            <a:latin typeface="Cambria Math" panose="02040503050406030204" pitchFamily="18" charset="0"/>
                            <a:ea typeface="Cambria Math" panose="02040503050406030204" pitchFamily="18" charset="0"/>
                          </a:rPr>
                          <m:t>𝑛</m:t>
                        </m:r>
                      </m:sup>
                    </m:sSup>
                  </m:oMath>
                </a14:m>
                <a:endParaRPr lang="en-IN" dirty="0">
                  <a:latin typeface="Abadi Extra Light" panose="020B0204020104020204" pitchFamily="34" charset="0"/>
                </a:endParaRPr>
              </a:p>
              <a:p>
                <a:pPr>
                  <a:buFont typeface="Wingdings" panose="05000000000000000000" pitchFamily="2" charset="2"/>
                  <a:buChar char="§"/>
                </a:pPr>
                <a:endParaRPr lang="en-IN" dirty="0">
                  <a:latin typeface="Abadi Extra Light" panose="020B0204020104020204" pitchFamily="34" charset="0"/>
                </a:endParaRPr>
              </a:p>
              <a:p>
                <a:pPr marL="0" indent="0">
                  <a:buNone/>
                </a:pPr>
                <a:endParaRPr lang="en-IN" dirty="0">
                  <a:latin typeface="Abadi Extra Light" panose="020B0204020104020204" pitchFamily="34" charset="0"/>
                </a:endParaRPr>
              </a:p>
              <a:p>
                <a:pPr>
                  <a:buFont typeface="Wingdings" panose="05000000000000000000" pitchFamily="2" charset="2"/>
                  <a:buChar char="§"/>
                </a:pPr>
                <a:r>
                  <a:rPr lang="en-IN" dirty="0">
                    <a:latin typeface="Abadi Extra Light" panose="020B0204020104020204" pitchFamily="34" charset="0"/>
                  </a:rPr>
                  <a:t>Weighted Euclidean distance between two vectors </a:t>
                </a:r>
                <a14:m>
                  <m:oMath xmlns:m="http://schemas.openxmlformats.org/officeDocument/2006/math">
                    <m:acc>
                      <m:accPr>
                        <m:chr m:val="⃗"/>
                        <m:ctrlPr>
                          <a:rPr lang="en-GB" b="1" i="1" dirty="0">
                            <a:latin typeface="Cambria Math" panose="02040503050406030204" pitchFamily="18" charset="0"/>
                          </a:rPr>
                        </m:ctrlPr>
                      </m:accPr>
                      <m:e>
                        <m:r>
                          <a:rPr lang="en-GB" b="1" i="1" dirty="0">
                            <a:latin typeface="Cambria Math" panose="02040503050406030204" pitchFamily="18" charset="0"/>
                          </a:rPr>
                          <m:t>𝒂</m:t>
                        </m:r>
                      </m:e>
                    </m:acc>
                    <m:r>
                      <a:rPr lang="en-GB" i="1" dirty="0">
                        <a:latin typeface="Cambria Math" panose="02040503050406030204" pitchFamily="18" charset="0"/>
                        <a:ea typeface="Cambria Math" panose="02040503050406030204" pitchFamily="18" charset="0"/>
                      </a:rPr>
                      <m:t>∈</m:t>
                    </m:r>
                    <m:sSup>
                      <m:sSupPr>
                        <m:ctrlPr>
                          <a:rPr lang="en-IN" i="1">
                            <a:latin typeface="Cambria Math" panose="02040503050406030204" pitchFamily="18" charset="0"/>
                            <a:ea typeface="Cambria Math" panose="02040503050406030204" pitchFamily="18" charset="0"/>
                          </a:rPr>
                        </m:ctrlPr>
                      </m:sSupPr>
                      <m:e>
                        <m:r>
                          <a:rPr lang="en-IN" i="1">
                            <a:latin typeface="Cambria Math" panose="02040503050406030204" pitchFamily="18" charset="0"/>
                            <a:ea typeface="Cambria Math" panose="02040503050406030204" pitchFamily="18" charset="0"/>
                          </a:rPr>
                          <m:t>ℝ</m:t>
                        </m:r>
                      </m:e>
                      <m:sup>
                        <m:r>
                          <a:rPr lang="en-GB" i="1">
                            <a:latin typeface="Cambria Math" panose="02040503050406030204" pitchFamily="18" charset="0"/>
                            <a:ea typeface="Cambria Math" panose="02040503050406030204" pitchFamily="18" charset="0"/>
                          </a:rPr>
                          <m:t>1×</m:t>
                        </m:r>
                        <m:r>
                          <a:rPr lang="en-GB" i="1">
                            <a:latin typeface="Cambria Math" panose="02040503050406030204" pitchFamily="18" charset="0"/>
                            <a:ea typeface="Cambria Math" panose="02040503050406030204" pitchFamily="18" charset="0"/>
                          </a:rPr>
                          <m:t>𝑛</m:t>
                        </m:r>
                      </m:sup>
                    </m:sSup>
                    <m:r>
                      <a:rPr lang="en-IN" i="1">
                        <a:latin typeface="Cambria Math" panose="02040503050406030204" pitchFamily="18" charset="0"/>
                        <a:ea typeface="Cambria Math" panose="02040503050406030204" pitchFamily="18" charset="0"/>
                      </a:rPr>
                      <m:t> </m:t>
                    </m:r>
                  </m:oMath>
                </a14:m>
                <a:r>
                  <a:rPr lang="en-IN" dirty="0">
                    <a:latin typeface="Abadi Extra Light" panose="020B0204020104020204" pitchFamily="34" charset="0"/>
                  </a:rPr>
                  <a:t>and </a:t>
                </a:r>
                <a14:m>
                  <m:oMath xmlns:m="http://schemas.openxmlformats.org/officeDocument/2006/math">
                    <m:acc>
                      <m:accPr>
                        <m:chr m:val="⃗"/>
                        <m:ctrlPr>
                          <a:rPr lang="en-GB" b="1" i="1" dirty="0">
                            <a:latin typeface="Cambria Math" panose="02040503050406030204" pitchFamily="18" charset="0"/>
                          </a:rPr>
                        </m:ctrlPr>
                      </m:accPr>
                      <m:e>
                        <m:r>
                          <a:rPr lang="en-GB" b="1" i="1" dirty="0">
                            <a:latin typeface="Cambria Math" panose="02040503050406030204" pitchFamily="18" charset="0"/>
                          </a:rPr>
                          <m:t>𝒃</m:t>
                        </m:r>
                      </m:e>
                    </m:acc>
                  </m:oMath>
                </a14:m>
                <a:r>
                  <a:rPr lang="en-GB" dirty="0">
                    <a:latin typeface="Abadi Extra Light" panose="020B0604020202020204" pitchFamily="34" charset="0"/>
                  </a:rPr>
                  <a:t> </a:t>
                </a:r>
                <a14:m>
                  <m:oMath xmlns:m="http://schemas.openxmlformats.org/officeDocument/2006/math">
                    <m:r>
                      <a:rPr lang="en-GB" i="1" dirty="0">
                        <a:latin typeface="Cambria Math" panose="02040503050406030204" pitchFamily="18" charset="0"/>
                        <a:ea typeface="Cambria Math" panose="02040503050406030204" pitchFamily="18" charset="0"/>
                      </a:rPr>
                      <m:t>∈</m:t>
                    </m:r>
                    <m:sSup>
                      <m:sSupPr>
                        <m:ctrlPr>
                          <a:rPr lang="en-IN" i="1">
                            <a:latin typeface="Cambria Math" panose="02040503050406030204" pitchFamily="18" charset="0"/>
                            <a:ea typeface="Cambria Math" panose="02040503050406030204" pitchFamily="18" charset="0"/>
                          </a:rPr>
                        </m:ctrlPr>
                      </m:sSupPr>
                      <m:e>
                        <m:r>
                          <a:rPr lang="en-IN" i="1">
                            <a:latin typeface="Cambria Math" panose="02040503050406030204" pitchFamily="18" charset="0"/>
                            <a:ea typeface="Cambria Math" panose="02040503050406030204" pitchFamily="18" charset="0"/>
                          </a:rPr>
                          <m:t>ℝ</m:t>
                        </m:r>
                      </m:e>
                      <m:sup>
                        <m:r>
                          <a:rPr lang="en-GB" i="1">
                            <a:latin typeface="Cambria Math" panose="02040503050406030204" pitchFamily="18" charset="0"/>
                            <a:ea typeface="Cambria Math" panose="02040503050406030204" pitchFamily="18" charset="0"/>
                          </a:rPr>
                          <m:t>1×</m:t>
                        </m:r>
                        <m:r>
                          <a:rPr lang="en-GB" i="1">
                            <a:latin typeface="Cambria Math" panose="02040503050406030204" pitchFamily="18" charset="0"/>
                            <a:ea typeface="Cambria Math" panose="02040503050406030204" pitchFamily="18" charset="0"/>
                          </a:rPr>
                          <m:t>𝑛</m:t>
                        </m:r>
                      </m:sup>
                    </m:sSup>
                  </m:oMath>
                </a14:m>
                <a:endParaRPr lang="en-IN" dirty="0">
                  <a:latin typeface="Abadi Extra Light" panose="020B0204020104020204" pitchFamily="34" charset="0"/>
                </a:endParaRPr>
              </a:p>
              <a:p>
                <a:pPr>
                  <a:buFont typeface="Wingdings" panose="05000000000000000000" pitchFamily="2" charset="2"/>
                  <a:buChar char="§"/>
                </a:pPr>
                <a:endParaRPr lang="en-IN" dirty="0">
                  <a:latin typeface="Abadi Extra Light" panose="020B0204020104020204" pitchFamily="34" charset="0"/>
                </a:endParaRPr>
              </a:p>
              <a:p>
                <a:pPr>
                  <a:buFont typeface="Wingdings" panose="05000000000000000000" pitchFamily="2" charset="2"/>
                  <a:buChar char="§"/>
                </a:pPr>
                <a:endParaRPr lang="en-IN" dirty="0">
                  <a:latin typeface="Abadi Extra Light" panose="020B0204020104020204" pitchFamily="34" charset="0"/>
                </a:endParaRPr>
              </a:p>
              <a:p>
                <a:pPr>
                  <a:buFont typeface="Wingdings" panose="05000000000000000000" pitchFamily="2" charset="2"/>
                  <a:buChar char="§"/>
                </a:pPr>
                <a:endParaRPr lang="en-IN" dirty="0">
                  <a:latin typeface="Abadi Extra Light" panose="020B0204020104020204" pitchFamily="34" charset="0"/>
                </a:endParaRPr>
              </a:p>
              <a:p>
                <a:pPr>
                  <a:spcBef>
                    <a:spcPts val="0"/>
                  </a:spcBef>
                  <a:buFont typeface="Wingdings" panose="05000000000000000000" pitchFamily="2" charset="2"/>
                  <a:buChar char="§"/>
                </a:pPr>
                <a:r>
                  <a:rPr lang="en-IN" dirty="0">
                    <a:latin typeface="Abadi Extra Light" panose="020B0204020104020204" pitchFamily="34" charset="0"/>
                  </a:rPr>
                  <a:t>Absolute (L1 norm) distance between two vectors </a:t>
                </a:r>
                <a14:m>
                  <m:oMath xmlns:m="http://schemas.openxmlformats.org/officeDocument/2006/math">
                    <m:acc>
                      <m:accPr>
                        <m:chr m:val="⃗"/>
                        <m:ctrlPr>
                          <a:rPr lang="en-GB" b="1" i="1" dirty="0">
                            <a:latin typeface="Cambria Math" panose="02040503050406030204" pitchFamily="18" charset="0"/>
                          </a:rPr>
                        </m:ctrlPr>
                      </m:accPr>
                      <m:e>
                        <m:r>
                          <a:rPr lang="en-GB" b="1" i="1" dirty="0">
                            <a:latin typeface="Cambria Math" panose="02040503050406030204" pitchFamily="18" charset="0"/>
                          </a:rPr>
                          <m:t>𝒂</m:t>
                        </m:r>
                      </m:e>
                    </m:acc>
                    <m:r>
                      <a:rPr lang="en-GB" i="1" dirty="0">
                        <a:latin typeface="Cambria Math" panose="02040503050406030204" pitchFamily="18" charset="0"/>
                        <a:ea typeface="Cambria Math" panose="02040503050406030204" pitchFamily="18" charset="0"/>
                      </a:rPr>
                      <m:t>∈</m:t>
                    </m:r>
                    <m:sSup>
                      <m:sSupPr>
                        <m:ctrlPr>
                          <a:rPr lang="en-IN" i="1">
                            <a:latin typeface="Cambria Math" panose="02040503050406030204" pitchFamily="18" charset="0"/>
                            <a:ea typeface="Cambria Math" panose="02040503050406030204" pitchFamily="18" charset="0"/>
                          </a:rPr>
                        </m:ctrlPr>
                      </m:sSupPr>
                      <m:e>
                        <m:r>
                          <a:rPr lang="en-IN" i="1">
                            <a:latin typeface="Cambria Math" panose="02040503050406030204" pitchFamily="18" charset="0"/>
                            <a:ea typeface="Cambria Math" panose="02040503050406030204" pitchFamily="18" charset="0"/>
                          </a:rPr>
                          <m:t>ℝ</m:t>
                        </m:r>
                      </m:e>
                      <m:sup>
                        <m:r>
                          <a:rPr lang="en-GB" i="1">
                            <a:latin typeface="Cambria Math" panose="02040503050406030204" pitchFamily="18" charset="0"/>
                            <a:ea typeface="Cambria Math" panose="02040503050406030204" pitchFamily="18" charset="0"/>
                          </a:rPr>
                          <m:t>1×</m:t>
                        </m:r>
                        <m:r>
                          <a:rPr lang="en-GB" i="1">
                            <a:latin typeface="Cambria Math" panose="02040503050406030204" pitchFamily="18" charset="0"/>
                            <a:ea typeface="Cambria Math" panose="02040503050406030204" pitchFamily="18" charset="0"/>
                          </a:rPr>
                          <m:t>𝑛</m:t>
                        </m:r>
                      </m:sup>
                    </m:sSup>
                    <m:r>
                      <a:rPr lang="en-IN" i="1">
                        <a:latin typeface="Cambria Math" panose="02040503050406030204" pitchFamily="18" charset="0"/>
                        <a:ea typeface="Cambria Math" panose="02040503050406030204" pitchFamily="18" charset="0"/>
                      </a:rPr>
                      <m:t> </m:t>
                    </m:r>
                  </m:oMath>
                </a14:m>
                <a:r>
                  <a:rPr lang="en-IN" dirty="0">
                    <a:latin typeface="Abadi Extra Light" panose="020B0204020104020204" pitchFamily="34" charset="0"/>
                  </a:rPr>
                  <a:t>and </a:t>
                </a:r>
                <a14:m>
                  <m:oMath xmlns:m="http://schemas.openxmlformats.org/officeDocument/2006/math">
                    <m:acc>
                      <m:accPr>
                        <m:chr m:val="⃗"/>
                        <m:ctrlPr>
                          <a:rPr lang="en-GB" b="1" i="1" dirty="0">
                            <a:latin typeface="Cambria Math" panose="02040503050406030204" pitchFamily="18" charset="0"/>
                          </a:rPr>
                        </m:ctrlPr>
                      </m:accPr>
                      <m:e>
                        <m:r>
                          <a:rPr lang="en-GB" b="1" i="1" dirty="0">
                            <a:latin typeface="Cambria Math" panose="02040503050406030204" pitchFamily="18" charset="0"/>
                          </a:rPr>
                          <m:t>𝒃</m:t>
                        </m:r>
                      </m:e>
                    </m:acc>
                  </m:oMath>
                </a14:m>
                <a:r>
                  <a:rPr lang="en-GB" dirty="0">
                    <a:latin typeface="Abadi Extra Light" panose="020B0604020202020204" pitchFamily="34" charset="0"/>
                  </a:rPr>
                  <a:t> </a:t>
                </a:r>
                <a14:m>
                  <m:oMath xmlns:m="http://schemas.openxmlformats.org/officeDocument/2006/math">
                    <m:r>
                      <a:rPr lang="en-GB" i="1" dirty="0">
                        <a:latin typeface="Cambria Math" panose="02040503050406030204" pitchFamily="18" charset="0"/>
                        <a:ea typeface="Cambria Math" panose="02040503050406030204" pitchFamily="18" charset="0"/>
                      </a:rPr>
                      <m:t>∈</m:t>
                    </m:r>
                    <m:sSup>
                      <m:sSupPr>
                        <m:ctrlPr>
                          <a:rPr lang="en-IN" i="1">
                            <a:latin typeface="Cambria Math" panose="02040503050406030204" pitchFamily="18" charset="0"/>
                            <a:ea typeface="Cambria Math" panose="02040503050406030204" pitchFamily="18" charset="0"/>
                          </a:rPr>
                        </m:ctrlPr>
                      </m:sSupPr>
                      <m:e>
                        <m:r>
                          <a:rPr lang="en-IN" i="1">
                            <a:latin typeface="Cambria Math" panose="02040503050406030204" pitchFamily="18" charset="0"/>
                            <a:ea typeface="Cambria Math" panose="02040503050406030204" pitchFamily="18" charset="0"/>
                          </a:rPr>
                          <m:t>ℝ</m:t>
                        </m:r>
                      </m:e>
                      <m:sup>
                        <m:r>
                          <a:rPr lang="en-GB" i="1">
                            <a:latin typeface="Cambria Math" panose="02040503050406030204" pitchFamily="18" charset="0"/>
                            <a:ea typeface="Cambria Math" panose="02040503050406030204" pitchFamily="18" charset="0"/>
                          </a:rPr>
                          <m:t>1×</m:t>
                        </m:r>
                        <m:r>
                          <a:rPr lang="en-GB" i="1">
                            <a:latin typeface="Cambria Math" panose="02040503050406030204" pitchFamily="18" charset="0"/>
                            <a:ea typeface="Cambria Math" panose="02040503050406030204" pitchFamily="18" charset="0"/>
                          </a:rPr>
                          <m:t>𝑛</m:t>
                        </m:r>
                      </m:sup>
                    </m:sSup>
                  </m:oMath>
                </a14:m>
                <a:endParaRPr lang="en-IN" dirty="0">
                  <a:latin typeface="Abadi Extra Light" panose="020B0204020104020204" pitchFamily="34" charset="0"/>
                </a:endParaRPr>
              </a:p>
              <a:p>
                <a:pPr>
                  <a:buFont typeface="Wingdings" panose="05000000000000000000" pitchFamily="2" charset="2"/>
                  <a:buChar char="§"/>
                </a:pPr>
                <a:endParaRPr lang="en-IN" dirty="0">
                  <a:latin typeface="Abadi Extra Light" panose="020B0204020104020204" pitchFamily="34" charset="0"/>
                </a:endParaRPr>
              </a:p>
              <a:p>
                <a:pPr marL="0" indent="0">
                  <a:buNone/>
                </a:pPr>
                <a:endParaRPr lang="en-IN" sz="2000" dirty="0">
                  <a:latin typeface="Abadi Extra Light" panose="020B0204020104020204" pitchFamily="34" charset="0"/>
                </a:endParaRPr>
              </a:p>
            </p:txBody>
          </p:sp>
        </mc:Choice>
        <mc:Fallback xmlns="">
          <p:sp>
            <p:nvSpPr>
              <p:cNvPr id="34" name="Content Placeholder 2">
                <a:extLst>
                  <a:ext uri="{FF2B5EF4-FFF2-40B4-BE49-F238E27FC236}">
                    <a16:creationId xmlns:a16="http://schemas.microsoft.com/office/drawing/2014/main" id="{E1DF4C8E-2FB0-4CA2-9D9A-034196FC982E}"/>
                  </a:ext>
                </a:extLst>
              </p:cNvPr>
              <p:cNvSpPr>
                <a:spLocks noGrp="1" noRot="1" noChangeAspect="1" noMove="1" noResize="1" noEditPoints="1" noAdjustHandles="1" noChangeArrowheads="1" noChangeShapeType="1" noTextEdit="1"/>
              </p:cNvSpPr>
              <p:nvPr>
                <p:ph idx="1"/>
              </p:nvPr>
            </p:nvSpPr>
            <p:spPr>
              <a:xfrm>
                <a:off x="265245" y="1130786"/>
                <a:ext cx="11740617" cy="5557532"/>
              </a:xfrm>
              <a:blipFill>
                <a:blip r:embed="rId3"/>
                <a:stretch>
                  <a:fillRect l="-935" t="-76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D7092D1-C1CB-47D4-9C90-DB6A3CF02232}"/>
                  </a:ext>
                </a:extLst>
              </p:cNvPr>
              <p:cNvSpPr txBox="1"/>
              <p:nvPr/>
            </p:nvSpPr>
            <p:spPr>
              <a:xfrm>
                <a:off x="186138" y="1598484"/>
                <a:ext cx="11819724" cy="109119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𝑑</m:t>
                          </m:r>
                        </m:e>
                        <m:sub>
                          <m:r>
                            <a:rPr lang="en-IN" sz="2400" b="0" i="1" smtClean="0">
                              <a:latin typeface="Cambria Math" panose="02040503050406030204" pitchFamily="18" charset="0"/>
                            </a:rPr>
                            <m:t>2</m:t>
                          </m:r>
                        </m:sub>
                      </m:sSub>
                      <m:d>
                        <m:dPr>
                          <m:ctrlPr>
                            <a:rPr lang="en-IN" sz="2400" b="0" i="1" smtClean="0">
                              <a:latin typeface="Cambria Math" panose="02040503050406030204" pitchFamily="18" charset="0"/>
                            </a:rPr>
                          </m:ctrlPr>
                        </m:dPr>
                        <m:e>
                          <m:acc>
                            <m:accPr>
                              <m:chr m:val="⃗"/>
                              <m:ctrlPr>
                                <a:rPr lang="en-GB" sz="2400" b="1" i="1" dirty="0">
                                  <a:latin typeface="Cambria Math" panose="02040503050406030204" pitchFamily="18" charset="0"/>
                                </a:rPr>
                              </m:ctrlPr>
                            </m:accPr>
                            <m:e>
                              <m:r>
                                <a:rPr lang="en-GB" sz="2400" b="1" i="1" dirty="0">
                                  <a:latin typeface="Cambria Math" panose="02040503050406030204" pitchFamily="18" charset="0"/>
                                </a:rPr>
                                <m:t>𝒂</m:t>
                              </m:r>
                            </m:e>
                          </m:acc>
                          <m:r>
                            <a:rPr lang="en-IN" sz="2400" b="0" i="1" smtClean="0">
                              <a:latin typeface="Cambria Math" panose="02040503050406030204" pitchFamily="18" charset="0"/>
                            </a:rPr>
                            <m:t>,</m:t>
                          </m:r>
                          <m:acc>
                            <m:accPr>
                              <m:chr m:val="⃗"/>
                              <m:ctrlPr>
                                <a:rPr lang="en-GB" sz="2400" b="1" i="1" dirty="0">
                                  <a:latin typeface="Cambria Math" panose="02040503050406030204" pitchFamily="18" charset="0"/>
                                </a:rPr>
                              </m:ctrlPr>
                            </m:accPr>
                            <m:e>
                              <m:r>
                                <a:rPr lang="en-GB" sz="2400" b="1" i="1" dirty="0" smtClean="0">
                                  <a:latin typeface="Cambria Math" panose="02040503050406030204" pitchFamily="18" charset="0"/>
                                </a:rPr>
                                <m:t>𝒃</m:t>
                              </m:r>
                            </m:e>
                          </m:acc>
                        </m:e>
                      </m:d>
                      <m:r>
                        <a:rPr lang="en-IN" sz="2400" b="0" i="1" smtClean="0">
                          <a:latin typeface="Cambria Math" panose="02040503050406030204" pitchFamily="18" charset="0"/>
                        </a:rPr>
                        <m:t>=</m:t>
                      </m:r>
                      <m:sSub>
                        <m:sSubPr>
                          <m:ctrlPr>
                            <a:rPr lang="en-IN" sz="2400" i="1">
                              <a:latin typeface="Cambria Math" panose="02040503050406030204" pitchFamily="18" charset="0"/>
                            </a:rPr>
                          </m:ctrlPr>
                        </m:sSubPr>
                        <m:e>
                          <m:r>
                            <a:rPr lang="en-GB" sz="2400" b="0" i="1" smtClean="0">
                              <a:latin typeface="Cambria Math" panose="02040503050406030204" pitchFamily="18" charset="0"/>
                            </a:rPr>
                            <m:t>||</m:t>
                          </m:r>
                          <m:acc>
                            <m:accPr>
                              <m:chr m:val="⃗"/>
                              <m:ctrlPr>
                                <a:rPr lang="en-GB" sz="2400" b="1" i="1" dirty="0">
                                  <a:latin typeface="Cambria Math" panose="02040503050406030204" pitchFamily="18" charset="0"/>
                                </a:rPr>
                              </m:ctrlPr>
                            </m:accPr>
                            <m:e>
                              <m:r>
                                <a:rPr lang="en-GB" sz="2400" b="1" i="1" dirty="0">
                                  <a:latin typeface="Cambria Math" panose="02040503050406030204" pitchFamily="18" charset="0"/>
                                </a:rPr>
                                <m:t>𝒂</m:t>
                              </m:r>
                            </m:e>
                          </m:acc>
                          <m:r>
                            <a:rPr lang="en-GB" sz="2400" b="1" i="1" dirty="0" smtClean="0">
                              <a:latin typeface="Cambria Math" panose="02040503050406030204" pitchFamily="18" charset="0"/>
                            </a:rPr>
                            <m:t>−</m:t>
                          </m:r>
                          <m:acc>
                            <m:accPr>
                              <m:chr m:val="⃗"/>
                              <m:ctrlPr>
                                <a:rPr lang="en-GB" sz="2400" b="1" i="1" dirty="0">
                                  <a:latin typeface="Cambria Math" panose="02040503050406030204" pitchFamily="18" charset="0"/>
                                </a:rPr>
                              </m:ctrlPr>
                            </m:accPr>
                            <m:e>
                              <m:r>
                                <a:rPr lang="en-GB" sz="2400" b="1" i="1" dirty="0" smtClean="0">
                                  <a:latin typeface="Cambria Math" panose="02040503050406030204" pitchFamily="18" charset="0"/>
                                </a:rPr>
                                <m:t>𝒃</m:t>
                              </m:r>
                            </m:e>
                          </m:acc>
                          <m:r>
                            <a:rPr lang="en-GB" sz="2400" b="0" i="1" smtClean="0">
                              <a:latin typeface="Cambria Math" panose="02040503050406030204" pitchFamily="18" charset="0"/>
                            </a:rPr>
                            <m:t>|</m:t>
                          </m:r>
                          <m:r>
                            <a:rPr lang="en-IN" sz="2400" i="1">
                              <a:latin typeface="Cambria Math" panose="02040503050406030204" pitchFamily="18" charset="0"/>
                            </a:rPr>
                            <m:t>|</m:t>
                          </m:r>
                        </m:e>
                        <m:sub>
                          <m:r>
                            <a:rPr lang="en-IN" sz="2400" b="0" i="1" smtClean="0">
                              <a:latin typeface="Cambria Math" panose="02040503050406030204" pitchFamily="18" charset="0"/>
                            </a:rPr>
                            <m:t>2</m:t>
                          </m:r>
                        </m:sub>
                      </m:sSub>
                      <m:r>
                        <a:rPr lang="en-IN" sz="2400" b="0" i="1" smtClean="0">
                          <a:latin typeface="Cambria Math" panose="02040503050406030204" pitchFamily="18" charset="0"/>
                        </a:rPr>
                        <m:t>=</m:t>
                      </m:r>
                      <m:rad>
                        <m:radPr>
                          <m:degHide m:val="on"/>
                          <m:ctrlPr>
                            <a:rPr lang="en-IN" sz="2400" b="0" i="1" smtClean="0">
                              <a:latin typeface="Cambria Math" panose="02040503050406030204" pitchFamily="18" charset="0"/>
                            </a:rPr>
                          </m:ctrlPr>
                        </m:radPr>
                        <m:deg/>
                        <m:e>
                          <m:nary>
                            <m:naryPr>
                              <m:chr m:val="∑"/>
                              <m:limLoc m:val="subSup"/>
                              <m:ctrlPr>
                                <a:rPr lang="en-IN" sz="2400" i="1">
                                  <a:latin typeface="Cambria Math" panose="02040503050406030204" pitchFamily="18" charset="0"/>
                                </a:rPr>
                              </m:ctrlPr>
                            </m:naryPr>
                            <m:sub>
                              <m:r>
                                <m:rPr>
                                  <m:brk m:alnAt="25"/>
                                </m:rPr>
                                <a:rPr lang="en-GB" sz="2400" b="0" i="1" smtClean="0">
                                  <a:latin typeface="Cambria Math" panose="02040503050406030204" pitchFamily="18" charset="0"/>
                                </a:rPr>
                                <m:t>𝑗</m:t>
                              </m:r>
                              <m:r>
                                <a:rPr lang="en-IN" sz="2400" b="0" i="1" smtClean="0">
                                  <a:latin typeface="Cambria Math" panose="02040503050406030204" pitchFamily="18" charset="0"/>
                                </a:rPr>
                                <m:t>=1</m:t>
                              </m:r>
                            </m:sub>
                            <m:sup>
                              <m:r>
                                <a:rPr lang="en-GB" sz="2400" b="0" i="1" smtClean="0">
                                  <a:latin typeface="Cambria Math" panose="02040503050406030204" pitchFamily="18" charset="0"/>
                                </a:rPr>
                                <m:t>𝑛</m:t>
                              </m:r>
                            </m:sup>
                            <m:e>
                              <m:sSup>
                                <m:sSupPr>
                                  <m:ctrlPr>
                                    <a:rPr lang="en-IN" sz="2400" b="0" i="1" smtClean="0">
                                      <a:latin typeface="Cambria Math" panose="02040503050406030204" pitchFamily="18" charset="0"/>
                                    </a:rPr>
                                  </m:ctrlPr>
                                </m:sSupPr>
                                <m:e>
                                  <m:d>
                                    <m:dPr>
                                      <m:ctrlPr>
                                        <a:rPr lang="en-IN" sz="2400" b="0" i="1" smtClean="0">
                                          <a:latin typeface="Cambria Math" panose="02040503050406030204" pitchFamily="18" charset="0"/>
                                        </a:rPr>
                                      </m:ctrlPr>
                                    </m:dPr>
                                    <m:e>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𝑎</m:t>
                                          </m:r>
                                        </m:e>
                                        <m:sub>
                                          <m:r>
                                            <a:rPr lang="en-GB" sz="2400" b="0" i="1" smtClean="0">
                                              <a:latin typeface="Cambria Math" panose="02040503050406030204" pitchFamily="18" charset="0"/>
                                            </a:rPr>
                                            <m:t>𝑗</m:t>
                                          </m:r>
                                        </m:sub>
                                      </m:sSub>
                                      <m:r>
                                        <a:rPr lang="en-IN" sz="2400" b="0" i="1" smtClean="0">
                                          <a:latin typeface="Cambria Math" panose="02040503050406030204" pitchFamily="18" charset="0"/>
                                        </a:rPr>
                                        <m:t>−</m:t>
                                      </m:r>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𝑏</m:t>
                                          </m:r>
                                        </m:e>
                                        <m:sub>
                                          <m:r>
                                            <a:rPr lang="en-GB" sz="2400" b="0" i="1" smtClean="0">
                                              <a:latin typeface="Cambria Math" panose="02040503050406030204" pitchFamily="18" charset="0"/>
                                            </a:rPr>
                                            <m:t>𝑗</m:t>
                                          </m:r>
                                        </m:sub>
                                      </m:sSub>
                                    </m:e>
                                  </m:d>
                                </m:e>
                                <m:sup>
                                  <m:r>
                                    <a:rPr lang="en-IN" sz="2400" b="0" i="1" smtClean="0">
                                      <a:latin typeface="Cambria Math" panose="02040503050406030204" pitchFamily="18" charset="0"/>
                                    </a:rPr>
                                    <m:t>2</m:t>
                                  </m:r>
                                </m:sup>
                              </m:sSup>
                            </m:e>
                          </m:nary>
                        </m:e>
                      </m:rad>
                      <m:r>
                        <a:rPr lang="en-GB" sz="2400" b="0" i="1" smtClean="0">
                          <a:latin typeface="Cambria Math" panose="02040503050406030204" pitchFamily="18" charset="0"/>
                        </a:rPr>
                        <m:t>=</m:t>
                      </m:r>
                      <m:rad>
                        <m:radPr>
                          <m:degHide m:val="on"/>
                          <m:ctrlPr>
                            <a:rPr lang="en-IN" sz="2400" i="1">
                              <a:latin typeface="Cambria Math" panose="02040503050406030204" pitchFamily="18" charset="0"/>
                            </a:rPr>
                          </m:ctrlPr>
                        </m:radPr>
                        <m:deg/>
                        <m:e>
                          <m:d>
                            <m:dPr>
                              <m:ctrlPr>
                                <a:rPr lang="en-IN" sz="2400" i="1">
                                  <a:latin typeface="Cambria Math" panose="02040503050406030204" pitchFamily="18" charset="0"/>
                                </a:rPr>
                              </m:ctrlPr>
                            </m:dPr>
                            <m:e>
                              <m:acc>
                                <m:accPr>
                                  <m:chr m:val="⃗"/>
                                  <m:ctrlPr>
                                    <a:rPr lang="en-GB" sz="2400" b="1" i="1" dirty="0">
                                      <a:latin typeface="Cambria Math" panose="02040503050406030204" pitchFamily="18" charset="0"/>
                                    </a:rPr>
                                  </m:ctrlPr>
                                </m:accPr>
                                <m:e>
                                  <m:r>
                                    <a:rPr lang="en-GB" sz="2400" b="1" i="1" dirty="0">
                                      <a:latin typeface="Cambria Math" panose="02040503050406030204" pitchFamily="18" charset="0"/>
                                    </a:rPr>
                                    <m:t>𝒂</m:t>
                                  </m:r>
                                </m:e>
                              </m:acc>
                              <m:r>
                                <a:rPr lang="en-IN" sz="2400" i="1">
                                  <a:latin typeface="Cambria Math" panose="02040503050406030204" pitchFamily="18" charset="0"/>
                                </a:rPr>
                                <m:t>−</m:t>
                              </m:r>
                              <m:acc>
                                <m:accPr>
                                  <m:chr m:val="⃗"/>
                                  <m:ctrlPr>
                                    <a:rPr lang="en-GB" sz="2400" b="1" i="1" dirty="0">
                                      <a:latin typeface="Cambria Math" panose="02040503050406030204" pitchFamily="18" charset="0"/>
                                    </a:rPr>
                                  </m:ctrlPr>
                                </m:accPr>
                                <m:e>
                                  <m:r>
                                    <a:rPr lang="en-GB" sz="2400" b="1" i="1" dirty="0">
                                      <a:latin typeface="Cambria Math" panose="02040503050406030204" pitchFamily="18" charset="0"/>
                                    </a:rPr>
                                    <m:t>𝒃</m:t>
                                  </m:r>
                                </m:e>
                              </m:acc>
                            </m:e>
                          </m:d>
                          <m:r>
                            <a:rPr lang="en-GB" sz="2400" b="1" i="1" dirty="0" smtClean="0">
                              <a:latin typeface="Cambria Math" panose="02040503050406030204" pitchFamily="18" charset="0"/>
                            </a:rPr>
                            <m:t>.</m:t>
                          </m:r>
                          <m:d>
                            <m:dPr>
                              <m:ctrlPr>
                                <a:rPr lang="en-IN" sz="2400" i="1">
                                  <a:latin typeface="Cambria Math" panose="02040503050406030204" pitchFamily="18" charset="0"/>
                                </a:rPr>
                              </m:ctrlPr>
                            </m:dPr>
                            <m:e>
                              <m:acc>
                                <m:accPr>
                                  <m:chr m:val="⃗"/>
                                  <m:ctrlPr>
                                    <a:rPr lang="en-GB" sz="2400" b="1" i="1" dirty="0">
                                      <a:latin typeface="Cambria Math" panose="02040503050406030204" pitchFamily="18" charset="0"/>
                                    </a:rPr>
                                  </m:ctrlPr>
                                </m:accPr>
                                <m:e>
                                  <m:r>
                                    <a:rPr lang="en-GB" sz="2400" b="1" i="1" dirty="0">
                                      <a:latin typeface="Cambria Math" panose="02040503050406030204" pitchFamily="18" charset="0"/>
                                    </a:rPr>
                                    <m:t>𝒂</m:t>
                                  </m:r>
                                </m:e>
                              </m:acc>
                              <m:r>
                                <a:rPr lang="en-IN" sz="2400" i="1">
                                  <a:latin typeface="Cambria Math" panose="02040503050406030204" pitchFamily="18" charset="0"/>
                                </a:rPr>
                                <m:t>−</m:t>
                              </m:r>
                              <m:acc>
                                <m:accPr>
                                  <m:chr m:val="⃗"/>
                                  <m:ctrlPr>
                                    <a:rPr lang="en-GB" sz="2400" b="1" i="1" dirty="0">
                                      <a:latin typeface="Cambria Math" panose="02040503050406030204" pitchFamily="18" charset="0"/>
                                    </a:rPr>
                                  </m:ctrlPr>
                                </m:accPr>
                                <m:e>
                                  <m:r>
                                    <a:rPr lang="en-GB" sz="2400" b="1" i="1" dirty="0">
                                      <a:latin typeface="Cambria Math" panose="02040503050406030204" pitchFamily="18" charset="0"/>
                                    </a:rPr>
                                    <m:t>𝒃</m:t>
                                  </m:r>
                                </m:e>
                              </m:acc>
                            </m:e>
                          </m:d>
                        </m:e>
                      </m:rad>
                      <m:r>
                        <a:rPr lang="en-IN" sz="2400" i="1">
                          <a:latin typeface="Cambria Math" panose="02040503050406030204" pitchFamily="18" charset="0"/>
                        </a:rPr>
                        <m:t>=</m:t>
                      </m:r>
                      <m:rad>
                        <m:radPr>
                          <m:degHide m:val="on"/>
                          <m:ctrlPr>
                            <a:rPr lang="en-IN" sz="2400" i="1">
                              <a:latin typeface="Cambria Math" panose="02040503050406030204" pitchFamily="18" charset="0"/>
                            </a:rPr>
                          </m:ctrlPr>
                        </m:radPr>
                        <m:deg/>
                        <m:e>
                          <m:sSup>
                            <m:sSupPr>
                              <m:ctrlPr>
                                <a:rPr lang="en-IN" sz="2400" i="1">
                                  <a:latin typeface="Cambria Math" panose="02040503050406030204" pitchFamily="18" charset="0"/>
                                </a:rPr>
                              </m:ctrlPr>
                            </m:sSupPr>
                            <m:e>
                              <m:d>
                                <m:dPr>
                                  <m:ctrlPr>
                                    <a:rPr lang="en-IN" sz="2400" i="1">
                                      <a:latin typeface="Cambria Math" panose="02040503050406030204" pitchFamily="18" charset="0"/>
                                    </a:rPr>
                                  </m:ctrlPr>
                                </m:dPr>
                                <m:e>
                                  <m:acc>
                                    <m:accPr>
                                      <m:chr m:val="⃗"/>
                                      <m:ctrlPr>
                                        <a:rPr lang="en-GB" sz="2400" b="1" i="1" dirty="0">
                                          <a:latin typeface="Cambria Math" panose="02040503050406030204" pitchFamily="18" charset="0"/>
                                        </a:rPr>
                                      </m:ctrlPr>
                                    </m:accPr>
                                    <m:e>
                                      <m:r>
                                        <a:rPr lang="en-GB" sz="2400" b="1" i="1" dirty="0">
                                          <a:latin typeface="Cambria Math" panose="02040503050406030204" pitchFamily="18" charset="0"/>
                                        </a:rPr>
                                        <m:t>𝒂</m:t>
                                      </m:r>
                                    </m:e>
                                  </m:acc>
                                  <m:r>
                                    <a:rPr lang="en-IN" sz="2400" i="1">
                                      <a:latin typeface="Cambria Math" panose="02040503050406030204" pitchFamily="18" charset="0"/>
                                    </a:rPr>
                                    <m:t>−</m:t>
                                  </m:r>
                                  <m:acc>
                                    <m:accPr>
                                      <m:chr m:val="⃗"/>
                                      <m:ctrlPr>
                                        <a:rPr lang="en-GB" sz="2400" b="1" i="1" dirty="0">
                                          <a:latin typeface="Cambria Math" panose="02040503050406030204" pitchFamily="18" charset="0"/>
                                        </a:rPr>
                                      </m:ctrlPr>
                                    </m:accPr>
                                    <m:e>
                                      <m:r>
                                        <a:rPr lang="en-GB" sz="2400" b="1" i="1" dirty="0">
                                          <a:latin typeface="Cambria Math" panose="02040503050406030204" pitchFamily="18" charset="0"/>
                                        </a:rPr>
                                        <m:t>𝒃</m:t>
                                      </m:r>
                                    </m:e>
                                  </m:acc>
                                </m:e>
                              </m:d>
                              <m:d>
                                <m:dPr>
                                  <m:ctrlPr>
                                    <a:rPr lang="en-IN" sz="2400" i="1">
                                      <a:latin typeface="Cambria Math" panose="02040503050406030204" pitchFamily="18" charset="0"/>
                                    </a:rPr>
                                  </m:ctrlPr>
                                </m:dPr>
                                <m:e>
                                  <m:acc>
                                    <m:accPr>
                                      <m:chr m:val="⃗"/>
                                      <m:ctrlPr>
                                        <a:rPr lang="en-GB" sz="2400" b="1" i="1" dirty="0">
                                          <a:latin typeface="Cambria Math" panose="02040503050406030204" pitchFamily="18" charset="0"/>
                                        </a:rPr>
                                      </m:ctrlPr>
                                    </m:accPr>
                                    <m:e>
                                      <m:r>
                                        <a:rPr lang="en-GB" sz="2400" b="1" i="1" dirty="0">
                                          <a:latin typeface="Cambria Math" panose="02040503050406030204" pitchFamily="18" charset="0"/>
                                        </a:rPr>
                                        <m:t>𝒂</m:t>
                                      </m:r>
                                    </m:e>
                                  </m:acc>
                                  <m:r>
                                    <a:rPr lang="en-IN" sz="2400" i="1">
                                      <a:latin typeface="Cambria Math" panose="02040503050406030204" pitchFamily="18" charset="0"/>
                                    </a:rPr>
                                    <m:t>−</m:t>
                                  </m:r>
                                  <m:acc>
                                    <m:accPr>
                                      <m:chr m:val="⃗"/>
                                      <m:ctrlPr>
                                        <a:rPr lang="en-GB" sz="2400" b="1" i="1" dirty="0">
                                          <a:latin typeface="Cambria Math" panose="02040503050406030204" pitchFamily="18" charset="0"/>
                                        </a:rPr>
                                      </m:ctrlPr>
                                    </m:accPr>
                                    <m:e>
                                      <m:r>
                                        <a:rPr lang="en-GB" sz="2400" b="1" i="1" dirty="0">
                                          <a:latin typeface="Cambria Math" panose="02040503050406030204" pitchFamily="18" charset="0"/>
                                        </a:rPr>
                                        <m:t>𝒃</m:t>
                                      </m:r>
                                    </m:e>
                                  </m:acc>
                                </m:e>
                              </m:d>
                            </m:e>
                            <m:sup>
                              <m:r>
                                <a:rPr lang="en-IN" sz="2400" i="1">
                                  <a:latin typeface="Cambria Math" panose="02040503050406030204" pitchFamily="18" charset="0"/>
                                </a:rPr>
                                <m:t>⊤</m:t>
                              </m:r>
                            </m:sup>
                          </m:sSup>
                        </m:e>
                      </m:rad>
                    </m:oMath>
                  </m:oMathPara>
                </a14:m>
                <a:endParaRPr lang="en-IN" sz="2400" dirty="0"/>
              </a:p>
            </p:txBody>
          </p:sp>
        </mc:Choice>
        <mc:Fallback xmlns="">
          <p:sp>
            <p:nvSpPr>
              <p:cNvPr id="3" name="TextBox 2">
                <a:extLst>
                  <a:ext uri="{FF2B5EF4-FFF2-40B4-BE49-F238E27FC236}">
                    <a16:creationId xmlns:a16="http://schemas.microsoft.com/office/drawing/2014/main" id="{8D7092D1-C1CB-47D4-9C90-DB6A3CF02232}"/>
                  </a:ext>
                </a:extLst>
              </p:cNvPr>
              <p:cNvSpPr txBox="1">
                <a:spLocks noRot="1" noChangeAspect="1" noMove="1" noResize="1" noEditPoints="1" noAdjustHandles="1" noChangeArrowheads="1" noChangeShapeType="1" noTextEdit="1"/>
              </p:cNvSpPr>
              <p:nvPr/>
            </p:nvSpPr>
            <p:spPr>
              <a:xfrm>
                <a:off x="186138" y="1598484"/>
                <a:ext cx="11819724" cy="1091196"/>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4792C12-4821-42C7-9804-ABE60DA6C6B8}"/>
                  </a:ext>
                </a:extLst>
              </p:cNvPr>
              <p:cNvSpPr txBox="1"/>
              <p:nvPr/>
            </p:nvSpPr>
            <p:spPr>
              <a:xfrm>
                <a:off x="2132635" y="3583915"/>
                <a:ext cx="7638504" cy="109119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𝑑</m:t>
                          </m:r>
                        </m:e>
                        <m:sub>
                          <m:acc>
                            <m:accPr>
                              <m:chr m:val="⃗"/>
                              <m:ctrlPr>
                                <a:rPr lang="en-GB" sz="2400" b="1" i="1" dirty="0">
                                  <a:latin typeface="Cambria Math" panose="02040503050406030204" pitchFamily="18" charset="0"/>
                                </a:rPr>
                              </m:ctrlPr>
                            </m:accPr>
                            <m:e>
                              <m:r>
                                <a:rPr lang="en-GB" sz="2400" b="1" i="1" dirty="0" smtClean="0">
                                  <a:latin typeface="Cambria Math" panose="02040503050406030204" pitchFamily="18" charset="0"/>
                                </a:rPr>
                                <m:t>𝒘</m:t>
                              </m:r>
                            </m:e>
                          </m:acc>
                        </m:sub>
                      </m:sSub>
                      <m:d>
                        <m:dPr>
                          <m:ctrlPr>
                            <a:rPr lang="en-IN" sz="2400" b="0" i="1" smtClean="0">
                              <a:latin typeface="Cambria Math" panose="02040503050406030204" pitchFamily="18" charset="0"/>
                            </a:rPr>
                          </m:ctrlPr>
                        </m:dPr>
                        <m:e>
                          <m:acc>
                            <m:accPr>
                              <m:chr m:val="⃗"/>
                              <m:ctrlPr>
                                <a:rPr lang="en-GB" sz="2400" b="1" i="1" dirty="0">
                                  <a:latin typeface="Cambria Math" panose="02040503050406030204" pitchFamily="18" charset="0"/>
                                </a:rPr>
                              </m:ctrlPr>
                            </m:accPr>
                            <m:e>
                              <m:r>
                                <a:rPr lang="en-GB" sz="2400" b="1" i="1" dirty="0">
                                  <a:latin typeface="Cambria Math" panose="02040503050406030204" pitchFamily="18" charset="0"/>
                                </a:rPr>
                                <m:t>𝒂</m:t>
                              </m:r>
                            </m:e>
                          </m:acc>
                          <m:r>
                            <a:rPr lang="en-IN" sz="2400" b="0" i="1" smtClean="0">
                              <a:latin typeface="Cambria Math" panose="02040503050406030204" pitchFamily="18" charset="0"/>
                            </a:rPr>
                            <m:t>,</m:t>
                          </m:r>
                          <m:acc>
                            <m:accPr>
                              <m:chr m:val="⃗"/>
                              <m:ctrlPr>
                                <a:rPr lang="en-GB" sz="2400" b="1" i="1" dirty="0">
                                  <a:latin typeface="Cambria Math" panose="02040503050406030204" pitchFamily="18" charset="0"/>
                                </a:rPr>
                              </m:ctrlPr>
                            </m:accPr>
                            <m:e>
                              <m:r>
                                <a:rPr lang="en-GB" sz="2400" b="1" i="1" dirty="0" smtClean="0">
                                  <a:latin typeface="Cambria Math" panose="02040503050406030204" pitchFamily="18" charset="0"/>
                                </a:rPr>
                                <m:t>𝒃</m:t>
                              </m:r>
                            </m:e>
                          </m:acc>
                        </m:e>
                      </m:d>
                      <m:r>
                        <a:rPr lang="en-IN" sz="2400" b="0" i="1" smtClean="0">
                          <a:latin typeface="Cambria Math" panose="02040503050406030204" pitchFamily="18" charset="0"/>
                        </a:rPr>
                        <m:t>=</m:t>
                      </m:r>
                      <m:rad>
                        <m:radPr>
                          <m:degHide m:val="on"/>
                          <m:ctrlPr>
                            <a:rPr lang="en-IN" sz="2400" b="0" i="1" smtClean="0">
                              <a:latin typeface="Cambria Math" panose="02040503050406030204" pitchFamily="18" charset="0"/>
                            </a:rPr>
                          </m:ctrlPr>
                        </m:radPr>
                        <m:deg/>
                        <m:e>
                          <m:nary>
                            <m:naryPr>
                              <m:chr m:val="∑"/>
                              <m:limLoc m:val="subSup"/>
                              <m:ctrlPr>
                                <a:rPr lang="en-IN" sz="2400" i="1">
                                  <a:latin typeface="Cambria Math" panose="02040503050406030204" pitchFamily="18" charset="0"/>
                                </a:rPr>
                              </m:ctrlPr>
                            </m:naryPr>
                            <m:sub>
                              <m:r>
                                <m:rPr>
                                  <m:brk m:alnAt="25"/>
                                </m:rPr>
                                <a:rPr lang="en-GB" sz="2400" b="0" i="1" smtClean="0">
                                  <a:latin typeface="Cambria Math" panose="02040503050406030204" pitchFamily="18" charset="0"/>
                                </a:rPr>
                                <m:t>𝑗</m:t>
                              </m:r>
                              <m:r>
                                <a:rPr lang="en-IN" sz="2400" b="0" i="1" smtClean="0">
                                  <a:latin typeface="Cambria Math" panose="02040503050406030204" pitchFamily="18" charset="0"/>
                                </a:rPr>
                                <m:t>=1</m:t>
                              </m:r>
                            </m:sub>
                            <m:sup>
                              <m:r>
                                <a:rPr lang="en-GB" sz="2400" b="0" i="1" smtClean="0">
                                  <a:latin typeface="Cambria Math" panose="02040503050406030204" pitchFamily="18" charset="0"/>
                                </a:rPr>
                                <m:t>𝑛</m:t>
                              </m:r>
                            </m:sup>
                            <m:e>
                              <m:sSup>
                                <m:sSupPr>
                                  <m:ctrlPr>
                                    <a:rPr lang="en-IN" sz="2400" b="0" i="1" smtClean="0">
                                      <a:latin typeface="Cambria Math" panose="02040503050406030204" pitchFamily="18" charset="0"/>
                                    </a:rPr>
                                  </m:ctrlPr>
                                </m:sSupPr>
                                <m:e>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𝑤</m:t>
                                      </m:r>
                                    </m:e>
                                    <m:sub>
                                      <m:r>
                                        <a:rPr lang="en-GB" sz="2400" b="0" i="1" smtClean="0">
                                          <a:latin typeface="Cambria Math" panose="02040503050406030204" pitchFamily="18" charset="0"/>
                                        </a:rPr>
                                        <m:t>𝑗</m:t>
                                      </m:r>
                                    </m:sub>
                                  </m:sSub>
                                  <m:d>
                                    <m:dPr>
                                      <m:ctrlPr>
                                        <a:rPr lang="en-IN" sz="2400" b="0" i="1" smtClean="0">
                                          <a:latin typeface="Cambria Math" panose="02040503050406030204" pitchFamily="18" charset="0"/>
                                        </a:rPr>
                                      </m:ctrlPr>
                                    </m:dPr>
                                    <m:e>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𝑎</m:t>
                                          </m:r>
                                        </m:e>
                                        <m:sub>
                                          <m:r>
                                            <a:rPr lang="en-GB" sz="2400" b="0" i="1" smtClean="0">
                                              <a:latin typeface="Cambria Math" panose="02040503050406030204" pitchFamily="18" charset="0"/>
                                            </a:rPr>
                                            <m:t>𝑗</m:t>
                                          </m:r>
                                        </m:sub>
                                      </m:sSub>
                                      <m:r>
                                        <a:rPr lang="en-IN" sz="2400" b="0" i="1" smtClean="0">
                                          <a:latin typeface="Cambria Math" panose="02040503050406030204" pitchFamily="18" charset="0"/>
                                        </a:rPr>
                                        <m:t>−</m:t>
                                      </m:r>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𝑏</m:t>
                                          </m:r>
                                        </m:e>
                                        <m:sub>
                                          <m:r>
                                            <a:rPr lang="en-GB" sz="2400" b="0" i="1" smtClean="0">
                                              <a:latin typeface="Cambria Math" panose="02040503050406030204" pitchFamily="18" charset="0"/>
                                            </a:rPr>
                                            <m:t>𝑗</m:t>
                                          </m:r>
                                        </m:sub>
                                      </m:sSub>
                                    </m:e>
                                  </m:d>
                                </m:e>
                                <m:sup>
                                  <m:r>
                                    <a:rPr lang="en-IN" sz="2400" b="0" i="1" smtClean="0">
                                      <a:latin typeface="Cambria Math" panose="02040503050406030204" pitchFamily="18" charset="0"/>
                                    </a:rPr>
                                    <m:t>2</m:t>
                                  </m:r>
                                </m:sup>
                              </m:sSup>
                            </m:e>
                          </m:nary>
                        </m:e>
                      </m:rad>
                    </m:oMath>
                  </m:oMathPara>
                </a14:m>
                <a:endParaRPr lang="en-IN" sz="2400" dirty="0"/>
              </a:p>
            </p:txBody>
          </p:sp>
        </mc:Choice>
        <mc:Fallback xmlns="">
          <p:sp>
            <p:nvSpPr>
              <p:cNvPr id="21" name="TextBox 20">
                <a:extLst>
                  <a:ext uri="{FF2B5EF4-FFF2-40B4-BE49-F238E27FC236}">
                    <a16:creationId xmlns:a16="http://schemas.microsoft.com/office/drawing/2014/main" id="{74792C12-4821-42C7-9804-ABE60DA6C6B8}"/>
                  </a:ext>
                </a:extLst>
              </p:cNvPr>
              <p:cNvSpPr txBox="1">
                <a:spLocks noRot="1" noChangeAspect="1" noMove="1" noResize="1" noEditPoints="1" noAdjustHandles="1" noChangeArrowheads="1" noChangeShapeType="1" noTextEdit="1"/>
              </p:cNvSpPr>
              <p:nvPr/>
            </p:nvSpPr>
            <p:spPr>
              <a:xfrm>
                <a:off x="2132635" y="3583915"/>
                <a:ext cx="7638504" cy="1091196"/>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5775DCFE-AFB4-49E0-9FF8-1BBF123A5FEC}"/>
                  </a:ext>
                </a:extLst>
              </p:cNvPr>
              <p:cNvSpPr txBox="1"/>
              <p:nvPr/>
            </p:nvSpPr>
            <p:spPr>
              <a:xfrm>
                <a:off x="4309556" y="5372996"/>
                <a:ext cx="5469191" cy="7674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𝑑</m:t>
                          </m:r>
                        </m:e>
                        <m:sub>
                          <m:r>
                            <a:rPr lang="en-IN" sz="2400" b="0" i="1" smtClean="0">
                              <a:latin typeface="Cambria Math" panose="02040503050406030204" pitchFamily="18" charset="0"/>
                            </a:rPr>
                            <m:t>1</m:t>
                          </m:r>
                        </m:sub>
                      </m:sSub>
                      <m:d>
                        <m:dPr>
                          <m:ctrlPr>
                            <a:rPr lang="en-IN" sz="2400" b="0" i="1" smtClean="0">
                              <a:latin typeface="Cambria Math" panose="02040503050406030204" pitchFamily="18" charset="0"/>
                            </a:rPr>
                          </m:ctrlPr>
                        </m:dPr>
                        <m:e>
                          <m:acc>
                            <m:accPr>
                              <m:chr m:val="⃗"/>
                              <m:ctrlPr>
                                <a:rPr lang="en-GB" sz="2400" b="1" i="1" dirty="0">
                                  <a:latin typeface="Cambria Math" panose="02040503050406030204" pitchFamily="18" charset="0"/>
                                </a:rPr>
                              </m:ctrlPr>
                            </m:accPr>
                            <m:e>
                              <m:r>
                                <a:rPr lang="en-GB" sz="2400" b="1" i="1" dirty="0">
                                  <a:latin typeface="Cambria Math" panose="02040503050406030204" pitchFamily="18" charset="0"/>
                                </a:rPr>
                                <m:t>𝒂</m:t>
                              </m:r>
                            </m:e>
                          </m:acc>
                          <m:r>
                            <a:rPr lang="en-IN" sz="2400" i="1">
                              <a:latin typeface="Cambria Math" panose="02040503050406030204" pitchFamily="18" charset="0"/>
                            </a:rPr>
                            <m:t>,</m:t>
                          </m:r>
                          <m:acc>
                            <m:accPr>
                              <m:chr m:val="⃗"/>
                              <m:ctrlPr>
                                <a:rPr lang="en-GB" sz="2400" b="1" i="1" dirty="0">
                                  <a:latin typeface="Cambria Math" panose="02040503050406030204" pitchFamily="18" charset="0"/>
                                </a:rPr>
                              </m:ctrlPr>
                            </m:accPr>
                            <m:e>
                              <m:r>
                                <a:rPr lang="en-GB" sz="2400" b="1" i="1" dirty="0">
                                  <a:latin typeface="Cambria Math" panose="02040503050406030204" pitchFamily="18" charset="0"/>
                                </a:rPr>
                                <m:t>𝒃</m:t>
                              </m:r>
                            </m:e>
                          </m:acc>
                        </m:e>
                      </m:d>
                      <m:r>
                        <a:rPr lang="en-IN" sz="2400" b="0" i="1" smtClean="0">
                          <a:latin typeface="Cambria Math" panose="02040503050406030204" pitchFamily="18" charset="0"/>
                        </a:rPr>
                        <m:t>=</m:t>
                      </m:r>
                      <m:sSub>
                        <m:sSubPr>
                          <m:ctrlPr>
                            <a:rPr lang="en-IN" sz="2400" i="1">
                              <a:latin typeface="Cambria Math" panose="02040503050406030204" pitchFamily="18" charset="0"/>
                            </a:rPr>
                          </m:ctrlPr>
                        </m:sSubPr>
                        <m:e>
                          <m:r>
                            <a:rPr lang="en-GB" sz="2400" i="1">
                              <a:latin typeface="Cambria Math" panose="02040503050406030204" pitchFamily="18" charset="0"/>
                            </a:rPr>
                            <m:t>||</m:t>
                          </m:r>
                          <m:acc>
                            <m:accPr>
                              <m:chr m:val="⃗"/>
                              <m:ctrlPr>
                                <a:rPr lang="en-GB" sz="2400" b="1" i="1" dirty="0">
                                  <a:latin typeface="Cambria Math" panose="02040503050406030204" pitchFamily="18" charset="0"/>
                                </a:rPr>
                              </m:ctrlPr>
                            </m:accPr>
                            <m:e>
                              <m:r>
                                <a:rPr lang="en-GB" sz="2400" b="1" i="1" dirty="0">
                                  <a:latin typeface="Cambria Math" panose="02040503050406030204" pitchFamily="18" charset="0"/>
                                </a:rPr>
                                <m:t>𝒂</m:t>
                              </m:r>
                            </m:e>
                          </m:acc>
                          <m:r>
                            <a:rPr lang="en-GB" sz="2400" b="1" i="1" dirty="0">
                              <a:latin typeface="Cambria Math" panose="02040503050406030204" pitchFamily="18" charset="0"/>
                            </a:rPr>
                            <m:t>−</m:t>
                          </m:r>
                          <m:acc>
                            <m:accPr>
                              <m:chr m:val="⃗"/>
                              <m:ctrlPr>
                                <a:rPr lang="en-GB" sz="2400" b="1" i="1" dirty="0">
                                  <a:latin typeface="Cambria Math" panose="02040503050406030204" pitchFamily="18" charset="0"/>
                                </a:rPr>
                              </m:ctrlPr>
                            </m:accPr>
                            <m:e>
                              <m:r>
                                <a:rPr lang="en-GB" sz="2400" b="1" i="1" dirty="0">
                                  <a:latin typeface="Cambria Math" panose="02040503050406030204" pitchFamily="18" charset="0"/>
                                </a:rPr>
                                <m:t>𝒃</m:t>
                              </m:r>
                            </m:e>
                          </m:acc>
                          <m:r>
                            <a:rPr lang="en-GB" sz="2400" i="1">
                              <a:latin typeface="Cambria Math" panose="02040503050406030204" pitchFamily="18" charset="0"/>
                            </a:rPr>
                            <m:t>|</m:t>
                          </m:r>
                          <m:r>
                            <a:rPr lang="en-IN" sz="2400" i="1">
                              <a:latin typeface="Cambria Math" panose="02040503050406030204" pitchFamily="18" charset="0"/>
                            </a:rPr>
                            <m:t>|</m:t>
                          </m:r>
                        </m:e>
                        <m:sub>
                          <m:r>
                            <a:rPr lang="en-GB" sz="2400" b="0" i="1" smtClean="0">
                              <a:latin typeface="Cambria Math" panose="02040503050406030204" pitchFamily="18" charset="0"/>
                            </a:rPr>
                            <m:t>1</m:t>
                          </m:r>
                        </m:sub>
                      </m:sSub>
                      <m:r>
                        <a:rPr lang="en-IN" sz="2400" b="0" i="1" smtClean="0">
                          <a:latin typeface="Cambria Math" panose="02040503050406030204" pitchFamily="18" charset="0"/>
                        </a:rPr>
                        <m:t>=</m:t>
                      </m:r>
                      <m:nary>
                        <m:naryPr>
                          <m:chr m:val="∑"/>
                          <m:limLoc m:val="subSup"/>
                          <m:ctrlPr>
                            <a:rPr lang="en-IN" sz="2400" i="1">
                              <a:latin typeface="Cambria Math" panose="02040503050406030204" pitchFamily="18" charset="0"/>
                            </a:rPr>
                          </m:ctrlPr>
                        </m:naryPr>
                        <m:sub>
                          <m:r>
                            <m:rPr>
                              <m:brk m:alnAt="1"/>
                            </m:rPr>
                            <a:rPr lang="en-GB" sz="2400" b="0" i="1" smtClean="0">
                              <a:latin typeface="Cambria Math" panose="02040503050406030204" pitchFamily="18" charset="0"/>
                            </a:rPr>
                            <m:t>𝑗</m:t>
                          </m:r>
                          <m:r>
                            <a:rPr lang="en-IN" sz="2400" i="1">
                              <a:latin typeface="Cambria Math" panose="02040503050406030204" pitchFamily="18" charset="0"/>
                            </a:rPr>
                            <m:t>=1</m:t>
                          </m:r>
                        </m:sub>
                        <m:sup>
                          <m:r>
                            <a:rPr lang="en-GB" sz="2400" b="0" i="1" smtClean="0">
                              <a:latin typeface="Cambria Math" panose="02040503050406030204" pitchFamily="18" charset="0"/>
                            </a:rPr>
                            <m:t>𝑛</m:t>
                          </m:r>
                        </m:sup>
                        <m:e>
                          <m:r>
                            <a:rPr lang="en-IN" sz="2400" b="0" i="1" smtClean="0">
                              <a:latin typeface="Cambria Math" panose="02040503050406030204" pitchFamily="18" charset="0"/>
                            </a:rPr>
                            <m:t>|</m:t>
                          </m:r>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𝑎</m:t>
                              </m:r>
                            </m:e>
                            <m:sub>
                              <m:r>
                                <a:rPr lang="en-GB" sz="2400" b="0" i="1" smtClean="0">
                                  <a:latin typeface="Cambria Math" panose="02040503050406030204" pitchFamily="18" charset="0"/>
                                </a:rPr>
                                <m:t>𝑗</m:t>
                              </m:r>
                            </m:sub>
                          </m:sSub>
                          <m:r>
                            <a:rPr lang="en-IN" sz="2400" b="0" i="1" smtClean="0">
                              <a:latin typeface="Cambria Math" panose="02040503050406030204" pitchFamily="18" charset="0"/>
                            </a:rPr>
                            <m:t>−</m:t>
                          </m:r>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𝑏</m:t>
                              </m:r>
                            </m:e>
                            <m:sub>
                              <m:r>
                                <a:rPr lang="en-GB" sz="2400" b="0" i="1" smtClean="0">
                                  <a:latin typeface="Cambria Math" panose="02040503050406030204" pitchFamily="18" charset="0"/>
                                </a:rPr>
                                <m:t>𝑗</m:t>
                              </m:r>
                            </m:sub>
                          </m:sSub>
                          <m:r>
                            <a:rPr lang="en-IN" sz="2400" b="0" i="1" smtClean="0">
                              <a:latin typeface="Cambria Math" panose="02040503050406030204" pitchFamily="18" charset="0"/>
                            </a:rPr>
                            <m:t>|</m:t>
                          </m:r>
                        </m:e>
                      </m:nary>
                    </m:oMath>
                  </m:oMathPara>
                </a14:m>
                <a:endParaRPr lang="en-IN" sz="2400" dirty="0"/>
              </a:p>
            </p:txBody>
          </p:sp>
        </mc:Choice>
        <mc:Fallback xmlns="">
          <p:sp>
            <p:nvSpPr>
              <p:cNvPr id="31" name="TextBox 30">
                <a:extLst>
                  <a:ext uri="{FF2B5EF4-FFF2-40B4-BE49-F238E27FC236}">
                    <a16:creationId xmlns:a16="http://schemas.microsoft.com/office/drawing/2014/main" id="{5775DCFE-AFB4-49E0-9FF8-1BBF123A5FEC}"/>
                  </a:ext>
                </a:extLst>
              </p:cNvPr>
              <p:cNvSpPr txBox="1">
                <a:spLocks noRot="1" noChangeAspect="1" noMove="1" noResize="1" noEditPoints="1" noAdjustHandles="1" noChangeArrowheads="1" noChangeShapeType="1" noTextEdit="1"/>
              </p:cNvSpPr>
              <p:nvPr/>
            </p:nvSpPr>
            <p:spPr>
              <a:xfrm>
                <a:off x="4309556" y="5372996"/>
                <a:ext cx="5469191" cy="767454"/>
              </a:xfrm>
              <a:prstGeom prst="rect">
                <a:avLst/>
              </a:prstGeom>
              <a:blipFill>
                <a:blip r:embed="rId6"/>
                <a:stretch>
                  <a:fillRect/>
                </a:stretch>
              </a:blipFill>
            </p:spPr>
            <p:txBody>
              <a:bodyPr/>
              <a:lstStyle/>
              <a:p>
                <a:r>
                  <a:rPr lang="en-IN">
                    <a:noFill/>
                  </a:rPr>
                  <a:t> </a:t>
                </a:r>
              </a:p>
            </p:txBody>
          </p:sp>
        </mc:Fallback>
      </mc:AlternateContent>
      <p:pic>
        <p:nvPicPr>
          <p:cNvPr id="35" name="Picture 34">
            <a:extLst>
              <a:ext uri="{FF2B5EF4-FFF2-40B4-BE49-F238E27FC236}">
                <a16:creationId xmlns:a16="http://schemas.microsoft.com/office/drawing/2014/main" id="{240DDE33-A90F-4CB8-85E1-61CF748C79A0}"/>
              </a:ext>
            </a:extLst>
          </p:cNvPr>
          <p:cNvPicPr>
            <a:picLocks noChangeAspect="1"/>
          </p:cNvPicPr>
          <p:nvPr/>
        </p:nvPicPr>
        <p:blipFill>
          <a:blip r:embed="rId7"/>
          <a:stretch>
            <a:fillRect/>
          </a:stretch>
        </p:blipFill>
        <p:spPr>
          <a:xfrm>
            <a:off x="411080" y="5367525"/>
            <a:ext cx="1010687" cy="965223"/>
          </a:xfrm>
          <a:prstGeom prst="rect">
            <a:avLst/>
          </a:prstGeom>
        </p:spPr>
      </p:pic>
      <p:sp>
        <p:nvSpPr>
          <p:cNvPr id="36" name="Speech Bubble: Rectangle 35">
            <a:extLst>
              <a:ext uri="{FF2B5EF4-FFF2-40B4-BE49-F238E27FC236}">
                <a16:creationId xmlns:a16="http://schemas.microsoft.com/office/drawing/2014/main" id="{A0735C8F-B57A-4148-8564-2D4B2D652915}"/>
              </a:ext>
            </a:extLst>
          </p:cNvPr>
          <p:cNvSpPr/>
          <p:nvPr/>
        </p:nvSpPr>
        <p:spPr>
          <a:xfrm>
            <a:off x="1421766" y="5191390"/>
            <a:ext cx="2887790" cy="755912"/>
          </a:xfrm>
          <a:prstGeom prst="wedgeRectCallout">
            <a:avLst>
              <a:gd name="adj1" fmla="val -60785"/>
              <a:gd name="adj2" fmla="val 38920"/>
            </a:avLst>
          </a:prstGeom>
          <a:solidFill>
            <a:schemeClr val="bg1"/>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latin typeface="Abadi Extra Light" panose="020B0204020104020204" pitchFamily="34" charset="0"/>
              </a:rPr>
              <a:t>L1 norm distance is also known as the </a:t>
            </a:r>
            <a:r>
              <a:rPr lang="en-IN" sz="1200" dirty="0">
                <a:solidFill>
                  <a:srgbClr val="0000FF"/>
                </a:solidFill>
                <a:latin typeface="Abadi Extra Light" panose="020B0204020104020204" pitchFamily="34" charset="0"/>
              </a:rPr>
              <a:t>Manhattan distance </a:t>
            </a:r>
            <a:r>
              <a:rPr lang="en-IN" sz="1200" dirty="0">
                <a:solidFill>
                  <a:schemeClr val="tx1"/>
                </a:solidFill>
                <a:latin typeface="Abadi Extra Light" panose="020B0204020104020204" pitchFamily="34" charset="0"/>
              </a:rPr>
              <a:t>or </a:t>
            </a:r>
            <a:r>
              <a:rPr lang="en-IN" sz="1200" dirty="0">
                <a:solidFill>
                  <a:srgbClr val="0000FF"/>
                </a:solidFill>
                <a:latin typeface="Abadi Extra Light" panose="020B0204020104020204" pitchFamily="34" charset="0"/>
              </a:rPr>
              <a:t>Taxicab norm</a:t>
            </a:r>
          </a:p>
          <a:p>
            <a:r>
              <a:rPr lang="en-IN" sz="1200" dirty="0">
                <a:solidFill>
                  <a:schemeClr val="tx1"/>
                </a:solidFill>
                <a:latin typeface="Abadi Extra Light" panose="020B0204020104020204" pitchFamily="34" charset="0"/>
              </a:rPr>
              <a:t>(it’s a very natural notion of distance between two points in some vector space) </a:t>
            </a:r>
          </a:p>
        </p:txBody>
      </p:sp>
      <p:sp>
        <p:nvSpPr>
          <p:cNvPr id="38" name="Speech Bubble: Rectangle 37">
            <a:extLst>
              <a:ext uri="{FF2B5EF4-FFF2-40B4-BE49-F238E27FC236}">
                <a16:creationId xmlns:a16="http://schemas.microsoft.com/office/drawing/2014/main" id="{2DA2CD33-49A8-44CC-B830-A3D72BE42703}"/>
              </a:ext>
            </a:extLst>
          </p:cNvPr>
          <p:cNvSpPr/>
          <p:nvPr/>
        </p:nvSpPr>
        <p:spPr>
          <a:xfrm>
            <a:off x="1466737" y="6001567"/>
            <a:ext cx="2842819" cy="755912"/>
          </a:xfrm>
          <a:prstGeom prst="wedgeRectCallout">
            <a:avLst>
              <a:gd name="adj1" fmla="val -68437"/>
              <a:gd name="adj2" fmla="val -64290"/>
            </a:avLst>
          </a:prstGeom>
          <a:solidFill>
            <a:schemeClr val="bg1"/>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200" dirty="0">
                <a:solidFill>
                  <a:schemeClr val="tx1"/>
                </a:solidFill>
                <a:latin typeface="Abadi Extra Light" panose="020B0204020104020204" pitchFamily="34" charset="0"/>
              </a:rPr>
              <a:t>Yes. Another, although less commonly used, distance is the</a:t>
            </a:r>
            <a:r>
              <a:rPr lang="en-IN" sz="1200" dirty="0">
                <a:solidFill>
                  <a:srgbClr val="0000FF"/>
                </a:solidFill>
                <a:latin typeface="Abadi Extra Light" panose="020B0204020104020204" pitchFamily="34" charset="0"/>
              </a:rPr>
              <a:t> L-infinity distance</a:t>
            </a:r>
            <a:r>
              <a:rPr lang="en-IN" sz="1200" dirty="0">
                <a:solidFill>
                  <a:schemeClr val="tx1"/>
                </a:solidFill>
                <a:latin typeface="Abadi Extra Light" panose="020B0204020104020204" pitchFamily="34" charset="0"/>
              </a:rPr>
              <a:t> (equals to max of abs-value of element-wise difference between two vectors</a:t>
            </a:r>
          </a:p>
        </p:txBody>
      </p:sp>
      <p:pic>
        <p:nvPicPr>
          <p:cNvPr id="39" name="Picture 38" descr="Clipart Thanksgiving Hand Clip Black And White Stock - Thinking Light Bulb Clip Art - Png Download (950x1015), Png Download">
            <a:extLst>
              <a:ext uri="{FF2B5EF4-FFF2-40B4-BE49-F238E27FC236}">
                <a16:creationId xmlns:a16="http://schemas.microsoft.com/office/drawing/2014/main" id="{D040CB67-5E48-4984-86C1-2F83094CA27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991189" y="5554724"/>
            <a:ext cx="1075043" cy="1263380"/>
          </a:xfrm>
          <a:prstGeom prst="rect">
            <a:avLst/>
          </a:prstGeom>
          <a:noFill/>
          <a:extLst>
            <a:ext uri="{909E8E84-426E-40DD-AFC4-6F175D3DCCD1}">
              <a14:hiddenFill xmlns:a14="http://schemas.microsoft.com/office/drawing/2010/main">
                <a:solidFill>
                  <a:srgbClr val="FFFFFF"/>
                </a:solidFill>
              </a14:hiddenFill>
            </a:ext>
          </a:extLst>
        </p:spPr>
      </p:pic>
      <p:sp>
        <p:nvSpPr>
          <p:cNvPr id="40" name="Speech Bubble: Rectangle 39">
            <a:extLst>
              <a:ext uri="{FF2B5EF4-FFF2-40B4-BE49-F238E27FC236}">
                <a16:creationId xmlns:a16="http://schemas.microsoft.com/office/drawing/2014/main" id="{45F98057-6739-4CAE-97BE-F26066D3FEA8}"/>
              </a:ext>
            </a:extLst>
          </p:cNvPr>
          <p:cNvSpPr/>
          <p:nvPr/>
        </p:nvSpPr>
        <p:spPr>
          <a:xfrm>
            <a:off x="9778747" y="5303835"/>
            <a:ext cx="1620243" cy="636318"/>
          </a:xfrm>
          <a:prstGeom prst="wedgeRectCallout">
            <a:avLst>
              <a:gd name="adj1" fmla="val 40324"/>
              <a:gd name="adj2" fmla="val 95393"/>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0" dirty="0">
                <a:solidFill>
                  <a:schemeClr val="tx1"/>
                </a:solidFill>
                <a:latin typeface="Abadi Extra Light" panose="020B0204020104020204" pitchFamily="34" charset="0"/>
              </a:rPr>
              <a:t>Apart from L2 and L1. there other ways of defining distances?</a:t>
            </a:r>
          </a:p>
        </p:txBody>
      </p:sp>
    </p:spTree>
    <p:custDataLst>
      <p:tags r:id="rId1"/>
    </p:custDataLst>
    <p:extLst>
      <p:ext uri="{BB962C8B-B14F-4D97-AF65-F5344CB8AC3E}">
        <p14:creationId xmlns:p14="http://schemas.microsoft.com/office/powerpoint/2010/main" val="1056453846"/>
      </p:ext>
    </p:extLst>
  </p:cSld>
  <p:clrMapOvr>
    <a:masterClrMapping/>
  </p:clrMapOvr>
  <mc:AlternateContent xmlns:mc="http://schemas.openxmlformats.org/markup-compatibility/2006" xmlns:p14="http://schemas.microsoft.com/office/powerpoint/2010/main">
    <mc:Choice Requires="p14">
      <p:transition spd="slow" p14:dur="2000" advTm="341586"/>
    </mc:Choice>
    <mc:Fallback xmlns="">
      <p:transition spd="slow" advTm="34158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animEffect transition="in" filter="wipe(down)">
                                      <p:cBhvr>
                                        <p:cTn id="7" dur="500"/>
                                        <p:tgtEl>
                                          <p:spTgt spid="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4">
                                            <p:txEl>
                                              <p:pRg st="3" end="3"/>
                                            </p:txEl>
                                          </p:spTgt>
                                        </p:tgtEl>
                                        <p:attrNameLst>
                                          <p:attrName>style.visibility</p:attrName>
                                        </p:attrNameLst>
                                      </p:cBhvr>
                                      <p:to>
                                        <p:strVal val="visible"/>
                                      </p:to>
                                    </p:set>
                                    <p:animEffect transition="in" filter="wipe(down)">
                                      <p:cBhvr>
                                        <p:cTn id="17" dur="500"/>
                                        <p:tgtEl>
                                          <p:spTgt spid="3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down)">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4">
                                            <p:txEl>
                                              <p:pRg st="7" end="7"/>
                                            </p:txEl>
                                          </p:spTgt>
                                        </p:tgtEl>
                                        <p:attrNameLst>
                                          <p:attrName>style.visibility</p:attrName>
                                        </p:attrNameLst>
                                      </p:cBhvr>
                                      <p:to>
                                        <p:strVal val="visible"/>
                                      </p:to>
                                    </p:set>
                                    <p:animEffect transition="in" filter="wipe(down)">
                                      <p:cBhvr>
                                        <p:cTn id="27" dur="500"/>
                                        <p:tgtEl>
                                          <p:spTgt spid="34">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wipe(down)">
                                      <p:cBhvr>
                                        <p:cTn id="32" dur="500"/>
                                        <p:tgtEl>
                                          <p:spTgt spid="3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wipe(down)">
                                      <p:cBhvr>
                                        <p:cTn id="37" dur="500"/>
                                        <p:tgtEl>
                                          <p:spTgt spid="35"/>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wipe(down)">
                                      <p:cBhvr>
                                        <p:cTn id="40" dur="500"/>
                                        <p:tgtEl>
                                          <p:spTgt spid="36"/>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39"/>
                                        </p:tgtEl>
                                        <p:attrNameLst>
                                          <p:attrName>style.visibility</p:attrName>
                                        </p:attrNameLst>
                                      </p:cBhvr>
                                      <p:to>
                                        <p:strVal val="visible"/>
                                      </p:to>
                                    </p:set>
                                    <p:animEffect transition="in" filter="wipe(down)">
                                      <p:cBhvr>
                                        <p:cTn id="45" dur="500"/>
                                        <p:tgtEl>
                                          <p:spTgt spid="39"/>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40"/>
                                        </p:tgtEl>
                                        <p:attrNameLst>
                                          <p:attrName>style.visibility</p:attrName>
                                        </p:attrNameLst>
                                      </p:cBhvr>
                                      <p:to>
                                        <p:strVal val="visible"/>
                                      </p:to>
                                    </p:set>
                                    <p:animEffect transition="in" filter="wipe(down)">
                                      <p:cBhvr>
                                        <p:cTn id="48" dur="500"/>
                                        <p:tgtEl>
                                          <p:spTgt spid="40"/>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38"/>
                                        </p:tgtEl>
                                        <p:attrNameLst>
                                          <p:attrName>style.visibility</p:attrName>
                                        </p:attrNameLst>
                                      </p:cBhvr>
                                      <p:to>
                                        <p:strVal val="visible"/>
                                      </p:to>
                                    </p:set>
                                    <p:animEffect transition="in" filter="wipe(down)">
                                      <p:cBhvr>
                                        <p:cTn id="5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uiExpand="1" build="p"/>
      <p:bldP spid="3" grpId="0"/>
      <p:bldP spid="21" grpId="0"/>
      <p:bldP spid="31" grpId="0"/>
      <p:bldP spid="36" grpId="0" animBg="1"/>
      <p:bldP spid="38" grpId="0" animBg="1"/>
      <p:bldP spid="40"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TIMING" val="|8.5|6.6|17.9|11.2|9.2"/>
</p:tagLst>
</file>

<file path=ppt/tags/tag2.xml><?xml version="1.0" encoding="utf-8"?>
<p:tagLst xmlns:a="http://schemas.openxmlformats.org/drawingml/2006/main" xmlns:r="http://schemas.openxmlformats.org/officeDocument/2006/relationships" xmlns:p="http://schemas.openxmlformats.org/presentationml/2006/main">
  <p:tag name="TIMING" val="|20.6|3|4.8|9.2|36.7|16.1|7.8|15.4|22.1|6.4|27.6"/>
</p:tagLst>
</file>

<file path=ppt/tags/tag3.xml><?xml version="1.0" encoding="utf-8"?>
<p:tagLst xmlns:a="http://schemas.openxmlformats.org/drawingml/2006/main" xmlns:r="http://schemas.openxmlformats.org/officeDocument/2006/relationships" xmlns:p="http://schemas.openxmlformats.org/presentationml/2006/main">
  <p:tag name="TIMING" val="|15.4|7.6|3.5|16.7|12|24.3|11.4|26.9|7.4|5.4|2|4.6|27|13.5"/>
</p:tagLst>
</file>

<file path=ppt/tags/tag4.xml><?xml version="1.0" encoding="utf-8"?>
<p:tagLst xmlns:a="http://schemas.openxmlformats.org/drawingml/2006/main" xmlns:r="http://schemas.openxmlformats.org/officeDocument/2006/relationships" xmlns:p="http://schemas.openxmlformats.org/presentationml/2006/main">
  <p:tag name="TIMING" val="|5|9.9|6.2|9.2|10.7|15.6|16.5|16.8"/>
</p:tagLst>
</file>

<file path=ppt/tags/tag5.xml><?xml version="1.0" encoding="utf-8"?>
<p:tagLst xmlns:a="http://schemas.openxmlformats.org/drawingml/2006/main" xmlns:r="http://schemas.openxmlformats.org/officeDocument/2006/relationships" xmlns:p="http://schemas.openxmlformats.org/presentationml/2006/main">
  <p:tag name="TIMING" val="|19.2|10.6|7.5|27|31.7|25.6"/>
</p:tagLst>
</file>

<file path=ppt/tags/tag6.xml><?xml version="1.0" encoding="utf-8"?>
<p:tagLst xmlns:a="http://schemas.openxmlformats.org/drawingml/2006/main" xmlns:r="http://schemas.openxmlformats.org/officeDocument/2006/relationships" xmlns:p="http://schemas.openxmlformats.org/presentationml/2006/main">
  <p:tag name="OUTPUTDPI" val="1200"/>
  <p:tag name="ORIGINALHEIGHT" val="119.2666"/>
  <p:tag name="ORIGINALWIDTH" val="120.0168"/>
  <p:tag name="LATEXADDIN" val="\documentclass{article}&#10;\usepackage{amsmath}&#10;\pagestyle{empty}&#10;\begin{document}&#10;&#10;$S_t^e$&#10;&#10;&#10;\end{document}"/>
  <p:tag name="IGUANATEXSIZE" val="18"/>
  <p:tag name="IGUANATEXCURSOR" val="88"/>
  <p:tag name="TRANSPARENCY" val="True"/>
  <p:tag name="FILENAME" val=""/>
  <p:tag name="LATEXENGINEID" val="1"/>
  <p:tag name="TEMPFOLDER" val="c:\temp\"/>
  <p:tag name="LATEXFORMHEIGHT" val="312"/>
  <p:tag name="LATEXFORMWIDTH" val="384"/>
  <p:tag name="LATEXFORMWRAP" val="True"/>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1200"/>
  <p:tag name="ORIGINALHEIGHT" val="107.265"/>
  <p:tag name="ORIGINALWIDTH" val="123.0172"/>
  <p:tag name="LATEXADDIN" val="\documentclass{article}&#10;\usepackage{amsmath}&#10;\pagestyle{empty}&#10;\begin{document}&#10;&#10;&#10;$O_t$&#10;&#10;\end{document}"/>
  <p:tag name="IGUANATEXSIZE" val="20"/>
  <p:tag name="IGUANATEXCURSOR" val="86"/>
  <p:tag name="TRANSPARENCY" val="True"/>
  <p:tag name="FILENAME" val=""/>
  <p:tag name="LATEXENGINEID" val="1"/>
  <p:tag name="TEMPFOLDER" val="c:\temp\"/>
  <p:tag name="LATEXFORMHEIGHT" val="312"/>
  <p:tag name="LATEXFORMWIDTH" val="384"/>
  <p:tag name="LATEXFORMWRAP" val="True"/>
  <p:tag name="BITMAPVECTOR" val="0"/>
</p:tagLst>
</file>

<file path=ppt/tags/tag8.xml><?xml version="1.0" encoding="utf-8"?>
<p:tagLst xmlns:a="http://schemas.openxmlformats.org/drawingml/2006/main" xmlns:r="http://schemas.openxmlformats.org/officeDocument/2006/relationships" xmlns:p="http://schemas.openxmlformats.org/presentationml/2006/main">
  <p:tag name="OUTPUTDPI" val="1200"/>
  <p:tag name="ORIGINALHEIGHT" val="108.7652"/>
  <p:tag name="ORIGINALWIDTH" val="123.7672"/>
  <p:tag name="LATEXADDIN" val="\documentclass{article}&#10;\usepackage{amsmath}&#10;\pagestyle{empty}&#10;\begin{document}&#10;&#10;&#10;$A_t$&#10;&#10;\end{document}"/>
  <p:tag name="IGUANATEXSIZE" val="20"/>
  <p:tag name="IGUANATEXCURSOR" val="87"/>
  <p:tag name="TRANSPARENCY" val="True"/>
  <p:tag name="FILENAME" val=""/>
  <p:tag name="LATEXENGINEID" val="1"/>
  <p:tag name="TEMPFOLDER" val="c:\temp\"/>
  <p:tag name="LATEXFORMHEIGHT" val="312"/>
  <p:tag name="LATEXFORMWIDTH" val="384"/>
  <p:tag name="LATEXFORMWRAP" val="True"/>
  <p:tag name="BITMAPVECTOR" val="0"/>
</p:tagLst>
</file>

<file path=ppt/tags/tag9.xml><?xml version="1.0" encoding="utf-8"?>
<p:tagLst xmlns:a="http://schemas.openxmlformats.org/drawingml/2006/main" xmlns:r="http://schemas.openxmlformats.org/officeDocument/2006/relationships" xmlns:p="http://schemas.openxmlformats.org/presentationml/2006/main">
  <p:tag name="OUTPUTDPI" val="1200"/>
  <p:tag name="ORIGINALHEIGHT" val="104.2646"/>
  <p:tag name="ORIGINALWIDTH" val="123.0172"/>
  <p:tag name="LATEXADDIN" val="\documentclass{article}&#10;\usepackage{amsmath}&#10;\pagestyle{empty}&#10;\begin{document}&#10;&#10;&#10;$R_t$&#10;&#10;\end{document}"/>
  <p:tag name="IGUANATEXSIZE" val="20"/>
  <p:tag name="IGUANATEXCURSOR" val="87"/>
  <p:tag name="TRANSPARENCY" val="True"/>
  <p:tag name="FILENAME" val=""/>
  <p:tag name="LATEXENGINEID" val="1"/>
  <p:tag name="TEMPFOLDER" val="c:\temp\"/>
  <p:tag name="LATEXFORMHEIGHT" val="312"/>
  <p:tag name="LATEXFORMWIDTH" val="384"/>
  <p:tag name="LATEXFORMWRAP" val="True"/>
  <p:tag name="BITMAPVECTOR" val="0"/>
</p:tagLst>
</file>

<file path=ppt/tags/tag10.xml><?xml version="1.0" encoding="utf-8"?>
<p:tagLst xmlns:a="http://schemas.openxmlformats.org/drawingml/2006/main" xmlns:r="http://schemas.openxmlformats.org/officeDocument/2006/relationships" xmlns:p="http://schemas.openxmlformats.org/presentationml/2006/main">
  <p:tag name="OUTPUTDPI" val="1200"/>
  <p:tag name="ORIGINALHEIGHT" val="119.2666"/>
  <p:tag name="ORIGINALWIDTH" val="126.7677"/>
  <p:tag name="LATEXADDIN" val="\documentclass{article}&#10;\usepackage{amsmath}&#10;\pagestyle{empty}&#10;\begin{document}&#10;&#10;$S_t^a$&#10;&#10;&#10;\end{document}"/>
  <p:tag name="IGUANATEXSIZE" val="20"/>
  <p:tag name="IGUANATEXCURSOR" val="83"/>
  <p:tag name="TRANSPARENCY" val="True"/>
  <p:tag name="FILENAME" val=""/>
  <p:tag name="LATEXENGINEID" val="1"/>
  <p:tag name="TEMPFOLDER" val="c:\temp\"/>
  <p:tag name="LATEXFORMHEIGHT" val="312"/>
  <p:tag name="LATEXFORMWIDTH" val="384"/>
  <p:tag name="LATEXFORMWRAP" val="True"/>
  <p:tag name="BITMAPVECTOR" val="0"/>
</p:tagLst>
</file>

<file path=ppt/tags/tag11.xml><?xml version="1.0" encoding="utf-8"?>
<p:tagLst xmlns:a="http://schemas.openxmlformats.org/drawingml/2006/main" xmlns:r="http://schemas.openxmlformats.org/officeDocument/2006/relationships" xmlns:p="http://schemas.openxmlformats.org/presentationml/2006/main">
  <p:tag name="TIMING" val="|1.8|11|16.3"/>
</p:tagLst>
</file>

<file path=ppt/tags/tag12.xml><?xml version="1.0" encoding="utf-8"?>
<p:tagLst xmlns:a="http://schemas.openxmlformats.org/drawingml/2006/main" xmlns:r="http://schemas.openxmlformats.org/officeDocument/2006/relationships" xmlns:p="http://schemas.openxmlformats.org/presentationml/2006/main">
  <p:tag name="TIMING" val="|1.1|12|45.7|7.7|6.9|5.8|6.2|20.3"/>
</p:tagLst>
</file>

<file path=ppt/tags/tag13.xml><?xml version="1.0" encoding="utf-8"?>
<p:tagLst xmlns:a="http://schemas.openxmlformats.org/drawingml/2006/main" xmlns:r="http://schemas.openxmlformats.org/officeDocument/2006/relationships" xmlns:p="http://schemas.openxmlformats.org/presentationml/2006/main">
  <p:tag name="TIMING" val="|6.3|6.6|1.1|0.8|1.8|5.1|9.8|23.6|47"/>
</p:tagLst>
</file>

<file path=ppt/tags/tag14.xml><?xml version="1.0" encoding="utf-8"?>
<p:tagLst xmlns:a="http://schemas.openxmlformats.org/drawingml/2006/main" xmlns:r="http://schemas.openxmlformats.org/officeDocument/2006/relationships" xmlns:p="http://schemas.openxmlformats.org/presentationml/2006/main">
  <p:tag name="TIMING" val="|5.3|9.1|25.4|0.2|42.1|32.4"/>
</p:tagLst>
</file>

<file path=ppt/tags/tag15.xml><?xml version="1.0" encoding="utf-8"?>
<p:tagLst xmlns:a="http://schemas.openxmlformats.org/drawingml/2006/main" xmlns:r="http://schemas.openxmlformats.org/officeDocument/2006/relationships" xmlns:p="http://schemas.openxmlformats.org/presentationml/2006/main">
  <p:tag name="TIMING" val="|11.9|18.3|30.4|14|21.7|26.8|17.2"/>
</p:tagLst>
</file>

<file path=ppt/tags/tag16.xml><?xml version="1.0" encoding="utf-8"?>
<p:tagLst xmlns:a="http://schemas.openxmlformats.org/drawingml/2006/main" xmlns:r="http://schemas.openxmlformats.org/officeDocument/2006/relationships" xmlns:p="http://schemas.openxmlformats.org/presentationml/2006/main">
  <p:tag name="TIMING" val="|12|9.4|22.9|10|38|10.8"/>
</p:tagLst>
</file>

<file path=ppt/tags/tag17.xml><?xml version="1.0" encoding="utf-8"?>
<p:tagLst xmlns:a="http://schemas.openxmlformats.org/drawingml/2006/main" xmlns:r="http://schemas.openxmlformats.org/officeDocument/2006/relationships" xmlns:p="http://schemas.openxmlformats.org/presentationml/2006/main">
  <p:tag name="TIMING" val="|8.3|5.3|12.9|13.6|17|13.2"/>
</p:tagLst>
</file>

<file path=ppt/tags/tag18.xml><?xml version="1.0" encoding="utf-8"?>
<p:tagLst xmlns:a="http://schemas.openxmlformats.org/drawingml/2006/main" xmlns:r="http://schemas.openxmlformats.org/officeDocument/2006/relationships" xmlns:p="http://schemas.openxmlformats.org/presentationml/2006/main">
  <p:tag name="TIMING" val="|8.4|7.9|5.5|6.9|9.6|4.5|4.8|1.2|2.4|1|2.7|4|0.1|1.8|3.6|18.7|6.3|5.3|3.6"/>
</p:tagLst>
</file>

<file path=ppt/tags/tag19.xml><?xml version="1.0" encoding="utf-8"?>
<p:tagLst xmlns:a="http://schemas.openxmlformats.org/drawingml/2006/main" xmlns:r="http://schemas.openxmlformats.org/officeDocument/2006/relationships" xmlns:p="http://schemas.openxmlformats.org/presentationml/2006/main">
  <p:tag name="TIMING" val="|0.2|17.3|8.5|7.4|19.2|9.6|15.1|18.6|15|17.3|5"/>
</p:tagLst>
</file>

<file path=ppt/tags/tag20.xml><?xml version="1.0" encoding="utf-8"?>
<p:tagLst xmlns:a="http://schemas.openxmlformats.org/drawingml/2006/main" xmlns:r="http://schemas.openxmlformats.org/officeDocument/2006/relationships" xmlns:p="http://schemas.openxmlformats.org/presentationml/2006/main">
  <p:tag name="TIMING" val="|7.3|11.1|10.5|9.4|7.3|9.7|26.8|15.7|11.2|10.6|17.3"/>
</p:tagLst>
</file>

<file path=ppt/tags/tag21.xml><?xml version="1.0" encoding="utf-8"?>
<p:tagLst xmlns:a="http://schemas.openxmlformats.org/drawingml/2006/main" xmlns:r="http://schemas.openxmlformats.org/officeDocument/2006/relationships" xmlns:p="http://schemas.openxmlformats.org/presentationml/2006/main">
  <p:tag name="TIMING" val="|14.7|8.1|29.9|23.5|4.1|8.8|45.9|37.9|33.1|1|50.7|12.6|3|43.6|10.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419</TotalTime>
  <Words>1807</Words>
  <Application>Microsoft Office PowerPoint</Application>
  <PresentationFormat>Widescreen</PresentationFormat>
  <Paragraphs>284</Paragraphs>
  <Slides>19</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19</vt:i4>
      </vt:variant>
    </vt:vector>
  </HeadingPairs>
  <TitlesOfParts>
    <vt:vector size="29" baseType="lpstr">
      <vt:lpstr>Abadi Extra Light</vt:lpstr>
      <vt:lpstr>Aptos</vt:lpstr>
      <vt:lpstr>Aptos Display</vt:lpstr>
      <vt:lpstr>Arial</vt:lpstr>
      <vt:lpstr>Calibri</vt:lpstr>
      <vt:lpstr>Calibri Light</vt:lpstr>
      <vt:lpstr>Cambria Math</vt:lpstr>
      <vt:lpstr>Wingdings</vt:lpstr>
      <vt:lpstr>Office Theme</vt:lpstr>
      <vt:lpstr>1_Office Theme</vt:lpstr>
      <vt:lpstr>Machine Learning</vt:lpstr>
      <vt:lpstr>Keep in mind: ML is like an exam</vt:lpstr>
      <vt:lpstr>A Loose Taxonomy of ML</vt:lpstr>
      <vt:lpstr>A Typical Supervised Learning Workflow</vt:lpstr>
      <vt:lpstr>A Typical Unsupervised Learning Workflow</vt:lpstr>
      <vt:lpstr>A Typical Reinforcement Learning Workflow</vt:lpstr>
      <vt:lpstr>Data and Features</vt:lpstr>
      <vt:lpstr>Data and Features</vt:lpstr>
      <vt:lpstr>Example: Feature Extraction for Text Data</vt:lpstr>
      <vt:lpstr>Example: Feature Extraction for Image Data</vt:lpstr>
      <vt:lpstr>Feature Selection</vt:lpstr>
      <vt:lpstr>Some More Postprocessing: Feature Scaling</vt:lpstr>
      <vt:lpstr>Types of Features and Types of Outputs</vt:lpstr>
      <vt:lpstr>Notations and Conventions</vt:lpstr>
      <vt:lpstr>Some Notation and Conventions</vt:lpstr>
      <vt:lpstr>Some Notation and Conventions</vt:lpstr>
      <vt:lpstr>Some Notation and Conventions</vt:lpstr>
      <vt:lpstr>Some Basic Operations on Vectors</vt:lpstr>
      <vt:lpstr>Computing Distances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Prof. Manmath Narayan Sahoo</dc:creator>
  <cp:lastModifiedBy>Prof. Manmath Narayan Sahoo</cp:lastModifiedBy>
  <cp:revision>57</cp:revision>
  <dcterms:created xsi:type="dcterms:W3CDTF">2025-01-03T15:04:59Z</dcterms:created>
  <dcterms:modified xsi:type="dcterms:W3CDTF">2026-01-08T18:47:53Z</dcterms:modified>
</cp:coreProperties>
</file>