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71" r:id="rId14"/>
    <p:sldId id="273" r:id="rId15"/>
    <p:sldId id="274" r:id="rId16"/>
    <p:sldId id="275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2529-A4A5-2163-9E45-EF9B3AE17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A5E86-2ECB-5591-3D93-B76DB1A2C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35D53-53A2-2237-CB51-6DE21CEA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D0BF6-8296-D664-4F8C-0F13CEE4B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8D98-9C07-4E79-1CA3-CC8D3A38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2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26DC-A182-0A6B-3BF1-0D0C169B5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F601-1FCE-1341-8B7B-55C288973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lnSpc>
                <a:spcPct val="114000"/>
              </a:lnSpc>
              <a:defRPr/>
            </a:lvl1pPr>
            <a:lvl2pPr algn="just">
              <a:lnSpc>
                <a:spcPct val="114000"/>
              </a:lnSpc>
              <a:defRPr/>
            </a:lvl2pPr>
            <a:lvl3pPr algn="just">
              <a:lnSpc>
                <a:spcPct val="114000"/>
              </a:lnSpc>
              <a:defRPr/>
            </a:lvl3pPr>
            <a:lvl4pPr algn="just">
              <a:lnSpc>
                <a:spcPct val="114000"/>
              </a:lnSpc>
              <a:defRPr/>
            </a:lvl4pPr>
            <a:lvl5pPr algn="just">
              <a:lnSpc>
                <a:spcPct val="114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20086-6C70-1D10-A845-DA26B0DF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59910-93C8-25E3-5204-01DE26CF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0B266-3874-A675-C2C3-7F02F64E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13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2F4B-9A61-5187-70A1-4FEE0C26E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74954-9EFE-4E34-B07C-F833CBB11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BCFF8-8A37-3FF8-99F5-B4C2C02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257E6-AA9F-35AE-4A2D-B6D28889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BDAED-AF57-C37C-2F4D-685E38A0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556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DC2D-D2F7-B650-B887-1052F4CC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0207E-1129-6B41-F3FB-19537D666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4E2F8-F46C-EE9B-2ABE-E762B81E1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490E4-FDCD-B5C1-C3DD-249EA326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22F23-B5DD-1279-3F83-BF18FA05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CD496-C71B-5594-45CE-272A9155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F690-D7A0-A21F-2B52-A5BF5340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EF0AC-E2A9-820F-B5D7-00C0DF8E3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3F98B-11AC-2269-A271-AF0F8DAE7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B6B55-E352-5E34-D733-8F617B9EE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8C170-27EC-37C1-E2F9-FF55FE1B4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2D87A-B15D-56F2-0E4A-4886FEC4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B51F6-2A0C-9B84-3E9C-71BEE11F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C5D0F-214D-A3E1-2D27-9C06D7F0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87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46EC-96CA-80CA-DDDD-DDBBEF88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C714F-F075-A042-07A6-6E012E29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629C2-913F-7040-45DF-DE1E10DC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A3341-9993-E548-9BA8-BAB469BC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20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9228D-A319-707F-5EC8-D1842B21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06FC3-3BB3-09FA-15C8-D10A335A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C8D3D-E7C2-0726-006D-8F89D264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04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6F1E-DBE5-057E-1C46-C04873C2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0983-7201-98FD-12DB-BE7C3EF7B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EAF39-8060-4EC6-AB61-D9A389EA6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A19BB-969D-B4EA-DE2A-4886A6BD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310E8-3EEB-0E2B-89C4-BE39C35D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67E1B-9AFD-3B91-6A62-84EEE342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31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092E-50C4-1946-C272-CCE9A84E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97417-0D9D-4CDB-8F1A-709351C6D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C473F-0021-5D0D-991C-4F7C4AD65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0A5D8-5854-9667-88FF-874B677F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78212-A2D9-320A-95FC-8DFE8392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B3145-9C4A-98F5-1F22-713E31F4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4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4FF4-04D1-2FF3-6185-07D5F44F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8906C-2552-4F6F-3B0F-4B92CA81B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53E-D215-63F9-68F5-9C4CD0D3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2EC5-49E9-E474-B7CC-89D11023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0E569-FBD9-914A-465E-8EAD5BAF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41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9CC2D-AD36-6D2E-04E1-92E765F42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2F1B9-970A-CB01-EEA8-76C1694E5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D6A62-95CD-F3F3-7C3F-39B71F9F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33F5C-4DEA-358B-BFBF-544D279D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B813-CACB-8270-51F1-869900E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61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178E60-7138-09B5-8ABB-B267B8A6E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29E5-5C08-68CA-EB7B-0D2370B5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89A55-D83D-E276-2EAF-B54B87D60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1B5D1-4C17-46EA-A77A-FA565E8FA75F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F0245-58BC-19D4-2F4A-927082EC6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638E5-E8A7-DF46-7533-BCC0F1A9F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FDDC0-DA64-43F6-81E5-EA6231BE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83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EE05-DF3A-5F7B-E4FF-89F728B16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0DE24-64A9-FD91-B902-B37A2D2ED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96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29FC9D-6937-D93E-D49D-85951A21AC24}"/>
              </a:ext>
            </a:extLst>
          </p:cNvPr>
          <p:cNvSpPr txBox="1">
            <a:spLocks/>
          </p:cNvSpPr>
          <p:nvPr/>
        </p:nvSpPr>
        <p:spPr>
          <a:xfrm>
            <a:off x="6833507" y="1839237"/>
            <a:ext cx="45937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Checkerboard game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r>
              <a:rPr lang="en-GB" dirty="0"/>
              <a:t>Play better with </a:t>
            </a:r>
            <a:r>
              <a:rPr lang="en-GB" i="1" dirty="0"/>
              <a:t>experience</a:t>
            </a:r>
            <a:endParaRPr lang="en-IN" i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83ED3-75BA-CDB6-0BE6-CC97A807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Learning vs.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5718C-EF29-9B81-D49D-C09D1EABD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/>
          </a:bodyPr>
          <a:lstStyle/>
          <a:p>
            <a:pPr algn="just"/>
            <a:r>
              <a:rPr lang="en-GB" b="1" dirty="0"/>
              <a:t>Learning</a:t>
            </a:r>
            <a:r>
              <a:rPr lang="en-GB" dirty="0"/>
              <a:t> is the ability to improve one’s </a:t>
            </a:r>
            <a:r>
              <a:rPr lang="en-GB" dirty="0" err="1"/>
              <a:t>behavior</a:t>
            </a:r>
            <a:r>
              <a:rPr lang="en-GB" dirty="0"/>
              <a:t> with experience.</a:t>
            </a:r>
          </a:p>
          <a:p>
            <a:pPr algn="just"/>
            <a:r>
              <a:rPr lang="en-GB" dirty="0"/>
              <a:t>Experiencing a class of problems and their solutions to ….find new solutions, possibly better ones, given a similar problem in future.</a:t>
            </a:r>
          </a:p>
        </p:txBody>
      </p:sp>
      <p:pic>
        <p:nvPicPr>
          <p:cNvPr id="1026" name="Picture 2" descr="How I built a checkers game with javaScript | by Marius ...">
            <a:extLst>
              <a:ext uri="{FF2B5EF4-FFF2-40B4-BE49-F238E27FC236}">
                <a16:creationId xmlns:a16="http://schemas.microsoft.com/office/drawing/2014/main" id="{4B0D6D56-F648-FE64-AAF7-C7AAE5F95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303" y="2511875"/>
            <a:ext cx="2554740" cy="2454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0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5CFF-EB7A-F7BD-001E-1D1364D2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Learning vs.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C6AC6-801A-3C2A-FA3A-2BEBB872A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Can machine learn the way human learns?</a:t>
            </a:r>
          </a:p>
          <a:p>
            <a:pPr algn="just"/>
            <a:r>
              <a:rPr lang="en-GB" dirty="0"/>
              <a:t>Can machine play a checkerboard game?</a:t>
            </a:r>
          </a:p>
          <a:p>
            <a:pPr algn="just"/>
            <a:r>
              <a:rPr lang="en-GB" dirty="0"/>
              <a:t>The first ML System was developed by Arthur Samuel in 1952 for playing checkerboard.</a:t>
            </a:r>
          </a:p>
          <a:p>
            <a:pPr algn="just"/>
            <a:r>
              <a:rPr lang="en-IN" dirty="0" err="1"/>
              <a:t>Sumuel’s</a:t>
            </a:r>
            <a:r>
              <a:rPr lang="en-IN" dirty="0"/>
              <a:t> Definition of ML: The field of study that gives computers the ability without being explicitly programmed.</a:t>
            </a:r>
          </a:p>
        </p:txBody>
      </p:sp>
    </p:spTree>
    <p:extLst>
      <p:ext uri="{BB962C8B-B14F-4D97-AF65-F5344CB8AC3E}">
        <p14:creationId xmlns:p14="http://schemas.microsoft.com/office/powerpoint/2010/main" val="267389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6CF0-402A-7329-A468-03F6AC22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from data instances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FDA59-1886-1FB3-33FE-AD1F6A1D1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Learn the instances to find a model that predicts future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FCA513-ECAF-73DB-AF16-E8405E51E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747875"/>
              </p:ext>
            </p:extLst>
          </p:nvPr>
        </p:nvGraphicFramePr>
        <p:xfrm>
          <a:off x="3558719" y="2426007"/>
          <a:ext cx="4630056" cy="3158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352">
                  <a:extLst>
                    <a:ext uri="{9D8B030D-6E8A-4147-A177-3AD203B41FA5}">
                      <a16:colId xmlns:a16="http://schemas.microsoft.com/office/drawing/2014/main" val="2075526013"/>
                    </a:ext>
                  </a:extLst>
                </a:gridCol>
                <a:gridCol w="1543352">
                  <a:extLst>
                    <a:ext uri="{9D8B030D-6E8A-4147-A177-3AD203B41FA5}">
                      <a16:colId xmlns:a16="http://schemas.microsoft.com/office/drawing/2014/main" val="3447608844"/>
                    </a:ext>
                  </a:extLst>
                </a:gridCol>
                <a:gridCol w="1543352">
                  <a:extLst>
                    <a:ext uri="{9D8B030D-6E8A-4147-A177-3AD203B41FA5}">
                      <a16:colId xmlns:a16="http://schemas.microsoft.com/office/drawing/2014/main" val="3576035769"/>
                    </a:ext>
                  </a:extLst>
                </a:gridCol>
              </a:tblGrid>
              <a:tr h="394796"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Inputs</a:t>
                      </a:r>
                      <a:endParaRPr lang="en-IN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Output</a:t>
                      </a:r>
                      <a:endParaRPr lang="en-IN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651223"/>
                  </a:ext>
                </a:extLst>
              </a:tr>
              <a:tr h="394796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X1</a:t>
                      </a:r>
                      <a:endParaRPr lang="en-IN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X2</a:t>
                      </a:r>
                      <a:endParaRPr lang="en-IN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y</a:t>
                      </a:r>
                      <a:endParaRPr lang="en-IN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838738"/>
                  </a:ext>
                </a:extLst>
              </a:tr>
              <a:tr h="39479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693622"/>
                  </a:ext>
                </a:extLst>
              </a:tr>
              <a:tr h="39479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197375"/>
                  </a:ext>
                </a:extLst>
              </a:tr>
              <a:tr h="39479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097240"/>
                  </a:ext>
                </a:extLst>
              </a:tr>
              <a:tr h="39479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481248"/>
                  </a:ext>
                </a:extLst>
              </a:tr>
              <a:tr h="39479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43125"/>
                  </a:ext>
                </a:extLst>
              </a:tr>
              <a:tr h="39479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??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8515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560DED2-B12C-4F93-3223-5790DAEA1251}"/>
              </a:ext>
            </a:extLst>
          </p:cNvPr>
          <p:cNvSpPr txBox="1"/>
          <p:nvPr/>
        </p:nvSpPr>
        <p:spPr>
          <a:xfrm>
            <a:off x="3444586" y="5755538"/>
            <a:ext cx="6493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Linear Model: </a:t>
            </a:r>
            <a:r>
              <a:rPr lang="en-GB" b="1" dirty="0"/>
              <a:t>	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2 + 5 X</a:t>
            </a:r>
            <a:r>
              <a:rPr lang="en-GB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X</a:t>
            </a:r>
            <a:r>
              <a:rPr lang="en-GB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y = 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GB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GB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=2, 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=5,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 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=1</a:t>
            </a:r>
          </a:p>
          <a:p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		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 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l-GR" b="1" dirty="0">
                <a:latin typeface="Aptos" panose="020B0004020202020204" pitchFamily="34" charset="0"/>
                <a:cs typeface="Times New Roman" panose="02020603050405020304" pitchFamily="18" charset="0"/>
              </a:rPr>
              <a:t>θ</a:t>
            </a:r>
            <a:r>
              <a:rPr lang="en-GB" b="1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2 </a:t>
            </a: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are the model </a:t>
            </a:r>
            <a:r>
              <a:rPr lang="en-GB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paramers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45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C684-B143-21B4-D9FE-CF057D2D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Programs vs. learning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282BF-2F03-AC72-A90A-68F921CAB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u="sng" dirty="0" err="1"/>
              <a:t>Programatic</a:t>
            </a:r>
            <a:r>
              <a:rPr lang="en-GB" i="1" u="sng" dirty="0"/>
              <a:t> Solution</a:t>
            </a:r>
            <a:r>
              <a:rPr lang="en-GB" dirty="0"/>
              <a:t>			          </a:t>
            </a:r>
            <a:r>
              <a:rPr lang="en-GB" i="1" u="sng" dirty="0"/>
              <a:t>Machine Learning Solution</a:t>
            </a:r>
            <a:endParaRPr lang="en-IN" i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5E73F-775E-D21A-F4CE-C48BE953A65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199" y="2425128"/>
            <a:ext cx="10515601" cy="422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33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9249-68FD-69D6-1DB1-F656D637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C187-EB7F-C09B-FA06-EAD2816A6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Machine Learning explores algorithms that</a:t>
            </a:r>
          </a:p>
          <a:p>
            <a:pPr lvl="1">
              <a:buFont typeface="Aptos" panose="020B0004020202020204" pitchFamily="34" charset="0"/>
              <a:buChar char="–"/>
            </a:pPr>
            <a:r>
              <a:rPr lang="en-GB" dirty="0"/>
              <a:t>learn or build models from data</a:t>
            </a:r>
          </a:p>
          <a:p>
            <a:pPr lvl="1">
              <a:buFont typeface="Aptos" panose="020B0004020202020204" pitchFamily="34" charset="0"/>
              <a:buChar char="–"/>
            </a:pPr>
            <a:r>
              <a:rPr lang="en-GB" dirty="0"/>
              <a:t>Models to be used for tasks like prediction, decision making or solving similar tasks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22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57F5-CC87-0477-EE13-47FF1D91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Formal definition of 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1BD25-2B57-85BB-6B82-6E1BCA0AD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computer program is said to learn from </a:t>
            </a:r>
            <a:r>
              <a:rPr lang="en-GB" b="1" u="sng" dirty="0"/>
              <a:t>experience E </a:t>
            </a:r>
            <a:r>
              <a:rPr lang="en-GB" dirty="0"/>
              <a:t>with respect to some </a:t>
            </a:r>
            <a:r>
              <a:rPr lang="en-GB" b="1" u="sng" dirty="0"/>
              <a:t>class of tasks T </a:t>
            </a:r>
            <a:r>
              <a:rPr lang="en-GB" dirty="0"/>
              <a:t>and </a:t>
            </a:r>
            <a:r>
              <a:rPr lang="en-GB" b="1" u="sng" dirty="0"/>
              <a:t>performance measure P</a:t>
            </a:r>
            <a:r>
              <a:rPr lang="en-GB" dirty="0"/>
              <a:t>, if </a:t>
            </a:r>
            <a:r>
              <a:rPr lang="en-GB" b="1" u="sng" dirty="0"/>
              <a:t>its performance</a:t>
            </a:r>
            <a:r>
              <a:rPr lang="en-GB" dirty="0"/>
              <a:t> at tasks in T, as measured by P, </a:t>
            </a:r>
            <a:r>
              <a:rPr lang="en-GB" b="1" u="sng" dirty="0"/>
              <a:t>improves</a:t>
            </a:r>
            <a:r>
              <a:rPr lang="en-GB" dirty="0"/>
              <a:t> with experience E.		- </a:t>
            </a:r>
            <a:r>
              <a:rPr lang="en-GB" sz="2400" i="1" dirty="0"/>
              <a:t>Tom Mitchell</a:t>
            </a:r>
          </a:p>
          <a:p>
            <a:r>
              <a:rPr lang="en-GB" sz="2400" dirty="0"/>
              <a:t>For checkerboard game:</a:t>
            </a:r>
          </a:p>
          <a:p>
            <a:pPr lvl="1"/>
            <a:r>
              <a:rPr lang="en-GB" dirty="0"/>
              <a:t>E: different board positions and next move</a:t>
            </a:r>
          </a:p>
          <a:p>
            <a:pPr lvl="1"/>
            <a:r>
              <a:rPr lang="en-GB" dirty="0"/>
              <a:t>T: Sequence of moves leading to win</a:t>
            </a:r>
          </a:p>
          <a:p>
            <a:pPr lvl="1"/>
            <a:r>
              <a:rPr lang="en-GB" dirty="0"/>
              <a:t>P: Percentage of win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29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B87-70D3-FF04-6474-9379252F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Black-box leaner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CC159-C36B-0220-4A8C-8EB1512A8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62D45-BEA3-326B-7B30-8B9CFDB1AD0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2313432" y="1966067"/>
            <a:ext cx="6678540" cy="4210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BB2DC-433F-4D63-FC55-4C0D6540E173}"/>
              </a:ext>
            </a:extLst>
          </p:cNvPr>
          <p:cNvSpPr txBox="1"/>
          <p:nvPr/>
        </p:nvSpPr>
        <p:spPr>
          <a:xfrm>
            <a:off x="4800600" y="3721608"/>
            <a:ext cx="2010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Learning System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004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9BA0A-2CE5-A37C-D157-36E20734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Black-box leaner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0E54A-CCEA-4DD4-CA05-9803A2594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7BB5B0-1EF2-1439-ADFC-4C92B74EAEFF}"/>
              </a:ext>
            </a:extLst>
          </p:cNvPr>
          <p:cNvGrpSpPr/>
          <p:nvPr/>
        </p:nvGrpSpPr>
        <p:grpSpPr>
          <a:xfrm>
            <a:off x="2378592" y="1825625"/>
            <a:ext cx="7434816" cy="4772886"/>
            <a:chOff x="2706624" y="1825625"/>
            <a:chExt cx="7434816" cy="47728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470402-208A-9FF1-0515-E97235F1F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</a:blip>
            <a:stretch>
              <a:fillRect/>
            </a:stretch>
          </p:blipFill>
          <p:spPr>
            <a:xfrm>
              <a:off x="2706624" y="1825625"/>
              <a:ext cx="7434816" cy="477288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49CD6B-8B57-6281-C3AF-D32DD6BB253C}"/>
                </a:ext>
              </a:extLst>
            </p:cNvPr>
            <p:cNvSpPr txBox="1"/>
            <p:nvPr/>
          </p:nvSpPr>
          <p:spPr>
            <a:xfrm>
              <a:off x="4992624" y="3840480"/>
              <a:ext cx="1033296" cy="40011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</a:rPr>
                <a:t>Learner</a:t>
              </a:r>
              <a:endParaRPr lang="en-IN" sz="2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C47979-2FDE-DD78-8CE9-5FB0C62D9A2B}"/>
                </a:ext>
              </a:extLst>
            </p:cNvPr>
            <p:cNvSpPr txBox="1"/>
            <p:nvPr/>
          </p:nvSpPr>
          <p:spPr>
            <a:xfrm>
              <a:off x="6926940" y="3840480"/>
              <a:ext cx="1239442" cy="40011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</a:rPr>
                <a:t>Reasoner</a:t>
              </a:r>
              <a:endParaRPr lang="en-IN" sz="2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0521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BCE3F-1F0A-B6DC-FDF8-864924E0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E289F-284E-CAE4-172E-45B5E7F5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email spam tagging</a:t>
            </a:r>
            <a:r>
              <a:rPr lang="en-GB" dirty="0"/>
              <a:t>:</a:t>
            </a:r>
          </a:p>
          <a:p>
            <a:pPr marL="457200" lvl="1" indent="0">
              <a:buNone/>
            </a:pPr>
            <a:r>
              <a:rPr lang="en-GB" dirty="0"/>
              <a:t>T: Classifying emails as spam or not spam</a:t>
            </a:r>
          </a:p>
          <a:p>
            <a:pPr marL="457200" lvl="1" indent="0">
              <a:buNone/>
            </a:pPr>
            <a:r>
              <a:rPr lang="en-GB" dirty="0"/>
              <a:t>E: Program watching you label emails as spam or not spam</a:t>
            </a:r>
          </a:p>
          <a:p>
            <a:pPr marL="457200" lvl="1" indent="0">
              <a:buNone/>
            </a:pPr>
            <a:r>
              <a:rPr lang="en-GB" dirty="0"/>
              <a:t>P: The number/fraction of emails classified correctly as spam or not spam</a:t>
            </a:r>
          </a:p>
          <a:p>
            <a:pPr lvl="1"/>
            <a:endParaRPr lang="en-IN" dirty="0"/>
          </a:p>
        </p:txBody>
      </p:sp>
      <p:pic>
        <p:nvPicPr>
          <p:cNvPr id="2050" name="Picture 2" descr="Spam Icon&quot; Images – Browse 46 Stock Photos, Vectors, and Video | Adobe Stock">
            <a:extLst>
              <a:ext uri="{FF2B5EF4-FFF2-40B4-BE49-F238E27FC236}">
                <a16:creationId xmlns:a16="http://schemas.microsoft.com/office/drawing/2014/main" id="{8735C781-1CDF-7FDB-584D-6BBCF735E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8" t="15066" r="16089" b="14667"/>
          <a:stretch/>
        </p:blipFill>
        <p:spPr bwMode="auto">
          <a:xfrm>
            <a:off x="7735702" y="365125"/>
            <a:ext cx="2441569" cy="25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24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7786-C0AB-CAF9-A729-DDAD1B17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domains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0F41D-B04B-081B-A534-ECBE2486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Medicine domain</a:t>
            </a:r>
            <a:r>
              <a:rPr lang="en-GB" b="1" dirty="0"/>
              <a:t>:</a:t>
            </a:r>
          </a:p>
          <a:p>
            <a:r>
              <a:rPr lang="en-GB" dirty="0"/>
              <a:t>Diagnose a disease</a:t>
            </a:r>
          </a:p>
          <a:p>
            <a:pPr lvl="1"/>
            <a:r>
              <a:rPr lang="en-GB" dirty="0"/>
              <a:t>Input: symptoms, lab measurements, test results, DNA tests,</a:t>
            </a:r>
          </a:p>
          <a:p>
            <a:pPr lvl="1"/>
            <a:r>
              <a:rPr lang="en-GB" dirty="0"/>
              <a:t>Output: one of set of possible diseases, or "none of the above“</a:t>
            </a:r>
          </a:p>
          <a:p>
            <a:pPr lvl="1"/>
            <a:r>
              <a:rPr lang="en-GB" dirty="0"/>
              <a:t>Data: historical medical records</a:t>
            </a:r>
          </a:p>
          <a:p>
            <a:pPr lvl="1"/>
            <a:r>
              <a:rPr lang="en-GB" dirty="0"/>
              <a:t>Learn: which future patients will respond best to which treatments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59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8E99-A627-28E4-7CF5-036B9FB7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EC88-D801-3BC3-8E40-F3B13A07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domains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FC7D1-49E7-6404-50E3-1A12FAEFE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Computer Vision</a:t>
            </a:r>
            <a:r>
              <a:rPr lang="en-GB" b="1" dirty="0"/>
              <a:t>:</a:t>
            </a:r>
          </a:p>
          <a:p>
            <a:r>
              <a:rPr lang="en-GB" dirty="0"/>
              <a:t>say what objects appear in an image</a:t>
            </a:r>
          </a:p>
          <a:p>
            <a:r>
              <a:rPr lang="en-GB" dirty="0"/>
              <a:t>detect where objects appear in an image</a:t>
            </a:r>
          </a:p>
          <a:p>
            <a:r>
              <a:rPr lang="en-GB" dirty="0"/>
              <a:t>convert hand-written digits to characters 0..9</a:t>
            </a:r>
          </a:p>
        </p:txBody>
      </p:sp>
    </p:spTree>
    <p:extLst>
      <p:ext uri="{BB962C8B-B14F-4D97-AF65-F5344CB8AC3E}">
        <p14:creationId xmlns:p14="http://schemas.microsoft.com/office/powerpoint/2010/main" val="2157454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D1F4-7B75-0338-EB37-C715BAEB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CE41-3EAB-5BA6-4895-0EAEF9AD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domains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C7BD5-7DF1-1395-581F-C3BCD4E26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Robot Control</a:t>
            </a:r>
            <a:r>
              <a:rPr lang="en-GB" b="1" dirty="0"/>
              <a:t>:</a:t>
            </a:r>
          </a:p>
          <a:p>
            <a:r>
              <a:rPr lang="en-GB" dirty="0"/>
              <a:t>Design autonomous mobile robots that learn from experience to navigate from their own experience</a:t>
            </a:r>
          </a:p>
        </p:txBody>
      </p:sp>
    </p:spTree>
    <p:extLst>
      <p:ext uri="{BB962C8B-B14F-4D97-AF65-F5344CB8AC3E}">
        <p14:creationId xmlns:p14="http://schemas.microsoft.com/office/powerpoint/2010/main" val="1234279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D7A05-E16A-A670-BD29-EC8A41F4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597D-3AA2-775E-7EA7-ACF98700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domains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74762-5C2D-AAF0-D0EF-21D521D48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NLP</a:t>
            </a:r>
            <a:r>
              <a:rPr lang="en-GB" b="1" dirty="0"/>
              <a:t>:</a:t>
            </a:r>
          </a:p>
          <a:p>
            <a:r>
              <a:rPr lang="en-GB" dirty="0"/>
              <a:t>detect where entities are mentioned in NL</a:t>
            </a:r>
          </a:p>
          <a:p>
            <a:r>
              <a:rPr lang="en-GB" dirty="0"/>
              <a:t>detect what facts are expressed in NL</a:t>
            </a:r>
          </a:p>
          <a:p>
            <a:r>
              <a:rPr lang="en-GB" dirty="0"/>
              <a:t>detect if a product/movie review is positive, negative, or neutral</a:t>
            </a:r>
          </a:p>
          <a:p>
            <a:r>
              <a:rPr lang="en-GB" dirty="0"/>
              <a:t>Speech recognition</a:t>
            </a:r>
          </a:p>
          <a:p>
            <a:r>
              <a:rPr lang="en-GB" dirty="0"/>
              <a:t>Machine translation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73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A5B5-52AA-A428-4AB1-FBD1A8982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3629-4062-2C9E-60CB-B84263A0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domains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AAF7C-0E47-201D-F446-7263244DB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Financial</a:t>
            </a:r>
            <a:r>
              <a:rPr lang="en-GB" b="1" dirty="0"/>
              <a:t>:</a:t>
            </a:r>
          </a:p>
          <a:p>
            <a:r>
              <a:rPr lang="en-GB" dirty="0"/>
              <a:t>predict if a stock will rise or fall</a:t>
            </a:r>
          </a:p>
          <a:p>
            <a:r>
              <a:rPr lang="en-GB" dirty="0"/>
              <a:t>predict if a user will click on an ad or not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725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5DEA9-A705-A4F1-9C75-D68CF1FF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C7B3-FE73-673A-F604-1EC94A56D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domains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793A-7FBE-B868-60C9-6A8B518D5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Financial</a:t>
            </a:r>
            <a:r>
              <a:rPr lang="en-GB" b="1" dirty="0"/>
              <a:t>:</a:t>
            </a:r>
          </a:p>
          <a:p>
            <a:r>
              <a:rPr lang="en-GB" dirty="0"/>
              <a:t>predict if a stock will rise or fall</a:t>
            </a:r>
          </a:p>
          <a:p>
            <a:r>
              <a:rPr lang="en-GB" dirty="0"/>
              <a:t>predict if a user will click on an ad or not</a:t>
            </a:r>
          </a:p>
          <a:p>
            <a:r>
              <a:rPr lang="en-GB" dirty="0"/>
              <a:t>Predict product sales quantities taking seasonality and trend into account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353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8FE4-4D5F-AAD5-82E2-31D4B2C76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51C84-281E-E83C-2C1C-7073A20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domains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4030-B95A-689E-CFAA-17FEE7FEC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Security</a:t>
            </a:r>
            <a:r>
              <a:rPr lang="en-GB" b="1" dirty="0"/>
              <a:t>:</a:t>
            </a:r>
          </a:p>
          <a:p>
            <a:r>
              <a:rPr lang="en-GB" dirty="0"/>
              <a:t>Credit card fraud detection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28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572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Machine Learning</vt:lpstr>
      <vt:lpstr>Human Learning vs. Machine Learning</vt:lpstr>
      <vt:lpstr>Human Learning vs. Machine Learning</vt:lpstr>
      <vt:lpstr>Learning from data instances</vt:lpstr>
      <vt:lpstr>Programs vs. learning algorithms</vt:lpstr>
      <vt:lpstr>Machine Learning</vt:lpstr>
      <vt:lpstr>Formal definition of ML</vt:lpstr>
      <vt:lpstr>Black-box leaner</vt:lpstr>
      <vt:lpstr>Black-box leaner</vt:lpstr>
      <vt:lpstr>Applications</vt:lpstr>
      <vt:lpstr>Many domains and applications</vt:lpstr>
      <vt:lpstr>Many domains and applications</vt:lpstr>
      <vt:lpstr>Many domains and applications</vt:lpstr>
      <vt:lpstr>Many domains and applications</vt:lpstr>
      <vt:lpstr>Many domains and applications</vt:lpstr>
      <vt:lpstr>Many domains and applications</vt:lpstr>
      <vt:lpstr>Many domains and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 Manmath Narayan Sahoo</dc:creator>
  <cp:lastModifiedBy>Prof. Manmath Narayan Sahoo</cp:lastModifiedBy>
  <cp:revision>26</cp:revision>
  <dcterms:created xsi:type="dcterms:W3CDTF">2025-01-03T15:04:59Z</dcterms:created>
  <dcterms:modified xsi:type="dcterms:W3CDTF">2025-01-04T16:14:22Z</dcterms:modified>
</cp:coreProperties>
</file>