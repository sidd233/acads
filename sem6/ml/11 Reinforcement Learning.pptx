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95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97" r:id="rId20"/>
    <p:sldId id="273" r:id="rId21"/>
    <p:sldId id="274" r:id="rId22"/>
    <p:sldId id="275" r:id="rId23"/>
    <p:sldId id="276" r:id="rId24"/>
    <p:sldId id="298" r:id="rId25"/>
    <p:sldId id="277" r:id="rId26"/>
    <p:sldId id="278" r:id="rId27"/>
    <p:sldId id="279" r:id="rId28"/>
    <p:sldId id="280" r:id="rId29"/>
    <p:sldId id="281" r:id="rId30"/>
    <p:sldId id="282" r:id="rId31"/>
    <p:sldId id="299" r:id="rId32"/>
    <p:sldId id="283" r:id="rId33"/>
    <p:sldId id="284" r:id="rId34"/>
    <p:sldId id="285" r:id="rId35"/>
    <p:sldId id="286" r:id="rId36"/>
    <p:sldId id="287" r:id="rId37"/>
    <p:sldId id="300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301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2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12FD1D-713B-4537-9C36-22D4269F17BB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2F398E-19D9-454D-B058-D270F4F4EB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3570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Dynamic Programming, which assumes a complete model of the environment.” “Monte Carlo methods, which learn from complete episodes of experience.” “Temporal-Difference learning, which combines ideas from both and learns step by step.”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2F398E-19D9-454D-B058-D270F4F4EB3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2653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57989-996C-496E-8402-EFA9F5BCF531}" type="datetime1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C1E0C-A58C-4B93-AF43-B4D6E0D65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0255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ACE43-7498-4EA0-B16D-22CBFD0778B3}" type="datetime1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C1E0C-A58C-4B93-AF43-B4D6E0D65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0704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3265B-B752-4021-9A7A-833CE7A91B44}" type="datetime1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C1E0C-A58C-4B93-AF43-B4D6E0D65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6661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0714B-519F-48E8-ABB6-C2D7DEB12635}" type="datetime1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C1E0C-A58C-4B93-AF43-B4D6E0D65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7581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45A1D-5C56-4EEC-9384-89D40309032D}" type="datetime1">
              <a:rPr lang="en-IN" smtClean="0"/>
              <a:t>14-04-2026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C1E0C-A58C-4B93-AF43-B4D6E0D65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7926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33778"/>
          </a:xfrm>
          <a:solidFill>
            <a:schemeClr val="accent2">
              <a:lumMod val="75000"/>
            </a:schemeClr>
          </a:solidFill>
        </p:spPr>
        <p:txBody>
          <a:bodyPr>
            <a:normAutofit/>
          </a:bodyPr>
          <a:lstStyle>
            <a:lvl1pPr marL="361950" indent="0">
              <a:defRPr sz="4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3581400" cy="365125"/>
          </a:xfrm>
          <a:solidFill>
            <a:schemeClr val="accent2">
              <a:lumMod val="75000"/>
            </a:schemeClr>
          </a:solidFill>
        </p:spPr>
        <p:txBody>
          <a:bodyPr/>
          <a:lstStyle>
            <a:lvl1pPr marL="180975" indent="0">
              <a:defRPr sz="1400" b="1">
                <a:solidFill>
                  <a:schemeClr val="bg1"/>
                </a:solidFill>
              </a:defRPr>
            </a:lvl1pPr>
          </a:lstStyle>
          <a:p>
            <a:fld id="{A6247667-EE7F-4B2B-A10F-2DBB1E521F59}" type="datetime1">
              <a:rPr lang="en-IN" smtClean="0"/>
              <a:t>14-04-2026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81400" y="6356350"/>
            <a:ext cx="5029200" cy="365125"/>
          </a:xfrm>
          <a:solidFill>
            <a:schemeClr val="accent2">
              <a:lumMod val="75000"/>
            </a:schemeClr>
          </a:solidFill>
        </p:spPr>
        <p:txBody>
          <a:bodyPr/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581400" cy="365125"/>
          </a:xfrm>
          <a:solidFill>
            <a:schemeClr val="accent2">
              <a:lumMod val="75000"/>
            </a:schemeClr>
          </a:solidFill>
        </p:spPr>
        <p:txBody>
          <a:bodyPr/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algn="ctr"/>
            <a:fld id="{357C1E0C-A58C-4B93-AF43-B4D6E0D6576C}" type="slidenum">
              <a:rPr lang="en-IN" smtClean="0"/>
              <a:pPr algn="ctr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1601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729F1-A50E-4CAA-898D-B06B5808EEF2}" type="datetime1">
              <a:rPr lang="en-IN" smtClean="0"/>
              <a:t>14-04-2026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C1E0C-A58C-4B93-AF43-B4D6E0D65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38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11DBD-639D-46C7-9BE1-35736E8189EB}" type="datetime1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C1E0C-A58C-4B93-AF43-B4D6E0D65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258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A45A7-60B7-4D28-980C-0EB05AC33729}" type="datetime1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C1E0C-A58C-4B93-AF43-B4D6E0D65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6667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7FC8-9CF9-44B6-A29A-0873DA0660E6}" type="datetime1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C1E0C-A58C-4B93-AF43-B4D6E0D65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143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FEB17-0D34-473B-98F9-E4D161A1958F}" type="datetime1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C1E0C-A58C-4B93-AF43-B4D6E0D65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3258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DA5849-FE57-4477-BCA7-6DB78D6A043D}" type="datetime1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smtClean="0"/>
              <a:t>Dr. Prasenjit Dey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7C1E0C-A58C-4B93-AF43-B4D6E0D65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22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24.png"/><Relationship Id="rId4" Type="http://schemas.openxmlformats.org/officeDocument/2006/relationships/image" Target="../media/image6.png"/><Relationship Id="rId9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image" Target="../media/image26.png"/><Relationship Id="rId16" Type="http://schemas.openxmlformats.org/officeDocument/2006/relationships/image" Target="../media/image40.png"/><Relationship Id="rId20" Type="http://schemas.openxmlformats.org/officeDocument/2006/relationships/image" Target="../media/image4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19" Type="http://schemas.openxmlformats.org/officeDocument/2006/relationships/image" Target="../media/image43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47.png"/><Relationship Id="rId4" Type="http://schemas.openxmlformats.org/officeDocument/2006/relationships/image" Target="../media/image6.png"/><Relationship Id="rId9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28.png"/><Relationship Id="rId7" Type="http://schemas.openxmlformats.org/officeDocument/2006/relationships/image" Target="../media/image4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9.png"/><Relationship Id="rId5" Type="http://schemas.openxmlformats.org/officeDocument/2006/relationships/image" Target="../media/image30.png"/><Relationship Id="rId10" Type="http://schemas.openxmlformats.org/officeDocument/2006/relationships/image" Target="../media/image49.png"/><Relationship Id="rId4" Type="http://schemas.openxmlformats.org/officeDocument/2006/relationships/image" Target="../media/image33.png"/><Relationship Id="rId9" Type="http://schemas.openxmlformats.org/officeDocument/2006/relationships/image" Target="../media/image48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ualberta.ca/" TargetMode="External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7.jp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28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FCFFA-A241-4CDC-946B-A496137789ED}" type="datetime1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C1E0C-A58C-4B93-AF43-B4D6E0D6576C}" type="slidenum">
              <a:rPr lang="en-IN" smtClean="0"/>
              <a:t>1</a:t>
            </a:fld>
            <a:endParaRPr lang="en-IN"/>
          </a:p>
        </p:txBody>
      </p:sp>
      <p:sp>
        <p:nvSpPr>
          <p:cNvPr id="8" name="Rounded Rectangle 7"/>
          <p:cNvSpPr/>
          <p:nvPr/>
        </p:nvSpPr>
        <p:spPr>
          <a:xfrm>
            <a:off x="1774902" y="2418196"/>
            <a:ext cx="8642196" cy="1215483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400" b="1" dirty="0"/>
              <a:t>Reinforcement</a:t>
            </a:r>
            <a:r>
              <a:rPr lang="en-IN" sz="5400" b="1" spc="-105" dirty="0"/>
              <a:t> </a:t>
            </a:r>
            <a:r>
              <a:rPr lang="en-IN" sz="5400" b="1" spc="-10" dirty="0"/>
              <a:t>Learning </a:t>
            </a:r>
            <a:endParaRPr lang="en-IN" sz="5400" b="1" dirty="0"/>
          </a:p>
        </p:txBody>
      </p:sp>
      <p:sp>
        <p:nvSpPr>
          <p:cNvPr id="9" name="Rectangle 8"/>
          <p:cNvSpPr/>
          <p:nvPr/>
        </p:nvSpPr>
        <p:spPr>
          <a:xfrm>
            <a:off x="2856570" y="3812098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IN" sz="2000" b="1" dirty="0" err="1">
                <a:solidFill>
                  <a:schemeClr val="accent2">
                    <a:lumMod val="75000"/>
                  </a:schemeClr>
                </a:solidFill>
              </a:rPr>
              <a:t>Dr.</a:t>
            </a:r>
            <a:r>
              <a:rPr lang="en-IN" sz="20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IN" sz="2000" b="1" dirty="0" err="1">
                <a:solidFill>
                  <a:schemeClr val="accent2">
                    <a:lumMod val="75000"/>
                  </a:schemeClr>
                </a:solidFill>
              </a:rPr>
              <a:t>Prasenjit</a:t>
            </a:r>
            <a:r>
              <a:rPr lang="en-IN" sz="20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IN" sz="2000" b="1" dirty="0" err="1">
                <a:solidFill>
                  <a:schemeClr val="accent2">
                    <a:lumMod val="75000"/>
                  </a:schemeClr>
                </a:solidFill>
              </a:rPr>
              <a:t>Dey</a:t>
            </a:r>
            <a:r>
              <a:rPr lang="en-IN" sz="2000" b="1" dirty="0">
                <a:solidFill>
                  <a:schemeClr val="accent2">
                    <a:lumMod val="75000"/>
                  </a:schemeClr>
                </a:solidFill>
              </a:rPr>
              <a:t>,</a:t>
            </a:r>
          </a:p>
          <a:p>
            <a:pPr algn="ctr"/>
            <a:r>
              <a:rPr lang="en-IN" sz="2000" b="1" dirty="0">
                <a:solidFill>
                  <a:schemeClr val="accent2">
                    <a:lumMod val="75000"/>
                  </a:schemeClr>
                </a:solidFill>
              </a:rPr>
              <a:t>Assistant Professor,</a:t>
            </a:r>
          </a:p>
          <a:p>
            <a:pPr algn="ctr"/>
            <a:r>
              <a:rPr lang="en-IN" sz="2000" b="1" dirty="0">
                <a:solidFill>
                  <a:schemeClr val="accent2">
                    <a:lumMod val="75000"/>
                  </a:schemeClr>
                </a:solidFill>
              </a:rPr>
              <a:t>NIT Rourkela,</a:t>
            </a:r>
          </a:p>
          <a:p>
            <a:pPr algn="ctr"/>
            <a:r>
              <a:rPr lang="en-IN" sz="2000" b="1" dirty="0">
                <a:solidFill>
                  <a:schemeClr val="accent2">
                    <a:lumMod val="75000"/>
                  </a:schemeClr>
                </a:solidFill>
              </a:rPr>
              <a:t>Odisha, India </a:t>
            </a:r>
          </a:p>
        </p:txBody>
      </p:sp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9070481" y="400963"/>
            <a:ext cx="1823438" cy="1525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526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Previous Lectures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14-04-2026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2</a:t>
            </a:fld>
            <a:endParaRPr lang="en-IN" dirty="0"/>
          </a:p>
        </p:txBody>
      </p:sp>
      <p:grpSp>
        <p:nvGrpSpPr>
          <p:cNvPr id="6" name="object 3"/>
          <p:cNvGrpSpPr/>
          <p:nvPr/>
        </p:nvGrpSpPr>
        <p:grpSpPr>
          <a:xfrm>
            <a:off x="9541575" y="2775920"/>
            <a:ext cx="1304925" cy="390525"/>
            <a:chOff x="4110037" y="5100637"/>
            <a:chExt cx="1304925" cy="390525"/>
          </a:xfrm>
        </p:grpSpPr>
        <p:sp>
          <p:nvSpPr>
            <p:cNvPr id="7" name="object 4"/>
            <p:cNvSpPr/>
            <p:nvPr/>
          </p:nvSpPr>
          <p:spPr>
            <a:xfrm>
              <a:off x="4114800" y="5105400"/>
              <a:ext cx="1295400" cy="381000"/>
            </a:xfrm>
            <a:custGeom>
              <a:avLst/>
              <a:gdLst/>
              <a:ahLst/>
              <a:cxnLst/>
              <a:rect l="l" t="t" r="r" b="b"/>
              <a:pathLst>
                <a:path w="1295400" h="381000">
                  <a:moveTo>
                    <a:pt x="12954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1295400" y="381000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5"/>
            <p:cNvSpPr/>
            <p:nvPr/>
          </p:nvSpPr>
          <p:spPr>
            <a:xfrm>
              <a:off x="4114800" y="5105400"/>
              <a:ext cx="1295400" cy="381000"/>
            </a:xfrm>
            <a:custGeom>
              <a:avLst/>
              <a:gdLst/>
              <a:ahLst/>
              <a:cxnLst/>
              <a:rect l="l" t="t" r="r" b="b"/>
              <a:pathLst>
                <a:path w="1295400" h="381000">
                  <a:moveTo>
                    <a:pt x="0" y="381000"/>
                  </a:moveTo>
                  <a:lnTo>
                    <a:pt x="1295400" y="381000"/>
                  </a:lnTo>
                  <a:lnTo>
                    <a:pt x="12954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6"/>
          <p:cNvSpPr txBox="1"/>
          <p:nvPr/>
        </p:nvSpPr>
        <p:spPr>
          <a:xfrm>
            <a:off x="1048895" y="1168952"/>
            <a:ext cx="7223125" cy="454291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8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Supervised</a:t>
            </a:r>
            <a:r>
              <a:rPr sz="2400" spc="-10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learning</a:t>
            </a:r>
            <a:endParaRPr sz="2400" dirty="0">
              <a:latin typeface="Trebuchet MS"/>
              <a:cs typeface="Trebuchet MS"/>
            </a:endParaRPr>
          </a:p>
          <a:p>
            <a:pPr marL="812800" lvl="1" indent="-342900">
              <a:lnSpc>
                <a:spcPct val="100000"/>
              </a:lnSpc>
              <a:spcBef>
                <a:spcPts val="495"/>
              </a:spcBef>
              <a:buFont typeface="Arial" panose="020B0604020202020204" pitchFamily="34" charset="0"/>
              <a:buChar char="•"/>
              <a:tabLst>
                <a:tab pos="756285" algn="l"/>
              </a:tabLst>
            </a:pPr>
            <a:r>
              <a:rPr lang="en-US" sz="2000" dirty="0" smtClean="0">
                <a:latin typeface="Trebuchet MS"/>
                <a:cs typeface="Trebuchet MS"/>
              </a:rPr>
              <a:t>Learning </a:t>
            </a:r>
            <a:r>
              <a:rPr lang="en-US" sz="2000" dirty="0">
                <a:latin typeface="Trebuchet MS"/>
                <a:cs typeface="Trebuchet MS"/>
              </a:rPr>
              <a:t>from labeled data </a:t>
            </a:r>
          </a:p>
          <a:p>
            <a:pPr marL="812800" lvl="1" indent="-342900">
              <a:lnSpc>
                <a:spcPct val="100000"/>
              </a:lnSpc>
              <a:spcBef>
                <a:spcPts val="495"/>
              </a:spcBef>
              <a:buFont typeface="Arial" panose="020B0604020202020204" pitchFamily="34" charset="0"/>
              <a:buChar char="•"/>
              <a:tabLst>
                <a:tab pos="756285" algn="l"/>
              </a:tabLst>
            </a:pPr>
            <a:r>
              <a:rPr lang="en-US" sz="2000" dirty="0">
                <a:latin typeface="Trebuchet MS"/>
                <a:cs typeface="Trebuchet MS"/>
              </a:rPr>
              <a:t>Tasks: classification, regression </a:t>
            </a:r>
            <a:endParaRPr lang="en-US" sz="2000" dirty="0" smtClean="0">
              <a:latin typeface="Trebuchet MS"/>
              <a:cs typeface="Trebuchet MS"/>
            </a:endParaRPr>
          </a:p>
          <a:p>
            <a:pPr marL="812800" lvl="1" indent="-342900">
              <a:lnSpc>
                <a:spcPct val="100000"/>
              </a:lnSpc>
              <a:spcBef>
                <a:spcPts val="495"/>
              </a:spcBef>
              <a:buFont typeface="Arial" panose="020B0604020202020204" pitchFamily="34" charset="0"/>
              <a:buChar char="•"/>
              <a:tabLst>
                <a:tab pos="756285" algn="l"/>
              </a:tabLst>
            </a:pPr>
            <a:endParaRPr lang="en-US" sz="20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dirty="0" smtClean="0">
                <a:solidFill>
                  <a:srgbClr val="0066FF"/>
                </a:solidFill>
                <a:latin typeface="Trebuchet MS"/>
                <a:cs typeface="Trebuchet MS"/>
              </a:rPr>
              <a:t>Unsupervised</a:t>
            </a:r>
            <a:r>
              <a:rPr sz="2400" spc="-165" dirty="0" smtClean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learning</a:t>
            </a:r>
            <a:endParaRPr sz="2400" dirty="0">
              <a:latin typeface="Trebuchet MS"/>
              <a:cs typeface="Trebuchet MS"/>
            </a:endParaRPr>
          </a:p>
          <a:p>
            <a:pPr marL="812800" lvl="1" indent="-342900">
              <a:lnSpc>
                <a:spcPct val="100000"/>
              </a:lnSpc>
              <a:spcBef>
                <a:spcPts val="495"/>
              </a:spcBef>
              <a:buFont typeface="Arial" panose="020B0604020202020204" pitchFamily="34" charset="0"/>
              <a:buChar char="•"/>
              <a:tabLst>
                <a:tab pos="756285" algn="l"/>
              </a:tabLst>
            </a:pPr>
            <a:r>
              <a:rPr lang="en-US" sz="2000" spc="-10" dirty="0" smtClean="0">
                <a:latin typeface="Trebuchet MS"/>
                <a:cs typeface="Trebuchet MS"/>
              </a:rPr>
              <a:t>Learning </a:t>
            </a:r>
            <a:r>
              <a:rPr lang="en-US" sz="2000" spc="-10" dirty="0">
                <a:latin typeface="Trebuchet MS"/>
                <a:cs typeface="Trebuchet MS"/>
              </a:rPr>
              <a:t>from unlabeled data </a:t>
            </a:r>
          </a:p>
          <a:p>
            <a:pPr marL="812800" lvl="1" indent="-342900">
              <a:lnSpc>
                <a:spcPct val="100000"/>
              </a:lnSpc>
              <a:spcBef>
                <a:spcPts val="495"/>
              </a:spcBef>
              <a:buFont typeface="Arial" panose="020B0604020202020204" pitchFamily="34" charset="0"/>
              <a:buChar char="•"/>
              <a:tabLst>
                <a:tab pos="756285" algn="l"/>
              </a:tabLst>
            </a:pPr>
            <a:r>
              <a:rPr lang="en-US" sz="2000" spc="-10" dirty="0">
                <a:latin typeface="Trebuchet MS"/>
                <a:cs typeface="Trebuchet MS"/>
              </a:rPr>
              <a:t>Task: clustering </a:t>
            </a:r>
            <a:endParaRPr lang="en-US" sz="2000" spc="-10" dirty="0" smtClean="0">
              <a:latin typeface="Trebuchet MS"/>
              <a:cs typeface="Trebuchet MS"/>
            </a:endParaRPr>
          </a:p>
          <a:p>
            <a:pPr marL="812800" lvl="1" indent="-342900">
              <a:lnSpc>
                <a:spcPct val="100000"/>
              </a:lnSpc>
              <a:spcBef>
                <a:spcPts val="495"/>
              </a:spcBef>
              <a:buFont typeface="Arial" panose="020B0604020202020204" pitchFamily="34" charset="0"/>
              <a:buChar char="•"/>
              <a:tabLst>
                <a:tab pos="756285" algn="l"/>
              </a:tabLst>
            </a:pPr>
            <a:endParaRPr lang="en-US" sz="2000" spc="-1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spc="-10" dirty="0" smtClean="0">
                <a:solidFill>
                  <a:srgbClr val="0066FF"/>
                </a:solidFill>
                <a:latin typeface="Trebuchet MS"/>
                <a:cs typeface="Trebuchet MS"/>
              </a:rPr>
              <a:t>Reinforcement</a:t>
            </a:r>
            <a:r>
              <a:rPr sz="2400" spc="-75" dirty="0" smtClean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learning</a:t>
            </a:r>
            <a:endParaRPr sz="2400" dirty="0">
              <a:latin typeface="Trebuchet MS"/>
              <a:cs typeface="Trebuchet MS"/>
            </a:endParaRPr>
          </a:p>
          <a:p>
            <a:pPr marL="812800" lvl="1" indent="-342900">
              <a:spcBef>
                <a:spcPts val="495"/>
              </a:spcBef>
              <a:buFont typeface="Arial" panose="020B0604020202020204" pitchFamily="34" charset="0"/>
              <a:buChar char="•"/>
              <a:tabLst>
                <a:tab pos="756285" algn="l"/>
              </a:tabLst>
            </a:pPr>
            <a:r>
              <a:rPr lang="en-US" sz="2000" spc="-10" dirty="0">
                <a:latin typeface="Trebuchet MS"/>
                <a:cs typeface="Trebuchet MS"/>
              </a:rPr>
              <a:t>Learning </a:t>
            </a:r>
            <a:r>
              <a:rPr lang="en-US" sz="2000" spc="-10" dirty="0">
                <a:latin typeface="Trebuchet MS"/>
                <a:cs typeface="Trebuchet MS"/>
              </a:rPr>
              <a:t>through interaction with an environment </a:t>
            </a:r>
          </a:p>
          <a:p>
            <a:pPr marL="812800" lvl="1" indent="-342900">
              <a:spcBef>
                <a:spcPts val="495"/>
              </a:spcBef>
              <a:buFont typeface="Arial" panose="020B0604020202020204" pitchFamily="34" charset="0"/>
              <a:buChar char="•"/>
              <a:tabLst>
                <a:tab pos="756285" algn="l"/>
              </a:tabLst>
            </a:pPr>
            <a:r>
              <a:rPr lang="en-US" sz="2000" spc="-10" dirty="0">
                <a:latin typeface="Trebuchet MS"/>
                <a:cs typeface="Trebuchet MS"/>
              </a:rPr>
              <a:t>Agent takes actions and receives rewards </a:t>
            </a:r>
          </a:p>
          <a:p>
            <a:pPr marL="812800" lvl="1" indent="-342900">
              <a:spcBef>
                <a:spcPts val="495"/>
              </a:spcBef>
              <a:buFont typeface="Arial" panose="020B0604020202020204" pitchFamily="34" charset="0"/>
              <a:buChar char="•"/>
              <a:tabLst>
                <a:tab pos="756285" algn="l"/>
              </a:tabLst>
            </a:pPr>
            <a:r>
              <a:rPr lang="en-US" sz="2000" spc="-10" dirty="0">
                <a:latin typeface="Trebuchet MS"/>
                <a:cs typeface="Trebuchet MS"/>
              </a:rPr>
              <a:t>Goal: maximize cumulative reward 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10" name="object 7"/>
          <p:cNvSpPr txBox="1"/>
          <p:nvPr/>
        </p:nvSpPr>
        <p:spPr>
          <a:xfrm>
            <a:off x="9851138" y="3542683"/>
            <a:ext cx="685800" cy="381000"/>
          </a:xfrm>
          <a:prstGeom prst="rect">
            <a:avLst/>
          </a:prstGeom>
          <a:solidFill>
            <a:srgbClr val="FF9900"/>
          </a:solidFill>
          <a:ln w="9525">
            <a:solidFill>
              <a:srgbClr val="000000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500"/>
              </a:spcBef>
            </a:pPr>
            <a:r>
              <a:rPr sz="1600" spc="-10" dirty="0">
                <a:latin typeface="Trebuchet MS"/>
                <a:cs typeface="Trebuchet MS"/>
              </a:rPr>
              <a:t>agent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1" name="object 8"/>
          <p:cNvSpPr/>
          <p:nvPr/>
        </p:nvSpPr>
        <p:spPr>
          <a:xfrm>
            <a:off x="9195564" y="2952133"/>
            <a:ext cx="1986280" cy="816610"/>
          </a:xfrm>
          <a:custGeom>
            <a:avLst/>
            <a:gdLst/>
            <a:ahLst/>
            <a:cxnLst/>
            <a:rect l="l" t="t" r="r" b="b"/>
            <a:pathLst>
              <a:path w="1986279" h="816610">
                <a:moveTo>
                  <a:pt x="646976" y="777367"/>
                </a:moveTo>
                <a:lnTo>
                  <a:pt x="472821" y="702627"/>
                </a:lnTo>
                <a:lnTo>
                  <a:pt x="468680" y="738898"/>
                </a:lnTo>
                <a:lnTo>
                  <a:pt x="468604" y="739546"/>
                </a:lnTo>
                <a:lnTo>
                  <a:pt x="427228" y="730008"/>
                </a:lnTo>
                <a:lnTo>
                  <a:pt x="373507" y="713168"/>
                </a:lnTo>
                <a:lnTo>
                  <a:pt x="322072" y="693356"/>
                </a:lnTo>
                <a:lnTo>
                  <a:pt x="273304" y="670750"/>
                </a:lnTo>
                <a:lnTo>
                  <a:pt x="228092" y="645845"/>
                </a:lnTo>
                <a:lnTo>
                  <a:pt x="186563" y="618896"/>
                </a:lnTo>
                <a:lnTo>
                  <a:pt x="149225" y="590105"/>
                </a:lnTo>
                <a:lnTo>
                  <a:pt x="116586" y="559904"/>
                </a:lnTo>
                <a:lnTo>
                  <a:pt x="89027" y="528751"/>
                </a:lnTo>
                <a:lnTo>
                  <a:pt x="67183" y="496938"/>
                </a:lnTo>
                <a:lnTo>
                  <a:pt x="45593" y="448818"/>
                </a:lnTo>
                <a:lnTo>
                  <a:pt x="38100" y="400558"/>
                </a:lnTo>
                <a:lnTo>
                  <a:pt x="38481" y="383755"/>
                </a:lnTo>
                <a:lnTo>
                  <a:pt x="44958" y="333324"/>
                </a:lnTo>
                <a:lnTo>
                  <a:pt x="58928" y="283718"/>
                </a:lnTo>
                <a:lnTo>
                  <a:pt x="79375" y="236347"/>
                </a:lnTo>
                <a:lnTo>
                  <a:pt x="105664" y="191516"/>
                </a:lnTo>
                <a:lnTo>
                  <a:pt x="136906" y="150876"/>
                </a:lnTo>
                <a:lnTo>
                  <a:pt x="172212" y="115062"/>
                </a:lnTo>
                <a:lnTo>
                  <a:pt x="210566" y="85090"/>
                </a:lnTo>
                <a:lnTo>
                  <a:pt x="251333" y="61849"/>
                </a:lnTo>
                <a:lnTo>
                  <a:pt x="293370" y="46101"/>
                </a:lnTo>
                <a:lnTo>
                  <a:pt x="335915" y="38608"/>
                </a:lnTo>
                <a:lnTo>
                  <a:pt x="351536" y="38100"/>
                </a:lnTo>
                <a:lnTo>
                  <a:pt x="350215" y="5080"/>
                </a:lnTo>
                <a:lnTo>
                  <a:pt x="350100" y="2286"/>
                </a:lnTo>
                <a:lnTo>
                  <a:pt x="350012" y="0"/>
                </a:lnTo>
                <a:lnTo>
                  <a:pt x="334518" y="635"/>
                </a:lnTo>
                <a:lnTo>
                  <a:pt x="284353" y="9144"/>
                </a:lnTo>
                <a:lnTo>
                  <a:pt x="236093" y="26924"/>
                </a:lnTo>
                <a:lnTo>
                  <a:pt x="190119" y="52959"/>
                </a:lnTo>
                <a:lnTo>
                  <a:pt x="147447" y="86106"/>
                </a:lnTo>
                <a:lnTo>
                  <a:pt x="108585" y="125349"/>
                </a:lnTo>
                <a:lnTo>
                  <a:pt x="74422" y="169799"/>
                </a:lnTo>
                <a:lnTo>
                  <a:pt x="45720" y="218186"/>
                </a:lnTo>
                <a:lnTo>
                  <a:pt x="23241" y="270256"/>
                </a:lnTo>
                <a:lnTo>
                  <a:pt x="7874" y="324662"/>
                </a:lnTo>
                <a:lnTo>
                  <a:pt x="508" y="380720"/>
                </a:lnTo>
                <a:lnTo>
                  <a:pt x="0" y="399542"/>
                </a:lnTo>
                <a:lnTo>
                  <a:pt x="787" y="416839"/>
                </a:lnTo>
                <a:lnTo>
                  <a:pt x="8636" y="458152"/>
                </a:lnTo>
                <a:lnTo>
                  <a:pt x="23749" y="496379"/>
                </a:lnTo>
                <a:lnTo>
                  <a:pt x="45339" y="533361"/>
                </a:lnTo>
                <a:lnTo>
                  <a:pt x="72898" y="568744"/>
                </a:lnTo>
                <a:lnTo>
                  <a:pt x="105664" y="602411"/>
                </a:lnTo>
                <a:lnTo>
                  <a:pt x="143383" y="634276"/>
                </a:lnTo>
                <a:lnTo>
                  <a:pt x="185420" y="664070"/>
                </a:lnTo>
                <a:lnTo>
                  <a:pt x="231267" y="691629"/>
                </a:lnTo>
                <a:lnTo>
                  <a:pt x="280797" y="716661"/>
                </a:lnTo>
                <a:lnTo>
                  <a:pt x="333121" y="738898"/>
                </a:lnTo>
                <a:lnTo>
                  <a:pt x="388112" y="758164"/>
                </a:lnTo>
                <a:lnTo>
                  <a:pt x="445135" y="774128"/>
                </a:lnTo>
                <a:lnTo>
                  <a:pt x="464286" y="777367"/>
                </a:lnTo>
                <a:lnTo>
                  <a:pt x="482587" y="777367"/>
                </a:lnTo>
                <a:lnTo>
                  <a:pt x="646976" y="777367"/>
                </a:lnTo>
                <a:close/>
              </a:path>
              <a:path w="1986279" h="816610">
                <a:moveTo>
                  <a:pt x="655574" y="781050"/>
                </a:moveTo>
                <a:lnTo>
                  <a:pt x="653973" y="780364"/>
                </a:lnTo>
                <a:lnTo>
                  <a:pt x="482092" y="780364"/>
                </a:lnTo>
                <a:lnTo>
                  <a:pt x="463943" y="780364"/>
                </a:lnTo>
                <a:lnTo>
                  <a:pt x="459867" y="816178"/>
                </a:lnTo>
                <a:lnTo>
                  <a:pt x="655574" y="781050"/>
                </a:lnTo>
                <a:close/>
              </a:path>
              <a:path w="1986279" h="816610">
                <a:moveTo>
                  <a:pt x="1985899" y="401066"/>
                </a:moveTo>
                <a:lnTo>
                  <a:pt x="1985416" y="382752"/>
                </a:lnTo>
                <a:lnTo>
                  <a:pt x="1985391" y="381723"/>
                </a:lnTo>
                <a:lnTo>
                  <a:pt x="1984121" y="362915"/>
                </a:lnTo>
                <a:lnTo>
                  <a:pt x="1974342" y="307340"/>
                </a:lnTo>
                <a:lnTo>
                  <a:pt x="1957197" y="253619"/>
                </a:lnTo>
                <a:lnTo>
                  <a:pt x="1933575" y="202692"/>
                </a:lnTo>
                <a:lnTo>
                  <a:pt x="1903984" y="155194"/>
                </a:lnTo>
                <a:lnTo>
                  <a:pt x="1873542" y="117094"/>
                </a:lnTo>
                <a:lnTo>
                  <a:pt x="1871103" y="114300"/>
                </a:lnTo>
                <a:lnTo>
                  <a:pt x="1869440" y="112395"/>
                </a:lnTo>
                <a:lnTo>
                  <a:pt x="1856994" y="99314"/>
                </a:lnTo>
                <a:lnTo>
                  <a:pt x="1844040" y="86868"/>
                </a:lnTo>
                <a:lnTo>
                  <a:pt x="1842897" y="85725"/>
                </a:lnTo>
                <a:lnTo>
                  <a:pt x="1841754" y="84836"/>
                </a:lnTo>
                <a:lnTo>
                  <a:pt x="1840357" y="84074"/>
                </a:lnTo>
                <a:lnTo>
                  <a:pt x="1828355" y="77190"/>
                </a:lnTo>
                <a:lnTo>
                  <a:pt x="1831848" y="68834"/>
                </a:lnTo>
                <a:lnTo>
                  <a:pt x="1843913" y="40005"/>
                </a:lnTo>
                <a:lnTo>
                  <a:pt x="1646174" y="19050"/>
                </a:lnTo>
                <a:lnTo>
                  <a:pt x="1799844" y="145415"/>
                </a:lnTo>
                <a:lnTo>
                  <a:pt x="1813534" y="112649"/>
                </a:lnTo>
                <a:lnTo>
                  <a:pt x="1819389" y="116001"/>
                </a:lnTo>
                <a:lnTo>
                  <a:pt x="1851660" y="149733"/>
                </a:lnTo>
                <a:lnTo>
                  <a:pt x="1882140" y="190881"/>
                </a:lnTo>
                <a:lnTo>
                  <a:pt x="1907540" y="235331"/>
                </a:lnTo>
                <a:lnTo>
                  <a:pt x="1927352" y="282829"/>
                </a:lnTo>
                <a:lnTo>
                  <a:pt x="1940941" y="332333"/>
                </a:lnTo>
                <a:lnTo>
                  <a:pt x="1947329" y="381723"/>
                </a:lnTo>
                <a:lnTo>
                  <a:pt x="1947418" y="382752"/>
                </a:lnTo>
                <a:lnTo>
                  <a:pt x="1944751" y="431126"/>
                </a:lnTo>
                <a:lnTo>
                  <a:pt x="1928368" y="479679"/>
                </a:lnTo>
                <a:lnTo>
                  <a:pt x="1898396" y="527926"/>
                </a:lnTo>
                <a:lnTo>
                  <a:pt x="1871345" y="559320"/>
                </a:lnTo>
                <a:lnTo>
                  <a:pt x="1839341" y="589622"/>
                </a:lnTo>
                <a:lnTo>
                  <a:pt x="1802765" y="618464"/>
                </a:lnTo>
                <a:lnTo>
                  <a:pt x="1761871" y="645541"/>
                </a:lnTo>
                <a:lnTo>
                  <a:pt x="1717294" y="670534"/>
                </a:lnTo>
                <a:lnTo>
                  <a:pt x="1669542" y="693127"/>
                </a:lnTo>
                <a:lnTo>
                  <a:pt x="1618869" y="713003"/>
                </a:lnTo>
                <a:lnTo>
                  <a:pt x="1566164" y="729881"/>
                </a:lnTo>
                <a:lnTo>
                  <a:pt x="1511554" y="743496"/>
                </a:lnTo>
                <a:lnTo>
                  <a:pt x="1455674" y="753579"/>
                </a:lnTo>
                <a:lnTo>
                  <a:pt x="1398905" y="759841"/>
                </a:lnTo>
                <a:lnTo>
                  <a:pt x="1340993" y="762000"/>
                </a:lnTo>
                <a:lnTo>
                  <a:pt x="1341361" y="780884"/>
                </a:lnTo>
                <a:lnTo>
                  <a:pt x="1341475" y="786612"/>
                </a:lnTo>
                <a:lnTo>
                  <a:pt x="1341577" y="791375"/>
                </a:lnTo>
                <a:lnTo>
                  <a:pt x="1341653" y="795159"/>
                </a:lnTo>
                <a:lnTo>
                  <a:pt x="1341755" y="800100"/>
                </a:lnTo>
                <a:lnTo>
                  <a:pt x="1371092" y="799528"/>
                </a:lnTo>
                <a:lnTo>
                  <a:pt x="1401064" y="797877"/>
                </a:lnTo>
                <a:lnTo>
                  <a:pt x="1460500" y="791375"/>
                </a:lnTo>
                <a:lnTo>
                  <a:pt x="1519047" y="780884"/>
                </a:lnTo>
                <a:lnTo>
                  <a:pt x="1576070" y="766686"/>
                </a:lnTo>
                <a:lnTo>
                  <a:pt x="1631188" y="749096"/>
                </a:lnTo>
                <a:lnTo>
                  <a:pt x="1684020" y="728383"/>
                </a:lnTo>
                <a:lnTo>
                  <a:pt x="1734185" y="704684"/>
                </a:lnTo>
                <a:lnTo>
                  <a:pt x="1781048" y="678434"/>
                </a:lnTo>
                <a:lnTo>
                  <a:pt x="1824355" y="649884"/>
                </a:lnTo>
                <a:lnTo>
                  <a:pt x="1863471" y="619099"/>
                </a:lnTo>
                <a:lnTo>
                  <a:pt x="1898142" y="586346"/>
                </a:lnTo>
                <a:lnTo>
                  <a:pt x="1927860" y="552018"/>
                </a:lnTo>
                <a:lnTo>
                  <a:pt x="1952117" y="516039"/>
                </a:lnTo>
                <a:lnTo>
                  <a:pt x="1970278" y="478777"/>
                </a:lnTo>
                <a:lnTo>
                  <a:pt x="1981708" y="440220"/>
                </a:lnTo>
                <a:lnTo>
                  <a:pt x="1984756" y="420687"/>
                </a:lnTo>
                <a:lnTo>
                  <a:pt x="1985899" y="4010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9"/>
          <p:cNvSpPr txBox="1"/>
          <p:nvPr/>
        </p:nvSpPr>
        <p:spPr>
          <a:xfrm>
            <a:off x="11286491" y="3250176"/>
            <a:ext cx="5905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Trebuchet MS"/>
                <a:cs typeface="Trebuchet MS"/>
              </a:rPr>
              <a:t>action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3" name="object 10"/>
          <p:cNvSpPr txBox="1"/>
          <p:nvPr/>
        </p:nvSpPr>
        <p:spPr>
          <a:xfrm>
            <a:off x="8272020" y="3189826"/>
            <a:ext cx="92075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Trebuchet MS"/>
                <a:cs typeface="Trebuchet MS"/>
              </a:rPr>
              <a:t>reward</a:t>
            </a:r>
            <a:endParaRPr sz="16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600" dirty="0">
                <a:latin typeface="Trebuchet MS"/>
                <a:cs typeface="Trebuchet MS"/>
              </a:rPr>
              <a:t>new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state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222067" y="2787574"/>
            <a:ext cx="27228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30630" algn="ctr">
              <a:lnSpc>
                <a:spcPct val="100000"/>
              </a:lnSpc>
            </a:pPr>
            <a:r>
              <a:rPr lang="en-IN" spc="-10" dirty="0">
                <a:latin typeface="Trebuchet MS"/>
                <a:cs typeface="Trebuchet MS"/>
              </a:rPr>
              <a:t>environment</a:t>
            </a:r>
            <a:endParaRPr lang="en-IN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068648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Today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14-04-2026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3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1790700" y="1347372"/>
            <a:ext cx="7794171" cy="34394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lang="en-IN" sz="2400" spc="-10" dirty="0">
                <a:solidFill>
                  <a:srgbClr val="0066FF"/>
                </a:solidFill>
                <a:latin typeface="Trebuchet MS"/>
                <a:cs typeface="Trebuchet MS"/>
              </a:rPr>
              <a:t>Examples of Reinforcement Learning</a:t>
            </a:r>
            <a:endParaRPr sz="2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80"/>
              </a:spcBef>
              <a:buClr>
                <a:srgbClr val="0066FF"/>
              </a:buClr>
              <a:buFont typeface="Trebuchet MS"/>
              <a:buChar char="•"/>
            </a:pPr>
            <a:endParaRPr sz="24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355600" algn="l"/>
              </a:tabLst>
            </a:pPr>
            <a:r>
              <a:rPr lang="en-IN" sz="2400" dirty="0" smtClean="0">
                <a:solidFill>
                  <a:srgbClr val="0066FF"/>
                </a:solidFill>
                <a:latin typeface="Trebuchet MS"/>
                <a:cs typeface="Trebuchet MS"/>
              </a:rPr>
              <a:t>Formulating</a:t>
            </a:r>
            <a:r>
              <a:rPr sz="2400" spc="-35" dirty="0" smtClean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an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RL</a:t>
            </a:r>
            <a:r>
              <a:rPr sz="2400" spc="-5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problem</a:t>
            </a:r>
            <a:endParaRPr sz="2400" dirty="0">
              <a:latin typeface="Trebuchet MS"/>
              <a:cs typeface="Trebuchet MS"/>
            </a:endParaRPr>
          </a:p>
          <a:p>
            <a:pPr marL="812800" lvl="1" indent="-342900">
              <a:lnSpc>
                <a:spcPct val="100000"/>
              </a:lnSpc>
              <a:spcBef>
                <a:spcPts val="495"/>
              </a:spcBef>
              <a:buFont typeface="Arial" panose="020B0604020202020204" pitchFamily="34" charset="0"/>
              <a:buChar char="•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Markov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Decision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Processes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830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55600" indent="-343535">
              <a:lnSpc>
                <a:spcPct val="100000"/>
              </a:lnSpc>
              <a:buChar char="•"/>
              <a:tabLst>
                <a:tab pos="355600" algn="l"/>
                <a:tab pos="4699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solving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an</a:t>
            </a:r>
            <a:r>
              <a:rPr sz="2400" spc="-5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RL</a:t>
            </a:r>
            <a:r>
              <a:rPr sz="2400" spc="-5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problem</a:t>
            </a:r>
            <a:endParaRPr sz="2400" dirty="0">
              <a:latin typeface="Trebuchet MS"/>
              <a:cs typeface="Trebuchet MS"/>
            </a:endParaRPr>
          </a:p>
          <a:p>
            <a:pPr marL="812800" lvl="1" indent="-342900">
              <a:lnSpc>
                <a:spcPct val="100000"/>
              </a:lnSpc>
              <a:spcBef>
                <a:spcPts val="495"/>
              </a:spcBef>
              <a:buFont typeface="Arial" panose="020B0604020202020204" pitchFamily="34" charset="0"/>
              <a:buChar char="•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Dynamic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Programming</a:t>
            </a:r>
            <a:endParaRPr sz="2000" dirty="0">
              <a:latin typeface="Trebuchet MS"/>
              <a:cs typeface="Trebuchet MS"/>
            </a:endParaRPr>
          </a:p>
          <a:p>
            <a:pPr marL="812800" lvl="1" indent="-342900">
              <a:lnSpc>
                <a:spcPct val="100000"/>
              </a:lnSpc>
              <a:spcBef>
                <a:spcPts val="480"/>
              </a:spcBef>
              <a:buFont typeface="Arial" panose="020B0604020202020204" pitchFamily="34" charset="0"/>
              <a:buChar char="•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Monte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Carlo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methods</a:t>
            </a:r>
            <a:endParaRPr sz="2000" dirty="0">
              <a:latin typeface="Trebuchet MS"/>
              <a:cs typeface="Trebuchet MS"/>
            </a:endParaRPr>
          </a:p>
          <a:p>
            <a:pPr marL="812800" lvl="1" indent="-342900">
              <a:lnSpc>
                <a:spcPct val="100000"/>
              </a:lnSpc>
              <a:spcBef>
                <a:spcPts val="480"/>
              </a:spcBef>
              <a:buFont typeface="Arial" panose="020B0604020202020204" pitchFamily="34" charset="0"/>
              <a:buChar char="•"/>
              <a:tabLst>
                <a:tab pos="756285" algn="l"/>
              </a:tabLst>
            </a:pPr>
            <a:r>
              <a:rPr sz="2000" spc="-10" dirty="0">
                <a:latin typeface="Trebuchet MS"/>
                <a:cs typeface="Trebuchet MS"/>
              </a:rPr>
              <a:t>Temporal-</a:t>
            </a:r>
            <a:r>
              <a:rPr sz="2000" dirty="0">
                <a:latin typeface="Trebuchet MS"/>
                <a:cs typeface="Trebuchet MS"/>
              </a:rPr>
              <a:t>Difference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learning</a:t>
            </a:r>
            <a:endParaRPr sz="20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751985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Robot</a:t>
            </a:r>
            <a:r>
              <a:rPr lang="en-IN" spc="-15" dirty="0" smtClean="0"/>
              <a:t> </a:t>
            </a:r>
            <a:r>
              <a:rPr lang="en-IN" dirty="0" smtClean="0"/>
              <a:t>in</a:t>
            </a:r>
            <a:r>
              <a:rPr lang="en-IN" spc="-30" dirty="0" smtClean="0"/>
              <a:t> </a:t>
            </a:r>
            <a:r>
              <a:rPr lang="en-IN" dirty="0" smtClean="0"/>
              <a:t>a</a:t>
            </a:r>
            <a:r>
              <a:rPr lang="en-IN" spc="-10" dirty="0" smtClean="0"/>
              <a:t> </a:t>
            </a:r>
            <a:r>
              <a:rPr lang="en-IN" spc="-20" dirty="0" smtClean="0"/>
              <a:t>room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14-04-2026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4</a:t>
            </a:fld>
            <a:endParaRPr lang="en-IN" dirty="0"/>
          </a:p>
        </p:txBody>
      </p:sp>
      <p:graphicFrame>
        <p:nvGraphicFramePr>
          <p:cNvPr id="6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680079"/>
              </p:ext>
            </p:extLst>
          </p:nvPr>
        </p:nvGraphicFramePr>
        <p:xfrm>
          <a:off x="1033887" y="974843"/>
          <a:ext cx="4103369" cy="27343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5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6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12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20"/>
                        </a:spcBef>
                      </a:pPr>
                      <a:r>
                        <a:rPr sz="2800" spc="-25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+1</a:t>
                      </a:r>
                      <a:endParaRPr sz="2800" dirty="0">
                        <a:latin typeface="Trebuchet MS"/>
                        <a:cs typeface="Trebuchet MS"/>
                      </a:endParaRPr>
                    </a:p>
                  </a:txBody>
                  <a:tcPr marL="0" marR="0" marT="2311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24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2800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2800" spc="-50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2324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0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41300">
                        <a:lnSpc>
                          <a:spcPct val="100000"/>
                        </a:lnSpc>
                      </a:pPr>
                      <a:r>
                        <a:rPr sz="1600" spc="-10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START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939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4"/>
          <p:cNvSpPr/>
          <p:nvPr/>
        </p:nvSpPr>
        <p:spPr>
          <a:xfrm>
            <a:off x="7971262" y="2014655"/>
            <a:ext cx="1008380" cy="906780"/>
          </a:xfrm>
          <a:custGeom>
            <a:avLst/>
            <a:gdLst/>
            <a:ahLst/>
            <a:cxnLst/>
            <a:rect l="l" t="t" r="r" b="b"/>
            <a:pathLst>
              <a:path w="1008379" h="906779">
                <a:moveTo>
                  <a:pt x="1007999" y="792226"/>
                </a:moveTo>
                <a:lnTo>
                  <a:pt x="931621" y="753999"/>
                </a:lnTo>
                <a:lnTo>
                  <a:pt x="779399" y="677799"/>
                </a:lnTo>
                <a:lnTo>
                  <a:pt x="779399" y="753999"/>
                </a:lnTo>
                <a:lnTo>
                  <a:pt x="579374" y="753999"/>
                </a:lnTo>
                <a:lnTo>
                  <a:pt x="579374" y="457200"/>
                </a:lnTo>
                <a:lnTo>
                  <a:pt x="731774" y="457200"/>
                </a:lnTo>
                <a:lnTo>
                  <a:pt x="693686" y="381000"/>
                </a:lnTo>
                <a:lnTo>
                  <a:pt x="503301" y="0"/>
                </a:lnTo>
                <a:lnTo>
                  <a:pt x="274574" y="457200"/>
                </a:lnTo>
                <a:lnTo>
                  <a:pt x="426974" y="457200"/>
                </a:lnTo>
                <a:lnTo>
                  <a:pt x="426974" y="753999"/>
                </a:lnTo>
                <a:lnTo>
                  <a:pt x="228600" y="753999"/>
                </a:lnTo>
                <a:lnTo>
                  <a:pt x="228600" y="677799"/>
                </a:lnTo>
                <a:lnTo>
                  <a:pt x="0" y="792099"/>
                </a:lnTo>
                <a:lnTo>
                  <a:pt x="228600" y="906399"/>
                </a:lnTo>
                <a:lnTo>
                  <a:pt x="228600" y="830199"/>
                </a:lnTo>
                <a:lnTo>
                  <a:pt x="503174" y="830199"/>
                </a:lnTo>
                <a:lnTo>
                  <a:pt x="503174" y="830326"/>
                </a:lnTo>
                <a:lnTo>
                  <a:pt x="779399" y="830326"/>
                </a:lnTo>
                <a:lnTo>
                  <a:pt x="779399" y="906526"/>
                </a:lnTo>
                <a:lnTo>
                  <a:pt x="931799" y="830326"/>
                </a:lnTo>
                <a:lnTo>
                  <a:pt x="1007999" y="7922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5"/>
          <p:cNvSpPr txBox="1"/>
          <p:nvPr/>
        </p:nvSpPr>
        <p:spPr>
          <a:xfrm>
            <a:off x="5563088" y="1048185"/>
            <a:ext cx="3316604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actions:</a:t>
            </a:r>
            <a:r>
              <a:rPr sz="1800" spc="-85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UP,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DOWN,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LEFT,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RIGHT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b="1" spc="-25" dirty="0">
                <a:latin typeface="Trebuchet MS"/>
                <a:cs typeface="Trebuchet MS"/>
              </a:rPr>
              <a:t>UP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6"/>
          <p:cNvSpPr txBox="1"/>
          <p:nvPr/>
        </p:nvSpPr>
        <p:spPr>
          <a:xfrm>
            <a:off x="5563088" y="2420166"/>
            <a:ext cx="40449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rebuchet MS"/>
                <a:cs typeface="Trebuchet MS"/>
              </a:rPr>
              <a:t>80%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latin typeface="Trebuchet MS"/>
                <a:cs typeface="Trebuchet MS"/>
              </a:rPr>
              <a:t>10%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latin typeface="Trebuchet MS"/>
                <a:cs typeface="Trebuchet MS"/>
              </a:rPr>
              <a:t>10%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" name="object 7"/>
          <p:cNvSpPr txBox="1"/>
          <p:nvPr/>
        </p:nvSpPr>
        <p:spPr>
          <a:xfrm>
            <a:off x="6477869" y="2420166"/>
            <a:ext cx="127762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move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UP </a:t>
            </a:r>
            <a:r>
              <a:rPr sz="1800" dirty="0">
                <a:latin typeface="Trebuchet MS"/>
                <a:cs typeface="Trebuchet MS"/>
              </a:rPr>
              <a:t>move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LEFT </a:t>
            </a:r>
            <a:r>
              <a:rPr sz="1800" dirty="0">
                <a:latin typeface="Trebuchet MS"/>
                <a:cs typeface="Trebuchet MS"/>
              </a:rPr>
              <a:t>move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RIGHT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11" name="object 8"/>
          <p:cNvSpPr txBox="1"/>
          <p:nvPr/>
        </p:nvSpPr>
        <p:spPr>
          <a:xfrm>
            <a:off x="1115802" y="3965121"/>
            <a:ext cx="6369050" cy="222059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reward</a:t>
            </a:r>
            <a:r>
              <a:rPr sz="2400" spc="-2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+1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at</a:t>
            </a:r>
            <a:r>
              <a:rPr sz="2400" spc="-3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[4,3],</a:t>
            </a:r>
            <a:r>
              <a:rPr sz="2400" spc="1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-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1</a:t>
            </a:r>
            <a:r>
              <a:rPr sz="2400" spc="-2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at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[4,2]</a:t>
            </a:r>
            <a:endParaRPr sz="24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reward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-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0.04</a:t>
            </a:r>
            <a:r>
              <a:rPr sz="2400" spc="-3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for</a:t>
            </a:r>
            <a:r>
              <a:rPr sz="2400" spc="-6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each</a:t>
            </a:r>
            <a:r>
              <a:rPr sz="2400" spc="-5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066FF"/>
                </a:solidFill>
                <a:latin typeface="Trebuchet MS"/>
                <a:cs typeface="Trebuchet MS"/>
              </a:rPr>
              <a:t>step</a:t>
            </a:r>
            <a:endParaRPr sz="2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0066FF"/>
              </a:buClr>
              <a:buFont typeface="Trebuchet MS"/>
              <a:buChar char="•"/>
            </a:pPr>
            <a:endParaRPr sz="24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what’s</a:t>
            </a:r>
            <a:r>
              <a:rPr sz="2400" spc="-5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the</a:t>
            </a:r>
            <a:r>
              <a:rPr sz="2400" spc="-5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strategy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to</a:t>
            </a:r>
            <a:r>
              <a:rPr sz="2400" spc="-6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achieve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max</a:t>
            </a:r>
            <a:r>
              <a:rPr sz="2400" spc="-6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reward?</a:t>
            </a:r>
            <a:endParaRPr sz="24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what</a:t>
            </a:r>
            <a:r>
              <a:rPr sz="2400" spc="-5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if</a:t>
            </a:r>
            <a:r>
              <a:rPr sz="2400" spc="-5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the</a:t>
            </a:r>
            <a:r>
              <a:rPr sz="2400" spc="-6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actions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were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deterministic?</a:t>
            </a:r>
            <a:endParaRPr sz="24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317774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Other</a:t>
            </a:r>
            <a:r>
              <a:rPr lang="en-IN" spc="-10" dirty="0" smtClean="0"/>
              <a:t> examples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14-04-2026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5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1127125" y="896797"/>
            <a:ext cx="7483475" cy="529653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5600" algn="l"/>
              </a:tabLst>
            </a:pPr>
            <a:r>
              <a:rPr sz="2400" spc="-20" dirty="0">
                <a:solidFill>
                  <a:srgbClr val="0066FF"/>
                </a:solidFill>
                <a:latin typeface="Trebuchet MS"/>
                <a:cs typeface="Trebuchet MS"/>
              </a:rPr>
              <a:t>pole-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balancing</a:t>
            </a:r>
            <a:endParaRPr sz="24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TD-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Gammon</a:t>
            </a:r>
            <a:r>
              <a:rPr sz="2400" spc="-6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[Gerry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Tesauro]</a:t>
            </a:r>
            <a:endParaRPr sz="24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helicopter</a:t>
            </a:r>
            <a:r>
              <a:rPr sz="2400" spc="-10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[Andrew</a:t>
            </a:r>
            <a:r>
              <a:rPr sz="2400" spc="-9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Ng]</a:t>
            </a:r>
            <a:endParaRPr sz="2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45"/>
              </a:spcBef>
              <a:buClr>
                <a:srgbClr val="0066FF"/>
              </a:buClr>
              <a:buFont typeface="Trebuchet MS"/>
              <a:buChar char="•"/>
            </a:pPr>
            <a:endParaRPr sz="24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no</a:t>
            </a:r>
            <a:r>
              <a:rPr sz="2400" spc="-4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teacher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who</a:t>
            </a:r>
            <a:r>
              <a:rPr sz="2400" spc="-3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would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say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“good”</a:t>
            </a:r>
            <a:r>
              <a:rPr sz="2400" spc="-2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or</a:t>
            </a:r>
            <a:r>
              <a:rPr sz="2400" spc="-3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“bad”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is</a:t>
            </a:r>
            <a:r>
              <a:rPr sz="2000" spc="-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reward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“10”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good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or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bad?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rewards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could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be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delayed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1120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similar</a:t>
            </a:r>
            <a:r>
              <a:rPr sz="2400" spc="-3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to</a:t>
            </a:r>
            <a:r>
              <a:rPr sz="2400" spc="-6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control</a:t>
            </a:r>
            <a:r>
              <a:rPr sz="2400" spc="-3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theory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50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more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general,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fewer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constraints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1115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explore</a:t>
            </a:r>
            <a:r>
              <a:rPr sz="2400" spc="-5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the</a:t>
            </a:r>
            <a:r>
              <a:rPr sz="2400" spc="-6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environment</a:t>
            </a:r>
            <a:r>
              <a:rPr sz="2400" spc="-6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and</a:t>
            </a:r>
            <a:r>
              <a:rPr sz="2400" spc="-6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learn</a:t>
            </a:r>
            <a:r>
              <a:rPr sz="2400" spc="-5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from</a:t>
            </a:r>
            <a:r>
              <a:rPr sz="2400" spc="-7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experience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50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not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just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blind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search,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try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be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smart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about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it</a:t>
            </a:r>
            <a:endParaRPr sz="2000" dirty="0">
              <a:latin typeface="Trebuchet MS"/>
              <a:cs typeface="Trebuchet MS"/>
            </a:endParaRPr>
          </a:p>
        </p:txBody>
      </p:sp>
      <p:grpSp>
        <p:nvGrpSpPr>
          <p:cNvPr id="7" name="object 4"/>
          <p:cNvGrpSpPr/>
          <p:nvPr/>
        </p:nvGrpSpPr>
        <p:grpSpPr>
          <a:xfrm>
            <a:off x="7475561" y="733779"/>
            <a:ext cx="3453129" cy="2192655"/>
            <a:chOff x="5473763" y="333375"/>
            <a:chExt cx="3453129" cy="2192655"/>
          </a:xfrm>
        </p:grpSpPr>
        <p:sp>
          <p:nvSpPr>
            <p:cNvPr id="8" name="object 5"/>
            <p:cNvSpPr/>
            <p:nvPr/>
          </p:nvSpPr>
          <p:spPr>
            <a:xfrm>
              <a:off x="5484876" y="2205101"/>
              <a:ext cx="3430904" cy="309880"/>
            </a:xfrm>
            <a:custGeom>
              <a:avLst/>
              <a:gdLst/>
              <a:ahLst/>
              <a:cxnLst/>
              <a:rect l="l" t="t" r="r" b="b"/>
              <a:pathLst>
                <a:path w="3430904" h="309880">
                  <a:moveTo>
                    <a:pt x="0" y="4699"/>
                  </a:moveTo>
                  <a:lnTo>
                    <a:pt x="268224" y="4699"/>
                  </a:lnTo>
                  <a:lnTo>
                    <a:pt x="268224" y="309499"/>
                  </a:lnTo>
                  <a:lnTo>
                    <a:pt x="3087624" y="309499"/>
                  </a:lnTo>
                  <a:lnTo>
                    <a:pt x="3087624" y="4699"/>
                  </a:lnTo>
                  <a:lnTo>
                    <a:pt x="3430524" y="0"/>
                  </a:lnTo>
                </a:path>
              </a:pathLst>
            </a:custGeom>
            <a:ln w="222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6"/>
            <p:cNvSpPr/>
            <p:nvPr/>
          </p:nvSpPr>
          <p:spPr>
            <a:xfrm>
              <a:off x="6210300" y="2114550"/>
              <a:ext cx="838200" cy="304800"/>
            </a:xfrm>
            <a:custGeom>
              <a:avLst/>
              <a:gdLst/>
              <a:ahLst/>
              <a:cxnLst/>
              <a:rect l="l" t="t" r="r" b="b"/>
              <a:pathLst>
                <a:path w="838200" h="304800">
                  <a:moveTo>
                    <a:pt x="8382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838200" y="304800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9966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7"/>
            <p:cNvSpPr/>
            <p:nvPr/>
          </p:nvSpPr>
          <p:spPr>
            <a:xfrm>
              <a:off x="6210300" y="2114550"/>
              <a:ext cx="838200" cy="304800"/>
            </a:xfrm>
            <a:custGeom>
              <a:avLst/>
              <a:gdLst/>
              <a:ahLst/>
              <a:cxnLst/>
              <a:rect l="l" t="t" r="r" b="b"/>
              <a:pathLst>
                <a:path w="838200" h="304800">
                  <a:moveTo>
                    <a:pt x="0" y="304800"/>
                  </a:moveTo>
                  <a:lnTo>
                    <a:pt x="838200" y="304800"/>
                  </a:lnTo>
                  <a:lnTo>
                    <a:pt x="8382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76975" y="2257425"/>
              <a:ext cx="247650" cy="247650"/>
            </a:xfrm>
            <a:prstGeom prst="rect">
              <a:avLst/>
            </a:prstGeom>
          </p:spPr>
        </p:pic>
        <p:pic>
          <p:nvPicPr>
            <p:cNvPr id="12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34175" y="2257425"/>
              <a:ext cx="247650" cy="247650"/>
            </a:xfrm>
            <a:prstGeom prst="rect">
              <a:avLst/>
            </a:prstGeom>
          </p:spPr>
        </p:pic>
        <p:sp>
          <p:nvSpPr>
            <p:cNvPr id="13" name="object 10"/>
            <p:cNvSpPr/>
            <p:nvPr/>
          </p:nvSpPr>
          <p:spPr>
            <a:xfrm>
              <a:off x="6667500" y="361950"/>
              <a:ext cx="449580" cy="1676400"/>
            </a:xfrm>
            <a:custGeom>
              <a:avLst/>
              <a:gdLst/>
              <a:ahLst/>
              <a:cxnLst/>
              <a:rect l="l" t="t" r="r" b="b"/>
              <a:pathLst>
                <a:path w="449579" h="1676400">
                  <a:moveTo>
                    <a:pt x="0" y="1676400"/>
                  </a:moveTo>
                  <a:lnTo>
                    <a:pt x="449199" y="0"/>
                  </a:lnTo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07238" y="2017712"/>
              <a:ext cx="101600" cy="101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26411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Resource</a:t>
            </a:r>
            <a:r>
              <a:rPr lang="en-IN" spc="-145" dirty="0"/>
              <a:t> </a:t>
            </a:r>
            <a:r>
              <a:rPr lang="en-IN" dirty="0"/>
              <a:t>allocation</a:t>
            </a:r>
            <a:r>
              <a:rPr lang="en-IN" spc="-150" dirty="0"/>
              <a:t> </a:t>
            </a:r>
            <a:r>
              <a:rPr lang="en-IN" dirty="0"/>
              <a:t>in</a:t>
            </a:r>
            <a:r>
              <a:rPr lang="en-IN" spc="-150" dirty="0"/>
              <a:t> </a:t>
            </a:r>
            <a:r>
              <a:rPr lang="en-IN" spc="-10" dirty="0" err="1"/>
              <a:t>datacenters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14-04-2026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6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1037743" y="4247614"/>
            <a:ext cx="7165340" cy="1991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46100">
              <a:lnSpc>
                <a:spcPct val="100000"/>
              </a:lnSpc>
              <a:spcBef>
                <a:spcPts val="95"/>
              </a:spcBef>
              <a:tabLst>
                <a:tab pos="3084830" algn="l"/>
                <a:tab pos="5981065" algn="l"/>
              </a:tabLst>
            </a:pPr>
            <a:r>
              <a:rPr sz="2400" spc="-15" baseline="3472" dirty="0">
                <a:latin typeface="Arial MT"/>
                <a:cs typeface="Arial MT"/>
              </a:rPr>
              <a:t>application</a:t>
            </a:r>
            <a:r>
              <a:rPr sz="2400" spc="-75" baseline="3472" dirty="0">
                <a:latin typeface="Arial MT"/>
                <a:cs typeface="Arial MT"/>
              </a:rPr>
              <a:t> A</a:t>
            </a:r>
            <a:r>
              <a:rPr sz="2400" baseline="3472" dirty="0">
                <a:latin typeface="Arial MT"/>
                <a:cs typeface="Arial MT"/>
              </a:rPr>
              <a:t>	</a:t>
            </a:r>
            <a:r>
              <a:rPr sz="2400" baseline="1736" dirty="0">
                <a:latin typeface="Arial MT"/>
                <a:cs typeface="Arial MT"/>
              </a:rPr>
              <a:t>application</a:t>
            </a:r>
            <a:r>
              <a:rPr sz="2400" spc="-112" baseline="1736" dirty="0">
                <a:latin typeface="Arial MT"/>
                <a:cs typeface="Arial MT"/>
              </a:rPr>
              <a:t> </a:t>
            </a:r>
            <a:r>
              <a:rPr sz="2400" spc="-75" baseline="1736" dirty="0">
                <a:latin typeface="Arial MT"/>
                <a:cs typeface="Arial MT"/>
              </a:rPr>
              <a:t>B</a:t>
            </a:r>
            <a:r>
              <a:rPr sz="2400" baseline="1736" dirty="0">
                <a:latin typeface="Arial MT"/>
                <a:cs typeface="Arial MT"/>
              </a:rPr>
              <a:t>	</a:t>
            </a:r>
            <a:r>
              <a:rPr sz="1600" dirty="0">
                <a:latin typeface="Arial MT"/>
                <a:cs typeface="Arial MT"/>
              </a:rPr>
              <a:t>application</a:t>
            </a:r>
            <a:r>
              <a:rPr sz="1600" spc="-75" dirty="0">
                <a:latin typeface="Arial MT"/>
                <a:cs typeface="Arial MT"/>
              </a:rPr>
              <a:t> </a:t>
            </a:r>
            <a:r>
              <a:rPr sz="1600" spc="-60" dirty="0">
                <a:latin typeface="Arial MT"/>
                <a:cs typeface="Arial MT"/>
              </a:rPr>
              <a:t>C</a:t>
            </a:r>
            <a:endParaRPr sz="1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600" dirty="0">
              <a:latin typeface="Arial MT"/>
              <a:cs typeface="Arial MT"/>
            </a:endParaRPr>
          </a:p>
          <a:p>
            <a:pPr marL="355600" marR="511809" indent="-343535">
              <a:lnSpc>
                <a:spcPct val="100000"/>
              </a:lnSpc>
              <a:spcBef>
                <a:spcPts val="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</a:t>
            </a:r>
            <a:r>
              <a:rPr sz="2400" spc="-8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Hybrid</a:t>
            </a:r>
            <a:r>
              <a:rPr sz="2400" spc="-6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Reinforcement</a:t>
            </a:r>
            <a:r>
              <a:rPr sz="2400" spc="-5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Learning</a:t>
            </a:r>
            <a:r>
              <a:rPr sz="2400" spc="-6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Approach</a:t>
            </a:r>
            <a:r>
              <a:rPr sz="2400" spc="-6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to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Autonomic</a:t>
            </a:r>
            <a:r>
              <a:rPr sz="2400" spc="-11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Resource</a:t>
            </a:r>
            <a:r>
              <a:rPr sz="2400" spc="-8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Allocation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Tesauro,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Jong,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Das,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Bennani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(IBM)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ICAC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2006</a:t>
            </a:r>
            <a:endParaRPr sz="2000" dirty="0">
              <a:latin typeface="Trebuchet MS"/>
              <a:cs typeface="Trebuchet MS"/>
            </a:endParaRPr>
          </a:p>
        </p:txBody>
      </p:sp>
      <p:grpSp>
        <p:nvGrpSpPr>
          <p:cNvPr id="7" name="object 4"/>
          <p:cNvGrpSpPr/>
          <p:nvPr/>
        </p:nvGrpSpPr>
        <p:grpSpPr>
          <a:xfrm>
            <a:off x="1406678" y="2744824"/>
            <a:ext cx="704850" cy="1162050"/>
            <a:chOff x="904875" y="3190875"/>
            <a:chExt cx="704850" cy="1162050"/>
          </a:xfrm>
        </p:grpSpPr>
        <p:sp>
          <p:nvSpPr>
            <p:cNvPr id="8" name="object 5"/>
            <p:cNvSpPr/>
            <p:nvPr/>
          </p:nvSpPr>
          <p:spPr>
            <a:xfrm>
              <a:off x="914400" y="320040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685800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685800" y="11430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6"/>
            <p:cNvSpPr/>
            <p:nvPr/>
          </p:nvSpPr>
          <p:spPr>
            <a:xfrm>
              <a:off x="914400" y="320040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0" y="1143000"/>
                  </a:moveTo>
                  <a:lnTo>
                    <a:pt x="685800" y="1143000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7"/>
          <p:cNvGrpSpPr/>
          <p:nvPr/>
        </p:nvGrpSpPr>
        <p:grpSpPr>
          <a:xfrm>
            <a:off x="2244878" y="2744824"/>
            <a:ext cx="704850" cy="1162050"/>
            <a:chOff x="1743075" y="3190875"/>
            <a:chExt cx="704850" cy="1162050"/>
          </a:xfrm>
        </p:grpSpPr>
        <p:sp>
          <p:nvSpPr>
            <p:cNvPr id="11" name="object 8"/>
            <p:cNvSpPr/>
            <p:nvPr/>
          </p:nvSpPr>
          <p:spPr>
            <a:xfrm>
              <a:off x="1752600" y="320040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685800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685800" y="11430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9"/>
            <p:cNvSpPr/>
            <p:nvPr/>
          </p:nvSpPr>
          <p:spPr>
            <a:xfrm>
              <a:off x="1752600" y="320040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0" y="1143000"/>
                  </a:moveTo>
                  <a:lnTo>
                    <a:pt x="685800" y="1143000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0"/>
          <p:cNvGrpSpPr/>
          <p:nvPr/>
        </p:nvGrpSpPr>
        <p:grpSpPr>
          <a:xfrm>
            <a:off x="3083078" y="2744824"/>
            <a:ext cx="704850" cy="1162050"/>
            <a:chOff x="2581275" y="3190875"/>
            <a:chExt cx="704850" cy="1162050"/>
          </a:xfrm>
        </p:grpSpPr>
        <p:sp>
          <p:nvSpPr>
            <p:cNvPr id="14" name="object 11"/>
            <p:cNvSpPr/>
            <p:nvPr/>
          </p:nvSpPr>
          <p:spPr>
            <a:xfrm>
              <a:off x="2590800" y="320040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685800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685800" y="11430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2"/>
            <p:cNvSpPr/>
            <p:nvPr/>
          </p:nvSpPr>
          <p:spPr>
            <a:xfrm>
              <a:off x="2590800" y="320040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0" y="1143000"/>
                  </a:moveTo>
                  <a:lnTo>
                    <a:pt x="685800" y="1143000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3"/>
          <p:cNvGrpSpPr/>
          <p:nvPr/>
        </p:nvGrpSpPr>
        <p:grpSpPr>
          <a:xfrm>
            <a:off x="3921278" y="2744824"/>
            <a:ext cx="704850" cy="1162050"/>
            <a:chOff x="3419475" y="3190875"/>
            <a:chExt cx="704850" cy="1162050"/>
          </a:xfrm>
        </p:grpSpPr>
        <p:sp>
          <p:nvSpPr>
            <p:cNvPr id="17" name="object 14"/>
            <p:cNvSpPr/>
            <p:nvPr/>
          </p:nvSpPr>
          <p:spPr>
            <a:xfrm>
              <a:off x="3429000" y="320040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685800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685800" y="11430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5"/>
            <p:cNvSpPr/>
            <p:nvPr/>
          </p:nvSpPr>
          <p:spPr>
            <a:xfrm>
              <a:off x="3429000" y="320040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0" y="1143000"/>
                  </a:moveTo>
                  <a:lnTo>
                    <a:pt x="685800" y="1143000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6"/>
          <p:cNvGrpSpPr/>
          <p:nvPr/>
        </p:nvGrpSpPr>
        <p:grpSpPr>
          <a:xfrm>
            <a:off x="4759478" y="2744824"/>
            <a:ext cx="704850" cy="1162050"/>
            <a:chOff x="4257675" y="3190875"/>
            <a:chExt cx="704850" cy="1162050"/>
          </a:xfrm>
        </p:grpSpPr>
        <p:sp>
          <p:nvSpPr>
            <p:cNvPr id="20" name="object 17"/>
            <p:cNvSpPr/>
            <p:nvPr/>
          </p:nvSpPr>
          <p:spPr>
            <a:xfrm>
              <a:off x="4267200" y="320040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685800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685800" y="11430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8"/>
            <p:cNvSpPr/>
            <p:nvPr/>
          </p:nvSpPr>
          <p:spPr>
            <a:xfrm>
              <a:off x="4267200" y="320040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0" y="1143000"/>
                  </a:moveTo>
                  <a:lnTo>
                    <a:pt x="685800" y="1143000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19"/>
          <p:cNvGrpSpPr/>
          <p:nvPr/>
        </p:nvGrpSpPr>
        <p:grpSpPr>
          <a:xfrm>
            <a:off x="5597678" y="2744824"/>
            <a:ext cx="704850" cy="1162050"/>
            <a:chOff x="5095875" y="3190875"/>
            <a:chExt cx="704850" cy="1162050"/>
          </a:xfrm>
        </p:grpSpPr>
        <p:sp>
          <p:nvSpPr>
            <p:cNvPr id="23" name="object 20"/>
            <p:cNvSpPr/>
            <p:nvPr/>
          </p:nvSpPr>
          <p:spPr>
            <a:xfrm>
              <a:off x="5105400" y="320040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685800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685800" y="11430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1"/>
            <p:cNvSpPr/>
            <p:nvPr/>
          </p:nvSpPr>
          <p:spPr>
            <a:xfrm>
              <a:off x="5105400" y="320040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0" y="1143000"/>
                  </a:moveTo>
                  <a:lnTo>
                    <a:pt x="685800" y="1143000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2"/>
          <p:cNvGrpSpPr/>
          <p:nvPr/>
        </p:nvGrpSpPr>
        <p:grpSpPr>
          <a:xfrm>
            <a:off x="6435878" y="2744824"/>
            <a:ext cx="704850" cy="1162050"/>
            <a:chOff x="5934075" y="3190875"/>
            <a:chExt cx="704850" cy="1162050"/>
          </a:xfrm>
        </p:grpSpPr>
        <p:sp>
          <p:nvSpPr>
            <p:cNvPr id="26" name="object 23"/>
            <p:cNvSpPr/>
            <p:nvPr/>
          </p:nvSpPr>
          <p:spPr>
            <a:xfrm>
              <a:off x="5943600" y="320040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685800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685800" y="11430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00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4"/>
            <p:cNvSpPr/>
            <p:nvPr/>
          </p:nvSpPr>
          <p:spPr>
            <a:xfrm>
              <a:off x="5943600" y="320040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0" y="1143000"/>
                  </a:moveTo>
                  <a:lnTo>
                    <a:pt x="685800" y="1143000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5"/>
          <p:cNvGrpSpPr/>
          <p:nvPr/>
        </p:nvGrpSpPr>
        <p:grpSpPr>
          <a:xfrm>
            <a:off x="7274078" y="2744824"/>
            <a:ext cx="704850" cy="1162050"/>
            <a:chOff x="6772275" y="3190875"/>
            <a:chExt cx="704850" cy="1162050"/>
          </a:xfrm>
        </p:grpSpPr>
        <p:sp>
          <p:nvSpPr>
            <p:cNvPr id="29" name="object 26"/>
            <p:cNvSpPr/>
            <p:nvPr/>
          </p:nvSpPr>
          <p:spPr>
            <a:xfrm>
              <a:off x="6781800" y="320040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685800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685800" y="11430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00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27"/>
            <p:cNvSpPr/>
            <p:nvPr/>
          </p:nvSpPr>
          <p:spPr>
            <a:xfrm>
              <a:off x="6781800" y="320040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0" y="1143000"/>
                  </a:moveTo>
                  <a:lnTo>
                    <a:pt x="685800" y="1143000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28"/>
          <p:cNvGrpSpPr/>
          <p:nvPr/>
        </p:nvGrpSpPr>
        <p:grpSpPr>
          <a:xfrm>
            <a:off x="8112278" y="2744824"/>
            <a:ext cx="704850" cy="1162050"/>
            <a:chOff x="7610475" y="3190875"/>
            <a:chExt cx="704850" cy="1162050"/>
          </a:xfrm>
        </p:grpSpPr>
        <p:sp>
          <p:nvSpPr>
            <p:cNvPr id="32" name="object 29"/>
            <p:cNvSpPr/>
            <p:nvPr/>
          </p:nvSpPr>
          <p:spPr>
            <a:xfrm>
              <a:off x="7620000" y="320040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685800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685800" y="11430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00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0"/>
            <p:cNvSpPr/>
            <p:nvPr/>
          </p:nvSpPr>
          <p:spPr>
            <a:xfrm>
              <a:off x="7620000" y="320040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0" y="1143000"/>
                  </a:moveTo>
                  <a:lnTo>
                    <a:pt x="685800" y="1143000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1"/>
          <p:cNvSpPr txBox="1"/>
          <p:nvPr/>
        </p:nvSpPr>
        <p:spPr>
          <a:xfrm>
            <a:off x="3930803" y="1687549"/>
            <a:ext cx="2286000" cy="304800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vert="horz" wrap="square" lIns="0" tIns="26034" rIns="0" bIns="0" rtlCol="0">
            <a:spAutoFit/>
          </a:bodyPr>
          <a:lstStyle/>
          <a:p>
            <a:pPr marL="561975">
              <a:lnSpc>
                <a:spcPct val="100000"/>
              </a:lnSpc>
              <a:spcBef>
                <a:spcPts val="204"/>
              </a:spcBef>
            </a:pPr>
            <a:r>
              <a:rPr sz="1600" spc="-10" dirty="0">
                <a:latin typeface="Arial MT"/>
                <a:cs typeface="Arial MT"/>
              </a:rPr>
              <a:t>loadbalancer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35" name="object 32"/>
          <p:cNvGrpSpPr/>
          <p:nvPr/>
        </p:nvGrpSpPr>
        <p:grpSpPr>
          <a:xfrm>
            <a:off x="4840440" y="768386"/>
            <a:ext cx="466725" cy="847725"/>
            <a:chOff x="4338637" y="1214437"/>
            <a:chExt cx="466725" cy="847725"/>
          </a:xfrm>
        </p:grpSpPr>
        <p:sp>
          <p:nvSpPr>
            <p:cNvPr id="36" name="object 33"/>
            <p:cNvSpPr/>
            <p:nvPr/>
          </p:nvSpPr>
          <p:spPr>
            <a:xfrm>
              <a:off x="4343400" y="1219200"/>
              <a:ext cx="457200" cy="838200"/>
            </a:xfrm>
            <a:custGeom>
              <a:avLst/>
              <a:gdLst/>
              <a:ahLst/>
              <a:cxnLst/>
              <a:rect l="l" t="t" r="r" b="b"/>
              <a:pathLst>
                <a:path w="457200" h="838200">
                  <a:moveTo>
                    <a:pt x="342900" y="0"/>
                  </a:moveTo>
                  <a:lnTo>
                    <a:pt x="114300" y="0"/>
                  </a:lnTo>
                  <a:lnTo>
                    <a:pt x="114300" y="628650"/>
                  </a:lnTo>
                  <a:lnTo>
                    <a:pt x="0" y="628650"/>
                  </a:lnTo>
                  <a:lnTo>
                    <a:pt x="228600" y="838200"/>
                  </a:lnTo>
                  <a:lnTo>
                    <a:pt x="457200" y="628650"/>
                  </a:lnTo>
                  <a:lnTo>
                    <a:pt x="342900" y="628650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4"/>
            <p:cNvSpPr/>
            <p:nvPr/>
          </p:nvSpPr>
          <p:spPr>
            <a:xfrm>
              <a:off x="4343400" y="1219200"/>
              <a:ext cx="457200" cy="838200"/>
            </a:xfrm>
            <a:custGeom>
              <a:avLst/>
              <a:gdLst/>
              <a:ahLst/>
              <a:cxnLst/>
              <a:rect l="l" t="t" r="r" b="b"/>
              <a:pathLst>
                <a:path w="457200" h="838200">
                  <a:moveTo>
                    <a:pt x="0" y="628650"/>
                  </a:moveTo>
                  <a:lnTo>
                    <a:pt x="114300" y="628650"/>
                  </a:lnTo>
                  <a:lnTo>
                    <a:pt x="114300" y="0"/>
                  </a:lnTo>
                  <a:lnTo>
                    <a:pt x="342900" y="0"/>
                  </a:lnTo>
                  <a:lnTo>
                    <a:pt x="342900" y="628650"/>
                  </a:lnTo>
                  <a:lnTo>
                    <a:pt x="457200" y="628650"/>
                  </a:lnTo>
                  <a:lnTo>
                    <a:pt x="228600" y="838200"/>
                  </a:lnTo>
                  <a:lnTo>
                    <a:pt x="0" y="6286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5"/>
          <p:cNvSpPr/>
          <p:nvPr/>
        </p:nvSpPr>
        <p:spPr>
          <a:xfrm>
            <a:off x="3397403" y="1978378"/>
            <a:ext cx="3962400" cy="635000"/>
          </a:xfrm>
          <a:custGeom>
            <a:avLst/>
            <a:gdLst/>
            <a:ahLst/>
            <a:cxnLst/>
            <a:rect l="l" t="t" r="r" b="b"/>
            <a:pathLst>
              <a:path w="3962400" h="635000">
                <a:moveTo>
                  <a:pt x="3962400" y="547370"/>
                </a:moveTo>
                <a:lnTo>
                  <a:pt x="3959644" y="545084"/>
                </a:lnTo>
                <a:lnTo>
                  <a:pt x="3888613" y="486156"/>
                </a:lnTo>
                <a:lnTo>
                  <a:pt x="3882123" y="514019"/>
                </a:lnTo>
                <a:lnTo>
                  <a:pt x="1679702" y="0"/>
                </a:lnTo>
                <a:lnTo>
                  <a:pt x="1676400" y="13970"/>
                </a:lnTo>
                <a:lnTo>
                  <a:pt x="1671574" y="508"/>
                </a:lnTo>
                <a:lnTo>
                  <a:pt x="75692" y="580834"/>
                </a:lnTo>
                <a:lnTo>
                  <a:pt x="65913" y="553974"/>
                </a:lnTo>
                <a:lnTo>
                  <a:pt x="0" y="623570"/>
                </a:lnTo>
                <a:lnTo>
                  <a:pt x="95250" y="634492"/>
                </a:lnTo>
                <a:lnTo>
                  <a:pt x="87236" y="612521"/>
                </a:lnTo>
                <a:lnTo>
                  <a:pt x="85458" y="607631"/>
                </a:lnTo>
                <a:lnTo>
                  <a:pt x="1662163" y="34366"/>
                </a:lnTo>
                <a:lnTo>
                  <a:pt x="1662049" y="461645"/>
                </a:lnTo>
                <a:lnTo>
                  <a:pt x="1633474" y="461645"/>
                </a:lnTo>
                <a:lnTo>
                  <a:pt x="1676400" y="547370"/>
                </a:lnTo>
                <a:lnTo>
                  <a:pt x="1712087" y="475869"/>
                </a:lnTo>
                <a:lnTo>
                  <a:pt x="1719199" y="461645"/>
                </a:lnTo>
                <a:lnTo>
                  <a:pt x="1690624" y="461645"/>
                </a:lnTo>
                <a:lnTo>
                  <a:pt x="1690738" y="32067"/>
                </a:lnTo>
                <a:lnTo>
                  <a:pt x="3875646" y="541832"/>
                </a:lnTo>
                <a:lnTo>
                  <a:pt x="3869182" y="569595"/>
                </a:lnTo>
                <a:lnTo>
                  <a:pt x="3962400" y="5473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6"/>
          <p:cNvSpPr/>
          <p:nvPr/>
        </p:nvSpPr>
        <p:spPr>
          <a:xfrm>
            <a:off x="1416203" y="3965675"/>
            <a:ext cx="1524000" cy="228600"/>
          </a:xfrm>
          <a:custGeom>
            <a:avLst/>
            <a:gdLst/>
            <a:ahLst/>
            <a:cxnLst/>
            <a:rect l="l" t="t" r="r" b="b"/>
            <a:pathLst>
              <a:path w="1524000" h="228600">
                <a:moveTo>
                  <a:pt x="1524000" y="0"/>
                </a:moveTo>
                <a:lnTo>
                  <a:pt x="1514014" y="44487"/>
                </a:lnTo>
                <a:lnTo>
                  <a:pt x="1486789" y="80819"/>
                </a:lnTo>
                <a:lnTo>
                  <a:pt x="1446418" y="105316"/>
                </a:lnTo>
                <a:lnTo>
                  <a:pt x="1397000" y="114300"/>
                </a:lnTo>
                <a:lnTo>
                  <a:pt x="889000" y="114300"/>
                </a:lnTo>
                <a:lnTo>
                  <a:pt x="839581" y="123265"/>
                </a:lnTo>
                <a:lnTo>
                  <a:pt x="799210" y="147732"/>
                </a:lnTo>
                <a:lnTo>
                  <a:pt x="771985" y="184058"/>
                </a:lnTo>
                <a:lnTo>
                  <a:pt x="762000" y="228600"/>
                </a:lnTo>
                <a:lnTo>
                  <a:pt x="752014" y="184058"/>
                </a:lnTo>
                <a:lnTo>
                  <a:pt x="724788" y="147732"/>
                </a:lnTo>
                <a:lnTo>
                  <a:pt x="684418" y="123265"/>
                </a:lnTo>
                <a:lnTo>
                  <a:pt x="635000" y="114300"/>
                </a:lnTo>
                <a:lnTo>
                  <a:pt x="127000" y="114300"/>
                </a:lnTo>
                <a:lnTo>
                  <a:pt x="77565" y="105316"/>
                </a:lnTo>
                <a:lnTo>
                  <a:pt x="37196" y="80819"/>
                </a:lnTo>
                <a:lnTo>
                  <a:pt x="9980" y="44487"/>
                </a:ln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37"/>
          <p:cNvSpPr/>
          <p:nvPr/>
        </p:nvSpPr>
        <p:spPr>
          <a:xfrm>
            <a:off x="3092603" y="3973549"/>
            <a:ext cx="3200400" cy="228600"/>
          </a:xfrm>
          <a:custGeom>
            <a:avLst/>
            <a:gdLst/>
            <a:ahLst/>
            <a:cxnLst/>
            <a:rect l="l" t="t" r="r" b="b"/>
            <a:pathLst>
              <a:path w="3200400" h="228600">
                <a:moveTo>
                  <a:pt x="3200400" y="0"/>
                </a:moveTo>
                <a:lnTo>
                  <a:pt x="3173296" y="50263"/>
                </a:lnTo>
                <a:lnTo>
                  <a:pt x="3100518" y="89187"/>
                </a:lnTo>
                <a:lnTo>
                  <a:pt x="3050999" y="102681"/>
                </a:lnTo>
                <a:lnTo>
                  <a:pt x="2994859" y="111280"/>
                </a:lnTo>
                <a:lnTo>
                  <a:pt x="2933700" y="114300"/>
                </a:lnTo>
                <a:lnTo>
                  <a:pt x="1866900" y="114300"/>
                </a:lnTo>
                <a:lnTo>
                  <a:pt x="1805740" y="117319"/>
                </a:lnTo>
                <a:lnTo>
                  <a:pt x="1749600" y="125918"/>
                </a:lnTo>
                <a:lnTo>
                  <a:pt x="1700081" y="139412"/>
                </a:lnTo>
                <a:lnTo>
                  <a:pt x="1658782" y="157114"/>
                </a:lnTo>
                <a:lnTo>
                  <a:pt x="1607242" y="202394"/>
                </a:lnTo>
                <a:lnTo>
                  <a:pt x="1600200" y="228600"/>
                </a:lnTo>
                <a:lnTo>
                  <a:pt x="1593157" y="202394"/>
                </a:lnTo>
                <a:lnTo>
                  <a:pt x="1541617" y="157114"/>
                </a:lnTo>
                <a:lnTo>
                  <a:pt x="1500318" y="139412"/>
                </a:lnTo>
                <a:lnTo>
                  <a:pt x="1450799" y="125918"/>
                </a:lnTo>
                <a:lnTo>
                  <a:pt x="1394659" y="117319"/>
                </a:lnTo>
                <a:lnTo>
                  <a:pt x="1333500" y="114300"/>
                </a:lnTo>
                <a:lnTo>
                  <a:pt x="266700" y="114300"/>
                </a:lnTo>
                <a:lnTo>
                  <a:pt x="205540" y="111280"/>
                </a:lnTo>
                <a:lnTo>
                  <a:pt x="149400" y="102681"/>
                </a:lnTo>
                <a:lnTo>
                  <a:pt x="99881" y="89187"/>
                </a:lnTo>
                <a:lnTo>
                  <a:pt x="58582" y="71485"/>
                </a:lnTo>
                <a:lnTo>
                  <a:pt x="7042" y="26205"/>
                </a:ln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38"/>
          <p:cNvSpPr/>
          <p:nvPr/>
        </p:nvSpPr>
        <p:spPr>
          <a:xfrm>
            <a:off x="6445403" y="3981550"/>
            <a:ext cx="2362200" cy="228600"/>
          </a:xfrm>
          <a:custGeom>
            <a:avLst/>
            <a:gdLst/>
            <a:ahLst/>
            <a:cxnLst/>
            <a:rect l="l" t="t" r="r" b="b"/>
            <a:pathLst>
              <a:path w="2362200" h="228600">
                <a:moveTo>
                  <a:pt x="2362200" y="0"/>
                </a:moveTo>
                <a:lnTo>
                  <a:pt x="2324217" y="67501"/>
                </a:lnTo>
                <a:lnTo>
                  <a:pt x="2281604" y="92244"/>
                </a:lnTo>
                <a:lnTo>
                  <a:pt x="2227567" y="108472"/>
                </a:lnTo>
                <a:lnTo>
                  <a:pt x="2165350" y="114300"/>
                </a:lnTo>
                <a:lnTo>
                  <a:pt x="1377950" y="114300"/>
                </a:lnTo>
                <a:lnTo>
                  <a:pt x="1315732" y="120115"/>
                </a:lnTo>
                <a:lnTo>
                  <a:pt x="1261695" y="136318"/>
                </a:lnTo>
                <a:lnTo>
                  <a:pt x="1219082" y="161044"/>
                </a:lnTo>
                <a:lnTo>
                  <a:pt x="1191136" y="192426"/>
                </a:lnTo>
                <a:lnTo>
                  <a:pt x="1181100" y="228600"/>
                </a:lnTo>
                <a:lnTo>
                  <a:pt x="1171063" y="192426"/>
                </a:lnTo>
                <a:lnTo>
                  <a:pt x="1143117" y="161044"/>
                </a:lnTo>
                <a:lnTo>
                  <a:pt x="1100504" y="136318"/>
                </a:lnTo>
                <a:lnTo>
                  <a:pt x="1046467" y="120115"/>
                </a:lnTo>
                <a:lnTo>
                  <a:pt x="984250" y="114300"/>
                </a:lnTo>
                <a:lnTo>
                  <a:pt x="196850" y="114300"/>
                </a:lnTo>
                <a:lnTo>
                  <a:pt x="134632" y="108472"/>
                </a:lnTo>
                <a:lnTo>
                  <a:pt x="80595" y="92244"/>
                </a:lnTo>
                <a:lnTo>
                  <a:pt x="37982" y="67501"/>
                </a:lnTo>
                <a:lnTo>
                  <a:pt x="10036" y="36124"/>
                </a:ln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57906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Robot</a:t>
            </a:r>
            <a:r>
              <a:rPr lang="en-IN" spc="-15" dirty="0" smtClean="0"/>
              <a:t> </a:t>
            </a:r>
            <a:r>
              <a:rPr lang="en-IN" dirty="0" smtClean="0"/>
              <a:t>in</a:t>
            </a:r>
            <a:r>
              <a:rPr lang="en-IN" spc="-30" dirty="0" smtClean="0"/>
              <a:t> </a:t>
            </a:r>
            <a:r>
              <a:rPr lang="en-IN" dirty="0" smtClean="0"/>
              <a:t>a</a:t>
            </a:r>
            <a:r>
              <a:rPr lang="en-IN" spc="-10" dirty="0" smtClean="0"/>
              <a:t> </a:t>
            </a:r>
            <a:r>
              <a:rPr lang="en-IN" spc="-20" dirty="0" smtClean="0"/>
              <a:t>room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14-04-2026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7</a:t>
            </a:fld>
            <a:endParaRPr lang="en-IN" dirty="0"/>
          </a:p>
        </p:txBody>
      </p:sp>
      <p:graphicFrame>
        <p:nvGraphicFramePr>
          <p:cNvPr id="6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694219"/>
              </p:ext>
            </p:extLst>
          </p:nvPr>
        </p:nvGraphicFramePr>
        <p:xfrm>
          <a:off x="1488277" y="982820"/>
          <a:ext cx="4103369" cy="27343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5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6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12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20"/>
                        </a:spcBef>
                      </a:pPr>
                      <a:r>
                        <a:rPr sz="2800" spc="-25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+1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2311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24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2800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2800" spc="-50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2324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0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41300">
                        <a:lnSpc>
                          <a:spcPct val="100000"/>
                        </a:lnSpc>
                      </a:pPr>
                      <a:r>
                        <a:rPr sz="1600" spc="-10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START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939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4"/>
          <p:cNvSpPr/>
          <p:nvPr/>
        </p:nvSpPr>
        <p:spPr>
          <a:xfrm>
            <a:off x="8807605" y="2070410"/>
            <a:ext cx="1008380" cy="906780"/>
          </a:xfrm>
          <a:custGeom>
            <a:avLst/>
            <a:gdLst/>
            <a:ahLst/>
            <a:cxnLst/>
            <a:rect l="l" t="t" r="r" b="b"/>
            <a:pathLst>
              <a:path w="1008379" h="906779">
                <a:moveTo>
                  <a:pt x="1007999" y="792226"/>
                </a:moveTo>
                <a:lnTo>
                  <a:pt x="931621" y="753999"/>
                </a:lnTo>
                <a:lnTo>
                  <a:pt x="779399" y="677799"/>
                </a:lnTo>
                <a:lnTo>
                  <a:pt x="779399" y="753999"/>
                </a:lnTo>
                <a:lnTo>
                  <a:pt x="579374" y="753999"/>
                </a:lnTo>
                <a:lnTo>
                  <a:pt x="579374" y="457200"/>
                </a:lnTo>
                <a:lnTo>
                  <a:pt x="731774" y="457200"/>
                </a:lnTo>
                <a:lnTo>
                  <a:pt x="693686" y="381000"/>
                </a:lnTo>
                <a:lnTo>
                  <a:pt x="503301" y="0"/>
                </a:lnTo>
                <a:lnTo>
                  <a:pt x="274574" y="457200"/>
                </a:lnTo>
                <a:lnTo>
                  <a:pt x="426974" y="457200"/>
                </a:lnTo>
                <a:lnTo>
                  <a:pt x="426974" y="753999"/>
                </a:lnTo>
                <a:lnTo>
                  <a:pt x="228600" y="753999"/>
                </a:lnTo>
                <a:lnTo>
                  <a:pt x="228600" y="677799"/>
                </a:lnTo>
                <a:lnTo>
                  <a:pt x="0" y="792099"/>
                </a:lnTo>
                <a:lnTo>
                  <a:pt x="228600" y="906399"/>
                </a:lnTo>
                <a:lnTo>
                  <a:pt x="228600" y="830199"/>
                </a:lnTo>
                <a:lnTo>
                  <a:pt x="503174" y="830199"/>
                </a:lnTo>
                <a:lnTo>
                  <a:pt x="503174" y="830326"/>
                </a:lnTo>
                <a:lnTo>
                  <a:pt x="779399" y="830326"/>
                </a:lnTo>
                <a:lnTo>
                  <a:pt x="779399" y="906526"/>
                </a:lnTo>
                <a:lnTo>
                  <a:pt x="931799" y="830326"/>
                </a:lnTo>
                <a:lnTo>
                  <a:pt x="1007999" y="7922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5"/>
          <p:cNvSpPr txBox="1"/>
          <p:nvPr/>
        </p:nvSpPr>
        <p:spPr>
          <a:xfrm>
            <a:off x="6399431" y="1103940"/>
            <a:ext cx="3316604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actions:</a:t>
            </a:r>
            <a:r>
              <a:rPr sz="1800" spc="-85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UP,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DOWN,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LEFT,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RIGHT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b="1" spc="-25" dirty="0">
                <a:latin typeface="Trebuchet MS"/>
                <a:cs typeface="Trebuchet MS"/>
              </a:rPr>
              <a:t>UP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6"/>
          <p:cNvSpPr txBox="1"/>
          <p:nvPr/>
        </p:nvSpPr>
        <p:spPr>
          <a:xfrm>
            <a:off x="6399431" y="2201601"/>
            <a:ext cx="40449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rebuchet MS"/>
                <a:cs typeface="Trebuchet MS"/>
              </a:rPr>
              <a:t>80%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latin typeface="Trebuchet MS"/>
                <a:cs typeface="Trebuchet MS"/>
              </a:rPr>
              <a:t>10%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latin typeface="Trebuchet MS"/>
                <a:cs typeface="Trebuchet MS"/>
              </a:rPr>
              <a:t>10%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" name="object 7"/>
          <p:cNvSpPr txBox="1"/>
          <p:nvPr/>
        </p:nvSpPr>
        <p:spPr>
          <a:xfrm>
            <a:off x="7314212" y="2201601"/>
            <a:ext cx="12763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move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UP </a:t>
            </a:r>
            <a:r>
              <a:rPr sz="1800" dirty="0">
                <a:latin typeface="Trebuchet MS"/>
                <a:cs typeface="Trebuchet MS"/>
              </a:rPr>
              <a:t>move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LEFT </a:t>
            </a:r>
            <a:r>
              <a:rPr sz="1800" dirty="0">
                <a:latin typeface="Trebuchet MS"/>
                <a:cs typeface="Trebuchet MS"/>
              </a:rPr>
              <a:t>move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RIGHT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" name="object 8"/>
          <p:cNvSpPr txBox="1"/>
          <p:nvPr/>
        </p:nvSpPr>
        <p:spPr>
          <a:xfrm>
            <a:off x="6399431" y="3299136"/>
            <a:ext cx="27527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066FF"/>
                </a:solidFill>
                <a:latin typeface="Trebuchet MS"/>
                <a:cs typeface="Trebuchet MS"/>
              </a:rPr>
              <a:t>reward</a:t>
            </a:r>
            <a:r>
              <a:rPr sz="1600" spc="-3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0066FF"/>
                </a:solidFill>
                <a:latin typeface="Trebuchet MS"/>
                <a:cs typeface="Trebuchet MS"/>
              </a:rPr>
              <a:t>+1</a:t>
            </a:r>
            <a:r>
              <a:rPr sz="1600" spc="-1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0066FF"/>
                </a:solidFill>
                <a:latin typeface="Trebuchet MS"/>
                <a:cs typeface="Trebuchet MS"/>
              </a:rPr>
              <a:t>at</a:t>
            </a:r>
            <a:r>
              <a:rPr sz="1600" spc="-2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0066FF"/>
                </a:solidFill>
                <a:latin typeface="Trebuchet MS"/>
                <a:cs typeface="Trebuchet MS"/>
              </a:rPr>
              <a:t>[4,3],</a:t>
            </a:r>
            <a:r>
              <a:rPr sz="1600" spc="-10" dirty="0">
                <a:solidFill>
                  <a:srgbClr val="0066FF"/>
                </a:solidFill>
                <a:latin typeface="Trebuchet MS"/>
                <a:cs typeface="Trebuchet MS"/>
              </a:rPr>
              <a:t> -</a:t>
            </a:r>
            <a:r>
              <a:rPr sz="1600" dirty="0">
                <a:solidFill>
                  <a:srgbClr val="0066FF"/>
                </a:solidFill>
                <a:latin typeface="Trebuchet MS"/>
                <a:cs typeface="Trebuchet MS"/>
              </a:rPr>
              <a:t>1</a:t>
            </a:r>
            <a:r>
              <a:rPr sz="1600" spc="-2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0066FF"/>
                </a:solidFill>
                <a:latin typeface="Trebuchet MS"/>
                <a:cs typeface="Trebuchet MS"/>
              </a:rPr>
              <a:t>at</a:t>
            </a:r>
            <a:r>
              <a:rPr sz="1600" spc="-2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1600" spc="-20" dirty="0">
                <a:solidFill>
                  <a:srgbClr val="0066FF"/>
                </a:solidFill>
                <a:latin typeface="Trebuchet MS"/>
                <a:cs typeface="Trebuchet MS"/>
              </a:rPr>
              <a:t>[4,2] </a:t>
            </a:r>
            <a:r>
              <a:rPr sz="1600" dirty="0">
                <a:solidFill>
                  <a:srgbClr val="0066FF"/>
                </a:solidFill>
                <a:latin typeface="Trebuchet MS"/>
                <a:cs typeface="Trebuchet MS"/>
              </a:rPr>
              <a:t>reward</a:t>
            </a:r>
            <a:r>
              <a:rPr sz="1600" spc="-3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0066FF"/>
                </a:solidFill>
                <a:latin typeface="Trebuchet MS"/>
                <a:cs typeface="Trebuchet MS"/>
              </a:rPr>
              <a:t>-</a:t>
            </a:r>
            <a:r>
              <a:rPr sz="1600" dirty="0">
                <a:solidFill>
                  <a:srgbClr val="0066FF"/>
                </a:solidFill>
                <a:latin typeface="Trebuchet MS"/>
                <a:cs typeface="Trebuchet MS"/>
              </a:rPr>
              <a:t>0.04</a:t>
            </a:r>
            <a:r>
              <a:rPr sz="1600" spc="-3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0066FF"/>
                </a:solidFill>
                <a:latin typeface="Trebuchet MS"/>
                <a:cs typeface="Trebuchet MS"/>
              </a:rPr>
              <a:t>for</a:t>
            </a:r>
            <a:r>
              <a:rPr sz="1600" spc="-1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0066FF"/>
                </a:solidFill>
                <a:latin typeface="Trebuchet MS"/>
                <a:cs typeface="Trebuchet MS"/>
              </a:rPr>
              <a:t>each</a:t>
            </a:r>
            <a:r>
              <a:rPr sz="1600" spc="-3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1600" spc="-20" dirty="0">
                <a:solidFill>
                  <a:srgbClr val="0066FF"/>
                </a:solidFill>
                <a:latin typeface="Trebuchet MS"/>
                <a:cs typeface="Trebuchet MS"/>
              </a:rPr>
              <a:t>step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2" name="object 9"/>
          <p:cNvSpPr txBox="1"/>
          <p:nvPr/>
        </p:nvSpPr>
        <p:spPr>
          <a:xfrm>
            <a:off x="1952145" y="4020876"/>
            <a:ext cx="3175635" cy="214757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states</a:t>
            </a:r>
            <a:endParaRPr sz="24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actions</a:t>
            </a:r>
            <a:endParaRPr sz="24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rewards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70"/>
              </a:spcBef>
              <a:buClr>
                <a:srgbClr val="0066FF"/>
              </a:buClr>
              <a:buFont typeface="Trebuchet MS"/>
              <a:buChar char="•"/>
            </a:pPr>
            <a:endParaRPr sz="24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what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is</a:t>
            </a:r>
            <a:r>
              <a:rPr sz="2400" spc="-4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the</a:t>
            </a:r>
            <a:r>
              <a:rPr sz="2400" spc="-5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solution?</a:t>
            </a:r>
            <a:endParaRPr sz="240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482642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Is</a:t>
            </a:r>
            <a:r>
              <a:rPr lang="en-IN" spc="-15" dirty="0" smtClean="0"/>
              <a:t> </a:t>
            </a:r>
            <a:r>
              <a:rPr lang="en-IN" dirty="0" smtClean="0"/>
              <a:t>this</a:t>
            </a:r>
            <a:r>
              <a:rPr lang="en-IN" spc="-25" dirty="0" smtClean="0"/>
              <a:t> </a:t>
            </a:r>
            <a:r>
              <a:rPr lang="en-IN" dirty="0" smtClean="0"/>
              <a:t>a</a:t>
            </a:r>
            <a:r>
              <a:rPr lang="en-IN" spc="-5" dirty="0" smtClean="0"/>
              <a:t> </a:t>
            </a:r>
            <a:r>
              <a:rPr lang="en-IN" spc="-10" dirty="0" smtClean="0"/>
              <a:t>solution?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14-04-2026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8</a:t>
            </a:fld>
            <a:endParaRPr lang="en-IN" dirty="0"/>
          </a:p>
        </p:txBody>
      </p:sp>
      <p:graphicFrame>
        <p:nvGraphicFramePr>
          <p:cNvPr id="6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8450639"/>
              </p:ext>
            </p:extLst>
          </p:nvPr>
        </p:nvGraphicFramePr>
        <p:xfrm>
          <a:off x="1513390" y="1056230"/>
          <a:ext cx="4103369" cy="27343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5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6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12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20"/>
                        </a:spcBef>
                      </a:pPr>
                      <a:r>
                        <a:rPr sz="2800" spc="-25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+1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2311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24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2800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2800" spc="-50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2324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0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4"/>
          <p:cNvSpPr/>
          <p:nvPr/>
        </p:nvSpPr>
        <p:spPr>
          <a:xfrm>
            <a:off x="1762627" y="1351441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80" h="381000">
                <a:moveTo>
                  <a:pt x="322262" y="0"/>
                </a:moveTo>
                <a:lnTo>
                  <a:pt x="322262" y="381000"/>
                </a:lnTo>
                <a:lnTo>
                  <a:pt x="491426" y="254126"/>
                </a:lnTo>
                <a:lnTo>
                  <a:pt x="385762" y="254126"/>
                </a:lnTo>
                <a:lnTo>
                  <a:pt x="385762" y="127126"/>
                </a:lnTo>
                <a:lnTo>
                  <a:pt x="491765" y="127126"/>
                </a:lnTo>
                <a:lnTo>
                  <a:pt x="322262" y="0"/>
                </a:lnTo>
                <a:close/>
              </a:path>
              <a:path w="576580" h="381000">
                <a:moveTo>
                  <a:pt x="322262" y="127126"/>
                </a:moveTo>
                <a:lnTo>
                  <a:pt x="0" y="127126"/>
                </a:lnTo>
                <a:lnTo>
                  <a:pt x="0" y="254126"/>
                </a:lnTo>
                <a:lnTo>
                  <a:pt x="322262" y="254126"/>
                </a:lnTo>
                <a:lnTo>
                  <a:pt x="322262" y="127126"/>
                </a:lnTo>
                <a:close/>
              </a:path>
              <a:path w="576580" h="381000">
                <a:moveTo>
                  <a:pt x="491765" y="127126"/>
                </a:moveTo>
                <a:lnTo>
                  <a:pt x="385762" y="127126"/>
                </a:lnTo>
                <a:lnTo>
                  <a:pt x="385762" y="254126"/>
                </a:lnTo>
                <a:lnTo>
                  <a:pt x="491426" y="254126"/>
                </a:lnTo>
                <a:lnTo>
                  <a:pt x="576262" y="190500"/>
                </a:lnTo>
                <a:lnTo>
                  <a:pt x="491765" y="1271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5"/>
          <p:cNvSpPr/>
          <p:nvPr/>
        </p:nvSpPr>
        <p:spPr>
          <a:xfrm>
            <a:off x="1840415" y="3081816"/>
            <a:ext cx="381000" cy="506730"/>
          </a:xfrm>
          <a:custGeom>
            <a:avLst/>
            <a:gdLst/>
            <a:ahLst/>
            <a:cxnLst/>
            <a:rect l="l" t="t" r="r" b="b"/>
            <a:pathLst>
              <a:path w="381000" h="506729">
                <a:moveTo>
                  <a:pt x="254000" y="190500"/>
                </a:moveTo>
                <a:lnTo>
                  <a:pt x="127000" y="190500"/>
                </a:lnTo>
                <a:lnTo>
                  <a:pt x="127000" y="506475"/>
                </a:lnTo>
                <a:lnTo>
                  <a:pt x="254000" y="506475"/>
                </a:lnTo>
                <a:lnTo>
                  <a:pt x="254000" y="190500"/>
                </a:lnTo>
                <a:close/>
              </a:path>
              <a:path w="381000" h="506729">
                <a:moveTo>
                  <a:pt x="190500" y="0"/>
                </a:moveTo>
                <a:lnTo>
                  <a:pt x="0" y="254000"/>
                </a:lnTo>
                <a:lnTo>
                  <a:pt x="127000" y="254000"/>
                </a:lnTo>
                <a:lnTo>
                  <a:pt x="127000" y="190500"/>
                </a:lnTo>
                <a:lnTo>
                  <a:pt x="333375" y="190500"/>
                </a:lnTo>
                <a:lnTo>
                  <a:pt x="190500" y="0"/>
                </a:lnTo>
                <a:close/>
              </a:path>
              <a:path w="381000" h="506729">
                <a:moveTo>
                  <a:pt x="333375" y="190500"/>
                </a:moveTo>
                <a:lnTo>
                  <a:pt x="254000" y="190500"/>
                </a:lnTo>
                <a:lnTo>
                  <a:pt x="254000" y="254000"/>
                </a:lnTo>
                <a:lnTo>
                  <a:pt x="381000" y="254000"/>
                </a:lnTo>
                <a:lnTo>
                  <a:pt x="333375" y="190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6"/>
          <p:cNvSpPr/>
          <p:nvPr/>
        </p:nvSpPr>
        <p:spPr>
          <a:xfrm>
            <a:off x="2803963" y="1345091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80" h="381000">
                <a:moveTo>
                  <a:pt x="322325" y="0"/>
                </a:moveTo>
                <a:lnTo>
                  <a:pt x="322325" y="381000"/>
                </a:lnTo>
                <a:lnTo>
                  <a:pt x="491490" y="254126"/>
                </a:lnTo>
                <a:lnTo>
                  <a:pt x="385825" y="254126"/>
                </a:lnTo>
                <a:lnTo>
                  <a:pt x="385825" y="127126"/>
                </a:lnTo>
                <a:lnTo>
                  <a:pt x="491828" y="127126"/>
                </a:lnTo>
                <a:lnTo>
                  <a:pt x="322325" y="0"/>
                </a:lnTo>
                <a:close/>
              </a:path>
              <a:path w="576580" h="381000">
                <a:moveTo>
                  <a:pt x="322325" y="127126"/>
                </a:moveTo>
                <a:lnTo>
                  <a:pt x="0" y="127126"/>
                </a:lnTo>
                <a:lnTo>
                  <a:pt x="126" y="254126"/>
                </a:lnTo>
                <a:lnTo>
                  <a:pt x="322325" y="254126"/>
                </a:lnTo>
                <a:lnTo>
                  <a:pt x="322325" y="127126"/>
                </a:lnTo>
                <a:close/>
              </a:path>
              <a:path w="576580" h="381000">
                <a:moveTo>
                  <a:pt x="491828" y="127126"/>
                </a:moveTo>
                <a:lnTo>
                  <a:pt x="385825" y="127126"/>
                </a:lnTo>
                <a:lnTo>
                  <a:pt x="385825" y="254126"/>
                </a:lnTo>
                <a:lnTo>
                  <a:pt x="491490" y="254126"/>
                </a:lnTo>
                <a:lnTo>
                  <a:pt x="576326" y="190500"/>
                </a:lnTo>
                <a:lnTo>
                  <a:pt x="491828" y="1271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7"/>
          <p:cNvSpPr/>
          <p:nvPr/>
        </p:nvSpPr>
        <p:spPr>
          <a:xfrm>
            <a:off x="3831140" y="1345091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79" h="381000">
                <a:moveTo>
                  <a:pt x="322199" y="0"/>
                </a:moveTo>
                <a:lnTo>
                  <a:pt x="322325" y="381000"/>
                </a:lnTo>
                <a:lnTo>
                  <a:pt x="491405" y="254126"/>
                </a:lnTo>
                <a:lnTo>
                  <a:pt x="385699" y="254126"/>
                </a:lnTo>
                <a:lnTo>
                  <a:pt x="385699" y="127126"/>
                </a:lnTo>
                <a:lnTo>
                  <a:pt x="491701" y="127126"/>
                </a:lnTo>
                <a:lnTo>
                  <a:pt x="322199" y="0"/>
                </a:lnTo>
                <a:close/>
              </a:path>
              <a:path w="576579" h="381000">
                <a:moveTo>
                  <a:pt x="322241" y="127126"/>
                </a:moveTo>
                <a:lnTo>
                  <a:pt x="0" y="127126"/>
                </a:lnTo>
                <a:lnTo>
                  <a:pt x="0" y="254126"/>
                </a:lnTo>
                <a:lnTo>
                  <a:pt x="322283" y="254126"/>
                </a:lnTo>
                <a:lnTo>
                  <a:pt x="322241" y="127126"/>
                </a:lnTo>
                <a:close/>
              </a:path>
              <a:path w="576579" h="381000">
                <a:moveTo>
                  <a:pt x="491701" y="127126"/>
                </a:moveTo>
                <a:lnTo>
                  <a:pt x="385699" y="127126"/>
                </a:lnTo>
                <a:lnTo>
                  <a:pt x="385699" y="254126"/>
                </a:lnTo>
                <a:lnTo>
                  <a:pt x="491405" y="254126"/>
                </a:lnTo>
                <a:lnTo>
                  <a:pt x="576199" y="190500"/>
                </a:lnTo>
                <a:lnTo>
                  <a:pt x="491701" y="1271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8"/>
          <p:cNvSpPr/>
          <p:nvPr/>
        </p:nvSpPr>
        <p:spPr>
          <a:xfrm>
            <a:off x="1840415" y="2146843"/>
            <a:ext cx="381000" cy="506730"/>
          </a:xfrm>
          <a:custGeom>
            <a:avLst/>
            <a:gdLst/>
            <a:ahLst/>
            <a:cxnLst/>
            <a:rect l="l" t="t" r="r" b="b"/>
            <a:pathLst>
              <a:path w="381000" h="506730">
                <a:moveTo>
                  <a:pt x="254000" y="190500"/>
                </a:moveTo>
                <a:lnTo>
                  <a:pt x="127000" y="190500"/>
                </a:lnTo>
                <a:lnTo>
                  <a:pt x="127000" y="506475"/>
                </a:lnTo>
                <a:lnTo>
                  <a:pt x="254000" y="506475"/>
                </a:lnTo>
                <a:lnTo>
                  <a:pt x="254000" y="190500"/>
                </a:lnTo>
                <a:close/>
              </a:path>
              <a:path w="381000" h="506730">
                <a:moveTo>
                  <a:pt x="190500" y="0"/>
                </a:moveTo>
                <a:lnTo>
                  <a:pt x="0" y="254000"/>
                </a:lnTo>
                <a:lnTo>
                  <a:pt x="127000" y="254000"/>
                </a:lnTo>
                <a:lnTo>
                  <a:pt x="127000" y="190500"/>
                </a:lnTo>
                <a:lnTo>
                  <a:pt x="333375" y="190500"/>
                </a:lnTo>
                <a:lnTo>
                  <a:pt x="190500" y="0"/>
                </a:lnTo>
                <a:close/>
              </a:path>
              <a:path w="381000" h="506730">
                <a:moveTo>
                  <a:pt x="333375" y="190500"/>
                </a:moveTo>
                <a:lnTo>
                  <a:pt x="254000" y="190500"/>
                </a:lnTo>
                <a:lnTo>
                  <a:pt x="254000" y="254000"/>
                </a:lnTo>
                <a:lnTo>
                  <a:pt x="381000" y="254000"/>
                </a:lnTo>
                <a:lnTo>
                  <a:pt x="333375" y="190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9"/>
          <p:cNvSpPr txBox="1"/>
          <p:nvPr/>
        </p:nvSpPr>
        <p:spPr>
          <a:xfrm>
            <a:off x="1595305" y="3939672"/>
            <a:ext cx="5235575" cy="2005964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9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only</a:t>
            </a:r>
            <a:r>
              <a:rPr sz="2400" spc="-3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if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actions</a:t>
            </a:r>
            <a:r>
              <a:rPr sz="2400" spc="-2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deterministic</a:t>
            </a:r>
            <a:endParaRPr sz="24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50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not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in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this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case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(actions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are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stochastic)</a:t>
            </a:r>
            <a:endParaRPr sz="20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1115"/>
              </a:spcBef>
              <a:buFont typeface="Trebuchet MS"/>
              <a:buChar char="–"/>
            </a:pPr>
            <a:endParaRPr sz="20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solution/policy</a:t>
            </a:r>
            <a:endParaRPr sz="24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50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mapping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from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each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state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action</a:t>
            </a:r>
            <a:endParaRPr sz="200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4252254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Optimal </a:t>
            </a:r>
            <a:r>
              <a:rPr lang="en-IN" spc="-10" dirty="0" smtClean="0"/>
              <a:t>policy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14-04-2026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9</a:t>
            </a:fld>
            <a:endParaRPr lang="en-IN" dirty="0"/>
          </a:p>
        </p:txBody>
      </p:sp>
      <p:graphicFrame>
        <p:nvGraphicFramePr>
          <p:cNvPr id="6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0920728"/>
              </p:ext>
            </p:extLst>
          </p:nvPr>
        </p:nvGraphicFramePr>
        <p:xfrm>
          <a:off x="1201154" y="1301557"/>
          <a:ext cx="4103369" cy="27343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5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6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12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20"/>
                        </a:spcBef>
                      </a:pPr>
                      <a:r>
                        <a:rPr sz="2800" spc="-25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+1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2311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24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2800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2800" spc="-50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2324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0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4"/>
          <p:cNvSpPr/>
          <p:nvPr/>
        </p:nvSpPr>
        <p:spPr>
          <a:xfrm>
            <a:off x="3587230" y="2393821"/>
            <a:ext cx="381000" cy="506730"/>
          </a:xfrm>
          <a:custGeom>
            <a:avLst/>
            <a:gdLst/>
            <a:ahLst/>
            <a:cxnLst/>
            <a:rect l="l" t="t" r="r" b="b"/>
            <a:pathLst>
              <a:path w="381000" h="506730">
                <a:moveTo>
                  <a:pt x="254000" y="190500"/>
                </a:moveTo>
                <a:lnTo>
                  <a:pt x="127000" y="190500"/>
                </a:lnTo>
                <a:lnTo>
                  <a:pt x="126873" y="506349"/>
                </a:lnTo>
                <a:lnTo>
                  <a:pt x="253873" y="506349"/>
                </a:lnTo>
                <a:lnTo>
                  <a:pt x="254000" y="190500"/>
                </a:lnTo>
                <a:close/>
              </a:path>
              <a:path w="381000" h="506730">
                <a:moveTo>
                  <a:pt x="190500" y="0"/>
                </a:moveTo>
                <a:lnTo>
                  <a:pt x="0" y="254000"/>
                </a:lnTo>
                <a:lnTo>
                  <a:pt x="126974" y="254000"/>
                </a:lnTo>
                <a:lnTo>
                  <a:pt x="127000" y="190500"/>
                </a:lnTo>
                <a:lnTo>
                  <a:pt x="333279" y="190500"/>
                </a:lnTo>
                <a:lnTo>
                  <a:pt x="190500" y="0"/>
                </a:lnTo>
                <a:close/>
              </a:path>
              <a:path w="381000" h="506730">
                <a:moveTo>
                  <a:pt x="333279" y="190500"/>
                </a:moveTo>
                <a:lnTo>
                  <a:pt x="254000" y="190500"/>
                </a:lnTo>
                <a:lnTo>
                  <a:pt x="253974" y="254000"/>
                </a:lnTo>
                <a:lnTo>
                  <a:pt x="380873" y="254000"/>
                </a:lnTo>
                <a:lnTo>
                  <a:pt x="333279" y="190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5"/>
          <p:cNvSpPr/>
          <p:nvPr/>
        </p:nvSpPr>
        <p:spPr>
          <a:xfrm>
            <a:off x="1450391" y="1601595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80" h="381000">
                <a:moveTo>
                  <a:pt x="322262" y="0"/>
                </a:moveTo>
                <a:lnTo>
                  <a:pt x="322262" y="381000"/>
                </a:lnTo>
                <a:lnTo>
                  <a:pt x="491595" y="254000"/>
                </a:lnTo>
                <a:lnTo>
                  <a:pt x="385762" y="254000"/>
                </a:lnTo>
                <a:lnTo>
                  <a:pt x="385762" y="127000"/>
                </a:lnTo>
                <a:lnTo>
                  <a:pt x="491595" y="127000"/>
                </a:lnTo>
                <a:lnTo>
                  <a:pt x="322262" y="0"/>
                </a:lnTo>
                <a:close/>
              </a:path>
              <a:path w="576580" h="381000">
                <a:moveTo>
                  <a:pt x="322262" y="127000"/>
                </a:moveTo>
                <a:lnTo>
                  <a:pt x="0" y="127000"/>
                </a:lnTo>
                <a:lnTo>
                  <a:pt x="0" y="254000"/>
                </a:lnTo>
                <a:lnTo>
                  <a:pt x="322262" y="254000"/>
                </a:lnTo>
                <a:lnTo>
                  <a:pt x="322262" y="127000"/>
                </a:lnTo>
                <a:close/>
              </a:path>
              <a:path w="576580" h="381000">
                <a:moveTo>
                  <a:pt x="491595" y="127000"/>
                </a:moveTo>
                <a:lnTo>
                  <a:pt x="385762" y="127000"/>
                </a:lnTo>
                <a:lnTo>
                  <a:pt x="385762" y="254000"/>
                </a:lnTo>
                <a:lnTo>
                  <a:pt x="491595" y="254000"/>
                </a:lnTo>
                <a:lnTo>
                  <a:pt x="576262" y="190500"/>
                </a:lnTo>
                <a:lnTo>
                  <a:pt x="491595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6"/>
          <p:cNvSpPr/>
          <p:nvPr/>
        </p:nvSpPr>
        <p:spPr>
          <a:xfrm>
            <a:off x="1528179" y="3331970"/>
            <a:ext cx="381000" cy="506730"/>
          </a:xfrm>
          <a:custGeom>
            <a:avLst/>
            <a:gdLst/>
            <a:ahLst/>
            <a:cxnLst/>
            <a:rect l="l" t="t" r="r" b="b"/>
            <a:pathLst>
              <a:path w="381000" h="506729">
                <a:moveTo>
                  <a:pt x="254000" y="190500"/>
                </a:moveTo>
                <a:lnTo>
                  <a:pt x="127000" y="190500"/>
                </a:lnTo>
                <a:lnTo>
                  <a:pt x="127000" y="506475"/>
                </a:lnTo>
                <a:lnTo>
                  <a:pt x="254000" y="506475"/>
                </a:lnTo>
                <a:lnTo>
                  <a:pt x="254000" y="190500"/>
                </a:lnTo>
                <a:close/>
              </a:path>
              <a:path w="381000" h="506729">
                <a:moveTo>
                  <a:pt x="190500" y="0"/>
                </a:moveTo>
                <a:lnTo>
                  <a:pt x="0" y="254000"/>
                </a:lnTo>
                <a:lnTo>
                  <a:pt x="127000" y="254000"/>
                </a:lnTo>
                <a:lnTo>
                  <a:pt x="127000" y="190500"/>
                </a:lnTo>
                <a:lnTo>
                  <a:pt x="333375" y="190500"/>
                </a:lnTo>
                <a:lnTo>
                  <a:pt x="190500" y="0"/>
                </a:lnTo>
                <a:close/>
              </a:path>
              <a:path w="381000" h="506729">
                <a:moveTo>
                  <a:pt x="333375" y="190500"/>
                </a:moveTo>
                <a:lnTo>
                  <a:pt x="254000" y="190500"/>
                </a:lnTo>
                <a:lnTo>
                  <a:pt x="254000" y="254000"/>
                </a:lnTo>
                <a:lnTo>
                  <a:pt x="381000" y="254000"/>
                </a:lnTo>
                <a:lnTo>
                  <a:pt x="333375" y="190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7"/>
          <p:cNvSpPr/>
          <p:nvPr/>
        </p:nvSpPr>
        <p:spPr>
          <a:xfrm>
            <a:off x="2491727" y="1595245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80" h="381000">
                <a:moveTo>
                  <a:pt x="322325" y="0"/>
                </a:moveTo>
                <a:lnTo>
                  <a:pt x="322325" y="381000"/>
                </a:lnTo>
                <a:lnTo>
                  <a:pt x="491659" y="254000"/>
                </a:lnTo>
                <a:lnTo>
                  <a:pt x="385825" y="254000"/>
                </a:lnTo>
                <a:lnTo>
                  <a:pt x="385825" y="127000"/>
                </a:lnTo>
                <a:lnTo>
                  <a:pt x="491659" y="127000"/>
                </a:lnTo>
                <a:lnTo>
                  <a:pt x="322325" y="0"/>
                </a:lnTo>
                <a:close/>
              </a:path>
              <a:path w="576580" h="381000">
                <a:moveTo>
                  <a:pt x="322325" y="127000"/>
                </a:moveTo>
                <a:lnTo>
                  <a:pt x="0" y="127000"/>
                </a:lnTo>
                <a:lnTo>
                  <a:pt x="126" y="254000"/>
                </a:lnTo>
                <a:lnTo>
                  <a:pt x="322325" y="254000"/>
                </a:lnTo>
                <a:lnTo>
                  <a:pt x="322325" y="127000"/>
                </a:lnTo>
                <a:close/>
              </a:path>
              <a:path w="576580" h="381000">
                <a:moveTo>
                  <a:pt x="491659" y="127000"/>
                </a:moveTo>
                <a:lnTo>
                  <a:pt x="385825" y="127000"/>
                </a:lnTo>
                <a:lnTo>
                  <a:pt x="385825" y="254000"/>
                </a:lnTo>
                <a:lnTo>
                  <a:pt x="491659" y="254000"/>
                </a:lnTo>
                <a:lnTo>
                  <a:pt x="576326" y="190500"/>
                </a:lnTo>
                <a:lnTo>
                  <a:pt x="491659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8"/>
          <p:cNvSpPr/>
          <p:nvPr/>
        </p:nvSpPr>
        <p:spPr>
          <a:xfrm>
            <a:off x="2439404" y="3430395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80" h="381000">
                <a:moveTo>
                  <a:pt x="254000" y="0"/>
                </a:moveTo>
                <a:lnTo>
                  <a:pt x="0" y="190500"/>
                </a:lnTo>
                <a:lnTo>
                  <a:pt x="254000" y="381000"/>
                </a:lnTo>
                <a:lnTo>
                  <a:pt x="254000" y="254000"/>
                </a:lnTo>
                <a:lnTo>
                  <a:pt x="190500" y="254000"/>
                </a:lnTo>
                <a:lnTo>
                  <a:pt x="190500" y="127000"/>
                </a:lnTo>
                <a:lnTo>
                  <a:pt x="254000" y="127000"/>
                </a:lnTo>
                <a:lnTo>
                  <a:pt x="254000" y="0"/>
                </a:lnTo>
                <a:close/>
              </a:path>
              <a:path w="576580" h="381000">
                <a:moveTo>
                  <a:pt x="254000" y="127000"/>
                </a:moveTo>
                <a:lnTo>
                  <a:pt x="190500" y="127000"/>
                </a:lnTo>
                <a:lnTo>
                  <a:pt x="190500" y="254000"/>
                </a:lnTo>
                <a:lnTo>
                  <a:pt x="254000" y="254000"/>
                </a:lnTo>
                <a:lnTo>
                  <a:pt x="254000" y="127000"/>
                </a:lnTo>
                <a:close/>
              </a:path>
              <a:path w="576580" h="381000">
                <a:moveTo>
                  <a:pt x="576326" y="127000"/>
                </a:moveTo>
                <a:lnTo>
                  <a:pt x="254000" y="127000"/>
                </a:lnTo>
                <a:lnTo>
                  <a:pt x="254000" y="254000"/>
                </a:lnTo>
                <a:lnTo>
                  <a:pt x="576326" y="254000"/>
                </a:lnTo>
                <a:lnTo>
                  <a:pt x="576326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9"/>
          <p:cNvSpPr/>
          <p:nvPr/>
        </p:nvSpPr>
        <p:spPr>
          <a:xfrm>
            <a:off x="3466452" y="3430395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79" h="381000">
                <a:moveTo>
                  <a:pt x="254126" y="0"/>
                </a:moveTo>
                <a:lnTo>
                  <a:pt x="0" y="190500"/>
                </a:lnTo>
                <a:lnTo>
                  <a:pt x="254000" y="381000"/>
                </a:lnTo>
                <a:lnTo>
                  <a:pt x="254042" y="254000"/>
                </a:lnTo>
                <a:lnTo>
                  <a:pt x="190500" y="254000"/>
                </a:lnTo>
                <a:lnTo>
                  <a:pt x="190626" y="127000"/>
                </a:lnTo>
                <a:lnTo>
                  <a:pt x="254084" y="127000"/>
                </a:lnTo>
                <a:lnTo>
                  <a:pt x="254126" y="0"/>
                </a:lnTo>
                <a:close/>
              </a:path>
              <a:path w="576579" h="381000">
                <a:moveTo>
                  <a:pt x="254084" y="127000"/>
                </a:moveTo>
                <a:lnTo>
                  <a:pt x="190626" y="127000"/>
                </a:lnTo>
                <a:lnTo>
                  <a:pt x="190500" y="254000"/>
                </a:lnTo>
                <a:lnTo>
                  <a:pt x="254042" y="254000"/>
                </a:lnTo>
                <a:lnTo>
                  <a:pt x="254084" y="127000"/>
                </a:lnTo>
                <a:close/>
              </a:path>
              <a:path w="576579" h="381000">
                <a:moveTo>
                  <a:pt x="576326" y="127000"/>
                </a:moveTo>
                <a:lnTo>
                  <a:pt x="254084" y="127000"/>
                </a:lnTo>
                <a:lnTo>
                  <a:pt x="254042" y="254000"/>
                </a:lnTo>
                <a:lnTo>
                  <a:pt x="576326" y="254000"/>
                </a:lnTo>
                <a:lnTo>
                  <a:pt x="576326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0"/>
          <p:cNvSpPr/>
          <p:nvPr/>
        </p:nvSpPr>
        <p:spPr>
          <a:xfrm>
            <a:off x="4493629" y="3430395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79" h="381000">
                <a:moveTo>
                  <a:pt x="254000" y="0"/>
                </a:moveTo>
                <a:lnTo>
                  <a:pt x="0" y="190500"/>
                </a:lnTo>
                <a:lnTo>
                  <a:pt x="254000" y="381000"/>
                </a:lnTo>
                <a:lnTo>
                  <a:pt x="254000" y="254000"/>
                </a:lnTo>
                <a:lnTo>
                  <a:pt x="190500" y="254000"/>
                </a:lnTo>
                <a:lnTo>
                  <a:pt x="190500" y="127000"/>
                </a:lnTo>
                <a:lnTo>
                  <a:pt x="254000" y="127000"/>
                </a:lnTo>
                <a:lnTo>
                  <a:pt x="254000" y="0"/>
                </a:lnTo>
                <a:close/>
              </a:path>
              <a:path w="576579" h="381000">
                <a:moveTo>
                  <a:pt x="254000" y="127000"/>
                </a:moveTo>
                <a:lnTo>
                  <a:pt x="190500" y="127000"/>
                </a:lnTo>
                <a:lnTo>
                  <a:pt x="190500" y="254000"/>
                </a:lnTo>
                <a:lnTo>
                  <a:pt x="254000" y="254000"/>
                </a:lnTo>
                <a:lnTo>
                  <a:pt x="254000" y="127000"/>
                </a:lnTo>
                <a:close/>
              </a:path>
              <a:path w="576579" h="381000">
                <a:moveTo>
                  <a:pt x="576326" y="127000"/>
                </a:moveTo>
                <a:lnTo>
                  <a:pt x="254000" y="127000"/>
                </a:lnTo>
                <a:lnTo>
                  <a:pt x="254000" y="254000"/>
                </a:lnTo>
                <a:lnTo>
                  <a:pt x="576199" y="254000"/>
                </a:lnTo>
                <a:lnTo>
                  <a:pt x="576326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1"/>
          <p:cNvSpPr/>
          <p:nvPr/>
        </p:nvSpPr>
        <p:spPr>
          <a:xfrm>
            <a:off x="3518904" y="1595245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79" h="381000">
                <a:moveTo>
                  <a:pt x="322199" y="0"/>
                </a:moveTo>
                <a:lnTo>
                  <a:pt x="322325" y="381000"/>
                </a:lnTo>
                <a:lnTo>
                  <a:pt x="491574" y="254000"/>
                </a:lnTo>
                <a:lnTo>
                  <a:pt x="385699" y="254000"/>
                </a:lnTo>
                <a:lnTo>
                  <a:pt x="385699" y="127000"/>
                </a:lnTo>
                <a:lnTo>
                  <a:pt x="491532" y="127000"/>
                </a:lnTo>
                <a:lnTo>
                  <a:pt x="322199" y="0"/>
                </a:lnTo>
                <a:close/>
              </a:path>
              <a:path w="576579" h="381000">
                <a:moveTo>
                  <a:pt x="322241" y="127000"/>
                </a:moveTo>
                <a:lnTo>
                  <a:pt x="0" y="127000"/>
                </a:lnTo>
                <a:lnTo>
                  <a:pt x="0" y="254000"/>
                </a:lnTo>
                <a:lnTo>
                  <a:pt x="322283" y="254000"/>
                </a:lnTo>
                <a:lnTo>
                  <a:pt x="322241" y="127000"/>
                </a:lnTo>
                <a:close/>
              </a:path>
              <a:path w="576579" h="381000">
                <a:moveTo>
                  <a:pt x="491532" y="127000"/>
                </a:moveTo>
                <a:lnTo>
                  <a:pt x="385699" y="127000"/>
                </a:lnTo>
                <a:lnTo>
                  <a:pt x="385699" y="254000"/>
                </a:lnTo>
                <a:lnTo>
                  <a:pt x="491574" y="254000"/>
                </a:lnTo>
                <a:lnTo>
                  <a:pt x="576199" y="190500"/>
                </a:lnTo>
                <a:lnTo>
                  <a:pt x="491532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/>
          <p:cNvSpPr/>
          <p:nvPr/>
        </p:nvSpPr>
        <p:spPr>
          <a:xfrm>
            <a:off x="1528083" y="2396868"/>
            <a:ext cx="381635" cy="506730"/>
          </a:xfrm>
          <a:custGeom>
            <a:avLst/>
            <a:gdLst/>
            <a:ahLst/>
            <a:cxnLst/>
            <a:rect l="l" t="t" r="r" b="b"/>
            <a:pathLst>
              <a:path w="381634" h="506730">
                <a:moveTo>
                  <a:pt x="254095" y="190626"/>
                </a:moveTo>
                <a:lnTo>
                  <a:pt x="127095" y="190626"/>
                </a:lnTo>
                <a:lnTo>
                  <a:pt x="127095" y="506475"/>
                </a:lnTo>
                <a:lnTo>
                  <a:pt x="254095" y="506475"/>
                </a:lnTo>
                <a:lnTo>
                  <a:pt x="254095" y="190626"/>
                </a:lnTo>
                <a:close/>
              </a:path>
              <a:path w="381634" h="506730">
                <a:moveTo>
                  <a:pt x="190595" y="0"/>
                </a:moveTo>
                <a:lnTo>
                  <a:pt x="0" y="254126"/>
                </a:lnTo>
                <a:lnTo>
                  <a:pt x="127095" y="254126"/>
                </a:lnTo>
                <a:lnTo>
                  <a:pt x="127095" y="190626"/>
                </a:lnTo>
                <a:lnTo>
                  <a:pt x="333494" y="190626"/>
                </a:lnTo>
                <a:lnTo>
                  <a:pt x="190595" y="0"/>
                </a:lnTo>
                <a:close/>
              </a:path>
              <a:path w="381634" h="506730">
                <a:moveTo>
                  <a:pt x="333494" y="190626"/>
                </a:moveTo>
                <a:lnTo>
                  <a:pt x="254095" y="190626"/>
                </a:lnTo>
                <a:lnTo>
                  <a:pt x="254095" y="254126"/>
                </a:lnTo>
                <a:lnTo>
                  <a:pt x="381095" y="254126"/>
                </a:lnTo>
                <a:lnTo>
                  <a:pt x="333494" y="1906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39141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Reward</a:t>
            </a:r>
            <a:r>
              <a:rPr lang="en-US" spc="-35" dirty="0" smtClean="0"/>
              <a:t> </a:t>
            </a:r>
            <a:r>
              <a:rPr lang="en-US" dirty="0" smtClean="0"/>
              <a:t>for</a:t>
            </a:r>
            <a:r>
              <a:rPr lang="en-US" spc="-15" dirty="0" smtClean="0"/>
              <a:t> </a:t>
            </a:r>
            <a:r>
              <a:rPr lang="en-US" dirty="0" smtClean="0"/>
              <a:t>each</a:t>
            </a:r>
            <a:r>
              <a:rPr lang="en-US" spc="-40" dirty="0" smtClean="0"/>
              <a:t> </a:t>
            </a:r>
            <a:r>
              <a:rPr lang="en-US" dirty="0" smtClean="0"/>
              <a:t>step:</a:t>
            </a:r>
            <a:r>
              <a:rPr lang="en-US" spc="-20" dirty="0" smtClean="0"/>
              <a:t> </a:t>
            </a:r>
            <a:r>
              <a:rPr lang="en-US" dirty="0" smtClean="0"/>
              <a:t>-</a:t>
            </a:r>
            <a:r>
              <a:rPr lang="en-US" spc="-50" dirty="0" smtClean="0"/>
              <a:t>2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14-04-2026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10</a:t>
            </a:fld>
            <a:endParaRPr lang="en-IN" dirty="0"/>
          </a:p>
        </p:txBody>
      </p:sp>
      <p:graphicFrame>
        <p:nvGraphicFramePr>
          <p:cNvPr id="6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5439095"/>
              </p:ext>
            </p:extLst>
          </p:nvPr>
        </p:nvGraphicFramePr>
        <p:xfrm>
          <a:off x="1045037" y="1357312"/>
          <a:ext cx="4103369" cy="27343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5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6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12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20"/>
                        </a:spcBef>
                      </a:pPr>
                      <a:r>
                        <a:rPr sz="2800" spc="-25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+1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2311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24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2800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2800" spc="-50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2324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0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4"/>
          <p:cNvSpPr/>
          <p:nvPr/>
        </p:nvSpPr>
        <p:spPr>
          <a:xfrm>
            <a:off x="1294274" y="1657350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80" h="381000">
                <a:moveTo>
                  <a:pt x="322262" y="0"/>
                </a:moveTo>
                <a:lnTo>
                  <a:pt x="322262" y="381000"/>
                </a:lnTo>
                <a:lnTo>
                  <a:pt x="491595" y="254000"/>
                </a:lnTo>
                <a:lnTo>
                  <a:pt x="385762" y="254000"/>
                </a:lnTo>
                <a:lnTo>
                  <a:pt x="385762" y="127000"/>
                </a:lnTo>
                <a:lnTo>
                  <a:pt x="491595" y="127000"/>
                </a:lnTo>
                <a:lnTo>
                  <a:pt x="322262" y="0"/>
                </a:lnTo>
                <a:close/>
              </a:path>
              <a:path w="576580" h="381000">
                <a:moveTo>
                  <a:pt x="322262" y="127000"/>
                </a:moveTo>
                <a:lnTo>
                  <a:pt x="0" y="127000"/>
                </a:lnTo>
                <a:lnTo>
                  <a:pt x="0" y="254000"/>
                </a:lnTo>
                <a:lnTo>
                  <a:pt x="322262" y="254000"/>
                </a:lnTo>
                <a:lnTo>
                  <a:pt x="322262" y="127000"/>
                </a:lnTo>
                <a:close/>
              </a:path>
              <a:path w="576580" h="381000">
                <a:moveTo>
                  <a:pt x="491595" y="127000"/>
                </a:moveTo>
                <a:lnTo>
                  <a:pt x="385762" y="127000"/>
                </a:lnTo>
                <a:lnTo>
                  <a:pt x="385762" y="254000"/>
                </a:lnTo>
                <a:lnTo>
                  <a:pt x="491595" y="254000"/>
                </a:lnTo>
                <a:lnTo>
                  <a:pt x="576262" y="190500"/>
                </a:lnTo>
                <a:lnTo>
                  <a:pt x="491595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5"/>
          <p:cNvSpPr/>
          <p:nvPr/>
        </p:nvSpPr>
        <p:spPr>
          <a:xfrm>
            <a:off x="2335610" y="1651000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80" h="381000">
                <a:moveTo>
                  <a:pt x="322325" y="0"/>
                </a:moveTo>
                <a:lnTo>
                  <a:pt x="322325" y="381000"/>
                </a:lnTo>
                <a:lnTo>
                  <a:pt x="491659" y="254000"/>
                </a:lnTo>
                <a:lnTo>
                  <a:pt x="385825" y="254000"/>
                </a:lnTo>
                <a:lnTo>
                  <a:pt x="385825" y="127000"/>
                </a:lnTo>
                <a:lnTo>
                  <a:pt x="491659" y="127000"/>
                </a:lnTo>
                <a:lnTo>
                  <a:pt x="322325" y="0"/>
                </a:lnTo>
                <a:close/>
              </a:path>
              <a:path w="576580" h="381000">
                <a:moveTo>
                  <a:pt x="322325" y="127000"/>
                </a:moveTo>
                <a:lnTo>
                  <a:pt x="0" y="127000"/>
                </a:lnTo>
                <a:lnTo>
                  <a:pt x="126" y="254000"/>
                </a:lnTo>
                <a:lnTo>
                  <a:pt x="322325" y="254000"/>
                </a:lnTo>
                <a:lnTo>
                  <a:pt x="322325" y="127000"/>
                </a:lnTo>
                <a:close/>
              </a:path>
              <a:path w="576580" h="381000">
                <a:moveTo>
                  <a:pt x="491659" y="127000"/>
                </a:moveTo>
                <a:lnTo>
                  <a:pt x="385825" y="127000"/>
                </a:lnTo>
                <a:lnTo>
                  <a:pt x="385825" y="254000"/>
                </a:lnTo>
                <a:lnTo>
                  <a:pt x="491659" y="254000"/>
                </a:lnTo>
                <a:lnTo>
                  <a:pt x="576326" y="190500"/>
                </a:lnTo>
                <a:lnTo>
                  <a:pt x="491659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6"/>
          <p:cNvSpPr/>
          <p:nvPr/>
        </p:nvSpPr>
        <p:spPr>
          <a:xfrm>
            <a:off x="3362787" y="1651000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79" h="381000">
                <a:moveTo>
                  <a:pt x="322199" y="0"/>
                </a:moveTo>
                <a:lnTo>
                  <a:pt x="322325" y="381000"/>
                </a:lnTo>
                <a:lnTo>
                  <a:pt x="491574" y="254000"/>
                </a:lnTo>
                <a:lnTo>
                  <a:pt x="385699" y="254000"/>
                </a:lnTo>
                <a:lnTo>
                  <a:pt x="385699" y="127000"/>
                </a:lnTo>
                <a:lnTo>
                  <a:pt x="491532" y="127000"/>
                </a:lnTo>
                <a:lnTo>
                  <a:pt x="322199" y="0"/>
                </a:lnTo>
                <a:close/>
              </a:path>
              <a:path w="576579" h="381000">
                <a:moveTo>
                  <a:pt x="322241" y="127000"/>
                </a:moveTo>
                <a:lnTo>
                  <a:pt x="0" y="127000"/>
                </a:lnTo>
                <a:lnTo>
                  <a:pt x="0" y="254000"/>
                </a:lnTo>
                <a:lnTo>
                  <a:pt x="322283" y="254000"/>
                </a:lnTo>
                <a:lnTo>
                  <a:pt x="322241" y="127000"/>
                </a:lnTo>
                <a:close/>
              </a:path>
              <a:path w="576579" h="381000">
                <a:moveTo>
                  <a:pt x="491532" y="127000"/>
                </a:moveTo>
                <a:lnTo>
                  <a:pt x="385699" y="127000"/>
                </a:lnTo>
                <a:lnTo>
                  <a:pt x="385699" y="254000"/>
                </a:lnTo>
                <a:lnTo>
                  <a:pt x="491574" y="254000"/>
                </a:lnTo>
                <a:lnTo>
                  <a:pt x="576199" y="190500"/>
                </a:lnTo>
                <a:lnTo>
                  <a:pt x="491532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7"/>
          <p:cNvSpPr/>
          <p:nvPr/>
        </p:nvSpPr>
        <p:spPr>
          <a:xfrm>
            <a:off x="1371966" y="2452623"/>
            <a:ext cx="381635" cy="506730"/>
          </a:xfrm>
          <a:custGeom>
            <a:avLst/>
            <a:gdLst/>
            <a:ahLst/>
            <a:cxnLst/>
            <a:rect l="l" t="t" r="r" b="b"/>
            <a:pathLst>
              <a:path w="381634" h="506730">
                <a:moveTo>
                  <a:pt x="254095" y="190626"/>
                </a:moveTo>
                <a:lnTo>
                  <a:pt x="127095" y="190626"/>
                </a:lnTo>
                <a:lnTo>
                  <a:pt x="127095" y="506475"/>
                </a:lnTo>
                <a:lnTo>
                  <a:pt x="254095" y="506475"/>
                </a:lnTo>
                <a:lnTo>
                  <a:pt x="254095" y="190626"/>
                </a:lnTo>
                <a:close/>
              </a:path>
              <a:path w="381634" h="506730">
                <a:moveTo>
                  <a:pt x="190595" y="0"/>
                </a:moveTo>
                <a:lnTo>
                  <a:pt x="0" y="254126"/>
                </a:lnTo>
                <a:lnTo>
                  <a:pt x="127095" y="254126"/>
                </a:lnTo>
                <a:lnTo>
                  <a:pt x="127095" y="190626"/>
                </a:lnTo>
                <a:lnTo>
                  <a:pt x="333494" y="190626"/>
                </a:lnTo>
                <a:lnTo>
                  <a:pt x="190595" y="0"/>
                </a:lnTo>
                <a:close/>
              </a:path>
              <a:path w="381634" h="506730">
                <a:moveTo>
                  <a:pt x="333494" y="190626"/>
                </a:moveTo>
                <a:lnTo>
                  <a:pt x="254095" y="190626"/>
                </a:lnTo>
                <a:lnTo>
                  <a:pt x="254095" y="254126"/>
                </a:lnTo>
                <a:lnTo>
                  <a:pt x="381095" y="254126"/>
                </a:lnTo>
                <a:lnTo>
                  <a:pt x="333494" y="1906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8"/>
          <p:cNvSpPr/>
          <p:nvPr/>
        </p:nvSpPr>
        <p:spPr>
          <a:xfrm>
            <a:off x="2326085" y="3486150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80" h="381000">
                <a:moveTo>
                  <a:pt x="322325" y="0"/>
                </a:moveTo>
                <a:lnTo>
                  <a:pt x="322325" y="381000"/>
                </a:lnTo>
                <a:lnTo>
                  <a:pt x="491659" y="254000"/>
                </a:lnTo>
                <a:lnTo>
                  <a:pt x="385825" y="254000"/>
                </a:lnTo>
                <a:lnTo>
                  <a:pt x="385825" y="127000"/>
                </a:lnTo>
                <a:lnTo>
                  <a:pt x="491659" y="127000"/>
                </a:lnTo>
                <a:lnTo>
                  <a:pt x="322325" y="0"/>
                </a:lnTo>
                <a:close/>
              </a:path>
              <a:path w="576580" h="381000">
                <a:moveTo>
                  <a:pt x="322325" y="127000"/>
                </a:moveTo>
                <a:lnTo>
                  <a:pt x="0" y="127000"/>
                </a:lnTo>
                <a:lnTo>
                  <a:pt x="126" y="254000"/>
                </a:lnTo>
                <a:lnTo>
                  <a:pt x="322325" y="254000"/>
                </a:lnTo>
                <a:lnTo>
                  <a:pt x="322325" y="127000"/>
                </a:lnTo>
                <a:close/>
              </a:path>
              <a:path w="576580" h="381000">
                <a:moveTo>
                  <a:pt x="491659" y="127000"/>
                </a:moveTo>
                <a:lnTo>
                  <a:pt x="385825" y="127000"/>
                </a:lnTo>
                <a:lnTo>
                  <a:pt x="385825" y="254000"/>
                </a:lnTo>
                <a:lnTo>
                  <a:pt x="491659" y="254000"/>
                </a:lnTo>
                <a:lnTo>
                  <a:pt x="576326" y="190500"/>
                </a:lnTo>
                <a:lnTo>
                  <a:pt x="491659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9"/>
          <p:cNvSpPr/>
          <p:nvPr/>
        </p:nvSpPr>
        <p:spPr>
          <a:xfrm>
            <a:off x="3353262" y="3486150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79" h="381000">
                <a:moveTo>
                  <a:pt x="322199" y="0"/>
                </a:moveTo>
                <a:lnTo>
                  <a:pt x="322325" y="381000"/>
                </a:lnTo>
                <a:lnTo>
                  <a:pt x="491574" y="254000"/>
                </a:lnTo>
                <a:lnTo>
                  <a:pt x="385699" y="254000"/>
                </a:lnTo>
                <a:lnTo>
                  <a:pt x="385699" y="127000"/>
                </a:lnTo>
                <a:lnTo>
                  <a:pt x="491532" y="127000"/>
                </a:lnTo>
                <a:lnTo>
                  <a:pt x="322199" y="0"/>
                </a:lnTo>
                <a:close/>
              </a:path>
              <a:path w="576579" h="381000">
                <a:moveTo>
                  <a:pt x="322241" y="127000"/>
                </a:moveTo>
                <a:lnTo>
                  <a:pt x="0" y="127000"/>
                </a:lnTo>
                <a:lnTo>
                  <a:pt x="0" y="254000"/>
                </a:lnTo>
                <a:lnTo>
                  <a:pt x="322283" y="254000"/>
                </a:lnTo>
                <a:lnTo>
                  <a:pt x="322241" y="127000"/>
                </a:lnTo>
                <a:close/>
              </a:path>
              <a:path w="576579" h="381000">
                <a:moveTo>
                  <a:pt x="491532" y="127000"/>
                </a:moveTo>
                <a:lnTo>
                  <a:pt x="385699" y="127000"/>
                </a:lnTo>
                <a:lnTo>
                  <a:pt x="385699" y="254000"/>
                </a:lnTo>
                <a:lnTo>
                  <a:pt x="491574" y="254000"/>
                </a:lnTo>
                <a:lnTo>
                  <a:pt x="576199" y="190500"/>
                </a:lnTo>
                <a:lnTo>
                  <a:pt x="491532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0"/>
          <p:cNvSpPr/>
          <p:nvPr/>
        </p:nvSpPr>
        <p:spPr>
          <a:xfrm>
            <a:off x="3362787" y="2549525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79" h="381000">
                <a:moveTo>
                  <a:pt x="322199" y="0"/>
                </a:moveTo>
                <a:lnTo>
                  <a:pt x="322325" y="381000"/>
                </a:lnTo>
                <a:lnTo>
                  <a:pt x="491574" y="254000"/>
                </a:lnTo>
                <a:lnTo>
                  <a:pt x="385699" y="254000"/>
                </a:lnTo>
                <a:lnTo>
                  <a:pt x="385699" y="127000"/>
                </a:lnTo>
                <a:lnTo>
                  <a:pt x="491532" y="127000"/>
                </a:lnTo>
                <a:lnTo>
                  <a:pt x="322199" y="0"/>
                </a:lnTo>
                <a:close/>
              </a:path>
              <a:path w="576579" h="381000">
                <a:moveTo>
                  <a:pt x="322241" y="127000"/>
                </a:moveTo>
                <a:lnTo>
                  <a:pt x="0" y="127000"/>
                </a:lnTo>
                <a:lnTo>
                  <a:pt x="0" y="254000"/>
                </a:lnTo>
                <a:lnTo>
                  <a:pt x="322283" y="254000"/>
                </a:lnTo>
                <a:lnTo>
                  <a:pt x="322241" y="127000"/>
                </a:lnTo>
                <a:close/>
              </a:path>
              <a:path w="576579" h="381000">
                <a:moveTo>
                  <a:pt x="491532" y="127000"/>
                </a:moveTo>
                <a:lnTo>
                  <a:pt x="385699" y="127000"/>
                </a:lnTo>
                <a:lnTo>
                  <a:pt x="385699" y="254000"/>
                </a:lnTo>
                <a:lnTo>
                  <a:pt x="491574" y="254000"/>
                </a:lnTo>
                <a:lnTo>
                  <a:pt x="576199" y="190500"/>
                </a:lnTo>
                <a:lnTo>
                  <a:pt x="491532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1"/>
          <p:cNvSpPr/>
          <p:nvPr/>
        </p:nvSpPr>
        <p:spPr>
          <a:xfrm>
            <a:off x="4467687" y="3386201"/>
            <a:ext cx="381000" cy="506730"/>
          </a:xfrm>
          <a:custGeom>
            <a:avLst/>
            <a:gdLst/>
            <a:ahLst/>
            <a:cxnLst/>
            <a:rect l="l" t="t" r="r" b="b"/>
            <a:pathLst>
              <a:path w="381000" h="506729">
                <a:moveTo>
                  <a:pt x="254000" y="190500"/>
                </a:moveTo>
                <a:lnTo>
                  <a:pt x="127000" y="190500"/>
                </a:lnTo>
                <a:lnTo>
                  <a:pt x="127000" y="506349"/>
                </a:lnTo>
                <a:lnTo>
                  <a:pt x="254000" y="506349"/>
                </a:lnTo>
                <a:lnTo>
                  <a:pt x="254000" y="190500"/>
                </a:lnTo>
                <a:close/>
              </a:path>
              <a:path w="381000" h="506729">
                <a:moveTo>
                  <a:pt x="190500" y="0"/>
                </a:moveTo>
                <a:lnTo>
                  <a:pt x="0" y="254000"/>
                </a:lnTo>
                <a:lnTo>
                  <a:pt x="127000" y="254000"/>
                </a:lnTo>
                <a:lnTo>
                  <a:pt x="127000" y="190500"/>
                </a:lnTo>
                <a:lnTo>
                  <a:pt x="333375" y="190500"/>
                </a:lnTo>
                <a:lnTo>
                  <a:pt x="190500" y="0"/>
                </a:lnTo>
                <a:close/>
              </a:path>
              <a:path w="381000" h="506729">
                <a:moveTo>
                  <a:pt x="333375" y="190500"/>
                </a:moveTo>
                <a:lnTo>
                  <a:pt x="254000" y="190500"/>
                </a:lnTo>
                <a:lnTo>
                  <a:pt x="254000" y="254000"/>
                </a:lnTo>
                <a:lnTo>
                  <a:pt x="381000" y="254000"/>
                </a:lnTo>
                <a:lnTo>
                  <a:pt x="333375" y="190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/>
          <p:cNvSpPr/>
          <p:nvPr/>
        </p:nvSpPr>
        <p:spPr>
          <a:xfrm>
            <a:off x="1305387" y="3492500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80" h="381000">
                <a:moveTo>
                  <a:pt x="322262" y="0"/>
                </a:moveTo>
                <a:lnTo>
                  <a:pt x="322262" y="381000"/>
                </a:lnTo>
                <a:lnTo>
                  <a:pt x="491638" y="254000"/>
                </a:lnTo>
                <a:lnTo>
                  <a:pt x="385762" y="254000"/>
                </a:lnTo>
                <a:lnTo>
                  <a:pt x="385762" y="127000"/>
                </a:lnTo>
                <a:lnTo>
                  <a:pt x="491638" y="127000"/>
                </a:lnTo>
                <a:lnTo>
                  <a:pt x="322262" y="0"/>
                </a:lnTo>
                <a:close/>
              </a:path>
              <a:path w="576580" h="381000">
                <a:moveTo>
                  <a:pt x="322262" y="127000"/>
                </a:moveTo>
                <a:lnTo>
                  <a:pt x="0" y="127000"/>
                </a:lnTo>
                <a:lnTo>
                  <a:pt x="0" y="254000"/>
                </a:lnTo>
                <a:lnTo>
                  <a:pt x="322262" y="254000"/>
                </a:lnTo>
                <a:lnTo>
                  <a:pt x="322262" y="127000"/>
                </a:lnTo>
                <a:close/>
              </a:path>
              <a:path w="576580" h="381000">
                <a:moveTo>
                  <a:pt x="491638" y="127000"/>
                </a:moveTo>
                <a:lnTo>
                  <a:pt x="385762" y="127000"/>
                </a:lnTo>
                <a:lnTo>
                  <a:pt x="385762" y="254000"/>
                </a:lnTo>
                <a:lnTo>
                  <a:pt x="491638" y="254000"/>
                </a:lnTo>
                <a:lnTo>
                  <a:pt x="576326" y="190500"/>
                </a:lnTo>
                <a:lnTo>
                  <a:pt x="491638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33623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Reward</a:t>
            </a:r>
            <a:r>
              <a:rPr lang="en-US" spc="-25" dirty="0" smtClean="0"/>
              <a:t> </a:t>
            </a:r>
            <a:r>
              <a:rPr lang="en-US" dirty="0" smtClean="0"/>
              <a:t>for</a:t>
            </a:r>
            <a:r>
              <a:rPr lang="en-US" spc="-15" dirty="0" smtClean="0"/>
              <a:t> </a:t>
            </a:r>
            <a:r>
              <a:rPr lang="en-US" dirty="0" smtClean="0"/>
              <a:t>each</a:t>
            </a:r>
            <a:r>
              <a:rPr lang="en-US" spc="-40" dirty="0" smtClean="0"/>
              <a:t> </a:t>
            </a:r>
            <a:r>
              <a:rPr lang="en-US" dirty="0" smtClean="0"/>
              <a:t>step:</a:t>
            </a:r>
            <a:r>
              <a:rPr lang="en-US" spc="-20" dirty="0" smtClean="0"/>
              <a:t> </a:t>
            </a:r>
            <a:r>
              <a:rPr lang="en-US" dirty="0" smtClean="0"/>
              <a:t>-</a:t>
            </a:r>
            <a:r>
              <a:rPr lang="en-US" spc="-25" dirty="0" smtClean="0"/>
              <a:t>0.1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14-04-2026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11</a:t>
            </a:fld>
            <a:endParaRPr lang="en-IN" dirty="0"/>
          </a:p>
        </p:txBody>
      </p:sp>
      <p:graphicFrame>
        <p:nvGraphicFramePr>
          <p:cNvPr id="6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929543"/>
              </p:ext>
            </p:extLst>
          </p:nvPr>
        </p:nvGraphicFramePr>
        <p:xfrm>
          <a:off x="1323819" y="1357312"/>
          <a:ext cx="4103369" cy="27343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5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6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12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20"/>
                        </a:spcBef>
                      </a:pPr>
                      <a:r>
                        <a:rPr sz="2800" spc="-25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+1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2311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24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2800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2800" spc="-50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2324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0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4"/>
          <p:cNvSpPr/>
          <p:nvPr/>
        </p:nvSpPr>
        <p:spPr>
          <a:xfrm>
            <a:off x="3709895" y="2449576"/>
            <a:ext cx="381000" cy="506730"/>
          </a:xfrm>
          <a:custGeom>
            <a:avLst/>
            <a:gdLst/>
            <a:ahLst/>
            <a:cxnLst/>
            <a:rect l="l" t="t" r="r" b="b"/>
            <a:pathLst>
              <a:path w="381000" h="506730">
                <a:moveTo>
                  <a:pt x="254000" y="190500"/>
                </a:moveTo>
                <a:lnTo>
                  <a:pt x="127000" y="190500"/>
                </a:lnTo>
                <a:lnTo>
                  <a:pt x="126873" y="506349"/>
                </a:lnTo>
                <a:lnTo>
                  <a:pt x="253873" y="506349"/>
                </a:lnTo>
                <a:lnTo>
                  <a:pt x="254000" y="190500"/>
                </a:lnTo>
                <a:close/>
              </a:path>
              <a:path w="381000" h="506730">
                <a:moveTo>
                  <a:pt x="190500" y="0"/>
                </a:moveTo>
                <a:lnTo>
                  <a:pt x="0" y="254000"/>
                </a:lnTo>
                <a:lnTo>
                  <a:pt x="126974" y="254000"/>
                </a:lnTo>
                <a:lnTo>
                  <a:pt x="127000" y="190500"/>
                </a:lnTo>
                <a:lnTo>
                  <a:pt x="333279" y="190500"/>
                </a:lnTo>
                <a:lnTo>
                  <a:pt x="190500" y="0"/>
                </a:lnTo>
                <a:close/>
              </a:path>
              <a:path w="381000" h="506730">
                <a:moveTo>
                  <a:pt x="333279" y="190500"/>
                </a:moveTo>
                <a:lnTo>
                  <a:pt x="254000" y="190500"/>
                </a:lnTo>
                <a:lnTo>
                  <a:pt x="253974" y="254000"/>
                </a:lnTo>
                <a:lnTo>
                  <a:pt x="380873" y="254000"/>
                </a:lnTo>
                <a:lnTo>
                  <a:pt x="333279" y="190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5"/>
          <p:cNvSpPr/>
          <p:nvPr/>
        </p:nvSpPr>
        <p:spPr>
          <a:xfrm>
            <a:off x="1573056" y="1657350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80" h="381000">
                <a:moveTo>
                  <a:pt x="322262" y="0"/>
                </a:moveTo>
                <a:lnTo>
                  <a:pt x="322262" y="381000"/>
                </a:lnTo>
                <a:lnTo>
                  <a:pt x="491595" y="254000"/>
                </a:lnTo>
                <a:lnTo>
                  <a:pt x="385762" y="254000"/>
                </a:lnTo>
                <a:lnTo>
                  <a:pt x="385762" y="127000"/>
                </a:lnTo>
                <a:lnTo>
                  <a:pt x="491595" y="127000"/>
                </a:lnTo>
                <a:lnTo>
                  <a:pt x="322262" y="0"/>
                </a:lnTo>
                <a:close/>
              </a:path>
              <a:path w="576580" h="381000">
                <a:moveTo>
                  <a:pt x="322262" y="127000"/>
                </a:moveTo>
                <a:lnTo>
                  <a:pt x="0" y="127000"/>
                </a:lnTo>
                <a:lnTo>
                  <a:pt x="0" y="254000"/>
                </a:lnTo>
                <a:lnTo>
                  <a:pt x="322262" y="254000"/>
                </a:lnTo>
                <a:lnTo>
                  <a:pt x="322262" y="127000"/>
                </a:lnTo>
                <a:close/>
              </a:path>
              <a:path w="576580" h="381000">
                <a:moveTo>
                  <a:pt x="491595" y="127000"/>
                </a:moveTo>
                <a:lnTo>
                  <a:pt x="385762" y="127000"/>
                </a:lnTo>
                <a:lnTo>
                  <a:pt x="385762" y="254000"/>
                </a:lnTo>
                <a:lnTo>
                  <a:pt x="491595" y="254000"/>
                </a:lnTo>
                <a:lnTo>
                  <a:pt x="576262" y="190500"/>
                </a:lnTo>
                <a:lnTo>
                  <a:pt x="491595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6"/>
          <p:cNvSpPr/>
          <p:nvPr/>
        </p:nvSpPr>
        <p:spPr>
          <a:xfrm>
            <a:off x="1650844" y="3387725"/>
            <a:ext cx="381000" cy="506730"/>
          </a:xfrm>
          <a:custGeom>
            <a:avLst/>
            <a:gdLst/>
            <a:ahLst/>
            <a:cxnLst/>
            <a:rect l="l" t="t" r="r" b="b"/>
            <a:pathLst>
              <a:path w="381000" h="506729">
                <a:moveTo>
                  <a:pt x="254000" y="190500"/>
                </a:moveTo>
                <a:lnTo>
                  <a:pt x="127000" y="190500"/>
                </a:lnTo>
                <a:lnTo>
                  <a:pt x="127000" y="506475"/>
                </a:lnTo>
                <a:lnTo>
                  <a:pt x="254000" y="506475"/>
                </a:lnTo>
                <a:lnTo>
                  <a:pt x="254000" y="190500"/>
                </a:lnTo>
                <a:close/>
              </a:path>
              <a:path w="381000" h="506729">
                <a:moveTo>
                  <a:pt x="190500" y="0"/>
                </a:moveTo>
                <a:lnTo>
                  <a:pt x="0" y="254000"/>
                </a:lnTo>
                <a:lnTo>
                  <a:pt x="127000" y="254000"/>
                </a:lnTo>
                <a:lnTo>
                  <a:pt x="127000" y="190500"/>
                </a:lnTo>
                <a:lnTo>
                  <a:pt x="333375" y="190500"/>
                </a:lnTo>
                <a:lnTo>
                  <a:pt x="190500" y="0"/>
                </a:lnTo>
                <a:close/>
              </a:path>
              <a:path w="381000" h="506729">
                <a:moveTo>
                  <a:pt x="333375" y="190500"/>
                </a:moveTo>
                <a:lnTo>
                  <a:pt x="254000" y="190500"/>
                </a:lnTo>
                <a:lnTo>
                  <a:pt x="254000" y="254000"/>
                </a:lnTo>
                <a:lnTo>
                  <a:pt x="381000" y="254000"/>
                </a:lnTo>
                <a:lnTo>
                  <a:pt x="333375" y="190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7"/>
          <p:cNvSpPr/>
          <p:nvPr/>
        </p:nvSpPr>
        <p:spPr>
          <a:xfrm>
            <a:off x="2614392" y="1651000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80" h="381000">
                <a:moveTo>
                  <a:pt x="322325" y="0"/>
                </a:moveTo>
                <a:lnTo>
                  <a:pt x="322325" y="381000"/>
                </a:lnTo>
                <a:lnTo>
                  <a:pt x="491659" y="254000"/>
                </a:lnTo>
                <a:lnTo>
                  <a:pt x="385825" y="254000"/>
                </a:lnTo>
                <a:lnTo>
                  <a:pt x="385825" y="127000"/>
                </a:lnTo>
                <a:lnTo>
                  <a:pt x="491659" y="127000"/>
                </a:lnTo>
                <a:lnTo>
                  <a:pt x="322325" y="0"/>
                </a:lnTo>
                <a:close/>
              </a:path>
              <a:path w="576580" h="381000">
                <a:moveTo>
                  <a:pt x="322325" y="127000"/>
                </a:moveTo>
                <a:lnTo>
                  <a:pt x="0" y="127000"/>
                </a:lnTo>
                <a:lnTo>
                  <a:pt x="126" y="254000"/>
                </a:lnTo>
                <a:lnTo>
                  <a:pt x="322325" y="254000"/>
                </a:lnTo>
                <a:lnTo>
                  <a:pt x="322325" y="127000"/>
                </a:lnTo>
                <a:close/>
              </a:path>
              <a:path w="576580" h="381000">
                <a:moveTo>
                  <a:pt x="491659" y="127000"/>
                </a:moveTo>
                <a:lnTo>
                  <a:pt x="385825" y="127000"/>
                </a:lnTo>
                <a:lnTo>
                  <a:pt x="385825" y="254000"/>
                </a:lnTo>
                <a:lnTo>
                  <a:pt x="491659" y="254000"/>
                </a:lnTo>
                <a:lnTo>
                  <a:pt x="576326" y="190500"/>
                </a:lnTo>
                <a:lnTo>
                  <a:pt x="491659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8"/>
          <p:cNvSpPr/>
          <p:nvPr/>
        </p:nvSpPr>
        <p:spPr>
          <a:xfrm>
            <a:off x="4616294" y="3486150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79" h="381000">
                <a:moveTo>
                  <a:pt x="254000" y="0"/>
                </a:moveTo>
                <a:lnTo>
                  <a:pt x="0" y="190500"/>
                </a:lnTo>
                <a:lnTo>
                  <a:pt x="254000" y="381000"/>
                </a:lnTo>
                <a:lnTo>
                  <a:pt x="254000" y="254000"/>
                </a:lnTo>
                <a:lnTo>
                  <a:pt x="190500" y="254000"/>
                </a:lnTo>
                <a:lnTo>
                  <a:pt x="190500" y="127000"/>
                </a:lnTo>
                <a:lnTo>
                  <a:pt x="254000" y="127000"/>
                </a:lnTo>
                <a:lnTo>
                  <a:pt x="254000" y="0"/>
                </a:lnTo>
                <a:close/>
              </a:path>
              <a:path w="576579" h="381000">
                <a:moveTo>
                  <a:pt x="254000" y="127000"/>
                </a:moveTo>
                <a:lnTo>
                  <a:pt x="190500" y="127000"/>
                </a:lnTo>
                <a:lnTo>
                  <a:pt x="190500" y="254000"/>
                </a:lnTo>
                <a:lnTo>
                  <a:pt x="254000" y="254000"/>
                </a:lnTo>
                <a:lnTo>
                  <a:pt x="254000" y="127000"/>
                </a:lnTo>
                <a:close/>
              </a:path>
              <a:path w="576579" h="381000">
                <a:moveTo>
                  <a:pt x="576326" y="127000"/>
                </a:moveTo>
                <a:lnTo>
                  <a:pt x="254000" y="127000"/>
                </a:lnTo>
                <a:lnTo>
                  <a:pt x="254000" y="254000"/>
                </a:lnTo>
                <a:lnTo>
                  <a:pt x="576199" y="254000"/>
                </a:lnTo>
                <a:lnTo>
                  <a:pt x="576326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9"/>
          <p:cNvSpPr/>
          <p:nvPr/>
        </p:nvSpPr>
        <p:spPr>
          <a:xfrm>
            <a:off x="3641569" y="1651000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79" h="381000">
                <a:moveTo>
                  <a:pt x="322199" y="0"/>
                </a:moveTo>
                <a:lnTo>
                  <a:pt x="322325" y="381000"/>
                </a:lnTo>
                <a:lnTo>
                  <a:pt x="491574" y="254000"/>
                </a:lnTo>
                <a:lnTo>
                  <a:pt x="385699" y="254000"/>
                </a:lnTo>
                <a:lnTo>
                  <a:pt x="385699" y="127000"/>
                </a:lnTo>
                <a:lnTo>
                  <a:pt x="491532" y="127000"/>
                </a:lnTo>
                <a:lnTo>
                  <a:pt x="322199" y="0"/>
                </a:lnTo>
                <a:close/>
              </a:path>
              <a:path w="576579" h="381000">
                <a:moveTo>
                  <a:pt x="322241" y="127000"/>
                </a:moveTo>
                <a:lnTo>
                  <a:pt x="0" y="127000"/>
                </a:lnTo>
                <a:lnTo>
                  <a:pt x="0" y="254000"/>
                </a:lnTo>
                <a:lnTo>
                  <a:pt x="322283" y="254000"/>
                </a:lnTo>
                <a:lnTo>
                  <a:pt x="322241" y="127000"/>
                </a:lnTo>
                <a:close/>
              </a:path>
              <a:path w="576579" h="381000">
                <a:moveTo>
                  <a:pt x="491532" y="127000"/>
                </a:moveTo>
                <a:lnTo>
                  <a:pt x="385699" y="127000"/>
                </a:lnTo>
                <a:lnTo>
                  <a:pt x="385699" y="254000"/>
                </a:lnTo>
                <a:lnTo>
                  <a:pt x="491574" y="254000"/>
                </a:lnTo>
                <a:lnTo>
                  <a:pt x="576199" y="190500"/>
                </a:lnTo>
                <a:lnTo>
                  <a:pt x="491532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0"/>
          <p:cNvSpPr/>
          <p:nvPr/>
        </p:nvSpPr>
        <p:spPr>
          <a:xfrm>
            <a:off x="1650748" y="2452623"/>
            <a:ext cx="381635" cy="506730"/>
          </a:xfrm>
          <a:custGeom>
            <a:avLst/>
            <a:gdLst/>
            <a:ahLst/>
            <a:cxnLst/>
            <a:rect l="l" t="t" r="r" b="b"/>
            <a:pathLst>
              <a:path w="381634" h="506730">
                <a:moveTo>
                  <a:pt x="254095" y="190626"/>
                </a:moveTo>
                <a:lnTo>
                  <a:pt x="127095" y="190626"/>
                </a:lnTo>
                <a:lnTo>
                  <a:pt x="127095" y="506475"/>
                </a:lnTo>
                <a:lnTo>
                  <a:pt x="254095" y="506475"/>
                </a:lnTo>
                <a:lnTo>
                  <a:pt x="254095" y="190626"/>
                </a:lnTo>
                <a:close/>
              </a:path>
              <a:path w="381634" h="506730">
                <a:moveTo>
                  <a:pt x="190595" y="0"/>
                </a:moveTo>
                <a:lnTo>
                  <a:pt x="0" y="254126"/>
                </a:lnTo>
                <a:lnTo>
                  <a:pt x="127095" y="254126"/>
                </a:lnTo>
                <a:lnTo>
                  <a:pt x="127095" y="190626"/>
                </a:lnTo>
                <a:lnTo>
                  <a:pt x="333494" y="190626"/>
                </a:lnTo>
                <a:lnTo>
                  <a:pt x="190595" y="0"/>
                </a:lnTo>
                <a:close/>
              </a:path>
              <a:path w="381634" h="506730">
                <a:moveTo>
                  <a:pt x="333494" y="190626"/>
                </a:moveTo>
                <a:lnTo>
                  <a:pt x="254095" y="190626"/>
                </a:lnTo>
                <a:lnTo>
                  <a:pt x="254095" y="254126"/>
                </a:lnTo>
                <a:lnTo>
                  <a:pt x="381095" y="254126"/>
                </a:lnTo>
                <a:lnTo>
                  <a:pt x="333494" y="1906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1"/>
          <p:cNvSpPr/>
          <p:nvPr/>
        </p:nvSpPr>
        <p:spPr>
          <a:xfrm>
            <a:off x="3717769" y="3390900"/>
            <a:ext cx="381000" cy="506730"/>
          </a:xfrm>
          <a:custGeom>
            <a:avLst/>
            <a:gdLst/>
            <a:ahLst/>
            <a:cxnLst/>
            <a:rect l="l" t="t" r="r" b="b"/>
            <a:pathLst>
              <a:path w="381000" h="506729">
                <a:moveTo>
                  <a:pt x="254000" y="190500"/>
                </a:moveTo>
                <a:lnTo>
                  <a:pt x="127000" y="190500"/>
                </a:lnTo>
                <a:lnTo>
                  <a:pt x="127000" y="506475"/>
                </a:lnTo>
                <a:lnTo>
                  <a:pt x="254000" y="506475"/>
                </a:lnTo>
                <a:lnTo>
                  <a:pt x="254000" y="190500"/>
                </a:lnTo>
                <a:close/>
              </a:path>
              <a:path w="381000" h="506729">
                <a:moveTo>
                  <a:pt x="190500" y="0"/>
                </a:moveTo>
                <a:lnTo>
                  <a:pt x="0" y="254000"/>
                </a:lnTo>
                <a:lnTo>
                  <a:pt x="127000" y="254000"/>
                </a:lnTo>
                <a:lnTo>
                  <a:pt x="127000" y="190500"/>
                </a:lnTo>
                <a:lnTo>
                  <a:pt x="333375" y="190500"/>
                </a:lnTo>
                <a:lnTo>
                  <a:pt x="190500" y="0"/>
                </a:lnTo>
                <a:close/>
              </a:path>
              <a:path w="381000" h="506729">
                <a:moveTo>
                  <a:pt x="333375" y="190500"/>
                </a:moveTo>
                <a:lnTo>
                  <a:pt x="254000" y="190500"/>
                </a:lnTo>
                <a:lnTo>
                  <a:pt x="254000" y="254000"/>
                </a:lnTo>
                <a:lnTo>
                  <a:pt x="381000" y="254000"/>
                </a:lnTo>
                <a:lnTo>
                  <a:pt x="333375" y="190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/>
          <p:cNvSpPr/>
          <p:nvPr/>
        </p:nvSpPr>
        <p:spPr>
          <a:xfrm>
            <a:off x="2622394" y="3467100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80" h="381000">
                <a:moveTo>
                  <a:pt x="322199" y="0"/>
                </a:moveTo>
                <a:lnTo>
                  <a:pt x="322325" y="381000"/>
                </a:lnTo>
                <a:lnTo>
                  <a:pt x="491574" y="254000"/>
                </a:lnTo>
                <a:lnTo>
                  <a:pt x="385699" y="254000"/>
                </a:lnTo>
                <a:lnTo>
                  <a:pt x="385699" y="127000"/>
                </a:lnTo>
                <a:lnTo>
                  <a:pt x="491532" y="127000"/>
                </a:lnTo>
                <a:lnTo>
                  <a:pt x="322199" y="0"/>
                </a:lnTo>
                <a:close/>
              </a:path>
              <a:path w="576580" h="381000">
                <a:moveTo>
                  <a:pt x="322241" y="127000"/>
                </a:moveTo>
                <a:lnTo>
                  <a:pt x="0" y="127000"/>
                </a:lnTo>
                <a:lnTo>
                  <a:pt x="0" y="254000"/>
                </a:lnTo>
                <a:lnTo>
                  <a:pt x="322283" y="254000"/>
                </a:lnTo>
                <a:lnTo>
                  <a:pt x="322241" y="127000"/>
                </a:lnTo>
                <a:close/>
              </a:path>
              <a:path w="576580" h="381000">
                <a:moveTo>
                  <a:pt x="491532" y="127000"/>
                </a:moveTo>
                <a:lnTo>
                  <a:pt x="385699" y="127000"/>
                </a:lnTo>
                <a:lnTo>
                  <a:pt x="385699" y="254000"/>
                </a:lnTo>
                <a:lnTo>
                  <a:pt x="491574" y="254000"/>
                </a:lnTo>
                <a:lnTo>
                  <a:pt x="576199" y="190500"/>
                </a:lnTo>
                <a:lnTo>
                  <a:pt x="491532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08615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Reward</a:t>
            </a:r>
            <a:r>
              <a:rPr lang="en-US" spc="-35" dirty="0" smtClean="0"/>
              <a:t> </a:t>
            </a:r>
            <a:r>
              <a:rPr lang="en-US" dirty="0" smtClean="0"/>
              <a:t>for</a:t>
            </a:r>
            <a:r>
              <a:rPr lang="en-US" spc="-15" dirty="0" smtClean="0"/>
              <a:t> </a:t>
            </a:r>
            <a:r>
              <a:rPr lang="en-US" dirty="0" smtClean="0"/>
              <a:t>each</a:t>
            </a:r>
            <a:r>
              <a:rPr lang="en-US" spc="-40" dirty="0" smtClean="0"/>
              <a:t> </a:t>
            </a:r>
            <a:r>
              <a:rPr lang="en-US" dirty="0" smtClean="0"/>
              <a:t>step:</a:t>
            </a:r>
            <a:r>
              <a:rPr lang="en-US" spc="-20" dirty="0" smtClean="0"/>
              <a:t> </a:t>
            </a:r>
            <a:r>
              <a:rPr lang="en-US" dirty="0" smtClean="0"/>
              <a:t>-</a:t>
            </a:r>
            <a:r>
              <a:rPr lang="en-US" spc="-20" dirty="0" smtClean="0"/>
              <a:t>0.04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14-04-2026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12</a:t>
            </a:fld>
            <a:endParaRPr lang="en-IN" dirty="0"/>
          </a:p>
        </p:txBody>
      </p:sp>
      <p:graphicFrame>
        <p:nvGraphicFramePr>
          <p:cNvPr id="6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0856164"/>
              </p:ext>
            </p:extLst>
          </p:nvPr>
        </p:nvGraphicFramePr>
        <p:xfrm>
          <a:off x="1323819" y="1357312"/>
          <a:ext cx="4103369" cy="27343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5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6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12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20"/>
                        </a:spcBef>
                      </a:pPr>
                      <a:r>
                        <a:rPr sz="2800" spc="-25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+1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2311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24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2800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2800" spc="-50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2324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0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4"/>
          <p:cNvSpPr/>
          <p:nvPr/>
        </p:nvSpPr>
        <p:spPr>
          <a:xfrm>
            <a:off x="3709895" y="2449576"/>
            <a:ext cx="381000" cy="506730"/>
          </a:xfrm>
          <a:custGeom>
            <a:avLst/>
            <a:gdLst/>
            <a:ahLst/>
            <a:cxnLst/>
            <a:rect l="l" t="t" r="r" b="b"/>
            <a:pathLst>
              <a:path w="381000" h="506730">
                <a:moveTo>
                  <a:pt x="254000" y="190500"/>
                </a:moveTo>
                <a:lnTo>
                  <a:pt x="127000" y="190500"/>
                </a:lnTo>
                <a:lnTo>
                  <a:pt x="126873" y="506349"/>
                </a:lnTo>
                <a:lnTo>
                  <a:pt x="253873" y="506349"/>
                </a:lnTo>
                <a:lnTo>
                  <a:pt x="254000" y="190500"/>
                </a:lnTo>
                <a:close/>
              </a:path>
              <a:path w="381000" h="506730">
                <a:moveTo>
                  <a:pt x="190500" y="0"/>
                </a:moveTo>
                <a:lnTo>
                  <a:pt x="0" y="254000"/>
                </a:lnTo>
                <a:lnTo>
                  <a:pt x="126974" y="254000"/>
                </a:lnTo>
                <a:lnTo>
                  <a:pt x="127000" y="190500"/>
                </a:lnTo>
                <a:lnTo>
                  <a:pt x="333279" y="190500"/>
                </a:lnTo>
                <a:lnTo>
                  <a:pt x="190500" y="0"/>
                </a:lnTo>
                <a:close/>
              </a:path>
              <a:path w="381000" h="506730">
                <a:moveTo>
                  <a:pt x="333279" y="190500"/>
                </a:moveTo>
                <a:lnTo>
                  <a:pt x="254000" y="190500"/>
                </a:lnTo>
                <a:lnTo>
                  <a:pt x="253974" y="254000"/>
                </a:lnTo>
                <a:lnTo>
                  <a:pt x="380873" y="254000"/>
                </a:lnTo>
                <a:lnTo>
                  <a:pt x="333279" y="190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5"/>
          <p:cNvSpPr/>
          <p:nvPr/>
        </p:nvSpPr>
        <p:spPr>
          <a:xfrm>
            <a:off x="1573056" y="1657350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80" h="381000">
                <a:moveTo>
                  <a:pt x="322262" y="0"/>
                </a:moveTo>
                <a:lnTo>
                  <a:pt x="322262" y="381000"/>
                </a:lnTo>
                <a:lnTo>
                  <a:pt x="491595" y="254000"/>
                </a:lnTo>
                <a:lnTo>
                  <a:pt x="385762" y="254000"/>
                </a:lnTo>
                <a:lnTo>
                  <a:pt x="385762" y="127000"/>
                </a:lnTo>
                <a:lnTo>
                  <a:pt x="491595" y="127000"/>
                </a:lnTo>
                <a:lnTo>
                  <a:pt x="322262" y="0"/>
                </a:lnTo>
                <a:close/>
              </a:path>
              <a:path w="576580" h="381000">
                <a:moveTo>
                  <a:pt x="322262" y="127000"/>
                </a:moveTo>
                <a:lnTo>
                  <a:pt x="0" y="127000"/>
                </a:lnTo>
                <a:lnTo>
                  <a:pt x="0" y="254000"/>
                </a:lnTo>
                <a:lnTo>
                  <a:pt x="322262" y="254000"/>
                </a:lnTo>
                <a:lnTo>
                  <a:pt x="322262" y="127000"/>
                </a:lnTo>
                <a:close/>
              </a:path>
              <a:path w="576580" h="381000">
                <a:moveTo>
                  <a:pt x="491595" y="127000"/>
                </a:moveTo>
                <a:lnTo>
                  <a:pt x="385762" y="127000"/>
                </a:lnTo>
                <a:lnTo>
                  <a:pt x="385762" y="254000"/>
                </a:lnTo>
                <a:lnTo>
                  <a:pt x="491595" y="254000"/>
                </a:lnTo>
                <a:lnTo>
                  <a:pt x="576262" y="190500"/>
                </a:lnTo>
                <a:lnTo>
                  <a:pt x="491595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6"/>
          <p:cNvSpPr/>
          <p:nvPr/>
        </p:nvSpPr>
        <p:spPr>
          <a:xfrm>
            <a:off x="1650844" y="3387725"/>
            <a:ext cx="381000" cy="506730"/>
          </a:xfrm>
          <a:custGeom>
            <a:avLst/>
            <a:gdLst/>
            <a:ahLst/>
            <a:cxnLst/>
            <a:rect l="l" t="t" r="r" b="b"/>
            <a:pathLst>
              <a:path w="381000" h="506729">
                <a:moveTo>
                  <a:pt x="254000" y="190500"/>
                </a:moveTo>
                <a:lnTo>
                  <a:pt x="127000" y="190500"/>
                </a:lnTo>
                <a:lnTo>
                  <a:pt x="127000" y="506475"/>
                </a:lnTo>
                <a:lnTo>
                  <a:pt x="254000" y="506475"/>
                </a:lnTo>
                <a:lnTo>
                  <a:pt x="254000" y="190500"/>
                </a:lnTo>
                <a:close/>
              </a:path>
              <a:path w="381000" h="506729">
                <a:moveTo>
                  <a:pt x="190500" y="0"/>
                </a:moveTo>
                <a:lnTo>
                  <a:pt x="0" y="254000"/>
                </a:lnTo>
                <a:lnTo>
                  <a:pt x="127000" y="254000"/>
                </a:lnTo>
                <a:lnTo>
                  <a:pt x="127000" y="190500"/>
                </a:lnTo>
                <a:lnTo>
                  <a:pt x="333375" y="190500"/>
                </a:lnTo>
                <a:lnTo>
                  <a:pt x="190500" y="0"/>
                </a:lnTo>
                <a:close/>
              </a:path>
              <a:path w="381000" h="506729">
                <a:moveTo>
                  <a:pt x="333375" y="190500"/>
                </a:moveTo>
                <a:lnTo>
                  <a:pt x="254000" y="190500"/>
                </a:lnTo>
                <a:lnTo>
                  <a:pt x="254000" y="254000"/>
                </a:lnTo>
                <a:lnTo>
                  <a:pt x="381000" y="254000"/>
                </a:lnTo>
                <a:lnTo>
                  <a:pt x="333375" y="190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7"/>
          <p:cNvSpPr/>
          <p:nvPr/>
        </p:nvSpPr>
        <p:spPr>
          <a:xfrm>
            <a:off x="2614392" y="1651000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80" h="381000">
                <a:moveTo>
                  <a:pt x="322325" y="0"/>
                </a:moveTo>
                <a:lnTo>
                  <a:pt x="322325" y="381000"/>
                </a:lnTo>
                <a:lnTo>
                  <a:pt x="491659" y="254000"/>
                </a:lnTo>
                <a:lnTo>
                  <a:pt x="385825" y="254000"/>
                </a:lnTo>
                <a:lnTo>
                  <a:pt x="385825" y="127000"/>
                </a:lnTo>
                <a:lnTo>
                  <a:pt x="491659" y="127000"/>
                </a:lnTo>
                <a:lnTo>
                  <a:pt x="322325" y="0"/>
                </a:lnTo>
                <a:close/>
              </a:path>
              <a:path w="576580" h="381000">
                <a:moveTo>
                  <a:pt x="322325" y="127000"/>
                </a:moveTo>
                <a:lnTo>
                  <a:pt x="0" y="127000"/>
                </a:lnTo>
                <a:lnTo>
                  <a:pt x="126" y="254000"/>
                </a:lnTo>
                <a:lnTo>
                  <a:pt x="322325" y="254000"/>
                </a:lnTo>
                <a:lnTo>
                  <a:pt x="322325" y="127000"/>
                </a:lnTo>
                <a:close/>
              </a:path>
              <a:path w="576580" h="381000">
                <a:moveTo>
                  <a:pt x="491659" y="127000"/>
                </a:moveTo>
                <a:lnTo>
                  <a:pt x="385825" y="127000"/>
                </a:lnTo>
                <a:lnTo>
                  <a:pt x="385825" y="254000"/>
                </a:lnTo>
                <a:lnTo>
                  <a:pt x="491659" y="254000"/>
                </a:lnTo>
                <a:lnTo>
                  <a:pt x="576326" y="190500"/>
                </a:lnTo>
                <a:lnTo>
                  <a:pt x="491659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8"/>
          <p:cNvSpPr/>
          <p:nvPr/>
        </p:nvSpPr>
        <p:spPr>
          <a:xfrm>
            <a:off x="2562069" y="3486150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80" h="381000">
                <a:moveTo>
                  <a:pt x="254000" y="0"/>
                </a:moveTo>
                <a:lnTo>
                  <a:pt x="0" y="190500"/>
                </a:lnTo>
                <a:lnTo>
                  <a:pt x="254000" y="381000"/>
                </a:lnTo>
                <a:lnTo>
                  <a:pt x="254000" y="254000"/>
                </a:lnTo>
                <a:lnTo>
                  <a:pt x="190500" y="254000"/>
                </a:lnTo>
                <a:lnTo>
                  <a:pt x="190500" y="127000"/>
                </a:lnTo>
                <a:lnTo>
                  <a:pt x="254000" y="127000"/>
                </a:lnTo>
                <a:lnTo>
                  <a:pt x="254000" y="0"/>
                </a:lnTo>
                <a:close/>
              </a:path>
              <a:path w="576580" h="381000">
                <a:moveTo>
                  <a:pt x="254000" y="127000"/>
                </a:moveTo>
                <a:lnTo>
                  <a:pt x="190500" y="127000"/>
                </a:lnTo>
                <a:lnTo>
                  <a:pt x="190500" y="254000"/>
                </a:lnTo>
                <a:lnTo>
                  <a:pt x="254000" y="254000"/>
                </a:lnTo>
                <a:lnTo>
                  <a:pt x="254000" y="127000"/>
                </a:lnTo>
                <a:close/>
              </a:path>
              <a:path w="576580" h="381000">
                <a:moveTo>
                  <a:pt x="576326" y="127000"/>
                </a:moveTo>
                <a:lnTo>
                  <a:pt x="254000" y="127000"/>
                </a:lnTo>
                <a:lnTo>
                  <a:pt x="254000" y="254000"/>
                </a:lnTo>
                <a:lnTo>
                  <a:pt x="576326" y="254000"/>
                </a:lnTo>
                <a:lnTo>
                  <a:pt x="576326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9"/>
          <p:cNvSpPr/>
          <p:nvPr/>
        </p:nvSpPr>
        <p:spPr>
          <a:xfrm>
            <a:off x="3589117" y="3486150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79" h="381000">
                <a:moveTo>
                  <a:pt x="254126" y="0"/>
                </a:moveTo>
                <a:lnTo>
                  <a:pt x="0" y="190500"/>
                </a:lnTo>
                <a:lnTo>
                  <a:pt x="254000" y="381000"/>
                </a:lnTo>
                <a:lnTo>
                  <a:pt x="254042" y="254000"/>
                </a:lnTo>
                <a:lnTo>
                  <a:pt x="190500" y="254000"/>
                </a:lnTo>
                <a:lnTo>
                  <a:pt x="190626" y="127000"/>
                </a:lnTo>
                <a:lnTo>
                  <a:pt x="254084" y="127000"/>
                </a:lnTo>
                <a:lnTo>
                  <a:pt x="254126" y="0"/>
                </a:lnTo>
                <a:close/>
              </a:path>
              <a:path w="576579" h="381000">
                <a:moveTo>
                  <a:pt x="254084" y="127000"/>
                </a:moveTo>
                <a:lnTo>
                  <a:pt x="190626" y="127000"/>
                </a:lnTo>
                <a:lnTo>
                  <a:pt x="190500" y="254000"/>
                </a:lnTo>
                <a:lnTo>
                  <a:pt x="254042" y="254000"/>
                </a:lnTo>
                <a:lnTo>
                  <a:pt x="254084" y="127000"/>
                </a:lnTo>
                <a:close/>
              </a:path>
              <a:path w="576579" h="381000">
                <a:moveTo>
                  <a:pt x="576326" y="127000"/>
                </a:moveTo>
                <a:lnTo>
                  <a:pt x="254084" y="127000"/>
                </a:lnTo>
                <a:lnTo>
                  <a:pt x="254042" y="254000"/>
                </a:lnTo>
                <a:lnTo>
                  <a:pt x="576326" y="254000"/>
                </a:lnTo>
                <a:lnTo>
                  <a:pt x="576326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0"/>
          <p:cNvSpPr/>
          <p:nvPr/>
        </p:nvSpPr>
        <p:spPr>
          <a:xfrm>
            <a:off x="4616294" y="3486150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79" h="381000">
                <a:moveTo>
                  <a:pt x="254000" y="0"/>
                </a:moveTo>
                <a:lnTo>
                  <a:pt x="0" y="190500"/>
                </a:lnTo>
                <a:lnTo>
                  <a:pt x="254000" y="381000"/>
                </a:lnTo>
                <a:lnTo>
                  <a:pt x="254000" y="254000"/>
                </a:lnTo>
                <a:lnTo>
                  <a:pt x="190500" y="254000"/>
                </a:lnTo>
                <a:lnTo>
                  <a:pt x="190500" y="127000"/>
                </a:lnTo>
                <a:lnTo>
                  <a:pt x="254000" y="127000"/>
                </a:lnTo>
                <a:lnTo>
                  <a:pt x="254000" y="0"/>
                </a:lnTo>
                <a:close/>
              </a:path>
              <a:path w="576579" h="381000">
                <a:moveTo>
                  <a:pt x="254000" y="127000"/>
                </a:moveTo>
                <a:lnTo>
                  <a:pt x="190500" y="127000"/>
                </a:lnTo>
                <a:lnTo>
                  <a:pt x="190500" y="254000"/>
                </a:lnTo>
                <a:lnTo>
                  <a:pt x="254000" y="254000"/>
                </a:lnTo>
                <a:lnTo>
                  <a:pt x="254000" y="127000"/>
                </a:lnTo>
                <a:close/>
              </a:path>
              <a:path w="576579" h="381000">
                <a:moveTo>
                  <a:pt x="576326" y="127000"/>
                </a:moveTo>
                <a:lnTo>
                  <a:pt x="254000" y="127000"/>
                </a:lnTo>
                <a:lnTo>
                  <a:pt x="254000" y="254000"/>
                </a:lnTo>
                <a:lnTo>
                  <a:pt x="576199" y="254000"/>
                </a:lnTo>
                <a:lnTo>
                  <a:pt x="576326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1"/>
          <p:cNvSpPr/>
          <p:nvPr/>
        </p:nvSpPr>
        <p:spPr>
          <a:xfrm>
            <a:off x="3641569" y="1651000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79" h="381000">
                <a:moveTo>
                  <a:pt x="322199" y="0"/>
                </a:moveTo>
                <a:lnTo>
                  <a:pt x="322325" y="381000"/>
                </a:lnTo>
                <a:lnTo>
                  <a:pt x="491574" y="254000"/>
                </a:lnTo>
                <a:lnTo>
                  <a:pt x="385699" y="254000"/>
                </a:lnTo>
                <a:lnTo>
                  <a:pt x="385699" y="127000"/>
                </a:lnTo>
                <a:lnTo>
                  <a:pt x="491532" y="127000"/>
                </a:lnTo>
                <a:lnTo>
                  <a:pt x="322199" y="0"/>
                </a:lnTo>
                <a:close/>
              </a:path>
              <a:path w="576579" h="381000">
                <a:moveTo>
                  <a:pt x="322241" y="127000"/>
                </a:moveTo>
                <a:lnTo>
                  <a:pt x="0" y="127000"/>
                </a:lnTo>
                <a:lnTo>
                  <a:pt x="0" y="254000"/>
                </a:lnTo>
                <a:lnTo>
                  <a:pt x="322283" y="254000"/>
                </a:lnTo>
                <a:lnTo>
                  <a:pt x="322241" y="127000"/>
                </a:lnTo>
                <a:close/>
              </a:path>
              <a:path w="576579" h="381000">
                <a:moveTo>
                  <a:pt x="491532" y="127000"/>
                </a:moveTo>
                <a:lnTo>
                  <a:pt x="385699" y="127000"/>
                </a:lnTo>
                <a:lnTo>
                  <a:pt x="385699" y="254000"/>
                </a:lnTo>
                <a:lnTo>
                  <a:pt x="491574" y="254000"/>
                </a:lnTo>
                <a:lnTo>
                  <a:pt x="576199" y="190500"/>
                </a:lnTo>
                <a:lnTo>
                  <a:pt x="491532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/>
          <p:cNvSpPr/>
          <p:nvPr/>
        </p:nvSpPr>
        <p:spPr>
          <a:xfrm>
            <a:off x="1650748" y="2452623"/>
            <a:ext cx="381635" cy="506730"/>
          </a:xfrm>
          <a:custGeom>
            <a:avLst/>
            <a:gdLst/>
            <a:ahLst/>
            <a:cxnLst/>
            <a:rect l="l" t="t" r="r" b="b"/>
            <a:pathLst>
              <a:path w="381634" h="506730">
                <a:moveTo>
                  <a:pt x="254095" y="190626"/>
                </a:moveTo>
                <a:lnTo>
                  <a:pt x="127095" y="190626"/>
                </a:lnTo>
                <a:lnTo>
                  <a:pt x="127095" y="506475"/>
                </a:lnTo>
                <a:lnTo>
                  <a:pt x="254095" y="506475"/>
                </a:lnTo>
                <a:lnTo>
                  <a:pt x="254095" y="190626"/>
                </a:lnTo>
                <a:close/>
              </a:path>
              <a:path w="381634" h="506730">
                <a:moveTo>
                  <a:pt x="190595" y="0"/>
                </a:moveTo>
                <a:lnTo>
                  <a:pt x="0" y="254126"/>
                </a:lnTo>
                <a:lnTo>
                  <a:pt x="127095" y="254126"/>
                </a:lnTo>
                <a:lnTo>
                  <a:pt x="127095" y="190626"/>
                </a:lnTo>
                <a:lnTo>
                  <a:pt x="333494" y="190626"/>
                </a:lnTo>
                <a:lnTo>
                  <a:pt x="190595" y="0"/>
                </a:lnTo>
                <a:close/>
              </a:path>
              <a:path w="381634" h="506730">
                <a:moveTo>
                  <a:pt x="333494" y="190626"/>
                </a:moveTo>
                <a:lnTo>
                  <a:pt x="254095" y="190626"/>
                </a:lnTo>
                <a:lnTo>
                  <a:pt x="254095" y="254126"/>
                </a:lnTo>
                <a:lnTo>
                  <a:pt x="381095" y="254126"/>
                </a:lnTo>
                <a:lnTo>
                  <a:pt x="333494" y="1906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30024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Reward</a:t>
            </a:r>
            <a:r>
              <a:rPr lang="en-US" spc="-35" dirty="0" smtClean="0"/>
              <a:t> </a:t>
            </a:r>
            <a:r>
              <a:rPr lang="en-US" dirty="0" smtClean="0"/>
              <a:t>for</a:t>
            </a:r>
            <a:r>
              <a:rPr lang="en-US" spc="-15" dirty="0" smtClean="0"/>
              <a:t> </a:t>
            </a:r>
            <a:r>
              <a:rPr lang="en-US" dirty="0" smtClean="0"/>
              <a:t>each</a:t>
            </a:r>
            <a:r>
              <a:rPr lang="en-US" spc="-40" dirty="0" smtClean="0"/>
              <a:t> </a:t>
            </a:r>
            <a:r>
              <a:rPr lang="en-US" dirty="0" smtClean="0"/>
              <a:t>step:</a:t>
            </a:r>
            <a:r>
              <a:rPr lang="en-US" spc="-20" dirty="0" smtClean="0"/>
              <a:t> </a:t>
            </a:r>
            <a:r>
              <a:rPr lang="en-US" dirty="0" smtClean="0"/>
              <a:t>-</a:t>
            </a:r>
            <a:r>
              <a:rPr lang="en-US" spc="-20" dirty="0" smtClean="0"/>
              <a:t>0.01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14-04-2026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13</a:t>
            </a:fld>
            <a:endParaRPr lang="en-IN" dirty="0"/>
          </a:p>
        </p:txBody>
      </p:sp>
      <p:graphicFrame>
        <p:nvGraphicFramePr>
          <p:cNvPr id="6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646686"/>
              </p:ext>
            </p:extLst>
          </p:nvPr>
        </p:nvGraphicFramePr>
        <p:xfrm>
          <a:off x="1491088" y="1357312"/>
          <a:ext cx="4103369" cy="27343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5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6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12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20"/>
                        </a:spcBef>
                      </a:pPr>
                      <a:r>
                        <a:rPr sz="2800" spc="-25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+1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2311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24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2800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2800" spc="-50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2324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0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4"/>
          <p:cNvSpPr/>
          <p:nvPr/>
        </p:nvSpPr>
        <p:spPr>
          <a:xfrm>
            <a:off x="1740325" y="1657350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80" h="381000">
                <a:moveTo>
                  <a:pt x="322262" y="0"/>
                </a:moveTo>
                <a:lnTo>
                  <a:pt x="322262" y="381000"/>
                </a:lnTo>
                <a:lnTo>
                  <a:pt x="491595" y="254000"/>
                </a:lnTo>
                <a:lnTo>
                  <a:pt x="385762" y="254000"/>
                </a:lnTo>
                <a:lnTo>
                  <a:pt x="385762" y="127000"/>
                </a:lnTo>
                <a:lnTo>
                  <a:pt x="491595" y="127000"/>
                </a:lnTo>
                <a:lnTo>
                  <a:pt x="322262" y="0"/>
                </a:lnTo>
                <a:close/>
              </a:path>
              <a:path w="576580" h="381000">
                <a:moveTo>
                  <a:pt x="322262" y="127000"/>
                </a:moveTo>
                <a:lnTo>
                  <a:pt x="0" y="127000"/>
                </a:lnTo>
                <a:lnTo>
                  <a:pt x="0" y="254000"/>
                </a:lnTo>
                <a:lnTo>
                  <a:pt x="322262" y="254000"/>
                </a:lnTo>
                <a:lnTo>
                  <a:pt x="322262" y="127000"/>
                </a:lnTo>
                <a:close/>
              </a:path>
              <a:path w="576580" h="381000">
                <a:moveTo>
                  <a:pt x="491595" y="127000"/>
                </a:moveTo>
                <a:lnTo>
                  <a:pt x="385762" y="127000"/>
                </a:lnTo>
                <a:lnTo>
                  <a:pt x="385762" y="254000"/>
                </a:lnTo>
                <a:lnTo>
                  <a:pt x="491595" y="254000"/>
                </a:lnTo>
                <a:lnTo>
                  <a:pt x="576262" y="190500"/>
                </a:lnTo>
                <a:lnTo>
                  <a:pt x="491595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5"/>
          <p:cNvSpPr/>
          <p:nvPr/>
        </p:nvSpPr>
        <p:spPr>
          <a:xfrm>
            <a:off x="1818113" y="3387725"/>
            <a:ext cx="381000" cy="506730"/>
          </a:xfrm>
          <a:custGeom>
            <a:avLst/>
            <a:gdLst/>
            <a:ahLst/>
            <a:cxnLst/>
            <a:rect l="l" t="t" r="r" b="b"/>
            <a:pathLst>
              <a:path w="381000" h="506729">
                <a:moveTo>
                  <a:pt x="254000" y="190500"/>
                </a:moveTo>
                <a:lnTo>
                  <a:pt x="127000" y="190500"/>
                </a:lnTo>
                <a:lnTo>
                  <a:pt x="127000" y="506475"/>
                </a:lnTo>
                <a:lnTo>
                  <a:pt x="254000" y="506475"/>
                </a:lnTo>
                <a:lnTo>
                  <a:pt x="254000" y="190500"/>
                </a:lnTo>
                <a:close/>
              </a:path>
              <a:path w="381000" h="506729">
                <a:moveTo>
                  <a:pt x="190500" y="0"/>
                </a:moveTo>
                <a:lnTo>
                  <a:pt x="0" y="254000"/>
                </a:lnTo>
                <a:lnTo>
                  <a:pt x="127000" y="254000"/>
                </a:lnTo>
                <a:lnTo>
                  <a:pt x="127000" y="190500"/>
                </a:lnTo>
                <a:lnTo>
                  <a:pt x="333375" y="190500"/>
                </a:lnTo>
                <a:lnTo>
                  <a:pt x="190500" y="0"/>
                </a:lnTo>
                <a:close/>
              </a:path>
              <a:path w="381000" h="506729">
                <a:moveTo>
                  <a:pt x="333375" y="190500"/>
                </a:moveTo>
                <a:lnTo>
                  <a:pt x="254000" y="190500"/>
                </a:lnTo>
                <a:lnTo>
                  <a:pt x="254000" y="254000"/>
                </a:lnTo>
                <a:lnTo>
                  <a:pt x="381000" y="254000"/>
                </a:lnTo>
                <a:lnTo>
                  <a:pt x="333375" y="190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6"/>
          <p:cNvSpPr/>
          <p:nvPr/>
        </p:nvSpPr>
        <p:spPr>
          <a:xfrm>
            <a:off x="2781661" y="1651000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80" h="381000">
                <a:moveTo>
                  <a:pt x="322325" y="0"/>
                </a:moveTo>
                <a:lnTo>
                  <a:pt x="322325" y="381000"/>
                </a:lnTo>
                <a:lnTo>
                  <a:pt x="491659" y="254000"/>
                </a:lnTo>
                <a:lnTo>
                  <a:pt x="385825" y="254000"/>
                </a:lnTo>
                <a:lnTo>
                  <a:pt x="385825" y="127000"/>
                </a:lnTo>
                <a:lnTo>
                  <a:pt x="491659" y="127000"/>
                </a:lnTo>
                <a:lnTo>
                  <a:pt x="322325" y="0"/>
                </a:lnTo>
                <a:close/>
              </a:path>
              <a:path w="576580" h="381000">
                <a:moveTo>
                  <a:pt x="322325" y="127000"/>
                </a:moveTo>
                <a:lnTo>
                  <a:pt x="0" y="127000"/>
                </a:lnTo>
                <a:lnTo>
                  <a:pt x="126" y="254000"/>
                </a:lnTo>
                <a:lnTo>
                  <a:pt x="322325" y="254000"/>
                </a:lnTo>
                <a:lnTo>
                  <a:pt x="322325" y="127000"/>
                </a:lnTo>
                <a:close/>
              </a:path>
              <a:path w="576580" h="381000">
                <a:moveTo>
                  <a:pt x="491659" y="127000"/>
                </a:moveTo>
                <a:lnTo>
                  <a:pt x="385825" y="127000"/>
                </a:lnTo>
                <a:lnTo>
                  <a:pt x="385825" y="254000"/>
                </a:lnTo>
                <a:lnTo>
                  <a:pt x="491659" y="254000"/>
                </a:lnTo>
                <a:lnTo>
                  <a:pt x="576326" y="190500"/>
                </a:lnTo>
                <a:lnTo>
                  <a:pt x="491659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7"/>
          <p:cNvSpPr/>
          <p:nvPr/>
        </p:nvSpPr>
        <p:spPr>
          <a:xfrm>
            <a:off x="2729338" y="3486150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80" h="381000">
                <a:moveTo>
                  <a:pt x="254000" y="0"/>
                </a:moveTo>
                <a:lnTo>
                  <a:pt x="0" y="190500"/>
                </a:lnTo>
                <a:lnTo>
                  <a:pt x="254000" y="381000"/>
                </a:lnTo>
                <a:lnTo>
                  <a:pt x="254000" y="254000"/>
                </a:lnTo>
                <a:lnTo>
                  <a:pt x="190500" y="254000"/>
                </a:lnTo>
                <a:lnTo>
                  <a:pt x="190500" y="127000"/>
                </a:lnTo>
                <a:lnTo>
                  <a:pt x="254000" y="127000"/>
                </a:lnTo>
                <a:lnTo>
                  <a:pt x="254000" y="0"/>
                </a:lnTo>
                <a:close/>
              </a:path>
              <a:path w="576580" h="381000">
                <a:moveTo>
                  <a:pt x="254000" y="127000"/>
                </a:moveTo>
                <a:lnTo>
                  <a:pt x="190500" y="127000"/>
                </a:lnTo>
                <a:lnTo>
                  <a:pt x="190500" y="254000"/>
                </a:lnTo>
                <a:lnTo>
                  <a:pt x="254000" y="254000"/>
                </a:lnTo>
                <a:lnTo>
                  <a:pt x="254000" y="127000"/>
                </a:lnTo>
                <a:close/>
              </a:path>
              <a:path w="576580" h="381000">
                <a:moveTo>
                  <a:pt x="576326" y="127000"/>
                </a:moveTo>
                <a:lnTo>
                  <a:pt x="254000" y="127000"/>
                </a:lnTo>
                <a:lnTo>
                  <a:pt x="254000" y="254000"/>
                </a:lnTo>
                <a:lnTo>
                  <a:pt x="576326" y="254000"/>
                </a:lnTo>
                <a:lnTo>
                  <a:pt x="576326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8"/>
          <p:cNvSpPr/>
          <p:nvPr/>
        </p:nvSpPr>
        <p:spPr>
          <a:xfrm>
            <a:off x="3756386" y="3486150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79" h="381000">
                <a:moveTo>
                  <a:pt x="254126" y="0"/>
                </a:moveTo>
                <a:lnTo>
                  <a:pt x="0" y="190500"/>
                </a:lnTo>
                <a:lnTo>
                  <a:pt x="254000" y="381000"/>
                </a:lnTo>
                <a:lnTo>
                  <a:pt x="254042" y="254000"/>
                </a:lnTo>
                <a:lnTo>
                  <a:pt x="190500" y="254000"/>
                </a:lnTo>
                <a:lnTo>
                  <a:pt x="190626" y="127000"/>
                </a:lnTo>
                <a:lnTo>
                  <a:pt x="254084" y="127000"/>
                </a:lnTo>
                <a:lnTo>
                  <a:pt x="254126" y="0"/>
                </a:lnTo>
                <a:close/>
              </a:path>
              <a:path w="576579" h="381000">
                <a:moveTo>
                  <a:pt x="254084" y="127000"/>
                </a:moveTo>
                <a:lnTo>
                  <a:pt x="190626" y="127000"/>
                </a:lnTo>
                <a:lnTo>
                  <a:pt x="190500" y="254000"/>
                </a:lnTo>
                <a:lnTo>
                  <a:pt x="254042" y="254000"/>
                </a:lnTo>
                <a:lnTo>
                  <a:pt x="254084" y="127000"/>
                </a:lnTo>
                <a:close/>
              </a:path>
              <a:path w="576579" h="381000">
                <a:moveTo>
                  <a:pt x="576326" y="127000"/>
                </a:moveTo>
                <a:lnTo>
                  <a:pt x="254084" y="127000"/>
                </a:lnTo>
                <a:lnTo>
                  <a:pt x="254042" y="254000"/>
                </a:lnTo>
                <a:lnTo>
                  <a:pt x="576326" y="254000"/>
                </a:lnTo>
                <a:lnTo>
                  <a:pt x="576326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9"/>
          <p:cNvSpPr/>
          <p:nvPr/>
        </p:nvSpPr>
        <p:spPr>
          <a:xfrm>
            <a:off x="3808838" y="1651000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79" h="381000">
                <a:moveTo>
                  <a:pt x="322199" y="0"/>
                </a:moveTo>
                <a:lnTo>
                  <a:pt x="322325" y="381000"/>
                </a:lnTo>
                <a:lnTo>
                  <a:pt x="491574" y="254000"/>
                </a:lnTo>
                <a:lnTo>
                  <a:pt x="385699" y="254000"/>
                </a:lnTo>
                <a:lnTo>
                  <a:pt x="385699" y="127000"/>
                </a:lnTo>
                <a:lnTo>
                  <a:pt x="491532" y="127000"/>
                </a:lnTo>
                <a:lnTo>
                  <a:pt x="322199" y="0"/>
                </a:lnTo>
                <a:close/>
              </a:path>
              <a:path w="576579" h="381000">
                <a:moveTo>
                  <a:pt x="322241" y="127000"/>
                </a:moveTo>
                <a:lnTo>
                  <a:pt x="0" y="127000"/>
                </a:lnTo>
                <a:lnTo>
                  <a:pt x="0" y="254000"/>
                </a:lnTo>
                <a:lnTo>
                  <a:pt x="322283" y="254000"/>
                </a:lnTo>
                <a:lnTo>
                  <a:pt x="322241" y="127000"/>
                </a:lnTo>
                <a:close/>
              </a:path>
              <a:path w="576579" h="381000">
                <a:moveTo>
                  <a:pt x="491532" y="127000"/>
                </a:moveTo>
                <a:lnTo>
                  <a:pt x="385699" y="127000"/>
                </a:lnTo>
                <a:lnTo>
                  <a:pt x="385699" y="254000"/>
                </a:lnTo>
                <a:lnTo>
                  <a:pt x="491574" y="254000"/>
                </a:lnTo>
                <a:lnTo>
                  <a:pt x="576199" y="190500"/>
                </a:lnTo>
                <a:lnTo>
                  <a:pt x="491532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0"/>
          <p:cNvSpPr/>
          <p:nvPr/>
        </p:nvSpPr>
        <p:spPr>
          <a:xfrm>
            <a:off x="1818017" y="2452623"/>
            <a:ext cx="381635" cy="506730"/>
          </a:xfrm>
          <a:custGeom>
            <a:avLst/>
            <a:gdLst/>
            <a:ahLst/>
            <a:cxnLst/>
            <a:rect l="l" t="t" r="r" b="b"/>
            <a:pathLst>
              <a:path w="381634" h="506730">
                <a:moveTo>
                  <a:pt x="254095" y="190626"/>
                </a:moveTo>
                <a:lnTo>
                  <a:pt x="127095" y="190626"/>
                </a:lnTo>
                <a:lnTo>
                  <a:pt x="127095" y="506475"/>
                </a:lnTo>
                <a:lnTo>
                  <a:pt x="254095" y="506475"/>
                </a:lnTo>
                <a:lnTo>
                  <a:pt x="254095" y="190626"/>
                </a:lnTo>
                <a:close/>
              </a:path>
              <a:path w="381634" h="506730">
                <a:moveTo>
                  <a:pt x="190595" y="0"/>
                </a:moveTo>
                <a:lnTo>
                  <a:pt x="0" y="254126"/>
                </a:lnTo>
                <a:lnTo>
                  <a:pt x="127095" y="254126"/>
                </a:lnTo>
                <a:lnTo>
                  <a:pt x="127095" y="190626"/>
                </a:lnTo>
                <a:lnTo>
                  <a:pt x="333494" y="190626"/>
                </a:lnTo>
                <a:lnTo>
                  <a:pt x="190595" y="0"/>
                </a:lnTo>
                <a:close/>
              </a:path>
              <a:path w="381634" h="506730">
                <a:moveTo>
                  <a:pt x="333494" y="190626"/>
                </a:moveTo>
                <a:lnTo>
                  <a:pt x="254095" y="190626"/>
                </a:lnTo>
                <a:lnTo>
                  <a:pt x="254095" y="254126"/>
                </a:lnTo>
                <a:lnTo>
                  <a:pt x="381095" y="254126"/>
                </a:lnTo>
                <a:lnTo>
                  <a:pt x="333494" y="1906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1"/>
          <p:cNvSpPr/>
          <p:nvPr/>
        </p:nvSpPr>
        <p:spPr>
          <a:xfrm>
            <a:off x="3761213" y="2552700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79" h="381000">
                <a:moveTo>
                  <a:pt x="254000" y="0"/>
                </a:moveTo>
                <a:lnTo>
                  <a:pt x="0" y="190500"/>
                </a:lnTo>
                <a:lnTo>
                  <a:pt x="254000" y="381000"/>
                </a:lnTo>
                <a:lnTo>
                  <a:pt x="254000" y="254000"/>
                </a:lnTo>
                <a:lnTo>
                  <a:pt x="190500" y="254000"/>
                </a:lnTo>
                <a:lnTo>
                  <a:pt x="190500" y="127000"/>
                </a:lnTo>
                <a:lnTo>
                  <a:pt x="254000" y="127000"/>
                </a:lnTo>
                <a:lnTo>
                  <a:pt x="254000" y="0"/>
                </a:lnTo>
                <a:close/>
              </a:path>
              <a:path w="576579" h="381000">
                <a:moveTo>
                  <a:pt x="254000" y="127000"/>
                </a:moveTo>
                <a:lnTo>
                  <a:pt x="190500" y="127000"/>
                </a:lnTo>
                <a:lnTo>
                  <a:pt x="190500" y="254000"/>
                </a:lnTo>
                <a:lnTo>
                  <a:pt x="254000" y="254000"/>
                </a:lnTo>
                <a:lnTo>
                  <a:pt x="254000" y="127000"/>
                </a:lnTo>
                <a:close/>
              </a:path>
              <a:path w="576579" h="381000">
                <a:moveTo>
                  <a:pt x="576199" y="127000"/>
                </a:moveTo>
                <a:lnTo>
                  <a:pt x="254000" y="127000"/>
                </a:lnTo>
                <a:lnTo>
                  <a:pt x="254000" y="254000"/>
                </a:lnTo>
                <a:lnTo>
                  <a:pt x="576199" y="254000"/>
                </a:lnTo>
                <a:lnTo>
                  <a:pt x="576199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/>
          <p:cNvSpPr/>
          <p:nvPr/>
        </p:nvSpPr>
        <p:spPr>
          <a:xfrm>
            <a:off x="4902561" y="3387725"/>
            <a:ext cx="381000" cy="576580"/>
          </a:xfrm>
          <a:custGeom>
            <a:avLst/>
            <a:gdLst/>
            <a:ahLst/>
            <a:cxnLst/>
            <a:rect l="l" t="t" r="r" b="b"/>
            <a:pathLst>
              <a:path w="381000" h="576579">
                <a:moveTo>
                  <a:pt x="127020" y="322199"/>
                </a:moveTo>
                <a:lnTo>
                  <a:pt x="0" y="322199"/>
                </a:lnTo>
                <a:lnTo>
                  <a:pt x="190500" y="576199"/>
                </a:lnTo>
                <a:lnTo>
                  <a:pt x="333375" y="385699"/>
                </a:lnTo>
                <a:lnTo>
                  <a:pt x="127000" y="385699"/>
                </a:lnTo>
                <a:lnTo>
                  <a:pt x="127020" y="322199"/>
                </a:lnTo>
                <a:close/>
              </a:path>
              <a:path w="381000" h="576579">
                <a:moveTo>
                  <a:pt x="254000" y="0"/>
                </a:moveTo>
                <a:lnTo>
                  <a:pt x="127126" y="0"/>
                </a:lnTo>
                <a:lnTo>
                  <a:pt x="127000" y="385699"/>
                </a:lnTo>
                <a:lnTo>
                  <a:pt x="254000" y="385699"/>
                </a:lnTo>
                <a:lnTo>
                  <a:pt x="254000" y="0"/>
                </a:lnTo>
                <a:close/>
              </a:path>
              <a:path w="381000" h="576579">
                <a:moveTo>
                  <a:pt x="381000" y="322199"/>
                </a:moveTo>
                <a:lnTo>
                  <a:pt x="254000" y="322199"/>
                </a:lnTo>
                <a:lnTo>
                  <a:pt x="254000" y="385699"/>
                </a:lnTo>
                <a:lnTo>
                  <a:pt x="333375" y="385699"/>
                </a:lnTo>
                <a:lnTo>
                  <a:pt x="381000" y="3221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4179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Reward</a:t>
            </a:r>
            <a:r>
              <a:rPr lang="en-US" spc="-35" dirty="0" smtClean="0"/>
              <a:t> </a:t>
            </a:r>
            <a:r>
              <a:rPr lang="en-US" dirty="0" smtClean="0"/>
              <a:t>for</a:t>
            </a:r>
            <a:r>
              <a:rPr lang="en-US" spc="-15" dirty="0" smtClean="0"/>
              <a:t> </a:t>
            </a:r>
            <a:r>
              <a:rPr lang="en-US" dirty="0" smtClean="0"/>
              <a:t>each</a:t>
            </a:r>
            <a:r>
              <a:rPr lang="en-US" spc="-40" dirty="0" smtClean="0"/>
              <a:t> </a:t>
            </a:r>
            <a:r>
              <a:rPr lang="en-US" dirty="0" smtClean="0"/>
              <a:t>step:</a:t>
            </a:r>
            <a:r>
              <a:rPr lang="en-US" spc="-20" dirty="0" smtClean="0"/>
              <a:t> </a:t>
            </a:r>
            <a:r>
              <a:rPr lang="en-US" spc="-10" dirty="0" smtClean="0"/>
              <a:t>+0.01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14-04-2026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14</a:t>
            </a:fld>
            <a:endParaRPr lang="en-IN" dirty="0"/>
          </a:p>
        </p:txBody>
      </p:sp>
      <p:graphicFrame>
        <p:nvGraphicFramePr>
          <p:cNvPr id="6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8863842"/>
              </p:ext>
            </p:extLst>
          </p:nvPr>
        </p:nvGraphicFramePr>
        <p:xfrm>
          <a:off x="1491088" y="1357312"/>
          <a:ext cx="4103369" cy="27343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5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6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12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20"/>
                        </a:spcBef>
                      </a:pPr>
                      <a:r>
                        <a:rPr sz="2800" spc="-25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+1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2311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24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r>
                        <a:rPr sz="2800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2800" spc="-50" dirty="0">
                          <a:solidFill>
                            <a:srgbClr val="0066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2800">
                        <a:latin typeface="Trebuchet MS"/>
                        <a:cs typeface="Trebuchet MS"/>
                      </a:endParaRPr>
                    </a:p>
                  </a:txBody>
                  <a:tcPr marL="0" marR="0" marT="2324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0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4"/>
          <p:cNvSpPr/>
          <p:nvPr/>
        </p:nvSpPr>
        <p:spPr>
          <a:xfrm>
            <a:off x="3799313" y="3486150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79" h="381000">
                <a:moveTo>
                  <a:pt x="254000" y="0"/>
                </a:moveTo>
                <a:lnTo>
                  <a:pt x="0" y="190500"/>
                </a:lnTo>
                <a:lnTo>
                  <a:pt x="254000" y="381000"/>
                </a:lnTo>
                <a:lnTo>
                  <a:pt x="254000" y="254000"/>
                </a:lnTo>
                <a:lnTo>
                  <a:pt x="190500" y="254000"/>
                </a:lnTo>
                <a:lnTo>
                  <a:pt x="190500" y="127000"/>
                </a:lnTo>
                <a:lnTo>
                  <a:pt x="254000" y="127000"/>
                </a:lnTo>
                <a:lnTo>
                  <a:pt x="254000" y="0"/>
                </a:lnTo>
                <a:close/>
              </a:path>
              <a:path w="576579" h="381000">
                <a:moveTo>
                  <a:pt x="254000" y="127000"/>
                </a:moveTo>
                <a:lnTo>
                  <a:pt x="190500" y="127000"/>
                </a:lnTo>
                <a:lnTo>
                  <a:pt x="190500" y="254000"/>
                </a:lnTo>
                <a:lnTo>
                  <a:pt x="254000" y="254000"/>
                </a:lnTo>
                <a:lnTo>
                  <a:pt x="254000" y="127000"/>
                </a:lnTo>
                <a:close/>
              </a:path>
              <a:path w="576579" h="381000">
                <a:moveTo>
                  <a:pt x="576326" y="127000"/>
                </a:moveTo>
                <a:lnTo>
                  <a:pt x="254000" y="127000"/>
                </a:lnTo>
                <a:lnTo>
                  <a:pt x="254000" y="254000"/>
                </a:lnTo>
                <a:lnTo>
                  <a:pt x="576199" y="254000"/>
                </a:lnTo>
                <a:lnTo>
                  <a:pt x="576326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5"/>
          <p:cNvSpPr/>
          <p:nvPr/>
        </p:nvSpPr>
        <p:spPr>
          <a:xfrm>
            <a:off x="4913738" y="3386073"/>
            <a:ext cx="381000" cy="506730"/>
          </a:xfrm>
          <a:custGeom>
            <a:avLst/>
            <a:gdLst/>
            <a:ahLst/>
            <a:cxnLst/>
            <a:rect l="l" t="t" r="r" b="b"/>
            <a:pathLst>
              <a:path w="381000" h="506729">
                <a:moveTo>
                  <a:pt x="127000" y="252475"/>
                </a:moveTo>
                <a:lnTo>
                  <a:pt x="0" y="252475"/>
                </a:lnTo>
                <a:lnTo>
                  <a:pt x="190500" y="506475"/>
                </a:lnTo>
                <a:lnTo>
                  <a:pt x="333375" y="315975"/>
                </a:lnTo>
                <a:lnTo>
                  <a:pt x="127000" y="315975"/>
                </a:lnTo>
                <a:lnTo>
                  <a:pt x="127000" y="252475"/>
                </a:lnTo>
                <a:close/>
              </a:path>
              <a:path w="381000" h="506729">
                <a:moveTo>
                  <a:pt x="254000" y="0"/>
                </a:moveTo>
                <a:lnTo>
                  <a:pt x="127000" y="0"/>
                </a:lnTo>
                <a:lnTo>
                  <a:pt x="127000" y="315975"/>
                </a:lnTo>
                <a:lnTo>
                  <a:pt x="254000" y="315975"/>
                </a:lnTo>
                <a:lnTo>
                  <a:pt x="254000" y="0"/>
                </a:lnTo>
                <a:close/>
              </a:path>
              <a:path w="381000" h="506729">
                <a:moveTo>
                  <a:pt x="381000" y="252475"/>
                </a:moveTo>
                <a:lnTo>
                  <a:pt x="254000" y="252475"/>
                </a:lnTo>
                <a:lnTo>
                  <a:pt x="254000" y="315975"/>
                </a:lnTo>
                <a:lnTo>
                  <a:pt x="333375" y="315975"/>
                </a:lnTo>
                <a:lnTo>
                  <a:pt x="381000" y="2524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6"/>
          <p:cNvSpPr/>
          <p:nvPr/>
        </p:nvSpPr>
        <p:spPr>
          <a:xfrm>
            <a:off x="3808838" y="2549525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79" h="381000">
                <a:moveTo>
                  <a:pt x="254000" y="0"/>
                </a:moveTo>
                <a:lnTo>
                  <a:pt x="0" y="190500"/>
                </a:lnTo>
                <a:lnTo>
                  <a:pt x="254000" y="381000"/>
                </a:lnTo>
                <a:lnTo>
                  <a:pt x="254000" y="254000"/>
                </a:lnTo>
                <a:lnTo>
                  <a:pt x="190500" y="254000"/>
                </a:lnTo>
                <a:lnTo>
                  <a:pt x="190500" y="127000"/>
                </a:lnTo>
                <a:lnTo>
                  <a:pt x="254000" y="127000"/>
                </a:lnTo>
                <a:lnTo>
                  <a:pt x="254000" y="0"/>
                </a:lnTo>
                <a:close/>
              </a:path>
              <a:path w="576579" h="381000">
                <a:moveTo>
                  <a:pt x="254000" y="127000"/>
                </a:moveTo>
                <a:lnTo>
                  <a:pt x="190500" y="127000"/>
                </a:lnTo>
                <a:lnTo>
                  <a:pt x="190500" y="254000"/>
                </a:lnTo>
                <a:lnTo>
                  <a:pt x="254000" y="254000"/>
                </a:lnTo>
                <a:lnTo>
                  <a:pt x="254000" y="127000"/>
                </a:lnTo>
                <a:close/>
              </a:path>
              <a:path w="576579" h="381000">
                <a:moveTo>
                  <a:pt x="576326" y="127000"/>
                </a:moveTo>
                <a:lnTo>
                  <a:pt x="254000" y="127000"/>
                </a:lnTo>
                <a:lnTo>
                  <a:pt x="254000" y="254000"/>
                </a:lnTo>
                <a:lnTo>
                  <a:pt x="576199" y="254000"/>
                </a:lnTo>
                <a:lnTo>
                  <a:pt x="576326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7"/>
          <p:cNvSpPr/>
          <p:nvPr/>
        </p:nvSpPr>
        <p:spPr>
          <a:xfrm>
            <a:off x="3808838" y="1657350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79" h="381000">
                <a:moveTo>
                  <a:pt x="254000" y="0"/>
                </a:moveTo>
                <a:lnTo>
                  <a:pt x="0" y="190500"/>
                </a:lnTo>
                <a:lnTo>
                  <a:pt x="254000" y="381000"/>
                </a:lnTo>
                <a:lnTo>
                  <a:pt x="254000" y="254000"/>
                </a:lnTo>
                <a:lnTo>
                  <a:pt x="190500" y="254000"/>
                </a:lnTo>
                <a:lnTo>
                  <a:pt x="190500" y="127000"/>
                </a:lnTo>
                <a:lnTo>
                  <a:pt x="254000" y="127000"/>
                </a:lnTo>
                <a:lnTo>
                  <a:pt x="254000" y="0"/>
                </a:lnTo>
                <a:close/>
              </a:path>
              <a:path w="576579" h="381000">
                <a:moveTo>
                  <a:pt x="254000" y="127000"/>
                </a:moveTo>
                <a:lnTo>
                  <a:pt x="190500" y="127000"/>
                </a:lnTo>
                <a:lnTo>
                  <a:pt x="190500" y="254000"/>
                </a:lnTo>
                <a:lnTo>
                  <a:pt x="254000" y="254000"/>
                </a:lnTo>
                <a:lnTo>
                  <a:pt x="254000" y="127000"/>
                </a:lnTo>
                <a:close/>
              </a:path>
              <a:path w="576579" h="381000">
                <a:moveTo>
                  <a:pt x="576326" y="127000"/>
                </a:moveTo>
                <a:lnTo>
                  <a:pt x="254000" y="127000"/>
                </a:lnTo>
                <a:lnTo>
                  <a:pt x="254000" y="254000"/>
                </a:lnTo>
                <a:lnTo>
                  <a:pt x="576199" y="254000"/>
                </a:lnTo>
                <a:lnTo>
                  <a:pt x="576326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8"/>
          <p:cNvSpPr/>
          <p:nvPr/>
        </p:nvSpPr>
        <p:spPr>
          <a:xfrm>
            <a:off x="2729338" y="1666875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80" h="381000">
                <a:moveTo>
                  <a:pt x="254000" y="0"/>
                </a:moveTo>
                <a:lnTo>
                  <a:pt x="0" y="190500"/>
                </a:lnTo>
                <a:lnTo>
                  <a:pt x="254000" y="381000"/>
                </a:lnTo>
                <a:lnTo>
                  <a:pt x="254000" y="254000"/>
                </a:lnTo>
                <a:lnTo>
                  <a:pt x="190500" y="254000"/>
                </a:lnTo>
                <a:lnTo>
                  <a:pt x="190500" y="127000"/>
                </a:lnTo>
                <a:lnTo>
                  <a:pt x="254000" y="127000"/>
                </a:lnTo>
                <a:lnTo>
                  <a:pt x="254000" y="0"/>
                </a:lnTo>
                <a:close/>
              </a:path>
              <a:path w="576580" h="381000">
                <a:moveTo>
                  <a:pt x="254000" y="127000"/>
                </a:moveTo>
                <a:lnTo>
                  <a:pt x="190500" y="127000"/>
                </a:lnTo>
                <a:lnTo>
                  <a:pt x="190500" y="254000"/>
                </a:lnTo>
                <a:lnTo>
                  <a:pt x="254000" y="254000"/>
                </a:lnTo>
                <a:lnTo>
                  <a:pt x="254000" y="127000"/>
                </a:lnTo>
                <a:close/>
              </a:path>
              <a:path w="576580" h="381000">
                <a:moveTo>
                  <a:pt x="576326" y="127000"/>
                </a:moveTo>
                <a:lnTo>
                  <a:pt x="254000" y="127000"/>
                </a:lnTo>
                <a:lnTo>
                  <a:pt x="254000" y="254000"/>
                </a:lnTo>
                <a:lnTo>
                  <a:pt x="576326" y="254000"/>
                </a:lnTo>
                <a:lnTo>
                  <a:pt x="576326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9"/>
          <p:cNvSpPr/>
          <p:nvPr/>
        </p:nvSpPr>
        <p:spPr>
          <a:xfrm>
            <a:off x="1818113" y="1587500"/>
            <a:ext cx="381000" cy="506730"/>
          </a:xfrm>
          <a:custGeom>
            <a:avLst/>
            <a:gdLst/>
            <a:ahLst/>
            <a:cxnLst/>
            <a:rect l="l" t="t" r="r" b="b"/>
            <a:pathLst>
              <a:path w="381000" h="506730">
                <a:moveTo>
                  <a:pt x="127000" y="252349"/>
                </a:moveTo>
                <a:lnTo>
                  <a:pt x="0" y="252349"/>
                </a:lnTo>
                <a:lnTo>
                  <a:pt x="190500" y="506349"/>
                </a:lnTo>
                <a:lnTo>
                  <a:pt x="333375" y="315849"/>
                </a:lnTo>
                <a:lnTo>
                  <a:pt x="127000" y="315849"/>
                </a:lnTo>
                <a:lnTo>
                  <a:pt x="127000" y="252349"/>
                </a:lnTo>
                <a:close/>
              </a:path>
              <a:path w="381000" h="506730">
                <a:moveTo>
                  <a:pt x="254000" y="0"/>
                </a:moveTo>
                <a:lnTo>
                  <a:pt x="127000" y="0"/>
                </a:lnTo>
                <a:lnTo>
                  <a:pt x="127000" y="315849"/>
                </a:lnTo>
                <a:lnTo>
                  <a:pt x="254000" y="315849"/>
                </a:lnTo>
                <a:lnTo>
                  <a:pt x="254000" y="0"/>
                </a:lnTo>
                <a:close/>
              </a:path>
              <a:path w="381000" h="506730">
                <a:moveTo>
                  <a:pt x="381000" y="252349"/>
                </a:moveTo>
                <a:lnTo>
                  <a:pt x="254000" y="252349"/>
                </a:lnTo>
                <a:lnTo>
                  <a:pt x="254000" y="315849"/>
                </a:lnTo>
                <a:lnTo>
                  <a:pt x="333375" y="315849"/>
                </a:lnTo>
                <a:lnTo>
                  <a:pt x="381000" y="2523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0"/>
          <p:cNvSpPr/>
          <p:nvPr/>
        </p:nvSpPr>
        <p:spPr>
          <a:xfrm>
            <a:off x="1818113" y="2520950"/>
            <a:ext cx="381000" cy="506730"/>
          </a:xfrm>
          <a:custGeom>
            <a:avLst/>
            <a:gdLst/>
            <a:ahLst/>
            <a:cxnLst/>
            <a:rect l="l" t="t" r="r" b="b"/>
            <a:pathLst>
              <a:path w="381000" h="506730">
                <a:moveTo>
                  <a:pt x="127000" y="252349"/>
                </a:moveTo>
                <a:lnTo>
                  <a:pt x="0" y="252349"/>
                </a:lnTo>
                <a:lnTo>
                  <a:pt x="190500" y="506349"/>
                </a:lnTo>
                <a:lnTo>
                  <a:pt x="333375" y="315849"/>
                </a:lnTo>
                <a:lnTo>
                  <a:pt x="127000" y="315849"/>
                </a:lnTo>
                <a:lnTo>
                  <a:pt x="127000" y="252349"/>
                </a:lnTo>
                <a:close/>
              </a:path>
              <a:path w="381000" h="506730">
                <a:moveTo>
                  <a:pt x="254000" y="0"/>
                </a:moveTo>
                <a:lnTo>
                  <a:pt x="127000" y="0"/>
                </a:lnTo>
                <a:lnTo>
                  <a:pt x="127000" y="315849"/>
                </a:lnTo>
                <a:lnTo>
                  <a:pt x="254000" y="315849"/>
                </a:lnTo>
                <a:lnTo>
                  <a:pt x="254000" y="0"/>
                </a:lnTo>
                <a:close/>
              </a:path>
              <a:path w="381000" h="506730">
                <a:moveTo>
                  <a:pt x="381000" y="252349"/>
                </a:moveTo>
                <a:lnTo>
                  <a:pt x="254000" y="252349"/>
                </a:lnTo>
                <a:lnTo>
                  <a:pt x="254000" y="315849"/>
                </a:lnTo>
                <a:lnTo>
                  <a:pt x="333375" y="315849"/>
                </a:lnTo>
                <a:lnTo>
                  <a:pt x="381000" y="2523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1"/>
          <p:cNvSpPr/>
          <p:nvPr/>
        </p:nvSpPr>
        <p:spPr>
          <a:xfrm>
            <a:off x="2729338" y="3486150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80" h="381000">
                <a:moveTo>
                  <a:pt x="254000" y="0"/>
                </a:moveTo>
                <a:lnTo>
                  <a:pt x="0" y="190500"/>
                </a:lnTo>
                <a:lnTo>
                  <a:pt x="254000" y="381000"/>
                </a:lnTo>
                <a:lnTo>
                  <a:pt x="254000" y="254000"/>
                </a:lnTo>
                <a:lnTo>
                  <a:pt x="190500" y="254000"/>
                </a:lnTo>
                <a:lnTo>
                  <a:pt x="190500" y="127000"/>
                </a:lnTo>
                <a:lnTo>
                  <a:pt x="254000" y="127000"/>
                </a:lnTo>
                <a:lnTo>
                  <a:pt x="254000" y="0"/>
                </a:lnTo>
                <a:close/>
              </a:path>
              <a:path w="576580" h="381000">
                <a:moveTo>
                  <a:pt x="254000" y="127000"/>
                </a:moveTo>
                <a:lnTo>
                  <a:pt x="190500" y="127000"/>
                </a:lnTo>
                <a:lnTo>
                  <a:pt x="190500" y="254000"/>
                </a:lnTo>
                <a:lnTo>
                  <a:pt x="254000" y="254000"/>
                </a:lnTo>
                <a:lnTo>
                  <a:pt x="254000" y="127000"/>
                </a:lnTo>
                <a:close/>
              </a:path>
              <a:path w="576580" h="381000">
                <a:moveTo>
                  <a:pt x="576326" y="127000"/>
                </a:moveTo>
                <a:lnTo>
                  <a:pt x="254000" y="127000"/>
                </a:lnTo>
                <a:lnTo>
                  <a:pt x="254000" y="254000"/>
                </a:lnTo>
                <a:lnTo>
                  <a:pt x="576326" y="254000"/>
                </a:lnTo>
                <a:lnTo>
                  <a:pt x="576326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/>
          <p:cNvSpPr/>
          <p:nvPr/>
        </p:nvSpPr>
        <p:spPr>
          <a:xfrm>
            <a:off x="1719688" y="3486150"/>
            <a:ext cx="576580" cy="381000"/>
          </a:xfrm>
          <a:custGeom>
            <a:avLst/>
            <a:gdLst/>
            <a:ahLst/>
            <a:cxnLst/>
            <a:rect l="l" t="t" r="r" b="b"/>
            <a:pathLst>
              <a:path w="576580" h="381000">
                <a:moveTo>
                  <a:pt x="254000" y="0"/>
                </a:moveTo>
                <a:lnTo>
                  <a:pt x="0" y="190500"/>
                </a:lnTo>
                <a:lnTo>
                  <a:pt x="254000" y="381000"/>
                </a:lnTo>
                <a:lnTo>
                  <a:pt x="254000" y="254000"/>
                </a:lnTo>
                <a:lnTo>
                  <a:pt x="190500" y="254000"/>
                </a:lnTo>
                <a:lnTo>
                  <a:pt x="190500" y="127000"/>
                </a:lnTo>
                <a:lnTo>
                  <a:pt x="254000" y="127000"/>
                </a:lnTo>
                <a:lnTo>
                  <a:pt x="254000" y="0"/>
                </a:lnTo>
                <a:close/>
              </a:path>
              <a:path w="576580" h="381000">
                <a:moveTo>
                  <a:pt x="254000" y="127000"/>
                </a:moveTo>
                <a:lnTo>
                  <a:pt x="190500" y="127000"/>
                </a:lnTo>
                <a:lnTo>
                  <a:pt x="190500" y="254000"/>
                </a:lnTo>
                <a:lnTo>
                  <a:pt x="254000" y="254000"/>
                </a:lnTo>
                <a:lnTo>
                  <a:pt x="254000" y="127000"/>
                </a:lnTo>
                <a:close/>
              </a:path>
              <a:path w="576580" h="381000">
                <a:moveTo>
                  <a:pt x="576262" y="127000"/>
                </a:moveTo>
                <a:lnTo>
                  <a:pt x="254000" y="127000"/>
                </a:lnTo>
                <a:lnTo>
                  <a:pt x="254000" y="254000"/>
                </a:lnTo>
                <a:lnTo>
                  <a:pt x="576262" y="254000"/>
                </a:lnTo>
                <a:lnTo>
                  <a:pt x="576262" y="127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30551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Markov</a:t>
            </a:r>
            <a:r>
              <a:rPr lang="en-IN" spc="-5" dirty="0" smtClean="0"/>
              <a:t> </a:t>
            </a:r>
            <a:r>
              <a:rPr lang="en-IN" dirty="0" smtClean="0"/>
              <a:t>Decision</a:t>
            </a:r>
            <a:r>
              <a:rPr lang="en-IN" spc="-50" dirty="0" smtClean="0"/>
              <a:t> </a:t>
            </a:r>
            <a:r>
              <a:rPr lang="en-IN" dirty="0" smtClean="0"/>
              <a:t>Process</a:t>
            </a:r>
            <a:r>
              <a:rPr lang="en-IN" spc="-35" dirty="0" smtClean="0"/>
              <a:t> </a:t>
            </a:r>
            <a:r>
              <a:rPr lang="en-IN" spc="-20" dirty="0" smtClean="0"/>
              <a:t>(MDP)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14-04-2026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15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1225765" y="819589"/>
            <a:ext cx="677608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683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set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of</a:t>
            </a:r>
            <a:r>
              <a:rPr sz="2400" spc="-4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states</a:t>
            </a:r>
            <a:r>
              <a:rPr sz="2400" spc="-3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S,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set</a:t>
            </a:r>
            <a:r>
              <a:rPr sz="2400" spc="-4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of</a:t>
            </a:r>
            <a:r>
              <a:rPr sz="2400" spc="-4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actions</a:t>
            </a:r>
            <a:r>
              <a:rPr sz="2400" spc="-3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A,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initial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state</a:t>
            </a:r>
            <a:r>
              <a:rPr sz="2400" spc="-3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S</a:t>
            </a:r>
            <a:r>
              <a:rPr sz="2400" spc="-37" baseline="-20833" dirty="0">
                <a:solidFill>
                  <a:srgbClr val="0066FF"/>
                </a:solidFill>
                <a:latin typeface="Trebuchet MS"/>
                <a:cs typeface="Trebuchet MS"/>
              </a:rPr>
              <a:t>0</a:t>
            </a:r>
            <a:endParaRPr sz="2400" baseline="-20833">
              <a:latin typeface="Trebuchet MS"/>
              <a:cs typeface="Trebuchet MS"/>
            </a:endParaRPr>
          </a:p>
        </p:txBody>
      </p:sp>
      <p:sp>
        <p:nvSpPr>
          <p:cNvPr id="7" name="object 4"/>
          <p:cNvSpPr txBox="1"/>
          <p:nvPr/>
        </p:nvSpPr>
        <p:spPr>
          <a:xfrm>
            <a:off x="1238465" y="1184051"/>
            <a:ext cx="3848100" cy="83439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90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transition</a:t>
            </a:r>
            <a:r>
              <a:rPr sz="2400" spc="-5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model</a:t>
            </a:r>
            <a:r>
              <a:rPr sz="2400" spc="-6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P(s,a,s’)</a:t>
            </a:r>
            <a:endParaRPr sz="24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495"/>
              </a:spcBef>
              <a:tabLst>
                <a:tab pos="756285" algn="l"/>
              </a:tabLst>
            </a:pPr>
            <a:r>
              <a:rPr sz="2000" spc="-50" dirty="0">
                <a:latin typeface="Trebuchet MS"/>
                <a:cs typeface="Trebuchet MS"/>
              </a:rPr>
              <a:t>–</a:t>
            </a:r>
            <a:r>
              <a:rPr sz="2000" dirty="0">
                <a:latin typeface="Trebuchet MS"/>
                <a:cs typeface="Trebuchet MS"/>
              </a:rPr>
              <a:t>	P(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[1,1],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up,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[1,2]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)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=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0.8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8" name="object 5"/>
          <p:cNvSpPr txBox="1"/>
          <p:nvPr/>
        </p:nvSpPr>
        <p:spPr>
          <a:xfrm>
            <a:off x="1238465" y="1989178"/>
            <a:ext cx="3114040" cy="83375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8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reward</a:t>
            </a:r>
            <a:r>
              <a:rPr sz="2400" spc="-7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function</a:t>
            </a:r>
            <a:r>
              <a:rPr sz="2400" spc="-7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066FF"/>
                </a:solidFill>
                <a:latin typeface="Trebuchet MS"/>
                <a:cs typeface="Trebuchet MS"/>
              </a:rPr>
              <a:t>r(s)</a:t>
            </a:r>
            <a:endParaRPr sz="24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495"/>
              </a:spcBef>
              <a:tabLst>
                <a:tab pos="756285" algn="l"/>
              </a:tabLst>
            </a:pPr>
            <a:r>
              <a:rPr sz="2000" spc="-50" dirty="0">
                <a:latin typeface="Trebuchet MS"/>
                <a:cs typeface="Trebuchet MS"/>
              </a:rPr>
              <a:t>–</a:t>
            </a:r>
            <a:r>
              <a:rPr sz="2000" dirty="0">
                <a:latin typeface="Trebuchet MS"/>
                <a:cs typeface="Trebuchet MS"/>
              </a:rPr>
              <a:t>	r(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[4,3]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)</a:t>
            </a:r>
            <a:r>
              <a:rPr sz="2000" spc="-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=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35" dirty="0">
                <a:latin typeface="Trebuchet MS"/>
                <a:cs typeface="Trebuchet MS"/>
              </a:rPr>
              <a:t>+1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9" name="object 6"/>
          <p:cNvSpPr txBox="1"/>
          <p:nvPr/>
        </p:nvSpPr>
        <p:spPr>
          <a:xfrm>
            <a:off x="1238465" y="2868480"/>
            <a:ext cx="7199630" cy="3393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goal:</a:t>
            </a:r>
            <a:r>
              <a:rPr sz="2400" spc="-6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maximize</a:t>
            </a:r>
            <a:r>
              <a:rPr sz="2400" spc="-7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cumulative</a:t>
            </a:r>
            <a:r>
              <a:rPr sz="2400" spc="-5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reward</a:t>
            </a:r>
            <a:r>
              <a:rPr sz="2400" spc="-5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in</a:t>
            </a:r>
            <a:r>
              <a:rPr sz="2400" spc="-6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the</a:t>
            </a:r>
            <a:r>
              <a:rPr sz="2400" spc="-7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long</a:t>
            </a:r>
            <a:r>
              <a:rPr sz="2400" spc="-5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run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80"/>
              </a:spcBef>
              <a:buClr>
                <a:srgbClr val="0066FF"/>
              </a:buClr>
              <a:buFont typeface="Trebuchet MS"/>
              <a:buChar char="•"/>
            </a:pPr>
            <a:endParaRPr sz="24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policy: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mapping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from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S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to</a:t>
            </a:r>
            <a:r>
              <a:rPr sz="2400" spc="-3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0066FF"/>
                </a:solidFill>
                <a:latin typeface="Trebuchet MS"/>
                <a:cs typeface="Trebuchet MS"/>
              </a:rPr>
              <a:t>A</a:t>
            </a:r>
            <a:endParaRPr sz="2400">
              <a:latin typeface="Trebuchet MS"/>
              <a:cs typeface="Trebuchet MS"/>
            </a:endParaRPr>
          </a:p>
          <a:p>
            <a:pPr marL="832485" lvl="1" indent="-362585">
              <a:lnSpc>
                <a:spcPct val="100000"/>
              </a:lnSpc>
              <a:spcBef>
                <a:spcPts val="500"/>
              </a:spcBef>
              <a:buFont typeface="Trebuchet MS"/>
              <a:buChar char="–"/>
              <a:tabLst>
                <a:tab pos="832485" algn="l"/>
              </a:tabLst>
            </a:pPr>
            <a:r>
              <a:rPr sz="2000" dirty="0">
                <a:latin typeface="Symbol"/>
                <a:cs typeface="Symbol"/>
              </a:rPr>
              <a:t></a:t>
            </a:r>
            <a:r>
              <a:rPr sz="2000" dirty="0">
                <a:latin typeface="Trebuchet MS"/>
                <a:cs typeface="Trebuchet MS"/>
              </a:rPr>
              <a:t>(s)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or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Symbol"/>
                <a:cs typeface="Symbol"/>
              </a:rPr>
              <a:t></a:t>
            </a:r>
            <a:r>
              <a:rPr sz="2000" dirty="0">
                <a:latin typeface="Trebuchet MS"/>
                <a:cs typeface="Trebuchet MS"/>
              </a:rPr>
              <a:t>(s,a)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(deterministic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vs.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stochastic)</a:t>
            </a:r>
            <a:endParaRPr sz="20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830"/>
              </a:spcBef>
              <a:buFont typeface="Trebuchet MS"/>
              <a:buChar char="–"/>
            </a:pPr>
            <a:endParaRPr sz="20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reinforcement</a:t>
            </a:r>
            <a:r>
              <a:rPr sz="2400" spc="-6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learning</a:t>
            </a:r>
            <a:endParaRPr sz="24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transitions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rewards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usually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not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available</a:t>
            </a:r>
            <a:endParaRPr sz="20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how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change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policy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based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on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experience</a:t>
            </a:r>
            <a:endParaRPr sz="20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how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explore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environment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10" name="object 7"/>
          <p:cNvGrpSpPr/>
          <p:nvPr/>
        </p:nvGrpSpPr>
        <p:grpSpPr>
          <a:xfrm>
            <a:off x="7125613" y="1400297"/>
            <a:ext cx="1304925" cy="390525"/>
            <a:chOff x="6423088" y="1824037"/>
            <a:chExt cx="1304925" cy="390525"/>
          </a:xfrm>
        </p:grpSpPr>
        <p:sp>
          <p:nvSpPr>
            <p:cNvPr id="11" name="object 8"/>
            <p:cNvSpPr/>
            <p:nvPr/>
          </p:nvSpPr>
          <p:spPr>
            <a:xfrm>
              <a:off x="6427851" y="1828800"/>
              <a:ext cx="1295400" cy="381000"/>
            </a:xfrm>
            <a:custGeom>
              <a:avLst/>
              <a:gdLst/>
              <a:ahLst/>
              <a:cxnLst/>
              <a:rect l="l" t="t" r="r" b="b"/>
              <a:pathLst>
                <a:path w="1295400" h="381000">
                  <a:moveTo>
                    <a:pt x="12954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1295400" y="381000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9"/>
            <p:cNvSpPr/>
            <p:nvPr/>
          </p:nvSpPr>
          <p:spPr>
            <a:xfrm>
              <a:off x="6427851" y="1828800"/>
              <a:ext cx="1295400" cy="381000"/>
            </a:xfrm>
            <a:custGeom>
              <a:avLst/>
              <a:gdLst/>
              <a:ahLst/>
              <a:cxnLst/>
              <a:rect l="l" t="t" r="r" b="b"/>
              <a:pathLst>
                <a:path w="1295400" h="381000">
                  <a:moveTo>
                    <a:pt x="0" y="381000"/>
                  </a:moveTo>
                  <a:lnTo>
                    <a:pt x="1295400" y="381000"/>
                  </a:lnTo>
                  <a:lnTo>
                    <a:pt x="12954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0"/>
          <p:cNvSpPr txBox="1"/>
          <p:nvPr/>
        </p:nvSpPr>
        <p:spPr>
          <a:xfrm>
            <a:off x="7192478" y="1455478"/>
            <a:ext cx="11734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Trebuchet MS"/>
                <a:cs typeface="Trebuchet MS"/>
              </a:rPr>
              <a:t>environment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4" name="object 11"/>
          <p:cNvSpPr txBox="1"/>
          <p:nvPr/>
        </p:nvSpPr>
        <p:spPr>
          <a:xfrm>
            <a:off x="7435176" y="2167060"/>
            <a:ext cx="685800" cy="381000"/>
          </a:xfrm>
          <a:prstGeom prst="rect">
            <a:avLst/>
          </a:prstGeom>
          <a:solidFill>
            <a:srgbClr val="FFCC00"/>
          </a:solidFill>
          <a:ln w="9525">
            <a:solidFill>
              <a:srgbClr val="000000"/>
            </a:solidFill>
          </a:ln>
        </p:spPr>
        <p:txBody>
          <a:bodyPr vert="horz" wrap="square" lIns="0" tIns="62230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490"/>
              </a:spcBef>
            </a:pPr>
            <a:r>
              <a:rPr sz="1600" spc="-10" dirty="0">
                <a:latin typeface="Trebuchet MS"/>
                <a:cs typeface="Trebuchet MS"/>
              </a:rPr>
              <a:t>agent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5" name="object 12"/>
          <p:cNvSpPr/>
          <p:nvPr/>
        </p:nvSpPr>
        <p:spPr>
          <a:xfrm>
            <a:off x="6779475" y="1576509"/>
            <a:ext cx="1986280" cy="816610"/>
          </a:xfrm>
          <a:custGeom>
            <a:avLst/>
            <a:gdLst/>
            <a:ahLst/>
            <a:cxnLst/>
            <a:rect l="l" t="t" r="r" b="b"/>
            <a:pathLst>
              <a:path w="1986279" h="816610">
                <a:moveTo>
                  <a:pt x="647230" y="777417"/>
                </a:moveTo>
                <a:lnTo>
                  <a:pt x="472948" y="702564"/>
                </a:lnTo>
                <a:lnTo>
                  <a:pt x="468807" y="738886"/>
                </a:lnTo>
                <a:lnTo>
                  <a:pt x="468731" y="739533"/>
                </a:lnTo>
                <a:lnTo>
                  <a:pt x="427355" y="729996"/>
                </a:lnTo>
                <a:lnTo>
                  <a:pt x="373634" y="713105"/>
                </a:lnTo>
                <a:lnTo>
                  <a:pt x="322072" y="693293"/>
                </a:lnTo>
                <a:lnTo>
                  <a:pt x="273431" y="670814"/>
                </a:lnTo>
                <a:lnTo>
                  <a:pt x="228092" y="645795"/>
                </a:lnTo>
                <a:lnTo>
                  <a:pt x="186563" y="618871"/>
                </a:lnTo>
                <a:lnTo>
                  <a:pt x="149225" y="590169"/>
                </a:lnTo>
                <a:lnTo>
                  <a:pt x="116586" y="559943"/>
                </a:lnTo>
                <a:lnTo>
                  <a:pt x="89154" y="528701"/>
                </a:lnTo>
                <a:lnTo>
                  <a:pt x="67310" y="496951"/>
                </a:lnTo>
                <a:lnTo>
                  <a:pt x="45593" y="448818"/>
                </a:lnTo>
                <a:lnTo>
                  <a:pt x="38100" y="400558"/>
                </a:lnTo>
                <a:lnTo>
                  <a:pt x="38481" y="383794"/>
                </a:lnTo>
                <a:lnTo>
                  <a:pt x="45085" y="333375"/>
                </a:lnTo>
                <a:lnTo>
                  <a:pt x="58928" y="283718"/>
                </a:lnTo>
                <a:lnTo>
                  <a:pt x="79375" y="236347"/>
                </a:lnTo>
                <a:lnTo>
                  <a:pt x="105791" y="191516"/>
                </a:lnTo>
                <a:lnTo>
                  <a:pt x="136906" y="150876"/>
                </a:lnTo>
                <a:lnTo>
                  <a:pt x="172212" y="115062"/>
                </a:lnTo>
                <a:lnTo>
                  <a:pt x="210693" y="85090"/>
                </a:lnTo>
                <a:lnTo>
                  <a:pt x="251333" y="61849"/>
                </a:lnTo>
                <a:lnTo>
                  <a:pt x="293497" y="46101"/>
                </a:lnTo>
                <a:lnTo>
                  <a:pt x="336042" y="38608"/>
                </a:lnTo>
                <a:lnTo>
                  <a:pt x="351663" y="38100"/>
                </a:lnTo>
                <a:lnTo>
                  <a:pt x="350342" y="5080"/>
                </a:lnTo>
                <a:lnTo>
                  <a:pt x="350227" y="2286"/>
                </a:lnTo>
                <a:lnTo>
                  <a:pt x="350139" y="0"/>
                </a:lnTo>
                <a:lnTo>
                  <a:pt x="334645" y="635"/>
                </a:lnTo>
                <a:lnTo>
                  <a:pt x="284480" y="9144"/>
                </a:lnTo>
                <a:lnTo>
                  <a:pt x="236220" y="26924"/>
                </a:lnTo>
                <a:lnTo>
                  <a:pt x="190119" y="52959"/>
                </a:lnTo>
                <a:lnTo>
                  <a:pt x="147447" y="86106"/>
                </a:lnTo>
                <a:lnTo>
                  <a:pt x="108712" y="125349"/>
                </a:lnTo>
                <a:lnTo>
                  <a:pt x="74422" y="169799"/>
                </a:lnTo>
                <a:lnTo>
                  <a:pt x="45847" y="218186"/>
                </a:lnTo>
                <a:lnTo>
                  <a:pt x="23368" y="270256"/>
                </a:lnTo>
                <a:lnTo>
                  <a:pt x="7874" y="324612"/>
                </a:lnTo>
                <a:lnTo>
                  <a:pt x="508" y="380746"/>
                </a:lnTo>
                <a:lnTo>
                  <a:pt x="0" y="399542"/>
                </a:lnTo>
                <a:lnTo>
                  <a:pt x="901" y="416814"/>
                </a:lnTo>
                <a:lnTo>
                  <a:pt x="8636" y="458089"/>
                </a:lnTo>
                <a:lnTo>
                  <a:pt x="23749" y="496443"/>
                </a:lnTo>
                <a:lnTo>
                  <a:pt x="45339" y="533400"/>
                </a:lnTo>
                <a:lnTo>
                  <a:pt x="72898" y="568706"/>
                </a:lnTo>
                <a:lnTo>
                  <a:pt x="105664" y="602361"/>
                </a:lnTo>
                <a:lnTo>
                  <a:pt x="143383" y="634238"/>
                </a:lnTo>
                <a:lnTo>
                  <a:pt x="185547" y="664083"/>
                </a:lnTo>
                <a:lnTo>
                  <a:pt x="231394" y="691642"/>
                </a:lnTo>
                <a:lnTo>
                  <a:pt x="280797" y="716661"/>
                </a:lnTo>
                <a:lnTo>
                  <a:pt x="333248" y="738886"/>
                </a:lnTo>
                <a:lnTo>
                  <a:pt x="388239" y="758190"/>
                </a:lnTo>
                <a:lnTo>
                  <a:pt x="445249" y="774192"/>
                </a:lnTo>
                <a:lnTo>
                  <a:pt x="464413" y="777417"/>
                </a:lnTo>
                <a:lnTo>
                  <a:pt x="482714" y="777417"/>
                </a:lnTo>
                <a:lnTo>
                  <a:pt x="647230" y="777417"/>
                </a:lnTo>
                <a:close/>
              </a:path>
              <a:path w="1986279" h="816610">
                <a:moveTo>
                  <a:pt x="655701" y="781050"/>
                </a:moveTo>
                <a:lnTo>
                  <a:pt x="654215" y="780415"/>
                </a:lnTo>
                <a:lnTo>
                  <a:pt x="482219" y="780415"/>
                </a:lnTo>
                <a:lnTo>
                  <a:pt x="464070" y="780415"/>
                </a:lnTo>
                <a:lnTo>
                  <a:pt x="459994" y="816229"/>
                </a:lnTo>
                <a:lnTo>
                  <a:pt x="655701" y="781050"/>
                </a:lnTo>
                <a:close/>
              </a:path>
              <a:path w="1986279" h="816610">
                <a:moveTo>
                  <a:pt x="1985899" y="401066"/>
                </a:moveTo>
                <a:lnTo>
                  <a:pt x="1985530" y="382778"/>
                </a:lnTo>
                <a:lnTo>
                  <a:pt x="1985518" y="381762"/>
                </a:lnTo>
                <a:lnTo>
                  <a:pt x="1984121" y="362966"/>
                </a:lnTo>
                <a:lnTo>
                  <a:pt x="1974342" y="307340"/>
                </a:lnTo>
                <a:lnTo>
                  <a:pt x="1957324" y="253619"/>
                </a:lnTo>
                <a:lnTo>
                  <a:pt x="1933575" y="202692"/>
                </a:lnTo>
                <a:lnTo>
                  <a:pt x="1904111" y="155194"/>
                </a:lnTo>
                <a:lnTo>
                  <a:pt x="1873656" y="117094"/>
                </a:lnTo>
                <a:lnTo>
                  <a:pt x="1871218" y="114300"/>
                </a:lnTo>
                <a:lnTo>
                  <a:pt x="1869567" y="112395"/>
                </a:lnTo>
                <a:lnTo>
                  <a:pt x="1857121" y="99314"/>
                </a:lnTo>
                <a:lnTo>
                  <a:pt x="1844040" y="86868"/>
                </a:lnTo>
                <a:lnTo>
                  <a:pt x="1843024" y="85725"/>
                </a:lnTo>
                <a:lnTo>
                  <a:pt x="1841754" y="84836"/>
                </a:lnTo>
                <a:lnTo>
                  <a:pt x="1840357" y="84074"/>
                </a:lnTo>
                <a:lnTo>
                  <a:pt x="1828444" y="77203"/>
                </a:lnTo>
                <a:lnTo>
                  <a:pt x="1831949" y="68834"/>
                </a:lnTo>
                <a:lnTo>
                  <a:pt x="1844040" y="40005"/>
                </a:lnTo>
                <a:lnTo>
                  <a:pt x="1646301" y="19050"/>
                </a:lnTo>
                <a:lnTo>
                  <a:pt x="1799844" y="145415"/>
                </a:lnTo>
                <a:lnTo>
                  <a:pt x="1813598" y="112598"/>
                </a:lnTo>
                <a:lnTo>
                  <a:pt x="1819478" y="115976"/>
                </a:lnTo>
                <a:lnTo>
                  <a:pt x="1851660" y="149860"/>
                </a:lnTo>
                <a:lnTo>
                  <a:pt x="1882140" y="190754"/>
                </a:lnTo>
                <a:lnTo>
                  <a:pt x="1907540" y="235331"/>
                </a:lnTo>
                <a:lnTo>
                  <a:pt x="1927479" y="282829"/>
                </a:lnTo>
                <a:lnTo>
                  <a:pt x="1940941" y="332359"/>
                </a:lnTo>
                <a:lnTo>
                  <a:pt x="1947341" y="381762"/>
                </a:lnTo>
                <a:lnTo>
                  <a:pt x="1947418" y="382778"/>
                </a:lnTo>
                <a:lnTo>
                  <a:pt x="1944751" y="431165"/>
                </a:lnTo>
                <a:lnTo>
                  <a:pt x="1928368" y="479679"/>
                </a:lnTo>
                <a:lnTo>
                  <a:pt x="1898396" y="527939"/>
                </a:lnTo>
                <a:lnTo>
                  <a:pt x="1871472" y="559308"/>
                </a:lnTo>
                <a:lnTo>
                  <a:pt x="1839341" y="589661"/>
                </a:lnTo>
                <a:lnTo>
                  <a:pt x="1802765" y="618490"/>
                </a:lnTo>
                <a:lnTo>
                  <a:pt x="1761871" y="645541"/>
                </a:lnTo>
                <a:lnTo>
                  <a:pt x="1717294" y="670560"/>
                </a:lnTo>
                <a:lnTo>
                  <a:pt x="1669542" y="693166"/>
                </a:lnTo>
                <a:lnTo>
                  <a:pt x="1618996" y="712978"/>
                </a:lnTo>
                <a:lnTo>
                  <a:pt x="1566164" y="729869"/>
                </a:lnTo>
                <a:lnTo>
                  <a:pt x="1511681" y="743458"/>
                </a:lnTo>
                <a:lnTo>
                  <a:pt x="1455801" y="753618"/>
                </a:lnTo>
                <a:lnTo>
                  <a:pt x="1399032" y="759841"/>
                </a:lnTo>
                <a:lnTo>
                  <a:pt x="1341120" y="762000"/>
                </a:lnTo>
                <a:lnTo>
                  <a:pt x="1341488" y="780923"/>
                </a:lnTo>
                <a:lnTo>
                  <a:pt x="1341602" y="786638"/>
                </a:lnTo>
                <a:lnTo>
                  <a:pt x="1341704" y="791337"/>
                </a:lnTo>
                <a:lnTo>
                  <a:pt x="1341780" y="795147"/>
                </a:lnTo>
                <a:lnTo>
                  <a:pt x="1341882" y="800100"/>
                </a:lnTo>
                <a:lnTo>
                  <a:pt x="1371219" y="799465"/>
                </a:lnTo>
                <a:lnTo>
                  <a:pt x="1401191" y="797941"/>
                </a:lnTo>
                <a:lnTo>
                  <a:pt x="1460627" y="791337"/>
                </a:lnTo>
                <a:lnTo>
                  <a:pt x="1519047" y="780923"/>
                </a:lnTo>
                <a:lnTo>
                  <a:pt x="1576070" y="766699"/>
                </a:lnTo>
                <a:lnTo>
                  <a:pt x="1631315" y="749046"/>
                </a:lnTo>
                <a:lnTo>
                  <a:pt x="1684020" y="728345"/>
                </a:lnTo>
                <a:lnTo>
                  <a:pt x="1734185" y="704723"/>
                </a:lnTo>
                <a:lnTo>
                  <a:pt x="1781048" y="678434"/>
                </a:lnTo>
                <a:lnTo>
                  <a:pt x="1824355" y="649859"/>
                </a:lnTo>
                <a:lnTo>
                  <a:pt x="1863598" y="619125"/>
                </a:lnTo>
                <a:lnTo>
                  <a:pt x="1898142" y="586359"/>
                </a:lnTo>
                <a:lnTo>
                  <a:pt x="1927987" y="552069"/>
                </a:lnTo>
                <a:lnTo>
                  <a:pt x="1952117" y="516001"/>
                </a:lnTo>
                <a:lnTo>
                  <a:pt x="1970278" y="478663"/>
                </a:lnTo>
                <a:lnTo>
                  <a:pt x="1981835" y="440182"/>
                </a:lnTo>
                <a:lnTo>
                  <a:pt x="1984756" y="420624"/>
                </a:lnTo>
                <a:lnTo>
                  <a:pt x="1985899" y="4010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3"/>
          <p:cNvSpPr txBox="1"/>
          <p:nvPr/>
        </p:nvSpPr>
        <p:spPr>
          <a:xfrm>
            <a:off x="8870910" y="1873943"/>
            <a:ext cx="5905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Trebuchet MS"/>
                <a:cs typeface="Trebuchet MS"/>
              </a:rPr>
              <a:t>action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7" name="object 14"/>
          <p:cNvSpPr txBox="1"/>
          <p:nvPr/>
        </p:nvSpPr>
        <p:spPr>
          <a:xfrm>
            <a:off x="5856439" y="1813618"/>
            <a:ext cx="92075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7635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Trebuchet MS"/>
                <a:cs typeface="Trebuchet MS"/>
              </a:rPr>
              <a:t>reward </a:t>
            </a:r>
            <a:r>
              <a:rPr sz="1600" dirty="0">
                <a:latin typeface="Trebuchet MS"/>
                <a:cs typeface="Trebuchet MS"/>
              </a:rPr>
              <a:t>new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state</a:t>
            </a:r>
            <a:endParaRPr sz="160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3259610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Computing</a:t>
            </a:r>
            <a:r>
              <a:rPr lang="en-IN" spc="-55" dirty="0" smtClean="0"/>
              <a:t> </a:t>
            </a:r>
            <a:r>
              <a:rPr lang="en-IN" dirty="0" smtClean="0"/>
              <a:t>return</a:t>
            </a:r>
            <a:r>
              <a:rPr lang="en-IN" spc="-55" dirty="0" smtClean="0"/>
              <a:t> </a:t>
            </a:r>
            <a:r>
              <a:rPr lang="en-IN" dirty="0" smtClean="0"/>
              <a:t>from</a:t>
            </a:r>
            <a:r>
              <a:rPr lang="en-IN" spc="-25" dirty="0" smtClean="0"/>
              <a:t> </a:t>
            </a:r>
            <a:r>
              <a:rPr lang="en-IN" spc="-10" dirty="0" smtClean="0"/>
              <a:t>rewards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14-04-2026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16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1222669" y="968230"/>
            <a:ext cx="6247765" cy="441896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93700" indent="-342900">
              <a:lnSpc>
                <a:spcPct val="100000"/>
              </a:lnSpc>
              <a:spcBef>
                <a:spcPts val="685"/>
              </a:spcBef>
              <a:buChar char="•"/>
              <a:tabLst>
                <a:tab pos="3937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episodic</a:t>
            </a:r>
            <a:r>
              <a:rPr sz="2400" spc="-8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(vs.</a:t>
            </a:r>
            <a:r>
              <a:rPr sz="2400" spc="-9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continuing)</a:t>
            </a:r>
            <a:r>
              <a:rPr sz="2400" spc="-7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tasks</a:t>
            </a:r>
            <a:endParaRPr sz="2400" dirty="0">
              <a:latin typeface="Trebuchet MS"/>
              <a:cs typeface="Trebuchet MS"/>
            </a:endParaRPr>
          </a:p>
          <a:p>
            <a:pPr marL="7943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94385" algn="l"/>
              </a:tabLst>
            </a:pPr>
            <a:r>
              <a:rPr sz="2000" dirty="0">
                <a:latin typeface="Trebuchet MS"/>
                <a:cs typeface="Trebuchet MS"/>
              </a:rPr>
              <a:t>“game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over”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after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steps</a:t>
            </a:r>
            <a:endParaRPr sz="2000" dirty="0">
              <a:latin typeface="Trebuchet MS"/>
              <a:cs typeface="Trebuchet MS"/>
            </a:endParaRPr>
          </a:p>
          <a:p>
            <a:pPr marL="7943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94385" algn="l"/>
              </a:tabLst>
            </a:pPr>
            <a:r>
              <a:rPr sz="2000" dirty="0">
                <a:latin typeface="Trebuchet MS"/>
                <a:cs typeface="Trebuchet MS"/>
              </a:rPr>
              <a:t>optimal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policy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depends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on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N;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harder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analyze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1689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93700" indent="-342900">
              <a:lnSpc>
                <a:spcPct val="100000"/>
              </a:lnSpc>
              <a:buChar char="•"/>
              <a:tabLst>
                <a:tab pos="3937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additive</a:t>
            </a:r>
            <a:r>
              <a:rPr sz="2400" spc="-6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rewards</a:t>
            </a:r>
            <a:endParaRPr sz="2400" dirty="0">
              <a:latin typeface="Trebuchet MS"/>
              <a:cs typeface="Trebuchet MS"/>
            </a:endParaRPr>
          </a:p>
          <a:p>
            <a:pPr marL="794385" lvl="1" indent="-286385">
              <a:lnSpc>
                <a:spcPct val="100000"/>
              </a:lnSpc>
              <a:spcBef>
                <a:spcPts val="500"/>
              </a:spcBef>
              <a:buChar char="–"/>
              <a:tabLst>
                <a:tab pos="794385" algn="l"/>
              </a:tabLst>
            </a:pPr>
            <a:r>
              <a:rPr sz="2000" dirty="0">
                <a:latin typeface="Trebuchet MS"/>
                <a:cs typeface="Trebuchet MS"/>
              </a:rPr>
              <a:t>V(s</a:t>
            </a:r>
            <a:r>
              <a:rPr sz="1950" baseline="-21367" dirty="0">
                <a:latin typeface="Trebuchet MS"/>
                <a:cs typeface="Trebuchet MS"/>
              </a:rPr>
              <a:t>0</a:t>
            </a:r>
            <a:r>
              <a:rPr sz="2000" dirty="0">
                <a:latin typeface="Trebuchet MS"/>
                <a:cs typeface="Trebuchet MS"/>
              </a:rPr>
              <a:t>,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</a:t>
            </a:r>
            <a:r>
              <a:rPr sz="1950" baseline="-21367" dirty="0">
                <a:latin typeface="Trebuchet MS"/>
                <a:cs typeface="Trebuchet MS"/>
              </a:rPr>
              <a:t>1</a:t>
            </a:r>
            <a:r>
              <a:rPr sz="2000" dirty="0">
                <a:latin typeface="Trebuchet MS"/>
                <a:cs typeface="Trebuchet MS"/>
              </a:rPr>
              <a:t>,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…) =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r(s</a:t>
            </a:r>
            <a:r>
              <a:rPr sz="1950" baseline="-21367" dirty="0">
                <a:latin typeface="Trebuchet MS"/>
                <a:cs typeface="Trebuchet MS"/>
              </a:rPr>
              <a:t>0</a:t>
            </a:r>
            <a:r>
              <a:rPr sz="2000" dirty="0">
                <a:latin typeface="Trebuchet MS"/>
                <a:cs typeface="Trebuchet MS"/>
              </a:rPr>
              <a:t>)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+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r(s</a:t>
            </a:r>
            <a:r>
              <a:rPr sz="1950" baseline="-21367" dirty="0">
                <a:latin typeface="Trebuchet MS"/>
                <a:cs typeface="Trebuchet MS"/>
              </a:rPr>
              <a:t>1</a:t>
            </a:r>
            <a:r>
              <a:rPr sz="2000" dirty="0">
                <a:latin typeface="Trebuchet MS"/>
                <a:cs typeface="Trebuchet MS"/>
              </a:rPr>
              <a:t>)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+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r(s</a:t>
            </a:r>
            <a:r>
              <a:rPr sz="1950" baseline="-21367" dirty="0">
                <a:latin typeface="Trebuchet MS"/>
                <a:cs typeface="Trebuchet MS"/>
              </a:rPr>
              <a:t>2</a:t>
            </a:r>
            <a:r>
              <a:rPr sz="2000" dirty="0">
                <a:latin typeface="Trebuchet MS"/>
                <a:cs typeface="Trebuchet MS"/>
              </a:rPr>
              <a:t>)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+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…</a:t>
            </a:r>
            <a:endParaRPr sz="2000" dirty="0">
              <a:latin typeface="Trebuchet MS"/>
              <a:cs typeface="Trebuchet MS"/>
            </a:endParaRPr>
          </a:p>
          <a:p>
            <a:pPr marL="7943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94385" algn="l"/>
              </a:tabLst>
            </a:pPr>
            <a:r>
              <a:rPr sz="2000" dirty="0">
                <a:latin typeface="Trebuchet MS"/>
                <a:cs typeface="Trebuchet MS"/>
              </a:rPr>
              <a:t>infinite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value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for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continuing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tasks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1695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93700" indent="-342900">
              <a:lnSpc>
                <a:spcPct val="100000"/>
              </a:lnSpc>
              <a:buChar char="•"/>
              <a:tabLst>
                <a:tab pos="3937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discounted</a:t>
            </a:r>
            <a:r>
              <a:rPr sz="2400" spc="-13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rewards</a:t>
            </a:r>
            <a:endParaRPr sz="2400" dirty="0">
              <a:latin typeface="Trebuchet MS"/>
              <a:cs typeface="Trebuchet MS"/>
            </a:endParaRPr>
          </a:p>
          <a:p>
            <a:pPr marL="794385" lvl="1" indent="-286385">
              <a:lnSpc>
                <a:spcPct val="100000"/>
              </a:lnSpc>
              <a:spcBef>
                <a:spcPts val="500"/>
              </a:spcBef>
              <a:buChar char="–"/>
              <a:tabLst>
                <a:tab pos="794385" algn="l"/>
              </a:tabLst>
            </a:pPr>
            <a:r>
              <a:rPr sz="2000" dirty="0">
                <a:latin typeface="Trebuchet MS"/>
                <a:cs typeface="Trebuchet MS"/>
              </a:rPr>
              <a:t>V(s</a:t>
            </a:r>
            <a:r>
              <a:rPr sz="1950" baseline="-21367" dirty="0">
                <a:latin typeface="Trebuchet MS"/>
                <a:cs typeface="Trebuchet MS"/>
              </a:rPr>
              <a:t>0</a:t>
            </a:r>
            <a:r>
              <a:rPr sz="2000" dirty="0">
                <a:latin typeface="Trebuchet MS"/>
                <a:cs typeface="Trebuchet MS"/>
              </a:rPr>
              <a:t>,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</a:t>
            </a:r>
            <a:r>
              <a:rPr sz="1950" baseline="-21367" dirty="0">
                <a:latin typeface="Trebuchet MS"/>
                <a:cs typeface="Trebuchet MS"/>
              </a:rPr>
              <a:t>1</a:t>
            </a:r>
            <a:r>
              <a:rPr sz="2000" dirty="0">
                <a:latin typeface="Trebuchet MS"/>
                <a:cs typeface="Trebuchet MS"/>
              </a:rPr>
              <a:t>,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…)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=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r(s</a:t>
            </a:r>
            <a:r>
              <a:rPr sz="1950" baseline="-21367" dirty="0">
                <a:latin typeface="Trebuchet MS"/>
                <a:cs typeface="Trebuchet MS"/>
              </a:rPr>
              <a:t>0</a:t>
            </a:r>
            <a:r>
              <a:rPr sz="2000" dirty="0">
                <a:latin typeface="Trebuchet MS"/>
                <a:cs typeface="Trebuchet MS"/>
              </a:rPr>
              <a:t>)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+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γ*r(s</a:t>
            </a:r>
            <a:r>
              <a:rPr sz="1950" baseline="-21367" dirty="0">
                <a:latin typeface="Trebuchet MS"/>
                <a:cs typeface="Trebuchet MS"/>
              </a:rPr>
              <a:t>1</a:t>
            </a:r>
            <a:r>
              <a:rPr sz="2000" dirty="0">
                <a:latin typeface="Trebuchet MS"/>
                <a:cs typeface="Trebuchet MS"/>
              </a:rPr>
              <a:t>)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+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γ</a:t>
            </a:r>
            <a:r>
              <a:rPr sz="1950" baseline="25641" dirty="0">
                <a:latin typeface="Trebuchet MS"/>
                <a:cs typeface="Trebuchet MS"/>
              </a:rPr>
              <a:t>2</a:t>
            </a:r>
            <a:r>
              <a:rPr sz="2000" dirty="0">
                <a:latin typeface="Trebuchet MS"/>
                <a:cs typeface="Trebuchet MS"/>
              </a:rPr>
              <a:t>*r(s</a:t>
            </a:r>
            <a:r>
              <a:rPr sz="1950" baseline="-21367" dirty="0">
                <a:latin typeface="Trebuchet MS"/>
                <a:cs typeface="Trebuchet MS"/>
              </a:rPr>
              <a:t>2</a:t>
            </a:r>
            <a:r>
              <a:rPr sz="2000" dirty="0">
                <a:latin typeface="Trebuchet MS"/>
                <a:cs typeface="Trebuchet MS"/>
              </a:rPr>
              <a:t>)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+</a:t>
            </a:r>
            <a:r>
              <a:rPr sz="2000" spc="-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…</a:t>
            </a:r>
            <a:endParaRPr sz="2000" dirty="0">
              <a:latin typeface="Trebuchet MS"/>
              <a:cs typeface="Trebuchet MS"/>
            </a:endParaRPr>
          </a:p>
          <a:p>
            <a:pPr marL="7943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94385" algn="l"/>
              </a:tabLst>
            </a:pPr>
            <a:r>
              <a:rPr sz="2000" dirty="0">
                <a:latin typeface="Trebuchet MS"/>
                <a:cs typeface="Trebuchet MS"/>
              </a:rPr>
              <a:t>value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bounded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if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rewards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bounded</a:t>
            </a:r>
            <a:endParaRPr sz="20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051391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Value</a:t>
            </a:r>
            <a:r>
              <a:rPr lang="en-IN" spc="-30" dirty="0" smtClean="0"/>
              <a:t> </a:t>
            </a:r>
            <a:r>
              <a:rPr lang="en-IN" spc="-10" dirty="0" smtClean="0"/>
              <a:t>functions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14-04-2026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17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955039" y="923628"/>
            <a:ext cx="8332470" cy="207772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93700" indent="-342900">
              <a:lnSpc>
                <a:spcPct val="100000"/>
              </a:lnSpc>
              <a:spcBef>
                <a:spcPts val="685"/>
              </a:spcBef>
              <a:buChar char="•"/>
              <a:tabLst>
                <a:tab pos="3937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state</a:t>
            </a:r>
            <a:r>
              <a:rPr sz="2400" spc="-7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value</a:t>
            </a:r>
            <a:r>
              <a:rPr sz="2400" spc="-8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function:</a:t>
            </a:r>
            <a:r>
              <a:rPr sz="2400" spc="-5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V</a:t>
            </a:r>
            <a:r>
              <a:rPr sz="2400" spc="-15" baseline="24305" dirty="0">
                <a:solidFill>
                  <a:srgbClr val="0066FF"/>
                </a:solidFill>
                <a:latin typeface="Symbol"/>
                <a:cs typeface="Symbol"/>
              </a:rPr>
              <a:t>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(s)</a:t>
            </a:r>
            <a:endParaRPr sz="2400">
              <a:latin typeface="Trebuchet MS"/>
              <a:cs typeface="Trebuchet MS"/>
            </a:endParaRPr>
          </a:p>
          <a:p>
            <a:pPr marL="7943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94385" algn="l"/>
              </a:tabLst>
            </a:pPr>
            <a:r>
              <a:rPr sz="2000" dirty="0">
                <a:latin typeface="Trebuchet MS"/>
                <a:cs typeface="Trebuchet MS"/>
              </a:rPr>
              <a:t>expected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return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when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starting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in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s</a:t>
            </a:r>
            <a:r>
              <a:rPr sz="2000" i="1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following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Symbol"/>
                <a:cs typeface="Symbol"/>
              </a:rPr>
              <a:t></a:t>
            </a:r>
            <a:endParaRPr sz="2000">
              <a:latin typeface="Symbol"/>
              <a:cs typeface="Symbol"/>
            </a:endParaRPr>
          </a:p>
          <a:p>
            <a:pPr lvl="1">
              <a:lnSpc>
                <a:spcPct val="100000"/>
              </a:lnSpc>
              <a:spcBef>
                <a:spcPts val="1570"/>
              </a:spcBef>
              <a:buFont typeface="Trebuchet MS"/>
              <a:buChar char="–"/>
            </a:pPr>
            <a:endParaRPr sz="2000">
              <a:latin typeface="Symbol"/>
              <a:cs typeface="Symbol"/>
            </a:endParaRPr>
          </a:p>
          <a:p>
            <a:pPr marL="393700" indent="-342900">
              <a:lnSpc>
                <a:spcPct val="100000"/>
              </a:lnSpc>
              <a:buChar char="•"/>
              <a:tabLst>
                <a:tab pos="393700" algn="l"/>
              </a:tabLst>
            </a:pP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state-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action</a:t>
            </a:r>
            <a:r>
              <a:rPr sz="2400" spc="-3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value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function:</a:t>
            </a:r>
            <a:r>
              <a:rPr sz="2400" spc="-4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Q</a:t>
            </a:r>
            <a:r>
              <a:rPr sz="2400" spc="-15" baseline="24305" dirty="0">
                <a:solidFill>
                  <a:srgbClr val="0066FF"/>
                </a:solidFill>
                <a:latin typeface="Symbol"/>
                <a:cs typeface="Symbol"/>
              </a:rPr>
              <a:t>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(s,a)</a:t>
            </a:r>
            <a:endParaRPr sz="2400">
              <a:latin typeface="Trebuchet MS"/>
              <a:cs typeface="Trebuchet MS"/>
            </a:endParaRPr>
          </a:p>
          <a:p>
            <a:pPr marL="7943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94385" algn="l"/>
              </a:tabLst>
            </a:pPr>
            <a:r>
              <a:rPr sz="2000" dirty="0">
                <a:latin typeface="Trebuchet MS"/>
                <a:cs typeface="Trebuchet MS"/>
              </a:rPr>
              <a:t>expected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return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when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starting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in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s</a:t>
            </a:r>
            <a:r>
              <a:rPr sz="2000" dirty="0">
                <a:latin typeface="Trebuchet MS"/>
                <a:cs typeface="Trebuchet MS"/>
              </a:rPr>
              <a:t>,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performing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a,</a:t>
            </a:r>
            <a:r>
              <a:rPr sz="2000" i="1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following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Symbol"/>
                <a:cs typeface="Symbol"/>
              </a:rPr>
              <a:t></a:t>
            </a:r>
            <a:endParaRPr sz="2000">
              <a:latin typeface="Symbol"/>
              <a:cs typeface="Symbol"/>
            </a:endParaRPr>
          </a:p>
        </p:txBody>
      </p:sp>
      <p:sp>
        <p:nvSpPr>
          <p:cNvPr id="7" name="object 4"/>
          <p:cNvSpPr txBox="1"/>
          <p:nvPr/>
        </p:nvSpPr>
        <p:spPr>
          <a:xfrm>
            <a:off x="993139" y="3412656"/>
            <a:ext cx="53028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useful</a:t>
            </a:r>
            <a:r>
              <a:rPr sz="2400" spc="-5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for</a:t>
            </a:r>
            <a:r>
              <a:rPr sz="2400" spc="-5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finding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the</a:t>
            </a:r>
            <a:r>
              <a:rPr sz="2400" spc="-6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optimal</a:t>
            </a:r>
            <a:r>
              <a:rPr sz="2400" spc="-4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policy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8" name="object 5"/>
          <p:cNvSpPr txBox="1"/>
          <p:nvPr/>
        </p:nvSpPr>
        <p:spPr>
          <a:xfrm>
            <a:off x="1425243" y="3780169"/>
            <a:ext cx="4150360" cy="75819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24485" indent="-286385">
              <a:lnSpc>
                <a:spcPct val="100000"/>
              </a:lnSpc>
              <a:spcBef>
                <a:spcPts val="580"/>
              </a:spcBef>
              <a:buChar char="–"/>
              <a:tabLst>
                <a:tab pos="324485" algn="l"/>
              </a:tabLst>
            </a:pPr>
            <a:r>
              <a:rPr sz="2000" dirty="0">
                <a:latin typeface="Trebuchet MS"/>
                <a:cs typeface="Trebuchet MS"/>
              </a:rPr>
              <a:t>can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estimate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from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experience</a:t>
            </a:r>
            <a:endParaRPr sz="2000" dirty="0">
              <a:latin typeface="Trebuchet MS"/>
              <a:cs typeface="Trebuchet MS"/>
            </a:endParaRPr>
          </a:p>
          <a:p>
            <a:pPr marL="324485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324485" algn="l"/>
              </a:tabLst>
            </a:pPr>
            <a:r>
              <a:rPr sz="2000" dirty="0">
                <a:latin typeface="Trebuchet MS"/>
                <a:cs typeface="Trebuchet MS"/>
              </a:rPr>
              <a:t>pick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best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action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using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Q</a:t>
            </a:r>
            <a:r>
              <a:rPr sz="1950" spc="-15" baseline="25641" dirty="0">
                <a:latin typeface="Symbol"/>
                <a:cs typeface="Symbol"/>
              </a:rPr>
              <a:t></a:t>
            </a:r>
            <a:r>
              <a:rPr sz="2000" spc="-10" dirty="0">
                <a:latin typeface="Trebuchet MS"/>
                <a:cs typeface="Trebuchet MS"/>
              </a:rPr>
              <a:t>(s,a)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9" name="object 6"/>
          <p:cNvSpPr txBox="1"/>
          <p:nvPr/>
        </p:nvSpPr>
        <p:spPr>
          <a:xfrm>
            <a:off x="993139" y="4949229"/>
            <a:ext cx="2758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Bellman</a:t>
            </a:r>
            <a:r>
              <a:rPr sz="2400" spc="-11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equation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10" name="object 7"/>
          <p:cNvGrpSpPr/>
          <p:nvPr/>
        </p:nvGrpSpPr>
        <p:grpSpPr>
          <a:xfrm>
            <a:off x="6929436" y="3483713"/>
            <a:ext cx="2219325" cy="1381125"/>
            <a:chOff x="6472237" y="3729037"/>
            <a:chExt cx="2219325" cy="1381125"/>
          </a:xfrm>
        </p:grpSpPr>
        <p:sp>
          <p:nvSpPr>
            <p:cNvPr id="11" name="object 8"/>
            <p:cNvSpPr/>
            <p:nvPr/>
          </p:nvSpPr>
          <p:spPr>
            <a:xfrm>
              <a:off x="6593331" y="3848100"/>
              <a:ext cx="1977389" cy="1143000"/>
            </a:xfrm>
            <a:custGeom>
              <a:avLst/>
              <a:gdLst/>
              <a:ahLst/>
              <a:cxnLst/>
              <a:rect l="l" t="t" r="r" b="b"/>
              <a:pathLst>
                <a:path w="1977390" h="1143000">
                  <a:moveTo>
                    <a:pt x="930401" y="0"/>
                  </a:moveTo>
                  <a:lnTo>
                    <a:pt x="176911" y="535813"/>
                  </a:lnTo>
                </a:path>
                <a:path w="1977390" h="1143000">
                  <a:moveTo>
                    <a:pt x="930401" y="0"/>
                  </a:moveTo>
                  <a:lnTo>
                    <a:pt x="910971" y="499999"/>
                  </a:lnTo>
                </a:path>
                <a:path w="1977390" h="1143000">
                  <a:moveTo>
                    <a:pt x="930401" y="0"/>
                  </a:moveTo>
                  <a:lnTo>
                    <a:pt x="1645158" y="499999"/>
                  </a:lnTo>
                </a:path>
                <a:path w="1977390" h="1143000">
                  <a:moveTo>
                    <a:pt x="0" y="1143000"/>
                  </a:moveTo>
                  <a:lnTo>
                    <a:pt x="232537" y="457200"/>
                  </a:lnTo>
                </a:path>
                <a:path w="1977390" h="1143000">
                  <a:moveTo>
                    <a:pt x="348869" y="1143000"/>
                  </a:moveTo>
                  <a:lnTo>
                    <a:pt x="232537" y="457200"/>
                  </a:lnTo>
                </a:path>
                <a:path w="1977390" h="1143000">
                  <a:moveTo>
                    <a:pt x="814070" y="1143000"/>
                  </a:moveTo>
                  <a:lnTo>
                    <a:pt x="930401" y="457200"/>
                  </a:lnTo>
                </a:path>
                <a:path w="1977390" h="1143000">
                  <a:moveTo>
                    <a:pt x="1163066" y="1143000"/>
                  </a:moveTo>
                  <a:lnTo>
                    <a:pt x="930401" y="457200"/>
                  </a:lnTo>
                </a:path>
                <a:path w="1977390" h="1143000">
                  <a:moveTo>
                    <a:pt x="1628267" y="1143000"/>
                  </a:moveTo>
                  <a:lnTo>
                    <a:pt x="1628267" y="457200"/>
                  </a:lnTo>
                </a:path>
                <a:path w="1977390" h="1143000">
                  <a:moveTo>
                    <a:pt x="1977136" y="1143000"/>
                  </a:moveTo>
                  <a:lnTo>
                    <a:pt x="1628267" y="4572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02639" y="3729037"/>
              <a:ext cx="242189" cy="238125"/>
            </a:xfrm>
            <a:prstGeom prst="rect">
              <a:avLst/>
            </a:prstGeom>
          </p:spPr>
        </p:pic>
        <p:pic>
          <p:nvPicPr>
            <p:cNvPr id="13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26618" y="4264850"/>
              <a:ext cx="176784" cy="173736"/>
            </a:xfrm>
            <a:prstGeom prst="rect">
              <a:avLst/>
            </a:prstGeom>
          </p:spPr>
        </p:pic>
        <p:pic>
          <p:nvPicPr>
            <p:cNvPr id="14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31722" y="4264850"/>
              <a:ext cx="176784" cy="173736"/>
            </a:xfrm>
            <a:prstGeom prst="rect">
              <a:avLst/>
            </a:prstGeom>
          </p:spPr>
        </p:pic>
        <p:pic>
          <p:nvPicPr>
            <p:cNvPr id="15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51431" y="4264850"/>
              <a:ext cx="176656" cy="173736"/>
            </a:xfrm>
            <a:prstGeom prst="rect">
              <a:avLst/>
            </a:prstGeom>
          </p:spPr>
        </p:pic>
        <p:pic>
          <p:nvPicPr>
            <p:cNvPr id="16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2237" y="4872037"/>
              <a:ext cx="242189" cy="238125"/>
            </a:xfrm>
            <a:prstGeom prst="rect">
              <a:avLst/>
            </a:prstGeom>
          </p:spPr>
        </p:pic>
        <p:pic>
          <p:nvPicPr>
            <p:cNvPr id="17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21106" y="4872037"/>
              <a:ext cx="242188" cy="238125"/>
            </a:xfrm>
            <a:prstGeom prst="rect">
              <a:avLst/>
            </a:prstGeom>
          </p:spPr>
        </p:pic>
        <p:pic>
          <p:nvPicPr>
            <p:cNvPr id="18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86434" y="4872037"/>
              <a:ext cx="242061" cy="238125"/>
            </a:xfrm>
            <a:prstGeom prst="rect">
              <a:avLst/>
            </a:prstGeom>
          </p:spPr>
        </p:pic>
        <p:pic>
          <p:nvPicPr>
            <p:cNvPr id="19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35303" y="4872037"/>
              <a:ext cx="242061" cy="238125"/>
            </a:xfrm>
            <a:prstGeom prst="rect">
              <a:avLst/>
            </a:prstGeom>
          </p:spPr>
        </p:pic>
        <p:pic>
          <p:nvPicPr>
            <p:cNvPr id="20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00504" y="4872037"/>
              <a:ext cx="242188" cy="238125"/>
            </a:xfrm>
            <a:prstGeom prst="rect">
              <a:avLst/>
            </a:prstGeom>
          </p:spPr>
        </p:pic>
        <p:pic>
          <p:nvPicPr>
            <p:cNvPr id="21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49373" y="4872037"/>
              <a:ext cx="242189" cy="238125"/>
            </a:xfrm>
            <a:prstGeom prst="rect">
              <a:avLst/>
            </a:prstGeom>
          </p:spPr>
        </p:pic>
      </p:grpSp>
      <p:sp>
        <p:nvSpPr>
          <p:cNvPr id="22" name="object 19"/>
          <p:cNvSpPr txBox="1"/>
          <p:nvPr/>
        </p:nvSpPr>
        <p:spPr>
          <a:xfrm>
            <a:off x="7700008" y="3302040"/>
            <a:ext cx="118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rebuchet MS"/>
                <a:cs typeface="Trebuchet MS"/>
              </a:rPr>
              <a:t>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3" name="object 20"/>
          <p:cNvSpPr txBox="1"/>
          <p:nvPr/>
        </p:nvSpPr>
        <p:spPr>
          <a:xfrm>
            <a:off x="7042530" y="3759240"/>
            <a:ext cx="146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rebuchet MS"/>
                <a:cs typeface="Trebuchet MS"/>
              </a:rPr>
              <a:t>a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4" name="object 21"/>
          <p:cNvSpPr txBox="1"/>
          <p:nvPr/>
        </p:nvSpPr>
        <p:spPr>
          <a:xfrm>
            <a:off x="6729728" y="4735870"/>
            <a:ext cx="202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rebuchet MS"/>
                <a:cs typeface="Trebuchet MS"/>
              </a:rPr>
              <a:t>s’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5" name="object 22"/>
          <p:cNvSpPr txBox="1"/>
          <p:nvPr/>
        </p:nvSpPr>
        <p:spPr>
          <a:xfrm>
            <a:off x="6882128" y="4202470"/>
            <a:ext cx="114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rebuchet MS"/>
                <a:cs typeface="Trebuchet MS"/>
              </a:rPr>
              <a:t>r</a:t>
            </a:r>
            <a:endParaRPr sz="1800">
              <a:latin typeface="Trebuchet MS"/>
              <a:cs typeface="Trebuchet M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1569069" y="5363050"/>
                <a:ext cx="7337503" cy="7645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b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sup>
                                  </m:sSub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  <m:sSup>
                                    <m:sSup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p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</m:e>
                          </m:nary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9069" y="5363050"/>
                <a:ext cx="7337503" cy="76450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71232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Optimal</a:t>
            </a:r>
            <a:r>
              <a:rPr lang="en-IN" spc="-15" dirty="0" smtClean="0"/>
              <a:t> </a:t>
            </a:r>
            <a:r>
              <a:rPr lang="en-IN" dirty="0" smtClean="0"/>
              <a:t>value</a:t>
            </a:r>
            <a:r>
              <a:rPr lang="en-IN" spc="-35" dirty="0" smtClean="0"/>
              <a:t> </a:t>
            </a:r>
            <a:r>
              <a:rPr lang="en-IN" spc="-10" dirty="0" smtClean="0"/>
              <a:t>functions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14-04-2026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18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1036195" y="834417"/>
            <a:ext cx="5789930" cy="120015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685"/>
              </a:spcBef>
              <a:buChar char="•"/>
              <a:tabLst>
                <a:tab pos="3683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there’s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set</a:t>
            </a:r>
            <a:r>
              <a:rPr sz="2400" spc="-5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of</a:t>
            </a:r>
            <a:r>
              <a:rPr sz="2400" spc="-3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0066FF"/>
                </a:solidFill>
                <a:latin typeface="Trebuchet MS"/>
                <a:cs typeface="Trebuchet MS"/>
              </a:rPr>
              <a:t>optimal</a:t>
            </a:r>
            <a:r>
              <a:rPr sz="2400" i="1" spc="-3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policies</a:t>
            </a:r>
            <a:endParaRPr sz="2400" dirty="0">
              <a:latin typeface="Trebuchet MS"/>
              <a:cs typeface="Trebuchet MS"/>
            </a:endParaRPr>
          </a:p>
          <a:p>
            <a:pPr marL="7689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68985" algn="l"/>
              </a:tabLst>
            </a:pPr>
            <a:r>
              <a:rPr sz="2000" dirty="0">
                <a:latin typeface="Trebuchet MS"/>
                <a:cs typeface="Trebuchet MS"/>
              </a:rPr>
              <a:t>V</a:t>
            </a:r>
            <a:r>
              <a:rPr sz="1950" baseline="25641" dirty="0">
                <a:latin typeface="Symbol"/>
                <a:cs typeface="Symbol"/>
              </a:rPr>
              <a:t></a:t>
            </a:r>
            <a:r>
              <a:rPr sz="1950" spc="405" baseline="25641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rebuchet MS"/>
                <a:cs typeface="Trebuchet MS"/>
              </a:rPr>
              <a:t>defines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partial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ordering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on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policies</a:t>
            </a:r>
            <a:endParaRPr sz="2000" dirty="0">
              <a:latin typeface="Trebuchet MS"/>
              <a:cs typeface="Trebuchet MS"/>
            </a:endParaRPr>
          </a:p>
          <a:p>
            <a:pPr marL="7689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68985" algn="l"/>
              </a:tabLst>
            </a:pPr>
            <a:r>
              <a:rPr sz="2000" dirty="0">
                <a:latin typeface="Trebuchet MS"/>
                <a:cs typeface="Trebuchet MS"/>
              </a:rPr>
              <a:t>they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share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same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optimal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value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function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7" name="object 4"/>
          <p:cNvSpPr txBox="1"/>
          <p:nvPr/>
        </p:nvSpPr>
        <p:spPr>
          <a:xfrm>
            <a:off x="1048895" y="2811381"/>
            <a:ext cx="42551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Bellman</a:t>
            </a:r>
            <a:r>
              <a:rPr sz="2400" spc="-114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optimality</a:t>
            </a:r>
            <a:r>
              <a:rPr sz="2400" spc="-10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equation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8" name="object 5"/>
          <p:cNvSpPr txBox="1"/>
          <p:nvPr/>
        </p:nvSpPr>
        <p:spPr>
          <a:xfrm>
            <a:off x="1506399" y="3910098"/>
            <a:ext cx="4175760" cy="112395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585"/>
              </a:spcBef>
              <a:buChar char="–"/>
              <a:tabLst>
                <a:tab pos="299085" algn="l"/>
              </a:tabLst>
            </a:pPr>
            <a:r>
              <a:rPr sz="2000" dirty="0">
                <a:latin typeface="Trebuchet MS"/>
                <a:cs typeface="Trebuchet MS"/>
              </a:rPr>
              <a:t>system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of n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non-</a:t>
            </a:r>
            <a:r>
              <a:rPr sz="2000" dirty="0">
                <a:latin typeface="Trebuchet MS"/>
                <a:cs typeface="Trebuchet MS"/>
              </a:rPr>
              <a:t>linear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equations</a:t>
            </a:r>
            <a:endParaRPr sz="20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299085" algn="l"/>
              </a:tabLst>
            </a:pPr>
            <a:r>
              <a:rPr sz="2000" dirty="0">
                <a:latin typeface="Trebuchet MS"/>
                <a:cs typeface="Trebuchet MS"/>
              </a:rPr>
              <a:t>solve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for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V*(s)</a:t>
            </a:r>
            <a:endParaRPr sz="20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299085" algn="l"/>
              </a:tabLst>
            </a:pPr>
            <a:r>
              <a:rPr sz="2000" dirty="0">
                <a:latin typeface="Trebuchet MS"/>
                <a:cs typeface="Trebuchet MS"/>
              </a:rPr>
              <a:t>easy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extract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optimal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policy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9" name="object 6"/>
          <p:cNvSpPr txBox="1"/>
          <p:nvPr/>
        </p:nvSpPr>
        <p:spPr>
          <a:xfrm>
            <a:off x="1048895" y="5445488"/>
            <a:ext cx="5374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having</a:t>
            </a:r>
            <a:r>
              <a:rPr sz="2400" spc="-6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Q*(s,a)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makes</a:t>
            </a:r>
            <a:r>
              <a:rPr sz="2400" spc="-6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it</a:t>
            </a:r>
            <a:r>
              <a:rPr sz="2400" spc="-7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even</a:t>
            </a:r>
            <a:r>
              <a:rPr sz="2400" spc="-7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simpler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11" name="object 8"/>
          <p:cNvGrpSpPr/>
          <p:nvPr/>
        </p:nvGrpSpPr>
        <p:grpSpPr>
          <a:xfrm>
            <a:off x="6832792" y="3608751"/>
            <a:ext cx="2219325" cy="1381760"/>
            <a:chOff x="6319837" y="3943286"/>
            <a:chExt cx="2219325" cy="1381760"/>
          </a:xfrm>
        </p:grpSpPr>
        <p:sp>
          <p:nvSpPr>
            <p:cNvPr id="12" name="object 9"/>
            <p:cNvSpPr/>
            <p:nvPr/>
          </p:nvSpPr>
          <p:spPr>
            <a:xfrm>
              <a:off x="6440931" y="4062348"/>
              <a:ext cx="1977389" cy="1143000"/>
            </a:xfrm>
            <a:custGeom>
              <a:avLst/>
              <a:gdLst/>
              <a:ahLst/>
              <a:cxnLst/>
              <a:rect l="l" t="t" r="r" b="b"/>
              <a:pathLst>
                <a:path w="1977390" h="1143000">
                  <a:moveTo>
                    <a:pt x="930401" y="0"/>
                  </a:moveTo>
                  <a:lnTo>
                    <a:pt x="176911" y="535813"/>
                  </a:lnTo>
                </a:path>
                <a:path w="1977390" h="1143000">
                  <a:moveTo>
                    <a:pt x="930401" y="0"/>
                  </a:moveTo>
                  <a:lnTo>
                    <a:pt x="910970" y="500125"/>
                  </a:lnTo>
                </a:path>
                <a:path w="1977390" h="1143000">
                  <a:moveTo>
                    <a:pt x="930401" y="0"/>
                  </a:moveTo>
                  <a:lnTo>
                    <a:pt x="1645158" y="500125"/>
                  </a:lnTo>
                </a:path>
                <a:path w="1977390" h="1143000">
                  <a:moveTo>
                    <a:pt x="0" y="1143000"/>
                  </a:moveTo>
                  <a:lnTo>
                    <a:pt x="232537" y="457200"/>
                  </a:lnTo>
                </a:path>
                <a:path w="1977390" h="1143000">
                  <a:moveTo>
                    <a:pt x="348868" y="1143000"/>
                  </a:moveTo>
                  <a:lnTo>
                    <a:pt x="232537" y="457200"/>
                  </a:lnTo>
                </a:path>
                <a:path w="1977390" h="1143000">
                  <a:moveTo>
                    <a:pt x="814069" y="1143000"/>
                  </a:moveTo>
                  <a:lnTo>
                    <a:pt x="930401" y="457200"/>
                  </a:lnTo>
                </a:path>
                <a:path w="1977390" h="1143000">
                  <a:moveTo>
                    <a:pt x="1163065" y="1143000"/>
                  </a:moveTo>
                  <a:lnTo>
                    <a:pt x="930401" y="457200"/>
                  </a:lnTo>
                </a:path>
                <a:path w="1977390" h="1143000">
                  <a:moveTo>
                    <a:pt x="1628266" y="1143000"/>
                  </a:moveTo>
                  <a:lnTo>
                    <a:pt x="1628266" y="457200"/>
                  </a:lnTo>
                </a:path>
                <a:path w="1977390" h="1143000">
                  <a:moveTo>
                    <a:pt x="1977136" y="1143000"/>
                  </a:moveTo>
                  <a:lnTo>
                    <a:pt x="1628266" y="4572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50239" y="3943286"/>
              <a:ext cx="242189" cy="238125"/>
            </a:xfrm>
            <a:prstGeom prst="rect">
              <a:avLst/>
            </a:prstGeom>
          </p:spPr>
        </p:pic>
        <p:pic>
          <p:nvPicPr>
            <p:cNvPr id="14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74218" y="4479099"/>
              <a:ext cx="176784" cy="173862"/>
            </a:xfrm>
            <a:prstGeom prst="rect">
              <a:avLst/>
            </a:prstGeom>
          </p:spPr>
        </p:pic>
        <p:pic>
          <p:nvPicPr>
            <p:cNvPr id="15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79322" y="4479099"/>
              <a:ext cx="176784" cy="173862"/>
            </a:xfrm>
            <a:prstGeom prst="rect">
              <a:avLst/>
            </a:prstGeom>
          </p:spPr>
        </p:pic>
        <p:pic>
          <p:nvPicPr>
            <p:cNvPr id="16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99031" y="4479099"/>
              <a:ext cx="176656" cy="173862"/>
            </a:xfrm>
            <a:prstGeom prst="rect">
              <a:avLst/>
            </a:prstGeom>
          </p:spPr>
        </p:pic>
        <p:pic>
          <p:nvPicPr>
            <p:cNvPr id="17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19837" y="5086286"/>
              <a:ext cx="242189" cy="238251"/>
            </a:xfrm>
            <a:prstGeom prst="rect">
              <a:avLst/>
            </a:prstGeom>
          </p:spPr>
        </p:pic>
        <p:pic>
          <p:nvPicPr>
            <p:cNvPr id="18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68706" y="5086286"/>
              <a:ext cx="242188" cy="238251"/>
            </a:xfrm>
            <a:prstGeom prst="rect">
              <a:avLst/>
            </a:prstGeom>
          </p:spPr>
        </p:pic>
        <p:pic>
          <p:nvPicPr>
            <p:cNvPr id="19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34034" y="5086286"/>
              <a:ext cx="242061" cy="238251"/>
            </a:xfrm>
            <a:prstGeom prst="rect">
              <a:avLst/>
            </a:prstGeom>
          </p:spPr>
        </p:pic>
        <p:pic>
          <p:nvPicPr>
            <p:cNvPr id="20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82903" y="5086286"/>
              <a:ext cx="242061" cy="238251"/>
            </a:xfrm>
            <a:prstGeom prst="rect">
              <a:avLst/>
            </a:prstGeom>
          </p:spPr>
        </p:pic>
        <p:pic>
          <p:nvPicPr>
            <p:cNvPr id="21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48104" y="5086286"/>
              <a:ext cx="242188" cy="238251"/>
            </a:xfrm>
            <a:prstGeom prst="rect">
              <a:avLst/>
            </a:prstGeom>
          </p:spPr>
        </p:pic>
        <p:pic>
          <p:nvPicPr>
            <p:cNvPr id="22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96973" y="5086286"/>
              <a:ext cx="242189" cy="238251"/>
            </a:xfrm>
            <a:prstGeom prst="rect">
              <a:avLst/>
            </a:prstGeom>
          </p:spPr>
        </p:pic>
      </p:grpSp>
      <p:sp>
        <p:nvSpPr>
          <p:cNvPr id="23" name="object 20"/>
          <p:cNvSpPr txBox="1"/>
          <p:nvPr/>
        </p:nvSpPr>
        <p:spPr>
          <a:xfrm>
            <a:off x="7603364" y="3427078"/>
            <a:ext cx="118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rebuchet MS"/>
                <a:cs typeface="Trebuchet MS"/>
              </a:rPr>
              <a:t>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4" name="object 21"/>
          <p:cNvSpPr txBox="1"/>
          <p:nvPr/>
        </p:nvSpPr>
        <p:spPr>
          <a:xfrm>
            <a:off x="6945885" y="3883973"/>
            <a:ext cx="1460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rebuchet MS"/>
                <a:cs typeface="Trebuchet MS"/>
              </a:rPr>
              <a:t>a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5" name="object 22"/>
          <p:cNvSpPr txBox="1"/>
          <p:nvPr/>
        </p:nvSpPr>
        <p:spPr>
          <a:xfrm>
            <a:off x="6633084" y="4860907"/>
            <a:ext cx="202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rebuchet MS"/>
                <a:cs typeface="Trebuchet MS"/>
              </a:rPr>
              <a:t>s’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6" name="object 23"/>
          <p:cNvSpPr txBox="1"/>
          <p:nvPr/>
        </p:nvSpPr>
        <p:spPr>
          <a:xfrm>
            <a:off x="6785484" y="4327507"/>
            <a:ext cx="114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rebuchet MS"/>
                <a:cs typeface="Trebuchet MS"/>
              </a:rPr>
              <a:t>r</a:t>
            </a:r>
            <a:endParaRPr sz="1800">
              <a:latin typeface="Trebuchet MS"/>
              <a:cs typeface="Trebuchet M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1350756" y="2145453"/>
                <a:ext cx="3651412" cy="4949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756" y="2145453"/>
                <a:ext cx="3651412" cy="49494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265861" y="3110593"/>
                <a:ext cx="7337503" cy="8392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lim>
                      </m:limLow>
                      <m:nary>
                        <m:naryPr>
                          <m:chr m:val="∑"/>
                          <m:supHide m:val="on"/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p>
                          </m:sSubSup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𝑠𝑠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b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b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  <m:sSup>
                                <m:sSup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861" y="3110593"/>
                <a:ext cx="7337503" cy="83920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1790700" y="5837309"/>
                <a:ext cx="2948051" cy="4949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limLow>
                            <m:limLow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e>
                      </m:func>
                      <m:sSup>
                        <m:sSup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0700" y="5837309"/>
                <a:ext cx="2948051" cy="49494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79448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-10" dirty="0"/>
              <a:t>Outline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14-04-2026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19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1048896" y="1377143"/>
            <a:ext cx="4137025" cy="3393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808080"/>
                </a:solidFill>
                <a:latin typeface="Trebuchet MS"/>
                <a:cs typeface="Trebuchet MS"/>
              </a:rPr>
              <a:t>examples</a:t>
            </a:r>
            <a:endParaRPr sz="2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80"/>
              </a:spcBef>
              <a:buFont typeface="Trebuchet MS"/>
              <a:buChar char="•"/>
            </a:pPr>
            <a:endParaRPr sz="24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808080"/>
                </a:solidFill>
                <a:latin typeface="Trebuchet MS"/>
                <a:cs typeface="Trebuchet MS"/>
              </a:rPr>
              <a:t>defining</a:t>
            </a:r>
            <a:r>
              <a:rPr sz="2400" spc="-3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808080"/>
                </a:solidFill>
                <a:latin typeface="Trebuchet MS"/>
                <a:cs typeface="Trebuchet MS"/>
              </a:rPr>
              <a:t>an</a:t>
            </a:r>
            <a:r>
              <a:rPr sz="2400" spc="-4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808080"/>
                </a:solidFill>
                <a:latin typeface="Trebuchet MS"/>
                <a:cs typeface="Trebuchet MS"/>
              </a:rPr>
              <a:t>RL</a:t>
            </a:r>
            <a:r>
              <a:rPr sz="2400" spc="-5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808080"/>
                </a:solidFill>
                <a:latin typeface="Trebuchet MS"/>
                <a:cs typeface="Trebuchet MS"/>
              </a:rPr>
              <a:t>problem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solidFill>
                  <a:srgbClr val="808080"/>
                </a:solidFill>
                <a:latin typeface="Trebuchet MS"/>
                <a:cs typeface="Trebuchet MS"/>
              </a:rPr>
              <a:t>Markov</a:t>
            </a:r>
            <a:r>
              <a:rPr sz="2000" spc="-20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808080"/>
                </a:solidFill>
                <a:latin typeface="Trebuchet MS"/>
                <a:cs typeface="Trebuchet MS"/>
              </a:rPr>
              <a:t>Decision</a:t>
            </a:r>
            <a:r>
              <a:rPr sz="2000" spc="-40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808080"/>
                </a:solidFill>
                <a:latin typeface="Trebuchet MS"/>
                <a:cs typeface="Trebuchet MS"/>
              </a:rPr>
              <a:t>Processes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830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55600" indent="-343535">
              <a:lnSpc>
                <a:spcPct val="100000"/>
              </a:lnSpc>
              <a:buChar char="•"/>
              <a:tabLst>
                <a:tab pos="355600" algn="l"/>
                <a:tab pos="4699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solving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an</a:t>
            </a:r>
            <a:r>
              <a:rPr sz="2400" spc="-5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RL</a:t>
            </a:r>
            <a:r>
              <a:rPr sz="2400" spc="-5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problem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Dynamic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Programming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Monte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Carlo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methods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spc="-10" dirty="0">
                <a:latin typeface="Trebuchet MS"/>
                <a:cs typeface="Trebuchet MS"/>
              </a:rPr>
              <a:t>Temporal-</a:t>
            </a:r>
            <a:r>
              <a:rPr sz="2000" dirty="0">
                <a:latin typeface="Trebuchet MS"/>
                <a:cs typeface="Trebuchet MS"/>
              </a:rPr>
              <a:t>Difference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learning</a:t>
            </a:r>
            <a:endParaRPr sz="20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6549509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Dynamic</a:t>
            </a:r>
            <a:r>
              <a:rPr lang="en-IN" spc="-50" dirty="0" smtClean="0"/>
              <a:t> </a:t>
            </a:r>
            <a:r>
              <a:rPr lang="en-IN" spc="-10" dirty="0" smtClean="0"/>
              <a:t>programming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14-04-2026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20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1023495" y="1168952"/>
            <a:ext cx="7666990" cy="3834129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685"/>
              </a:spcBef>
              <a:buChar char="•"/>
              <a:tabLst>
                <a:tab pos="3810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main</a:t>
            </a:r>
            <a:r>
              <a:rPr sz="2400" spc="-7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066FF"/>
                </a:solidFill>
                <a:latin typeface="Trebuchet MS"/>
                <a:cs typeface="Trebuchet MS"/>
              </a:rPr>
              <a:t>idea</a:t>
            </a:r>
            <a:endParaRPr sz="2400" dirty="0">
              <a:latin typeface="Trebuchet MS"/>
              <a:cs typeface="Trebuchet MS"/>
            </a:endParaRPr>
          </a:p>
          <a:p>
            <a:pPr marL="7816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81685" algn="l"/>
              </a:tabLst>
            </a:pPr>
            <a:r>
              <a:rPr sz="2000" dirty="0">
                <a:latin typeface="Trebuchet MS"/>
                <a:cs typeface="Trebuchet MS"/>
              </a:rPr>
              <a:t>use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value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functions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structure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search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for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good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policies</a:t>
            </a:r>
            <a:endParaRPr sz="2000" dirty="0">
              <a:latin typeface="Trebuchet MS"/>
              <a:cs typeface="Trebuchet MS"/>
            </a:endParaRPr>
          </a:p>
          <a:p>
            <a:pPr marL="7816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81685" algn="l"/>
              </a:tabLst>
            </a:pPr>
            <a:r>
              <a:rPr sz="2000" dirty="0">
                <a:latin typeface="Trebuchet MS"/>
                <a:cs typeface="Trebuchet MS"/>
              </a:rPr>
              <a:t>need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perfect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model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of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environment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1115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81000" indent="-342900">
              <a:lnSpc>
                <a:spcPct val="100000"/>
              </a:lnSpc>
              <a:buChar char="•"/>
              <a:tabLst>
                <a:tab pos="3810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two</a:t>
            </a:r>
            <a:r>
              <a:rPr sz="2400" spc="-1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main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 components</a:t>
            </a:r>
            <a:endParaRPr sz="2400" dirty="0">
              <a:latin typeface="Trebuchet MS"/>
              <a:cs typeface="Trebuchet MS"/>
            </a:endParaRPr>
          </a:p>
          <a:p>
            <a:pPr marL="781685" lvl="1" indent="-286385">
              <a:lnSpc>
                <a:spcPct val="100000"/>
              </a:lnSpc>
              <a:spcBef>
                <a:spcPts val="500"/>
              </a:spcBef>
              <a:buChar char="–"/>
              <a:tabLst>
                <a:tab pos="781685" algn="l"/>
              </a:tabLst>
            </a:pPr>
            <a:r>
              <a:rPr sz="2000" dirty="0">
                <a:latin typeface="Trebuchet MS"/>
                <a:cs typeface="Trebuchet MS"/>
              </a:rPr>
              <a:t>policy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evaluation: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compute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V</a:t>
            </a:r>
            <a:r>
              <a:rPr sz="1950" baseline="25641" dirty="0">
                <a:latin typeface="Symbol"/>
                <a:cs typeface="Symbol"/>
              </a:rPr>
              <a:t></a:t>
            </a:r>
            <a:r>
              <a:rPr sz="1950" spc="419" baseline="25641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rebuchet MS"/>
                <a:cs typeface="Trebuchet MS"/>
              </a:rPr>
              <a:t>from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Symbol"/>
                <a:cs typeface="Symbol"/>
              </a:rPr>
              <a:t></a:t>
            </a:r>
            <a:endParaRPr sz="2000" dirty="0">
              <a:latin typeface="Symbol"/>
              <a:cs typeface="Symbol"/>
            </a:endParaRPr>
          </a:p>
          <a:p>
            <a:pPr marL="7816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81685" algn="l"/>
              </a:tabLst>
            </a:pPr>
            <a:r>
              <a:rPr sz="2000" dirty="0">
                <a:latin typeface="Trebuchet MS"/>
                <a:cs typeface="Trebuchet MS"/>
              </a:rPr>
              <a:t>policy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improvement: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improve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Symbol"/>
                <a:cs typeface="Symbol"/>
              </a:rPr>
              <a:t>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rebuchet MS"/>
                <a:cs typeface="Trebuchet MS"/>
              </a:rPr>
              <a:t>based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on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V</a:t>
            </a:r>
            <a:r>
              <a:rPr sz="1950" spc="-37" baseline="25641" dirty="0">
                <a:latin typeface="Symbol"/>
                <a:cs typeface="Symbol"/>
              </a:rPr>
              <a:t></a:t>
            </a:r>
            <a:endParaRPr sz="1950" baseline="25641" dirty="0">
              <a:latin typeface="Symbol"/>
              <a:cs typeface="Symbol"/>
            </a:endParaRPr>
          </a:p>
          <a:p>
            <a:pPr lvl="1">
              <a:lnSpc>
                <a:spcPct val="100000"/>
              </a:lnSpc>
              <a:spcBef>
                <a:spcPts val="910"/>
              </a:spcBef>
              <a:buFont typeface="Trebuchet MS"/>
              <a:buChar char="–"/>
            </a:pPr>
            <a:endParaRPr sz="2000" dirty="0">
              <a:latin typeface="Symbol"/>
              <a:cs typeface="Symbol"/>
            </a:endParaRPr>
          </a:p>
          <a:p>
            <a:pPr marL="781685" lvl="1" indent="-286385">
              <a:lnSpc>
                <a:spcPct val="100000"/>
              </a:lnSpc>
              <a:buChar char="–"/>
              <a:tabLst>
                <a:tab pos="781685" algn="l"/>
              </a:tabLst>
            </a:pPr>
            <a:r>
              <a:rPr sz="2000" dirty="0">
                <a:latin typeface="Trebuchet MS"/>
                <a:cs typeface="Trebuchet MS"/>
              </a:rPr>
              <a:t>start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with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arbitrary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policy</a:t>
            </a:r>
            <a:endParaRPr sz="2000" dirty="0">
              <a:latin typeface="Trebuchet MS"/>
              <a:cs typeface="Trebuchet MS"/>
            </a:endParaRPr>
          </a:p>
          <a:p>
            <a:pPr marL="7816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81685" algn="l"/>
              </a:tabLst>
            </a:pPr>
            <a:r>
              <a:rPr sz="2000" dirty="0">
                <a:latin typeface="Trebuchet MS"/>
                <a:cs typeface="Trebuchet MS"/>
              </a:rPr>
              <a:t>repeat</a:t>
            </a:r>
            <a:r>
              <a:rPr sz="2000" spc="-10" dirty="0">
                <a:latin typeface="Trebuchet MS"/>
                <a:cs typeface="Trebuchet MS"/>
              </a:rPr>
              <a:t> evaluation/improvement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until </a:t>
            </a:r>
            <a:r>
              <a:rPr sz="2000" spc="-10" dirty="0">
                <a:latin typeface="Trebuchet MS"/>
                <a:cs typeface="Trebuchet MS"/>
              </a:rPr>
              <a:t>convergence</a:t>
            </a:r>
            <a:endParaRPr sz="2000" dirty="0">
              <a:latin typeface="Trebuchet MS"/>
              <a:cs typeface="Trebuchet MS"/>
            </a:endParaRPr>
          </a:p>
        </p:txBody>
      </p:sp>
      <p:grpSp>
        <p:nvGrpSpPr>
          <p:cNvPr id="7" name="object 4"/>
          <p:cNvGrpSpPr/>
          <p:nvPr/>
        </p:nvGrpSpPr>
        <p:grpSpPr>
          <a:xfrm>
            <a:off x="1117792" y="3348037"/>
            <a:ext cx="238125" cy="532765"/>
            <a:chOff x="604837" y="3348037"/>
            <a:chExt cx="238125" cy="532765"/>
          </a:xfrm>
        </p:grpSpPr>
        <p:sp>
          <p:nvSpPr>
            <p:cNvPr id="8" name="object 5"/>
            <p:cNvSpPr/>
            <p:nvPr/>
          </p:nvSpPr>
          <p:spPr>
            <a:xfrm>
              <a:off x="609600" y="3539489"/>
              <a:ext cx="228600" cy="336550"/>
            </a:xfrm>
            <a:custGeom>
              <a:avLst/>
              <a:gdLst/>
              <a:ahLst/>
              <a:cxnLst/>
              <a:rect l="l" t="t" r="r" b="b"/>
              <a:pathLst>
                <a:path w="228600" h="336550">
                  <a:moveTo>
                    <a:pt x="0" y="0"/>
                  </a:moveTo>
                  <a:lnTo>
                    <a:pt x="0" y="106680"/>
                  </a:lnTo>
                  <a:lnTo>
                    <a:pt x="7081" y="152832"/>
                  </a:lnTo>
                  <a:lnTo>
                    <a:pt x="27339" y="195212"/>
                  </a:lnTo>
                  <a:lnTo>
                    <a:pt x="59297" y="232117"/>
                  </a:lnTo>
                  <a:lnTo>
                    <a:pt x="101476" y="261847"/>
                  </a:lnTo>
                  <a:lnTo>
                    <a:pt x="152400" y="282702"/>
                  </a:lnTo>
                  <a:lnTo>
                    <a:pt x="152400" y="336042"/>
                  </a:lnTo>
                  <a:lnTo>
                    <a:pt x="228600" y="240030"/>
                  </a:lnTo>
                  <a:lnTo>
                    <a:pt x="152400" y="122682"/>
                  </a:lnTo>
                  <a:lnTo>
                    <a:pt x="152400" y="176022"/>
                  </a:lnTo>
                  <a:lnTo>
                    <a:pt x="101476" y="155167"/>
                  </a:lnTo>
                  <a:lnTo>
                    <a:pt x="59297" y="125437"/>
                  </a:lnTo>
                  <a:lnTo>
                    <a:pt x="27339" y="88532"/>
                  </a:lnTo>
                  <a:lnTo>
                    <a:pt x="7081" y="46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936" y="3352800"/>
              <a:ext cx="228263" cy="240029"/>
            </a:xfrm>
            <a:prstGeom prst="rect">
              <a:avLst/>
            </a:prstGeom>
          </p:spPr>
        </p:pic>
        <p:sp>
          <p:nvSpPr>
            <p:cNvPr id="10" name="object 7"/>
            <p:cNvSpPr/>
            <p:nvPr/>
          </p:nvSpPr>
          <p:spPr>
            <a:xfrm>
              <a:off x="609600" y="3352800"/>
              <a:ext cx="228600" cy="523240"/>
            </a:xfrm>
            <a:custGeom>
              <a:avLst/>
              <a:gdLst/>
              <a:ahLst/>
              <a:cxnLst/>
              <a:rect l="l" t="t" r="r" b="b"/>
              <a:pathLst>
                <a:path w="228600" h="523239">
                  <a:moveTo>
                    <a:pt x="0" y="186689"/>
                  </a:moveTo>
                  <a:lnTo>
                    <a:pt x="7081" y="232842"/>
                  </a:lnTo>
                  <a:lnTo>
                    <a:pt x="27339" y="275222"/>
                  </a:lnTo>
                  <a:lnTo>
                    <a:pt x="59297" y="312127"/>
                  </a:lnTo>
                  <a:lnTo>
                    <a:pt x="101476" y="341857"/>
                  </a:lnTo>
                  <a:lnTo>
                    <a:pt x="152400" y="362712"/>
                  </a:lnTo>
                  <a:lnTo>
                    <a:pt x="152400" y="309372"/>
                  </a:lnTo>
                  <a:lnTo>
                    <a:pt x="228600" y="426719"/>
                  </a:lnTo>
                  <a:lnTo>
                    <a:pt x="152400" y="522731"/>
                  </a:lnTo>
                  <a:lnTo>
                    <a:pt x="152400" y="469392"/>
                  </a:lnTo>
                  <a:lnTo>
                    <a:pt x="101476" y="448537"/>
                  </a:lnTo>
                  <a:lnTo>
                    <a:pt x="59297" y="418807"/>
                  </a:lnTo>
                  <a:lnTo>
                    <a:pt x="27339" y="381902"/>
                  </a:lnTo>
                  <a:lnTo>
                    <a:pt x="7081" y="339522"/>
                  </a:lnTo>
                  <a:lnTo>
                    <a:pt x="0" y="293369"/>
                  </a:lnTo>
                  <a:lnTo>
                    <a:pt x="0" y="186689"/>
                  </a:lnTo>
                  <a:lnTo>
                    <a:pt x="6037" y="143878"/>
                  </a:lnTo>
                  <a:lnTo>
                    <a:pt x="23235" y="104580"/>
                  </a:lnTo>
                  <a:lnTo>
                    <a:pt x="50221" y="69917"/>
                  </a:lnTo>
                  <a:lnTo>
                    <a:pt x="85623" y="41008"/>
                  </a:lnTo>
                  <a:lnTo>
                    <a:pt x="128068" y="18972"/>
                  </a:lnTo>
                  <a:lnTo>
                    <a:pt x="176184" y="4929"/>
                  </a:lnTo>
                  <a:lnTo>
                    <a:pt x="228600" y="0"/>
                  </a:lnTo>
                  <a:lnTo>
                    <a:pt x="228600" y="106679"/>
                  </a:lnTo>
                  <a:lnTo>
                    <a:pt x="179277" y="111063"/>
                  </a:lnTo>
                  <a:lnTo>
                    <a:pt x="133293" y="123669"/>
                  </a:lnTo>
                  <a:lnTo>
                    <a:pt x="91987" y="143684"/>
                  </a:lnTo>
                  <a:lnTo>
                    <a:pt x="56698" y="170292"/>
                  </a:lnTo>
                  <a:lnTo>
                    <a:pt x="28764" y="202679"/>
                  </a:lnTo>
                  <a:lnTo>
                    <a:pt x="9525" y="240029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8"/>
          <p:cNvGrpSpPr/>
          <p:nvPr/>
        </p:nvGrpSpPr>
        <p:grpSpPr>
          <a:xfrm>
            <a:off x="6985192" y="3282505"/>
            <a:ext cx="238125" cy="532765"/>
            <a:chOff x="6472237" y="3282505"/>
            <a:chExt cx="238125" cy="532765"/>
          </a:xfrm>
        </p:grpSpPr>
        <p:sp>
          <p:nvSpPr>
            <p:cNvPr id="12" name="object 9"/>
            <p:cNvSpPr/>
            <p:nvPr/>
          </p:nvSpPr>
          <p:spPr>
            <a:xfrm>
              <a:off x="6477000" y="3287267"/>
              <a:ext cx="228600" cy="336550"/>
            </a:xfrm>
            <a:custGeom>
              <a:avLst/>
              <a:gdLst/>
              <a:ahLst/>
              <a:cxnLst/>
              <a:rect l="l" t="t" r="r" b="b"/>
              <a:pathLst>
                <a:path w="228600" h="336550">
                  <a:moveTo>
                    <a:pt x="76200" y="0"/>
                  </a:moveTo>
                  <a:lnTo>
                    <a:pt x="0" y="96012"/>
                  </a:lnTo>
                  <a:lnTo>
                    <a:pt x="76200" y="213360"/>
                  </a:lnTo>
                  <a:lnTo>
                    <a:pt x="76200" y="160020"/>
                  </a:lnTo>
                  <a:lnTo>
                    <a:pt x="127113" y="180874"/>
                  </a:lnTo>
                  <a:lnTo>
                    <a:pt x="169292" y="210604"/>
                  </a:lnTo>
                  <a:lnTo>
                    <a:pt x="201253" y="247509"/>
                  </a:lnTo>
                  <a:lnTo>
                    <a:pt x="221516" y="289889"/>
                  </a:lnTo>
                  <a:lnTo>
                    <a:pt x="228600" y="336042"/>
                  </a:lnTo>
                  <a:lnTo>
                    <a:pt x="228600" y="229362"/>
                  </a:lnTo>
                  <a:lnTo>
                    <a:pt x="221516" y="183209"/>
                  </a:lnTo>
                  <a:lnTo>
                    <a:pt x="201253" y="140829"/>
                  </a:lnTo>
                  <a:lnTo>
                    <a:pt x="169292" y="103924"/>
                  </a:lnTo>
                  <a:lnTo>
                    <a:pt x="127113" y="74194"/>
                  </a:lnTo>
                  <a:lnTo>
                    <a:pt x="76200" y="5334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7000" y="3569969"/>
              <a:ext cx="228263" cy="240029"/>
            </a:xfrm>
            <a:prstGeom prst="rect">
              <a:avLst/>
            </a:prstGeom>
          </p:spPr>
        </p:pic>
        <p:sp>
          <p:nvSpPr>
            <p:cNvPr id="14" name="object 11"/>
            <p:cNvSpPr/>
            <p:nvPr/>
          </p:nvSpPr>
          <p:spPr>
            <a:xfrm>
              <a:off x="6477000" y="3287267"/>
              <a:ext cx="228600" cy="523240"/>
            </a:xfrm>
            <a:custGeom>
              <a:avLst/>
              <a:gdLst/>
              <a:ahLst/>
              <a:cxnLst/>
              <a:rect l="l" t="t" r="r" b="b"/>
              <a:pathLst>
                <a:path w="228600" h="523239">
                  <a:moveTo>
                    <a:pt x="228600" y="336042"/>
                  </a:moveTo>
                  <a:lnTo>
                    <a:pt x="221516" y="289889"/>
                  </a:lnTo>
                  <a:lnTo>
                    <a:pt x="201253" y="247509"/>
                  </a:lnTo>
                  <a:lnTo>
                    <a:pt x="169292" y="210604"/>
                  </a:lnTo>
                  <a:lnTo>
                    <a:pt x="127113" y="180874"/>
                  </a:lnTo>
                  <a:lnTo>
                    <a:pt x="76200" y="160020"/>
                  </a:lnTo>
                  <a:lnTo>
                    <a:pt x="76200" y="213360"/>
                  </a:lnTo>
                  <a:lnTo>
                    <a:pt x="0" y="96012"/>
                  </a:lnTo>
                  <a:lnTo>
                    <a:pt x="76200" y="0"/>
                  </a:lnTo>
                  <a:lnTo>
                    <a:pt x="76200" y="53340"/>
                  </a:lnTo>
                  <a:lnTo>
                    <a:pt x="127113" y="74194"/>
                  </a:lnTo>
                  <a:lnTo>
                    <a:pt x="169292" y="103924"/>
                  </a:lnTo>
                  <a:lnTo>
                    <a:pt x="201253" y="140829"/>
                  </a:lnTo>
                  <a:lnTo>
                    <a:pt x="221516" y="183209"/>
                  </a:lnTo>
                  <a:lnTo>
                    <a:pt x="228600" y="229362"/>
                  </a:lnTo>
                  <a:lnTo>
                    <a:pt x="228600" y="336042"/>
                  </a:lnTo>
                  <a:lnTo>
                    <a:pt x="222561" y="378853"/>
                  </a:lnTo>
                  <a:lnTo>
                    <a:pt x="205362" y="418151"/>
                  </a:lnTo>
                  <a:lnTo>
                    <a:pt x="178374" y="452814"/>
                  </a:lnTo>
                  <a:lnTo>
                    <a:pt x="142971" y="481723"/>
                  </a:lnTo>
                  <a:lnTo>
                    <a:pt x="100526" y="503759"/>
                  </a:lnTo>
                  <a:lnTo>
                    <a:pt x="52411" y="517802"/>
                  </a:lnTo>
                  <a:lnTo>
                    <a:pt x="0" y="522732"/>
                  </a:lnTo>
                  <a:lnTo>
                    <a:pt x="0" y="416052"/>
                  </a:lnTo>
                  <a:lnTo>
                    <a:pt x="49327" y="411668"/>
                  </a:lnTo>
                  <a:lnTo>
                    <a:pt x="95320" y="399062"/>
                  </a:lnTo>
                  <a:lnTo>
                    <a:pt x="136636" y="379047"/>
                  </a:lnTo>
                  <a:lnTo>
                    <a:pt x="171929" y="352439"/>
                  </a:lnTo>
                  <a:lnTo>
                    <a:pt x="199857" y="320052"/>
                  </a:lnTo>
                  <a:lnTo>
                    <a:pt x="219075" y="28270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7326081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Policy</a:t>
            </a:r>
            <a:r>
              <a:rPr lang="en-IN" spc="-50" dirty="0" smtClean="0"/>
              <a:t> </a:t>
            </a:r>
            <a:r>
              <a:rPr lang="en-IN" spc="-10" dirty="0" smtClean="0"/>
              <a:t>evaluation/improvement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14-04-2026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21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1023495" y="804308"/>
            <a:ext cx="5512435" cy="119634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670"/>
              </a:spcBef>
              <a:buChar char="•"/>
              <a:tabLst>
                <a:tab pos="3810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policy</a:t>
            </a:r>
            <a:r>
              <a:rPr sz="2400" spc="-3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evaluation: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Symbol"/>
                <a:cs typeface="Symbol"/>
              </a:rPr>
              <a:t></a:t>
            </a:r>
            <a:r>
              <a:rPr sz="2400" spc="7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-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&gt;</a:t>
            </a:r>
            <a:r>
              <a:rPr sz="2400" spc="-5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V</a:t>
            </a:r>
            <a:r>
              <a:rPr sz="2400" spc="-37" baseline="24305" dirty="0">
                <a:solidFill>
                  <a:srgbClr val="0066FF"/>
                </a:solidFill>
                <a:latin typeface="Symbol"/>
                <a:cs typeface="Symbol"/>
              </a:rPr>
              <a:t></a:t>
            </a:r>
            <a:endParaRPr sz="2400" baseline="24305" dirty="0">
              <a:latin typeface="Symbol"/>
              <a:cs typeface="Symbol"/>
            </a:endParaRPr>
          </a:p>
          <a:p>
            <a:pPr marL="7816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81685" algn="l"/>
              </a:tabLst>
            </a:pPr>
            <a:r>
              <a:rPr sz="2000" dirty="0">
                <a:latin typeface="Trebuchet MS"/>
                <a:cs typeface="Trebuchet MS"/>
              </a:rPr>
              <a:t>Bellman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eqn’s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define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system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of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eqn’s</a:t>
            </a:r>
            <a:endParaRPr sz="2000" dirty="0">
              <a:latin typeface="Trebuchet MS"/>
              <a:cs typeface="Trebuchet MS"/>
            </a:endParaRPr>
          </a:p>
          <a:p>
            <a:pPr marL="7816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81685" algn="l"/>
              </a:tabLst>
            </a:pPr>
            <a:r>
              <a:rPr sz="2000" dirty="0">
                <a:latin typeface="Trebuchet MS"/>
                <a:cs typeface="Trebuchet MS"/>
              </a:rPr>
              <a:t>could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solve,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but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will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use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iterative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version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7" name="object 4"/>
          <p:cNvSpPr txBox="1"/>
          <p:nvPr/>
        </p:nvSpPr>
        <p:spPr>
          <a:xfrm>
            <a:off x="1480999" y="2767258"/>
            <a:ext cx="8001634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324485" algn="l"/>
              </a:tabLst>
            </a:pPr>
            <a:r>
              <a:rPr sz="2000" spc="-50" dirty="0">
                <a:latin typeface="Trebuchet MS"/>
                <a:cs typeface="Trebuchet MS"/>
              </a:rPr>
              <a:t>–</a:t>
            </a:r>
            <a:r>
              <a:rPr sz="2000" dirty="0">
                <a:latin typeface="Trebuchet MS"/>
                <a:cs typeface="Trebuchet MS"/>
              </a:rPr>
              <a:t>	start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with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arbitrary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value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function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V</a:t>
            </a:r>
            <a:r>
              <a:rPr sz="1950" baseline="-21367" dirty="0">
                <a:latin typeface="Trebuchet MS"/>
                <a:cs typeface="Trebuchet MS"/>
              </a:rPr>
              <a:t>0</a:t>
            </a:r>
            <a:r>
              <a:rPr sz="2000" dirty="0">
                <a:latin typeface="Trebuchet MS"/>
                <a:cs typeface="Trebuchet MS"/>
              </a:rPr>
              <a:t>,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iterate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until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V</a:t>
            </a:r>
            <a:r>
              <a:rPr sz="1950" baseline="-21367" dirty="0">
                <a:latin typeface="Trebuchet MS"/>
                <a:cs typeface="Trebuchet MS"/>
              </a:rPr>
              <a:t>k</a:t>
            </a:r>
            <a:r>
              <a:rPr sz="1950" spc="284" baseline="-21367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converges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8" name="object 5"/>
          <p:cNvSpPr txBox="1"/>
          <p:nvPr/>
        </p:nvSpPr>
        <p:spPr>
          <a:xfrm>
            <a:off x="1023495" y="3876425"/>
            <a:ext cx="43700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810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policy</a:t>
            </a:r>
            <a:r>
              <a:rPr sz="2400" spc="-3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improvement:</a:t>
            </a:r>
            <a:r>
              <a:rPr sz="2400" spc="-2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V</a:t>
            </a:r>
            <a:r>
              <a:rPr sz="2400" baseline="24305" dirty="0">
                <a:solidFill>
                  <a:srgbClr val="0066FF"/>
                </a:solidFill>
                <a:latin typeface="Symbol"/>
                <a:cs typeface="Symbol"/>
              </a:rPr>
              <a:t></a:t>
            </a:r>
            <a:r>
              <a:rPr sz="2400" spc="427" baseline="24305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-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&gt;</a:t>
            </a:r>
            <a:r>
              <a:rPr sz="2400" spc="-3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066FF"/>
                </a:solidFill>
                <a:latin typeface="Symbol"/>
                <a:cs typeface="Symbol"/>
              </a:rPr>
              <a:t>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’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9" name="object 6"/>
          <p:cNvSpPr txBox="1"/>
          <p:nvPr/>
        </p:nvSpPr>
        <p:spPr>
          <a:xfrm>
            <a:off x="1506399" y="5767124"/>
            <a:ext cx="693165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5285" algn="l"/>
              </a:tabLst>
            </a:pPr>
            <a:r>
              <a:rPr sz="2000" spc="-50" dirty="0">
                <a:latin typeface="Trebuchet MS"/>
                <a:cs typeface="Trebuchet MS"/>
              </a:rPr>
              <a:t>–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dirty="0">
                <a:latin typeface="Symbol"/>
                <a:cs typeface="Symbol"/>
              </a:rPr>
              <a:t></a:t>
            </a:r>
            <a:r>
              <a:rPr sz="2000" dirty="0">
                <a:latin typeface="Trebuchet MS"/>
                <a:cs typeface="Trebuchet MS"/>
              </a:rPr>
              <a:t>’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either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strictly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better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than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Symbol"/>
                <a:cs typeface="Symbol"/>
              </a:rPr>
              <a:t></a:t>
            </a:r>
            <a:r>
              <a:rPr sz="2000" dirty="0">
                <a:latin typeface="Trebuchet MS"/>
                <a:cs typeface="Trebuchet MS"/>
              </a:rPr>
              <a:t>,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or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Symbol"/>
                <a:cs typeface="Symbol"/>
              </a:rPr>
              <a:t></a:t>
            </a:r>
            <a:r>
              <a:rPr sz="2000" dirty="0">
                <a:latin typeface="Trebuchet MS"/>
                <a:cs typeface="Trebuchet MS"/>
              </a:rPr>
              <a:t>’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is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optimal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(if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Symbol"/>
                <a:cs typeface="Symbol"/>
              </a:rPr>
              <a:t>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rebuchet MS"/>
                <a:cs typeface="Trebuchet MS"/>
              </a:rPr>
              <a:t>=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Symbol"/>
                <a:cs typeface="Symbol"/>
              </a:rPr>
              <a:t></a:t>
            </a:r>
            <a:r>
              <a:rPr sz="2000" spc="-25" dirty="0">
                <a:latin typeface="Trebuchet MS"/>
                <a:cs typeface="Trebuchet MS"/>
              </a:rPr>
              <a:t>’)</a:t>
            </a:r>
            <a:endParaRPr sz="2000" dirty="0">
              <a:latin typeface="Trebuchet MS"/>
              <a:cs typeface="Trebuchet MS"/>
            </a:endParaRPr>
          </a:p>
        </p:txBody>
      </p:sp>
      <p:grpSp>
        <p:nvGrpSpPr>
          <p:cNvPr id="10" name="object 7"/>
          <p:cNvGrpSpPr/>
          <p:nvPr/>
        </p:nvGrpSpPr>
        <p:grpSpPr>
          <a:xfrm>
            <a:off x="7137592" y="3437246"/>
            <a:ext cx="2219325" cy="1381125"/>
            <a:chOff x="6624637" y="3805237"/>
            <a:chExt cx="2219325" cy="1381125"/>
          </a:xfrm>
        </p:grpSpPr>
        <p:sp>
          <p:nvSpPr>
            <p:cNvPr id="11" name="object 8"/>
            <p:cNvSpPr/>
            <p:nvPr/>
          </p:nvSpPr>
          <p:spPr>
            <a:xfrm>
              <a:off x="6745731" y="3924300"/>
              <a:ext cx="1977389" cy="1143000"/>
            </a:xfrm>
            <a:custGeom>
              <a:avLst/>
              <a:gdLst/>
              <a:ahLst/>
              <a:cxnLst/>
              <a:rect l="l" t="t" r="r" b="b"/>
              <a:pathLst>
                <a:path w="1977390" h="1143000">
                  <a:moveTo>
                    <a:pt x="930401" y="0"/>
                  </a:moveTo>
                  <a:lnTo>
                    <a:pt x="176911" y="535813"/>
                  </a:lnTo>
                </a:path>
                <a:path w="1977390" h="1143000">
                  <a:moveTo>
                    <a:pt x="930401" y="0"/>
                  </a:moveTo>
                  <a:lnTo>
                    <a:pt x="910971" y="499999"/>
                  </a:lnTo>
                </a:path>
                <a:path w="1977390" h="1143000">
                  <a:moveTo>
                    <a:pt x="930401" y="0"/>
                  </a:moveTo>
                  <a:lnTo>
                    <a:pt x="1645158" y="499999"/>
                  </a:lnTo>
                </a:path>
                <a:path w="1977390" h="1143000">
                  <a:moveTo>
                    <a:pt x="0" y="1143000"/>
                  </a:moveTo>
                  <a:lnTo>
                    <a:pt x="232537" y="457200"/>
                  </a:lnTo>
                </a:path>
                <a:path w="1977390" h="1143000">
                  <a:moveTo>
                    <a:pt x="348869" y="1143000"/>
                  </a:moveTo>
                  <a:lnTo>
                    <a:pt x="232537" y="457200"/>
                  </a:lnTo>
                </a:path>
                <a:path w="1977390" h="1143000">
                  <a:moveTo>
                    <a:pt x="814070" y="1143000"/>
                  </a:moveTo>
                  <a:lnTo>
                    <a:pt x="930401" y="457200"/>
                  </a:lnTo>
                </a:path>
                <a:path w="1977390" h="1143000">
                  <a:moveTo>
                    <a:pt x="1163066" y="1143000"/>
                  </a:moveTo>
                  <a:lnTo>
                    <a:pt x="930401" y="457200"/>
                  </a:lnTo>
                </a:path>
                <a:path w="1977390" h="1143000">
                  <a:moveTo>
                    <a:pt x="1628267" y="1143000"/>
                  </a:moveTo>
                  <a:lnTo>
                    <a:pt x="1628267" y="457200"/>
                  </a:lnTo>
                </a:path>
                <a:path w="1977390" h="1143000">
                  <a:moveTo>
                    <a:pt x="1977136" y="1143000"/>
                  </a:moveTo>
                  <a:lnTo>
                    <a:pt x="1628267" y="4572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55039" y="3805237"/>
              <a:ext cx="242189" cy="238125"/>
            </a:xfrm>
            <a:prstGeom prst="rect">
              <a:avLst/>
            </a:prstGeom>
          </p:spPr>
        </p:pic>
        <p:pic>
          <p:nvPicPr>
            <p:cNvPr id="13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79018" y="4341050"/>
              <a:ext cx="176784" cy="173736"/>
            </a:xfrm>
            <a:prstGeom prst="rect">
              <a:avLst/>
            </a:prstGeom>
          </p:spPr>
        </p:pic>
        <p:pic>
          <p:nvPicPr>
            <p:cNvPr id="14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84122" y="4341050"/>
              <a:ext cx="176784" cy="173736"/>
            </a:xfrm>
            <a:prstGeom prst="rect">
              <a:avLst/>
            </a:prstGeom>
          </p:spPr>
        </p:pic>
        <p:pic>
          <p:nvPicPr>
            <p:cNvPr id="15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03831" y="4341050"/>
              <a:ext cx="176656" cy="173736"/>
            </a:xfrm>
            <a:prstGeom prst="rect">
              <a:avLst/>
            </a:prstGeom>
          </p:spPr>
        </p:pic>
        <p:pic>
          <p:nvPicPr>
            <p:cNvPr id="16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24637" y="4948237"/>
              <a:ext cx="242189" cy="238125"/>
            </a:xfrm>
            <a:prstGeom prst="rect">
              <a:avLst/>
            </a:prstGeom>
          </p:spPr>
        </p:pic>
        <p:pic>
          <p:nvPicPr>
            <p:cNvPr id="17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73506" y="4948237"/>
              <a:ext cx="242188" cy="238125"/>
            </a:xfrm>
            <a:prstGeom prst="rect">
              <a:avLst/>
            </a:prstGeom>
          </p:spPr>
        </p:pic>
        <p:pic>
          <p:nvPicPr>
            <p:cNvPr id="18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38834" y="4948237"/>
              <a:ext cx="242061" cy="238125"/>
            </a:xfrm>
            <a:prstGeom prst="rect">
              <a:avLst/>
            </a:prstGeom>
          </p:spPr>
        </p:pic>
        <p:pic>
          <p:nvPicPr>
            <p:cNvPr id="19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87703" y="4948237"/>
              <a:ext cx="242061" cy="238125"/>
            </a:xfrm>
            <a:prstGeom prst="rect">
              <a:avLst/>
            </a:prstGeom>
          </p:spPr>
        </p:pic>
        <p:pic>
          <p:nvPicPr>
            <p:cNvPr id="20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52904" y="4948237"/>
              <a:ext cx="242188" cy="238125"/>
            </a:xfrm>
            <a:prstGeom prst="rect">
              <a:avLst/>
            </a:prstGeom>
          </p:spPr>
        </p:pic>
        <p:pic>
          <p:nvPicPr>
            <p:cNvPr id="21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01773" y="4948237"/>
              <a:ext cx="242189" cy="238125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730491" y="1971795"/>
                <a:ext cx="7337503" cy="849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/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𝑠𝑠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b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𝑠𝑠</m:t>
                                          </m:r>
                                        </m:e>
                                        <m:sup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sub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sup>
                                  </m:sSub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IN" sz="200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491" y="1971795"/>
                <a:ext cx="7337503" cy="84965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2025936" y="4338548"/>
                <a:ext cx="4690301" cy="15495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limLow>
                            <m:limLow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e>
                      </m:func>
                      <m:sSup>
                        <m:sSup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US" sz="20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            =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limLow>
                            <m:limLow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  <m:nary>
                            <m:naryPr>
                              <m:chr m:val="∑"/>
                              <m:supHide m:val="on"/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𝑠𝑠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b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b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𝑠𝑠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b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sup>
                                  </m:sSub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  <m:sSup>
                                    <m:sSupPr>
                                      <m:ctrlP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p>
                                      <m:r>
                                        <a:rPr lang="en-US" sz="20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sup>
                                  </m:s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nary>
                        </m:e>
                      </m:func>
                    </m:oMath>
                  </m:oMathPara>
                </a14:m>
                <a:endParaRPr lang="en-IN" sz="2000" dirty="0" smtClean="0"/>
              </a:p>
              <a:p>
                <a:endParaRPr lang="en-IN" sz="2000" dirty="0"/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5936" y="4338548"/>
                <a:ext cx="4690301" cy="154959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36192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Policy/Value</a:t>
            </a:r>
            <a:r>
              <a:rPr lang="en-IN" spc="-85" dirty="0" smtClean="0"/>
              <a:t> </a:t>
            </a:r>
            <a:r>
              <a:rPr lang="en-IN" spc="-10" dirty="0" smtClean="0"/>
              <a:t>iteration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14-04-2026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22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1115802" y="964550"/>
            <a:ext cx="24631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Policy</a:t>
            </a:r>
            <a:r>
              <a:rPr sz="2400" spc="-8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iteration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7" name="object 4"/>
          <p:cNvSpPr txBox="1"/>
          <p:nvPr/>
        </p:nvSpPr>
        <p:spPr>
          <a:xfrm>
            <a:off x="1090402" y="2064345"/>
            <a:ext cx="6027420" cy="331787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781685" indent="-286385">
              <a:lnSpc>
                <a:spcPct val="100000"/>
              </a:lnSpc>
              <a:spcBef>
                <a:spcPts val="580"/>
              </a:spcBef>
              <a:buChar char="–"/>
              <a:tabLst>
                <a:tab pos="781685" algn="l"/>
              </a:tabLst>
            </a:pPr>
            <a:r>
              <a:rPr sz="2000" dirty="0">
                <a:latin typeface="Trebuchet MS"/>
                <a:cs typeface="Trebuchet MS"/>
              </a:rPr>
              <a:t>two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nested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iterations;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too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slow</a:t>
            </a:r>
            <a:endParaRPr sz="2000" dirty="0">
              <a:latin typeface="Trebuchet MS"/>
              <a:cs typeface="Trebuchet MS"/>
            </a:endParaRPr>
          </a:p>
          <a:p>
            <a:pPr marL="781685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81685" algn="l"/>
              </a:tabLst>
            </a:pPr>
            <a:r>
              <a:rPr sz="2000" dirty="0">
                <a:latin typeface="Trebuchet MS"/>
                <a:cs typeface="Trebuchet MS"/>
              </a:rPr>
              <a:t>don’t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need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converge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V</a:t>
            </a:r>
            <a:r>
              <a:rPr sz="1950" spc="-37" baseline="25641" dirty="0">
                <a:latin typeface="Symbol"/>
                <a:cs typeface="Symbol"/>
              </a:rPr>
              <a:t></a:t>
            </a:r>
            <a:r>
              <a:rPr sz="1950" spc="-37" baseline="12820" dirty="0">
                <a:latin typeface="Trebuchet MS"/>
                <a:cs typeface="Trebuchet MS"/>
              </a:rPr>
              <a:t>k</a:t>
            </a:r>
            <a:endParaRPr sz="1950" baseline="12820" dirty="0">
              <a:latin typeface="Trebuchet MS"/>
              <a:cs typeface="Trebuchet MS"/>
            </a:endParaRPr>
          </a:p>
          <a:p>
            <a:pPr marL="1179195" lvl="1" indent="-226695">
              <a:lnSpc>
                <a:spcPct val="100000"/>
              </a:lnSpc>
              <a:spcBef>
                <a:spcPts val="440"/>
              </a:spcBef>
              <a:buChar char="•"/>
              <a:tabLst>
                <a:tab pos="1179195" algn="l"/>
              </a:tabLst>
            </a:pPr>
            <a:r>
              <a:rPr sz="1800" dirty="0">
                <a:latin typeface="Trebuchet MS"/>
                <a:cs typeface="Trebuchet MS"/>
              </a:rPr>
              <a:t>just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move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towards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it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1800" dirty="0">
              <a:latin typeface="Trebuchet MS"/>
              <a:cs typeface="Trebuchet MS"/>
            </a:endParaRPr>
          </a:p>
          <a:p>
            <a:pPr marL="381000" indent="-342900">
              <a:lnSpc>
                <a:spcPct val="100000"/>
              </a:lnSpc>
              <a:buChar char="•"/>
              <a:tabLst>
                <a:tab pos="3810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Value</a:t>
            </a:r>
            <a:r>
              <a:rPr sz="2400" spc="-7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iteration</a:t>
            </a:r>
            <a:endParaRPr sz="2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0066FF"/>
              </a:buClr>
              <a:buFont typeface="Trebuchet MS"/>
              <a:buChar char="•"/>
            </a:pPr>
            <a:endParaRPr sz="2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85"/>
              </a:spcBef>
              <a:buClr>
                <a:srgbClr val="0066FF"/>
              </a:buClr>
              <a:buFont typeface="Trebuchet MS"/>
              <a:buChar char="•"/>
            </a:pPr>
            <a:endParaRPr sz="2400" dirty="0">
              <a:latin typeface="Trebuchet MS"/>
              <a:cs typeface="Trebuchet MS"/>
            </a:endParaRPr>
          </a:p>
          <a:p>
            <a:pPr marL="781685" lvl="1" indent="-286385">
              <a:lnSpc>
                <a:spcPct val="100000"/>
              </a:lnSpc>
              <a:buChar char="–"/>
              <a:tabLst>
                <a:tab pos="781685" algn="l"/>
              </a:tabLst>
            </a:pPr>
            <a:r>
              <a:rPr sz="2000" dirty="0">
                <a:latin typeface="Trebuchet MS"/>
                <a:cs typeface="Trebuchet MS"/>
              </a:rPr>
              <a:t>use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Bellman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optimality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equation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as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update</a:t>
            </a:r>
            <a:endParaRPr sz="2000" dirty="0">
              <a:latin typeface="Trebuchet MS"/>
              <a:cs typeface="Trebuchet MS"/>
            </a:endParaRPr>
          </a:p>
          <a:p>
            <a:pPr marL="7816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81685" algn="l"/>
              </a:tabLst>
            </a:pPr>
            <a:r>
              <a:rPr sz="2000" dirty="0">
                <a:latin typeface="Trebuchet MS"/>
                <a:cs typeface="Trebuchet MS"/>
              </a:rPr>
              <a:t>converges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35" dirty="0">
                <a:latin typeface="Trebuchet MS"/>
                <a:cs typeface="Trebuchet MS"/>
              </a:rPr>
              <a:t>V*</a:t>
            </a:r>
            <a:endParaRPr sz="2000" dirty="0">
              <a:latin typeface="Trebuchet MS"/>
              <a:cs typeface="Trebuchet MS"/>
            </a:endParaRPr>
          </a:p>
        </p:txBody>
      </p:sp>
      <p:grpSp>
        <p:nvGrpSpPr>
          <p:cNvPr id="10" name="object 7"/>
          <p:cNvGrpSpPr/>
          <p:nvPr/>
        </p:nvGrpSpPr>
        <p:grpSpPr>
          <a:xfrm>
            <a:off x="7204499" y="2535858"/>
            <a:ext cx="2219325" cy="1381125"/>
            <a:chOff x="6624637" y="2814637"/>
            <a:chExt cx="2219325" cy="1381125"/>
          </a:xfrm>
        </p:grpSpPr>
        <p:sp>
          <p:nvSpPr>
            <p:cNvPr id="11" name="object 8"/>
            <p:cNvSpPr/>
            <p:nvPr/>
          </p:nvSpPr>
          <p:spPr>
            <a:xfrm>
              <a:off x="6745731" y="2933700"/>
              <a:ext cx="1977389" cy="1143000"/>
            </a:xfrm>
            <a:custGeom>
              <a:avLst/>
              <a:gdLst/>
              <a:ahLst/>
              <a:cxnLst/>
              <a:rect l="l" t="t" r="r" b="b"/>
              <a:pathLst>
                <a:path w="1977390" h="1143000">
                  <a:moveTo>
                    <a:pt x="930401" y="0"/>
                  </a:moveTo>
                  <a:lnTo>
                    <a:pt x="176911" y="535813"/>
                  </a:lnTo>
                </a:path>
                <a:path w="1977390" h="1143000">
                  <a:moveTo>
                    <a:pt x="930401" y="0"/>
                  </a:moveTo>
                  <a:lnTo>
                    <a:pt x="910971" y="500125"/>
                  </a:lnTo>
                </a:path>
                <a:path w="1977390" h="1143000">
                  <a:moveTo>
                    <a:pt x="930401" y="0"/>
                  </a:moveTo>
                  <a:lnTo>
                    <a:pt x="1645158" y="500125"/>
                  </a:lnTo>
                </a:path>
                <a:path w="1977390" h="1143000">
                  <a:moveTo>
                    <a:pt x="0" y="1143000"/>
                  </a:moveTo>
                  <a:lnTo>
                    <a:pt x="232537" y="457200"/>
                  </a:lnTo>
                </a:path>
                <a:path w="1977390" h="1143000">
                  <a:moveTo>
                    <a:pt x="348869" y="1143000"/>
                  </a:moveTo>
                  <a:lnTo>
                    <a:pt x="232537" y="457200"/>
                  </a:lnTo>
                </a:path>
                <a:path w="1977390" h="1143000">
                  <a:moveTo>
                    <a:pt x="814070" y="1143000"/>
                  </a:moveTo>
                  <a:lnTo>
                    <a:pt x="930401" y="457200"/>
                  </a:lnTo>
                </a:path>
                <a:path w="1977390" h="1143000">
                  <a:moveTo>
                    <a:pt x="1163066" y="1143000"/>
                  </a:moveTo>
                  <a:lnTo>
                    <a:pt x="930401" y="457200"/>
                  </a:lnTo>
                </a:path>
                <a:path w="1977390" h="1143000">
                  <a:moveTo>
                    <a:pt x="1628267" y="1143000"/>
                  </a:moveTo>
                  <a:lnTo>
                    <a:pt x="1628267" y="457200"/>
                  </a:lnTo>
                </a:path>
                <a:path w="1977390" h="1143000">
                  <a:moveTo>
                    <a:pt x="1977136" y="1143000"/>
                  </a:moveTo>
                  <a:lnTo>
                    <a:pt x="1628267" y="4572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55039" y="2814637"/>
              <a:ext cx="242189" cy="238125"/>
            </a:xfrm>
            <a:prstGeom prst="rect">
              <a:avLst/>
            </a:prstGeom>
          </p:spPr>
        </p:pic>
        <p:pic>
          <p:nvPicPr>
            <p:cNvPr id="13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79018" y="3350450"/>
              <a:ext cx="176784" cy="173736"/>
            </a:xfrm>
            <a:prstGeom prst="rect">
              <a:avLst/>
            </a:prstGeom>
          </p:spPr>
        </p:pic>
        <p:pic>
          <p:nvPicPr>
            <p:cNvPr id="14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84122" y="3350450"/>
              <a:ext cx="176784" cy="173736"/>
            </a:xfrm>
            <a:prstGeom prst="rect">
              <a:avLst/>
            </a:prstGeom>
          </p:spPr>
        </p:pic>
        <p:pic>
          <p:nvPicPr>
            <p:cNvPr id="15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03831" y="3350450"/>
              <a:ext cx="176656" cy="173736"/>
            </a:xfrm>
            <a:prstGeom prst="rect">
              <a:avLst/>
            </a:prstGeom>
          </p:spPr>
        </p:pic>
        <p:pic>
          <p:nvPicPr>
            <p:cNvPr id="16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24637" y="3957637"/>
              <a:ext cx="242189" cy="238125"/>
            </a:xfrm>
            <a:prstGeom prst="rect">
              <a:avLst/>
            </a:prstGeom>
          </p:spPr>
        </p:pic>
        <p:pic>
          <p:nvPicPr>
            <p:cNvPr id="17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73506" y="3957637"/>
              <a:ext cx="242188" cy="238125"/>
            </a:xfrm>
            <a:prstGeom prst="rect">
              <a:avLst/>
            </a:prstGeom>
          </p:spPr>
        </p:pic>
        <p:pic>
          <p:nvPicPr>
            <p:cNvPr id="18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38834" y="3957637"/>
              <a:ext cx="242061" cy="238125"/>
            </a:xfrm>
            <a:prstGeom prst="rect">
              <a:avLst/>
            </a:prstGeom>
          </p:spPr>
        </p:pic>
        <p:pic>
          <p:nvPicPr>
            <p:cNvPr id="19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87703" y="3957637"/>
              <a:ext cx="242061" cy="238125"/>
            </a:xfrm>
            <a:prstGeom prst="rect">
              <a:avLst/>
            </a:prstGeom>
          </p:spPr>
        </p:pic>
        <p:pic>
          <p:nvPicPr>
            <p:cNvPr id="20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52904" y="3957637"/>
              <a:ext cx="242188" cy="238125"/>
            </a:xfrm>
            <a:prstGeom prst="rect">
              <a:avLst/>
            </a:prstGeom>
          </p:spPr>
        </p:pic>
        <p:pic>
          <p:nvPicPr>
            <p:cNvPr id="21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01773" y="3957637"/>
              <a:ext cx="242189" cy="238125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806922" y="3875107"/>
                <a:ext cx="7337503" cy="849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lim>
                      </m:limLow>
                      <m:nary>
                        <m:naryPr>
                          <m:chr m:val="∑"/>
                          <m:supHide m:val="on"/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/>
                        <m:e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𝑠𝑠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p>
                          </m:sSubSup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𝑠𝑠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b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922" y="3875107"/>
                <a:ext cx="7337503" cy="84965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1312922" y="1480244"/>
                <a:ext cx="632274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p>
                      <m:sSup>
                        <m:sSup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sSub>
                            <m:sSubPr>
                              <m:ctrlPr>
                                <a:rPr lang="en-IN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</m:sSup>
                      <m:sSup>
                        <m:sSup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p>
                      </m:sSup>
                      <m:sSub>
                        <m:sSub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p>
                      <m:sSup>
                        <m:sSup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sSup>
                        <m:sSup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𝐼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…</m:t>
                      </m:r>
                      <m:sSup>
                        <m:sSup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𝐼</m:t>
                          </m:r>
                        </m:sup>
                      </m:sSup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sSup>
                        <m:sSup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p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2922" y="1480244"/>
                <a:ext cx="6322742" cy="400110"/>
              </a:xfrm>
              <a:prstGeom prst="rect">
                <a:avLst/>
              </a:prstGeom>
              <a:blipFill>
                <a:blip r:embed="rId10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01769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Using</a:t>
            </a:r>
            <a:r>
              <a:rPr lang="en-IN" spc="-75" dirty="0" smtClean="0"/>
              <a:t> </a:t>
            </a:r>
            <a:r>
              <a:rPr lang="en-IN" spc="-25" dirty="0" smtClean="0"/>
              <a:t>DP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14-04-2026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23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937383" y="1168952"/>
            <a:ext cx="7841615" cy="306578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8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need</a:t>
            </a:r>
            <a:r>
              <a:rPr sz="2400" spc="-5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complete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model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of</a:t>
            </a:r>
            <a:r>
              <a:rPr sz="2400" spc="-7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the</a:t>
            </a:r>
            <a:r>
              <a:rPr sz="2400" spc="-5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environment</a:t>
            </a:r>
            <a:r>
              <a:rPr sz="2400" spc="-5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and</a:t>
            </a:r>
            <a:r>
              <a:rPr sz="2400" spc="-5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rewards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robot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in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room</a:t>
            </a:r>
            <a:endParaRPr sz="2000" dirty="0">
              <a:latin typeface="Trebuchet MS"/>
              <a:cs typeface="Trebuchet MS"/>
            </a:endParaRPr>
          </a:p>
          <a:p>
            <a:pPr marL="1153795" lvl="2" indent="-226695">
              <a:lnSpc>
                <a:spcPct val="100000"/>
              </a:lnSpc>
              <a:spcBef>
                <a:spcPts val="445"/>
              </a:spcBef>
              <a:buChar char="•"/>
              <a:tabLst>
                <a:tab pos="1153795" algn="l"/>
              </a:tabLst>
            </a:pPr>
            <a:r>
              <a:rPr sz="1800" dirty="0">
                <a:latin typeface="Trebuchet MS"/>
                <a:cs typeface="Trebuchet MS"/>
              </a:rPr>
              <a:t>state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space,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action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space,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transition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model</a:t>
            </a:r>
            <a:endParaRPr sz="1800" dirty="0">
              <a:latin typeface="Trebuchet MS"/>
              <a:cs typeface="Trebuchet MS"/>
            </a:endParaRPr>
          </a:p>
          <a:p>
            <a:pPr lvl="2">
              <a:lnSpc>
                <a:spcPct val="100000"/>
              </a:lnSpc>
              <a:spcBef>
                <a:spcPts val="1340"/>
              </a:spcBef>
              <a:buFont typeface="Trebuchet MS"/>
              <a:buChar char="•"/>
            </a:pPr>
            <a:endParaRPr sz="18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can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we</a:t>
            </a:r>
            <a:r>
              <a:rPr sz="2400" spc="-1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use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DP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to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066FF"/>
                </a:solidFill>
                <a:latin typeface="Trebuchet MS"/>
                <a:cs typeface="Trebuchet MS"/>
              </a:rPr>
              <a:t>solve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50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robot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in</a:t>
            </a:r>
            <a:r>
              <a:rPr sz="2000" spc="-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room?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back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gammon?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spc="-10" dirty="0">
                <a:latin typeface="Trebuchet MS"/>
                <a:cs typeface="Trebuchet MS"/>
              </a:rPr>
              <a:t>helicopter?</a:t>
            </a:r>
            <a:endParaRPr sz="20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5319788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-10" dirty="0"/>
              <a:t>Outline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14-04-2026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24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1093501" y="915212"/>
            <a:ext cx="4137025" cy="5259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808080"/>
                </a:solidFill>
                <a:latin typeface="Trebuchet MS"/>
                <a:cs typeface="Trebuchet MS"/>
              </a:rPr>
              <a:t>examples</a:t>
            </a:r>
            <a:endParaRPr sz="2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80"/>
              </a:spcBef>
              <a:buFont typeface="Trebuchet MS"/>
              <a:buChar char="•"/>
            </a:pPr>
            <a:endParaRPr sz="24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808080"/>
                </a:solidFill>
                <a:latin typeface="Trebuchet MS"/>
                <a:cs typeface="Trebuchet MS"/>
              </a:rPr>
              <a:t>defining</a:t>
            </a:r>
            <a:r>
              <a:rPr sz="2400" spc="-3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808080"/>
                </a:solidFill>
                <a:latin typeface="Trebuchet MS"/>
                <a:cs typeface="Trebuchet MS"/>
              </a:rPr>
              <a:t>an</a:t>
            </a:r>
            <a:r>
              <a:rPr sz="2400" spc="-4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808080"/>
                </a:solidFill>
                <a:latin typeface="Trebuchet MS"/>
                <a:cs typeface="Trebuchet MS"/>
              </a:rPr>
              <a:t>RL</a:t>
            </a:r>
            <a:r>
              <a:rPr sz="2400" spc="-5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808080"/>
                </a:solidFill>
                <a:latin typeface="Trebuchet MS"/>
                <a:cs typeface="Trebuchet MS"/>
              </a:rPr>
              <a:t>problem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solidFill>
                  <a:srgbClr val="808080"/>
                </a:solidFill>
                <a:latin typeface="Trebuchet MS"/>
                <a:cs typeface="Trebuchet MS"/>
              </a:rPr>
              <a:t>Markov</a:t>
            </a:r>
            <a:r>
              <a:rPr sz="2000" spc="-20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808080"/>
                </a:solidFill>
                <a:latin typeface="Trebuchet MS"/>
                <a:cs typeface="Trebuchet MS"/>
              </a:rPr>
              <a:t>Decision</a:t>
            </a:r>
            <a:r>
              <a:rPr sz="2000" spc="-40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808080"/>
                </a:solidFill>
                <a:latin typeface="Trebuchet MS"/>
                <a:cs typeface="Trebuchet MS"/>
              </a:rPr>
              <a:t>Processes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830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55600" indent="-343535">
              <a:lnSpc>
                <a:spcPct val="100000"/>
              </a:lnSpc>
              <a:buChar char="•"/>
              <a:tabLst>
                <a:tab pos="355600" algn="l"/>
                <a:tab pos="469900" algn="l"/>
              </a:tabLst>
            </a:pPr>
            <a:r>
              <a:rPr sz="2400" dirty="0">
                <a:solidFill>
                  <a:srgbClr val="808080"/>
                </a:solidFill>
                <a:latin typeface="Trebuchet MS"/>
                <a:cs typeface="Trebuchet MS"/>
              </a:rPr>
              <a:t>solving</a:t>
            </a:r>
            <a:r>
              <a:rPr sz="2400" spc="-4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808080"/>
                </a:solidFill>
                <a:latin typeface="Trebuchet MS"/>
                <a:cs typeface="Trebuchet MS"/>
              </a:rPr>
              <a:t>an</a:t>
            </a:r>
            <a:r>
              <a:rPr sz="2400" spc="-5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808080"/>
                </a:solidFill>
                <a:latin typeface="Trebuchet MS"/>
                <a:cs typeface="Trebuchet MS"/>
              </a:rPr>
              <a:t>RL</a:t>
            </a:r>
            <a:r>
              <a:rPr sz="2400" spc="-5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808080"/>
                </a:solidFill>
                <a:latin typeface="Trebuchet MS"/>
                <a:cs typeface="Trebuchet MS"/>
              </a:rPr>
              <a:t>problem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solidFill>
                  <a:srgbClr val="808080"/>
                </a:solidFill>
                <a:latin typeface="Trebuchet MS"/>
                <a:cs typeface="Trebuchet MS"/>
              </a:rPr>
              <a:t>Dynamic</a:t>
            </a:r>
            <a:r>
              <a:rPr sz="2000" spc="-5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808080"/>
                </a:solidFill>
                <a:latin typeface="Trebuchet MS"/>
                <a:cs typeface="Trebuchet MS"/>
              </a:rPr>
              <a:t>Programming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Monte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Carlo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methods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spc="-10" dirty="0">
                <a:latin typeface="Trebuchet MS"/>
                <a:cs typeface="Trebuchet MS"/>
              </a:rPr>
              <a:t>Temporal-</a:t>
            </a:r>
            <a:r>
              <a:rPr sz="2000" dirty="0">
                <a:latin typeface="Trebuchet MS"/>
                <a:cs typeface="Trebuchet MS"/>
              </a:rPr>
              <a:t>Difference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learning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835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miscellaneous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state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representation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function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approximation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spc="-10" dirty="0">
                <a:latin typeface="Trebuchet MS"/>
                <a:cs typeface="Trebuchet MS"/>
              </a:rPr>
              <a:t>rewards</a:t>
            </a:r>
            <a:endParaRPr sz="20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41391030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Monte</a:t>
            </a:r>
            <a:r>
              <a:rPr lang="en-IN" spc="-65" dirty="0" smtClean="0"/>
              <a:t> </a:t>
            </a:r>
            <a:r>
              <a:rPr lang="en-IN" dirty="0" smtClean="0"/>
              <a:t>Carlo</a:t>
            </a:r>
            <a:r>
              <a:rPr lang="en-IN" spc="-80" dirty="0" smtClean="0"/>
              <a:t> </a:t>
            </a:r>
            <a:r>
              <a:rPr lang="en-IN" spc="-10" dirty="0" smtClean="0"/>
              <a:t>methods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14-04-2026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25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535940" y="1168952"/>
            <a:ext cx="6148705" cy="354076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8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don’t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need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full</a:t>
            </a:r>
            <a:r>
              <a:rPr sz="2400" spc="-6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knowledge</a:t>
            </a:r>
            <a:r>
              <a:rPr sz="2400" spc="-3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of</a:t>
            </a:r>
            <a:r>
              <a:rPr sz="2400" spc="-6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environment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just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experience,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or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simulated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experience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1115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but</a:t>
            </a:r>
            <a:r>
              <a:rPr sz="2400" spc="-4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similar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to</a:t>
            </a:r>
            <a:r>
              <a:rPr sz="2400" spc="-3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DP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50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policy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evaluation,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policy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improvement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1115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averaging</a:t>
            </a:r>
            <a:r>
              <a:rPr sz="2400" spc="-10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sample</a:t>
            </a:r>
            <a:r>
              <a:rPr sz="2400" spc="-9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returns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50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defined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only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for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episodic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tasks</a:t>
            </a:r>
            <a:endParaRPr sz="20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0865035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Monte</a:t>
            </a:r>
            <a:r>
              <a:rPr lang="en-IN" spc="-55" dirty="0" smtClean="0"/>
              <a:t> </a:t>
            </a:r>
            <a:r>
              <a:rPr lang="en-IN" dirty="0" smtClean="0"/>
              <a:t>Carlo</a:t>
            </a:r>
            <a:r>
              <a:rPr lang="en-IN" spc="-70" dirty="0" smtClean="0"/>
              <a:t> </a:t>
            </a:r>
            <a:r>
              <a:rPr lang="en-IN" dirty="0" smtClean="0"/>
              <a:t>policy</a:t>
            </a:r>
            <a:r>
              <a:rPr lang="en-IN" spc="-50" dirty="0" smtClean="0"/>
              <a:t> </a:t>
            </a:r>
            <a:r>
              <a:rPr lang="en-IN" spc="-10" dirty="0" smtClean="0"/>
              <a:t>evaluation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14-04-2026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26</a:t>
            </a:fld>
            <a:endParaRPr lang="en-IN" dirty="0"/>
          </a:p>
        </p:txBody>
      </p:sp>
      <p:grpSp>
        <p:nvGrpSpPr>
          <p:cNvPr id="6" name="object 2"/>
          <p:cNvGrpSpPr/>
          <p:nvPr/>
        </p:nvGrpSpPr>
        <p:grpSpPr>
          <a:xfrm>
            <a:off x="1148999" y="3624807"/>
            <a:ext cx="5894705" cy="161925"/>
            <a:chOff x="792162" y="3925887"/>
            <a:chExt cx="5894705" cy="161925"/>
          </a:xfrm>
        </p:grpSpPr>
        <p:sp>
          <p:nvSpPr>
            <p:cNvPr id="7" name="object 3"/>
            <p:cNvSpPr/>
            <p:nvPr/>
          </p:nvSpPr>
          <p:spPr>
            <a:xfrm>
              <a:off x="873125" y="4006850"/>
              <a:ext cx="5813425" cy="0"/>
            </a:xfrm>
            <a:custGeom>
              <a:avLst/>
              <a:gdLst/>
              <a:ahLst/>
              <a:cxnLst/>
              <a:rect l="l" t="t" r="r" b="b"/>
              <a:pathLst>
                <a:path w="5813425">
                  <a:moveTo>
                    <a:pt x="0" y="0"/>
                  </a:moveTo>
                  <a:lnTo>
                    <a:pt x="5813425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2162" y="3925887"/>
              <a:ext cx="161925" cy="161925"/>
            </a:xfrm>
            <a:prstGeom prst="rect">
              <a:avLst/>
            </a:prstGeom>
          </p:spPr>
        </p:pic>
        <p:pic>
          <p:nvPicPr>
            <p:cNvPr id="9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1100" y="3946588"/>
              <a:ext cx="119062" cy="118999"/>
            </a:xfrm>
            <a:prstGeom prst="rect">
              <a:avLst/>
            </a:prstGeom>
          </p:spPr>
        </p:pic>
        <p:pic>
          <p:nvPicPr>
            <p:cNvPr id="10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27238" y="3925887"/>
              <a:ext cx="161925" cy="161925"/>
            </a:xfrm>
            <a:prstGeom prst="rect">
              <a:avLst/>
            </a:prstGeom>
          </p:spPr>
        </p:pic>
        <p:pic>
          <p:nvPicPr>
            <p:cNvPr id="11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63838" y="3925887"/>
              <a:ext cx="161925" cy="161925"/>
            </a:xfrm>
            <a:prstGeom prst="rect">
              <a:avLst/>
            </a:prstGeom>
          </p:spPr>
        </p:pic>
        <p:pic>
          <p:nvPicPr>
            <p:cNvPr id="12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16112" y="3948112"/>
              <a:ext cx="119125" cy="118999"/>
            </a:xfrm>
            <a:prstGeom prst="rect">
              <a:avLst/>
            </a:prstGeom>
          </p:spPr>
        </p:pic>
        <p:pic>
          <p:nvPicPr>
            <p:cNvPr id="13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98787" y="3925887"/>
              <a:ext cx="161925" cy="161925"/>
            </a:xfrm>
            <a:prstGeom prst="rect">
              <a:avLst/>
            </a:prstGeom>
          </p:spPr>
        </p:pic>
        <p:pic>
          <p:nvPicPr>
            <p:cNvPr id="14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52712" y="3948112"/>
              <a:ext cx="119125" cy="118999"/>
            </a:xfrm>
            <a:prstGeom prst="rect">
              <a:avLst/>
            </a:prstGeom>
          </p:spPr>
        </p:pic>
        <p:pic>
          <p:nvPicPr>
            <p:cNvPr id="15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35387" y="3925887"/>
              <a:ext cx="161925" cy="161925"/>
            </a:xfrm>
            <a:prstGeom prst="rect">
              <a:avLst/>
            </a:prstGeom>
          </p:spPr>
        </p:pic>
        <p:pic>
          <p:nvPicPr>
            <p:cNvPr id="16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87788" y="3948112"/>
              <a:ext cx="118999" cy="118999"/>
            </a:xfrm>
            <a:prstGeom prst="rect">
              <a:avLst/>
            </a:prstGeom>
          </p:spPr>
        </p:pic>
        <p:pic>
          <p:nvPicPr>
            <p:cNvPr id="17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70463" y="3925887"/>
              <a:ext cx="161925" cy="161925"/>
            </a:xfrm>
            <a:prstGeom prst="rect">
              <a:avLst/>
            </a:prstGeom>
          </p:spPr>
        </p:pic>
        <p:pic>
          <p:nvPicPr>
            <p:cNvPr id="18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24388" y="3948112"/>
              <a:ext cx="118999" cy="118999"/>
            </a:xfrm>
            <a:prstGeom prst="rect">
              <a:avLst/>
            </a:prstGeom>
          </p:spPr>
        </p:pic>
        <p:pic>
          <p:nvPicPr>
            <p:cNvPr id="19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07063" y="3925887"/>
              <a:ext cx="161925" cy="161925"/>
            </a:xfrm>
            <a:prstGeom prst="rect">
              <a:avLst/>
            </a:prstGeom>
          </p:spPr>
        </p:pic>
        <p:pic>
          <p:nvPicPr>
            <p:cNvPr id="20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59337" y="3948112"/>
              <a:ext cx="119125" cy="118999"/>
            </a:xfrm>
            <a:prstGeom prst="rect">
              <a:avLst/>
            </a:prstGeom>
          </p:spPr>
        </p:pic>
        <p:pic>
          <p:nvPicPr>
            <p:cNvPr id="21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42012" y="3925887"/>
              <a:ext cx="161925" cy="161925"/>
            </a:xfrm>
            <a:prstGeom prst="rect">
              <a:avLst/>
            </a:prstGeom>
          </p:spPr>
        </p:pic>
        <p:pic>
          <p:nvPicPr>
            <p:cNvPr id="22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95937" y="3948112"/>
              <a:ext cx="119125" cy="118999"/>
            </a:xfrm>
            <a:prstGeom prst="rect">
              <a:avLst/>
            </a:prstGeom>
          </p:spPr>
        </p:pic>
        <p:pic>
          <p:nvPicPr>
            <p:cNvPr id="23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31013" y="3948112"/>
              <a:ext cx="118999" cy="118999"/>
            </a:xfrm>
            <a:prstGeom prst="rect">
              <a:avLst/>
            </a:prstGeom>
          </p:spPr>
        </p:pic>
      </p:grpSp>
      <p:sp>
        <p:nvSpPr>
          <p:cNvPr id="24" name="object 21"/>
          <p:cNvSpPr txBox="1"/>
          <p:nvPr/>
        </p:nvSpPr>
        <p:spPr>
          <a:xfrm>
            <a:off x="880077" y="867872"/>
            <a:ext cx="6483985" cy="237045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685"/>
              </a:spcBef>
              <a:buChar char="•"/>
              <a:tabLst>
                <a:tab pos="3683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want</a:t>
            </a:r>
            <a:r>
              <a:rPr sz="2400" spc="-7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to</a:t>
            </a:r>
            <a:r>
              <a:rPr sz="2400" spc="-6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estimate</a:t>
            </a:r>
            <a:r>
              <a:rPr sz="2400" spc="-5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066FF"/>
                </a:solidFill>
                <a:latin typeface="Trebuchet MS"/>
                <a:cs typeface="Trebuchet MS"/>
              </a:rPr>
              <a:t>V</a:t>
            </a:r>
            <a:r>
              <a:rPr sz="2400" spc="-30" baseline="24305" dirty="0">
                <a:solidFill>
                  <a:srgbClr val="0066FF"/>
                </a:solidFill>
                <a:latin typeface="Symbol"/>
                <a:cs typeface="Symbol"/>
              </a:rPr>
              <a:t></a:t>
            </a:r>
            <a:r>
              <a:rPr sz="2400" spc="-20" dirty="0">
                <a:solidFill>
                  <a:srgbClr val="0066FF"/>
                </a:solidFill>
                <a:latin typeface="Trebuchet MS"/>
                <a:cs typeface="Trebuchet MS"/>
              </a:rPr>
              <a:t>(s)</a:t>
            </a:r>
            <a:endParaRPr sz="2400" dirty="0">
              <a:latin typeface="Trebuchet MS"/>
              <a:cs typeface="Trebuchet MS"/>
            </a:endParaRPr>
          </a:p>
          <a:p>
            <a:pPr marL="482600">
              <a:lnSpc>
                <a:spcPct val="100000"/>
              </a:lnSpc>
              <a:spcBef>
                <a:spcPts val="495"/>
              </a:spcBef>
            </a:pPr>
            <a:r>
              <a:rPr sz="2000" dirty="0">
                <a:latin typeface="Trebuchet MS"/>
                <a:cs typeface="Trebuchet MS"/>
              </a:rPr>
              <a:t>=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expected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return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starting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from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following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Symbol"/>
                <a:cs typeface="Symbol"/>
              </a:rPr>
              <a:t></a:t>
            </a:r>
            <a:endParaRPr sz="2000" dirty="0">
              <a:latin typeface="Symbol"/>
              <a:cs typeface="Symbol"/>
            </a:endParaRPr>
          </a:p>
          <a:p>
            <a:pPr marL="7689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68985" algn="l"/>
              </a:tabLst>
            </a:pPr>
            <a:r>
              <a:rPr sz="2000" dirty="0">
                <a:latin typeface="Trebuchet MS"/>
                <a:cs typeface="Trebuchet MS"/>
              </a:rPr>
              <a:t>estimate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as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average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of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observed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returns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in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state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s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1115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68300" indent="-342900">
              <a:lnSpc>
                <a:spcPct val="100000"/>
              </a:lnSpc>
              <a:buChar char="•"/>
              <a:tabLst>
                <a:tab pos="368300" algn="l"/>
              </a:tabLst>
            </a:pPr>
            <a:r>
              <a:rPr sz="2400" spc="-20" dirty="0">
                <a:solidFill>
                  <a:srgbClr val="0066FF"/>
                </a:solidFill>
                <a:latin typeface="Trebuchet MS"/>
                <a:cs typeface="Trebuchet MS"/>
              </a:rPr>
              <a:t>first-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visit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35" dirty="0">
                <a:solidFill>
                  <a:srgbClr val="0066FF"/>
                </a:solidFill>
                <a:latin typeface="Trebuchet MS"/>
                <a:cs typeface="Trebuchet MS"/>
              </a:rPr>
              <a:t>MC</a:t>
            </a:r>
            <a:endParaRPr sz="2400" dirty="0">
              <a:latin typeface="Trebuchet MS"/>
              <a:cs typeface="Trebuchet MS"/>
            </a:endParaRPr>
          </a:p>
          <a:p>
            <a:pPr marL="768985" lvl="1" indent="-286385">
              <a:lnSpc>
                <a:spcPct val="100000"/>
              </a:lnSpc>
              <a:spcBef>
                <a:spcPts val="500"/>
              </a:spcBef>
              <a:buChar char="–"/>
              <a:tabLst>
                <a:tab pos="768985" algn="l"/>
              </a:tabLst>
            </a:pPr>
            <a:r>
              <a:rPr sz="2000" dirty="0">
                <a:latin typeface="Trebuchet MS"/>
                <a:cs typeface="Trebuchet MS"/>
              </a:rPr>
              <a:t>average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returns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following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first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visit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state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s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25" name="object 22"/>
          <p:cNvSpPr txBox="1"/>
          <p:nvPr/>
        </p:nvSpPr>
        <p:spPr>
          <a:xfrm>
            <a:off x="867377" y="3549560"/>
            <a:ext cx="2298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Trebuchet MS"/>
                <a:cs typeface="Trebuchet MS"/>
              </a:rPr>
              <a:t>s</a:t>
            </a:r>
            <a:r>
              <a:rPr sz="1575" spc="-37" baseline="-21164" dirty="0">
                <a:latin typeface="Trebuchet MS"/>
                <a:cs typeface="Trebuchet MS"/>
              </a:rPr>
              <a:t>0</a:t>
            </a:r>
            <a:endParaRPr sz="1575" baseline="-21164">
              <a:latin typeface="Trebuchet MS"/>
              <a:cs typeface="Trebuchet MS"/>
            </a:endParaRPr>
          </a:p>
        </p:txBody>
      </p:sp>
      <p:sp>
        <p:nvSpPr>
          <p:cNvPr id="26" name="object 23"/>
          <p:cNvSpPr txBox="1"/>
          <p:nvPr/>
        </p:nvSpPr>
        <p:spPr>
          <a:xfrm>
            <a:off x="2661506" y="3320960"/>
            <a:ext cx="1574800" cy="6819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79550" algn="l"/>
              </a:tabLst>
            </a:pPr>
            <a:r>
              <a:rPr sz="1600" spc="-50" dirty="0">
                <a:latin typeface="Trebuchet MS"/>
                <a:cs typeface="Trebuchet MS"/>
              </a:rPr>
              <a:t>s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50" dirty="0">
                <a:latin typeface="Trebuchet MS"/>
                <a:cs typeface="Trebuchet MS"/>
              </a:rPr>
              <a:t>s</a:t>
            </a:r>
            <a:endParaRPr sz="1600">
              <a:latin typeface="Trebuchet MS"/>
              <a:cs typeface="Trebuchet MS"/>
            </a:endParaRPr>
          </a:p>
          <a:p>
            <a:pPr marL="396875">
              <a:lnSpc>
                <a:spcPct val="100000"/>
              </a:lnSpc>
              <a:spcBef>
                <a:spcPts val="1330"/>
              </a:spcBef>
              <a:tabLst>
                <a:tab pos="1133475" algn="l"/>
              </a:tabLst>
            </a:pPr>
            <a:r>
              <a:rPr sz="1600" spc="-25" dirty="0">
                <a:latin typeface="Trebuchet MS"/>
                <a:cs typeface="Trebuchet MS"/>
              </a:rPr>
              <a:t>+1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10" dirty="0">
                <a:latin typeface="Trebuchet MS"/>
                <a:cs typeface="Trebuchet MS"/>
              </a:rPr>
              <a:t>-</a:t>
            </a:r>
            <a:r>
              <a:rPr sz="1600" spc="-50" dirty="0">
                <a:latin typeface="Trebuchet MS"/>
                <a:cs typeface="Trebuchet MS"/>
              </a:rPr>
              <a:t>2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7" name="object 24"/>
          <p:cNvSpPr txBox="1"/>
          <p:nvPr/>
        </p:nvSpPr>
        <p:spPr>
          <a:xfrm>
            <a:off x="4520785" y="3733710"/>
            <a:ext cx="1320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Trebuchet MS"/>
                <a:cs typeface="Trebuchet MS"/>
              </a:rPr>
              <a:t>0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8" name="object 25"/>
          <p:cNvSpPr txBox="1"/>
          <p:nvPr/>
        </p:nvSpPr>
        <p:spPr>
          <a:xfrm>
            <a:off x="5259290" y="3733710"/>
            <a:ext cx="2387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Trebuchet MS"/>
                <a:cs typeface="Trebuchet MS"/>
              </a:rPr>
              <a:t>+1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9" name="object 26"/>
          <p:cNvSpPr txBox="1"/>
          <p:nvPr/>
        </p:nvSpPr>
        <p:spPr>
          <a:xfrm>
            <a:off x="5997541" y="3733710"/>
            <a:ext cx="2063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Trebuchet MS"/>
                <a:cs typeface="Trebuchet MS"/>
              </a:rPr>
              <a:t>-</a:t>
            </a:r>
            <a:r>
              <a:rPr sz="1600" spc="-50" dirty="0">
                <a:latin typeface="Trebuchet MS"/>
                <a:cs typeface="Trebuchet MS"/>
              </a:rPr>
              <a:t>3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0" name="object 27"/>
          <p:cNvSpPr txBox="1"/>
          <p:nvPr/>
        </p:nvSpPr>
        <p:spPr>
          <a:xfrm>
            <a:off x="6735792" y="3733710"/>
            <a:ext cx="2387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Trebuchet MS"/>
                <a:cs typeface="Trebuchet MS"/>
              </a:rPr>
              <a:t>+5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1" name="object 28"/>
          <p:cNvSpPr txBox="1"/>
          <p:nvPr/>
        </p:nvSpPr>
        <p:spPr>
          <a:xfrm>
            <a:off x="7669243" y="3581310"/>
            <a:ext cx="9417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rebuchet MS"/>
                <a:cs typeface="Trebuchet MS"/>
              </a:rPr>
              <a:t>R</a:t>
            </a:r>
            <a:r>
              <a:rPr sz="1575" baseline="-21164" dirty="0">
                <a:latin typeface="Trebuchet MS"/>
                <a:cs typeface="Trebuchet MS"/>
              </a:rPr>
              <a:t>1</a:t>
            </a:r>
            <a:r>
              <a:rPr sz="1600" dirty="0">
                <a:latin typeface="Trebuchet MS"/>
                <a:cs typeface="Trebuchet MS"/>
              </a:rPr>
              <a:t>(s) =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spc="-35" dirty="0">
                <a:latin typeface="Trebuchet MS"/>
                <a:cs typeface="Trebuchet MS"/>
              </a:rPr>
              <a:t>+2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32" name="object 29"/>
          <p:cNvGrpSpPr/>
          <p:nvPr/>
        </p:nvGrpSpPr>
        <p:grpSpPr>
          <a:xfrm>
            <a:off x="7038624" y="3618457"/>
            <a:ext cx="161925" cy="161925"/>
            <a:chOff x="6681787" y="3919537"/>
            <a:chExt cx="161925" cy="161925"/>
          </a:xfrm>
        </p:grpSpPr>
        <p:sp>
          <p:nvSpPr>
            <p:cNvPr id="33" name="object 30"/>
            <p:cNvSpPr/>
            <p:nvPr/>
          </p:nvSpPr>
          <p:spPr>
            <a:xfrm>
              <a:off x="6686550" y="39243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1"/>
            <p:cNvSpPr/>
            <p:nvPr/>
          </p:nvSpPr>
          <p:spPr>
            <a:xfrm>
              <a:off x="6686550" y="39243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52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2"/>
          <p:cNvGrpSpPr/>
          <p:nvPr/>
        </p:nvGrpSpPr>
        <p:grpSpPr>
          <a:xfrm>
            <a:off x="1148999" y="4126457"/>
            <a:ext cx="5894705" cy="161925"/>
            <a:chOff x="792162" y="4427537"/>
            <a:chExt cx="5894705" cy="161925"/>
          </a:xfrm>
        </p:grpSpPr>
        <p:sp>
          <p:nvSpPr>
            <p:cNvPr id="36" name="object 33"/>
            <p:cNvSpPr/>
            <p:nvPr/>
          </p:nvSpPr>
          <p:spPr>
            <a:xfrm>
              <a:off x="873125" y="4508500"/>
              <a:ext cx="5813425" cy="0"/>
            </a:xfrm>
            <a:custGeom>
              <a:avLst/>
              <a:gdLst/>
              <a:ahLst/>
              <a:cxnLst/>
              <a:rect l="l" t="t" r="r" b="b"/>
              <a:pathLst>
                <a:path w="5813425">
                  <a:moveTo>
                    <a:pt x="0" y="0"/>
                  </a:moveTo>
                  <a:lnTo>
                    <a:pt x="5813425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2162" y="4427537"/>
              <a:ext cx="161925" cy="161925"/>
            </a:xfrm>
            <a:prstGeom prst="rect">
              <a:avLst/>
            </a:prstGeom>
          </p:spPr>
        </p:pic>
        <p:pic>
          <p:nvPicPr>
            <p:cNvPr id="38" name="object 3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81100" y="4448111"/>
              <a:ext cx="119062" cy="119125"/>
            </a:xfrm>
            <a:prstGeom prst="rect">
              <a:avLst/>
            </a:prstGeom>
          </p:spPr>
        </p:pic>
        <p:pic>
          <p:nvPicPr>
            <p:cNvPr id="39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27238" y="4427537"/>
              <a:ext cx="161925" cy="161925"/>
            </a:xfrm>
            <a:prstGeom prst="rect">
              <a:avLst/>
            </a:prstGeom>
          </p:spPr>
        </p:pic>
        <p:pic>
          <p:nvPicPr>
            <p:cNvPr id="40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63838" y="4427537"/>
              <a:ext cx="161925" cy="161925"/>
            </a:xfrm>
            <a:prstGeom prst="rect">
              <a:avLst/>
            </a:prstGeom>
          </p:spPr>
        </p:pic>
        <p:pic>
          <p:nvPicPr>
            <p:cNvPr id="41" name="object 3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16112" y="4449762"/>
              <a:ext cx="119125" cy="119125"/>
            </a:xfrm>
            <a:prstGeom prst="rect">
              <a:avLst/>
            </a:prstGeom>
          </p:spPr>
        </p:pic>
        <p:pic>
          <p:nvPicPr>
            <p:cNvPr id="42" name="object 3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98787" y="4427537"/>
              <a:ext cx="161925" cy="161925"/>
            </a:xfrm>
            <a:prstGeom prst="rect">
              <a:avLst/>
            </a:prstGeom>
          </p:spPr>
        </p:pic>
        <p:pic>
          <p:nvPicPr>
            <p:cNvPr id="43" name="object 4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652712" y="4449762"/>
              <a:ext cx="119125" cy="119125"/>
            </a:xfrm>
            <a:prstGeom prst="rect">
              <a:avLst/>
            </a:prstGeom>
          </p:spPr>
        </p:pic>
        <p:pic>
          <p:nvPicPr>
            <p:cNvPr id="44" name="object 4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35387" y="4427537"/>
              <a:ext cx="161925" cy="161925"/>
            </a:xfrm>
            <a:prstGeom prst="rect">
              <a:avLst/>
            </a:prstGeom>
          </p:spPr>
        </p:pic>
        <p:pic>
          <p:nvPicPr>
            <p:cNvPr id="45" name="object 4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387788" y="4449762"/>
              <a:ext cx="118999" cy="119125"/>
            </a:xfrm>
            <a:prstGeom prst="rect">
              <a:avLst/>
            </a:prstGeom>
          </p:spPr>
        </p:pic>
        <p:pic>
          <p:nvPicPr>
            <p:cNvPr id="46" name="object 4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70463" y="4427537"/>
              <a:ext cx="161925" cy="161925"/>
            </a:xfrm>
            <a:prstGeom prst="rect">
              <a:avLst/>
            </a:prstGeom>
          </p:spPr>
        </p:pic>
        <p:pic>
          <p:nvPicPr>
            <p:cNvPr id="47" name="object 4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24388" y="4449762"/>
              <a:ext cx="118999" cy="119125"/>
            </a:xfrm>
            <a:prstGeom prst="rect">
              <a:avLst/>
            </a:prstGeom>
          </p:spPr>
        </p:pic>
        <p:pic>
          <p:nvPicPr>
            <p:cNvPr id="48" name="object 4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07063" y="4427537"/>
              <a:ext cx="161925" cy="161925"/>
            </a:xfrm>
            <a:prstGeom prst="rect">
              <a:avLst/>
            </a:prstGeom>
          </p:spPr>
        </p:pic>
        <p:pic>
          <p:nvPicPr>
            <p:cNvPr id="49" name="object 4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859337" y="4449762"/>
              <a:ext cx="119125" cy="119125"/>
            </a:xfrm>
            <a:prstGeom prst="rect">
              <a:avLst/>
            </a:prstGeom>
          </p:spPr>
        </p:pic>
        <p:pic>
          <p:nvPicPr>
            <p:cNvPr id="50" name="object 4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42012" y="4427537"/>
              <a:ext cx="161925" cy="161925"/>
            </a:xfrm>
            <a:prstGeom prst="rect">
              <a:avLst/>
            </a:prstGeom>
          </p:spPr>
        </p:pic>
        <p:pic>
          <p:nvPicPr>
            <p:cNvPr id="51" name="object 4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95937" y="4449762"/>
              <a:ext cx="119125" cy="119125"/>
            </a:xfrm>
            <a:prstGeom prst="rect">
              <a:avLst/>
            </a:prstGeom>
          </p:spPr>
        </p:pic>
        <p:pic>
          <p:nvPicPr>
            <p:cNvPr id="52" name="object 4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331013" y="4449762"/>
              <a:ext cx="118999" cy="119125"/>
            </a:xfrm>
            <a:prstGeom prst="rect">
              <a:avLst/>
            </a:prstGeom>
          </p:spPr>
        </p:pic>
      </p:grpSp>
      <p:sp>
        <p:nvSpPr>
          <p:cNvPr id="53" name="object 50"/>
          <p:cNvSpPr txBox="1"/>
          <p:nvPr/>
        </p:nvSpPr>
        <p:spPr>
          <a:xfrm>
            <a:off x="867377" y="3957890"/>
            <a:ext cx="229870" cy="1708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algn="just">
              <a:lnSpc>
                <a:spcPct val="138100"/>
              </a:lnSpc>
              <a:spcBef>
                <a:spcPts val="100"/>
              </a:spcBef>
            </a:pPr>
            <a:r>
              <a:rPr sz="1600" spc="-25" dirty="0">
                <a:latin typeface="Trebuchet MS"/>
                <a:cs typeface="Trebuchet MS"/>
              </a:rPr>
              <a:t>s</a:t>
            </a:r>
            <a:r>
              <a:rPr sz="1575" spc="-37" baseline="-21164" dirty="0">
                <a:latin typeface="Trebuchet MS"/>
                <a:cs typeface="Trebuchet MS"/>
              </a:rPr>
              <a:t>0 </a:t>
            </a:r>
            <a:r>
              <a:rPr sz="1600" spc="-25" dirty="0">
                <a:latin typeface="Trebuchet MS"/>
                <a:cs typeface="Trebuchet MS"/>
              </a:rPr>
              <a:t>s</a:t>
            </a:r>
            <a:r>
              <a:rPr sz="1575" spc="-37" baseline="-21164" dirty="0">
                <a:latin typeface="Trebuchet MS"/>
                <a:cs typeface="Trebuchet MS"/>
              </a:rPr>
              <a:t>0 </a:t>
            </a:r>
            <a:r>
              <a:rPr sz="1600" spc="-25" dirty="0">
                <a:latin typeface="Trebuchet MS"/>
                <a:cs typeface="Trebuchet MS"/>
              </a:rPr>
              <a:t>s</a:t>
            </a:r>
            <a:r>
              <a:rPr sz="1575" spc="-37" baseline="-21164" dirty="0">
                <a:latin typeface="Trebuchet MS"/>
                <a:cs typeface="Trebuchet MS"/>
              </a:rPr>
              <a:t>0 </a:t>
            </a:r>
            <a:r>
              <a:rPr sz="1600" spc="-25" dirty="0">
                <a:latin typeface="Trebuchet MS"/>
                <a:cs typeface="Trebuchet MS"/>
              </a:rPr>
              <a:t>s</a:t>
            </a:r>
            <a:r>
              <a:rPr sz="1575" spc="-37" baseline="-21164" dirty="0">
                <a:latin typeface="Trebuchet MS"/>
                <a:cs typeface="Trebuchet MS"/>
              </a:rPr>
              <a:t>0 </a:t>
            </a:r>
            <a:r>
              <a:rPr sz="1600" spc="-25" dirty="0">
                <a:latin typeface="Trebuchet MS"/>
                <a:cs typeface="Trebuchet MS"/>
              </a:rPr>
              <a:t>s</a:t>
            </a:r>
            <a:r>
              <a:rPr sz="1575" spc="-37" baseline="-21164" dirty="0">
                <a:latin typeface="Trebuchet MS"/>
                <a:cs typeface="Trebuchet MS"/>
              </a:rPr>
              <a:t>0</a:t>
            </a:r>
            <a:endParaRPr sz="1575" baseline="-21164">
              <a:latin typeface="Trebuchet MS"/>
              <a:cs typeface="Trebuchet MS"/>
            </a:endParaRPr>
          </a:p>
        </p:txBody>
      </p:sp>
      <p:grpSp>
        <p:nvGrpSpPr>
          <p:cNvPr id="54" name="object 51"/>
          <p:cNvGrpSpPr/>
          <p:nvPr/>
        </p:nvGrpSpPr>
        <p:grpSpPr>
          <a:xfrm>
            <a:off x="1148999" y="4463007"/>
            <a:ext cx="5894705" cy="161925"/>
            <a:chOff x="792162" y="4764087"/>
            <a:chExt cx="5894705" cy="161925"/>
          </a:xfrm>
        </p:grpSpPr>
        <p:sp>
          <p:nvSpPr>
            <p:cNvPr id="55" name="object 52"/>
            <p:cNvSpPr/>
            <p:nvPr/>
          </p:nvSpPr>
          <p:spPr>
            <a:xfrm>
              <a:off x="873125" y="4845050"/>
              <a:ext cx="5813425" cy="0"/>
            </a:xfrm>
            <a:custGeom>
              <a:avLst/>
              <a:gdLst/>
              <a:ahLst/>
              <a:cxnLst/>
              <a:rect l="l" t="t" r="r" b="b"/>
              <a:pathLst>
                <a:path w="5813425">
                  <a:moveTo>
                    <a:pt x="0" y="0"/>
                  </a:moveTo>
                  <a:lnTo>
                    <a:pt x="5813425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2162" y="4764087"/>
              <a:ext cx="161925" cy="161925"/>
            </a:xfrm>
            <a:prstGeom prst="rect">
              <a:avLst/>
            </a:prstGeom>
          </p:spPr>
        </p:pic>
        <p:pic>
          <p:nvPicPr>
            <p:cNvPr id="57" name="object 5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1100" y="4784788"/>
              <a:ext cx="119062" cy="118999"/>
            </a:xfrm>
            <a:prstGeom prst="rect">
              <a:avLst/>
            </a:prstGeom>
          </p:spPr>
        </p:pic>
        <p:pic>
          <p:nvPicPr>
            <p:cNvPr id="58" name="object 5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27238" y="4764087"/>
              <a:ext cx="161925" cy="161925"/>
            </a:xfrm>
            <a:prstGeom prst="rect">
              <a:avLst/>
            </a:prstGeom>
          </p:spPr>
        </p:pic>
        <p:pic>
          <p:nvPicPr>
            <p:cNvPr id="59" name="object 5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63838" y="4764087"/>
              <a:ext cx="161925" cy="161925"/>
            </a:xfrm>
            <a:prstGeom prst="rect">
              <a:avLst/>
            </a:prstGeom>
          </p:spPr>
        </p:pic>
        <p:pic>
          <p:nvPicPr>
            <p:cNvPr id="60" name="object 5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16112" y="4786312"/>
              <a:ext cx="119125" cy="118999"/>
            </a:xfrm>
            <a:prstGeom prst="rect">
              <a:avLst/>
            </a:prstGeom>
          </p:spPr>
        </p:pic>
        <p:pic>
          <p:nvPicPr>
            <p:cNvPr id="61" name="object 5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98787" y="4764087"/>
              <a:ext cx="161925" cy="161925"/>
            </a:xfrm>
            <a:prstGeom prst="rect">
              <a:avLst/>
            </a:prstGeom>
          </p:spPr>
        </p:pic>
        <p:pic>
          <p:nvPicPr>
            <p:cNvPr id="62" name="object 5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52712" y="4786312"/>
              <a:ext cx="119125" cy="118999"/>
            </a:xfrm>
            <a:prstGeom prst="rect">
              <a:avLst/>
            </a:prstGeom>
          </p:spPr>
        </p:pic>
        <p:pic>
          <p:nvPicPr>
            <p:cNvPr id="63" name="object 6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35387" y="4764087"/>
              <a:ext cx="161925" cy="161925"/>
            </a:xfrm>
            <a:prstGeom prst="rect">
              <a:avLst/>
            </a:prstGeom>
          </p:spPr>
        </p:pic>
        <p:pic>
          <p:nvPicPr>
            <p:cNvPr id="64" name="object 6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87788" y="4786312"/>
              <a:ext cx="118999" cy="118999"/>
            </a:xfrm>
            <a:prstGeom prst="rect">
              <a:avLst/>
            </a:prstGeom>
          </p:spPr>
        </p:pic>
        <p:pic>
          <p:nvPicPr>
            <p:cNvPr id="65" name="object 6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70463" y="4764087"/>
              <a:ext cx="161925" cy="161925"/>
            </a:xfrm>
            <a:prstGeom prst="rect">
              <a:avLst/>
            </a:prstGeom>
          </p:spPr>
        </p:pic>
        <p:pic>
          <p:nvPicPr>
            <p:cNvPr id="66" name="object 6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24388" y="4786312"/>
              <a:ext cx="118999" cy="118999"/>
            </a:xfrm>
            <a:prstGeom prst="rect">
              <a:avLst/>
            </a:prstGeom>
          </p:spPr>
        </p:pic>
        <p:pic>
          <p:nvPicPr>
            <p:cNvPr id="67" name="object 6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07063" y="4764087"/>
              <a:ext cx="161925" cy="161925"/>
            </a:xfrm>
            <a:prstGeom prst="rect">
              <a:avLst/>
            </a:prstGeom>
          </p:spPr>
        </p:pic>
        <p:pic>
          <p:nvPicPr>
            <p:cNvPr id="68" name="object 6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59337" y="4786312"/>
              <a:ext cx="119125" cy="118999"/>
            </a:xfrm>
            <a:prstGeom prst="rect">
              <a:avLst/>
            </a:prstGeom>
          </p:spPr>
        </p:pic>
        <p:pic>
          <p:nvPicPr>
            <p:cNvPr id="69" name="object 6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42012" y="4764087"/>
              <a:ext cx="161925" cy="161925"/>
            </a:xfrm>
            <a:prstGeom prst="rect">
              <a:avLst/>
            </a:prstGeom>
          </p:spPr>
        </p:pic>
        <p:pic>
          <p:nvPicPr>
            <p:cNvPr id="70" name="object 6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95937" y="4786312"/>
              <a:ext cx="119125" cy="118999"/>
            </a:xfrm>
            <a:prstGeom prst="rect">
              <a:avLst/>
            </a:prstGeom>
          </p:spPr>
        </p:pic>
        <p:pic>
          <p:nvPicPr>
            <p:cNvPr id="71" name="object 6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31013" y="4786312"/>
              <a:ext cx="118999" cy="118999"/>
            </a:xfrm>
            <a:prstGeom prst="rect">
              <a:avLst/>
            </a:prstGeom>
          </p:spPr>
        </p:pic>
      </p:grpSp>
      <p:grpSp>
        <p:nvGrpSpPr>
          <p:cNvPr id="72" name="object 69"/>
          <p:cNvGrpSpPr/>
          <p:nvPr/>
        </p:nvGrpSpPr>
        <p:grpSpPr>
          <a:xfrm>
            <a:off x="1148999" y="4799557"/>
            <a:ext cx="6051550" cy="161925"/>
            <a:chOff x="792162" y="5100637"/>
            <a:chExt cx="6051550" cy="161925"/>
          </a:xfrm>
        </p:grpSpPr>
        <p:sp>
          <p:nvSpPr>
            <p:cNvPr id="73" name="object 70"/>
            <p:cNvSpPr/>
            <p:nvPr/>
          </p:nvSpPr>
          <p:spPr>
            <a:xfrm>
              <a:off x="873125" y="5181600"/>
              <a:ext cx="5813425" cy="0"/>
            </a:xfrm>
            <a:custGeom>
              <a:avLst/>
              <a:gdLst/>
              <a:ahLst/>
              <a:cxnLst/>
              <a:rect l="l" t="t" r="r" b="b"/>
              <a:pathLst>
                <a:path w="5813425">
                  <a:moveTo>
                    <a:pt x="0" y="0"/>
                  </a:moveTo>
                  <a:lnTo>
                    <a:pt x="5813425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2162" y="5100637"/>
              <a:ext cx="161925" cy="161925"/>
            </a:xfrm>
            <a:prstGeom prst="rect">
              <a:avLst/>
            </a:prstGeom>
          </p:spPr>
        </p:pic>
        <p:pic>
          <p:nvPicPr>
            <p:cNvPr id="75" name="object 7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81100" y="5121211"/>
              <a:ext cx="119062" cy="119125"/>
            </a:xfrm>
            <a:prstGeom prst="rect">
              <a:avLst/>
            </a:prstGeom>
          </p:spPr>
        </p:pic>
        <p:pic>
          <p:nvPicPr>
            <p:cNvPr id="76" name="object 7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7238" y="5100637"/>
              <a:ext cx="161925" cy="161925"/>
            </a:xfrm>
            <a:prstGeom prst="rect">
              <a:avLst/>
            </a:prstGeom>
          </p:spPr>
        </p:pic>
        <p:pic>
          <p:nvPicPr>
            <p:cNvPr id="77" name="object 7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63838" y="5100637"/>
              <a:ext cx="161925" cy="161925"/>
            </a:xfrm>
            <a:prstGeom prst="rect">
              <a:avLst/>
            </a:prstGeom>
          </p:spPr>
        </p:pic>
        <p:pic>
          <p:nvPicPr>
            <p:cNvPr id="78" name="object 7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16112" y="5122862"/>
              <a:ext cx="119125" cy="119125"/>
            </a:xfrm>
            <a:prstGeom prst="rect">
              <a:avLst/>
            </a:prstGeom>
          </p:spPr>
        </p:pic>
        <p:pic>
          <p:nvPicPr>
            <p:cNvPr id="79" name="object 7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98787" y="5100637"/>
              <a:ext cx="161925" cy="161925"/>
            </a:xfrm>
            <a:prstGeom prst="rect">
              <a:avLst/>
            </a:prstGeom>
          </p:spPr>
        </p:pic>
        <p:pic>
          <p:nvPicPr>
            <p:cNvPr id="80" name="object 7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652712" y="5122862"/>
              <a:ext cx="119125" cy="119125"/>
            </a:xfrm>
            <a:prstGeom prst="rect">
              <a:avLst/>
            </a:prstGeom>
          </p:spPr>
        </p:pic>
        <p:pic>
          <p:nvPicPr>
            <p:cNvPr id="81" name="object 7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35387" y="5100637"/>
              <a:ext cx="161925" cy="161925"/>
            </a:xfrm>
            <a:prstGeom prst="rect">
              <a:avLst/>
            </a:prstGeom>
          </p:spPr>
        </p:pic>
        <p:pic>
          <p:nvPicPr>
            <p:cNvPr id="82" name="object 7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387788" y="5122862"/>
              <a:ext cx="118999" cy="119125"/>
            </a:xfrm>
            <a:prstGeom prst="rect">
              <a:avLst/>
            </a:prstGeom>
          </p:spPr>
        </p:pic>
        <p:pic>
          <p:nvPicPr>
            <p:cNvPr id="83" name="object 8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70463" y="5100637"/>
              <a:ext cx="161925" cy="161925"/>
            </a:xfrm>
            <a:prstGeom prst="rect">
              <a:avLst/>
            </a:prstGeom>
          </p:spPr>
        </p:pic>
        <p:pic>
          <p:nvPicPr>
            <p:cNvPr id="84" name="object 8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24388" y="5122862"/>
              <a:ext cx="118999" cy="119125"/>
            </a:xfrm>
            <a:prstGeom prst="rect">
              <a:avLst/>
            </a:prstGeom>
          </p:spPr>
        </p:pic>
        <p:pic>
          <p:nvPicPr>
            <p:cNvPr id="85" name="object 8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07063" y="5100637"/>
              <a:ext cx="161925" cy="161925"/>
            </a:xfrm>
            <a:prstGeom prst="rect">
              <a:avLst/>
            </a:prstGeom>
          </p:spPr>
        </p:pic>
        <p:pic>
          <p:nvPicPr>
            <p:cNvPr id="86" name="object 8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859337" y="5122862"/>
              <a:ext cx="119125" cy="119125"/>
            </a:xfrm>
            <a:prstGeom prst="rect">
              <a:avLst/>
            </a:prstGeom>
          </p:spPr>
        </p:pic>
        <p:pic>
          <p:nvPicPr>
            <p:cNvPr id="87" name="object 8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42012" y="5100637"/>
              <a:ext cx="161925" cy="161925"/>
            </a:xfrm>
            <a:prstGeom prst="rect">
              <a:avLst/>
            </a:prstGeom>
          </p:spPr>
        </p:pic>
        <p:pic>
          <p:nvPicPr>
            <p:cNvPr id="88" name="object 8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95937" y="5122862"/>
              <a:ext cx="119125" cy="119125"/>
            </a:xfrm>
            <a:prstGeom prst="rect">
              <a:avLst/>
            </a:prstGeom>
          </p:spPr>
        </p:pic>
        <p:pic>
          <p:nvPicPr>
            <p:cNvPr id="89" name="object 8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331013" y="5122862"/>
              <a:ext cx="118999" cy="119125"/>
            </a:xfrm>
            <a:prstGeom prst="rect">
              <a:avLst/>
            </a:prstGeom>
          </p:spPr>
        </p:pic>
        <p:sp>
          <p:nvSpPr>
            <p:cNvPr id="90" name="object 87"/>
            <p:cNvSpPr/>
            <p:nvPr/>
          </p:nvSpPr>
          <p:spPr>
            <a:xfrm>
              <a:off x="6686550" y="51054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88"/>
            <p:cNvSpPr/>
            <p:nvPr/>
          </p:nvSpPr>
          <p:spPr>
            <a:xfrm>
              <a:off x="6686550" y="51054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52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2" name="object 89"/>
          <p:cNvGrpSpPr/>
          <p:nvPr/>
        </p:nvGrpSpPr>
        <p:grpSpPr>
          <a:xfrm>
            <a:off x="1148999" y="5136107"/>
            <a:ext cx="5894705" cy="161925"/>
            <a:chOff x="792162" y="5437187"/>
            <a:chExt cx="5894705" cy="161925"/>
          </a:xfrm>
        </p:grpSpPr>
        <p:sp>
          <p:nvSpPr>
            <p:cNvPr id="93" name="object 90"/>
            <p:cNvSpPr/>
            <p:nvPr/>
          </p:nvSpPr>
          <p:spPr>
            <a:xfrm>
              <a:off x="873125" y="5518150"/>
              <a:ext cx="5813425" cy="0"/>
            </a:xfrm>
            <a:custGeom>
              <a:avLst/>
              <a:gdLst/>
              <a:ahLst/>
              <a:cxnLst/>
              <a:rect l="l" t="t" r="r" b="b"/>
              <a:pathLst>
                <a:path w="5813425">
                  <a:moveTo>
                    <a:pt x="0" y="0"/>
                  </a:moveTo>
                  <a:lnTo>
                    <a:pt x="5813425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4" name="object 9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2162" y="5437187"/>
              <a:ext cx="161925" cy="161925"/>
            </a:xfrm>
            <a:prstGeom prst="rect">
              <a:avLst/>
            </a:prstGeom>
          </p:spPr>
        </p:pic>
        <p:pic>
          <p:nvPicPr>
            <p:cNvPr id="95" name="object 9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1100" y="5457888"/>
              <a:ext cx="119062" cy="118999"/>
            </a:xfrm>
            <a:prstGeom prst="rect">
              <a:avLst/>
            </a:prstGeom>
          </p:spPr>
        </p:pic>
        <p:pic>
          <p:nvPicPr>
            <p:cNvPr id="96" name="object 9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27238" y="5437187"/>
              <a:ext cx="161925" cy="161925"/>
            </a:xfrm>
            <a:prstGeom prst="rect">
              <a:avLst/>
            </a:prstGeom>
          </p:spPr>
        </p:pic>
        <p:pic>
          <p:nvPicPr>
            <p:cNvPr id="97" name="object 9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63838" y="5437187"/>
              <a:ext cx="161925" cy="161925"/>
            </a:xfrm>
            <a:prstGeom prst="rect">
              <a:avLst/>
            </a:prstGeom>
          </p:spPr>
        </p:pic>
        <p:pic>
          <p:nvPicPr>
            <p:cNvPr id="98" name="object 9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16112" y="5459412"/>
              <a:ext cx="119125" cy="119125"/>
            </a:xfrm>
            <a:prstGeom prst="rect">
              <a:avLst/>
            </a:prstGeom>
          </p:spPr>
        </p:pic>
        <p:pic>
          <p:nvPicPr>
            <p:cNvPr id="99" name="object 9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98787" y="5437187"/>
              <a:ext cx="161925" cy="161925"/>
            </a:xfrm>
            <a:prstGeom prst="rect">
              <a:avLst/>
            </a:prstGeom>
          </p:spPr>
        </p:pic>
        <p:pic>
          <p:nvPicPr>
            <p:cNvPr id="100" name="object 9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652712" y="5459412"/>
              <a:ext cx="119125" cy="119125"/>
            </a:xfrm>
            <a:prstGeom prst="rect">
              <a:avLst/>
            </a:prstGeom>
          </p:spPr>
        </p:pic>
        <p:pic>
          <p:nvPicPr>
            <p:cNvPr id="101" name="object 9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35387" y="5437187"/>
              <a:ext cx="161925" cy="161925"/>
            </a:xfrm>
            <a:prstGeom prst="rect">
              <a:avLst/>
            </a:prstGeom>
          </p:spPr>
        </p:pic>
        <p:pic>
          <p:nvPicPr>
            <p:cNvPr id="102" name="object 9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387788" y="5459412"/>
              <a:ext cx="118999" cy="119125"/>
            </a:xfrm>
            <a:prstGeom prst="rect">
              <a:avLst/>
            </a:prstGeom>
          </p:spPr>
        </p:pic>
        <p:pic>
          <p:nvPicPr>
            <p:cNvPr id="103" name="object 10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70463" y="5437187"/>
              <a:ext cx="161925" cy="161925"/>
            </a:xfrm>
            <a:prstGeom prst="rect">
              <a:avLst/>
            </a:prstGeom>
          </p:spPr>
        </p:pic>
        <p:pic>
          <p:nvPicPr>
            <p:cNvPr id="104" name="object 10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24388" y="5459412"/>
              <a:ext cx="118999" cy="119125"/>
            </a:xfrm>
            <a:prstGeom prst="rect">
              <a:avLst/>
            </a:prstGeom>
          </p:spPr>
        </p:pic>
        <p:pic>
          <p:nvPicPr>
            <p:cNvPr id="105" name="object 10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07063" y="5437187"/>
              <a:ext cx="161925" cy="161925"/>
            </a:xfrm>
            <a:prstGeom prst="rect">
              <a:avLst/>
            </a:prstGeom>
          </p:spPr>
        </p:pic>
        <p:pic>
          <p:nvPicPr>
            <p:cNvPr id="106" name="object 10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859337" y="5459412"/>
              <a:ext cx="119125" cy="119125"/>
            </a:xfrm>
            <a:prstGeom prst="rect">
              <a:avLst/>
            </a:prstGeom>
          </p:spPr>
        </p:pic>
        <p:pic>
          <p:nvPicPr>
            <p:cNvPr id="107" name="object 10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42012" y="5437187"/>
              <a:ext cx="161925" cy="161925"/>
            </a:xfrm>
            <a:prstGeom prst="rect">
              <a:avLst/>
            </a:prstGeom>
          </p:spPr>
        </p:pic>
        <p:pic>
          <p:nvPicPr>
            <p:cNvPr id="108" name="object 10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95937" y="5459412"/>
              <a:ext cx="119125" cy="119125"/>
            </a:xfrm>
            <a:prstGeom prst="rect">
              <a:avLst/>
            </a:prstGeom>
          </p:spPr>
        </p:pic>
        <p:pic>
          <p:nvPicPr>
            <p:cNvPr id="109" name="object 10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331013" y="5459412"/>
              <a:ext cx="118999" cy="119125"/>
            </a:xfrm>
            <a:prstGeom prst="rect">
              <a:avLst/>
            </a:prstGeom>
          </p:spPr>
        </p:pic>
      </p:grpSp>
      <p:grpSp>
        <p:nvGrpSpPr>
          <p:cNvPr id="110" name="object 107"/>
          <p:cNvGrpSpPr/>
          <p:nvPr/>
        </p:nvGrpSpPr>
        <p:grpSpPr>
          <a:xfrm>
            <a:off x="1148999" y="5472657"/>
            <a:ext cx="5894705" cy="161925"/>
            <a:chOff x="792162" y="5773737"/>
            <a:chExt cx="5894705" cy="161925"/>
          </a:xfrm>
        </p:grpSpPr>
        <p:sp>
          <p:nvSpPr>
            <p:cNvPr id="111" name="object 108"/>
            <p:cNvSpPr/>
            <p:nvPr/>
          </p:nvSpPr>
          <p:spPr>
            <a:xfrm>
              <a:off x="873125" y="5854700"/>
              <a:ext cx="5813425" cy="0"/>
            </a:xfrm>
            <a:custGeom>
              <a:avLst/>
              <a:gdLst/>
              <a:ahLst/>
              <a:cxnLst/>
              <a:rect l="l" t="t" r="r" b="b"/>
              <a:pathLst>
                <a:path w="5813425">
                  <a:moveTo>
                    <a:pt x="0" y="0"/>
                  </a:moveTo>
                  <a:lnTo>
                    <a:pt x="5813425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2" name="object 10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92162" y="5773737"/>
              <a:ext cx="161925" cy="161925"/>
            </a:xfrm>
            <a:prstGeom prst="rect">
              <a:avLst/>
            </a:prstGeom>
          </p:spPr>
        </p:pic>
        <p:pic>
          <p:nvPicPr>
            <p:cNvPr id="113" name="object 11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81100" y="5794375"/>
              <a:ext cx="119062" cy="119062"/>
            </a:xfrm>
            <a:prstGeom prst="rect">
              <a:avLst/>
            </a:prstGeom>
          </p:spPr>
        </p:pic>
        <p:pic>
          <p:nvPicPr>
            <p:cNvPr id="114" name="object 11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27238" y="5773737"/>
              <a:ext cx="161925" cy="161925"/>
            </a:xfrm>
            <a:prstGeom prst="rect">
              <a:avLst/>
            </a:prstGeom>
          </p:spPr>
        </p:pic>
        <p:pic>
          <p:nvPicPr>
            <p:cNvPr id="115" name="object 11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263838" y="5773737"/>
              <a:ext cx="161925" cy="161925"/>
            </a:xfrm>
            <a:prstGeom prst="rect">
              <a:avLst/>
            </a:prstGeom>
          </p:spPr>
        </p:pic>
        <p:pic>
          <p:nvPicPr>
            <p:cNvPr id="116" name="object 11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916112" y="5795962"/>
              <a:ext cx="119125" cy="119062"/>
            </a:xfrm>
            <a:prstGeom prst="rect">
              <a:avLst/>
            </a:prstGeom>
          </p:spPr>
        </p:pic>
        <p:pic>
          <p:nvPicPr>
            <p:cNvPr id="117" name="object 11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998787" y="5773737"/>
              <a:ext cx="161925" cy="161925"/>
            </a:xfrm>
            <a:prstGeom prst="rect">
              <a:avLst/>
            </a:prstGeom>
          </p:spPr>
        </p:pic>
        <p:pic>
          <p:nvPicPr>
            <p:cNvPr id="118" name="object 11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652712" y="5795962"/>
              <a:ext cx="119125" cy="119062"/>
            </a:xfrm>
            <a:prstGeom prst="rect">
              <a:avLst/>
            </a:prstGeom>
          </p:spPr>
        </p:pic>
        <p:pic>
          <p:nvPicPr>
            <p:cNvPr id="119" name="object 11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735387" y="5773737"/>
              <a:ext cx="161925" cy="161925"/>
            </a:xfrm>
            <a:prstGeom prst="rect">
              <a:avLst/>
            </a:prstGeom>
          </p:spPr>
        </p:pic>
        <p:pic>
          <p:nvPicPr>
            <p:cNvPr id="120" name="object 11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387788" y="5795962"/>
              <a:ext cx="118999" cy="119062"/>
            </a:xfrm>
            <a:prstGeom prst="rect">
              <a:avLst/>
            </a:prstGeom>
          </p:spPr>
        </p:pic>
        <p:pic>
          <p:nvPicPr>
            <p:cNvPr id="121" name="object 11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470463" y="5773737"/>
              <a:ext cx="161925" cy="161925"/>
            </a:xfrm>
            <a:prstGeom prst="rect">
              <a:avLst/>
            </a:prstGeom>
          </p:spPr>
        </p:pic>
        <p:pic>
          <p:nvPicPr>
            <p:cNvPr id="122" name="object 11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124388" y="5795962"/>
              <a:ext cx="118999" cy="119062"/>
            </a:xfrm>
            <a:prstGeom prst="rect">
              <a:avLst/>
            </a:prstGeom>
          </p:spPr>
        </p:pic>
        <p:pic>
          <p:nvPicPr>
            <p:cNvPr id="123" name="object 12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207063" y="5773737"/>
              <a:ext cx="161925" cy="161925"/>
            </a:xfrm>
            <a:prstGeom prst="rect">
              <a:avLst/>
            </a:prstGeom>
          </p:spPr>
        </p:pic>
        <p:pic>
          <p:nvPicPr>
            <p:cNvPr id="124" name="object 12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859337" y="5795962"/>
              <a:ext cx="119125" cy="119062"/>
            </a:xfrm>
            <a:prstGeom prst="rect">
              <a:avLst/>
            </a:prstGeom>
          </p:spPr>
        </p:pic>
        <p:pic>
          <p:nvPicPr>
            <p:cNvPr id="125" name="object 12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942012" y="5773737"/>
              <a:ext cx="161925" cy="161925"/>
            </a:xfrm>
            <a:prstGeom prst="rect">
              <a:avLst/>
            </a:prstGeom>
          </p:spPr>
        </p:pic>
        <p:pic>
          <p:nvPicPr>
            <p:cNvPr id="126" name="object 12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595937" y="5795962"/>
              <a:ext cx="119125" cy="119062"/>
            </a:xfrm>
            <a:prstGeom prst="rect">
              <a:avLst/>
            </a:prstGeom>
          </p:spPr>
        </p:pic>
        <p:pic>
          <p:nvPicPr>
            <p:cNvPr id="127" name="object 12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331013" y="5795962"/>
              <a:ext cx="118999" cy="119062"/>
            </a:xfrm>
            <a:prstGeom prst="rect">
              <a:avLst/>
            </a:prstGeom>
          </p:spPr>
        </p:pic>
      </p:grpSp>
      <p:sp>
        <p:nvSpPr>
          <p:cNvPr id="128" name="object 125"/>
          <p:cNvSpPr txBox="1"/>
          <p:nvPr/>
        </p:nvSpPr>
        <p:spPr>
          <a:xfrm>
            <a:off x="7669243" y="4294186"/>
            <a:ext cx="941705" cy="699135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30"/>
              </a:spcBef>
            </a:pPr>
            <a:r>
              <a:rPr sz="1600" dirty="0">
                <a:latin typeface="Trebuchet MS"/>
                <a:cs typeface="Trebuchet MS"/>
              </a:rPr>
              <a:t>R</a:t>
            </a:r>
            <a:r>
              <a:rPr sz="1575" baseline="-21164" dirty="0">
                <a:latin typeface="Trebuchet MS"/>
                <a:cs typeface="Trebuchet MS"/>
              </a:rPr>
              <a:t>2</a:t>
            </a:r>
            <a:r>
              <a:rPr sz="1600" dirty="0">
                <a:latin typeface="Trebuchet MS"/>
                <a:cs typeface="Trebuchet MS"/>
              </a:rPr>
              <a:t>(s)</a:t>
            </a:r>
            <a:r>
              <a:rPr sz="1600" spc="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=</a:t>
            </a:r>
            <a:r>
              <a:rPr sz="1600" spc="-20" dirty="0">
                <a:latin typeface="Trebuchet MS"/>
                <a:cs typeface="Trebuchet MS"/>
              </a:rPr>
              <a:t> </a:t>
            </a:r>
            <a:r>
              <a:rPr sz="1600" spc="-25" dirty="0">
                <a:latin typeface="Trebuchet MS"/>
                <a:cs typeface="Trebuchet MS"/>
              </a:rPr>
              <a:t>+1</a:t>
            </a:r>
            <a:endParaRPr sz="1600" dirty="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735"/>
              </a:spcBef>
            </a:pPr>
            <a:r>
              <a:rPr sz="1600" dirty="0">
                <a:latin typeface="Trebuchet MS"/>
                <a:cs typeface="Trebuchet MS"/>
              </a:rPr>
              <a:t>R</a:t>
            </a:r>
            <a:r>
              <a:rPr sz="1575" baseline="-21164" dirty="0">
                <a:latin typeface="Trebuchet MS"/>
                <a:cs typeface="Trebuchet MS"/>
              </a:rPr>
              <a:t>3</a:t>
            </a:r>
            <a:r>
              <a:rPr sz="1600" dirty="0">
                <a:latin typeface="Trebuchet MS"/>
                <a:cs typeface="Trebuchet MS"/>
              </a:rPr>
              <a:t>(s)</a:t>
            </a:r>
            <a:r>
              <a:rPr sz="1600" spc="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=</a:t>
            </a:r>
            <a:r>
              <a:rPr sz="1600" spc="-2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-</a:t>
            </a:r>
            <a:r>
              <a:rPr sz="1600" spc="-50" dirty="0">
                <a:latin typeface="Trebuchet MS"/>
                <a:cs typeface="Trebuchet MS"/>
              </a:rPr>
              <a:t>5</a:t>
            </a:r>
            <a:endParaRPr sz="1600" dirty="0">
              <a:latin typeface="Trebuchet MS"/>
              <a:cs typeface="Trebuchet MS"/>
            </a:endParaRPr>
          </a:p>
        </p:txBody>
      </p:sp>
      <p:sp>
        <p:nvSpPr>
          <p:cNvPr id="129" name="object 126"/>
          <p:cNvSpPr txBox="1"/>
          <p:nvPr/>
        </p:nvSpPr>
        <p:spPr>
          <a:xfrm>
            <a:off x="7669243" y="5410364"/>
            <a:ext cx="9417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rebuchet MS"/>
                <a:cs typeface="Trebuchet MS"/>
              </a:rPr>
              <a:t>R</a:t>
            </a:r>
            <a:r>
              <a:rPr sz="1575" baseline="-21164" dirty="0">
                <a:latin typeface="Trebuchet MS"/>
                <a:cs typeface="Trebuchet MS"/>
              </a:rPr>
              <a:t>4</a:t>
            </a:r>
            <a:r>
              <a:rPr sz="1600" dirty="0">
                <a:latin typeface="Trebuchet MS"/>
                <a:cs typeface="Trebuchet MS"/>
              </a:rPr>
              <a:t>(s) =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spc="-35" dirty="0">
                <a:latin typeface="Trebuchet MS"/>
                <a:cs typeface="Trebuchet MS"/>
              </a:rPr>
              <a:t>+4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30" name="object 127"/>
          <p:cNvSpPr txBox="1"/>
          <p:nvPr/>
        </p:nvSpPr>
        <p:spPr>
          <a:xfrm>
            <a:off x="5440265" y="5926695"/>
            <a:ext cx="334517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rebuchet MS"/>
                <a:cs typeface="Trebuchet MS"/>
              </a:rPr>
              <a:t>V</a:t>
            </a:r>
            <a:r>
              <a:rPr sz="1950" baseline="25641" dirty="0">
                <a:latin typeface="Symbol"/>
                <a:cs typeface="Symbol"/>
              </a:rPr>
              <a:t></a:t>
            </a:r>
            <a:r>
              <a:rPr sz="2000" dirty="0">
                <a:latin typeface="Trebuchet MS"/>
                <a:cs typeface="Trebuchet MS"/>
              </a:rPr>
              <a:t>(s)</a:t>
            </a:r>
            <a:r>
              <a:rPr sz="2000" spc="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≈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(2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+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1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–</a:t>
            </a:r>
            <a:r>
              <a:rPr sz="2000" spc="-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5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+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4)/4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=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0.5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131" name="object 128"/>
          <p:cNvGrpSpPr/>
          <p:nvPr/>
        </p:nvGrpSpPr>
        <p:grpSpPr>
          <a:xfrm>
            <a:off x="7038624" y="4123282"/>
            <a:ext cx="161925" cy="161925"/>
            <a:chOff x="6681787" y="4424362"/>
            <a:chExt cx="161925" cy="161925"/>
          </a:xfrm>
        </p:grpSpPr>
        <p:sp>
          <p:nvSpPr>
            <p:cNvPr id="132" name="object 129"/>
            <p:cNvSpPr/>
            <p:nvPr/>
          </p:nvSpPr>
          <p:spPr>
            <a:xfrm>
              <a:off x="6686550" y="442912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0"/>
            <p:cNvSpPr/>
            <p:nvPr/>
          </p:nvSpPr>
          <p:spPr>
            <a:xfrm>
              <a:off x="6686550" y="442912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52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4" name="object 131"/>
          <p:cNvGrpSpPr/>
          <p:nvPr/>
        </p:nvGrpSpPr>
        <p:grpSpPr>
          <a:xfrm>
            <a:off x="7038624" y="4466182"/>
            <a:ext cx="161925" cy="161925"/>
            <a:chOff x="6681787" y="4767262"/>
            <a:chExt cx="161925" cy="161925"/>
          </a:xfrm>
        </p:grpSpPr>
        <p:sp>
          <p:nvSpPr>
            <p:cNvPr id="135" name="object 132"/>
            <p:cNvSpPr/>
            <p:nvPr/>
          </p:nvSpPr>
          <p:spPr>
            <a:xfrm>
              <a:off x="6686550" y="477202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3"/>
            <p:cNvSpPr/>
            <p:nvPr/>
          </p:nvSpPr>
          <p:spPr>
            <a:xfrm>
              <a:off x="6686550" y="477202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52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7" name="object 134"/>
          <p:cNvGrpSpPr/>
          <p:nvPr/>
        </p:nvGrpSpPr>
        <p:grpSpPr>
          <a:xfrm>
            <a:off x="7038624" y="5142457"/>
            <a:ext cx="161925" cy="161925"/>
            <a:chOff x="6681787" y="5443537"/>
            <a:chExt cx="161925" cy="161925"/>
          </a:xfrm>
        </p:grpSpPr>
        <p:sp>
          <p:nvSpPr>
            <p:cNvPr id="138" name="object 135"/>
            <p:cNvSpPr/>
            <p:nvPr/>
          </p:nvSpPr>
          <p:spPr>
            <a:xfrm>
              <a:off x="6686550" y="54483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6"/>
            <p:cNvSpPr/>
            <p:nvPr/>
          </p:nvSpPr>
          <p:spPr>
            <a:xfrm>
              <a:off x="6686550" y="54483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52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0" name="object 137"/>
          <p:cNvGrpSpPr/>
          <p:nvPr/>
        </p:nvGrpSpPr>
        <p:grpSpPr>
          <a:xfrm>
            <a:off x="7038624" y="5466307"/>
            <a:ext cx="161925" cy="161925"/>
            <a:chOff x="6681787" y="5767387"/>
            <a:chExt cx="161925" cy="161925"/>
          </a:xfrm>
        </p:grpSpPr>
        <p:sp>
          <p:nvSpPr>
            <p:cNvPr id="141" name="object 138"/>
            <p:cNvSpPr/>
            <p:nvPr/>
          </p:nvSpPr>
          <p:spPr>
            <a:xfrm>
              <a:off x="6686550" y="577215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39"/>
            <p:cNvSpPr/>
            <p:nvPr/>
          </p:nvSpPr>
          <p:spPr>
            <a:xfrm>
              <a:off x="6686550" y="577215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52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8291582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Monte</a:t>
            </a:r>
            <a:r>
              <a:rPr lang="en-IN" spc="-65" dirty="0" smtClean="0"/>
              <a:t> </a:t>
            </a:r>
            <a:r>
              <a:rPr lang="en-IN" dirty="0" smtClean="0"/>
              <a:t>Carlo</a:t>
            </a:r>
            <a:r>
              <a:rPr lang="en-IN" spc="-80" dirty="0" smtClean="0"/>
              <a:t> </a:t>
            </a:r>
            <a:r>
              <a:rPr lang="en-IN" spc="-10" dirty="0" smtClean="0"/>
              <a:t>control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14-04-2026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27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1211516" y="767391"/>
            <a:ext cx="5649595" cy="546227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93700" indent="-342900">
              <a:lnSpc>
                <a:spcPct val="100000"/>
              </a:lnSpc>
              <a:spcBef>
                <a:spcPts val="395"/>
              </a:spcBef>
              <a:buChar char="•"/>
              <a:tabLst>
                <a:tab pos="3937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V</a:t>
            </a:r>
            <a:r>
              <a:rPr sz="2400" baseline="24305" dirty="0">
                <a:solidFill>
                  <a:srgbClr val="0066FF"/>
                </a:solidFill>
                <a:latin typeface="Symbol"/>
                <a:cs typeface="Symbol"/>
              </a:rPr>
              <a:t></a:t>
            </a:r>
            <a:r>
              <a:rPr sz="2400" spc="412" baseline="24305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not</a:t>
            </a:r>
            <a:r>
              <a:rPr sz="2400" spc="-6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enough</a:t>
            </a:r>
            <a:r>
              <a:rPr sz="2400" spc="-3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for</a:t>
            </a:r>
            <a:r>
              <a:rPr sz="2400" spc="-5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policy</a:t>
            </a:r>
            <a:r>
              <a:rPr sz="2400" spc="-4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improvement</a:t>
            </a:r>
            <a:endParaRPr sz="2400" dirty="0">
              <a:latin typeface="Trebuchet MS"/>
              <a:cs typeface="Trebuchet MS"/>
            </a:endParaRPr>
          </a:p>
          <a:p>
            <a:pPr marL="794385" lvl="1" indent="-286385">
              <a:lnSpc>
                <a:spcPct val="100000"/>
              </a:lnSpc>
              <a:spcBef>
                <a:spcPts val="259"/>
              </a:spcBef>
              <a:buChar char="–"/>
              <a:tabLst>
                <a:tab pos="794385" algn="l"/>
              </a:tabLst>
            </a:pPr>
            <a:r>
              <a:rPr sz="2000" dirty="0">
                <a:latin typeface="Trebuchet MS"/>
                <a:cs typeface="Trebuchet MS"/>
              </a:rPr>
              <a:t>need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exact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model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of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environment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590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93700" indent="-342900">
              <a:lnSpc>
                <a:spcPct val="100000"/>
              </a:lnSpc>
              <a:buChar char="•"/>
              <a:tabLst>
                <a:tab pos="3937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estimate</a:t>
            </a:r>
            <a:r>
              <a:rPr sz="2400" spc="-12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Q</a:t>
            </a:r>
            <a:r>
              <a:rPr sz="2400" spc="-15" baseline="24305" dirty="0">
                <a:solidFill>
                  <a:srgbClr val="0066FF"/>
                </a:solidFill>
                <a:latin typeface="Symbol"/>
                <a:cs typeface="Symbol"/>
              </a:rPr>
              <a:t>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(s,a)</a:t>
            </a:r>
            <a:endParaRPr sz="2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785"/>
              </a:spcBef>
              <a:buClr>
                <a:srgbClr val="0066FF"/>
              </a:buClr>
              <a:buFont typeface="Trebuchet MS"/>
              <a:buChar char="•"/>
            </a:pPr>
            <a:endParaRPr sz="2400" dirty="0">
              <a:latin typeface="Trebuchet MS"/>
              <a:cs typeface="Trebuchet MS"/>
            </a:endParaRPr>
          </a:p>
          <a:p>
            <a:pPr marL="393700" indent="-342900">
              <a:lnSpc>
                <a:spcPct val="100000"/>
              </a:lnSpc>
              <a:buChar char="•"/>
              <a:tabLst>
                <a:tab pos="3937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MC</a:t>
            </a:r>
            <a:r>
              <a:rPr sz="2400" spc="-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control</a:t>
            </a:r>
            <a:endParaRPr sz="2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35"/>
              </a:spcBef>
              <a:buClr>
                <a:srgbClr val="0066FF"/>
              </a:buClr>
              <a:buFont typeface="Trebuchet MS"/>
              <a:buChar char="•"/>
            </a:pPr>
            <a:endParaRPr sz="2400" dirty="0">
              <a:latin typeface="Trebuchet MS"/>
              <a:cs typeface="Trebuchet MS"/>
            </a:endParaRPr>
          </a:p>
          <a:p>
            <a:pPr marL="794385" lvl="1" indent="-286385">
              <a:lnSpc>
                <a:spcPct val="100000"/>
              </a:lnSpc>
              <a:buChar char="–"/>
              <a:tabLst>
                <a:tab pos="794385" algn="l"/>
              </a:tabLst>
            </a:pPr>
            <a:r>
              <a:rPr sz="2000" dirty="0">
                <a:latin typeface="Trebuchet MS"/>
                <a:cs typeface="Trebuchet MS"/>
              </a:rPr>
              <a:t>update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after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each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episode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595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93700" indent="-342900">
              <a:lnSpc>
                <a:spcPct val="100000"/>
              </a:lnSpc>
              <a:buChar char="•"/>
              <a:tabLst>
                <a:tab pos="393700" algn="l"/>
              </a:tabLst>
            </a:pP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non-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stationary</a:t>
            </a:r>
            <a:r>
              <a:rPr sz="2400" spc="-7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environment</a:t>
            </a:r>
            <a:endParaRPr sz="2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780"/>
              </a:spcBef>
              <a:buClr>
                <a:srgbClr val="0066FF"/>
              </a:buClr>
              <a:buFont typeface="Trebuchet MS"/>
              <a:buChar char="•"/>
            </a:pPr>
            <a:endParaRPr sz="2400" dirty="0">
              <a:latin typeface="Trebuchet MS"/>
              <a:cs typeface="Trebuchet MS"/>
            </a:endParaRPr>
          </a:p>
          <a:p>
            <a:pPr marL="393700" indent="-342900">
              <a:lnSpc>
                <a:spcPct val="100000"/>
              </a:lnSpc>
              <a:buChar char="•"/>
              <a:tabLst>
                <a:tab pos="3937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 problem</a:t>
            </a:r>
            <a:endParaRPr sz="2400" dirty="0">
              <a:latin typeface="Trebuchet MS"/>
              <a:cs typeface="Trebuchet MS"/>
            </a:endParaRPr>
          </a:p>
          <a:p>
            <a:pPr marL="794385" lvl="1" indent="-286385">
              <a:lnSpc>
                <a:spcPct val="100000"/>
              </a:lnSpc>
              <a:spcBef>
                <a:spcPts val="259"/>
              </a:spcBef>
              <a:buChar char="–"/>
              <a:tabLst>
                <a:tab pos="794385" algn="l"/>
              </a:tabLst>
            </a:pPr>
            <a:r>
              <a:rPr sz="2000" dirty="0">
                <a:latin typeface="Trebuchet MS"/>
                <a:cs typeface="Trebuchet MS"/>
              </a:rPr>
              <a:t>greedy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policy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won’t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explore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all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actions</a:t>
            </a:r>
            <a:endParaRPr sz="2000" dirty="0">
              <a:latin typeface="Trebuchet MS"/>
              <a:cs typeface="Trebuchet MS"/>
            </a:endParaRPr>
          </a:p>
        </p:txBody>
      </p:sp>
      <p:grpSp>
        <p:nvGrpSpPr>
          <p:cNvPr id="7" name="object 4"/>
          <p:cNvGrpSpPr/>
          <p:nvPr/>
        </p:nvGrpSpPr>
        <p:grpSpPr>
          <a:xfrm>
            <a:off x="6957313" y="1193993"/>
            <a:ext cx="2219325" cy="1381125"/>
            <a:chOff x="6243637" y="1595437"/>
            <a:chExt cx="2219325" cy="1381125"/>
          </a:xfrm>
        </p:grpSpPr>
        <p:sp>
          <p:nvSpPr>
            <p:cNvPr id="8" name="object 5"/>
            <p:cNvSpPr/>
            <p:nvPr/>
          </p:nvSpPr>
          <p:spPr>
            <a:xfrm>
              <a:off x="6364731" y="1714500"/>
              <a:ext cx="1977389" cy="1143000"/>
            </a:xfrm>
            <a:custGeom>
              <a:avLst/>
              <a:gdLst/>
              <a:ahLst/>
              <a:cxnLst/>
              <a:rect l="l" t="t" r="r" b="b"/>
              <a:pathLst>
                <a:path w="1977390" h="1143000">
                  <a:moveTo>
                    <a:pt x="930401" y="0"/>
                  </a:moveTo>
                  <a:lnTo>
                    <a:pt x="176911" y="535813"/>
                  </a:lnTo>
                </a:path>
                <a:path w="1977390" h="1143000">
                  <a:moveTo>
                    <a:pt x="930401" y="0"/>
                  </a:moveTo>
                  <a:lnTo>
                    <a:pt x="910970" y="500125"/>
                  </a:lnTo>
                </a:path>
                <a:path w="1977390" h="1143000">
                  <a:moveTo>
                    <a:pt x="930401" y="0"/>
                  </a:moveTo>
                  <a:lnTo>
                    <a:pt x="1645158" y="500125"/>
                  </a:lnTo>
                </a:path>
                <a:path w="1977390" h="1143000">
                  <a:moveTo>
                    <a:pt x="0" y="1143000"/>
                  </a:moveTo>
                  <a:lnTo>
                    <a:pt x="232537" y="457200"/>
                  </a:lnTo>
                </a:path>
                <a:path w="1977390" h="1143000">
                  <a:moveTo>
                    <a:pt x="348868" y="1143000"/>
                  </a:moveTo>
                  <a:lnTo>
                    <a:pt x="232537" y="457200"/>
                  </a:lnTo>
                </a:path>
                <a:path w="1977390" h="1143000">
                  <a:moveTo>
                    <a:pt x="814069" y="1143000"/>
                  </a:moveTo>
                  <a:lnTo>
                    <a:pt x="930401" y="457200"/>
                  </a:lnTo>
                </a:path>
                <a:path w="1977390" h="1143000">
                  <a:moveTo>
                    <a:pt x="1163065" y="1143000"/>
                  </a:moveTo>
                  <a:lnTo>
                    <a:pt x="930401" y="457200"/>
                  </a:lnTo>
                </a:path>
                <a:path w="1977390" h="1143000">
                  <a:moveTo>
                    <a:pt x="1628266" y="1143000"/>
                  </a:moveTo>
                  <a:lnTo>
                    <a:pt x="1628266" y="457200"/>
                  </a:lnTo>
                </a:path>
                <a:path w="1977390" h="1143000">
                  <a:moveTo>
                    <a:pt x="1977136" y="1143000"/>
                  </a:moveTo>
                  <a:lnTo>
                    <a:pt x="1628266" y="4572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74039" y="1595437"/>
              <a:ext cx="242189" cy="238125"/>
            </a:xfrm>
            <a:prstGeom prst="rect">
              <a:avLst/>
            </a:prstGeom>
          </p:spPr>
        </p:pic>
        <p:pic>
          <p:nvPicPr>
            <p:cNvPr id="10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98018" y="2131250"/>
              <a:ext cx="176784" cy="173736"/>
            </a:xfrm>
            <a:prstGeom prst="rect">
              <a:avLst/>
            </a:prstGeom>
          </p:spPr>
        </p:pic>
        <p:pic>
          <p:nvPicPr>
            <p:cNvPr id="11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03122" y="2131250"/>
              <a:ext cx="176784" cy="173736"/>
            </a:xfrm>
            <a:prstGeom prst="rect">
              <a:avLst/>
            </a:prstGeom>
          </p:spPr>
        </p:pic>
        <p:pic>
          <p:nvPicPr>
            <p:cNvPr id="12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22831" y="2131250"/>
              <a:ext cx="176656" cy="173736"/>
            </a:xfrm>
            <a:prstGeom prst="rect">
              <a:avLst/>
            </a:prstGeom>
          </p:spPr>
        </p:pic>
        <p:pic>
          <p:nvPicPr>
            <p:cNvPr id="13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43637" y="2738437"/>
              <a:ext cx="242188" cy="238125"/>
            </a:xfrm>
            <a:prstGeom prst="rect">
              <a:avLst/>
            </a:prstGeom>
          </p:spPr>
        </p:pic>
        <p:pic>
          <p:nvPicPr>
            <p:cNvPr id="14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92506" y="2738437"/>
              <a:ext cx="242188" cy="238125"/>
            </a:xfrm>
            <a:prstGeom prst="rect">
              <a:avLst/>
            </a:prstGeom>
          </p:spPr>
        </p:pic>
        <p:pic>
          <p:nvPicPr>
            <p:cNvPr id="15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57834" y="2738437"/>
              <a:ext cx="242061" cy="238125"/>
            </a:xfrm>
            <a:prstGeom prst="rect">
              <a:avLst/>
            </a:prstGeom>
          </p:spPr>
        </p:pic>
        <p:pic>
          <p:nvPicPr>
            <p:cNvPr id="16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06703" y="2738437"/>
              <a:ext cx="242061" cy="238125"/>
            </a:xfrm>
            <a:prstGeom prst="rect">
              <a:avLst/>
            </a:prstGeom>
          </p:spPr>
        </p:pic>
        <p:pic>
          <p:nvPicPr>
            <p:cNvPr id="17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71904" y="2738437"/>
              <a:ext cx="242188" cy="238125"/>
            </a:xfrm>
            <a:prstGeom prst="rect">
              <a:avLst/>
            </a:prstGeom>
          </p:spPr>
        </p:pic>
        <p:pic>
          <p:nvPicPr>
            <p:cNvPr id="18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20773" y="2738437"/>
              <a:ext cx="242189" cy="238125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1400604" y="3373859"/>
                <a:ext cx="632274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p>
                      <m:sSup>
                        <m:sSup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sSub>
                            <m:sSubPr>
                              <m:ctrlPr>
                                <a:rPr lang="en-IN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</m:sSup>
                      <m:sSup>
                        <m:sSup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p>
                      </m:sSup>
                      <m:sSub>
                        <m:sSub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p>
                      <m:sSup>
                        <m:sSup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sSup>
                        <m:sSup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𝐼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…</m:t>
                      </m:r>
                      <m:sSup>
                        <m:sSup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𝐼</m:t>
                          </m:r>
                        </m:sup>
                      </m:sSup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sSup>
                        <m:sSup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p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0604" y="3373859"/>
                <a:ext cx="6322742" cy="400110"/>
              </a:xfrm>
              <a:prstGeom prst="rect">
                <a:avLst/>
              </a:prstGeom>
              <a:blipFill>
                <a:blip r:embed="rId8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1450904" y="2392249"/>
                <a:ext cx="4100538" cy="4949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0904" y="2392249"/>
                <a:ext cx="4100538" cy="49494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1220748" y="5016880"/>
                <a:ext cx="456084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748" y="5016880"/>
                <a:ext cx="4560849" cy="400110"/>
              </a:xfrm>
              <a:prstGeom prst="rect">
                <a:avLst/>
              </a:prstGeom>
              <a:blipFill>
                <a:blip r:embed="rId10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90870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Maintaining</a:t>
            </a:r>
            <a:r>
              <a:rPr lang="en-IN" spc="-100" dirty="0" smtClean="0"/>
              <a:t> </a:t>
            </a:r>
            <a:r>
              <a:rPr lang="en-IN" spc="-10" dirty="0" smtClean="0"/>
              <a:t>exploration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14-04-2026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28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1182709" y="1001686"/>
            <a:ext cx="7816850" cy="493141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685"/>
              </a:spcBef>
              <a:buChar char="•"/>
              <a:tabLst>
                <a:tab pos="469900" algn="l"/>
              </a:tabLst>
            </a:pP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deterministic/greedy</a:t>
            </a:r>
            <a:r>
              <a:rPr sz="2400" spc="-3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policy</a:t>
            </a:r>
            <a:r>
              <a:rPr sz="2400" spc="-7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won’t</a:t>
            </a:r>
            <a:r>
              <a:rPr sz="2400" spc="-6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explore</a:t>
            </a:r>
            <a:r>
              <a:rPr sz="2400" spc="-6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all</a:t>
            </a:r>
            <a:r>
              <a:rPr sz="2400" spc="-7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actions</a:t>
            </a:r>
            <a:endParaRPr sz="2400">
              <a:latin typeface="Trebuchet MS"/>
              <a:cs typeface="Trebuchet MS"/>
            </a:endParaRPr>
          </a:p>
          <a:p>
            <a:pPr marL="850900" lvl="1" indent="-381000">
              <a:lnSpc>
                <a:spcPct val="100000"/>
              </a:lnSpc>
              <a:spcBef>
                <a:spcPts val="495"/>
              </a:spcBef>
              <a:buChar char="–"/>
              <a:tabLst>
                <a:tab pos="850900" algn="l"/>
              </a:tabLst>
            </a:pPr>
            <a:r>
              <a:rPr sz="2000" dirty="0">
                <a:latin typeface="Trebuchet MS"/>
                <a:cs typeface="Trebuchet MS"/>
              </a:rPr>
              <a:t>don’t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know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anything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about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environment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at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beginning</a:t>
            </a:r>
            <a:endParaRPr sz="2000">
              <a:latin typeface="Trebuchet MS"/>
              <a:cs typeface="Trebuchet MS"/>
            </a:endParaRPr>
          </a:p>
          <a:p>
            <a:pPr marL="850900" lvl="1" indent="-381000">
              <a:lnSpc>
                <a:spcPct val="100000"/>
              </a:lnSpc>
              <a:spcBef>
                <a:spcPts val="484"/>
              </a:spcBef>
              <a:buChar char="–"/>
              <a:tabLst>
                <a:tab pos="850900" algn="l"/>
              </a:tabLst>
            </a:pPr>
            <a:r>
              <a:rPr sz="2000" dirty="0">
                <a:latin typeface="Trebuchet MS"/>
                <a:cs typeface="Trebuchet MS"/>
              </a:rPr>
              <a:t>need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try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all</a:t>
            </a:r>
            <a:r>
              <a:rPr sz="2000" spc="-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actions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find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optimal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one</a:t>
            </a:r>
            <a:endParaRPr sz="20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1115"/>
              </a:spcBef>
              <a:buFont typeface="Trebuchet MS"/>
              <a:buChar char="–"/>
            </a:pPr>
            <a:endParaRPr sz="2000">
              <a:latin typeface="Trebuchet MS"/>
              <a:cs typeface="Trebuchet MS"/>
            </a:endParaRPr>
          </a:p>
          <a:p>
            <a:pPr marL="469900" indent="-457200">
              <a:lnSpc>
                <a:spcPct val="100000"/>
              </a:lnSpc>
              <a:buChar char="•"/>
              <a:tabLst>
                <a:tab pos="4699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maintain</a:t>
            </a:r>
            <a:r>
              <a:rPr sz="2400" spc="-8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exploration</a:t>
            </a:r>
            <a:endParaRPr sz="2400">
              <a:latin typeface="Trebuchet MS"/>
              <a:cs typeface="Trebuchet MS"/>
            </a:endParaRPr>
          </a:p>
          <a:p>
            <a:pPr marL="850900" lvl="1" indent="-381000">
              <a:lnSpc>
                <a:spcPct val="100000"/>
              </a:lnSpc>
              <a:spcBef>
                <a:spcPts val="500"/>
              </a:spcBef>
              <a:buChar char="–"/>
              <a:tabLst>
                <a:tab pos="850900" algn="l"/>
              </a:tabLst>
            </a:pPr>
            <a:r>
              <a:rPr sz="2000" dirty="0">
                <a:latin typeface="Trebuchet MS"/>
                <a:cs typeface="Trebuchet MS"/>
              </a:rPr>
              <a:t>use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soft</a:t>
            </a:r>
            <a:r>
              <a:rPr sz="2000" i="1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policies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instead: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Symbol"/>
                <a:cs typeface="Symbol"/>
              </a:rPr>
              <a:t></a:t>
            </a:r>
            <a:r>
              <a:rPr sz="2000" dirty="0">
                <a:latin typeface="Trebuchet MS"/>
                <a:cs typeface="Trebuchet MS"/>
              </a:rPr>
              <a:t>(s,a)&gt;0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(for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all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s,a)</a:t>
            </a:r>
            <a:endParaRPr sz="20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830"/>
              </a:spcBef>
              <a:buFont typeface="Trebuchet MS"/>
              <a:buChar char="–"/>
            </a:pPr>
            <a:endParaRPr sz="2000">
              <a:latin typeface="Trebuchet MS"/>
              <a:cs typeface="Trebuchet MS"/>
            </a:endParaRPr>
          </a:p>
          <a:p>
            <a:pPr marL="469900" indent="-457200">
              <a:lnSpc>
                <a:spcPct val="100000"/>
              </a:lnSpc>
              <a:buChar char="•"/>
              <a:tabLst>
                <a:tab pos="469900" algn="l"/>
              </a:tabLst>
            </a:pP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ε-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greedy</a:t>
            </a:r>
            <a:r>
              <a:rPr sz="2400" spc="-6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policy</a:t>
            </a:r>
            <a:endParaRPr sz="2400">
              <a:latin typeface="Trebuchet MS"/>
              <a:cs typeface="Trebuchet MS"/>
            </a:endParaRPr>
          </a:p>
          <a:p>
            <a:pPr marL="850900" lvl="1" indent="-381000">
              <a:lnSpc>
                <a:spcPct val="100000"/>
              </a:lnSpc>
              <a:spcBef>
                <a:spcPts val="495"/>
              </a:spcBef>
              <a:buChar char="–"/>
              <a:tabLst>
                <a:tab pos="850900" algn="l"/>
              </a:tabLst>
            </a:pPr>
            <a:r>
              <a:rPr sz="2000" dirty="0">
                <a:latin typeface="Trebuchet MS"/>
                <a:cs typeface="Trebuchet MS"/>
              </a:rPr>
              <a:t>with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probability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1-</a:t>
            </a:r>
            <a:r>
              <a:rPr sz="2000" dirty="0">
                <a:latin typeface="Trebuchet MS"/>
                <a:cs typeface="Trebuchet MS"/>
              </a:rPr>
              <a:t>ε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perform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optimal/greedy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action</a:t>
            </a:r>
            <a:endParaRPr sz="2000">
              <a:latin typeface="Trebuchet MS"/>
              <a:cs typeface="Trebuchet MS"/>
            </a:endParaRPr>
          </a:p>
          <a:p>
            <a:pPr marL="850900" lvl="1" indent="-381000">
              <a:lnSpc>
                <a:spcPct val="100000"/>
              </a:lnSpc>
              <a:spcBef>
                <a:spcPts val="484"/>
              </a:spcBef>
              <a:buChar char="–"/>
              <a:tabLst>
                <a:tab pos="850900" algn="l"/>
              </a:tabLst>
            </a:pPr>
            <a:r>
              <a:rPr sz="2000" dirty="0">
                <a:latin typeface="Trebuchet MS"/>
                <a:cs typeface="Trebuchet MS"/>
              </a:rPr>
              <a:t>with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probability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ε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perform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random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action</a:t>
            </a:r>
            <a:endParaRPr sz="20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745"/>
              </a:spcBef>
              <a:buFont typeface="Trebuchet MS"/>
              <a:buChar char="–"/>
            </a:pPr>
            <a:endParaRPr sz="2000">
              <a:latin typeface="Trebuchet MS"/>
              <a:cs typeface="Trebuchet MS"/>
            </a:endParaRPr>
          </a:p>
          <a:p>
            <a:pPr marL="850900" lvl="1" indent="-381000">
              <a:lnSpc>
                <a:spcPct val="100000"/>
              </a:lnSpc>
              <a:buChar char="–"/>
              <a:tabLst>
                <a:tab pos="850900" algn="l"/>
              </a:tabLst>
            </a:pPr>
            <a:r>
              <a:rPr sz="2000" dirty="0">
                <a:latin typeface="Trebuchet MS"/>
                <a:cs typeface="Trebuchet MS"/>
              </a:rPr>
              <a:t>will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keep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exploring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environment</a:t>
            </a:r>
            <a:endParaRPr sz="2000">
              <a:latin typeface="Trebuchet MS"/>
              <a:cs typeface="Trebuchet MS"/>
            </a:endParaRPr>
          </a:p>
          <a:p>
            <a:pPr marL="850900" lvl="1" indent="-381000">
              <a:lnSpc>
                <a:spcPct val="100000"/>
              </a:lnSpc>
              <a:spcBef>
                <a:spcPts val="484"/>
              </a:spcBef>
              <a:buChar char="–"/>
              <a:tabLst>
                <a:tab pos="850900" algn="l"/>
              </a:tabLst>
            </a:pPr>
            <a:r>
              <a:rPr sz="2000" dirty="0">
                <a:latin typeface="Trebuchet MS"/>
                <a:cs typeface="Trebuchet MS"/>
              </a:rPr>
              <a:t>slowly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move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it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towards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greedy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policy: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ε</a:t>
            </a:r>
            <a:r>
              <a:rPr sz="2000" spc="-20" dirty="0">
                <a:latin typeface="Trebuchet MS"/>
                <a:cs typeface="Trebuchet MS"/>
              </a:rPr>
              <a:t> -</a:t>
            </a:r>
            <a:r>
              <a:rPr sz="2000" dirty="0">
                <a:latin typeface="Trebuchet MS"/>
                <a:cs typeface="Trebuchet MS"/>
              </a:rPr>
              <a:t>&gt;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0</a:t>
            </a:r>
            <a:endParaRPr sz="200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40583857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Simulated</a:t>
            </a:r>
            <a:r>
              <a:rPr lang="en-IN" spc="-65" dirty="0" smtClean="0"/>
              <a:t> </a:t>
            </a:r>
            <a:r>
              <a:rPr lang="en-IN" spc="-10" dirty="0" smtClean="0"/>
              <a:t>experience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14-04-2026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29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929639" y="912476"/>
            <a:ext cx="7331075" cy="527304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419100" indent="-342900">
              <a:lnSpc>
                <a:spcPct val="100000"/>
              </a:lnSpc>
              <a:spcBef>
                <a:spcPts val="685"/>
              </a:spcBef>
              <a:buChar char="•"/>
              <a:tabLst>
                <a:tab pos="419100" algn="l"/>
              </a:tabLst>
            </a:pP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5-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card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draw</a:t>
            </a:r>
            <a:r>
              <a:rPr sz="2400" spc="-4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066FF"/>
                </a:solidFill>
                <a:latin typeface="Trebuchet MS"/>
                <a:cs typeface="Trebuchet MS"/>
              </a:rPr>
              <a:t>poker</a:t>
            </a:r>
            <a:endParaRPr sz="2400" dirty="0">
              <a:latin typeface="Trebuchet MS"/>
              <a:cs typeface="Trebuchet MS"/>
            </a:endParaRPr>
          </a:p>
          <a:p>
            <a:pPr marL="533400">
              <a:lnSpc>
                <a:spcPct val="100000"/>
              </a:lnSpc>
              <a:spcBef>
                <a:spcPts val="495"/>
              </a:spcBef>
              <a:tabLst>
                <a:tab pos="819785" algn="l"/>
              </a:tabLst>
            </a:pPr>
            <a:r>
              <a:rPr sz="2000" spc="-50" dirty="0">
                <a:latin typeface="Trebuchet MS"/>
                <a:cs typeface="Trebuchet MS"/>
              </a:rPr>
              <a:t>–</a:t>
            </a:r>
            <a:r>
              <a:rPr sz="2000" dirty="0">
                <a:latin typeface="Trebuchet MS"/>
                <a:cs typeface="Trebuchet MS"/>
              </a:rPr>
              <a:t>	s</a:t>
            </a:r>
            <a:r>
              <a:rPr sz="1950" baseline="-21367" dirty="0">
                <a:latin typeface="Trebuchet MS"/>
                <a:cs typeface="Trebuchet MS"/>
              </a:rPr>
              <a:t>0</a:t>
            </a:r>
            <a:r>
              <a:rPr sz="2000" dirty="0">
                <a:latin typeface="Trebuchet MS"/>
                <a:cs typeface="Trebuchet MS"/>
              </a:rPr>
              <a:t>: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dirty="0">
                <a:latin typeface="Symbol"/>
                <a:cs typeface="Symbol"/>
              </a:rPr>
              <a:t></a:t>
            </a:r>
            <a:r>
              <a:rPr sz="2000" dirty="0">
                <a:latin typeface="Trebuchet MS"/>
                <a:cs typeface="Trebuchet MS"/>
              </a:rPr>
              <a:t>,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2000" dirty="0">
                <a:solidFill>
                  <a:srgbClr val="FF0000"/>
                </a:solidFill>
                <a:latin typeface="Symbol"/>
                <a:cs typeface="Symbol"/>
              </a:rPr>
              <a:t></a:t>
            </a:r>
            <a:r>
              <a:rPr sz="2000" dirty="0">
                <a:latin typeface="Trebuchet MS"/>
                <a:cs typeface="Trebuchet MS"/>
              </a:rPr>
              <a:t>,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6</a:t>
            </a:r>
            <a:r>
              <a:rPr sz="2000" dirty="0">
                <a:latin typeface="Symbol"/>
                <a:cs typeface="Symbol"/>
              </a:rPr>
              <a:t></a:t>
            </a:r>
            <a:r>
              <a:rPr sz="2000" dirty="0">
                <a:latin typeface="Trebuchet MS"/>
                <a:cs typeface="Trebuchet MS"/>
              </a:rPr>
              <a:t>,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2000" dirty="0">
                <a:solidFill>
                  <a:srgbClr val="FF0000"/>
                </a:solidFill>
                <a:latin typeface="Symbol"/>
                <a:cs typeface="Symbol"/>
              </a:rPr>
              <a:t></a:t>
            </a:r>
            <a:r>
              <a:rPr sz="2000" dirty="0">
                <a:latin typeface="Trebuchet MS"/>
                <a:cs typeface="Trebuchet MS"/>
              </a:rPr>
              <a:t>,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2</a:t>
            </a:r>
            <a:r>
              <a:rPr sz="2000" spc="-25" dirty="0">
                <a:latin typeface="Symbol"/>
                <a:cs typeface="Symbol"/>
              </a:rPr>
              <a:t></a:t>
            </a:r>
            <a:endParaRPr sz="2000" dirty="0">
              <a:latin typeface="Symbol"/>
              <a:cs typeface="Symbol"/>
            </a:endParaRPr>
          </a:p>
          <a:p>
            <a:pPr marL="8197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819785" algn="l"/>
              </a:tabLst>
            </a:pPr>
            <a:r>
              <a:rPr sz="2000" dirty="0">
                <a:latin typeface="Trebuchet MS"/>
                <a:cs typeface="Trebuchet MS"/>
              </a:rPr>
              <a:t>a</a:t>
            </a:r>
            <a:r>
              <a:rPr sz="1950" baseline="-21367" dirty="0">
                <a:latin typeface="Trebuchet MS"/>
                <a:cs typeface="Trebuchet MS"/>
              </a:rPr>
              <a:t>0</a:t>
            </a:r>
            <a:r>
              <a:rPr sz="2000" dirty="0">
                <a:latin typeface="Trebuchet MS"/>
                <a:cs typeface="Trebuchet MS"/>
              </a:rPr>
              <a:t>: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discard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6</a:t>
            </a:r>
            <a:r>
              <a:rPr sz="2000" dirty="0">
                <a:latin typeface="Symbol"/>
                <a:cs typeface="Symbol"/>
              </a:rPr>
              <a:t></a:t>
            </a:r>
            <a:r>
              <a:rPr sz="2000" dirty="0">
                <a:latin typeface="Trebuchet MS"/>
                <a:cs typeface="Trebuchet MS"/>
              </a:rPr>
              <a:t>,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2</a:t>
            </a:r>
            <a:r>
              <a:rPr sz="2000" spc="-25" dirty="0">
                <a:latin typeface="Symbol"/>
                <a:cs typeface="Symbol"/>
              </a:rPr>
              <a:t></a:t>
            </a:r>
            <a:endParaRPr sz="2000" dirty="0">
              <a:latin typeface="Symbol"/>
              <a:cs typeface="Symbol"/>
            </a:endParaRPr>
          </a:p>
          <a:p>
            <a:pPr marL="8197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819785" algn="l"/>
              </a:tabLst>
            </a:pPr>
            <a:r>
              <a:rPr sz="2000" dirty="0">
                <a:latin typeface="Trebuchet MS"/>
                <a:cs typeface="Trebuchet MS"/>
              </a:rPr>
              <a:t>s</a:t>
            </a:r>
            <a:r>
              <a:rPr sz="1950" baseline="-21367" dirty="0">
                <a:latin typeface="Trebuchet MS"/>
                <a:cs typeface="Trebuchet MS"/>
              </a:rPr>
              <a:t>1</a:t>
            </a:r>
            <a:r>
              <a:rPr sz="2000" dirty="0">
                <a:latin typeface="Trebuchet MS"/>
                <a:cs typeface="Trebuchet MS"/>
              </a:rPr>
              <a:t>: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dirty="0">
                <a:latin typeface="Symbol"/>
                <a:cs typeface="Symbol"/>
              </a:rPr>
              <a:t></a:t>
            </a:r>
            <a:r>
              <a:rPr sz="2000" dirty="0">
                <a:latin typeface="Trebuchet MS"/>
                <a:cs typeface="Trebuchet MS"/>
              </a:rPr>
              <a:t>,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2000" dirty="0">
                <a:solidFill>
                  <a:srgbClr val="FF0000"/>
                </a:solidFill>
                <a:latin typeface="Symbol"/>
                <a:cs typeface="Symbol"/>
              </a:rPr>
              <a:t></a:t>
            </a:r>
            <a:r>
              <a:rPr sz="2000" dirty="0">
                <a:latin typeface="Trebuchet MS"/>
                <a:cs typeface="Trebuchet MS"/>
              </a:rPr>
              <a:t>,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2000" dirty="0">
                <a:solidFill>
                  <a:srgbClr val="FF0000"/>
                </a:solidFill>
                <a:latin typeface="Symbol"/>
                <a:cs typeface="Symbol"/>
              </a:rPr>
              <a:t></a:t>
            </a:r>
            <a:r>
              <a:rPr sz="2000" dirty="0">
                <a:latin typeface="Trebuchet MS"/>
                <a:cs typeface="Trebuchet MS"/>
              </a:rPr>
              <a:t>,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dirty="0">
                <a:latin typeface="Symbol"/>
                <a:cs typeface="Symbol"/>
              </a:rPr>
              <a:t></a:t>
            </a:r>
            <a:r>
              <a:rPr sz="2000" dirty="0">
                <a:latin typeface="Trebuchet MS"/>
                <a:cs typeface="Trebuchet MS"/>
              </a:rPr>
              <a:t>,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9</a:t>
            </a:r>
            <a:r>
              <a:rPr sz="2000" dirty="0">
                <a:latin typeface="Symbol"/>
                <a:cs typeface="Symbol"/>
              </a:rPr>
              <a:t>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rebuchet MS"/>
                <a:cs typeface="Trebuchet MS"/>
              </a:rPr>
              <a:t>+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dealer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takes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4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cards</a:t>
            </a:r>
            <a:endParaRPr sz="2000" dirty="0">
              <a:latin typeface="Trebuchet MS"/>
              <a:cs typeface="Trebuchet MS"/>
            </a:endParaRPr>
          </a:p>
          <a:p>
            <a:pPr marL="8197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819785" algn="l"/>
              </a:tabLst>
            </a:pPr>
            <a:r>
              <a:rPr sz="2000" dirty="0">
                <a:latin typeface="Trebuchet MS"/>
                <a:cs typeface="Trebuchet MS"/>
              </a:rPr>
              <a:t>return: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+1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(probably)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1115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419100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419100" algn="l"/>
              </a:tabLst>
            </a:pP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DP</a:t>
            </a:r>
            <a:endParaRPr sz="2400" dirty="0">
              <a:latin typeface="Trebuchet MS"/>
              <a:cs typeface="Trebuchet MS"/>
            </a:endParaRPr>
          </a:p>
          <a:p>
            <a:pPr marL="8197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819785" algn="l"/>
              </a:tabLst>
            </a:pPr>
            <a:r>
              <a:rPr sz="2000" dirty="0">
                <a:latin typeface="Trebuchet MS"/>
                <a:cs typeface="Trebuchet MS"/>
              </a:rPr>
              <a:t>list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all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states,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actions,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compute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P(s,a,s’)</a:t>
            </a:r>
            <a:endParaRPr sz="2000" dirty="0">
              <a:latin typeface="Trebuchet MS"/>
              <a:cs typeface="Trebuchet MS"/>
            </a:endParaRPr>
          </a:p>
          <a:p>
            <a:pPr marL="1217930" lvl="2" indent="-227329">
              <a:lnSpc>
                <a:spcPct val="100000"/>
              </a:lnSpc>
              <a:spcBef>
                <a:spcPts val="440"/>
              </a:spcBef>
              <a:buChar char="•"/>
              <a:tabLst>
                <a:tab pos="1217930" algn="l"/>
              </a:tabLst>
            </a:pPr>
            <a:r>
              <a:rPr sz="1800" dirty="0">
                <a:latin typeface="Trebuchet MS"/>
                <a:cs typeface="Trebuchet MS"/>
              </a:rPr>
              <a:t>P(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[A</a:t>
            </a:r>
            <a:r>
              <a:rPr sz="1800" dirty="0">
                <a:latin typeface="Symbol"/>
                <a:cs typeface="Symbol"/>
              </a:rPr>
              <a:t></a:t>
            </a:r>
            <a:r>
              <a:rPr sz="1800" dirty="0">
                <a:latin typeface="Trebuchet MS"/>
                <a:cs typeface="Trebuchet MS"/>
              </a:rPr>
              <a:t>,</a:t>
            </a:r>
            <a:r>
              <a:rPr sz="1800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1800" dirty="0">
                <a:solidFill>
                  <a:srgbClr val="FF0000"/>
                </a:solidFill>
                <a:latin typeface="Symbol"/>
                <a:cs typeface="Symbol"/>
              </a:rPr>
              <a:t></a:t>
            </a:r>
            <a:r>
              <a:rPr sz="1800" dirty="0">
                <a:latin typeface="Trebuchet MS"/>
                <a:cs typeface="Trebuchet MS"/>
              </a:rPr>
              <a:t>,6</a:t>
            </a:r>
            <a:r>
              <a:rPr sz="1800" dirty="0">
                <a:latin typeface="Symbol"/>
                <a:cs typeface="Symbol"/>
              </a:rPr>
              <a:t></a:t>
            </a:r>
            <a:r>
              <a:rPr sz="1800" dirty="0">
                <a:latin typeface="Trebuchet MS"/>
                <a:cs typeface="Trebuchet MS"/>
              </a:rPr>
              <a:t>,</a:t>
            </a:r>
            <a:r>
              <a:rPr sz="1800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1800" dirty="0">
                <a:solidFill>
                  <a:srgbClr val="FF0000"/>
                </a:solidFill>
                <a:latin typeface="Symbol"/>
                <a:cs typeface="Symbol"/>
              </a:rPr>
              <a:t></a:t>
            </a:r>
            <a:r>
              <a:rPr sz="1800" dirty="0">
                <a:latin typeface="Trebuchet MS"/>
                <a:cs typeface="Trebuchet MS"/>
              </a:rPr>
              <a:t>,2</a:t>
            </a:r>
            <a:r>
              <a:rPr sz="1800" dirty="0">
                <a:latin typeface="Symbol"/>
                <a:cs typeface="Symbol"/>
              </a:rPr>
              <a:t></a:t>
            </a:r>
            <a:r>
              <a:rPr sz="1800" dirty="0">
                <a:latin typeface="Trebuchet MS"/>
                <a:cs typeface="Trebuchet MS"/>
              </a:rPr>
              <a:t>],</a:t>
            </a:r>
            <a:r>
              <a:rPr sz="1800" spc="-8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[6</a:t>
            </a:r>
            <a:r>
              <a:rPr sz="1800" dirty="0">
                <a:latin typeface="Symbol"/>
                <a:cs typeface="Symbol"/>
              </a:rPr>
              <a:t></a:t>
            </a:r>
            <a:r>
              <a:rPr sz="1800" dirty="0">
                <a:latin typeface="Trebuchet MS"/>
                <a:cs typeface="Trebuchet MS"/>
              </a:rPr>
              <a:t>,2</a:t>
            </a:r>
            <a:r>
              <a:rPr sz="1800" dirty="0">
                <a:latin typeface="Symbol"/>
                <a:cs typeface="Symbol"/>
              </a:rPr>
              <a:t></a:t>
            </a:r>
            <a:r>
              <a:rPr sz="1800" dirty="0">
                <a:latin typeface="Trebuchet MS"/>
                <a:cs typeface="Trebuchet MS"/>
              </a:rPr>
              <a:t>],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[A</a:t>
            </a:r>
            <a:r>
              <a:rPr sz="1800" dirty="0">
                <a:latin typeface="Symbol"/>
                <a:cs typeface="Symbol"/>
              </a:rPr>
              <a:t></a:t>
            </a:r>
            <a:r>
              <a:rPr sz="1800" dirty="0">
                <a:latin typeface="Trebuchet MS"/>
                <a:cs typeface="Trebuchet MS"/>
              </a:rPr>
              <a:t>,9</a:t>
            </a:r>
            <a:r>
              <a:rPr sz="1800" dirty="0">
                <a:latin typeface="Symbol"/>
                <a:cs typeface="Symbol"/>
              </a:rPr>
              <a:t></a:t>
            </a:r>
            <a:r>
              <a:rPr sz="1800" dirty="0">
                <a:latin typeface="Trebuchet MS"/>
                <a:cs typeface="Trebuchet MS"/>
              </a:rPr>
              <a:t>,4]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)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=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0.00192</a:t>
            </a:r>
            <a:endParaRPr sz="1800" dirty="0">
              <a:latin typeface="Trebuchet MS"/>
              <a:cs typeface="Trebuchet MS"/>
            </a:endParaRPr>
          </a:p>
          <a:p>
            <a:pPr lvl="2">
              <a:lnSpc>
                <a:spcPct val="100000"/>
              </a:lnSpc>
              <a:spcBef>
                <a:spcPts val="1345"/>
              </a:spcBef>
              <a:buFont typeface="Trebuchet MS"/>
              <a:buChar char="•"/>
            </a:pPr>
            <a:endParaRPr sz="1800" dirty="0">
              <a:latin typeface="Trebuchet MS"/>
              <a:cs typeface="Trebuchet MS"/>
            </a:endParaRPr>
          </a:p>
          <a:p>
            <a:pPr marL="419100" indent="-342900">
              <a:lnSpc>
                <a:spcPct val="100000"/>
              </a:lnSpc>
              <a:buChar char="•"/>
              <a:tabLst>
                <a:tab pos="419100" algn="l"/>
              </a:tabLst>
            </a:pP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MC</a:t>
            </a:r>
            <a:endParaRPr sz="2400" dirty="0">
              <a:latin typeface="Trebuchet MS"/>
              <a:cs typeface="Trebuchet MS"/>
            </a:endParaRPr>
          </a:p>
          <a:p>
            <a:pPr marL="8197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819785" algn="l"/>
              </a:tabLst>
            </a:pPr>
            <a:r>
              <a:rPr sz="2000" dirty="0">
                <a:latin typeface="Trebuchet MS"/>
                <a:cs typeface="Trebuchet MS"/>
              </a:rPr>
              <a:t>all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you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need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are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sample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episodes</a:t>
            </a:r>
            <a:endParaRPr sz="2000" dirty="0">
              <a:latin typeface="Trebuchet MS"/>
              <a:cs typeface="Trebuchet MS"/>
            </a:endParaRPr>
          </a:p>
          <a:p>
            <a:pPr marL="819785" marR="17780" lvl="1" indent="-287020">
              <a:lnSpc>
                <a:spcPct val="100000"/>
              </a:lnSpc>
              <a:spcBef>
                <a:spcPts val="480"/>
              </a:spcBef>
              <a:buChar char="–"/>
              <a:tabLst>
                <a:tab pos="819785" algn="l"/>
              </a:tabLst>
            </a:pPr>
            <a:r>
              <a:rPr sz="2000" dirty="0">
                <a:latin typeface="Trebuchet MS"/>
                <a:cs typeface="Trebuchet MS"/>
              </a:rPr>
              <a:t>let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MC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play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against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random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policy,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or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itself,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or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another algorithm</a:t>
            </a:r>
            <a:endParaRPr sz="20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8006275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Summary</a:t>
            </a:r>
            <a:r>
              <a:rPr lang="en-IN" spc="-60" dirty="0" smtClean="0"/>
              <a:t> </a:t>
            </a:r>
            <a:r>
              <a:rPr lang="en-IN" dirty="0" smtClean="0"/>
              <a:t>of</a:t>
            </a:r>
            <a:r>
              <a:rPr lang="en-IN" spc="-10" dirty="0" smtClean="0"/>
              <a:t> </a:t>
            </a:r>
            <a:r>
              <a:rPr lang="en-IN" dirty="0" smtClean="0"/>
              <a:t>Monte</a:t>
            </a:r>
            <a:r>
              <a:rPr lang="en-IN" spc="-15" dirty="0" smtClean="0"/>
              <a:t> </a:t>
            </a:r>
            <a:r>
              <a:rPr lang="en-IN" spc="-10" dirty="0" smtClean="0"/>
              <a:t>Carlo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14-04-2026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30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892779" y="1168952"/>
            <a:ext cx="7536180" cy="434594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8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don’t</a:t>
            </a:r>
            <a:r>
              <a:rPr sz="2400" spc="-3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need</a:t>
            </a:r>
            <a:r>
              <a:rPr sz="2400" spc="-3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model</a:t>
            </a:r>
            <a:r>
              <a:rPr sz="2400" spc="-3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of</a:t>
            </a:r>
            <a:r>
              <a:rPr sz="2400" spc="-4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environment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averaging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of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sample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returns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only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for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episodic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tasks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1115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learn</a:t>
            </a:r>
            <a:r>
              <a:rPr sz="2400" spc="-5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from</a:t>
            </a:r>
            <a:r>
              <a:rPr sz="2400" spc="-7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sample</a:t>
            </a:r>
            <a:r>
              <a:rPr sz="2400" spc="-5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episodes</a:t>
            </a:r>
            <a:r>
              <a:rPr sz="2400" spc="-4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or</a:t>
            </a:r>
            <a:r>
              <a:rPr sz="2400" spc="-6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simulated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experience</a:t>
            </a:r>
            <a:endParaRPr sz="2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70"/>
              </a:spcBef>
              <a:buClr>
                <a:srgbClr val="0066FF"/>
              </a:buClr>
              <a:buFont typeface="Trebuchet MS"/>
              <a:buChar char="•"/>
            </a:pPr>
            <a:endParaRPr sz="24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can</a:t>
            </a:r>
            <a:r>
              <a:rPr sz="2400" spc="-10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concentrate</a:t>
            </a:r>
            <a:r>
              <a:rPr sz="2400" spc="-8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on</a:t>
            </a:r>
            <a:r>
              <a:rPr sz="2400" spc="-11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“important”</a:t>
            </a:r>
            <a:r>
              <a:rPr sz="2400" spc="-9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states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50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don’t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need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full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sweep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1120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need</a:t>
            </a:r>
            <a:r>
              <a:rPr sz="2400" spc="-6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to</a:t>
            </a:r>
            <a:r>
              <a:rPr sz="2400" spc="-6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maintain</a:t>
            </a:r>
            <a:r>
              <a:rPr sz="2400" spc="-5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exploration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use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soft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policies</a:t>
            </a:r>
            <a:endParaRPr sz="20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009038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-10" dirty="0"/>
              <a:t>Outline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14-04-2026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31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993140" y="915212"/>
            <a:ext cx="4137025" cy="5259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808080"/>
                </a:solidFill>
                <a:latin typeface="Trebuchet MS"/>
                <a:cs typeface="Trebuchet MS"/>
              </a:rPr>
              <a:t>examples</a:t>
            </a:r>
            <a:endParaRPr sz="2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80"/>
              </a:spcBef>
              <a:buFont typeface="Trebuchet MS"/>
              <a:buChar char="•"/>
            </a:pPr>
            <a:endParaRPr sz="24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808080"/>
                </a:solidFill>
                <a:latin typeface="Trebuchet MS"/>
                <a:cs typeface="Trebuchet MS"/>
              </a:rPr>
              <a:t>defining</a:t>
            </a:r>
            <a:r>
              <a:rPr sz="2400" spc="-3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808080"/>
                </a:solidFill>
                <a:latin typeface="Trebuchet MS"/>
                <a:cs typeface="Trebuchet MS"/>
              </a:rPr>
              <a:t>an</a:t>
            </a:r>
            <a:r>
              <a:rPr sz="2400" spc="-4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808080"/>
                </a:solidFill>
                <a:latin typeface="Trebuchet MS"/>
                <a:cs typeface="Trebuchet MS"/>
              </a:rPr>
              <a:t>RL</a:t>
            </a:r>
            <a:r>
              <a:rPr sz="2400" spc="-5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808080"/>
                </a:solidFill>
                <a:latin typeface="Trebuchet MS"/>
                <a:cs typeface="Trebuchet MS"/>
              </a:rPr>
              <a:t>problem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solidFill>
                  <a:srgbClr val="808080"/>
                </a:solidFill>
                <a:latin typeface="Trebuchet MS"/>
                <a:cs typeface="Trebuchet MS"/>
              </a:rPr>
              <a:t>Markov</a:t>
            </a:r>
            <a:r>
              <a:rPr sz="2000" spc="-20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808080"/>
                </a:solidFill>
                <a:latin typeface="Trebuchet MS"/>
                <a:cs typeface="Trebuchet MS"/>
              </a:rPr>
              <a:t>Decision</a:t>
            </a:r>
            <a:r>
              <a:rPr sz="2000" spc="-40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808080"/>
                </a:solidFill>
                <a:latin typeface="Trebuchet MS"/>
                <a:cs typeface="Trebuchet MS"/>
              </a:rPr>
              <a:t>Processes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830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55600" indent="-343535">
              <a:lnSpc>
                <a:spcPct val="100000"/>
              </a:lnSpc>
              <a:buChar char="•"/>
              <a:tabLst>
                <a:tab pos="355600" algn="l"/>
                <a:tab pos="469900" algn="l"/>
              </a:tabLst>
            </a:pPr>
            <a:r>
              <a:rPr sz="2400" dirty="0">
                <a:solidFill>
                  <a:srgbClr val="808080"/>
                </a:solidFill>
                <a:latin typeface="Trebuchet MS"/>
                <a:cs typeface="Trebuchet MS"/>
              </a:rPr>
              <a:t>solving</a:t>
            </a:r>
            <a:r>
              <a:rPr sz="2400" spc="-4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808080"/>
                </a:solidFill>
                <a:latin typeface="Trebuchet MS"/>
                <a:cs typeface="Trebuchet MS"/>
              </a:rPr>
              <a:t>an</a:t>
            </a:r>
            <a:r>
              <a:rPr sz="2400" spc="-5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808080"/>
                </a:solidFill>
                <a:latin typeface="Trebuchet MS"/>
                <a:cs typeface="Trebuchet MS"/>
              </a:rPr>
              <a:t>RL</a:t>
            </a:r>
            <a:r>
              <a:rPr sz="2400" spc="-5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808080"/>
                </a:solidFill>
                <a:latin typeface="Trebuchet MS"/>
                <a:cs typeface="Trebuchet MS"/>
              </a:rPr>
              <a:t>problem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solidFill>
                  <a:srgbClr val="808080"/>
                </a:solidFill>
                <a:latin typeface="Trebuchet MS"/>
                <a:cs typeface="Trebuchet MS"/>
              </a:rPr>
              <a:t>Dynamic</a:t>
            </a:r>
            <a:r>
              <a:rPr sz="2000" spc="-5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808080"/>
                </a:solidFill>
                <a:latin typeface="Trebuchet MS"/>
                <a:cs typeface="Trebuchet MS"/>
              </a:rPr>
              <a:t>Programming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solidFill>
                  <a:srgbClr val="808080"/>
                </a:solidFill>
                <a:latin typeface="Trebuchet MS"/>
                <a:cs typeface="Trebuchet MS"/>
              </a:rPr>
              <a:t>Monte</a:t>
            </a:r>
            <a:r>
              <a:rPr sz="2000" spc="-3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808080"/>
                </a:solidFill>
                <a:latin typeface="Trebuchet MS"/>
                <a:cs typeface="Trebuchet MS"/>
              </a:rPr>
              <a:t>Carlo</a:t>
            </a:r>
            <a:r>
              <a:rPr sz="2000" spc="-2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808080"/>
                </a:solidFill>
                <a:latin typeface="Trebuchet MS"/>
                <a:cs typeface="Trebuchet MS"/>
              </a:rPr>
              <a:t>methods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spc="-10" dirty="0">
                <a:latin typeface="Trebuchet MS"/>
                <a:cs typeface="Trebuchet MS"/>
              </a:rPr>
              <a:t>Temporal-</a:t>
            </a:r>
            <a:r>
              <a:rPr sz="2000" dirty="0">
                <a:latin typeface="Trebuchet MS"/>
                <a:cs typeface="Trebuchet MS"/>
              </a:rPr>
              <a:t>Difference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learning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835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miscellaneous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state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representation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function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approximation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spc="-10" dirty="0">
                <a:latin typeface="Trebuchet MS"/>
                <a:cs typeface="Trebuchet MS"/>
              </a:rPr>
              <a:t>rewards</a:t>
            </a:r>
            <a:endParaRPr sz="20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5460904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Temporal</a:t>
            </a:r>
            <a:r>
              <a:rPr lang="en-IN" spc="-35" dirty="0" smtClean="0"/>
              <a:t> </a:t>
            </a:r>
            <a:r>
              <a:rPr lang="en-IN" dirty="0" smtClean="0"/>
              <a:t>Difference</a:t>
            </a:r>
            <a:r>
              <a:rPr lang="en-IN" spc="-65" dirty="0" smtClean="0"/>
              <a:t> </a:t>
            </a:r>
            <a:r>
              <a:rPr lang="en-IN" spc="-10" dirty="0" smtClean="0"/>
              <a:t>Learning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14-04-2026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32</a:t>
            </a:fld>
            <a:endParaRPr lang="en-IN" dirty="0"/>
          </a:p>
        </p:txBody>
      </p:sp>
      <p:sp>
        <p:nvSpPr>
          <p:cNvPr id="9" name="object 6"/>
          <p:cNvSpPr/>
          <p:nvPr/>
        </p:nvSpPr>
        <p:spPr>
          <a:xfrm>
            <a:off x="4259767" y="5525430"/>
            <a:ext cx="1739592" cy="118521"/>
          </a:xfrm>
          <a:custGeom>
            <a:avLst/>
            <a:gdLst/>
            <a:ahLst/>
            <a:cxnLst/>
            <a:rect l="l" t="t" r="r" b="b"/>
            <a:pathLst>
              <a:path w="2133600" h="76200">
                <a:moveTo>
                  <a:pt x="2133600" y="76200"/>
                </a:moveTo>
                <a:lnTo>
                  <a:pt x="2133600" y="46537"/>
                </a:lnTo>
                <a:lnTo>
                  <a:pt x="2133600" y="22317"/>
                </a:lnTo>
                <a:lnTo>
                  <a:pt x="2133600" y="5987"/>
                </a:lnTo>
                <a:lnTo>
                  <a:pt x="2133600" y="0"/>
                </a:lnTo>
                <a:lnTo>
                  <a:pt x="0" y="0"/>
                </a:lnTo>
                <a:lnTo>
                  <a:pt x="0" y="5987"/>
                </a:lnTo>
                <a:lnTo>
                  <a:pt x="0" y="22317"/>
                </a:lnTo>
                <a:lnTo>
                  <a:pt x="0" y="46537"/>
                </a:lnTo>
                <a:lnTo>
                  <a:pt x="0" y="76200"/>
                </a:lnTo>
              </a:path>
            </a:pathLst>
          </a:custGeom>
          <a:ln w="349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7"/>
          <p:cNvGrpSpPr/>
          <p:nvPr/>
        </p:nvGrpSpPr>
        <p:grpSpPr>
          <a:xfrm>
            <a:off x="6464805" y="3920468"/>
            <a:ext cx="3108325" cy="165100"/>
            <a:chOff x="5862637" y="4110037"/>
            <a:chExt cx="3108325" cy="165100"/>
          </a:xfrm>
        </p:grpSpPr>
        <p:sp>
          <p:nvSpPr>
            <p:cNvPr id="11" name="object 8"/>
            <p:cNvSpPr/>
            <p:nvPr/>
          </p:nvSpPr>
          <p:spPr>
            <a:xfrm>
              <a:off x="5916676" y="4191000"/>
              <a:ext cx="2897505" cy="0"/>
            </a:xfrm>
            <a:custGeom>
              <a:avLst/>
              <a:gdLst/>
              <a:ahLst/>
              <a:cxnLst/>
              <a:rect l="l" t="t" r="r" b="b"/>
              <a:pathLst>
                <a:path w="2897504">
                  <a:moveTo>
                    <a:pt x="0" y="0"/>
                  </a:moveTo>
                  <a:lnTo>
                    <a:pt x="2897124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62637" y="4110037"/>
              <a:ext cx="161925" cy="161925"/>
            </a:xfrm>
            <a:prstGeom prst="rect">
              <a:avLst/>
            </a:prstGeom>
          </p:spPr>
        </p:pic>
        <p:pic>
          <p:nvPicPr>
            <p:cNvPr id="13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97713" y="4110037"/>
              <a:ext cx="161925" cy="161925"/>
            </a:xfrm>
            <a:prstGeom prst="rect">
              <a:avLst/>
            </a:prstGeom>
          </p:spPr>
        </p:pic>
        <p:pic>
          <p:nvPicPr>
            <p:cNvPr id="14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51638" y="4132262"/>
              <a:ext cx="118999" cy="118999"/>
            </a:xfrm>
            <a:prstGeom prst="rect">
              <a:avLst/>
            </a:prstGeom>
          </p:spPr>
        </p:pic>
        <p:pic>
          <p:nvPicPr>
            <p:cNvPr id="15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34313" y="4110037"/>
              <a:ext cx="161925" cy="161925"/>
            </a:xfrm>
            <a:prstGeom prst="rect">
              <a:avLst/>
            </a:prstGeom>
          </p:spPr>
        </p:pic>
        <p:pic>
          <p:nvPicPr>
            <p:cNvPr id="16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86587" y="4132262"/>
              <a:ext cx="119125" cy="118999"/>
            </a:xfrm>
            <a:prstGeom prst="rect">
              <a:avLst/>
            </a:prstGeom>
          </p:spPr>
        </p:pic>
        <p:pic>
          <p:nvPicPr>
            <p:cNvPr id="17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69262" y="4110037"/>
              <a:ext cx="161925" cy="161925"/>
            </a:xfrm>
            <a:prstGeom prst="rect">
              <a:avLst/>
            </a:prstGeom>
          </p:spPr>
        </p:pic>
        <p:pic>
          <p:nvPicPr>
            <p:cNvPr id="18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3187" y="4132262"/>
              <a:ext cx="119125" cy="118999"/>
            </a:xfrm>
            <a:prstGeom prst="rect">
              <a:avLst/>
            </a:prstGeom>
          </p:spPr>
        </p:pic>
        <p:pic>
          <p:nvPicPr>
            <p:cNvPr id="19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58263" y="4132262"/>
              <a:ext cx="118999" cy="118999"/>
            </a:xfrm>
            <a:prstGeom prst="rect">
              <a:avLst/>
            </a:prstGeom>
          </p:spPr>
        </p:pic>
        <p:sp>
          <p:nvSpPr>
            <p:cNvPr id="20" name="object 17"/>
            <p:cNvSpPr/>
            <p:nvPr/>
          </p:nvSpPr>
          <p:spPr>
            <a:xfrm>
              <a:off x="8813800" y="411797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8"/>
            <p:cNvSpPr/>
            <p:nvPr/>
          </p:nvSpPr>
          <p:spPr>
            <a:xfrm>
              <a:off x="8813800" y="411797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52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19"/>
          <p:cNvGrpSpPr/>
          <p:nvPr/>
        </p:nvGrpSpPr>
        <p:grpSpPr>
          <a:xfrm>
            <a:off x="8676256" y="5368268"/>
            <a:ext cx="897255" cy="161925"/>
            <a:chOff x="8074088" y="5557837"/>
            <a:chExt cx="897255" cy="161925"/>
          </a:xfrm>
        </p:grpSpPr>
        <p:sp>
          <p:nvSpPr>
            <p:cNvPr id="23" name="object 20"/>
            <p:cNvSpPr/>
            <p:nvPr/>
          </p:nvSpPr>
          <p:spPr>
            <a:xfrm>
              <a:off x="8128000" y="5638800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74088" y="5557837"/>
              <a:ext cx="161925" cy="161925"/>
            </a:xfrm>
            <a:prstGeom prst="rect">
              <a:avLst/>
            </a:prstGeom>
          </p:spPr>
        </p:pic>
        <p:pic>
          <p:nvPicPr>
            <p:cNvPr id="25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09037" y="5557837"/>
              <a:ext cx="161925" cy="161925"/>
            </a:xfrm>
            <a:prstGeom prst="rect">
              <a:avLst/>
            </a:prstGeom>
          </p:spPr>
        </p:pic>
        <p:pic>
          <p:nvPicPr>
            <p:cNvPr id="26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462962" y="5580062"/>
              <a:ext cx="118999" cy="119062"/>
            </a:xfrm>
            <a:prstGeom prst="rect">
              <a:avLst/>
            </a:prstGeom>
          </p:spPr>
        </p:pic>
      </p:grpSp>
      <p:sp>
        <p:nvSpPr>
          <p:cNvPr id="27" name="object 24"/>
          <p:cNvSpPr txBox="1"/>
          <p:nvPr/>
        </p:nvSpPr>
        <p:spPr>
          <a:xfrm>
            <a:off x="1138108" y="979383"/>
            <a:ext cx="7740015" cy="441896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8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combines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ideas</a:t>
            </a:r>
            <a:r>
              <a:rPr sz="2400" spc="-3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from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MC</a:t>
            </a:r>
            <a:r>
              <a:rPr sz="2400" spc="-4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and</a:t>
            </a:r>
            <a:r>
              <a:rPr sz="2400" spc="-3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DP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like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MC: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learn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directly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from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experience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(don’t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need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model)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like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DP: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learn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from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values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of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successors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works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for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continuous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tasks,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usually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faster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than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MC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1115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355600" algn="l"/>
              </a:tabLst>
            </a:pPr>
            <a:r>
              <a:rPr sz="2400" spc="-20" dirty="0">
                <a:solidFill>
                  <a:srgbClr val="0066FF"/>
                </a:solidFill>
                <a:latin typeface="Trebuchet MS"/>
                <a:cs typeface="Trebuchet MS"/>
              </a:rPr>
              <a:t>constant-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alpha</a:t>
            </a:r>
            <a:r>
              <a:rPr sz="2400" spc="2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MC: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have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wait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until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end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of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episode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update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470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4632960">
              <a:lnSpc>
                <a:spcPts val="2380"/>
              </a:lnSpc>
            </a:pPr>
            <a:r>
              <a:rPr sz="2000" b="1" spc="-10" dirty="0">
                <a:solidFill>
                  <a:srgbClr val="FF0000"/>
                </a:solidFill>
                <a:latin typeface="Trebuchet MS"/>
                <a:cs typeface="Trebuchet MS"/>
              </a:rPr>
              <a:t>target</a:t>
            </a:r>
            <a:endParaRPr sz="2000" dirty="0">
              <a:latin typeface="Trebuchet MS"/>
              <a:cs typeface="Trebuchet MS"/>
            </a:endParaRPr>
          </a:p>
          <a:p>
            <a:pPr marL="355600" indent="-342900">
              <a:lnSpc>
                <a:spcPts val="2860"/>
              </a:lnSpc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simplest</a:t>
            </a:r>
            <a:r>
              <a:rPr sz="2400" spc="-114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35" dirty="0">
                <a:solidFill>
                  <a:srgbClr val="0066FF"/>
                </a:solidFill>
                <a:latin typeface="Trebuchet MS"/>
                <a:cs typeface="Trebuchet MS"/>
              </a:rPr>
              <a:t>TD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update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after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every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step,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based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on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successor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28" name="object 25"/>
          <p:cNvSpPr/>
          <p:nvPr/>
        </p:nvSpPr>
        <p:spPr>
          <a:xfrm>
            <a:off x="4716968" y="4209076"/>
            <a:ext cx="996315" cy="344170"/>
          </a:xfrm>
          <a:custGeom>
            <a:avLst/>
            <a:gdLst/>
            <a:ahLst/>
            <a:cxnLst/>
            <a:rect l="l" t="t" r="r" b="b"/>
            <a:pathLst>
              <a:path w="996314" h="344170">
                <a:moveTo>
                  <a:pt x="114908" y="36354"/>
                </a:moveTo>
                <a:lnTo>
                  <a:pt x="103682" y="72785"/>
                </a:lnTo>
                <a:lnTo>
                  <a:pt x="985012" y="343915"/>
                </a:lnTo>
                <a:lnTo>
                  <a:pt x="996188" y="307593"/>
                </a:lnTo>
                <a:lnTo>
                  <a:pt x="114908" y="36354"/>
                </a:lnTo>
                <a:close/>
              </a:path>
              <a:path w="996314" h="344170">
                <a:moveTo>
                  <a:pt x="126111" y="0"/>
                </a:moveTo>
                <a:lnTo>
                  <a:pt x="0" y="20954"/>
                </a:lnTo>
                <a:lnTo>
                  <a:pt x="92455" y="109219"/>
                </a:lnTo>
                <a:lnTo>
                  <a:pt x="103682" y="72785"/>
                </a:lnTo>
                <a:lnTo>
                  <a:pt x="85471" y="67182"/>
                </a:lnTo>
                <a:lnTo>
                  <a:pt x="96647" y="30733"/>
                </a:lnTo>
                <a:lnTo>
                  <a:pt x="116640" y="30733"/>
                </a:lnTo>
                <a:lnTo>
                  <a:pt x="126111" y="0"/>
                </a:lnTo>
                <a:close/>
              </a:path>
              <a:path w="996314" h="344170">
                <a:moveTo>
                  <a:pt x="96647" y="30733"/>
                </a:moveTo>
                <a:lnTo>
                  <a:pt x="85471" y="67182"/>
                </a:lnTo>
                <a:lnTo>
                  <a:pt x="103682" y="72785"/>
                </a:lnTo>
                <a:lnTo>
                  <a:pt x="114908" y="36354"/>
                </a:lnTo>
                <a:lnTo>
                  <a:pt x="96647" y="30733"/>
                </a:lnTo>
                <a:close/>
              </a:path>
              <a:path w="996314" h="344170">
                <a:moveTo>
                  <a:pt x="116640" y="30733"/>
                </a:moveTo>
                <a:lnTo>
                  <a:pt x="96647" y="30733"/>
                </a:lnTo>
                <a:lnTo>
                  <a:pt x="114908" y="36354"/>
                </a:lnTo>
                <a:lnTo>
                  <a:pt x="116640" y="3073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6"/>
          <p:cNvSpPr/>
          <p:nvPr/>
        </p:nvSpPr>
        <p:spPr>
          <a:xfrm>
            <a:off x="5307980" y="4677959"/>
            <a:ext cx="569133" cy="771272"/>
          </a:xfrm>
          <a:custGeom>
            <a:avLst/>
            <a:gdLst/>
            <a:ahLst/>
            <a:cxnLst/>
            <a:rect l="l" t="t" r="r" b="b"/>
            <a:pathLst>
              <a:path w="398145" h="695325">
                <a:moveTo>
                  <a:pt x="5587" y="567436"/>
                </a:moveTo>
                <a:lnTo>
                  <a:pt x="0" y="695071"/>
                </a:lnTo>
                <a:lnTo>
                  <a:pt x="105410" y="622935"/>
                </a:lnTo>
                <a:lnTo>
                  <a:pt x="101983" y="621030"/>
                </a:lnTo>
                <a:lnTo>
                  <a:pt x="62864" y="621030"/>
                </a:lnTo>
                <a:lnTo>
                  <a:pt x="29590" y="602615"/>
                </a:lnTo>
                <a:lnTo>
                  <a:pt x="38858" y="585933"/>
                </a:lnTo>
                <a:lnTo>
                  <a:pt x="5587" y="567436"/>
                </a:lnTo>
                <a:close/>
              </a:path>
              <a:path w="398145" h="695325">
                <a:moveTo>
                  <a:pt x="38858" y="585933"/>
                </a:moveTo>
                <a:lnTo>
                  <a:pt x="29590" y="602615"/>
                </a:lnTo>
                <a:lnTo>
                  <a:pt x="62864" y="621030"/>
                </a:lnTo>
                <a:lnTo>
                  <a:pt x="72097" y="604414"/>
                </a:lnTo>
                <a:lnTo>
                  <a:pt x="38858" y="585933"/>
                </a:lnTo>
                <a:close/>
              </a:path>
              <a:path w="398145" h="695325">
                <a:moveTo>
                  <a:pt x="72097" y="604414"/>
                </a:moveTo>
                <a:lnTo>
                  <a:pt x="62864" y="621030"/>
                </a:lnTo>
                <a:lnTo>
                  <a:pt x="101983" y="621030"/>
                </a:lnTo>
                <a:lnTo>
                  <a:pt x="72097" y="604414"/>
                </a:lnTo>
                <a:close/>
              </a:path>
              <a:path w="398145" h="695325">
                <a:moveTo>
                  <a:pt x="364363" y="0"/>
                </a:moveTo>
                <a:lnTo>
                  <a:pt x="38858" y="585933"/>
                </a:lnTo>
                <a:lnTo>
                  <a:pt x="72097" y="604414"/>
                </a:lnTo>
                <a:lnTo>
                  <a:pt x="397637" y="18542"/>
                </a:lnTo>
                <a:lnTo>
                  <a:pt x="36436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27"/>
          <p:cNvSpPr/>
          <p:nvPr/>
        </p:nvSpPr>
        <p:spPr>
          <a:xfrm>
            <a:off x="4259768" y="4153831"/>
            <a:ext cx="381000" cy="76200"/>
          </a:xfrm>
          <a:custGeom>
            <a:avLst/>
            <a:gdLst/>
            <a:ahLst/>
            <a:cxnLst/>
            <a:rect l="l" t="t" r="r" b="b"/>
            <a:pathLst>
              <a:path w="381000" h="76200">
                <a:moveTo>
                  <a:pt x="381000" y="0"/>
                </a:moveTo>
                <a:lnTo>
                  <a:pt x="381000" y="29640"/>
                </a:lnTo>
                <a:lnTo>
                  <a:pt x="381000" y="53863"/>
                </a:lnTo>
                <a:lnTo>
                  <a:pt x="381000" y="70205"/>
                </a:lnTo>
                <a:lnTo>
                  <a:pt x="381000" y="76200"/>
                </a:lnTo>
                <a:lnTo>
                  <a:pt x="0" y="76200"/>
                </a:lnTo>
                <a:lnTo>
                  <a:pt x="0" y="70205"/>
                </a:lnTo>
                <a:lnTo>
                  <a:pt x="0" y="53863"/>
                </a:lnTo>
                <a:lnTo>
                  <a:pt x="0" y="29640"/>
                </a:lnTo>
                <a:lnTo>
                  <a:pt x="0" y="0"/>
                </a:lnTo>
              </a:path>
            </a:pathLst>
          </a:custGeom>
          <a:ln w="349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1943711" y="3814007"/>
                <a:ext cx="390983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3711" y="3814007"/>
                <a:ext cx="3909834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1445015" y="5620844"/>
                <a:ext cx="640265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5015" y="5620844"/>
                <a:ext cx="6402659" cy="400110"/>
              </a:xfrm>
              <a:prstGeom prst="rect">
                <a:avLst/>
              </a:prstGeom>
              <a:blipFill>
                <a:blip r:embed="rId10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637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MC</a:t>
            </a:r>
            <a:r>
              <a:rPr lang="en-IN" spc="-35" dirty="0" smtClean="0"/>
              <a:t> </a:t>
            </a:r>
            <a:r>
              <a:rPr lang="en-IN" dirty="0" smtClean="0"/>
              <a:t>vs.</a:t>
            </a:r>
            <a:r>
              <a:rPr lang="en-IN" spc="-55" dirty="0" smtClean="0"/>
              <a:t> </a:t>
            </a:r>
            <a:r>
              <a:rPr lang="en-IN" spc="-25" dirty="0" smtClean="0"/>
              <a:t>TD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14-04-2026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33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837022" y="931101"/>
            <a:ext cx="5113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observed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the</a:t>
            </a:r>
            <a:r>
              <a:rPr sz="2400" spc="-7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following</a:t>
            </a:r>
            <a:r>
              <a:rPr sz="2400" spc="-6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8</a:t>
            </a:r>
            <a:r>
              <a:rPr sz="2400" spc="-6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episodes:</a:t>
            </a:r>
            <a:endParaRPr sz="2400">
              <a:latin typeface="Trebuchet MS"/>
              <a:cs typeface="Trebuchet MS"/>
            </a:endParaRPr>
          </a:p>
        </p:txBody>
      </p:sp>
      <p:graphicFrame>
        <p:nvGraphicFramePr>
          <p:cNvPr id="7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3259133"/>
              </p:ext>
            </p:extLst>
          </p:nvPr>
        </p:nvGraphicFramePr>
        <p:xfrm>
          <a:off x="1275476" y="1387293"/>
          <a:ext cx="6530340" cy="6610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86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7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77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0835">
                <a:tc>
                  <a:txBody>
                    <a:bodyPr/>
                    <a:lstStyle/>
                    <a:p>
                      <a:pPr marL="31750">
                        <a:lnSpc>
                          <a:spcPts val="2285"/>
                        </a:lnSpc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0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20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0,</a:t>
                      </a:r>
                      <a:r>
                        <a:rPr sz="20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50" dirty="0">
                          <a:latin typeface="Trebuchet MS"/>
                          <a:cs typeface="Trebuchet MS"/>
                        </a:rPr>
                        <a:t>0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1495">
                        <a:lnSpc>
                          <a:spcPts val="2285"/>
                        </a:lnSpc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20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60" dirty="0">
                          <a:latin typeface="Trebuchet MS"/>
                          <a:cs typeface="Trebuchet MS"/>
                        </a:rPr>
                        <a:t>1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85"/>
                        </a:lnSpc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20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60" dirty="0">
                          <a:latin typeface="Trebuchet MS"/>
                          <a:cs typeface="Trebuchet MS"/>
                        </a:rPr>
                        <a:t>1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285"/>
                        </a:lnSpc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20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60" dirty="0">
                          <a:latin typeface="Trebuchet MS"/>
                          <a:cs typeface="Trebuchet MS"/>
                        </a:rPr>
                        <a:t>1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31750">
                        <a:lnSpc>
                          <a:spcPts val="2345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20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60" dirty="0">
                          <a:latin typeface="Trebuchet MS"/>
                          <a:cs typeface="Trebuchet MS"/>
                        </a:rPr>
                        <a:t>1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20320" marB="0"/>
                </a:tc>
                <a:tc>
                  <a:txBody>
                    <a:bodyPr/>
                    <a:lstStyle/>
                    <a:p>
                      <a:pPr marL="531495">
                        <a:lnSpc>
                          <a:spcPts val="2345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20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60" dirty="0">
                          <a:latin typeface="Trebuchet MS"/>
                          <a:cs typeface="Trebuchet MS"/>
                        </a:rPr>
                        <a:t>1</a:t>
                      </a:r>
                      <a:endParaRPr sz="2000" dirty="0">
                        <a:latin typeface="Trebuchet MS"/>
                        <a:cs typeface="Trebuchet MS"/>
                      </a:endParaRPr>
                    </a:p>
                  </a:txBody>
                  <a:tcPr marL="0" marR="0" marT="203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5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20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60" dirty="0">
                          <a:latin typeface="Trebuchet MS"/>
                          <a:cs typeface="Trebuchet MS"/>
                        </a:rPr>
                        <a:t>1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2032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345"/>
                        </a:lnSpc>
                        <a:spcBef>
                          <a:spcPts val="160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20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60" dirty="0">
                          <a:latin typeface="Trebuchet MS"/>
                          <a:cs typeface="Trebuchet MS"/>
                        </a:rPr>
                        <a:t>0</a:t>
                      </a:r>
                      <a:endParaRPr sz="2000" dirty="0">
                        <a:latin typeface="Trebuchet MS"/>
                        <a:cs typeface="Trebuchet MS"/>
                      </a:endParaRPr>
                    </a:p>
                  </a:txBody>
                  <a:tcPr marL="0" marR="0" marT="2032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object 5"/>
          <p:cNvSpPr txBox="1"/>
          <p:nvPr/>
        </p:nvSpPr>
        <p:spPr>
          <a:xfrm>
            <a:off x="837022" y="2467370"/>
            <a:ext cx="7653655" cy="1564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MC</a:t>
            </a:r>
            <a:r>
              <a:rPr sz="2400" spc="-3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and</a:t>
            </a:r>
            <a:r>
              <a:rPr sz="2400" spc="-3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TD</a:t>
            </a:r>
            <a:r>
              <a:rPr sz="2400" spc="-3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agree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on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V(B)</a:t>
            </a:r>
            <a:r>
              <a:rPr sz="2400" spc="-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=</a:t>
            </a:r>
            <a:r>
              <a:rPr sz="2400" spc="-2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3/4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70"/>
              </a:spcBef>
              <a:buClr>
                <a:srgbClr val="0066FF"/>
              </a:buClr>
              <a:buFont typeface="Trebuchet MS"/>
              <a:buChar char="•"/>
            </a:pPr>
            <a:endParaRPr sz="24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MC:</a:t>
            </a:r>
            <a:r>
              <a:rPr sz="2400" spc="-3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V(A)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=</a:t>
            </a:r>
            <a:r>
              <a:rPr sz="2400" spc="-3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0066FF"/>
                </a:solidFill>
                <a:latin typeface="Trebuchet MS"/>
                <a:cs typeface="Trebuchet MS"/>
              </a:rPr>
              <a:t>0</a:t>
            </a:r>
            <a:endParaRPr sz="24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500"/>
              </a:spcBef>
              <a:tabLst>
                <a:tab pos="756285" algn="l"/>
              </a:tabLst>
            </a:pPr>
            <a:r>
              <a:rPr sz="2000" spc="-50" dirty="0">
                <a:latin typeface="Trebuchet MS"/>
                <a:cs typeface="Trebuchet MS"/>
              </a:rPr>
              <a:t>–</a:t>
            </a:r>
            <a:r>
              <a:rPr sz="2000" dirty="0">
                <a:latin typeface="Trebuchet MS"/>
                <a:cs typeface="Trebuchet MS"/>
              </a:rPr>
              <a:t>	converges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values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that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minimize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error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on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training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data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9" name="object 6"/>
          <p:cNvSpPr txBox="1"/>
          <p:nvPr/>
        </p:nvSpPr>
        <p:spPr>
          <a:xfrm>
            <a:off x="837022" y="4368583"/>
            <a:ext cx="3674745" cy="113919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90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TD: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V(A)</a:t>
            </a:r>
            <a:r>
              <a:rPr sz="2400" spc="-2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=</a:t>
            </a:r>
            <a:r>
              <a:rPr sz="2400" spc="-5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3/4</a:t>
            </a:r>
            <a:endParaRPr sz="2400">
              <a:latin typeface="Trebuchet MS"/>
              <a:cs typeface="Trebuchet MS"/>
            </a:endParaRPr>
          </a:p>
          <a:p>
            <a:pPr marL="756285" marR="5080" indent="-287020">
              <a:lnSpc>
                <a:spcPct val="100000"/>
              </a:lnSpc>
              <a:spcBef>
                <a:spcPts val="495"/>
              </a:spcBef>
              <a:tabLst>
                <a:tab pos="756285" algn="l"/>
              </a:tabLst>
            </a:pPr>
            <a:r>
              <a:rPr sz="2000" spc="-50" dirty="0">
                <a:latin typeface="Trebuchet MS"/>
                <a:cs typeface="Trebuchet MS"/>
              </a:rPr>
              <a:t>–</a:t>
            </a:r>
            <a:r>
              <a:rPr sz="2000" dirty="0">
                <a:latin typeface="Trebuchet MS"/>
                <a:cs typeface="Trebuchet MS"/>
              </a:rPr>
              <a:t>	converges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ML</a:t>
            </a:r>
            <a:r>
              <a:rPr sz="2000" spc="-10" dirty="0">
                <a:latin typeface="Trebuchet MS"/>
                <a:cs typeface="Trebuchet MS"/>
              </a:rPr>
              <a:t> estimate </a:t>
            </a:r>
            <a:r>
              <a:rPr sz="2000" dirty="0">
                <a:latin typeface="Trebuchet MS"/>
                <a:cs typeface="Trebuchet MS"/>
              </a:rPr>
              <a:t>of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Markov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process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0" name="object 7"/>
          <p:cNvSpPr/>
          <p:nvPr/>
        </p:nvSpPr>
        <p:spPr>
          <a:xfrm>
            <a:off x="5254082" y="497732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190500"/>
                </a:moveTo>
                <a:lnTo>
                  <a:pt x="5034" y="146837"/>
                </a:lnTo>
                <a:lnTo>
                  <a:pt x="19372" y="106746"/>
                </a:lnTo>
                <a:lnTo>
                  <a:pt x="41867" y="71374"/>
                </a:lnTo>
                <a:lnTo>
                  <a:pt x="71374" y="41867"/>
                </a:lnTo>
                <a:lnTo>
                  <a:pt x="106746" y="19372"/>
                </a:lnTo>
                <a:lnTo>
                  <a:pt x="146837" y="5034"/>
                </a:lnTo>
                <a:lnTo>
                  <a:pt x="190500" y="0"/>
                </a:lnTo>
                <a:lnTo>
                  <a:pt x="234162" y="5034"/>
                </a:lnTo>
                <a:lnTo>
                  <a:pt x="274253" y="19372"/>
                </a:lnTo>
                <a:lnTo>
                  <a:pt x="309625" y="41867"/>
                </a:lnTo>
                <a:lnTo>
                  <a:pt x="339132" y="71374"/>
                </a:lnTo>
                <a:lnTo>
                  <a:pt x="361627" y="106746"/>
                </a:lnTo>
                <a:lnTo>
                  <a:pt x="375965" y="146837"/>
                </a:lnTo>
                <a:lnTo>
                  <a:pt x="381000" y="190500"/>
                </a:lnTo>
                <a:lnTo>
                  <a:pt x="375965" y="234162"/>
                </a:lnTo>
                <a:lnTo>
                  <a:pt x="361627" y="274253"/>
                </a:lnTo>
                <a:lnTo>
                  <a:pt x="339132" y="309625"/>
                </a:lnTo>
                <a:lnTo>
                  <a:pt x="309625" y="339132"/>
                </a:lnTo>
                <a:lnTo>
                  <a:pt x="274253" y="361627"/>
                </a:lnTo>
                <a:lnTo>
                  <a:pt x="234162" y="375965"/>
                </a:lnTo>
                <a:lnTo>
                  <a:pt x="190500" y="381000"/>
                </a:lnTo>
                <a:lnTo>
                  <a:pt x="146837" y="375965"/>
                </a:lnTo>
                <a:lnTo>
                  <a:pt x="106746" y="361627"/>
                </a:lnTo>
                <a:lnTo>
                  <a:pt x="71374" y="339132"/>
                </a:lnTo>
                <a:lnTo>
                  <a:pt x="41867" y="309625"/>
                </a:lnTo>
                <a:lnTo>
                  <a:pt x="19372" y="274253"/>
                </a:lnTo>
                <a:lnTo>
                  <a:pt x="5034" y="234162"/>
                </a:lnTo>
                <a:lnTo>
                  <a:pt x="0" y="1905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8"/>
          <p:cNvSpPr txBox="1"/>
          <p:nvPr/>
        </p:nvSpPr>
        <p:spPr>
          <a:xfrm>
            <a:off x="5357841" y="4995940"/>
            <a:ext cx="17589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latin typeface="Trebuchet MS"/>
                <a:cs typeface="Trebuchet MS"/>
              </a:rPr>
              <a:t>A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12" name="object 9"/>
          <p:cNvGrpSpPr/>
          <p:nvPr/>
        </p:nvGrpSpPr>
        <p:grpSpPr>
          <a:xfrm>
            <a:off x="5644607" y="4443922"/>
            <a:ext cx="2428875" cy="1371600"/>
            <a:chOff x="5343525" y="4756150"/>
            <a:chExt cx="2428875" cy="1371600"/>
          </a:xfrm>
        </p:grpSpPr>
        <p:sp>
          <p:nvSpPr>
            <p:cNvPr id="13" name="object 10"/>
            <p:cNvSpPr/>
            <p:nvPr/>
          </p:nvSpPr>
          <p:spPr>
            <a:xfrm>
              <a:off x="6400800" y="528955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190500"/>
                  </a:moveTo>
                  <a:lnTo>
                    <a:pt x="5034" y="146837"/>
                  </a:lnTo>
                  <a:lnTo>
                    <a:pt x="19372" y="106746"/>
                  </a:lnTo>
                  <a:lnTo>
                    <a:pt x="41867" y="71374"/>
                  </a:lnTo>
                  <a:lnTo>
                    <a:pt x="71374" y="41867"/>
                  </a:lnTo>
                  <a:lnTo>
                    <a:pt x="106746" y="19372"/>
                  </a:lnTo>
                  <a:lnTo>
                    <a:pt x="146837" y="5034"/>
                  </a:lnTo>
                  <a:lnTo>
                    <a:pt x="190500" y="0"/>
                  </a:lnTo>
                  <a:lnTo>
                    <a:pt x="234162" y="5034"/>
                  </a:lnTo>
                  <a:lnTo>
                    <a:pt x="274253" y="19372"/>
                  </a:lnTo>
                  <a:lnTo>
                    <a:pt x="309625" y="41867"/>
                  </a:lnTo>
                  <a:lnTo>
                    <a:pt x="339132" y="71374"/>
                  </a:lnTo>
                  <a:lnTo>
                    <a:pt x="361627" y="106746"/>
                  </a:lnTo>
                  <a:lnTo>
                    <a:pt x="375965" y="146837"/>
                  </a:lnTo>
                  <a:lnTo>
                    <a:pt x="381000" y="190500"/>
                  </a:ln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5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1"/>
            <p:cNvSpPr/>
            <p:nvPr/>
          </p:nvSpPr>
          <p:spPr>
            <a:xfrm>
              <a:off x="7467600" y="4756149"/>
              <a:ext cx="304800" cy="1371600"/>
            </a:xfrm>
            <a:custGeom>
              <a:avLst/>
              <a:gdLst/>
              <a:ahLst/>
              <a:cxnLst/>
              <a:rect l="l" t="t" r="r" b="b"/>
              <a:pathLst>
                <a:path w="304800" h="1371600">
                  <a:moveTo>
                    <a:pt x="304800" y="1066800"/>
                  </a:moveTo>
                  <a:lnTo>
                    <a:pt x="0" y="1066800"/>
                  </a:lnTo>
                  <a:lnTo>
                    <a:pt x="0" y="1371600"/>
                  </a:lnTo>
                  <a:lnTo>
                    <a:pt x="304800" y="1371600"/>
                  </a:lnTo>
                  <a:lnTo>
                    <a:pt x="304800" y="1066800"/>
                  </a:lnTo>
                  <a:close/>
                </a:path>
                <a:path w="304800" h="1371600">
                  <a:moveTo>
                    <a:pt x="3048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2"/>
            <p:cNvSpPr/>
            <p:nvPr/>
          </p:nvSpPr>
          <p:spPr>
            <a:xfrm>
              <a:off x="5343525" y="4908549"/>
              <a:ext cx="2124075" cy="1066800"/>
            </a:xfrm>
            <a:custGeom>
              <a:avLst/>
              <a:gdLst/>
              <a:ahLst/>
              <a:cxnLst/>
              <a:rect l="l" t="t" r="r" b="b"/>
              <a:pathLst>
                <a:path w="2124075" h="1066800">
                  <a:moveTo>
                    <a:pt x="1047750" y="571500"/>
                  </a:moveTo>
                  <a:lnTo>
                    <a:pt x="1005408" y="558800"/>
                  </a:lnTo>
                  <a:lnTo>
                    <a:pt x="920750" y="533400"/>
                  </a:lnTo>
                  <a:lnTo>
                    <a:pt x="920750" y="558800"/>
                  </a:lnTo>
                  <a:lnTo>
                    <a:pt x="0" y="558800"/>
                  </a:lnTo>
                  <a:lnTo>
                    <a:pt x="0" y="584200"/>
                  </a:lnTo>
                  <a:lnTo>
                    <a:pt x="920750" y="584200"/>
                  </a:lnTo>
                  <a:lnTo>
                    <a:pt x="920750" y="609600"/>
                  </a:lnTo>
                  <a:lnTo>
                    <a:pt x="1005408" y="584200"/>
                  </a:lnTo>
                  <a:lnTo>
                    <a:pt x="1047750" y="571500"/>
                  </a:lnTo>
                  <a:close/>
                </a:path>
                <a:path w="2124075" h="1066800">
                  <a:moveTo>
                    <a:pt x="2124075" y="1066800"/>
                  </a:moveTo>
                  <a:lnTo>
                    <a:pt x="2082533" y="1029385"/>
                  </a:lnTo>
                  <a:lnTo>
                    <a:pt x="2025523" y="978039"/>
                  </a:lnTo>
                  <a:lnTo>
                    <a:pt x="2014677" y="1001001"/>
                  </a:lnTo>
                  <a:lnTo>
                    <a:pt x="1388110" y="704481"/>
                  </a:lnTo>
                  <a:lnTo>
                    <a:pt x="1377315" y="727443"/>
                  </a:lnTo>
                  <a:lnTo>
                    <a:pt x="2003844" y="1023950"/>
                  </a:lnTo>
                  <a:lnTo>
                    <a:pt x="1993011" y="1046911"/>
                  </a:lnTo>
                  <a:lnTo>
                    <a:pt x="2124075" y="1066800"/>
                  </a:lnTo>
                  <a:close/>
                </a:path>
                <a:path w="2124075" h="1066800">
                  <a:moveTo>
                    <a:pt x="2124075" y="0"/>
                  </a:moveTo>
                  <a:lnTo>
                    <a:pt x="1995043" y="30353"/>
                  </a:lnTo>
                  <a:lnTo>
                    <a:pt x="2007717" y="52412"/>
                  </a:lnTo>
                  <a:lnTo>
                    <a:pt x="1376426" y="416052"/>
                  </a:lnTo>
                  <a:lnTo>
                    <a:pt x="1388999" y="438023"/>
                  </a:lnTo>
                  <a:lnTo>
                    <a:pt x="2020366" y="74409"/>
                  </a:lnTo>
                  <a:lnTo>
                    <a:pt x="2033016" y="96393"/>
                  </a:lnTo>
                  <a:lnTo>
                    <a:pt x="2080514" y="46101"/>
                  </a:lnTo>
                  <a:lnTo>
                    <a:pt x="21240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3"/>
          <p:cNvSpPr txBox="1"/>
          <p:nvPr/>
        </p:nvSpPr>
        <p:spPr>
          <a:xfrm>
            <a:off x="5898860" y="4867339"/>
            <a:ext cx="5251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r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=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0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20" dirty="0">
                <a:latin typeface="Trebuchet MS"/>
                <a:cs typeface="Trebuchet MS"/>
              </a:rPr>
              <a:t>100%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7" name="object 14"/>
          <p:cNvSpPr txBox="1"/>
          <p:nvPr/>
        </p:nvSpPr>
        <p:spPr>
          <a:xfrm>
            <a:off x="6934800" y="4211766"/>
            <a:ext cx="4914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r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=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1</a:t>
            </a:r>
            <a:endParaRPr sz="1800">
              <a:latin typeface="Trebuchet MS"/>
              <a:cs typeface="Trebuchet MS"/>
            </a:endParaRPr>
          </a:p>
          <a:p>
            <a:pPr marL="56515">
              <a:lnSpc>
                <a:spcPct val="100000"/>
              </a:lnSpc>
            </a:pPr>
            <a:r>
              <a:rPr sz="1800" spc="-25" dirty="0">
                <a:latin typeface="Trebuchet MS"/>
                <a:cs typeface="Trebuchet MS"/>
              </a:rPr>
              <a:t>75%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8" name="object 15"/>
          <p:cNvSpPr txBox="1"/>
          <p:nvPr/>
        </p:nvSpPr>
        <p:spPr>
          <a:xfrm>
            <a:off x="6808942" y="4816251"/>
            <a:ext cx="617220" cy="1221105"/>
          </a:xfrm>
          <a:prstGeom prst="rect">
            <a:avLst/>
          </a:prstGeom>
        </p:spPr>
        <p:txBody>
          <a:bodyPr vert="horz" wrap="square" lIns="0" tIns="193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sz="2000" spc="-50" dirty="0">
                <a:latin typeface="Trebuchet MS"/>
                <a:cs typeface="Trebuchet MS"/>
              </a:rPr>
              <a:t>B</a:t>
            </a:r>
            <a:endParaRPr sz="2000">
              <a:latin typeface="Trebuchet MS"/>
              <a:cs typeface="Trebuchet MS"/>
            </a:endParaRPr>
          </a:p>
          <a:p>
            <a:pPr marL="138430">
              <a:lnSpc>
                <a:spcPct val="100000"/>
              </a:lnSpc>
              <a:spcBef>
                <a:spcPts val="1270"/>
              </a:spcBef>
            </a:pPr>
            <a:r>
              <a:rPr sz="1800" dirty="0">
                <a:latin typeface="Trebuchet MS"/>
                <a:cs typeface="Trebuchet MS"/>
              </a:rPr>
              <a:t>r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=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0</a:t>
            </a:r>
            <a:endParaRPr sz="1800">
              <a:latin typeface="Trebuchet MS"/>
              <a:cs typeface="Trebuchet MS"/>
            </a:endParaRPr>
          </a:p>
          <a:p>
            <a:pPr marL="182245">
              <a:lnSpc>
                <a:spcPct val="100000"/>
              </a:lnSpc>
            </a:pPr>
            <a:r>
              <a:rPr sz="1800" spc="-25" dirty="0">
                <a:latin typeface="Trebuchet MS"/>
                <a:cs typeface="Trebuchet MS"/>
              </a:rPr>
              <a:t>25%</a:t>
            </a:r>
            <a:endParaRPr sz="180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074241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-10" dirty="0" err="1" smtClean="0"/>
              <a:t>Sarsa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14-04-2026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34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1048895" y="1076064"/>
            <a:ext cx="47771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again,</a:t>
            </a:r>
            <a:r>
              <a:rPr sz="2400" spc="-6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need</a:t>
            </a:r>
            <a:r>
              <a:rPr sz="2400" spc="-5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Q(s,a),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not</a:t>
            </a:r>
            <a:r>
              <a:rPr sz="2400" spc="-7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just</a:t>
            </a:r>
            <a:r>
              <a:rPr sz="2400" spc="-6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066FF"/>
                </a:solidFill>
                <a:latin typeface="Trebuchet MS"/>
                <a:cs typeface="Trebuchet MS"/>
              </a:rPr>
              <a:t>V(s)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7" name="object 4"/>
          <p:cNvSpPr txBox="1"/>
          <p:nvPr/>
        </p:nvSpPr>
        <p:spPr>
          <a:xfrm>
            <a:off x="1048895" y="3635794"/>
            <a:ext cx="4326890" cy="156591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85"/>
              </a:spcBef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control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start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with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random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policy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update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Q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Symbol"/>
                <a:cs typeface="Symbol"/>
              </a:rPr>
              <a:t>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rebuchet MS"/>
                <a:cs typeface="Trebuchet MS"/>
              </a:rPr>
              <a:t>after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each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step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again,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need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Symbol"/>
                <a:cs typeface="Symbol"/>
              </a:rPr>
              <a:t></a:t>
            </a:r>
            <a:r>
              <a:rPr sz="2000" spc="-10" dirty="0">
                <a:latin typeface="Trebuchet MS"/>
                <a:cs typeface="Trebuchet MS"/>
              </a:rPr>
              <a:t>-</a:t>
            </a:r>
            <a:r>
              <a:rPr sz="2000" dirty="0">
                <a:latin typeface="Trebuchet MS"/>
                <a:cs typeface="Trebuchet MS"/>
              </a:rPr>
              <a:t>soft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policies</a:t>
            </a:r>
            <a:endParaRPr sz="2000" dirty="0">
              <a:latin typeface="Trebuchet MS"/>
              <a:cs typeface="Trebuchet MS"/>
            </a:endParaRPr>
          </a:p>
        </p:txBody>
      </p:sp>
      <p:grpSp>
        <p:nvGrpSpPr>
          <p:cNvPr id="8" name="object 5"/>
          <p:cNvGrpSpPr/>
          <p:nvPr/>
        </p:nvGrpSpPr>
        <p:grpSpPr>
          <a:xfrm>
            <a:off x="889192" y="1732972"/>
            <a:ext cx="8172450" cy="598805"/>
            <a:chOff x="376237" y="1900237"/>
            <a:chExt cx="8172450" cy="598805"/>
          </a:xfrm>
        </p:grpSpPr>
        <p:sp>
          <p:nvSpPr>
            <p:cNvPr id="9" name="object 6"/>
            <p:cNvSpPr/>
            <p:nvPr/>
          </p:nvSpPr>
          <p:spPr>
            <a:xfrm>
              <a:off x="571322" y="2201545"/>
              <a:ext cx="7963534" cy="0"/>
            </a:xfrm>
            <a:custGeom>
              <a:avLst/>
              <a:gdLst/>
              <a:ahLst/>
              <a:cxnLst/>
              <a:rect l="l" t="t" r="r" b="b"/>
              <a:pathLst>
                <a:path w="7963534">
                  <a:moveTo>
                    <a:pt x="0" y="0"/>
                  </a:moveTo>
                  <a:lnTo>
                    <a:pt x="7963077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7"/>
            <p:cNvSpPr/>
            <p:nvPr/>
          </p:nvSpPr>
          <p:spPr>
            <a:xfrm>
              <a:off x="381000" y="1905000"/>
              <a:ext cx="591820" cy="589280"/>
            </a:xfrm>
            <a:custGeom>
              <a:avLst/>
              <a:gdLst/>
              <a:ahLst/>
              <a:cxnLst/>
              <a:rect l="l" t="t" r="r" b="b"/>
              <a:pathLst>
                <a:path w="591819" h="589280">
                  <a:moveTo>
                    <a:pt x="295719" y="0"/>
                  </a:moveTo>
                  <a:lnTo>
                    <a:pt x="247752" y="3853"/>
                  </a:lnTo>
                  <a:lnTo>
                    <a:pt x="202249" y="15011"/>
                  </a:lnTo>
                  <a:lnTo>
                    <a:pt x="159819" y="32866"/>
                  </a:lnTo>
                  <a:lnTo>
                    <a:pt x="121071" y="56814"/>
                  </a:lnTo>
                  <a:lnTo>
                    <a:pt x="86614" y="86248"/>
                  </a:lnTo>
                  <a:lnTo>
                    <a:pt x="57056" y="120563"/>
                  </a:lnTo>
                  <a:lnTo>
                    <a:pt x="33007" y="159153"/>
                  </a:lnTo>
                  <a:lnTo>
                    <a:pt x="15075" y="201411"/>
                  </a:lnTo>
                  <a:lnTo>
                    <a:pt x="3870" y="246733"/>
                  </a:lnTo>
                  <a:lnTo>
                    <a:pt x="0" y="294513"/>
                  </a:lnTo>
                  <a:lnTo>
                    <a:pt x="3870" y="342257"/>
                  </a:lnTo>
                  <a:lnTo>
                    <a:pt x="15075" y="387552"/>
                  </a:lnTo>
                  <a:lnTo>
                    <a:pt x="33007" y="429789"/>
                  </a:lnTo>
                  <a:lnTo>
                    <a:pt x="57056" y="468362"/>
                  </a:lnTo>
                  <a:lnTo>
                    <a:pt x="86613" y="502665"/>
                  </a:lnTo>
                  <a:lnTo>
                    <a:pt x="121071" y="532092"/>
                  </a:lnTo>
                  <a:lnTo>
                    <a:pt x="159819" y="556035"/>
                  </a:lnTo>
                  <a:lnTo>
                    <a:pt x="202249" y="573888"/>
                  </a:lnTo>
                  <a:lnTo>
                    <a:pt x="247752" y="585045"/>
                  </a:lnTo>
                  <a:lnTo>
                    <a:pt x="295719" y="588899"/>
                  </a:lnTo>
                  <a:lnTo>
                    <a:pt x="343690" y="585045"/>
                  </a:lnTo>
                  <a:lnTo>
                    <a:pt x="389196" y="573888"/>
                  </a:lnTo>
                  <a:lnTo>
                    <a:pt x="431628" y="556035"/>
                  </a:lnTo>
                  <a:lnTo>
                    <a:pt x="470377" y="532092"/>
                  </a:lnTo>
                  <a:lnTo>
                    <a:pt x="504836" y="502665"/>
                  </a:lnTo>
                  <a:lnTo>
                    <a:pt x="534394" y="468362"/>
                  </a:lnTo>
                  <a:lnTo>
                    <a:pt x="558443" y="429789"/>
                  </a:lnTo>
                  <a:lnTo>
                    <a:pt x="576375" y="387552"/>
                  </a:lnTo>
                  <a:lnTo>
                    <a:pt x="587581" y="342257"/>
                  </a:lnTo>
                  <a:lnTo>
                    <a:pt x="591451" y="294513"/>
                  </a:lnTo>
                  <a:lnTo>
                    <a:pt x="587581" y="246733"/>
                  </a:lnTo>
                  <a:lnTo>
                    <a:pt x="576375" y="201411"/>
                  </a:lnTo>
                  <a:lnTo>
                    <a:pt x="558443" y="159153"/>
                  </a:lnTo>
                  <a:lnTo>
                    <a:pt x="534394" y="120563"/>
                  </a:lnTo>
                  <a:lnTo>
                    <a:pt x="504836" y="86248"/>
                  </a:lnTo>
                  <a:lnTo>
                    <a:pt x="470377" y="56814"/>
                  </a:lnTo>
                  <a:lnTo>
                    <a:pt x="431628" y="32866"/>
                  </a:lnTo>
                  <a:lnTo>
                    <a:pt x="389196" y="15011"/>
                  </a:lnTo>
                  <a:lnTo>
                    <a:pt x="343690" y="3853"/>
                  </a:lnTo>
                  <a:lnTo>
                    <a:pt x="295719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8"/>
            <p:cNvSpPr/>
            <p:nvPr/>
          </p:nvSpPr>
          <p:spPr>
            <a:xfrm>
              <a:off x="381000" y="1905000"/>
              <a:ext cx="591820" cy="589280"/>
            </a:xfrm>
            <a:custGeom>
              <a:avLst/>
              <a:gdLst/>
              <a:ahLst/>
              <a:cxnLst/>
              <a:rect l="l" t="t" r="r" b="b"/>
              <a:pathLst>
                <a:path w="591819" h="589280">
                  <a:moveTo>
                    <a:pt x="0" y="294513"/>
                  </a:moveTo>
                  <a:lnTo>
                    <a:pt x="3870" y="246733"/>
                  </a:lnTo>
                  <a:lnTo>
                    <a:pt x="15075" y="201411"/>
                  </a:lnTo>
                  <a:lnTo>
                    <a:pt x="33007" y="159153"/>
                  </a:lnTo>
                  <a:lnTo>
                    <a:pt x="57056" y="120563"/>
                  </a:lnTo>
                  <a:lnTo>
                    <a:pt x="86614" y="86248"/>
                  </a:lnTo>
                  <a:lnTo>
                    <a:pt x="121071" y="56814"/>
                  </a:lnTo>
                  <a:lnTo>
                    <a:pt x="159819" y="32866"/>
                  </a:lnTo>
                  <a:lnTo>
                    <a:pt x="202249" y="15011"/>
                  </a:lnTo>
                  <a:lnTo>
                    <a:pt x="247752" y="3853"/>
                  </a:lnTo>
                  <a:lnTo>
                    <a:pt x="295719" y="0"/>
                  </a:lnTo>
                  <a:lnTo>
                    <a:pt x="343690" y="3853"/>
                  </a:lnTo>
                  <a:lnTo>
                    <a:pt x="389196" y="15011"/>
                  </a:lnTo>
                  <a:lnTo>
                    <a:pt x="431628" y="32866"/>
                  </a:lnTo>
                  <a:lnTo>
                    <a:pt x="470377" y="56814"/>
                  </a:lnTo>
                  <a:lnTo>
                    <a:pt x="504836" y="86248"/>
                  </a:lnTo>
                  <a:lnTo>
                    <a:pt x="534394" y="120563"/>
                  </a:lnTo>
                  <a:lnTo>
                    <a:pt x="558443" y="159153"/>
                  </a:lnTo>
                  <a:lnTo>
                    <a:pt x="576375" y="201411"/>
                  </a:lnTo>
                  <a:lnTo>
                    <a:pt x="587581" y="246733"/>
                  </a:lnTo>
                  <a:lnTo>
                    <a:pt x="591451" y="294513"/>
                  </a:lnTo>
                  <a:lnTo>
                    <a:pt x="587581" y="342257"/>
                  </a:lnTo>
                  <a:lnTo>
                    <a:pt x="576375" y="387552"/>
                  </a:lnTo>
                  <a:lnTo>
                    <a:pt x="558443" y="429789"/>
                  </a:lnTo>
                  <a:lnTo>
                    <a:pt x="534394" y="468362"/>
                  </a:lnTo>
                  <a:lnTo>
                    <a:pt x="504836" y="502665"/>
                  </a:lnTo>
                  <a:lnTo>
                    <a:pt x="470377" y="532092"/>
                  </a:lnTo>
                  <a:lnTo>
                    <a:pt x="431628" y="556035"/>
                  </a:lnTo>
                  <a:lnTo>
                    <a:pt x="389196" y="573888"/>
                  </a:lnTo>
                  <a:lnTo>
                    <a:pt x="343690" y="585045"/>
                  </a:lnTo>
                  <a:lnTo>
                    <a:pt x="295719" y="588899"/>
                  </a:lnTo>
                  <a:lnTo>
                    <a:pt x="247752" y="585045"/>
                  </a:lnTo>
                  <a:lnTo>
                    <a:pt x="202249" y="573888"/>
                  </a:lnTo>
                  <a:lnTo>
                    <a:pt x="159819" y="556035"/>
                  </a:lnTo>
                  <a:lnTo>
                    <a:pt x="121071" y="532092"/>
                  </a:lnTo>
                  <a:lnTo>
                    <a:pt x="86613" y="502665"/>
                  </a:lnTo>
                  <a:lnTo>
                    <a:pt x="57056" y="468362"/>
                  </a:lnTo>
                  <a:lnTo>
                    <a:pt x="33007" y="429789"/>
                  </a:lnTo>
                  <a:lnTo>
                    <a:pt x="15075" y="387552"/>
                  </a:lnTo>
                  <a:lnTo>
                    <a:pt x="3870" y="342257"/>
                  </a:lnTo>
                  <a:lnTo>
                    <a:pt x="0" y="294513"/>
                  </a:lnTo>
                  <a:close/>
                </a:path>
              </a:pathLst>
            </a:custGeom>
            <a:ln w="9525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/>
          <p:cNvSpPr txBox="1"/>
          <p:nvPr/>
        </p:nvSpPr>
        <p:spPr>
          <a:xfrm>
            <a:off x="1046355" y="1829556"/>
            <a:ext cx="2851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s</a:t>
            </a:r>
            <a:r>
              <a:rPr sz="2400" spc="-37" baseline="-20833" dirty="0">
                <a:latin typeface="Arial MT"/>
                <a:cs typeface="Arial MT"/>
              </a:rPr>
              <a:t>t</a:t>
            </a:r>
            <a:endParaRPr sz="2400" baseline="-20833">
              <a:latin typeface="Arial MT"/>
              <a:cs typeface="Arial MT"/>
            </a:endParaRPr>
          </a:p>
        </p:txBody>
      </p:sp>
      <p:grpSp>
        <p:nvGrpSpPr>
          <p:cNvPr id="13" name="object 10"/>
          <p:cNvGrpSpPr/>
          <p:nvPr/>
        </p:nvGrpSpPr>
        <p:grpSpPr>
          <a:xfrm>
            <a:off x="2395412" y="1732972"/>
            <a:ext cx="1939925" cy="598805"/>
            <a:chOff x="1882457" y="1900237"/>
            <a:chExt cx="1939925" cy="598805"/>
          </a:xfrm>
        </p:grpSpPr>
        <p:sp>
          <p:nvSpPr>
            <p:cNvPr id="14" name="object 11"/>
            <p:cNvSpPr/>
            <p:nvPr/>
          </p:nvSpPr>
          <p:spPr>
            <a:xfrm>
              <a:off x="3227705" y="1905000"/>
              <a:ext cx="589915" cy="589280"/>
            </a:xfrm>
            <a:custGeom>
              <a:avLst/>
              <a:gdLst/>
              <a:ahLst/>
              <a:cxnLst/>
              <a:rect l="l" t="t" r="r" b="b"/>
              <a:pathLst>
                <a:path w="589914" h="589280">
                  <a:moveTo>
                    <a:pt x="294767" y="0"/>
                  </a:moveTo>
                  <a:lnTo>
                    <a:pt x="246949" y="3853"/>
                  </a:lnTo>
                  <a:lnTo>
                    <a:pt x="201590" y="15011"/>
                  </a:lnTo>
                  <a:lnTo>
                    <a:pt x="159296" y="32866"/>
                  </a:lnTo>
                  <a:lnTo>
                    <a:pt x="120673" y="56814"/>
                  </a:lnTo>
                  <a:lnTo>
                    <a:pt x="86328" y="86248"/>
                  </a:lnTo>
                  <a:lnTo>
                    <a:pt x="56867" y="120563"/>
                  </a:lnTo>
                  <a:lnTo>
                    <a:pt x="32897" y="159153"/>
                  </a:lnTo>
                  <a:lnTo>
                    <a:pt x="15025" y="201411"/>
                  </a:lnTo>
                  <a:lnTo>
                    <a:pt x="3857" y="246733"/>
                  </a:lnTo>
                  <a:lnTo>
                    <a:pt x="0" y="294513"/>
                  </a:lnTo>
                  <a:lnTo>
                    <a:pt x="3857" y="342257"/>
                  </a:lnTo>
                  <a:lnTo>
                    <a:pt x="15025" y="387552"/>
                  </a:lnTo>
                  <a:lnTo>
                    <a:pt x="32897" y="429789"/>
                  </a:lnTo>
                  <a:lnTo>
                    <a:pt x="56867" y="468362"/>
                  </a:lnTo>
                  <a:lnTo>
                    <a:pt x="86328" y="502665"/>
                  </a:lnTo>
                  <a:lnTo>
                    <a:pt x="120673" y="532092"/>
                  </a:lnTo>
                  <a:lnTo>
                    <a:pt x="159296" y="556035"/>
                  </a:lnTo>
                  <a:lnTo>
                    <a:pt x="201590" y="573888"/>
                  </a:lnTo>
                  <a:lnTo>
                    <a:pt x="246949" y="585045"/>
                  </a:lnTo>
                  <a:lnTo>
                    <a:pt x="294767" y="588899"/>
                  </a:lnTo>
                  <a:lnTo>
                    <a:pt x="342549" y="585045"/>
                  </a:lnTo>
                  <a:lnTo>
                    <a:pt x="387881" y="573888"/>
                  </a:lnTo>
                  <a:lnTo>
                    <a:pt x="430154" y="556035"/>
                  </a:lnTo>
                  <a:lnTo>
                    <a:pt x="468761" y="532092"/>
                  </a:lnTo>
                  <a:lnTo>
                    <a:pt x="503094" y="502665"/>
                  </a:lnTo>
                  <a:lnTo>
                    <a:pt x="532547" y="468362"/>
                  </a:lnTo>
                  <a:lnTo>
                    <a:pt x="556512" y="429789"/>
                  </a:lnTo>
                  <a:lnTo>
                    <a:pt x="574382" y="387552"/>
                  </a:lnTo>
                  <a:lnTo>
                    <a:pt x="585549" y="342257"/>
                  </a:lnTo>
                  <a:lnTo>
                    <a:pt x="589407" y="294513"/>
                  </a:lnTo>
                  <a:lnTo>
                    <a:pt x="585549" y="246733"/>
                  </a:lnTo>
                  <a:lnTo>
                    <a:pt x="574382" y="201411"/>
                  </a:lnTo>
                  <a:lnTo>
                    <a:pt x="556512" y="159153"/>
                  </a:lnTo>
                  <a:lnTo>
                    <a:pt x="532547" y="120563"/>
                  </a:lnTo>
                  <a:lnTo>
                    <a:pt x="503094" y="86248"/>
                  </a:lnTo>
                  <a:lnTo>
                    <a:pt x="468761" y="56814"/>
                  </a:lnTo>
                  <a:lnTo>
                    <a:pt x="430154" y="32866"/>
                  </a:lnTo>
                  <a:lnTo>
                    <a:pt x="387881" y="15011"/>
                  </a:lnTo>
                  <a:lnTo>
                    <a:pt x="342549" y="3853"/>
                  </a:lnTo>
                  <a:lnTo>
                    <a:pt x="294767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2"/>
            <p:cNvSpPr/>
            <p:nvPr/>
          </p:nvSpPr>
          <p:spPr>
            <a:xfrm>
              <a:off x="3227705" y="1905000"/>
              <a:ext cx="589915" cy="589280"/>
            </a:xfrm>
            <a:custGeom>
              <a:avLst/>
              <a:gdLst/>
              <a:ahLst/>
              <a:cxnLst/>
              <a:rect l="l" t="t" r="r" b="b"/>
              <a:pathLst>
                <a:path w="589914" h="589280">
                  <a:moveTo>
                    <a:pt x="0" y="294513"/>
                  </a:moveTo>
                  <a:lnTo>
                    <a:pt x="3857" y="246733"/>
                  </a:lnTo>
                  <a:lnTo>
                    <a:pt x="15025" y="201411"/>
                  </a:lnTo>
                  <a:lnTo>
                    <a:pt x="32897" y="159153"/>
                  </a:lnTo>
                  <a:lnTo>
                    <a:pt x="56867" y="120563"/>
                  </a:lnTo>
                  <a:lnTo>
                    <a:pt x="86328" y="86248"/>
                  </a:lnTo>
                  <a:lnTo>
                    <a:pt x="120673" y="56814"/>
                  </a:lnTo>
                  <a:lnTo>
                    <a:pt x="159296" y="32866"/>
                  </a:lnTo>
                  <a:lnTo>
                    <a:pt x="201590" y="15011"/>
                  </a:lnTo>
                  <a:lnTo>
                    <a:pt x="246949" y="3853"/>
                  </a:lnTo>
                  <a:lnTo>
                    <a:pt x="294767" y="0"/>
                  </a:lnTo>
                  <a:lnTo>
                    <a:pt x="342549" y="3853"/>
                  </a:lnTo>
                  <a:lnTo>
                    <a:pt x="387881" y="15011"/>
                  </a:lnTo>
                  <a:lnTo>
                    <a:pt x="430154" y="32866"/>
                  </a:lnTo>
                  <a:lnTo>
                    <a:pt x="468761" y="56814"/>
                  </a:lnTo>
                  <a:lnTo>
                    <a:pt x="503094" y="86248"/>
                  </a:lnTo>
                  <a:lnTo>
                    <a:pt x="532547" y="120563"/>
                  </a:lnTo>
                  <a:lnTo>
                    <a:pt x="556512" y="159153"/>
                  </a:lnTo>
                  <a:lnTo>
                    <a:pt x="574382" y="201411"/>
                  </a:lnTo>
                  <a:lnTo>
                    <a:pt x="585549" y="246733"/>
                  </a:lnTo>
                  <a:lnTo>
                    <a:pt x="589407" y="294513"/>
                  </a:lnTo>
                  <a:lnTo>
                    <a:pt x="585549" y="342257"/>
                  </a:lnTo>
                  <a:lnTo>
                    <a:pt x="574382" y="387552"/>
                  </a:lnTo>
                  <a:lnTo>
                    <a:pt x="556512" y="429789"/>
                  </a:lnTo>
                  <a:lnTo>
                    <a:pt x="532547" y="468362"/>
                  </a:lnTo>
                  <a:lnTo>
                    <a:pt x="503094" y="502665"/>
                  </a:lnTo>
                  <a:lnTo>
                    <a:pt x="468761" y="532092"/>
                  </a:lnTo>
                  <a:lnTo>
                    <a:pt x="430154" y="556035"/>
                  </a:lnTo>
                  <a:lnTo>
                    <a:pt x="387881" y="573888"/>
                  </a:lnTo>
                  <a:lnTo>
                    <a:pt x="342549" y="585045"/>
                  </a:lnTo>
                  <a:lnTo>
                    <a:pt x="294767" y="588899"/>
                  </a:lnTo>
                  <a:lnTo>
                    <a:pt x="246949" y="585045"/>
                  </a:lnTo>
                  <a:lnTo>
                    <a:pt x="201590" y="573888"/>
                  </a:lnTo>
                  <a:lnTo>
                    <a:pt x="159296" y="556035"/>
                  </a:lnTo>
                  <a:lnTo>
                    <a:pt x="120673" y="532092"/>
                  </a:lnTo>
                  <a:lnTo>
                    <a:pt x="86328" y="502665"/>
                  </a:lnTo>
                  <a:lnTo>
                    <a:pt x="56867" y="468362"/>
                  </a:lnTo>
                  <a:lnTo>
                    <a:pt x="32897" y="429789"/>
                  </a:lnTo>
                  <a:lnTo>
                    <a:pt x="15025" y="387552"/>
                  </a:lnTo>
                  <a:lnTo>
                    <a:pt x="3857" y="342257"/>
                  </a:lnTo>
                  <a:lnTo>
                    <a:pt x="0" y="294513"/>
                  </a:lnTo>
                  <a:close/>
                </a:path>
              </a:pathLst>
            </a:custGeom>
            <a:ln w="9524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3"/>
            <p:cNvSpPr/>
            <p:nvPr/>
          </p:nvSpPr>
          <p:spPr>
            <a:xfrm>
              <a:off x="1887220" y="1990852"/>
              <a:ext cx="424180" cy="425450"/>
            </a:xfrm>
            <a:custGeom>
              <a:avLst/>
              <a:gdLst/>
              <a:ahLst/>
              <a:cxnLst/>
              <a:rect l="l" t="t" r="r" b="b"/>
              <a:pathLst>
                <a:path w="424180" h="425450">
                  <a:moveTo>
                    <a:pt x="211836" y="0"/>
                  </a:moveTo>
                  <a:lnTo>
                    <a:pt x="163272" y="5618"/>
                  </a:lnTo>
                  <a:lnTo>
                    <a:pt x="118687" y="21623"/>
                  </a:lnTo>
                  <a:lnTo>
                    <a:pt x="79354" y="46736"/>
                  </a:lnTo>
                  <a:lnTo>
                    <a:pt x="46546" y="79680"/>
                  </a:lnTo>
                  <a:lnTo>
                    <a:pt x="21535" y="119178"/>
                  </a:lnTo>
                  <a:lnTo>
                    <a:pt x="5596" y="163952"/>
                  </a:lnTo>
                  <a:lnTo>
                    <a:pt x="0" y="212725"/>
                  </a:lnTo>
                  <a:lnTo>
                    <a:pt x="5596" y="261497"/>
                  </a:lnTo>
                  <a:lnTo>
                    <a:pt x="21535" y="306271"/>
                  </a:lnTo>
                  <a:lnTo>
                    <a:pt x="46546" y="345769"/>
                  </a:lnTo>
                  <a:lnTo>
                    <a:pt x="79354" y="378713"/>
                  </a:lnTo>
                  <a:lnTo>
                    <a:pt x="118687" y="403826"/>
                  </a:lnTo>
                  <a:lnTo>
                    <a:pt x="163272" y="419831"/>
                  </a:lnTo>
                  <a:lnTo>
                    <a:pt x="211836" y="425450"/>
                  </a:lnTo>
                  <a:lnTo>
                    <a:pt x="260399" y="419831"/>
                  </a:lnTo>
                  <a:lnTo>
                    <a:pt x="304984" y="403826"/>
                  </a:lnTo>
                  <a:lnTo>
                    <a:pt x="344317" y="378713"/>
                  </a:lnTo>
                  <a:lnTo>
                    <a:pt x="377125" y="345769"/>
                  </a:lnTo>
                  <a:lnTo>
                    <a:pt x="402136" y="306271"/>
                  </a:lnTo>
                  <a:lnTo>
                    <a:pt x="418075" y="261497"/>
                  </a:lnTo>
                  <a:lnTo>
                    <a:pt x="423672" y="212725"/>
                  </a:lnTo>
                  <a:lnTo>
                    <a:pt x="418075" y="163952"/>
                  </a:lnTo>
                  <a:lnTo>
                    <a:pt x="402136" y="119178"/>
                  </a:lnTo>
                  <a:lnTo>
                    <a:pt x="377125" y="79680"/>
                  </a:lnTo>
                  <a:lnTo>
                    <a:pt x="344317" y="46736"/>
                  </a:lnTo>
                  <a:lnTo>
                    <a:pt x="304984" y="21623"/>
                  </a:lnTo>
                  <a:lnTo>
                    <a:pt x="260399" y="5618"/>
                  </a:lnTo>
                  <a:lnTo>
                    <a:pt x="211836" y="0"/>
                  </a:lnTo>
                  <a:close/>
                </a:path>
              </a:pathLst>
            </a:custGeom>
            <a:solidFill>
              <a:srgbClr val="33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4"/>
            <p:cNvSpPr/>
            <p:nvPr/>
          </p:nvSpPr>
          <p:spPr>
            <a:xfrm>
              <a:off x="1887220" y="1990852"/>
              <a:ext cx="424180" cy="425450"/>
            </a:xfrm>
            <a:custGeom>
              <a:avLst/>
              <a:gdLst/>
              <a:ahLst/>
              <a:cxnLst/>
              <a:rect l="l" t="t" r="r" b="b"/>
              <a:pathLst>
                <a:path w="424180" h="425450">
                  <a:moveTo>
                    <a:pt x="0" y="212725"/>
                  </a:moveTo>
                  <a:lnTo>
                    <a:pt x="5596" y="163952"/>
                  </a:lnTo>
                  <a:lnTo>
                    <a:pt x="21535" y="119178"/>
                  </a:lnTo>
                  <a:lnTo>
                    <a:pt x="46546" y="79680"/>
                  </a:lnTo>
                  <a:lnTo>
                    <a:pt x="79354" y="46736"/>
                  </a:lnTo>
                  <a:lnTo>
                    <a:pt x="118687" y="21623"/>
                  </a:lnTo>
                  <a:lnTo>
                    <a:pt x="163272" y="5618"/>
                  </a:lnTo>
                  <a:lnTo>
                    <a:pt x="211836" y="0"/>
                  </a:lnTo>
                  <a:lnTo>
                    <a:pt x="260399" y="5618"/>
                  </a:lnTo>
                  <a:lnTo>
                    <a:pt x="304984" y="21623"/>
                  </a:lnTo>
                  <a:lnTo>
                    <a:pt x="344317" y="46736"/>
                  </a:lnTo>
                  <a:lnTo>
                    <a:pt x="377125" y="79680"/>
                  </a:lnTo>
                  <a:lnTo>
                    <a:pt x="402136" y="119178"/>
                  </a:lnTo>
                  <a:lnTo>
                    <a:pt x="418075" y="163952"/>
                  </a:lnTo>
                  <a:lnTo>
                    <a:pt x="423672" y="212725"/>
                  </a:lnTo>
                  <a:lnTo>
                    <a:pt x="418075" y="261497"/>
                  </a:lnTo>
                  <a:lnTo>
                    <a:pt x="402136" y="306271"/>
                  </a:lnTo>
                  <a:lnTo>
                    <a:pt x="377125" y="345769"/>
                  </a:lnTo>
                  <a:lnTo>
                    <a:pt x="344317" y="378713"/>
                  </a:lnTo>
                  <a:lnTo>
                    <a:pt x="304984" y="403826"/>
                  </a:lnTo>
                  <a:lnTo>
                    <a:pt x="260399" y="419831"/>
                  </a:lnTo>
                  <a:lnTo>
                    <a:pt x="211836" y="425450"/>
                  </a:lnTo>
                  <a:lnTo>
                    <a:pt x="163272" y="419831"/>
                  </a:lnTo>
                  <a:lnTo>
                    <a:pt x="118687" y="403826"/>
                  </a:lnTo>
                  <a:lnTo>
                    <a:pt x="79354" y="378713"/>
                  </a:lnTo>
                  <a:lnTo>
                    <a:pt x="46546" y="345769"/>
                  </a:lnTo>
                  <a:lnTo>
                    <a:pt x="21535" y="306271"/>
                  </a:lnTo>
                  <a:lnTo>
                    <a:pt x="5596" y="261497"/>
                  </a:lnTo>
                  <a:lnTo>
                    <a:pt x="0" y="212725"/>
                  </a:lnTo>
                  <a:close/>
                </a:path>
              </a:pathLst>
            </a:custGeom>
            <a:ln w="9525">
              <a:solidFill>
                <a:srgbClr val="336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5"/>
          <p:cNvSpPr txBox="1"/>
          <p:nvPr/>
        </p:nvSpPr>
        <p:spPr>
          <a:xfrm>
            <a:off x="2499615" y="1897501"/>
            <a:ext cx="2266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Arial MT"/>
                <a:cs typeface="Arial MT"/>
              </a:rPr>
              <a:t>a</a:t>
            </a:r>
            <a:r>
              <a:rPr sz="1575" spc="-37" baseline="-21164" dirty="0">
                <a:latin typeface="Arial MT"/>
                <a:cs typeface="Arial MT"/>
              </a:rPr>
              <a:t>t</a:t>
            </a:r>
            <a:endParaRPr sz="1575" baseline="-21164">
              <a:latin typeface="Arial MT"/>
              <a:cs typeface="Arial MT"/>
            </a:endParaRPr>
          </a:p>
        </p:txBody>
      </p:sp>
      <p:grpSp>
        <p:nvGrpSpPr>
          <p:cNvPr id="19" name="object 16"/>
          <p:cNvGrpSpPr/>
          <p:nvPr/>
        </p:nvGrpSpPr>
        <p:grpSpPr>
          <a:xfrm>
            <a:off x="5242117" y="1732972"/>
            <a:ext cx="1945639" cy="598805"/>
            <a:chOff x="4729162" y="1900237"/>
            <a:chExt cx="1945639" cy="598805"/>
          </a:xfrm>
        </p:grpSpPr>
        <p:sp>
          <p:nvSpPr>
            <p:cNvPr id="20" name="object 17"/>
            <p:cNvSpPr/>
            <p:nvPr/>
          </p:nvSpPr>
          <p:spPr>
            <a:xfrm>
              <a:off x="6080633" y="1905000"/>
              <a:ext cx="589915" cy="589280"/>
            </a:xfrm>
            <a:custGeom>
              <a:avLst/>
              <a:gdLst/>
              <a:ahLst/>
              <a:cxnLst/>
              <a:rect l="l" t="t" r="r" b="b"/>
              <a:pathLst>
                <a:path w="589915" h="589280">
                  <a:moveTo>
                    <a:pt x="294639" y="0"/>
                  </a:moveTo>
                  <a:lnTo>
                    <a:pt x="246857" y="3853"/>
                  </a:lnTo>
                  <a:lnTo>
                    <a:pt x="201525" y="15011"/>
                  </a:lnTo>
                  <a:lnTo>
                    <a:pt x="159252" y="32866"/>
                  </a:lnTo>
                  <a:lnTo>
                    <a:pt x="120645" y="56814"/>
                  </a:lnTo>
                  <a:lnTo>
                    <a:pt x="86312" y="86248"/>
                  </a:lnTo>
                  <a:lnTo>
                    <a:pt x="56859" y="120563"/>
                  </a:lnTo>
                  <a:lnTo>
                    <a:pt x="32894" y="159153"/>
                  </a:lnTo>
                  <a:lnTo>
                    <a:pt x="15024" y="201411"/>
                  </a:lnTo>
                  <a:lnTo>
                    <a:pt x="3857" y="246733"/>
                  </a:lnTo>
                  <a:lnTo>
                    <a:pt x="0" y="294513"/>
                  </a:lnTo>
                  <a:lnTo>
                    <a:pt x="3857" y="342257"/>
                  </a:lnTo>
                  <a:lnTo>
                    <a:pt x="15024" y="387552"/>
                  </a:lnTo>
                  <a:lnTo>
                    <a:pt x="32894" y="429789"/>
                  </a:lnTo>
                  <a:lnTo>
                    <a:pt x="56859" y="468362"/>
                  </a:lnTo>
                  <a:lnTo>
                    <a:pt x="86312" y="502665"/>
                  </a:lnTo>
                  <a:lnTo>
                    <a:pt x="120645" y="532092"/>
                  </a:lnTo>
                  <a:lnTo>
                    <a:pt x="159252" y="556035"/>
                  </a:lnTo>
                  <a:lnTo>
                    <a:pt x="201525" y="573888"/>
                  </a:lnTo>
                  <a:lnTo>
                    <a:pt x="246857" y="585045"/>
                  </a:lnTo>
                  <a:lnTo>
                    <a:pt x="294639" y="588899"/>
                  </a:lnTo>
                  <a:lnTo>
                    <a:pt x="342457" y="585045"/>
                  </a:lnTo>
                  <a:lnTo>
                    <a:pt x="387816" y="573888"/>
                  </a:lnTo>
                  <a:lnTo>
                    <a:pt x="430110" y="556035"/>
                  </a:lnTo>
                  <a:lnTo>
                    <a:pt x="468733" y="532092"/>
                  </a:lnTo>
                  <a:lnTo>
                    <a:pt x="503078" y="502665"/>
                  </a:lnTo>
                  <a:lnTo>
                    <a:pt x="532539" y="468362"/>
                  </a:lnTo>
                  <a:lnTo>
                    <a:pt x="556509" y="429789"/>
                  </a:lnTo>
                  <a:lnTo>
                    <a:pt x="574381" y="387552"/>
                  </a:lnTo>
                  <a:lnTo>
                    <a:pt x="585549" y="342257"/>
                  </a:lnTo>
                  <a:lnTo>
                    <a:pt x="589407" y="294513"/>
                  </a:lnTo>
                  <a:lnTo>
                    <a:pt x="585549" y="246733"/>
                  </a:lnTo>
                  <a:lnTo>
                    <a:pt x="574381" y="201411"/>
                  </a:lnTo>
                  <a:lnTo>
                    <a:pt x="556509" y="159153"/>
                  </a:lnTo>
                  <a:lnTo>
                    <a:pt x="532539" y="120563"/>
                  </a:lnTo>
                  <a:lnTo>
                    <a:pt x="503078" y="86248"/>
                  </a:lnTo>
                  <a:lnTo>
                    <a:pt x="468733" y="56814"/>
                  </a:lnTo>
                  <a:lnTo>
                    <a:pt x="430110" y="32866"/>
                  </a:lnTo>
                  <a:lnTo>
                    <a:pt x="387816" y="15011"/>
                  </a:lnTo>
                  <a:lnTo>
                    <a:pt x="342457" y="3853"/>
                  </a:lnTo>
                  <a:lnTo>
                    <a:pt x="294639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8"/>
            <p:cNvSpPr/>
            <p:nvPr/>
          </p:nvSpPr>
          <p:spPr>
            <a:xfrm>
              <a:off x="6080633" y="1905000"/>
              <a:ext cx="589915" cy="589280"/>
            </a:xfrm>
            <a:custGeom>
              <a:avLst/>
              <a:gdLst/>
              <a:ahLst/>
              <a:cxnLst/>
              <a:rect l="l" t="t" r="r" b="b"/>
              <a:pathLst>
                <a:path w="589915" h="589280">
                  <a:moveTo>
                    <a:pt x="0" y="294513"/>
                  </a:moveTo>
                  <a:lnTo>
                    <a:pt x="3857" y="246733"/>
                  </a:lnTo>
                  <a:lnTo>
                    <a:pt x="15024" y="201411"/>
                  </a:lnTo>
                  <a:lnTo>
                    <a:pt x="32894" y="159153"/>
                  </a:lnTo>
                  <a:lnTo>
                    <a:pt x="56859" y="120563"/>
                  </a:lnTo>
                  <a:lnTo>
                    <a:pt x="86312" y="86248"/>
                  </a:lnTo>
                  <a:lnTo>
                    <a:pt x="120645" y="56814"/>
                  </a:lnTo>
                  <a:lnTo>
                    <a:pt x="159252" y="32866"/>
                  </a:lnTo>
                  <a:lnTo>
                    <a:pt x="201525" y="15011"/>
                  </a:lnTo>
                  <a:lnTo>
                    <a:pt x="246857" y="3853"/>
                  </a:lnTo>
                  <a:lnTo>
                    <a:pt x="294639" y="0"/>
                  </a:lnTo>
                  <a:lnTo>
                    <a:pt x="342457" y="3853"/>
                  </a:lnTo>
                  <a:lnTo>
                    <a:pt x="387816" y="15011"/>
                  </a:lnTo>
                  <a:lnTo>
                    <a:pt x="430110" y="32866"/>
                  </a:lnTo>
                  <a:lnTo>
                    <a:pt x="468733" y="56814"/>
                  </a:lnTo>
                  <a:lnTo>
                    <a:pt x="503078" y="86248"/>
                  </a:lnTo>
                  <a:lnTo>
                    <a:pt x="532539" y="120563"/>
                  </a:lnTo>
                  <a:lnTo>
                    <a:pt x="556509" y="159153"/>
                  </a:lnTo>
                  <a:lnTo>
                    <a:pt x="574381" y="201411"/>
                  </a:lnTo>
                  <a:lnTo>
                    <a:pt x="585549" y="246733"/>
                  </a:lnTo>
                  <a:lnTo>
                    <a:pt x="589407" y="294513"/>
                  </a:lnTo>
                  <a:lnTo>
                    <a:pt x="585549" y="342257"/>
                  </a:lnTo>
                  <a:lnTo>
                    <a:pt x="574381" y="387552"/>
                  </a:lnTo>
                  <a:lnTo>
                    <a:pt x="556509" y="429789"/>
                  </a:lnTo>
                  <a:lnTo>
                    <a:pt x="532539" y="468362"/>
                  </a:lnTo>
                  <a:lnTo>
                    <a:pt x="503078" y="502665"/>
                  </a:lnTo>
                  <a:lnTo>
                    <a:pt x="468733" y="532092"/>
                  </a:lnTo>
                  <a:lnTo>
                    <a:pt x="430110" y="556035"/>
                  </a:lnTo>
                  <a:lnTo>
                    <a:pt x="387816" y="573888"/>
                  </a:lnTo>
                  <a:lnTo>
                    <a:pt x="342457" y="585045"/>
                  </a:lnTo>
                  <a:lnTo>
                    <a:pt x="294639" y="588899"/>
                  </a:lnTo>
                  <a:lnTo>
                    <a:pt x="246857" y="585045"/>
                  </a:lnTo>
                  <a:lnTo>
                    <a:pt x="201525" y="573888"/>
                  </a:lnTo>
                  <a:lnTo>
                    <a:pt x="159252" y="556035"/>
                  </a:lnTo>
                  <a:lnTo>
                    <a:pt x="120645" y="532092"/>
                  </a:lnTo>
                  <a:lnTo>
                    <a:pt x="86312" y="502665"/>
                  </a:lnTo>
                  <a:lnTo>
                    <a:pt x="56859" y="468362"/>
                  </a:lnTo>
                  <a:lnTo>
                    <a:pt x="32894" y="429789"/>
                  </a:lnTo>
                  <a:lnTo>
                    <a:pt x="15024" y="387552"/>
                  </a:lnTo>
                  <a:lnTo>
                    <a:pt x="3857" y="342257"/>
                  </a:lnTo>
                  <a:lnTo>
                    <a:pt x="0" y="294513"/>
                  </a:lnTo>
                  <a:close/>
                </a:path>
              </a:pathLst>
            </a:custGeom>
            <a:ln w="9525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9"/>
            <p:cNvSpPr/>
            <p:nvPr/>
          </p:nvSpPr>
          <p:spPr>
            <a:xfrm>
              <a:off x="4733925" y="1990852"/>
              <a:ext cx="424180" cy="425450"/>
            </a:xfrm>
            <a:custGeom>
              <a:avLst/>
              <a:gdLst/>
              <a:ahLst/>
              <a:cxnLst/>
              <a:rect l="l" t="t" r="r" b="b"/>
              <a:pathLst>
                <a:path w="424179" h="425450">
                  <a:moveTo>
                    <a:pt x="211836" y="0"/>
                  </a:moveTo>
                  <a:lnTo>
                    <a:pt x="163272" y="5618"/>
                  </a:lnTo>
                  <a:lnTo>
                    <a:pt x="118687" y="21623"/>
                  </a:lnTo>
                  <a:lnTo>
                    <a:pt x="79354" y="46736"/>
                  </a:lnTo>
                  <a:lnTo>
                    <a:pt x="46546" y="79680"/>
                  </a:lnTo>
                  <a:lnTo>
                    <a:pt x="21535" y="119178"/>
                  </a:lnTo>
                  <a:lnTo>
                    <a:pt x="5596" y="163952"/>
                  </a:lnTo>
                  <a:lnTo>
                    <a:pt x="0" y="212725"/>
                  </a:lnTo>
                  <a:lnTo>
                    <a:pt x="5596" y="261497"/>
                  </a:lnTo>
                  <a:lnTo>
                    <a:pt x="21535" y="306271"/>
                  </a:lnTo>
                  <a:lnTo>
                    <a:pt x="46546" y="345769"/>
                  </a:lnTo>
                  <a:lnTo>
                    <a:pt x="79354" y="378713"/>
                  </a:lnTo>
                  <a:lnTo>
                    <a:pt x="118687" y="403826"/>
                  </a:lnTo>
                  <a:lnTo>
                    <a:pt x="163272" y="419831"/>
                  </a:lnTo>
                  <a:lnTo>
                    <a:pt x="211836" y="425450"/>
                  </a:lnTo>
                  <a:lnTo>
                    <a:pt x="260399" y="419831"/>
                  </a:lnTo>
                  <a:lnTo>
                    <a:pt x="304984" y="403826"/>
                  </a:lnTo>
                  <a:lnTo>
                    <a:pt x="344317" y="378713"/>
                  </a:lnTo>
                  <a:lnTo>
                    <a:pt x="377125" y="345769"/>
                  </a:lnTo>
                  <a:lnTo>
                    <a:pt x="402136" y="306271"/>
                  </a:lnTo>
                  <a:lnTo>
                    <a:pt x="418075" y="261497"/>
                  </a:lnTo>
                  <a:lnTo>
                    <a:pt x="423672" y="212725"/>
                  </a:lnTo>
                  <a:lnTo>
                    <a:pt x="418075" y="163952"/>
                  </a:lnTo>
                  <a:lnTo>
                    <a:pt x="402136" y="119178"/>
                  </a:lnTo>
                  <a:lnTo>
                    <a:pt x="377125" y="79680"/>
                  </a:lnTo>
                  <a:lnTo>
                    <a:pt x="344317" y="46736"/>
                  </a:lnTo>
                  <a:lnTo>
                    <a:pt x="304984" y="21623"/>
                  </a:lnTo>
                  <a:lnTo>
                    <a:pt x="260399" y="5618"/>
                  </a:lnTo>
                  <a:lnTo>
                    <a:pt x="211836" y="0"/>
                  </a:lnTo>
                  <a:close/>
                </a:path>
              </a:pathLst>
            </a:custGeom>
            <a:solidFill>
              <a:srgbClr val="33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0"/>
            <p:cNvSpPr/>
            <p:nvPr/>
          </p:nvSpPr>
          <p:spPr>
            <a:xfrm>
              <a:off x="4733925" y="1990852"/>
              <a:ext cx="424180" cy="425450"/>
            </a:xfrm>
            <a:custGeom>
              <a:avLst/>
              <a:gdLst/>
              <a:ahLst/>
              <a:cxnLst/>
              <a:rect l="l" t="t" r="r" b="b"/>
              <a:pathLst>
                <a:path w="424179" h="425450">
                  <a:moveTo>
                    <a:pt x="0" y="212725"/>
                  </a:moveTo>
                  <a:lnTo>
                    <a:pt x="5596" y="163952"/>
                  </a:lnTo>
                  <a:lnTo>
                    <a:pt x="21535" y="119178"/>
                  </a:lnTo>
                  <a:lnTo>
                    <a:pt x="46546" y="79680"/>
                  </a:lnTo>
                  <a:lnTo>
                    <a:pt x="79354" y="46736"/>
                  </a:lnTo>
                  <a:lnTo>
                    <a:pt x="118687" y="21623"/>
                  </a:lnTo>
                  <a:lnTo>
                    <a:pt x="163272" y="5618"/>
                  </a:lnTo>
                  <a:lnTo>
                    <a:pt x="211836" y="0"/>
                  </a:lnTo>
                  <a:lnTo>
                    <a:pt x="260399" y="5618"/>
                  </a:lnTo>
                  <a:lnTo>
                    <a:pt x="304984" y="21623"/>
                  </a:lnTo>
                  <a:lnTo>
                    <a:pt x="344317" y="46736"/>
                  </a:lnTo>
                  <a:lnTo>
                    <a:pt x="377125" y="79680"/>
                  </a:lnTo>
                  <a:lnTo>
                    <a:pt x="402136" y="119178"/>
                  </a:lnTo>
                  <a:lnTo>
                    <a:pt x="418075" y="163952"/>
                  </a:lnTo>
                  <a:lnTo>
                    <a:pt x="423672" y="212725"/>
                  </a:lnTo>
                  <a:lnTo>
                    <a:pt x="418075" y="261497"/>
                  </a:lnTo>
                  <a:lnTo>
                    <a:pt x="402136" y="306271"/>
                  </a:lnTo>
                  <a:lnTo>
                    <a:pt x="377125" y="345769"/>
                  </a:lnTo>
                  <a:lnTo>
                    <a:pt x="344317" y="378713"/>
                  </a:lnTo>
                  <a:lnTo>
                    <a:pt x="304984" y="403826"/>
                  </a:lnTo>
                  <a:lnTo>
                    <a:pt x="260399" y="419831"/>
                  </a:lnTo>
                  <a:lnTo>
                    <a:pt x="211836" y="425450"/>
                  </a:lnTo>
                  <a:lnTo>
                    <a:pt x="163272" y="419831"/>
                  </a:lnTo>
                  <a:lnTo>
                    <a:pt x="118687" y="403826"/>
                  </a:lnTo>
                  <a:lnTo>
                    <a:pt x="79354" y="378713"/>
                  </a:lnTo>
                  <a:lnTo>
                    <a:pt x="46546" y="345769"/>
                  </a:lnTo>
                  <a:lnTo>
                    <a:pt x="21535" y="306271"/>
                  </a:lnTo>
                  <a:lnTo>
                    <a:pt x="5596" y="261497"/>
                  </a:lnTo>
                  <a:lnTo>
                    <a:pt x="0" y="212725"/>
                  </a:lnTo>
                  <a:close/>
                </a:path>
              </a:pathLst>
            </a:custGeom>
            <a:ln w="9525">
              <a:solidFill>
                <a:srgbClr val="336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1"/>
          <p:cNvSpPr txBox="1"/>
          <p:nvPr/>
        </p:nvSpPr>
        <p:spPr>
          <a:xfrm>
            <a:off x="5269105" y="1946268"/>
            <a:ext cx="3816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00" spc="-30" baseline="13888" dirty="0">
                <a:latin typeface="Arial MT"/>
                <a:cs typeface="Arial MT"/>
              </a:rPr>
              <a:t>a</a:t>
            </a:r>
            <a:r>
              <a:rPr sz="1050" spc="-20" dirty="0">
                <a:latin typeface="Arial MT"/>
                <a:cs typeface="Arial MT"/>
              </a:rPr>
              <a:t>t+1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25" name="object 22"/>
          <p:cNvGrpSpPr/>
          <p:nvPr/>
        </p:nvGrpSpPr>
        <p:grpSpPr>
          <a:xfrm>
            <a:off x="8095045" y="1818824"/>
            <a:ext cx="433705" cy="434975"/>
            <a:chOff x="7582090" y="1986089"/>
            <a:chExt cx="433705" cy="434975"/>
          </a:xfrm>
        </p:grpSpPr>
        <p:sp>
          <p:nvSpPr>
            <p:cNvPr id="26" name="object 23"/>
            <p:cNvSpPr/>
            <p:nvPr/>
          </p:nvSpPr>
          <p:spPr>
            <a:xfrm>
              <a:off x="7586853" y="1990851"/>
              <a:ext cx="424180" cy="425450"/>
            </a:xfrm>
            <a:custGeom>
              <a:avLst/>
              <a:gdLst/>
              <a:ahLst/>
              <a:cxnLst/>
              <a:rect l="l" t="t" r="r" b="b"/>
              <a:pathLst>
                <a:path w="424179" h="425450">
                  <a:moveTo>
                    <a:pt x="211836" y="0"/>
                  </a:moveTo>
                  <a:lnTo>
                    <a:pt x="163272" y="5618"/>
                  </a:lnTo>
                  <a:lnTo>
                    <a:pt x="118687" y="21623"/>
                  </a:lnTo>
                  <a:lnTo>
                    <a:pt x="79354" y="46736"/>
                  </a:lnTo>
                  <a:lnTo>
                    <a:pt x="46546" y="79680"/>
                  </a:lnTo>
                  <a:lnTo>
                    <a:pt x="21535" y="119178"/>
                  </a:lnTo>
                  <a:lnTo>
                    <a:pt x="5596" y="163952"/>
                  </a:lnTo>
                  <a:lnTo>
                    <a:pt x="0" y="212725"/>
                  </a:lnTo>
                  <a:lnTo>
                    <a:pt x="5596" y="261497"/>
                  </a:lnTo>
                  <a:lnTo>
                    <a:pt x="21535" y="306271"/>
                  </a:lnTo>
                  <a:lnTo>
                    <a:pt x="46546" y="345769"/>
                  </a:lnTo>
                  <a:lnTo>
                    <a:pt x="79354" y="378713"/>
                  </a:lnTo>
                  <a:lnTo>
                    <a:pt x="118687" y="403826"/>
                  </a:lnTo>
                  <a:lnTo>
                    <a:pt x="163272" y="419831"/>
                  </a:lnTo>
                  <a:lnTo>
                    <a:pt x="211836" y="425450"/>
                  </a:lnTo>
                  <a:lnTo>
                    <a:pt x="260399" y="419831"/>
                  </a:lnTo>
                  <a:lnTo>
                    <a:pt x="304984" y="403826"/>
                  </a:lnTo>
                  <a:lnTo>
                    <a:pt x="344317" y="378713"/>
                  </a:lnTo>
                  <a:lnTo>
                    <a:pt x="377125" y="345769"/>
                  </a:lnTo>
                  <a:lnTo>
                    <a:pt x="402136" y="306271"/>
                  </a:lnTo>
                  <a:lnTo>
                    <a:pt x="418075" y="261497"/>
                  </a:lnTo>
                  <a:lnTo>
                    <a:pt x="423672" y="212725"/>
                  </a:lnTo>
                  <a:lnTo>
                    <a:pt x="418075" y="163952"/>
                  </a:lnTo>
                  <a:lnTo>
                    <a:pt x="402136" y="119178"/>
                  </a:lnTo>
                  <a:lnTo>
                    <a:pt x="377125" y="79680"/>
                  </a:lnTo>
                  <a:lnTo>
                    <a:pt x="344317" y="46736"/>
                  </a:lnTo>
                  <a:lnTo>
                    <a:pt x="304984" y="21623"/>
                  </a:lnTo>
                  <a:lnTo>
                    <a:pt x="260399" y="5618"/>
                  </a:lnTo>
                  <a:lnTo>
                    <a:pt x="211836" y="0"/>
                  </a:lnTo>
                  <a:close/>
                </a:path>
              </a:pathLst>
            </a:custGeom>
            <a:solidFill>
              <a:srgbClr val="33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4"/>
            <p:cNvSpPr/>
            <p:nvPr/>
          </p:nvSpPr>
          <p:spPr>
            <a:xfrm>
              <a:off x="7586853" y="1990851"/>
              <a:ext cx="424180" cy="425450"/>
            </a:xfrm>
            <a:custGeom>
              <a:avLst/>
              <a:gdLst/>
              <a:ahLst/>
              <a:cxnLst/>
              <a:rect l="l" t="t" r="r" b="b"/>
              <a:pathLst>
                <a:path w="424179" h="425450">
                  <a:moveTo>
                    <a:pt x="0" y="212725"/>
                  </a:moveTo>
                  <a:lnTo>
                    <a:pt x="5596" y="163952"/>
                  </a:lnTo>
                  <a:lnTo>
                    <a:pt x="21535" y="119178"/>
                  </a:lnTo>
                  <a:lnTo>
                    <a:pt x="46546" y="79680"/>
                  </a:lnTo>
                  <a:lnTo>
                    <a:pt x="79354" y="46736"/>
                  </a:lnTo>
                  <a:lnTo>
                    <a:pt x="118687" y="21623"/>
                  </a:lnTo>
                  <a:lnTo>
                    <a:pt x="163272" y="5618"/>
                  </a:lnTo>
                  <a:lnTo>
                    <a:pt x="211836" y="0"/>
                  </a:lnTo>
                  <a:lnTo>
                    <a:pt x="260399" y="5618"/>
                  </a:lnTo>
                  <a:lnTo>
                    <a:pt x="304984" y="21623"/>
                  </a:lnTo>
                  <a:lnTo>
                    <a:pt x="344317" y="46736"/>
                  </a:lnTo>
                  <a:lnTo>
                    <a:pt x="377125" y="79680"/>
                  </a:lnTo>
                  <a:lnTo>
                    <a:pt x="402136" y="119178"/>
                  </a:lnTo>
                  <a:lnTo>
                    <a:pt x="418075" y="163952"/>
                  </a:lnTo>
                  <a:lnTo>
                    <a:pt x="423672" y="212725"/>
                  </a:lnTo>
                  <a:lnTo>
                    <a:pt x="418075" y="261497"/>
                  </a:lnTo>
                  <a:lnTo>
                    <a:pt x="402136" y="306271"/>
                  </a:lnTo>
                  <a:lnTo>
                    <a:pt x="377125" y="345769"/>
                  </a:lnTo>
                  <a:lnTo>
                    <a:pt x="344317" y="378713"/>
                  </a:lnTo>
                  <a:lnTo>
                    <a:pt x="304984" y="403826"/>
                  </a:lnTo>
                  <a:lnTo>
                    <a:pt x="260399" y="419831"/>
                  </a:lnTo>
                  <a:lnTo>
                    <a:pt x="211836" y="425450"/>
                  </a:lnTo>
                  <a:lnTo>
                    <a:pt x="163272" y="419831"/>
                  </a:lnTo>
                  <a:lnTo>
                    <a:pt x="118687" y="403826"/>
                  </a:lnTo>
                  <a:lnTo>
                    <a:pt x="79354" y="378713"/>
                  </a:lnTo>
                  <a:lnTo>
                    <a:pt x="46546" y="345769"/>
                  </a:lnTo>
                  <a:lnTo>
                    <a:pt x="21535" y="306271"/>
                  </a:lnTo>
                  <a:lnTo>
                    <a:pt x="5596" y="261497"/>
                  </a:lnTo>
                  <a:lnTo>
                    <a:pt x="0" y="212725"/>
                  </a:lnTo>
                  <a:close/>
                </a:path>
              </a:pathLst>
            </a:custGeom>
            <a:ln w="9525">
              <a:solidFill>
                <a:srgbClr val="336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5"/>
          <p:cNvSpPr txBox="1"/>
          <p:nvPr/>
        </p:nvSpPr>
        <p:spPr>
          <a:xfrm>
            <a:off x="8122286" y="1946268"/>
            <a:ext cx="3816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00" spc="-30" baseline="13888" dirty="0">
                <a:latin typeface="Arial MT"/>
                <a:cs typeface="Arial MT"/>
              </a:rPr>
              <a:t>a</a:t>
            </a:r>
            <a:r>
              <a:rPr sz="1050" spc="-20" dirty="0">
                <a:latin typeface="Arial MT"/>
                <a:cs typeface="Arial MT"/>
              </a:rPr>
              <a:t>t+2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9" name="object 26"/>
          <p:cNvSpPr txBox="1"/>
          <p:nvPr/>
        </p:nvSpPr>
        <p:spPr>
          <a:xfrm>
            <a:off x="3459735" y="1904231"/>
            <a:ext cx="834390" cy="557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>
              <a:lnSpc>
                <a:spcPts val="2095"/>
              </a:lnSpc>
              <a:spcBef>
                <a:spcPts val="100"/>
              </a:spcBef>
            </a:pPr>
            <a:r>
              <a:rPr sz="3600" spc="-30" baseline="13888" dirty="0">
                <a:latin typeface="Arial MT"/>
                <a:cs typeface="Arial MT"/>
              </a:rPr>
              <a:t>s</a:t>
            </a:r>
            <a:r>
              <a:rPr sz="1600" spc="-20" dirty="0">
                <a:latin typeface="Arial MT"/>
                <a:cs typeface="Arial MT"/>
              </a:rPr>
              <a:t>t+1</a:t>
            </a:r>
            <a:endParaRPr sz="1600">
              <a:latin typeface="Arial MT"/>
              <a:cs typeface="Arial MT"/>
            </a:endParaRPr>
          </a:p>
          <a:p>
            <a:pPr marL="38100">
              <a:lnSpc>
                <a:spcPts val="2095"/>
              </a:lnSpc>
            </a:pPr>
            <a:r>
              <a:rPr sz="2400" spc="-25" dirty="0">
                <a:latin typeface="Trebuchet MS"/>
                <a:cs typeface="Trebuchet MS"/>
              </a:rPr>
              <a:t>r</a:t>
            </a:r>
            <a:r>
              <a:rPr sz="2400" spc="-37" baseline="-20833" dirty="0">
                <a:latin typeface="Trebuchet MS"/>
                <a:cs typeface="Trebuchet MS"/>
              </a:rPr>
              <a:t>t</a:t>
            </a:r>
            <a:endParaRPr sz="2400" baseline="-20833">
              <a:latin typeface="Trebuchet MS"/>
              <a:cs typeface="Trebuchet MS"/>
            </a:endParaRPr>
          </a:p>
        </p:txBody>
      </p:sp>
      <p:sp>
        <p:nvSpPr>
          <p:cNvPr id="30" name="object 27"/>
          <p:cNvSpPr txBox="1"/>
          <p:nvPr/>
        </p:nvSpPr>
        <p:spPr>
          <a:xfrm>
            <a:off x="6219445" y="1904231"/>
            <a:ext cx="927735" cy="631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9580">
              <a:lnSpc>
                <a:spcPts val="2385"/>
              </a:lnSpc>
              <a:spcBef>
                <a:spcPts val="100"/>
              </a:spcBef>
            </a:pPr>
            <a:r>
              <a:rPr sz="3600" spc="-30" baseline="13888" dirty="0">
                <a:latin typeface="Arial MT"/>
                <a:cs typeface="Arial MT"/>
              </a:rPr>
              <a:t>s</a:t>
            </a:r>
            <a:r>
              <a:rPr sz="1600" spc="-20" dirty="0">
                <a:latin typeface="Arial MT"/>
                <a:cs typeface="Arial MT"/>
              </a:rPr>
              <a:t>t+2</a:t>
            </a:r>
            <a:endParaRPr sz="1600">
              <a:latin typeface="Arial MT"/>
              <a:cs typeface="Arial MT"/>
            </a:endParaRPr>
          </a:p>
          <a:p>
            <a:pPr marL="38100">
              <a:lnSpc>
                <a:spcPts val="2385"/>
              </a:lnSpc>
            </a:pPr>
            <a:r>
              <a:rPr sz="3600" spc="-30" baseline="13888" dirty="0">
                <a:latin typeface="Trebuchet MS"/>
                <a:cs typeface="Trebuchet MS"/>
              </a:rPr>
              <a:t>r</a:t>
            </a:r>
            <a:r>
              <a:rPr sz="1600" spc="-20" dirty="0">
                <a:latin typeface="Trebuchet MS"/>
                <a:cs typeface="Trebuchet MS"/>
              </a:rPr>
              <a:t>t+1</a:t>
            </a:r>
            <a:endParaRPr sz="1600">
              <a:latin typeface="Trebuchet MS"/>
              <a:cs typeface="Trebuchet M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1864714" y="2926961"/>
                <a:ext cx="640265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4714" y="2926961"/>
                <a:ext cx="6402659" cy="400110"/>
              </a:xfrm>
              <a:prstGeom prst="rect">
                <a:avLst/>
              </a:prstGeom>
              <a:blipFill>
                <a:blip r:embed="rId2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5782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The</a:t>
            </a:r>
            <a:r>
              <a:rPr lang="en-IN" spc="-10" dirty="0" smtClean="0"/>
              <a:t> </a:t>
            </a:r>
            <a:r>
              <a:rPr lang="en-IN" dirty="0" smtClean="0"/>
              <a:t>RL</a:t>
            </a:r>
            <a:r>
              <a:rPr lang="en-IN" spc="-10" dirty="0" smtClean="0"/>
              <a:t> </a:t>
            </a:r>
            <a:r>
              <a:rPr lang="en-IN" dirty="0" smtClean="0"/>
              <a:t>Intro</a:t>
            </a:r>
            <a:r>
              <a:rPr lang="en-IN" spc="-5" dirty="0" smtClean="0"/>
              <a:t> </a:t>
            </a:r>
            <a:r>
              <a:rPr lang="en-IN" spc="-20" dirty="0" smtClean="0"/>
              <a:t>book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14-04-2026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35</a:t>
            </a:fld>
            <a:endParaRPr lang="en-IN" dirty="0"/>
          </a:p>
        </p:txBody>
      </p:sp>
      <p:pic>
        <p:nvPicPr>
          <p:cNvPr id="6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1044" y="865055"/>
            <a:ext cx="4586869" cy="5360019"/>
          </a:xfrm>
          <a:prstGeom prst="rect">
            <a:avLst/>
          </a:prstGeom>
        </p:spPr>
      </p:pic>
      <p:sp>
        <p:nvSpPr>
          <p:cNvPr id="7" name="object 4"/>
          <p:cNvSpPr txBox="1"/>
          <p:nvPr/>
        </p:nvSpPr>
        <p:spPr>
          <a:xfrm>
            <a:off x="6196073" y="1208337"/>
            <a:ext cx="3221658" cy="2119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rebuchet MS"/>
                <a:cs typeface="Trebuchet MS"/>
              </a:rPr>
              <a:t>Richard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Sutton,</a:t>
            </a:r>
            <a:r>
              <a:rPr sz="2000" spc="-1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Andrew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Barto Reinforcement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Learning,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rebuchet MS"/>
                <a:cs typeface="Trebuchet MS"/>
              </a:rPr>
              <a:t>An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Introduction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rebuchet MS"/>
                <a:cs typeface="Trebuchet MS"/>
                <a:hlinkClick r:id="rId3"/>
              </a:rPr>
              <a:t>http://www.cs.ualberta.ca/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rebuchet MS"/>
                <a:cs typeface="Trebuchet MS"/>
              </a:rPr>
              <a:t>~sutton/book/the-book.html</a:t>
            </a:r>
            <a:endParaRPr sz="180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013623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-10" dirty="0" smtClean="0"/>
              <a:t>Q-learning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14-04-2026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36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881628" y="814840"/>
            <a:ext cx="6764655" cy="492950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8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before:</a:t>
            </a:r>
            <a:r>
              <a:rPr sz="2400" spc="-6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066FF"/>
                </a:solidFill>
                <a:latin typeface="Trebuchet MS"/>
                <a:cs typeface="Trebuchet MS"/>
              </a:rPr>
              <a:t>on-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policy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algorithms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start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with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random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policy,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iteratively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improve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converge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optimal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825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355600" algn="l"/>
              </a:tabLst>
            </a:pPr>
            <a:r>
              <a:rPr sz="2400" spc="-30" dirty="0">
                <a:solidFill>
                  <a:srgbClr val="0066FF"/>
                </a:solidFill>
                <a:latin typeface="Trebuchet MS"/>
                <a:cs typeface="Trebuchet MS"/>
              </a:rPr>
              <a:t>Q-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learning:</a:t>
            </a:r>
            <a:r>
              <a:rPr sz="2400" spc="-4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off-policy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use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any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policy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estimate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Q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1595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Q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directly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approximates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Q*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(Bellman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optimality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eqn)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independent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of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policy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being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followed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only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requirement: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keep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updating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each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(s,a)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pair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830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Sarsa</a:t>
            </a:r>
            <a:endParaRPr sz="2400" dirty="0">
              <a:latin typeface="Trebuchet MS"/>
              <a:cs typeface="Trebuchet M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906860" y="3161137"/>
                <a:ext cx="6884622" cy="572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  <m:limLow>
                            <m:limLow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6860" y="3161137"/>
                <a:ext cx="6884622" cy="5725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725978" y="5850292"/>
                <a:ext cx="688462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978" y="5850292"/>
                <a:ext cx="6884622" cy="400110"/>
              </a:xfrm>
              <a:prstGeom prst="rect">
                <a:avLst/>
              </a:prstGeom>
              <a:blipFill>
                <a:blip r:embed="rId3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0924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-10" dirty="0"/>
              <a:t>Outline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14-04-2026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37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881628" y="915212"/>
            <a:ext cx="4137025" cy="5259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808080"/>
                </a:solidFill>
                <a:latin typeface="Trebuchet MS"/>
                <a:cs typeface="Trebuchet MS"/>
              </a:rPr>
              <a:t>examples</a:t>
            </a:r>
            <a:endParaRPr sz="2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80"/>
              </a:spcBef>
              <a:buFont typeface="Trebuchet MS"/>
              <a:buChar char="•"/>
            </a:pPr>
            <a:endParaRPr sz="24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808080"/>
                </a:solidFill>
                <a:latin typeface="Trebuchet MS"/>
                <a:cs typeface="Trebuchet MS"/>
              </a:rPr>
              <a:t>defining</a:t>
            </a:r>
            <a:r>
              <a:rPr sz="2400" spc="-3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808080"/>
                </a:solidFill>
                <a:latin typeface="Trebuchet MS"/>
                <a:cs typeface="Trebuchet MS"/>
              </a:rPr>
              <a:t>an</a:t>
            </a:r>
            <a:r>
              <a:rPr sz="2400" spc="-4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808080"/>
                </a:solidFill>
                <a:latin typeface="Trebuchet MS"/>
                <a:cs typeface="Trebuchet MS"/>
              </a:rPr>
              <a:t>RL</a:t>
            </a:r>
            <a:r>
              <a:rPr sz="2400" spc="-5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808080"/>
                </a:solidFill>
                <a:latin typeface="Trebuchet MS"/>
                <a:cs typeface="Trebuchet MS"/>
              </a:rPr>
              <a:t>problem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solidFill>
                  <a:srgbClr val="808080"/>
                </a:solidFill>
                <a:latin typeface="Trebuchet MS"/>
                <a:cs typeface="Trebuchet MS"/>
              </a:rPr>
              <a:t>Markov</a:t>
            </a:r>
            <a:r>
              <a:rPr sz="2000" spc="-20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808080"/>
                </a:solidFill>
                <a:latin typeface="Trebuchet MS"/>
                <a:cs typeface="Trebuchet MS"/>
              </a:rPr>
              <a:t>Decision</a:t>
            </a:r>
            <a:r>
              <a:rPr sz="2000" spc="-40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808080"/>
                </a:solidFill>
                <a:latin typeface="Trebuchet MS"/>
                <a:cs typeface="Trebuchet MS"/>
              </a:rPr>
              <a:t>Processes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830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55600" indent="-343535">
              <a:lnSpc>
                <a:spcPct val="100000"/>
              </a:lnSpc>
              <a:buChar char="•"/>
              <a:tabLst>
                <a:tab pos="355600" algn="l"/>
                <a:tab pos="469900" algn="l"/>
              </a:tabLst>
            </a:pPr>
            <a:r>
              <a:rPr sz="2400" dirty="0">
                <a:solidFill>
                  <a:srgbClr val="808080"/>
                </a:solidFill>
                <a:latin typeface="Trebuchet MS"/>
                <a:cs typeface="Trebuchet MS"/>
              </a:rPr>
              <a:t>solving</a:t>
            </a:r>
            <a:r>
              <a:rPr sz="2400" spc="-4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808080"/>
                </a:solidFill>
                <a:latin typeface="Trebuchet MS"/>
                <a:cs typeface="Trebuchet MS"/>
              </a:rPr>
              <a:t>an</a:t>
            </a:r>
            <a:r>
              <a:rPr sz="2400" spc="-5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808080"/>
                </a:solidFill>
                <a:latin typeface="Trebuchet MS"/>
                <a:cs typeface="Trebuchet MS"/>
              </a:rPr>
              <a:t>RL</a:t>
            </a:r>
            <a:r>
              <a:rPr sz="2400" spc="-5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808080"/>
                </a:solidFill>
                <a:latin typeface="Trebuchet MS"/>
                <a:cs typeface="Trebuchet MS"/>
              </a:rPr>
              <a:t>problem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solidFill>
                  <a:srgbClr val="808080"/>
                </a:solidFill>
                <a:latin typeface="Trebuchet MS"/>
                <a:cs typeface="Trebuchet MS"/>
              </a:rPr>
              <a:t>Dynamic</a:t>
            </a:r>
            <a:r>
              <a:rPr sz="2000" spc="-5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808080"/>
                </a:solidFill>
                <a:latin typeface="Trebuchet MS"/>
                <a:cs typeface="Trebuchet MS"/>
              </a:rPr>
              <a:t>Programming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solidFill>
                  <a:srgbClr val="808080"/>
                </a:solidFill>
                <a:latin typeface="Trebuchet MS"/>
                <a:cs typeface="Trebuchet MS"/>
              </a:rPr>
              <a:t>Monte</a:t>
            </a:r>
            <a:r>
              <a:rPr sz="2000" spc="-3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808080"/>
                </a:solidFill>
                <a:latin typeface="Trebuchet MS"/>
                <a:cs typeface="Trebuchet MS"/>
              </a:rPr>
              <a:t>Carlo</a:t>
            </a:r>
            <a:r>
              <a:rPr sz="2000" spc="-25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808080"/>
                </a:solidFill>
                <a:latin typeface="Trebuchet MS"/>
                <a:cs typeface="Trebuchet MS"/>
              </a:rPr>
              <a:t>methods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spc="-10" dirty="0">
                <a:solidFill>
                  <a:srgbClr val="808080"/>
                </a:solidFill>
                <a:latin typeface="Trebuchet MS"/>
                <a:cs typeface="Trebuchet MS"/>
              </a:rPr>
              <a:t>Temporal-</a:t>
            </a:r>
            <a:r>
              <a:rPr sz="2000" dirty="0">
                <a:solidFill>
                  <a:srgbClr val="808080"/>
                </a:solidFill>
                <a:latin typeface="Trebuchet MS"/>
                <a:cs typeface="Trebuchet MS"/>
              </a:rPr>
              <a:t>Difference</a:t>
            </a:r>
            <a:r>
              <a:rPr sz="2000" spc="-50" dirty="0">
                <a:solidFill>
                  <a:srgbClr val="80808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808080"/>
                </a:solidFill>
                <a:latin typeface="Trebuchet MS"/>
                <a:cs typeface="Trebuchet MS"/>
              </a:rPr>
              <a:t>learning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835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miscellaneous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state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representation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function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approximation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spc="-10" dirty="0">
                <a:latin typeface="Trebuchet MS"/>
                <a:cs typeface="Trebuchet MS"/>
              </a:rPr>
              <a:t>rewards</a:t>
            </a:r>
            <a:endParaRPr sz="20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817682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State</a:t>
            </a:r>
            <a:r>
              <a:rPr lang="en-IN" spc="-95" dirty="0" smtClean="0"/>
              <a:t> </a:t>
            </a:r>
            <a:r>
              <a:rPr lang="en-IN" spc="-10" dirty="0" smtClean="0"/>
              <a:t>representation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14-04-2026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38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535940" y="711753"/>
            <a:ext cx="6088380" cy="555307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85"/>
              </a:spcBef>
              <a:buChar char="•"/>
              <a:tabLst>
                <a:tab pos="355600" algn="l"/>
              </a:tabLst>
            </a:pPr>
            <a:r>
              <a:rPr sz="2400" spc="-20" dirty="0">
                <a:solidFill>
                  <a:srgbClr val="0066FF"/>
                </a:solidFill>
                <a:latin typeface="Trebuchet MS"/>
                <a:cs typeface="Trebuchet MS"/>
              </a:rPr>
              <a:t>pole-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balancing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move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car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left/right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keep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pole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balanced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545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state</a:t>
            </a:r>
            <a:r>
              <a:rPr sz="2400" spc="-6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representation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position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velocity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of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car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angle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angular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velocity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of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pole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540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what</a:t>
            </a:r>
            <a:r>
              <a:rPr sz="2400" spc="-6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about</a:t>
            </a:r>
            <a:r>
              <a:rPr sz="2400" spc="-4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0066FF"/>
                </a:solidFill>
                <a:latin typeface="Trebuchet MS"/>
                <a:cs typeface="Trebuchet MS"/>
              </a:rPr>
              <a:t>Markov</a:t>
            </a:r>
            <a:r>
              <a:rPr sz="2400" i="1" spc="-5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i="1" spc="-10" dirty="0">
                <a:solidFill>
                  <a:srgbClr val="0066FF"/>
                </a:solidFill>
                <a:latin typeface="Trebuchet MS"/>
                <a:cs typeface="Trebuchet MS"/>
              </a:rPr>
              <a:t>property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?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would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need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more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info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noise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in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sensors,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temperature,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bending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of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pole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540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solution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coarse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discretization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of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4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state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variables</a:t>
            </a:r>
            <a:endParaRPr sz="2000" dirty="0">
              <a:latin typeface="Trebuchet MS"/>
              <a:cs typeface="Trebuchet MS"/>
            </a:endParaRPr>
          </a:p>
          <a:p>
            <a:pPr marL="1153795" lvl="2" indent="-226695">
              <a:lnSpc>
                <a:spcPct val="100000"/>
              </a:lnSpc>
              <a:spcBef>
                <a:spcPts val="445"/>
              </a:spcBef>
              <a:buChar char="•"/>
              <a:tabLst>
                <a:tab pos="1153795" algn="l"/>
              </a:tabLst>
            </a:pPr>
            <a:r>
              <a:rPr sz="1800" dirty="0">
                <a:latin typeface="Trebuchet MS"/>
                <a:cs typeface="Trebuchet MS"/>
              </a:rPr>
              <a:t>left,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center,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right</a:t>
            </a:r>
            <a:endParaRPr sz="18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7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totally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non-</a:t>
            </a:r>
            <a:r>
              <a:rPr sz="2000" dirty="0">
                <a:latin typeface="Trebuchet MS"/>
                <a:cs typeface="Trebuchet MS"/>
              </a:rPr>
              <a:t>Markov,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but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still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works</a:t>
            </a:r>
            <a:endParaRPr sz="2000" dirty="0">
              <a:latin typeface="Trebuchet MS"/>
              <a:cs typeface="Trebuchet MS"/>
            </a:endParaRPr>
          </a:p>
        </p:txBody>
      </p:sp>
      <p:grpSp>
        <p:nvGrpSpPr>
          <p:cNvPr id="7" name="object 4"/>
          <p:cNvGrpSpPr/>
          <p:nvPr/>
        </p:nvGrpSpPr>
        <p:grpSpPr>
          <a:xfrm>
            <a:off x="5473763" y="1628776"/>
            <a:ext cx="3453129" cy="2116455"/>
            <a:chOff x="5473763" y="2085975"/>
            <a:chExt cx="3453129" cy="2116455"/>
          </a:xfrm>
        </p:grpSpPr>
        <p:sp>
          <p:nvSpPr>
            <p:cNvPr id="8" name="object 5"/>
            <p:cNvSpPr/>
            <p:nvPr/>
          </p:nvSpPr>
          <p:spPr>
            <a:xfrm>
              <a:off x="5484876" y="3881373"/>
              <a:ext cx="3430904" cy="309880"/>
            </a:xfrm>
            <a:custGeom>
              <a:avLst/>
              <a:gdLst/>
              <a:ahLst/>
              <a:cxnLst/>
              <a:rect l="l" t="t" r="r" b="b"/>
              <a:pathLst>
                <a:path w="3430904" h="309879">
                  <a:moveTo>
                    <a:pt x="0" y="4825"/>
                  </a:moveTo>
                  <a:lnTo>
                    <a:pt x="268224" y="4825"/>
                  </a:lnTo>
                  <a:lnTo>
                    <a:pt x="268224" y="309625"/>
                  </a:lnTo>
                  <a:lnTo>
                    <a:pt x="3087624" y="309625"/>
                  </a:lnTo>
                  <a:lnTo>
                    <a:pt x="3087624" y="4825"/>
                  </a:lnTo>
                  <a:lnTo>
                    <a:pt x="3430524" y="0"/>
                  </a:lnTo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6"/>
            <p:cNvSpPr/>
            <p:nvPr/>
          </p:nvSpPr>
          <p:spPr>
            <a:xfrm>
              <a:off x="6210300" y="3790950"/>
              <a:ext cx="838200" cy="304800"/>
            </a:xfrm>
            <a:custGeom>
              <a:avLst/>
              <a:gdLst/>
              <a:ahLst/>
              <a:cxnLst/>
              <a:rect l="l" t="t" r="r" b="b"/>
              <a:pathLst>
                <a:path w="838200" h="304800">
                  <a:moveTo>
                    <a:pt x="8382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838200" y="304800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9966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7"/>
            <p:cNvSpPr/>
            <p:nvPr/>
          </p:nvSpPr>
          <p:spPr>
            <a:xfrm>
              <a:off x="6210300" y="3790950"/>
              <a:ext cx="838200" cy="304800"/>
            </a:xfrm>
            <a:custGeom>
              <a:avLst/>
              <a:gdLst/>
              <a:ahLst/>
              <a:cxnLst/>
              <a:rect l="l" t="t" r="r" b="b"/>
              <a:pathLst>
                <a:path w="838200" h="304800">
                  <a:moveTo>
                    <a:pt x="0" y="304800"/>
                  </a:moveTo>
                  <a:lnTo>
                    <a:pt x="838200" y="304800"/>
                  </a:lnTo>
                  <a:lnTo>
                    <a:pt x="8382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76975" y="3933825"/>
              <a:ext cx="247650" cy="247650"/>
            </a:xfrm>
            <a:prstGeom prst="rect">
              <a:avLst/>
            </a:prstGeom>
          </p:spPr>
        </p:pic>
        <p:pic>
          <p:nvPicPr>
            <p:cNvPr id="12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34175" y="3933825"/>
              <a:ext cx="247650" cy="247650"/>
            </a:xfrm>
            <a:prstGeom prst="rect">
              <a:avLst/>
            </a:prstGeom>
          </p:spPr>
        </p:pic>
        <p:sp>
          <p:nvSpPr>
            <p:cNvPr id="13" name="object 10"/>
            <p:cNvSpPr/>
            <p:nvPr/>
          </p:nvSpPr>
          <p:spPr>
            <a:xfrm>
              <a:off x="6667500" y="2114550"/>
              <a:ext cx="449580" cy="1676400"/>
            </a:xfrm>
            <a:custGeom>
              <a:avLst/>
              <a:gdLst/>
              <a:ahLst/>
              <a:cxnLst/>
              <a:rect l="l" t="t" r="r" b="b"/>
              <a:pathLst>
                <a:path w="449579" h="1676400">
                  <a:moveTo>
                    <a:pt x="0" y="1676400"/>
                  </a:moveTo>
                  <a:lnTo>
                    <a:pt x="449199" y="0"/>
                  </a:lnTo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51707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Function</a:t>
            </a:r>
            <a:r>
              <a:rPr lang="en-IN" spc="-80" dirty="0" smtClean="0"/>
              <a:t> </a:t>
            </a:r>
            <a:r>
              <a:rPr lang="en-IN" spc="-10" dirty="0" smtClean="0"/>
              <a:t>approximation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14-04-2026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39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796981" y="788785"/>
            <a:ext cx="7536815" cy="342900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406400" indent="-343535">
              <a:lnSpc>
                <a:spcPct val="100000"/>
              </a:lnSpc>
              <a:spcBef>
                <a:spcPts val="685"/>
              </a:spcBef>
              <a:buChar char="•"/>
              <a:tabLst>
                <a:tab pos="406400" algn="l"/>
                <a:tab pos="5207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represent</a:t>
            </a:r>
            <a:r>
              <a:rPr sz="2400" spc="-6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V</a:t>
            </a:r>
            <a:r>
              <a:rPr sz="2400" baseline="-20833" dirty="0">
                <a:solidFill>
                  <a:srgbClr val="0066FF"/>
                </a:solidFill>
                <a:latin typeface="Trebuchet MS"/>
                <a:cs typeface="Trebuchet MS"/>
              </a:rPr>
              <a:t>t</a:t>
            </a:r>
            <a:r>
              <a:rPr sz="2400" spc="262" baseline="-20833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as</a:t>
            </a:r>
            <a:r>
              <a:rPr sz="2400" spc="-6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</a:t>
            </a:r>
            <a:r>
              <a:rPr sz="2400" spc="-6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parameterized</a:t>
            </a:r>
            <a:r>
              <a:rPr sz="2400" spc="-5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function</a:t>
            </a:r>
            <a:endParaRPr sz="2400" dirty="0">
              <a:latin typeface="Trebuchet MS"/>
              <a:cs typeface="Trebuchet MS"/>
            </a:endParaRPr>
          </a:p>
          <a:p>
            <a:pPr marL="8070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807085" algn="l"/>
              </a:tabLst>
            </a:pPr>
            <a:r>
              <a:rPr sz="2000" dirty="0">
                <a:latin typeface="Trebuchet MS"/>
                <a:cs typeface="Trebuchet MS"/>
              </a:rPr>
              <a:t>linear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regression,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decision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tree,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neural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net,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…</a:t>
            </a:r>
            <a:endParaRPr sz="2000" dirty="0">
              <a:latin typeface="Trebuchet MS"/>
              <a:cs typeface="Trebuchet MS"/>
            </a:endParaRPr>
          </a:p>
          <a:p>
            <a:pPr marL="807085" lvl="1" indent="-286385">
              <a:lnSpc>
                <a:spcPct val="100000"/>
              </a:lnSpc>
              <a:spcBef>
                <a:spcPts val="484"/>
              </a:spcBef>
              <a:buChar char="–"/>
              <a:tabLst>
                <a:tab pos="807085" algn="l"/>
              </a:tabLst>
            </a:pPr>
            <a:r>
              <a:rPr sz="2000" dirty="0">
                <a:latin typeface="Trebuchet MS"/>
                <a:cs typeface="Trebuchet MS"/>
              </a:rPr>
              <a:t>linear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regression: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825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406400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4064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update</a:t>
            </a:r>
            <a:r>
              <a:rPr sz="2400" spc="-4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parameters</a:t>
            </a:r>
            <a:r>
              <a:rPr sz="2400" spc="-2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instead</a:t>
            </a:r>
            <a:r>
              <a:rPr sz="2400" spc="-4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of</a:t>
            </a:r>
            <a:r>
              <a:rPr sz="2400" spc="-5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entries</a:t>
            </a:r>
            <a:r>
              <a:rPr sz="2400" spc="-4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in</a:t>
            </a:r>
            <a:r>
              <a:rPr sz="2400" spc="-5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</a:t>
            </a:r>
            <a:r>
              <a:rPr sz="2400" spc="-4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066FF"/>
                </a:solidFill>
                <a:latin typeface="Trebuchet MS"/>
                <a:cs typeface="Trebuchet MS"/>
              </a:rPr>
              <a:t>table</a:t>
            </a:r>
            <a:endParaRPr sz="2400" dirty="0">
              <a:latin typeface="Trebuchet MS"/>
              <a:cs typeface="Trebuchet MS"/>
            </a:endParaRPr>
          </a:p>
          <a:p>
            <a:pPr marL="8070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807085" algn="l"/>
              </a:tabLst>
            </a:pPr>
            <a:r>
              <a:rPr sz="2000" dirty="0">
                <a:latin typeface="Trebuchet MS"/>
                <a:cs typeface="Trebuchet MS"/>
              </a:rPr>
              <a:t>better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generalization</a:t>
            </a:r>
            <a:endParaRPr sz="2000" dirty="0">
              <a:latin typeface="Trebuchet MS"/>
              <a:cs typeface="Trebuchet MS"/>
            </a:endParaRPr>
          </a:p>
          <a:p>
            <a:pPr marL="1204595" lvl="2" indent="-226695">
              <a:lnSpc>
                <a:spcPct val="100000"/>
              </a:lnSpc>
              <a:spcBef>
                <a:spcPts val="440"/>
              </a:spcBef>
              <a:buChar char="•"/>
              <a:tabLst>
                <a:tab pos="1204595" algn="l"/>
              </a:tabLst>
            </a:pPr>
            <a:r>
              <a:rPr sz="1800" dirty="0">
                <a:latin typeface="Trebuchet MS"/>
                <a:cs typeface="Trebuchet MS"/>
              </a:rPr>
              <a:t>fewer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parameters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updates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affect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“similar”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states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as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well</a:t>
            </a:r>
            <a:endParaRPr sz="1800" dirty="0">
              <a:latin typeface="Trebuchet MS"/>
              <a:cs typeface="Trebuchet MS"/>
            </a:endParaRPr>
          </a:p>
          <a:p>
            <a:pPr lvl="2">
              <a:lnSpc>
                <a:spcPct val="100000"/>
              </a:lnSpc>
              <a:spcBef>
                <a:spcPts val="1055"/>
              </a:spcBef>
              <a:buFont typeface="Trebuchet MS"/>
              <a:buChar char="•"/>
            </a:pPr>
            <a:endParaRPr sz="1800" dirty="0">
              <a:latin typeface="Trebuchet MS"/>
              <a:cs typeface="Trebuchet MS"/>
            </a:endParaRPr>
          </a:p>
          <a:p>
            <a:pPr marL="406400" indent="-342900">
              <a:lnSpc>
                <a:spcPct val="100000"/>
              </a:lnSpc>
              <a:buChar char="•"/>
              <a:tabLst>
                <a:tab pos="4064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TD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 update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10" name="object 7"/>
          <p:cNvSpPr/>
          <p:nvPr/>
        </p:nvSpPr>
        <p:spPr>
          <a:xfrm>
            <a:off x="1790700" y="5106079"/>
            <a:ext cx="2552700" cy="87255"/>
          </a:xfrm>
          <a:custGeom>
            <a:avLst/>
            <a:gdLst/>
            <a:ahLst/>
            <a:cxnLst/>
            <a:rect l="l" t="t" r="r" b="b"/>
            <a:pathLst>
              <a:path w="2857500" h="76200">
                <a:moveTo>
                  <a:pt x="304800" y="0"/>
                </a:moveTo>
                <a:lnTo>
                  <a:pt x="304800" y="29640"/>
                </a:lnTo>
                <a:lnTo>
                  <a:pt x="304800" y="53863"/>
                </a:lnTo>
                <a:lnTo>
                  <a:pt x="304800" y="70205"/>
                </a:lnTo>
                <a:lnTo>
                  <a:pt x="304800" y="76200"/>
                </a:lnTo>
                <a:lnTo>
                  <a:pt x="0" y="76200"/>
                </a:lnTo>
                <a:lnTo>
                  <a:pt x="0" y="70205"/>
                </a:lnTo>
                <a:lnTo>
                  <a:pt x="0" y="53863"/>
                </a:lnTo>
                <a:lnTo>
                  <a:pt x="0" y="29640"/>
                </a:lnTo>
                <a:lnTo>
                  <a:pt x="0" y="0"/>
                </a:lnTo>
              </a:path>
              <a:path w="2857500" h="76200">
                <a:moveTo>
                  <a:pt x="2857500" y="0"/>
                </a:moveTo>
                <a:lnTo>
                  <a:pt x="2857500" y="29640"/>
                </a:lnTo>
                <a:lnTo>
                  <a:pt x="2857500" y="53863"/>
                </a:lnTo>
                <a:lnTo>
                  <a:pt x="2857500" y="70205"/>
                </a:lnTo>
                <a:lnTo>
                  <a:pt x="2857500" y="76200"/>
                </a:lnTo>
                <a:lnTo>
                  <a:pt x="723900" y="76200"/>
                </a:lnTo>
                <a:lnTo>
                  <a:pt x="723900" y="70205"/>
                </a:lnTo>
                <a:lnTo>
                  <a:pt x="723900" y="53863"/>
                </a:lnTo>
                <a:lnTo>
                  <a:pt x="723900" y="29640"/>
                </a:lnTo>
                <a:lnTo>
                  <a:pt x="723900" y="0"/>
                </a:lnTo>
              </a:path>
            </a:pathLst>
          </a:custGeom>
          <a:ln w="349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8"/>
          <p:cNvSpPr txBox="1"/>
          <p:nvPr/>
        </p:nvSpPr>
        <p:spPr>
          <a:xfrm>
            <a:off x="1104956" y="5494946"/>
            <a:ext cx="7228840" cy="770083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605"/>
              </a:spcBef>
              <a:buChar char="–"/>
              <a:tabLst>
                <a:tab pos="299085" algn="l"/>
              </a:tabLst>
            </a:pPr>
            <a:r>
              <a:rPr sz="2000" dirty="0" smtClean="0">
                <a:latin typeface="Trebuchet MS"/>
                <a:cs typeface="Trebuchet MS"/>
              </a:rPr>
              <a:t>treat</a:t>
            </a:r>
            <a:r>
              <a:rPr sz="2000" spc="-40" dirty="0" smtClean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as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one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data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point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for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regression</a:t>
            </a:r>
            <a:endParaRPr sz="2000" dirty="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299085" algn="l"/>
              </a:tabLst>
            </a:pPr>
            <a:r>
              <a:rPr sz="2000" dirty="0">
                <a:latin typeface="Trebuchet MS"/>
                <a:cs typeface="Trebuchet MS"/>
              </a:rPr>
              <a:t>want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method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that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can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learn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on-</a:t>
            </a:r>
            <a:r>
              <a:rPr sz="2000" dirty="0">
                <a:latin typeface="Trebuchet MS"/>
                <a:cs typeface="Trebuchet MS"/>
              </a:rPr>
              <a:t>line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(update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after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each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step)</a:t>
            </a:r>
            <a:endParaRPr sz="2000" dirty="0">
              <a:latin typeface="Trebuchet MS"/>
              <a:cs typeface="Trebuchet M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796981" y="4238043"/>
                <a:ext cx="640265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981" y="4238043"/>
                <a:ext cx="6402659" cy="400110"/>
              </a:xfrm>
              <a:prstGeom prst="rect">
                <a:avLst/>
              </a:prstGeom>
              <a:blipFill>
                <a:blip r:embed="rId2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236478" y="4729474"/>
                <a:ext cx="351821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⟼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478" y="4729474"/>
                <a:ext cx="3518210" cy="400110"/>
              </a:xfrm>
              <a:prstGeom prst="rect">
                <a:avLst/>
              </a:prstGeom>
              <a:blipFill>
                <a:blip r:embed="rId3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1104956" y="5218959"/>
            <a:ext cx="25311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678815">
              <a:lnSpc>
                <a:spcPct val="100000"/>
              </a:lnSpc>
              <a:spcBef>
                <a:spcPts val="705"/>
              </a:spcBef>
              <a:tabLst>
                <a:tab pos="2207895" algn="l"/>
              </a:tabLst>
            </a:pPr>
            <a:r>
              <a:rPr lang="en-IN" b="1" spc="-50" dirty="0">
                <a:solidFill>
                  <a:srgbClr val="FF0000"/>
                </a:solidFill>
                <a:latin typeface="Trebuchet MS"/>
                <a:cs typeface="Trebuchet MS"/>
              </a:rPr>
              <a:t>x</a:t>
            </a:r>
            <a:r>
              <a:rPr lang="en-IN" b="1" dirty="0">
                <a:solidFill>
                  <a:srgbClr val="FF0000"/>
                </a:solidFill>
                <a:latin typeface="Trebuchet MS"/>
                <a:cs typeface="Trebuchet MS"/>
              </a:rPr>
              <a:t>	</a:t>
            </a:r>
            <a:r>
              <a:rPr lang="en-IN" b="1" spc="-50" dirty="0">
                <a:solidFill>
                  <a:srgbClr val="FF0000"/>
                </a:solidFill>
                <a:latin typeface="Trebuchet MS"/>
                <a:cs typeface="Trebuchet MS"/>
              </a:rPr>
              <a:t>y</a:t>
            </a:r>
            <a:endParaRPr lang="en-IN" dirty="0">
              <a:latin typeface="Trebuchet MS"/>
              <a:cs typeface="Trebuchet M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501482" y="1559108"/>
                <a:ext cx="3824868" cy="848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nary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1482" y="1559108"/>
                <a:ext cx="3824868" cy="8485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1742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-10" dirty="0"/>
              <a:t>Features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14-04-2026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40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1405734" y="1057442"/>
            <a:ext cx="3884929" cy="83375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8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tile</a:t>
            </a:r>
            <a:r>
              <a:rPr sz="2400" spc="-6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coding,</a:t>
            </a:r>
            <a:r>
              <a:rPr sz="2400" spc="-7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coarse</a:t>
            </a:r>
            <a:r>
              <a:rPr sz="2400" spc="-6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coding</a:t>
            </a:r>
            <a:endParaRPr sz="2400" dirty="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495"/>
              </a:spcBef>
              <a:tabLst>
                <a:tab pos="756285" algn="l"/>
              </a:tabLst>
            </a:pPr>
            <a:r>
              <a:rPr sz="2000" spc="-50" dirty="0">
                <a:latin typeface="Trebuchet MS"/>
                <a:cs typeface="Trebuchet MS"/>
              </a:rPr>
              <a:t>–</a:t>
            </a:r>
            <a:r>
              <a:rPr sz="2000" dirty="0">
                <a:latin typeface="Trebuchet MS"/>
                <a:cs typeface="Trebuchet MS"/>
              </a:rPr>
              <a:t>	binary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features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7" name="object 4"/>
          <p:cNvSpPr txBox="1"/>
          <p:nvPr/>
        </p:nvSpPr>
        <p:spPr>
          <a:xfrm>
            <a:off x="1405734" y="4129244"/>
            <a:ext cx="3261995" cy="120078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9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radial</a:t>
            </a:r>
            <a:r>
              <a:rPr sz="2400" spc="-5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basis</a:t>
            </a:r>
            <a:r>
              <a:rPr sz="2400" spc="-5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functions</a:t>
            </a:r>
            <a:endParaRPr sz="24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50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typically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Gaussian</a:t>
            </a:r>
            <a:endParaRPr sz="20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between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0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1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8" name="object 5"/>
          <p:cNvSpPr txBox="1"/>
          <p:nvPr/>
        </p:nvSpPr>
        <p:spPr>
          <a:xfrm>
            <a:off x="1863238" y="6086090"/>
            <a:ext cx="39725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rebuchet MS"/>
                <a:cs typeface="Trebuchet MS"/>
              </a:rPr>
              <a:t>[</a:t>
            </a:r>
            <a:r>
              <a:rPr sz="1600" spc="-4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Sutton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&amp;</a:t>
            </a:r>
            <a:r>
              <a:rPr sz="1600" spc="-6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Barto,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Reinforcement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Learning</a:t>
            </a:r>
            <a:r>
              <a:rPr sz="1600" spc="-40" dirty="0">
                <a:latin typeface="Trebuchet MS"/>
                <a:cs typeface="Trebuchet MS"/>
              </a:rPr>
              <a:t> </a:t>
            </a:r>
            <a:r>
              <a:rPr sz="1600" spc="-50" dirty="0">
                <a:latin typeface="Trebuchet MS"/>
                <a:cs typeface="Trebuchet MS"/>
              </a:rPr>
              <a:t>]</a:t>
            </a:r>
            <a:endParaRPr sz="1600">
              <a:latin typeface="Trebuchet MS"/>
              <a:cs typeface="Trebuchet MS"/>
            </a:endParaRPr>
          </a:p>
        </p:txBody>
      </p:sp>
      <p:pic>
        <p:nvPicPr>
          <p:cNvPr id="9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01160" y="733779"/>
            <a:ext cx="3245933" cy="2823360"/>
          </a:xfrm>
          <a:prstGeom prst="rect">
            <a:avLst/>
          </a:prstGeom>
        </p:spPr>
      </p:pic>
      <p:pic>
        <p:nvPicPr>
          <p:cNvPr id="10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9286" y="2288165"/>
            <a:ext cx="4639956" cy="1572509"/>
          </a:xfrm>
          <a:prstGeom prst="rect">
            <a:avLst/>
          </a:prstGeom>
        </p:spPr>
      </p:pic>
      <p:pic>
        <p:nvPicPr>
          <p:cNvPr id="11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19494" y="4435090"/>
            <a:ext cx="4851400" cy="139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505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Splitting</a:t>
            </a:r>
            <a:r>
              <a:rPr lang="en-IN" spc="-50" dirty="0"/>
              <a:t> </a:t>
            </a:r>
            <a:r>
              <a:rPr lang="en-IN" dirty="0"/>
              <a:t>and</a:t>
            </a:r>
            <a:r>
              <a:rPr lang="en-IN" spc="-15" dirty="0"/>
              <a:t> </a:t>
            </a:r>
            <a:r>
              <a:rPr lang="en-IN" spc="-10" dirty="0"/>
              <a:t>aggregation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14-04-2026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41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1082348" y="778663"/>
            <a:ext cx="7804784" cy="260223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8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want</a:t>
            </a:r>
            <a:r>
              <a:rPr sz="2400" spc="-7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to</a:t>
            </a:r>
            <a:r>
              <a:rPr sz="2400" spc="-6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discretize</a:t>
            </a:r>
            <a:r>
              <a:rPr sz="2400" spc="-5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the</a:t>
            </a:r>
            <a:r>
              <a:rPr sz="2400" spc="-7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state</a:t>
            </a:r>
            <a:r>
              <a:rPr sz="2400" spc="-6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space</a:t>
            </a:r>
            <a:endParaRPr sz="24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learn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best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discretization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during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training</a:t>
            </a:r>
            <a:endParaRPr sz="20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545"/>
              </a:spcBef>
              <a:buFont typeface="Trebuchet MS"/>
              <a:buChar char="–"/>
            </a:pPr>
            <a:endParaRPr sz="2000">
              <a:latin typeface="Trebuchet MS"/>
              <a:cs typeface="Trebuchet MS"/>
            </a:endParaRPr>
          </a:p>
          <a:p>
            <a:pPr marL="355600" indent="-343535">
              <a:lnSpc>
                <a:spcPct val="100000"/>
              </a:lnSpc>
              <a:buChar char="•"/>
              <a:tabLst>
                <a:tab pos="355600" algn="l"/>
                <a:tab pos="4699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splitting</a:t>
            </a:r>
            <a:r>
              <a:rPr sz="2400" spc="-4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of</a:t>
            </a:r>
            <a:r>
              <a:rPr sz="2400" spc="-6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state</a:t>
            </a:r>
            <a:r>
              <a:rPr sz="2400" spc="-5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space</a:t>
            </a:r>
            <a:endParaRPr sz="24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start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with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single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state</a:t>
            </a:r>
            <a:endParaRPr sz="2000">
              <a:latin typeface="Trebuchet MS"/>
              <a:cs typeface="Trebuchet MS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split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state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when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different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parts</a:t>
            </a:r>
            <a:r>
              <a:rPr sz="2000" i="1" spc="-35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of</a:t>
            </a:r>
            <a:r>
              <a:rPr sz="2000" i="1" spc="-15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that</a:t>
            </a:r>
            <a:r>
              <a:rPr sz="2000" i="1" spc="-30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state</a:t>
            </a:r>
            <a:r>
              <a:rPr sz="2000" i="1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have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different values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7" name="object 4"/>
          <p:cNvSpPr txBox="1"/>
          <p:nvPr/>
        </p:nvSpPr>
        <p:spPr>
          <a:xfrm>
            <a:off x="1082348" y="4229561"/>
            <a:ext cx="4446270" cy="120015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90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state</a:t>
            </a:r>
            <a:r>
              <a:rPr sz="2400" spc="-6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aggregation</a:t>
            </a:r>
            <a:endParaRPr sz="24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start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with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many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states</a:t>
            </a:r>
            <a:endParaRPr sz="20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merge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states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with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similar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values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8" name="object 5"/>
          <p:cNvGrpSpPr/>
          <p:nvPr/>
        </p:nvGrpSpPr>
        <p:grpSpPr>
          <a:xfrm>
            <a:off x="1965633" y="4024548"/>
            <a:ext cx="2286000" cy="155575"/>
            <a:chOff x="1419225" y="4414837"/>
            <a:chExt cx="2286000" cy="155575"/>
          </a:xfrm>
        </p:grpSpPr>
        <p:sp>
          <p:nvSpPr>
            <p:cNvPr id="9" name="object 6"/>
            <p:cNvSpPr/>
            <p:nvPr/>
          </p:nvSpPr>
          <p:spPr>
            <a:xfrm>
              <a:off x="1419225" y="4419600"/>
              <a:ext cx="2286000" cy="0"/>
            </a:xfrm>
            <a:custGeom>
              <a:avLst/>
              <a:gdLst/>
              <a:ahLst/>
              <a:cxnLst/>
              <a:rect l="l" t="t" r="r" b="b"/>
              <a:pathLst>
                <a:path w="2286000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7"/>
            <p:cNvSpPr/>
            <p:nvPr/>
          </p:nvSpPr>
          <p:spPr>
            <a:xfrm>
              <a:off x="1495425" y="4476750"/>
              <a:ext cx="2133600" cy="76200"/>
            </a:xfrm>
            <a:custGeom>
              <a:avLst/>
              <a:gdLst/>
              <a:ahLst/>
              <a:cxnLst/>
              <a:rect l="l" t="t" r="r" b="b"/>
              <a:pathLst>
                <a:path w="2133600" h="76200">
                  <a:moveTo>
                    <a:pt x="2133600" y="0"/>
                  </a:moveTo>
                  <a:lnTo>
                    <a:pt x="2133600" y="29640"/>
                  </a:lnTo>
                  <a:lnTo>
                    <a:pt x="2133600" y="53863"/>
                  </a:lnTo>
                  <a:lnTo>
                    <a:pt x="2133600" y="70205"/>
                  </a:lnTo>
                  <a:lnTo>
                    <a:pt x="2133600" y="76200"/>
                  </a:lnTo>
                  <a:lnTo>
                    <a:pt x="0" y="76200"/>
                  </a:lnTo>
                  <a:lnTo>
                    <a:pt x="0" y="70205"/>
                  </a:lnTo>
                  <a:lnTo>
                    <a:pt x="0" y="53863"/>
                  </a:lnTo>
                  <a:lnTo>
                    <a:pt x="0" y="29640"/>
                  </a:lnTo>
                  <a:lnTo>
                    <a:pt x="0" y="0"/>
                  </a:lnTo>
                </a:path>
              </a:pathLst>
            </a:custGeom>
            <a:ln w="34925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5645" y="3795948"/>
            <a:ext cx="85725" cy="85725"/>
          </a:xfrm>
          <a:prstGeom prst="rect">
            <a:avLst/>
          </a:prstGeom>
        </p:spPr>
      </p:pic>
      <p:pic>
        <p:nvPicPr>
          <p:cNvPr id="12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8045" y="3719748"/>
            <a:ext cx="85725" cy="85725"/>
          </a:xfrm>
          <a:prstGeom prst="rect">
            <a:avLst/>
          </a:prstGeom>
        </p:spPr>
      </p:pic>
      <p:pic>
        <p:nvPicPr>
          <p:cNvPr id="13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0445" y="3719748"/>
            <a:ext cx="85725" cy="85725"/>
          </a:xfrm>
          <a:prstGeom prst="rect">
            <a:avLst/>
          </a:prstGeom>
        </p:spPr>
      </p:pic>
      <p:pic>
        <p:nvPicPr>
          <p:cNvPr id="14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2845" y="3795948"/>
            <a:ext cx="85725" cy="85725"/>
          </a:xfrm>
          <a:prstGeom prst="rect">
            <a:avLst/>
          </a:prstGeom>
        </p:spPr>
      </p:pic>
      <p:pic>
        <p:nvPicPr>
          <p:cNvPr id="15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5245" y="3795948"/>
            <a:ext cx="85725" cy="85725"/>
          </a:xfrm>
          <a:prstGeom prst="rect">
            <a:avLst/>
          </a:prstGeom>
        </p:spPr>
      </p:pic>
      <p:pic>
        <p:nvPicPr>
          <p:cNvPr id="16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27645" y="3643548"/>
            <a:ext cx="85725" cy="85725"/>
          </a:xfrm>
          <a:prstGeom prst="rect">
            <a:avLst/>
          </a:prstGeom>
        </p:spPr>
      </p:pic>
      <p:pic>
        <p:nvPicPr>
          <p:cNvPr id="17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80045" y="3414948"/>
            <a:ext cx="85725" cy="85725"/>
          </a:xfrm>
          <a:prstGeom prst="rect">
            <a:avLst/>
          </a:prstGeom>
        </p:spPr>
      </p:pic>
      <p:pic>
        <p:nvPicPr>
          <p:cNvPr id="18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2445" y="3338748"/>
            <a:ext cx="85725" cy="85725"/>
          </a:xfrm>
          <a:prstGeom prst="rect">
            <a:avLst/>
          </a:prstGeom>
        </p:spPr>
      </p:pic>
      <p:pic>
        <p:nvPicPr>
          <p:cNvPr id="19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84845" y="3414948"/>
            <a:ext cx="85725" cy="85725"/>
          </a:xfrm>
          <a:prstGeom prst="rect">
            <a:avLst/>
          </a:prstGeom>
        </p:spPr>
      </p:pic>
      <p:grpSp>
        <p:nvGrpSpPr>
          <p:cNvPr id="20" name="object 17"/>
          <p:cNvGrpSpPr/>
          <p:nvPr/>
        </p:nvGrpSpPr>
        <p:grpSpPr>
          <a:xfrm>
            <a:off x="1994208" y="3553061"/>
            <a:ext cx="2286000" cy="100330"/>
            <a:chOff x="1447800" y="3943350"/>
            <a:chExt cx="2286000" cy="100330"/>
          </a:xfrm>
        </p:grpSpPr>
        <p:pic>
          <p:nvPicPr>
            <p:cNvPr id="21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90837" y="3957637"/>
              <a:ext cx="85725" cy="85725"/>
            </a:xfrm>
            <a:prstGeom prst="rect">
              <a:avLst/>
            </a:prstGeom>
          </p:spPr>
        </p:pic>
        <p:sp>
          <p:nvSpPr>
            <p:cNvPr id="22" name="object 19"/>
            <p:cNvSpPr/>
            <p:nvPr/>
          </p:nvSpPr>
          <p:spPr>
            <a:xfrm>
              <a:off x="1447800" y="3962400"/>
              <a:ext cx="2286000" cy="0"/>
            </a:xfrm>
            <a:custGeom>
              <a:avLst/>
              <a:gdLst/>
              <a:ahLst/>
              <a:cxnLst/>
              <a:rect l="l" t="t" r="r" b="b"/>
              <a:pathLst>
                <a:path w="2286000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ln w="38100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3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89645" y="3338748"/>
            <a:ext cx="85725" cy="85725"/>
          </a:xfrm>
          <a:prstGeom prst="rect">
            <a:avLst/>
          </a:prstGeom>
        </p:spPr>
      </p:pic>
      <p:pic>
        <p:nvPicPr>
          <p:cNvPr id="24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42045" y="3414948"/>
            <a:ext cx="85725" cy="85725"/>
          </a:xfrm>
          <a:prstGeom prst="rect">
            <a:avLst/>
          </a:prstGeom>
        </p:spPr>
      </p:pic>
      <p:pic>
        <p:nvPicPr>
          <p:cNvPr id="25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4445" y="3262548"/>
            <a:ext cx="85725" cy="85725"/>
          </a:xfrm>
          <a:prstGeom prst="rect">
            <a:avLst/>
          </a:prstGeom>
        </p:spPr>
      </p:pic>
      <p:pic>
        <p:nvPicPr>
          <p:cNvPr id="26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6845" y="3338748"/>
            <a:ext cx="85725" cy="85725"/>
          </a:xfrm>
          <a:prstGeom prst="rect">
            <a:avLst/>
          </a:prstGeom>
        </p:spPr>
      </p:pic>
      <p:grpSp>
        <p:nvGrpSpPr>
          <p:cNvPr id="27" name="object 24"/>
          <p:cNvGrpSpPr/>
          <p:nvPr/>
        </p:nvGrpSpPr>
        <p:grpSpPr>
          <a:xfrm>
            <a:off x="5929620" y="4024548"/>
            <a:ext cx="2313305" cy="158750"/>
            <a:chOff x="5383212" y="4414837"/>
            <a:chExt cx="2313305" cy="158750"/>
          </a:xfrm>
        </p:grpSpPr>
        <p:sp>
          <p:nvSpPr>
            <p:cNvPr id="28" name="object 25"/>
            <p:cNvSpPr/>
            <p:nvPr/>
          </p:nvSpPr>
          <p:spPr>
            <a:xfrm>
              <a:off x="5410200" y="4419600"/>
              <a:ext cx="2286000" cy="0"/>
            </a:xfrm>
            <a:custGeom>
              <a:avLst/>
              <a:gdLst/>
              <a:ahLst/>
              <a:cxnLst/>
              <a:rect l="l" t="t" r="r" b="b"/>
              <a:pathLst>
                <a:path w="2286000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6"/>
            <p:cNvSpPr/>
            <p:nvPr/>
          </p:nvSpPr>
          <p:spPr>
            <a:xfrm>
              <a:off x="5400675" y="4476750"/>
              <a:ext cx="922655" cy="79375"/>
            </a:xfrm>
            <a:custGeom>
              <a:avLst/>
              <a:gdLst/>
              <a:ahLst/>
              <a:cxnLst/>
              <a:rect l="l" t="t" r="r" b="b"/>
              <a:pathLst>
                <a:path w="922654" h="79375">
                  <a:moveTo>
                    <a:pt x="922274" y="0"/>
                  </a:moveTo>
                  <a:lnTo>
                    <a:pt x="922274" y="30886"/>
                  </a:lnTo>
                  <a:lnTo>
                    <a:pt x="922274" y="56118"/>
                  </a:lnTo>
                  <a:lnTo>
                    <a:pt x="922274" y="73134"/>
                  </a:lnTo>
                  <a:lnTo>
                    <a:pt x="922274" y="79375"/>
                  </a:lnTo>
                  <a:lnTo>
                    <a:pt x="0" y="79375"/>
                  </a:lnTo>
                  <a:lnTo>
                    <a:pt x="0" y="73134"/>
                  </a:lnTo>
                  <a:lnTo>
                    <a:pt x="0" y="56118"/>
                  </a:lnTo>
                  <a:lnTo>
                    <a:pt x="0" y="30886"/>
                  </a:lnTo>
                  <a:lnTo>
                    <a:pt x="0" y="0"/>
                  </a:lnTo>
                </a:path>
              </a:pathLst>
            </a:custGeom>
            <a:ln w="34925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27"/>
            <p:cNvSpPr/>
            <p:nvPr/>
          </p:nvSpPr>
          <p:spPr>
            <a:xfrm>
              <a:off x="6389750" y="4476750"/>
              <a:ext cx="1287780" cy="74930"/>
            </a:xfrm>
            <a:custGeom>
              <a:avLst/>
              <a:gdLst/>
              <a:ahLst/>
              <a:cxnLst/>
              <a:rect l="l" t="t" r="r" b="b"/>
              <a:pathLst>
                <a:path w="1287779" h="74929">
                  <a:moveTo>
                    <a:pt x="1287399" y="0"/>
                  </a:moveTo>
                  <a:lnTo>
                    <a:pt x="1287399" y="29027"/>
                  </a:lnTo>
                  <a:lnTo>
                    <a:pt x="1287399" y="52768"/>
                  </a:lnTo>
                  <a:lnTo>
                    <a:pt x="1287399" y="68794"/>
                  </a:lnTo>
                  <a:lnTo>
                    <a:pt x="1287399" y="74675"/>
                  </a:lnTo>
                  <a:lnTo>
                    <a:pt x="0" y="74675"/>
                  </a:lnTo>
                  <a:lnTo>
                    <a:pt x="0" y="68794"/>
                  </a:lnTo>
                  <a:lnTo>
                    <a:pt x="0" y="52768"/>
                  </a:lnTo>
                  <a:lnTo>
                    <a:pt x="0" y="29027"/>
                  </a:lnTo>
                  <a:lnTo>
                    <a:pt x="0" y="0"/>
                  </a:lnTo>
                </a:path>
              </a:pathLst>
            </a:custGeom>
            <a:ln w="34925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28"/>
          <p:cNvGrpSpPr/>
          <p:nvPr/>
        </p:nvGrpSpPr>
        <p:grpSpPr>
          <a:xfrm>
            <a:off x="5956608" y="3719748"/>
            <a:ext cx="914400" cy="161925"/>
            <a:chOff x="5410200" y="4110037"/>
            <a:chExt cx="914400" cy="161925"/>
          </a:xfrm>
        </p:grpSpPr>
        <p:pic>
          <p:nvPicPr>
            <p:cNvPr id="32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81637" y="4186237"/>
              <a:ext cx="85725" cy="85725"/>
            </a:xfrm>
            <a:prstGeom prst="rect">
              <a:avLst/>
            </a:prstGeom>
          </p:spPr>
        </p:pic>
        <p:pic>
          <p:nvPicPr>
            <p:cNvPr id="33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34037" y="4110037"/>
              <a:ext cx="85725" cy="85725"/>
            </a:xfrm>
            <a:prstGeom prst="rect">
              <a:avLst/>
            </a:prstGeom>
          </p:spPr>
        </p:pic>
        <p:pic>
          <p:nvPicPr>
            <p:cNvPr id="34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86437" y="4110037"/>
              <a:ext cx="85725" cy="85725"/>
            </a:xfrm>
            <a:prstGeom prst="rect">
              <a:avLst/>
            </a:prstGeom>
          </p:spPr>
        </p:pic>
        <p:pic>
          <p:nvPicPr>
            <p:cNvPr id="35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38837" y="4186237"/>
              <a:ext cx="85725" cy="85725"/>
            </a:xfrm>
            <a:prstGeom prst="rect">
              <a:avLst/>
            </a:prstGeom>
          </p:spPr>
        </p:pic>
        <p:pic>
          <p:nvPicPr>
            <p:cNvPr id="36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1237" y="4186237"/>
              <a:ext cx="85725" cy="85725"/>
            </a:xfrm>
            <a:prstGeom prst="rect">
              <a:avLst/>
            </a:prstGeom>
          </p:spPr>
        </p:pic>
        <p:sp>
          <p:nvSpPr>
            <p:cNvPr id="37" name="object 34"/>
            <p:cNvSpPr/>
            <p:nvPr/>
          </p:nvSpPr>
          <p:spPr>
            <a:xfrm>
              <a:off x="5410200" y="4191000"/>
              <a:ext cx="914400" cy="0"/>
            </a:xfrm>
            <a:custGeom>
              <a:avLst/>
              <a:gdLst/>
              <a:ahLst/>
              <a:cxnLst/>
              <a:rect l="l" t="t" r="r" b="b"/>
              <a:pathLst>
                <a:path w="914400">
                  <a:moveTo>
                    <a:pt x="0" y="0"/>
                  </a:moveTo>
                  <a:lnTo>
                    <a:pt x="914400" y="0"/>
                  </a:lnTo>
                </a:path>
              </a:pathLst>
            </a:custGeom>
            <a:ln w="38100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8" name="object 3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90045" y="3643548"/>
            <a:ext cx="85725" cy="85725"/>
          </a:xfrm>
          <a:prstGeom prst="rect">
            <a:avLst/>
          </a:prstGeom>
        </p:spPr>
      </p:pic>
      <p:pic>
        <p:nvPicPr>
          <p:cNvPr id="39" name="object 3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94845" y="3338748"/>
            <a:ext cx="85725" cy="85725"/>
          </a:xfrm>
          <a:prstGeom prst="rect">
            <a:avLst/>
          </a:prstGeom>
        </p:spPr>
      </p:pic>
      <p:pic>
        <p:nvPicPr>
          <p:cNvPr id="40" name="object 3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99645" y="3567348"/>
            <a:ext cx="85725" cy="85725"/>
          </a:xfrm>
          <a:prstGeom prst="rect">
            <a:avLst/>
          </a:prstGeom>
        </p:spPr>
      </p:pic>
      <p:pic>
        <p:nvPicPr>
          <p:cNvPr id="41" name="object 3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52045" y="3338748"/>
            <a:ext cx="85725" cy="85725"/>
          </a:xfrm>
          <a:prstGeom prst="rect">
            <a:avLst/>
          </a:prstGeom>
        </p:spPr>
      </p:pic>
      <p:pic>
        <p:nvPicPr>
          <p:cNvPr id="42" name="object 3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6845" y="3262548"/>
            <a:ext cx="85725" cy="85725"/>
          </a:xfrm>
          <a:prstGeom prst="rect">
            <a:avLst/>
          </a:prstGeom>
        </p:spPr>
      </p:pic>
      <p:pic>
        <p:nvPicPr>
          <p:cNvPr id="43" name="object 4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09245" y="3338748"/>
            <a:ext cx="85725" cy="85725"/>
          </a:xfrm>
          <a:prstGeom prst="rect">
            <a:avLst/>
          </a:prstGeom>
        </p:spPr>
      </p:pic>
      <p:grpSp>
        <p:nvGrpSpPr>
          <p:cNvPr id="44" name="object 41"/>
          <p:cNvGrpSpPr/>
          <p:nvPr/>
        </p:nvGrpSpPr>
        <p:grpSpPr>
          <a:xfrm>
            <a:off x="6871008" y="3414948"/>
            <a:ext cx="1371600" cy="100330"/>
            <a:chOff x="6324600" y="3805237"/>
            <a:chExt cx="1371600" cy="100330"/>
          </a:xfrm>
        </p:grpSpPr>
        <p:pic>
          <p:nvPicPr>
            <p:cNvPr id="45" name="object 4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96037" y="3805237"/>
              <a:ext cx="85725" cy="85725"/>
            </a:xfrm>
            <a:prstGeom prst="rect">
              <a:avLst/>
            </a:prstGeom>
          </p:spPr>
        </p:pic>
        <p:pic>
          <p:nvPicPr>
            <p:cNvPr id="46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00837" y="3805237"/>
              <a:ext cx="85725" cy="85725"/>
            </a:xfrm>
            <a:prstGeom prst="rect">
              <a:avLst/>
            </a:prstGeom>
          </p:spPr>
        </p:pic>
        <p:pic>
          <p:nvPicPr>
            <p:cNvPr id="47" name="object 4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58037" y="3805237"/>
              <a:ext cx="85725" cy="85725"/>
            </a:xfrm>
            <a:prstGeom prst="rect">
              <a:avLst/>
            </a:prstGeom>
          </p:spPr>
        </p:pic>
        <p:sp>
          <p:nvSpPr>
            <p:cNvPr id="48" name="object 45"/>
            <p:cNvSpPr/>
            <p:nvPr/>
          </p:nvSpPr>
          <p:spPr>
            <a:xfrm>
              <a:off x="6324600" y="3886200"/>
              <a:ext cx="1371600" cy="0"/>
            </a:xfrm>
            <a:custGeom>
              <a:avLst/>
              <a:gdLst/>
              <a:ahLst/>
              <a:cxnLst/>
              <a:rect l="l" t="t" r="r" b="b"/>
              <a:pathLst>
                <a:path w="1371600">
                  <a:moveTo>
                    <a:pt x="0" y="0"/>
                  </a:moveTo>
                  <a:lnTo>
                    <a:pt x="1371600" y="0"/>
                  </a:lnTo>
                </a:path>
              </a:pathLst>
            </a:custGeom>
            <a:ln w="38100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9" name="object 46"/>
          <p:cNvGrpSpPr/>
          <p:nvPr/>
        </p:nvGrpSpPr>
        <p:grpSpPr>
          <a:xfrm>
            <a:off x="1967220" y="6081948"/>
            <a:ext cx="2313305" cy="158750"/>
            <a:chOff x="1420812" y="6472237"/>
            <a:chExt cx="2313305" cy="158750"/>
          </a:xfrm>
        </p:grpSpPr>
        <p:sp>
          <p:nvSpPr>
            <p:cNvPr id="50" name="object 47"/>
            <p:cNvSpPr/>
            <p:nvPr/>
          </p:nvSpPr>
          <p:spPr>
            <a:xfrm>
              <a:off x="1447800" y="6477000"/>
              <a:ext cx="2286000" cy="0"/>
            </a:xfrm>
            <a:custGeom>
              <a:avLst/>
              <a:gdLst/>
              <a:ahLst/>
              <a:cxnLst/>
              <a:rect l="l" t="t" r="r" b="b"/>
              <a:pathLst>
                <a:path w="2286000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48"/>
            <p:cNvSpPr/>
            <p:nvPr/>
          </p:nvSpPr>
          <p:spPr>
            <a:xfrm>
              <a:off x="1438275" y="6534150"/>
              <a:ext cx="922655" cy="79375"/>
            </a:xfrm>
            <a:custGeom>
              <a:avLst/>
              <a:gdLst/>
              <a:ahLst/>
              <a:cxnLst/>
              <a:rect l="l" t="t" r="r" b="b"/>
              <a:pathLst>
                <a:path w="922655" h="79375">
                  <a:moveTo>
                    <a:pt x="922274" y="0"/>
                  </a:moveTo>
                  <a:lnTo>
                    <a:pt x="922274" y="30897"/>
                  </a:lnTo>
                  <a:lnTo>
                    <a:pt x="922274" y="56127"/>
                  </a:lnTo>
                  <a:lnTo>
                    <a:pt x="922274" y="73137"/>
                  </a:lnTo>
                  <a:lnTo>
                    <a:pt x="922274" y="79375"/>
                  </a:lnTo>
                  <a:lnTo>
                    <a:pt x="0" y="79375"/>
                  </a:lnTo>
                  <a:lnTo>
                    <a:pt x="0" y="73137"/>
                  </a:lnTo>
                  <a:lnTo>
                    <a:pt x="0" y="56127"/>
                  </a:lnTo>
                  <a:lnTo>
                    <a:pt x="0" y="30897"/>
                  </a:lnTo>
                  <a:lnTo>
                    <a:pt x="0" y="0"/>
                  </a:lnTo>
                </a:path>
              </a:pathLst>
            </a:custGeom>
            <a:ln w="34925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49"/>
            <p:cNvSpPr/>
            <p:nvPr/>
          </p:nvSpPr>
          <p:spPr>
            <a:xfrm>
              <a:off x="2427350" y="6534150"/>
              <a:ext cx="1287780" cy="74930"/>
            </a:xfrm>
            <a:custGeom>
              <a:avLst/>
              <a:gdLst/>
              <a:ahLst/>
              <a:cxnLst/>
              <a:rect l="l" t="t" r="r" b="b"/>
              <a:pathLst>
                <a:path w="1287779" h="74929">
                  <a:moveTo>
                    <a:pt x="1287399" y="0"/>
                  </a:moveTo>
                  <a:lnTo>
                    <a:pt x="1287399" y="29044"/>
                  </a:lnTo>
                  <a:lnTo>
                    <a:pt x="1287399" y="52760"/>
                  </a:lnTo>
                  <a:lnTo>
                    <a:pt x="1287399" y="68749"/>
                  </a:lnTo>
                  <a:lnTo>
                    <a:pt x="1287399" y="74612"/>
                  </a:lnTo>
                  <a:lnTo>
                    <a:pt x="0" y="74612"/>
                  </a:lnTo>
                  <a:lnTo>
                    <a:pt x="0" y="68749"/>
                  </a:lnTo>
                  <a:lnTo>
                    <a:pt x="0" y="52760"/>
                  </a:lnTo>
                  <a:lnTo>
                    <a:pt x="0" y="29044"/>
                  </a:lnTo>
                  <a:lnTo>
                    <a:pt x="0" y="0"/>
                  </a:lnTo>
                </a:path>
              </a:pathLst>
            </a:custGeom>
            <a:ln w="34925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3" name="object 50"/>
          <p:cNvGrpSpPr/>
          <p:nvPr/>
        </p:nvGrpSpPr>
        <p:grpSpPr>
          <a:xfrm>
            <a:off x="1994208" y="5624748"/>
            <a:ext cx="2286000" cy="238125"/>
            <a:chOff x="1447800" y="6015037"/>
            <a:chExt cx="2286000" cy="238125"/>
          </a:xfrm>
        </p:grpSpPr>
        <p:pic>
          <p:nvPicPr>
            <p:cNvPr id="54" name="object 5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19237" y="6091237"/>
              <a:ext cx="85725" cy="85725"/>
            </a:xfrm>
            <a:prstGeom prst="rect">
              <a:avLst/>
            </a:prstGeom>
          </p:spPr>
        </p:pic>
        <p:pic>
          <p:nvPicPr>
            <p:cNvPr id="55" name="object 5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71637" y="6167437"/>
              <a:ext cx="85725" cy="85725"/>
            </a:xfrm>
            <a:prstGeom prst="rect">
              <a:avLst/>
            </a:prstGeom>
          </p:spPr>
        </p:pic>
        <p:pic>
          <p:nvPicPr>
            <p:cNvPr id="56" name="object 5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76437" y="6167437"/>
              <a:ext cx="85725" cy="85725"/>
            </a:xfrm>
            <a:prstGeom prst="rect">
              <a:avLst/>
            </a:prstGeom>
          </p:spPr>
        </p:pic>
        <p:pic>
          <p:nvPicPr>
            <p:cNvPr id="57" name="object 5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28837" y="6091237"/>
              <a:ext cx="85725" cy="85725"/>
            </a:xfrm>
            <a:prstGeom prst="rect">
              <a:avLst/>
            </a:prstGeom>
          </p:spPr>
        </p:pic>
        <p:pic>
          <p:nvPicPr>
            <p:cNvPr id="58" name="object 5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33637" y="6015037"/>
              <a:ext cx="85725" cy="85725"/>
            </a:xfrm>
            <a:prstGeom prst="rect">
              <a:avLst/>
            </a:prstGeom>
          </p:spPr>
        </p:pic>
        <p:pic>
          <p:nvPicPr>
            <p:cNvPr id="59" name="object 5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86037" y="6091237"/>
              <a:ext cx="85725" cy="85725"/>
            </a:xfrm>
            <a:prstGeom prst="rect">
              <a:avLst/>
            </a:prstGeom>
          </p:spPr>
        </p:pic>
        <p:pic>
          <p:nvPicPr>
            <p:cNvPr id="60" name="object 5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38437" y="6015037"/>
              <a:ext cx="85725" cy="85725"/>
            </a:xfrm>
            <a:prstGeom prst="rect">
              <a:avLst/>
            </a:prstGeom>
          </p:spPr>
        </p:pic>
        <p:pic>
          <p:nvPicPr>
            <p:cNvPr id="61" name="object 5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3237" y="6091237"/>
              <a:ext cx="85725" cy="85725"/>
            </a:xfrm>
            <a:prstGeom prst="rect">
              <a:avLst/>
            </a:prstGeom>
          </p:spPr>
        </p:pic>
        <p:pic>
          <p:nvPicPr>
            <p:cNvPr id="62" name="object 5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95637" y="6015037"/>
              <a:ext cx="85725" cy="85725"/>
            </a:xfrm>
            <a:prstGeom prst="rect">
              <a:avLst/>
            </a:prstGeom>
          </p:spPr>
        </p:pic>
        <p:pic>
          <p:nvPicPr>
            <p:cNvPr id="63" name="object 6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48037" y="6091237"/>
              <a:ext cx="85725" cy="85725"/>
            </a:xfrm>
            <a:prstGeom prst="rect">
              <a:avLst/>
            </a:prstGeom>
          </p:spPr>
        </p:pic>
        <p:pic>
          <p:nvPicPr>
            <p:cNvPr id="64" name="object 6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00437" y="6091237"/>
              <a:ext cx="85725" cy="85725"/>
            </a:xfrm>
            <a:prstGeom prst="rect">
              <a:avLst/>
            </a:prstGeom>
          </p:spPr>
        </p:pic>
        <p:sp>
          <p:nvSpPr>
            <p:cNvPr id="65" name="object 62"/>
            <p:cNvSpPr/>
            <p:nvPr/>
          </p:nvSpPr>
          <p:spPr>
            <a:xfrm>
              <a:off x="1447800" y="6096000"/>
              <a:ext cx="2286000" cy="76200"/>
            </a:xfrm>
            <a:custGeom>
              <a:avLst/>
              <a:gdLst/>
              <a:ahLst/>
              <a:cxnLst/>
              <a:rect l="l" t="t" r="r" b="b"/>
              <a:pathLst>
                <a:path w="2286000" h="76200">
                  <a:moveTo>
                    <a:pt x="0" y="76200"/>
                  </a:moveTo>
                  <a:lnTo>
                    <a:pt x="914400" y="76200"/>
                  </a:lnTo>
                </a:path>
                <a:path w="2286000" h="76200">
                  <a:moveTo>
                    <a:pt x="914400" y="0"/>
                  </a:moveTo>
                  <a:lnTo>
                    <a:pt x="2286000" y="0"/>
                  </a:lnTo>
                </a:path>
              </a:pathLst>
            </a:custGeom>
            <a:ln w="38100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6" name="object 6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70445" y="5853348"/>
            <a:ext cx="85725" cy="85725"/>
          </a:xfrm>
          <a:prstGeom prst="rect">
            <a:avLst/>
          </a:prstGeom>
        </p:spPr>
      </p:pic>
      <p:pic>
        <p:nvPicPr>
          <p:cNvPr id="67" name="object 6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27645" y="5853348"/>
            <a:ext cx="85725" cy="85725"/>
          </a:xfrm>
          <a:prstGeom prst="rect">
            <a:avLst/>
          </a:prstGeom>
        </p:spPr>
      </p:pic>
      <p:pic>
        <p:nvPicPr>
          <p:cNvPr id="68" name="object 6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7245" y="5777148"/>
            <a:ext cx="85725" cy="85725"/>
          </a:xfrm>
          <a:prstGeom prst="rect">
            <a:avLst/>
          </a:prstGeom>
        </p:spPr>
      </p:pic>
      <p:sp>
        <p:nvSpPr>
          <p:cNvPr id="69" name="object 66"/>
          <p:cNvSpPr/>
          <p:nvPr/>
        </p:nvSpPr>
        <p:spPr>
          <a:xfrm>
            <a:off x="5880408" y="6086711"/>
            <a:ext cx="2286000" cy="0"/>
          </a:xfrm>
          <a:custGeom>
            <a:avLst/>
            <a:gdLst/>
            <a:ahLst/>
            <a:cxnLst/>
            <a:rect l="l" t="t" r="r" b="b"/>
            <a:pathLst>
              <a:path w="2286000">
                <a:moveTo>
                  <a:pt x="0" y="0"/>
                </a:moveTo>
                <a:lnTo>
                  <a:pt x="2286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0" name="object 67"/>
          <p:cNvGrpSpPr/>
          <p:nvPr/>
        </p:nvGrpSpPr>
        <p:grpSpPr>
          <a:xfrm>
            <a:off x="5880408" y="5700948"/>
            <a:ext cx="2286000" cy="161925"/>
            <a:chOff x="5334000" y="6091237"/>
            <a:chExt cx="2286000" cy="161925"/>
          </a:xfrm>
        </p:grpSpPr>
        <p:pic>
          <p:nvPicPr>
            <p:cNvPr id="71" name="object 6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05437" y="6091237"/>
              <a:ext cx="85725" cy="85725"/>
            </a:xfrm>
            <a:prstGeom prst="rect">
              <a:avLst/>
            </a:prstGeom>
          </p:spPr>
        </p:pic>
        <p:pic>
          <p:nvPicPr>
            <p:cNvPr id="72" name="object 6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57837" y="6167437"/>
              <a:ext cx="85725" cy="85725"/>
            </a:xfrm>
            <a:prstGeom prst="rect">
              <a:avLst/>
            </a:prstGeom>
          </p:spPr>
        </p:pic>
        <p:pic>
          <p:nvPicPr>
            <p:cNvPr id="73" name="object 7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62637" y="6167437"/>
              <a:ext cx="85725" cy="85725"/>
            </a:xfrm>
            <a:prstGeom prst="rect">
              <a:avLst/>
            </a:prstGeom>
          </p:spPr>
        </p:pic>
        <p:pic>
          <p:nvPicPr>
            <p:cNvPr id="74" name="object 7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15037" y="6091237"/>
              <a:ext cx="85725" cy="85725"/>
            </a:xfrm>
            <a:prstGeom prst="rect">
              <a:avLst/>
            </a:prstGeom>
          </p:spPr>
        </p:pic>
        <p:pic>
          <p:nvPicPr>
            <p:cNvPr id="75" name="object 7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2237" y="6091237"/>
              <a:ext cx="85725" cy="85725"/>
            </a:xfrm>
            <a:prstGeom prst="rect">
              <a:avLst/>
            </a:prstGeom>
          </p:spPr>
        </p:pic>
        <p:pic>
          <p:nvPicPr>
            <p:cNvPr id="76" name="object 7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77037" y="6167437"/>
              <a:ext cx="85725" cy="85725"/>
            </a:xfrm>
            <a:prstGeom prst="rect">
              <a:avLst/>
            </a:prstGeom>
          </p:spPr>
        </p:pic>
        <p:pic>
          <p:nvPicPr>
            <p:cNvPr id="77" name="object 7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29437" y="6091237"/>
              <a:ext cx="85725" cy="85725"/>
            </a:xfrm>
            <a:prstGeom prst="rect">
              <a:avLst/>
            </a:prstGeom>
          </p:spPr>
        </p:pic>
        <p:pic>
          <p:nvPicPr>
            <p:cNvPr id="78" name="object 7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34237" y="6091237"/>
              <a:ext cx="85725" cy="85725"/>
            </a:xfrm>
            <a:prstGeom prst="rect">
              <a:avLst/>
            </a:prstGeom>
          </p:spPr>
        </p:pic>
        <p:pic>
          <p:nvPicPr>
            <p:cNvPr id="79" name="object 7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6637" y="6091237"/>
              <a:ext cx="85725" cy="85725"/>
            </a:xfrm>
            <a:prstGeom prst="rect">
              <a:avLst/>
            </a:prstGeom>
          </p:spPr>
        </p:pic>
        <p:sp>
          <p:nvSpPr>
            <p:cNvPr id="80" name="object 77"/>
            <p:cNvSpPr/>
            <p:nvPr/>
          </p:nvSpPr>
          <p:spPr>
            <a:xfrm>
              <a:off x="5334000" y="6172200"/>
              <a:ext cx="2286000" cy="0"/>
            </a:xfrm>
            <a:custGeom>
              <a:avLst/>
              <a:gdLst/>
              <a:ahLst/>
              <a:cxnLst/>
              <a:rect l="l" t="t" r="r" b="b"/>
              <a:pathLst>
                <a:path w="2286000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ln w="38100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1" name="object 7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56645" y="5853348"/>
            <a:ext cx="85725" cy="85725"/>
          </a:xfrm>
          <a:prstGeom prst="rect">
            <a:avLst/>
          </a:prstGeom>
        </p:spPr>
      </p:pic>
      <p:pic>
        <p:nvPicPr>
          <p:cNvPr id="82" name="object 7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13845" y="5853348"/>
            <a:ext cx="85725" cy="85725"/>
          </a:xfrm>
          <a:prstGeom prst="rect">
            <a:avLst/>
          </a:prstGeom>
        </p:spPr>
      </p:pic>
      <p:pic>
        <p:nvPicPr>
          <p:cNvPr id="83" name="object 8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66245" y="5624748"/>
            <a:ext cx="85725" cy="85725"/>
          </a:xfrm>
          <a:prstGeom prst="rect">
            <a:avLst/>
          </a:prstGeom>
        </p:spPr>
      </p:pic>
      <p:pic>
        <p:nvPicPr>
          <p:cNvPr id="84" name="object 8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71045" y="5624748"/>
            <a:ext cx="85725" cy="85725"/>
          </a:xfrm>
          <a:prstGeom prst="rect">
            <a:avLst/>
          </a:prstGeom>
        </p:spPr>
      </p:pic>
      <p:pic>
        <p:nvPicPr>
          <p:cNvPr id="85" name="object 8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8245" y="5624748"/>
            <a:ext cx="85725" cy="85725"/>
          </a:xfrm>
          <a:prstGeom prst="rect">
            <a:avLst/>
          </a:prstGeom>
        </p:spPr>
      </p:pic>
      <p:sp>
        <p:nvSpPr>
          <p:cNvPr id="86" name="object 83"/>
          <p:cNvSpPr/>
          <p:nvPr/>
        </p:nvSpPr>
        <p:spPr>
          <a:xfrm>
            <a:off x="5956608" y="6162911"/>
            <a:ext cx="2133600" cy="76200"/>
          </a:xfrm>
          <a:custGeom>
            <a:avLst/>
            <a:gdLst/>
            <a:ahLst/>
            <a:cxnLst/>
            <a:rect l="l" t="t" r="r" b="b"/>
            <a:pathLst>
              <a:path w="2133600" h="76200">
                <a:moveTo>
                  <a:pt x="2133600" y="0"/>
                </a:moveTo>
                <a:lnTo>
                  <a:pt x="2133600" y="29662"/>
                </a:lnTo>
                <a:lnTo>
                  <a:pt x="2133600" y="53882"/>
                </a:lnTo>
                <a:lnTo>
                  <a:pt x="2133600" y="70212"/>
                </a:lnTo>
                <a:lnTo>
                  <a:pt x="2133600" y="76200"/>
                </a:lnTo>
                <a:lnTo>
                  <a:pt x="0" y="76200"/>
                </a:lnTo>
                <a:lnTo>
                  <a:pt x="0" y="70212"/>
                </a:lnTo>
                <a:lnTo>
                  <a:pt x="0" y="53882"/>
                </a:lnTo>
                <a:lnTo>
                  <a:pt x="0" y="29662"/>
                </a:lnTo>
                <a:lnTo>
                  <a:pt x="0" y="0"/>
                </a:lnTo>
              </a:path>
            </a:pathLst>
          </a:custGeom>
          <a:ln w="34925">
            <a:solidFill>
              <a:srgbClr val="008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7" name="object 84"/>
          <p:cNvGrpSpPr/>
          <p:nvPr/>
        </p:nvGrpSpPr>
        <p:grpSpPr>
          <a:xfrm>
            <a:off x="4808845" y="3491148"/>
            <a:ext cx="619125" cy="314325"/>
            <a:chOff x="4262437" y="3881437"/>
            <a:chExt cx="619125" cy="314325"/>
          </a:xfrm>
        </p:grpSpPr>
        <p:sp>
          <p:nvSpPr>
            <p:cNvPr id="88" name="object 85"/>
            <p:cNvSpPr/>
            <p:nvPr/>
          </p:nvSpPr>
          <p:spPr>
            <a:xfrm>
              <a:off x="4267200" y="3886200"/>
              <a:ext cx="609600" cy="304800"/>
            </a:xfrm>
            <a:custGeom>
              <a:avLst/>
              <a:gdLst/>
              <a:ahLst/>
              <a:cxnLst/>
              <a:rect l="l" t="t" r="r" b="b"/>
              <a:pathLst>
                <a:path w="609600" h="304800">
                  <a:moveTo>
                    <a:pt x="395224" y="0"/>
                  </a:moveTo>
                  <a:lnTo>
                    <a:pt x="395224" y="76200"/>
                  </a:lnTo>
                  <a:lnTo>
                    <a:pt x="0" y="76200"/>
                  </a:lnTo>
                  <a:lnTo>
                    <a:pt x="0" y="228600"/>
                  </a:lnTo>
                  <a:lnTo>
                    <a:pt x="395224" y="228600"/>
                  </a:lnTo>
                  <a:lnTo>
                    <a:pt x="395224" y="304800"/>
                  </a:lnTo>
                  <a:lnTo>
                    <a:pt x="609600" y="152400"/>
                  </a:lnTo>
                  <a:lnTo>
                    <a:pt x="3952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6"/>
            <p:cNvSpPr/>
            <p:nvPr/>
          </p:nvSpPr>
          <p:spPr>
            <a:xfrm>
              <a:off x="4267200" y="3886200"/>
              <a:ext cx="609600" cy="304800"/>
            </a:xfrm>
            <a:custGeom>
              <a:avLst/>
              <a:gdLst/>
              <a:ahLst/>
              <a:cxnLst/>
              <a:rect l="l" t="t" r="r" b="b"/>
              <a:pathLst>
                <a:path w="609600" h="304800">
                  <a:moveTo>
                    <a:pt x="0" y="76200"/>
                  </a:moveTo>
                  <a:lnTo>
                    <a:pt x="395224" y="76200"/>
                  </a:lnTo>
                  <a:lnTo>
                    <a:pt x="395224" y="0"/>
                  </a:lnTo>
                  <a:lnTo>
                    <a:pt x="609600" y="152400"/>
                  </a:lnTo>
                  <a:lnTo>
                    <a:pt x="395224" y="304800"/>
                  </a:lnTo>
                  <a:lnTo>
                    <a:pt x="395224" y="228600"/>
                  </a:lnTo>
                  <a:lnTo>
                    <a:pt x="0" y="228600"/>
                  </a:lnTo>
                  <a:lnTo>
                    <a:pt x="0" y="76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0" name="object 87"/>
          <p:cNvGrpSpPr/>
          <p:nvPr/>
        </p:nvGrpSpPr>
        <p:grpSpPr>
          <a:xfrm>
            <a:off x="4808845" y="5624748"/>
            <a:ext cx="619125" cy="314325"/>
            <a:chOff x="4262437" y="6015037"/>
            <a:chExt cx="619125" cy="314325"/>
          </a:xfrm>
        </p:grpSpPr>
        <p:sp>
          <p:nvSpPr>
            <p:cNvPr id="91" name="object 88"/>
            <p:cNvSpPr/>
            <p:nvPr/>
          </p:nvSpPr>
          <p:spPr>
            <a:xfrm>
              <a:off x="4267200" y="6019800"/>
              <a:ext cx="609600" cy="304800"/>
            </a:xfrm>
            <a:custGeom>
              <a:avLst/>
              <a:gdLst/>
              <a:ahLst/>
              <a:cxnLst/>
              <a:rect l="l" t="t" r="r" b="b"/>
              <a:pathLst>
                <a:path w="609600" h="304800">
                  <a:moveTo>
                    <a:pt x="395224" y="0"/>
                  </a:moveTo>
                  <a:lnTo>
                    <a:pt x="395224" y="76200"/>
                  </a:lnTo>
                  <a:lnTo>
                    <a:pt x="0" y="76200"/>
                  </a:lnTo>
                  <a:lnTo>
                    <a:pt x="0" y="228600"/>
                  </a:lnTo>
                  <a:lnTo>
                    <a:pt x="395224" y="228600"/>
                  </a:lnTo>
                  <a:lnTo>
                    <a:pt x="395224" y="304800"/>
                  </a:lnTo>
                  <a:lnTo>
                    <a:pt x="609600" y="152400"/>
                  </a:lnTo>
                  <a:lnTo>
                    <a:pt x="3952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89"/>
            <p:cNvSpPr/>
            <p:nvPr/>
          </p:nvSpPr>
          <p:spPr>
            <a:xfrm>
              <a:off x="4267200" y="6019800"/>
              <a:ext cx="609600" cy="304800"/>
            </a:xfrm>
            <a:custGeom>
              <a:avLst/>
              <a:gdLst/>
              <a:ahLst/>
              <a:cxnLst/>
              <a:rect l="l" t="t" r="r" b="b"/>
              <a:pathLst>
                <a:path w="609600" h="304800">
                  <a:moveTo>
                    <a:pt x="0" y="76200"/>
                  </a:moveTo>
                  <a:lnTo>
                    <a:pt x="395224" y="76200"/>
                  </a:lnTo>
                  <a:lnTo>
                    <a:pt x="395224" y="0"/>
                  </a:lnTo>
                  <a:lnTo>
                    <a:pt x="609600" y="152400"/>
                  </a:lnTo>
                  <a:lnTo>
                    <a:pt x="395224" y="304800"/>
                  </a:lnTo>
                  <a:lnTo>
                    <a:pt x="395224" y="228600"/>
                  </a:lnTo>
                  <a:lnTo>
                    <a:pt x="0" y="228600"/>
                  </a:lnTo>
                  <a:lnTo>
                    <a:pt x="0" y="76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73847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Designing</a:t>
            </a:r>
            <a:r>
              <a:rPr lang="en-IN" spc="-55" dirty="0"/>
              <a:t> </a:t>
            </a:r>
            <a:r>
              <a:rPr lang="en-IN" spc="-10" dirty="0"/>
              <a:t>rewards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14-04-2026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42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993139" y="689332"/>
            <a:ext cx="7545070" cy="542861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395"/>
              </a:spcBef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robot</a:t>
            </a:r>
            <a:r>
              <a:rPr sz="2400" spc="-2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in</a:t>
            </a:r>
            <a:r>
              <a:rPr sz="2400" spc="-3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a</a:t>
            </a:r>
            <a:r>
              <a:rPr sz="2400" spc="-3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066FF"/>
                </a:solidFill>
                <a:latin typeface="Trebuchet MS"/>
                <a:cs typeface="Trebuchet MS"/>
              </a:rPr>
              <a:t>maze</a:t>
            </a:r>
            <a:endParaRPr sz="24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259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episodic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task,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not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discounted,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+1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when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out,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0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for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each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step</a:t>
            </a:r>
            <a:endParaRPr sz="20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60"/>
              </a:spcBef>
              <a:buFont typeface="Trebuchet MS"/>
              <a:buChar char="–"/>
            </a:pPr>
            <a:endParaRPr sz="20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chess</a:t>
            </a:r>
            <a:endParaRPr sz="24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254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GOOD: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+1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for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winning,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-</a:t>
            </a:r>
            <a:r>
              <a:rPr sz="2000" dirty="0">
                <a:latin typeface="Trebuchet MS"/>
                <a:cs typeface="Trebuchet MS"/>
              </a:rPr>
              <a:t>1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losing</a:t>
            </a:r>
            <a:endParaRPr sz="20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24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BAD: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+0.25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for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taking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opponent’s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pieces</a:t>
            </a:r>
            <a:endParaRPr sz="2000">
              <a:latin typeface="Trebuchet MS"/>
              <a:cs typeface="Trebuchet MS"/>
            </a:endParaRPr>
          </a:p>
          <a:p>
            <a:pPr marL="1153795" lvl="2" indent="-226695">
              <a:lnSpc>
                <a:spcPct val="100000"/>
              </a:lnSpc>
              <a:spcBef>
                <a:spcPts val="225"/>
              </a:spcBef>
              <a:buChar char="•"/>
              <a:tabLst>
                <a:tab pos="1153795" algn="l"/>
              </a:tabLst>
            </a:pPr>
            <a:r>
              <a:rPr sz="1800" dirty="0">
                <a:latin typeface="Trebuchet MS"/>
                <a:cs typeface="Trebuchet MS"/>
              </a:rPr>
              <a:t>high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reward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even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when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lose</a:t>
            </a:r>
            <a:endParaRPr sz="1800">
              <a:latin typeface="Trebuchet MS"/>
              <a:cs typeface="Trebuchet MS"/>
            </a:endParaRPr>
          </a:p>
          <a:p>
            <a:pPr lvl="2">
              <a:lnSpc>
                <a:spcPct val="100000"/>
              </a:lnSpc>
              <a:spcBef>
                <a:spcPts val="285"/>
              </a:spcBef>
              <a:buFont typeface="Trebuchet MS"/>
              <a:buChar char="•"/>
            </a:pPr>
            <a:endParaRPr sz="18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rewards</a:t>
            </a:r>
            <a:endParaRPr sz="24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254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rewards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indicate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what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we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want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accomplish</a:t>
            </a:r>
            <a:endParaRPr sz="20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24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NOT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how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we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want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accomplish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it</a:t>
            </a:r>
            <a:endParaRPr sz="20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60"/>
              </a:spcBef>
              <a:buFont typeface="Trebuchet MS"/>
              <a:buChar char="–"/>
            </a:pPr>
            <a:endParaRPr sz="20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shaping</a:t>
            </a:r>
            <a:endParaRPr sz="24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254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positive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reward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often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very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“far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away”</a:t>
            </a:r>
            <a:endParaRPr sz="20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24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rewards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for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achieving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subgoals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(domain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knowledge)</a:t>
            </a:r>
            <a:endParaRPr sz="20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24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also: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adjust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initial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policy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or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initial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value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function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7" name="object 4"/>
          <p:cNvGrpSpPr/>
          <p:nvPr/>
        </p:nvGrpSpPr>
        <p:grpSpPr>
          <a:xfrm>
            <a:off x="2890836" y="4703684"/>
            <a:ext cx="5894705" cy="161925"/>
            <a:chOff x="2433637" y="5183187"/>
            <a:chExt cx="5894705" cy="161925"/>
          </a:xfrm>
        </p:grpSpPr>
        <p:sp>
          <p:nvSpPr>
            <p:cNvPr id="8" name="object 5"/>
            <p:cNvSpPr/>
            <p:nvPr/>
          </p:nvSpPr>
          <p:spPr>
            <a:xfrm>
              <a:off x="2514600" y="5264150"/>
              <a:ext cx="5813425" cy="0"/>
            </a:xfrm>
            <a:custGeom>
              <a:avLst/>
              <a:gdLst/>
              <a:ahLst/>
              <a:cxnLst/>
              <a:rect l="l" t="t" r="r" b="b"/>
              <a:pathLst>
                <a:path w="5813425">
                  <a:moveTo>
                    <a:pt x="0" y="0"/>
                  </a:moveTo>
                  <a:lnTo>
                    <a:pt x="5813425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33637" y="5183187"/>
              <a:ext cx="161925" cy="161925"/>
            </a:xfrm>
            <a:prstGeom prst="rect">
              <a:avLst/>
            </a:prstGeom>
          </p:spPr>
        </p:pic>
        <p:pic>
          <p:nvPicPr>
            <p:cNvPr id="10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22638" y="5203888"/>
              <a:ext cx="118999" cy="118999"/>
            </a:xfrm>
            <a:prstGeom prst="rect">
              <a:avLst/>
            </a:prstGeom>
          </p:spPr>
        </p:pic>
        <p:pic>
          <p:nvPicPr>
            <p:cNvPr id="11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68713" y="5183187"/>
              <a:ext cx="161925" cy="161925"/>
            </a:xfrm>
            <a:prstGeom prst="rect">
              <a:avLst/>
            </a:prstGeom>
          </p:spPr>
        </p:pic>
        <p:pic>
          <p:nvPicPr>
            <p:cNvPr id="12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05313" y="5183187"/>
              <a:ext cx="161925" cy="161925"/>
            </a:xfrm>
            <a:prstGeom prst="rect">
              <a:avLst/>
            </a:prstGeom>
          </p:spPr>
        </p:pic>
        <p:pic>
          <p:nvPicPr>
            <p:cNvPr id="13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57587" y="5205412"/>
              <a:ext cx="119125" cy="119125"/>
            </a:xfrm>
            <a:prstGeom prst="rect">
              <a:avLst/>
            </a:prstGeom>
          </p:spPr>
        </p:pic>
        <p:pic>
          <p:nvPicPr>
            <p:cNvPr id="14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40262" y="5183187"/>
              <a:ext cx="161925" cy="161925"/>
            </a:xfrm>
            <a:prstGeom prst="rect">
              <a:avLst/>
            </a:prstGeom>
          </p:spPr>
        </p:pic>
        <p:pic>
          <p:nvPicPr>
            <p:cNvPr id="15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94187" y="5205412"/>
              <a:ext cx="119125" cy="119125"/>
            </a:xfrm>
            <a:prstGeom prst="rect">
              <a:avLst/>
            </a:prstGeom>
          </p:spPr>
        </p:pic>
        <p:pic>
          <p:nvPicPr>
            <p:cNvPr id="16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76862" y="5183187"/>
              <a:ext cx="161925" cy="161925"/>
            </a:xfrm>
            <a:prstGeom prst="rect">
              <a:avLst/>
            </a:prstGeom>
          </p:spPr>
        </p:pic>
        <p:pic>
          <p:nvPicPr>
            <p:cNvPr id="17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29263" y="5205412"/>
              <a:ext cx="118999" cy="119125"/>
            </a:xfrm>
            <a:prstGeom prst="rect">
              <a:avLst/>
            </a:prstGeom>
          </p:spPr>
        </p:pic>
        <p:pic>
          <p:nvPicPr>
            <p:cNvPr id="18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11938" y="5183187"/>
              <a:ext cx="161925" cy="161925"/>
            </a:xfrm>
            <a:prstGeom prst="rect">
              <a:avLst/>
            </a:prstGeom>
          </p:spPr>
        </p:pic>
        <p:pic>
          <p:nvPicPr>
            <p:cNvPr id="19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65863" y="5205412"/>
              <a:ext cx="118999" cy="119125"/>
            </a:xfrm>
            <a:prstGeom prst="rect">
              <a:avLst/>
            </a:prstGeom>
          </p:spPr>
        </p:pic>
        <p:pic>
          <p:nvPicPr>
            <p:cNvPr id="20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48538" y="5183187"/>
              <a:ext cx="161925" cy="161925"/>
            </a:xfrm>
            <a:prstGeom prst="rect">
              <a:avLst/>
            </a:prstGeom>
          </p:spPr>
        </p:pic>
        <p:pic>
          <p:nvPicPr>
            <p:cNvPr id="21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00812" y="5205412"/>
              <a:ext cx="119125" cy="119125"/>
            </a:xfrm>
            <a:prstGeom prst="rect">
              <a:avLst/>
            </a:prstGeom>
          </p:spPr>
        </p:pic>
        <p:pic>
          <p:nvPicPr>
            <p:cNvPr id="22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83487" y="5183187"/>
              <a:ext cx="161925" cy="161925"/>
            </a:xfrm>
            <a:prstGeom prst="rect">
              <a:avLst/>
            </a:prstGeom>
          </p:spPr>
        </p:pic>
        <p:pic>
          <p:nvPicPr>
            <p:cNvPr id="23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37412" y="5205412"/>
              <a:ext cx="119125" cy="119125"/>
            </a:xfrm>
            <a:prstGeom prst="rect">
              <a:avLst/>
            </a:prstGeom>
          </p:spPr>
        </p:pic>
        <p:pic>
          <p:nvPicPr>
            <p:cNvPr id="24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72488" y="5205412"/>
              <a:ext cx="118999" cy="119125"/>
            </a:xfrm>
            <a:prstGeom prst="rect">
              <a:avLst/>
            </a:prstGeom>
          </p:spPr>
        </p:pic>
      </p:grpSp>
      <p:grpSp>
        <p:nvGrpSpPr>
          <p:cNvPr id="25" name="object 22"/>
          <p:cNvGrpSpPr/>
          <p:nvPr/>
        </p:nvGrpSpPr>
        <p:grpSpPr>
          <a:xfrm>
            <a:off x="8780461" y="4697334"/>
            <a:ext cx="161925" cy="161925"/>
            <a:chOff x="8323262" y="5176837"/>
            <a:chExt cx="161925" cy="161925"/>
          </a:xfrm>
        </p:grpSpPr>
        <p:sp>
          <p:nvSpPr>
            <p:cNvPr id="26" name="object 23"/>
            <p:cNvSpPr/>
            <p:nvPr/>
          </p:nvSpPr>
          <p:spPr>
            <a:xfrm>
              <a:off x="8328025" y="51816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4"/>
            <p:cNvSpPr/>
            <p:nvPr/>
          </p:nvSpPr>
          <p:spPr>
            <a:xfrm>
              <a:off x="8328025" y="51816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52400"/>
                  </a:moveTo>
                  <a:lnTo>
                    <a:pt x="152400" y="1524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952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077278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Case</a:t>
            </a:r>
            <a:r>
              <a:rPr lang="en-IN" spc="-30" dirty="0"/>
              <a:t> </a:t>
            </a:r>
            <a:r>
              <a:rPr lang="en-IN" dirty="0"/>
              <a:t>study:</a:t>
            </a:r>
            <a:r>
              <a:rPr lang="en-IN" spc="-40" dirty="0"/>
              <a:t> </a:t>
            </a:r>
            <a:r>
              <a:rPr lang="en-IN" dirty="0"/>
              <a:t>Back</a:t>
            </a:r>
            <a:r>
              <a:rPr lang="en-IN" spc="-10" dirty="0"/>
              <a:t> gammon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14-04-2026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43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1115802" y="781753"/>
            <a:ext cx="7066915" cy="532574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350"/>
              </a:spcBef>
              <a:buChar char="•"/>
              <a:tabLst>
                <a:tab pos="355600" algn="l"/>
              </a:tabLst>
            </a:pPr>
            <a:r>
              <a:rPr sz="2000" spc="-10" dirty="0">
                <a:solidFill>
                  <a:srgbClr val="0066FF"/>
                </a:solidFill>
                <a:latin typeface="Trebuchet MS"/>
                <a:cs typeface="Trebuchet MS"/>
              </a:rPr>
              <a:t>rules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220"/>
              </a:spcBef>
              <a:buChar char="–"/>
              <a:tabLst>
                <a:tab pos="756285" algn="l"/>
              </a:tabLst>
            </a:pPr>
            <a:r>
              <a:rPr sz="1800" dirty="0">
                <a:latin typeface="Trebuchet MS"/>
                <a:cs typeface="Trebuchet MS"/>
              </a:rPr>
              <a:t>30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pieces,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24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locations</a:t>
            </a:r>
            <a:endParaRPr sz="18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220"/>
              </a:spcBef>
              <a:buChar char="–"/>
              <a:tabLst>
                <a:tab pos="756285" algn="l"/>
              </a:tabLst>
            </a:pPr>
            <a:r>
              <a:rPr sz="1800" dirty="0">
                <a:latin typeface="Trebuchet MS"/>
                <a:cs typeface="Trebuchet MS"/>
              </a:rPr>
              <a:t>roll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2,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5: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move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2,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5</a:t>
            </a:r>
            <a:endParaRPr sz="18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215"/>
              </a:spcBef>
              <a:buChar char="–"/>
              <a:tabLst>
                <a:tab pos="756285" algn="l"/>
              </a:tabLst>
            </a:pPr>
            <a:r>
              <a:rPr sz="1800" dirty="0">
                <a:latin typeface="Trebuchet MS"/>
                <a:cs typeface="Trebuchet MS"/>
              </a:rPr>
              <a:t>hitting,</a:t>
            </a:r>
            <a:r>
              <a:rPr sz="1800" spc="-9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blocking</a:t>
            </a:r>
            <a:endParaRPr sz="18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219"/>
              </a:spcBef>
              <a:buChar char="–"/>
              <a:tabLst>
                <a:tab pos="756285" algn="l"/>
              </a:tabLst>
            </a:pPr>
            <a:r>
              <a:rPr sz="1800" dirty="0">
                <a:latin typeface="Trebuchet MS"/>
                <a:cs typeface="Trebuchet MS"/>
              </a:rPr>
              <a:t>branching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factor: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400</a:t>
            </a:r>
            <a:endParaRPr sz="18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2080"/>
              </a:spcBef>
              <a:buChar char="•"/>
              <a:tabLst>
                <a:tab pos="355600" algn="l"/>
              </a:tabLst>
            </a:pPr>
            <a:r>
              <a:rPr sz="2000" spc="-10" dirty="0">
                <a:solidFill>
                  <a:srgbClr val="0066FF"/>
                </a:solidFill>
                <a:latin typeface="Trebuchet MS"/>
                <a:cs typeface="Trebuchet MS"/>
              </a:rPr>
              <a:t>implementation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225"/>
              </a:spcBef>
              <a:buChar char="–"/>
              <a:tabLst>
                <a:tab pos="756285" algn="l"/>
              </a:tabLst>
            </a:pPr>
            <a:r>
              <a:rPr sz="1800" dirty="0">
                <a:latin typeface="Trebuchet MS"/>
                <a:cs typeface="Trebuchet MS"/>
              </a:rPr>
              <a:t>use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TD(</a:t>
            </a:r>
            <a:r>
              <a:rPr sz="1800" dirty="0">
                <a:latin typeface="Symbol"/>
                <a:cs typeface="Symbol"/>
              </a:rPr>
              <a:t></a:t>
            </a:r>
            <a:r>
              <a:rPr sz="1800" dirty="0">
                <a:latin typeface="Trebuchet MS"/>
                <a:cs typeface="Trebuchet MS"/>
              </a:rPr>
              <a:t>)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neural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nets</a:t>
            </a:r>
            <a:endParaRPr sz="18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215"/>
              </a:spcBef>
              <a:buChar char="–"/>
              <a:tabLst>
                <a:tab pos="756285" algn="l"/>
              </a:tabLst>
            </a:pPr>
            <a:r>
              <a:rPr sz="1800" dirty="0">
                <a:latin typeface="Trebuchet MS"/>
                <a:cs typeface="Trebuchet MS"/>
              </a:rPr>
              <a:t>4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binary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features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for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each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position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on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board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(#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white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pieces)</a:t>
            </a:r>
            <a:endParaRPr sz="18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215"/>
              </a:spcBef>
              <a:buChar char="–"/>
              <a:tabLst>
                <a:tab pos="756285" algn="l"/>
              </a:tabLst>
            </a:pPr>
            <a:r>
              <a:rPr sz="1800" dirty="0">
                <a:latin typeface="Trebuchet MS"/>
                <a:cs typeface="Trebuchet MS"/>
              </a:rPr>
              <a:t>no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BG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expert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knowledge</a:t>
            </a:r>
            <a:endParaRPr sz="18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2085"/>
              </a:spcBef>
              <a:buChar char="•"/>
              <a:tabLst>
                <a:tab pos="355600" algn="l"/>
              </a:tabLst>
            </a:pPr>
            <a:r>
              <a:rPr sz="2000" spc="-10" dirty="0">
                <a:solidFill>
                  <a:srgbClr val="0066FF"/>
                </a:solidFill>
                <a:latin typeface="Trebuchet MS"/>
                <a:cs typeface="Trebuchet MS"/>
              </a:rPr>
              <a:t>results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225"/>
              </a:spcBef>
              <a:buChar char="–"/>
              <a:tabLst>
                <a:tab pos="756285" algn="l"/>
              </a:tabLst>
            </a:pPr>
            <a:r>
              <a:rPr sz="1800" spc="-20" dirty="0">
                <a:latin typeface="Trebuchet MS"/>
                <a:cs typeface="Trebuchet MS"/>
              </a:rPr>
              <a:t>TD-</a:t>
            </a:r>
            <a:r>
              <a:rPr sz="1800" dirty="0">
                <a:latin typeface="Trebuchet MS"/>
                <a:cs typeface="Trebuchet MS"/>
              </a:rPr>
              <a:t>Gammon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0.0: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trained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against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itself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(300,000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games)</a:t>
            </a:r>
            <a:endParaRPr sz="1800" dirty="0">
              <a:latin typeface="Trebuchet MS"/>
              <a:cs typeface="Trebuchet MS"/>
            </a:endParaRPr>
          </a:p>
          <a:p>
            <a:pPr marL="1156335" lvl="2" indent="-229235">
              <a:lnSpc>
                <a:spcPct val="100000"/>
              </a:lnSpc>
              <a:spcBef>
                <a:spcPts val="185"/>
              </a:spcBef>
              <a:buChar char="•"/>
              <a:tabLst>
                <a:tab pos="1156335" algn="l"/>
              </a:tabLst>
            </a:pPr>
            <a:r>
              <a:rPr sz="1600" dirty="0">
                <a:latin typeface="Trebuchet MS"/>
                <a:cs typeface="Trebuchet MS"/>
              </a:rPr>
              <a:t>as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good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as</a:t>
            </a:r>
            <a:r>
              <a:rPr sz="1600" spc="-4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best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previous</a:t>
            </a:r>
            <a:r>
              <a:rPr sz="1600" spc="-1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BG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computer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program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(also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by</a:t>
            </a:r>
            <a:r>
              <a:rPr sz="1600" spc="-4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Tesauro)</a:t>
            </a:r>
            <a:endParaRPr sz="1600" dirty="0">
              <a:latin typeface="Trebuchet MS"/>
              <a:cs typeface="Trebuchet MS"/>
            </a:endParaRPr>
          </a:p>
          <a:p>
            <a:pPr marL="1156335" lvl="2" indent="-229235">
              <a:lnSpc>
                <a:spcPct val="100000"/>
              </a:lnSpc>
              <a:spcBef>
                <a:spcPts val="195"/>
              </a:spcBef>
              <a:buChar char="•"/>
              <a:tabLst>
                <a:tab pos="1156335" algn="l"/>
              </a:tabLst>
            </a:pPr>
            <a:r>
              <a:rPr sz="1600" dirty="0">
                <a:latin typeface="Trebuchet MS"/>
                <a:cs typeface="Trebuchet MS"/>
              </a:rPr>
              <a:t>lot</a:t>
            </a:r>
            <a:r>
              <a:rPr sz="1600" spc="-2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of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expert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input,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hand-</a:t>
            </a:r>
            <a:r>
              <a:rPr sz="1600" dirty="0">
                <a:latin typeface="Trebuchet MS"/>
                <a:cs typeface="Trebuchet MS"/>
              </a:rPr>
              <a:t>crafted</a:t>
            </a:r>
            <a:r>
              <a:rPr sz="1600" spc="-4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features</a:t>
            </a:r>
            <a:endParaRPr sz="16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219"/>
              </a:spcBef>
              <a:buChar char="–"/>
              <a:tabLst>
                <a:tab pos="756285" algn="l"/>
              </a:tabLst>
            </a:pPr>
            <a:r>
              <a:rPr sz="1800" spc="-10" dirty="0">
                <a:latin typeface="Trebuchet MS"/>
                <a:cs typeface="Trebuchet MS"/>
              </a:rPr>
              <a:t>TD-</a:t>
            </a:r>
            <a:r>
              <a:rPr sz="1800" dirty="0">
                <a:latin typeface="Trebuchet MS"/>
                <a:cs typeface="Trebuchet MS"/>
              </a:rPr>
              <a:t>Gammon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1.0: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add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special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features</a:t>
            </a:r>
            <a:endParaRPr sz="18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215"/>
              </a:spcBef>
              <a:buChar char="–"/>
              <a:tabLst>
                <a:tab pos="756285" algn="l"/>
              </a:tabLst>
            </a:pPr>
            <a:r>
              <a:rPr sz="1800" spc="-20" dirty="0">
                <a:latin typeface="Trebuchet MS"/>
                <a:cs typeface="Trebuchet MS"/>
              </a:rPr>
              <a:t>TD-</a:t>
            </a:r>
            <a:r>
              <a:rPr sz="1800" dirty="0">
                <a:latin typeface="Trebuchet MS"/>
                <a:cs typeface="Trebuchet MS"/>
              </a:rPr>
              <a:t>Gammon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2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3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(2-</a:t>
            </a:r>
            <a:r>
              <a:rPr sz="1800" dirty="0">
                <a:latin typeface="Trebuchet MS"/>
                <a:cs typeface="Trebuchet MS"/>
              </a:rPr>
              <a:t>ply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3-</a:t>
            </a:r>
            <a:r>
              <a:rPr sz="1800" dirty="0">
                <a:latin typeface="Trebuchet MS"/>
                <a:cs typeface="Trebuchet MS"/>
              </a:rPr>
              <a:t>ply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search)</a:t>
            </a:r>
            <a:endParaRPr sz="1800" dirty="0">
              <a:latin typeface="Trebuchet MS"/>
              <a:cs typeface="Trebuchet MS"/>
            </a:endParaRPr>
          </a:p>
          <a:p>
            <a:pPr marL="1156335" lvl="2" indent="-229235">
              <a:lnSpc>
                <a:spcPct val="100000"/>
              </a:lnSpc>
              <a:spcBef>
                <a:spcPts val="190"/>
              </a:spcBef>
              <a:buChar char="•"/>
              <a:tabLst>
                <a:tab pos="1156335" algn="l"/>
              </a:tabLst>
            </a:pPr>
            <a:r>
              <a:rPr sz="1600" dirty="0">
                <a:latin typeface="Trebuchet MS"/>
                <a:cs typeface="Trebuchet MS"/>
              </a:rPr>
              <a:t>1.5M</a:t>
            </a:r>
            <a:r>
              <a:rPr sz="1600" spc="-4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games,</a:t>
            </a:r>
            <a:r>
              <a:rPr sz="1600" spc="-5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beat</a:t>
            </a:r>
            <a:r>
              <a:rPr sz="1600" spc="-4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human</a:t>
            </a:r>
            <a:r>
              <a:rPr sz="1600" spc="-4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champion</a:t>
            </a:r>
            <a:endParaRPr sz="1600" dirty="0">
              <a:latin typeface="Trebuchet MS"/>
              <a:cs typeface="Trebuchet MS"/>
            </a:endParaRPr>
          </a:p>
        </p:txBody>
      </p:sp>
      <p:pic>
        <p:nvPicPr>
          <p:cNvPr id="7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2300" y="853796"/>
            <a:ext cx="4699000" cy="241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351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-10" dirty="0"/>
              <a:t>Summary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7667-EE7F-4B2B-A10F-2DBB1E521F59}" type="datetime1">
              <a:rPr lang="en-IN" smtClean="0"/>
              <a:t>14-04-2026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Dr. Prasenjit Dey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57C1E0C-A58C-4B93-AF43-B4D6E0D6576C}" type="slidenum">
              <a:rPr lang="en-IN" smtClean="0"/>
              <a:pPr algn="ctr"/>
              <a:t>44</a:t>
            </a:fld>
            <a:endParaRPr lang="en-IN" dirty="0"/>
          </a:p>
        </p:txBody>
      </p:sp>
      <p:sp>
        <p:nvSpPr>
          <p:cNvPr id="6" name="object 3"/>
          <p:cNvSpPr txBox="1"/>
          <p:nvPr/>
        </p:nvSpPr>
        <p:spPr>
          <a:xfrm>
            <a:off x="1115802" y="934778"/>
            <a:ext cx="7531100" cy="493141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85"/>
              </a:spcBef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Reinforcement</a:t>
            </a:r>
            <a:r>
              <a:rPr sz="2400" spc="-75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learning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use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when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need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make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decisions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in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uncertain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environment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1120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solution</a:t>
            </a:r>
            <a:r>
              <a:rPr sz="2400" spc="-100" dirty="0">
                <a:solidFill>
                  <a:srgbClr val="0066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6FF"/>
                </a:solidFill>
                <a:latin typeface="Trebuchet MS"/>
                <a:cs typeface="Trebuchet MS"/>
              </a:rPr>
              <a:t>methods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dynamic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programming</a:t>
            </a:r>
            <a:endParaRPr sz="2000" dirty="0">
              <a:latin typeface="Trebuchet MS"/>
              <a:cs typeface="Trebuchet MS"/>
            </a:endParaRPr>
          </a:p>
          <a:p>
            <a:pPr marL="1153795" lvl="2" indent="-226695">
              <a:lnSpc>
                <a:spcPct val="100000"/>
              </a:lnSpc>
              <a:spcBef>
                <a:spcPts val="445"/>
              </a:spcBef>
              <a:buChar char="•"/>
              <a:tabLst>
                <a:tab pos="1153795" algn="l"/>
              </a:tabLst>
            </a:pPr>
            <a:r>
              <a:rPr sz="1800" dirty="0">
                <a:latin typeface="Trebuchet MS"/>
                <a:cs typeface="Trebuchet MS"/>
              </a:rPr>
              <a:t>need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complete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model</a:t>
            </a:r>
            <a:endParaRPr sz="1800" dirty="0">
              <a:latin typeface="Trebuchet MS"/>
              <a:cs typeface="Trebuchet MS"/>
            </a:endParaRPr>
          </a:p>
          <a:p>
            <a:pPr lvl="2">
              <a:lnSpc>
                <a:spcPct val="100000"/>
              </a:lnSpc>
              <a:spcBef>
                <a:spcPts val="969"/>
              </a:spcBef>
              <a:buFont typeface="Trebuchet MS"/>
              <a:buChar char="•"/>
            </a:pPr>
            <a:endParaRPr sz="18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Monte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Carlo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spc="-10" dirty="0">
                <a:latin typeface="Trebuchet MS"/>
                <a:cs typeface="Trebuchet MS"/>
              </a:rPr>
              <a:t>time-</a:t>
            </a:r>
            <a:r>
              <a:rPr sz="2000" dirty="0">
                <a:latin typeface="Trebuchet MS"/>
                <a:cs typeface="Trebuchet MS"/>
              </a:rPr>
              <a:t>difference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learning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(Sarsa,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Q-</a:t>
            </a:r>
            <a:r>
              <a:rPr sz="2000" spc="-10" dirty="0">
                <a:latin typeface="Trebuchet MS"/>
                <a:cs typeface="Trebuchet MS"/>
              </a:rPr>
              <a:t>learning)</a:t>
            </a:r>
            <a:endParaRPr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1120"/>
              </a:spcBef>
              <a:buFont typeface="Trebuchet MS"/>
              <a:buChar char="–"/>
            </a:pPr>
            <a:endParaRPr sz="2000" dirty="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66FF"/>
                </a:solidFill>
                <a:latin typeface="Trebuchet MS"/>
                <a:cs typeface="Trebuchet MS"/>
              </a:rPr>
              <a:t>most</a:t>
            </a:r>
            <a:r>
              <a:rPr sz="2400" spc="-20" dirty="0">
                <a:solidFill>
                  <a:srgbClr val="0066FF"/>
                </a:solidFill>
                <a:latin typeface="Trebuchet MS"/>
                <a:cs typeface="Trebuchet MS"/>
              </a:rPr>
              <a:t> work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algorithms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simple</a:t>
            </a:r>
            <a:endParaRPr sz="2000"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</a:tabLst>
            </a:pPr>
            <a:r>
              <a:rPr sz="2000" dirty="0">
                <a:latin typeface="Trebuchet MS"/>
                <a:cs typeface="Trebuchet MS"/>
              </a:rPr>
              <a:t>need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design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features,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state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representation,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rewards</a:t>
            </a:r>
            <a:endParaRPr sz="20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469600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010829" y="2575931"/>
            <a:ext cx="6358054" cy="121548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perspectiveFront"/>
              <a:lightRig rig="threePt" dir="t"/>
            </a:scene3d>
          </a:bodyPr>
          <a:lstStyle/>
          <a:p>
            <a:pPr algn="ctr"/>
            <a:r>
              <a:rPr lang="en-IN" sz="8000" b="1" dirty="0" smtClean="0">
                <a:solidFill>
                  <a:schemeClr val="accent2">
                    <a:lumMod val="75000"/>
                  </a:schemeClr>
                </a:solidFill>
              </a:rPr>
              <a:t>Thank You</a:t>
            </a:r>
            <a:endParaRPr lang="en-IN" sz="80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4666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980</TotalTime>
  <Words>2195</Words>
  <Application>Microsoft Office PowerPoint</Application>
  <PresentationFormat>Widescreen</PresentationFormat>
  <Paragraphs>671</Paragraphs>
  <Slides>45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4" baseType="lpstr">
      <vt:lpstr>Arial</vt:lpstr>
      <vt:lpstr>Arial MT</vt:lpstr>
      <vt:lpstr>Calibri</vt:lpstr>
      <vt:lpstr>Calibri Light</vt:lpstr>
      <vt:lpstr>Cambria Math</vt:lpstr>
      <vt:lpstr>Symbol</vt:lpstr>
      <vt:lpstr>Times New Roman</vt:lpstr>
      <vt:lpstr>Trebuchet MS</vt:lpstr>
      <vt:lpstr>Office Theme</vt:lpstr>
      <vt:lpstr>PowerPoint Presentation</vt:lpstr>
      <vt:lpstr>Previous Lectures</vt:lpstr>
      <vt:lpstr>Today</vt:lpstr>
      <vt:lpstr>Robot in a room</vt:lpstr>
      <vt:lpstr>Other examples</vt:lpstr>
      <vt:lpstr>Resource allocation in datacenters</vt:lpstr>
      <vt:lpstr>Robot in a room</vt:lpstr>
      <vt:lpstr>Is this a solution?</vt:lpstr>
      <vt:lpstr>Optimal policy</vt:lpstr>
      <vt:lpstr>Reward for each step: -2</vt:lpstr>
      <vt:lpstr>Reward for each step: -0.1</vt:lpstr>
      <vt:lpstr>Reward for each step: -0.04</vt:lpstr>
      <vt:lpstr>Reward for each step: -0.01</vt:lpstr>
      <vt:lpstr>Reward for each step: +0.01</vt:lpstr>
      <vt:lpstr>Markov Decision Process (MDP)</vt:lpstr>
      <vt:lpstr>Computing return from rewards</vt:lpstr>
      <vt:lpstr>Value functions</vt:lpstr>
      <vt:lpstr>Optimal value functions</vt:lpstr>
      <vt:lpstr>Outline</vt:lpstr>
      <vt:lpstr>Dynamic programming</vt:lpstr>
      <vt:lpstr>Policy evaluation/improvement</vt:lpstr>
      <vt:lpstr>Policy/Value iteration</vt:lpstr>
      <vt:lpstr>Using DP</vt:lpstr>
      <vt:lpstr>Outline</vt:lpstr>
      <vt:lpstr>Monte Carlo methods</vt:lpstr>
      <vt:lpstr>Monte Carlo policy evaluation</vt:lpstr>
      <vt:lpstr>Monte Carlo control</vt:lpstr>
      <vt:lpstr>Maintaining exploration</vt:lpstr>
      <vt:lpstr>Simulated experience</vt:lpstr>
      <vt:lpstr>Summary of Monte Carlo</vt:lpstr>
      <vt:lpstr>Outline</vt:lpstr>
      <vt:lpstr>Temporal Difference Learning</vt:lpstr>
      <vt:lpstr>MC vs. TD</vt:lpstr>
      <vt:lpstr>Sarsa</vt:lpstr>
      <vt:lpstr>The RL Intro book</vt:lpstr>
      <vt:lpstr>Q-learning</vt:lpstr>
      <vt:lpstr>Outline</vt:lpstr>
      <vt:lpstr>State representation</vt:lpstr>
      <vt:lpstr>Function approximation</vt:lpstr>
      <vt:lpstr>Features</vt:lpstr>
      <vt:lpstr>Splitting and aggregation</vt:lpstr>
      <vt:lpstr>Designing rewards</vt:lpstr>
      <vt:lpstr>Case study: Back gammon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Trinath</dc:creator>
  <cp:lastModifiedBy>Admin</cp:lastModifiedBy>
  <cp:revision>40</cp:revision>
  <dcterms:created xsi:type="dcterms:W3CDTF">2026-04-06T13:22:09Z</dcterms:created>
  <dcterms:modified xsi:type="dcterms:W3CDTF">2026-04-15T08:03:46Z</dcterms:modified>
</cp:coreProperties>
</file>