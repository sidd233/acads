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432" r:id="rId78"/>
    <p:sldId id="332" r:id="rId79"/>
    <p:sldId id="333" r:id="rId80"/>
    <p:sldId id="334" r:id="rId81"/>
    <p:sldId id="335" r:id="rId82"/>
    <p:sldId id="336" r:id="rId83"/>
    <p:sldId id="337" r:id="rId84"/>
    <p:sldId id="338" r:id="rId85"/>
    <p:sldId id="339" r:id="rId86"/>
    <p:sldId id="340" r:id="rId87"/>
    <p:sldId id="341" r:id="rId88"/>
    <p:sldId id="342" r:id="rId89"/>
    <p:sldId id="343" r:id="rId90"/>
    <p:sldId id="344" r:id="rId91"/>
    <p:sldId id="345" r:id="rId92"/>
    <p:sldId id="346" r:id="rId93"/>
    <p:sldId id="347" r:id="rId94"/>
    <p:sldId id="348" r:id="rId95"/>
    <p:sldId id="349" r:id="rId96"/>
    <p:sldId id="350" r:id="rId97"/>
    <p:sldId id="351" r:id="rId98"/>
    <p:sldId id="352" r:id="rId99"/>
    <p:sldId id="353" r:id="rId100"/>
    <p:sldId id="354" r:id="rId101"/>
    <p:sldId id="355" r:id="rId102"/>
    <p:sldId id="356" r:id="rId103"/>
    <p:sldId id="357" r:id="rId104"/>
    <p:sldId id="358" r:id="rId105"/>
    <p:sldId id="359" r:id="rId106"/>
    <p:sldId id="360" r:id="rId107"/>
    <p:sldId id="361" r:id="rId108"/>
    <p:sldId id="362" r:id="rId109"/>
    <p:sldId id="363" r:id="rId110"/>
    <p:sldId id="364" r:id="rId111"/>
    <p:sldId id="365" r:id="rId112"/>
    <p:sldId id="366" r:id="rId113"/>
    <p:sldId id="367" r:id="rId114"/>
    <p:sldId id="368" r:id="rId115"/>
    <p:sldId id="369" r:id="rId116"/>
    <p:sldId id="370" r:id="rId117"/>
    <p:sldId id="371" r:id="rId118"/>
    <p:sldId id="372" r:id="rId119"/>
    <p:sldId id="373" r:id="rId120"/>
    <p:sldId id="374" r:id="rId121"/>
    <p:sldId id="375" r:id="rId122"/>
    <p:sldId id="376" r:id="rId123"/>
    <p:sldId id="377" r:id="rId124"/>
    <p:sldId id="378" r:id="rId125"/>
    <p:sldId id="379" r:id="rId126"/>
    <p:sldId id="380" r:id="rId127"/>
    <p:sldId id="381" r:id="rId128"/>
    <p:sldId id="382" r:id="rId129"/>
    <p:sldId id="383" r:id="rId130"/>
    <p:sldId id="384" r:id="rId131"/>
    <p:sldId id="385" r:id="rId132"/>
    <p:sldId id="386" r:id="rId133"/>
    <p:sldId id="387" r:id="rId134"/>
    <p:sldId id="388" r:id="rId135"/>
    <p:sldId id="389" r:id="rId136"/>
    <p:sldId id="390" r:id="rId137"/>
    <p:sldId id="391" r:id="rId138"/>
    <p:sldId id="392" r:id="rId139"/>
    <p:sldId id="393" r:id="rId140"/>
    <p:sldId id="394" r:id="rId141"/>
    <p:sldId id="395" r:id="rId142"/>
    <p:sldId id="396" r:id="rId143"/>
    <p:sldId id="397" r:id="rId144"/>
    <p:sldId id="398" r:id="rId145"/>
    <p:sldId id="399" r:id="rId146"/>
    <p:sldId id="400" r:id="rId147"/>
    <p:sldId id="401" r:id="rId148"/>
    <p:sldId id="402" r:id="rId149"/>
    <p:sldId id="403" r:id="rId150"/>
    <p:sldId id="404" r:id="rId151"/>
    <p:sldId id="405" r:id="rId152"/>
    <p:sldId id="406" r:id="rId153"/>
    <p:sldId id="407" r:id="rId154"/>
    <p:sldId id="408" r:id="rId155"/>
    <p:sldId id="409" r:id="rId156"/>
    <p:sldId id="410" r:id="rId157"/>
    <p:sldId id="411" r:id="rId158"/>
    <p:sldId id="412" r:id="rId159"/>
    <p:sldId id="413" r:id="rId160"/>
    <p:sldId id="414" r:id="rId161"/>
    <p:sldId id="415" r:id="rId162"/>
    <p:sldId id="416" r:id="rId163"/>
    <p:sldId id="417" r:id="rId164"/>
    <p:sldId id="418" r:id="rId165"/>
    <p:sldId id="419" r:id="rId166"/>
    <p:sldId id="420" r:id="rId167"/>
    <p:sldId id="421" r:id="rId168"/>
    <p:sldId id="422" r:id="rId169"/>
    <p:sldId id="423" r:id="rId170"/>
    <p:sldId id="424" r:id="rId171"/>
    <p:sldId id="425" r:id="rId172"/>
    <p:sldId id="426" r:id="rId173"/>
    <p:sldId id="427" r:id="rId174"/>
    <p:sldId id="428" r:id="rId175"/>
    <p:sldId id="429" r:id="rId176"/>
    <p:sldId id="430" r:id="rId177"/>
    <p:sldId id="431" r:id="rId178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1158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38" Type="http://schemas.openxmlformats.org/officeDocument/2006/relationships/slide" Target="slides/slide137.xml"/><Relationship Id="rId154" Type="http://schemas.openxmlformats.org/officeDocument/2006/relationships/slide" Target="slides/slide153.xml"/><Relationship Id="rId159" Type="http://schemas.openxmlformats.org/officeDocument/2006/relationships/slide" Target="slides/slide158.xml"/><Relationship Id="rId175" Type="http://schemas.openxmlformats.org/officeDocument/2006/relationships/slide" Target="slides/slide174.xml"/><Relationship Id="rId170" Type="http://schemas.openxmlformats.org/officeDocument/2006/relationships/slide" Target="slides/slide169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144" Type="http://schemas.openxmlformats.org/officeDocument/2006/relationships/slide" Target="slides/slide143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65" Type="http://schemas.openxmlformats.org/officeDocument/2006/relationships/slide" Target="slides/slide164.xml"/><Relationship Id="rId181" Type="http://schemas.openxmlformats.org/officeDocument/2006/relationships/viewProps" Target="view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55" Type="http://schemas.openxmlformats.org/officeDocument/2006/relationships/slide" Target="slides/slide154.xml"/><Relationship Id="rId171" Type="http://schemas.openxmlformats.org/officeDocument/2006/relationships/slide" Target="slides/slide170.xml"/><Relationship Id="rId176" Type="http://schemas.openxmlformats.org/officeDocument/2006/relationships/slide" Target="slides/slide175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61" Type="http://schemas.openxmlformats.org/officeDocument/2006/relationships/slide" Target="slides/slide160.xml"/><Relationship Id="rId166" Type="http://schemas.openxmlformats.org/officeDocument/2006/relationships/slide" Target="slides/slide165.xml"/><Relationship Id="rId18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72" Type="http://schemas.openxmlformats.org/officeDocument/2006/relationships/slide" Target="slides/slide171.xml"/><Relationship Id="rId180" Type="http://schemas.openxmlformats.org/officeDocument/2006/relationships/presProps" Target="presProp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183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notesMaster" Target="notesMasters/notesMaster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56E6BA-CC89-47A3-B250-C846E03876F6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D7CF64-E0A3-4FDE-A1C5-E0C807BECC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6429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50" b="0" i="0">
                <a:solidFill>
                  <a:srgbClr val="213739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50" b="0" i="0">
                <a:solidFill>
                  <a:srgbClr val="213739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838200"/>
          </a:xfrm>
          <a:custGeom>
            <a:avLst/>
            <a:gdLst/>
            <a:ahLst/>
            <a:cxnLst/>
            <a:rect l="l" t="t" r="r" b="b"/>
            <a:pathLst>
              <a:path w="9144000" h="838200">
                <a:moveTo>
                  <a:pt x="9144000" y="0"/>
                </a:moveTo>
                <a:lnTo>
                  <a:pt x="0" y="0"/>
                </a:lnTo>
                <a:lnTo>
                  <a:pt x="0" y="838200"/>
                </a:lnTo>
                <a:lnTo>
                  <a:pt x="9144000" y="838200"/>
                </a:lnTo>
                <a:lnTo>
                  <a:pt x="914400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447800" y="6629399"/>
            <a:ext cx="7696200" cy="228600"/>
          </a:xfrm>
          <a:custGeom>
            <a:avLst/>
            <a:gdLst/>
            <a:ahLst/>
            <a:cxnLst/>
            <a:rect l="l" t="t" r="r" b="b"/>
            <a:pathLst>
              <a:path w="7696200" h="228600">
                <a:moveTo>
                  <a:pt x="0" y="228600"/>
                </a:moveTo>
                <a:lnTo>
                  <a:pt x="7696200" y="228600"/>
                </a:lnTo>
                <a:lnTo>
                  <a:pt x="76962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EE8B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6629399"/>
            <a:ext cx="1447800" cy="228600"/>
          </a:xfrm>
          <a:custGeom>
            <a:avLst/>
            <a:gdLst/>
            <a:ahLst/>
            <a:cxnLst/>
            <a:rect l="l" t="t" r="r" b="b"/>
            <a:pathLst>
              <a:path w="1447800" h="228600">
                <a:moveTo>
                  <a:pt x="1447800" y="0"/>
                </a:moveTo>
                <a:lnTo>
                  <a:pt x="0" y="0"/>
                </a:lnTo>
                <a:lnTo>
                  <a:pt x="0" y="228600"/>
                </a:lnTo>
                <a:lnTo>
                  <a:pt x="1447800" y="228600"/>
                </a:lnTo>
                <a:lnTo>
                  <a:pt x="144780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0" y="6858000"/>
                </a:moveTo>
                <a:lnTo>
                  <a:pt x="9144000" y="6858000"/>
                </a:lnTo>
                <a:lnTo>
                  <a:pt x="9144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ln w="508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29600" y="0"/>
            <a:ext cx="891552" cy="85953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750" b="0" i="0">
                <a:solidFill>
                  <a:srgbClr val="213739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50" b="0" i="0">
                <a:solidFill>
                  <a:srgbClr val="213739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80618" y="879347"/>
            <a:ext cx="4396105" cy="0"/>
          </a:xfrm>
          <a:custGeom>
            <a:avLst/>
            <a:gdLst/>
            <a:ahLst/>
            <a:cxnLst/>
            <a:rect l="l" t="t" r="r" b="b"/>
            <a:pathLst>
              <a:path w="4396105">
                <a:moveTo>
                  <a:pt x="0" y="0"/>
                </a:moveTo>
                <a:lnTo>
                  <a:pt x="4396105" y="0"/>
                </a:lnTo>
              </a:path>
            </a:pathLst>
          </a:custGeom>
          <a:ln w="10121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380618" y="1192783"/>
            <a:ext cx="4396105" cy="0"/>
          </a:xfrm>
          <a:custGeom>
            <a:avLst/>
            <a:gdLst/>
            <a:ahLst/>
            <a:cxnLst/>
            <a:rect l="l" t="t" r="r" b="b"/>
            <a:pathLst>
              <a:path w="4396105">
                <a:moveTo>
                  <a:pt x="0" y="0"/>
                </a:moveTo>
                <a:lnTo>
                  <a:pt x="4396105" y="0"/>
                </a:lnTo>
              </a:path>
            </a:pathLst>
          </a:custGeom>
          <a:ln w="10121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67690" y="1793493"/>
            <a:ext cx="4022725" cy="37928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50" b="0" i="0">
                <a:solidFill>
                  <a:srgbClr val="213739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50" b="0" i="0">
                <a:solidFill>
                  <a:srgbClr val="213739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50" b="0" i="0">
                <a:solidFill>
                  <a:srgbClr val="213739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7340" y="237490"/>
            <a:ext cx="7766684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68215" y="1086251"/>
            <a:ext cx="4022725" cy="41770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50" b="0" i="0">
                <a:solidFill>
                  <a:srgbClr val="213739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841993" y="5604826"/>
            <a:ext cx="179070" cy="2063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50" b="0" i="0">
                <a:solidFill>
                  <a:srgbClr val="213739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se.iitm.ac.in/~miteshk/CS7015_2018.html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cdn.vectorstock.com/i/composite/12,25/neuron-cell-vector-81225.jpg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cdn.vectorstock.com/i/composite/12,25/neuron-cell-vector-81225.jpg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cdn.vectorstock.com/i/composite/12,25/neuron-cell-vector-81225.jpg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cdn.vectorstock.com/i/composite/12,25/neuron-cell-vector-81225.jpg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cdn.vectorstock.com/i/composite/12,25/neuron-cell-vector-81225.jpg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5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5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5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2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2.png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61.png"/><Relationship Id="rId7" Type="http://schemas.openxmlformats.org/officeDocument/2006/relationships/image" Target="../media/image67.png"/><Relationship Id="rId12" Type="http://schemas.openxmlformats.org/officeDocument/2006/relationships/image" Target="../media/image70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6.png"/><Relationship Id="rId11" Type="http://schemas.openxmlformats.org/officeDocument/2006/relationships/image" Target="../media/image69.png"/><Relationship Id="rId5" Type="http://schemas.openxmlformats.org/officeDocument/2006/relationships/image" Target="../media/image65.png"/><Relationship Id="rId10" Type="http://schemas.openxmlformats.org/officeDocument/2006/relationships/image" Target="../media/image68.png"/><Relationship Id="rId4" Type="http://schemas.openxmlformats.org/officeDocument/2006/relationships/image" Target="../media/image62.png"/><Relationship Id="rId9" Type="http://schemas.openxmlformats.org/officeDocument/2006/relationships/image" Target="../media/image64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7" Type="http://schemas.openxmlformats.org/officeDocument/2006/relationships/image" Target="../media/image67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2.png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61.png"/><Relationship Id="rId7" Type="http://schemas.openxmlformats.org/officeDocument/2006/relationships/image" Target="../media/image67.png"/><Relationship Id="rId12" Type="http://schemas.openxmlformats.org/officeDocument/2006/relationships/image" Target="../media/image70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6.png"/><Relationship Id="rId11" Type="http://schemas.openxmlformats.org/officeDocument/2006/relationships/image" Target="../media/image69.png"/><Relationship Id="rId5" Type="http://schemas.openxmlformats.org/officeDocument/2006/relationships/image" Target="../media/image65.png"/><Relationship Id="rId10" Type="http://schemas.openxmlformats.org/officeDocument/2006/relationships/image" Target="../media/image68.png"/><Relationship Id="rId4" Type="http://schemas.openxmlformats.org/officeDocument/2006/relationships/image" Target="../media/image62.png"/><Relationship Id="rId9" Type="http://schemas.openxmlformats.org/officeDocument/2006/relationships/image" Target="../media/image64.png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61.png"/><Relationship Id="rId7" Type="http://schemas.openxmlformats.org/officeDocument/2006/relationships/image" Target="../media/image67.png"/><Relationship Id="rId12" Type="http://schemas.openxmlformats.org/officeDocument/2006/relationships/image" Target="../media/image70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6.png"/><Relationship Id="rId11" Type="http://schemas.openxmlformats.org/officeDocument/2006/relationships/image" Target="../media/image69.png"/><Relationship Id="rId5" Type="http://schemas.openxmlformats.org/officeDocument/2006/relationships/image" Target="../media/image65.png"/><Relationship Id="rId10" Type="http://schemas.openxmlformats.org/officeDocument/2006/relationships/image" Target="../media/image68.png"/><Relationship Id="rId4" Type="http://schemas.openxmlformats.org/officeDocument/2006/relationships/image" Target="../media/image62.png"/><Relationship Id="rId9" Type="http://schemas.openxmlformats.org/officeDocument/2006/relationships/image" Target="../media/image64.png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12" Type="http://schemas.openxmlformats.org/officeDocument/2006/relationships/image" Target="../media/image81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5.png"/><Relationship Id="rId11" Type="http://schemas.openxmlformats.org/officeDocument/2006/relationships/image" Target="../media/image80.png"/><Relationship Id="rId5" Type="http://schemas.openxmlformats.org/officeDocument/2006/relationships/image" Target="../media/image74.png"/><Relationship Id="rId10" Type="http://schemas.openxmlformats.org/officeDocument/2006/relationships/image" Target="../media/image79.png"/><Relationship Id="rId4" Type="http://schemas.openxmlformats.org/officeDocument/2006/relationships/image" Target="../media/image73.png"/><Relationship Id="rId9" Type="http://schemas.openxmlformats.org/officeDocument/2006/relationships/image" Target="../media/image78.png"/></Relationships>
</file>

<file path=ppt/slides/_rels/slide10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12" Type="http://schemas.openxmlformats.org/officeDocument/2006/relationships/image" Target="../media/image81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5.png"/><Relationship Id="rId11" Type="http://schemas.openxmlformats.org/officeDocument/2006/relationships/image" Target="../media/image80.png"/><Relationship Id="rId5" Type="http://schemas.openxmlformats.org/officeDocument/2006/relationships/image" Target="../media/image74.png"/><Relationship Id="rId10" Type="http://schemas.openxmlformats.org/officeDocument/2006/relationships/image" Target="../media/image79.png"/><Relationship Id="rId4" Type="http://schemas.openxmlformats.org/officeDocument/2006/relationships/image" Target="../media/image73.png"/><Relationship Id="rId9" Type="http://schemas.openxmlformats.org/officeDocument/2006/relationships/image" Target="../media/image78.png"/></Relationships>
</file>

<file path=ppt/slides/_rels/slide10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12" Type="http://schemas.openxmlformats.org/officeDocument/2006/relationships/image" Target="../media/image81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5.png"/><Relationship Id="rId11" Type="http://schemas.openxmlformats.org/officeDocument/2006/relationships/image" Target="../media/image80.png"/><Relationship Id="rId5" Type="http://schemas.openxmlformats.org/officeDocument/2006/relationships/image" Target="../media/image74.png"/><Relationship Id="rId10" Type="http://schemas.openxmlformats.org/officeDocument/2006/relationships/image" Target="../media/image79.png"/><Relationship Id="rId4" Type="http://schemas.openxmlformats.org/officeDocument/2006/relationships/image" Target="../media/image73.png"/><Relationship Id="rId9" Type="http://schemas.openxmlformats.org/officeDocument/2006/relationships/image" Target="../media/image78.png"/></Relationships>
</file>

<file path=ppt/slides/_rels/slide10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12" Type="http://schemas.openxmlformats.org/officeDocument/2006/relationships/image" Target="../media/image81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5.png"/><Relationship Id="rId11" Type="http://schemas.openxmlformats.org/officeDocument/2006/relationships/image" Target="../media/image80.png"/><Relationship Id="rId5" Type="http://schemas.openxmlformats.org/officeDocument/2006/relationships/image" Target="../media/image74.png"/><Relationship Id="rId10" Type="http://schemas.openxmlformats.org/officeDocument/2006/relationships/image" Target="../media/image79.png"/><Relationship Id="rId4" Type="http://schemas.openxmlformats.org/officeDocument/2006/relationships/image" Target="../media/image73.png"/><Relationship Id="rId9" Type="http://schemas.openxmlformats.org/officeDocument/2006/relationships/image" Target="../media/image78.png"/></Relationships>
</file>

<file path=ppt/slides/_rels/slide10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13" Type="http://schemas.openxmlformats.org/officeDocument/2006/relationships/image" Target="../media/image82.png"/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12" Type="http://schemas.openxmlformats.org/officeDocument/2006/relationships/image" Target="../media/image81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5.png"/><Relationship Id="rId11" Type="http://schemas.openxmlformats.org/officeDocument/2006/relationships/image" Target="../media/image80.png"/><Relationship Id="rId5" Type="http://schemas.openxmlformats.org/officeDocument/2006/relationships/image" Target="../media/image74.png"/><Relationship Id="rId10" Type="http://schemas.openxmlformats.org/officeDocument/2006/relationships/image" Target="../media/image79.png"/><Relationship Id="rId4" Type="http://schemas.openxmlformats.org/officeDocument/2006/relationships/image" Target="../media/image73.png"/><Relationship Id="rId9" Type="http://schemas.openxmlformats.org/officeDocument/2006/relationships/image" Target="../media/image78.png"/></Relationships>
</file>

<file path=ppt/slides/_rels/slide10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13" Type="http://schemas.openxmlformats.org/officeDocument/2006/relationships/image" Target="../media/image82.png"/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12" Type="http://schemas.openxmlformats.org/officeDocument/2006/relationships/image" Target="../media/image81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5.png"/><Relationship Id="rId11" Type="http://schemas.openxmlformats.org/officeDocument/2006/relationships/image" Target="../media/image80.png"/><Relationship Id="rId5" Type="http://schemas.openxmlformats.org/officeDocument/2006/relationships/image" Target="../media/image74.png"/><Relationship Id="rId10" Type="http://schemas.openxmlformats.org/officeDocument/2006/relationships/image" Target="../media/image79.png"/><Relationship Id="rId4" Type="http://schemas.openxmlformats.org/officeDocument/2006/relationships/image" Target="../media/image73.png"/><Relationship Id="rId9" Type="http://schemas.openxmlformats.org/officeDocument/2006/relationships/image" Target="../media/image78.png"/></Relationships>
</file>

<file path=ppt/slides/_rels/slide10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13" Type="http://schemas.openxmlformats.org/officeDocument/2006/relationships/image" Target="../media/image82.png"/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12" Type="http://schemas.openxmlformats.org/officeDocument/2006/relationships/image" Target="../media/image81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5.png"/><Relationship Id="rId11" Type="http://schemas.openxmlformats.org/officeDocument/2006/relationships/image" Target="../media/image80.png"/><Relationship Id="rId5" Type="http://schemas.openxmlformats.org/officeDocument/2006/relationships/image" Target="../media/image74.png"/><Relationship Id="rId10" Type="http://schemas.openxmlformats.org/officeDocument/2006/relationships/image" Target="../media/image79.png"/><Relationship Id="rId4" Type="http://schemas.openxmlformats.org/officeDocument/2006/relationships/image" Target="../media/image73.png"/><Relationship Id="rId9" Type="http://schemas.openxmlformats.org/officeDocument/2006/relationships/image" Target="../media/image78.png"/><Relationship Id="rId14" Type="http://schemas.openxmlformats.org/officeDocument/2006/relationships/image" Target="../media/image83.png"/></Relationships>
</file>

<file path=ppt/slides/_rels/slide10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13" Type="http://schemas.openxmlformats.org/officeDocument/2006/relationships/image" Target="../media/image82.png"/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12" Type="http://schemas.openxmlformats.org/officeDocument/2006/relationships/image" Target="../media/image81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5.png"/><Relationship Id="rId11" Type="http://schemas.openxmlformats.org/officeDocument/2006/relationships/image" Target="../media/image80.png"/><Relationship Id="rId5" Type="http://schemas.openxmlformats.org/officeDocument/2006/relationships/image" Target="../media/image74.png"/><Relationship Id="rId10" Type="http://schemas.openxmlformats.org/officeDocument/2006/relationships/image" Target="../media/image79.png"/><Relationship Id="rId4" Type="http://schemas.openxmlformats.org/officeDocument/2006/relationships/image" Target="../media/image73.png"/><Relationship Id="rId9" Type="http://schemas.openxmlformats.org/officeDocument/2006/relationships/image" Target="../media/image78.png"/><Relationship Id="rId14" Type="http://schemas.openxmlformats.org/officeDocument/2006/relationships/image" Target="../media/image83.png"/></Relationships>
</file>

<file path=ppt/slides/_rels/slide10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13" Type="http://schemas.openxmlformats.org/officeDocument/2006/relationships/image" Target="../media/image82.png"/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12" Type="http://schemas.openxmlformats.org/officeDocument/2006/relationships/image" Target="../media/image81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5.png"/><Relationship Id="rId11" Type="http://schemas.openxmlformats.org/officeDocument/2006/relationships/image" Target="../media/image80.png"/><Relationship Id="rId5" Type="http://schemas.openxmlformats.org/officeDocument/2006/relationships/image" Target="../media/image74.png"/><Relationship Id="rId15" Type="http://schemas.openxmlformats.org/officeDocument/2006/relationships/image" Target="../media/image84.png"/><Relationship Id="rId10" Type="http://schemas.openxmlformats.org/officeDocument/2006/relationships/image" Target="../media/image79.png"/><Relationship Id="rId4" Type="http://schemas.openxmlformats.org/officeDocument/2006/relationships/image" Target="../media/image73.png"/><Relationship Id="rId9" Type="http://schemas.openxmlformats.org/officeDocument/2006/relationships/image" Target="../media/image78.png"/><Relationship Id="rId14" Type="http://schemas.openxmlformats.org/officeDocument/2006/relationships/image" Target="../media/image83.png"/></Relationships>
</file>

<file path=ppt/slides/_rels/slide10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13" Type="http://schemas.openxmlformats.org/officeDocument/2006/relationships/image" Target="../media/image82.png"/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12" Type="http://schemas.openxmlformats.org/officeDocument/2006/relationships/image" Target="../media/image81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5.png"/><Relationship Id="rId11" Type="http://schemas.openxmlformats.org/officeDocument/2006/relationships/image" Target="../media/image80.png"/><Relationship Id="rId5" Type="http://schemas.openxmlformats.org/officeDocument/2006/relationships/image" Target="../media/image74.png"/><Relationship Id="rId15" Type="http://schemas.openxmlformats.org/officeDocument/2006/relationships/image" Target="../media/image84.png"/><Relationship Id="rId10" Type="http://schemas.openxmlformats.org/officeDocument/2006/relationships/image" Target="../media/image79.png"/><Relationship Id="rId4" Type="http://schemas.openxmlformats.org/officeDocument/2006/relationships/image" Target="../media/image73.png"/><Relationship Id="rId9" Type="http://schemas.openxmlformats.org/officeDocument/2006/relationships/image" Target="../media/image78.png"/><Relationship Id="rId14" Type="http://schemas.openxmlformats.org/officeDocument/2006/relationships/image" Target="../media/image83.png"/></Relationships>
</file>

<file path=ppt/slides/_rels/slide1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13" Type="http://schemas.openxmlformats.org/officeDocument/2006/relationships/image" Target="../media/image82.png"/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12" Type="http://schemas.openxmlformats.org/officeDocument/2006/relationships/image" Target="../media/image81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5.png"/><Relationship Id="rId11" Type="http://schemas.openxmlformats.org/officeDocument/2006/relationships/image" Target="../media/image80.png"/><Relationship Id="rId5" Type="http://schemas.openxmlformats.org/officeDocument/2006/relationships/image" Target="../media/image74.png"/><Relationship Id="rId15" Type="http://schemas.openxmlformats.org/officeDocument/2006/relationships/image" Target="../media/image85.png"/><Relationship Id="rId10" Type="http://schemas.openxmlformats.org/officeDocument/2006/relationships/image" Target="../media/image79.png"/><Relationship Id="rId4" Type="http://schemas.openxmlformats.org/officeDocument/2006/relationships/image" Target="../media/image73.png"/><Relationship Id="rId9" Type="http://schemas.openxmlformats.org/officeDocument/2006/relationships/image" Target="../media/image78.png"/><Relationship Id="rId14" Type="http://schemas.openxmlformats.org/officeDocument/2006/relationships/image" Target="../media/image83.png"/></Relationships>
</file>

<file path=ppt/slides/_rels/slide1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13" Type="http://schemas.openxmlformats.org/officeDocument/2006/relationships/image" Target="../media/image82.png"/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12" Type="http://schemas.openxmlformats.org/officeDocument/2006/relationships/image" Target="../media/image81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5.png"/><Relationship Id="rId11" Type="http://schemas.openxmlformats.org/officeDocument/2006/relationships/image" Target="../media/image80.png"/><Relationship Id="rId5" Type="http://schemas.openxmlformats.org/officeDocument/2006/relationships/image" Target="../media/image74.png"/><Relationship Id="rId15" Type="http://schemas.openxmlformats.org/officeDocument/2006/relationships/image" Target="../media/image85.png"/><Relationship Id="rId10" Type="http://schemas.openxmlformats.org/officeDocument/2006/relationships/image" Target="../media/image79.png"/><Relationship Id="rId4" Type="http://schemas.openxmlformats.org/officeDocument/2006/relationships/image" Target="../media/image73.png"/><Relationship Id="rId9" Type="http://schemas.openxmlformats.org/officeDocument/2006/relationships/image" Target="../media/image78.png"/><Relationship Id="rId14" Type="http://schemas.openxmlformats.org/officeDocument/2006/relationships/image" Target="../media/image83.png"/></Relationships>
</file>

<file path=ppt/slides/_rels/slide1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13" Type="http://schemas.openxmlformats.org/officeDocument/2006/relationships/image" Target="../media/image82.png"/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12" Type="http://schemas.openxmlformats.org/officeDocument/2006/relationships/image" Target="../media/image81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5.png"/><Relationship Id="rId11" Type="http://schemas.openxmlformats.org/officeDocument/2006/relationships/image" Target="../media/image80.png"/><Relationship Id="rId5" Type="http://schemas.openxmlformats.org/officeDocument/2006/relationships/image" Target="../media/image74.png"/><Relationship Id="rId15" Type="http://schemas.openxmlformats.org/officeDocument/2006/relationships/image" Target="../media/image86.png"/><Relationship Id="rId10" Type="http://schemas.openxmlformats.org/officeDocument/2006/relationships/image" Target="../media/image79.png"/><Relationship Id="rId4" Type="http://schemas.openxmlformats.org/officeDocument/2006/relationships/image" Target="../media/image73.png"/><Relationship Id="rId9" Type="http://schemas.openxmlformats.org/officeDocument/2006/relationships/image" Target="../media/image78.png"/><Relationship Id="rId14" Type="http://schemas.openxmlformats.org/officeDocument/2006/relationships/image" Target="../media/image83.png"/></Relationships>
</file>

<file path=ppt/slides/_rels/slide1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13" Type="http://schemas.openxmlformats.org/officeDocument/2006/relationships/image" Target="../media/image82.png"/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12" Type="http://schemas.openxmlformats.org/officeDocument/2006/relationships/image" Target="../media/image81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5.png"/><Relationship Id="rId11" Type="http://schemas.openxmlformats.org/officeDocument/2006/relationships/image" Target="../media/image80.png"/><Relationship Id="rId5" Type="http://schemas.openxmlformats.org/officeDocument/2006/relationships/image" Target="../media/image74.png"/><Relationship Id="rId15" Type="http://schemas.openxmlformats.org/officeDocument/2006/relationships/image" Target="../media/image86.png"/><Relationship Id="rId10" Type="http://schemas.openxmlformats.org/officeDocument/2006/relationships/image" Target="../media/image79.png"/><Relationship Id="rId4" Type="http://schemas.openxmlformats.org/officeDocument/2006/relationships/image" Target="../media/image73.png"/><Relationship Id="rId9" Type="http://schemas.openxmlformats.org/officeDocument/2006/relationships/image" Target="../media/image78.png"/><Relationship Id="rId14" Type="http://schemas.openxmlformats.org/officeDocument/2006/relationships/image" Target="../media/image83.png"/></Relationships>
</file>

<file path=ppt/slides/_rels/slide1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13" Type="http://schemas.openxmlformats.org/officeDocument/2006/relationships/image" Target="../media/image82.png"/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12" Type="http://schemas.openxmlformats.org/officeDocument/2006/relationships/image" Target="../media/image81.png"/><Relationship Id="rId2" Type="http://schemas.openxmlformats.org/officeDocument/2006/relationships/image" Target="../media/image71.png"/><Relationship Id="rId16" Type="http://schemas.openxmlformats.org/officeDocument/2006/relationships/image" Target="../media/image8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5.png"/><Relationship Id="rId11" Type="http://schemas.openxmlformats.org/officeDocument/2006/relationships/image" Target="../media/image80.png"/><Relationship Id="rId5" Type="http://schemas.openxmlformats.org/officeDocument/2006/relationships/image" Target="../media/image74.png"/><Relationship Id="rId15" Type="http://schemas.openxmlformats.org/officeDocument/2006/relationships/image" Target="../media/image86.png"/><Relationship Id="rId10" Type="http://schemas.openxmlformats.org/officeDocument/2006/relationships/image" Target="../media/image79.png"/><Relationship Id="rId4" Type="http://schemas.openxmlformats.org/officeDocument/2006/relationships/image" Target="../media/image73.png"/><Relationship Id="rId9" Type="http://schemas.openxmlformats.org/officeDocument/2006/relationships/image" Target="../media/image78.png"/><Relationship Id="rId14" Type="http://schemas.openxmlformats.org/officeDocument/2006/relationships/image" Target="../media/image83.png"/></Relationships>
</file>

<file path=ppt/slides/_rels/slide1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13" Type="http://schemas.openxmlformats.org/officeDocument/2006/relationships/image" Target="../media/image82.png"/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12" Type="http://schemas.openxmlformats.org/officeDocument/2006/relationships/image" Target="../media/image81.png"/><Relationship Id="rId2" Type="http://schemas.openxmlformats.org/officeDocument/2006/relationships/image" Target="../media/image71.png"/><Relationship Id="rId16" Type="http://schemas.openxmlformats.org/officeDocument/2006/relationships/image" Target="../media/image8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5.png"/><Relationship Id="rId11" Type="http://schemas.openxmlformats.org/officeDocument/2006/relationships/image" Target="../media/image80.png"/><Relationship Id="rId5" Type="http://schemas.openxmlformats.org/officeDocument/2006/relationships/image" Target="../media/image74.png"/><Relationship Id="rId15" Type="http://schemas.openxmlformats.org/officeDocument/2006/relationships/image" Target="../media/image86.png"/><Relationship Id="rId10" Type="http://schemas.openxmlformats.org/officeDocument/2006/relationships/image" Target="../media/image79.png"/><Relationship Id="rId4" Type="http://schemas.openxmlformats.org/officeDocument/2006/relationships/image" Target="../media/image73.png"/><Relationship Id="rId9" Type="http://schemas.openxmlformats.org/officeDocument/2006/relationships/image" Target="../media/image78.png"/><Relationship Id="rId14" Type="http://schemas.openxmlformats.org/officeDocument/2006/relationships/image" Target="../media/image83.png"/></Relationships>
</file>

<file path=ppt/slides/_rels/slide1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13" Type="http://schemas.openxmlformats.org/officeDocument/2006/relationships/image" Target="../media/image82.png"/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12" Type="http://schemas.openxmlformats.org/officeDocument/2006/relationships/image" Target="../media/image81.png"/><Relationship Id="rId2" Type="http://schemas.openxmlformats.org/officeDocument/2006/relationships/image" Target="../media/image71.png"/><Relationship Id="rId16" Type="http://schemas.openxmlformats.org/officeDocument/2006/relationships/image" Target="../media/image8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5.png"/><Relationship Id="rId11" Type="http://schemas.openxmlformats.org/officeDocument/2006/relationships/image" Target="../media/image80.png"/><Relationship Id="rId5" Type="http://schemas.openxmlformats.org/officeDocument/2006/relationships/image" Target="../media/image74.png"/><Relationship Id="rId15" Type="http://schemas.openxmlformats.org/officeDocument/2006/relationships/image" Target="../media/image86.png"/><Relationship Id="rId10" Type="http://schemas.openxmlformats.org/officeDocument/2006/relationships/image" Target="../media/image79.png"/><Relationship Id="rId4" Type="http://schemas.openxmlformats.org/officeDocument/2006/relationships/image" Target="../media/image73.png"/><Relationship Id="rId9" Type="http://schemas.openxmlformats.org/officeDocument/2006/relationships/image" Target="../media/image78.png"/><Relationship Id="rId14" Type="http://schemas.openxmlformats.org/officeDocument/2006/relationships/image" Target="../media/image83.png"/></Relationships>
</file>

<file path=ppt/slides/_rels/slide1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13" Type="http://schemas.openxmlformats.org/officeDocument/2006/relationships/image" Target="../media/image82.png"/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12" Type="http://schemas.openxmlformats.org/officeDocument/2006/relationships/image" Target="../media/image81.png"/><Relationship Id="rId2" Type="http://schemas.openxmlformats.org/officeDocument/2006/relationships/image" Target="../media/image71.png"/><Relationship Id="rId16" Type="http://schemas.openxmlformats.org/officeDocument/2006/relationships/image" Target="../media/image8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5.png"/><Relationship Id="rId11" Type="http://schemas.openxmlformats.org/officeDocument/2006/relationships/image" Target="../media/image80.png"/><Relationship Id="rId5" Type="http://schemas.openxmlformats.org/officeDocument/2006/relationships/image" Target="../media/image74.png"/><Relationship Id="rId15" Type="http://schemas.openxmlformats.org/officeDocument/2006/relationships/image" Target="../media/image86.png"/><Relationship Id="rId10" Type="http://schemas.openxmlformats.org/officeDocument/2006/relationships/image" Target="../media/image79.png"/><Relationship Id="rId4" Type="http://schemas.openxmlformats.org/officeDocument/2006/relationships/image" Target="../media/image73.png"/><Relationship Id="rId9" Type="http://schemas.openxmlformats.org/officeDocument/2006/relationships/image" Target="../media/image78.png"/><Relationship Id="rId14" Type="http://schemas.openxmlformats.org/officeDocument/2006/relationships/image" Target="../media/image83.png"/></Relationships>
</file>

<file path=ppt/slides/_rels/slide1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13" Type="http://schemas.openxmlformats.org/officeDocument/2006/relationships/image" Target="../media/image82.png"/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12" Type="http://schemas.openxmlformats.org/officeDocument/2006/relationships/image" Target="../media/image81.png"/><Relationship Id="rId2" Type="http://schemas.openxmlformats.org/officeDocument/2006/relationships/image" Target="../media/image71.png"/><Relationship Id="rId16" Type="http://schemas.openxmlformats.org/officeDocument/2006/relationships/image" Target="../media/image8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5.png"/><Relationship Id="rId11" Type="http://schemas.openxmlformats.org/officeDocument/2006/relationships/image" Target="../media/image80.png"/><Relationship Id="rId5" Type="http://schemas.openxmlformats.org/officeDocument/2006/relationships/image" Target="../media/image74.png"/><Relationship Id="rId15" Type="http://schemas.openxmlformats.org/officeDocument/2006/relationships/image" Target="../media/image86.png"/><Relationship Id="rId10" Type="http://schemas.openxmlformats.org/officeDocument/2006/relationships/image" Target="../media/image79.png"/><Relationship Id="rId4" Type="http://schemas.openxmlformats.org/officeDocument/2006/relationships/image" Target="../media/image73.png"/><Relationship Id="rId9" Type="http://schemas.openxmlformats.org/officeDocument/2006/relationships/image" Target="../media/image78.png"/><Relationship Id="rId14" Type="http://schemas.openxmlformats.org/officeDocument/2006/relationships/image" Target="../media/image83.png"/></Relationships>
</file>

<file path=ppt/slides/_rels/slide1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13" Type="http://schemas.openxmlformats.org/officeDocument/2006/relationships/image" Target="../media/image82.png"/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12" Type="http://schemas.openxmlformats.org/officeDocument/2006/relationships/image" Target="../media/image81.png"/><Relationship Id="rId2" Type="http://schemas.openxmlformats.org/officeDocument/2006/relationships/image" Target="../media/image71.png"/><Relationship Id="rId16" Type="http://schemas.openxmlformats.org/officeDocument/2006/relationships/image" Target="../media/image8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5.png"/><Relationship Id="rId11" Type="http://schemas.openxmlformats.org/officeDocument/2006/relationships/image" Target="../media/image80.png"/><Relationship Id="rId5" Type="http://schemas.openxmlformats.org/officeDocument/2006/relationships/image" Target="../media/image74.png"/><Relationship Id="rId15" Type="http://schemas.openxmlformats.org/officeDocument/2006/relationships/image" Target="../media/image86.png"/><Relationship Id="rId10" Type="http://schemas.openxmlformats.org/officeDocument/2006/relationships/image" Target="../media/image79.png"/><Relationship Id="rId4" Type="http://schemas.openxmlformats.org/officeDocument/2006/relationships/image" Target="../media/image73.png"/><Relationship Id="rId9" Type="http://schemas.openxmlformats.org/officeDocument/2006/relationships/image" Target="../media/image78.png"/><Relationship Id="rId14" Type="http://schemas.openxmlformats.org/officeDocument/2006/relationships/image" Target="../media/image83.png"/></Relationships>
</file>

<file path=ppt/slides/_rels/slide1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13" Type="http://schemas.openxmlformats.org/officeDocument/2006/relationships/image" Target="../media/image82.png"/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12" Type="http://schemas.openxmlformats.org/officeDocument/2006/relationships/image" Target="../media/image81.png"/><Relationship Id="rId2" Type="http://schemas.openxmlformats.org/officeDocument/2006/relationships/image" Target="../media/image71.png"/><Relationship Id="rId16" Type="http://schemas.openxmlformats.org/officeDocument/2006/relationships/image" Target="../media/image8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5.png"/><Relationship Id="rId11" Type="http://schemas.openxmlformats.org/officeDocument/2006/relationships/image" Target="../media/image80.png"/><Relationship Id="rId5" Type="http://schemas.openxmlformats.org/officeDocument/2006/relationships/image" Target="../media/image74.png"/><Relationship Id="rId15" Type="http://schemas.openxmlformats.org/officeDocument/2006/relationships/image" Target="../media/image86.png"/><Relationship Id="rId10" Type="http://schemas.openxmlformats.org/officeDocument/2006/relationships/image" Target="../media/image79.png"/><Relationship Id="rId4" Type="http://schemas.openxmlformats.org/officeDocument/2006/relationships/image" Target="../media/image73.png"/><Relationship Id="rId9" Type="http://schemas.openxmlformats.org/officeDocument/2006/relationships/image" Target="../media/image78.png"/><Relationship Id="rId14" Type="http://schemas.openxmlformats.org/officeDocument/2006/relationships/image" Target="../media/image83.png"/></Relationships>
</file>

<file path=ppt/slides/_rels/slide1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13" Type="http://schemas.openxmlformats.org/officeDocument/2006/relationships/image" Target="../media/image82.png"/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12" Type="http://schemas.openxmlformats.org/officeDocument/2006/relationships/image" Target="../media/image81.png"/><Relationship Id="rId2" Type="http://schemas.openxmlformats.org/officeDocument/2006/relationships/image" Target="../media/image71.png"/><Relationship Id="rId16" Type="http://schemas.openxmlformats.org/officeDocument/2006/relationships/image" Target="../media/image8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5.png"/><Relationship Id="rId11" Type="http://schemas.openxmlformats.org/officeDocument/2006/relationships/image" Target="../media/image80.png"/><Relationship Id="rId5" Type="http://schemas.openxmlformats.org/officeDocument/2006/relationships/image" Target="../media/image74.png"/><Relationship Id="rId15" Type="http://schemas.openxmlformats.org/officeDocument/2006/relationships/image" Target="../media/image86.png"/><Relationship Id="rId10" Type="http://schemas.openxmlformats.org/officeDocument/2006/relationships/image" Target="../media/image79.png"/><Relationship Id="rId4" Type="http://schemas.openxmlformats.org/officeDocument/2006/relationships/image" Target="../media/image73.png"/><Relationship Id="rId9" Type="http://schemas.openxmlformats.org/officeDocument/2006/relationships/image" Target="../media/image78.png"/><Relationship Id="rId14" Type="http://schemas.openxmlformats.org/officeDocument/2006/relationships/image" Target="../media/image83.png"/></Relationships>
</file>

<file path=ppt/slides/_rels/slide1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13" Type="http://schemas.openxmlformats.org/officeDocument/2006/relationships/image" Target="../media/image82.png"/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12" Type="http://schemas.openxmlformats.org/officeDocument/2006/relationships/image" Target="../media/image81.png"/><Relationship Id="rId2" Type="http://schemas.openxmlformats.org/officeDocument/2006/relationships/image" Target="../media/image71.png"/><Relationship Id="rId16" Type="http://schemas.openxmlformats.org/officeDocument/2006/relationships/image" Target="../media/image8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5.png"/><Relationship Id="rId11" Type="http://schemas.openxmlformats.org/officeDocument/2006/relationships/image" Target="../media/image80.png"/><Relationship Id="rId5" Type="http://schemas.openxmlformats.org/officeDocument/2006/relationships/image" Target="../media/image74.png"/><Relationship Id="rId15" Type="http://schemas.openxmlformats.org/officeDocument/2006/relationships/image" Target="../media/image86.png"/><Relationship Id="rId10" Type="http://schemas.openxmlformats.org/officeDocument/2006/relationships/image" Target="../media/image79.png"/><Relationship Id="rId4" Type="http://schemas.openxmlformats.org/officeDocument/2006/relationships/image" Target="../media/image73.png"/><Relationship Id="rId9" Type="http://schemas.openxmlformats.org/officeDocument/2006/relationships/image" Target="../media/image78.png"/><Relationship Id="rId14" Type="http://schemas.openxmlformats.org/officeDocument/2006/relationships/image" Target="../media/image83.png"/></Relationships>
</file>

<file path=ppt/slides/_rels/slide1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13" Type="http://schemas.openxmlformats.org/officeDocument/2006/relationships/image" Target="../media/image82.png"/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12" Type="http://schemas.openxmlformats.org/officeDocument/2006/relationships/image" Target="../media/image81.png"/><Relationship Id="rId2" Type="http://schemas.openxmlformats.org/officeDocument/2006/relationships/image" Target="../media/image71.png"/><Relationship Id="rId16" Type="http://schemas.openxmlformats.org/officeDocument/2006/relationships/image" Target="../media/image8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5.png"/><Relationship Id="rId11" Type="http://schemas.openxmlformats.org/officeDocument/2006/relationships/image" Target="../media/image80.png"/><Relationship Id="rId5" Type="http://schemas.openxmlformats.org/officeDocument/2006/relationships/image" Target="../media/image74.png"/><Relationship Id="rId15" Type="http://schemas.openxmlformats.org/officeDocument/2006/relationships/image" Target="../media/image86.png"/><Relationship Id="rId10" Type="http://schemas.openxmlformats.org/officeDocument/2006/relationships/image" Target="../media/image79.png"/><Relationship Id="rId4" Type="http://schemas.openxmlformats.org/officeDocument/2006/relationships/image" Target="../media/image73.png"/><Relationship Id="rId9" Type="http://schemas.openxmlformats.org/officeDocument/2006/relationships/image" Target="../media/image78.png"/><Relationship Id="rId14" Type="http://schemas.openxmlformats.org/officeDocument/2006/relationships/image" Target="../media/image83.png"/></Relationships>
</file>

<file path=ppt/slides/_rels/slide1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13" Type="http://schemas.openxmlformats.org/officeDocument/2006/relationships/image" Target="../media/image82.png"/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12" Type="http://schemas.openxmlformats.org/officeDocument/2006/relationships/image" Target="../media/image81.png"/><Relationship Id="rId2" Type="http://schemas.openxmlformats.org/officeDocument/2006/relationships/image" Target="../media/image71.png"/><Relationship Id="rId16" Type="http://schemas.openxmlformats.org/officeDocument/2006/relationships/image" Target="../media/image8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5.png"/><Relationship Id="rId11" Type="http://schemas.openxmlformats.org/officeDocument/2006/relationships/image" Target="../media/image80.png"/><Relationship Id="rId5" Type="http://schemas.openxmlformats.org/officeDocument/2006/relationships/image" Target="../media/image74.png"/><Relationship Id="rId15" Type="http://schemas.openxmlformats.org/officeDocument/2006/relationships/image" Target="../media/image86.png"/><Relationship Id="rId10" Type="http://schemas.openxmlformats.org/officeDocument/2006/relationships/image" Target="../media/image79.png"/><Relationship Id="rId4" Type="http://schemas.openxmlformats.org/officeDocument/2006/relationships/image" Target="../media/image73.png"/><Relationship Id="rId9" Type="http://schemas.openxmlformats.org/officeDocument/2006/relationships/image" Target="../media/image78.png"/><Relationship Id="rId14" Type="http://schemas.openxmlformats.org/officeDocument/2006/relationships/image" Target="../media/image83.png"/></Relationships>
</file>

<file path=ppt/slides/_rels/slide1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13" Type="http://schemas.openxmlformats.org/officeDocument/2006/relationships/image" Target="../media/image82.png"/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12" Type="http://schemas.openxmlformats.org/officeDocument/2006/relationships/image" Target="../media/image81.png"/><Relationship Id="rId2" Type="http://schemas.openxmlformats.org/officeDocument/2006/relationships/image" Target="../media/image71.png"/><Relationship Id="rId16" Type="http://schemas.openxmlformats.org/officeDocument/2006/relationships/image" Target="../media/image8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5.png"/><Relationship Id="rId11" Type="http://schemas.openxmlformats.org/officeDocument/2006/relationships/image" Target="../media/image80.png"/><Relationship Id="rId5" Type="http://schemas.openxmlformats.org/officeDocument/2006/relationships/image" Target="../media/image74.png"/><Relationship Id="rId15" Type="http://schemas.openxmlformats.org/officeDocument/2006/relationships/image" Target="../media/image86.png"/><Relationship Id="rId10" Type="http://schemas.openxmlformats.org/officeDocument/2006/relationships/image" Target="../media/image79.png"/><Relationship Id="rId4" Type="http://schemas.openxmlformats.org/officeDocument/2006/relationships/image" Target="../media/image73.png"/><Relationship Id="rId9" Type="http://schemas.openxmlformats.org/officeDocument/2006/relationships/image" Target="../media/image78.png"/><Relationship Id="rId14" Type="http://schemas.openxmlformats.org/officeDocument/2006/relationships/image" Target="../media/image83.png"/></Relationships>
</file>

<file path=ppt/slides/_rels/slide1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13" Type="http://schemas.openxmlformats.org/officeDocument/2006/relationships/image" Target="../media/image82.png"/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12" Type="http://schemas.openxmlformats.org/officeDocument/2006/relationships/image" Target="../media/image81.png"/><Relationship Id="rId2" Type="http://schemas.openxmlformats.org/officeDocument/2006/relationships/image" Target="../media/image71.png"/><Relationship Id="rId16" Type="http://schemas.openxmlformats.org/officeDocument/2006/relationships/image" Target="../media/image8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5.png"/><Relationship Id="rId11" Type="http://schemas.openxmlformats.org/officeDocument/2006/relationships/image" Target="../media/image80.png"/><Relationship Id="rId5" Type="http://schemas.openxmlformats.org/officeDocument/2006/relationships/image" Target="../media/image74.png"/><Relationship Id="rId15" Type="http://schemas.openxmlformats.org/officeDocument/2006/relationships/image" Target="../media/image86.png"/><Relationship Id="rId10" Type="http://schemas.openxmlformats.org/officeDocument/2006/relationships/image" Target="../media/image79.png"/><Relationship Id="rId4" Type="http://schemas.openxmlformats.org/officeDocument/2006/relationships/image" Target="../media/image73.png"/><Relationship Id="rId9" Type="http://schemas.openxmlformats.org/officeDocument/2006/relationships/image" Target="../media/image78.png"/><Relationship Id="rId14" Type="http://schemas.openxmlformats.org/officeDocument/2006/relationships/image" Target="../media/image83.png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jpg"/><Relationship Id="rId2" Type="http://schemas.openxmlformats.org/officeDocument/2006/relationships/image" Target="../media/image88.jpg"/><Relationship Id="rId1" Type="http://schemas.openxmlformats.org/officeDocument/2006/relationships/slideLayout" Target="../slideLayouts/slideLayout5.xm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7" Type="http://schemas.openxmlformats.org/officeDocument/2006/relationships/image" Target="../media/image97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6.png"/><Relationship Id="rId5" Type="http://schemas.openxmlformats.org/officeDocument/2006/relationships/image" Target="../media/image95.png"/><Relationship Id="rId4" Type="http://schemas.openxmlformats.org/officeDocument/2006/relationships/image" Target="../media/image94.png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7" Type="http://schemas.openxmlformats.org/officeDocument/2006/relationships/image" Target="../media/image97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6.png"/><Relationship Id="rId5" Type="http://schemas.openxmlformats.org/officeDocument/2006/relationships/image" Target="../media/image95.png"/><Relationship Id="rId4" Type="http://schemas.openxmlformats.org/officeDocument/2006/relationships/image" Target="../media/image94.png"/></Relationships>
</file>

<file path=ppt/slides/_rels/slide1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3" Type="http://schemas.openxmlformats.org/officeDocument/2006/relationships/image" Target="../media/image92.png"/><Relationship Id="rId7" Type="http://schemas.openxmlformats.org/officeDocument/2006/relationships/image" Target="../media/image96.png"/><Relationship Id="rId12" Type="http://schemas.openxmlformats.org/officeDocument/2006/relationships/image" Target="../media/image103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5.png"/><Relationship Id="rId11" Type="http://schemas.openxmlformats.org/officeDocument/2006/relationships/image" Target="../media/image102.png"/><Relationship Id="rId5" Type="http://schemas.openxmlformats.org/officeDocument/2006/relationships/image" Target="../media/image94.png"/><Relationship Id="rId10" Type="http://schemas.openxmlformats.org/officeDocument/2006/relationships/image" Target="../media/image101.png"/><Relationship Id="rId4" Type="http://schemas.openxmlformats.org/officeDocument/2006/relationships/image" Target="../media/image98.png"/><Relationship Id="rId9" Type="http://schemas.openxmlformats.org/officeDocument/2006/relationships/image" Target="../media/image100.png"/></Relationships>
</file>

<file path=ppt/slides/_rels/slide1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3" Type="http://schemas.openxmlformats.org/officeDocument/2006/relationships/image" Target="../media/image92.png"/><Relationship Id="rId7" Type="http://schemas.openxmlformats.org/officeDocument/2006/relationships/image" Target="../media/image96.png"/><Relationship Id="rId12" Type="http://schemas.openxmlformats.org/officeDocument/2006/relationships/image" Target="../media/image103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5.png"/><Relationship Id="rId11" Type="http://schemas.openxmlformats.org/officeDocument/2006/relationships/image" Target="../media/image102.png"/><Relationship Id="rId5" Type="http://schemas.openxmlformats.org/officeDocument/2006/relationships/image" Target="../media/image94.png"/><Relationship Id="rId10" Type="http://schemas.openxmlformats.org/officeDocument/2006/relationships/image" Target="../media/image101.png"/><Relationship Id="rId4" Type="http://schemas.openxmlformats.org/officeDocument/2006/relationships/image" Target="../media/image98.png"/><Relationship Id="rId9" Type="http://schemas.openxmlformats.org/officeDocument/2006/relationships/image" Target="../media/image100.png"/></Relationships>
</file>

<file path=ppt/slides/_rels/slide1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3" Type="http://schemas.openxmlformats.org/officeDocument/2006/relationships/image" Target="../media/image92.png"/><Relationship Id="rId7" Type="http://schemas.openxmlformats.org/officeDocument/2006/relationships/image" Target="../media/image96.png"/><Relationship Id="rId12" Type="http://schemas.openxmlformats.org/officeDocument/2006/relationships/image" Target="../media/image103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5.png"/><Relationship Id="rId11" Type="http://schemas.openxmlformats.org/officeDocument/2006/relationships/image" Target="../media/image102.png"/><Relationship Id="rId5" Type="http://schemas.openxmlformats.org/officeDocument/2006/relationships/image" Target="../media/image94.png"/><Relationship Id="rId10" Type="http://schemas.openxmlformats.org/officeDocument/2006/relationships/image" Target="../media/image101.png"/><Relationship Id="rId4" Type="http://schemas.openxmlformats.org/officeDocument/2006/relationships/image" Target="../media/image98.png"/><Relationship Id="rId9" Type="http://schemas.openxmlformats.org/officeDocument/2006/relationships/image" Target="../media/image100.png"/></Relationships>
</file>

<file path=ppt/slides/_rels/slide1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3" Type="http://schemas.openxmlformats.org/officeDocument/2006/relationships/image" Target="../media/image92.png"/><Relationship Id="rId7" Type="http://schemas.openxmlformats.org/officeDocument/2006/relationships/image" Target="../media/image96.png"/><Relationship Id="rId12" Type="http://schemas.openxmlformats.org/officeDocument/2006/relationships/image" Target="../media/image103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5.png"/><Relationship Id="rId11" Type="http://schemas.openxmlformats.org/officeDocument/2006/relationships/image" Target="../media/image102.png"/><Relationship Id="rId5" Type="http://schemas.openxmlformats.org/officeDocument/2006/relationships/image" Target="../media/image94.png"/><Relationship Id="rId10" Type="http://schemas.openxmlformats.org/officeDocument/2006/relationships/image" Target="../media/image101.png"/><Relationship Id="rId4" Type="http://schemas.openxmlformats.org/officeDocument/2006/relationships/image" Target="../media/image98.png"/><Relationship Id="rId9" Type="http://schemas.openxmlformats.org/officeDocument/2006/relationships/image" Target="../media/image100.png"/></Relationships>
</file>

<file path=ppt/slides/_rels/slide1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3" Type="http://schemas.openxmlformats.org/officeDocument/2006/relationships/image" Target="../media/image92.png"/><Relationship Id="rId7" Type="http://schemas.openxmlformats.org/officeDocument/2006/relationships/image" Target="../media/image107.png"/><Relationship Id="rId12" Type="http://schemas.openxmlformats.org/officeDocument/2006/relationships/image" Target="../media/image103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6.png"/><Relationship Id="rId11" Type="http://schemas.openxmlformats.org/officeDocument/2006/relationships/image" Target="../media/image109.png"/><Relationship Id="rId5" Type="http://schemas.openxmlformats.org/officeDocument/2006/relationships/image" Target="../media/image105.png"/><Relationship Id="rId10" Type="http://schemas.openxmlformats.org/officeDocument/2006/relationships/image" Target="../media/image108.png"/><Relationship Id="rId4" Type="http://schemas.openxmlformats.org/officeDocument/2006/relationships/image" Target="../media/image104.png"/><Relationship Id="rId9" Type="http://schemas.openxmlformats.org/officeDocument/2006/relationships/image" Target="../media/image100.png"/></Relationships>
</file>

<file path=ppt/slides/_rels/slide1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3" Type="http://schemas.openxmlformats.org/officeDocument/2006/relationships/image" Target="../media/image92.png"/><Relationship Id="rId7" Type="http://schemas.openxmlformats.org/officeDocument/2006/relationships/image" Target="../media/image107.png"/><Relationship Id="rId12" Type="http://schemas.openxmlformats.org/officeDocument/2006/relationships/image" Target="../media/image103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6.png"/><Relationship Id="rId11" Type="http://schemas.openxmlformats.org/officeDocument/2006/relationships/image" Target="../media/image109.png"/><Relationship Id="rId5" Type="http://schemas.openxmlformats.org/officeDocument/2006/relationships/image" Target="../media/image105.png"/><Relationship Id="rId10" Type="http://schemas.openxmlformats.org/officeDocument/2006/relationships/image" Target="../media/image108.png"/><Relationship Id="rId4" Type="http://schemas.openxmlformats.org/officeDocument/2006/relationships/image" Target="../media/image104.png"/><Relationship Id="rId9" Type="http://schemas.openxmlformats.org/officeDocument/2006/relationships/image" Target="../media/image100.png"/></Relationships>
</file>

<file path=ppt/slides/_rels/slide1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3" Type="http://schemas.openxmlformats.org/officeDocument/2006/relationships/image" Target="../media/image92.png"/><Relationship Id="rId7" Type="http://schemas.openxmlformats.org/officeDocument/2006/relationships/image" Target="../media/image107.png"/><Relationship Id="rId12" Type="http://schemas.openxmlformats.org/officeDocument/2006/relationships/image" Target="../media/image103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6.png"/><Relationship Id="rId11" Type="http://schemas.openxmlformats.org/officeDocument/2006/relationships/image" Target="../media/image109.png"/><Relationship Id="rId5" Type="http://schemas.openxmlformats.org/officeDocument/2006/relationships/image" Target="../media/image105.png"/><Relationship Id="rId10" Type="http://schemas.openxmlformats.org/officeDocument/2006/relationships/image" Target="../media/image108.png"/><Relationship Id="rId4" Type="http://schemas.openxmlformats.org/officeDocument/2006/relationships/image" Target="../media/image104.png"/><Relationship Id="rId9" Type="http://schemas.openxmlformats.org/officeDocument/2006/relationships/image" Target="../media/image100.png"/></Relationships>
</file>

<file path=ppt/slides/_rels/slide1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3" Type="http://schemas.openxmlformats.org/officeDocument/2006/relationships/image" Target="../media/image92.png"/><Relationship Id="rId7" Type="http://schemas.openxmlformats.org/officeDocument/2006/relationships/image" Target="../media/image107.png"/><Relationship Id="rId12" Type="http://schemas.openxmlformats.org/officeDocument/2006/relationships/image" Target="../media/image103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6.png"/><Relationship Id="rId11" Type="http://schemas.openxmlformats.org/officeDocument/2006/relationships/image" Target="../media/image109.png"/><Relationship Id="rId5" Type="http://schemas.openxmlformats.org/officeDocument/2006/relationships/image" Target="../media/image105.png"/><Relationship Id="rId10" Type="http://schemas.openxmlformats.org/officeDocument/2006/relationships/image" Target="../media/image108.png"/><Relationship Id="rId4" Type="http://schemas.openxmlformats.org/officeDocument/2006/relationships/image" Target="../media/image104.png"/><Relationship Id="rId9" Type="http://schemas.openxmlformats.org/officeDocument/2006/relationships/image" Target="../media/image100.png"/></Relationships>
</file>

<file path=ppt/slides/_rels/slide1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3" Type="http://schemas.openxmlformats.org/officeDocument/2006/relationships/image" Target="../media/image92.png"/><Relationship Id="rId7" Type="http://schemas.openxmlformats.org/officeDocument/2006/relationships/image" Target="../media/image107.png"/><Relationship Id="rId12" Type="http://schemas.openxmlformats.org/officeDocument/2006/relationships/image" Target="../media/image103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6.png"/><Relationship Id="rId11" Type="http://schemas.openxmlformats.org/officeDocument/2006/relationships/image" Target="../media/image109.png"/><Relationship Id="rId5" Type="http://schemas.openxmlformats.org/officeDocument/2006/relationships/image" Target="../media/image105.png"/><Relationship Id="rId10" Type="http://schemas.openxmlformats.org/officeDocument/2006/relationships/image" Target="../media/image108.png"/><Relationship Id="rId4" Type="http://schemas.openxmlformats.org/officeDocument/2006/relationships/image" Target="../media/image104.png"/><Relationship Id="rId9" Type="http://schemas.openxmlformats.org/officeDocument/2006/relationships/image" Target="../media/image100.png"/></Relationships>
</file>

<file path=ppt/slides/_rels/slide1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3" Type="http://schemas.openxmlformats.org/officeDocument/2006/relationships/image" Target="../media/image92.png"/><Relationship Id="rId7" Type="http://schemas.openxmlformats.org/officeDocument/2006/relationships/image" Target="../media/image107.png"/><Relationship Id="rId12" Type="http://schemas.openxmlformats.org/officeDocument/2006/relationships/image" Target="../media/image103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6.png"/><Relationship Id="rId11" Type="http://schemas.openxmlformats.org/officeDocument/2006/relationships/image" Target="../media/image109.png"/><Relationship Id="rId5" Type="http://schemas.openxmlformats.org/officeDocument/2006/relationships/image" Target="../media/image105.png"/><Relationship Id="rId10" Type="http://schemas.openxmlformats.org/officeDocument/2006/relationships/image" Target="../media/image108.png"/><Relationship Id="rId4" Type="http://schemas.openxmlformats.org/officeDocument/2006/relationships/image" Target="../media/image104.png"/><Relationship Id="rId9" Type="http://schemas.openxmlformats.org/officeDocument/2006/relationships/image" Target="../media/image100.png"/></Relationships>
</file>

<file path=ppt/slides/_rels/slide1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3" Type="http://schemas.openxmlformats.org/officeDocument/2006/relationships/image" Target="../media/image92.png"/><Relationship Id="rId7" Type="http://schemas.openxmlformats.org/officeDocument/2006/relationships/image" Target="../media/image107.png"/><Relationship Id="rId12" Type="http://schemas.openxmlformats.org/officeDocument/2006/relationships/image" Target="../media/image103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6.png"/><Relationship Id="rId11" Type="http://schemas.openxmlformats.org/officeDocument/2006/relationships/image" Target="../media/image109.png"/><Relationship Id="rId5" Type="http://schemas.openxmlformats.org/officeDocument/2006/relationships/image" Target="../media/image105.png"/><Relationship Id="rId10" Type="http://schemas.openxmlformats.org/officeDocument/2006/relationships/image" Target="../media/image108.png"/><Relationship Id="rId4" Type="http://schemas.openxmlformats.org/officeDocument/2006/relationships/image" Target="../media/image104.png"/><Relationship Id="rId9" Type="http://schemas.openxmlformats.org/officeDocument/2006/relationships/image" Target="../media/image100.png"/></Relationships>
</file>

<file path=ppt/slides/_rels/slide1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3" Type="http://schemas.openxmlformats.org/officeDocument/2006/relationships/image" Target="../media/image92.png"/><Relationship Id="rId7" Type="http://schemas.openxmlformats.org/officeDocument/2006/relationships/image" Target="../media/image107.png"/><Relationship Id="rId12" Type="http://schemas.openxmlformats.org/officeDocument/2006/relationships/image" Target="../media/image103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6.png"/><Relationship Id="rId11" Type="http://schemas.openxmlformats.org/officeDocument/2006/relationships/image" Target="../media/image109.png"/><Relationship Id="rId5" Type="http://schemas.openxmlformats.org/officeDocument/2006/relationships/image" Target="../media/image105.png"/><Relationship Id="rId10" Type="http://schemas.openxmlformats.org/officeDocument/2006/relationships/image" Target="../media/image108.png"/><Relationship Id="rId4" Type="http://schemas.openxmlformats.org/officeDocument/2006/relationships/image" Target="../media/image104.png"/><Relationship Id="rId9" Type="http://schemas.openxmlformats.org/officeDocument/2006/relationships/image" Target="../media/image100.png"/></Relationships>
</file>

<file path=ppt/slides/_rels/slide1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3" Type="http://schemas.openxmlformats.org/officeDocument/2006/relationships/image" Target="../media/image92.png"/><Relationship Id="rId7" Type="http://schemas.openxmlformats.org/officeDocument/2006/relationships/image" Target="../media/image107.png"/><Relationship Id="rId12" Type="http://schemas.openxmlformats.org/officeDocument/2006/relationships/image" Target="../media/image103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6.png"/><Relationship Id="rId11" Type="http://schemas.openxmlformats.org/officeDocument/2006/relationships/image" Target="../media/image109.png"/><Relationship Id="rId5" Type="http://schemas.openxmlformats.org/officeDocument/2006/relationships/image" Target="../media/image105.png"/><Relationship Id="rId10" Type="http://schemas.openxmlformats.org/officeDocument/2006/relationships/image" Target="../media/image108.png"/><Relationship Id="rId4" Type="http://schemas.openxmlformats.org/officeDocument/2006/relationships/image" Target="../media/image104.png"/><Relationship Id="rId9" Type="http://schemas.openxmlformats.org/officeDocument/2006/relationships/image" Target="../media/image100.png"/></Relationships>
</file>

<file path=ppt/slides/_rels/slide1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3" Type="http://schemas.openxmlformats.org/officeDocument/2006/relationships/image" Target="../media/image92.png"/><Relationship Id="rId7" Type="http://schemas.openxmlformats.org/officeDocument/2006/relationships/image" Target="../media/image107.png"/><Relationship Id="rId12" Type="http://schemas.openxmlformats.org/officeDocument/2006/relationships/image" Target="../media/image103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6.png"/><Relationship Id="rId11" Type="http://schemas.openxmlformats.org/officeDocument/2006/relationships/image" Target="../media/image109.png"/><Relationship Id="rId5" Type="http://schemas.openxmlformats.org/officeDocument/2006/relationships/image" Target="../media/image105.png"/><Relationship Id="rId10" Type="http://schemas.openxmlformats.org/officeDocument/2006/relationships/image" Target="../media/image108.png"/><Relationship Id="rId4" Type="http://schemas.openxmlformats.org/officeDocument/2006/relationships/image" Target="../media/image104.png"/><Relationship Id="rId9" Type="http://schemas.openxmlformats.org/officeDocument/2006/relationships/image" Target="../media/image100.png"/></Relationships>
</file>

<file path=ppt/slides/_rels/slide1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3" Type="http://schemas.openxmlformats.org/officeDocument/2006/relationships/image" Target="../media/image92.png"/><Relationship Id="rId7" Type="http://schemas.openxmlformats.org/officeDocument/2006/relationships/image" Target="../media/image107.png"/><Relationship Id="rId12" Type="http://schemas.openxmlformats.org/officeDocument/2006/relationships/image" Target="../media/image103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6.png"/><Relationship Id="rId11" Type="http://schemas.openxmlformats.org/officeDocument/2006/relationships/image" Target="../media/image109.png"/><Relationship Id="rId5" Type="http://schemas.openxmlformats.org/officeDocument/2006/relationships/image" Target="../media/image105.png"/><Relationship Id="rId10" Type="http://schemas.openxmlformats.org/officeDocument/2006/relationships/image" Target="../media/image108.png"/><Relationship Id="rId4" Type="http://schemas.openxmlformats.org/officeDocument/2006/relationships/image" Target="../media/image104.png"/><Relationship Id="rId9" Type="http://schemas.openxmlformats.org/officeDocument/2006/relationships/image" Target="../media/image100.png"/></Relationships>
</file>

<file path=ppt/slides/_rels/slide1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3" Type="http://schemas.openxmlformats.org/officeDocument/2006/relationships/image" Target="../media/image92.png"/><Relationship Id="rId7" Type="http://schemas.openxmlformats.org/officeDocument/2006/relationships/image" Target="../media/image107.png"/><Relationship Id="rId12" Type="http://schemas.openxmlformats.org/officeDocument/2006/relationships/image" Target="../media/image103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6.png"/><Relationship Id="rId11" Type="http://schemas.openxmlformats.org/officeDocument/2006/relationships/image" Target="../media/image109.png"/><Relationship Id="rId5" Type="http://schemas.openxmlformats.org/officeDocument/2006/relationships/image" Target="../media/image105.png"/><Relationship Id="rId10" Type="http://schemas.openxmlformats.org/officeDocument/2006/relationships/image" Target="../media/image108.png"/><Relationship Id="rId4" Type="http://schemas.openxmlformats.org/officeDocument/2006/relationships/image" Target="../media/image104.png"/><Relationship Id="rId9" Type="http://schemas.openxmlformats.org/officeDocument/2006/relationships/image" Target="../media/image100.png"/></Relationships>
</file>

<file path=ppt/slides/_rels/slide1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3" Type="http://schemas.openxmlformats.org/officeDocument/2006/relationships/image" Target="../media/image92.png"/><Relationship Id="rId7" Type="http://schemas.openxmlformats.org/officeDocument/2006/relationships/image" Target="../media/image107.png"/><Relationship Id="rId12" Type="http://schemas.openxmlformats.org/officeDocument/2006/relationships/image" Target="../media/image103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6.png"/><Relationship Id="rId11" Type="http://schemas.openxmlformats.org/officeDocument/2006/relationships/image" Target="../media/image109.png"/><Relationship Id="rId5" Type="http://schemas.openxmlformats.org/officeDocument/2006/relationships/image" Target="../media/image105.png"/><Relationship Id="rId10" Type="http://schemas.openxmlformats.org/officeDocument/2006/relationships/image" Target="../media/image108.png"/><Relationship Id="rId4" Type="http://schemas.openxmlformats.org/officeDocument/2006/relationships/image" Target="../media/image104.png"/><Relationship Id="rId9" Type="http://schemas.openxmlformats.org/officeDocument/2006/relationships/image" Target="../media/image100.png"/></Relationships>
</file>

<file path=ppt/slides/_rels/slide1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3" Type="http://schemas.openxmlformats.org/officeDocument/2006/relationships/image" Target="../media/image92.png"/><Relationship Id="rId7" Type="http://schemas.openxmlformats.org/officeDocument/2006/relationships/image" Target="../media/image107.png"/><Relationship Id="rId12" Type="http://schemas.openxmlformats.org/officeDocument/2006/relationships/image" Target="../media/image103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6.png"/><Relationship Id="rId11" Type="http://schemas.openxmlformats.org/officeDocument/2006/relationships/image" Target="../media/image109.png"/><Relationship Id="rId5" Type="http://schemas.openxmlformats.org/officeDocument/2006/relationships/image" Target="../media/image105.png"/><Relationship Id="rId10" Type="http://schemas.openxmlformats.org/officeDocument/2006/relationships/image" Target="../media/image108.png"/><Relationship Id="rId4" Type="http://schemas.openxmlformats.org/officeDocument/2006/relationships/image" Target="../media/image104.png"/><Relationship Id="rId9" Type="http://schemas.openxmlformats.org/officeDocument/2006/relationships/image" Target="../media/image100.png"/></Relationships>
</file>

<file path=ppt/slides/_rels/slide1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3" Type="http://schemas.openxmlformats.org/officeDocument/2006/relationships/image" Target="../media/image92.png"/><Relationship Id="rId7" Type="http://schemas.openxmlformats.org/officeDocument/2006/relationships/image" Target="../media/image107.png"/><Relationship Id="rId12" Type="http://schemas.openxmlformats.org/officeDocument/2006/relationships/image" Target="../media/image103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6.png"/><Relationship Id="rId11" Type="http://schemas.openxmlformats.org/officeDocument/2006/relationships/image" Target="../media/image109.png"/><Relationship Id="rId5" Type="http://schemas.openxmlformats.org/officeDocument/2006/relationships/image" Target="../media/image105.png"/><Relationship Id="rId10" Type="http://schemas.openxmlformats.org/officeDocument/2006/relationships/image" Target="../media/image108.png"/><Relationship Id="rId4" Type="http://schemas.openxmlformats.org/officeDocument/2006/relationships/image" Target="../media/image104.png"/><Relationship Id="rId9" Type="http://schemas.openxmlformats.org/officeDocument/2006/relationships/image" Target="../media/image100.png"/></Relationships>
</file>

<file path=ppt/slides/_rels/slide1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3" Type="http://schemas.openxmlformats.org/officeDocument/2006/relationships/image" Target="../media/image92.png"/><Relationship Id="rId7" Type="http://schemas.openxmlformats.org/officeDocument/2006/relationships/image" Target="../media/image107.png"/><Relationship Id="rId12" Type="http://schemas.openxmlformats.org/officeDocument/2006/relationships/image" Target="../media/image103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6.png"/><Relationship Id="rId11" Type="http://schemas.openxmlformats.org/officeDocument/2006/relationships/image" Target="../media/image109.png"/><Relationship Id="rId5" Type="http://schemas.openxmlformats.org/officeDocument/2006/relationships/image" Target="../media/image105.png"/><Relationship Id="rId10" Type="http://schemas.openxmlformats.org/officeDocument/2006/relationships/image" Target="../media/image108.png"/><Relationship Id="rId4" Type="http://schemas.openxmlformats.org/officeDocument/2006/relationships/image" Target="../media/image104.png"/><Relationship Id="rId9" Type="http://schemas.openxmlformats.org/officeDocument/2006/relationships/image" Target="../media/image100.png"/></Relationships>
</file>

<file path=ppt/slides/_rels/slide1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3" Type="http://schemas.openxmlformats.org/officeDocument/2006/relationships/image" Target="../media/image92.png"/><Relationship Id="rId7" Type="http://schemas.openxmlformats.org/officeDocument/2006/relationships/image" Target="../media/image107.png"/><Relationship Id="rId12" Type="http://schemas.openxmlformats.org/officeDocument/2006/relationships/image" Target="../media/image103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6.png"/><Relationship Id="rId11" Type="http://schemas.openxmlformats.org/officeDocument/2006/relationships/image" Target="../media/image109.png"/><Relationship Id="rId5" Type="http://schemas.openxmlformats.org/officeDocument/2006/relationships/image" Target="../media/image105.png"/><Relationship Id="rId10" Type="http://schemas.openxmlformats.org/officeDocument/2006/relationships/image" Target="../media/image108.png"/><Relationship Id="rId4" Type="http://schemas.openxmlformats.org/officeDocument/2006/relationships/image" Target="../media/image104.png"/><Relationship Id="rId9" Type="http://schemas.openxmlformats.org/officeDocument/2006/relationships/image" Target="../media/image100.png"/></Relationships>
</file>

<file path=ppt/slides/_rels/slide1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3" Type="http://schemas.openxmlformats.org/officeDocument/2006/relationships/image" Target="../media/image92.png"/><Relationship Id="rId7" Type="http://schemas.openxmlformats.org/officeDocument/2006/relationships/image" Target="../media/image107.png"/><Relationship Id="rId12" Type="http://schemas.openxmlformats.org/officeDocument/2006/relationships/image" Target="../media/image103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6.png"/><Relationship Id="rId11" Type="http://schemas.openxmlformats.org/officeDocument/2006/relationships/image" Target="../media/image109.png"/><Relationship Id="rId5" Type="http://schemas.openxmlformats.org/officeDocument/2006/relationships/image" Target="../media/image105.png"/><Relationship Id="rId10" Type="http://schemas.openxmlformats.org/officeDocument/2006/relationships/image" Target="../media/image108.png"/><Relationship Id="rId4" Type="http://schemas.openxmlformats.org/officeDocument/2006/relationships/image" Target="../media/image104.png"/><Relationship Id="rId9" Type="http://schemas.openxmlformats.org/officeDocument/2006/relationships/image" Target="../media/image100.png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13" Type="http://schemas.openxmlformats.org/officeDocument/2006/relationships/image" Target="../media/image120.png"/><Relationship Id="rId18" Type="http://schemas.openxmlformats.org/officeDocument/2006/relationships/image" Target="../media/image125.png"/><Relationship Id="rId3" Type="http://schemas.openxmlformats.org/officeDocument/2006/relationships/image" Target="../media/image110.png"/><Relationship Id="rId7" Type="http://schemas.openxmlformats.org/officeDocument/2006/relationships/image" Target="../media/image114.png"/><Relationship Id="rId12" Type="http://schemas.openxmlformats.org/officeDocument/2006/relationships/image" Target="../media/image119.png"/><Relationship Id="rId17" Type="http://schemas.openxmlformats.org/officeDocument/2006/relationships/image" Target="../media/image124.png"/><Relationship Id="rId2" Type="http://schemas.openxmlformats.org/officeDocument/2006/relationships/image" Target="../media/image99.png"/><Relationship Id="rId16" Type="http://schemas.openxmlformats.org/officeDocument/2006/relationships/image" Target="../media/image123.png"/><Relationship Id="rId20" Type="http://schemas.openxmlformats.org/officeDocument/2006/relationships/image" Target="../media/image10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3.png"/><Relationship Id="rId11" Type="http://schemas.openxmlformats.org/officeDocument/2006/relationships/image" Target="../media/image118.png"/><Relationship Id="rId5" Type="http://schemas.openxmlformats.org/officeDocument/2006/relationships/image" Target="../media/image112.png"/><Relationship Id="rId15" Type="http://schemas.openxmlformats.org/officeDocument/2006/relationships/image" Target="../media/image122.png"/><Relationship Id="rId10" Type="http://schemas.openxmlformats.org/officeDocument/2006/relationships/image" Target="../media/image117.png"/><Relationship Id="rId19" Type="http://schemas.openxmlformats.org/officeDocument/2006/relationships/image" Target="../media/image126.png"/><Relationship Id="rId4" Type="http://schemas.openxmlformats.org/officeDocument/2006/relationships/image" Target="../media/image111.png"/><Relationship Id="rId9" Type="http://schemas.openxmlformats.org/officeDocument/2006/relationships/image" Target="../media/image116.png"/><Relationship Id="rId14" Type="http://schemas.openxmlformats.org/officeDocument/2006/relationships/image" Target="../media/image121.png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25400" y="-25400"/>
            <a:ext cx="9194800" cy="6908800"/>
            <a:chOff x="-25400" y="-25400"/>
            <a:chExt cx="9194800" cy="6908800"/>
          </a:xfrm>
        </p:grpSpPr>
        <p:sp>
          <p:nvSpPr>
            <p:cNvPr id="3" name="object 3"/>
            <p:cNvSpPr/>
            <p:nvPr/>
          </p:nvSpPr>
          <p:spPr>
            <a:xfrm>
              <a:off x="0" y="838200"/>
              <a:ext cx="9144000" cy="1295400"/>
            </a:xfrm>
            <a:custGeom>
              <a:avLst/>
              <a:gdLst/>
              <a:ahLst/>
              <a:cxnLst/>
              <a:rect l="l" t="t" r="r" b="b"/>
              <a:pathLst>
                <a:path w="9144000" h="1295400">
                  <a:moveTo>
                    <a:pt x="9144000" y="0"/>
                  </a:moveTo>
                  <a:lnTo>
                    <a:pt x="0" y="0"/>
                  </a:lnTo>
                  <a:lnTo>
                    <a:pt x="0" y="1295400"/>
                  </a:lnTo>
                  <a:lnTo>
                    <a:pt x="9144000" y="12954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l" t="t" r="r" b="b"/>
              <a:pathLst>
                <a:path w="9144000" h="6858000">
                  <a:moveTo>
                    <a:pt x="0" y="6858000"/>
                  </a:moveTo>
                  <a:lnTo>
                    <a:pt x="9144000" y="685800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6858000"/>
                  </a:lnTo>
                  <a:close/>
                </a:path>
              </a:pathLst>
            </a:custGeom>
            <a:ln w="508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2683001" y="866902"/>
            <a:ext cx="3624579" cy="1178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95"/>
              </a:spcBef>
            </a:pPr>
            <a:r>
              <a:rPr sz="4300" dirty="0">
                <a:latin typeface="Calibri"/>
                <a:cs typeface="Calibri"/>
              </a:rPr>
              <a:t>Deep</a:t>
            </a:r>
            <a:r>
              <a:rPr sz="4300" spc="-100" dirty="0">
                <a:latin typeface="Calibri"/>
                <a:cs typeface="Calibri"/>
              </a:rPr>
              <a:t> </a:t>
            </a:r>
            <a:r>
              <a:rPr sz="4300" spc="-10" dirty="0">
                <a:latin typeface="Calibri"/>
                <a:cs typeface="Calibri"/>
              </a:rPr>
              <a:t>Learning</a:t>
            </a:r>
            <a:endParaRPr sz="43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80"/>
              </a:spcBef>
            </a:pPr>
            <a:r>
              <a:rPr sz="3200" dirty="0">
                <a:latin typeface="Calibri"/>
                <a:cs typeface="Calibri"/>
              </a:rPr>
              <a:t>Neuron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Perceptron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6" name="object 6" descr="C:\Users\PUNEET\Dropbox\Nit Rourkela\logo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52419" y="2362200"/>
            <a:ext cx="2133980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540" y="928242"/>
            <a:ext cx="8529955" cy="143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Slides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are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prepared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from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following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major</a:t>
            </a:r>
            <a:r>
              <a:rPr sz="2400" b="1" spc="-10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source: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2000"/>
              </a:spcBef>
              <a:buFont typeface="Wingdings"/>
              <a:buChar char=""/>
              <a:tabLst>
                <a:tab pos="354965" algn="l"/>
              </a:tabLst>
            </a:pPr>
            <a:r>
              <a:rPr sz="2400" b="1" spc="-10" dirty="0">
                <a:latin typeface="Times New Roman"/>
                <a:cs typeface="Times New Roman"/>
              </a:rPr>
              <a:t>“CS7105-</a:t>
            </a:r>
            <a:r>
              <a:rPr sz="2400" b="1" dirty="0">
                <a:latin typeface="Times New Roman"/>
                <a:cs typeface="Times New Roman"/>
              </a:rPr>
              <a:t>Deep</a:t>
            </a:r>
            <a:r>
              <a:rPr sz="2400" b="1" spc="1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Learning”</a:t>
            </a:r>
            <a:r>
              <a:rPr sz="2400" b="1" spc="1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by</a:t>
            </a:r>
            <a:r>
              <a:rPr sz="2400" b="1" spc="16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Mitesh</a:t>
            </a:r>
            <a:r>
              <a:rPr sz="2400" b="1" spc="1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M.</a:t>
            </a:r>
            <a:r>
              <a:rPr sz="2400" b="1" spc="1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Khapra,</a:t>
            </a:r>
            <a:r>
              <a:rPr sz="2400" b="1" spc="1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IIT</a:t>
            </a:r>
            <a:r>
              <a:rPr sz="2400" b="1" spc="11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Madras.</a:t>
            </a:r>
            <a:endParaRPr sz="24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434"/>
              </a:spcBef>
            </a:pPr>
            <a:r>
              <a:rPr sz="2400" b="1" u="sng" spc="-1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Times New Roman"/>
                <a:cs typeface="Times New Roman"/>
                <a:hlinkClick r:id="rId2"/>
              </a:rPr>
              <a:t>http://www.cse.iitm.ac.in/~miteshk/CS7015_2018.html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7261" y="6643369"/>
            <a:ext cx="1173480" cy="241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20"/>
              </a:lnSpc>
            </a:pPr>
            <a:r>
              <a:rPr sz="1700" b="1" dirty="0">
                <a:solidFill>
                  <a:srgbClr val="FFFFFF"/>
                </a:solidFill>
                <a:latin typeface="Calibri"/>
                <a:cs typeface="Calibri"/>
              </a:rPr>
              <a:t>NIT</a:t>
            </a:r>
            <a:r>
              <a:rPr sz="17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b="1" spc="-10" dirty="0">
                <a:solidFill>
                  <a:srgbClr val="FFFFFF"/>
                </a:solidFill>
                <a:latin typeface="Calibri"/>
                <a:cs typeface="Calibri"/>
              </a:rPr>
              <a:t>Rourkela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68188" y="6658229"/>
            <a:ext cx="293687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dirty="0">
                <a:latin typeface="Calibri"/>
                <a:cs typeface="Calibri"/>
              </a:rPr>
              <a:t>“Deep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Learning: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Neuron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to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Perceptron”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References: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676400"/>
            <a:ext cx="4419600" cy="609600"/>
          </a:xfrm>
          <a:custGeom>
            <a:avLst/>
            <a:gdLst/>
            <a:ahLst/>
            <a:cxnLst/>
            <a:rect l="l" t="t" r="r" b="b"/>
            <a:pathLst>
              <a:path w="4419600" h="609600">
                <a:moveTo>
                  <a:pt x="4419600" y="0"/>
                </a:moveTo>
                <a:lnTo>
                  <a:pt x="0" y="0"/>
                </a:lnTo>
                <a:lnTo>
                  <a:pt x="0" y="609600"/>
                </a:lnTo>
                <a:lnTo>
                  <a:pt x="4419600" y="609600"/>
                </a:lnTo>
                <a:lnTo>
                  <a:pt x="441960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25400" y="-25400"/>
            <a:ext cx="9194800" cy="6908800"/>
            <a:chOff x="-25400" y="-25400"/>
            <a:chExt cx="9194800" cy="6908800"/>
          </a:xfrm>
        </p:grpSpPr>
        <p:sp>
          <p:nvSpPr>
            <p:cNvPr id="4" name="object 4"/>
            <p:cNvSpPr/>
            <p:nvPr/>
          </p:nvSpPr>
          <p:spPr>
            <a:xfrm>
              <a:off x="1447800" y="6629399"/>
              <a:ext cx="7696200" cy="228600"/>
            </a:xfrm>
            <a:custGeom>
              <a:avLst/>
              <a:gdLst/>
              <a:ahLst/>
              <a:cxnLst/>
              <a:rect l="l" t="t" r="r" b="b"/>
              <a:pathLst>
                <a:path w="7696200" h="228600">
                  <a:moveTo>
                    <a:pt x="0" y="228600"/>
                  </a:moveTo>
                  <a:lnTo>
                    <a:pt x="7696200" y="228600"/>
                  </a:lnTo>
                  <a:lnTo>
                    <a:pt x="76962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EE8B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629399"/>
              <a:ext cx="1447800" cy="228600"/>
            </a:xfrm>
            <a:custGeom>
              <a:avLst/>
              <a:gdLst/>
              <a:ahLst/>
              <a:cxnLst/>
              <a:rect l="l" t="t" r="r" b="b"/>
              <a:pathLst>
                <a:path w="1447800" h="228600">
                  <a:moveTo>
                    <a:pt x="14478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1447800" y="228600"/>
                  </a:lnTo>
                  <a:lnTo>
                    <a:pt x="14478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l" t="t" r="r" b="b"/>
              <a:pathLst>
                <a:path w="9144000" h="6858000">
                  <a:moveTo>
                    <a:pt x="0" y="6858000"/>
                  </a:moveTo>
                  <a:lnTo>
                    <a:pt x="9144000" y="685800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6858000"/>
                  </a:lnTo>
                  <a:close/>
                </a:path>
              </a:pathLst>
            </a:custGeom>
            <a:ln w="508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608568" y="6428638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7261" y="6643369"/>
            <a:ext cx="1173480" cy="241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20"/>
              </a:lnSpc>
            </a:pPr>
            <a:r>
              <a:rPr sz="1700" b="1" dirty="0">
                <a:solidFill>
                  <a:srgbClr val="FFFFFF"/>
                </a:solidFill>
                <a:latin typeface="Calibri"/>
                <a:cs typeface="Calibri"/>
              </a:rPr>
              <a:t>NIT</a:t>
            </a:r>
            <a:r>
              <a:rPr sz="17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b="1" spc="-10" dirty="0">
                <a:solidFill>
                  <a:srgbClr val="FFFFFF"/>
                </a:solidFill>
                <a:latin typeface="Calibri"/>
                <a:cs typeface="Calibri"/>
              </a:rPr>
              <a:t>Rourkela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568188" y="6658229"/>
            <a:ext cx="293687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dirty="0">
                <a:latin typeface="Calibri"/>
                <a:cs typeface="Calibri"/>
              </a:rPr>
              <a:t>“Deep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Learning: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Neuron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to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Perceptron”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739" y="1697863"/>
            <a:ext cx="3710304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b="1" spc="-75" dirty="0">
                <a:solidFill>
                  <a:srgbClr val="FFFFFF"/>
                </a:solidFill>
                <a:latin typeface="Trebuchet MS"/>
                <a:cs typeface="Trebuchet MS"/>
              </a:rPr>
              <a:t>Biological</a:t>
            </a:r>
            <a:r>
              <a:rPr sz="3200" b="1" spc="-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b="1" spc="-45" dirty="0">
                <a:solidFill>
                  <a:srgbClr val="FFFFFF"/>
                </a:solidFill>
                <a:latin typeface="Trebuchet MS"/>
                <a:cs typeface="Trebuchet MS"/>
              </a:rPr>
              <a:t>Neurons</a:t>
            </a:r>
            <a:endParaRPr sz="3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25400" y="-25400"/>
            <a:ext cx="9194800" cy="6908800"/>
            <a:chOff x="-25400" y="-25400"/>
            <a:chExt cx="9194800" cy="6908800"/>
          </a:xfrm>
        </p:grpSpPr>
        <p:sp>
          <p:nvSpPr>
            <p:cNvPr id="3" name="object 3"/>
            <p:cNvSpPr/>
            <p:nvPr/>
          </p:nvSpPr>
          <p:spPr>
            <a:xfrm>
              <a:off x="1532255" y="2093976"/>
              <a:ext cx="819150" cy="658495"/>
            </a:xfrm>
            <a:custGeom>
              <a:avLst/>
              <a:gdLst/>
              <a:ahLst/>
              <a:cxnLst/>
              <a:rect l="l" t="t" r="r" b="b"/>
              <a:pathLst>
                <a:path w="819150" h="658494">
                  <a:moveTo>
                    <a:pt x="409447" y="0"/>
                  </a:moveTo>
                  <a:lnTo>
                    <a:pt x="300608" y="11684"/>
                  </a:lnTo>
                  <a:lnTo>
                    <a:pt x="202819" y="44831"/>
                  </a:lnTo>
                  <a:lnTo>
                    <a:pt x="119887" y="96393"/>
                  </a:lnTo>
                  <a:lnTo>
                    <a:pt x="55879" y="162940"/>
                  </a:lnTo>
                  <a:lnTo>
                    <a:pt x="14604" y="241553"/>
                  </a:lnTo>
                  <a:lnTo>
                    <a:pt x="0" y="329057"/>
                  </a:lnTo>
                  <a:lnTo>
                    <a:pt x="14604" y="416560"/>
                  </a:lnTo>
                  <a:lnTo>
                    <a:pt x="55879" y="495173"/>
                  </a:lnTo>
                  <a:lnTo>
                    <a:pt x="119887" y="561721"/>
                  </a:lnTo>
                  <a:lnTo>
                    <a:pt x="202819" y="613156"/>
                  </a:lnTo>
                  <a:lnTo>
                    <a:pt x="300608" y="646429"/>
                  </a:lnTo>
                  <a:lnTo>
                    <a:pt x="409447" y="658113"/>
                  </a:lnTo>
                  <a:lnTo>
                    <a:pt x="518287" y="646429"/>
                  </a:lnTo>
                  <a:lnTo>
                    <a:pt x="616203" y="613156"/>
                  </a:lnTo>
                  <a:lnTo>
                    <a:pt x="699007" y="561721"/>
                  </a:lnTo>
                  <a:lnTo>
                    <a:pt x="763015" y="495173"/>
                  </a:lnTo>
                  <a:lnTo>
                    <a:pt x="804290" y="416560"/>
                  </a:lnTo>
                  <a:lnTo>
                    <a:pt x="819022" y="329057"/>
                  </a:lnTo>
                  <a:lnTo>
                    <a:pt x="804290" y="241553"/>
                  </a:lnTo>
                  <a:lnTo>
                    <a:pt x="763015" y="162940"/>
                  </a:lnTo>
                  <a:lnTo>
                    <a:pt x="699007" y="96393"/>
                  </a:lnTo>
                  <a:lnTo>
                    <a:pt x="616203" y="44831"/>
                  </a:lnTo>
                  <a:lnTo>
                    <a:pt x="518287" y="11684"/>
                  </a:lnTo>
                  <a:lnTo>
                    <a:pt x="409447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532255" y="2093976"/>
              <a:ext cx="819150" cy="658495"/>
            </a:xfrm>
            <a:custGeom>
              <a:avLst/>
              <a:gdLst/>
              <a:ahLst/>
              <a:cxnLst/>
              <a:rect l="l" t="t" r="r" b="b"/>
              <a:pathLst>
                <a:path w="819150" h="658494">
                  <a:moveTo>
                    <a:pt x="819022" y="329057"/>
                  </a:moveTo>
                  <a:lnTo>
                    <a:pt x="804290" y="241553"/>
                  </a:lnTo>
                  <a:lnTo>
                    <a:pt x="763015" y="162940"/>
                  </a:lnTo>
                  <a:lnTo>
                    <a:pt x="699007" y="96393"/>
                  </a:lnTo>
                  <a:lnTo>
                    <a:pt x="616203" y="44831"/>
                  </a:lnTo>
                  <a:lnTo>
                    <a:pt x="518287" y="11684"/>
                  </a:lnTo>
                  <a:lnTo>
                    <a:pt x="409447" y="0"/>
                  </a:lnTo>
                  <a:lnTo>
                    <a:pt x="300608" y="11684"/>
                  </a:lnTo>
                  <a:lnTo>
                    <a:pt x="202819" y="44831"/>
                  </a:lnTo>
                  <a:lnTo>
                    <a:pt x="119887" y="96393"/>
                  </a:lnTo>
                  <a:lnTo>
                    <a:pt x="55879" y="162940"/>
                  </a:lnTo>
                  <a:lnTo>
                    <a:pt x="14604" y="241553"/>
                  </a:lnTo>
                  <a:lnTo>
                    <a:pt x="0" y="329057"/>
                  </a:lnTo>
                  <a:lnTo>
                    <a:pt x="14604" y="416560"/>
                  </a:lnTo>
                  <a:lnTo>
                    <a:pt x="55879" y="495173"/>
                  </a:lnTo>
                  <a:lnTo>
                    <a:pt x="119887" y="561721"/>
                  </a:lnTo>
                  <a:lnTo>
                    <a:pt x="202819" y="613156"/>
                  </a:lnTo>
                  <a:lnTo>
                    <a:pt x="300608" y="646429"/>
                  </a:lnTo>
                  <a:lnTo>
                    <a:pt x="409447" y="658113"/>
                  </a:lnTo>
                  <a:lnTo>
                    <a:pt x="518287" y="646429"/>
                  </a:lnTo>
                  <a:lnTo>
                    <a:pt x="616203" y="613156"/>
                  </a:lnTo>
                  <a:lnTo>
                    <a:pt x="699007" y="561721"/>
                  </a:lnTo>
                  <a:lnTo>
                    <a:pt x="763015" y="495173"/>
                  </a:lnTo>
                  <a:lnTo>
                    <a:pt x="804290" y="416560"/>
                  </a:lnTo>
                  <a:lnTo>
                    <a:pt x="819022" y="329057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824354" y="2190369"/>
            <a:ext cx="16129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i="1" spc="-50" dirty="0">
                <a:solidFill>
                  <a:srgbClr val="213739"/>
                </a:solidFill>
                <a:latin typeface="Calibri"/>
                <a:cs typeface="Calibri"/>
              </a:rPr>
              <a:t>σ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37182" y="1178178"/>
            <a:ext cx="13970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i="1" spc="-50" dirty="0">
                <a:solidFill>
                  <a:srgbClr val="213739"/>
                </a:solidFill>
                <a:latin typeface="Calibri"/>
                <a:cs typeface="Calibri"/>
              </a:rPr>
              <a:t>y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216479" y="1606051"/>
            <a:ext cx="1450975" cy="2039620"/>
            <a:chOff x="1216479" y="1606051"/>
            <a:chExt cx="1450975" cy="2039620"/>
          </a:xfrm>
        </p:grpSpPr>
        <p:sp>
          <p:nvSpPr>
            <p:cNvPr id="8" name="object 8"/>
            <p:cNvSpPr/>
            <p:nvPr/>
          </p:nvSpPr>
          <p:spPr>
            <a:xfrm>
              <a:off x="1219009" y="2737611"/>
              <a:ext cx="536575" cy="905510"/>
            </a:xfrm>
            <a:custGeom>
              <a:avLst/>
              <a:gdLst/>
              <a:ahLst/>
              <a:cxnLst/>
              <a:rect l="l" t="t" r="r" b="b"/>
              <a:pathLst>
                <a:path w="536575" h="905510">
                  <a:moveTo>
                    <a:pt x="0" y="905001"/>
                  </a:moveTo>
                  <a:lnTo>
                    <a:pt x="536384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67005" y="2730884"/>
              <a:ext cx="130041" cy="7251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2614" y="2737611"/>
              <a:ext cx="791845" cy="905510"/>
            </a:xfrm>
            <a:custGeom>
              <a:avLst/>
              <a:gdLst/>
              <a:ahLst/>
              <a:cxnLst/>
              <a:rect l="l" t="t" r="r" b="b"/>
              <a:pathLst>
                <a:path w="791844" h="905510">
                  <a:moveTo>
                    <a:pt x="69087" y="905001"/>
                  </a:moveTo>
                  <a:lnTo>
                    <a:pt x="69087" y="33020"/>
                  </a:lnTo>
                </a:path>
                <a:path w="791844" h="905510">
                  <a:moveTo>
                    <a:pt x="0" y="76453"/>
                  </a:moveTo>
                  <a:lnTo>
                    <a:pt x="27178" y="68072"/>
                  </a:lnTo>
                  <a:lnTo>
                    <a:pt x="47117" y="56514"/>
                  </a:lnTo>
                  <a:lnTo>
                    <a:pt x="60706" y="42925"/>
                  </a:lnTo>
                  <a:lnTo>
                    <a:pt x="69087" y="28321"/>
                  </a:lnTo>
                  <a:lnTo>
                    <a:pt x="77470" y="42925"/>
                  </a:lnTo>
                  <a:lnTo>
                    <a:pt x="91186" y="56514"/>
                  </a:lnTo>
                  <a:lnTo>
                    <a:pt x="110998" y="68072"/>
                  </a:lnTo>
                  <a:lnTo>
                    <a:pt x="138176" y="76453"/>
                  </a:lnTo>
                </a:path>
                <a:path w="791844" h="905510">
                  <a:moveTo>
                    <a:pt x="791845" y="905001"/>
                  </a:moveTo>
                  <a:lnTo>
                    <a:pt x="255524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86359" y="2730884"/>
              <a:ext cx="130168" cy="7251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872614" y="1608581"/>
              <a:ext cx="138430" cy="476250"/>
            </a:xfrm>
            <a:custGeom>
              <a:avLst/>
              <a:gdLst/>
              <a:ahLst/>
              <a:cxnLst/>
              <a:rect l="l" t="t" r="r" b="b"/>
              <a:pathLst>
                <a:path w="138430" h="476250">
                  <a:moveTo>
                    <a:pt x="69087" y="476122"/>
                  </a:moveTo>
                  <a:lnTo>
                    <a:pt x="69087" y="4571"/>
                  </a:lnTo>
                </a:path>
                <a:path w="138430" h="476250">
                  <a:moveTo>
                    <a:pt x="0" y="48132"/>
                  </a:moveTo>
                  <a:lnTo>
                    <a:pt x="27178" y="39623"/>
                  </a:lnTo>
                  <a:lnTo>
                    <a:pt x="47117" y="28193"/>
                  </a:lnTo>
                  <a:lnTo>
                    <a:pt x="60706" y="14604"/>
                  </a:lnTo>
                  <a:lnTo>
                    <a:pt x="69087" y="0"/>
                  </a:lnTo>
                  <a:lnTo>
                    <a:pt x="77470" y="14604"/>
                  </a:lnTo>
                  <a:lnTo>
                    <a:pt x="91186" y="28193"/>
                  </a:lnTo>
                  <a:lnTo>
                    <a:pt x="110998" y="39623"/>
                  </a:lnTo>
                  <a:lnTo>
                    <a:pt x="138176" y="48132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164437" y="3160267"/>
            <a:ext cx="13150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554990" algn="l"/>
                <a:tab pos="1033144" algn="l"/>
              </a:tabLst>
            </a:pPr>
            <a:r>
              <a:rPr sz="160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00" spc="-37" baseline="-11574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800" baseline="-11574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60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00" spc="-37" baseline="-11574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800" baseline="-11574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60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00" spc="-37" baseline="-11574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800" baseline="-11574">
              <a:latin typeface="Calibri"/>
              <a:cs typeface="Calibri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pc="-50" dirty="0"/>
              <a:t>2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137261" y="6643369"/>
            <a:ext cx="1173480" cy="241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20"/>
              </a:lnSpc>
            </a:pPr>
            <a:r>
              <a:rPr sz="1700" b="1" dirty="0">
                <a:solidFill>
                  <a:srgbClr val="FFFFFF"/>
                </a:solidFill>
                <a:latin typeface="Calibri"/>
                <a:cs typeface="Calibri"/>
              </a:rPr>
              <a:t>NIT</a:t>
            </a:r>
            <a:r>
              <a:rPr sz="17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b="1" spc="-10" dirty="0">
                <a:solidFill>
                  <a:srgbClr val="FFFFFF"/>
                </a:solidFill>
                <a:latin typeface="Calibri"/>
                <a:cs typeface="Calibri"/>
              </a:rPr>
              <a:t>Rourkela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568188" y="6658229"/>
            <a:ext cx="293687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dirty="0">
                <a:latin typeface="Calibri"/>
                <a:cs typeface="Calibri"/>
              </a:rPr>
              <a:t>“Deep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Learning: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Neuron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to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Perceptron”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03401" y="3559809"/>
            <a:ext cx="1803400" cy="8356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6050">
              <a:lnSpc>
                <a:spcPct val="100000"/>
              </a:lnSpc>
              <a:spcBef>
                <a:spcPts val="105"/>
              </a:spcBef>
              <a:tabLst>
                <a:tab pos="761365" algn="l"/>
                <a:tab pos="1515745" algn="l"/>
              </a:tabLst>
            </a:pPr>
            <a:r>
              <a:rPr sz="200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2400" spc="-37" baseline="-8680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2400" baseline="-8680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200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2400" spc="-37" baseline="-8680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2400" baseline="-8680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200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2400" spc="-37" baseline="-8680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2400" baseline="-868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1810"/>
              </a:spcBef>
            </a:pPr>
            <a:r>
              <a:rPr sz="1800" spc="-50" dirty="0">
                <a:solidFill>
                  <a:srgbClr val="213739"/>
                </a:solidFill>
                <a:latin typeface="Arial MT"/>
                <a:cs typeface="Arial MT"/>
              </a:rPr>
              <a:t>Artificial</a:t>
            </a:r>
            <a:r>
              <a:rPr sz="180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213739"/>
                </a:solidFill>
                <a:latin typeface="Arial MT"/>
                <a:cs typeface="Arial MT"/>
              </a:rPr>
              <a:t>Neuron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906139" y="925830"/>
            <a:ext cx="336169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32460" algn="l"/>
                <a:tab pos="1395095" algn="l"/>
                <a:tab pos="2937510" algn="l"/>
              </a:tabLst>
            </a:pPr>
            <a:r>
              <a:rPr sz="2000" spc="-25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2000" dirty="0">
                <a:solidFill>
                  <a:srgbClr val="213739"/>
                </a:solidFill>
                <a:latin typeface="Arial MT"/>
                <a:cs typeface="Arial MT"/>
              </a:rPr>
              <a:t>	</a:t>
            </a:r>
            <a:r>
              <a:rPr sz="2000" spc="-20" dirty="0">
                <a:solidFill>
                  <a:srgbClr val="213739"/>
                </a:solidFill>
                <a:latin typeface="Arial MT"/>
                <a:cs typeface="Arial MT"/>
              </a:rPr>
              <a:t>most</a:t>
            </a:r>
            <a:r>
              <a:rPr sz="2000" dirty="0">
                <a:solidFill>
                  <a:srgbClr val="213739"/>
                </a:solidFill>
                <a:latin typeface="Arial MT"/>
                <a:cs typeface="Arial MT"/>
              </a:rPr>
              <a:t>	</a:t>
            </a:r>
            <a:r>
              <a:rPr sz="2000" spc="-10" dirty="0">
                <a:solidFill>
                  <a:srgbClr val="213739"/>
                </a:solidFill>
                <a:latin typeface="Arial MT"/>
                <a:cs typeface="Arial MT"/>
              </a:rPr>
              <a:t>fundamental</a:t>
            </a:r>
            <a:r>
              <a:rPr sz="2000" dirty="0">
                <a:solidFill>
                  <a:srgbClr val="213739"/>
                </a:solidFill>
                <a:latin typeface="Arial MT"/>
                <a:cs typeface="Arial MT"/>
              </a:rPr>
              <a:t>	</a:t>
            </a:r>
            <a:r>
              <a:rPr sz="2000" spc="-20" dirty="0">
                <a:solidFill>
                  <a:srgbClr val="213739"/>
                </a:solidFill>
                <a:latin typeface="Arial MT"/>
                <a:cs typeface="Arial MT"/>
              </a:rPr>
              <a:t>unit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880228" y="871575"/>
            <a:ext cx="3910329" cy="744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572385">
              <a:lnSpc>
                <a:spcPct val="118000"/>
              </a:lnSpc>
              <a:spcBef>
                <a:spcPts val="100"/>
              </a:spcBef>
              <a:tabLst>
                <a:tab pos="1164590" algn="l"/>
                <a:tab pos="1610995" algn="l"/>
                <a:tab pos="2538095" algn="l"/>
                <a:tab pos="3008630" algn="l"/>
                <a:tab pos="3082290" algn="l"/>
                <a:tab pos="3364229" algn="l"/>
              </a:tabLst>
            </a:pPr>
            <a:r>
              <a:rPr sz="2000" spc="-25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2000" dirty="0">
                <a:solidFill>
                  <a:srgbClr val="213739"/>
                </a:solidFill>
                <a:latin typeface="Arial MT"/>
                <a:cs typeface="Arial MT"/>
              </a:rPr>
              <a:t>	</a:t>
            </a:r>
            <a:r>
              <a:rPr sz="2000" spc="-50" dirty="0">
                <a:solidFill>
                  <a:srgbClr val="213739"/>
                </a:solidFill>
                <a:latin typeface="Arial MT"/>
                <a:cs typeface="Arial MT"/>
              </a:rPr>
              <a:t>a</a:t>
            </a:r>
            <a:r>
              <a:rPr sz="2000" dirty="0">
                <a:solidFill>
                  <a:srgbClr val="213739"/>
                </a:solidFill>
                <a:latin typeface="Arial MT"/>
                <a:cs typeface="Arial MT"/>
              </a:rPr>
              <a:t>	</a:t>
            </a:r>
            <a:r>
              <a:rPr sz="2000" spc="-80" dirty="0">
                <a:solidFill>
                  <a:srgbClr val="213739"/>
                </a:solidFill>
                <a:latin typeface="Arial MT"/>
                <a:cs typeface="Arial MT"/>
              </a:rPr>
              <a:t>deep </a:t>
            </a:r>
            <a:r>
              <a:rPr sz="2000" spc="-10" dirty="0">
                <a:solidFill>
                  <a:srgbClr val="213739"/>
                </a:solidFill>
                <a:latin typeface="Arial MT"/>
                <a:cs typeface="Arial MT"/>
              </a:rPr>
              <a:t>network</a:t>
            </a:r>
            <a:r>
              <a:rPr sz="2000" dirty="0">
                <a:solidFill>
                  <a:srgbClr val="213739"/>
                </a:solidFill>
                <a:latin typeface="Arial MT"/>
                <a:cs typeface="Arial MT"/>
              </a:rPr>
              <a:t>	</a:t>
            </a:r>
            <a:r>
              <a:rPr sz="2000" spc="-25" dirty="0">
                <a:solidFill>
                  <a:srgbClr val="213739"/>
                </a:solidFill>
                <a:latin typeface="Arial MT"/>
                <a:cs typeface="Arial MT"/>
              </a:rPr>
              <a:t>is</a:t>
            </a:r>
            <a:r>
              <a:rPr sz="2000" dirty="0">
                <a:solidFill>
                  <a:srgbClr val="213739"/>
                </a:solidFill>
                <a:latin typeface="Arial MT"/>
                <a:cs typeface="Arial MT"/>
              </a:rPr>
              <a:t>	</a:t>
            </a:r>
            <a:r>
              <a:rPr sz="2000" spc="-10" dirty="0">
                <a:solidFill>
                  <a:srgbClr val="213739"/>
                </a:solidFill>
                <a:latin typeface="Arial MT"/>
                <a:cs typeface="Arial MT"/>
              </a:rPr>
              <a:t>called</a:t>
            </a:r>
            <a:r>
              <a:rPr sz="2000" dirty="0">
                <a:solidFill>
                  <a:srgbClr val="213739"/>
                </a:solidFill>
                <a:latin typeface="Arial MT"/>
                <a:cs typeface="Arial MT"/>
              </a:rPr>
              <a:t>	</a:t>
            </a:r>
            <a:r>
              <a:rPr sz="2000" spc="-25" dirty="0">
                <a:solidFill>
                  <a:srgbClr val="213739"/>
                </a:solidFill>
                <a:latin typeface="Arial MT"/>
                <a:cs typeface="Arial MT"/>
              </a:rPr>
              <a:t>an</a:t>
            </a:r>
            <a:r>
              <a:rPr sz="2000" dirty="0">
                <a:solidFill>
                  <a:srgbClr val="213739"/>
                </a:solidFill>
                <a:latin typeface="Arial MT"/>
                <a:cs typeface="Arial MT"/>
              </a:rPr>
              <a:t>		</a:t>
            </a:r>
            <a:r>
              <a:rPr sz="2000" i="1" spc="-65" dirty="0">
                <a:solidFill>
                  <a:srgbClr val="213739"/>
                </a:solidFill>
                <a:latin typeface="Times New Roman"/>
                <a:cs typeface="Times New Roman"/>
              </a:rPr>
              <a:t>artificial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910710" y="1231609"/>
            <a:ext cx="732790" cy="74485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2000" spc="-10" dirty="0">
                <a:solidFill>
                  <a:srgbClr val="213739"/>
                </a:solidFill>
                <a:latin typeface="Arial MT"/>
                <a:cs typeface="Arial MT"/>
              </a:rPr>
              <a:t>neural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2000" i="1" spc="-10" dirty="0">
                <a:solidFill>
                  <a:srgbClr val="213739"/>
                </a:solidFill>
                <a:latin typeface="Times New Roman"/>
                <a:cs typeface="Times New Roman"/>
              </a:rPr>
              <a:t>neuron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991093" y="2491232"/>
            <a:ext cx="79629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40" dirty="0">
                <a:solidFill>
                  <a:srgbClr val="213739"/>
                </a:solidFill>
                <a:latin typeface="Arial MT"/>
                <a:cs typeface="Arial MT"/>
              </a:rPr>
              <a:t>biology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780781" y="3274821"/>
            <a:ext cx="100901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68935" algn="l"/>
              </a:tabLst>
            </a:pPr>
            <a:r>
              <a:rPr sz="2000" i="1" spc="-50" dirty="0">
                <a:solidFill>
                  <a:srgbClr val="213739"/>
                </a:solidFill>
                <a:latin typeface="Times New Roman"/>
                <a:cs typeface="Times New Roman"/>
              </a:rPr>
              <a:t>=</a:t>
            </a:r>
            <a:r>
              <a:rPr sz="2000" i="1" dirty="0">
                <a:solidFill>
                  <a:srgbClr val="213739"/>
                </a:solidFill>
                <a:latin typeface="Times New Roman"/>
                <a:cs typeface="Times New Roman"/>
              </a:rPr>
              <a:t>	</a:t>
            </a:r>
            <a:r>
              <a:rPr sz="2000" i="1" spc="-45" dirty="0">
                <a:solidFill>
                  <a:srgbClr val="213739"/>
                </a:solidFill>
                <a:latin typeface="Times New Roman"/>
                <a:cs typeface="Times New Roman"/>
              </a:rPr>
              <a:t>neural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906139" y="2436977"/>
            <a:ext cx="3804285" cy="1528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 marR="5080" indent="-5080">
              <a:lnSpc>
                <a:spcPct val="118000"/>
              </a:lnSpc>
              <a:spcBef>
                <a:spcPts val="100"/>
              </a:spcBef>
              <a:tabLst>
                <a:tab pos="759460" algn="l"/>
                <a:tab pos="2225675" algn="l"/>
                <a:tab pos="3281679" algn="l"/>
              </a:tabLst>
            </a:pPr>
            <a:r>
              <a:rPr sz="2000" spc="-25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2000" dirty="0">
                <a:solidFill>
                  <a:srgbClr val="213739"/>
                </a:solidFill>
                <a:latin typeface="Arial MT"/>
                <a:cs typeface="Arial MT"/>
              </a:rPr>
              <a:t>	</a:t>
            </a:r>
            <a:r>
              <a:rPr sz="2000" spc="-10" dirty="0">
                <a:solidFill>
                  <a:srgbClr val="213739"/>
                </a:solidFill>
                <a:latin typeface="Arial MT"/>
                <a:cs typeface="Arial MT"/>
              </a:rPr>
              <a:t>inspiration</a:t>
            </a:r>
            <a:r>
              <a:rPr sz="2000" dirty="0">
                <a:solidFill>
                  <a:srgbClr val="213739"/>
                </a:solidFill>
                <a:latin typeface="Arial MT"/>
                <a:cs typeface="Arial MT"/>
              </a:rPr>
              <a:t>	</a:t>
            </a:r>
            <a:r>
              <a:rPr sz="2000" spc="-20" dirty="0">
                <a:solidFill>
                  <a:srgbClr val="213739"/>
                </a:solidFill>
                <a:latin typeface="Arial MT"/>
                <a:cs typeface="Arial MT"/>
              </a:rPr>
              <a:t>comes</a:t>
            </a:r>
            <a:r>
              <a:rPr sz="2000" dirty="0">
                <a:solidFill>
                  <a:srgbClr val="213739"/>
                </a:solidFill>
                <a:latin typeface="Arial MT"/>
                <a:cs typeface="Arial MT"/>
              </a:rPr>
              <a:t>	</a:t>
            </a:r>
            <a:r>
              <a:rPr sz="2000" spc="-20" dirty="0">
                <a:solidFill>
                  <a:srgbClr val="213739"/>
                </a:solidFill>
                <a:latin typeface="Arial MT"/>
                <a:cs typeface="Arial MT"/>
              </a:rPr>
              <a:t>from </a:t>
            </a:r>
            <a:r>
              <a:rPr sz="2000" spc="-75" dirty="0">
                <a:solidFill>
                  <a:srgbClr val="213739"/>
                </a:solidFill>
                <a:latin typeface="Arial MT"/>
                <a:cs typeface="Arial MT"/>
              </a:rPr>
              <a:t>(more</a:t>
            </a:r>
            <a:r>
              <a:rPr sz="200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spc="-110" dirty="0">
                <a:solidFill>
                  <a:srgbClr val="213739"/>
                </a:solidFill>
                <a:latin typeface="Arial MT"/>
                <a:cs typeface="Arial MT"/>
              </a:rPr>
              <a:t>specifically, </a:t>
            </a:r>
            <a:r>
              <a:rPr sz="2000" spc="-45" dirty="0">
                <a:solidFill>
                  <a:srgbClr val="213739"/>
                </a:solidFill>
                <a:latin typeface="Arial MT"/>
                <a:cs typeface="Arial MT"/>
              </a:rPr>
              <a:t>from</a:t>
            </a:r>
            <a:r>
              <a:rPr sz="2000" spc="-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spc="-4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200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i="1" spc="-10" dirty="0">
                <a:solidFill>
                  <a:srgbClr val="213739"/>
                </a:solidFill>
                <a:latin typeface="Times New Roman"/>
                <a:cs typeface="Times New Roman"/>
              </a:rPr>
              <a:t>brain</a:t>
            </a:r>
            <a:r>
              <a:rPr sz="2000" spc="-10" dirty="0">
                <a:solidFill>
                  <a:srgbClr val="213739"/>
                </a:solidFill>
                <a:latin typeface="Arial MT"/>
                <a:cs typeface="Arial MT"/>
              </a:rPr>
              <a:t>)</a:t>
            </a:r>
            <a:endParaRPr sz="2000">
              <a:latin typeface="Arial MT"/>
              <a:cs typeface="Arial MT"/>
            </a:endParaRPr>
          </a:p>
          <a:p>
            <a:pPr marL="17145" marR="88900" indent="-5080">
              <a:lnSpc>
                <a:spcPct val="118000"/>
              </a:lnSpc>
              <a:spcBef>
                <a:spcPts val="505"/>
              </a:spcBef>
              <a:tabLst>
                <a:tab pos="1134110" algn="l"/>
                <a:tab pos="2092960" algn="l"/>
                <a:tab pos="2447925" algn="l"/>
                <a:tab pos="3263900" algn="l"/>
              </a:tabLst>
            </a:pPr>
            <a:r>
              <a:rPr sz="2000" i="1" spc="-10" dirty="0">
                <a:solidFill>
                  <a:srgbClr val="213739"/>
                </a:solidFill>
                <a:latin typeface="Times New Roman"/>
                <a:cs typeface="Times New Roman"/>
              </a:rPr>
              <a:t>biological</a:t>
            </a:r>
            <a:r>
              <a:rPr sz="2000" i="1" dirty="0">
                <a:solidFill>
                  <a:srgbClr val="213739"/>
                </a:solidFill>
                <a:latin typeface="Times New Roman"/>
                <a:cs typeface="Times New Roman"/>
              </a:rPr>
              <a:t>	</a:t>
            </a:r>
            <a:r>
              <a:rPr sz="2000" i="1" spc="-10" dirty="0">
                <a:solidFill>
                  <a:srgbClr val="213739"/>
                </a:solidFill>
                <a:latin typeface="Times New Roman"/>
                <a:cs typeface="Times New Roman"/>
              </a:rPr>
              <a:t>neurons</a:t>
            </a:r>
            <a:r>
              <a:rPr sz="2000" i="1" dirty="0">
                <a:solidFill>
                  <a:srgbClr val="213739"/>
                </a:solidFill>
                <a:latin typeface="Times New Roman"/>
                <a:cs typeface="Times New Roman"/>
              </a:rPr>
              <a:t>	</a:t>
            </a:r>
            <a:r>
              <a:rPr sz="2000" i="1" spc="-50" dirty="0">
                <a:solidFill>
                  <a:srgbClr val="213739"/>
                </a:solidFill>
                <a:latin typeface="Times New Roman"/>
                <a:cs typeface="Times New Roman"/>
              </a:rPr>
              <a:t>=</a:t>
            </a:r>
            <a:r>
              <a:rPr sz="2000" i="1" dirty="0">
                <a:solidFill>
                  <a:srgbClr val="213739"/>
                </a:solidFill>
                <a:latin typeface="Times New Roman"/>
                <a:cs typeface="Times New Roman"/>
              </a:rPr>
              <a:t>	</a:t>
            </a:r>
            <a:r>
              <a:rPr sz="2000" i="1" spc="-10" dirty="0">
                <a:solidFill>
                  <a:srgbClr val="213739"/>
                </a:solidFill>
                <a:latin typeface="Times New Roman"/>
                <a:cs typeface="Times New Roman"/>
              </a:rPr>
              <a:t>neural</a:t>
            </a:r>
            <a:r>
              <a:rPr sz="2000" i="1" dirty="0">
                <a:solidFill>
                  <a:srgbClr val="213739"/>
                </a:solidFill>
                <a:latin typeface="Times New Roman"/>
                <a:cs typeface="Times New Roman"/>
              </a:rPr>
              <a:t>	</a:t>
            </a:r>
            <a:r>
              <a:rPr sz="2000" i="1" spc="-45" dirty="0">
                <a:solidFill>
                  <a:srgbClr val="213739"/>
                </a:solidFill>
                <a:latin typeface="Times New Roman"/>
                <a:cs typeface="Times New Roman"/>
              </a:rPr>
              <a:t>cells </a:t>
            </a:r>
            <a:r>
              <a:rPr sz="2000" i="1" spc="-95" dirty="0">
                <a:solidFill>
                  <a:srgbClr val="213739"/>
                </a:solidFill>
                <a:latin typeface="Times New Roman"/>
                <a:cs typeface="Times New Roman"/>
              </a:rPr>
              <a:t>processing</a:t>
            </a:r>
            <a:r>
              <a:rPr sz="2000" i="1" spc="-25" dirty="0">
                <a:solidFill>
                  <a:srgbClr val="213739"/>
                </a:solidFill>
                <a:latin typeface="Times New Roman"/>
                <a:cs typeface="Times New Roman"/>
              </a:rPr>
              <a:t> </a:t>
            </a:r>
            <a:r>
              <a:rPr sz="2000" i="1" spc="-20" dirty="0">
                <a:solidFill>
                  <a:srgbClr val="213739"/>
                </a:solidFill>
                <a:latin typeface="Times New Roman"/>
                <a:cs typeface="Times New Roman"/>
              </a:rPr>
              <a:t>units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1" name="object 21" descr="$PPTXTitle"/>
          <p:cNvSpPr txBox="1">
            <a:spLocks noGrp="1"/>
          </p:cNvSpPr>
          <p:nvPr>
            <p:ph type="title"/>
          </p:nvPr>
        </p:nvSpPr>
        <p:spPr>
          <a:xfrm>
            <a:off x="307340" y="237490"/>
            <a:ext cx="15474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Neuron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06134" y="1030858"/>
            <a:ext cx="1369044" cy="250583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546225" y="3649726"/>
            <a:ext cx="1706245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550" spc="-70" dirty="0">
                <a:solidFill>
                  <a:srgbClr val="213739"/>
                </a:solidFill>
                <a:latin typeface="Arial MT"/>
                <a:cs typeface="Arial MT"/>
              </a:rPr>
              <a:t>Biological</a:t>
            </a:r>
            <a:r>
              <a:rPr sz="1550" spc="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spc="-20" dirty="0">
                <a:solidFill>
                  <a:srgbClr val="213739"/>
                </a:solidFill>
                <a:latin typeface="Arial MT"/>
                <a:cs typeface="Arial MT"/>
              </a:rPr>
              <a:t>Neurons</a:t>
            </a:r>
            <a:r>
              <a:rPr sz="1650" spc="-30" baseline="22727" dirty="0">
                <a:solidFill>
                  <a:srgbClr val="213739"/>
                </a:solidFill>
                <a:latin typeface="Lucida Sans Unicode"/>
                <a:cs typeface="Lucida Sans Unicode"/>
              </a:rPr>
              <a:t>∗</a:t>
            </a:r>
            <a:endParaRPr sz="1650" baseline="22727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80618" y="4819015"/>
            <a:ext cx="2900680" cy="0"/>
          </a:xfrm>
          <a:custGeom>
            <a:avLst/>
            <a:gdLst/>
            <a:ahLst/>
            <a:cxnLst/>
            <a:rect l="l" t="t" r="r" b="b"/>
            <a:pathLst>
              <a:path w="2900679">
                <a:moveTo>
                  <a:pt x="0" y="0"/>
                </a:moveTo>
                <a:lnTo>
                  <a:pt x="2900298" y="0"/>
                </a:lnTo>
              </a:path>
            </a:pathLst>
          </a:custGeom>
          <a:ln w="5053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42290" y="4794961"/>
            <a:ext cx="6547484" cy="534670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82245">
              <a:lnSpc>
                <a:spcPct val="100000"/>
              </a:lnSpc>
              <a:spcBef>
                <a:spcPts val="415"/>
              </a:spcBef>
            </a:pPr>
            <a:r>
              <a:rPr sz="1425" spc="-127" baseline="32163" dirty="0">
                <a:solidFill>
                  <a:srgbClr val="394A4E"/>
                </a:solidFill>
                <a:latin typeface="Lucida Sans Unicode"/>
                <a:cs typeface="Lucida Sans Unicode"/>
              </a:rPr>
              <a:t>∗</a:t>
            </a:r>
            <a:r>
              <a:rPr sz="1400" spc="-85" dirty="0">
                <a:solidFill>
                  <a:srgbClr val="394A4E"/>
                </a:solidFill>
                <a:latin typeface="Arial MT"/>
                <a:cs typeface="Arial MT"/>
              </a:rPr>
              <a:t>Image </a:t>
            </a:r>
            <a:r>
              <a:rPr sz="1400" spc="-55" dirty="0">
                <a:solidFill>
                  <a:srgbClr val="394A4E"/>
                </a:solidFill>
                <a:latin typeface="Arial MT"/>
                <a:cs typeface="Arial MT"/>
              </a:rPr>
              <a:t>adapted</a:t>
            </a:r>
            <a:r>
              <a:rPr sz="1400" spc="-80" dirty="0">
                <a:solidFill>
                  <a:srgbClr val="394A4E"/>
                </a:solidFill>
                <a:latin typeface="Arial MT"/>
                <a:cs typeface="Arial MT"/>
              </a:rPr>
              <a:t> </a:t>
            </a:r>
            <a:r>
              <a:rPr sz="1400" spc="-20" dirty="0">
                <a:solidFill>
                  <a:srgbClr val="394A4E"/>
                </a:solidFill>
                <a:latin typeface="Arial MT"/>
                <a:cs typeface="Arial MT"/>
              </a:rPr>
              <a:t>from</a:t>
            </a:r>
            <a:endParaRPr sz="140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325"/>
              </a:spcBef>
            </a:pPr>
            <a:r>
              <a:rPr sz="1400" u="sng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Georgia"/>
                <a:cs typeface="Georgia"/>
                <a:hlinkClick r:id="rId3"/>
              </a:rPr>
              <a:t>https://cdn.vectorstock.com/i/composite/12,25/neuron-c</a:t>
            </a:r>
            <a:r>
              <a:rPr sz="1400" u="sng" spc="-6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Georgia"/>
                <a:cs typeface="Georgia"/>
                <a:hlinkClick r:id="rId3"/>
              </a:rPr>
              <a:t> </a:t>
            </a:r>
            <a:r>
              <a:rPr sz="1400" u="sng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Georgia"/>
                <a:cs typeface="Georgia"/>
                <a:hlinkClick r:id="rId3"/>
              </a:rPr>
              <a:t>e</a:t>
            </a:r>
            <a:r>
              <a:rPr sz="1400" u="sng" spc="-4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Georgia"/>
                <a:cs typeface="Georgia"/>
                <a:hlinkClick r:id="rId3"/>
              </a:rPr>
              <a:t> </a:t>
            </a:r>
            <a:r>
              <a:rPr sz="1400" u="sng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Georgia"/>
                <a:cs typeface="Georgia"/>
                <a:hlinkClick r:id="rId3"/>
              </a:rPr>
              <a:t>l</a:t>
            </a:r>
            <a:r>
              <a:rPr sz="1400" u="sng" spc="-6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Georgia"/>
                <a:cs typeface="Georgia"/>
                <a:hlinkClick r:id="rId3"/>
              </a:rPr>
              <a:t> </a:t>
            </a:r>
            <a:r>
              <a:rPr sz="1400" u="sng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Georgia"/>
                <a:cs typeface="Georgia"/>
                <a:hlinkClick r:id="rId3"/>
              </a:rPr>
              <a:t>l</a:t>
            </a:r>
            <a:r>
              <a:rPr sz="1400" u="sng" spc="-4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Georgia"/>
                <a:cs typeface="Georgia"/>
                <a:hlinkClick r:id="rId3"/>
              </a:rPr>
              <a:t> </a:t>
            </a:r>
            <a:r>
              <a:rPr sz="1400" u="sng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Georgia"/>
                <a:cs typeface="Georgia"/>
                <a:hlinkClick r:id="rId3"/>
              </a:rPr>
              <a:t>-</a:t>
            </a:r>
            <a:r>
              <a:rPr sz="1400" u="sng" spc="-4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Georgia"/>
                <a:cs typeface="Georgia"/>
                <a:hlinkClick r:id="rId3"/>
              </a:rPr>
              <a:t> </a:t>
            </a:r>
            <a:r>
              <a:rPr sz="1400" u="sng" spc="114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Georgia"/>
                <a:cs typeface="Georgia"/>
                <a:hlinkClick r:id="rId3"/>
              </a:rPr>
              <a:t>vector-</a:t>
            </a:r>
            <a:r>
              <a:rPr sz="1400" u="sng" spc="-1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Georgia"/>
                <a:cs typeface="Georgia"/>
                <a:hlinkClick r:id="rId3"/>
              </a:rPr>
              <a:t>81225.jpg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7261" y="6643369"/>
            <a:ext cx="1173480" cy="241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20"/>
              </a:lnSpc>
            </a:pPr>
            <a:r>
              <a:rPr sz="1700" b="1" dirty="0">
                <a:solidFill>
                  <a:srgbClr val="FFFFFF"/>
                </a:solidFill>
                <a:latin typeface="Calibri"/>
                <a:cs typeface="Calibri"/>
              </a:rPr>
              <a:t>NIT</a:t>
            </a:r>
            <a:r>
              <a:rPr sz="17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b="1" spc="-10" dirty="0">
                <a:solidFill>
                  <a:srgbClr val="FFFFFF"/>
                </a:solidFill>
                <a:latin typeface="Calibri"/>
                <a:cs typeface="Calibri"/>
              </a:rPr>
              <a:t>Rourkela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68188" y="6658229"/>
            <a:ext cx="293687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dirty="0">
                <a:latin typeface="Calibri"/>
                <a:cs typeface="Calibri"/>
              </a:rPr>
              <a:t>“Deep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Learning: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Neuron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to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Perceptron”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867393" y="5588609"/>
            <a:ext cx="115570" cy="2197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50" spc="-50" dirty="0">
                <a:solidFill>
                  <a:srgbClr val="213739"/>
                </a:solidFill>
                <a:latin typeface="Arial MT"/>
                <a:cs typeface="Arial MT"/>
              </a:rPr>
              <a:t>3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Biological</a:t>
            </a:r>
            <a:r>
              <a:rPr spc="-180" dirty="0"/>
              <a:t> </a:t>
            </a:r>
            <a:r>
              <a:rPr spc="-10" dirty="0"/>
              <a:t>neuron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2747" y="1030858"/>
            <a:ext cx="2099806" cy="250583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546225" y="3649726"/>
            <a:ext cx="1706245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550" spc="-70" dirty="0">
                <a:solidFill>
                  <a:srgbClr val="213739"/>
                </a:solidFill>
                <a:latin typeface="Arial MT"/>
                <a:cs typeface="Arial MT"/>
              </a:rPr>
              <a:t>Biological</a:t>
            </a:r>
            <a:r>
              <a:rPr sz="1550" spc="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spc="-20" dirty="0">
                <a:solidFill>
                  <a:srgbClr val="213739"/>
                </a:solidFill>
                <a:latin typeface="Arial MT"/>
                <a:cs typeface="Arial MT"/>
              </a:rPr>
              <a:t>Neurons</a:t>
            </a:r>
            <a:r>
              <a:rPr sz="1650" spc="-30" baseline="22727" dirty="0">
                <a:solidFill>
                  <a:srgbClr val="213739"/>
                </a:solidFill>
                <a:latin typeface="Lucida Sans Unicode"/>
                <a:cs typeface="Lucida Sans Unicode"/>
              </a:rPr>
              <a:t>∗</a:t>
            </a:r>
            <a:endParaRPr sz="1650" baseline="22727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80618" y="4819015"/>
            <a:ext cx="2900680" cy="0"/>
          </a:xfrm>
          <a:custGeom>
            <a:avLst/>
            <a:gdLst/>
            <a:ahLst/>
            <a:cxnLst/>
            <a:rect l="l" t="t" r="r" b="b"/>
            <a:pathLst>
              <a:path w="2900679">
                <a:moveTo>
                  <a:pt x="0" y="0"/>
                </a:moveTo>
                <a:lnTo>
                  <a:pt x="2900298" y="0"/>
                </a:lnTo>
              </a:path>
            </a:pathLst>
          </a:custGeom>
          <a:ln w="5053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198870" y="952627"/>
            <a:ext cx="257302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receives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signals</a:t>
            </a:r>
            <a:r>
              <a:rPr sz="1750" spc="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from</a:t>
            </a:r>
            <a:r>
              <a:rPr sz="1750" spc="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other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7261" y="6643369"/>
            <a:ext cx="1173480" cy="241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20"/>
              </a:lnSpc>
            </a:pPr>
            <a:r>
              <a:rPr sz="1700" b="1" dirty="0">
                <a:solidFill>
                  <a:srgbClr val="FFFFFF"/>
                </a:solidFill>
                <a:latin typeface="Calibri"/>
                <a:cs typeface="Calibri"/>
              </a:rPr>
              <a:t>NIT</a:t>
            </a:r>
            <a:r>
              <a:rPr sz="17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b="1" spc="-10" dirty="0">
                <a:solidFill>
                  <a:srgbClr val="FFFFFF"/>
                </a:solidFill>
                <a:latin typeface="Calibri"/>
                <a:cs typeface="Calibri"/>
              </a:rPr>
              <a:t>Rourkela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568188" y="6658229"/>
            <a:ext cx="293687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dirty="0">
                <a:latin typeface="Calibri"/>
                <a:cs typeface="Calibri"/>
              </a:rPr>
              <a:t>“Deep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Learning: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Neuron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to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Perceptron”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2290" y="4794961"/>
            <a:ext cx="6547484" cy="534670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82245">
              <a:lnSpc>
                <a:spcPct val="100000"/>
              </a:lnSpc>
              <a:spcBef>
                <a:spcPts val="415"/>
              </a:spcBef>
            </a:pPr>
            <a:r>
              <a:rPr sz="1425" spc="-127" baseline="32163" dirty="0">
                <a:solidFill>
                  <a:srgbClr val="394A4E"/>
                </a:solidFill>
                <a:latin typeface="Lucida Sans Unicode"/>
                <a:cs typeface="Lucida Sans Unicode"/>
              </a:rPr>
              <a:t>∗</a:t>
            </a:r>
            <a:r>
              <a:rPr sz="1400" spc="-85" dirty="0">
                <a:solidFill>
                  <a:srgbClr val="394A4E"/>
                </a:solidFill>
                <a:latin typeface="Arial MT"/>
                <a:cs typeface="Arial MT"/>
              </a:rPr>
              <a:t>Image </a:t>
            </a:r>
            <a:r>
              <a:rPr sz="1400" spc="-55" dirty="0">
                <a:solidFill>
                  <a:srgbClr val="394A4E"/>
                </a:solidFill>
                <a:latin typeface="Arial MT"/>
                <a:cs typeface="Arial MT"/>
              </a:rPr>
              <a:t>adapted</a:t>
            </a:r>
            <a:r>
              <a:rPr sz="1400" spc="-80" dirty="0">
                <a:solidFill>
                  <a:srgbClr val="394A4E"/>
                </a:solidFill>
                <a:latin typeface="Arial MT"/>
                <a:cs typeface="Arial MT"/>
              </a:rPr>
              <a:t> </a:t>
            </a:r>
            <a:r>
              <a:rPr sz="1400" spc="-20" dirty="0">
                <a:solidFill>
                  <a:srgbClr val="394A4E"/>
                </a:solidFill>
                <a:latin typeface="Arial MT"/>
                <a:cs typeface="Arial MT"/>
              </a:rPr>
              <a:t>from</a:t>
            </a:r>
            <a:endParaRPr sz="140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325"/>
              </a:spcBef>
            </a:pPr>
            <a:r>
              <a:rPr sz="1400" u="sng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Georgia"/>
                <a:cs typeface="Georgia"/>
                <a:hlinkClick r:id="rId3"/>
              </a:rPr>
              <a:t>https://cdn.vectorstock.com/i/composite/12,25/neuron-c</a:t>
            </a:r>
            <a:r>
              <a:rPr sz="1400" u="sng" spc="-6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Georgia"/>
                <a:cs typeface="Georgia"/>
                <a:hlinkClick r:id="rId3"/>
              </a:rPr>
              <a:t> </a:t>
            </a:r>
            <a:r>
              <a:rPr sz="1400" u="sng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Georgia"/>
                <a:cs typeface="Georgia"/>
                <a:hlinkClick r:id="rId3"/>
              </a:rPr>
              <a:t>e</a:t>
            </a:r>
            <a:r>
              <a:rPr sz="1400" u="sng" spc="-4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Georgia"/>
                <a:cs typeface="Georgia"/>
                <a:hlinkClick r:id="rId3"/>
              </a:rPr>
              <a:t> </a:t>
            </a:r>
            <a:r>
              <a:rPr sz="1400" u="sng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Georgia"/>
                <a:cs typeface="Georgia"/>
                <a:hlinkClick r:id="rId3"/>
              </a:rPr>
              <a:t>l</a:t>
            </a:r>
            <a:r>
              <a:rPr sz="1400" u="sng" spc="-6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Georgia"/>
                <a:cs typeface="Georgia"/>
                <a:hlinkClick r:id="rId3"/>
              </a:rPr>
              <a:t> </a:t>
            </a:r>
            <a:r>
              <a:rPr sz="1400" u="sng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Georgia"/>
                <a:cs typeface="Georgia"/>
                <a:hlinkClick r:id="rId3"/>
              </a:rPr>
              <a:t>l</a:t>
            </a:r>
            <a:r>
              <a:rPr sz="1400" u="sng" spc="-4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Georgia"/>
                <a:cs typeface="Georgia"/>
                <a:hlinkClick r:id="rId3"/>
              </a:rPr>
              <a:t> </a:t>
            </a:r>
            <a:r>
              <a:rPr sz="1400" u="sng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Georgia"/>
                <a:cs typeface="Georgia"/>
                <a:hlinkClick r:id="rId3"/>
              </a:rPr>
              <a:t>-</a:t>
            </a:r>
            <a:r>
              <a:rPr sz="1400" u="sng" spc="-4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Georgia"/>
                <a:cs typeface="Georgia"/>
                <a:hlinkClick r:id="rId3"/>
              </a:rPr>
              <a:t> </a:t>
            </a:r>
            <a:r>
              <a:rPr sz="1400" u="sng" spc="114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Georgia"/>
                <a:cs typeface="Georgia"/>
                <a:hlinkClick r:id="rId3"/>
              </a:rPr>
              <a:t>vector-</a:t>
            </a:r>
            <a:r>
              <a:rPr sz="1400" u="sng" spc="-1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Georgia"/>
                <a:cs typeface="Georgia"/>
                <a:hlinkClick r:id="rId3"/>
              </a:rPr>
              <a:t>81225.jpg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867393" y="5588609"/>
            <a:ext cx="115570" cy="2197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50" spc="-50" dirty="0">
                <a:solidFill>
                  <a:srgbClr val="213739"/>
                </a:solidFill>
                <a:latin typeface="Arial MT"/>
                <a:cs typeface="Arial MT"/>
              </a:rPr>
              <a:t>3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182361" y="900241"/>
            <a:ext cx="861694" cy="66040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sz="1750" b="1" spc="-125" dirty="0">
                <a:solidFill>
                  <a:srgbClr val="213739"/>
                </a:solidFill>
                <a:latin typeface="Trebuchet MS"/>
                <a:cs typeface="Trebuchet MS"/>
              </a:rPr>
              <a:t>dendrite:</a:t>
            </a:r>
            <a:endParaRPr sz="1750">
              <a:latin typeface="Trebuchet MS"/>
              <a:cs typeface="Trebuchet MS"/>
            </a:endParaRPr>
          </a:p>
          <a:p>
            <a:pPr marL="15240">
              <a:lnSpc>
                <a:spcPct val="100000"/>
              </a:lnSpc>
              <a:spcBef>
                <a:spcPts val="400"/>
              </a:spcBef>
            </a:pP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neurons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Biological</a:t>
            </a:r>
            <a:r>
              <a:rPr spc="-180" dirty="0"/>
              <a:t> </a:t>
            </a:r>
            <a:r>
              <a:rPr spc="-10" dirty="0"/>
              <a:t>neuron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3583" y="1030858"/>
            <a:ext cx="2393992" cy="250583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546225" y="3649726"/>
            <a:ext cx="1706245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550" spc="-70" dirty="0">
                <a:solidFill>
                  <a:srgbClr val="213739"/>
                </a:solidFill>
                <a:latin typeface="Arial MT"/>
                <a:cs typeface="Arial MT"/>
              </a:rPr>
              <a:t>Biological</a:t>
            </a:r>
            <a:r>
              <a:rPr sz="1550" spc="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spc="-20" dirty="0">
                <a:solidFill>
                  <a:srgbClr val="213739"/>
                </a:solidFill>
                <a:latin typeface="Arial MT"/>
                <a:cs typeface="Arial MT"/>
              </a:rPr>
              <a:t>Neurons</a:t>
            </a:r>
            <a:r>
              <a:rPr sz="1650" spc="-30" baseline="22727" dirty="0">
                <a:solidFill>
                  <a:srgbClr val="213739"/>
                </a:solidFill>
                <a:latin typeface="Lucida Sans Unicode"/>
                <a:cs typeface="Lucida Sans Unicode"/>
              </a:rPr>
              <a:t>∗</a:t>
            </a:r>
            <a:endParaRPr sz="1650" baseline="22727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80618" y="4819015"/>
            <a:ext cx="2900680" cy="0"/>
          </a:xfrm>
          <a:custGeom>
            <a:avLst/>
            <a:gdLst/>
            <a:ahLst/>
            <a:cxnLst/>
            <a:rect l="l" t="t" r="r" b="b"/>
            <a:pathLst>
              <a:path w="2900679">
                <a:moveTo>
                  <a:pt x="0" y="0"/>
                </a:moveTo>
                <a:lnTo>
                  <a:pt x="2900298" y="0"/>
                </a:lnTo>
              </a:path>
            </a:pathLst>
          </a:custGeom>
          <a:ln w="5053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180838" y="875537"/>
            <a:ext cx="3557904" cy="1344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 marR="5080" indent="-5080">
              <a:lnSpc>
                <a:spcPct val="117700"/>
              </a:lnSpc>
              <a:spcBef>
                <a:spcPts val="100"/>
              </a:spcBef>
            </a:pPr>
            <a:r>
              <a:rPr sz="1750" b="1" spc="-90" dirty="0">
                <a:solidFill>
                  <a:srgbClr val="213739"/>
                </a:solidFill>
                <a:latin typeface="Trebuchet MS"/>
                <a:cs typeface="Trebuchet MS"/>
              </a:rPr>
              <a:t>dendrite:</a:t>
            </a:r>
            <a:r>
              <a:rPr sz="1750" b="1" spc="285" dirty="0">
                <a:solidFill>
                  <a:srgbClr val="213739"/>
                </a:solidFill>
                <a:latin typeface="Trebuchet MS"/>
                <a:cs typeface="Trebuchet MS"/>
              </a:rPr>
              <a:t> 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receives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signals</a:t>
            </a:r>
            <a:r>
              <a:rPr sz="1750" spc="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from</a:t>
            </a:r>
            <a:r>
              <a:rPr sz="1750" spc="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other neurons</a:t>
            </a:r>
            <a:endParaRPr sz="17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sz="1750" b="1" spc="-100" dirty="0">
                <a:solidFill>
                  <a:srgbClr val="213739"/>
                </a:solidFill>
                <a:latin typeface="Trebuchet MS"/>
                <a:cs typeface="Trebuchet MS"/>
              </a:rPr>
              <a:t>synapse:</a:t>
            </a:r>
            <a:r>
              <a:rPr sz="1750" b="1" spc="120" dirty="0">
                <a:solidFill>
                  <a:srgbClr val="213739"/>
                </a:solidFill>
                <a:latin typeface="Trebuchet MS"/>
                <a:cs typeface="Trebuchet MS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point</a:t>
            </a:r>
            <a:r>
              <a:rPr sz="1750" spc="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connection</a:t>
            </a:r>
            <a:r>
              <a:rPr sz="1750" spc="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1750" spc="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other</a:t>
            </a:r>
            <a:endParaRPr sz="1750">
              <a:latin typeface="Arial MT"/>
              <a:cs typeface="Arial MT"/>
            </a:endParaRPr>
          </a:p>
          <a:p>
            <a:pPr marL="17145">
              <a:lnSpc>
                <a:spcPct val="100000"/>
              </a:lnSpc>
              <a:spcBef>
                <a:spcPts val="365"/>
              </a:spcBef>
            </a:pP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neurons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7261" y="6643369"/>
            <a:ext cx="1173480" cy="241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20"/>
              </a:lnSpc>
            </a:pPr>
            <a:r>
              <a:rPr sz="1700" b="1" dirty="0">
                <a:solidFill>
                  <a:srgbClr val="FFFFFF"/>
                </a:solidFill>
                <a:latin typeface="Calibri"/>
                <a:cs typeface="Calibri"/>
              </a:rPr>
              <a:t>NIT</a:t>
            </a:r>
            <a:r>
              <a:rPr sz="17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b="1" spc="-10" dirty="0">
                <a:solidFill>
                  <a:srgbClr val="FFFFFF"/>
                </a:solidFill>
                <a:latin typeface="Calibri"/>
                <a:cs typeface="Calibri"/>
              </a:rPr>
              <a:t>Rourkela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568188" y="6658229"/>
            <a:ext cx="293687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dirty="0">
                <a:latin typeface="Calibri"/>
                <a:cs typeface="Calibri"/>
              </a:rPr>
              <a:t>“Deep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Learning: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Neuron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to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Perceptron”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2290" y="4794961"/>
            <a:ext cx="6547484" cy="534670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82245">
              <a:lnSpc>
                <a:spcPct val="100000"/>
              </a:lnSpc>
              <a:spcBef>
                <a:spcPts val="415"/>
              </a:spcBef>
            </a:pPr>
            <a:r>
              <a:rPr sz="1425" spc="-127" baseline="32163" dirty="0">
                <a:solidFill>
                  <a:srgbClr val="394A4E"/>
                </a:solidFill>
                <a:latin typeface="Lucida Sans Unicode"/>
                <a:cs typeface="Lucida Sans Unicode"/>
              </a:rPr>
              <a:t>∗</a:t>
            </a:r>
            <a:r>
              <a:rPr sz="1400" spc="-85" dirty="0">
                <a:solidFill>
                  <a:srgbClr val="394A4E"/>
                </a:solidFill>
                <a:latin typeface="Arial MT"/>
                <a:cs typeface="Arial MT"/>
              </a:rPr>
              <a:t>Image </a:t>
            </a:r>
            <a:r>
              <a:rPr sz="1400" spc="-55" dirty="0">
                <a:solidFill>
                  <a:srgbClr val="394A4E"/>
                </a:solidFill>
                <a:latin typeface="Arial MT"/>
                <a:cs typeface="Arial MT"/>
              </a:rPr>
              <a:t>adapted</a:t>
            </a:r>
            <a:r>
              <a:rPr sz="1400" spc="-80" dirty="0">
                <a:solidFill>
                  <a:srgbClr val="394A4E"/>
                </a:solidFill>
                <a:latin typeface="Arial MT"/>
                <a:cs typeface="Arial MT"/>
              </a:rPr>
              <a:t> </a:t>
            </a:r>
            <a:r>
              <a:rPr sz="1400" spc="-20" dirty="0">
                <a:solidFill>
                  <a:srgbClr val="394A4E"/>
                </a:solidFill>
                <a:latin typeface="Arial MT"/>
                <a:cs typeface="Arial MT"/>
              </a:rPr>
              <a:t>from</a:t>
            </a:r>
            <a:endParaRPr sz="140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325"/>
              </a:spcBef>
            </a:pPr>
            <a:r>
              <a:rPr sz="1400" u="sng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Georgia"/>
                <a:cs typeface="Georgia"/>
                <a:hlinkClick r:id="rId3"/>
              </a:rPr>
              <a:t>https://cdn.vectorstock.com/i/composite/12,25/neuron-c</a:t>
            </a:r>
            <a:r>
              <a:rPr sz="1400" u="sng" spc="-6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Georgia"/>
                <a:cs typeface="Georgia"/>
                <a:hlinkClick r:id="rId3"/>
              </a:rPr>
              <a:t> </a:t>
            </a:r>
            <a:r>
              <a:rPr sz="1400" u="sng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Georgia"/>
                <a:cs typeface="Georgia"/>
                <a:hlinkClick r:id="rId3"/>
              </a:rPr>
              <a:t>e</a:t>
            </a:r>
            <a:r>
              <a:rPr sz="1400" u="sng" spc="-4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Georgia"/>
                <a:cs typeface="Georgia"/>
                <a:hlinkClick r:id="rId3"/>
              </a:rPr>
              <a:t> </a:t>
            </a:r>
            <a:r>
              <a:rPr sz="1400" u="sng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Georgia"/>
                <a:cs typeface="Georgia"/>
                <a:hlinkClick r:id="rId3"/>
              </a:rPr>
              <a:t>l</a:t>
            </a:r>
            <a:r>
              <a:rPr sz="1400" u="sng" spc="-6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Georgia"/>
                <a:cs typeface="Georgia"/>
                <a:hlinkClick r:id="rId3"/>
              </a:rPr>
              <a:t> </a:t>
            </a:r>
            <a:r>
              <a:rPr sz="1400" u="sng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Georgia"/>
                <a:cs typeface="Georgia"/>
                <a:hlinkClick r:id="rId3"/>
              </a:rPr>
              <a:t>l</a:t>
            </a:r>
            <a:r>
              <a:rPr sz="1400" u="sng" spc="-4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Georgia"/>
                <a:cs typeface="Georgia"/>
                <a:hlinkClick r:id="rId3"/>
              </a:rPr>
              <a:t> </a:t>
            </a:r>
            <a:r>
              <a:rPr sz="1400" u="sng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Georgia"/>
                <a:cs typeface="Georgia"/>
                <a:hlinkClick r:id="rId3"/>
              </a:rPr>
              <a:t>-</a:t>
            </a:r>
            <a:r>
              <a:rPr sz="1400" u="sng" spc="-4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Georgia"/>
                <a:cs typeface="Georgia"/>
                <a:hlinkClick r:id="rId3"/>
              </a:rPr>
              <a:t> </a:t>
            </a:r>
            <a:r>
              <a:rPr sz="1400" u="sng" spc="114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Georgia"/>
                <a:cs typeface="Georgia"/>
                <a:hlinkClick r:id="rId3"/>
              </a:rPr>
              <a:t>vector-</a:t>
            </a:r>
            <a:r>
              <a:rPr sz="1400" u="sng" spc="-1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Georgia"/>
                <a:cs typeface="Georgia"/>
                <a:hlinkClick r:id="rId3"/>
              </a:rPr>
              <a:t>81225.jpg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867393" y="5588609"/>
            <a:ext cx="115570" cy="2197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50" spc="-50" dirty="0">
                <a:solidFill>
                  <a:srgbClr val="213739"/>
                </a:solidFill>
                <a:latin typeface="Arial MT"/>
                <a:cs typeface="Arial MT"/>
              </a:rPr>
              <a:t>3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Biological</a:t>
            </a:r>
            <a:r>
              <a:rPr spc="-180" dirty="0"/>
              <a:t> </a:t>
            </a:r>
            <a:r>
              <a:rPr spc="-10" dirty="0"/>
              <a:t>neuron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8843" y="1030858"/>
            <a:ext cx="2393992" cy="250583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546225" y="3649726"/>
            <a:ext cx="1706245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550" spc="-70" dirty="0">
                <a:solidFill>
                  <a:srgbClr val="213739"/>
                </a:solidFill>
                <a:latin typeface="Arial MT"/>
                <a:cs typeface="Arial MT"/>
              </a:rPr>
              <a:t>Biological</a:t>
            </a:r>
            <a:r>
              <a:rPr sz="1550" spc="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spc="-20" dirty="0">
                <a:solidFill>
                  <a:srgbClr val="213739"/>
                </a:solidFill>
                <a:latin typeface="Arial MT"/>
                <a:cs typeface="Arial MT"/>
              </a:rPr>
              <a:t>Neurons</a:t>
            </a:r>
            <a:r>
              <a:rPr sz="1650" spc="-30" baseline="22727" dirty="0">
                <a:solidFill>
                  <a:srgbClr val="213739"/>
                </a:solidFill>
                <a:latin typeface="Lucida Sans Unicode"/>
                <a:cs typeface="Lucida Sans Unicode"/>
              </a:rPr>
              <a:t>∗</a:t>
            </a:r>
            <a:endParaRPr sz="1650" baseline="22727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80618" y="4819015"/>
            <a:ext cx="2900680" cy="0"/>
          </a:xfrm>
          <a:custGeom>
            <a:avLst/>
            <a:gdLst/>
            <a:ahLst/>
            <a:cxnLst/>
            <a:rect l="l" t="t" r="r" b="b"/>
            <a:pathLst>
              <a:path w="2900679">
                <a:moveTo>
                  <a:pt x="0" y="0"/>
                </a:moveTo>
                <a:lnTo>
                  <a:pt x="2900298" y="0"/>
                </a:lnTo>
              </a:path>
            </a:pathLst>
          </a:custGeom>
          <a:ln w="5053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180838" y="875537"/>
            <a:ext cx="3557904" cy="1740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 marR="5080" indent="-5080">
              <a:lnSpc>
                <a:spcPct val="117700"/>
              </a:lnSpc>
              <a:spcBef>
                <a:spcPts val="100"/>
              </a:spcBef>
            </a:pPr>
            <a:r>
              <a:rPr sz="1750" b="1" spc="-90" dirty="0">
                <a:solidFill>
                  <a:srgbClr val="213739"/>
                </a:solidFill>
                <a:latin typeface="Trebuchet MS"/>
                <a:cs typeface="Trebuchet MS"/>
              </a:rPr>
              <a:t>dendrite:</a:t>
            </a:r>
            <a:r>
              <a:rPr sz="1750" b="1" spc="285" dirty="0">
                <a:solidFill>
                  <a:srgbClr val="213739"/>
                </a:solidFill>
                <a:latin typeface="Trebuchet MS"/>
                <a:cs typeface="Trebuchet MS"/>
              </a:rPr>
              <a:t> 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receives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signals</a:t>
            </a:r>
            <a:r>
              <a:rPr sz="1750" spc="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from</a:t>
            </a:r>
            <a:r>
              <a:rPr sz="1750" spc="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other neurons</a:t>
            </a:r>
            <a:endParaRPr sz="17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sz="1750" b="1" spc="-100" dirty="0">
                <a:solidFill>
                  <a:srgbClr val="213739"/>
                </a:solidFill>
                <a:latin typeface="Trebuchet MS"/>
                <a:cs typeface="Trebuchet MS"/>
              </a:rPr>
              <a:t>synapse:</a:t>
            </a:r>
            <a:r>
              <a:rPr sz="1750" b="1" spc="120" dirty="0">
                <a:solidFill>
                  <a:srgbClr val="213739"/>
                </a:solidFill>
                <a:latin typeface="Trebuchet MS"/>
                <a:cs typeface="Trebuchet MS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point</a:t>
            </a:r>
            <a:r>
              <a:rPr sz="1750" spc="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connection</a:t>
            </a:r>
            <a:r>
              <a:rPr sz="1750" spc="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1750" spc="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other</a:t>
            </a:r>
            <a:endParaRPr sz="1750">
              <a:latin typeface="Arial MT"/>
              <a:cs typeface="Arial MT"/>
            </a:endParaRPr>
          </a:p>
          <a:p>
            <a:pPr marL="17145">
              <a:lnSpc>
                <a:spcPct val="100000"/>
              </a:lnSpc>
              <a:spcBef>
                <a:spcPts val="365"/>
              </a:spcBef>
            </a:pP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neurons</a:t>
            </a:r>
            <a:endParaRPr sz="1750">
              <a:latin typeface="Arial MT"/>
              <a:cs typeface="Arial MT"/>
            </a:endParaRPr>
          </a:p>
          <a:p>
            <a:pPr marL="13970">
              <a:lnSpc>
                <a:spcPct val="100000"/>
              </a:lnSpc>
              <a:spcBef>
                <a:spcPts val="1019"/>
              </a:spcBef>
            </a:pPr>
            <a:r>
              <a:rPr sz="1750" b="1" spc="-100" dirty="0">
                <a:solidFill>
                  <a:srgbClr val="213739"/>
                </a:solidFill>
                <a:latin typeface="Trebuchet MS"/>
                <a:cs typeface="Trebuchet MS"/>
              </a:rPr>
              <a:t>soma:</a:t>
            </a:r>
            <a:r>
              <a:rPr sz="1750" b="1" spc="-70" dirty="0">
                <a:solidFill>
                  <a:srgbClr val="213739"/>
                </a:solidFill>
                <a:latin typeface="Trebuchet MS"/>
                <a:cs typeface="Trebuchet MS"/>
              </a:rPr>
              <a:t> 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processes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information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7261" y="6643369"/>
            <a:ext cx="1173480" cy="241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20"/>
              </a:lnSpc>
            </a:pPr>
            <a:r>
              <a:rPr sz="1700" b="1" dirty="0">
                <a:solidFill>
                  <a:srgbClr val="FFFFFF"/>
                </a:solidFill>
                <a:latin typeface="Calibri"/>
                <a:cs typeface="Calibri"/>
              </a:rPr>
              <a:t>NIT</a:t>
            </a:r>
            <a:r>
              <a:rPr sz="17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b="1" spc="-10" dirty="0">
                <a:solidFill>
                  <a:srgbClr val="FFFFFF"/>
                </a:solidFill>
                <a:latin typeface="Calibri"/>
                <a:cs typeface="Calibri"/>
              </a:rPr>
              <a:t>Rourkela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568188" y="6658229"/>
            <a:ext cx="293687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dirty="0">
                <a:latin typeface="Calibri"/>
                <a:cs typeface="Calibri"/>
              </a:rPr>
              <a:t>“Deep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Learning: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Neuron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to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Perceptron”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2290" y="4794961"/>
            <a:ext cx="6547484" cy="534670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82245">
              <a:lnSpc>
                <a:spcPct val="100000"/>
              </a:lnSpc>
              <a:spcBef>
                <a:spcPts val="415"/>
              </a:spcBef>
            </a:pPr>
            <a:r>
              <a:rPr sz="1425" spc="-127" baseline="32163" dirty="0">
                <a:solidFill>
                  <a:srgbClr val="394A4E"/>
                </a:solidFill>
                <a:latin typeface="Lucida Sans Unicode"/>
                <a:cs typeface="Lucida Sans Unicode"/>
              </a:rPr>
              <a:t>∗</a:t>
            </a:r>
            <a:r>
              <a:rPr sz="1400" spc="-85" dirty="0">
                <a:solidFill>
                  <a:srgbClr val="394A4E"/>
                </a:solidFill>
                <a:latin typeface="Arial MT"/>
                <a:cs typeface="Arial MT"/>
              </a:rPr>
              <a:t>Image </a:t>
            </a:r>
            <a:r>
              <a:rPr sz="1400" spc="-55" dirty="0">
                <a:solidFill>
                  <a:srgbClr val="394A4E"/>
                </a:solidFill>
                <a:latin typeface="Arial MT"/>
                <a:cs typeface="Arial MT"/>
              </a:rPr>
              <a:t>adapted</a:t>
            </a:r>
            <a:r>
              <a:rPr sz="1400" spc="-80" dirty="0">
                <a:solidFill>
                  <a:srgbClr val="394A4E"/>
                </a:solidFill>
                <a:latin typeface="Arial MT"/>
                <a:cs typeface="Arial MT"/>
              </a:rPr>
              <a:t> </a:t>
            </a:r>
            <a:r>
              <a:rPr sz="1400" spc="-20" dirty="0">
                <a:solidFill>
                  <a:srgbClr val="394A4E"/>
                </a:solidFill>
                <a:latin typeface="Arial MT"/>
                <a:cs typeface="Arial MT"/>
              </a:rPr>
              <a:t>from</a:t>
            </a:r>
            <a:endParaRPr sz="140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325"/>
              </a:spcBef>
            </a:pPr>
            <a:r>
              <a:rPr sz="1400" u="sng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Georgia"/>
                <a:cs typeface="Georgia"/>
                <a:hlinkClick r:id="rId3"/>
              </a:rPr>
              <a:t>https://cdn.vectorstock.com/i/composite/12,25/neuron-c</a:t>
            </a:r>
            <a:r>
              <a:rPr sz="1400" u="sng" spc="-6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Georgia"/>
                <a:cs typeface="Georgia"/>
                <a:hlinkClick r:id="rId3"/>
              </a:rPr>
              <a:t> </a:t>
            </a:r>
            <a:r>
              <a:rPr sz="1400" u="sng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Georgia"/>
                <a:cs typeface="Georgia"/>
                <a:hlinkClick r:id="rId3"/>
              </a:rPr>
              <a:t>e</a:t>
            </a:r>
            <a:r>
              <a:rPr sz="1400" u="sng" spc="-4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Georgia"/>
                <a:cs typeface="Georgia"/>
                <a:hlinkClick r:id="rId3"/>
              </a:rPr>
              <a:t> </a:t>
            </a:r>
            <a:r>
              <a:rPr sz="1400" u="sng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Georgia"/>
                <a:cs typeface="Georgia"/>
                <a:hlinkClick r:id="rId3"/>
              </a:rPr>
              <a:t>l</a:t>
            </a:r>
            <a:r>
              <a:rPr sz="1400" u="sng" spc="-6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Georgia"/>
                <a:cs typeface="Georgia"/>
                <a:hlinkClick r:id="rId3"/>
              </a:rPr>
              <a:t> </a:t>
            </a:r>
            <a:r>
              <a:rPr sz="1400" u="sng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Georgia"/>
                <a:cs typeface="Georgia"/>
                <a:hlinkClick r:id="rId3"/>
              </a:rPr>
              <a:t>l</a:t>
            </a:r>
            <a:r>
              <a:rPr sz="1400" u="sng" spc="-4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Georgia"/>
                <a:cs typeface="Georgia"/>
                <a:hlinkClick r:id="rId3"/>
              </a:rPr>
              <a:t> </a:t>
            </a:r>
            <a:r>
              <a:rPr sz="1400" u="sng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Georgia"/>
                <a:cs typeface="Georgia"/>
                <a:hlinkClick r:id="rId3"/>
              </a:rPr>
              <a:t>-</a:t>
            </a:r>
            <a:r>
              <a:rPr sz="1400" u="sng" spc="-4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Georgia"/>
                <a:cs typeface="Georgia"/>
                <a:hlinkClick r:id="rId3"/>
              </a:rPr>
              <a:t> </a:t>
            </a:r>
            <a:r>
              <a:rPr sz="1400" u="sng" spc="114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Georgia"/>
                <a:cs typeface="Georgia"/>
                <a:hlinkClick r:id="rId3"/>
              </a:rPr>
              <a:t>vector-</a:t>
            </a:r>
            <a:r>
              <a:rPr sz="1400" u="sng" spc="-1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Georgia"/>
                <a:cs typeface="Georgia"/>
                <a:hlinkClick r:id="rId3"/>
              </a:rPr>
              <a:t>81225.jpg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867393" y="5588609"/>
            <a:ext cx="115570" cy="2197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50" spc="-50" dirty="0">
                <a:solidFill>
                  <a:srgbClr val="213739"/>
                </a:solidFill>
                <a:latin typeface="Arial MT"/>
                <a:cs typeface="Arial MT"/>
              </a:rPr>
              <a:t>3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Biological</a:t>
            </a:r>
            <a:r>
              <a:rPr spc="-180" dirty="0"/>
              <a:t> </a:t>
            </a:r>
            <a:r>
              <a:rPr spc="-10" dirty="0"/>
              <a:t>neuron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4116" y="1030858"/>
            <a:ext cx="2393992" cy="250583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546225" y="3649726"/>
            <a:ext cx="1706245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550" spc="-70" dirty="0">
                <a:solidFill>
                  <a:srgbClr val="213739"/>
                </a:solidFill>
                <a:latin typeface="Arial MT"/>
                <a:cs typeface="Arial MT"/>
              </a:rPr>
              <a:t>Biological</a:t>
            </a:r>
            <a:r>
              <a:rPr sz="1550" spc="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spc="-20" dirty="0">
                <a:solidFill>
                  <a:srgbClr val="213739"/>
                </a:solidFill>
                <a:latin typeface="Arial MT"/>
                <a:cs typeface="Arial MT"/>
              </a:rPr>
              <a:t>Neurons</a:t>
            </a:r>
            <a:r>
              <a:rPr sz="1650" spc="-30" baseline="22727" dirty="0">
                <a:solidFill>
                  <a:srgbClr val="213739"/>
                </a:solidFill>
                <a:latin typeface="Lucida Sans Unicode"/>
                <a:cs typeface="Lucida Sans Unicode"/>
              </a:rPr>
              <a:t>∗</a:t>
            </a:r>
            <a:endParaRPr sz="1650" baseline="22727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80618" y="4819015"/>
            <a:ext cx="2900680" cy="0"/>
          </a:xfrm>
          <a:custGeom>
            <a:avLst/>
            <a:gdLst/>
            <a:ahLst/>
            <a:cxnLst/>
            <a:rect l="l" t="t" r="r" b="b"/>
            <a:pathLst>
              <a:path w="2900679">
                <a:moveTo>
                  <a:pt x="0" y="0"/>
                </a:moveTo>
                <a:lnTo>
                  <a:pt x="2900298" y="0"/>
                </a:lnTo>
              </a:path>
            </a:pathLst>
          </a:custGeom>
          <a:ln w="5053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180838" y="875537"/>
            <a:ext cx="3587115" cy="2403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 marR="33655" indent="-5080">
              <a:lnSpc>
                <a:spcPct val="117700"/>
              </a:lnSpc>
              <a:spcBef>
                <a:spcPts val="100"/>
              </a:spcBef>
            </a:pPr>
            <a:r>
              <a:rPr sz="1750" b="1" spc="-90" dirty="0">
                <a:solidFill>
                  <a:srgbClr val="213739"/>
                </a:solidFill>
                <a:latin typeface="Trebuchet MS"/>
                <a:cs typeface="Trebuchet MS"/>
              </a:rPr>
              <a:t>dendrite:</a:t>
            </a:r>
            <a:r>
              <a:rPr sz="1750" b="1" spc="285" dirty="0">
                <a:solidFill>
                  <a:srgbClr val="213739"/>
                </a:solidFill>
                <a:latin typeface="Trebuchet MS"/>
                <a:cs typeface="Trebuchet MS"/>
              </a:rPr>
              <a:t> 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receives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signals</a:t>
            </a:r>
            <a:r>
              <a:rPr sz="1750" spc="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from</a:t>
            </a:r>
            <a:r>
              <a:rPr sz="1750" spc="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other neurons</a:t>
            </a:r>
            <a:endParaRPr sz="17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sz="1750" b="1" spc="-100" dirty="0">
                <a:solidFill>
                  <a:srgbClr val="213739"/>
                </a:solidFill>
                <a:latin typeface="Trebuchet MS"/>
                <a:cs typeface="Trebuchet MS"/>
              </a:rPr>
              <a:t>synapse:</a:t>
            </a:r>
            <a:r>
              <a:rPr sz="1750" b="1" spc="120" dirty="0">
                <a:solidFill>
                  <a:srgbClr val="213739"/>
                </a:solidFill>
                <a:latin typeface="Trebuchet MS"/>
                <a:cs typeface="Trebuchet MS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point</a:t>
            </a:r>
            <a:r>
              <a:rPr sz="1750" spc="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connection</a:t>
            </a:r>
            <a:r>
              <a:rPr sz="1750" spc="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1750" spc="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other</a:t>
            </a:r>
            <a:endParaRPr sz="1750">
              <a:latin typeface="Arial MT"/>
              <a:cs typeface="Arial MT"/>
            </a:endParaRPr>
          </a:p>
          <a:p>
            <a:pPr marL="17145">
              <a:lnSpc>
                <a:spcPct val="100000"/>
              </a:lnSpc>
              <a:spcBef>
                <a:spcPts val="365"/>
              </a:spcBef>
            </a:pP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neurons</a:t>
            </a:r>
            <a:endParaRPr sz="1750">
              <a:latin typeface="Arial MT"/>
              <a:cs typeface="Arial MT"/>
            </a:endParaRPr>
          </a:p>
          <a:p>
            <a:pPr marL="12700" marR="5080" indent="1270">
              <a:lnSpc>
                <a:spcPct val="124300"/>
              </a:lnSpc>
              <a:spcBef>
                <a:spcPts val="509"/>
              </a:spcBef>
              <a:tabLst>
                <a:tab pos="749935" algn="l"/>
              </a:tabLst>
            </a:pPr>
            <a:r>
              <a:rPr sz="1750" b="1" spc="-100" dirty="0">
                <a:solidFill>
                  <a:srgbClr val="213739"/>
                </a:solidFill>
                <a:latin typeface="Trebuchet MS"/>
                <a:cs typeface="Trebuchet MS"/>
              </a:rPr>
              <a:t>soma:</a:t>
            </a:r>
            <a:r>
              <a:rPr sz="1750" b="1" spc="-70" dirty="0">
                <a:solidFill>
                  <a:srgbClr val="213739"/>
                </a:solidFill>
                <a:latin typeface="Trebuchet MS"/>
                <a:cs typeface="Trebuchet MS"/>
              </a:rPr>
              <a:t> 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processes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information</a:t>
            </a:r>
            <a:r>
              <a:rPr sz="1750" spc="5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spc="-10" dirty="0">
                <a:solidFill>
                  <a:srgbClr val="213739"/>
                </a:solidFill>
                <a:latin typeface="Trebuchet MS"/>
                <a:cs typeface="Trebuchet MS"/>
              </a:rPr>
              <a:t>axon:</a:t>
            </a:r>
            <a:r>
              <a:rPr sz="1750" b="1" dirty="0">
                <a:solidFill>
                  <a:srgbClr val="213739"/>
                </a:solidFill>
                <a:latin typeface="Trebuchet MS"/>
                <a:cs typeface="Trebuchet MS"/>
              </a:rPr>
              <a:t>	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transmits</a:t>
            </a:r>
            <a:r>
              <a:rPr sz="1750" spc="3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43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output</a:t>
            </a:r>
            <a:r>
              <a:rPr sz="1750" spc="4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4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this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neuron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7261" y="6643369"/>
            <a:ext cx="1173480" cy="241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20"/>
              </a:lnSpc>
            </a:pPr>
            <a:r>
              <a:rPr sz="1700" b="1" dirty="0">
                <a:solidFill>
                  <a:srgbClr val="FFFFFF"/>
                </a:solidFill>
                <a:latin typeface="Calibri"/>
                <a:cs typeface="Calibri"/>
              </a:rPr>
              <a:t>NIT</a:t>
            </a:r>
            <a:r>
              <a:rPr sz="17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b="1" spc="-10" dirty="0">
                <a:solidFill>
                  <a:srgbClr val="FFFFFF"/>
                </a:solidFill>
                <a:latin typeface="Calibri"/>
                <a:cs typeface="Calibri"/>
              </a:rPr>
              <a:t>Rourkela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568188" y="6658229"/>
            <a:ext cx="293687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dirty="0">
                <a:latin typeface="Calibri"/>
                <a:cs typeface="Calibri"/>
              </a:rPr>
              <a:t>“Deep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Learning: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Neuron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to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Perceptron”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2290" y="4794961"/>
            <a:ext cx="6547484" cy="534670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82245">
              <a:lnSpc>
                <a:spcPct val="100000"/>
              </a:lnSpc>
              <a:spcBef>
                <a:spcPts val="415"/>
              </a:spcBef>
            </a:pPr>
            <a:r>
              <a:rPr sz="1425" spc="-127" baseline="32163" dirty="0">
                <a:solidFill>
                  <a:srgbClr val="394A4E"/>
                </a:solidFill>
                <a:latin typeface="Lucida Sans Unicode"/>
                <a:cs typeface="Lucida Sans Unicode"/>
              </a:rPr>
              <a:t>∗</a:t>
            </a:r>
            <a:r>
              <a:rPr sz="1400" spc="-85" dirty="0">
                <a:solidFill>
                  <a:srgbClr val="394A4E"/>
                </a:solidFill>
                <a:latin typeface="Arial MT"/>
                <a:cs typeface="Arial MT"/>
              </a:rPr>
              <a:t>Image </a:t>
            </a:r>
            <a:r>
              <a:rPr sz="1400" spc="-55" dirty="0">
                <a:solidFill>
                  <a:srgbClr val="394A4E"/>
                </a:solidFill>
                <a:latin typeface="Arial MT"/>
                <a:cs typeface="Arial MT"/>
              </a:rPr>
              <a:t>adapted</a:t>
            </a:r>
            <a:r>
              <a:rPr sz="1400" spc="-80" dirty="0">
                <a:solidFill>
                  <a:srgbClr val="394A4E"/>
                </a:solidFill>
                <a:latin typeface="Arial MT"/>
                <a:cs typeface="Arial MT"/>
              </a:rPr>
              <a:t> </a:t>
            </a:r>
            <a:r>
              <a:rPr sz="1400" spc="-20" dirty="0">
                <a:solidFill>
                  <a:srgbClr val="394A4E"/>
                </a:solidFill>
                <a:latin typeface="Arial MT"/>
                <a:cs typeface="Arial MT"/>
              </a:rPr>
              <a:t>from</a:t>
            </a:r>
            <a:endParaRPr sz="140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325"/>
              </a:spcBef>
            </a:pPr>
            <a:r>
              <a:rPr sz="1400" u="sng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Georgia"/>
                <a:cs typeface="Georgia"/>
                <a:hlinkClick r:id="rId3"/>
              </a:rPr>
              <a:t>https://cdn.vectorstock.com/i/composite/12,25/neuron-c</a:t>
            </a:r>
            <a:r>
              <a:rPr sz="1400" u="sng" spc="-6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Georgia"/>
                <a:cs typeface="Georgia"/>
                <a:hlinkClick r:id="rId3"/>
              </a:rPr>
              <a:t> </a:t>
            </a:r>
            <a:r>
              <a:rPr sz="1400" u="sng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Georgia"/>
                <a:cs typeface="Georgia"/>
                <a:hlinkClick r:id="rId3"/>
              </a:rPr>
              <a:t>e</a:t>
            </a:r>
            <a:r>
              <a:rPr sz="1400" u="sng" spc="-4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Georgia"/>
                <a:cs typeface="Georgia"/>
                <a:hlinkClick r:id="rId3"/>
              </a:rPr>
              <a:t> </a:t>
            </a:r>
            <a:r>
              <a:rPr sz="1400" u="sng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Georgia"/>
                <a:cs typeface="Georgia"/>
                <a:hlinkClick r:id="rId3"/>
              </a:rPr>
              <a:t>l</a:t>
            </a:r>
            <a:r>
              <a:rPr sz="1400" u="sng" spc="-6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Georgia"/>
                <a:cs typeface="Georgia"/>
                <a:hlinkClick r:id="rId3"/>
              </a:rPr>
              <a:t> </a:t>
            </a:r>
            <a:r>
              <a:rPr sz="1400" u="sng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Georgia"/>
                <a:cs typeface="Georgia"/>
                <a:hlinkClick r:id="rId3"/>
              </a:rPr>
              <a:t>l</a:t>
            </a:r>
            <a:r>
              <a:rPr sz="1400" u="sng" spc="-4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Georgia"/>
                <a:cs typeface="Georgia"/>
                <a:hlinkClick r:id="rId3"/>
              </a:rPr>
              <a:t> </a:t>
            </a:r>
            <a:r>
              <a:rPr sz="1400" u="sng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Georgia"/>
                <a:cs typeface="Georgia"/>
                <a:hlinkClick r:id="rId3"/>
              </a:rPr>
              <a:t>-</a:t>
            </a:r>
            <a:r>
              <a:rPr sz="1400" u="sng" spc="-4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Georgia"/>
                <a:cs typeface="Georgia"/>
                <a:hlinkClick r:id="rId3"/>
              </a:rPr>
              <a:t> </a:t>
            </a:r>
            <a:r>
              <a:rPr sz="1400" u="sng" spc="114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Georgia"/>
                <a:cs typeface="Georgia"/>
                <a:hlinkClick r:id="rId3"/>
              </a:rPr>
              <a:t>vector-</a:t>
            </a:r>
            <a:r>
              <a:rPr sz="1400" u="sng" spc="-1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Georgia"/>
                <a:cs typeface="Georgia"/>
                <a:hlinkClick r:id="rId3"/>
              </a:rPr>
              <a:t>81225.jpg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867393" y="5588609"/>
            <a:ext cx="115570" cy="2197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50" spc="-50" dirty="0">
                <a:solidFill>
                  <a:srgbClr val="213739"/>
                </a:solidFill>
                <a:latin typeface="Arial MT"/>
                <a:cs typeface="Arial MT"/>
              </a:rPr>
              <a:t>3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Biological</a:t>
            </a:r>
            <a:r>
              <a:rPr spc="-180" dirty="0"/>
              <a:t> </a:t>
            </a:r>
            <a:r>
              <a:rPr spc="-10" dirty="0"/>
              <a:t>neuron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8805" y="3737683"/>
            <a:ext cx="1918970" cy="197705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180838" y="875537"/>
            <a:ext cx="3588385" cy="1344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 marR="13335" indent="-5080">
              <a:lnSpc>
                <a:spcPct val="117700"/>
              </a:lnSpc>
              <a:spcBef>
                <a:spcPts val="100"/>
              </a:spcBef>
            </a:pP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Let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us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see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a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very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cartoonish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illustration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how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a</a:t>
            </a:r>
            <a:r>
              <a:rPr sz="1750" spc="-25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neuron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works</a:t>
            </a:r>
            <a:endParaRPr sz="17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Our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sense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organs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interact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with</a:t>
            </a:r>
            <a:r>
              <a:rPr sz="1750" spc="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out-</a:t>
            </a:r>
            <a:endParaRPr sz="1750">
              <a:latin typeface="Arial MT"/>
              <a:cs typeface="Arial MT"/>
            </a:endParaRPr>
          </a:p>
          <a:p>
            <a:pPr marL="17145">
              <a:lnSpc>
                <a:spcPct val="100000"/>
              </a:lnSpc>
              <a:spcBef>
                <a:spcPts val="365"/>
              </a:spcBef>
            </a:pP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side</a:t>
            </a:r>
            <a:r>
              <a:rPr sz="1750" spc="-1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world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867393" y="5603912"/>
            <a:ext cx="115570" cy="206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spc="-50" dirty="0">
                <a:solidFill>
                  <a:srgbClr val="213739"/>
                </a:solidFill>
                <a:latin typeface="Arial MT"/>
                <a:cs typeface="Arial MT"/>
              </a:rPr>
              <a:t>4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7261" y="6643369"/>
            <a:ext cx="1173480" cy="241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20"/>
              </a:lnSpc>
            </a:pPr>
            <a:r>
              <a:rPr sz="1700" b="1" dirty="0">
                <a:solidFill>
                  <a:srgbClr val="FFFFFF"/>
                </a:solidFill>
                <a:latin typeface="Calibri"/>
                <a:cs typeface="Calibri"/>
              </a:rPr>
              <a:t>NIT</a:t>
            </a:r>
            <a:r>
              <a:rPr sz="17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b="1" spc="-10" dirty="0">
                <a:solidFill>
                  <a:srgbClr val="FFFFFF"/>
                </a:solidFill>
                <a:latin typeface="Calibri"/>
                <a:cs typeface="Calibri"/>
              </a:rPr>
              <a:t>Rourkela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68188" y="6658229"/>
            <a:ext cx="293687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dirty="0">
                <a:latin typeface="Calibri"/>
                <a:cs typeface="Calibri"/>
              </a:rPr>
              <a:t>“Deep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Learning: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Neuron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to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Perceptron”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Biological</a:t>
            </a:r>
            <a:r>
              <a:rPr spc="-180" dirty="0"/>
              <a:t> </a:t>
            </a:r>
            <a:r>
              <a:rPr spc="-10" dirty="0"/>
              <a:t>neuron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94078" y="1857310"/>
            <a:ext cx="1918970" cy="385742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180838" y="875537"/>
            <a:ext cx="3588385" cy="1740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 marR="13335" indent="-5080">
              <a:lnSpc>
                <a:spcPct val="117700"/>
              </a:lnSpc>
              <a:spcBef>
                <a:spcPts val="100"/>
              </a:spcBef>
            </a:pP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Let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us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see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a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very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cartoonish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illustration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how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a</a:t>
            </a:r>
            <a:r>
              <a:rPr sz="1750" spc="-25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neuron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works</a:t>
            </a:r>
            <a:endParaRPr sz="17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Our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sense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organs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interact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with</a:t>
            </a:r>
            <a:r>
              <a:rPr sz="1750" spc="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out-</a:t>
            </a:r>
            <a:endParaRPr sz="1750">
              <a:latin typeface="Arial MT"/>
              <a:cs typeface="Arial MT"/>
            </a:endParaRPr>
          </a:p>
          <a:p>
            <a:pPr marL="17145">
              <a:lnSpc>
                <a:spcPct val="100000"/>
              </a:lnSpc>
              <a:spcBef>
                <a:spcPts val="365"/>
              </a:spcBef>
            </a:pP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side</a:t>
            </a:r>
            <a:r>
              <a:rPr sz="1750" spc="-1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world</a:t>
            </a:r>
            <a:endParaRPr sz="1750">
              <a:latin typeface="Arial MT"/>
              <a:cs typeface="Arial MT"/>
            </a:endParaRPr>
          </a:p>
          <a:p>
            <a:pPr marL="13970">
              <a:lnSpc>
                <a:spcPct val="100000"/>
              </a:lnSpc>
              <a:spcBef>
                <a:spcPts val="1019"/>
              </a:spcBef>
            </a:pP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They</a:t>
            </a:r>
            <a:r>
              <a:rPr sz="1750" spc="-2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relay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information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1750" spc="-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neurons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867393" y="5603912"/>
            <a:ext cx="115570" cy="206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spc="-50" dirty="0">
                <a:solidFill>
                  <a:srgbClr val="213739"/>
                </a:solidFill>
                <a:latin typeface="Arial MT"/>
                <a:cs typeface="Arial MT"/>
              </a:rPr>
              <a:t>4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7261" y="6643369"/>
            <a:ext cx="1173480" cy="241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20"/>
              </a:lnSpc>
            </a:pPr>
            <a:r>
              <a:rPr sz="1700" b="1" dirty="0">
                <a:solidFill>
                  <a:srgbClr val="FFFFFF"/>
                </a:solidFill>
                <a:latin typeface="Calibri"/>
                <a:cs typeface="Calibri"/>
              </a:rPr>
              <a:t>NIT</a:t>
            </a:r>
            <a:r>
              <a:rPr sz="17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b="1" spc="-10" dirty="0">
                <a:solidFill>
                  <a:srgbClr val="FFFFFF"/>
                </a:solidFill>
                <a:latin typeface="Calibri"/>
                <a:cs typeface="Calibri"/>
              </a:rPr>
              <a:t>Rourkela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68188" y="6658229"/>
            <a:ext cx="293687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dirty="0">
                <a:latin typeface="Calibri"/>
                <a:cs typeface="Calibri"/>
              </a:rPr>
              <a:t>“Deep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Learning: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Neuron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to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Perceptron”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Biological</a:t>
            </a:r>
            <a:r>
              <a:rPr spc="-180" dirty="0"/>
              <a:t> </a:t>
            </a:r>
            <a:r>
              <a:rPr spc="-10" dirty="0"/>
              <a:t>neuron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19352" y="1030719"/>
            <a:ext cx="1918970" cy="468401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180838" y="875537"/>
            <a:ext cx="3606800" cy="2403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 marR="31750" indent="-5080">
              <a:lnSpc>
                <a:spcPct val="117700"/>
              </a:lnSpc>
              <a:spcBef>
                <a:spcPts val="100"/>
              </a:spcBef>
            </a:pP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Let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us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see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a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very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cartoonish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illustration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how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a</a:t>
            </a:r>
            <a:r>
              <a:rPr sz="1750" spc="-25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neuron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works</a:t>
            </a:r>
            <a:endParaRPr sz="17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Our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sense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organs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interact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with</a:t>
            </a:r>
            <a:r>
              <a:rPr sz="1750" spc="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out-</a:t>
            </a:r>
            <a:endParaRPr sz="1750">
              <a:latin typeface="Arial MT"/>
              <a:cs typeface="Arial MT"/>
            </a:endParaRPr>
          </a:p>
          <a:p>
            <a:pPr marL="17145">
              <a:lnSpc>
                <a:spcPct val="100000"/>
              </a:lnSpc>
              <a:spcBef>
                <a:spcPts val="365"/>
              </a:spcBef>
            </a:pP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side</a:t>
            </a:r>
            <a:r>
              <a:rPr sz="1750" spc="-1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world</a:t>
            </a:r>
            <a:endParaRPr sz="1750">
              <a:latin typeface="Arial MT"/>
              <a:cs typeface="Arial MT"/>
            </a:endParaRPr>
          </a:p>
          <a:p>
            <a:pPr marL="12700" marR="5080" indent="1270">
              <a:lnSpc>
                <a:spcPct val="124300"/>
              </a:lnSpc>
              <a:spcBef>
                <a:spcPts val="509"/>
              </a:spcBef>
            </a:pP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They</a:t>
            </a:r>
            <a:r>
              <a:rPr sz="1750" spc="-2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relay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information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1750" spc="-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neurons 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3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neurons</a:t>
            </a:r>
            <a:r>
              <a:rPr sz="1750" spc="-229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(may)</a:t>
            </a:r>
            <a:r>
              <a:rPr sz="1750" spc="-1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get</a:t>
            </a:r>
            <a:r>
              <a:rPr sz="1750" spc="-1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activated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750" spc="-2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pro-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duces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a</a:t>
            </a:r>
            <a:r>
              <a:rPr sz="1750" spc="-2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response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(laughter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in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this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case)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867393" y="5603912"/>
            <a:ext cx="115570" cy="206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spc="-50" dirty="0">
                <a:solidFill>
                  <a:srgbClr val="213739"/>
                </a:solidFill>
                <a:latin typeface="Arial MT"/>
                <a:cs typeface="Arial MT"/>
              </a:rPr>
              <a:t>4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7261" y="6643369"/>
            <a:ext cx="1173480" cy="241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20"/>
              </a:lnSpc>
            </a:pPr>
            <a:r>
              <a:rPr sz="1700" b="1" dirty="0">
                <a:solidFill>
                  <a:srgbClr val="FFFFFF"/>
                </a:solidFill>
                <a:latin typeface="Calibri"/>
                <a:cs typeface="Calibri"/>
              </a:rPr>
              <a:t>NIT</a:t>
            </a:r>
            <a:r>
              <a:rPr sz="17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b="1" spc="-10" dirty="0">
                <a:solidFill>
                  <a:srgbClr val="FFFFFF"/>
                </a:solidFill>
                <a:latin typeface="Calibri"/>
                <a:cs typeface="Calibri"/>
              </a:rPr>
              <a:t>Rourkela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68188" y="6658229"/>
            <a:ext cx="293687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dirty="0">
                <a:latin typeface="Calibri"/>
                <a:cs typeface="Calibri"/>
              </a:rPr>
              <a:t>“Deep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Learning: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Neuron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to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Perceptron”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Biological</a:t>
            </a:r>
            <a:r>
              <a:rPr spc="-180" dirty="0"/>
              <a:t> </a:t>
            </a:r>
            <a:r>
              <a:rPr spc="-10" dirty="0"/>
              <a:t>neuron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17746" y="789732"/>
            <a:ext cx="5165090" cy="540575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200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200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spc="-100" dirty="0">
                <a:solidFill>
                  <a:srgbClr val="213739"/>
                </a:solidFill>
                <a:latin typeface="Arial MT"/>
                <a:cs typeface="Arial MT"/>
              </a:rPr>
              <a:t>course,</a:t>
            </a:r>
            <a:r>
              <a:rPr sz="2000" spc="-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13739"/>
                </a:solidFill>
                <a:latin typeface="Arial MT"/>
                <a:cs typeface="Arial MT"/>
              </a:rPr>
              <a:t>in</a:t>
            </a:r>
            <a:r>
              <a:rPr sz="2000" spc="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spc="-80" dirty="0">
                <a:solidFill>
                  <a:srgbClr val="213739"/>
                </a:solidFill>
                <a:latin typeface="Arial MT"/>
                <a:cs typeface="Arial MT"/>
              </a:rPr>
              <a:t>reality,</a:t>
            </a:r>
            <a:r>
              <a:rPr sz="2000" spc="-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spc="-85" dirty="0">
                <a:solidFill>
                  <a:srgbClr val="213739"/>
                </a:solidFill>
                <a:latin typeface="Arial MT"/>
                <a:cs typeface="Arial MT"/>
              </a:rPr>
              <a:t>there</a:t>
            </a:r>
            <a:r>
              <a:rPr sz="200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13739"/>
                </a:solidFill>
                <a:latin typeface="Arial MT"/>
                <a:cs typeface="Arial MT"/>
              </a:rPr>
              <a:t>is</a:t>
            </a:r>
            <a:r>
              <a:rPr sz="2000" spc="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13739"/>
                </a:solidFill>
                <a:latin typeface="Arial MT"/>
                <a:cs typeface="Arial MT"/>
              </a:rPr>
              <a:t>a</a:t>
            </a:r>
            <a:r>
              <a:rPr sz="2000" spc="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spc="-105" dirty="0">
                <a:solidFill>
                  <a:srgbClr val="213739"/>
                </a:solidFill>
                <a:latin typeface="Arial MT"/>
                <a:cs typeface="Arial MT"/>
              </a:rPr>
              <a:t>massively</a:t>
            </a:r>
            <a:r>
              <a:rPr sz="2000" spc="-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213739"/>
                </a:solidFill>
                <a:latin typeface="Arial MT"/>
                <a:cs typeface="Arial MT"/>
              </a:rPr>
              <a:t>parallel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2000" spc="-65" dirty="0">
                <a:solidFill>
                  <a:srgbClr val="213739"/>
                </a:solidFill>
                <a:latin typeface="Arial MT"/>
                <a:cs typeface="Arial MT"/>
              </a:rPr>
              <a:t>interconnected </a:t>
            </a:r>
            <a:r>
              <a:rPr sz="2000" spc="-50" dirty="0">
                <a:solidFill>
                  <a:srgbClr val="213739"/>
                </a:solidFill>
                <a:latin typeface="Arial MT"/>
                <a:cs typeface="Arial MT"/>
              </a:rPr>
              <a:t>network</a:t>
            </a:r>
            <a:r>
              <a:rPr sz="200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2000" spc="-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213739"/>
                </a:solidFill>
                <a:latin typeface="Arial MT"/>
                <a:cs typeface="Arial MT"/>
              </a:rPr>
              <a:t>neurons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660"/>
              </a:spcBef>
            </a:pP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tabLst>
                <a:tab pos="2220595" algn="l"/>
                <a:tab pos="2899410" algn="l"/>
                <a:tab pos="4286250" algn="l"/>
                <a:tab pos="4695190" algn="l"/>
              </a:tabLst>
            </a:pPr>
            <a:r>
              <a:rPr sz="2000" spc="-1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2000" spc="3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spc="-45" dirty="0">
                <a:solidFill>
                  <a:srgbClr val="213739"/>
                </a:solidFill>
                <a:latin typeface="Arial MT"/>
                <a:cs typeface="Arial MT"/>
              </a:rPr>
              <a:t>sense</a:t>
            </a:r>
            <a:r>
              <a:rPr sz="2000" spc="3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213739"/>
                </a:solidFill>
                <a:latin typeface="Arial MT"/>
                <a:cs typeface="Arial MT"/>
              </a:rPr>
              <a:t>organs</a:t>
            </a:r>
            <a:r>
              <a:rPr sz="2000" dirty="0">
                <a:solidFill>
                  <a:srgbClr val="213739"/>
                </a:solidFill>
                <a:latin typeface="Arial MT"/>
                <a:cs typeface="Arial MT"/>
              </a:rPr>
              <a:t>	</a:t>
            </a:r>
            <a:r>
              <a:rPr sz="2000" spc="-20" dirty="0">
                <a:solidFill>
                  <a:srgbClr val="213739"/>
                </a:solidFill>
                <a:latin typeface="Arial MT"/>
                <a:cs typeface="Arial MT"/>
              </a:rPr>
              <a:t>relay</a:t>
            </a:r>
            <a:r>
              <a:rPr sz="2000" dirty="0">
                <a:solidFill>
                  <a:srgbClr val="213739"/>
                </a:solidFill>
                <a:latin typeface="Arial MT"/>
                <a:cs typeface="Arial MT"/>
              </a:rPr>
              <a:t>	</a:t>
            </a:r>
            <a:r>
              <a:rPr sz="2000" spc="-10" dirty="0">
                <a:solidFill>
                  <a:srgbClr val="213739"/>
                </a:solidFill>
                <a:latin typeface="Arial MT"/>
                <a:cs typeface="Arial MT"/>
              </a:rPr>
              <a:t>information</a:t>
            </a:r>
            <a:r>
              <a:rPr sz="2000" dirty="0">
                <a:solidFill>
                  <a:srgbClr val="213739"/>
                </a:solidFill>
                <a:latin typeface="Arial MT"/>
                <a:cs typeface="Arial MT"/>
              </a:rPr>
              <a:t>	</a:t>
            </a:r>
            <a:r>
              <a:rPr sz="2000" spc="-25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2000" dirty="0">
                <a:solidFill>
                  <a:srgbClr val="213739"/>
                </a:solidFill>
                <a:latin typeface="Arial MT"/>
                <a:cs typeface="Arial MT"/>
              </a:rPr>
              <a:t>	</a:t>
            </a:r>
            <a:r>
              <a:rPr sz="2000" spc="-25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2000" spc="-40" dirty="0">
                <a:solidFill>
                  <a:srgbClr val="213739"/>
                </a:solidFill>
                <a:latin typeface="Arial MT"/>
                <a:cs typeface="Arial MT"/>
              </a:rPr>
              <a:t>lowest</a:t>
            </a:r>
            <a:r>
              <a:rPr sz="2000" spc="-11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spc="-95" dirty="0">
                <a:solidFill>
                  <a:srgbClr val="213739"/>
                </a:solidFill>
                <a:latin typeface="Arial MT"/>
                <a:cs typeface="Arial MT"/>
              </a:rPr>
              <a:t>layer</a:t>
            </a:r>
            <a:r>
              <a:rPr sz="2000" spc="-1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2000" spc="-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213739"/>
                </a:solidFill>
                <a:latin typeface="Arial MT"/>
                <a:cs typeface="Arial MT"/>
              </a:rPr>
              <a:t>neurons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40"/>
              </a:spcBef>
            </a:pPr>
            <a:endParaRPr sz="2000">
              <a:latin typeface="Arial MT"/>
              <a:cs typeface="Arial MT"/>
            </a:endParaRPr>
          </a:p>
          <a:p>
            <a:pPr marL="12700" marR="101600" algn="just">
              <a:lnSpc>
                <a:spcPct val="118000"/>
              </a:lnSpc>
            </a:pPr>
            <a:r>
              <a:rPr sz="2000" dirty="0">
                <a:solidFill>
                  <a:srgbClr val="213739"/>
                </a:solidFill>
                <a:latin typeface="Arial MT"/>
                <a:cs typeface="Arial MT"/>
              </a:rPr>
              <a:t>Some</a:t>
            </a:r>
            <a:r>
              <a:rPr sz="2000" spc="1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2000" spc="2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13739"/>
                </a:solidFill>
                <a:latin typeface="Arial MT"/>
                <a:cs typeface="Arial MT"/>
              </a:rPr>
              <a:t>these</a:t>
            </a:r>
            <a:r>
              <a:rPr sz="2000" spc="2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13739"/>
                </a:solidFill>
                <a:latin typeface="Arial MT"/>
                <a:cs typeface="Arial MT"/>
              </a:rPr>
              <a:t>neurons</a:t>
            </a:r>
            <a:r>
              <a:rPr sz="2000" spc="2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13739"/>
                </a:solidFill>
                <a:latin typeface="Arial MT"/>
                <a:cs typeface="Arial MT"/>
              </a:rPr>
              <a:t>may</a:t>
            </a:r>
            <a:r>
              <a:rPr sz="2000" spc="2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13739"/>
                </a:solidFill>
                <a:latin typeface="Arial MT"/>
                <a:cs typeface="Arial MT"/>
              </a:rPr>
              <a:t>fire</a:t>
            </a:r>
            <a:r>
              <a:rPr sz="2000" spc="2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13739"/>
                </a:solidFill>
                <a:latin typeface="Arial MT"/>
                <a:cs typeface="Arial MT"/>
              </a:rPr>
              <a:t>(in</a:t>
            </a:r>
            <a:r>
              <a:rPr sz="2000" spc="2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13739"/>
                </a:solidFill>
                <a:latin typeface="Arial MT"/>
                <a:cs typeface="Arial MT"/>
              </a:rPr>
              <a:t>red)</a:t>
            </a:r>
            <a:r>
              <a:rPr sz="2000" spc="2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213739"/>
                </a:solidFill>
                <a:latin typeface="Arial MT"/>
                <a:cs typeface="Arial MT"/>
              </a:rPr>
              <a:t>in </a:t>
            </a:r>
            <a:r>
              <a:rPr sz="2000" spc="-60" dirty="0">
                <a:solidFill>
                  <a:srgbClr val="213739"/>
                </a:solidFill>
                <a:latin typeface="Arial MT"/>
                <a:cs typeface="Arial MT"/>
              </a:rPr>
              <a:t>response</a:t>
            </a:r>
            <a:r>
              <a:rPr sz="2000" spc="1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2000" spc="2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13739"/>
                </a:solidFill>
                <a:latin typeface="Arial MT"/>
                <a:cs typeface="Arial MT"/>
              </a:rPr>
              <a:t>this</a:t>
            </a:r>
            <a:r>
              <a:rPr sz="2000" spc="2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213739"/>
                </a:solidFill>
                <a:latin typeface="Arial MT"/>
                <a:cs typeface="Arial MT"/>
              </a:rPr>
              <a:t>information</a:t>
            </a:r>
            <a:r>
              <a:rPr sz="2000" spc="2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2000" spc="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13739"/>
                </a:solidFill>
                <a:latin typeface="Arial MT"/>
                <a:cs typeface="Arial MT"/>
              </a:rPr>
              <a:t>in</a:t>
            </a:r>
            <a:r>
              <a:rPr sz="2000" spc="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13739"/>
                </a:solidFill>
                <a:latin typeface="Arial MT"/>
                <a:cs typeface="Arial MT"/>
              </a:rPr>
              <a:t>turn</a:t>
            </a:r>
            <a:r>
              <a:rPr sz="2000" spc="2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spc="-85" dirty="0">
                <a:solidFill>
                  <a:srgbClr val="213739"/>
                </a:solidFill>
                <a:latin typeface="Arial MT"/>
                <a:cs typeface="Arial MT"/>
              </a:rPr>
              <a:t>relay </a:t>
            </a:r>
            <a:r>
              <a:rPr sz="2000" spc="-50" dirty="0">
                <a:solidFill>
                  <a:srgbClr val="213739"/>
                </a:solidFill>
                <a:latin typeface="Arial MT"/>
                <a:cs typeface="Arial MT"/>
              </a:rPr>
              <a:t>information</a:t>
            </a:r>
            <a:r>
              <a:rPr sz="200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2000" spc="-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spc="-40" dirty="0">
                <a:solidFill>
                  <a:srgbClr val="213739"/>
                </a:solidFill>
                <a:latin typeface="Arial MT"/>
                <a:cs typeface="Arial MT"/>
              </a:rPr>
              <a:t>other</a:t>
            </a:r>
            <a:r>
              <a:rPr sz="20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spc="-120" dirty="0">
                <a:solidFill>
                  <a:srgbClr val="213739"/>
                </a:solidFill>
                <a:latin typeface="Arial MT"/>
                <a:cs typeface="Arial MT"/>
              </a:rPr>
              <a:t>neurons</a:t>
            </a:r>
            <a:r>
              <a:rPr sz="2000" spc="-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spc="-60" dirty="0">
                <a:solidFill>
                  <a:srgbClr val="213739"/>
                </a:solidFill>
                <a:latin typeface="Arial MT"/>
                <a:cs typeface="Arial MT"/>
              </a:rPr>
              <a:t>they</a:t>
            </a:r>
            <a:r>
              <a:rPr sz="2000" spc="-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spc="-135" dirty="0">
                <a:solidFill>
                  <a:srgbClr val="213739"/>
                </a:solidFill>
                <a:latin typeface="Arial MT"/>
                <a:cs typeface="Arial MT"/>
              </a:rPr>
              <a:t>are</a:t>
            </a:r>
            <a:r>
              <a:rPr sz="200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spc="-55" dirty="0">
                <a:solidFill>
                  <a:srgbClr val="213739"/>
                </a:solidFill>
                <a:latin typeface="Arial MT"/>
                <a:cs typeface="Arial MT"/>
              </a:rPr>
              <a:t>connected </a:t>
            </a:r>
            <a:r>
              <a:rPr sz="2000" spc="-25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30"/>
              </a:spcBef>
            </a:pPr>
            <a:endParaRPr sz="2000">
              <a:latin typeface="Arial MT"/>
              <a:cs typeface="Arial MT"/>
            </a:endParaRPr>
          </a:p>
          <a:p>
            <a:pPr marL="12700" marR="5080">
              <a:lnSpc>
                <a:spcPct val="118000"/>
              </a:lnSpc>
            </a:pPr>
            <a:r>
              <a:rPr sz="2000" spc="-75" dirty="0">
                <a:solidFill>
                  <a:srgbClr val="213739"/>
                </a:solidFill>
                <a:latin typeface="Arial MT"/>
                <a:cs typeface="Arial MT"/>
              </a:rPr>
              <a:t>These</a:t>
            </a:r>
            <a:r>
              <a:rPr sz="2000" spc="1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213739"/>
                </a:solidFill>
                <a:latin typeface="Arial MT"/>
                <a:cs typeface="Arial MT"/>
              </a:rPr>
              <a:t>neurons</a:t>
            </a:r>
            <a:r>
              <a:rPr sz="2000" spc="2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13739"/>
                </a:solidFill>
                <a:latin typeface="Arial MT"/>
                <a:cs typeface="Arial MT"/>
              </a:rPr>
              <a:t>may</a:t>
            </a:r>
            <a:r>
              <a:rPr sz="2000" spc="2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13739"/>
                </a:solidFill>
                <a:latin typeface="Arial MT"/>
                <a:cs typeface="Arial MT"/>
              </a:rPr>
              <a:t>also</a:t>
            </a:r>
            <a:r>
              <a:rPr sz="2000" spc="25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13739"/>
                </a:solidFill>
                <a:latin typeface="Arial MT"/>
                <a:cs typeface="Arial MT"/>
              </a:rPr>
              <a:t>fire</a:t>
            </a:r>
            <a:r>
              <a:rPr sz="2000" spc="2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13739"/>
                </a:solidFill>
                <a:latin typeface="Arial MT"/>
                <a:cs typeface="Arial MT"/>
              </a:rPr>
              <a:t>(again,</a:t>
            </a:r>
            <a:r>
              <a:rPr sz="2000" spc="2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13739"/>
                </a:solidFill>
                <a:latin typeface="Arial MT"/>
                <a:cs typeface="Arial MT"/>
              </a:rPr>
              <a:t>in</a:t>
            </a:r>
            <a:r>
              <a:rPr sz="2000" spc="2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213739"/>
                </a:solidFill>
                <a:latin typeface="Arial MT"/>
                <a:cs typeface="Arial MT"/>
              </a:rPr>
              <a:t>red) </a:t>
            </a:r>
            <a:r>
              <a:rPr sz="2000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200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2000" spc="-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spc="-114" dirty="0">
                <a:solidFill>
                  <a:srgbClr val="213739"/>
                </a:solidFill>
                <a:latin typeface="Arial MT"/>
                <a:cs typeface="Arial MT"/>
              </a:rPr>
              <a:t>process</a:t>
            </a:r>
            <a:r>
              <a:rPr sz="2000" spc="-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13739"/>
                </a:solidFill>
                <a:latin typeface="Arial MT"/>
                <a:cs typeface="Arial MT"/>
              </a:rPr>
              <a:t>continues,</a:t>
            </a:r>
            <a:r>
              <a:rPr sz="200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spc="-65" dirty="0">
                <a:solidFill>
                  <a:srgbClr val="213739"/>
                </a:solidFill>
                <a:latin typeface="Arial MT"/>
                <a:cs typeface="Arial MT"/>
              </a:rPr>
              <a:t>eventually</a:t>
            </a:r>
            <a:r>
              <a:rPr sz="2000" spc="-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213739"/>
                </a:solidFill>
                <a:latin typeface="Arial MT"/>
                <a:cs typeface="Arial MT"/>
              </a:rPr>
              <a:t>resulting</a:t>
            </a:r>
            <a:r>
              <a:rPr sz="1875" spc="-37" baseline="2222" dirty="0">
                <a:solidFill>
                  <a:srgbClr val="213739"/>
                </a:solidFill>
                <a:latin typeface="Arial MT"/>
                <a:cs typeface="Arial MT"/>
              </a:rPr>
              <a:t>5 </a:t>
            </a:r>
            <a:r>
              <a:rPr sz="2000" spc="-50" dirty="0">
                <a:solidFill>
                  <a:srgbClr val="213739"/>
                </a:solidFill>
                <a:latin typeface="Arial MT"/>
                <a:cs typeface="Arial MT"/>
              </a:rPr>
              <a:t>in</a:t>
            </a:r>
            <a:r>
              <a:rPr sz="200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13739"/>
                </a:solidFill>
                <a:latin typeface="Arial MT"/>
                <a:cs typeface="Arial MT"/>
              </a:rPr>
              <a:t>a</a:t>
            </a:r>
            <a:r>
              <a:rPr sz="2000" spc="-2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spc="-125" dirty="0">
                <a:solidFill>
                  <a:srgbClr val="213739"/>
                </a:solidFill>
                <a:latin typeface="Arial MT"/>
                <a:cs typeface="Arial MT"/>
              </a:rPr>
              <a:t>response</a:t>
            </a:r>
            <a:r>
              <a:rPr sz="2000" spc="-2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spc="-60" dirty="0">
                <a:solidFill>
                  <a:srgbClr val="213739"/>
                </a:solidFill>
                <a:latin typeface="Arial MT"/>
                <a:cs typeface="Arial MT"/>
              </a:rPr>
              <a:t>(laughter</a:t>
            </a:r>
            <a:r>
              <a:rPr sz="200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spc="-50" dirty="0">
                <a:solidFill>
                  <a:srgbClr val="213739"/>
                </a:solidFill>
                <a:latin typeface="Arial MT"/>
                <a:cs typeface="Arial MT"/>
              </a:rPr>
              <a:t>in</a:t>
            </a:r>
            <a:r>
              <a:rPr sz="2000" spc="-11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spc="-45" dirty="0">
                <a:solidFill>
                  <a:srgbClr val="213739"/>
                </a:solidFill>
                <a:latin typeface="Arial MT"/>
                <a:cs typeface="Arial MT"/>
              </a:rPr>
              <a:t>this</a:t>
            </a:r>
            <a:r>
              <a:rPr sz="200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213739"/>
                </a:solidFill>
                <a:latin typeface="Arial MT"/>
                <a:cs typeface="Arial MT"/>
              </a:rPr>
              <a:t>case)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5853" y="1030732"/>
            <a:ext cx="2946654" cy="4261485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307340" y="237490"/>
            <a:ext cx="36772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Biological</a:t>
            </a:r>
            <a:r>
              <a:rPr spc="-180" dirty="0"/>
              <a:t> </a:t>
            </a:r>
            <a:r>
              <a:rPr spc="-10" dirty="0"/>
              <a:t>neuron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37261" y="6643369"/>
            <a:ext cx="1173480" cy="241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20"/>
              </a:lnSpc>
            </a:pPr>
            <a:r>
              <a:rPr sz="1700" b="1" dirty="0">
                <a:solidFill>
                  <a:srgbClr val="FFFFFF"/>
                </a:solidFill>
                <a:latin typeface="Calibri"/>
                <a:cs typeface="Calibri"/>
              </a:rPr>
              <a:t>NIT</a:t>
            </a:r>
            <a:r>
              <a:rPr sz="17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b="1" spc="-10" dirty="0">
                <a:solidFill>
                  <a:srgbClr val="FFFFFF"/>
                </a:solidFill>
                <a:latin typeface="Calibri"/>
                <a:cs typeface="Calibri"/>
              </a:rPr>
              <a:t>Rourkela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68188" y="6658229"/>
            <a:ext cx="293687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dirty="0">
                <a:latin typeface="Calibri"/>
                <a:cs typeface="Calibri"/>
              </a:rPr>
              <a:t>“Deep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Learning: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Neuron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to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Perceptron”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5853" y="1030732"/>
            <a:ext cx="2946654" cy="426148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343146" y="875537"/>
            <a:ext cx="4469130" cy="164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5244" marR="43180" indent="-5080">
              <a:lnSpc>
                <a:spcPct val="117700"/>
              </a:lnSpc>
              <a:spcBef>
                <a:spcPts val="100"/>
              </a:spcBef>
            </a:pPr>
            <a:r>
              <a:rPr sz="1750" spc="-175" dirty="0">
                <a:solidFill>
                  <a:srgbClr val="213739"/>
                </a:solidFill>
                <a:latin typeface="Arial MT"/>
                <a:cs typeface="Arial MT"/>
              </a:rPr>
              <a:t>An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50" dirty="0">
                <a:solidFill>
                  <a:srgbClr val="213739"/>
                </a:solidFill>
                <a:latin typeface="Arial MT"/>
                <a:cs typeface="Arial MT"/>
              </a:rPr>
              <a:t>average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human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brain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65" dirty="0">
                <a:solidFill>
                  <a:srgbClr val="213739"/>
                </a:solidFill>
                <a:latin typeface="Arial MT"/>
                <a:cs typeface="Arial MT"/>
              </a:rPr>
              <a:t>has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around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10</a:t>
            </a:r>
            <a:r>
              <a:rPr sz="1875" baseline="24444" dirty="0">
                <a:solidFill>
                  <a:srgbClr val="213739"/>
                </a:solidFill>
                <a:latin typeface="Calibri"/>
                <a:cs typeface="Calibri"/>
              </a:rPr>
              <a:t>11</a:t>
            </a:r>
            <a:r>
              <a:rPr sz="1875" spc="322" baseline="2444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(100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bil-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lion)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neurons!</a:t>
            </a:r>
            <a:endParaRPr sz="17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60"/>
              </a:spcBef>
            </a:pPr>
            <a:endParaRPr sz="1750">
              <a:latin typeface="Arial MT"/>
              <a:cs typeface="Arial MT"/>
            </a:endParaRPr>
          </a:p>
          <a:p>
            <a:pPr marL="55244" marR="91440" indent="-5080">
              <a:lnSpc>
                <a:spcPct val="117700"/>
              </a:lnSpc>
            </a:pP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This massively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parallel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network</a:t>
            </a:r>
            <a:r>
              <a:rPr sz="1750" spc="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also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ensures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that 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there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is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division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work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7261" y="6643369"/>
            <a:ext cx="1173480" cy="241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20"/>
              </a:lnSpc>
            </a:pPr>
            <a:r>
              <a:rPr sz="1700" b="1" dirty="0">
                <a:solidFill>
                  <a:srgbClr val="FFFFFF"/>
                </a:solidFill>
                <a:latin typeface="Calibri"/>
                <a:cs typeface="Calibri"/>
              </a:rPr>
              <a:t>NIT</a:t>
            </a:r>
            <a:r>
              <a:rPr sz="17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b="1" spc="-10" dirty="0">
                <a:solidFill>
                  <a:srgbClr val="FFFFFF"/>
                </a:solidFill>
                <a:latin typeface="Calibri"/>
                <a:cs typeface="Calibri"/>
              </a:rPr>
              <a:t>Rourkela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68188" y="6658229"/>
            <a:ext cx="293687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dirty="0">
                <a:latin typeface="Calibri"/>
                <a:cs typeface="Calibri"/>
              </a:rPr>
              <a:t>“Deep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Learning: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Neuron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to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Perceptron”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67393" y="5588609"/>
            <a:ext cx="115570" cy="2197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50" spc="-50" dirty="0">
                <a:solidFill>
                  <a:srgbClr val="213739"/>
                </a:solidFill>
                <a:latin typeface="Arial MT"/>
                <a:cs typeface="Arial MT"/>
              </a:rPr>
              <a:t>6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Biological</a:t>
            </a:r>
            <a:r>
              <a:rPr spc="-180" dirty="0"/>
              <a:t> </a:t>
            </a:r>
            <a:r>
              <a:rPr spc="-10" dirty="0"/>
              <a:t>neuron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5089" y="1518591"/>
            <a:ext cx="1883261" cy="359641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381246" y="875537"/>
            <a:ext cx="4398645" cy="1344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 marR="59055" indent="-5080">
              <a:lnSpc>
                <a:spcPct val="117700"/>
              </a:lnSpc>
              <a:spcBef>
                <a:spcPts val="100"/>
              </a:spcBef>
            </a:pP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This massively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parallel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network</a:t>
            </a:r>
            <a:r>
              <a:rPr sz="1750" spc="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also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ensures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that 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there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is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division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work</a:t>
            </a:r>
            <a:endParaRPr sz="17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sz="1750" spc="-160" dirty="0">
                <a:solidFill>
                  <a:srgbClr val="213739"/>
                </a:solidFill>
                <a:latin typeface="Arial MT"/>
                <a:cs typeface="Arial MT"/>
              </a:rPr>
              <a:t>Each</a:t>
            </a:r>
            <a:r>
              <a:rPr sz="1750" spc="-3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neuron</a:t>
            </a:r>
            <a:r>
              <a:rPr sz="1750" spc="-1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may</a:t>
            </a:r>
            <a:r>
              <a:rPr sz="1750" spc="-2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perform</a:t>
            </a:r>
            <a:r>
              <a:rPr sz="1750" spc="-1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acertain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role</a:t>
            </a:r>
            <a:r>
              <a:rPr sz="1750" spc="-2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or</a:t>
            </a:r>
            <a:r>
              <a:rPr sz="1750" spc="-1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respond</a:t>
            </a:r>
            <a:endParaRPr sz="1750">
              <a:latin typeface="Arial MT"/>
              <a:cs typeface="Arial MT"/>
            </a:endParaRPr>
          </a:p>
          <a:p>
            <a:pPr marL="17145">
              <a:lnSpc>
                <a:spcPct val="100000"/>
              </a:lnSpc>
              <a:spcBef>
                <a:spcPts val="365"/>
              </a:spcBef>
            </a:pP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a</a:t>
            </a:r>
            <a:r>
              <a:rPr sz="1750" spc="-2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certain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stimulus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867393" y="5603912"/>
            <a:ext cx="115570" cy="206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spc="-50" dirty="0">
                <a:solidFill>
                  <a:srgbClr val="213739"/>
                </a:solidFill>
                <a:latin typeface="Arial MT"/>
                <a:cs typeface="Arial MT"/>
              </a:rPr>
              <a:t>6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49527" y="5610713"/>
            <a:ext cx="1867535" cy="250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550" spc="-40" dirty="0">
                <a:solidFill>
                  <a:srgbClr val="213739"/>
                </a:solidFill>
                <a:latin typeface="Arial MT"/>
                <a:cs typeface="Arial MT"/>
              </a:rPr>
              <a:t>Asimplified</a:t>
            </a:r>
            <a:r>
              <a:rPr sz="1550" spc="-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spc="-10" dirty="0">
                <a:solidFill>
                  <a:srgbClr val="213739"/>
                </a:solidFill>
                <a:latin typeface="Arial MT"/>
                <a:cs typeface="Arial MT"/>
              </a:rPr>
              <a:t>illustration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7261" y="6643369"/>
            <a:ext cx="1173480" cy="241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20"/>
              </a:lnSpc>
            </a:pPr>
            <a:r>
              <a:rPr sz="1700" b="1" dirty="0">
                <a:solidFill>
                  <a:srgbClr val="FFFFFF"/>
                </a:solidFill>
                <a:latin typeface="Calibri"/>
                <a:cs typeface="Calibri"/>
              </a:rPr>
              <a:t>NIT</a:t>
            </a:r>
            <a:r>
              <a:rPr sz="17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b="1" spc="-10" dirty="0">
                <a:solidFill>
                  <a:srgbClr val="FFFFFF"/>
                </a:solidFill>
                <a:latin typeface="Calibri"/>
                <a:cs typeface="Calibri"/>
              </a:rPr>
              <a:t>Rourkela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68188" y="6658229"/>
            <a:ext cx="293687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dirty="0">
                <a:latin typeface="Calibri"/>
                <a:cs typeface="Calibri"/>
              </a:rPr>
              <a:t>“Deep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Learning: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Neuron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to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Perceptron”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Biological</a:t>
            </a:r>
            <a:r>
              <a:rPr spc="-180" dirty="0"/>
              <a:t> </a:t>
            </a:r>
            <a:r>
              <a:rPr spc="-10" dirty="0"/>
              <a:t>neuron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5692" y="1518591"/>
            <a:ext cx="2521279" cy="359641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381246" y="875537"/>
            <a:ext cx="4398645" cy="1344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 marR="59055" indent="-5080">
              <a:lnSpc>
                <a:spcPct val="117700"/>
              </a:lnSpc>
              <a:spcBef>
                <a:spcPts val="100"/>
              </a:spcBef>
            </a:pP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This massively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parallel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network</a:t>
            </a:r>
            <a:r>
              <a:rPr sz="1750" spc="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also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ensures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that 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there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is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division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work</a:t>
            </a:r>
            <a:endParaRPr sz="17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sz="1750" spc="-160" dirty="0">
                <a:solidFill>
                  <a:srgbClr val="213739"/>
                </a:solidFill>
                <a:latin typeface="Arial MT"/>
                <a:cs typeface="Arial MT"/>
              </a:rPr>
              <a:t>Each</a:t>
            </a:r>
            <a:r>
              <a:rPr sz="1750" spc="-3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neuron</a:t>
            </a:r>
            <a:r>
              <a:rPr sz="1750" spc="-1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may</a:t>
            </a:r>
            <a:r>
              <a:rPr sz="1750" spc="-2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perform</a:t>
            </a:r>
            <a:r>
              <a:rPr sz="1750" spc="-1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acertain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role</a:t>
            </a:r>
            <a:r>
              <a:rPr sz="1750" spc="-2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or</a:t>
            </a:r>
            <a:r>
              <a:rPr sz="1750" spc="-1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respond</a:t>
            </a:r>
            <a:endParaRPr sz="1750">
              <a:latin typeface="Arial MT"/>
              <a:cs typeface="Arial MT"/>
            </a:endParaRPr>
          </a:p>
          <a:p>
            <a:pPr marL="17145">
              <a:lnSpc>
                <a:spcPct val="100000"/>
              </a:lnSpc>
              <a:spcBef>
                <a:spcPts val="365"/>
              </a:spcBef>
            </a:pP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a</a:t>
            </a:r>
            <a:r>
              <a:rPr sz="1750" spc="-2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certain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stimulus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867393" y="5603912"/>
            <a:ext cx="115570" cy="206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spc="-50" dirty="0">
                <a:solidFill>
                  <a:srgbClr val="213739"/>
                </a:solidFill>
                <a:latin typeface="Arial MT"/>
                <a:cs typeface="Arial MT"/>
              </a:rPr>
              <a:t>6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49527" y="5610713"/>
            <a:ext cx="1867535" cy="250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550" spc="-40" dirty="0">
                <a:solidFill>
                  <a:srgbClr val="213739"/>
                </a:solidFill>
                <a:latin typeface="Arial MT"/>
                <a:cs typeface="Arial MT"/>
              </a:rPr>
              <a:t>Asimplified</a:t>
            </a:r>
            <a:r>
              <a:rPr sz="1550" spc="-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spc="-10" dirty="0">
                <a:solidFill>
                  <a:srgbClr val="213739"/>
                </a:solidFill>
                <a:latin typeface="Arial MT"/>
                <a:cs typeface="Arial MT"/>
              </a:rPr>
              <a:t>illustration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7261" y="6643369"/>
            <a:ext cx="1173480" cy="241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20"/>
              </a:lnSpc>
            </a:pPr>
            <a:r>
              <a:rPr sz="1700" b="1" dirty="0">
                <a:solidFill>
                  <a:srgbClr val="FFFFFF"/>
                </a:solidFill>
                <a:latin typeface="Calibri"/>
                <a:cs typeface="Calibri"/>
              </a:rPr>
              <a:t>NIT</a:t>
            </a:r>
            <a:r>
              <a:rPr sz="17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b="1" spc="-10" dirty="0">
                <a:solidFill>
                  <a:srgbClr val="FFFFFF"/>
                </a:solidFill>
                <a:latin typeface="Calibri"/>
                <a:cs typeface="Calibri"/>
              </a:rPr>
              <a:t>Rourkela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68188" y="6658229"/>
            <a:ext cx="293687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dirty="0">
                <a:latin typeface="Calibri"/>
                <a:cs typeface="Calibri"/>
              </a:rPr>
              <a:t>“Deep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Learning: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Neuron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to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Perceptron”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Biological</a:t>
            </a:r>
            <a:r>
              <a:rPr spc="-180" dirty="0"/>
              <a:t> </a:t>
            </a:r>
            <a:r>
              <a:rPr spc="-10" dirty="0"/>
              <a:t>neuron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5692" y="1518591"/>
            <a:ext cx="2521279" cy="359641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381246" y="875537"/>
            <a:ext cx="4398645" cy="1344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 marR="59055" indent="-5080">
              <a:lnSpc>
                <a:spcPct val="117700"/>
              </a:lnSpc>
              <a:spcBef>
                <a:spcPts val="100"/>
              </a:spcBef>
            </a:pP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This massively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parallel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network</a:t>
            </a:r>
            <a:r>
              <a:rPr sz="1750" spc="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also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ensures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that 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there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is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division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work</a:t>
            </a:r>
            <a:endParaRPr sz="17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sz="1750" spc="-160" dirty="0">
                <a:solidFill>
                  <a:srgbClr val="213739"/>
                </a:solidFill>
                <a:latin typeface="Arial MT"/>
                <a:cs typeface="Arial MT"/>
              </a:rPr>
              <a:t>Each</a:t>
            </a:r>
            <a:r>
              <a:rPr sz="1750" spc="-3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neuron</a:t>
            </a:r>
            <a:r>
              <a:rPr sz="1750" spc="-1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may</a:t>
            </a:r>
            <a:r>
              <a:rPr sz="1750" spc="-2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perform</a:t>
            </a:r>
            <a:r>
              <a:rPr sz="1750" spc="-1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acertain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role</a:t>
            </a:r>
            <a:r>
              <a:rPr sz="1750" spc="-2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or</a:t>
            </a:r>
            <a:r>
              <a:rPr sz="1750" spc="-1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respond</a:t>
            </a:r>
            <a:endParaRPr sz="1750">
              <a:latin typeface="Arial MT"/>
              <a:cs typeface="Arial MT"/>
            </a:endParaRPr>
          </a:p>
          <a:p>
            <a:pPr marL="17145">
              <a:lnSpc>
                <a:spcPct val="100000"/>
              </a:lnSpc>
              <a:spcBef>
                <a:spcPts val="365"/>
              </a:spcBef>
            </a:pP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a</a:t>
            </a:r>
            <a:r>
              <a:rPr sz="1750" spc="-2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certain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stimulus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867393" y="5603912"/>
            <a:ext cx="115570" cy="206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spc="-50" dirty="0">
                <a:solidFill>
                  <a:srgbClr val="213739"/>
                </a:solidFill>
                <a:latin typeface="Arial MT"/>
                <a:cs typeface="Arial MT"/>
              </a:rPr>
              <a:t>6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49527" y="5610713"/>
            <a:ext cx="1867535" cy="250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550" spc="-40" dirty="0">
                <a:solidFill>
                  <a:srgbClr val="213739"/>
                </a:solidFill>
                <a:latin typeface="Arial MT"/>
                <a:cs typeface="Arial MT"/>
              </a:rPr>
              <a:t>Asimplified</a:t>
            </a:r>
            <a:r>
              <a:rPr sz="1550" spc="-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spc="-10" dirty="0">
                <a:solidFill>
                  <a:srgbClr val="213739"/>
                </a:solidFill>
                <a:latin typeface="Arial MT"/>
                <a:cs typeface="Arial MT"/>
              </a:rPr>
              <a:t>illustration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7261" y="6643369"/>
            <a:ext cx="1173480" cy="241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20"/>
              </a:lnSpc>
            </a:pPr>
            <a:r>
              <a:rPr sz="1700" b="1" dirty="0">
                <a:solidFill>
                  <a:srgbClr val="FFFFFF"/>
                </a:solidFill>
                <a:latin typeface="Calibri"/>
                <a:cs typeface="Calibri"/>
              </a:rPr>
              <a:t>NIT</a:t>
            </a:r>
            <a:r>
              <a:rPr sz="17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b="1" spc="-10" dirty="0">
                <a:solidFill>
                  <a:srgbClr val="FFFFFF"/>
                </a:solidFill>
                <a:latin typeface="Calibri"/>
                <a:cs typeface="Calibri"/>
              </a:rPr>
              <a:t>Rourkela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68188" y="6658229"/>
            <a:ext cx="293687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dirty="0">
                <a:latin typeface="Calibri"/>
                <a:cs typeface="Calibri"/>
              </a:rPr>
              <a:t>“Deep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Learning: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Neuron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to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Perceptron”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Biological</a:t>
            </a:r>
            <a:r>
              <a:rPr spc="-180" dirty="0"/>
              <a:t> </a:t>
            </a:r>
            <a:r>
              <a:rPr spc="-10" dirty="0"/>
              <a:t>neuron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5695" y="1518591"/>
            <a:ext cx="3136223" cy="359641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381246" y="875537"/>
            <a:ext cx="4398645" cy="1344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 marR="59055" indent="-5080">
              <a:lnSpc>
                <a:spcPct val="117700"/>
              </a:lnSpc>
              <a:spcBef>
                <a:spcPts val="100"/>
              </a:spcBef>
            </a:pP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This massively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parallel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network</a:t>
            </a:r>
            <a:r>
              <a:rPr sz="1750" spc="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also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ensures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that 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there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is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division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work</a:t>
            </a:r>
            <a:endParaRPr sz="17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sz="1750" spc="-160" dirty="0">
                <a:solidFill>
                  <a:srgbClr val="213739"/>
                </a:solidFill>
                <a:latin typeface="Arial MT"/>
                <a:cs typeface="Arial MT"/>
              </a:rPr>
              <a:t>Each</a:t>
            </a:r>
            <a:r>
              <a:rPr sz="1750" spc="-3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neuron</a:t>
            </a:r>
            <a:r>
              <a:rPr sz="1750" spc="-1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may</a:t>
            </a:r>
            <a:r>
              <a:rPr sz="1750" spc="-2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perform</a:t>
            </a:r>
            <a:r>
              <a:rPr sz="1750" spc="-1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acertain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role</a:t>
            </a:r>
            <a:r>
              <a:rPr sz="1750" spc="-2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or</a:t>
            </a:r>
            <a:r>
              <a:rPr sz="1750" spc="-1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respond</a:t>
            </a:r>
            <a:endParaRPr sz="1750">
              <a:latin typeface="Arial MT"/>
              <a:cs typeface="Arial MT"/>
            </a:endParaRPr>
          </a:p>
          <a:p>
            <a:pPr marL="17145">
              <a:lnSpc>
                <a:spcPct val="100000"/>
              </a:lnSpc>
              <a:spcBef>
                <a:spcPts val="365"/>
              </a:spcBef>
            </a:pP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a</a:t>
            </a:r>
            <a:r>
              <a:rPr sz="1750" spc="-2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certain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stimulus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867393" y="5603912"/>
            <a:ext cx="115570" cy="206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spc="-50" dirty="0">
                <a:solidFill>
                  <a:srgbClr val="213739"/>
                </a:solidFill>
                <a:latin typeface="Arial MT"/>
                <a:cs typeface="Arial MT"/>
              </a:rPr>
              <a:t>6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49527" y="5610713"/>
            <a:ext cx="1867535" cy="250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45"/>
              </a:lnSpc>
            </a:pPr>
            <a:r>
              <a:rPr sz="1550" spc="-40" dirty="0">
                <a:solidFill>
                  <a:srgbClr val="213739"/>
                </a:solidFill>
                <a:latin typeface="Arial MT"/>
                <a:cs typeface="Arial MT"/>
              </a:rPr>
              <a:t>Asimplified</a:t>
            </a:r>
            <a:r>
              <a:rPr sz="1550" spc="-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spc="-10" dirty="0">
                <a:solidFill>
                  <a:srgbClr val="213739"/>
                </a:solidFill>
                <a:latin typeface="Arial MT"/>
                <a:cs typeface="Arial MT"/>
              </a:rPr>
              <a:t>illustration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7261" y="6643369"/>
            <a:ext cx="1173480" cy="241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20"/>
              </a:lnSpc>
            </a:pPr>
            <a:r>
              <a:rPr sz="1700" b="1" dirty="0">
                <a:solidFill>
                  <a:srgbClr val="FFFFFF"/>
                </a:solidFill>
                <a:latin typeface="Calibri"/>
                <a:cs typeface="Calibri"/>
              </a:rPr>
              <a:t>NIT</a:t>
            </a:r>
            <a:r>
              <a:rPr sz="17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b="1" spc="-10" dirty="0">
                <a:solidFill>
                  <a:srgbClr val="FFFFFF"/>
                </a:solidFill>
                <a:latin typeface="Calibri"/>
                <a:cs typeface="Calibri"/>
              </a:rPr>
              <a:t>Rourkela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68188" y="6658229"/>
            <a:ext cx="293687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dirty="0">
                <a:latin typeface="Calibri"/>
                <a:cs typeface="Calibri"/>
              </a:rPr>
              <a:t>“Deep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Learning: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Neuron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to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Perceptron”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Biological</a:t>
            </a:r>
            <a:r>
              <a:rPr spc="-180" dirty="0"/>
              <a:t> </a:t>
            </a:r>
            <a:r>
              <a:rPr spc="-10" dirty="0"/>
              <a:t>neuron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5695" y="1166809"/>
            <a:ext cx="3136223" cy="402947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49527" y="5359400"/>
            <a:ext cx="1867535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spc="-40" dirty="0">
                <a:solidFill>
                  <a:srgbClr val="213739"/>
                </a:solidFill>
                <a:latin typeface="Arial MT"/>
                <a:cs typeface="Arial MT"/>
              </a:rPr>
              <a:t>Asimplified</a:t>
            </a:r>
            <a:r>
              <a:rPr sz="1550" spc="-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spc="-10" dirty="0">
                <a:solidFill>
                  <a:srgbClr val="213739"/>
                </a:solidFill>
                <a:latin typeface="Arial MT"/>
                <a:cs typeface="Arial MT"/>
              </a:rPr>
              <a:t>illustration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63990" y="5669686"/>
            <a:ext cx="10287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50" dirty="0">
                <a:solidFill>
                  <a:srgbClr val="888888"/>
                </a:solidFill>
                <a:latin typeface="Calibri"/>
                <a:cs typeface="Calibri"/>
              </a:rPr>
              <a:t>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7261" y="6643369"/>
            <a:ext cx="1173480" cy="241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20"/>
              </a:lnSpc>
            </a:pPr>
            <a:r>
              <a:rPr sz="1700" b="1" dirty="0">
                <a:solidFill>
                  <a:srgbClr val="FFFFFF"/>
                </a:solidFill>
                <a:latin typeface="Calibri"/>
                <a:cs typeface="Calibri"/>
              </a:rPr>
              <a:t>NIT</a:t>
            </a:r>
            <a:r>
              <a:rPr sz="17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b="1" spc="-10" dirty="0">
                <a:solidFill>
                  <a:srgbClr val="FFFFFF"/>
                </a:solidFill>
                <a:latin typeface="Calibri"/>
                <a:cs typeface="Calibri"/>
              </a:rPr>
              <a:t>Rourkela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68188" y="6658229"/>
            <a:ext cx="293687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dirty="0">
                <a:latin typeface="Calibri"/>
                <a:cs typeface="Calibri"/>
              </a:rPr>
              <a:t>“Deep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Learning: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Neuron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to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Perceptron”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Biological</a:t>
            </a:r>
            <a:r>
              <a:rPr spc="-180" dirty="0"/>
              <a:t> </a:t>
            </a:r>
            <a:r>
              <a:rPr spc="-10" dirty="0"/>
              <a:t>neuron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381246" y="875537"/>
            <a:ext cx="4398645" cy="1344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 marR="59055" indent="-5080">
              <a:lnSpc>
                <a:spcPct val="117700"/>
              </a:lnSpc>
              <a:spcBef>
                <a:spcPts val="100"/>
              </a:spcBef>
            </a:pP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This massively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parallel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network</a:t>
            </a:r>
            <a:r>
              <a:rPr sz="1750" spc="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also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ensures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that 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there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is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division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work</a:t>
            </a:r>
            <a:endParaRPr sz="17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sz="1750" spc="-160" dirty="0">
                <a:solidFill>
                  <a:srgbClr val="213739"/>
                </a:solidFill>
                <a:latin typeface="Arial MT"/>
                <a:cs typeface="Arial MT"/>
              </a:rPr>
              <a:t>Each</a:t>
            </a:r>
            <a:r>
              <a:rPr sz="1750" spc="-3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neuron</a:t>
            </a:r>
            <a:r>
              <a:rPr sz="1750" spc="-1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may</a:t>
            </a:r>
            <a:r>
              <a:rPr sz="1750" spc="-2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perform</a:t>
            </a:r>
            <a:r>
              <a:rPr sz="1750" spc="-1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acertain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role</a:t>
            </a:r>
            <a:r>
              <a:rPr sz="1750" spc="-2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or</a:t>
            </a:r>
            <a:r>
              <a:rPr sz="1750" spc="-1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respond</a:t>
            </a:r>
            <a:endParaRPr sz="1750">
              <a:latin typeface="Arial MT"/>
              <a:cs typeface="Arial MT"/>
            </a:endParaRPr>
          </a:p>
          <a:p>
            <a:pPr marL="17145">
              <a:lnSpc>
                <a:spcPct val="100000"/>
              </a:lnSpc>
              <a:spcBef>
                <a:spcPts val="365"/>
              </a:spcBef>
            </a:pP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a</a:t>
            </a:r>
            <a:r>
              <a:rPr sz="1750" spc="-2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certain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stimulus</a:t>
            </a:r>
            <a:endParaRPr sz="175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25400" y="-25400"/>
            <a:ext cx="9194800" cy="6908800"/>
            <a:chOff x="-25400" y="-25400"/>
            <a:chExt cx="9194800" cy="69088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7023" y="1097203"/>
              <a:ext cx="4292423" cy="296992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05729" y="1040752"/>
              <a:ext cx="3100451" cy="71057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757673" y="5024120"/>
              <a:ext cx="2900680" cy="0"/>
            </a:xfrm>
            <a:custGeom>
              <a:avLst/>
              <a:gdLst/>
              <a:ahLst/>
              <a:cxnLst/>
              <a:rect l="l" t="t" r="r" b="b"/>
              <a:pathLst>
                <a:path w="2900679">
                  <a:moveTo>
                    <a:pt x="0" y="0"/>
                  </a:moveTo>
                  <a:lnTo>
                    <a:pt x="2900299" y="0"/>
                  </a:lnTo>
                </a:path>
              </a:pathLst>
            </a:custGeom>
            <a:ln w="5053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417314" y="4194175"/>
            <a:ext cx="3926840" cy="1090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0360" marR="653415">
              <a:lnSpc>
                <a:spcPct val="117700"/>
              </a:lnSpc>
              <a:spcBef>
                <a:spcPts val="100"/>
              </a:spcBef>
            </a:pP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Sample</a:t>
            </a:r>
            <a:r>
              <a:rPr sz="1750" spc="-1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illustration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-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hierarchical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processing</a:t>
            </a:r>
            <a:r>
              <a:rPr sz="1875" spc="-15" baseline="24444" dirty="0">
                <a:solidFill>
                  <a:srgbClr val="213739"/>
                </a:solidFill>
                <a:latin typeface="Lucida Sans Unicode"/>
                <a:cs typeface="Lucida Sans Unicode"/>
              </a:rPr>
              <a:t>∗</a:t>
            </a:r>
            <a:endParaRPr sz="1875" baseline="24444">
              <a:latin typeface="Lucida Sans Unicode"/>
              <a:cs typeface="Lucida Sans Unicode"/>
            </a:endParaRPr>
          </a:p>
          <a:p>
            <a:pPr marL="50800">
              <a:lnSpc>
                <a:spcPct val="100000"/>
              </a:lnSpc>
              <a:spcBef>
                <a:spcPts val="1755"/>
              </a:spcBef>
            </a:pPr>
            <a:r>
              <a:rPr sz="1425" spc="-127" baseline="32163" dirty="0">
                <a:solidFill>
                  <a:srgbClr val="394A4E"/>
                </a:solidFill>
                <a:latin typeface="Lucida Sans Unicode"/>
                <a:cs typeface="Lucida Sans Unicode"/>
              </a:rPr>
              <a:t>∗</a:t>
            </a:r>
            <a:r>
              <a:rPr sz="1400" spc="-85" dirty="0">
                <a:solidFill>
                  <a:srgbClr val="394A4E"/>
                </a:solidFill>
                <a:latin typeface="Arial MT"/>
                <a:cs typeface="Arial MT"/>
              </a:rPr>
              <a:t>Idea</a:t>
            </a:r>
            <a:r>
              <a:rPr sz="1400" spc="-70" dirty="0">
                <a:solidFill>
                  <a:srgbClr val="394A4E"/>
                </a:solidFill>
                <a:latin typeface="Arial MT"/>
                <a:cs typeface="Arial MT"/>
              </a:rPr>
              <a:t> </a:t>
            </a:r>
            <a:r>
              <a:rPr sz="1400" spc="-60" dirty="0">
                <a:solidFill>
                  <a:srgbClr val="394A4E"/>
                </a:solidFill>
                <a:latin typeface="Arial MT"/>
                <a:cs typeface="Arial MT"/>
              </a:rPr>
              <a:t>borrowed</a:t>
            </a:r>
            <a:r>
              <a:rPr sz="1400" spc="-65" dirty="0">
                <a:solidFill>
                  <a:srgbClr val="394A4E"/>
                </a:solidFill>
                <a:latin typeface="Arial MT"/>
                <a:cs typeface="Arial MT"/>
              </a:rPr>
              <a:t> </a:t>
            </a:r>
            <a:r>
              <a:rPr sz="1400" spc="-30" dirty="0">
                <a:solidFill>
                  <a:srgbClr val="394A4E"/>
                </a:solidFill>
                <a:latin typeface="Arial MT"/>
                <a:cs typeface="Arial MT"/>
              </a:rPr>
              <a:t>from</a:t>
            </a:r>
            <a:r>
              <a:rPr sz="1400" spc="-40" dirty="0">
                <a:solidFill>
                  <a:srgbClr val="394A4E"/>
                </a:solidFill>
                <a:latin typeface="Arial MT"/>
                <a:cs typeface="Arial MT"/>
              </a:rPr>
              <a:t> </a:t>
            </a:r>
            <a:r>
              <a:rPr sz="1400" spc="-60" dirty="0">
                <a:solidFill>
                  <a:srgbClr val="394A4E"/>
                </a:solidFill>
                <a:latin typeface="Arial MT"/>
                <a:cs typeface="Arial MT"/>
              </a:rPr>
              <a:t>Hugo</a:t>
            </a:r>
            <a:r>
              <a:rPr sz="1400" spc="-55" dirty="0">
                <a:solidFill>
                  <a:srgbClr val="394A4E"/>
                </a:solidFill>
                <a:latin typeface="Arial MT"/>
                <a:cs typeface="Arial MT"/>
              </a:rPr>
              <a:t> </a:t>
            </a:r>
            <a:r>
              <a:rPr sz="1400" spc="-70" dirty="0">
                <a:solidFill>
                  <a:srgbClr val="394A4E"/>
                </a:solidFill>
                <a:latin typeface="Arial MT"/>
                <a:cs typeface="Arial MT"/>
              </a:rPr>
              <a:t>Larochele’s</a:t>
            </a:r>
            <a:r>
              <a:rPr sz="1400" spc="-90" dirty="0">
                <a:solidFill>
                  <a:srgbClr val="394A4E"/>
                </a:solidFill>
                <a:latin typeface="Arial MT"/>
                <a:cs typeface="Arial MT"/>
              </a:rPr>
              <a:t> </a:t>
            </a:r>
            <a:r>
              <a:rPr sz="1400" spc="-50" dirty="0">
                <a:solidFill>
                  <a:srgbClr val="394A4E"/>
                </a:solidFill>
                <a:latin typeface="Arial MT"/>
                <a:cs typeface="Arial MT"/>
              </a:rPr>
              <a:t>lecture</a:t>
            </a:r>
            <a:r>
              <a:rPr sz="1400" spc="-45" dirty="0">
                <a:solidFill>
                  <a:srgbClr val="394A4E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394A4E"/>
                </a:solidFill>
                <a:latin typeface="Arial MT"/>
                <a:cs typeface="Arial MT"/>
              </a:rPr>
              <a:t>slides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885935" y="5619456"/>
            <a:ext cx="115570" cy="206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spc="-50" dirty="0">
                <a:solidFill>
                  <a:srgbClr val="213739"/>
                </a:solidFill>
                <a:latin typeface="Arial MT"/>
                <a:cs typeface="Arial MT"/>
              </a:rPr>
              <a:t>8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7261" y="6643369"/>
            <a:ext cx="1173480" cy="241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20"/>
              </a:lnSpc>
            </a:pPr>
            <a:r>
              <a:rPr sz="1700" b="1" dirty="0">
                <a:solidFill>
                  <a:srgbClr val="FFFFFF"/>
                </a:solidFill>
                <a:latin typeface="Calibri"/>
                <a:cs typeface="Calibri"/>
              </a:rPr>
              <a:t>NIT</a:t>
            </a:r>
            <a:r>
              <a:rPr sz="17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b="1" spc="-10" dirty="0">
                <a:solidFill>
                  <a:srgbClr val="FFFFFF"/>
                </a:solidFill>
                <a:latin typeface="Calibri"/>
                <a:cs typeface="Calibri"/>
              </a:rPr>
              <a:t>Rourkela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568188" y="6658229"/>
            <a:ext cx="293687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dirty="0">
                <a:latin typeface="Calibri"/>
                <a:cs typeface="Calibri"/>
              </a:rPr>
              <a:t>“Deep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Learning: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Neuron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to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Perceptron”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Biological</a:t>
            </a:r>
            <a:r>
              <a:rPr spc="-155" dirty="0"/>
              <a:t> </a:t>
            </a:r>
            <a:r>
              <a:rPr dirty="0"/>
              <a:t>neuron</a:t>
            </a:r>
            <a:r>
              <a:rPr spc="-140" dirty="0"/>
              <a:t> </a:t>
            </a:r>
            <a:r>
              <a:rPr spc="-10" dirty="0"/>
              <a:t>(hierarchy)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25400" y="-25400"/>
            <a:ext cx="9194800" cy="6908800"/>
            <a:chOff x="-25400" y="-25400"/>
            <a:chExt cx="9194800" cy="69088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7023" y="1097203"/>
              <a:ext cx="4292423" cy="296992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05729" y="1040752"/>
              <a:ext cx="3100451" cy="71057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05729" y="2132609"/>
              <a:ext cx="3100451" cy="71084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757673" y="5024120"/>
              <a:ext cx="2900680" cy="0"/>
            </a:xfrm>
            <a:custGeom>
              <a:avLst/>
              <a:gdLst/>
              <a:ahLst/>
              <a:cxnLst/>
              <a:rect l="l" t="t" r="r" b="b"/>
              <a:pathLst>
                <a:path w="2900679">
                  <a:moveTo>
                    <a:pt x="0" y="0"/>
                  </a:moveTo>
                  <a:lnTo>
                    <a:pt x="2900299" y="0"/>
                  </a:lnTo>
                </a:path>
              </a:pathLst>
            </a:custGeom>
            <a:ln w="5053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416933" y="4194175"/>
            <a:ext cx="3926840" cy="1090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9725" marR="653415">
              <a:lnSpc>
                <a:spcPct val="117700"/>
              </a:lnSpc>
              <a:spcBef>
                <a:spcPts val="100"/>
              </a:spcBef>
            </a:pP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Sample</a:t>
            </a:r>
            <a:r>
              <a:rPr sz="1750" spc="-1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illustration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hierarchical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processing</a:t>
            </a:r>
            <a:r>
              <a:rPr sz="1875" spc="-15" baseline="24444" dirty="0">
                <a:solidFill>
                  <a:srgbClr val="213739"/>
                </a:solidFill>
                <a:latin typeface="Lucida Sans Unicode"/>
                <a:cs typeface="Lucida Sans Unicode"/>
              </a:rPr>
              <a:t>∗</a:t>
            </a:r>
            <a:endParaRPr sz="1875" baseline="24444">
              <a:latin typeface="Lucida Sans Unicode"/>
              <a:cs typeface="Lucida Sans Unicode"/>
            </a:endParaRPr>
          </a:p>
          <a:p>
            <a:pPr marL="50800">
              <a:lnSpc>
                <a:spcPct val="100000"/>
              </a:lnSpc>
              <a:spcBef>
                <a:spcPts val="1755"/>
              </a:spcBef>
            </a:pPr>
            <a:r>
              <a:rPr sz="1425" spc="-127" baseline="32163" dirty="0">
                <a:solidFill>
                  <a:srgbClr val="394A4E"/>
                </a:solidFill>
                <a:latin typeface="Lucida Sans Unicode"/>
                <a:cs typeface="Lucida Sans Unicode"/>
              </a:rPr>
              <a:t>∗</a:t>
            </a:r>
            <a:r>
              <a:rPr sz="1400" spc="-85" dirty="0">
                <a:solidFill>
                  <a:srgbClr val="394A4E"/>
                </a:solidFill>
                <a:latin typeface="Arial MT"/>
                <a:cs typeface="Arial MT"/>
              </a:rPr>
              <a:t>Idea</a:t>
            </a:r>
            <a:r>
              <a:rPr sz="1400" spc="-75" dirty="0">
                <a:solidFill>
                  <a:srgbClr val="394A4E"/>
                </a:solidFill>
                <a:latin typeface="Arial MT"/>
                <a:cs typeface="Arial MT"/>
              </a:rPr>
              <a:t> </a:t>
            </a:r>
            <a:r>
              <a:rPr sz="1400" spc="-60" dirty="0">
                <a:solidFill>
                  <a:srgbClr val="394A4E"/>
                </a:solidFill>
                <a:latin typeface="Arial MT"/>
                <a:cs typeface="Arial MT"/>
              </a:rPr>
              <a:t>borrowed </a:t>
            </a:r>
            <a:r>
              <a:rPr sz="1400" spc="-30" dirty="0">
                <a:solidFill>
                  <a:srgbClr val="394A4E"/>
                </a:solidFill>
                <a:latin typeface="Arial MT"/>
                <a:cs typeface="Arial MT"/>
              </a:rPr>
              <a:t>from</a:t>
            </a:r>
            <a:r>
              <a:rPr sz="1400" spc="-40" dirty="0">
                <a:solidFill>
                  <a:srgbClr val="394A4E"/>
                </a:solidFill>
                <a:latin typeface="Arial MT"/>
                <a:cs typeface="Arial MT"/>
              </a:rPr>
              <a:t> </a:t>
            </a:r>
            <a:r>
              <a:rPr sz="1400" spc="-60" dirty="0">
                <a:solidFill>
                  <a:srgbClr val="394A4E"/>
                </a:solidFill>
                <a:latin typeface="Arial MT"/>
                <a:cs typeface="Arial MT"/>
              </a:rPr>
              <a:t>Hugo</a:t>
            </a:r>
            <a:r>
              <a:rPr sz="1400" spc="-55" dirty="0">
                <a:solidFill>
                  <a:srgbClr val="394A4E"/>
                </a:solidFill>
                <a:latin typeface="Arial MT"/>
                <a:cs typeface="Arial MT"/>
              </a:rPr>
              <a:t> </a:t>
            </a:r>
            <a:r>
              <a:rPr sz="1400" spc="-70" dirty="0">
                <a:solidFill>
                  <a:srgbClr val="394A4E"/>
                </a:solidFill>
                <a:latin typeface="Arial MT"/>
                <a:cs typeface="Arial MT"/>
              </a:rPr>
              <a:t>Larochele’s</a:t>
            </a:r>
            <a:r>
              <a:rPr sz="1400" spc="-95" dirty="0">
                <a:solidFill>
                  <a:srgbClr val="394A4E"/>
                </a:solidFill>
                <a:latin typeface="Arial MT"/>
                <a:cs typeface="Arial MT"/>
              </a:rPr>
              <a:t> </a:t>
            </a:r>
            <a:r>
              <a:rPr sz="1400" spc="-50" dirty="0">
                <a:solidFill>
                  <a:srgbClr val="394A4E"/>
                </a:solidFill>
                <a:latin typeface="Arial MT"/>
                <a:cs typeface="Arial MT"/>
              </a:rPr>
              <a:t>lecture</a:t>
            </a:r>
            <a:r>
              <a:rPr sz="1400" spc="-35" dirty="0">
                <a:solidFill>
                  <a:srgbClr val="394A4E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394A4E"/>
                </a:solidFill>
                <a:latin typeface="Arial MT"/>
                <a:cs typeface="Arial MT"/>
              </a:rPr>
              <a:t>slides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885935" y="5619456"/>
            <a:ext cx="115570" cy="206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spc="-50" dirty="0">
                <a:solidFill>
                  <a:srgbClr val="213739"/>
                </a:solidFill>
                <a:latin typeface="Arial MT"/>
                <a:cs typeface="Arial MT"/>
              </a:rPr>
              <a:t>8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7261" y="6643369"/>
            <a:ext cx="1173480" cy="241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20"/>
              </a:lnSpc>
            </a:pPr>
            <a:r>
              <a:rPr sz="1700" b="1" dirty="0">
                <a:solidFill>
                  <a:srgbClr val="FFFFFF"/>
                </a:solidFill>
                <a:latin typeface="Calibri"/>
                <a:cs typeface="Calibri"/>
              </a:rPr>
              <a:t>NIT</a:t>
            </a:r>
            <a:r>
              <a:rPr sz="17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b="1" spc="-10" dirty="0">
                <a:solidFill>
                  <a:srgbClr val="FFFFFF"/>
                </a:solidFill>
                <a:latin typeface="Calibri"/>
                <a:cs typeface="Calibri"/>
              </a:rPr>
              <a:t>Rourkela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568188" y="6658229"/>
            <a:ext cx="293687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dirty="0">
                <a:latin typeface="Calibri"/>
                <a:cs typeface="Calibri"/>
              </a:rPr>
              <a:t>“Deep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Learning: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Neuron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to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Perceptron”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Biological</a:t>
            </a:r>
            <a:r>
              <a:rPr spc="-155" dirty="0"/>
              <a:t> </a:t>
            </a:r>
            <a:r>
              <a:rPr dirty="0"/>
              <a:t>neuron</a:t>
            </a:r>
            <a:r>
              <a:rPr spc="-140" dirty="0"/>
              <a:t> </a:t>
            </a:r>
            <a:r>
              <a:rPr spc="-10" dirty="0"/>
              <a:t>(hierarchy)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25400" y="-25400"/>
            <a:ext cx="9194800" cy="6908800"/>
            <a:chOff x="-25400" y="-25400"/>
            <a:chExt cx="9194800" cy="69088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7023" y="1097203"/>
              <a:ext cx="4292423" cy="296992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05729" y="1040752"/>
              <a:ext cx="3100451" cy="71057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05729" y="2132609"/>
              <a:ext cx="3100451" cy="71084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05729" y="3302567"/>
              <a:ext cx="3100451" cy="71368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757673" y="5024120"/>
              <a:ext cx="2900680" cy="0"/>
            </a:xfrm>
            <a:custGeom>
              <a:avLst/>
              <a:gdLst/>
              <a:ahLst/>
              <a:cxnLst/>
              <a:rect l="l" t="t" r="r" b="b"/>
              <a:pathLst>
                <a:path w="2900679">
                  <a:moveTo>
                    <a:pt x="0" y="0"/>
                  </a:moveTo>
                  <a:lnTo>
                    <a:pt x="2900299" y="0"/>
                  </a:lnTo>
                </a:path>
              </a:pathLst>
            </a:custGeom>
            <a:ln w="5053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Biological</a:t>
            </a:r>
            <a:r>
              <a:rPr spc="-155" dirty="0"/>
              <a:t> </a:t>
            </a:r>
            <a:r>
              <a:rPr dirty="0"/>
              <a:t>neuron</a:t>
            </a:r>
            <a:r>
              <a:rPr spc="-140" dirty="0"/>
              <a:t> </a:t>
            </a:r>
            <a:r>
              <a:rPr spc="-10" dirty="0"/>
              <a:t>(hierarchy)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37261" y="6643369"/>
            <a:ext cx="1173480" cy="241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20"/>
              </a:lnSpc>
            </a:pPr>
            <a:r>
              <a:rPr sz="1700" b="1" dirty="0">
                <a:solidFill>
                  <a:srgbClr val="FFFFFF"/>
                </a:solidFill>
                <a:latin typeface="Calibri"/>
                <a:cs typeface="Calibri"/>
              </a:rPr>
              <a:t>NIT</a:t>
            </a:r>
            <a:r>
              <a:rPr sz="17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b="1" spc="-10" dirty="0">
                <a:solidFill>
                  <a:srgbClr val="FFFFFF"/>
                </a:solidFill>
                <a:latin typeface="Calibri"/>
                <a:cs typeface="Calibri"/>
              </a:rPr>
              <a:t>Rourkela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568188" y="6658229"/>
            <a:ext cx="293687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dirty="0">
                <a:latin typeface="Calibri"/>
                <a:cs typeface="Calibri"/>
              </a:rPr>
              <a:t>“Deep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Learning: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Neuron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to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Perceptron”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04614" y="4194175"/>
            <a:ext cx="4768850" cy="164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3060" marR="1482725">
              <a:lnSpc>
                <a:spcPct val="117700"/>
              </a:lnSpc>
              <a:spcBef>
                <a:spcPts val="100"/>
              </a:spcBef>
            </a:pP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Sample</a:t>
            </a:r>
            <a:r>
              <a:rPr sz="1750" spc="-1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illustration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-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hierarchical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processing</a:t>
            </a:r>
            <a:r>
              <a:rPr sz="1875" spc="-15" baseline="24444" dirty="0">
                <a:solidFill>
                  <a:srgbClr val="213739"/>
                </a:solidFill>
                <a:latin typeface="Lucida Sans Unicode"/>
                <a:cs typeface="Lucida Sans Unicode"/>
              </a:rPr>
              <a:t>∗</a:t>
            </a:r>
            <a:endParaRPr sz="1875" baseline="24444">
              <a:latin typeface="Lucida Sans Unicode"/>
              <a:cs typeface="Lucida Sans Unicode"/>
            </a:endParaRPr>
          </a:p>
          <a:p>
            <a:pPr marL="63500">
              <a:lnSpc>
                <a:spcPct val="100000"/>
              </a:lnSpc>
              <a:spcBef>
                <a:spcPts val="1755"/>
              </a:spcBef>
            </a:pPr>
            <a:r>
              <a:rPr sz="1425" spc="-127" baseline="32163" dirty="0">
                <a:solidFill>
                  <a:srgbClr val="394A4E"/>
                </a:solidFill>
                <a:latin typeface="Lucida Sans Unicode"/>
                <a:cs typeface="Lucida Sans Unicode"/>
              </a:rPr>
              <a:t>∗</a:t>
            </a:r>
            <a:r>
              <a:rPr sz="1400" spc="-85" dirty="0">
                <a:solidFill>
                  <a:srgbClr val="394A4E"/>
                </a:solidFill>
                <a:latin typeface="Arial MT"/>
                <a:cs typeface="Arial MT"/>
              </a:rPr>
              <a:t>Idea</a:t>
            </a:r>
            <a:r>
              <a:rPr sz="1400" spc="-70" dirty="0">
                <a:solidFill>
                  <a:srgbClr val="394A4E"/>
                </a:solidFill>
                <a:latin typeface="Arial MT"/>
                <a:cs typeface="Arial MT"/>
              </a:rPr>
              <a:t> </a:t>
            </a:r>
            <a:r>
              <a:rPr sz="1400" spc="-60" dirty="0">
                <a:solidFill>
                  <a:srgbClr val="394A4E"/>
                </a:solidFill>
                <a:latin typeface="Arial MT"/>
                <a:cs typeface="Arial MT"/>
              </a:rPr>
              <a:t>borrowed</a:t>
            </a:r>
            <a:r>
              <a:rPr sz="1400" spc="-65" dirty="0">
                <a:solidFill>
                  <a:srgbClr val="394A4E"/>
                </a:solidFill>
                <a:latin typeface="Arial MT"/>
                <a:cs typeface="Arial MT"/>
              </a:rPr>
              <a:t> </a:t>
            </a:r>
            <a:r>
              <a:rPr sz="1400" spc="-30" dirty="0">
                <a:solidFill>
                  <a:srgbClr val="394A4E"/>
                </a:solidFill>
                <a:latin typeface="Arial MT"/>
                <a:cs typeface="Arial MT"/>
              </a:rPr>
              <a:t>from</a:t>
            </a:r>
            <a:r>
              <a:rPr sz="1400" spc="-40" dirty="0">
                <a:solidFill>
                  <a:srgbClr val="394A4E"/>
                </a:solidFill>
                <a:latin typeface="Arial MT"/>
                <a:cs typeface="Arial MT"/>
              </a:rPr>
              <a:t> </a:t>
            </a:r>
            <a:r>
              <a:rPr sz="1400" spc="-60" dirty="0">
                <a:solidFill>
                  <a:srgbClr val="394A4E"/>
                </a:solidFill>
                <a:latin typeface="Arial MT"/>
                <a:cs typeface="Arial MT"/>
              </a:rPr>
              <a:t>Hugo</a:t>
            </a:r>
            <a:r>
              <a:rPr sz="1400" spc="-55" dirty="0">
                <a:solidFill>
                  <a:srgbClr val="394A4E"/>
                </a:solidFill>
                <a:latin typeface="Arial MT"/>
                <a:cs typeface="Arial MT"/>
              </a:rPr>
              <a:t> </a:t>
            </a:r>
            <a:r>
              <a:rPr sz="1400" spc="-70" dirty="0">
                <a:solidFill>
                  <a:srgbClr val="394A4E"/>
                </a:solidFill>
                <a:latin typeface="Arial MT"/>
                <a:cs typeface="Arial MT"/>
              </a:rPr>
              <a:t>Larochele’s</a:t>
            </a:r>
            <a:r>
              <a:rPr sz="1400" spc="-90" dirty="0">
                <a:solidFill>
                  <a:srgbClr val="394A4E"/>
                </a:solidFill>
                <a:latin typeface="Arial MT"/>
                <a:cs typeface="Arial MT"/>
              </a:rPr>
              <a:t> </a:t>
            </a:r>
            <a:r>
              <a:rPr sz="1400" spc="-50" dirty="0">
                <a:solidFill>
                  <a:srgbClr val="394A4E"/>
                </a:solidFill>
                <a:latin typeface="Arial MT"/>
                <a:cs typeface="Arial MT"/>
              </a:rPr>
              <a:t>lecture</a:t>
            </a:r>
            <a:r>
              <a:rPr sz="1400" spc="-45" dirty="0">
                <a:solidFill>
                  <a:srgbClr val="394A4E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394A4E"/>
                </a:solidFill>
                <a:latin typeface="Arial MT"/>
                <a:cs typeface="Arial MT"/>
              </a:rPr>
              <a:t>slides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25"/>
              </a:spcBef>
            </a:pPr>
            <a:endParaRPr sz="1400">
              <a:latin typeface="Arial MT"/>
              <a:cs typeface="Arial MT"/>
            </a:endParaRPr>
          </a:p>
          <a:p>
            <a:pPr marR="17780" algn="r">
              <a:lnSpc>
                <a:spcPct val="100000"/>
              </a:lnSpc>
              <a:spcBef>
                <a:spcPts val="5"/>
              </a:spcBef>
            </a:pPr>
            <a:r>
              <a:rPr sz="1200" spc="-50" dirty="0">
                <a:solidFill>
                  <a:srgbClr val="888888"/>
                </a:solidFill>
                <a:latin typeface="Calibri"/>
                <a:cs typeface="Calibri"/>
              </a:rPr>
              <a:t>8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676400"/>
            <a:ext cx="4419600" cy="609600"/>
          </a:xfrm>
          <a:custGeom>
            <a:avLst/>
            <a:gdLst/>
            <a:ahLst/>
            <a:cxnLst/>
            <a:rect l="l" t="t" r="r" b="b"/>
            <a:pathLst>
              <a:path w="4419600" h="609600">
                <a:moveTo>
                  <a:pt x="4419600" y="0"/>
                </a:moveTo>
                <a:lnTo>
                  <a:pt x="0" y="0"/>
                </a:lnTo>
                <a:lnTo>
                  <a:pt x="0" y="609600"/>
                </a:lnTo>
                <a:lnTo>
                  <a:pt x="4419600" y="609600"/>
                </a:lnTo>
                <a:lnTo>
                  <a:pt x="441960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25400" y="-25400"/>
            <a:ext cx="9194800" cy="6908800"/>
            <a:chOff x="-25400" y="-25400"/>
            <a:chExt cx="9194800" cy="6908800"/>
          </a:xfrm>
        </p:grpSpPr>
        <p:sp>
          <p:nvSpPr>
            <p:cNvPr id="4" name="object 4"/>
            <p:cNvSpPr/>
            <p:nvPr/>
          </p:nvSpPr>
          <p:spPr>
            <a:xfrm>
              <a:off x="1447800" y="6629399"/>
              <a:ext cx="7696200" cy="228600"/>
            </a:xfrm>
            <a:custGeom>
              <a:avLst/>
              <a:gdLst/>
              <a:ahLst/>
              <a:cxnLst/>
              <a:rect l="l" t="t" r="r" b="b"/>
              <a:pathLst>
                <a:path w="7696200" h="228600">
                  <a:moveTo>
                    <a:pt x="0" y="228600"/>
                  </a:moveTo>
                  <a:lnTo>
                    <a:pt x="7696200" y="228600"/>
                  </a:lnTo>
                  <a:lnTo>
                    <a:pt x="76962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EE8B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629399"/>
              <a:ext cx="1447800" cy="228600"/>
            </a:xfrm>
            <a:custGeom>
              <a:avLst/>
              <a:gdLst/>
              <a:ahLst/>
              <a:cxnLst/>
              <a:rect l="l" t="t" r="r" b="b"/>
              <a:pathLst>
                <a:path w="1447800" h="228600">
                  <a:moveTo>
                    <a:pt x="14478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1447800" y="228600"/>
                  </a:lnTo>
                  <a:lnTo>
                    <a:pt x="14478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l" t="t" r="r" b="b"/>
              <a:pathLst>
                <a:path w="9144000" h="6858000">
                  <a:moveTo>
                    <a:pt x="0" y="6858000"/>
                  </a:moveTo>
                  <a:lnTo>
                    <a:pt x="9144000" y="685800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6858000"/>
                  </a:lnTo>
                  <a:close/>
                </a:path>
              </a:pathLst>
            </a:custGeom>
            <a:ln w="508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529319" y="6428638"/>
            <a:ext cx="1720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10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7261" y="6643369"/>
            <a:ext cx="1173480" cy="241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20"/>
              </a:lnSpc>
            </a:pPr>
            <a:r>
              <a:rPr sz="1700" b="1" dirty="0">
                <a:solidFill>
                  <a:srgbClr val="FFFFFF"/>
                </a:solidFill>
                <a:latin typeface="Calibri"/>
                <a:cs typeface="Calibri"/>
              </a:rPr>
              <a:t>NIT</a:t>
            </a:r>
            <a:r>
              <a:rPr sz="17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b="1" spc="-10" dirty="0">
                <a:solidFill>
                  <a:srgbClr val="FFFFFF"/>
                </a:solidFill>
                <a:latin typeface="Calibri"/>
                <a:cs typeface="Calibri"/>
              </a:rPr>
              <a:t>Rourkela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568188" y="6658229"/>
            <a:ext cx="293687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dirty="0">
                <a:latin typeface="Calibri"/>
                <a:cs typeface="Calibri"/>
              </a:rPr>
              <a:t>“Deep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Learning: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Neuron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to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Perceptron”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739" y="1658239"/>
            <a:ext cx="389890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sz="2700" b="1" spc="-65" dirty="0">
                <a:solidFill>
                  <a:srgbClr val="FFFFFF"/>
                </a:solidFill>
                <a:latin typeface="Trebuchet MS"/>
                <a:cs typeface="Trebuchet MS"/>
              </a:rPr>
              <a:t>McCulloch</a:t>
            </a:r>
            <a:r>
              <a:rPr sz="2700" b="1" spc="-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700" b="1" spc="-80" dirty="0">
                <a:solidFill>
                  <a:srgbClr val="FFFFFF"/>
                </a:solidFill>
                <a:latin typeface="Trebuchet MS"/>
                <a:cs typeface="Trebuchet MS"/>
              </a:rPr>
              <a:t>Pitts</a:t>
            </a:r>
            <a:r>
              <a:rPr sz="2700" b="1" spc="-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700" b="1" spc="-45" dirty="0">
                <a:solidFill>
                  <a:srgbClr val="FFFFFF"/>
                </a:solidFill>
                <a:latin typeface="Trebuchet MS"/>
                <a:cs typeface="Trebuchet MS"/>
              </a:rPr>
              <a:t>Neuron</a:t>
            </a:r>
            <a:endParaRPr sz="270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1339" y="1783143"/>
            <a:ext cx="1145540" cy="1145540"/>
            <a:chOff x="961339" y="1783143"/>
            <a:chExt cx="1145540" cy="1145540"/>
          </a:xfrm>
        </p:grpSpPr>
        <p:sp>
          <p:nvSpPr>
            <p:cNvPr id="3" name="object 3"/>
            <p:cNvSpPr/>
            <p:nvPr/>
          </p:nvSpPr>
          <p:spPr>
            <a:xfrm>
              <a:off x="962926" y="1784730"/>
              <a:ext cx="1142365" cy="571500"/>
            </a:xfrm>
            <a:custGeom>
              <a:avLst/>
              <a:gdLst/>
              <a:ahLst/>
              <a:cxnLst/>
              <a:rect l="l" t="t" r="r" b="b"/>
              <a:pathLst>
                <a:path w="1142364" h="571500">
                  <a:moveTo>
                    <a:pt x="570979" y="0"/>
                  </a:moveTo>
                  <a:lnTo>
                    <a:pt x="493509" y="5207"/>
                  </a:lnTo>
                  <a:lnTo>
                    <a:pt x="419087" y="20447"/>
                  </a:lnTo>
                  <a:lnTo>
                    <a:pt x="348729" y="44958"/>
                  </a:lnTo>
                  <a:lnTo>
                    <a:pt x="282765" y="77978"/>
                  </a:lnTo>
                  <a:lnTo>
                    <a:pt x="222046" y="118999"/>
                  </a:lnTo>
                  <a:lnTo>
                    <a:pt x="167208" y="167259"/>
                  </a:lnTo>
                  <a:lnTo>
                    <a:pt x="118948" y="222123"/>
                  </a:lnTo>
                  <a:lnTo>
                    <a:pt x="77939" y="282829"/>
                  </a:lnTo>
                  <a:lnTo>
                    <a:pt x="44856" y="348742"/>
                  </a:lnTo>
                  <a:lnTo>
                    <a:pt x="20383" y="419227"/>
                  </a:lnTo>
                  <a:lnTo>
                    <a:pt x="5206" y="493522"/>
                  </a:lnTo>
                  <a:lnTo>
                    <a:pt x="0" y="570992"/>
                  </a:lnTo>
                  <a:lnTo>
                    <a:pt x="1141844" y="570992"/>
                  </a:lnTo>
                  <a:lnTo>
                    <a:pt x="1136637" y="493522"/>
                  </a:lnTo>
                  <a:lnTo>
                    <a:pt x="1121524" y="419227"/>
                  </a:lnTo>
                  <a:lnTo>
                    <a:pt x="1097013" y="348742"/>
                  </a:lnTo>
                  <a:lnTo>
                    <a:pt x="1063866" y="282829"/>
                  </a:lnTo>
                  <a:lnTo>
                    <a:pt x="1022845" y="222123"/>
                  </a:lnTo>
                  <a:lnTo>
                    <a:pt x="974585" y="167259"/>
                  </a:lnTo>
                  <a:lnTo>
                    <a:pt x="919848" y="118999"/>
                  </a:lnTo>
                  <a:lnTo>
                    <a:pt x="859142" y="77978"/>
                  </a:lnTo>
                  <a:lnTo>
                    <a:pt x="793102" y="44958"/>
                  </a:lnTo>
                  <a:lnTo>
                    <a:pt x="722744" y="20447"/>
                  </a:lnTo>
                  <a:lnTo>
                    <a:pt x="648449" y="5207"/>
                  </a:lnTo>
                  <a:lnTo>
                    <a:pt x="570979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62926" y="1784730"/>
              <a:ext cx="1142365" cy="1142365"/>
            </a:xfrm>
            <a:custGeom>
              <a:avLst/>
              <a:gdLst/>
              <a:ahLst/>
              <a:cxnLst/>
              <a:rect l="l" t="t" r="r" b="b"/>
              <a:pathLst>
                <a:path w="1142364" h="1142364">
                  <a:moveTo>
                    <a:pt x="1141844" y="570992"/>
                  </a:moveTo>
                  <a:lnTo>
                    <a:pt x="1136637" y="493522"/>
                  </a:lnTo>
                  <a:lnTo>
                    <a:pt x="1121524" y="419227"/>
                  </a:lnTo>
                  <a:lnTo>
                    <a:pt x="1097013" y="348742"/>
                  </a:lnTo>
                  <a:lnTo>
                    <a:pt x="1063866" y="282829"/>
                  </a:lnTo>
                  <a:lnTo>
                    <a:pt x="1022845" y="222123"/>
                  </a:lnTo>
                  <a:lnTo>
                    <a:pt x="974585" y="167259"/>
                  </a:lnTo>
                  <a:lnTo>
                    <a:pt x="919848" y="118999"/>
                  </a:lnTo>
                  <a:lnTo>
                    <a:pt x="859142" y="77978"/>
                  </a:lnTo>
                  <a:lnTo>
                    <a:pt x="793102" y="44958"/>
                  </a:lnTo>
                  <a:lnTo>
                    <a:pt x="722744" y="20447"/>
                  </a:lnTo>
                  <a:lnTo>
                    <a:pt x="648449" y="5207"/>
                  </a:lnTo>
                  <a:lnTo>
                    <a:pt x="570979" y="0"/>
                  </a:lnTo>
                  <a:lnTo>
                    <a:pt x="493509" y="5207"/>
                  </a:lnTo>
                  <a:lnTo>
                    <a:pt x="419087" y="20447"/>
                  </a:lnTo>
                  <a:lnTo>
                    <a:pt x="348729" y="44958"/>
                  </a:lnTo>
                  <a:lnTo>
                    <a:pt x="282765" y="77978"/>
                  </a:lnTo>
                  <a:lnTo>
                    <a:pt x="222046" y="118999"/>
                  </a:lnTo>
                  <a:lnTo>
                    <a:pt x="167208" y="167259"/>
                  </a:lnTo>
                  <a:lnTo>
                    <a:pt x="118948" y="222123"/>
                  </a:lnTo>
                  <a:lnTo>
                    <a:pt x="77939" y="282829"/>
                  </a:lnTo>
                  <a:lnTo>
                    <a:pt x="44856" y="348742"/>
                  </a:lnTo>
                  <a:lnTo>
                    <a:pt x="20383" y="419227"/>
                  </a:lnTo>
                  <a:lnTo>
                    <a:pt x="5206" y="493522"/>
                  </a:lnTo>
                  <a:lnTo>
                    <a:pt x="0" y="570992"/>
                  </a:lnTo>
                  <a:lnTo>
                    <a:pt x="5206" y="648462"/>
                  </a:lnTo>
                  <a:lnTo>
                    <a:pt x="20383" y="722757"/>
                  </a:lnTo>
                  <a:lnTo>
                    <a:pt x="44856" y="793242"/>
                  </a:lnTo>
                  <a:lnTo>
                    <a:pt x="77939" y="859155"/>
                  </a:lnTo>
                  <a:lnTo>
                    <a:pt x="118948" y="919861"/>
                  </a:lnTo>
                  <a:lnTo>
                    <a:pt x="167208" y="974725"/>
                  </a:lnTo>
                  <a:lnTo>
                    <a:pt x="222046" y="1022985"/>
                  </a:lnTo>
                  <a:lnTo>
                    <a:pt x="282765" y="1064006"/>
                  </a:lnTo>
                  <a:lnTo>
                    <a:pt x="348729" y="1097026"/>
                  </a:lnTo>
                  <a:lnTo>
                    <a:pt x="419087" y="1121537"/>
                  </a:lnTo>
                  <a:lnTo>
                    <a:pt x="493509" y="1136650"/>
                  </a:lnTo>
                  <a:lnTo>
                    <a:pt x="570979" y="1141857"/>
                  </a:lnTo>
                  <a:lnTo>
                    <a:pt x="648449" y="1136650"/>
                  </a:lnTo>
                  <a:lnTo>
                    <a:pt x="722744" y="1121537"/>
                  </a:lnTo>
                  <a:lnTo>
                    <a:pt x="793102" y="1097026"/>
                  </a:lnTo>
                  <a:lnTo>
                    <a:pt x="859142" y="1064006"/>
                  </a:lnTo>
                  <a:lnTo>
                    <a:pt x="919848" y="1022985"/>
                  </a:lnTo>
                  <a:lnTo>
                    <a:pt x="974585" y="974725"/>
                  </a:lnTo>
                  <a:lnTo>
                    <a:pt x="1022845" y="919861"/>
                  </a:lnTo>
                  <a:lnTo>
                    <a:pt x="1063866" y="859155"/>
                  </a:lnTo>
                  <a:lnTo>
                    <a:pt x="1097013" y="793242"/>
                  </a:lnTo>
                  <a:lnTo>
                    <a:pt x="1121524" y="722757"/>
                  </a:lnTo>
                  <a:lnTo>
                    <a:pt x="1136637" y="648462"/>
                  </a:lnTo>
                  <a:lnTo>
                    <a:pt x="1141844" y="570992"/>
                  </a:lnTo>
                  <a:close/>
                </a:path>
                <a:path w="1142364" h="1142364">
                  <a:moveTo>
                    <a:pt x="0" y="570992"/>
                  </a:moveTo>
                  <a:lnTo>
                    <a:pt x="1141844" y="570992"/>
                  </a:lnTo>
                </a:path>
              </a:pathLst>
            </a:custGeom>
            <a:ln w="3175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516737" y="3280917"/>
            <a:ext cx="71755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477520" algn="l"/>
              </a:tabLst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60119" y="3261741"/>
            <a:ext cx="55753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40690" algn="l"/>
              </a:tabLst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..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..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58822" y="3292550"/>
            <a:ext cx="1085850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9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i="1" spc="135" baseline="-8888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i="1" spc="187" baseline="-8888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∈</a:t>
            </a:r>
            <a:r>
              <a:rPr sz="1750" spc="-26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{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3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spc="-25" dirty="0">
                <a:solidFill>
                  <a:srgbClr val="213739"/>
                </a:solidFill>
                <a:latin typeface="Lucida Sans Unicode"/>
                <a:cs typeface="Lucida Sans Unicode"/>
              </a:rPr>
              <a:t>}</a:t>
            </a:r>
            <a:endParaRPr sz="1750">
              <a:latin typeface="Lucida Sans Unicode"/>
              <a:cs typeface="Lucida Sans Unicode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99386" y="1402470"/>
            <a:ext cx="1732914" cy="2009139"/>
            <a:chOff x="799386" y="1402470"/>
            <a:chExt cx="1732914" cy="2009139"/>
          </a:xfrm>
        </p:grpSpPr>
        <p:sp>
          <p:nvSpPr>
            <p:cNvPr id="9" name="object 9"/>
            <p:cNvSpPr/>
            <p:nvPr/>
          </p:nvSpPr>
          <p:spPr>
            <a:xfrm>
              <a:off x="801916" y="2857754"/>
              <a:ext cx="440690" cy="499109"/>
            </a:xfrm>
            <a:custGeom>
              <a:avLst/>
              <a:gdLst/>
              <a:ahLst/>
              <a:cxnLst/>
              <a:rect l="l" t="t" r="r" b="b"/>
              <a:pathLst>
                <a:path w="440690" h="499110">
                  <a:moveTo>
                    <a:pt x="0" y="498729"/>
                  </a:moveTo>
                  <a:lnTo>
                    <a:pt x="440232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78477" y="2851664"/>
              <a:ext cx="77368" cy="68821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172679" y="2915538"/>
              <a:ext cx="210185" cy="441325"/>
            </a:xfrm>
            <a:custGeom>
              <a:avLst/>
              <a:gdLst/>
              <a:ahLst/>
              <a:cxnLst/>
              <a:rect l="l" t="t" r="r" b="b"/>
              <a:pathLst>
                <a:path w="210184" h="441325">
                  <a:moveTo>
                    <a:pt x="0" y="440944"/>
                  </a:moveTo>
                  <a:lnTo>
                    <a:pt x="209715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20042" y="2909320"/>
              <a:ext cx="92192" cy="63617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485646" y="2915538"/>
              <a:ext cx="434340" cy="493395"/>
            </a:xfrm>
            <a:custGeom>
              <a:avLst/>
              <a:gdLst/>
              <a:ahLst/>
              <a:cxnLst/>
              <a:rect l="l" t="t" r="r" b="b"/>
              <a:pathLst>
                <a:path w="434339" h="493395">
                  <a:moveTo>
                    <a:pt x="48259" y="493140"/>
                  </a:moveTo>
                  <a:lnTo>
                    <a:pt x="48259" y="19176"/>
                  </a:lnTo>
                </a:path>
                <a:path w="434339" h="493395">
                  <a:moveTo>
                    <a:pt x="0" y="56896"/>
                  </a:moveTo>
                  <a:lnTo>
                    <a:pt x="18922" y="49530"/>
                  </a:lnTo>
                  <a:lnTo>
                    <a:pt x="32892" y="39497"/>
                  </a:lnTo>
                  <a:lnTo>
                    <a:pt x="42417" y="27812"/>
                  </a:lnTo>
                  <a:lnTo>
                    <a:pt x="48259" y="15112"/>
                  </a:lnTo>
                  <a:lnTo>
                    <a:pt x="54101" y="27812"/>
                  </a:lnTo>
                  <a:lnTo>
                    <a:pt x="63500" y="39497"/>
                  </a:lnTo>
                  <a:lnTo>
                    <a:pt x="77469" y="49530"/>
                  </a:lnTo>
                  <a:lnTo>
                    <a:pt x="96392" y="56896"/>
                  </a:lnTo>
                </a:path>
                <a:path w="434339" h="493395">
                  <a:moveTo>
                    <a:pt x="434212" y="493140"/>
                  </a:moveTo>
                  <a:lnTo>
                    <a:pt x="199771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55449" y="2909320"/>
              <a:ext cx="92319" cy="63617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827022" y="2856102"/>
              <a:ext cx="702310" cy="454659"/>
            </a:xfrm>
            <a:custGeom>
              <a:avLst/>
              <a:gdLst/>
              <a:ahLst/>
              <a:cxnLst/>
              <a:rect l="l" t="t" r="r" b="b"/>
              <a:pathLst>
                <a:path w="702310" h="454660">
                  <a:moveTo>
                    <a:pt x="702309" y="454406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21054" y="2833498"/>
              <a:ext cx="66544" cy="8622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485646" y="1405001"/>
              <a:ext cx="96520" cy="379730"/>
            </a:xfrm>
            <a:custGeom>
              <a:avLst/>
              <a:gdLst/>
              <a:ahLst/>
              <a:cxnLst/>
              <a:rect l="l" t="t" r="r" b="b"/>
              <a:pathLst>
                <a:path w="96519" h="379730">
                  <a:moveTo>
                    <a:pt x="48259" y="379729"/>
                  </a:moveTo>
                  <a:lnTo>
                    <a:pt x="48259" y="3937"/>
                  </a:lnTo>
                </a:path>
                <a:path w="96519" h="379730">
                  <a:moveTo>
                    <a:pt x="0" y="41656"/>
                  </a:moveTo>
                  <a:lnTo>
                    <a:pt x="18922" y="34416"/>
                  </a:lnTo>
                  <a:lnTo>
                    <a:pt x="32892" y="24384"/>
                  </a:lnTo>
                  <a:lnTo>
                    <a:pt x="42417" y="12573"/>
                  </a:lnTo>
                  <a:lnTo>
                    <a:pt x="48259" y="0"/>
                  </a:lnTo>
                  <a:lnTo>
                    <a:pt x="54101" y="12573"/>
                  </a:lnTo>
                  <a:lnTo>
                    <a:pt x="63500" y="24384"/>
                  </a:lnTo>
                  <a:lnTo>
                    <a:pt x="77469" y="34416"/>
                  </a:lnTo>
                  <a:lnTo>
                    <a:pt x="96392" y="41656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381246" y="875537"/>
            <a:ext cx="4410710" cy="967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 marR="5080" indent="-5080" algn="just">
              <a:lnSpc>
                <a:spcPct val="117700"/>
              </a:lnSpc>
              <a:spcBef>
                <a:spcPts val="100"/>
              </a:spcBef>
            </a:pP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McCulloch</a:t>
            </a:r>
            <a:r>
              <a:rPr sz="1750" spc="4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(neuroscientist)</a:t>
            </a:r>
            <a:r>
              <a:rPr sz="1750" spc="4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750" spc="4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Pitts</a:t>
            </a:r>
            <a:r>
              <a:rPr sz="1750" spc="4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(logician)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proposed</a:t>
            </a:r>
            <a:r>
              <a:rPr sz="1750" spc="-1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a</a:t>
            </a:r>
            <a:r>
              <a:rPr sz="1750" spc="-2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highly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simplified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computational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model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neuron</a:t>
            </a:r>
            <a:r>
              <a:rPr sz="1750" spc="-1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(1943)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781415" y="5604826"/>
            <a:ext cx="172085" cy="206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spc="-105" dirty="0">
                <a:solidFill>
                  <a:srgbClr val="213739"/>
                </a:solidFill>
                <a:latin typeface="Arial MT"/>
                <a:cs typeface="Arial MT"/>
              </a:rPr>
              <a:t>11</a:t>
            </a:r>
            <a:endParaRPr sz="125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1339" y="1783143"/>
            <a:ext cx="1145540" cy="1145540"/>
            <a:chOff x="961339" y="1783143"/>
            <a:chExt cx="1145540" cy="1145540"/>
          </a:xfrm>
        </p:grpSpPr>
        <p:sp>
          <p:nvSpPr>
            <p:cNvPr id="3" name="object 3"/>
            <p:cNvSpPr/>
            <p:nvPr/>
          </p:nvSpPr>
          <p:spPr>
            <a:xfrm>
              <a:off x="962926" y="1784730"/>
              <a:ext cx="1142365" cy="571500"/>
            </a:xfrm>
            <a:custGeom>
              <a:avLst/>
              <a:gdLst/>
              <a:ahLst/>
              <a:cxnLst/>
              <a:rect l="l" t="t" r="r" b="b"/>
              <a:pathLst>
                <a:path w="1142364" h="571500">
                  <a:moveTo>
                    <a:pt x="570979" y="0"/>
                  </a:moveTo>
                  <a:lnTo>
                    <a:pt x="493509" y="5207"/>
                  </a:lnTo>
                  <a:lnTo>
                    <a:pt x="419087" y="20447"/>
                  </a:lnTo>
                  <a:lnTo>
                    <a:pt x="348729" y="44958"/>
                  </a:lnTo>
                  <a:lnTo>
                    <a:pt x="282765" y="77978"/>
                  </a:lnTo>
                  <a:lnTo>
                    <a:pt x="222046" y="118999"/>
                  </a:lnTo>
                  <a:lnTo>
                    <a:pt x="167208" y="167259"/>
                  </a:lnTo>
                  <a:lnTo>
                    <a:pt x="118948" y="222123"/>
                  </a:lnTo>
                  <a:lnTo>
                    <a:pt x="77939" y="282829"/>
                  </a:lnTo>
                  <a:lnTo>
                    <a:pt x="44856" y="348742"/>
                  </a:lnTo>
                  <a:lnTo>
                    <a:pt x="20383" y="419227"/>
                  </a:lnTo>
                  <a:lnTo>
                    <a:pt x="5206" y="493522"/>
                  </a:lnTo>
                  <a:lnTo>
                    <a:pt x="0" y="570992"/>
                  </a:lnTo>
                  <a:lnTo>
                    <a:pt x="1141844" y="570992"/>
                  </a:lnTo>
                  <a:lnTo>
                    <a:pt x="1136637" y="493522"/>
                  </a:lnTo>
                  <a:lnTo>
                    <a:pt x="1121524" y="419227"/>
                  </a:lnTo>
                  <a:lnTo>
                    <a:pt x="1097013" y="348742"/>
                  </a:lnTo>
                  <a:lnTo>
                    <a:pt x="1063866" y="282829"/>
                  </a:lnTo>
                  <a:lnTo>
                    <a:pt x="1022845" y="222123"/>
                  </a:lnTo>
                  <a:lnTo>
                    <a:pt x="974585" y="167259"/>
                  </a:lnTo>
                  <a:lnTo>
                    <a:pt x="919848" y="118999"/>
                  </a:lnTo>
                  <a:lnTo>
                    <a:pt x="859142" y="77978"/>
                  </a:lnTo>
                  <a:lnTo>
                    <a:pt x="793102" y="44958"/>
                  </a:lnTo>
                  <a:lnTo>
                    <a:pt x="722744" y="20447"/>
                  </a:lnTo>
                  <a:lnTo>
                    <a:pt x="648449" y="5207"/>
                  </a:lnTo>
                  <a:lnTo>
                    <a:pt x="570979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62926" y="1784730"/>
              <a:ext cx="1142365" cy="1142365"/>
            </a:xfrm>
            <a:custGeom>
              <a:avLst/>
              <a:gdLst/>
              <a:ahLst/>
              <a:cxnLst/>
              <a:rect l="l" t="t" r="r" b="b"/>
              <a:pathLst>
                <a:path w="1142364" h="1142364">
                  <a:moveTo>
                    <a:pt x="1141844" y="570992"/>
                  </a:moveTo>
                  <a:lnTo>
                    <a:pt x="1136637" y="493522"/>
                  </a:lnTo>
                  <a:lnTo>
                    <a:pt x="1121524" y="419227"/>
                  </a:lnTo>
                  <a:lnTo>
                    <a:pt x="1097013" y="348742"/>
                  </a:lnTo>
                  <a:lnTo>
                    <a:pt x="1063866" y="282829"/>
                  </a:lnTo>
                  <a:lnTo>
                    <a:pt x="1022845" y="222123"/>
                  </a:lnTo>
                  <a:lnTo>
                    <a:pt x="974585" y="167259"/>
                  </a:lnTo>
                  <a:lnTo>
                    <a:pt x="919848" y="118999"/>
                  </a:lnTo>
                  <a:lnTo>
                    <a:pt x="859142" y="77978"/>
                  </a:lnTo>
                  <a:lnTo>
                    <a:pt x="793102" y="44958"/>
                  </a:lnTo>
                  <a:lnTo>
                    <a:pt x="722744" y="20447"/>
                  </a:lnTo>
                  <a:lnTo>
                    <a:pt x="648449" y="5207"/>
                  </a:lnTo>
                  <a:lnTo>
                    <a:pt x="570979" y="0"/>
                  </a:lnTo>
                  <a:lnTo>
                    <a:pt x="493509" y="5207"/>
                  </a:lnTo>
                  <a:lnTo>
                    <a:pt x="419087" y="20447"/>
                  </a:lnTo>
                  <a:lnTo>
                    <a:pt x="348729" y="44958"/>
                  </a:lnTo>
                  <a:lnTo>
                    <a:pt x="282765" y="77978"/>
                  </a:lnTo>
                  <a:lnTo>
                    <a:pt x="222046" y="118999"/>
                  </a:lnTo>
                  <a:lnTo>
                    <a:pt x="167208" y="167259"/>
                  </a:lnTo>
                  <a:lnTo>
                    <a:pt x="118948" y="222123"/>
                  </a:lnTo>
                  <a:lnTo>
                    <a:pt x="77939" y="282829"/>
                  </a:lnTo>
                  <a:lnTo>
                    <a:pt x="44856" y="348742"/>
                  </a:lnTo>
                  <a:lnTo>
                    <a:pt x="20383" y="419227"/>
                  </a:lnTo>
                  <a:lnTo>
                    <a:pt x="5206" y="493522"/>
                  </a:lnTo>
                  <a:lnTo>
                    <a:pt x="0" y="570992"/>
                  </a:lnTo>
                  <a:lnTo>
                    <a:pt x="5206" y="648462"/>
                  </a:lnTo>
                  <a:lnTo>
                    <a:pt x="20383" y="722757"/>
                  </a:lnTo>
                  <a:lnTo>
                    <a:pt x="44856" y="793242"/>
                  </a:lnTo>
                  <a:lnTo>
                    <a:pt x="77939" y="859155"/>
                  </a:lnTo>
                  <a:lnTo>
                    <a:pt x="118948" y="919861"/>
                  </a:lnTo>
                  <a:lnTo>
                    <a:pt x="167208" y="974725"/>
                  </a:lnTo>
                  <a:lnTo>
                    <a:pt x="222046" y="1022985"/>
                  </a:lnTo>
                  <a:lnTo>
                    <a:pt x="282765" y="1064006"/>
                  </a:lnTo>
                  <a:lnTo>
                    <a:pt x="348729" y="1097026"/>
                  </a:lnTo>
                  <a:lnTo>
                    <a:pt x="419087" y="1121537"/>
                  </a:lnTo>
                  <a:lnTo>
                    <a:pt x="493509" y="1136650"/>
                  </a:lnTo>
                  <a:lnTo>
                    <a:pt x="570979" y="1141857"/>
                  </a:lnTo>
                  <a:lnTo>
                    <a:pt x="648449" y="1136650"/>
                  </a:lnTo>
                  <a:lnTo>
                    <a:pt x="722744" y="1121537"/>
                  </a:lnTo>
                  <a:lnTo>
                    <a:pt x="793102" y="1097026"/>
                  </a:lnTo>
                  <a:lnTo>
                    <a:pt x="859142" y="1064006"/>
                  </a:lnTo>
                  <a:lnTo>
                    <a:pt x="919848" y="1022985"/>
                  </a:lnTo>
                  <a:lnTo>
                    <a:pt x="974585" y="974725"/>
                  </a:lnTo>
                  <a:lnTo>
                    <a:pt x="1022845" y="919861"/>
                  </a:lnTo>
                  <a:lnTo>
                    <a:pt x="1063866" y="859155"/>
                  </a:lnTo>
                  <a:lnTo>
                    <a:pt x="1097013" y="793242"/>
                  </a:lnTo>
                  <a:lnTo>
                    <a:pt x="1121524" y="722757"/>
                  </a:lnTo>
                  <a:lnTo>
                    <a:pt x="1136637" y="648462"/>
                  </a:lnTo>
                  <a:lnTo>
                    <a:pt x="1141844" y="570992"/>
                  </a:lnTo>
                  <a:close/>
                </a:path>
                <a:path w="1142364" h="1142364">
                  <a:moveTo>
                    <a:pt x="0" y="570992"/>
                  </a:moveTo>
                  <a:lnTo>
                    <a:pt x="1141844" y="570992"/>
                  </a:lnTo>
                </a:path>
              </a:pathLst>
            </a:custGeom>
            <a:ln w="3175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516737" y="3280917"/>
            <a:ext cx="71755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477520" algn="l"/>
              </a:tabLst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60119" y="3261741"/>
            <a:ext cx="55753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40690" algn="l"/>
              </a:tabLst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..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..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58822" y="3292550"/>
            <a:ext cx="1085850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9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i="1" spc="135" baseline="-8888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i="1" spc="187" baseline="-8888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∈</a:t>
            </a:r>
            <a:r>
              <a:rPr sz="1750" spc="-26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{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3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spc="-25" dirty="0">
                <a:solidFill>
                  <a:srgbClr val="213739"/>
                </a:solidFill>
                <a:latin typeface="Lucida Sans Unicode"/>
                <a:cs typeface="Lucida Sans Unicode"/>
              </a:rPr>
              <a:t>}</a:t>
            </a:r>
            <a:endParaRPr sz="175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60500" y="1008634"/>
            <a:ext cx="91313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y</a:t>
            </a:r>
            <a:r>
              <a:rPr sz="1750" i="1" spc="22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∈</a:t>
            </a:r>
            <a:r>
              <a:rPr sz="1750" spc="-24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{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5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spc="-25" dirty="0">
                <a:solidFill>
                  <a:srgbClr val="213739"/>
                </a:solidFill>
                <a:latin typeface="Lucida Sans Unicode"/>
                <a:cs typeface="Lucida Sans Unicode"/>
              </a:rPr>
              <a:t>}</a:t>
            </a:r>
            <a:endParaRPr sz="175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64691" y="2419604"/>
            <a:ext cx="13906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g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55547" y="1877009"/>
            <a:ext cx="93345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f</a:t>
            </a:r>
            <a:endParaRPr sz="175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99386" y="1402470"/>
            <a:ext cx="1732914" cy="2009139"/>
            <a:chOff x="799386" y="1402470"/>
            <a:chExt cx="1732914" cy="2009139"/>
          </a:xfrm>
        </p:grpSpPr>
        <p:sp>
          <p:nvSpPr>
            <p:cNvPr id="12" name="object 12"/>
            <p:cNvSpPr/>
            <p:nvPr/>
          </p:nvSpPr>
          <p:spPr>
            <a:xfrm>
              <a:off x="801916" y="2857754"/>
              <a:ext cx="440690" cy="499109"/>
            </a:xfrm>
            <a:custGeom>
              <a:avLst/>
              <a:gdLst/>
              <a:ahLst/>
              <a:cxnLst/>
              <a:rect l="l" t="t" r="r" b="b"/>
              <a:pathLst>
                <a:path w="440690" h="499110">
                  <a:moveTo>
                    <a:pt x="0" y="498729"/>
                  </a:moveTo>
                  <a:lnTo>
                    <a:pt x="440232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78477" y="2851664"/>
              <a:ext cx="77368" cy="68821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172679" y="2915538"/>
              <a:ext cx="210185" cy="441325"/>
            </a:xfrm>
            <a:custGeom>
              <a:avLst/>
              <a:gdLst/>
              <a:ahLst/>
              <a:cxnLst/>
              <a:rect l="l" t="t" r="r" b="b"/>
              <a:pathLst>
                <a:path w="210184" h="441325">
                  <a:moveTo>
                    <a:pt x="0" y="440944"/>
                  </a:moveTo>
                  <a:lnTo>
                    <a:pt x="209715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20042" y="2909320"/>
              <a:ext cx="92192" cy="63617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485646" y="2915538"/>
              <a:ext cx="434340" cy="493395"/>
            </a:xfrm>
            <a:custGeom>
              <a:avLst/>
              <a:gdLst/>
              <a:ahLst/>
              <a:cxnLst/>
              <a:rect l="l" t="t" r="r" b="b"/>
              <a:pathLst>
                <a:path w="434339" h="493395">
                  <a:moveTo>
                    <a:pt x="48259" y="493140"/>
                  </a:moveTo>
                  <a:lnTo>
                    <a:pt x="48259" y="19176"/>
                  </a:lnTo>
                </a:path>
                <a:path w="434339" h="493395">
                  <a:moveTo>
                    <a:pt x="0" y="56896"/>
                  </a:moveTo>
                  <a:lnTo>
                    <a:pt x="18922" y="49530"/>
                  </a:lnTo>
                  <a:lnTo>
                    <a:pt x="32892" y="39497"/>
                  </a:lnTo>
                  <a:lnTo>
                    <a:pt x="42417" y="27812"/>
                  </a:lnTo>
                  <a:lnTo>
                    <a:pt x="48259" y="15112"/>
                  </a:lnTo>
                  <a:lnTo>
                    <a:pt x="54101" y="27812"/>
                  </a:lnTo>
                  <a:lnTo>
                    <a:pt x="63500" y="39497"/>
                  </a:lnTo>
                  <a:lnTo>
                    <a:pt x="77469" y="49530"/>
                  </a:lnTo>
                  <a:lnTo>
                    <a:pt x="96392" y="56896"/>
                  </a:lnTo>
                </a:path>
                <a:path w="434339" h="493395">
                  <a:moveTo>
                    <a:pt x="434212" y="493140"/>
                  </a:moveTo>
                  <a:lnTo>
                    <a:pt x="199771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55449" y="2909320"/>
              <a:ext cx="92319" cy="63617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827022" y="2856102"/>
              <a:ext cx="702310" cy="454659"/>
            </a:xfrm>
            <a:custGeom>
              <a:avLst/>
              <a:gdLst/>
              <a:ahLst/>
              <a:cxnLst/>
              <a:rect l="l" t="t" r="r" b="b"/>
              <a:pathLst>
                <a:path w="702310" h="454660">
                  <a:moveTo>
                    <a:pt x="702309" y="454406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21054" y="2833498"/>
              <a:ext cx="66544" cy="86229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485646" y="1405001"/>
              <a:ext cx="96520" cy="379730"/>
            </a:xfrm>
            <a:custGeom>
              <a:avLst/>
              <a:gdLst/>
              <a:ahLst/>
              <a:cxnLst/>
              <a:rect l="l" t="t" r="r" b="b"/>
              <a:pathLst>
                <a:path w="96519" h="379730">
                  <a:moveTo>
                    <a:pt x="48259" y="379729"/>
                  </a:moveTo>
                  <a:lnTo>
                    <a:pt x="48259" y="3937"/>
                  </a:lnTo>
                </a:path>
                <a:path w="96519" h="379730">
                  <a:moveTo>
                    <a:pt x="0" y="41656"/>
                  </a:moveTo>
                  <a:lnTo>
                    <a:pt x="18922" y="34416"/>
                  </a:lnTo>
                  <a:lnTo>
                    <a:pt x="32892" y="24384"/>
                  </a:lnTo>
                  <a:lnTo>
                    <a:pt x="42417" y="12573"/>
                  </a:lnTo>
                  <a:lnTo>
                    <a:pt x="48259" y="0"/>
                  </a:lnTo>
                  <a:lnTo>
                    <a:pt x="54101" y="12573"/>
                  </a:lnTo>
                  <a:lnTo>
                    <a:pt x="63500" y="24384"/>
                  </a:lnTo>
                  <a:lnTo>
                    <a:pt x="77469" y="34416"/>
                  </a:lnTo>
                  <a:lnTo>
                    <a:pt x="96392" y="41656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4381246" y="875537"/>
            <a:ext cx="4410710" cy="16579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 marR="5080" indent="-5080" algn="just">
              <a:lnSpc>
                <a:spcPct val="117700"/>
              </a:lnSpc>
              <a:spcBef>
                <a:spcPts val="100"/>
              </a:spcBef>
            </a:pP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McCulloch</a:t>
            </a:r>
            <a:r>
              <a:rPr sz="1750" spc="4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(neuroscientist)</a:t>
            </a:r>
            <a:r>
              <a:rPr sz="1750" spc="4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750" spc="4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Pitts</a:t>
            </a:r>
            <a:r>
              <a:rPr sz="1750" spc="4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(logician)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proposed</a:t>
            </a:r>
            <a:r>
              <a:rPr sz="1750" spc="-1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a</a:t>
            </a:r>
            <a:r>
              <a:rPr sz="1750" spc="-2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highly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simplified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computational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model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neuron</a:t>
            </a:r>
            <a:r>
              <a:rPr sz="1750" spc="-1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(1943)</a:t>
            </a:r>
            <a:endParaRPr sz="1750">
              <a:latin typeface="Arial MT"/>
              <a:cs typeface="Arial MT"/>
            </a:endParaRPr>
          </a:p>
          <a:p>
            <a:pPr marL="12700" algn="just">
              <a:lnSpc>
                <a:spcPct val="100000"/>
              </a:lnSpc>
              <a:spcBef>
                <a:spcPts val="865"/>
              </a:spcBef>
            </a:pP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g</a:t>
            </a:r>
            <a:r>
              <a:rPr sz="1750" i="1" spc="49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aggregates</a:t>
            </a:r>
            <a:r>
              <a:rPr sz="1750" spc="3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3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inputs</a:t>
            </a:r>
            <a:r>
              <a:rPr sz="1750" spc="3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750" spc="2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3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function</a:t>
            </a:r>
            <a:r>
              <a:rPr sz="1750" spc="3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f</a:t>
            </a:r>
            <a:endParaRPr sz="175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  <a:spcBef>
                <a:spcPts val="375"/>
              </a:spcBef>
            </a:pP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takes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a</a:t>
            </a:r>
            <a:r>
              <a:rPr sz="1750" spc="-2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decision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based</a:t>
            </a:r>
            <a:r>
              <a:rPr sz="1750" spc="-1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on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this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aggregation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781415" y="5604826"/>
            <a:ext cx="172085" cy="206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spc="-105" dirty="0">
                <a:solidFill>
                  <a:srgbClr val="213739"/>
                </a:solidFill>
                <a:latin typeface="Arial MT"/>
                <a:cs typeface="Arial MT"/>
              </a:rPr>
              <a:t>11</a:t>
            </a:r>
            <a:endParaRPr sz="125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1339" y="1783143"/>
            <a:ext cx="1145540" cy="1145540"/>
            <a:chOff x="961339" y="1783143"/>
            <a:chExt cx="1145540" cy="1145540"/>
          </a:xfrm>
        </p:grpSpPr>
        <p:sp>
          <p:nvSpPr>
            <p:cNvPr id="3" name="object 3"/>
            <p:cNvSpPr/>
            <p:nvPr/>
          </p:nvSpPr>
          <p:spPr>
            <a:xfrm>
              <a:off x="962926" y="1784730"/>
              <a:ext cx="1142365" cy="571500"/>
            </a:xfrm>
            <a:custGeom>
              <a:avLst/>
              <a:gdLst/>
              <a:ahLst/>
              <a:cxnLst/>
              <a:rect l="l" t="t" r="r" b="b"/>
              <a:pathLst>
                <a:path w="1142364" h="571500">
                  <a:moveTo>
                    <a:pt x="570979" y="0"/>
                  </a:moveTo>
                  <a:lnTo>
                    <a:pt x="493509" y="5207"/>
                  </a:lnTo>
                  <a:lnTo>
                    <a:pt x="419087" y="20447"/>
                  </a:lnTo>
                  <a:lnTo>
                    <a:pt x="348729" y="44958"/>
                  </a:lnTo>
                  <a:lnTo>
                    <a:pt x="282765" y="77978"/>
                  </a:lnTo>
                  <a:lnTo>
                    <a:pt x="222046" y="118999"/>
                  </a:lnTo>
                  <a:lnTo>
                    <a:pt x="167208" y="167259"/>
                  </a:lnTo>
                  <a:lnTo>
                    <a:pt x="118948" y="222123"/>
                  </a:lnTo>
                  <a:lnTo>
                    <a:pt x="77939" y="282829"/>
                  </a:lnTo>
                  <a:lnTo>
                    <a:pt x="44856" y="348742"/>
                  </a:lnTo>
                  <a:lnTo>
                    <a:pt x="20383" y="419227"/>
                  </a:lnTo>
                  <a:lnTo>
                    <a:pt x="5206" y="493522"/>
                  </a:lnTo>
                  <a:lnTo>
                    <a:pt x="0" y="570992"/>
                  </a:lnTo>
                  <a:lnTo>
                    <a:pt x="1141844" y="570992"/>
                  </a:lnTo>
                  <a:lnTo>
                    <a:pt x="1136637" y="493522"/>
                  </a:lnTo>
                  <a:lnTo>
                    <a:pt x="1121524" y="419227"/>
                  </a:lnTo>
                  <a:lnTo>
                    <a:pt x="1097013" y="348742"/>
                  </a:lnTo>
                  <a:lnTo>
                    <a:pt x="1063866" y="282829"/>
                  </a:lnTo>
                  <a:lnTo>
                    <a:pt x="1022845" y="222123"/>
                  </a:lnTo>
                  <a:lnTo>
                    <a:pt x="974585" y="167259"/>
                  </a:lnTo>
                  <a:lnTo>
                    <a:pt x="919848" y="118999"/>
                  </a:lnTo>
                  <a:lnTo>
                    <a:pt x="859142" y="77978"/>
                  </a:lnTo>
                  <a:lnTo>
                    <a:pt x="793102" y="44958"/>
                  </a:lnTo>
                  <a:lnTo>
                    <a:pt x="722744" y="20447"/>
                  </a:lnTo>
                  <a:lnTo>
                    <a:pt x="648449" y="5207"/>
                  </a:lnTo>
                  <a:lnTo>
                    <a:pt x="570979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62926" y="1784730"/>
              <a:ext cx="1142365" cy="1142365"/>
            </a:xfrm>
            <a:custGeom>
              <a:avLst/>
              <a:gdLst/>
              <a:ahLst/>
              <a:cxnLst/>
              <a:rect l="l" t="t" r="r" b="b"/>
              <a:pathLst>
                <a:path w="1142364" h="1142364">
                  <a:moveTo>
                    <a:pt x="1141844" y="570992"/>
                  </a:moveTo>
                  <a:lnTo>
                    <a:pt x="1136637" y="493522"/>
                  </a:lnTo>
                  <a:lnTo>
                    <a:pt x="1121524" y="419227"/>
                  </a:lnTo>
                  <a:lnTo>
                    <a:pt x="1097013" y="348742"/>
                  </a:lnTo>
                  <a:lnTo>
                    <a:pt x="1063866" y="282829"/>
                  </a:lnTo>
                  <a:lnTo>
                    <a:pt x="1022845" y="222123"/>
                  </a:lnTo>
                  <a:lnTo>
                    <a:pt x="974585" y="167259"/>
                  </a:lnTo>
                  <a:lnTo>
                    <a:pt x="919848" y="118999"/>
                  </a:lnTo>
                  <a:lnTo>
                    <a:pt x="859142" y="77978"/>
                  </a:lnTo>
                  <a:lnTo>
                    <a:pt x="793102" y="44958"/>
                  </a:lnTo>
                  <a:lnTo>
                    <a:pt x="722744" y="20447"/>
                  </a:lnTo>
                  <a:lnTo>
                    <a:pt x="648449" y="5207"/>
                  </a:lnTo>
                  <a:lnTo>
                    <a:pt x="570979" y="0"/>
                  </a:lnTo>
                  <a:lnTo>
                    <a:pt x="493509" y="5207"/>
                  </a:lnTo>
                  <a:lnTo>
                    <a:pt x="419087" y="20447"/>
                  </a:lnTo>
                  <a:lnTo>
                    <a:pt x="348729" y="44958"/>
                  </a:lnTo>
                  <a:lnTo>
                    <a:pt x="282765" y="77978"/>
                  </a:lnTo>
                  <a:lnTo>
                    <a:pt x="222046" y="118999"/>
                  </a:lnTo>
                  <a:lnTo>
                    <a:pt x="167208" y="167259"/>
                  </a:lnTo>
                  <a:lnTo>
                    <a:pt x="118948" y="222123"/>
                  </a:lnTo>
                  <a:lnTo>
                    <a:pt x="77939" y="282829"/>
                  </a:lnTo>
                  <a:lnTo>
                    <a:pt x="44856" y="348742"/>
                  </a:lnTo>
                  <a:lnTo>
                    <a:pt x="20383" y="419227"/>
                  </a:lnTo>
                  <a:lnTo>
                    <a:pt x="5206" y="493522"/>
                  </a:lnTo>
                  <a:lnTo>
                    <a:pt x="0" y="570992"/>
                  </a:lnTo>
                  <a:lnTo>
                    <a:pt x="5206" y="648462"/>
                  </a:lnTo>
                  <a:lnTo>
                    <a:pt x="20383" y="722757"/>
                  </a:lnTo>
                  <a:lnTo>
                    <a:pt x="44856" y="793242"/>
                  </a:lnTo>
                  <a:lnTo>
                    <a:pt x="77939" y="859155"/>
                  </a:lnTo>
                  <a:lnTo>
                    <a:pt x="118948" y="919861"/>
                  </a:lnTo>
                  <a:lnTo>
                    <a:pt x="167208" y="974725"/>
                  </a:lnTo>
                  <a:lnTo>
                    <a:pt x="222046" y="1022985"/>
                  </a:lnTo>
                  <a:lnTo>
                    <a:pt x="282765" y="1064006"/>
                  </a:lnTo>
                  <a:lnTo>
                    <a:pt x="348729" y="1097026"/>
                  </a:lnTo>
                  <a:lnTo>
                    <a:pt x="419087" y="1121537"/>
                  </a:lnTo>
                  <a:lnTo>
                    <a:pt x="493509" y="1136650"/>
                  </a:lnTo>
                  <a:lnTo>
                    <a:pt x="570979" y="1141857"/>
                  </a:lnTo>
                  <a:lnTo>
                    <a:pt x="648449" y="1136650"/>
                  </a:lnTo>
                  <a:lnTo>
                    <a:pt x="722744" y="1121537"/>
                  </a:lnTo>
                  <a:lnTo>
                    <a:pt x="793102" y="1097026"/>
                  </a:lnTo>
                  <a:lnTo>
                    <a:pt x="859142" y="1064006"/>
                  </a:lnTo>
                  <a:lnTo>
                    <a:pt x="919848" y="1022985"/>
                  </a:lnTo>
                  <a:lnTo>
                    <a:pt x="974585" y="974725"/>
                  </a:lnTo>
                  <a:lnTo>
                    <a:pt x="1022845" y="919861"/>
                  </a:lnTo>
                  <a:lnTo>
                    <a:pt x="1063866" y="859155"/>
                  </a:lnTo>
                  <a:lnTo>
                    <a:pt x="1097013" y="793242"/>
                  </a:lnTo>
                  <a:lnTo>
                    <a:pt x="1121524" y="722757"/>
                  </a:lnTo>
                  <a:lnTo>
                    <a:pt x="1136637" y="648462"/>
                  </a:lnTo>
                  <a:lnTo>
                    <a:pt x="1141844" y="570992"/>
                  </a:lnTo>
                  <a:close/>
                </a:path>
                <a:path w="1142364" h="1142364">
                  <a:moveTo>
                    <a:pt x="0" y="570992"/>
                  </a:moveTo>
                  <a:lnTo>
                    <a:pt x="1141844" y="570992"/>
                  </a:lnTo>
                </a:path>
              </a:pathLst>
            </a:custGeom>
            <a:ln w="3175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516737" y="3280917"/>
            <a:ext cx="71755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477520" algn="l"/>
              </a:tabLst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60119" y="3261741"/>
            <a:ext cx="55753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40690" algn="l"/>
              </a:tabLst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..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..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58822" y="3292550"/>
            <a:ext cx="1085850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9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i="1" spc="135" baseline="-8888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i="1" spc="187" baseline="-8888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∈</a:t>
            </a:r>
            <a:r>
              <a:rPr sz="1750" spc="-26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{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3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spc="-25" dirty="0">
                <a:solidFill>
                  <a:srgbClr val="213739"/>
                </a:solidFill>
                <a:latin typeface="Lucida Sans Unicode"/>
                <a:cs typeface="Lucida Sans Unicode"/>
              </a:rPr>
              <a:t>}</a:t>
            </a:r>
            <a:endParaRPr sz="175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60500" y="1008634"/>
            <a:ext cx="91313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y</a:t>
            </a:r>
            <a:r>
              <a:rPr sz="1750" i="1" spc="22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∈</a:t>
            </a:r>
            <a:r>
              <a:rPr sz="1750" spc="-24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{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5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spc="-25" dirty="0">
                <a:solidFill>
                  <a:srgbClr val="213739"/>
                </a:solidFill>
                <a:latin typeface="Lucida Sans Unicode"/>
                <a:cs typeface="Lucida Sans Unicode"/>
              </a:rPr>
              <a:t>}</a:t>
            </a:r>
            <a:endParaRPr sz="175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64691" y="2419604"/>
            <a:ext cx="13906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g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55547" y="1877009"/>
            <a:ext cx="93345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f</a:t>
            </a:r>
            <a:endParaRPr sz="175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99386" y="1402470"/>
            <a:ext cx="1732914" cy="2009139"/>
            <a:chOff x="799386" y="1402470"/>
            <a:chExt cx="1732914" cy="2009139"/>
          </a:xfrm>
        </p:grpSpPr>
        <p:sp>
          <p:nvSpPr>
            <p:cNvPr id="12" name="object 12"/>
            <p:cNvSpPr/>
            <p:nvPr/>
          </p:nvSpPr>
          <p:spPr>
            <a:xfrm>
              <a:off x="801916" y="2857754"/>
              <a:ext cx="440690" cy="499109"/>
            </a:xfrm>
            <a:custGeom>
              <a:avLst/>
              <a:gdLst/>
              <a:ahLst/>
              <a:cxnLst/>
              <a:rect l="l" t="t" r="r" b="b"/>
              <a:pathLst>
                <a:path w="440690" h="499110">
                  <a:moveTo>
                    <a:pt x="0" y="498729"/>
                  </a:moveTo>
                  <a:lnTo>
                    <a:pt x="440232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78477" y="2851664"/>
              <a:ext cx="77368" cy="68821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172679" y="2915538"/>
              <a:ext cx="210185" cy="441325"/>
            </a:xfrm>
            <a:custGeom>
              <a:avLst/>
              <a:gdLst/>
              <a:ahLst/>
              <a:cxnLst/>
              <a:rect l="l" t="t" r="r" b="b"/>
              <a:pathLst>
                <a:path w="210184" h="441325">
                  <a:moveTo>
                    <a:pt x="0" y="440944"/>
                  </a:moveTo>
                  <a:lnTo>
                    <a:pt x="209715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20042" y="2909320"/>
              <a:ext cx="92192" cy="63617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485646" y="2915538"/>
              <a:ext cx="434340" cy="493395"/>
            </a:xfrm>
            <a:custGeom>
              <a:avLst/>
              <a:gdLst/>
              <a:ahLst/>
              <a:cxnLst/>
              <a:rect l="l" t="t" r="r" b="b"/>
              <a:pathLst>
                <a:path w="434339" h="493395">
                  <a:moveTo>
                    <a:pt x="48259" y="493140"/>
                  </a:moveTo>
                  <a:lnTo>
                    <a:pt x="48259" y="19176"/>
                  </a:lnTo>
                </a:path>
                <a:path w="434339" h="493395">
                  <a:moveTo>
                    <a:pt x="0" y="56896"/>
                  </a:moveTo>
                  <a:lnTo>
                    <a:pt x="18922" y="49530"/>
                  </a:lnTo>
                  <a:lnTo>
                    <a:pt x="32892" y="39497"/>
                  </a:lnTo>
                  <a:lnTo>
                    <a:pt x="42417" y="27812"/>
                  </a:lnTo>
                  <a:lnTo>
                    <a:pt x="48259" y="15112"/>
                  </a:lnTo>
                  <a:lnTo>
                    <a:pt x="54101" y="27812"/>
                  </a:lnTo>
                  <a:lnTo>
                    <a:pt x="63500" y="39497"/>
                  </a:lnTo>
                  <a:lnTo>
                    <a:pt x="77469" y="49530"/>
                  </a:lnTo>
                  <a:lnTo>
                    <a:pt x="96392" y="56896"/>
                  </a:lnTo>
                </a:path>
                <a:path w="434339" h="493395">
                  <a:moveTo>
                    <a:pt x="434212" y="493140"/>
                  </a:moveTo>
                  <a:lnTo>
                    <a:pt x="199771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55449" y="2909320"/>
              <a:ext cx="92319" cy="63617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827022" y="2856102"/>
              <a:ext cx="702310" cy="454659"/>
            </a:xfrm>
            <a:custGeom>
              <a:avLst/>
              <a:gdLst/>
              <a:ahLst/>
              <a:cxnLst/>
              <a:rect l="l" t="t" r="r" b="b"/>
              <a:pathLst>
                <a:path w="702310" h="454660">
                  <a:moveTo>
                    <a:pt x="702309" y="454406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21054" y="2833498"/>
              <a:ext cx="66544" cy="86229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485646" y="1405001"/>
              <a:ext cx="96520" cy="379730"/>
            </a:xfrm>
            <a:custGeom>
              <a:avLst/>
              <a:gdLst/>
              <a:ahLst/>
              <a:cxnLst/>
              <a:rect l="l" t="t" r="r" b="b"/>
              <a:pathLst>
                <a:path w="96519" h="379730">
                  <a:moveTo>
                    <a:pt x="48259" y="379729"/>
                  </a:moveTo>
                  <a:lnTo>
                    <a:pt x="48259" y="3937"/>
                  </a:lnTo>
                </a:path>
                <a:path w="96519" h="379730">
                  <a:moveTo>
                    <a:pt x="0" y="41656"/>
                  </a:moveTo>
                  <a:lnTo>
                    <a:pt x="18922" y="34416"/>
                  </a:lnTo>
                  <a:lnTo>
                    <a:pt x="32892" y="24384"/>
                  </a:lnTo>
                  <a:lnTo>
                    <a:pt x="42417" y="12573"/>
                  </a:lnTo>
                  <a:lnTo>
                    <a:pt x="48259" y="0"/>
                  </a:lnTo>
                  <a:lnTo>
                    <a:pt x="54101" y="12573"/>
                  </a:lnTo>
                  <a:lnTo>
                    <a:pt x="63500" y="24384"/>
                  </a:lnTo>
                  <a:lnTo>
                    <a:pt x="77469" y="34416"/>
                  </a:lnTo>
                  <a:lnTo>
                    <a:pt x="96392" y="41656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4382261" y="875537"/>
            <a:ext cx="4407535" cy="16579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 marR="5080" indent="-3175" algn="just">
              <a:lnSpc>
                <a:spcPct val="117700"/>
              </a:lnSpc>
              <a:spcBef>
                <a:spcPts val="100"/>
              </a:spcBef>
            </a:pP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McCulloch</a:t>
            </a:r>
            <a:r>
              <a:rPr sz="1750" spc="4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(neuroscientist)</a:t>
            </a:r>
            <a:r>
              <a:rPr sz="1750" spc="4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750" spc="4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Pitts</a:t>
            </a:r>
            <a:r>
              <a:rPr sz="1750" spc="4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(logician)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proposed</a:t>
            </a:r>
            <a:r>
              <a:rPr sz="1750" spc="-1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a</a:t>
            </a:r>
            <a:r>
              <a:rPr sz="1750" spc="-229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highly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simplified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computational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model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neuron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(1943)</a:t>
            </a:r>
            <a:endParaRPr sz="1750">
              <a:latin typeface="Arial MT"/>
              <a:cs typeface="Arial MT"/>
            </a:endParaRPr>
          </a:p>
          <a:p>
            <a:pPr marL="12700" algn="just">
              <a:lnSpc>
                <a:spcPct val="100000"/>
              </a:lnSpc>
              <a:spcBef>
                <a:spcPts val="865"/>
              </a:spcBef>
            </a:pP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g</a:t>
            </a:r>
            <a:r>
              <a:rPr sz="1750" i="1" spc="49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aggregates</a:t>
            </a:r>
            <a:r>
              <a:rPr sz="1750" spc="3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3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inputs</a:t>
            </a:r>
            <a:r>
              <a:rPr sz="1750" spc="3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750" spc="2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3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function</a:t>
            </a:r>
            <a:r>
              <a:rPr sz="1750" spc="3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f</a:t>
            </a:r>
            <a:endParaRPr sz="175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  <a:spcBef>
                <a:spcPts val="375"/>
              </a:spcBef>
            </a:pP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takes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a</a:t>
            </a:r>
            <a:r>
              <a:rPr sz="1750" spc="-2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decision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based</a:t>
            </a:r>
            <a:r>
              <a:rPr sz="1750" spc="-1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on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this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aggregation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781415" y="5604826"/>
            <a:ext cx="172085" cy="206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spc="-105" dirty="0">
                <a:solidFill>
                  <a:srgbClr val="213739"/>
                </a:solidFill>
                <a:latin typeface="Arial MT"/>
                <a:cs typeface="Arial MT"/>
              </a:rPr>
              <a:t>11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460106" y="2968244"/>
            <a:ext cx="108585" cy="2197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50" i="1" spc="-50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883784" y="3100522"/>
            <a:ext cx="3037205" cy="62547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25"/>
              </a:spcBef>
              <a:tabLst>
                <a:tab pos="2553335" algn="l"/>
              </a:tabLst>
            </a:pPr>
            <a:r>
              <a:rPr sz="1750" i="1" spc="85" dirty="0">
                <a:solidFill>
                  <a:srgbClr val="213739"/>
                </a:solidFill>
                <a:latin typeface="Calibri"/>
                <a:cs typeface="Calibri"/>
              </a:rPr>
              <a:t>g</a:t>
            </a:r>
            <a:r>
              <a:rPr sz="1750" spc="85" dirty="0">
                <a:solidFill>
                  <a:srgbClr val="213739"/>
                </a:solidFill>
                <a:latin typeface="Calibri"/>
                <a:cs typeface="Calibri"/>
              </a:rPr>
              <a:t>(</a:t>
            </a:r>
            <a:r>
              <a:rPr sz="1750" i="1" spc="8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127" baseline="-13333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875" spc="-232" baseline="-13333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-9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i="1" spc="-16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875" baseline="-13333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875" spc="-202" baseline="-13333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-9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...,</a:t>
            </a:r>
            <a:r>
              <a:rPr sz="1750" i="1" spc="-11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i="1" spc="-1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875" i="1" baseline="-13333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i="1" spc="-209" baseline="-13333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)</a:t>
            </a:r>
            <a:r>
              <a:rPr sz="1750" spc="25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9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i="1" spc="95" dirty="0">
                <a:solidFill>
                  <a:srgbClr val="213739"/>
                </a:solidFill>
                <a:latin typeface="Calibri"/>
                <a:cs typeface="Calibri"/>
              </a:rPr>
              <a:t>g</a:t>
            </a:r>
            <a:r>
              <a:rPr sz="1750" spc="95" dirty="0">
                <a:solidFill>
                  <a:srgbClr val="213739"/>
                </a:solidFill>
                <a:latin typeface="Calibri"/>
                <a:cs typeface="Calibri"/>
              </a:rPr>
              <a:t>(</a:t>
            </a:r>
            <a:r>
              <a:rPr sz="1750" b="1" spc="9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spc="95" dirty="0">
                <a:solidFill>
                  <a:srgbClr val="213739"/>
                </a:solidFill>
                <a:latin typeface="Calibri"/>
                <a:cs typeface="Calibri"/>
              </a:rPr>
              <a:t>)</a:t>
            </a:r>
            <a:r>
              <a:rPr sz="1750" spc="229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Σ</a:t>
            </a:r>
            <a:r>
              <a:rPr sz="1750" spc="35" dirty="0">
                <a:solidFill>
                  <a:srgbClr val="213739"/>
                </a:solidFill>
                <a:latin typeface="Lucida Sans Unicode"/>
                <a:cs typeface="Lucida Sans Unicode"/>
              </a:rPr>
              <a:t>  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i="1" spc="-15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875" i="1" spc="-75" baseline="-13333" dirty="0">
                <a:solidFill>
                  <a:srgbClr val="213739"/>
                </a:solidFill>
                <a:latin typeface="Calibri"/>
                <a:cs typeface="Calibri"/>
              </a:rPr>
              <a:t>i</a:t>
            </a:r>
            <a:endParaRPr sz="1875" baseline="-13333">
              <a:latin typeface="Calibri"/>
              <a:cs typeface="Calibri"/>
            </a:endParaRPr>
          </a:p>
          <a:p>
            <a:pPr marR="267335" algn="r">
              <a:lnSpc>
                <a:spcPct val="100000"/>
              </a:lnSpc>
              <a:spcBef>
                <a:spcPts val="490"/>
              </a:spcBef>
            </a:pPr>
            <a:r>
              <a:rPr sz="1250" i="1" dirty="0">
                <a:solidFill>
                  <a:srgbClr val="213739"/>
                </a:solidFill>
                <a:latin typeface="Calibri"/>
                <a:cs typeface="Calibri"/>
              </a:rPr>
              <a:t>i</a:t>
            </a:r>
            <a:r>
              <a:rPr sz="1250" i="1" spc="-13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250" spc="55" dirty="0">
                <a:solidFill>
                  <a:srgbClr val="213739"/>
                </a:solidFill>
                <a:latin typeface="Calibri"/>
                <a:cs typeface="Calibri"/>
              </a:rPr>
              <a:t>=1 </a:t>
            </a:r>
            <a:endParaRPr sz="125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1339" y="1783143"/>
            <a:ext cx="1145540" cy="1145540"/>
            <a:chOff x="961339" y="1783143"/>
            <a:chExt cx="1145540" cy="1145540"/>
          </a:xfrm>
        </p:grpSpPr>
        <p:sp>
          <p:nvSpPr>
            <p:cNvPr id="3" name="object 3"/>
            <p:cNvSpPr/>
            <p:nvPr/>
          </p:nvSpPr>
          <p:spPr>
            <a:xfrm>
              <a:off x="962926" y="1784730"/>
              <a:ext cx="1142365" cy="571500"/>
            </a:xfrm>
            <a:custGeom>
              <a:avLst/>
              <a:gdLst/>
              <a:ahLst/>
              <a:cxnLst/>
              <a:rect l="l" t="t" r="r" b="b"/>
              <a:pathLst>
                <a:path w="1142364" h="571500">
                  <a:moveTo>
                    <a:pt x="570979" y="0"/>
                  </a:moveTo>
                  <a:lnTo>
                    <a:pt x="493509" y="5207"/>
                  </a:lnTo>
                  <a:lnTo>
                    <a:pt x="419087" y="20447"/>
                  </a:lnTo>
                  <a:lnTo>
                    <a:pt x="348729" y="44958"/>
                  </a:lnTo>
                  <a:lnTo>
                    <a:pt x="282765" y="77978"/>
                  </a:lnTo>
                  <a:lnTo>
                    <a:pt x="222046" y="118999"/>
                  </a:lnTo>
                  <a:lnTo>
                    <a:pt x="167208" y="167259"/>
                  </a:lnTo>
                  <a:lnTo>
                    <a:pt x="118948" y="222123"/>
                  </a:lnTo>
                  <a:lnTo>
                    <a:pt x="77939" y="282829"/>
                  </a:lnTo>
                  <a:lnTo>
                    <a:pt x="44856" y="348742"/>
                  </a:lnTo>
                  <a:lnTo>
                    <a:pt x="20383" y="419227"/>
                  </a:lnTo>
                  <a:lnTo>
                    <a:pt x="5206" y="493522"/>
                  </a:lnTo>
                  <a:lnTo>
                    <a:pt x="0" y="570992"/>
                  </a:lnTo>
                  <a:lnTo>
                    <a:pt x="1141844" y="570992"/>
                  </a:lnTo>
                  <a:lnTo>
                    <a:pt x="1136637" y="493522"/>
                  </a:lnTo>
                  <a:lnTo>
                    <a:pt x="1121524" y="419227"/>
                  </a:lnTo>
                  <a:lnTo>
                    <a:pt x="1097013" y="348742"/>
                  </a:lnTo>
                  <a:lnTo>
                    <a:pt x="1063866" y="282829"/>
                  </a:lnTo>
                  <a:lnTo>
                    <a:pt x="1022845" y="222123"/>
                  </a:lnTo>
                  <a:lnTo>
                    <a:pt x="974585" y="167259"/>
                  </a:lnTo>
                  <a:lnTo>
                    <a:pt x="919848" y="118999"/>
                  </a:lnTo>
                  <a:lnTo>
                    <a:pt x="859142" y="77978"/>
                  </a:lnTo>
                  <a:lnTo>
                    <a:pt x="793102" y="44958"/>
                  </a:lnTo>
                  <a:lnTo>
                    <a:pt x="722744" y="20447"/>
                  </a:lnTo>
                  <a:lnTo>
                    <a:pt x="648449" y="5207"/>
                  </a:lnTo>
                  <a:lnTo>
                    <a:pt x="570979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62926" y="1784730"/>
              <a:ext cx="1142365" cy="1142365"/>
            </a:xfrm>
            <a:custGeom>
              <a:avLst/>
              <a:gdLst/>
              <a:ahLst/>
              <a:cxnLst/>
              <a:rect l="l" t="t" r="r" b="b"/>
              <a:pathLst>
                <a:path w="1142364" h="1142364">
                  <a:moveTo>
                    <a:pt x="1141844" y="570992"/>
                  </a:moveTo>
                  <a:lnTo>
                    <a:pt x="1136637" y="493522"/>
                  </a:lnTo>
                  <a:lnTo>
                    <a:pt x="1121524" y="419227"/>
                  </a:lnTo>
                  <a:lnTo>
                    <a:pt x="1097013" y="348742"/>
                  </a:lnTo>
                  <a:lnTo>
                    <a:pt x="1063866" y="282829"/>
                  </a:lnTo>
                  <a:lnTo>
                    <a:pt x="1022845" y="222123"/>
                  </a:lnTo>
                  <a:lnTo>
                    <a:pt x="974585" y="167259"/>
                  </a:lnTo>
                  <a:lnTo>
                    <a:pt x="919848" y="118999"/>
                  </a:lnTo>
                  <a:lnTo>
                    <a:pt x="859142" y="77978"/>
                  </a:lnTo>
                  <a:lnTo>
                    <a:pt x="793102" y="44958"/>
                  </a:lnTo>
                  <a:lnTo>
                    <a:pt x="722744" y="20447"/>
                  </a:lnTo>
                  <a:lnTo>
                    <a:pt x="648449" y="5207"/>
                  </a:lnTo>
                  <a:lnTo>
                    <a:pt x="570979" y="0"/>
                  </a:lnTo>
                  <a:lnTo>
                    <a:pt x="493509" y="5207"/>
                  </a:lnTo>
                  <a:lnTo>
                    <a:pt x="419087" y="20447"/>
                  </a:lnTo>
                  <a:lnTo>
                    <a:pt x="348729" y="44958"/>
                  </a:lnTo>
                  <a:lnTo>
                    <a:pt x="282765" y="77978"/>
                  </a:lnTo>
                  <a:lnTo>
                    <a:pt x="222046" y="118999"/>
                  </a:lnTo>
                  <a:lnTo>
                    <a:pt x="167208" y="167259"/>
                  </a:lnTo>
                  <a:lnTo>
                    <a:pt x="118948" y="222123"/>
                  </a:lnTo>
                  <a:lnTo>
                    <a:pt x="77939" y="282829"/>
                  </a:lnTo>
                  <a:lnTo>
                    <a:pt x="44856" y="348742"/>
                  </a:lnTo>
                  <a:lnTo>
                    <a:pt x="20383" y="419227"/>
                  </a:lnTo>
                  <a:lnTo>
                    <a:pt x="5206" y="493522"/>
                  </a:lnTo>
                  <a:lnTo>
                    <a:pt x="0" y="570992"/>
                  </a:lnTo>
                  <a:lnTo>
                    <a:pt x="5206" y="648462"/>
                  </a:lnTo>
                  <a:lnTo>
                    <a:pt x="20383" y="722757"/>
                  </a:lnTo>
                  <a:lnTo>
                    <a:pt x="44856" y="793242"/>
                  </a:lnTo>
                  <a:lnTo>
                    <a:pt x="77939" y="859155"/>
                  </a:lnTo>
                  <a:lnTo>
                    <a:pt x="118948" y="919861"/>
                  </a:lnTo>
                  <a:lnTo>
                    <a:pt x="167208" y="974725"/>
                  </a:lnTo>
                  <a:lnTo>
                    <a:pt x="222046" y="1022985"/>
                  </a:lnTo>
                  <a:lnTo>
                    <a:pt x="282765" y="1064006"/>
                  </a:lnTo>
                  <a:lnTo>
                    <a:pt x="348729" y="1097026"/>
                  </a:lnTo>
                  <a:lnTo>
                    <a:pt x="419087" y="1121537"/>
                  </a:lnTo>
                  <a:lnTo>
                    <a:pt x="493509" y="1136650"/>
                  </a:lnTo>
                  <a:lnTo>
                    <a:pt x="570979" y="1141857"/>
                  </a:lnTo>
                  <a:lnTo>
                    <a:pt x="648449" y="1136650"/>
                  </a:lnTo>
                  <a:lnTo>
                    <a:pt x="722744" y="1121537"/>
                  </a:lnTo>
                  <a:lnTo>
                    <a:pt x="793102" y="1097026"/>
                  </a:lnTo>
                  <a:lnTo>
                    <a:pt x="859142" y="1064006"/>
                  </a:lnTo>
                  <a:lnTo>
                    <a:pt x="919848" y="1022985"/>
                  </a:lnTo>
                  <a:lnTo>
                    <a:pt x="974585" y="974725"/>
                  </a:lnTo>
                  <a:lnTo>
                    <a:pt x="1022845" y="919861"/>
                  </a:lnTo>
                  <a:lnTo>
                    <a:pt x="1063866" y="859155"/>
                  </a:lnTo>
                  <a:lnTo>
                    <a:pt x="1097013" y="793242"/>
                  </a:lnTo>
                  <a:lnTo>
                    <a:pt x="1121524" y="722757"/>
                  </a:lnTo>
                  <a:lnTo>
                    <a:pt x="1136637" y="648462"/>
                  </a:lnTo>
                  <a:lnTo>
                    <a:pt x="1141844" y="570992"/>
                  </a:lnTo>
                  <a:close/>
                </a:path>
                <a:path w="1142364" h="1142364">
                  <a:moveTo>
                    <a:pt x="0" y="570992"/>
                  </a:moveTo>
                  <a:lnTo>
                    <a:pt x="1141844" y="570992"/>
                  </a:lnTo>
                </a:path>
              </a:pathLst>
            </a:custGeom>
            <a:ln w="3175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516432" y="3280917"/>
            <a:ext cx="71882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478790" algn="l"/>
              </a:tabLst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60119" y="3261741"/>
            <a:ext cx="55753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40690" algn="l"/>
              </a:tabLst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..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..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58822" y="3292550"/>
            <a:ext cx="1085850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9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i="1" spc="135" baseline="-8888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i="1" spc="187" baseline="-8888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∈</a:t>
            </a:r>
            <a:r>
              <a:rPr sz="1750" spc="-26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{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3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spc="-25" dirty="0">
                <a:solidFill>
                  <a:srgbClr val="213739"/>
                </a:solidFill>
                <a:latin typeface="Lucida Sans Unicode"/>
                <a:cs typeface="Lucida Sans Unicode"/>
              </a:rPr>
              <a:t>}</a:t>
            </a:r>
            <a:endParaRPr sz="175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60500" y="1008634"/>
            <a:ext cx="91313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y</a:t>
            </a:r>
            <a:r>
              <a:rPr sz="1750" i="1" spc="22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∈</a:t>
            </a:r>
            <a:r>
              <a:rPr sz="1750" spc="-24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{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5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spc="-25" dirty="0">
                <a:solidFill>
                  <a:srgbClr val="213739"/>
                </a:solidFill>
                <a:latin typeface="Lucida Sans Unicode"/>
                <a:cs typeface="Lucida Sans Unicode"/>
              </a:rPr>
              <a:t>}</a:t>
            </a:r>
            <a:endParaRPr sz="175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64691" y="2419604"/>
            <a:ext cx="13906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g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55547" y="1877009"/>
            <a:ext cx="93345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f</a:t>
            </a:r>
            <a:endParaRPr sz="175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99386" y="1402470"/>
            <a:ext cx="1732914" cy="2009139"/>
            <a:chOff x="799386" y="1402470"/>
            <a:chExt cx="1732914" cy="2009139"/>
          </a:xfrm>
        </p:grpSpPr>
        <p:sp>
          <p:nvSpPr>
            <p:cNvPr id="12" name="object 12"/>
            <p:cNvSpPr/>
            <p:nvPr/>
          </p:nvSpPr>
          <p:spPr>
            <a:xfrm>
              <a:off x="801916" y="2857754"/>
              <a:ext cx="440690" cy="499109"/>
            </a:xfrm>
            <a:custGeom>
              <a:avLst/>
              <a:gdLst/>
              <a:ahLst/>
              <a:cxnLst/>
              <a:rect l="l" t="t" r="r" b="b"/>
              <a:pathLst>
                <a:path w="440690" h="499110">
                  <a:moveTo>
                    <a:pt x="0" y="498729"/>
                  </a:moveTo>
                  <a:lnTo>
                    <a:pt x="440232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78477" y="2851664"/>
              <a:ext cx="77368" cy="68821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172679" y="2915538"/>
              <a:ext cx="210185" cy="441325"/>
            </a:xfrm>
            <a:custGeom>
              <a:avLst/>
              <a:gdLst/>
              <a:ahLst/>
              <a:cxnLst/>
              <a:rect l="l" t="t" r="r" b="b"/>
              <a:pathLst>
                <a:path w="210184" h="441325">
                  <a:moveTo>
                    <a:pt x="0" y="440944"/>
                  </a:moveTo>
                  <a:lnTo>
                    <a:pt x="209715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20042" y="2909320"/>
              <a:ext cx="92192" cy="63617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485646" y="2915538"/>
              <a:ext cx="434340" cy="493395"/>
            </a:xfrm>
            <a:custGeom>
              <a:avLst/>
              <a:gdLst/>
              <a:ahLst/>
              <a:cxnLst/>
              <a:rect l="l" t="t" r="r" b="b"/>
              <a:pathLst>
                <a:path w="434339" h="493395">
                  <a:moveTo>
                    <a:pt x="48259" y="493140"/>
                  </a:moveTo>
                  <a:lnTo>
                    <a:pt x="48259" y="19176"/>
                  </a:lnTo>
                </a:path>
                <a:path w="434339" h="493395">
                  <a:moveTo>
                    <a:pt x="0" y="56896"/>
                  </a:moveTo>
                  <a:lnTo>
                    <a:pt x="18922" y="49530"/>
                  </a:lnTo>
                  <a:lnTo>
                    <a:pt x="32892" y="39497"/>
                  </a:lnTo>
                  <a:lnTo>
                    <a:pt x="42417" y="27812"/>
                  </a:lnTo>
                  <a:lnTo>
                    <a:pt x="48259" y="15112"/>
                  </a:lnTo>
                  <a:lnTo>
                    <a:pt x="54101" y="27812"/>
                  </a:lnTo>
                  <a:lnTo>
                    <a:pt x="63500" y="39497"/>
                  </a:lnTo>
                  <a:lnTo>
                    <a:pt x="77469" y="49530"/>
                  </a:lnTo>
                  <a:lnTo>
                    <a:pt x="96392" y="56896"/>
                  </a:lnTo>
                </a:path>
                <a:path w="434339" h="493395">
                  <a:moveTo>
                    <a:pt x="434212" y="493140"/>
                  </a:moveTo>
                  <a:lnTo>
                    <a:pt x="199771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55449" y="2909320"/>
              <a:ext cx="92319" cy="63617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827022" y="2856102"/>
              <a:ext cx="702310" cy="454659"/>
            </a:xfrm>
            <a:custGeom>
              <a:avLst/>
              <a:gdLst/>
              <a:ahLst/>
              <a:cxnLst/>
              <a:rect l="l" t="t" r="r" b="b"/>
              <a:pathLst>
                <a:path w="702310" h="454660">
                  <a:moveTo>
                    <a:pt x="702309" y="454406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21054" y="2833498"/>
              <a:ext cx="66544" cy="86229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485646" y="1405001"/>
              <a:ext cx="96520" cy="379730"/>
            </a:xfrm>
            <a:custGeom>
              <a:avLst/>
              <a:gdLst/>
              <a:ahLst/>
              <a:cxnLst/>
              <a:rect l="l" t="t" r="r" b="b"/>
              <a:pathLst>
                <a:path w="96519" h="379730">
                  <a:moveTo>
                    <a:pt x="48259" y="379729"/>
                  </a:moveTo>
                  <a:lnTo>
                    <a:pt x="48259" y="3937"/>
                  </a:lnTo>
                </a:path>
                <a:path w="96519" h="379730">
                  <a:moveTo>
                    <a:pt x="0" y="41656"/>
                  </a:moveTo>
                  <a:lnTo>
                    <a:pt x="18922" y="34416"/>
                  </a:lnTo>
                  <a:lnTo>
                    <a:pt x="32892" y="24384"/>
                  </a:lnTo>
                  <a:lnTo>
                    <a:pt x="42417" y="12573"/>
                  </a:lnTo>
                  <a:lnTo>
                    <a:pt x="48259" y="0"/>
                  </a:lnTo>
                  <a:lnTo>
                    <a:pt x="54101" y="12573"/>
                  </a:lnTo>
                  <a:lnTo>
                    <a:pt x="63500" y="24384"/>
                  </a:lnTo>
                  <a:lnTo>
                    <a:pt x="77469" y="34416"/>
                  </a:lnTo>
                  <a:lnTo>
                    <a:pt x="96392" y="41656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4382261" y="875537"/>
            <a:ext cx="4407535" cy="16579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 marR="5080" indent="-3175" algn="just">
              <a:lnSpc>
                <a:spcPct val="117700"/>
              </a:lnSpc>
              <a:spcBef>
                <a:spcPts val="100"/>
              </a:spcBef>
            </a:pP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McCulloch</a:t>
            </a:r>
            <a:r>
              <a:rPr sz="1750" spc="4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(neuroscientist)</a:t>
            </a:r>
            <a:r>
              <a:rPr sz="1750" spc="4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750" spc="4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Pitts</a:t>
            </a:r>
            <a:r>
              <a:rPr sz="1750" spc="4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(logician)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proposed</a:t>
            </a:r>
            <a:r>
              <a:rPr sz="1750" spc="-1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a</a:t>
            </a:r>
            <a:r>
              <a:rPr sz="1750" spc="-229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highly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simplified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computational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model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neuron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(1943)</a:t>
            </a:r>
            <a:endParaRPr sz="1750">
              <a:latin typeface="Arial MT"/>
              <a:cs typeface="Arial MT"/>
            </a:endParaRPr>
          </a:p>
          <a:p>
            <a:pPr marL="12700" algn="just">
              <a:lnSpc>
                <a:spcPct val="100000"/>
              </a:lnSpc>
              <a:spcBef>
                <a:spcPts val="865"/>
              </a:spcBef>
            </a:pP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g</a:t>
            </a:r>
            <a:r>
              <a:rPr sz="1750" i="1" spc="49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aggregates</a:t>
            </a:r>
            <a:r>
              <a:rPr sz="1750" spc="3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3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inputs</a:t>
            </a:r>
            <a:r>
              <a:rPr sz="1750" spc="3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750" spc="2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3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function</a:t>
            </a:r>
            <a:r>
              <a:rPr sz="1750" spc="3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f</a:t>
            </a:r>
            <a:endParaRPr sz="175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  <a:spcBef>
                <a:spcPts val="375"/>
              </a:spcBef>
            </a:pP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takes</a:t>
            </a:r>
            <a:r>
              <a:rPr sz="1750" spc="195" dirty="0">
                <a:solidFill>
                  <a:srgbClr val="213739"/>
                </a:solidFill>
                <a:latin typeface="Arial MT"/>
                <a:cs typeface="Arial MT"/>
              </a:rPr>
              <a:t> 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a</a:t>
            </a:r>
            <a:r>
              <a:rPr sz="1750" spc="-2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decision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based</a:t>
            </a:r>
            <a:r>
              <a:rPr sz="1750" spc="-1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on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this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aggregation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781415" y="5604826"/>
            <a:ext cx="172085" cy="206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spc="-105" dirty="0">
                <a:solidFill>
                  <a:srgbClr val="213739"/>
                </a:solidFill>
                <a:latin typeface="Arial MT"/>
                <a:cs typeface="Arial MT"/>
              </a:rPr>
              <a:t>11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972045" y="4061156"/>
            <a:ext cx="1283335" cy="826769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5"/>
              </a:spcBef>
              <a:tabLst>
                <a:tab pos="440055" algn="l"/>
              </a:tabLst>
            </a:pPr>
            <a:r>
              <a:rPr sz="2625" i="1" spc="97" baseline="-4761" dirty="0">
                <a:solidFill>
                  <a:srgbClr val="213739"/>
                </a:solidFill>
                <a:latin typeface="Calibri"/>
                <a:cs typeface="Calibri"/>
              </a:rPr>
              <a:t>if</a:t>
            </a:r>
            <a:r>
              <a:rPr sz="2625" i="1" baseline="-476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85" dirty="0">
                <a:solidFill>
                  <a:srgbClr val="213739"/>
                </a:solidFill>
                <a:latin typeface="Calibri"/>
                <a:cs typeface="Calibri"/>
              </a:rPr>
              <a:t>g</a:t>
            </a:r>
            <a:r>
              <a:rPr sz="1750" spc="85" dirty="0">
                <a:solidFill>
                  <a:srgbClr val="213739"/>
                </a:solidFill>
                <a:latin typeface="Calibri"/>
                <a:cs typeface="Calibri"/>
              </a:rPr>
              <a:t>(</a:t>
            </a:r>
            <a:r>
              <a:rPr sz="1750" b="1" spc="8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spc="85" dirty="0">
                <a:solidFill>
                  <a:srgbClr val="213739"/>
                </a:solidFill>
                <a:latin typeface="Calibri"/>
                <a:cs typeface="Calibri"/>
              </a:rPr>
              <a:t>)</a:t>
            </a:r>
            <a:r>
              <a:rPr sz="1750" spc="17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≥</a:t>
            </a:r>
            <a:r>
              <a:rPr sz="1750" spc="-10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θ</a:t>
            </a:r>
            <a:endParaRPr sz="1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0"/>
              </a:spcBef>
              <a:tabLst>
                <a:tab pos="438784" algn="l"/>
              </a:tabLst>
            </a:pPr>
            <a:r>
              <a:rPr sz="1750" i="1" spc="65" dirty="0">
                <a:solidFill>
                  <a:srgbClr val="213739"/>
                </a:solidFill>
                <a:latin typeface="Calibri"/>
                <a:cs typeface="Calibri"/>
              </a:rPr>
              <a:t>if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85" dirty="0">
                <a:solidFill>
                  <a:srgbClr val="213739"/>
                </a:solidFill>
                <a:latin typeface="Calibri"/>
                <a:cs typeface="Calibri"/>
              </a:rPr>
              <a:t>g</a:t>
            </a:r>
            <a:r>
              <a:rPr sz="1750" spc="85" dirty="0">
                <a:solidFill>
                  <a:srgbClr val="213739"/>
                </a:solidFill>
                <a:latin typeface="Calibri"/>
                <a:cs typeface="Calibri"/>
              </a:rPr>
              <a:t>(</a:t>
            </a:r>
            <a:r>
              <a:rPr sz="1750" b="1" spc="8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spc="85" dirty="0">
                <a:solidFill>
                  <a:srgbClr val="213739"/>
                </a:solidFill>
                <a:latin typeface="Calibri"/>
                <a:cs typeface="Calibri"/>
              </a:rPr>
              <a:t>)</a:t>
            </a:r>
            <a:r>
              <a:rPr sz="1750" spc="22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spc="8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θ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222240" y="4102989"/>
            <a:ext cx="1557020" cy="784860"/>
          </a:xfrm>
          <a:prstGeom prst="rect">
            <a:avLst/>
          </a:prstGeom>
        </p:spPr>
        <p:txBody>
          <a:bodyPr vert="horz" wrap="square" lIns="0" tIns="125730" rIns="0" bIns="0" rtlCol="0">
            <a:spAutoFit/>
          </a:bodyPr>
          <a:lstStyle/>
          <a:p>
            <a:pPr marR="9525" algn="r">
              <a:lnSpc>
                <a:spcPct val="100000"/>
              </a:lnSpc>
              <a:spcBef>
                <a:spcPts val="990"/>
              </a:spcBef>
            </a:pP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y</a:t>
            </a:r>
            <a:r>
              <a:rPr sz="1750" i="1" spc="16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80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f</a:t>
            </a:r>
            <a:r>
              <a:rPr sz="1750" i="1" spc="10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105" dirty="0">
                <a:solidFill>
                  <a:srgbClr val="213739"/>
                </a:solidFill>
                <a:latin typeface="Calibri"/>
                <a:cs typeface="Calibri"/>
              </a:rPr>
              <a:t>(</a:t>
            </a:r>
            <a:r>
              <a:rPr sz="1750" i="1" spc="105" dirty="0">
                <a:solidFill>
                  <a:srgbClr val="213739"/>
                </a:solidFill>
                <a:latin typeface="Calibri"/>
                <a:cs typeface="Calibri"/>
              </a:rPr>
              <a:t>g</a:t>
            </a:r>
            <a:r>
              <a:rPr sz="1750" spc="105" dirty="0">
                <a:solidFill>
                  <a:srgbClr val="213739"/>
                </a:solidFill>
                <a:latin typeface="Calibri"/>
                <a:cs typeface="Calibri"/>
              </a:rPr>
              <a:t>(</a:t>
            </a:r>
            <a:r>
              <a:rPr sz="1750" b="1" spc="10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spc="105" dirty="0">
                <a:solidFill>
                  <a:srgbClr val="213739"/>
                </a:solidFill>
                <a:latin typeface="Calibri"/>
                <a:cs typeface="Calibri"/>
              </a:rPr>
              <a:t>))</a:t>
            </a:r>
            <a:r>
              <a:rPr sz="1750" spc="22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7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75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  <a:spcBef>
                <a:spcPts val="885"/>
              </a:spcBef>
            </a:pP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70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382770" y="4921707"/>
            <a:ext cx="3372485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θ</a:t>
            </a:r>
            <a:r>
              <a:rPr sz="1750" i="1" spc="-8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is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ca</a:t>
            </a:r>
            <a:r>
              <a:rPr sz="1750" spc="-3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led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 thresholding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parameter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460106" y="2968244"/>
            <a:ext cx="108585" cy="2197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50" i="1" spc="-50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883784" y="3100522"/>
            <a:ext cx="3037205" cy="62547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25"/>
              </a:spcBef>
              <a:tabLst>
                <a:tab pos="2553335" algn="l"/>
              </a:tabLst>
            </a:pPr>
            <a:r>
              <a:rPr sz="1750" i="1" spc="85" dirty="0">
                <a:solidFill>
                  <a:srgbClr val="213739"/>
                </a:solidFill>
                <a:latin typeface="Calibri"/>
                <a:cs typeface="Calibri"/>
              </a:rPr>
              <a:t>g</a:t>
            </a:r>
            <a:r>
              <a:rPr sz="1750" spc="85" dirty="0">
                <a:solidFill>
                  <a:srgbClr val="213739"/>
                </a:solidFill>
                <a:latin typeface="Calibri"/>
                <a:cs typeface="Calibri"/>
              </a:rPr>
              <a:t>(</a:t>
            </a:r>
            <a:r>
              <a:rPr sz="1750" i="1" spc="8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127" baseline="-13333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875" spc="-232" baseline="-13333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-9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i="1" spc="-16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875" baseline="-13333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875" spc="-202" baseline="-13333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-9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...,</a:t>
            </a:r>
            <a:r>
              <a:rPr sz="1750" i="1" spc="-11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i="1" spc="-1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875" i="1" baseline="-13333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i="1" spc="-209" baseline="-13333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)</a:t>
            </a:r>
            <a:r>
              <a:rPr sz="1750" spc="25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9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i="1" spc="95" dirty="0">
                <a:solidFill>
                  <a:srgbClr val="213739"/>
                </a:solidFill>
                <a:latin typeface="Calibri"/>
                <a:cs typeface="Calibri"/>
              </a:rPr>
              <a:t>g</a:t>
            </a:r>
            <a:r>
              <a:rPr sz="1750" spc="95" dirty="0">
                <a:solidFill>
                  <a:srgbClr val="213739"/>
                </a:solidFill>
                <a:latin typeface="Calibri"/>
                <a:cs typeface="Calibri"/>
              </a:rPr>
              <a:t>(</a:t>
            </a:r>
            <a:r>
              <a:rPr sz="1750" b="1" spc="9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spc="95" dirty="0">
                <a:solidFill>
                  <a:srgbClr val="213739"/>
                </a:solidFill>
                <a:latin typeface="Calibri"/>
                <a:cs typeface="Calibri"/>
              </a:rPr>
              <a:t>)</a:t>
            </a:r>
            <a:r>
              <a:rPr sz="1750" spc="229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Σ</a:t>
            </a:r>
            <a:r>
              <a:rPr sz="1750" spc="35" dirty="0">
                <a:solidFill>
                  <a:srgbClr val="213739"/>
                </a:solidFill>
                <a:latin typeface="Lucida Sans Unicode"/>
                <a:cs typeface="Lucida Sans Unicode"/>
              </a:rPr>
              <a:t>  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i="1" spc="-15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875" i="1" spc="-75" baseline="-13333" dirty="0">
                <a:solidFill>
                  <a:srgbClr val="213739"/>
                </a:solidFill>
                <a:latin typeface="Calibri"/>
                <a:cs typeface="Calibri"/>
              </a:rPr>
              <a:t>i</a:t>
            </a:r>
            <a:endParaRPr sz="1875" baseline="-13333">
              <a:latin typeface="Calibri"/>
              <a:cs typeface="Calibri"/>
            </a:endParaRPr>
          </a:p>
          <a:p>
            <a:pPr marR="267335" algn="r">
              <a:lnSpc>
                <a:spcPct val="100000"/>
              </a:lnSpc>
              <a:spcBef>
                <a:spcPts val="490"/>
              </a:spcBef>
            </a:pPr>
            <a:r>
              <a:rPr sz="1250" i="1" dirty="0">
                <a:solidFill>
                  <a:srgbClr val="213739"/>
                </a:solidFill>
                <a:latin typeface="Calibri"/>
                <a:cs typeface="Calibri"/>
              </a:rPr>
              <a:t>i</a:t>
            </a:r>
            <a:r>
              <a:rPr sz="1250" i="1" spc="-13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250" spc="55" dirty="0">
                <a:solidFill>
                  <a:srgbClr val="213739"/>
                </a:solidFill>
                <a:latin typeface="Calibri"/>
                <a:cs typeface="Calibri"/>
              </a:rPr>
              <a:t>=1 </a:t>
            </a:r>
            <a:endParaRPr sz="125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887459" y="5668848"/>
            <a:ext cx="172085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12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557885" y="3020948"/>
            <a:ext cx="208788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Let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us</a:t>
            </a:r>
            <a:r>
              <a:rPr sz="1750" spc="-1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implement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some</a:t>
            </a:r>
            <a:endParaRPr sz="175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25400" y="-25400"/>
            <a:ext cx="9194800" cy="6908800"/>
            <a:chOff x="-25400" y="-25400"/>
            <a:chExt cx="9194800" cy="6908800"/>
          </a:xfrm>
        </p:grpSpPr>
        <p:sp>
          <p:nvSpPr>
            <p:cNvPr id="3" name="object 3"/>
            <p:cNvSpPr/>
            <p:nvPr/>
          </p:nvSpPr>
          <p:spPr>
            <a:xfrm>
              <a:off x="1313561" y="1683130"/>
              <a:ext cx="570865" cy="285750"/>
            </a:xfrm>
            <a:custGeom>
              <a:avLst/>
              <a:gdLst/>
              <a:ahLst/>
              <a:cxnLst/>
              <a:rect l="l" t="t" r="r" b="b"/>
              <a:pathLst>
                <a:path w="570864" h="285750">
                  <a:moveTo>
                    <a:pt x="285495" y="0"/>
                  </a:moveTo>
                  <a:lnTo>
                    <a:pt x="209550" y="10287"/>
                  </a:lnTo>
                  <a:lnTo>
                    <a:pt x="141350" y="38989"/>
                  </a:lnTo>
                  <a:lnTo>
                    <a:pt x="83565" y="83693"/>
                  </a:lnTo>
                  <a:lnTo>
                    <a:pt x="38988" y="141478"/>
                  </a:lnTo>
                  <a:lnTo>
                    <a:pt x="10159" y="209677"/>
                  </a:lnTo>
                  <a:lnTo>
                    <a:pt x="0" y="285496"/>
                  </a:lnTo>
                  <a:lnTo>
                    <a:pt x="570864" y="285496"/>
                  </a:lnTo>
                  <a:lnTo>
                    <a:pt x="560705" y="209677"/>
                  </a:lnTo>
                  <a:lnTo>
                    <a:pt x="532002" y="141478"/>
                  </a:lnTo>
                  <a:lnTo>
                    <a:pt x="487299" y="83693"/>
                  </a:lnTo>
                  <a:lnTo>
                    <a:pt x="429513" y="38989"/>
                  </a:lnTo>
                  <a:lnTo>
                    <a:pt x="361314" y="10287"/>
                  </a:lnTo>
                  <a:lnTo>
                    <a:pt x="285495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313561" y="1683130"/>
              <a:ext cx="570865" cy="571500"/>
            </a:xfrm>
            <a:custGeom>
              <a:avLst/>
              <a:gdLst/>
              <a:ahLst/>
              <a:cxnLst/>
              <a:rect l="l" t="t" r="r" b="b"/>
              <a:pathLst>
                <a:path w="570864" h="571500">
                  <a:moveTo>
                    <a:pt x="570864" y="285496"/>
                  </a:moveTo>
                  <a:lnTo>
                    <a:pt x="560705" y="209677"/>
                  </a:lnTo>
                  <a:lnTo>
                    <a:pt x="532002" y="141478"/>
                  </a:lnTo>
                  <a:lnTo>
                    <a:pt x="487299" y="83693"/>
                  </a:lnTo>
                  <a:lnTo>
                    <a:pt x="429513" y="38989"/>
                  </a:lnTo>
                  <a:lnTo>
                    <a:pt x="361314" y="10287"/>
                  </a:lnTo>
                  <a:lnTo>
                    <a:pt x="285495" y="0"/>
                  </a:lnTo>
                  <a:lnTo>
                    <a:pt x="209550" y="10287"/>
                  </a:lnTo>
                  <a:lnTo>
                    <a:pt x="141350" y="38989"/>
                  </a:lnTo>
                  <a:lnTo>
                    <a:pt x="83565" y="83693"/>
                  </a:lnTo>
                  <a:lnTo>
                    <a:pt x="38988" y="141478"/>
                  </a:lnTo>
                  <a:lnTo>
                    <a:pt x="10159" y="209677"/>
                  </a:lnTo>
                  <a:lnTo>
                    <a:pt x="0" y="285496"/>
                  </a:lnTo>
                  <a:lnTo>
                    <a:pt x="10159" y="361442"/>
                  </a:lnTo>
                  <a:lnTo>
                    <a:pt x="38988" y="429641"/>
                  </a:lnTo>
                  <a:lnTo>
                    <a:pt x="83565" y="487426"/>
                  </a:lnTo>
                  <a:lnTo>
                    <a:pt x="141350" y="532003"/>
                  </a:lnTo>
                  <a:lnTo>
                    <a:pt x="209550" y="560832"/>
                  </a:lnTo>
                  <a:lnTo>
                    <a:pt x="285495" y="570992"/>
                  </a:lnTo>
                  <a:lnTo>
                    <a:pt x="361314" y="560832"/>
                  </a:lnTo>
                  <a:lnTo>
                    <a:pt x="429513" y="532003"/>
                  </a:lnTo>
                  <a:lnTo>
                    <a:pt x="487299" y="487426"/>
                  </a:lnTo>
                  <a:lnTo>
                    <a:pt x="532002" y="429641"/>
                  </a:lnTo>
                  <a:lnTo>
                    <a:pt x="560705" y="361442"/>
                  </a:lnTo>
                  <a:lnTo>
                    <a:pt x="570864" y="285496"/>
                  </a:lnTo>
                  <a:close/>
                </a:path>
                <a:path w="570864" h="571500">
                  <a:moveTo>
                    <a:pt x="0" y="285496"/>
                  </a:moveTo>
                  <a:lnTo>
                    <a:pt x="570864" y="285496"/>
                  </a:lnTo>
                </a:path>
              </a:pathLst>
            </a:custGeom>
            <a:ln w="3175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80922" y="2244064"/>
              <a:ext cx="636079" cy="30126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550797" y="1446149"/>
              <a:ext cx="96520" cy="237490"/>
            </a:xfrm>
            <a:custGeom>
              <a:avLst/>
              <a:gdLst/>
              <a:ahLst/>
              <a:cxnLst/>
              <a:rect l="l" t="t" r="r" b="b"/>
              <a:pathLst>
                <a:path w="96519" h="237489">
                  <a:moveTo>
                    <a:pt x="48259" y="236981"/>
                  </a:moveTo>
                  <a:lnTo>
                    <a:pt x="48259" y="3937"/>
                  </a:lnTo>
                </a:path>
                <a:path w="96519" h="237489">
                  <a:moveTo>
                    <a:pt x="0" y="41655"/>
                  </a:moveTo>
                  <a:lnTo>
                    <a:pt x="18922" y="34416"/>
                  </a:lnTo>
                  <a:lnTo>
                    <a:pt x="32893" y="24384"/>
                  </a:lnTo>
                  <a:lnTo>
                    <a:pt x="42418" y="12573"/>
                  </a:lnTo>
                  <a:lnTo>
                    <a:pt x="48259" y="0"/>
                  </a:lnTo>
                  <a:lnTo>
                    <a:pt x="54102" y="12573"/>
                  </a:lnTo>
                  <a:lnTo>
                    <a:pt x="63627" y="24384"/>
                  </a:lnTo>
                  <a:lnTo>
                    <a:pt x="77470" y="34416"/>
                  </a:lnTo>
                  <a:lnTo>
                    <a:pt x="96392" y="41655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94740" y="1049781"/>
            <a:ext cx="1863089" cy="206311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46355" algn="ctr">
              <a:lnSpc>
                <a:spcPct val="100000"/>
              </a:lnSpc>
              <a:spcBef>
                <a:spcPts val="90"/>
              </a:spcBef>
            </a:pP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y</a:t>
            </a:r>
            <a:r>
              <a:rPr sz="1750" i="1" spc="21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∈</a:t>
            </a:r>
            <a:r>
              <a:rPr sz="1750" spc="-24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{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5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spc="-25" dirty="0">
                <a:solidFill>
                  <a:srgbClr val="213739"/>
                </a:solidFill>
                <a:latin typeface="Lucida Sans Unicode"/>
                <a:cs typeface="Lucida Sans Unicode"/>
              </a:rPr>
              <a:t>}</a:t>
            </a:r>
            <a:endParaRPr sz="175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595"/>
              </a:spcBef>
            </a:pPr>
            <a:endParaRPr sz="1750">
              <a:latin typeface="Lucida Sans Unicode"/>
              <a:cs typeface="Lucida Sans Unicode"/>
            </a:endParaRPr>
          </a:p>
          <a:p>
            <a:pPr marR="29845" algn="ctr">
              <a:lnSpc>
                <a:spcPct val="100000"/>
              </a:lnSpc>
            </a:pP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θ</a:t>
            </a:r>
            <a:endParaRPr sz="1750">
              <a:latin typeface="Calibri"/>
              <a:cs typeface="Calibri"/>
            </a:endParaRPr>
          </a:p>
          <a:p>
            <a:pPr marR="56515" algn="ctr">
              <a:lnSpc>
                <a:spcPct val="100000"/>
              </a:lnSpc>
              <a:spcBef>
                <a:spcPts val="1995"/>
              </a:spcBef>
              <a:tabLst>
                <a:tab pos="427990" algn="l"/>
                <a:tab pos="855980" algn="l"/>
              </a:tabLst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875" baseline="-8888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250">
              <a:latin typeface="Calibri"/>
              <a:cs typeface="Calibri"/>
            </a:endParaRPr>
          </a:p>
          <a:p>
            <a:pPr marL="50800">
              <a:lnSpc>
                <a:spcPct val="100000"/>
              </a:lnSpc>
            </a:pPr>
            <a:r>
              <a:rPr sz="1550" spc="-50" dirty="0">
                <a:solidFill>
                  <a:srgbClr val="213739"/>
                </a:solidFill>
                <a:latin typeface="Arial MT"/>
                <a:cs typeface="Arial MT"/>
              </a:rPr>
              <a:t>AMcCulloch</a:t>
            </a:r>
            <a:r>
              <a:rPr sz="1550" spc="-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spc="-45" dirty="0">
                <a:solidFill>
                  <a:srgbClr val="213739"/>
                </a:solidFill>
                <a:latin typeface="Arial MT"/>
                <a:cs typeface="Arial MT"/>
              </a:rPr>
              <a:t>Pitts</a:t>
            </a:r>
            <a:r>
              <a:rPr sz="1550" spc="-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spc="-20" dirty="0">
                <a:solidFill>
                  <a:srgbClr val="213739"/>
                </a:solidFill>
                <a:latin typeface="Arial MT"/>
                <a:cs typeface="Arial MT"/>
              </a:rPr>
              <a:t>unit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7261" y="6643369"/>
            <a:ext cx="1173480" cy="241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20"/>
              </a:lnSpc>
            </a:pPr>
            <a:r>
              <a:rPr sz="1700" b="1" dirty="0">
                <a:solidFill>
                  <a:srgbClr val="FFFFFF"/>
                </a:solidFill>
                <a:latin typeface="Calibri"/>
                <a:cs typeface="Calibri"/>
              </a:rPr>
              <a:t>NIT</a:t>
            </a:r>
            <a:r>
              <a:rPr sz="17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b="1" spc="-10" dirty="0">
                <a:solidFill>
                  <a:srgbClr val="FFFFFF"/>
                </a:solidFill>
                <a:latin typeface="Calibri"/>
                <a:cs typeface="Calibri"/>
              </a:rPr>
              <a:t>Rourkela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568188" y="6658229"/>
            <a:ext cx="293687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dirty="0">
                <a:latin typeface="Calibri"/>
                <a:cs typeface="Calibri"/>
              </a:rPr>
              <a:t>“Deep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Learning: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Neuron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to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Perceptron”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781415" y="5588609"/>
            <a:ext cx="196215" cy="2197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50" spc="-25" dirty="0">
                <a:solidFill>
                  <a:srgbClr val="213739"/>
                </a:solidFill>
                <a:latin typeface="Arial MT"/>
                <a:cs typeface="Arial MT"/>
              </a:rPr>
              <a:t>13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boolean</a:t>
            </a:r>
            <a:r>
              <a:rPr spc="-100" dirty="0"/>
              <a:t> </a:t>
            </a:r>
            <a:r>
              <a:rPr dirty="0"/>
              <a:t>functions</a:t>
            </a:r>
            <a:r>
              <a:rPr spc="-105" dirty="0"/>
              <a:t> </a:t>
            </a:r>
            <a:r>
              <a:rPr dirty="0"/>
              <a:t>using</a:t>
            </a:r>
            <a:r>
              <a:rPr spc="-105" dirty="0"/>
              <a:t> </a:t>
            </a:r>
            <a:r>
              <a:rPr dirty="0"/>
              <a:t>MP</a:t>
            </a:r>
            <a:r>
              <a:rPr spc="-245" dirty="0"/>
              <a:t> </a:t>
            </a:r>
            <a:r>
              <a:rPr dirty="0"/>
              <a:t>neuron</a:t>
            </a:r>
            <a:r>
              <a:rPr spc="-105" dirty="0"/>
              <a:t> </a:t>
            </a:r>
            <a:r>
              <a:rPr spc="-25" dirty="0"/>
              <a:t>...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25400" y="-25400"/>
            <a:ext cx="9194800" cy="6908800"/>
            <a:chOff x="-25400" y="-25400"/>
            <a:chExt cx="9194800" cy="6908800"/>
          </a:xfrm>
        </p:grpSpPr>
        <p:sp>
          <p:nvSpPr>
            <p:cNvPr id="3" name="object 3"/>
            <p:cNvSpPr/>
            <p:nvPr/>
          </p:nvSpPr>
          <p:spPr>
            <a:xfrm>
              <a:off x="1313561" y="1718436"/>
              <a:ext cx="570865" cy="285750"/>
            </a:xfrm>
            <a:custGeom>
              <a:avLst/>
              <a:gdLst/>
              <a:ahLst/>
              <a:cxnLst/>
              <a:rect l="l" t="t" r="r" b="b"/>
              <a:pathLst>
                <a:path w="570864" h="285750">
                  <a:moveTo>
                    <a:pt x="285495" y="0"/>
                  </a:moveTo>
                  <a:lnTo>
                    <a:pt x="209550" y="10287"/>
                  </a:lnTo>
                  <a:lnTo>
                    <a:pt x="141350" y="38988"/>
                  </a:lnTo>
                  <a:lnTo>
                    <a:pt x="83565" y="83692"/>
                  </a:lnTo>
                  <a:lnTo>
                    <a:pt x="38988" y="141477"/>
                  </a:lnTo>
                  <a:lnTo>
                    <a:pt x="10159" y="209676"/>
                  </a:lnTo>
                  <a:lnTo>
                    <a:pt x="0" y="285496"/>
                  </a:lnTo>
                  <a:lnTo>
                    <a:pt x="570864" y="285496"/>
                  </a:lnTo>
                  <a:lnTo>
                    <a:pt x="560705" y="209676"/>
                  </a:lnTo>
                  <a:lnTo>
                    <a:pt x="532002" y="141477"/>
                  </a:lnTo>
                  <a:lnTo>
                    <a:pt x="487299" y="83692"/>
                  </a:lnTo>
                  <a:lnTo>
                    <a:pt x="429513" y="38988"/>
                  </a:lnTo>
                  <a:lnTo>
                    <a:pt x="361314" y="10287"/>
                  </a:lnTo>
                  <a:lnTo>
                    <a:pt x="285495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313561" y="1718436"/>
              <a:ext cx="570865" cy="571500"/>
            </a:xfrm>
            <a:custGeom>
              <a:avLst/>
              <a:gdLst/>
              <a:ahLst/>
              <a:cxnLst/>
              <a:rect l="l" t="t" r="r" b="b"/>
              <a:pathLst>
                <a:path w="570864" h="571500">
                  <a:moveTo>
                    <a:pt x="570864" y="285496"/>
                  </a:moveTo>
                  <a:lnTo>
                    <a:pt x="560705" y="209676"/>
                  </a:lnTo>
                  <a:lnTo>
                    <a:pt x="532002" y="141477"/>
                  </a:lnTo>
                  <a:lnTo>
                    <a:pt x="487299" y="83692"/>
                  </a:lnTo>
                  <a:lnTo>
                    <a:pt x="429513" y="38988"/>
                  </a:lnTo>
                  <a:lnTo>
                    <a:pt x="361314" y="10287"/>
                  </a:lnTo>
                  <a:lnTo>
                    <a:pt x="285495" y="0"/>
                  </a:lnTo>
                  <a:lnTo>
                    <a:pt x="209550" y="10287"/>
                  </a:lnTo>
                  <a:lnTo>
                    <a:pt x="141350" y="38988"/>
                  </a:lnTo>
                  <a:lnTo>
                    <a:pt x="83565" y="83692"/>
                  </a:lnTo>
                  <a:lnTo>
                    <a:pt x="38988" y="141477"/>
                  </a:lnTo>
                  <a:lnTo>
                    <a:pt x="10159" y="209676"/>
                  </a:lnTo>
                  <a:lnTo>
                    <a:pt x="0" y="285496"/>
                  </a:lnTo>
                  <a:lnTo>
                    <a:pt x="10159" y="361441"/>
                  </a:lnTo>
                  <a:lnTo>
                    <a:pt x="38988" y="429640"/>
                  </a:lnTo>
                  <a:lnTo>
                    <a:pt x="83565" y="487425"/>
                  </a:lnTo>
                  <a:lnTo>
                    <a:pt x="141350" y="532002"/>
                  </a:lnTo>
                  <a:lnTo>
                    <a:pt x="209550" y="560832"/>
                  </a:lnTo>
                  <a:lnTo>
                    <a:pt x="285495" y="570991"/>
                  </a:lnTo>
                  <a:lnTo>
                    <a:pt x="361314" y="560832"/>
                  </a:lnTo>
                  <a:lnTo>
                    <a:pt x="429513" y="532002"/>
                  </a:lnTo>
                  <a:lnTo>
                    <a:pt x="487299" y="487425"/>
                  </a:lnTo>
                  <a:lnTo>
                    <a:pt x="532002" y="429640"/>
                  </a:lnTo>
                  <a:lnTo>
                    <a:pt x="560705" y="361441"/>
                  </a:lnTo>
                  <a:lnTo>
                    <a:pt x="570864" y="285496"/>
                  </a:lnTo>
                  <a:close/>
                </a:path>
                <a:path w="570864" h="571500">
                  <a:moveTo>
                    <a:pt x="0" y="285496"/>
                  </a:moveTo>
                  <a:lnTo>
                    <a:pt x="570864" y="285496"/>
                  </a:lnTo>
                </a:path>
              </a:pathLst>
            </a:custGeom>
            <a:ln w="3175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80922" y="2279370"/>
              <a:ext cx="636079" cy="30126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550797" y="1481455"/>
              <a:ext cx="96520" cy="237490"/>
            </a:xfrm>
            <a:custGeom>
              <a:avLst/>
              <a:gdLst/>
              <a:ahLst/>
              <a:cxnLst/>
              <a:rect l="l" t="t" r="r" b="b"/>
              <a:pathLst>
                <a:path w="96519" h="237489">
                  <a:moveTo>
                    <a:pt x="48259" y="236982"/>
                  </a:moveTo>
                  <a:lnTo>
                    <a:pt x="48259" y="3937"/>
                  </a:lnTo>
                </a:path>
                <a:path w="96519" h="237489">
                  <a:moveTo>
                    <a:pt x="0" y="41656"/>
                  </a:moveTo>
                  <a:lnTo>
                    <a:pt x="18922" y="34417"/>
                  </a:lnTo>
                  <a:lnTo>
                    <a:pt x="32893" y="24384"/>
                  </a:lnTo>
                  <a:lnTo>
                    <a:pt x="42418" y="12573"/>
                  </a:lnTo>
                  <a:lnTo>
                    <a:pt x="48259" y="0"/>
                  </a:lnTo>
                  <a:lnTo>
                    <a:pt x="54102" y="12573"/>
                  </a:lnTo>
                  <a:lnTo>
                    <a:pt x="63627" y="24384"/>
                  </a:lnTo>
                  <a:lnTo>
                    <a:pt x="77470" y="34417"/>
                  </a:lnTo>
                  <a:lnTo>
                    <a:pt x="96392" y="41656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07745" y="1974926"/>
            <a:ext cx="1837689" cy="12579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32384" algn="ctr">
              <a:lnSpc>
                <a:spcPct val="100000"/>
              </a:lnSpc>
              <a:spcBef>
                <a:spcPts val="90"/>
              </a:spcBef>
            </a:pP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θ</a:t>
            </a:r>
            <a:endParaRPr sz="1750">
              <a:latin typeface="Calibri"/>
              <a:cs typeface="Calibri"/>
            </a:endParaRPr>
          </a:p>
          <a:p>
            <a:pPr marR="55880" algn="ctr">
              <a:lnSpc>
                <a:spcPct val="100000"/>
              </a:lnSpc>
              <a:spcBef>
                <a:spcPts val="2039"/>
              </a:spcBef>
              <a:tabLst>
                <a:tab pos="427990" algn="l"/>
                <a:tab pos="855980" algn="l"/>
              </a:tabLst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875" baseline="-8888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25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</a:pPr>
            <a:r>
              <a:rPr sz="1550" spc="-50" dirty="0">
                <a:solidFill>
                  <a:srgbClr val="213739"/>
                </a:solidFill>
                <a:latin typeface="Arial MT"/>
                <a:cs typeface="Arial MT"/>
              </a:rPr>
              <a:t>AMcCulloch</a:t>
            </a:r>
            <a:r>
              <a:rPr sz="1550" spc="-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spc="-45" dirty="0">
                <a:solidFill>
                  <a:srgbClr val="213739"/>
                </a:solidFill>
                <a:latin typeface="Arial MT"/>
                <a:cs typeface="Arial MT"/>
              </a:rPr>
              <a:t>Pitts</a:t>
            </a:r>
            <a:r>
              <a:rPr sz="1550" spc="-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spc="-20" dirty="0">
                <a:solidFill>
                  <a:srgbClr val="213739"/>
                </a:solidFill>
                <a:latin typeface="Arial MT"/>
                <a:cs typeface="Arial MT"/>
              </a:rPr>
              <a:t>unit</a:t>
            </a:r>
            <a:endParaRPr sz="155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224146" y="1478924"/>
            <a:ext cx="636270" cy="1101725"/>
            <a:chOff x="4224146" y="1478924"/>
            <a:chExt cx="636270" cy="1101725"/>
          </a:xfrm>
        </p:grpSpPr>
        <p:sp>
          <p:nvSpPr>
            <p:cNvPr id="9" name="object 9"/>
            <p:cNvSpPr/>
            <p:nvPr/>
          </p:nvSpPr>
          <p:spPr>
            <a:xfrm>
              <a:off x="4256658" y="1718436"/>
              <a:ext cx="571500" cy="285750"/>
            </a:xfrm>
            <a:custGeom>
              <a:avLst/>
              <a:gdLst/>
              <a:ahLst/>
              <a:cxnLst/>
              <a:rect l="l" t="t" r="r" b="b"/>
              <a:pathLst>
                <a:path w="571500" h="285750">
                  <a:moveTo>
                    <a:pt x="285495" y="0"/>
                  </a:moveTo>
                  <a:lnTo>
                    <a:pt x="209550" y="10287"/>
                  </a:lnTo>
                  <a:lnTo>
                    <a:pt x="141350" y="38988"/>
                  </a:lnTo>
                  <a:lnTo>
                    <a:pt x="83565" y="83692"/>
                  </a:lnTo>
                  <a:lnTo>
                    <a:pt x="38988" y="141477"/>
                  </a:lnTo>
                  <a:lnTo>
                    <a:pt x="10160" y="209676"/>
                  </a:lnTo>
                  <a:lnTo>
                    <a:pt x="0" y="285496"/>
                  </a:lnTo>
                  <a:lnTo>
                    <a:pt x="570991" y="285496"/>
                  </a:lnTo>
                  <a:lnTo>
                    <a:pt x="560704" y="209676"/>
                  </a:lnTo>
                  <a:lnTo>
                    <a:pt x="532002" y="141477"/>
                  </a:lnTo>
                  <a:lnTo>
                    <a:pt x="487299" y="83692"/>
                  </a:lnTo>
                  <a:lnTo>
                    <a:pt x="429513" y="38988"/>
                  </a:lnTo>
                  <a:lnTo>
                    <a:pt x="361314" y="10287"/>
                  </a:lnTo>
                  <a:lnTo>
                    <a:pt x="285495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256658" y="1718436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570991" y="285496"/>
                  </a:moveTo>
                  <a:lnTo>
                    <a:pt x="560704" y="209676"/>
                  </a:lnTo>
                  <a:lnTo>
                    <a:pt x="532002" y="141477"/>
                  </a:lnTo>
                  <a:lnTo>
                    <a:pt x="487299" y="83692"/>
                  </a:lnTo>
                  <a:lnTo>
                    <a:pt x="429513" y="38988"/>
                  </a:lnTo>
                  <a:lnTo>
                    <a:pt x="361314" y="10287"/>
                  </a:lnTo>
                  <a:lnTo>
                    <a:pt x="285495" y="0"/>
                  </a:lnTo>
                  <a:lnTo>
                    <a:pt x="209550" y="10287"/>
                  </a:lnTo>
                  <a:lnTo>
                    <a:pt x="141350" y="38988"/>
                  </a:lnTo>
                  <a:lnTo>
                    <a:pt x="83565" y="83692"/>
                  </a:lnTo>
                  <a:lnTo>
                    <a:pt x="38988" y="141477"/>
                  </a:lnTo>
                  <a:lnTo>
                    <a:pt x="10160" y="209676"/>
                  </a:lnTo>
                  <a:lnTo>
                    <a:pt x="0" y="285496"/>
                  </a:lnTo>
                  <a:lnTo>
                    <a:pt x="10160" y="361441"/>
                  </a:lnTo>
                  <a:lnTo>
                    <a:pt x="38988" y="429640"/>
                  </a:lnTo>
                  <a:lnTo>
                    <a:pt x="83565" y="487425"/>
                  </a:lnTo>
                  <a:lnTo>
                    <a:pt x="141350" y="532002"/>
                  </a:lnTo>
                  <a:lnTo>
                    <a:pt x="209550" y="560832"/>
                  </a:lnTo>
                  <a:lnTo>
                    <a:pt x="285495" y="570991"/>
                  </a:lnTo>
                  <a:lnTo>
                    <a:pt x="361314" y="560832"/>
                  </a:lnTo>
                  <a:lnTo>
                    <a:pt x="429513" y="532002"/>
                  </a:lnTo>
                  <a:lnTo>
                    <a:pt x="487299" y="487425"/>
                  </a:lnTo>
                  <a:lnTo>
                    <a:pt x="532002" y="429640"/>
                  </a:lnTo>
                  <a:lnTo>
                    <a:pt x="560704" y="361441"/>
                  </a:lnTo>
                  <a:lnTo>
                    <a:pt x="570991" y="285496"/>
                  </a:lnTo>
                  <a:close/>
                </a:path>
                <a:path w="571500" h="571500">
                  <a:moveTo>
                    <a:pt x="0" y="285496"/>
                  </a:moveTo>
                  <a:lnTo>
                    <a:pt x="570991" y="285496"/>
                  </a:lnTo>
                </a:path>
              </a:pathLst>
            </a:custGeom>
            <a:ln w="3175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24146" y="2279370"/>
              <a:ext cx="636079" cy="30126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494021" y="1481454"/>
              <a:ext cx="96520" cy="237490"/>
            </a:xfrm>
            <a:custGeom>
              <a:avLst/>
              <a:gdLst/>
              <a:ahLst/>
              <a:cxnLst/>
              <a:rect l="l" t="t" r="r" b="b"/>
              <a:pathLst>
                <a:path w="96520" h="237489">
                  <a:moveTo>
                    <a:pt x="48132" y="236982"/>
                  </a:moveTo>
                  <a:lnTo>
                    <a:pt x="48132" y="3937"/>
                  </a:lnTo>
                </a:path>
                <a:path w="96520" h="237489">
                  <a:moveTo>
                    <a:pt x="0" y="41656"/>
                  </a:moveTo>
                  <a:lnTo>
                    <a:pt x="18923" y="34417"/>
                  </a:lnTo>
                  <a:lnTo>
                    <a:pt x="32765" y="24384"/>
                  </a:lnTo>
                  <a:lnTo>
                    <a:pt x="42290" y="12573"/>
                  </a:lnTo>
                  <a:lnTo>
                    <a:pt x="48132" y="0"/>
                  </a:lnTo>
                  <a:lnTo>
                    <a:pt x="53975" y="12573"/>
                  </a:lnTo>
                  <a:lnTo>
                    <a:pt x="63500" y="24384"/>
                  </a:lnTo>
                  <a:lnTo>
                    <a:pt x="77342" y="34417"/>
                  </a:lnTo>
                  <a:lnTo>
                    <a:pt x="96265" y="41656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125423" y="1085215"/>
            <a:ext cx="385699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955925" algn="l"/>
              </a:tabLst>
            </a:pP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y</a:t>
            </a:r>
            <a:r>
              <a:rPr sz="1750" i="1" spc="22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∈</a:t>
            </a:r>
            <a:r>
              <a:rPr sz="1750" spc="-24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{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5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spc="-25" dirty="0">
                <a:solidFill>
                  <a:srgbClr val="213739"/>
                </a:solidFill>
                <a:latin typeface="Lucida Sans Unicode"/>
                <a:cs typeface="Lucida Sans Unicode"/>
              </a:rPr>
              <a:t>}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	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y</a:t>
            </a:r>
            <a:r>
              <a:rPr sz="1750" i="1" spc="22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∈</a:t>
            </a:r>
            <a:r>
              <a:rPr sz="1750" spc="-24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{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5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spc="-25" dirty="0">
                <a:solidFill>
                  <a:srgbClr val="213739"/>
                </a:solidFill>
                <a:latin typeface="Lucida Sans Unicode"/>
                <a:cs typeface="Lucida Sans Unicode"/>
              </a:rPr>
              <a:t>}</a:t>
            </a:r>
            <a:endParaRPr sz="1750">
              <a:latin typeface="Lucida Sans Unicode"/>
              <a:cs typeface="Lucida Sans Unicod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781415" y="5823977"/>
            <a:ext cx="196215" cy="206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spc="-25" dirty="0">
                <a:solidFill>
                  <a:srgbClr val="213739"/>
                </a:solidFill>
                <a:latin typeface="Arial MT"/>
                <a:cs typeface="Arial MT"/>
              </a:rPr>
              <a:t>13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7261" y="6643369"/>
            <a:ext cx="1173480" cy="241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20"/>
              </a:lnSpc>
            </a:pPr>
            <a:r>
              <a:rPr sz="1700" b="1" dirty="0">
                <a:solidFill>
                  <a:srgbClr val="FFFFFF"/>
                </a:solidFill>
                <a:latin typeface="Calibri"/>
                <a:cs typeface="Calibri"/>
              </a:rPr>
              <a:t>NIT</a:t>
            </a:r>
            <a:r>
              <a:rPr sz="17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b="1" spc="-10" dirty="0">
                <a:solidFill>
                  <a:srgbClr val="FFFFFF"/>
                </a:solidFill>
                <a:latin typeface="Calibri"/>
                <a:cs typeface="Calibri"/>
              </a:rPr>
              <a:t>Rourkela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568188" y="6658229"/>
            <a:ext cx="293687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dirty="0">
                <a:latin typeface="Calibri"/>
                <a:cs typeface="Calibri"/>
              </a:rPr>
              <a:t>“Deep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Learning: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Neuron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to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Perceptron”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928617" y="2501010"/>
            <a:ext cx="1231900" cy="7321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90"/>
              </a:spcBef>
              <a:tabLst>
                <a:tab pos="502284" algn="l"/>
                <a:tab pos="930910" algn="l"/>
              </a:tabLst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875" baseline="-8888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250">
              <a:latin typeface="Calibri"/>
              <a:cs typeface="Calibri"/>
            </a:endParaRPr>
          </a:p>
          <a:p>
            <a:pPr marL="92710">
              <a:lnSpc>
                <a:spcPct val="100000"/>
              </a:lnSpc>
            </a:pPr>
            <a:r>
              <a:rPr sz="1550" spc="-120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550" spc="-1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spc="-10" dirty="0">
                <a:solidFill>
                  <a:srgbClr val="213739"/>
                </a:solidFill>
                <a:latin typeface="Arial MT"/>
                <a:cs typeface="Arial MT"/>
              </a:rPr>
              <a:t>function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15" name="object 1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boolean</a:t>
            </a:r>
            <a:r>
              <a:rPr spc="-100" dirty="0"/>
              <a:t> </a:t>
            </a:r>
            <a:r>
              <a:rPr dirty="0"/>
              <a:t>functions</a:t>
            </a:r>
            <a:r>
              <a:rPr spc="-105" dirty="0"/>
              <a:t> </a:t>
            </a:r>
            <a:r>
              <a:rPr dirty="0"/>
              <a:t>using</a:t>
            </a:r>
            <a:r>
              <a:rPr spc="-105" dirty="0"/>
              <a:t> </a:t>
            </a:r>
            <a:r>
              <a:rPr dirty="0"/>
              <a:t>MP</a:t>
            </a:r>
            <a:r>
              <a:rPr spc="-245" dirty="0"/>
              <a:t> </a:t>
            </a:r>
            <a:r>
              <a:rPr dirty="0"/>
              <a:t>neuron</a:t>
            </a:r>
            <a:r>
              <a:rPr spc="-105" dirty="0"/>
              <a:t> </a:t>
            </a:r>
            <a:r>
              <a:rPr spc="-25" dirty="0"/>
              <a:t>...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25400" y="-25400"/>
            <a:ext cx="9194800" cy="6908800"/>
            <a:chOff x="-25400" y="-25400"/>
            <a:chExt cx="9194800" cy="6908800"/>
          </a:xfrm>
        </p:grpSpPr>
        <p:sp>
          <p:nvSpPr>
            <p:cNvPr id="3" name="object 3"/>
            <p:cNvSpPr/>
            <p:nvPr/>
          </p:nvSpPr>
          <p:spPr>
            <a:xfrm>
              <a:off x="1313561" y="1718436"/>
              <a:ext cx="570865" cy="285750"/>
            </a:xfrm>
            <a:custGeom>
              <a:avLst/>
              <a:gdLst/>
              <a:ahLst/>
              <a:cxnLst/>
              <a:rect l="l" t="t" r="r" b="b"/>
              <a:pathLst>
                <a:path w="570864" h="285750">
                  <a:moveTo>
                    <a:pt x="285495" y="0"/>
                  </a:moveTo>
                  <a:lnTo>
                    <a:pt x="209550" y="10287"/>
                  </a:lnTo>
                  <a:lnTo>
                    <a:pt x="141350" y="38988"/>
                  </a:lnTo>
                  <a:lnTo>
                    <a:pt x="83565" y="83692"/>
                  </a:lnTo>
                  <a:lnTo>
                    <a:pt x="38988" y="141477"/>
                  </a:lnTo>
                  <a:lnTo>
                    <a:pt x="10159" y="209676"/>
                  </a:lnTo>
                  <a:lnTo>
                    <a:pt x="0" y="285496"/>
                  </a:lnTo>
                  <a:lnTo>
                    <a:pt x="570864" y="285496"/>
                  </a:lnTo>
                  <a:lnTo>
                    <a:pt x="560705" y="209676"/>
                  </a:lnTo>
                  <a:lnTo>
                    <a:pt x="532002" y="141477"/>
                  </a:lnTo>
                  <a:lnTo>
                    <a:pt x="487299" y="83692"/>
                  </a:lnTo>
                  <a:lnTo>
                    <a:pt x="429513" y="38988"/>
                  </a:lnTo>
                  <a:lnTo>
                    <a:pt x="361314" y="10287"/>
                  </a:lnTo>
                  <a:lnTo>
                    <a:pt x="285495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313561" y="1718436"/>
              <a:ext cx="570865" cy="571500"/>
            </a:xfrm>
            <a:custGeom>
              <a:avLst/>
              <a:gdLst/>
              <a:ahLst/>
              <a:cxnLst/>
              <a:rect l="l" t="t" r="r" b="b"/>
              <a:pathLst>
                <a:path w="570864" h="571500">
                  <a:moveTo>
                    <a:pt x="570864" y="285496"/>
                  </a:moveTo>
                  <a:lnTo>
                    <a:pt x="560705" y="209676"/>
                  </a:lnTo>
                  <a:lnTo>
                    <a:pt x="532002" y="141477"/>
                  </a:lnTo>
                  <a:lnTo>
                    <a:pt x="487299" y="83692"/>
                  </a:lnTo>
                  <a:lnTo>
                    <a:pt x="429513" y="38988"/>
                  </a:lnTo>
                  <a:lnTo>
                    <a:pt x="361314" y="10287"/>
                  </a:lnTo>
                  <a:lnTo>
                    <a:pt x="285495" y="0"/>
                  </a:lnTo>
                  <a:lnTo>
                    <a:pt x="209550" y="10287"/>
                  </a:lnTo>
                  <a:lnTo>
                    <a:pt x="141350" y="38988"/>
                  </a:lnTo>
                  <a:lnTo>
                    <a:pt x="83565" y="83692"/>
                  </a:lnTo>
                  <a:lnTo>
                    <a:pt x="38988" y="141477"/>
                  </a:lnTo>
                  <a:lnTo>
                    <a:pt x="10159" y="209676"/>
                  </a:lnTo>
                  <a:lnTo>
                    <a:pt x="0" y="285496"/>
                  </a:lnTo>
                  <a:lnTo>
                    <a:pt x="10159" y="361441"/>
                  </a:lnTo>
                  <a:lnTo>
                    <a:pt x="38988" y="429640"/>
                  </a:lnTo>
                  <a:lnTo>
                    <a:pt x="83565" y="487425"/>
                  </a:lnTo>
                  <a:lnTo>
                    <a:pt x="141350" y="532002"/>
                  </a:lnTo>
                  <a:lnTo>
                    <a:pt x="209550" y="560832"/>
                  </a:lnTo>
                  <a:lnTo>
                    <a:pt x="285495" y="570991"/>
                  </a:lnTo>
                  <a:lnTo>
                    <a:pt x="361314" y="560832"/>
                  </a:lnTo>
                  <a:lnTo>
                    <a:pt x="429513" y="532002"/>
                  </a:lnTo>
                  <a:lnTo>
                    <a:pt x="487299" y="487425"/>
                  </a:lnTo>
                  <a:lnTo>
                    <a:pt x="532002" y="429640"/>
                  </a:lnTo>
                  <a:lnTo>
                    <a:pt x="560705" y="361441"/>
                  </a:lnTo>
                  <a:lnTo>
                    <a:pt x="570864" y="285496"/>
                  </a:lnTo>
                  <a:close/>
                </a:path>
                <a:path w="570864" h="571500">
                  <a:moveTo>
                    <a:pt x="0" y="285496"/>
                  </a:moveTo>
                  <a:lnTo>
                    <a:pt x="570864" y="285496"/>
                  </a:lnTo>
                </a:path>
              </a:pathLst>
            </a:custGeom>
            <a:ln w="3175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80922" y="2279370"/>
              <a:ext cx="636079" cy="30126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550797" y="1481455"/>
              <a:ext cx="96520" cy="237490"/>
            </a:xfrm>
            <a:custGeom>
              <a:avLst/>
              <a:gdLst/>
              <a:ahLst/>
              <a:cxnLst/>
              <a:rect l="l" t="t" r="r" b="b"/>
              <a:pathLst>
                <a:path w="96519" h="237489">
                  <a:moveTo>
                    <a:pt x="48259" y="236982"/>
                  </a:moveTo>
                  <a:lnTo>
                    <a:pt x="48259" y="3937"/>
                  </a:lnTo>
                </a:path>
                <a:path w="96519" h="237489">
                  <a:moveTo>
                    <a:pt x="0" y="41656"/>
                  </a:moveTo>
                  <a:lnTo>
                    <a:pt x="18922" y="34417"/>
                  </a:lnTo>
                  <a:lnTo>
                    <a:pt x="32893" y="24384"/>
                  </a:lnTo>
                  <a:lnTo>
                    <a:pt x="42418" y="12573"/>
                  </a:lnTo>
                  <a:lnTo>
                    <a:pt x="48259" y="0"/>
                  </a:lnTo>
                  <a:lnTo>
                    <a:pt x="54102" y="12573"/>
                  </a:lnTo>
                  <a:lnTo>
                    <a:pt x="63627" y="24384"/>
                  </a:lnTo>
                  <a:lnTo>
                    <a:pt x="77470" y="34417"/>
                  </a:lnTo>
                  <a:lnTo>
                    <a:pt x="96392" y="41656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07745" y="1974926"/>
            <a:ext cx="1837689" cy="12579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32384" algn="ctr">
              <a:lnSpc>
                <a:spcPct val="100000"/>
              </a:lnSpc>
              <a:spcBef>
                <a:spcPts val="90"/>
              </a:spcBef>
            </a:pP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θ</a:t>
            </a:r>
            <a:endParaRPr sz="1750">
              <a:latin typeface="Calibri"/>
              <a:cs typeface="Calibri"/>
            </a:endParaRPr>
          </a:p>
          <a:p>
            <a:pPr marR="55880" algn="ctr">
              <a:lnSpc>
                <a:spcPct val="100000"/>
              </a:lnSpc>
              <a:spcBef>
                <a:spcPts val="2039"/>
              </a:spcBef>
              <a:tabLst>
                <a:tab pos="427990" algn="l"/>
                <a:tab pos="855980" algn="l"/>
              </a:tabLst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875" baseline="-8888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25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</a:pPr>
            <a:r>
              <a:rPr sz="1550" spc="-50" dirty="0">
                <a:solidFill>
                  <a:srgbClr val="213739"/>
                </a:solidFill>
                <a:latin typeface="Arial MT"/>
                <a:cs typeface="Arial MT"/>
              </a:rPr>
              <a:t>AMcCulloch</a:t>
            </a:r>
            <a:r>
              <a:rPr sz="1550" spc="-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spc="-45" dirty="0">
                <a:solidFill>
                  <a:srgbClr val="213739"/>
                </a:solidFill>
                <a:latin typeface="Arial MT"/>
                <a:cs typeface="Arial MT"/>
              </a:rPr>
              <a:t>Pitts</a:t>
            </a:r>
            <a:r>
              <a:rPr sz="1550" spc="-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spc="-20" dirty="0">
                <a:solidFill>
                  <a:srgbClr val="213739"/>
                </a:solidFill>
                <a:latin typeface="Arial MT"/>
                <a:cs typeface="Arial MT"/>
              </a:rPr>
              <a:t>unit</a:t>
            </a:r>
            <a:endParaRPr sz="155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224146" y="1478924"/>
            <a:ext cx="636270" cy="1101725"/>
            <a:chOff x="4224146" y="1478924"/>
            <a:chExt cx="636270" cy="1101725"/>
          </a:xfrm>
        </p:grpSpPr>
        <p:sp>
          <p:nvSpPr>
            <p:cNvPr id="9" name="object 9"/>
            <p:cNvSpPr/>
            <p:nvPr/>
          </p:nvSpPr>
          <p:spPr>
            <a:xfrm>
              <a:off x="4256658" y="1718436"/>
              <a:ext cx="571500" cy="285750"/>
            </a:xfrm>
            <a:custGeom>
              <a:avLst/>
              <a:gdLst/>
              <a:ahLst/>
              <a:cxnLst/>
              <a:rect l="l" t="t" r="r" b="b"/>
              <a:pathLst>
                <a:path w="571500" h="285750">
                  <a:moveTo>
                    <a:pt x="285495" y="0"/>
                  </a:moveTo>
                  <a:lnTo>
                    <a:pt x="209550" y="10287"/>
                  </a:lnTo>
                  <a:lnTo>
                    <a:pt x="141350" y="38988"/>
                  </a:lnTo>
                  <a:lnTo>
                    <a:pt x="83565" y="83692"/>
                  </a:lnTo>
                  <a:lnTo>
                    <a:pt x="38988" y="141477"/>
                  </a:lnTo>
                  <a:lnTo>
                    <a:pt x="10160" y="209676"/>
                  </a:lnTo>
                  <a:lnTo>
                    <a:pt x="0" y="285496"/>
                  </a:lnTo>
                  <a:lnTo>
                    <a:pt x="570991" y="285496"/>
                  </a:lnTo>
                  <a:lnTo>
                    <a:pt x="560704" y="209676"/>
                  </a:lnTo>
                  <a:lnTo>
                    <a:pt x="532002" y="141477"/>
                  </a:lnTo>
                  <a:lnTo>
                    <a:pt x="487299" y="83692"/>
                  </a:lnTo>
                  <a:lnTo>
                    <a:pt x="429513" y="38988"/>
                  </a:lnTo>
                  <a:lnTo>
                    <a:pt x="361314" y="10287"/>
                  </a:lnTo>
                  <a:lnTo>
                    <a:pt x="285495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256658" y="1718436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570991" y="285496"/>
                  </a:moveTo>
                  <a:lnTo>
                    <a:pt x="560704" y="209676"/>
                  </a:lnTo>
                  <a:lnTo>
                    <a:pt x="532002" y="141477"/>
                  </a:lnTo>
                  <a:lnTo>
                    <a:pt x="487299" y="83692"/>
                  </a:lnTo>
                  <a:lnTo>
                    <a:pt x="429513" y="38988"/>
                  </a:lnTo>
                  <a:lnTo>
                    <a:pt x="361314" y="10287"/>
                  </a:lnTo>
                  <a:lnTo>
                    <a:pt x="285495" y="0"/>
                  </a:lnTo>
                  <a:lnTo>
                    <a:pt x="209550" y="10287"/>
                  </a:lnTo>
                  <a:lnTo>
                    <a:pt x="141350" y="38988"/>
                  </a:lnTo>
                  <a:lnTo>
                    <a:pt x="83565" y="83692"/>
                  </a:lnTo>
                  <a:lnTo>
                    <a:pt x="38988" y="141477"/>
                  </a:lnTo>
                  <a:lnTo>
                    <a:pt x="10160" y="209676"/>
                  </a:lnTo>
                  <a:lnTo>
                    <a:pt x="0" y="285496"/>
                  </a:lnTo>
                  <a:lnTo>
                    <a:pt x="10160" y="361441"/>
                  </a:lnTo>
                  <a:lnTo>
                    <a:pt x="38988" y="429640"/>
                  </a:lnTo>
                  <a:lnTo>
                    <a:pt x="83565" y="487425"/>
                  </a:lnTo>
                  <a:lnTo>
                    <a:pt x="141350" y="532002"/>
                  </a:lnTo>
                  <a:lnTo>
                    <a:pt x="209550" y="560832"/>
                  </a:lnTo>
                  <a:lnTo>
                    <a:pt x="285495" y="570991"/>
                  </a:lnTo>
                  <a:lnTo>
                    <a:pt x="361314" y="560832"/>
                  </a:lnTo>
                  <a:lnTo>
                    <a:pt x="429513" y="532002"/>
                  </a:lnTo>
                  <a:lnTo>
                    <a:pt x="487299" y="487425"/>
                  </a:lnTo>
                  <a:lnTo>
                    <a:pt x="532002" y="429640"/>
                  </a:lnTo>
                  <a:lnTo>
                    <a:pt x="560704" y="361441"/>
                  </a:lnTo>
                  <a:lnTo>
                    <a:pt x="570991" y="285496"/>
                  </a:lnTo>
                  <a:close/>
                </a:path>
                <a:path w="571500" h="571500">
                  <a:moveTo>
                    <a:pt x="0" y="285496"/>
                  </a:moveTo>
                  <a:lnTo>
                    <a:pt x="570991" y="285496"/>
                  </a:lnTo>
                </a:path>
              </a:pathLst>
            </a:custGeom>
            <a:ln w="3175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24146" y="2279370"/>
              <a:ext cx="636079" cy="30126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494021" y="1481454"/>
              <a:ext cx="96520" cy="237490"/>
            </a:xfrm>
            <a:custGeom>
              <a:avLst/>
              <a:gdLst/>
              <a:ahLst/>
              <a:cxnLst/>
              <a:rect l="l" t="t" r="r" b="b"/>
              <a:pathLst>
                <a:path w="96520" h="237489">
                  <a:moveTo>
                    <a:pt x="48132" y="236982"/>
                  </a:moveTo>
                  <a:lnTo>
                    <a:pt x="48132" y="3937"/>
                  </a:lnTo>
                </a:path>
                <a:path w="96520" h="237489">
                  <a:moveTo>
                    <a:pt x="0" y="41656"/>
                  </a:moveTo>
                  <a:lnTo>
                    <a:pt x="18923" y="34417"/>
                  </a:lnTo>
                  <a:lnTo>
                    <a:pt x="32765" y="24384"/>
                  </a:lnTo>
                  <a:lnTo>
                    <a:pt x="42290" y="12573"/>
                  </a:lnTo>
                  <a:lnTo>
                    <a:pt x="48132" y="0"/>
                  </a:lnTo>
                  <a:lnTo>
                    <a:pt x="53975" y="12573"/>
                  </a:lnTo>
                  <a:lnTo>
                    <a:pt x="63500" y="24384"/>
                  </a:lnTo>
                  <a:lnTo>
                    <a:pt x="77342" y="34417"/>
                  </a:lnTo>
                  <a:lnTo>
                    <a:pt x="96265" y="41656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125423" y="1085215"/>
            <a:ext cx="385699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955925" algn="l"/>
              </a:tabLst>
            </a:pP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y</a:t>
            </a:r>
            <a:r>
              <a:rPr sz="1750" i="1" spc="22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∈</a:t>
            </a:r>
            <a:r>
              <a:rPr sz="1750" spc="-24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{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5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spc="-25" dirty="0">
                <a:solidFill>
                  <a:srgbClr val="213739"/>
                </a:solidFill>
                <a:latin typeface="Lucida Sans Unicode"/>
                <a:cs typeface="Lucida Sans Unicode"/>
              </a:rPr>
              <a:t>}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	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y</a:t>
            </a:r>
            <a:r>
              <a:rPr sz="1750" i="1" spc="22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∈</a:t>
            </a:r>
            <a:r>
              <a:rPr sz="1750" spc="-24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{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5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spc="-25" dirty="0">
                <a:solidFill>
                  <a:srgbClr val="213739"/>
                </a:solidFill>
                <a:latin typeface="Lucida Sans Unicode"/>
                <a:cs typeface="Lucida Sans Unicode"/>
              </a:rPr>
              <a:t>}</a:t>
            </a:r>
            <a:endParaRPr sz="1750">
              <a:latin typeface="Lucida Sans Unicode"/>
              <a:cs typeface="Lucida Sans Unicod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781415" y="5823977"/>
            <a:ext cx="196215" cy="206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spc="-25" dirty="0">
                <a:solidFill>
                  <a:srgbClr val="213739"/>
                </a:solidFill>
                <a:latin typeface="Arial MT"/>
                <a:cs typeface="Arial MT"/>
              </a:rPr>
              <a:t>13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7261" y="6643369"/>
            <a:ext cx="1173480" cy="241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20"/>
              </a:lnSpc>
            </a:pPr>
            <a:r>
              <a:rPr sz="1700" b="1" dirty="0">
                <a:solidFill>
                  <a:srgbClr val="FFFFFF"/>
                </a:solidFill>
                <a:latin typeface="Calibri"/>
                <a:cs typeface="Calibri"/>
              </a:rPr>
              <a:t>NIT</a:t>
            </a:r>
            <a:r>
              <a:rPr sz="17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b="1" spc="-10" dirty="0">
                <a:solidFill>
                  <a:srgbClr val="FFFFFF"/>
                </a:solidFill>
                <a:latin typeface="Calibri"/>
                <a:cs typeface="Calibri"/>
              </a:rPr>
              <a:t>Rourkela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568188" y="6658229"/>
            <a:ext cx="293687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dirty="0">
                <a:latin typeface="Calibri"/>
                <a:cs typeface="Calibri"/>
              </a:rPr>
              <a:t>“Deep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Learning: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Neuron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to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Perceptron”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915917" y="1980057"/>
            <a:ext cx="1244600" cy="12528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3970" algn="ctr">
              <a:lnSpc>
                <a:spcPct val="100000"/>
              </a:lnSpc>
              <a:spcBef>
                <a:spcPts val="90"/>
              </a:spcBef>
            </a:pP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3</a:t>
            </a:r>
            <a:endParaRPr sz="1750">
              <a:latin typeface="Arial MT"/>
              <a:cs typeface="Arial MT"/>
            </a:endParaRPr>
          </a:p>
          <a:p>
            <a:pPr marR="15240" algn="ctr">
              <a:lnSpc>
                <a:spcPct val="100000"/>
              </a:lnSpc>
              <a:spcBef>
                <a:spcPts val="2000"/>
              </a:spcBef>
              <a:tabLst>
                <a:tab pos="426084" algn="l"/>
                <a:tab pos="854710" algn="l"/>
              </a:tabLst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875" baseline="-8888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250">
              <a:latin typeface="Calibri"/>
              <a:cs typeface="Calibri"/>
            </a:endParaRPr>
          </a:p>
          <a:p>
            <a:pPr marL="67310" algn="ctr">
              <a:lnSpc>
                <a:spcPct val="100000"/>
              </a:lnSpc>
            </a:pPr>
            <a:r>
              <a:rPr sz="1550" spc="-120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550" spc="-1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spc="-10" dirty="0">
                <a:solidFill>
                  <a:srgbClr val="213739"/>
                </a:solidFill>
                <a:latin typeface="Arial MT"/>
                <a:cs typeface="Arial MT"/>
              </a:rPr>
              <a:t>function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15" name="object 1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boolean</a:t>
            </a:r>
            <a:r>
              <a:rPr spc="-100" dirty="0"/>
              <a:t> </a:t>
            </a:r>
            <a:r>
              <a:rPr dirty="0"/>
              <a:t>functions</a:t>
            </a:r>
            <a:r>
              <a:rPr spc="-105" dirty="0"/>
              <a:t> </a:t>
            </a:r>
            <a:r>
              <a:rPr dirty="0"/>
              <a:t>using</a:t>
            </a:r>
            <a:r>
              <a:rPr spc="-105" dirty="0"/>
              <a:t> </a:t>
            </a:r>
            <a:r>
              <a:rPr dirty="0"/>
              <a:t>MP</a:t>
            </a:r>
            <a:r>
              <a:rPr spc="-245" dirty="0"/>
              <a:t> </a:t>
            </a:r>
            <a:r>
              <a:rPr dirty="0"/>
              <a:t>neuron</a:t>
            </a:r>
            <a:r>
              <a:rPr spc="-105" dirty="0"/>
              <a:t> </a:t>
            </a:r>
            <a:r>
              <a:rPr spc="-25" dirty="0"/>
              <a:t>...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25400" y="-25400"/>
            <a:ext cx="9194800" cy="6908800"/>
            <a:chOff x="-25400" y="-25400"/>
            <a:chExt cx="9194800" cy="6908800"/>
          </a:xfrm>
        </p:grpSpPr>
        <p:sp>
          <p:nvSpPr>
            <p:cNvPr id="3" name="object 3"/>
            <p:cNvSpPr/>
            <p:nvPr/>
          </p:nvSpPr>
          <p:spPr>
            <a:xfrm>
              <a:off x="1313561" y="1718436"/>
              <a:ext cx="570865" cy="285750"/>
            </a:xfrm>
            <a:custGeom>
              <a:avLst/>
              <a:gdLst/>
              <a:ahLst/>
              <a:cxnLst/>
              <a:rect l="l" t="t" r="r" b="b"/>
              <a:pathLst>
                <a:path w="570864" h="285750">
                  <a:moveTo>
                    <a:pt x="285495" y="0"/>
                  </a:moveTo>
                  <a:lnTo>
                    <a:pt x="209550" y="10287"/>
                  </a:lnTo>
                  <a:lnTo>
                    <a:pt x="141350" y="38988"/>
                  </a:lnTo>
                  <a:lnTo>
                    <a:pt x="83565" y="83692"/>
                  </a:lnTo>
                  <a:lnTo>
                    <a:pt x="38988" y="141477"/>
                  </a:lnTo>
                  <a:lnTo>
                    <a:pt x="10159" y="209676"/>
                  </a:lnTo>
                  <a:lnTo>
                    <a:pt x="0" y="285496"/>
                  </a:lnTo>
                  <a:lnTo>
                    <a:pt x="570864" y="285496"/>
                  </a:lnTo>
                  <a:lnTo>
                    <a:pt x="560705" y="209676"/>
                  </a:lnTo>
                  <a:lnTo>
                    <a:pt x="532002" y="141477"/>
                  </a:lnTo>
                  <a:lnTo>
                    <a:pt x="487299" y="83692"/>
                  </a:lnTo>
                  <a:lnTo>
                    <a:pt x="429513" y="38988"/>
                  </a:lnTo>
                  <a:lnTo>
                    <a:pt x="361314" y="10287"/>
                  </a:lnTo>
                  <a:lnTo>
                    <a:pt x="285495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313561" y="1718436"/>
              <a:ext cx="570865" cy="571500"/>
            </a:xfrm>
            <a:custGeom>
              <a:avLst/>
              <a:gdLst/>
              <a:ahLst/>
              <a:cxnLst/>
              <a:rect l="l" t="t" r="r" b="b"/>
              <a:pathLst>
                <a:path w="570864" h="571500">
                  <a:moveTo>
                    <a:pt x="570864" y="285496"/>
                  </a:moveTo>
                  <a:lnTo>
                    <a:pt x="560705" y="209676"/>
                  </a:lnTo>
                  <a:lnTo>
                    <a:pt x="532002" y="141477"/>
                  </a:lnTo>
                  <a:lnTo>
                    <a:pt x="487299" y="83692"/>
                  </a:lnTo>
                  <a:lnTo>
                    <a:pt x="429513" y="38988"/>
                  </a:lnTo>
                  <a:lnTo>
                    <a:pt x="361314" y="10287"/>
                  </a:lnTo>
                  <a:lnTo>
                    <a:pt x="285495" y="0"/>
                  </a:lnTo>
                  <a:lnTo>
                    <a:pt x="209550" y="10287"/>
                  </a:lnTo>
                  <a:lnTo>
                    <a:pt x="141350" y="38988"/>
                  </a:lnTo>
                  <a:lnTo>
                    <a:pt x="83565" y="83692"/>
                  </a:lnTo>
                  <a:lnTo>
                    <a:pt x="38988" y="141477"/>
                  </a:lnTo>
                  <a:lnTo>
                    <a:pt x="10159" y="209676"/>
                  </a:lnTo>
                  <a:lnTo>
                    <a:pt x="0" y="285496"/>
                  </a:lnTo>
                  <a:lnTo>
                    <a:pt x="10159" y="361441"/>
                  </a:lnTo>
                  <a:lnTo>
                    <a:pt x="38988" y="429640"/>
                  </a:lnTo>
                  <a:lnTo>
                    <a:pt x="83565" y="487425"/>
                  </a:lnTo>
                  <a:lnTo>
                    <a:pt x="141350" y="532002"/>
                  </a:lnTo>
                  <a:lnTo>
                    <a:pt x="209550" y="560832"/>
                  </a:lnTo>
                  <a:lnTo>
                    <a:pt x="285495" y="570991"/>
                  </a:lnTo>
                  <a:lnTo>
                    <a:pt x="361314" y="560832"/>
                  </a:lnTo>
                  <a:lnTo>
                    <a:pt x="429513" y="532002"/>
                  </a:lnTo>
                  <a:lnTo>
                    <a:pt x="487299" y="487425"/>
                  </a:lnTo>
                  <a:lnTo>
                    <a:pt x="532002" y="429640"/>
                  </a:lnTo>
                  <a:lnTo>
                    <a:pt x="560705" y="361441"/>
                  </a:lnTo>
                  <a:lnTo>
                    <a:pt x="570864" y="285496"/>
                  </a:lnTo>
                  <a:close/>
                </a:path>
                <a:path w="570864" h="571500">
                  <a:moveTo>
                    <a:pt x="0" y="285496"/>
                  </a:moveTo>
                  <a:lnTo>
                    <a:pt x="570864" y="285496"/>
                  </a:lnTo>
                </a:path>
              </a:pathLst>
            </a:custGeom>
            <a:ln w="3175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80922" y="2279370"/>
              <a:ext cx="636079" cy="30126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550797" y="1481455"/>
              <a:ext cx="96520" cy="237490"/>
            </a:xfrm>
            <a:custGeom>
              <a:avLst/>
              <a:gdLst/>
              <a:ahLst/>
              <a:cxnLst/>
              <a:rect l="l" t="t" r="r" b="b"/>
              <a:pathLst>
                <a:path w="96519" h="237489">
                  <a:moveTo>
                    <a:pt x="48259" y="236982"/>
                  </a:moveTo>
                  <a:lnTo>
                    <a:pt x="48259" y="3937"/>
                  </a:lnTo>
                </a:path>
                <a:path w="96519" h="237489">
                  <a:moveTo>
                    <a:pt x="0" y="41656"/>
                  </a:moveTo>
                  <a:lnTo>
                    <a:pt x="18922" y="34417"/>
                  </a:lnTo>
                  <a:lnTo>
                    <a:pt x="32893" y="24384"/>
                  </a:lnTo>
                  <a:lnTo>
                    <a:pt x="42418" y="12573"/>
                  </a:lnTo>
                  <a:lnTo>
                    <a:pt x="48259" y="0"/>
                  </a:lnTo>
                  <a:lnTo>
                    <a:pt x="54102" y="12573"/>
                  </a:lnTo>
                  <a:lnTo>
                    <a:pt x="63627" y="24384"/>
                  </a:lnTo>
                  <a:lnTo>
                    <a:pt x="77470" y="34417"/>
                  </a:lnTo>
                  <a:lnTo>
                    <a:pt x="96392" y="41656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07745" y="1974926"/>
            <a:ext cx="1837689" cy="12579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32384" algn="ctr">
              <a:lnSpc>
                <a:spcPct val="100000"/>
              </a:lnSpc>
              <a:spcBef>
                <a:spcPts val="90"/>
              </a:spcBef>
            </a:pP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θ</a:t>
            </a:r>
            <a:endParaRPr sz="1750">
              <a:latin typeface="Calibri"/>
              <a:cs typeface="Calibri"/>
            </a:endParaRPr>
          </a:p>
          <a:p>
            <a:pPr marR="55880" algn="ctr">
              <a:lnSpc>
                <a:spcPct val="100000"/>
              </a:lnSpc>
              <a:spcBef>
                <a:spcPts val="2039"/>
              </a:spcBef>
              <a:tabLst>
                <a:tab pos="427990" algn="l"/>
                <a:tab pos="855980" algn="l"/>
              </a:tabLst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875" baseline="-8888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25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</a:pPr>
            <a:r>
              <a:rPr sz="1550" spc="-50" dirty="0">
                <a:solidFill>
                  <a:srgbClr val="213739"/>
                </a:solidFill>
                <a:latin typeface="Arial MT"/>
                <a:cs typeface="Arial MT"/>
              </a:rPr>
              <a:t>AMcCulloch</a:t>
            </a:r>
            <a:r>
              <a:rPr sz="1550" spc="-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spc="-45" dirty="0">
                <a:solidFill>
                  <a:srgbClr val="213739"/>
                </a:solidFill>
                <a:latin typeface="Arial MT"/>
                <a:cs typeface="Arial MT"/>
              </a:rPr>
              <a:t>Pitts</a:t>
            </a:r>
            <a:r>
              <a:rPr sz="1550" spc="-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spc="-20" dirty="0">
                <a:solidFill>
                  <a:srgbClr val="213739"/>
                </a:solidFill>
                <a:latin typeface="Arial MT"/>
                <a:cs typeface="Arial MT"/>
              </a:rPr>
              <a:t>unit</a:t>
            </a:r>
            <a:endParaRPr sz="155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224146" y="1478914"/>
            <a:ext cx="636270" cy="1101725"/>
            <a:chOff x="4224146" y="1478914"/>
            <a:chExt cx="636270" cy="1101725"/>
          </a:xfrm>
        </p:grpSpPr>
        <p:sp>
          <p:nvSpPr>
            <p:cNvPr id="9" name="object 9"/>
            <p:cNvSpPr/>
            <p:nvPr/>
          </p:nvSpPr>
          <p:spPr>
            <a:xfrm>
              <a:off x="4256658" y="1718436"/>
              <a:ext cx="571500" cy="285750"/>
            </a:xfrm>
            <a:custGeom>
              <a:avLst/>
              <a:gdLst/>
              <a:ahLst/>
              <a:cxnLst/>
              <a:rect l="l" t="t" r="r" b="b"/>
              <a:pathLst>
                <a:path w="571500" h="285750">
                  <a:moveTo>
                    <a:pt x="285495" y="0"/>
                  </a:moveTo>
                  <a:lnTo>
                    <a:pt x="209550" y="10287"/>
                  </a:lnTo>
                  <a:lnTo>
                    <a:pt x="141350" y="38988"/>
                  </a:lnTo>
                  <a:lnTo>
                    <a:pt x="83565" y="83692"/>
                  </a:lnTo>
                  <a:lnTo>
                    <a:pt x="38988" y="141477"/>
                  </a:lnTo>
                  <a:lnTo>
                    <a:pt x="10160" y="209676"/>
                  </a:lnTo>
                  <a:lnTo>
                    <a:pt x="0" y="285496"/>
                  </a:lnTo>
                  <a:lnTo>
                    <a:pt x="570991" y="285496"/>
                  </a:lnTo>
                  <a:lnTo>
                    <a:pt x="560704" y="209676"/>
                  </a:lnTo>
                  <a:lnTo>
                    <a:pt x="532002" y="141477"/>
                  </a:lnTo>
                  <a:lnTo>
                    <a:pt x="487299" y="83692"/>
                  </a:lnTo>
                  <a:lnTo>
                    <a:pt x="429513" y="38988"/>
                  </a:lnTo>
                  <a:lnTo>
                    <a:pt x="361314" y="10287"/>
                  </a:lnTo>
                  <a:lnTo>
                    <a:pt x="285495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256658" y="1718436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570991" y="285496"/>
                  </a:moveTo>
                  <a:lnTo>
                    <a:pt x="560704" y="209676"/>
                  </a:lnTo>
                  <a:lnTo>
                    <a:pt x="532002" y="141477"/>
                  </a:lnTo>
                  <a:lnTo>
                    <a:pt x="487299" y="83692"/>
                  </a:lnTo>
                  <a:lnTo>
                    <a:pt x="429513" y="38988"/>
                  </a:lnTo>
                  <a:lnTo>
                    <a:pt x="361314" y="10287"/>
                  </a:lnTo>
                  <a:lnTo>
                    <a:pt x="285495" y="0"/>
                  </a:lnTo>
                  <a:lnTo>
                    <a:pt x="209550" y="10287"/>
                  </a:lnTo>
                  <a:lnTo>
                    <a:pt x="141350" y="38988"/>
                  </a:lnTo>
                  <a:lnTo>
                    <a:pt x="83565" y="83692"/>
                  </a:lnTo>
                  <a:lnTo>
                    <a:pt x="38988" y="141477"/>
                  </a:lnTo>
                  <a:lnTo>
                    <a:pt x="10160" y="209676"/>
                  </a:lnTo>
                  <a:lnTo>
                    <a:pt x="0" y="285496"/>
                  </a:lnTo>
                  <a:lnTo>
                    <a:pt x="10160" y="361441"/>
                  </a:lnTo>
                  <a:lnTo>
                    <a:pt x="38988" y="429640"/>
                  </a:lnTo>
                  <a:lnTo>
                    <a:pt x="83565" y="487425"/>
                  </a:lnTo>
                  <a:lnTo>
                    <a:pt x="141350" y="532002"/>
                  </a:lnTo>
                  <a:lnTo>
                    <a:pt x="209550" y="560832"/>
                  </a:lnTo>
                  <a:lnTo>
                    <a:pt x="285495" y="570991"/>
                  </a:lnTo>
                  <a:lnTo>
                    <a:pt x="361314" y="560832"/>
                  </a:lnTo>
                  <a:lnTo>
                    <a:pt x="429513" y="532002"/>
                  </a:lnTo>
                  <a:lnTo>
                    <a:pt x="487299" y="487425"/>
                  </a:lnTo>
                  <a:lnTo>
                    <a:pt x="532002" y="429640"/>
                  </a:lnTo>
                  <a:lnTo>
                    <a:pt x="560704" y="361441"/>
                  </a:lnTo>
                  <a:lnTo>
                    <a:pt x="570991" y="285496"/>
                  </a:lnTo>
                  <a:close/>
                </a:path>
                <a:path w="571500" h="571500">
                  <a:moveTo>
                    <a:pt x="0" y="285496"/>
                  </a:moveTo>
                  <a:lnTo>
                    <a:pt x="570991" y="285496"/>
                  </a:lnTo>
                </a:path>
              </a:pathLst>
            </a:custGeom>
            <a:ln w="3175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24146" y="2279370"/>
              <a:ext cx="636079" cy="30126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494021" y="1481454"/>
              <a:ext cx="96520" cy="237490"/>
            </a:xfrm>
            <a:custGeom>
              <a:avLst/>
              <a:gdLst/>
              <a:ahLst/>
              <a:cxnLst/>
              <a:rect l="l" t="t" r="r" b="b"/>
              <a:pathLst>
                <a:path w="96520" h="237489">
                  <a:moveTo>
                    <a:pt x="48132" y="236982"/>
                  </a:moveTo>
                  <a:lnTo>
                    <a:pt x="48132" y="3937"/>
                  </a:lnTo>
                </a:path>
                <a:path w="96520" h="237489">
                  <a:moveTo>
                    <a:pt x="0" y="41656"/>
                  </a:moveTo>
                  <a:lnTo>
                    <a:pt x="18923" y="34417"/>
                  </a:lnTo>
                  <a:lnTo>
                    <a:pt x="32765" y="24384"/>
                  </a:lnTo>
                  <a:lnTo>
                    <a:pt x="42290" y="12573"/>
                  </a:lnTo>
                  <a:lnTo>
                    <a:pt x="48132" y="0"/>
                  </a:lnTo>
                  <a:lnTo>
                    <a:pt x="53975" y="12573"/>
                  </a:lnTo>
                  <a:lnTo>
                    <a:pt x="63500" y="24384"/>
                  </a:lnTo>
                  <a:lnTo>
                    <a:pt x="77342" y="34417"/>
                  </a:lnTo>
                  <a:lnTo>
                    <a:pt x="96265" y="41656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915917" y="1980057"/>
            <a:ext cx="1244600" cy="12528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3970" algn="ctr">
              <a:lnSpc>
                <a:spcPct val="100000"/>
              </a:lnSpc>
              <a:spcBef>
                <a:spcPts val="90"/>
              </a:spcBef>
            </a:pP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3</a:t>
            </a:r>
            <a:endParaRPr sz="1750">
              <a:latin typeface="Arial MT"/>
              <a:cs typeface="Arial MT"/>
            </a:endParaRPr>
          </a:p>
          <a:p>
            <a:pPr marR="15240" algn="ctr">
              <a:lnSpc>
                <a:spcPct val="100000"/>
              </a:lnSpc>
              <a:spcBef>
                <a:spcPts val="2000"/>
              </a:spcBef>
              <a:tabLst>
                <a:tab pos="426084" algn="l"/>
                <a:tab pos="854710" algn="l"/>
              </a:tabLst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875" baseline="-8888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250">
              <a:latin typeface="Calibri"/>
              <a:cs typeface="Calibri"/>
            </a:endParaRPr>
          </a:p>
          <a:p>
            <a:pPr marL="67310" algn="ctr">
              <a:lnSpc>
                <a:spcPct val="100000"/>
              </a:lnSpc>
            </a:pPr>
            <a:r>
              <a:rPr sz="1550" spc="-120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550" spc="-1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spc="-10" dirty="0">
                <a:solidFill>
                  <a:srgbClr val="213739"/>
                </a:solidFill>
                <a:latin typeface="Arial MT"/>
                <a:cs typeface="Arial MT"/>
              </a:rPr>
              <a:t>function</a:t>
            </a:r>
            <a:endParaRPr sz="155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192518" y="1478924"/>
            <a:ext cx="636270" cy="1101725"/>
            <a:chOff x="7192518" y="1478924"/>
            <a:chExt cx="636270" cy="1101725"/>
          </a:xfrm>
        </p:grpSpPr>
        <p:sp>
          <p:nvSpPr>
            <p:cNvPr id="15" name="object 15"/>
            <p:cNvSpPr/>
            <p:nvPr/>
          </p:nvSpPr>
          <p:spPr>
            <a:xfrm>
              <a:off x="7225030" y="1718436"/>
              <a:ext cx="571500" cy="285750"/>
            </a:xfrm>
            <a:custGeom>
              <a:avLst/>
              <a:gdLst/>
              <a:ahLst/>
              <a:cxnLst/>
              <a:rect l="l" t="t" r="r" b="b"/>
              <a:pathLst>
                <a:path w="571500" h="285750">
                  <a:moveTo>
                    <a:pt x="285496" y="0"/>
                  </a:moveTo>
                  <a:lnTo>
                    <a:pt x="209550" y="10287"/>
                  </a:lnTo>
                  <a:lnTo>
                    <a:pt x="141477" y="38988"/>
                  </a:lnTo>
                  <a:lnTo>
                    <a:pt x="83693" y="83692"/>
                  </a:lnTo>
                  <a:lnTo>
                    <a:pt x="38989" y="141477"/>
                  </a:lnTo>
                  <a:lnTo>
                    <a:pt x="10287" y="209676"/>
                  </a:lnTo>
                  <a:lnTo>
                    <a:pt x="0" y="285496"/>
                  </a:lnTo>
                  <a:lnTo>
                    <a:pt x="570992" y="285496"/>
                  </a:lnTo>
                  <a:lnTo>
                    <a:pt x="560704" y="209676"/>
                  </a:lnTo>
                  <a:lnTo>
                    <a:pt x="532002" y="141477"/>
                  </a:lnTo>
                  <a:lnTo>
                    <a:pt x="487299" y="83692"/>
                  </a:lnTo>
                  <a:lnTo>
                    <a:pt x="429514" y="38988"/>
                  </a:lnTo>
                  <a:lnTo>
                    <a:pt x="361442" y="10287"/>
                  </a:lnTo>
                  <a:lnTo>
                    <a:pt x="285496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225030" y="1718436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570992" y="285496"/>
                  </a:moveTo>
                  <a:lnTo>
                    <a:pt x="560704" y="209676"/>
                  </a:lnTo>
                  <a:lnTo>
                    <a:pt x="532002" y="141477"/>
                  </a:lnTo>
                  <a:lnTo>
                    <a:pt x="487299" y="83692"/>
                  </a:lnTo>
                  <a:lnTo>
                    <a:pt x="429514" y="38988"/>
                  </a:lnTo>
                  <a:lnTo>
                    <a:pt x="361442" y="10287"/>
                  </a:lnTo>
                  <a:lnTo>
                    <a:pt x="285496" y="0"/>
                  </a:lnTo>
                  <a:lnTo>
                    <a:pt x="209550" y="10287"/>
                  </a:lnTo>
                  <a:lnTo>
                    <a:pt x="141477" y="38988"/>
                  </a:lnTo>
                  <a:lnTo>
                    <a:pt x="83693" y="83692"/>
                  </a:lnTo>
                  <a:lnTo>
                    <a:pt x="38989" y="141477"/>
                  </a:lnTo>
                  <a:lnTo>
                    <a:pt x="10287" y="209676"/>
                  </a:lnTo>
                  <a:lnTo>
                    <a:pt x="0" y="285496"/>
                  </a:lnTo>
                  <a:lnTo>
                    <a:pt x="10287" y="361441"/>
                  </a:lnTo>
                  <a:lnTo>
                    <a:pt x="38989" y="429640"/>
                  </a:lnTo>
                  <a:lnTo>
                    <a:pt x="83693" y="487425"/>
                  </a:lnTo>
                  <a:lnTo>
                    <a:pt x="141477" y="532002"/>
                  </a:lnTo>
                  <a:lnTo>
                    <a:pt x="209550" y="560832"/>
                  </a:lnTo>
                  <a:lnTo>
                    <a:pt x="285496" y="570991"/>
                  </a:lnTo>
                  <a:lnTo>
                    <a:pt x="361442" y="560832"/>
                  </a:lnTo>
                  <a:lnTo>
                    <a:pt x="429514" y="532002"/>
                  </a:lnTo>
                  <a:lnTo>
                    <a:pt x="487299" y="487425"/>
                  </a:lnTo>
                  <a:lnTo>
                    <a:pt x="532002" y="429640"/>
                  </a:lnTo>
                  <a:lnTo>
                    <a:pt x="560704" y="361441"/>
                  </a:lnTo>
                  <a:lnTo>
                    <a:pt x="570992" y="285496"/>
                  </a:lnTo>
                  <a:close/>
                </a:path>
                <a:path w="571500" h="571500">
                  <a:moveTo>
                    <a:pt x="0" y="285496"/>
                  </a:moveTo>
                  <a:lnTo>
                    <a:pt x="570992" y="285496"/>
                  </a:lnTo>
                </a:path>
              </a:pathLst>
            </a:custGeom>
            <a:ln w="3175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92518" y="2279370"/>
              <a:ext cx="636079" cy="30126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7462393" y="1481454"/>
              <a:ext cx="96520" cy="237490"/>
            </a:xfrm>
            <a:custGeom>
              <a:avLst/>
              <a:gdLst/>
              <a:ahLst/>
              <a:cxnLst/>
              <a:rect l="l" t="t" r="r" b="b"/>
              <a:pathLst>
                <a:path w="96520" h="237489">
                  <a:moveTo>
                    <a:pt x="48132" y="236982"/>
                  </a:moveTo>
                  <a:lnTo>
                    <a:pt x="48132" y="3937"/>
                  </a:lnTo>
                </a:path>
                <a:path w="96520" h="237489">
                  <a:moveTo>
                    <a:pt x="0" y="41656"/>
                  </a:moveTo>
                  <a:lnTo>
                    <a:pt x="18923" y="34417"/>
                  </a:lnTo>
                  <a:lnTo>
                    <a:pt x="32765" y="24384"/>
                  </a:lnTo>
                  <a:lnTo>
                    <a:pt x="42290" y="12573"/>
                  </a:lnTo>
                  <a:lnTo>
                    <a:pt x="48132" y="0"/>
                  </a:lnTo>
                  <a:lnTo>
                    <a:pt x="53975" y="12573"/>
                  </a:lnTo>
                  <a:lnTo>
                    <a:pt x="63500" y="24384"/>
                  </a:lnTo>
                  <a:lnTo>
                    <a:pt x="77342" y="34417"/>
                  </a:lnTo>
                  <a:lnTo>
                    <a:pt x="96265" y="41656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125423" y="1085215"/>
            <a:ext cx="682561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955925" algn="l"/>
                <a:tab pos="5924550" algn="l"/>
              </a:tabLst>
            </a:pP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y</a:t>
            </a:r>
            <a:r>
              <a:rPr sz="1750" i="1" spc="22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∈</a:t>
            </a:r>
            <a:r>
              <a:rPr sz="1750" spc="-24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{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5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spc="-25" dirty="0">
                <a:solidFill>
                  <a:srgbClr val="213739"/>
                </a:solidFill>
                <a:latin typeface="Lucida Sans Unicode"/>
                <a:cs typeface="Lucida Sans Unicode"/>
              </a:rPr>
              <a:t>}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	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y</a:t>
            </a:r>
            <a:r>
              <a:rPr sz="1750" i="1" spc="22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∈</a:t>
            </a:r>
            <a:r>
              <a:rPr sz="1750" spc="-24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{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5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spc="-25" dirty="0">
                <a:solidFill>
                  <a:srgbClr val="213739"/>
                </a:solidFill>
                <a:latin typeface="Lucida Sans Unicode"/>
                <a:cs typeface="Lucida Sans Unicode"/>
              </a:rPr>
              <a:t>}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	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y</a:t>
            </a:r>
            <a:r>
              <a:rPr sz="1750" i="1" spc="22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∈</a:t>
            </a:r>
            <a:r>
              <a:rPr sz="1750" spc="-24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{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5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spc="-25" dirty="0">
                <a:solidFill>
                  <a:srgbClr val="213739"/>
                </a:solidFill>
                <a:latin typeface="Lucida Sans Unicode"/>
                <a:cs typeface="Lucida Sans Unicode"/>
              </a:rPr>
              <a:t>}</a:t>
            </a:r>
            <a:endParaRPr sz="1750">
              <a:latin typeface="Lucida Sans Unicode"/>
              <a:cs typeface="Lucida Sans Unicode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781415" y="5823977"/>
            <a:ext cx="196215" cy="206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spc="-25" dirty="0">
                <a:solidFill>
                  <a:srgbClr val="213739"/>
                </a:solidFill>
                <a:latin typeface="Arial MT"/>
                <a:cs typeface="Arial MT"/>
              </a:rPr>
              <a:t>13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37261" y="6643369"/>
            <a:ext cx="1173480" cy="241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20"/>
              </a:lnSpc>
            </a:pPr>
            <a:r>
              <a:rPr sz="1700" b="1" dirty="0">
                <a:solidFill>
                  <a:srgbClr val="FFFFFF"/>
                </a:solidFill>
                <a:latin typeface="Calibri"/>
                <a:cs typeface="Calibri"/>
              </a:rPr>
              <a:t>NIT</a:t>
            </a:r>
            <a:r>
              <a:rPr sz="17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b="1" spc="-10" dirty="0">
                <a:solidFill>
                  <a:srgbClr val="FFFFFF"/>
                </a:solidFill>
                <a:latin typeface="Calibri"/>
                <a:cs typeface="Calibri"/>
              </a:rPr>
              <a:t>Rourkela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568188" y="6658229"/>
            <a:ext cx="293687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dirty="0">
                <a:latin typeface="Calibri"/>
                <a:cs typeface="Calibri"/>
              </a:rPr>
              <a:t>“Deep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Learning: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Neuron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to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Perceptron”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897369" y="2501010"/>
            <a:ext cx="1183640" cy="7321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90"/>
              </a:spcBef>
              <a:tabLst>
                <a:tab pos="502284" algn="l"/>
                <a:tab pos="930910" algn="l"/>
              </a:tabLst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875" baseline="-8888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250">
              <a:latin typeface="Calibri"/>
              <a:cs typeface="Calibri"/>
            </a:endParaRPr>
          </a:p>
          <a:p>
            <a:pPr marL="124460">
              <a:lnSpc>
                <a:spcPct val="100000"/>
              </a:lnSpc>
            </a:pPr>
            <a:r>
              <a:rPr sz="1550" spc="-90" dirty="0">
                <a:solidFill>
                  <a:srgbClr val="213739"/>
                </a:solidFill>
                <a:latin typeface="Arial MT"/>
                <a:cs typeface="Arial MT"/>
              </a:rPr>
              <a:t>OR</a:t>
            </a:r>
            <a:r>
              <a:rPr sz="1550" spc="-2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spc="-10" dirty="0">
                <a:solidFill>
                  <a:srgbClr val="213739"/>
                </a:solidFill>
                <a:latin typeface="Arial MT"/>
                <a:cs typeface="Arial MT"/>
              </a:rPr>
              <a:t>function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21" name="object 21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boolean</a:t>
            </a:r>
            <a:r>
              <a:rPr spc="-100" dirty="0"/>
              <a:t> </a:t>
            </a:r>
            <a:r>
              <a:rPr dirty="0"/>
              <a:t>functions</a:t>
            </a:r>
            <a:r>
              <a:rPr spc="-105" dirty="0"/>
              <a:t> </a:t>
            </a:r>
            <a:r>
              <a:rPr dirty="0"/>
              <a:t>using</a:t>
            </a:r>
            <a:r>
              <a:rPr spc="-105" dirty="0"/>
              <a:t> </a:t>
            </a:r>
            <a:r>
              <a:rPr dirty="0"/>
              <a:t>MP</a:t>
            </a:r>
            <a:r>
              <a:rPr spc="-245" dirty="0"/>
              <a:t> </a:t>
            </a:r>
            <a:r>
              <a:rPr dirty="0"/>
              <a:t>neuron</a:t>
            </a:r>
            <a:r>
              <a:rPr spc="-105" dirty="0"/>
              <a:t> </a:t>
            </a:r>
            <a:r>
              <a:rPr spc="-25" dirty="0"/>
              <a:t>...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25400" y="-25400"/>
            <a:ext cx="9194800" cy="6908800"/>
            <a:chOff x="-25400" y="-25400"/>
            <a:chExt cx="9194800" cy="6908800"/>
          </a:xfrm>
        </p:grpSpPr>
        <p:sp>
          <p:nvSpPr>
            <p:cNvPr id="3" name="object 3"/>
            <p:cNvSpPr/>
            <p:nvPr/>
          </p:nvSpPr>
          <p:spPr>
            <a:xfrm>
              <a:off x="1313561" y="1679955"/>
              <a:ext cx="570865" cy="285750"/>
            </a:xfrm>
            <a:custGeom>
              <a:avLst/>
              <a:gdLst/>
              <a:ahLst/>
              <a:cxnLst/>
              <a:rect l="l" t="t" r="r" b="b"/>
              <a:pathLst>
                <a:path w="570864" h="285750">
                  <a:moveTo>
                    <a:pt x="285495" y="0"/>
                  </a:moveTo>
                  <a:lnTo>
                    <a:pt x="209550" y="10160"/>
                  </a:lnTo>
                  <a:lnTo>
                    <a:pt x="141350" y="38862"/>
                  </a:lnTo>
                  <a:lnTo>
                    <a:pt x="83565" y="83566"/>
                  </a:lnTo>
                  <a:lnTo>
                    <a:pt x="38988" y="141351"/>
                  </a:lnTo>
                  <a:lnTo>
                    <a:pt x="10159" y="209550"/>
                  </a:lnTo>
                  <a:lnTo>
                    <a:pt x="0" y="285369"/>
                  </a:lnTo>
                  <a:lnTo>
                    <a:pt x="570864" y="285369"/>
                  </a:lnTo>
                  <a:lnTo>
                    <a:pt x="560705" y="209550"/>
                  </a:lnTo>
                  <a:lnTo>
                    <a:pt x="532002" y="141351"/>
                  </a:lnTo>
                  <a:lnTo>
                    <a:pt x="487299" y="83566"/>
                  </a:lnTo>
                  <a:lnTo>
                    <a:pt x="429513" y="38862"/>
                  </a:lnTo>
                  <a:lnTo>
                    <a:pt x="361314" y="10160"/>
                  </a:lnTo>
                  <a:lnTo>
                    <a:pt x="285495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313561" y="1679955"/>
              <a:ext cx="570865" cy="570865"/>
            </a:xfrm>
            <a:custGeom>
              <a:avLst/>
              <a:gdLst/>
              <a:ahLst/>
              <a:cxnLst/>
              <a:rect l="l" t="t" r="r" b="b"/>
              <a:pathLst>
                <a:path w="570864" h="570864">
                  <a:moveTo>
                    <a:pt x="570864" y="285369"/>
                  </a:moveTo>
                  <a:lnTo>
                    <a:pt x="560705" y="209550"/>
                  </a:lnTo>
                  <a:lnTo>
                    <a:pt x="532002" y="141351"/>
                  </a:lnTo>
                  <a:lnTo>
                    <a:pt x="487299" y="83566"/>
                  </a:lnTo>
                  <a:lnTo>
                    <a:pt x="429513" y="38862"/>
                  </a:lnTo>
                  <a:lnTo>
                    <a:pt x="361314" y="10160"/>
                  </a:lnTo>
                  <a:lnTo>
                    <a:pt x="285495" y="0"/>
                  </a:lnTo>
                  <a:lnTo>
                    <a:pt x="209550" y="10160"/>
                  </a:lnTo>
                  <a:lnTo>
                    <a:pt x="141350" y="38862"/>
                  </a:lnTo>
                  <a:lnTo>
                    <a:pt x="83565" y="83566"/>
                  </a:lnTo>
                  <a:lnTo>
                    <a:pt x="38988" y="141351"/>
                  </a:lnTo>
                  <a:lnTo>
                    <a:pt x="10159" y="209550"/>
                  </a:lnTo>
                  <a:lnTo>
                    <a:pt x="0" y="285369"/>
                  </a:lnTo>
                  <a:lnTo>
                    <a:pt x="10159" y="361315"/>
                  </a:lnTo>
                  <a:lnTo>
                    <a:pt x="38988" y="429514"/>
                  </a:lnTo>
                  <a:lnTo>
                    <a:pt x="83565" y="487299"/>
                  </a:lnTo>
                  <a:lnTo>
                    <a:pt x="141350" y="531876"/>
                  </a:lnTo>
                  <a:lnTo>
                    <a:pt x="209550" y="560705"/>
                  </a:lnTo>
                  <a:lnTo>
                    <a:pt x="285495" y="570865"/>
                  </a:lnTo>
                  <a:lnTo>
                    <a:pt x="361314" y="560705"/>
                  </a:lnTo>
                  <a:lnTo>
                    <a:pt x="429513" y="531876"/>
                  </a:lnTo>
                  <a:lnTo>
                    <a:pt x="487299" y="487299"/>
                  </a:lnTo>
                  <a:lnTo>
                    <a:pt x="532002" y="429514"/>
                  </a:lnTo>
                  <a:lnTo>
                    <a:pt x="560705" y="361315"/>
                  </a:lnTo>
                  <a:lnTo>
                    <a:pt x="570864" y="285369"/>
                  </a:lnTo>
                  <a:close/>
                </a:path>
                <a:path w="570864" h="570864">
                  <a:moveTo>
                    <a:pt x="0" y="285369"/>
                  </a:moveTo>
                  <a:lnTo>
                    <a:pt x="570864" y="285369"/>
                  </a:lnTo>
                </a:path>
              </a:pathLst>
            </a:custGeom>
            <a:ln w="3175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80922" y="2240762"/>
              <a:ext cx="636079" cy="30126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550797" y="1442847"/>
              <a:ext cx="96520" cy="237490"/>
            </a:xfrm>
            <a:custGeom>
              <a:avLst/>
              <a:gdLst/>
              <a:ahLst/>
              <a:cxnLst/>
              <a:rect l="l" t="t" r="r" b="b"/>
              <a:pathLst>
                <a:path w="96519" h="237489">
                  <a:moveTo>
                    <a:pt x="48259" y="237108"/>
                  </a:moveTo>
                  <a:lnTo>
                    <a:pt x="48259" y="3937"/>
                  </a:lnTo>
                </a:path>
                <a:path w="96519" h="237489">
                  <a:moveTo>
                    <a:pt x="0" y="41655"/>
                  </a:moveTo>
                  <a:lnTo>
                    <a:pt x="18922" y="34416"/>
                  </a:lnTo>
                  <a:lnTo>
                    <a:pt x="32893" y="24383"/>
                  </a:lnTo>
                  <a:lnTo>
                    <a:pt x="42418" y="12700"/>
                  </a:lnTo>
                  <a:lnTo>
                    <a:pt x="48259" y="0"/>
                  </a:lnTo>
                  <a:lnTo>
                    <a:pt x="54102" y="12700"/>
                  </a:lnTo>
                  <a:lnTo>
                    <a:pt x="63627" y="24383"/>
                  </a:lnTo>
                  <a:lnTo>
                    <a:pt x="77470" y="34416"/>
                  </a:lnTo>
                  <a:lnTo>
                    <a:pt x="96392" y="41655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07745" y="1936750"/>
            <a:ext cx="1837689" cy="12579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33020" algn="ctr">
              <a:lnSpc>
                <a:spcPct val="100000"/>
              </a:lnSpc>
              <a:spcBef>
                <a:spcPts val="90"/>
              </a:spcBef>
            </a:pP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θ</a:t>
            </a:r>
            <a:endParaRPr sz="1750">
              <a:latin typeface="Calibri"/>
              <a:cs typeface="Calibri"/>
            </a:endParaRPr>
          </a:p>
          <a:p>
            <a:pPr marR="55880" algn="ctr">
              <a:lnSpc>
                <a:spcPct val="100000"/>
              </a:lnSpc>
              <a:spcBef>
                <a:spcPts val="2035"/>
              </a:spcBef>
              <a:tabLst>
                <a:tab pos="427990" algn="l"/>
                <a:tab pos="855980" algn="l"/>
              </a:tabLst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875" baseline="-8888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25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</a:pPr>
            <a:r>
              <a:rPr sz="1550" spc="-50" dirty="0">
                <a:solidFill>
                  <a:srgbClr val="213739"/>
                </a:solidFill>
                <a:latin typeface="Arial MT"/>
                <a:cs typeface="Arial MT"/>
              </a:rPr>
              <a:t>AMcCulloch</a:t>
            </a:r>
            <a:r>
              <a:rPr sz="1550" spc="-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spc="-45" dirty="0">
                <a:solidFill>
                  <a:srgbClr val="213739"/>
                </a:solidFill>
                <a:latin typeface="Arial MT"/>
                <a:cs typeface="Arial MT"/>
              </a:rPr>
              <a:t>Pitts</a:t>
            </a:r>
            <a:r>
              <a:rPr sz="1550" spc="-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spc="-20" dirty="0">
                <a:solidFill>
                  <a:srgbClr val="213739"/>
                </a:solidFill>
                <a:latin typeface="Arial MT"/>
                <a:cs typeface="Arial MT"/>
              </a:rPr>
              <a:t>unit</a:t>
            </a:r>
            <a:endParaRPr sz="155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224146" y="1440307"/>
            <a:ext cx="636270" cy="1101725"/>
            <a:chOff x="4224146" y="1440307"/>
            <a:chExt cx="636270" cy="1101725"/>
          </a:xfrm>
        </p:grpSpPr>
        <p:sp>
          <p:nvSpPr>
            <p:cNvPr id="9" name="object 9"/>
            <p:cNvSpPr/>
            <p:nvPr/>
          </p:nvSpPr>
          <p:spPr>
            <a:xfrm>
              <a:off x="4256658" y="1679956"/>
              <a:ext cx="571500" cy="285750"/>
            </a:xfrm>
            <a:custGeom>
              <a:avLst/>
              <a:gdLst/>
              <a:ahLst/>
              <a:cxnLst/>
              <a:rect l="l" t="t" r="r" b="b"/>
              <a:pathLst>
                <a:path w="571500" h="285750">
                  <a:moveTo>
                    <a:pt x="285495" y="0"/>
                  </a:moveTo>
                  <a:lnTo>
                    <a:pt x="209550" y="10160"/>
                  </a:lnTo>
                  <a:lnTo>
                    <a:pt x="141350" y="38862"/>
                  </a:lnTo>
                  <a:lnTo>
                    <a:pt x="83565" y="83566"/>
                  </a:lnTo>
                  <a:lnTo>
                    <a:pt x="38988" y="141351"/>
                  </a:lnTo>
                  <a:lnTo>
                    <a:pt x="10160" y="209550"/>
                  </a:lnTo>
                  <a:lnTo>
                    <a:pt x="0" y="285369"/>
                  </a:lnTo>
                  <a:lnTo>
                    <a:pt x="570991" y="285369"/>
                  </a:lnTo>
                  <a:lnTo>
                    <a:pt x="560704" y="209550"/>
                  </a:lnTo>
                  <a:lnTo>
                    <a:pt x="532002" y="141351"/>
                  </a:lnTo>
                  <a:lnTo>
                    <a:pt x="487299" y="83566"/>
                  </a:lnTo>
                  <a:lnTo>
                    <a:pt x="429513" y="38862"/>
                  </a:lnTo>
                  <a:lnTo>
                    <a:pt x="361314" y="10160"/>
                  </a:lnTo>
                  <a:lnTo>
                    <a:pt x="285495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256658" y="1679956"/>
              <a:ext cx="571500" cy="570865"/>
            </a:xfrm>
            <a:custGeom>
              <a:avLst/>
              <a:gdLst/>
              <a:ahLst/>
              <a:cxnLst/>
              <a:rect l="l" t="t" r="r" b="b"/>
              <a:pathLst>
                <a:path w="571500" h="570864">
                  <a:moveTo>
                    <a:pt x="570991" y="285369"/>
                  </a:moveTo>
                  <a:lnTo>
                    <a:pt x="560704" y="209550"/>
                  </a:lnTo>
                  <a:lnTo>
                    <a:pt x="532002" y="141351"/>
                  </a:lnTo>
                  <a:lnTo>
                    <a:pt x="487299" y="83566"/>
                  </a:lnTo>
                  <a:lnTo>
                    <a:pt x="429513" y="38862"/>
                  </a:lnTo>
                  <a:lnTo>
                    <a:pt x="361314" y="10160"/>
                  </a:lnTo>
                  <a:lnTo>
                    <a:pt x="285495" y="0"/>
                  </a:lnTo>
                  <a:lnTo>
                    <a:pt x="209550" y="10160"/>
                  </a:lnTo>
                  <a:lnTo>
                    <a:pt x="141350" y="38862"/>
                  </a:lnTo>
                  <a:lnTo>
                    <a:pt x="83565" y="83566"/>
                  </a:lnTo>
                  <a:lnTo>
                    <a:pt x="38988" y="141351"/>
                  </a:lnTo>
                  <a:lnTo>
                    <a:pt x="10160" y="209550"/>
                  </a:lnTo>
                  <a:lnTo>
                    <a:pt x="0" y="285369"/>
                  </a:lnTo>
                  <a:lnTo>
                    <a:pt x="10160" y="361315"/>
                  </a:lnTo>
                  <a:lnTo>
                    <a:pt x="38988" y="429514"/>
                  </a:lnTo>
                  <a:lnTo>
                    <a:pt x="83565" y="487299"/>
                  </a:lnTo>
                  <a:lnTo>
                    <a:pt x="141350" y="531876"/>
                  </a:lnTo>
                  <a:lnTo>
                    <a:pt x="209550" y="560705"/>
                  </a:lnTo>
                  <a:lnTo>
                    <a:pt x="285495" y="570865"/>
                  </a:lnTo>
                  <a:lnTo>
                    <a:pt x="361314" y="560705"/>
                  </a:lnTo>
                  <a:lnTo>
                    <a:pt x="429513" y="531876"/>
                  </a:lnTo>
                  <a:lnTo>
                    <a:pt x="487299" y="487299"/>
                  </a:lnTo>
                  <a:lnTo>
                    <a:pt x="532002" y="429514"/>
                  </a:lnTo>
                  <a:lnTo>
                    <a:pt x="560704" y="361315"/>
                  </a:lnTo>
                  <a:lnTo>
                    <a:pt x="570991" y="285369"/>
                  </a:lnTo>
                  <a:close/>
                </a:path>
                <a:path w="571500" h="570864">
                  <a:moveTo>
                    <a:pt x="0" y="285369"/>
                  </a:moveTo>
                  <a:lnTo>
                    <a:pt x="570991" y="285369"/>
                  </a:lnTo>
                </a:path>
              </a:pathLst>
            </a:custGeom>
            <a:ln w="3175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24146" y="2240762"/>
              <a:ext cx="636079" cy="30126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494021" y="1442847"/>
              <a:ext cx="96520" cy="237490"/>
            </a:xfrm>
            <a:custGeom>
              <a:avLst/>
              <a:gdLst/>
              <a:ahLst/>
              <a:cxnLst/>
              <a:rect l="l" t="t" r="r" b="b"/>
              <a:pathLst>
                <a:path w="96520" h="237489">
                  <a:moveTo>
                    <a:pt x="48132" y="237108"/>
                  </a:moveTo>
                  <a:lnTo>
                    <a:pt x="48132" y="3937"/>
                  </a:lnTo>
                </a:path>
                <a:path w="96520" h="237489">
                  <a:moveTo>
                    <a:pt x="0" y="41655"/>
                  </a:moveTo>
                  <a:lnTo>
                    <a:pt x="18923" y="34416"/>
                  </a:lnTo>
                  <a:lnTo>
                    <a:pt x="32765" y="24383"/>
                  </a:lnTo>
                  <a:lnTo>
                    <a:pt x="42290" y="12700"/>
                  </a:lnTo>
                  <a:lnTo>
                    <a:pt x="48132" y="0"/>
                  </a:lnTo>
                  <a:lnTo>
                    <a:pt x="53975" y="12700"/>
                  </a:lnTo>
                  <a:lnTo>
                    <a:pt x="63500" y="24383"/>
                  </a:lnTo>
                  <a:lnTo>
                    <a:pt x="77342" y="34416"/>
                  </a:lnTo>
                  <a:lnTo>
                    <a:pt x="96265" y="41655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915917" y="1941017"/>
            <a:ext cx="1244600" cy="12534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3970" algn="ctr">
              <a:lnSpc>
                <a:spcPct val="100000"/>
              </a:lnSpc>
              <a:spcBef>
                <a:spcPts val="90"/>
              </a:spcBef>
            </a:pP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3</a:t>
            </a:r>
            <a:endParaRPr sz="1750">
              <a:latin typeface="Arial MT"/>
              <a:cs typeface="Arial MT"/>
            </a:endParaRPr>
          </a:p>
          <a:p>
            <a:pPr marR="15240" algn="ctr">
              <a:lnSpc>
                <a:spcPct val="100000"/>
              </a:lnSpc>
              <a:spcBef>
                <a:spcPts val="2005"/>
              </a:spcBef>
              <a:tabLst>
                <a:tab pos="426084" algn="l"/>
                <a:tab pos="854710" algn="l"/>
              </a:tabLst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875" baseline="-8888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250">
              <a:latin typeface="Calibri"/>
              <a:cs typeface="Calibri"/>
            </a:endParaRPr>
          </a:p>
          <a:p>
            <a:pPr marL="67310" algn="ctr">
              <a:lnSpc>
                <a:spcPct val="100000"/>
              </a:lnSpc>
              <a:spcBef>
                <a:spcPts val="5"/>
              </a:spcBef>
            </a:pPr>
            <a:r>
              <a:rPr sz="1550" spc="-120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550" spc="-1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spc="-10" dirty="0">
                <a:solidFill>
                  <a:srgbClr val="213739"/>
                </a:solidFill>
                <a:latin typeface="Arial MT"/>
                <a:cs typeface="Arial MT"/>
              </a:rPr>
              <a:t>function</a:t>
            </a:r>
            <a:endParaRPr sz="155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192518" y="1440316"/>
            <a:ext cx="636270" cy="1101725"/>
            <a:chOff x="7192518" y="1440316"/>
            <a:chExt cx="636270" cy="1101725"/>
          </a:xfrm>
        </p:grpSpPr>
        <p:sp>
          <p:nvSpPr>
            <p:cNvPr id="15" name="object 15"/>
            <p:cNvSpPr/>
            <p:nvPr/>
          </p:nvSpPr>
          <p:spPr>
            <a:xfrm>
              <a:off x="7225030" y="1679955"/>
              <a:ext cx="571500" cy="285750"/>
            </a:xfrm>
            <a:custGeom>
              <a:avLst/>
              <a:gdLst/>
              <a:ahLst/>
              <a:cxnLst/>
              <a:rect l="l" t="t" r="r" b="b"/>
              <a:pathLst>
                <a:path w="571500" h="285750">
                  <a:moveTo>
                    <a:pt x="285496" y="0"/>
                  </a:moveTo>
                  <a:lnTo>
                    <a:pt x="209550" y="10160"/>
                  </a:lnTo>
                  <a:lnTo>
                    <a:pt x="141477" y="38862"/>
                  </a:lnTo>
                  <a:lnTo>
                    <a:pt x="83693" y="83566"/>
                  </a:lnTo>
                  <a:lnTo>
                    <a:pt x="38989" y="141351"/>
                  </a:lnTo>
                  <a:lnTo>
                    <a:pt x="10287" y="209550"/>
                  </a:lnTo>
                  <a:lnTo>
                    <a:pt x="0" y="285369"/>
                  </a:lnTo>
                  <a:lnTo>
                    <a:pt x="570992" y="285369"/>
                  </a:lnTo>
                  <a:lnTo>
                    <a:pt x="560704" y="209550"/>
                  </a:lnTo>
                  <a:lnTo>
                    <a:pt x="532002" y="141351"/>
                  </a:lnTo>
                  <a:lnTo>
                    <a:pt x="487299" y="83566"/>
                  </a:lnTo>
                  <a:lnTo>
                    <a:pt x="429514" y="38862"/>
                  </a:lnTo>
                  <a:lnTo>
                    <a:pt x="361442" y="10160"/>
                  </a:lnTo>
                  <a:lnTo>
                    <a:pt x="285496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225030" y="1679955"/>
              <a:ext cx="571500" cy="570865"/>
            </a:xfrm>
            <a:custGeom>
              <a:avLst/>
              <a:gdLst/>
              <a:ahLst/>
              <a:cxnLst/>
              <a:rect l="l" t="t" r="r" b="b"/>
              <a:pathLst>
                <a:path w="571500" h="570864">
                  <a:moveTo>
                    <a:pt x="570992" y="285369"/>
                  </a:moveTo>
                  <a:lnTo>
                    <a:pt x="560704" y="209550"/>
                  </a:lnTo>
                  <a:lnTo>
                    <a:pt x="532002" y="141351"/>
                  </a:lnTo>
                  <a:lnTo>
                    <a:pt x="487299" y="83566"/>
                  </a:lnTo>
                  <a:lnTo>
                    <a:pt x="429514" y="38862"/>
                  </a:lnTo>
                  <a:lnTo>
                    <a:pt x="361442" y="10160"/>
                  </a:lnTo>
                  <a:lnTo>
                    <a:pt x="285496" y="0"/>
                  </a:lnTo>
                  <a:lnTo>
                    <a:pt x="209550" y="10160"/>
                  </a:lnTo>
                  <a:lnTo>
                    <a:pt x="141477" y="38862"/>
                  </a:lnTo>
                  <a:lnTo>
                    <a:pt x="83693" y="83566"/>
                  </a:lnTo>
                  <a:lnTo>
                    <a:pt x="38989" y="141351"/>
                  </a:lnTo>
                  <a:lnTo>
                    <a:pt x="10287" y="209550"/>
                  </a:lnTo>
                  <a:lnTo>
                    <a:pt x="0" y="285369"/>
                  </a:lnTo>
                  <a:lnTo>
                    <a:pt x="10287" y="361315"/>
                  </a:lnTo>
                  <a:lnTo>
                    <a:pt x="38989" y="429514"/>
                  </a:lnTo>
                  <a:lnTo>
                    <a:pt x="83693" y="487299"/>
                  </a:lnTo>
                  <a:lnTo>
                    <a:pt x="141477" y="531876"/>
                  </a:lnTo>
                  <a:lnTo>
                    <a:pt x="209550" y="560705"/>
                  </a:lnTo>
                  <a:lnTo>
                    <a:pt x="285496" y="570865"/>
                  </a:lnTo>
                  <a:lnTo>
                    <a:pt x="361442" y="560705"/>
                  </a:lnTo>
                  <a:lnTo>
                    <a:pt x="429514" y="531876"/>
                  </a:lnTo>
                  <a:lnTo>
                    <a:pt x="487299" y="487299"/>
                  </a:lnTo>
                  <a:lnTo>
                    <a:pt x="532002" y="429514"/>
                  </a:lnTo>
                  <a:lnTo>
                    <a:pt x="560704" y="361315"/>
                  </a:lnTo>
                  <a:lnTo>
                    <a:pt x="570992" y="285369"/>
                  </a:lnTo>
                  <a:close/>
                </a:path>
                <a:path w="571500" h="570864">
                  <a:moveTo>
                    <a:pt x="0" y="285369"/>
                  </a:moveTo>
                  <a:lnTo>
                    <a:pt x="570992" y="285369"/>
                  </a:lnTo>
                </a:path>
              </a:pathLst>
            </a:custGeom>
            <a:ln w="3175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92518" y="2240762"/>
              <a:ext cx="636079" cy="30126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7462393" y="1442846"/>
              <a:ext cx="96520" cy="237490"/>
            </a:xfrm>
            <a:custGeom>
              <a:avLst/>
              <a:gdLst/>
              <a:ahLst/>
              <a:cxnLst/>
              <a:rect l="l" t="t" r="r" b="b"/>
              <a:pathLst>
                <a:path w="96520" h="237489">
                  <a:moveTo>
                    <a:pt x="48132" y="237108"/>
                  </a:moveTo>
                  <a:lnTo>
                    <a:pt x="48132" y="3937"/>
                  </a:lnTo>
                </a:path>
                <a:path w="96520" h="237489">
                  <a:moveTo>
                    <a:pt x="0" y="41655"/>
                  </a:moveTo>
                  <a:lnTo>
                    <a:pt x="18923" y="34416"/>
                  </a:lnTo>
                  <a:lnTo>
                    <a:pt x="32765" y="24383"/>
                  </a:lnTo>
                  <a:lnTo>
                    <a:pt x="42290" y="12700"/>
                  </a:lnTo>
                  <a:lnTo>
                    <a:pt x="48132" y="0"/>
                  </a:lnTo>
                  <a:lnTo>
                    <a:pt x="53975" y="12700"/>
                  </a:lnTo>
                  <a:lnTo>
                    <a:pt x="63500" y="24383"/>
                  </a:lnTo>
                  <a:lnTo>
                    <a:pt x="77342" y="34416"/>
                  </a:lnTo>
                  <a:lnTo>
                    <a:pt x="96265" y="41655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125423" y="1046174"/>
            <a:ext cx="6825615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955925" algn="l"/>
                <a:tab pos="5924550" algn="l"/>
              </a:tabLst>
            </a:pP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y</a:t>
            </a:r>
            <a:r>
              <a:rPr sz="1750" i="1" spc="22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∈</a:t>
            </a:r>
            <a:r>
              <a:rPr sz="1750" spc="-25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{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4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spc="-25" dirty="0">
                <a:solidFill>
                  <a:srgbClr val="213739"/>
                </a:solidFill>
                <a:latin typeface="Lucida Sans Unicode"/>
                <a:cs typeface="Lucida Sans Unicode"/>
              </a:rPr>
              <a:t>}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	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y</a:t>
            </a:r>
            <a:r>
              <a:rPr sz="1750" i="1" spc="21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∈</a:t>
            </a:r>
            <a:r>
              <a:rPr sz="1750" spc="-24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{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4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spc="-25" dirty="0">
                <a:solidFill>
                  <a:srgbClr val="213739"/>
                </a:solidFill>
                <a:latin typeface="Lucida Sans Unicode"/>
                <a:cs typeface="Lucida Sans Unicode"/>
              </a:rPr>
              <a:t>}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	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y</a:t>
            </a:r>
            <a:r>
              <a:rPr sz="1750" i="1" spc="21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∈</a:t>
            </a:r>
            <a:r>
              <a:rPr sz="1750" spc="-24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{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4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spc="-25" dirty="0">
                <a:solidFill>
                  <a:srgbClr val="213739"/>
                </a:solidFill>
                <a:latin typeface="Lucida Sans Unicode"/>
                <a:cs typeface="Lucida Sans Unicode"/>
              </a:rPr>
              <a:t>}</a:t>
            </a:r>
            <a:endParaRPr sz="1750">
              <a:latin typeface="Lucida Sans Unicode"/>
              <a:cs typeface="Lucida Sans Unicode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781415" y="5823977"/>
            <a:ext cx="196215" cy="206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spc="-25" dirty="0">
                <a:solidFill>
                  <a:srgbClr val="213739"/>
                </a:solidFill>
                <a:latin typeface="Arial MT"/>
                <a:cs typeface="Arial MT"/>
              </a:rPr>
              <a:t>13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37261" y="6643369"/>
            <a:ext cx="1173480" cy="241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20"/>
              </a:lnSpc>
            </a:pPr>
            <a:r>
              <a:rPr sz="1700" b="1" dirty="0">
                <a:solidFill>
                  <a:srgbClr val="FFFFFF"/>
                </a:solidFill>
                <a:latin typeface="Calibri"/>
                <a:cs typeface="Calibri"/>
              </a:rPr>
              <a:t>NIT</a:t>
            </a:r>
            <a:r>
              <a:rPr sz="17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b="1" spc="-10" dirty="0">
                <a:solidFill>
                  <a:srgbClr val="FFFFFF"/>
                </a:solidFill>
                <a:latin typeface="Calibri"/>
                <a:cs typeface="Calibri"/>
              </a:rPr>
              <a:t>Rourkela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568188" y="6658229"/>
            <a:ext cx="293687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dirty="0">
                <a:latin typeface="Calibri"/>
                <a:cs typeface="Calibri"/>
              </a:rPr>
              <a:t>“Deep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Learning: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Neuron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to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Perceptron”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884669" y="1931289"/>
            <a:ext cx="1209040" cy="126301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6990" algn="ctr">
              <a:lnSpc>
                <a:spcPct val="100000"/>
              </a:lnSpc>
              <a:spcBef>
                <a:spcPts val="90"/>
              </a:spcBef>
            </a:pP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750">
              <a:latin typeface="Calibri"/>
              <a:cs typeface="Calibri"/>
            </a:endParaRPr>
          </a:p>
          <a:p>
            <a:pPr marL="12700" algn="ctr">
              <a:lnSpc>
                <a:spcPct val="100000"/>
              </a:lnSpc>
              <a:spcBef>
                <a:spcPts val="2080"/>
              </a:spcBef>
              <a:tabLst>
                <a:tab pos="438784" algn="l"/>
                <a:tab pos="867410" algn="l"/>
              </a:tabLst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875" baseline="-8888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250">
              <a:latin typeface="Calibri"/>
              <a:cs typeface="Calibri"/>
            </a:endParaRPr>
          </a:p>
          <a:p>
            <a:pPr marL="52705" algn="ctr">
              <a:lnSpc>
                <a:spcPct val="100000"/>
              </a:lnSpc>
            </a:pPr>
            <a:r>
              <a:rPr sz="1550" spc="-90" dirty="0">
                <a:solidFill>
                  <a:srgbClr val="213739"/>
                </a:solidFill>
                <a:latin typeface="Arial MT"/>
                <a:cs typeface="Arial MT"/>
              </a:rPr>
              <a:t>OR</a:t>
            </a:r>
            <a:r>
              <a:rPr sz="1550" spc="-2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spc="-10" dirty="0">
                <a:solidFill>
                  <a:srgbClr val="213739"/>
                </a:solidFill>
                <a:latin typeface="Arial MT"/>
                <a:cs typeface="Arial MT"/>
              </a:rPr>
              <a:t>function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21" name="object 21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boolean</a:t>
            </a:r>
            <a:r>
              <a:rPr spc="-100" dirty="0"/>
              <a:t> </a:t>
            </a:r>
            <a:r>
              <a:rPr dirty="0"/>
              <a:t>functions</a:t>
            </a:r>
            <a:r>
              <a:rPr spc="-105" dirty="0"/>
              <a:t> </a:t>
            </a:r>
            <a:r>
              <a:rPr dirty="0"/>
              <a:t>using</a:t>
            </a:r>
            <a:r>
              <a:rPr spc="-105" dirty="0"/>
              <a:t> </a:t>
            </a:r>
            <a:r>
              <a:rPr dirty="0"/>
              <a:t>MP</a:t>
            </a:r>
            <a:r>
              <a:rPr spc="-245" dirty="0"/>
              <a:t> </a:t>
            </a:r>
            <a:r>
              <a:rPr dirty="0"/>
              <a:t>neuron</a:t>
            </a:r>
            <a:r>
              <a:rPr spc="-105" dirty="0"/>
              <a:t> </a:t>
            </a:r>
            <a:r>
              <a:rPr spc="-25" dirty="0"/>
              <a:t>...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25400" y="-25400"/>
            <a:ext cx="9194800" cy="6908800"/>
            <a:chOff x="-25400" y="-25400"/>
            <a:chExt cx="9194800" cy="6908800"/>
          </a:xfrm>
        </p:grpSpPr>
        <p:sp>
          <p:nvSpPr>
            <p:cNvPr id="3" name="object 3"/>
            <p:cNvSpPr/>
            <p:nvPr/>
          </p:nvSpPr>
          <p:spPr>
            <a:xfrm>
              <a:off x="1313561" y="1642236"/>
              <a:ext cx="570865" cy="285750"/>
            </a:xfrm>
            <a:custGeom>
              <a:avLst/>
              <a:gdLst/>
              <a:ahLst/>
              <a:cxnLst/>
              <a:rect l="l" t="t" r="r" b="b"/>
              <a:pathLst>
                <a:path w="570864" h="285750">
                  <a:moveTo>
                    <a:pt x="285495" y="0"/>
                  </a:moveTo>
                  <a:lnTo>
                    <a:pt x="209550" y="10287"/>
                  </a:lnTo>
                  <a:lnTo>
                    <a:pt x="141350" y="38988"/>
                  </a:lnTo>
                  <a:lnTo>
                    <a:pt x="83565" y="83692"/>
                  </a:lnTo>
                  <a:lnTo>
                    <a:pt x="38988" y="141477"/>
                  </a:lnTo>
                  <a:lnTo>
                    <a:pt x="10159" y="209676"/>
                  </a:lnTo>
                  <a:lnTo>
                    <a:pt x="0" y="285496"/>
                  </a:lnTo>
                  <a:lnTo>
                    <a:pt x="570864" y="285496"/>
                  </a:lnTo>
                  <a:lnTo>
                    <a:pt x="560705" y="209676"/>
                  </a:lnTo>
                  <a:lnTo>
                    <a:pt x="532002" y="141477"/>
                  </a:lnTo>
                  <a:lnTo>
                    <a:pt x="487299" y="83692"/>
                  </a:lnTo>
                  <a:lnTo>
                    <a:pt x="429513" y="38988"/>
                  </a:lnTo>
                  <a:lnTo>
                    <a:pt x="361314" y="10287"/>
                  </a:lnTo>
                  <a:lnTo>
                    <a:pt x="285495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313561" y="1642236"/>
              <a:ext cx="570865" cy="571500"/>
            </a:xfrm>
            <a:custGeom>
              <a:avLst/>
              <a:gdLst/>
              <a:ahLst/>
              <a:cxnLst/>
              <a:rect l="l" t="t" r="r" b="b"/>
              <a:pathLst>
                <a:path w="570864" h="571500">
                  <a:moveTo>
                    <a:pt x="570864" y="285496"/>
                  </a:moveTo>
                  <a:lnTo>
                    <a:pt x="560705" y="209676"/>
                  </a:lnTo>
                  <a:lnTo>
                    <a:pt x="532002" y="141477"/>
                  </a:lnTo>
                  <a:lnTo>
                    <a:pt x="487299" y="83692"/>
                  </a:lnTo>
                  <a:lnTo>
                    <a:pt x="429513" y="38988"/>
                  </a:lnTo>
                  <a:lnTo>
                    <a:pt x="361314" y="10287"/>
                  </a:lnTo>
                  <a:lnTo>
                    <a:pt x="285495" y="0"/>
                  </a:lnTo>
                  <a:lnTo>
                    <a:pt x="209550" y="10287"/>
                  </a:lnTo>
                  <a:lnTo>
                    <a:pt x="141350" y="38988"/>
                  </a:lnTo>
                  <a:lnTo>
                    <a:pt x="83565" y="83692"/>
                  </a:lnTo>
                  <a:lnTo>
                    <a:pt x="38988" y="141477"/>
                  </a:lnTo>
                  <a:lnTo>
                    <a:pt x="10159" y="209676"/>
                  </a:lnTo>
                  <a:lnTo>
                    <a:pt x="0" y="285496"/>
                  </a:lnTo>
                  <a:lnTo>
                    <a:pt x="10159" y="361441"/>
                  </a:lnTo>
                  <a:lnTo>
                    <a:pt x="38988" y="429640"/>
                  </a:lnTo>
                  <a:lnTo>
                    <a:pt x="83565" y="487425"/>
                  </a:lnTo>
                  <a:lnTo>
                    <a:pt x="141350" y="532002"/>
                  </a:lnTo>
                  <a:lnTo>
                    <a:pt x="209550" y="560832"/>
                  </a:lnTo>
                  <a:lnTo>
                    <a:pt x="285495" y="570991"/>
                  </a:lnTo>
                  <a:lnTo>
                    <a:pt x="361314" y="560832"/>
                  </a:lnTo>
                  <a:lnTo>
                    <a:pt x="429513" y="532002"/>
                  </a:lnTo>
                  <a:lnTo>
                    <a:pt x="487299" y="487425"/>
                  </a:lnTo>
                  <a:lnTo>
                    <a:pt x="532002" y="429640"/>
                  </a:lnTo>
                  <a:lnTo>
                    <a:pt x="560705" y="361441"/>
                  </a:lnTo>
                  <a:lnTo>
                    <a:pt x="570864" y="285496"/>
                  </a:lnTo>
                  <a:close/>
                </a:path>
                <a:path w="570864" h="571500">
                  <a:moveTo>
                    <a:pt x="0" y="285496"/>
                  </a:moveTo>
                  <a:lnTo>
                    <a:pt x="570864" y="285496"/>
                  </a:lnTo>
                </a:path>
              </a:pathLst>
            </a:custGeom>
            <a:ln w="3175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80922" y="2203170"/>
              <a:ext cx="636079" cy="30126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550797" y="1405255"/>
              <a:ext cx="96520" cy="237490"/>
            </a:xfrm>
            <a:custGeom>
              <a:avLst/>
              <a:gdLst/>
              <a:ahLst/>
              <a:cxnLst/>
              <a:rect l="l" t="t" r="r" b="b"/>
              <a:pathLst>
                <a:path w="96519" h="237489">
                  <a:moveTo>
                    <a:pt x="48259" y="236982"/>
                  </a:moveTo>
                  <a:lnTo>
                    <a:pt x="48259" y="3937"/>
                  </a:lnTo>
                </a:path>
                <a:path w="96519" h="237489">
                  <a:moveTo>
                    <a:pt x="0" y="41656"/>
                  </a:moveTo>
                  <a:lnTo>
                    <a:pt x="18922" y="34417"/>
                  </a:lnTo>
                  <a:lnTo>
                    <a:pt x="32893" y="24384"/>
                  </a:lnTo>
                  <a:lnTo>
                    <a:pt x="42418" y="12573"/>
                  </a:lnTo>
                  <a:lnTo>
                    <a:pt x="48259" y="0"/>
                  </a:lnTo>
                  <a:lnTo>
                    <a:pt x="54102" y="12573"/>
                  </a:lnTo>
                  <a:lnTo>
                    <a:pt x="63627" y="24384"/>
                  </a:lnTo>
                  <a:lnTo>
                    <a:pt x="77470" y="34417"/>
                  </a:lnTo>
                  <a:lnTo>
                    <a:pt x="96392" y="41656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07745" y="1898726"/>
            <a:ext cx="1837689" cy="12579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32384" algn="ctr">
              <a:lnSpc>
                <a:spcPct val="100000"/>
              </a:lnSpc>
              <a:spcBef>
                <a:spcPts val="90"/>
              </a:spcBef>
            </a:pP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θ</a:t>
            </a:r>
            <a:endParaRPr sz="1750">
              <a:latin typeface="Calibri"/>
              <a:cs typeface="Calibri"/>
            </a:endParaRPr>
          </a:p>
          <a:p>
            <a:pPr marR="55880" algn="ctr">
              <a:lnSpc>
                <a:spcPct val="100000"/>
              </a:lnSpc>
              <a:spcBef>
                <a:spcPts val="2039"/>
              </a:spcBef>
              <a:tabLst>
                <a:tab pos="427990" algn="l"/>
                <a:tab pos="855980" algn="l"/>
              </a:tabLst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875" baseline="-8888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25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</a:pPr>
            <a:r>
              <a:rPr sz="1550" spc="-50" dirty="0">
                <a:solidFill>
                  <a:srgbClr val="213739"/>
                </a:solidFill>
                <a:latin typeface="Arial MT"/>
                <a:cs typeface="Arial MT"/>
              </a:rPr>
              <a:t>AMcCulloch</a:t>
            </a:r>
            <a:r>
              <a:rPr sz="1550" spc="-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spc="-45" dirty="0">
                <a:solidFill>
                  <a:srgbClr val="213739"/>
                </a:solidFill>
                <a:latin typeface="Arial MT"/>
                <a:cs typeface="Arial MT"/>
              </a:rPr>
              <a:t>Pitts</a:t>
            </a:r>
            <a:r>
              <a:rPr sz="1550" spc="-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spc="-20" dirty="0">
                <a:solidFill>
                  <a:srgbClr val="213739"/>
                </a:solidFill>
                <a:latin typeface="Arial MT"/>
                <a:cs typeface="Arial MT"/>
              </a:rPr>
              <a:t>unit</a:t>
            </a:r>
            <a:endParaRPr sz="155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02895" y="1402714"/>
            <a:ext cx="4557395" cy="4265930"/>
            <a:chOff x="302895" y="1402714"/>
            <a:chExt cx="4557395" cy="4265930"/>
          </a:xfrm>
        </p:grpSpPr>
        <p:sp>
          <p:nvSpPr>
            <p:cNvPr id="9" name="object 9"/>
            <p:cNvSpPr/>
            <p:nvPr/>
          </p:nvSpPr>
          <p:spPr>
            <a:xfrm>
              <a:off x="1313561" y="3967607"/>
              <a:ext cx="570865" cy="285750"/>
            </a:xfrm>
            <a:custGeom>
              <a:avLst/>
              <a:gdLst/>
              <a:ahLst/>
              <a:cxnLst/>
              <a:rect l="l" t="t" r="r" b="b"/>
              <a:pathLst>
                <a:path w="570864" h="285750">
                  <a:moveTo>
                    <a:pt x="285495" y="0"/>
                  </a:moveTo>
                  <a:lnTo>
                    <a:pt x="209550" y="10160"/>
                  </a:lnTo>
                  <a:lnTo>
                    <a:pt x="141350" y="38989"/>
                  </a:lnTo>
                  <a:lnTo>
                    <a:pt x="83565" y="83566"/>
                  </a:lnTo>
                  <a:lnTo>
                    <a:pt x="38988" y="141351"/>
                  </a:lnTo>
                  <a:lnTo>
                    <a:pt x="10159" y="209550"/>
                  </a:lnTo>
                  <a:lnTo>
                    <a:pt x="0" y="285496"/>
                  </a:lnTo>
                  <a:lnTo>
                    <a:pt x="570864" y="285496"/>
                  </a:lnTo>
                  <a:lnTo>
                    <a:pt x="560705" y="209550"/>
                  </a:lnTo>
                  <a:lnTo>
                    <a:pt x="532002" y="141351"/>
                  </a:lnTo>
                  <a:lnTo>
                    <a:pt x="487299" y="83566"/>
                  </a:lnTo>
                  <a:lnTo>
                    <a:pt x="429513" y="38989"/>
                  </a:lnTo>
                  <a:lnTo>
                    <a:pt x="361314" y="10160"/>
                  </a:lnTo>
                  <a:lnTo>
                    <a:pt x="285495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313561" y="3967607"/>
              <a:ext cx="570865" cy="570865"/>
            </a:xfrm>
            <a:custGeom>
              <a:avLst/>
              <a:gdLst/>
              <a:ahLst/>
              <a:cxnLst/>
              <a:rect l="l" t="t" r="r" b="b"/>
              <a:pathLst>
                <a:path w="570864" h="570864">
                  <a:moveTo>
                    <a:pt x="570864" y="285496"/>
                  </a:moveTo>
                  <a:lnTo>
                    <a:pt x="560705" y="209550"/>
                  </a:lnTo>
                  <a:lnTo>
                    <a:pt x="532002" y="141351"/>
                  </a:lnTo>
                  <a:lnTo>
                    <a:pt x="487299" y="83566"/>
                  </a:lnTo>
                  <a:lnTo>
                    <a:pt x="429513" y="38989"/>
                  </a:lnTo>
                  <a:lnTo>
                    <a:pt x="361314" y="10160"/>
                  </a:lnTo>
                  <a:lnTo>
                    <a:pt x="285495" y="0"/>
                  </a:lnTo>
                  <a:lnTo>
                    <a:pt x="209550" y="10160"/>
                  </a:lnTo>
                  <a:lnTo>
                    <a:pt x="141350" y="38989"/>
                  </a:lnTo>
                  <a:lnTo>
                    <a:pt x="83565" y="83566"/>
                  </a:lnTo>
                  <a:lnTo>
                    <a:pt x="38988" y="141351"/>
                  </a:lnTo>
                  <a:lnTo>
                    <a:pt x="10159" y="209550"/>
                  </a:lnTo>
                  <a:lnTo>
                    <a:pt x="0" y="285496"/>
                  </a:lnTo>
                  <a:lnTo>
                    <a:pt x="10159" y="361315"/>
                  </a:lnTo>
                  <a:lnTo>
                    <a:pt x="38988" y="429514"/>
                  </a:lnTo>
                  <a:lnTo>
                    <a:pt x="83565" y="487299"/>
                  </a:lnTo>
                  <a:lnTo>
                    <a:pt x="141350" y="532003"/>
                  </a:lnTo>
                  <a:lnTo>
                    <a:pt x="209550" y="560705"/>
                  </a:lnTo>
                  <a:lnTo>
                    <a:pt x="285495" y="570865"/>
                  </a:lnTo>
                  <a:lnTo>
                    <a:pt x="361314" y="560705"/>
                  </a:lnTo>
                  <a:lnTo>
                    <a:pt x="429513" y="532003"/>
                  </a:lnTo>
                  <a:lnTo>
                    <a:pt x="487299" y="487299"/>
                  </a:lnTo>
                  <a:lnTo>
                    <a:pt x="532002" y="429514"/>
                  </a:lnTo>
                  <a:lnTo>
                    <a:pt x="560705" y="361315"/>
                  </a:lnTo>
                  <a:lnTo>
                    <a:pt x="570864" y="285496"/>
                  </a:lnTo>
                  <a:close/>
                </a:path>
                <a:path w="570864" h="570864">
                  <a:moveTo>
                    <a:pt x="0" y="285496"/>
                  </a:moveTo>
                  <a:lnTo>
                    <a:pt x="570864" y="285496"/>
                  </a:lnTo>
                </a:path>
              </a:pathLst>
            </a:custGeom>
            <a:ln w="3175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922" y="4528413"/>
              <a:ext cx="256717" cy="30126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45284" y="4501324"/>
              <a:ext cx="271716" cy="328358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550797" y="3730497"/>
              <a:ext cx="96520" cy="237490"/>
            </a:xfrm>
            <a:custGeom>
              <a:avLst/>
              <a:gdLst/>
              <a:ahLst/>
              <a:cxnLst/>
              <a:rect l="l" t="t" r="r" b="b"/>
              <a:pathLst>
                <a:path w="96519" h="237489">
                  <a:moveTo>
                    <a:pt x="48259" y="237108"/>
                  </a:moveTo>
                  <a:lnTo>
                    <a:pt x="48259" y="4063"/>
                  </a:lnTo>
                </a:path>
                <a:path w="96519" h="237489">
                  <a:moveTo>
                    <a:pt x="0" y="41782"/>
                  </a:moveTo>
                  <a:lnTo>
                    <a:pt x="18922" y="34416"/>
                  </a:lnTo>
                  <a:lnTo>
                    <a:pt x="32893" y="24510"/>
                  </a:lnTo>
                  <a:lnTo>
                    <a:pt x="42418" y="12700"/>
                  </a:lnTo>
                  <a:lnTo>
                    <a:pt x="48259" y="0"/>
                  </a:lnTo>
                  <a:lnTo>
                    <a:pt x="54102" y="12700"/>
                  </a:lnTo>
                  <a:lnTo>
                    <a:pt x="63627" y="24510"/>
                  </a:lnTo>
                  <a:lnTo>
                    <a:pt x="77470" y="34416"/>
                  </a:lnTo>
                  <a:lnTo>
                    <a:pt x="96392" y="41782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05435" y="5665571"/>
              <a:ext cx="2900680" cy="0"/>
            </a:xfrm>
            <a:custGeom>
              <a:avLst/>
              <a:gdLst/>
              <a:ahLst/>
              <a:cxnLst/>
              <a:rect l="l" t="t" r="r" b="b"/>
              <a:pathLst>
                <a:path w="2900680">
                  <a:moveTo>
                    <a:pt x="0" y="0"/>
                  </a:moveTo>
                  <a:lnTo>
                    <a:pt x="2900298" y="0"/>
                  </a:lnTo>
                </a:path>
              </a:pathLst>
            </a:custGeom>
            <a:ln w="5053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56659" y="1642236"/>
              <a:ext cx="571500" cy="285750"/>
            </a:xfrm>
            <a:custGeom>
              <a:avLst/>
              <a:gdLst/>
              <a:ahLst/>
              <a:cxnLst/>
              <a:rect l="l" t="t" r="r" b="b"/>
              <a:pathLst>
                <a:path w="571500" h="285750">
                  <a:moveTo>
                    <a:pt x="285495" y="0"/>
                  </a:moveTo>
                  <a:lnTo>
                    <a:pt x="209550" y="10287"/>
                  </a:lnTo>
                  <a:lnTo>
                    <a:pt x="141350" y="38988"/>
                  </a:lnTo>
                  <a:lnTo>
                    <a:pt x="83565" y="83692"/>
                  </a:lnTo>
                  <a:lnTo>
                    <a:pt x="38988" y="141477"/>
                  </a:lnTo>
                  <a:lnTo>
                    <a:pt x="10160" y="209676"/>
                  </a:lnTo>
                  <a:lnTo>
                    <a:pt x="0" y="285496"/>
                  </a:lnTo>
                  <a:lnTo>
                    <a:pt x="570991" y="285496"/>
                  </a:lnTo>
                  <a:lnTo>
                    <a:pt x="560704" y="209676"/>
                  </a:lnTo>
                  <a:lnTo>
                    <a:pt x="532002" y="141477"/>
                  </a:lnTo>
                  <a:lnTo>
                    <a:pt x="487299" y="83692"/>
                  </a:lnTo>
                  <a:lnTo>
                    <a:pt x="429513" y="38988"/>
                  </a:lnTo>
                  <a:lnTo>
                    <a:pt x="361314" y="10287"/>
                  </a:lnTo>
                  <a:lnTo>
                    <a:pt x="285495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256659" y="1642236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570991" y="285496"/>
                  </a:moveTo>
                  <a:lnTo>
                    <a:pt x="560704" y="209676"/>
                  </a:lnTo>
                  <a:lnTo>
                    <a:pt x="532002" y="141477"/>
                  </a:lnTo>
                  <a:lnTo>
                    <a:pt x="487299" y="83692"/>
                  </a:lnTo>
                  <a:lnTo>
                    <a:pt x="429513" y="38988"/>
                  </a:lnTo>
                  <a:lnTo>
                    <a:pt x="361314" y="10287"/>
                  </a:lnTo>
                  <a:lnTo>
                    <a:pt x="285495" y="0"/>
                  </a:lnTo>
                  <a:lnTo>
                    <a:pt x="209550" y="10287"/>
                  </a:lnTo>
                  <a:lnTo>
                    <a:pt x="141350" y="38988"/>
                  </a:lnTo>
                  <a:lnTo>
                    <a:pt x="83565" y="83692"/>
                  </a:lnTo>
                  <a:lnTo>
                    <a:pt x="38988" y="141477"/>
                  </a:lnTo>
                  <a:lnTo>
                    <a:pt x="10160" y="209676"/>
                  </a:lnTo>
                  <a:lnTo>
                    <a:pt x="0" y="285496"/>
                  </a:lnTo>
                  <a:lnTo>
                    <a:pt x="10160" y="361441"/>
                  </a:lnTo>
                  <a:lnTo>
                    <a:pt x="38988" y="429640"/>
                  </a:lnTo>
                  <a:lnTo>
                    <a:pt x="83565" y="487425"/>
                  </a:lnTo>
                  <a:lnTo>
                    <a:pt x="141350" y="532002"/>
                  </a:lnTo>
                  <a:lnTo>
                    <a:pt x="209550" y="560832"/>
                  </a:lnTo>
                  <a:lnTo>
                    <a:pt x="285495" y="570991"/>
                  </a:lnTo>
                  <a:lnTo>
                    <a:pt x="361314" y="560832"/>
                  </a:lnTo>
                  <a:lnTo>
                    <a:pt x="429513" y="532002"/>
                  </a:lnTo>
                  <a:lnTo>
                    <a:pt x="487299" y="487425"/>
                  </a:lnTo>
                  <a:lnTo>
                    <a:pt x="532002" y="429640"/>
                  </a:lnTo>
                  <a:lnTo>
                    <a:pt x="560704" y="361441"/>
                  </a:lnTo>
                  <a:lnTo>
                    <a:pt x="570991" y="285496"/>
                  </a:lnTo>
                  <a:close/>
                </a:path>
                <a:path w="571500" h="571500">
                  <a:moveTo>
                    <a:pt x="0" y="285496"/>
                  </a:moveTo>
                  <a:lnTo>
                    <a:pt x="570991" y="285496"/>
                  </a:lnTo>
                </a:path>
              </a:pathLst>
            </a:custGeom>
            <a:ln w="3175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24147" y="2203170"/>
              <a:ext cx="636079" cy="30126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494022" y="1405254"/>
              <a:ext cx="96520" cy="237490"/>
            </a:xfrm>
            <a:custGeom>
              <a:avLst/>
              <a:gdLst/>
              <a:ahLst/>
              <a:cxnLst/>
              <a:rect l="l" t="t" r="r" b="b"/>
              <a:pathLst>
                <a:path w="96520" h="237489">
                  <a:moveTo>
                    <a:pt x="48132" y="236982"/>
                  </a:moveTo>
                  <a:lnTo>
                    <a:pt x="48132" y="3937"/>
                  </a:lnTo>
                </a:path>
                <a:path w="96520" h="237489">
                  <a:moveTo>
                    <a:pt x="0" y="41656"/>
                  </a:moveTo>
                  <a:lnTo>
                    <a:pt x="18923" y="34417"/>
                  </a:lnTo>
                  <a:lnTo>
                    <a:pt x="32765" y="24384"/>
                  </a:lnTo>
                  <a:lnTo>
                    <a:pt x="42290" y="12573"/>
                  </a:lnTo>
                  <a:lnTo>
                    <a:pt x="48132" y="0"/>
                  </a:lnTo>
                  <a:lnTo>
                    <a:pt x="53975" y="12573"/>
                  </a:lnTo>
                  <a:lnTo>
                    <a:pt x="63500" y="24384"/>
                  </a:lnTo>
                  <a:lnTo>
                    <a:pt x="77342" y="34417"/>
                  </a:lnTo>
                  <a:lnTo>
                    <a:pt x="96265" y="41656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125423" y="3334892"/>
            <a:ext cx="91313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y</a:t>
            </a:r>
            <a:r>
              <a:rPr sz="1750" i="1" spc="22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∈</a:t>
            </a:r>
            <a:r>
              <a:rPr sz="1750" spc="-24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{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5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spc="-25" dirty="0">
                <a:solidFill>
                  <a:srgbClr val="213739"/>
                </a:solidFill>
                <a:latin typeface="Lucida Sans Unicode"/>
                <a:cs typeface="Lucida Sans Unicode"/>
              </a:rPr>
              <a:t>}</a:t>
            </a:r>
            <a:endParaRPr sz="1750">
              <a:latin typeface="Lucida Sans Unicode"/>
              <a:cs typeface="Lucida Sans Unicode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915917" y="1903857"/>
            <a:ext cx="1244600" cy="12528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3970" algn="ctr">
              <a:lnSpc>
                <a:spcPct val="100000"/>
              </a:lnSpc>
              <a:spcBef>
                <a:spcPts val="90"/>
              </a:spcBef>
            </a:pP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3</a:t>
            </a:r>
            <a:endParaRPr sz="1750">
              <a:latin typeface="Arial MT"/>
              <a:cs typeface="Arial MT"/>
            </a:endParaRPr>
          </a:p>
          <a:p>
            <a:pPr marR="15240" algn="ctr">
              <a:lnSpc>
                <a:spcPct val="100000"/>
              </a:lnSpc>
              <a:spcBef>
                <a:spcPts val="2000"/>
              </a:spcBef>
              <a:tabLst>
                <a:tab pos="426084" algn="l"/>
                <a:tab pos="854710" algn="l"/>
              </a:tabLst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875" baseline="-8888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250">
              <a:latin typeface="Calibri"/>
              <a:cs typeface="Calibri"/>
            </a:endParaRPr>
          </a:p>
          <a:p>
            <a:pPr marL="67310" algn="ctr">
              <a:lnSpc>
                <a:spcPct val="100000"/>
              </a:lnSpc>
            </a:pPr>
            <a:r>
              <a:rPr sz="1550" spc="-120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550" spc="-1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spc="-10" dirty="0">
                <a:solidFill>
                  <a:srgbClr val="213739"/>
                </a:solidFill>
                <a:latin typeface="Arial MT"/>
                <a:cs typeface="Arial MT"/>
              </a:rPr>
              <a:t>function</a:t>
            </a:r>
            <a:endParaRPr sz="155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224146" y="1402714"/>
            <a:ext cx="3604895" cy="3427095"/>
            <a:chOff x="4224146" y="1402714"/>
            <a:chExt cx="3604895" cy="3427095"/>
          </a:xfrm>
        </p:grpSpPr>
        <p:sp>
          <p:nvSpPr>
            <p:cNvPr id="22" name="object 22"/>
            <p:cNvSpPr/>
            <p:nvPr/>
          </p:nvSpPr>
          <p:spPr>
            <a:xfrm>
              <a:off x="4256658" y="3967607"/>
              <a:ext cx="571500" cy="285750"/>
            </a:xfrm>
            <a:custGeom>
              <a:avLst/>
              <a:gdLst/>
              <a:ahLst/>
              <a:cxnLst/>
              <a:rect l="l" t="t" r="r" b="b"/>
              <a:pathLst>
                <a:path w="571500" h="285750">
                  <a:moveTo>
                    <a:pt x="285495" y="0"/>
                  </a:moveTo>
                  <a:lnTo>
                    <a:pt x="209550" y="10160"/>
                  </a:lnTo>
                  <a:lnTo>
                    <a:pt x="141350" y="38989"/>
                  </a:lnTo>
                  <a:lnTo>
                    <a:pt x="83565" y="83566"/>
                  </a:lnTo>
                  <a:lnTo>
                    <a:pt x="38988" y="141351"/>
                  </a:lnTo>
                  <a:lnTo>
                    <a:pt x="10160" y="209550"/>
                  </a:lnTo>
                  <a:lnTo>
                    <a:pt x="0" y="285496"/>
                  </a:lnTo>
                  <a:lnTo>
                    <a:pt x="570991" y="285496"/>
                  </a:lnTo>
                  <a:lnTo>
                    <a:pt x="560704" y="209550"/>
                  </a:lnTo>
                  <a:lnTo>
                    <a:pt x="532002" y="141351"/>
                  </a:lnTo>
                  <a:lnTo>
                    <a:pt x="487299" y="83566"/>
                  </a:lnTo>
                  <a:lnTo>
                    <a:pt x="429513" y="38989"/>
                  </a:lnTo>
                  <a:lnTo>
                    <a:pt x="361314" y="10160"/>
                  </a:lnTo>
                  <a:lnTo>
                    <a:pt x="285495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256658" y="3967607"/>
              <a:ext cx="571500" cy="570865"/>
            </a:xfrm>
            <a:custGeom>
              <a:avLst/>
              <a:gdLst/>
              <a:ahLst/>
              <a:cxnLst/>
              <a:rect l="l" t="t" r="r" b="b"/>
              <a:pathLst>
                <a:path w="571500" h="570864">
                  <a:moveTo>
                    <a:pt x="570991" y="285496"/>
                  </a:moveTo>
                  <a:lnTo>
                    <a:pt x="560704" y="209550"/>
                  </a:lnTo>
                  <a:lnTo>
                    <a:pt x="532002" y="141351"/>
                  </a:lnTo>
                  <a:lnTo>
                    <a:pt x="487299" y="83566"/>
                  </a:lnTo>
                  <a:lnTo>
                    <a:pt x="429513" y="38989"/>
                  </a:lnTo>
                  <a:lnTo>
                    <a:pt x="361314" y="10160"/>
                  </a:lnTo>
                  <a:lnTo>
                    <a:pt x="285495" y="0"/>
                  </a:lnTo>
                  <a:lnTo>
                    <a:pt x="209550" y="10160"/>
                  </a:lnTo>
                  <a:lnTo>
                    <a:pt x="141350" y="38989"/>
                  </a:lnTo>
                  <a:lnTo>
                    <a:pt x="83565" y="83566"/>
                  </a:lnTo>
                  <a:lnTo>
                    <a:pt x="38988" y="141351"/>
                  </a:lnTo>
                  <a:lnTo>
                    <a:pt x="10160" y="209550"/>
                  </a:lnTo>
                  <a:lnTo>
                    <a:pt x="0" y="285496"/>
                  </a:lnTo>
                  <a:lnTo>
                    <a:pt x="10160" y="361315"/>
                  </a:lnTo>
                  <a:lnTo>
                    <a:pt x="38988" y="429514"/>
                  </a:lnTo>
                  <a:lnTo>
                    <a:pt x="83565" y="487299"/>
                  </a:lnTo>
                  <a:lnTo>
                    <a:pt x="141350" y="532003"/>
                  </a:lnTo>
                  <a:lnTo>
                    <a:pt x="209550" y="560705"/>
                  </a:lnTo>
                  <a:lnTo>
                    <a:pt x="285495" y="570865"/>
                  </a:lnTo>
                  <a:lnTo>
                    <a:pt x="361314" y="560705"/>
                  </a:lnTo>
                  <a:lnTo>
                    <a:pt x="429513" y="532003"/>
                  </a:lnTo>
                  <a:lnTo>
                    <a:pt x="487299" y="487299"/>
                  </a:lnTo>
                  <a:lnTo>
                    <a:pt x="532002" y="429514"/>
                  </a:lnTo>
                  <a:lnTo>
                    <a:pt x="560704" y="361315"/>
                  </a:lnTo>
                  <a:lnTo>
                    <a:pt x="570991" y="285496"/>
                  </a:lnTo>
                  <a:close/>
                </a:path>
                <a:path w="571500" h="570864">
                  <a:moveTo>
                    <a:pt x="0" y="285496"/>
                  </a:moveTo>
                  <a:lnTo>
                    <a:pt x="570991" y="285496"/>
                  </a:lnTo>
                </a:path>
              </a:pathLst>
            </a:custGeom>
            <a:ln w="3175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24146" y="4501324"/>
              <a:ext cx="271716" cy="328358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88509" y="4501324"/>
              <a:ext cx="271589" cy="328358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4494021" y="3730497"/>
              <a:ext cx="96520" cy="237490"/>
            </a:xfrm>
            <a:custGeom>
              <a:avLst/>
              <a:gdLst/>
              <a:ahLst/>
              <a:cxnLst/>
              <a:rect l="l" t="t" r="r" b="b"/>
              <a:pathLst>
                <a:path w="96520" h="237489">
                  <a:moveTo>
                    <a:pt x="48132" y="237108"/>
                  </a:moveTo>
                  <a:lnTo>
                    <a:pt x="48132" y="4063"/>
                  </a:lnTo>
                </a:path>
                <a:path w="96520" h="237489">
                  <a:moveTo>
                    <a:pt x="0" y="41782"/>
                  </a:moveTo>
                  <a:lnTo>
                    <a:pt x="18923" y="34416"/>
                  </a:lnTo>
                  <a:lnTo>
                    <a:pt x="32765" y="24510"/>
                  </a:lnTo>
                  <a:lnTo>
                    <a:pt x="42290" y="12700"/>
                  </a:lnTo>
                  <a:lnTo>
                    <a:pt x="48132" y="0"/>
                  </a:lnTo>
                  <a:lnTo>
                    <a:pt x="53975" y="12700"/>
                  </a:lnTo>
                  <a:lnTo>
                    <a:pt x="63500" y="24510"/>
                  </a:lnTo>
                  <a:lnTo>
                    <a:pt x="77342" y="34416"/>
                  </a:lnTo>
                  <a:lnTo>
                    <a:pt x="96265" y="41782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225029" y="1642236"/>
              <a:ext cx="571500" cy="285750"/>
            </a:xfrm>
            <a:custGeom>
              <a:avLst/>
              <a:gdLst/>
              <a:ahLst/>
              <a:cxnLst/>
              <a:rect l="l" t="t" r="r" b="b"/>
              <a:pathLst>
                <a:path w="571500" h="285750">
                  <a:moveTo>
                    <a:pt x="285496" y="0"/>
                  </a:moveTo>
                  <a:lnTo>
                    <a:pt x="209550" y="10287"/>
                  </a:lnTo>
                  <a:lnTo>
                    <a:pt x="141477" y="38988"/>
                  </a:lnTo>
                  <a:lnTo>
                    <a:pt x="83693" y="83692"/>
                  </a:lnTo>
                  <a:lnTo>
                    <a:pt x="38989" y="141477"/>
                  </a:lnTo>
                  <a:lnTo>
                    <a:pt x="10287" y="209676"/>
                  </a:lnTo>
                  <a:lnTo>
                    <a:pt x="0" y="285496"/>
                  </a:lnTo>
                  <a:lnTo>
                    <a:pt x="570992" y="285496"/>
                  </a:lnTo>
                  <a:lnTo>
                    <a:pt x="560704" y="209676"/>
                  </a:lnTo>
                  <a:lnTo>
                    <a:pt x="532002" y="141477"/>
                  </a:lnTo>
                  <a:lnTo>
                    <a:pt x="487299" y="83692"/>
                  </a:lnTo>
                  <a:lnTo>
                    <a:pt x="429514" y="38988"/>
                  </a:lnTo>
                  <a:lnTo>
                    <a:pt x="361442" y="10287"/>
                  </a:lnTo>
                  <a:lnTo>
                    <a:pt x="285496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225029" y="1642236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570992" y="285496"/>
                  </a:moveTo>
                  <a:lnTo>
                    <a:pt x="560704" y="209676"/>
                  </a:lnTo>
                  <a:lnTo>
                    <a:pt x="532002" y="141477"/>
                  </a:lnTo>
                  <a:lnTo>
                    <a:pt x="487299" y="83692"/>
                  </a:lnTo>
                  <a:lnTo>
                    <a:pt x="429514" y="38988"/>
                  </a:lnTo>
                  <a:lnTo>
                    <a:pt x="361442" y="10287"/>
                  </a:lnTo>
                  <a:lnTo>
                    <a:pt x="285496" y="0"/>
                  </a:lnTo>
                  <a:lnTo>
                    <a:pt x="209550" y="10287"/>
                  </a:lnTo>
                  <a:lnTo>
                    <a:pt x="141477" y="38988"/>
                  </a:lnTo>
                  <a:lnTo>
                    <a:pt x="83693" y="83692"/>
                  </a:lnTo>
                  <a:lnTo>
                    <a:pt x="38989" y="141477"/>
                  </a:lnTo>
                  <a:lnTo>
                    <a:pt x="10287" y="209676"/>
                  </a:lnTo>
                  <a:lnTo>
                    <a:pt x="0" y="285496"/>
                  </a:lnTo>
                  <a:lnTo>
                    <a:pt x="10287" y="361441"/>
                  </a:lnTo>
                  <a:lnTo>
                    <a:pt x="38989" y="429640"/>
                  </a:lnTo>
                  <a:lnTo>
                    <a:pt x="83693" y="487425"/>
                  </a:lnTo>
                  <a:lnTo>
                    <a:pt x="141477" y="532002"/>
                  </a:lnTo>
                  <a:lnTo>
                    <a:pt x="209550" y="560832"/>
                  </a:lnTo>
                  <a:lnTo>
                    <a:pt x="285496" y="570991"/>
                  </a:lnTo>
                  <a:lnTo>
                    <a:pt x="361442" y="560832"/>
                  </a:lnTo>
                  <a:lnTo>
                    <a:pt x="429514" y="532002"/>
                  </a:lnTo>
                  <a:lnTo>
                    <a:pt x="487299" y="487425"/>
                  </a:lnTo>
                  <a:lnTo>
                    <a:pt x="532002" y="429640"/>
                  </a:lnTo>
                  <a:lnTo>
                    <a:pt x="560704" y="361441"/>
                  </a:lnTo>
                  <a:lnTo>
                    <a:pt x="570992" y="285496"/>
                  </a:lnTo>
                  <a:close/>
                </a:path>
                <a:path w="571500" h="571500">
                  <a:moveTo>
                    <a:pt x="0" y="285496"/>
                  </a:moveTo>
                  <a:lnTo>
                    <a:pt x="570992" y="285496"/>
                  </a:lnTo>
                </a:path>
              </a:pathLst>
            </a:custGeom>
            <a:ln w="3175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192517" y="2203170"/>
              <a:ext cx="636079" cy="301269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7462392" y="1405254"/>
              <a:ext cx="96520" cy="237490"/>
            </a:xfrm>
            <a:custGeom>
              <a:avLst/>
              <a:gdLst/>
              <a:ahLst/>
              <a:cxnLst/>
              <a:rect l="l" t="t" r="r" b="b"/>
              <a:pathLst>
                <a:path w="96520" h="237489">
                  <a:moveTo>
                    <a:pt x="48132" y="236982"/>
                  </a:moveTo>
                  <a:lnTo>
                    <a:pt x="48132" y="3937"/>
                  </a:lnTo>
                </a:path>
                <a:path w="96520" h="237489">
                  <a:moveTo>
                    <a:pt x="0" y="41656"/>
                  </a:moveTo>
                  <a:lnTo>
                    <a:pt x="18923" y="34417"/>
                  </a:lnTo>
                  <a:lnTo>
                    <a:pt x="32765" y="24384"/>
                  </a:lnTo>
                  <a:lnTo>
                    <a:pt x="42290" y="12573"/>
                  </a:lnTo>
                  <a:lnTo>
                    <a:pt x="48132" y="0"/>
                  </a:lnTo>
                  <a:lnTo>
                    <a:pt x="53975" y="12573"/>
                  </a:lnTo>
                  <a:lnTo>
                    <a:pt x="63500" y="24384"/>
                  </a:lnTo>
                  <a:lnTo>
                    <a:pt x="77342" y="34417"/>
                  </a:lnTo>
                  <a:lnTo>
                    <a:pt x="96265" y="41656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4069207" y="3334892"/>
            <a:ext cx="91313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y</a:t>
            </a:r>
            <a:r>
              <a:rPr sz="1750" i="1" spc="22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∈</a:t>
            </a:r>
            <a:r>
              <a:rPr sz="1750" spc="-24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{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5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spc="-25" dirty="0">
                <a:solidFill>
                  <a:srgbClr val="213739"/>
                </a:solidFill>
                <a:latin typeface="Lucida Sans Unicode"/>
                <a:cs typeface="Lucida Sans Unicode"/>
              </a:rPr>
              <a:t>}</a:t>
            </a:r>
            <a:endParaRPr sz="1750">
              <a:latin typeface="Lucida Sans Unicode"/>
              <a:cs typeface="Lucida Sans Unicode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069207" y="1009015"/>
            <a:ext cx="3881754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981325" algn="l"/>
              </a:tabLst>
            </a:pP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y</a:t>
            </a:r>
            <a:r>
              <a:rPr sz="1750" i="1" spc="22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∈</a:t>
            </a:r>
            <a:r>
              <a:rPr sz="1750" spc="-24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{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5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spc="-25" dirty="0">
                <a:solidFill>
                  <a:srgbClr val="213739"/>
                </a:solidFill>
                <a:latin typeface="Lucida Sans Unicode"/>
                <a:cs typeface="Lucida Sans Unicode"/>
              </a:rPr>
              <a:t>}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	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y</a:t>
            </a:r>
            <a:r>
              <a:rPr sz="1750" i="1" spc="22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∈</a:t>
            </a:r>
            <a:r>
              <a:rPr sz="1750" spc="-24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{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5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spc="-25" dirty="0">
                <a:solidFill>
                  <a:srgbClr val="213739"/>
                </a:solidFill>
                <a:latin typeface="Lucida Sans Unicode"/>
                <a:cs typeface="Lucida Sans Unicode"/>
              </a:rPr>
              <a:t>}</a:t>
            </a:r>
            <a:endParaRPr sz="1750">
              <a:latin typeface="Lucida Sans Unicode"/>
              <a:cs typeface="Lucida Sans Unicode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884669" y="1893265"/>
            <a:ext cx="1209040" cy="12636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6990" algn="ctr">
              <a:lnSpc>
                <a:spcPct val="100000"/>
              </a:lnSpc>
              <a:spcBef>
                <a:spcPts val="90"/>
              </a:spcBef>
            </a:pP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750">
              <a:latin typeface="Calibri"/>
              <a:cs typeface="Calibri"/>
            </a:endParaRPr>
          </a:p>
          <a:p>
            <a:pPr marL="12700" algn="ctr">
              <a:lnSpc>
                <a:spcPct val="100000"/>
              </a:lnSpc>
              <a:spcBef>
                <a:spcPts val="2085"/>
              </a:spcBef>
              <a:tabLst>
                <a:tab pos="438784" algn="l"/>
                <a:tab pos="867410" algn="l"/>
              </a:tabLst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875" baseline="-8888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250">
              <a:latin typeface="Calibri"/>
              <a:cs typeface="Calibri"/>
            </a:endParaRPr>
          </a:p>
          <a:p>
            <a:pPr marL="52705" algn="ctr">
              <a:lnSpc>
                <a:spcPct val="100000"/>
              </a:lnSpc>
            </a:pPr>
            <a:r>
              <a:rPr sz="1550" spc="-90" dirty="0">
                <a:solidFill>
                  <a:srgbClr val="213739"/>
                </a:solidFill>
                <a:latin typeface="Arial MT"/>
                <a:cs typeface="Arial MT"/>
              </a:rPr>
              <a:t>OR</a:t>
            </a:r>
            <a:r>
              <a:rPr sz="1550" spc="-2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spc="-10" dirty="0">
                <a:solidFill>
                  <a:srgbClr val="213739"/>
                </a:solidFill>
                <a:latin typeface="Arial MT"/>
                <a:cs typeface="Arial MT"/>
              </a:rPr>
              <a:t>function</a:t>
            </a:r>
            <a:endParaRPr sz="1550">
              <a:latin typeface="Arial MT"/>
              <a:cs typeface="Arial MT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7198169" y="3727967"/>
            <a:ext cx="574675" cy="1097915"/>
            <a:chOff x="7198169" y="3727967"/>
            <a:chExt cx="574675" cy="1097915"/>
          </a:xfrm>
        </p:grpSpPr>
        <p:sp>
          <p:nvSpPr>
            <p:cNvPr id="35" name="object 35"/>
            <p:cNvSpPr/>
            <p:nvPr/>
          </p:nvSpPr>
          <p:spPr>
            <a:xfrm>
              <a:off x="7199756" y="3967606"/>
              <a:ext cx="571500" cy="285750"/>
            </a:xfrm>
            <a:custGeom>
              <a:avLst/>
              <a:gdLst/>
              <a:ahLst/>
              <a:cxnLst/>
              <a:rect l="l" t="t" r="r" b="b"/>
              <a:pathLst>
                <a:path w="571500" h="285750">
                  <a:moveTo>
                    <a:pt x="285496" y="0"/>
                  </a:moveTo>
                  <a:lnTo>
                    <a:pt x="209550" y="10160"/>
                  </a:lnTo>
                  <a:lnTo>
                    <a:pt x="141350" y="38989"/>
                  </a:lnTo>
                  <a:lnTo>
                    <a:pt x="83693" y="83566"/>
                  </a:lnTo>
                  <a:lnTo>
                    <a:pt x="38989" y="141351"/>
                  </a:lnTo>
                  <a:lnTo>
                    <a:pt x="10160" y="209550"/>
                  </a:lnTo>
                  <a:lnTo>
                    <a:pt x="0" y="285496"/>
                  </a:lnTo>
                  <a:lnTo>
                    <a:pt x="570992" y="285496"/>
                  </a:lnTo>
                  <a:lnTo>
                    <a:pt x="560704" y="209550"/>
                  </a:lnTo>
                  <a:lnTo>
                    <a:pt x="532002" y="141351"/>
                  </a:lnTo>
                  <a:lnTo>
                    <a:pt x="487299" y="83566"/>
                  </a:lnTo>
                  <a:lnTo>
                    <a:pt x="429514" y="38989"/>
                  </a:lnTo>
                  <a:lnTo>
                    <a:pt x="361442" y="10160"/>
                  </a:lnTo>
                  <a:lnTo>
                    <a:pt x="285496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199756" y="3967606"/>
              <a:ext cx="571500" cy="570865"/>
            </a:xfrm>
            <a:custGeom>
              <a:avLst/>
              <a:gdLst/>
              <a:ahLst/>
              <a:cxnLst/>
              <a:rect l="l" t="t" r="r" b="b"/>
              <a:pathLst>
                <a:path w="571500" h="570864">
                  <a:moveTo>
                    <a:pt x="570992" y="285496"/>
                  </a:moveTo>
                  <a:lnTo>
                    <a:pt x="560704" y="209550"/>
                  </a:lnTo>
                  <a:lnTo>
                    <a:pt x="532002" y="141351"/>
                  </a:lnTo>
                  <a:lnTo>
                    <a:pt x="487299" y="83566"/>
                  </a:lnTo>
                  <a:lnTo>
                    <a:pt x="429514" y="38989"/>
                  </a:lnTo>
                  <a:lnTo>
                    <a:pt x="361442" y="10160"/>
                  </a:lnTo>
                  <a:lnTo>
                    <a:pt x="285496" y="0"/>
                  </a:lnTo>
                  <a:lnTo>
                    <a:pt x="209550" y="10160"/>
                  </a:lnTo>
                  <a:lnTo>
                    <a:pt x="141350" y="38989"/>
                  </a:lnTo>
                  <a:lnTo>
                    <a:pt x="83693" y="83566"/>
                  </a:lnTo>
                  <a:lnTo>
                    <a:pt x="38989" y="141351"/>
                  </a:lnTo>
                  <a:lnTo>
                    <a:pt x="10160" y="209550"/>
                  </a:lnTo>
                  <a:lnTo>
                    <a:pt x="0" y="285496"/>
                  </a:lnTo>
                  <a:lnTo>
                    <a:pt x="10160" y="361315"/>
                  </a:lnTo>
                  <a:lnTo>
                    <a:pt x="38989" y="429514"/>
                  </a:lnTo>
                  <a:lnTo>
                    <a:pt x="83693" y="487299"/>
                  </a:lnTo>
                  <a:lnTo>
                    <a:pt x="141350" y="532003"/>
                  </a:lnTo>
                  <a:lnTo>
                    <a:pt x="209550" y="560705"/>
                  </a:lnTo>
                  <a:lnTo>
                    <a:pt x="285496" y="570865"/>
                  </a:lnTo>
                  <a:lnTo>
                    <a:pt x="361442" y="560705"/>
                  </a:lnTo>
                  <a:lnTo>
                    <a:pt x="429514" y="532003"/>
                  </a:lnTo>
                  <a:lnTo>
                    <a:pt x="487299" y="487299"/>
                  </a:lnTo>
                  <a:lnTo>
                    <a:pt x="532002" y="429514"/>
                  </a:lnTo>
                  <a:lnTo>
                    <a:pt x="560704" y="361315"/>
                  </a:lnTo>
                  <a:lnTo>
                    <a:pt x="570992" y="285496"/>
                  </a:lnTo>
                  <a:close/>
                </a:path>
                <a:path w="571500" h="570864">
                  <a:moveTo>
                    <a:pt x="0" y="285496"/>
                  </a:moveTo>
                  <a:lnTo>
                    <a:pt x="570992" y="285496"/>
                  </a:lnTo>
                </a:path>
              </a:pathLst>
            </a:custGeom>
            <a:ln w="3175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437119" y="3730497"/>
              <a:ext cx="96520" cy="1095375"/>
            </a:xfrm>
            <a:custGeom>
              <a:avLst/>
              <a:gdLst/>
              <a:ahLst/>
              <a:cxnLst/>
              <a:rect l="l" t="t" r="r" b="b"/>
              <a:pathLst>
                <a:path w="96520" h="1095375">
                  <a:moveTo>
                    <a:pt x="48132" y="1095247"/>
                  </a:moveTo>
                  <a:lnTo>
                    <a:pt x="48132" y="828039"/>
                  </a:lnTo>
                </a:path>
                <a:path w="96520" h="1095375">
                  <a:moveTo>
                    <a:pt x="48132" y="787907"/>
                  </a:moveTo>
                  <a:lnTo>
                    <a:pt x="37083" y="787907"/>
                  </a:lnTo>
                  <a:lnTo>
                    <a:pt x="28066" y="796925"/>
                  </a:lnTo>
                  <a:lnTo>
                    <a:pt x="28066" y="807974"/>
                  </a:lnTo>
                  <a:lnTo>
                    <a:pt x="28066" y="819150"/>
                  </a:lnTo>
                  <a:lnTo>
                    <a:pt x="37083" y="828039"/>
                  </a:lnTo>
                  <a:lnTo>
                    <a:pt x="48132" y="828039"/>
                  </a:lnTo>
                  <a:lnTo>
                    <a:pt x="59181" y="828039"/>
                  </a:lnTo>
                  <a:lnTo>
                    <a:pt x="68199" y="819150"/>
                  </a:lnTo>
                  <a:lnTo>
                    <a:pt x="68199" y="807974"/>
                  </a:lnTo>
                  <a:lnTo>
                    <a:pt x="68199" y="796925"/>
                  </a:lnTo>
                  <a:lnTo>
                    <a:pt x="59181" y="787907"/>
                  </a:lnTo>
                  <a:lnTo>
                    <a:pt x="48132" y="787907"/>
                  </a:lnTo>
                  <a:close/>
                </a:path>
                <a:path w="96520" h="1095375">
                  <a:moveTo>
                    <a:pt x="48132" y="237108"/>
                  </a:moveTo>
                  <a:lnTo>
                    <a:pt x="48132" y="4063"/>
                  </a:lnTo>
                </a:path>
                <a:path w="96520" h="1095375">
                  <a:moveTo>
                    <a:pt x="0" y="41782"/>
                  </a:moveTo>
                  <a:lnTo>
                    <a:pt x="18923" y="34416"/>
                  </a:lnTo>
                  <a:lnTo>
                    <a:pt x="32765" y="24510"/>
                  </a:lnTo>
                  <a:lnTo>
                    <a:pt x="42290" y="12700"/>
                  </a:lnTo>
                  <a:lnTo>
                    <a:pt x="48132" y="0"/>
                  </a:lnTo>
                  <a:lnTo>
                    <a:pt x="53975" y="12700"/>
                  </a:lnTo>
                  <a:lnTo>
                    <a:pt x="63500" y="24510"/>
                  </a:lnTo>
                  <a:lnTo>
                    <a:pt x="77343" y="34416"/>
                  </a:lnTo>
                  <a:lnTo>
                    <a:pt x="96265" y="41782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7012685" y="3334892"/>
            <a:ext cx="91440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y</a:t>
            </a:r>
            <a:r>
              <a:rPr sz="1750" i="1" spc="23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∈</a:t>
            </a:r>
            <a:r>
              <a:rPr sz="1750" spc="-254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{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6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35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spc="-35" dirty="0">
                <a:solidFill>
                  <a:srgbClr val="213739"/>
                </a:solidFill>
                <a:latin typeface="Lucida Sans Unicode"/>
                <a:cs typeface="Lucida Sans Unicode"/>
              </a:rPr>
              <a:t>}</a:t>
            </a:r>
            <a:endParaRPr sz="1750">
              <a:latin typeface="Lucida Sans Unicode"/>
              <a:cs typeface="Lucida Sans Unicode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8781415" y="5823977"/>
            <a:ext cx="196215" cy="206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spc="-25" dirty="0">
                <a:solidFill>
                  <a:srgbClr val="213739"/>
                </a:solidFill>
                <a:latin typeface="Arial MT"/>
                <a:cs typeface="Arial MT"/>
              </a:rPr>
              <a:t>13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37261" y="6643369"/>
            <a:ext cx="1173480" cy="241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20"/>
              </a:lnSpc>
            </a:pPr>
            <a:r>
              <a:rPr sz="1700" b="1" dirty="0">
                <a:solidFill>
                  <a:srgbClr val="FFFFFF"/>
                </a:solidFill>
                <a:latin typeface="Calibri"/>
                <a:cs typeface="Calibri"/>
              </a:rPr>
              <a:t>NIT</a:t>
            </a:r>
            <a:r>
              <a:rPr sz="17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b="1" spc="-10" dirty="0">
                <a:solidFill>
                  <a:srgbClr val="FFFFFF"/>
                </a:solidFill>
                <a:latin typeface="Calibri"/>
                <a:cs typeface="Calibri"/>
              </a:rPr>
              <a:t>Rourkela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5568188" y="6658229"/>
            <a:ext cx="293687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dirty="0">
                <a:latin typeface="Calibri"/>
                <a:cs typeface="Calibri"/>
              </a:rPr>
              <a:t>“Deep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Learning: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Neuron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to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Perceptron”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531366" y="4221226"/>
            <a:ext cx="13779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474845" y="4221226"/>
            <a:ext cx="13779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418578" y="4221226"/>
            <a:ext cx="13779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009294" y="4752213"/>
            <a:ext cx="114744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907415" algn="l"/>
              </a:tabLst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349363" y="4752213"/>
            <a:ext cx="26479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950709" y="5215204"/>
            <a:ext cx="1124585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spc="-110" dirty="0">
                <a:solidFill>
                  <a:srgbClr val="213739"/>
                </a:solidFill>
                <a:latin typeface="Arial MT"/>
                <a:cs typeface="Arial MT"/>
              </a:rPr>
              <a:t>NOT</a:t>
            </a:r>
            <a:r>
              <a:rPr sz="1550" spc="-2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spc="-10" dirty="0">
                <a:solidFill>
                  <a:srgbClr val="213739"/>
                </a:solidFill>
                <a:latin typeface="Arial MT"/>
                <a:cs typeface="Arial MT"/>
              </a:rPr>
              <a:t>function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906270" y="5298770"/>
            <a:ext cx="97790" cy="1962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spc="-50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078991" y="5214950"/>
            <a:ext cx="1058545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550" i="1" spc="6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650" spc="97" baseline="-10101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650" spc="525" baseline="-10101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550" spc="-120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550" spc="-2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213739"/>
                </a:solidFill>
                <a:latin typeface="Calibri"/>
                <a:cs typeface="Calibri"/>
              </a:rPr>
              <a:t>!</a:t>
            </a:r>
            <a:r>
              <a:rPr sz="1550" i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550" i="1" spc="14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650" spc="-75" baseline="22727" dirty="0">
                <a:solidFill>
                  <a:srgbClr val="213739"/>
                </a:solidFill>
                <a:latin typeface="Lucida Sans Unicode"/>
                <a:cs typeface="Lucida Sans Unicode"/>
              </a:rPr>
              <a:t>∗</a:t>
            </a:r>
            <a:endParaRPr sz="1650" baseline="22727">
              <a:latin typeface="Lucida Sans Unicode"/>
              <a:cs typeface="Lucida Sans Unicode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940302" y="4752213"/>
            <a:ext cx="1224915" cy="7346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90"/>
              </a:spcBef>
              <a:tabLst>
                <a:tab pos="919480" algn="l"/>
              </a:tabLst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875" baseline="-8888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1250">
              <a:latin typeface="Calibri"/>
              <a:cs typeface="Calibri"/>
            </a:endParaRPr>
          </a:p>
          <a:p>
            <a:pPr marL="75565">
              <a:lnSpc>
                <a:spcPct val="100000"/>
              </a:lnSpc>
            </a:pPr>
            <a:r>
              <a:rPr sz="1550" spc="-140" dirty="0">
                <a:solidFill>
                  <a:srgbClr val="213739"/>
                </a:solidFill>
                <a:latin typeface="Arial MT"/>
                <a:cs typeface="Arial MT"/>
              </a:rPr>
              <a:t>NOR</a:t>
            </a:r>
            <a:r>
              <a:rPr sz="1550" spc="-2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spc="-10" dirty="0">
                <a:solidFill>
                  <a:srgbClr val="213739"/>
                </a:solidFill>
                <a:latin typeface="Arial MT"/>
                <a:cs typeface="Arial MT"/>
              </a:rPr>
              <a:t>function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11480" y="5678525"/>
            <a:ext cx="6506209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425" spc="-89" baseline="32163" dirty="0">
                <a:solidFill>
                  <a:srgbClr val="394A4E"/>
                </a:solidFill>
                <a:latin typeface="Lucida Sans Unicode"/>
                <a:cs typeface="Lucida Sans Unicode"/>
              </a:rPr>
              <a:t>∗</a:t>
            </a:r>
            <a:r>
              <a:rPr sz="1400" spc="-60" dirty="0">
                <a:solidFill>
                  <a:srgbClr val="394A4E"/>
                </a:solidFill>
                <a:latin typeface="Arial MT"/>
                <a:cs typeface="Arial MT"/>
              </a:rPr>
              <a:t>circle</a:t>
            </a:r>
            <a:r>
              <a:rPr sz="1400" spc="-100" dirty="0">
                <a:solidFill>
                  <a:srgbClr val="394A4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94A4E"/>
                </a:solidFill>
                <a:latin typeface="Arial MT"/>
                <a:cs typeface="Arial MT"/>
              </a:rPr>
              <a:t>at</a:t>
            </a:r>
            <a:r>
              <a:rPr sz="1400" spc="-35" dirty="0">
                <a:solidFill>
                  <a:srgbClr val="394A4E"/>
                </a:solidFill>
                <a:latin typeface="Arial MT"/>
                <a:cs typeface="Arial MT"/>
              </a:rPr>
              <a:t> </a:t>
            </a:r>
            <a:r>
              <a:rPr sz="1400" spc="-20" dirty="0">
                <a:solidFill>
                  <a:srgbClr val="394A4E"/>
                </a:solidFill>
                <a:latin typeface="Arial MT"/>
                <a:cs typeface="Arial MT"/>
              </a:rPr>
              <a:t>the</a:t>
            </a:r>
            <a:r>
              <a:rPr sz="1400" spc="-75" dirty="0">
                <a:solidFill>
                  <a:srgbClr val="394A4E"/>
                </a:solidFill>
                <a:latin typeface="Arial MT"/>
                <a:cs typeface="Arial MT"/>
              </a:rPr>
              <a:t> </a:t>
            </a:r>
            <a:r>
              <a:rPr sz="1400" spc="-50" dirty="0">
                <a:solidFill>
                  <a:srgbClr val="394A4E"/>
                </a:solidFill>
                <a:latin typeface="Arial MT"/>
                <a:cs typeface="Arial MT"/>
              </a:rPr>
              <a:t>end</a:t>
            </a:r>
            <a:r>
              <a:rPr sz="1400" spc="-125" dirty="0">
                <a:solidFill>
                  <a:srgbClr val="394A4E"/>
                </a:solidFill>
                <a:latin typeface="Arial MT"/>
                <a:cs typeface="Arial MT"/>
              </a:rPr>
              <a:t> </a:t>
            </a:r>
            <a:r>
              <a:rPr sz="1400" spc="-55" dirty="0">
                <a:solidFill>
                  <a:srgbClr val="394A4E"/>
                </a:solidFill>
                <a:latin typeface="Arial MT"/>
                <a:cs typeface="Arial MT"/>
              </a:rPr>
              <a:t>indicates</a:t>
            </a:r>
            <a:r>
              <a:rPr sz="1400" spc="-90" dirty="0">
                <a:solidFill>
                  <a:srgbClr val="394A4E"/>
                </a:solidFill>
                <a:latin typeface="Arial MT"/>
                <a:cs typeface="Arial MT"/>
              </a:rPr>
              <a:t> </a:t>
            </a:r>
            <a:r>
              <a:rPr sz="1400" spc="-40" dirty="0">
                <a:solidFill>
                  <a:srgbClr val="394A4E"/>
                </a:solidFill>
                <a:latin typeface="Arial MT"/>
                <a:cs typeface="Arial MT"/>
              </a:rPr>
              <a:t>inhibitory</a:t>
            </a:r>
            <a:r>
              <a:rPr sz="1400" spc="-90" dirty="0">
                <a:solidFill>
                  <a:srgbClr val="394A4E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394A4E"/>
                </a:solidFill>
                <a:latin typeface="Arial MT"/>
                <a:cs typeface="Arial MT"/>
              </a:rPr>
              <a:t>input:</a:t>
            </a:r>
            <a:r>
              <a:rPr sz="1400" spc="30" dirty="0">
                <a:solidFill>
                  <a:srgbClr val="394A4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94A4E"/>
                </a:solidFill>
                <a:latin typeface="Arial MT"/>
                <a:cs typeface="Arial MT"/>
              </a:rPr>
              <a:t>if</a:t>
            </a:r>
            <a:r>
              <a:rPr sz="1400" spc="5" dirty="0">
                <a:solidFill>
                  <a:srgbClr val="394A4E"/>
                </a:solidFill>
                <a:latin typeface="Arial MT"/>
                <a:cs typeface="Arial MT"/>
              </a:rPr>
              <a:t> </a:t>
            </a:r>
            <a:r>
              <a:rPr sz="1400" spc="-60" dirty="0">
                <a:solidFill>
                  <a:srgbClr val="394A4E"/>
                </a:solidFill>
                <a:latin typeface="Arial MT"/>
                <a:cs typeface="Arial MT"/>
              </a:rPr>
              <a:t>any</a:t>
            </a:r>
            <a:r>
              <a:rPr sz="1400" spc="-130" dirty="0">
                <a:solidFill>
                  <a:srgbClr val="394A4E"/>
                </a:solidFill>
                <a:latin typeface="Arial MT"/>
                <a:cs typeface="Arial MT"/>
              </a:rPr>
              <a:t> </a:t>
            </a:r>
            <a:r>
              <a:rPr sz="1400" spc="-35" dirty="0">
                <a:solidFill>
                  <a:srgbClr val="394A4E"/>
                </a:solidFill>
                <a:latin typeface="Arial MT"/>
                <a:cs typeface="Arial MT"/>
              </a:rPr>
              <a:t>inhibitory</a:t>
            </a:r>
            <a:r>
              <a:rPr sz="1400" spc="-85" dirty="0">
                <a:solidFill>
                  <a:srgbClr val="394A4E"/>
                </a:solidFill>
                <a:latin typeface="Arial MT"/>
                <a:cs typeface="Arial MT"/>
              </a:rPr>
              <a:t> </a:t>
            </a:r>
            <a:r>
              <a:rPr sz="1400" spc="-20" dirty="0">
                <a:solidFill>
                  <a:srgbClr val="394A4E"/>
                </a:solidFill>
                <a:latin typeface="Arial MT"/>
                <a:cs typeface="Arial MT"/>
              </a:rPr>
              <a:t>input</a:t>
            </a:r>
            <a:r>
              <a:rPr sz="1400" spc="-35" dirty="0">
                <a:solidFill>
                  <a:srgbClr val="394A4E"/>
                </a:solidFill>
                <a:latin typeface="Arial MT"/>
                <a:cs typeface="Arial MT"/>
              </a:rPr>
              <a:t> </a:t>
            </a:r>
            <a:r>
              <a:rPr sz="1400" spc="-45" dirty="0">
                <a:solidFill>
                  <a:srgbClr val="394A4E"/>
                </a:solidFill>
                <a:latin typeface="Arial MT"/>
                <a:cs typeface="Arial MT"/>
              </a:rPr>
              <a:t>is</a:t>
            </a:r>
            <a:r>
              <a:rPr sz="1400" spc="-105" dirty="0">
                <a:solidFill>
                  <a:srgbClr val="394A4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94A4E"/>
                </a:solidFill>
                <a:latin typeface="Arial MT"/>
                <a:cs typeface="Arial MT"/>
              </a:rPr>
              <a:t>1</a:t>
            </a:r>
            <a:r>
              <a:rPr sz="1400" spc="-60" dirty="0">
                <a:solidFill>
                  <a:srgbClr val="394A4E"/>
                </a:solidFill>
                <a:latin typeface="Arial MT"/>
                <a:cs typeface="Arial MT"/>
              </a:rPr>
              <a:t> </a:t>
            </a:r>
            <a:r>
              <a:rPr sz="1400" spc="-20" dirty="0">
                <a:solidFill>
                  <a:srgbClr val="394A4E"/>
                </a:solidFill>
                <a:latin typeface="Arial MT"/>
                <a:cs typeface="Arial MT"/>
              </a:rPr>
              <a:t>the</a:t>
            </a:r>
            <a:r>
              <a:rPr sz="1400" spc="-75" dirty="0">
                <a:solidFill>
                  <a:srgbClr val="394A4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94A4E"/>
                </a:solidFill>
                <a:latin typeface="Arial MT"/>
                <a:cs typeface="Arial MT"/>
              </a:rPr>
              <a:t>output</a:t>
            </a:r>
            <a:r>
              <a:rPr sz="1400" spc="-60" dirty="0">
                <a:solidFill>
                  <a:srgbClr val="394A4E"/>
                </a:solidFill>
                <a:latin typeface="Arial MT"/>
                <a:cs typeface="Arial MT"/>
              </a:rPr>
              <a:t> </a:t>
            </a:r>
            <a:r>
              <a:rPr sz="1400" spc="-35" dirty="0">
                <a:solidFill>
                  <a:srgbClr val="394A4E"/>
                </a:solidFill>
                <a:latin typeface="Arial MT"/>
                <a:cs typeface="Arial MT"/>
              </a:rPr>
              <a:t>will </a:t>
            </a:r>
            <a:r>
              <a:rPr sz="1400" spc="-50" dirty="0">
                <a:solidFill>
                  <a:srgbClr val="394A4E"/>
                </a:solidFill>
                <a:latin typeface="Arial MT"/>
                <a:cs typeface="Arial MT"/>
              </a:rPr>
              <a:t>be</a:t>
            </a:r>
            <a:r>
              <a:rPr sz="1400" spc="-120" dirty="0">
                <a:solidFill>
                  <a:srgbClr val="394A4E"/>
                </a:solidFill>
                <a:latin typeface="Arial MT"/>
                <a:cs typeface="Arial MT"/>
              </a:rPr>
              <a:t> </a:t>
            </a:r>
            <a:r>
              <a:rPr sz="1400" spc="-50" dirty="0">
                <a:solidFill>
                  <a:srgbClr val="394A4E"/>
                </a:solidFill>
                <a:latin typeface="Arial MT"/>
                <a:cs typeface="Arial MT"/>
              </a:rPr>
              <a:t>0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981252" y="961771"/>
            <a:ext cx="9429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Calibri"/>
                <a:cs typeface="Calibri"/>
              </a:rPr>
              <a:t>y</a:t>
            </a:r>
            <a:r>
              <a:rPr sz="1800" i="1" spc="245" dirty="0">
                <a:latin typeface="Calibri"/>
                <a:cs typeface="Calibri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∈</a:t>
            </a:r>
            <a:r>
              <a:rPr sz="1800" spc="-254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{</a:t>
            </a:r>
            <a:r>
              <a:rPr sz="1800" dirty="0">
                <a:latin typeface="Calibri"/>
                <a:cs typeface="Calibri"/>
              </a:rPr>
              <a:t>0</a:t>
            </a:r>
            <a:r>
              <a:rPr sz="1800" i="1" dirty="0">
                <a:latin typeface="Calibri"/>
                <a:cs typeface="Calibri"/>
              </a:rPr>
              <a:t>,</a:t>
            </a:r>
            <a:r>
              <a:rPr sz="1800" i="1" spc="5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1</a:t>
            </a:r>
            <a:r>
              <a:rPr sz="1800" spc="-25" dirty="0">
                <a:latin typeface="Lucida Sans Unicode"/>
                <a:cs typeface="Lucida Sans Unicode"/>
              </a:rPr>
              <a:t>}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50" name="object 50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boolean</a:t>
            </a:r>
            <a:r>
              <a:rPr spc="-100" dirty="0"/>
              <a:t> </a:t>
            </a:r>
            <a:r>
              <a:rPr dirty="0"/>
              <a:t>functions</a:t>
            </a:r>
            <a:r>
              <a:rPr spc="-105" dirty="0"/>
              <a:t> </a:t>
            </a:r>
            <a:r>
              <a:rPr dirty="0"/>
              <a:t>using</a:t>
            </a:r>
            <a:r>
              <a:rPr spc="-105" dirty="0"/>
              <a:t> </a:t>
            </a:r>
            <a:r>
              <a:rPr dirty="0"/>
              <a:t>MP</a:t>
            </a:r>
            <a:r>
              <a:rPr spc="-245" dirty="0"/>
              <a:t> </a:t>
            </a:r>
            <a:r>
              <a:rPr dirty="0"/>
              <a:t>neuron</a:t>
            </a:r>
            <a:r>
              <a:rPr spc="-105" dirty="0"/>
              <a:t> </a:t>
            </a:r>
            <a:r>
              <a:rPr spc="-25" dirty="0"/>
              <a:t>...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35886" y="983116"/>
            <a:ext cx="636270" cy="1101725"/>
            <a:chOff x="1635886" y="983116"/>
            <a:chExt cx="636270" cy="1101725"/>
          </a:xfrm>
        </p:grpSpPr>
        <p:sp>
          <p:nvSpPr>
            <p:cNvPr id="3" name="object 3"/>
            <p:cNvSpPr/>
            <p:nvPr/>
          </p:nvSpPr>
          <p:spPr>
            <a:xfrm>
              <a:off x="1668398" y="1222755"/>
              <a:ext cx="571500" cy="285750"/>
            </a:xfrm>
            <a:custGeom>
              <a:avLst/>
              <a:gdLst/>
              <a:ahLst/>
              <a:cxnLst/>
              <a:rect l="l" t="t" r="r" b="b"/>
              <a:pathLst>
                <a:path w="571500" h="285750">
                  <a:moveTo>
                    <a:pt x="285495" y="0"/>
                  </a:moveTo>
                  <a:lnTo>
                    <a:pt x="209676" y="10160"/>
                  </a:lnTo>
                  <a:lnTo>
                    <a:pt x="141477" y="38862"/>
                  </a:lnTo>
                  <a:lnTo>
                    <a:pt x="83693" y="83566"/>
                  </a:lnTo>
                  <a:lnTo>
                    <a:pt x="38988" y="141351"/>
                  </a:lnTo>
                  <a:lnTo>
                    <a:pt x="10287" y="209550"/>
                  </a:lnTo>
                  <a:lnTo>
                    <a:pt x="0" y="285369"/>
                  </a:lnTo>
                  <a:lnTo>
                    <a:pt x="570992" y="285369"/>
                  </a:lnTo>
                  <a:lnTo>
                    <a:pt x="560832" y="209550"/>
                  </a:lnTo>
                  <a:lnTo>
                    <a:pt x="532002" y="141351"/>
                  </a:lnTo>
                  <a:lnTo>
                    <a:pt x="487425" y="83566"/>
                  </a:lnTo>
                  <a:lnTo>
                    <a:pt x="429640" y="38862"/>
                  </a:lnTo>
                  <a:lnTo>
                    <a:pt x="361442" y="10160"/>
                  </a:lnTo>
                  <a:lnTo>
                    <a:pt x="285495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668398" y="1222755"/>
              <a:ext cx="571500" cy="570865"/>
            </a:xfrm>
            <a:custGeom>
              <a:avLst/>
              <a:gdLst/>
              <a:ahLst/>
              <a:cxnLst/>
              <a:rect l="l" t="t" r="r" b="b"/>
              <a:pathLst>
                <a:path w="571500" h="570864">
                  <a:moveTo>
                    <a:pt x="570992" y="285369"/>
                  </a:moveTo>
                  <a:lnTo>
                    <a:pt x="560832" y="209550"/>
                  </a:lnTo>
                  <a:lnTo>
                    <a:pt x="532002" y="141351"/>
                  </a:lnTo>
                  <a:lnTo>
                    <a:pt x="487425" y="83566"/>
                  </a:lnTo>
                  <a:lnTo>
                    <a:pt x="429640" y="38862"/>
                  </a:lnTo>
                  <a:lnTo>
                    <a:pt x="361442" y="10160"/>
                  </a:lnTo>
                  <a:lnTo>
                    <a:pt x="285495" y="0"/>
                  </a:lnTo>
                  <a:lnTo>
                    <a:pt x="209676" y="10160"/>
                  </a:lnTo>
                  <a:lnTo>
                    <a:pt x="141477" y="38862"/>
                  </a:lnTo>
                  <a:lnTo>
                    <a:pt x="83693" y="83566"/>
                  </a:lnTo>
                  <a:lnTo>
                    <a:pt x="38988" y="141351"/>
                  </a:lnTo>
                  <a:lnTo>
                    <a:pt x="10287" y="209550"/>
                  </a:lnTo>
                  <a:lnTo>
                    <a:pt x="0" y="285369"/>
                  </a:lnTo>
                  <a:lnTo>
                    <a:pt x="10287" y="361315"/>
                  </a:lnTo>
                  <a:lnTo>
                    <a:pt x="38988" y="429514"/>
                  </a:lnTo>
                  <a:lnTo>
                    <a:pt x="83693" y="487299"/>
                  </a:lnTo>
                  <a:lnTo>
                    <a:pt x="141477" y="531876"/>
                  </a:lnTo>
                  <a:lnTo>
                    <a:pt x="209676" y="560705"/>
                  </a:lnTo>
                  <a:lnTo>
                    <a:pt x="285495" y="570865"/>
                  </a:lnTo>
                  <a:lnTo>
                    <a:pt x="361442" y="560705"/>
                  </a:lnTo>
                  <a:lnTo>
                    <a:pt x="429640" y="531876"/>
                  </a:lnTo>
                  <a:lnTo>
                    <a:pt x="487425" y="487299"/>
                  </a:lnTo>
                  <a:lnTo>
                    <a:pt x="532002" y="429514"/>
                  </a:lnTo>
                  <a:lnTo>
                    <a:pt x="560832" y="361315"/>
                  </a:lnTo>
                  <a:lnTo>
                    <a:pt x="570992" y="285369"/>
                  </a:lnTo>
                  <a:close/>
                </a:path>
                <a:path w="571500" h="570864">
                  <a:moveTo>
                    <a:pt x="0" y="285369"/>
                  </a:moveTo>
                  <a:lnTo>
                    <a:pt x="570992" y="285369"/>
                  </a:lnTo>
                </a:path>
              </a:pathLst>
            </a:custGeom>
            <a:ln w="3175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86" y="1783562"/>
              <a:ext cx="256717" cy="30126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15235" y="1783562"/>
              <a:ext cx="256717" cy="30126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905761" y="985646"/>
              <a:ext cx="96520" cy="237490"/>
            </a:xfrm>
            <a:custGeom>
              <a:avLst/>
              <a:gdLst/>
              <a:ahLst/>
              <a:cxnLst/>
              <a:rect l="l" t="t" r="r" b="b"/>
              <a:pathLst>
                <a:path w="96519" h="237490">
                  <a:moveTo>
                    <a:pt x="48132" y="237108"/>
                  </a:moveTo>
                  <a:lnTo>
                    <a:pt x="48132" y="3937"/>
                  </a:lnTo>
                </a:path>
                <a:path w="96519" h="237490">
                  <a:moveTo>
                    <a:pt x="0" y="41655"/>
                  </a:moveTo>
                  <a:lnTo>
                    <a:pt x="18923" y="34416"/>
                  </a:lnTo>
                  <a:lnTo>
                    <a:pt x="32765" y="24383"/>
                  </a:lnTo>
                  <a:lnTo>
                    <a:pt x="42290" y="12700"/>
                  </a:lnTo>
                  <a:lnTo>
                    <a:pt x="48132" y="0"/>
                  </a:lnTo>
                  <a:lnTo>
                    <a:pt x="53975" y="12700"/>
                  </a:lnTo>
                  <a:lnTo>
                    <a:pt x="63500" y="24383"/>
                  </a:lnTo>
                  <a:lnTo>
                    <a:pt x="77343" y="34416"/>
                  </a:lnTo>
                  <a:lnTo>
                    <a:pt x="96265" y="41655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39596" y="1484756"/>
            <a:ext cx="1197610" cy="12573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6195" algn="ctr">
              <a:lnSpc>
                <a:spcPct val="100000"/>
              </a:lnSpc>
              <a:spcBef>
                <a:spcPts val="90"/>
              </a:spcBef>
            </a:pP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1</a:t>
            </a:r>
            <a:endParaRPr sz="175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1995"/>
              </a:spcBef>
              <a:tabLst>
                <a:tab pos="855980" algn="l"/>
              </a:tabLst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875" baseline="-8888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1250">
              <a:latin typeface="Calibri"/>
              <a:cs typeface="Calibri"/>
            </a:endParaRPr>
          </a:p>
          <a:p>
            <a:pPr marL="90805" algn="ctr">
              <a:lnSpc>
                <a:spcPct val="100000"/>
              </a:lnSpc>
            </a:pPr>
            <a:r>
              <a:rPr sz="1550" spc="-90" dirty="0">
                <a:solidFill>
                  <a:srgbClr val="213739"/>
                </a:solidFill>
                <a:latin typeface="Arial MT"/>
                <a:cs typeface="Arial MT"/>
              </a:rPr>
              <a:t>OR</a:t>
            </a:r>
            <a:r>
              <a:rPr sz="1550" spc="-2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spc="-10" dirty="0">
                <a:solidFill>
                  <a:srgbClr val="213739"/>
                </a:solidFill>
                <a:latin typeface="Arial MT"/>
                <a:cs typeface="Arial MT"/>
              </a:rPr>
              <a:t>function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3219" rIns="0" bIns="0" rtlCol="0">
            <a:spAutoFit/>
          </a:bodyPr>
          <a:lstStyle/>
          <a:p>
            <a:pPr marL="1185545">
              <a:lnSpc>
                <a:spcPct val="100000"/>
              </a:lnSpc>
              <a:spcBef>
                <a:spcPts val="90"/>
              </a:spcBef>
            </a:pP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y</a:t>
            </a:r>
            <a:r>
              <a:rPr sz="1750" i="1" spc="22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∈</a:t>
            </a:r>
            <a:r>
              <a:rPr sz="1750" spc="-24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{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5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spc="-25" dirty="0">
                <a:solidFill>
                  <a:srgbClr val="213739"/>
                </a:solidFill>
                <a:latin typeface="Lucida Sans Unicode"/>
                <a:cs typeface="Lucida Sans Unicode"/>
              </a:rPr>
              <a:t>}</a:t>
            </a:r>
            <a:endParaRPr sz="175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47623" y="2744216"/>
            <a:ext cx="883919" cy="2673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550" i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550" i="1" spc="-13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650" baseline="-12626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650" spc="367" baseline="-12626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13739"/>
                </a:solidFill>
                <a:latin typeface="Calibri"/>
                <a:cs typeface="Calibri"/>
              </a:rPr>
              <a:t>+</a:t>
            </a:r>
            <a:r>
              <a:rPr sz="1550" spc="43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550" i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550" i="1" spc="-12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650" baseline="-12626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650" spc="472" baseline="-12626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550" spc="-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41067" y="2701797"/>
            <a:ext cx="263525" cy="3378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R="5080" algn="r">
              <a:lnSpc>
                <a:spcPts val="950"/>
              </a:lnSpc>
              <a:spcBef>
                <a:spcPts val="114"/>
              </a:spcBef>
            </a:pPr>
            <a:r>
              <a:rPr sz="1100" spc="-50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ts val="1490"/>
              </a:lnSpc>
            </a:pPr>
            <a:r>
              <a:rPr sz="1550" spc="-50" dirty="0">
                <a:solidFill>
                  <a:srgbClr val="213739"/>
                </a:solidFill>
                <a:latin typeface="Lucida Sans Unicode"/>
                <a:cs typeface="Lucida Sans Unicode"/>
              </a:rPr>
              <a:t>Σ</a:t>
            </a:r>
            <a:endParaRPr sz="155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107183" y="2866084"/>
            <a:ext cx="267970" cy="1962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i="1" dirty="0">
                <a:solidFill>
                  <a:srgbClr val="213739"/>
                </a:solidFill>
                <a:latin typeface="Calibri"/>
                <a:cs typeface="Calibri"/>
              </a:rPr>
              <a:t>i</a:t>
            </a:r>
            <a:r>
              <a:rPr sz="1100" i="1" spc="-7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100" spc="65" dirty="0">
                <a:solidFill>
                  <a:srgbClr val="213739"/>
                </a:solidFill>
                <a:latin typeface="Calibri"/>
                <a:cs typeface="Calibri"/>
              </a:rPr>
              <a:t>=1 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85948" y="2732023"/>
            <a:ext cx="621665" cy="2673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550" i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550" i="1" spc="-16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650" i="1" baseline="-10101" dirty="0">
                <a:solidFill>
                  <a:srgbClr val="213739"/>
                </a:solidFill>
                <a:latin typeface="Calibri"/>
                <a:cs typeface="Calibri"/>
              </a:rPr>
              <a:t>i</a:t>
            </a:r>
            <a:r>
              <a:rPr sz="1650" i="1" spc="667" baseline="-10101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213739"/>
                </a:solidFill>
                <a:latin typeface="Lucida Sans Unicode"/>
                <a:cs typeface="Lucida Sans Unicode"/>
              </a:rPr>
              <a:t>≥</a:t>
            </a:r>
            <a:r>
              <a:rPr sz="1550" spc="-6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550" spc="-50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55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81126" y="3752341"/>
            <a:ext cx="2169160" cy="2169795"/>
            <a:chOff x="781126" y="3752341"/>
            <a:chExt cx="2169160" cy="2169795"/>
          </a:xfrm>
        </p:grpSpPr>
        <p:sp>
          <p:nvSpPr>
            <p:cNvPr id="15" name="object 15"/>
            <p:cNvSpPr/>
            <p:nvPr/>
          </p:nvSpPr>
          <p:spPr>
            <a:xfrm>
              <a:off x="892289" y="3757421"/>
              <a:ext cx="2052955" cy="2052955"/>
            </a:xfrm>
            <a:custGeom>
              <a:avLst/>
              <a:gdLst/>
              <a:ahLst/>
              <a:cxnLst/>
              <a:rect l="l" t="t" r="r" b="b"/>
              <a:pathLst>
                <a:path w="2052955" h="2052954">
                  <a:moveTo>
                    <a:pt x="62661" y="1990267"/>
                  </a:moveTo>
                  <a:lnTo>
                    <a:pt x="2044839" y="1990267"/>
                  </a:lnTo>
                </a:path>
                <a:path w="2052955" h="2052954">
                  <a:moveTo>
                    <a:pt x="2001532" y="1927618"/>
                  </a:moveTo>
                  <a:lnTo>
                    <a:pt x="2010549" y="1952231"/>
                  </a:lnTo>
                  <a:lnTo>
                    <a:pt x="2022868" y="1970303"/>
                  </a:lnTo>
                  <a:lnTo>
                    <a:pt x="2037346" y="1982685"/>
                  </a:lnTo>
                  <a:lnTo>
                    <a:pt x="2052840" y="1990267"/>
                  </a:lnTo>
                  <a:lnTo>
                    <a:pt x="2037346" y="1997862"/>
                  </a:lnTo>
                  <a:lnTo>
                    <a:pt x="2022868" y="2010244"/>
                  </a:lnTo>
                  <a:lnTo>
                    <a:pt x="2010549" y="2028304"/>
                  </a:lnTo>
                  <a:lnTo>
                    <a:pt x="2001532" y="2052929"/>
                  </a:lnTo>
                </a:path>
                <a:path w="2052955" h="2052954">
                  <a:moveTo>
                    <a:pt x="62661" y="1990280"/>
                  </a:moveTo>
                  <a:lnTo>
                    <a:pt x="62661" y="8000"/>
                  </a:lnTo>
                </a:path>
                <a:path w="2052955" h="2052954">
                  <a:moveTo>
                    <a:pt x="0" y="51434"/>
                  </a:moveTo>
                  <a:lnTo>
                    <a:pt x="24612" y="42417"/>
                  </a:lnTo>
                  <a:lnTo>
                    <a:pt x="42684" y="30098"/>
                  </a:lnTo>
                  <a:lnTo>
                    <a:pt x="55067" y="15620"/>
                  </a:lnTo>
                  <a:lnTo>
                    <a:pt x="62649" y="0"/>
                  </a:lnTo>
                  <a:lnTo>
                    <a:pt x="70243" y="15620"/>
                  </a:lnTo>
                  <a:lnTo>
                    <a:pt x="82626" y="30098"/>
                  </a:lnTo>
                  <a:lnTo>
                    <a:pt x="100685" y="42417"/>
                  </a:lnTo>
                  <a:lnTo>
                    <a:pt x="125310" y="51434"/>
                  </a:lnTo>
                </a:path>
              </a:pathLst>
            </a:custGeom>
            <a:ln w="10122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83666" y="4434585"/>
              <a:ext cx="1484630" cy="1484630"/>
            </a:xfrm>
            <a:custGeom>
              <a:avLst/>
              <a:gdLst/>
              <a:ahLst/>
              <a:cxnLst/>
              <a:rect l="l" t="t" r="r" b="b"/>
              <a:pathLst>
                <a:path w="1484630" h="1484629">
                  <a:moveTo>
                    <a:pt x="0" y="0"/>
                  </a:moveTo>
                  <a:lnTo>
                    <a:pt x="1484426" y="1484388"/>
                  </a:lnTo>
                </a:path>
              </a:pathLst>
            </a:custGeom>
            <a:ln w="5060">
              <a:solidFill>
                <a:srgbClr val="213739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92810" y="3647313"/>
            <a:ext cx="26479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40791" y="4242308"/>
            <a:ext cx="48196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(0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 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1)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954148" y="4242308"/>
            <a:ext cx="48196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(1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 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1)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701419" y="4989702"/>
            <a:ext cx="158623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6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89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875" spc="382" baseline="-8888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+</a:t>
            </a:r>
            <a:r>
              <a:rPr sz="1750" spc="42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spc="6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89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875" spc="525" baseline="-8888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60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θ</a:t>
            </a:r>
            <a:r>
              <a:rPr sz="1750" i="1" spc="12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60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75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912276" y="4563119"/>
            <a:ext cx="1227455" cy="1227455"/>
            <a:chOff x="912276" y="4563119"/>
            <a:chExt cx="1227455" cy="1227455"/>
          </a:xfrm>
        </p:grpSpPr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2276" y="5705027"/>
              <a:ext cx="85324" cy="8532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12276" y="4563119"/>
              <a:ext cx="85324" cy="85324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54107" y="5705027"/>
              <a:ext cx="85324" cy="8532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054107" y="4563119"/>
              <a:ext cx="85324" cy="85324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4381246" y="875537"/>
            <a:ext cx="4341495" cy="653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 marR="5080" indent="-5080">
              <a:lnSpc>
                <a:spcPct val="117700"/>
              </a:lnSpc>
              <a:spcBef>
                <a:spcPts val="100"/>
              </a:spcBef>
            </a:pP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A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single</a:t>
            </a:r>
            <a:r>
              <a:rPr sz="1750" spc="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MP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neuron</a:t>
            </a:r>
            <a:r>
              <a:rPr sz="1750" spc="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splits</a:t>
            </a:r>
            <a:r>
              <a:rPr sz="1750" spc="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input</a:t>
            </a:r>
            <a:r>
              <a:rPr sz="1750" spc="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points</a:t>
            </a:r>
            <a:r>
              <a:rPr sz="1750" spc="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(4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points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for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2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binary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inputs)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into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two</a:t>
            </a:r>
            <a:r>
              <a:rPr sz="1750" spc="-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halves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690495" y="5647740"/>
            <a:ext cx="26479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40791" y="5728817"/>
            <a:ext cx="48196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(0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 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0)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839848" y="5728817"/>
            <a:ext cx="48196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(1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 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0)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781415" y="5588609"/>
            <a:ext cx="196215" cy="2197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50" spc="-25" dirty="0">
                <a:solidFill>
                  <a:srgbClr val="213739"/>
                </a:solidFill>
                <a:latin typeface="Arial MT"/>
                <a:cs typeface="Arial MT"/>
              </a:rPr>
              <a:t>15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368920" y="4241419"/>
            <a:ext cx="285115" cy="2197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50" i="1" dirty="0">
                <a:solidFill>
                  <a:srgbClr val="213739"/>
                </a:solidFill>
                <a:latin typeface="Calibri"/>
                <a:cs typeface="Calibri"/>
              </a:rPr>
              <a:t>i</a:t>
            </a:r>
            <a:r>
              <a:rPr sz="1250" i="1" spc="-13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250" spc="55" dirty="0">
                <a:solidFill>
                  <a:srgbClr val="213739"/>
                </a:solidFill>
                <a:latin typeface="Calibri"/>
                <a:cs typeface="Calibri"/>
              </a:rPr>
              <a:t>=1 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261739" y="4101465"/>
            <a:ext cx="443547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3442970" algn="l"/>
              </a:tabLst>
            </a:pPr>
            <a:r>
              <a:rPr sz="2625" spc="-157" baseline="1587" dirty="0">
                <a:solidFill>
                  <a:srgbClr val="213739"/>
                </a:solidFill>
                <a:latin typeface="Arial MT"/>
                <a:cs typeface="Arial MT"/>
              </a:rPr>
              <a:t>Points</a:t>
            </a:r>
            <a:r>
              <a:rPr sz="2625" spc="-202" baseline="1587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625" spc="-135" baseline="1587" dirty="0">
                <a:solidFill>
                  <a:srgbClr val="213739"/>
                </a:solidFill>
                <a:latin typeface="Arial MT"/>
                <a:cs typeface="Arial MT"/>
              </a:rPr>
              <a:t>lying</a:t>
            </a:r>
            <a:r>
              <a:rPr sz="2625" spc="-127" baseline="1587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625" spc="-82" baseline="1587" dirty="0">
                <a:solidFill>
                  <a:srgbClr val="213739"/>
                </a:solidFill>
                <a:latin typeface="Arial MT"/>
                <a:cs typeface="Arial MT"/>
              </a:rPr>
              <a:t>on</a:t>
            </a:r>
            <a:r>
              <a:rPr sz="2625" spc="-225" baseline="1587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625" spc="-67" baseline="1587" dirty="0">
                <a:solidFill>
                  <a:srgbClr val="213739"/>
                </a:solidFill>
                <a:latin typeface="Arial MT"/>
                <a:cs typeface="Arial MT"/>
              </a:rPr>
              <a:t>or</a:t>
            </a:r>
            <a:r>
              <a:rPr sz="2625" spc="-217" baseline="1587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625" spc="-179" baseline="1587" dirty="0">
                <a:solidFill>
                  <a:srgbClr val="213739"/>
                </a:solidFill>
                <a:latin typeface="Arial MT"/>
                <a:cs typeface="Arial MT"/>
              </a:rPr>
              <a:t>above</a:t>
            </a:r>
            <a:r>
              <a:rPr sz="2625" spc="-300" baseline="1587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625" spc="-75" baseline="1587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2625" spc="-150" baseline="1587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625" baseline="1587" dirty="0">
                <a:solidFill>
                  <a:srgbClr val="213739"/>
                </a:solidFill>
                <a:latin typeface="Arial MT"/>
                <a:cs typeface="Arial MT"/>
              </a:rPr>
              <a:t>line</a:t>
            </a:r>
            <a:r>
              <a:rPr sz="2625" spc="517" baseline="1587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625" spc="-30" baseline="-6349" dirty="0">
                <a:solidFill>
                  <a:srgbClr val="213739"/>
                </a:solidFill>
                <a:latin typeface="Lucida Sans Unicode"/>
                <a:cs typeface="Lucida Sans Unicode"/>
              </a:rPr>
              <a:t>Σ</a:t>
            </a:r>
            <a:r>
              <a:rPr sz="2625" spc="-412" baseline="-6349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875" i="1" spc="-75" baseline="28888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i="1" baseline="28888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i="1" spc="-20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875" i="1" baseline="-8888" dirty="0">
                <a:solidFill>
                  <a:srgbClr val="213739"/>
                </a:solidFill>
                <a:latin typeface="Calibri"/>
                <a:cs typeface="Calibri"/>
              </a:rPr>
              <a:t>i</a:t>
            </a:r>
            <a:r>
              <a:rPr sz="1875" i="1" spc="322" baseline="-8888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−</a:t>
            </a:r>
            <a:r>
              <a:rPr sz="1750" spc="-29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θ</a:t>
            </a:r>
            <a:r>
              <a:rPr sz="1750" i="1" spc="9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5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291710" y="4406900"/>
            <a:ext cx="276606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points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lying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below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this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line</a:t>
            </a:r>
            <a:endParaRPr sz="175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839404" y="1420812"/>
            <a:ext cx="574675" cy="574040"/>
            <a:chOff x="1839404" y="1420812"/>
            <a:chExt cx="574675" cy="574040"/>
          </a:xfrm>
        </p:grpSpPr>
        <p:sp>
          <p:nvSpPr>
            <p:cNvPr id="3" name="object 3"/>
            <p:cNvSpPr/>
            <p:nvPr/>
          </p:nvSpPr>
          <p:spPr>
            <a:xfrm>
              <a:off x="1840992" y="1422400"/>
              <a:ext cx="571500" cy="285750"/>
            </a:xfrm>
            <a:custGeom>
              <a:avLst/>
              <a:gdLst/>
              <a:ahLst/>
              <a:cxnLst/>
              <a:rect l="l" t="t" r="r" b="b"/>
              <a:pathLst>
                <a:path w="571500" h="285750">
                  <a:moveTo>
                    <a:pt x="285495" y="0"/>
                  </a:moveTo>
                  <a:lnTo>
                    <a:pt x="209550" y="10160"/>
                  </a:lnTo>
                  <a:lnTo>
                    <a:pt x="141350" y="38988"/>
                  </a:lnTo>
                  <a:lnTo>
                    <a:pt x="83693" y="83565"/>
                  </a:lnTo>
                  <a:lnTo>
                    <a:pt x="38988" y="141350"/>
                  </a:lnTo>
                  <a:lnTo>
                    <a:pt x="10159" y="209550"/>
                  </a:lnTo>
                  <a:lnTo>
                    <a:pt x="0" y="285496"/>
                  </a:lnTo>
                  <a:lnTo>
                    <a:pt x="570991" y="285496"/>
                  </a:lnTo>
                  <a:lnTo>
                    <a:pt x="560705" y="209550"/>
                  </a:lnTo>
                  <a:lnTo>
                    <a:pt x="532002" y="141350"/>
                  </a:lnTo>
                  <a:lnTo>
                    <a:pt x="487299" y="83565"/>
                  </a:lnTo>
                  <a:lnTo>
                    <a:pt x="429513" y="38988"/>
                  </a:lnTo>
                  <a:lnTo>
                    <a:pt x="361441" y="10160"/>
                  </a:lnTo>
                  <a:lnTo>
                    <a:pt x="285495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840992" y="1422400"/>
              <a:ext cx="571500" cy="570865"/>
            </a:xfrm>
            <a:custGeom>
              <a:avLst/>
              <a:gdLst/>
              <a:ahLst/>
              <a:cxnLst/>
              <a:rect l="l" t="t" r="r" b="b"/>
              <a:pathLst>
                <a:path w="571500" h="570864">
                  <a:moveTo>
                    <a:pt x="570991" y="285369"/>
                  </a:moveTo>
                  <a:lnTo>
                    <a:pt x="560705" y="209550"/>
                  </a:lnTo>
                  <a:lnTo>
                    <a:pt x="532002" y="141350"/>
                  </a:lnTo>
                  <a:lnTo>
                    <a:pt x="487299" y="83565"/>
                  </a:lnTo>
                  <a:lnTo>
                    <a:pt x="429513" y="38988"/>
                  </a:lnTo>
                  <a:lnTo>
                    <a:pt x="361441" y="10160"/>
                  </a:lnTo>
                  <a:lnTo>
                    <a:pt x="285495" y="0"/>
                  </a:lnTo>
                  <a:lnTo>
                    <a:pt x="209550" y="10160"/>
                  </a:lnTo>
                  <a:lnTo>
                    <a:pt x="141350" y="38988"/>
                  </a:lnTo>
                  <a:lnTo>
                    <a:pt x="83693" y="83565"/>
                  </a:lnTo>
                  <a:lnTo>
                    <a:pt x="38988" y="141350"/>
                  </a:lnTo>
                  <a:lnTo>
                    <a:pt x="10159" y="209550"/>
                  </a:lnTo>
                  <a:lnTo>
                    <a:pt x="0" y="285369"/>
                  </a:lnTo>
                  <a:lnTo>
                    <a:pt x="10159" y="361314"/>
                  </a:lnTo>
                  <a:lnTo>
                    <a:pt x="38988" y="429513"/>
                  </a:lnTo>
                  <a:lnTo>
                    <a:pt x="83693" y="487299"/>
                  </a:lnTo>
                  <a:lnTo>
                    <a:pt x="141350" y="531876"/>
                  </a:lnTo>
                  <a:lnTo>
                    <a:pt x="209550" y="560704"/>
                  </a:lnTo>
                  <a:lnTo>
                    <a:pt x="285495" y="570864"/>
                  </a:lnTo>
                  <a:lnTo>
                    <a:pt x="361441" y="560704"/>
                  </a:lnTo>
                  <a:lnTo>
                    <a:pt x="429513" y="531876"/>
                  </a:lnTo>
                  <a:lnTo>
                    <a:pt x="487299" y="487299"/>
                  </a:lnTo>
                  <a:lnTo>
                    <a:pt x="532002" y="429513"/>
                  </a:lnTo>
                  <a:lnTo>
                    <a:pt x="560705" y="361314"/>
                  </a:lnTo>
                  <a:lnTo>
                    <a:pt x="570991" y="285369"/>
                  </a:lnTo>
                  <a:close/>
                </a:path>
                <a:path w="571500" h="570864">
                  <a:moveTo>
                    <a:pt x="0" y="285369"/>
                  </a:moveTo>
                  <a:lnTo>
                    <a:pt x="570991" y="285369"/>
                  </a:lnTo>
                </a:path>
              </a:pathLst>
            </a:custGeom>
            <a:ln w="3175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537842" y="2204720"/>
            <a:ext cx="115824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476884" algn="l"/>
                <a:tab pos="905510" algn="l"/>
              </a:tabLst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88922" y="836167"/>
            <a:ext cx="91440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y</a:t>
            </a:r>
            <a:r>
              <a:rPr sz="1750" i="1" spc="23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∈</a:t>
            </a:r>
            <a:r>
              <a:rPr sz="1750" spc="-26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{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6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spc="-25" dirty="0">
                <a:solidFill>
                  <a:srgbClr val="213739"/>
                </a:solidFill>
                <a:latin typeface="Lucida Sans Unicode"/>
                <a:cs typeface="Lucida Sans Unicode"/>
              </a:rPr>
              <a:t>}</a:t>
            </a:r>
            <a:endParaRPr sz="175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33877" y="1683766"/>
            <a:ext cx="31877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OR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55114" y="1684401"/>
            <a:ext cx="14859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1</a:t>
            </a:r>
            <a:endParaRPr sz="175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808479" y="1182760"/>
            <a:ext cx="636270" cy="1101725"/>
            <a:chOff x="1808479" y="1182760"/>
            <a:chExt cx="636270" cy="110172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08479" y="1983206"/>
              <a:ext cx="636079" cy="30126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078354" y="1185290"/>
              <a:ext cx="96520" cy="237490"/>
            </a:xfrm>
            <a:custGeom>
              <a:avLst/>
              <a:gdLst/>
              <a:ahLst/>
              <a:cxnLst/>
              <a:rect l="l" t="t" r="r" b="b"/>
              <a:pathLst>
                <a:path w="96519" h="237490">
                  <a:moveTo>
                    <a:pt x="48132" y="237109"/>
                  </a:moveTo>
                  <a:lnTo>
                    <a:pt x="48132" y="4063"/>
                  </a:lnTo>
                </a:path>
                <a:path w="96519" h="237490">
                  <a:moveTo>
                    <a:pt x="0" y="41783"/>
                  </a:moveTo>
                  <a:lnTo>
                    <a:pt x="18922" y="34417"/>
                  </a:lnTo>
                  <a:lnTo>
                    <a:pt x="32765" y="24384"/>
                  </a:lnTo>
                  <a:lnTo>
                    <a:pt x="42290" y="12700"/>
                  </a:lnTo>
                  <a:lnTo>
                    <a:pt x="48132" y="0"/>
                  </a:lnTo>
                  <a:lnTo>
                    <a:pt x="53975" y="12700"/>
                  </a:lnTo>
                  <a:lnTo>
                    <a:pt x="63500" y="24384"/>
                  </a:lnTo>
                  <a:lnTo>
                    <a:pt x="77343" y="34417"/>
                  </a:lnTo>
                  <a:lnTo>
                    <a:pt x="96265" y="41783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182361" y="952627"/>
            <a:ext cx="330200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What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if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have</a:t>
            </a:r>
            <a:r>
              <a:rPr sz="1750" spc="-2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more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than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2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inputs?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781415" y="5588609"/>
            <a:ext cx="196215" cy="2197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50" spc="-25" dirty="0">
                <a:solidFill>
                  <a:srgbClr val="213739"/>
                </a:solidFill>
                <a:latin typeface="Arial MT"/>
                <a:cs typeface="Arial MT"/>
              </a:rPr>
              <a:t>17</a:t>
            </a:r>
            <a:endParaRPr sz="125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33877" y="1683766"/>
            <a:ext cx="31877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OR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55114" y="1684401"/>
            <a:ext cx="14859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1</a:t>
            </a:r>
            <a:endParaRPr sz="175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808479" y="1182750"/>
            <a:ext cx="636270" cy="1101725"/>
            <a:chOff x="1808479" y="1182750"/>
            <a:chExt cx="636270" cy="11017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08479" y="1983206"/>
              <a:ext cx="636079" cy="30126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078354" y="1185290"/>
              <a:ext cx="96520" cy="237490"/>
            </a:xfrm>
            <a:custGeom>
              <a:avLst/>
              <a:gdLst/>
              <a:ahLst/>
              <a:cxnLst/>
              <a:rect l="l" t="t" r="r" b="b"/>
              <a:pathLst>
                <a:path w="96519" h="237490">
                  <a:moveTo>
                    <a:pt x="48132" y="237109"/>
                  </a:moveTo>
                  <a:lnTo>
                    <a:pt x="48132" y="4063"/>
                  </a:lnTo>
                </a:path>
                <a:path w="96519" h="237490">
                  <a:moveTo>
                    <a:pt x="0" y="41783"/>
                  </a:moveTo>
                  <a:lnTo>
                    <a:pt x="18922" y="34417"/>
                  </a:lnTo>
                  <a:lnTo>
                    <a:pt x="32765" y="24384"/>
                  </a:lnTo>
                  <a:lnTo>
                    <a:pt x="42290" y="12700"/>
                  </a:lnTo>
                  <a:lnTo>
                    <a:pt x="48132" y="0"/>
                  </a:lnTo>
                  <a:lnTo>
                    <a:pt x="53975" y="12700"/>
                  </a:lnTo>
                  <a:lnTo>
                    <a:pt x="63500" y="24384"/>
                  </a:lnTo>
                  <a:lnTo>
                    <a:pt x="77343" y="34417"/>
                  </a:lnTo>
                  <a:lnTo>
                    <a:pt x="96265" y="41783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668121" y="2862833"/>
            <a:ext cx="2862580" cy="2862580"/>
            <a:chOff x="668121" y="2862833"/>
            <a:chExt cx="2862580" cy="2862580"/>
          </a:xfrm>
        </p:grpSpPr>
        <p:sp>
          <p:nvSpPr>
            <p:cNvPr id="8" name="object 8"/>
            <p:cNvSpPr/>
            <p:nvPr/>
          </p:nvSpPr>
          <p:spPr>
            <a:xfrm>
              <a:off x="689800" y="2867913"/>
              <a:ext cx="2835910" cy="2835275"/>
            </a:xfrm>
            <a:custGeom>
              <a:avLst/>
              <a:gdLst/>
              <a:ahLst/>
              <a:cxnLst/>
              <a:rect l="l" t="t" r="r" b="b"/>
              <a:pathLst>
                <a:path w="2835910" h="2835275">
                  <a:moveTo>
                    <a:pt x="1130490" y="1704721"/>
                  </a:moveTo>
                  <a:lnTo>
                    <a:pt x="2827210" y="1704721"/>
                  </a:lnTo>
                </a:path>
                <a:path w="2835910" h="2835275">
                  <a:moveTo>
                    <a:pt x="2783903" y="1642110"/>
                  </a:moveTo>
                  <a:lnTo>
                    <a:pt x="2792920" y="1666621"/>
                  </a:lnTo>
                  <a:lnTo>
                    <a:pt x="2805239" y="1684782"/>
                  </a:lnTo>
                  <a:lnTo>
                    <a:pt x="2819717" y="1697101"/>
                  </a:lnTo>
                  <a:lnTo>
                    <a:pt x="2835338" y="1704721"/>
                  </a:lnTo>
                  <a:lnTo>
                    <a:pt x="2819717" y="1712341"/>
                  </a:lnTo>
                  <a:lnTo>
                    <a:pt x="2805239" y="1724660"/>
                  </a:lnTo>
                  <a:lnTo>
                    <a:pt x="2792920" y="1742694"/>
                  </a:lnTo>
                  <a:lnTo>
                    <a:pt x="2783903" y="1767332"/>
                  </a:lnTo>
                </a:path>
                <a:path w="2835910" h="2835275">
                  <a:moveTo>
                    <a:pt x="1130490" y="1704721"/>
                  </a:moveTo>
                  <a:lnTo>
                    <a:pt x="1130490" y="8000"/>
                  </a:lnTo>
                </a:path>
                <a:path w="2835910" h="2835275">
                  <a:moveTo>
                    <a:pt x="1067879" y="51308"/>
                  </a:moveTo>
                  <a:lnTo>
                    <a:pt x="1092517" y="42290"/>
                  </a:lnTo>
                  <a:lnTo>
                    <a:pt x="1110551" y="29972"/>
                  </a:lnTo>
                  <a:lnTo>
                    <a:pt x="1122870" y="15494"/>
                  </a:lnTo>
                  <a:lnTo>
                    <a:pt x="1130490" y="0"/>
                  </a:lnTo>
                  <a:lnTo>
                    <a:pt x="1138110" y="15494"/>
                  </a:lnTo>
                  <a:lnTo>
                    <a:pt x="1150429" y="29972"/>
                  </a:lnTo>
                  <a:lnTo>
                    <a:pt x="1168590" y="42290"/>
                  </a:lnTo>
                  <a:lnTo>
                    <a:pt x="1193228" y="51308"/>
                  </a:lnTo>
                </a:path>
                <a:path w="2835910" h="2835275">
                  <a:moveTo>
                    <a:pt x="1130490" y="1704721"/>
                  </a:moveTo>
                  <a:lnTo>
                    <a:pt x="0" y="2835224"/>
                  </a:lnTo>
                </a:path>
              </a:pathLst>
            </a:custGeom>
            <a:ln w="10122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8121" y="5620165"/>
              <a:ext cx="104661" cy="10466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135202" y="4115904"/>
              <a:ext cx="1142365" cy="745490"/>
            </a:xfrm>
            <a:custGeom>
              <a:avLst/>
              <a:gdLst/>
              <a:ahLst/>
              <a:cxnLst/>
              <a:rect l="l" t="t" r="r" b="b"/>
              <a:pathLst>
                <a:path w="1142364" h="745489">
                  <a:moveTo>
                    <a:pt x="0" y="745274"/>
                  </a:moveTo>
                  <a:lnTo>
                    <a:pt x="1141996" y="745274"/>
                  </a:lnTo>
                  <a:lnTo>
                    <a:pt x="1141996" y="0"/>
                  </a:lnTo>
                  <a:lnTo>
                    <a:pt x="0" y="0"/>
                  </a:lnTo>
                  <a:lnTo>
                    <a:pt x="0" y="745274"/>
                  </a:lnTo>
                  <a:close/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403096" y="4561788"/>
            <a:ext cx="689610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(0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-6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-4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0)</a:t>
            </a:r>
            <a:endParaRPr sz="175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132662" y="3428238"/>
            <a:ext cx="1832610" cy="1832610"/>
            <a:chOff x="1132662" y="3428238"/>
            <a:chExt cx="1832610" cy="1832610"/>
          </a:xfrm>
        </p:grpSpPr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77628" y="4529973"/>
              <a:ext cx="85324" cy="8532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135202" y="3430778"/>
              <a:ext cx="1827530" cy="1827530"/>
            </a:xfrm>
            <a:custGeom>
              <a:avLst/>
              <a:gdLst/>
              <a:ahLst/>
              <a:cxnLst/>
              <a:rect l="l" t="t" r="r" b="b"/>
              <a:pathLst>
                <a:path w="1827530" h="1827529">
                  <a:moveTo>
                    <a:pt x="685088" y="0"/>
                  </a:moveTo>
                  <a:lnTo>
                    <a:pt x="0" y="1827022"/>
                  </a:lnTo>
                  <a:lnTo>
                    <a:pt x="1826945" y="1141857"/>
                  </a:lnTo>
                  <a:lnTo>
                    <a:pt x="685088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135202" y="3430778"/>
              <a:ext cx="1827530" cy="1827530"/>
            </a:xfrm>
            <a:custGeom>
              <a:avLst/>
              <a:gdLst/>
              <a:ahLst/>
              <a:cxnLst/>
              <a:rect l="l" t="t" r="r" b="b"/>
              <a:pathLst>
                <a:path w="1827530" h="1827529">
                  <a:moveTo>
                    <a:pt x="1826945" y="1141857"/>
                  </a:moveTo>
                  <a:lnTo>
                    <a:pt x="685088" y="0"/>
                  </a:lnTo>
                  <a:lnTo>
                    <a:pt x="0" y="1827022"/>
                  </a:lnTo>
                  <a:lnTo>
                    <a:pt x="1826945" y="1141857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352296" y="2156205"/>
            <a:ext cx="1332230" cy="12604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35585">
              <a:lnSpc>
                <a:spcPct val="100000"/>
              </a:lnSpc>
              <a:spcBef>
                <a:spcPts val="90"/>
              </a:spcBef>
              <a:tabLst>
                <a:tab pos="663575" algn="l"/>
                <a:tab pos="1092200" algn="l"/>
              </a:tabLst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875" baseline="-8888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90"/>
              </a:spcBef>
            </a:pPr>
            <a:endParaRPr sz="1250">
              <a:latin typeface="Calibri"/>
              <a:cs typeface="Calibri"/>
            </a:endParaRPr>
          </a:p>
          <a:p>
            <a:pPr marL="235585">
              <a:lnSpc>
                <a:spcPct val="100000"/>
              </a:lnSpc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875" baseline="-8888">
              <a:latin typeface="Calibri"/>
              <a:cs typeface="Calibri"/>
            </a:endParaRPr>
          </a:p>
          <a:p>
            <a:pPr marL="63500">
              <a:lnSpc>
                <a:spcPct val="100000"/>
              </a:lnSpc>
              <a:spcBef>
                <a:spcPts val="1120"/>
              </a:spcBef>
            </a:pP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(0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-6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-4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0)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577083" y="4551375"/>
            <a:ext cx="978535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(1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-3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-3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Calibri"/>
                <a:cs typeface="Calibri"/>
              </a:rPr>
              <a:t>0)</a:t>
            </a:r>
            <a:r>
              <a:rPr sz="1750" spc="-10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2625" i="1" spc="-37" baseline="1746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13333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13333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715895" y="3067050"/>
            <a:ext cx="68897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(1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-6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-4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0)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89508" y="3814317"/>
            <a:ext cx="68770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(0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-6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1)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891538" y="3814317"/>
            <a:ext cx="194437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spc="-10" dirty="0">
                <a:solidFill>
                  <a:srgbClr val="213739"/>
                </a:solidFill>
                <a:latin typeface="Calibri"/>
                <a:cs typeface="Calibri"/>
              </a:rPr>
              <a:t>(1</a:t>
            </a: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-10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i="1" spc="-20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-9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55" dirty="0">
                <a:solidFill>
                  <a:srgbClr val="213739"/>
                </a:solidFill>
                <a:latin typeface="Calibri"/>
                <a:cs typeface="Calibri"/>
              </a:rPr>
              <a:t>1)</a:t>
            </a:r>
            <a:r>
              <a:rPr sz="1750" b="1" spc="55" dirty="0">
                <a:solidFill>
                  <a:srgbClr val="FF0000"/>
                </a:solidFill>
                <a:latin typeface="Calibri"/>
                <a:cs typeface="Calibri"/>
              </a:rPr>
              <a:t>x</a:t>
            </a:r>
            <a:r>
              <a:rPr sz="1875" b="1" spc="82" baseline="-8888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r>
              <a:rPr sz="1875" b="1" spc="345" baseline="-8888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FF0000"/>
                </a:solidFill>
                <a:latin typeface="Calibri"/>
                <a:cs typeface="Calibri"/>
              </a:rPr>
              <a:t>+</a:t>
            </a:r>
            <a:r>
              <a:rPr sz="1750" spc="45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750" b="1" spc="-10" dirty="0">
                <a:solidFill>
                  <a:srgbClr val="FF0000"/>
                </a:solidFill>
                <a:latin typeface="Calibri"/>
                <a:cs typeface="Calibri"/>
              </a:rPr>
              <a:t>x</a:t>
            </a:r>
            <a:r>
              <a:rPr sz="1750" b="1" spc="-2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75" b="1" baseline="-8888" dirty="0">
                <a:solidFill>
                  <a:srgbClr val="FF0000"/>
                </a:solidFill>
                <a:latin typeface="Calibri"/>
                <a:cs typeface="Calibri"/>
              </a:rPr>
              <a:t>2</a:t>
            </a:r>
            <a:r>
              <a:rPr sz="1875" b="1" spc="517" baseline="-8888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FF0000"/>
                </a:solidFill>
                <a:latin typeface="Calibri"/>
                <a:cs typeface="Calibri"/>
              </a:rPr>
              <a:t>+</a:t>
            </a:r>
            <a:r>
              <a:rPr sz="1750" spc="45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750" b="1" spc="-10" dirty="0">
                <a:solidFill>
                  <a:srgbClr val="FF0000"/>
                </a:solidFill>
                <a:latin typeface="Calibri"/>
                <a:cs typeface="Calibri"/>
              </a:rPr>
              <a:t>x</a:t>
            </a:r>
            <a:r>
              <a:rPr sz="1750" b="1" spc="-19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75" b="1" spc="-75" baseline="-8888" dirty="0">
                <a:solidFill>
                  <a:srgbClr val="FF0000"/>
                </a:solidFill>
                <a:latin typeface="Calibri"/>
                <a:cs typeface="Calibri"/>
              </a:rPr>
              <a:t>3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878707" y="3814317"/>
            <a:ext cx="79121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1750" spc="75" dirty="0">
                <a:solidFill>
                  <a:srgbClr val="FF0000"/>
                </a:solidFill>
                <a:latin typeface="Calibri"/>
                <a:cs typeface="Calibri"/>
              </a:rPr>
              <a:t>  </a:t>
            </a:r>
            <a:r>
              <a:rPr sz="1750" i="1" dirty="0">
                <a:solidFill>
                  <a:srgbClr val="FF0000"/>
                </a:solidFill>
                <a:latin typeface="Calibri"/>
                <a:cs typeface="Calibri"/>
              </a:rPr>
              <a:t>θ</a:t>
            </a:r>
            <a:r>
              <a:rPr sz="1750" i="1" spc="1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1750" spc="75" dirty="0">
                <a:solidFill>
                  <a:srgbClr val="FF0000"/>
                </a:solidFill>
                <a:latin typeface="Calibri"/>
                <a:cs typeface="Calibri"/>
              </a:rPr>
              <a:t>  </a:t>
            </a:r>
            <a:r>
              <a:rPr sz="1750" b="1" spc="-50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endParaRPr sz="175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092540" y="3388116"/>
            <a:ext cx="1912620" cy="1912620"/>
            <a:chOff x="1092540" y="3388116"/>
            <a:chExt cx="1912620" cy="1912620"/>
          </a:xfrm>
        </p:grpSpPr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77628" y="3388116"/>
              <a:ext cx="85324" cy="85324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919486" y="4529973"/>
              <a:ext cx="85324" cy="8532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19486" y="3388116"/>
              <a:ext cx="85324" cy="8532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92540" y="5215138"/>
              <a:ext cx="85324" cy="85324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92540" y="4073281"/>
              <a:ext cx="85324" cy="85324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234448" y="5215138"/>
              <a:ext cx="85324" cy="85324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1135202" y="3430778"/>
              <a:ext cx="1827530" cy="1827530"/>
            </a:xfrm>
            <a:custGeom>
              <a:avLst/>
              <a:gdLst/>
              <a:ahLst/>
              <a:cxnLst/>
              <a:rect l="l" t="t" r="r" b="b"/>
              <a:pathLst>
                <a:path w="1827530" h="1827529">
                  <a:moveTo>
                    <a:pt x="685088" y="0"/>
                  </a:moveTo>
                  <a:lnTo>
                    <a:pt x="0" y="685165"/>
                  </a:lnTo>
                </a:path>
                <a:path w="1827530" h="1827529">
                  <a:moveTo>
                    <a:pt x="685088" y="0"/>
                  </a:moveTo>
                  <a:lnTo>
                    <a:pt x="1826945" y="0"/>
                  </a:lnTo>
                </a:path>
                <a:path w="1827530" h="1827529">
                  <a:moveTo>
                    <a:pt x="1826945" y="1141857"/>
                  </a:moveTo>
                  <a:lnTo>
                    <a:pt x="1826945" y="0"/>
                  </a:lnTo>
                </a:path>
                <a:path w="1827530" h="1827529">
                  <a:moveTo>
                    <a:pt x="1141907" y="685165"/>
                  </a:moveTo>
                  <a:lnTo>
                    <a:pt x="1826945" y="0"/>
                  </a:lnTo>
                </a:path>
                <a:path w="1827530" h="1827529">
                  <a:moveTo>
                    <a:pt x="1141907" y="1827022"/>
                  </a:moveTo>
                  <a:lnTo>
                    <a:pt x="1826945" y="1141857"/>
                  </a:lnTo>
                </a:path>
              </a:pathLst>
            </a:custGeom>
            <a:ln w="5060">
              <a:solidFill>
                <a:srgbClr val="213739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234448" y="4073281"/>
              <a:ext cx="85324" cy="85324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5180838" y="836167"/>
            <a:ext cx="3613150" cy="2077085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5080" indent="1270">
              <a:lnSpc>
                <a:spcPct val="136900"/>
              </a:lnSpc>
              <a:spcBef>
                <a:spcPts val="225"/>
              </a:spcBef>
            </a:pP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What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if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have</a:t>
            </a:r>
            <a:r>
              <a:rPr sz="1750" spc="-2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more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than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2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inputs?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Well,</a:t>
            </a:r>
            <a:r>
              <a:rPr sz="1750" spc="-1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instead</a:t>
            </a:r>
            <a:r>
              <a:rPr sz="1750" spc="-2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-1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aline</a:t>
            </a:r>
            <a:r>
              <a:rPr sz="1750" spc="-229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25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will</a:t>
            </a:r>
            <a:r>
              <a:rPr sz="1750" spc="-1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have</a:t>
            </a:r>
            <a:r>
              <a:rPr sz="1750" spc="-2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aplane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For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OR</a:t>
            </a:r>
            <a:r>
              <a:rPr sz="1750" spc="-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function,</a:t>
            </a:r>
            <a:r>
              <a:rPr sz="1750" spc="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want</a:t>
            </a:r>
            <a:r>
              <a:rPr sz="1750" spc="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a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plane</a:t>
            </a:r>
            <a:endParaRPr sz="1750">
              <a:latin typeface="Arial MT"/>
              <a:cs typeface="Arial MT"/>
            </a:endParaRPr>
          </a:p>
          <a:p>
            <a:pPr marL="17145" marR="13970" algn="just">
              <a:lnSpc>
                <a:spcPct val="117400"/>
              </a:lnSpc>
              <a:spcBef>
                <a:spcPts val="10"/>
              </a:spcBef>
            </a:pP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such</a:t>
            </a:r>
            <a:r>
              <a:rPr sz="1750" spc="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that</a:t>
            </a:r>
            <a:r>
              <a:rPr sz="1750" spc="1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point</a:t>
            </a:r>
            <a:r>
              <a:rPr sz="1750" spc="1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(0,0,0)</a:t>
            </a:r>
            <a:r>
              <a:rPr sz="1750" spc="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lies</a:t>
            </a:r>
            <a:r>
              <a:rPr sz="1750" spc="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on</a:t>
            </a:r>
            <a:r>
              <a:rPr sz="1750" spc="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one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side</a:t>
            </a:r>
            <a:r>
              <a:rPr sz="1750" spc="-25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750" spc="-25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1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remaining</a:t>
            </a:r>
            <a:r>
              <a:rPr sz="1750" spc="-229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7</a:t>
            </a:r>
            <a:r>
              <a:rPr sz="1750" spc="-1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points</a:t>
            </a:r>
            <a:r>
              <a:rPr sz="1750" spc="-1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lie</a:t>
            </a:r>
            <a:r>
              <a:rPr sz="1750" spc="-20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on</a:t>
            </a:r>
            <a:r>
              <a:rPr sz="1750" spc="-2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other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side</a:t>
            </a:r>
            <a:r>
              <a:rPr sz="1750" spc="-1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plane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74293" y="5238445"/>
            <a:ext cx="689610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(0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-6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-4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1)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916429" y="5238445"/>
            <a:ext cx="689610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(1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-6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-4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1)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15442" y="5500217"/>
            <a:ext cx="26479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781415" y="5588609"/>
            <a:ext cx="196215" cy="2197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50" spc="-25" dirty="0">
                <a:solidFill>
                  <a:srgbClr val="213739"/>
                </a:solidFill>
                <a:latin typeface="Arial MT"/>
                <a:cs typeface="Arial MT"/>
              </a:rPr>
              <a:t>17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36" name="object 36" descr="$PPTXTitle"/>
          <p:cNvSpPr txBox="1">
            <a:spLocks noGrp="1"/>
          </p:cNvSpPr>
          <p:nvPr>
            <p:ph type="title"/>
          </p:nvPr>
        </p:nvSpPr>
        <p:spPr>
          <a:xfrm>
            <a:off x="1788414" y="827278"/>
            <a:ext cx="9429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solidFill>
                  <a:srgbClr val="000000"/>
                </a:solidFill>
                <a:latin typeface="Calibri"/>
                <a:cs typeface="Calibri"/>
              </a:rPr>
              <a:t>y</a:t>
            </a:r>
            <a:r>
              <a:rPr sz="1800" i="1" spc="2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0000"/>
                </a:solidFill>
                <a:latin typeface="Lucida Sans Unicode"/>
                <a:cs typeface="Lucida Sans Unicode"/>
              </a:rPr>
              <a:t>∈</a:t>
            </a:r>
            <a:r>
              <a:rPr sz="1800" spc="-254" dirty="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000000"/>
                </a:solidFill>
                <a:latin typeface="Lucida Sans Unicode"/>
                <a:cs typeface="Lucida Sans Unicode"/>
              </a:rPr>
              <a:t>{</a:t>
            </a:r>
            <a:r>
              <a:rPr sz="1800" dirty="0">
                <a:solidFill>
                  <a:srgbClr val="000000"/>
                </a:solidFill>
                <a:latin typeface="Calibri"/>
                <a:cs typeface="Calibri"/>
              </a:rPr>
              <a:t>0</a:t>
            </a:r>
            <a:r>
              <a:rPr sz="1800" i="1" dirty="0">
                <a:solidFill>
                  <a:srgbClr val="000000"/>
                </a:solidFill>
                <a:latin typeface="Calibri"/>
                <a:cs typeface="Calibri"/>
              </a:rPr>
              <a:t>,</a:t>
            </a:r>
            <a:r>
              <a:rPr sz="1800" i="1" spc="5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000000"/>
                </a:solidFill>
                <a:latin typeface="Calibri"/>
                <a:cs typeface="Calibri"/>
              </a:rPr>
              <a:t>1</a:t>
            </a:r>
            <a:r>
              <a:rPr sz="1800" spc="-25" dirty="0">
                <a:solidFill>
                  <a:srgbClr val="000000"/>
                </a:solidFill>
                <a:latin typeface="Lucida Sans Unicode"/>
                <a:cs typeface="Lucida Sans Unicode"/>
              </a:rPr>
              <a:t>}</a:t>
            </a:r>
            <a:endParaRPr sz="1800">
              <a:latin typeface="Lucida Sans Unicode"/>
              <a:cs typeface="Lucida Sans Unicode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1839404" y="1420812"/>
            <a:ext cx="574675" cy="574040"/>
            <a:chOff x="1839404" y="1420812"/>
            <a:chExt cx="574675" cy="574040"/>
          </a:xfrm>
        </p:grpSpPr>
        <p:sp>
          <p:nvSpPr>
            <p:cNvPr id="38" name="object 38"/>
            <p:cNvSpPr/>
            <p:nvPr/>
          </p:nvSpPr>
          <p:spPr>
            <a:xfrm>
              <a:off x="1840992" y="1422400"/>
              <a:ext cx="571500" cy="285750"/>
            </a:xfrm>
            <a:custGeom>
              <a:avLst/>
              <a:gdLst/>
              <a:ahLst/>
              <a:cxnLst/>
              <a:rect l="l" t="t" r="r" b="b"/>
              <a:pathLst>
                <a:path w="571500" h="285750">
                  <a:moveTo>
                    <a:pt x="285495" y="0"/>
                  </a:moveTo>
                  <a:lnTo>
                    <a:pt x="209550" y="10160"/>
                  </a:lnTo>
                  <a:lnTo>
                    <a:pt x="141350" y="38988"/>
                  </a:lnTo>
                  <a:lnTo>
                    <a:pt x="83693" y="83565"/>
                  </a:lnTo>
                  <a:lnTo>
                    <a:pt x="38988" y="141350"/>
                  </a:lnTo>
                  <a:lnTo>
                    <a:pt x="10159" y="209550"/>
                  </a:lnTo>
                  <a:lnTo>
                    <a:pt x="0" y="285496"/>
                  </a:lnTo>
                  <a:lnTo>
                    <a:pt x="570991" y="285496"/>
                  </a:lnTo>
                  <a:lnTo>
                    <a:pt x="560705" y="209550"/>
                  </a:lnTo>
                  <a:lnTo>
                    <a:pt x="532002" y="141350"/>
                  </a:lnTo>
                  <a:lnTo>
                    <a:pt x="487299" y="83565"/>
                  </a:lnTo>
                  <a:lnTo>
                    <a:pt x="429513" y="38988"/>
                  </a:lnTo>
                  <a:lnTo>
                    <a:pt x="361441" y="10160"/>
                  </a:lnTo>
                  <a:lnTo>
                    <a:pt x="285495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840992" y="1422400"/>
              <a:ext cx="571500" cy="570865"/>
            </a:xfrm>
            <a:custGeom>
              <a:avLst/>
              <a:gdLst/>
              <a:ahLst/>
              <a:cxnLst/>
              <a:rect l="l" t="t" r="r" b="b"/>
              <a:pathLst>
                <a:path w="571500" h="570864">
                  <a:moveTo>
                    <a:pt x="570991" y="285369"/>
                  </a:moveTo>
                  <a:lnTo>
                    <a:pt x="560705" y="209550"/>
                  </a:lnTo>
                  <a:lnTo>
                    <a:pt x="532002" y="141350"/>
                  </a:lnTo>
                  <a:lnTo>
                    <a:pt x="487299" y="83565"/>
                  </a:lnTo>
                  <a:lnTo>
                    <a:pt x="429513" y="38988"/>
                  </a:lnTo>
                  <a:lnTo>
                    <a:pt x="361441" y="10160"/>
                  </a:lnTo>
                  <a:lnTo>
                    <a:pt x="285495" y="0"/>
                  </a:lnTo>
                  <a:lnTo>
                    <a:pt x="209550" y="10160"/>
                  </a:lnTo>
                  <a:lnTo>
                    <a:pt x="141350" y="38988"/>
                  </a:lnTo>
                  <a:lnTo>
                    <a:pt x="83693" y="83565"/>
                  </a:lnTo>
                  <a:lnTo>
                    <a:pt x="38988" y="141350"/>
                  </a:lnTo>
                  <a:lnTo>
                    <a:pt x="10159" y="209550"/>
                  </a:lnTo>
                  <a:lnTo>
                    <a:pt x="0" y="285369"/>
                  </a:lnTo>
                  <a:lnTo>
                    <a:pt x="10159" y="361314"/>
                  </a:lnTo>
                  <a:lnTo>
                    <a:pt x="38988" y="429513"/>
                  </a:lnTo>
                  <a:lnTo>
                    <a:pt x="83693" y="487299"/>
                  </a:lnTo>
                  <a:lnTo>
                    <a:pt x="141350" y="531876"/>
                  </a:lnTo>
                  <a:lnTo>
                    <a:pt x="209550" y="560704"/>
                  </a:lnTo>
                  <a:lnTo>
                    <a:pt x="285495" y="570864"/>
                  </a:lnTo>
                  <a:lnTo>
                    <a:pt x="361441" y="560704"/>
                  </a:lnTo>
                  <a:lnTo>
                    <a:pt x="429513" y="531876"/>
                  </a:lnTo>
                  <a:lnTo>
                    <a:pt x="487299" y="487299"/>
                  </a:lnTo>
                  <a:lnTo>
                    <a:pt x="532002" y="429513"/>
                  </a:lnTo>
                  <a:lnTo>
                    <a:pt x="560705" y="361314"/>
                  </a:lnTo>
                  <a:lnTo>
                    <a:pt x="570991" y="285369"/>
                  </a:lnTo>
                  <a:close/>
                </a:path>
                <a:path w="571500" h="570864">
                  <a:moveTo>
                    <a:pt x="0" y="285369"/>
                  </a:moveTo>
                  <a:lnTo>
                    <a:pt x="570991" y="285369"/>
                  </a:lnTo>
                </a:path>
              </a:pathLst>
            </a:custGeom>
            <a:ln w="3175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8781415" y="5603912"/>
            <a:ext cx="196215" cy="206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spc="-25" dirty="0">
                <a:solidFill>
                  <a:srgbClr val="213739"/>
                </a:solidFill>
                <a:latin typeface="Arial MT"/>
                <a:cs typeface="Arial MT"/>
              </a:rPr>
              <a:t>18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570915" y="2091626"/>
            <a:ext cx="7993380" cy="256540"/>
          </a:xfrm>
          <a:prstGeom prst="rect">
            <a:avLst/>
          </a:prstGeom>
          <a:solidFill>
            <a:srgbClr val="013547"/>
          </a:solidFill>
        </p:spPr>
        <p:txBody>
          <a:bodyPr vert="horz" wrap="square" lIns="0" tIns="0" rIns="0" bIns="0" rtlCol="0">
            <a:spAutoFit/>
          </a:bodyPr>
          <a:lstStyle/>
          <a:p>
            <a:pPr marL="69850">
              <a:lnSpc>
                <a:spcPts val="1950"/>
              </a:lnSpc>
            </a:pPr>
            <a:r>
              <a:rPr sz="1750" b="1" spc="-145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1750" b="1" spc="-3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750" b="1" spc="-80" dirty="0">
                <a:solidFill>
                  <a:srgbClr val="FFFFFF"/>
                </a:solidFill>
                <a:latin typeface="Trebuchet MS"/>
                <a:cs typeface="Trebuchet MS"/>
              </a:rPr>
              <a:t>story</a:t>
            </a:r>
            <a:r>
              <a:rPr sz="1750" b="1" spc="-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750" b="1" spc="-45" dirty="0">
                <a:solidFill>
                  <a:srgbClr val="FFFFFF"/>
                </a:solidFill>
                <a:latin typeface="Trebuchet MS"/>
                <a:cs typeface="Trebuchet MS"/>
              </a:rPr>
              <a:t>so</a:t>
            </a:r>
            <a:r>
              <a:rPr sz="1750" b="1" spc="-1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750" b="1" spc="-75" dirty="0">
                <a:solidFill>
                  <a:srgbClr val="FFFFFF"/>
                </a:solidFill>
                <a:latin typeface="Trebuchet MS"/>
                <a:cs typeface="Trebuchet MS"/>
              </a:rPr>
              <a:t>far</a:t>
            </a:r>
            <a:r>
              <a:rPr sz="1750" b="1" spc="-1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750" b="1" spc="-25" dirty="0">
                <a:solidFill>
                  <a:srgbClr val="FFFFFF"/>
                </a:solidFill>
                <a:latin typeface="Trebuchet MS"/>
                <a:cs typeface="Trebuchet MS"/>
              </a:rPr>
              <a:t>...</a:t>
            </a:r>
            <a:endParaRPr sz="175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3444" y="2416810"/>
            <a:ext cx="7582534" cy="653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 marR="5080" indent="-5080">
              <a:lnSpc>
                <a:spcPct val="117700"/>
              </a:lnSpc>
              <a:spcBef>
                <a:spcPts val="100"/>
              </a:spcBef>
            </a:pP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Asingle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McCu</a:t>
            </a:r>
            <a:r>
              <a:rPr sz="1750" spc="-3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loch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Pitts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Neuron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can</a:t>
            </a:r>
            <a:r>
              <a:rPr sz="1750" spc="-1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be</a:t>
            </a:r>
            <a:r>
              <a:rPr sz="1750" spc="-1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used</a:t>
            </a:r>
            <a:r>
              <a:rPr sz="1750" spc="-1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1750" spc="-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represent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boolean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functions</a:t>
            </a:r>
            <a:r>
              <a:rPr sz="1750" spc="-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which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are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linearly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separable</a:t>
            </a:r>
            <a:endParaRPr sz="175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8781415" y="5603912"/>
            <a:ext cx="196215" cy="206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spc="-25" dirty="0">
                <a:solidFill>
                  <a:srgbClr val="213739"/>
                </a:solidFill>
                <a:latin typeface="Arial MT"/>
                <a:cs typeface="Arial MT"/>
              </a:rPr>
              <a:t>20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570915" y="2031428"/>
            <a:ext cx="7993380" cy="256540"/>
          </a:xfrm>
          <a:prstGeom prst="rect">
            <a:avLst/>
          </a:prstGeom>
          <a:solidFill>
            <a:srgbClr val="013547"/>
          </a:solidFill>
        </p:spPr>
        <p:txBody>
          <a:bodyPr vert="horz" wrap="square" lIns="0" tIns="0" rIns="0" bIns="0" rtlCol="0">
            <a:spAutoFit/>
          </a:bodyPr>
          <a:lstStyle/>
          <a:p>
            <a:pPr marL="69850">
              <a:lnSpc>
                <a:spcPts val="1950"/>
              </a:lnSpc>
            </a:pPr>
            <a:r>
              <a:rPr sz="1750" b="1" spc="-145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1750" b="1" spc="-2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750" b="1" spc="-80" dirty="0">
                <a:solidFill>
                  <a:srgbClr val="FFFFFF"/>
                </a:solidFill>
                <a:latin typeface="Trebuchet MS"/>
                <a:cs typeface="Trebuchet MS"/>
              </a:rPr>
              <a:t>story</a:t>
            </a:r>
            <a:r>
              <a:rPr sz="1750" b="1" spc="-1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750" b="1" spc="-135" dirty="0">
                <a:solidFill>
                  <a:srgbClr val="FFFFFF"/>
                </a:solidFill>
                <a:latin typeface="Trebuchet MS"/>
                <a:cs typeface="Trebuchet MS"/>
              </a:rPr>
              <a:t>ahead</a:t>
            </a:r>
            <a:r>
              <a:rPr sz="1750" b="1" spc="-1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750" b="1" spc="-25" dirty="0">
                <a:solidFill>
                  <a:srgbClr val="FFFFFF"/>
                </a:solidFill>
                <a:latin typeface="Trebuchet MS"/>
                <a:cs typeface="Trebuchet MS"/>
              </a:rPr>
              <a:t>...</a:t>
            </a:r>
            <a:endParaRPr sz="175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4968" y="2433269"/>
            <a:ext cx="3912235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What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about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non-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boolean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(say,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real)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inputs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?</a:t>
            </a:r>
            <a:endParaRPr sz="175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8781415" y="5603912"/>
            <a:ext cx="196215" cy="206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spc="-25" dirty="0">
                <a:solidFill>
                  <a:srgbClr val="213739"/>
                </a:solidFill>
                <a:latin typeface="Arial MT"/>
                <a:cs typeface="Arial MT"/>
              </a:rPr>
              <a:t>20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570915" y="2031428"/>
            <a:ext cx="7993380" cy="256540"/>
          </a:xfrm>
          <a:prstGeom prst="rect">
            <a:avLst/>
          </a:prstGeom>
          <a:solidFill>
            <a:srgbClr val="013547"/>
          </a:solidFill>
        </p:spPr>
        <p:txBody>
          <a:bodyPr vert="horz" wrap="square" lIns="0" tIns="0" rIns="0" bIns="0" rtlCol="0">
            <a:spAutoFit/>
          </a:bodyPr>
          <a:lstStyle/>
          <a:p>
            <a:pPr marL="69850">
              <a:lnSpc>
                <a:spcPts val="1950"/>
              </a:lnSpc>
            </a:pPr>
            <a:r>
              <a:rPr sz="1750" b="1" spc="-145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1750" b="1" spc="-2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750" b="1" spc="-80" dirty="0">
                <a:solidFill>
                  <a:srgbClr val="FFFFFF"/>
                </a:solidFill>
                <a:latin typeface="Trebuchet MS"/>
                <a:cs typeface="Trebuchet MS"/>
              </a:rPr>
              <a:t>story</a:t>
            </a:r>
            <a:r>
              <a:rPr sz="1750" b="1" spc="-1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750" b="1" spc="-135" dirty="0">
                <a:solidFill>
                  <a:srgbClr val="FFFFFF"/>
                </a:solidFill>
                <a:latin typeface="Trebuchet MS"/>
                <a:cs typeface="Trebuchet MS"/>
              </a:rPr>
              <a:t>ahead</a:t>
            </a:r>
            <a:r>
              <a:rPr sz="1750" b="1" spc="-1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750" b="1" spc="-25" dirty="0">
                <a:solidFill>
                  <a:srgbClr val="FFFFFF"/>
                </a:solidFill>
                <a:latin typeface="Trebuchet MS"/>
                <a:cs typeface="Trebuchet MS"/>
              </a:rPr>
              <a:t>...</a:t>
            </a:r>
            <a:endParaRPr sz="175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4968" y="2317495"/>
            <a:ext cx="4312920" cy="787400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What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about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non-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boolean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(say,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real)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inputs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?</a:t>
            </a:r>
            <a:endParaRPr sz="17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Do</a:t>
            </a:r>
            <a:r>
              <a:rPr sz="1750" spc="-1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always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need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1750" spc="-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hand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code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threshold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?</a:t>
            </a:r>
            <a:endParaRPr sz="175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8781415" y="5603912"/>
            <a:ext cx="196215" cy="206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spc="-25" dirty="0">
                <a:solidFill>
                  <a:srgbClr val="213739"/>
                </a:solidFill>
                <a:latin typeface="Arial MT"/>
                <a:cs typeface="Arial MT"/>
              </a:rPr>
              <a:t>20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570915" y="2031428"/>
            <a:ext cx="7993380" cy="256540"/>
          </a:xfrm>
          <a:prstGeom prst="rect">
            <a:avLst/>
          </a:prstGeom>
          <a:solidFill>
            <a:srgbClr val="013547"/>
          </a:solidFill>
        </p:spPr>
        <p:txBody>
          <a:bodyPr vert="horz" wrap="square" lIns="0" tIns="0" rIns="0" bIns="0" rtlCol="0">
            <a:spAutoFit/>
          </a:bodyPr>
          <a:lstStyle/>
          <a:p>
            <a:pPr marL="69850">
              <a:lnSpc>
                <a:spcPts val="1950"/>
              </a:lnSpc>
            </a:pPr>
            <a:r>
              <a:rPr sz="1750" b="1" spc="-145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1750" b="1" spc="-2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750" b="1" spc="-80" dirty="0">
                <a:solidFill>
                  <a:srgbClr val="FFFFFF"/>
                </a:solidFill>
                <a:latin typeface="Trebuchet MS"/>
                <a:cs typeface="Trebuchet MS"/>
              </a:rPr>
              <a:t>story</a:t>
            </a:r>
            <a:r>
              <a:rPr sz="1750" b="1" spc="-1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750" b="1" spc="-135" dirty="0">
                <a:solidFill>
                  <a:srgbClr val="FFFFFF"/>
                </a:solidFill>
                <a:latin typeface="Trebuchet MS"/>
                <a:cs typeface="Trebuchet MS"/>
              </a:rPr>
              <a:t>ahead</a:t>
            </a:r>
            <a:r>
              <a:rPr sz="1750" b="1" spc="-1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750" b="1" spc="-25" dirty="0">
                <a:solidFill>
                  <a:srgbClr val="FFFFFF"/>
                </a:solidFill>
                <a:latin typeface="Trebuchet MS"/>
                <a:cs typeface="Trebuchet MS"/>
              </a:rPr>
              <a:t>...</a:t>
            </a:r>
            <a:endParaRPr sz="175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3444" y="2317495"/>
            <a:ext cx="7019290" cy="1450340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0"/>
              </a:spcBef>
            </a:pP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What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about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non-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boolean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(say,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real)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inputs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?</a:t>
            </a:r>
            <a:endParaRPr sz="1750">
              <a:latin typeface="Arial MT"/>
              <a:cs typeface="Arial MT"/>
            </a:endParaRPr>
          </a:p>
          <a:p>
            <a:pPr marL="13970">
              <a:lnSpc>
                <a:spcPct val="100000"/>
              </a:lnSpc>
              <a:spcBef>
                <a:spcPts val="900"/>
              </a:spcBef>
            </a:pP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Do</a:t>
            </a:r>
            <a:r>
              <a:rPr sz="1750" spc="-1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always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need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1750" spc="-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hand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code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threshold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?</a:t>
            </a:r>
            <a:endParaRPr sz="1750">
              <a:latin typeface="Arial MT"/>
              <a:cs typeface="Arial MT"/>
            </a:endParaRPr>
          </a:p>
          <a:p>
            <a:pPr marL="12700" marR="5080">
              <a:lnSpc>
                <a:spcPct val="117700"/>
              </a:lnSpc>
              <a:spcBef>
                <a:spcPts val="275"/>
              </a:spcBef>
              <a:tabLst>
                <a:tab pos="742315" algn="l"/>
              </a:tabLst>
            </a:pP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Are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all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inputs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equal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?</a:t>
            </a:r>
            <a:r>
              <a:rPr sz="1750" spc="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What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if</a:t>
            </a:r>
            <a:r>
              <a:rPr sz="1750" spc="-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want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 to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assign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more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weight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(importance)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to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some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	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inputs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?</a:t>
            </a:r>
            <a:endParaRPr sz="175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8781415" y="5603912"/>
            <a:ext cx="196215" cy="206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spc="-25" dirty="0">
                <a:solidFill>
                  <a:srgbClr val="213739"/>
                </a:solidFill>
                <a:latin typeface="Arial MT"/>
                <a:cs typeface="Arial MT"/>
              </a:rPr>
              <a:t>20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570915" y="2031428"/>
            <a:ext cx="7993380" cy="256540"/>
          </a:xfrm>
          <a:prstGeom prst="rect">
            <a:avLst/>
          </a:prstGeom>
          <a:solidFill>
            <a:srgbClr val="013547"/>
          </a:solidFill>
        </p:spPr>
        <p:txBody>
          <a:bodyPr vert="horz" wrap="square" lIns="0" tIns="0" rIns="0" bIns="0" rtlCol="0">
            <a:spAutoFit/>
          </a:bodyPr>
          <a:lstStyle/>
          <a:p>
            <a:pPr marL="69850">
              <a:lnSpc>
                <a:spcPts val="1950"/>
              </a:lnSpc>
            </a:pPr>
            <a:r>
              <a:rPr sz="1750" b="1" spc="-145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1750" b="1" spc="-2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750" b="1" spc="-80" dirty="0">
                <a:solidFill>
                  <a:srgbClr val="FFFFFF"/>
                </a:solidFill>
                <a:latin typeface="Trebuchet MS"/>
                <a:cs typeface="Trebuchet MS"/>
              </a:rPr>
              <a:t>story</a:t>
            </a:r>
            <a:r>
              <a:rPr sz="1750" b="1" spc="-1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750" b="1" spc="-135" dirty="0">
                <a:solidFill>
                  <a:srgbClr val="FFFFFF"/>
                </a:solidFill>
                <a:latin typeface="Trebuchet MS"/>
                <a:cs typeface="Trebuchet MS"/>
              </a:rPr>
              <a:t>ahead</a:t>
            </a:r>
            <a:r>
              <a:rPr sz="1750" b="1" spc="-1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750" b="1" spc="-25" dirty="0">
                <a:solidFill>
                  <a:srgbClr val="FFFFFF"/>
                </a:solidFill>
                <a:latin typeface="Trebuchet MS"/>
                <a:cs typeface="Trebuchet MS"/>
              </a:rPr>
              <a:t>...</a:t>
            </a:r>
            <a:endParaRPr sz="175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3444" y="2317495"/>
            <a:ext cx="7019290" cy="1845310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0"/>
              </a:spcBef>
            </a:pP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What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about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non-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boolean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(say,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real)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inputs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?</a:t>
            </a:r>
            <a:endParaRPr sz="1750">
              <a:latin typeface="Arial MT"/>
              <a:cs typeface="Arial MT"/>
            </a:endParaRPr>
          </a:p>
          <a:p>
            <a:pPr marL="13970">
              <a:lnSpc>
                <a:spcPct val="100000"/>
              </a:lnSpc>
              <a:spcBef>
                <a:spcPts val="900"/>
              </a:spcBef>
            </a:pP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Do</a:t>
            </a:r>
            <a:r>
              <a:rPr sz="1750" spc="-1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always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need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1750" spc="-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hand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code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threshold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?</a:t>
            </a:r>
            <a:endParaRPr sz="1750">
              <a:latin typeface="Arial MT"/>
              <a:cs typeface="Arial MT"/>
            </a:endParaRPr>
          </a:p>
          <a:p>
            <a:pPr marL="12700" marR="5080">
              <a:lnSpc>
                <a:spcPct val="117700"/>
              </a:lnSpc>
              <a:spcBef>
                <a:spcPts val="275"/>
              </a:spcBef>
            </a:pP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Are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all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inputs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equal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?</a:t>
            </a:r>
            <a:r>
              <a:rPr sz="1750" spc="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What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if</a:t>
            </a:r>
            <a:r>
              <a:rPr sz="1750" spc="-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want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 to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assign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more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weight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(importance)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to some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inputs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?</a:t>
            </a:r>
            <a:endParaRPr sz="1750">
              <a:latin typeface="Arial MT"/>
              <a:cs typeface="Arial MT"/>
            </a:endParaRPr>
          </a:p>
          <a:p>
            <a:pPr marL="13970">
              <a:lnSpc>
                <a:spcPct val="100000"/>
              </a:lnSpc>
              <a:spcBef>
                <a:spcPts val="1010"/>
              </a:spcBef>
            </a:pP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What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about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functions</a:t>
            </a:r>
            <a:r>
              <a:rPr sz="1750" spc="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which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are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not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linearly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separable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?</a:t>
            </a:r>
            <a:endParaRPr sz="175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676400"/>
            <a:ext cx="4419600" cy="609600"/>
          </a:xfrm>
          <a:custGeom>
            <a:avLst/>
            <a:gdLst/>
            <a:ahLst/>
            <a:cxnLst/>
            <a:rect l="l" t="t" r="r" b="b"/>
            <a:pathLst>
              <a:path w="4419600" h="609600">
                <a:moveTo>
                  <a:pt x="4419600" y="0"/>
                </a:moveTo>
                <a:lnTo>
                  <a:pt x="0" y="0"/>
                </a:lnTo>
                <a:lnTo>
                  <a:pt x="0" y="609600"/>
                </a:lnTo>
                <a:lnTo>
                  <a:pt x="4419600" y="609600"/>
                </a:lnTo>
                <a:lnTo>
                  <a:pt x="441960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25400" y="-25400"/>
            <a:ext cx="9194800" cy="6908800"/>
            <a:chOff x="-25400" y="-25400"/>
            <a:chExt cx="9194800" cy="6908800"/>
          </a:xfrm>
        </p:grpSpPr>
        <p:sp>
          <p:nvSpPr>
            <p:cNvPr id="4" name="object 4"/>
            <p:cNvSpPr/>
            <p:nvPr/>
          </p:nvSpPr>
          <p:spPr>
            <a:xfrm>
              <a:off x="1447800" y="6629399"/>
              <a:ext cx="7696200" cy="228600"/>
            </a:xfrm>
            <a:custGeom>
              <a:avLst/>
              <a:gdLst/>
              <a:ahLst/>
              <a:cxnLst/>
              <a:rect l="l" t="t" r="r" b="b"/>
              <a:pathLst>
                <a:path w="7696200" h="228600">
                  <a:moveTo>
                    <a:pt x="0" y="228600"/>
                  </a:moveTo>
                  <a:lnTo>
                    <a:pt x="7696200" y="228600"/>
                  </a:lnTo>
                  <a:lnTo>
                    <a:pt x="76962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EE8B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629399"/>
              <a:ext cx="1447800" cy="228600"/>
            </a:xfrm>
            <a:custGeom>
              <a:avLst/>
              <a:gdLst/>
              <a:ahLst/>
              <a:cxnLst/>
              <a:rect l="l" t="t" r="r" b="b"/>
              <a:pathLst>
                <a:path w="1447800" h="228600">
                  <a:moveTo>
                    <a:pt x="14478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1447800" y="228600"/>
                  </a:lnTo>
                  <a:lnTo>
                    <a:pt x="14478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l" t="t" r="r" b="b"/>
              <a:pathLst>
                <a:path w="9144000" h="6858000">
                  <a:moveTo>
                    <a:pt x="0" y="6858000"/>
                  </a:moveTo>
                  <a:lnTo>
                    <a:pt x="9144000" y="685800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6858000"/>
                  </a:lnTo>
                  <a:close/>
                </a:path>
              </a:pathLst>
            </a:custGeom>
            <a:ln w="508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529319" y="6428638"/>
            <a:ext cx="1720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19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7261" y="6643369"/>
            <a:ext cx="1173480" cy="241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20"/>
              </a:lnSpc>
            </a:pPr>
            <a:r>
              <a:rPr sz="1700" b="1" dirty="0">
                <a:solidFill>
                  <a:srgbClr val="FFFFFF"/>
                </a:solidFill>
                <a:latin typeface="Calibri"/>
                <a:cs typeface="Calibri"/>
              </a:rPr>
              <a:t>NIT</a:t>
            </a:r>
            <a:r>
              <a:rPr sz="17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b="1" spc="-10" dirty="0">
                <a:solidFill>
                  <a:srgbClr val="FFFFFF"/>
                </a:solidFill>
                <a:latin typeface="Calibri"/>
                <a:cs typeface="Calibri"/>
              </a:rPr>
              <a:t>Rourkela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568188" y="6658229"/>
            <a:ext cx="293687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dirty="0">
                <a:latin typeface="Calibri"/>
                <a:cs typeface="Calibri"/>
              </a:rPr>
              <a:t>“Deep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Learning: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Neuron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to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Perceptron”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739" y="1697863"/>
            <a:ext cx="235775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b="1" spc="-110" dirty="0">
                <a:solidFill>
                  <a:srgbClr val="FFFFFF"/>
                </a:solidFill>
                <a:latin typeface="Trebuchet MS"/>
                <a:cs typeface="Trebuchet MS"/>
              </a:rPr>
              <a:t>Perceptron</a:t>
            </a:r>
            <a:endParaRPr sz="320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1880" y="3011551"/>
            <a:ext cx="86042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620395" algn="l"/>
              </a:tabLst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00808" y="2992373"/>
            <a:ext cx="129539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..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72054" y="2992373"/>
            <a:ext cx="129539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..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59861" y="3011551"/>
            <a:ext cx="27559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5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i="1" spc="75" baseline="-8888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endParaRPr sz="1875" baseline="-8888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64562" y="1320048"/>
            <a:ext cx="2020570" cy="1821814"/>
            <a:chOff x="964562" y="1320048"/>
            <a:chExt cx="2020570" cy="1821814"/>
          </a:xfrm>
        </p:grpSpPr>
        <p:sp>
          <p:nvSpPr>
            <p:cNvPr id="7" name="object 7"/>
            <p:cNvSpPr/>
            <p:nvPr/>
          </p:nvSpPr>
          <p:spPr>
            <a:xfrm>
              <a:off x="1689226" y="1743583"/>
              <a:ext cx="571500" cy="570865"/>
            </a:xfrm>
            <a:custGeom>
              <a:avLst/>
              <a:gdLst/>
              <a:ahLst/>
              <a:cxnLst/>
              <a:rect l="l" t="t" r="r" b="b"/>
              <a:pathLst>
                <a:path w="571500" h="570864">
                  <a:moveTo>
                    <a:pt x="285496" y="0"/>
                  </a:moveTo>
                  <a:lnTo>
                    <a:pt x="209550" y="10159"/>
                  </a:lnTo>
                  <a:lnTo>
                    <a:pt x="141350" y="38988"/>
                  </a:lnTo>
                  <a:lnTo>
                    <a:pt x="83566" y="83565"/>
                  </a:lnTo>
                  <a:lnTo>
                    <a:pt x="38989" y="141350"/>
                  </a:lnTo>
                  <a:lnTo>
                    <a:pt x="10160" y="209550"/>
                  </a:lnTo>
                  <a:lnTo>
                    <a:pt x="0" y="285495"/>
                  </a:lnTo>
                  <a:lnTo>
                    <a:pt x="10160" y="361314"/>
                  </a:lnTo>
                  <a:lnTo>
                    <a:pt x="38989" y="429513"/>
                  </a:lnTo>
                  <a:lnTo>
                    <a:pt x="83566" y="487299"/>
                  </a:lnTo>
                  <a:lnTo>
                    <a:pt x="141350" y="531876"/>
                  </a:lnTo>
                  <a:lnTo>
                    <a:pt x="209550" y="560704"/>
                  </a:lnTo>
                  <a:lnTo>
                    <a:pt x="285496" y="570864"/>
                  </a:lnTo>
                  <a:lnTo>
                    <a:pt x="361315" y="560704"/>
                  </a:lnTo>
                  <a:lnTo>
                    <a:pt x="429514" y="531876"/>
                  </a:lnTo>
                  <a:lnTo>
                    <a:pt x="487299" y="487299"/>
                  </a:lnTo>
                  <a:lnTo>
                    <a:pt x="532003" y="429513"/>
                  </a:lnTo>
                  <a:lnTo>
                    <a:pt x="560705" y="361314"/>
                  </a:lnTo>
                  <a:lnTo>
                    <a:pt x="570992" y="285495"/>
                  </a:lnTo>
                  <a:lnTo>
                    <a:pt x="560705" y="209550"/>
                  </a:lnTo>
                  <a:lnTo>
                    <a:pt x="532003" y="141350"/>
                  </a:lnTo>
                  <a:lnTo>
                    <a:pt x="487299" y="83565"/>
                  </a:lnTo>
                  <a:lnTo>
                    <a:pt x="429514" y="38988"/>
                  </a:lnTo>
                  <a:lnTo>
                    <a:pt x="361315" y="10159"/>
                  </a:lnTo>
                  <a:lnTo>
                    <a:pt x="285496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689226" y="1743583"/>
              <a:ext cx="571500" cy="570865"/>
            </a:xfrm>
            <a:custGeom>
              <a:avLst/>
              <a:gdLst/>
              <a:ahLst/>
              <a:cxnLst/>
              <a:rect l="l" t="t" r="r" b="b"/>
              <a:pathLst>
                <a:path w="571500" h="570864">
                  <a:moveTo>
                    <a:pt x="570992" y="285495"/>
                  </a:moveTo>
                  <a:lnTo>
                    <a:pt x="560705" y="209550"/>
                  </a:lnTo>
                  <a:lnTo>
                    <a:pt x="532003" y="141350"/>
                  </a:lnTo>
                  <a:lnTo>
                    <a:pt x="487299" y="83565"/>
                  </a:lnTo>
                  <a:lnTo>
                    <a:pt x="429514" y="38988"/>
                  </a:lnTo>
                  <a:lnTo>
                    <a:pt x="361315" y="10159"/>
                  </a:lnTo>
                  <a:lnTo>
                    <a:pt x="285496" y="0"/>
                  </a:lnTo>
                  <a:lnTo>
                    <a:pt x="209550" y="10159"/>
                  </a:lnTo>
                  <a:lnTo>
                    <a:pt x="141350" y="38988"/>
                  </a:lnTo>
                  <a:lnTo>
                    <a:pt x="83566" y="83565"/>
                  </a:lnTo>
                  <a:lnTo>
                    <a:pt x="38989" y="141350"/>
                  </a:lnTo>
                  <a:lnTo>
                    <a:pt x="10160" y="209550"/>
                  </a:lnTo>
                  <a:lnTo>
                    <a:pt x="0" y="285495"/>
                  </a:lnTo>
                  <a:lnTo>
                    <a:pt x="10160" y="361314"/>
                  </a:lnTo>
                  <a:lnTo>
                    <a:pt x="38989" y="429513"/>
                  </a:lnTo>
                  <a:lnTo>
                    <a:pt x="83566" y="487299"/>
                  </a:lnTo>
                  <a:lnTo>
                    <a:pt x="141350" y="531876"/>
                  </a:lnTo>
                  <a:lnTo>
                    <a:pt x="209550" y="560704"/>
                  </a:lnTo>
                  <a:lnTo>
                    <a:pt x="285496" y="570864"/>
                  </a:lnTo>
                  <a:lnTo>
                    <a:pt x="361315" y="560704"/>
                  </a:lnTo>
                  <a:lnTo>
                    <a:pt x="429514" y="531876"/>
                  </a:lnTo>
                  <a:lnTo>
                    <a:pt x="487299" y="487299"/>
                  </a:lnTo>
                  <a:lnTo>
                    <a:pt x="532003" y="429513"/>
                  </a:lnTo>
                  <a:lnTo>
                    <a:pt x="560705" y="361314"/>
                  </a:lnTo>
                  <a:lnTo>
                    <a:pt x="570992" y="285495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67092" y="2247646"/>
              <a:ext cx="800100" cy="839469"/>
            </a:xfrm>
            <a:custGeom>
              <a:avLst/>
              <a:gdLst/>
              <a:ahLst/>
              <a:cxnLst/>
              <a:rect l="l" t="t" r="r" b="b"/>
              <a:pathLst>
                <a:path w="800100" h="839469">
                  <a:moveTo>
                    <a:pt x="0" y="839342"/>
                  </a:moveTo>
                  <a:lnTo>
                    <a:pt x="799477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03076" y="2239143"/>
              <a:ext cx="74790" cy="7161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470913" y="2301875"/>
              <a:ext cx="374015" cy="785495"/>
            </a:xfrm>
            <a:custGeom>
              <a:avLst/>
              <a:gdLst/>
              <a:ahLst/>
              <a:cxnLst/>
              <a:rect l="l" t="t" r="r" b="b"/>
              <a:pathLst>
                <a:path w="374014" h="785494">
                  <a:moveTo>
                    <a:pt x="0" y="785113"/>
                  </a:moveTo>
                  <a:lnTo>
                    <a:pt x="373888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82448" y="2295782"/>
              <a:ext cx="92195" cy="6362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926589" y="2301875"/>
              <a:ext cx="577215" cy="837565"/>
            </a:xfrm>
            <a:custGeom>
              <a:avLst/>
              <a:gdLst/>
              <a:ahLst/>
              <a:cxnLst/>
              <a:rect l="l" t="t" r="r" b="b"/>
              <a:pathLst>
                <a:path w="577214" h="837564">
                  <a:moveTo>
                    <a:pt x="48133" y="837311"/>
                  </a:moveTo>
                  <a:lnTo>
                    <a:pt x="48133" y="28701"/>
                  </a:lnTo>
                </a:path>
                <a:path w="577214" h="837564">
                  <a:moveTo>
                    <a:pt x="0" y="66421"/>
                  </a:moveTo>
                  <a:lnTo>
                    <a:pt x="18923" y="59054"/>
                  </a:lnTo>
                  <a:lnTo>
                    <a:pt x="32766" y="49149"/>
                  </a:lnTo>
                  <a:lnTo>
                    <a:pt x="42291" y="37337"/>
                  </a:lnTo>
                  <a:lnTo>
                    <a:pt x="48133" y="24637"/>
                  </a:lnTo>
                  <a:lnTo>
                    <a:pt x="53975" y="37337"/>
                  </a:lnTo>
                  <a:lnTo>
                    <a:pt x="63500" y="49149"/>
                  </a:lnTo>
                  <a:lnTo>
                    <a:pt x="77343" y="59054"/>
                  </a:lnTo>
                  <a:lnTo>
                    <a:pt x="96266" y="66421"/>
                  </a:lnTo>
                </a:path>
                <a:path w="577214" h="837564">
                  <a:moveTo>
                    <a:pt x="576707" y="837311"/>
                  </a:moveTo>
                  <a:lnTo>
                    <a:pt x="178054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74802" y="2295782"/>
              <a:ext cx="92195" cy="6362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182875" y="2247646"/>
              <a:ext cx="799465" cy="839469"/>
            </a:xfrm>
            <a:custGeom>
              <a:avLst/>
              <a:gdLst/>
              <a:ahLst/>
              <a:cxnLst/>
              <a:rect l="l" t="t" r="r" b="b"/>
              <a:pathLst>
                <a:path w="799464" h="839469">
                  <a:moveTo>
                    <a:pt x="799465" y="839342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71452" y="2239143"/>
              <a:ext cx="74917" cy="71615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926589" y="1322578"/>
              <a:ext cx="96520" cy="413384"/>
            </a:xfrm>
            <a:custGeom>
              <a:avLst/>
              <a:gdLst/>
              <a:ahLst/>
              <a:cxnLst/>
              <a:rect l="l" t="t" r="r" b="b"/>
              <a:pathLst>
                <a:path w="96519" h="413385">
                  <a:moveTo>
                    <a:pt x="48133" y="413004"/>
                  </a:moveTo>
                  <a:lnTo>
                    <a:pt x="48133" y="3937"/>
                  </a:lnTo>
                </a:path>
                <a:path w="96519" h="413385">
                  <a:moveTo>
                    <a:pt x="0" y="41656"/>
                  </a:moveTo>
                  <a:lnTo>
                    <a:pt x="18923" y="34417"/>
                  </a:lnTo>
                  <a:lnTo>
                    <a:pt x="32766" y="24384"/>
                  </a:lnTo>
                  <a:lnTo>
                    <a:pt x="42291" y="12700"/>
                  </a:lnTo>
                  <a:lnTo>
                    <a:pt x="48133" y="0"/>
                  </a:lnTo>
                  <a:lnTo>
                    <a:pt x="53975" y="12700"/>
                  </a:lnTo>
                  <a:lnTo>
                    <a:pt x="63500" y="24384"/>
                  </a:lnTo>
                  <a:lnTo>
                    <a:pt x="77343" y="34417"/>
                  </a:lnTo>
                  <a:lnTo>
                    <a:pt x="96266" y="41656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904238" y="950722"/>
            <a:ext cx="12446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y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781415" y="5604826"/>
            <a:ext cx="196215" cy="206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spc="-25" dirty="0">
                <a:solidFill>
                  <a:srgbClr val="213739"/>
                </a:solidFill>
                <a:latin typeface="Arial MT"/>
                <a:cs typeface="Arial MT"/>
              </a:rPr>
              <a:t>21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37261" y="6643369"/>
            <a:ext cx="1173480" cy="241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20"/>
              </a:lnSpc>
            </a:pPr>
            <a:r>
              <a:rPr sz="1700" b="1" dirty="0">
                <a:solidFill>
                  <a:srgbClr val="FFFFFF"/>
                </a:solidFill>
                <a:latin typeface="Calibri"/>
                <a:cs typeface="Calibri"/>
              </a:rPr>
              <a:t>NIT</a:t>
            </a:r>
            <a:r>
              <a:rPr sz="17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b="1" spc="-10" dirty="0">
                <a:solidFill>
                  <a:srgbClr val="FFFFFF"/>
                </a:solidFill>
                <a:latin typeface="Calibri"/>
                <a:cs typeface="Calibri"/>
              </a:rPr>
              <a:t>Rourkela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568188" y="6658229"/>
            <a:ext cx="293687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dirty="0">
                <a:latin typeface="Calibri"/>
                <a:cs typeface="Calibri"/>
              </a:rPr>
              <a:t>“Deep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Learning: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Neuron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to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Perceptron”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51331" y="2658617"/>
            <a:ext cx="254635" cy="23050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35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425" spc="-37" baseline="-11695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425" baseline="-11695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322577" y="2658617"/>
            <a:ext cx="254635" cy="23050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35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425" spc="-37" baseline="-11695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425" baseline="-11695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799082" y="2642691"/>
            <a:ext cx="444500" cy="231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4965" algn="l"/>
              </a:tabLst>
            </a:pPr>
            <a:r>
              <a:rPr sz="1350" i="1" spc="-25" dirty="0">
                <a:solidFill>
                  <a:srgbClr val="213739"/>
                </a:solidFill>
                <a:latin typeface="Calibri"/>
                <a:cs typeface="Calibri"/>
              </a:rPr>
              <a:t>..</a:t>
            </a:r>
            <a:r>
              <a:rPr sz="13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350" i="1" spc="-25" dirty="0">
                <a:solidFill>
                  <a:srgbClr val="213739"/>
                </a:solidFill>
                <a:latin typeface="Calibri"/>
                <a:cs typeface="Calibri"/>
              </a:rPr>
              <a:t>..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457323" y="2658617"/>
            <a:ext cx="264795" cy="23050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35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425" i="1" spc="-37" baseline="-11695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endParaRPr sz="1425" baseline="-11695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381246" y="875537"/>
            <a:ext cx="4384040" cy="653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 marR="5080" indent="-5080">
              <a:lnSpc>
                <a:spcPct val="117700"/>
              </a:lnSpc>
              <a:spcBef>
                <a:spcPts val="100"/>
              </a:spcBef>
            </a:pP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Frank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Rosenblatt,</a:t>
            </a:r>
            <a:r>
              <a:rPr sz="1750" spc="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an</a:t>
            </a:r>
            <a:r>
              <a:rPr sz="1750" spc="-1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American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psychologist,</a:t>
            </a:r>
            <a:r>
              <a:rPr sz="1750" spc="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pro-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posed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spc="-100" dirty="0">
                <a:solidFill>
                  <a:srgbClr val="213739"/>
                </a:solidFill>
                <a:latin typeface="Trebuchet MS"/>
                <a:cs typeface="Trebuchet MS"/>
              </a:rPr>
              <a:t>classical</a:t>
            </a:r>
            <a:r>
              <a:rPr sz="1750" b="1" spc="-135" dirty="0">
                <a:solidFill>
                  <a:srgbClr val="213739"/>
                </a:solidFill>
                <a:latin typeface="Trebuchet MS"/>
                <a:cs typeface="Trebuchet MS"/>
              </a:rPr>
              <a:t> </a:t>
            </a:r>
            <a:r>
              <a:rPr sz="1750" b="1" spc="-165" dirty="0">
                <a:solidFill>
                  <a:srgbClr val="213739"/>
                </a:solidFill>
                <a:latin typeface="Trebuchet MS"/>
                <a:cs typeface="Trebuchet MS"/>
              </a:rPr>
              <a:t>perceptron</a:t>
            </a:r>
            <a:r>
              <a:rPr sz="1750" b="1" spc="-125" dirty="0">
                <a:solidFill>
                  <a:srgbClr val="213739"/>
                </a:solidFill>
                <a:latin typeface="Trebuchet MS"/>
                <a:cs typeface="Trebuchet MS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model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(1958)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24" name="object 2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Perceptron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1880" y="3011551"/>
            <a:ext cx="86042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620395" algn="l"/>
              </a:tabLst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00808" y="2992373"/>
            <a:ext cx="129539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..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72054" y="2992373"/>
            <a:ext cx="129539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..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59861" y="3011551"/>
            <a:ext cx="27559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5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i="1" spc="75" baseline="-8888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endParaRPr sz="1875" baseline="-8888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64562" y="1320048"/>
            <a:ext cx="2020570" cy="1821814"/>
            <a:chOff x="964562" y="1320048"/>
            <a:chExt cx="2020570" cy="1821814"/>
          </a:xfrm>
        </p:grpSpPr>
        <p:sp>
          <p:nvSpPr>
            <p:cNvPr id="7" name="object 7"/>
            <p:cNvSpPr/>
            <p:nvPr/>
          </p:nvSpPr>
          <p:spPr>
            <a:xfrm>
              <a:off x="1689226" y="1743583"/>
              <a:ext cx="571500" cy="570865"/>
            </a:xfrm>
            <a:custGeom>
              <a:avLst/>
              <a:gdLst/>
              <a:ahLst/>
              <a:cxnLst/>
              <a:rect l="l" t="t" r="r" b="b"/>
              <a:pathLst>
                <a:path w="571500" h="570864">
                  <a:moveTo>
                    <a:pt x="285496" y="0"/>
                  </a:moveTo>
                  <a:lnTo>
                    <a:pt x="209550" y="10159"/>
                  </a:lnTo>
                  <a:lnTo>
                    <a:pt x="141350" y="38988"/>
                  </a:lnTo>
                  <a:lnTo>
                    <a:pt x="83566" y="83565"/>
                  </a:lnTo>
                  <a:lnTo>
                    <a:pt x="38989" y="141350"/>
                  </a:lnTo>
                  <a:lnTo>
                    <a:pt x="10160" y="209550"/>
                  </a:lnTo>
                  <a:lnTo>
                    <a:pt x="0" y="285495"/>
                  </a:lnTo>
                  <a:lnTo>
                    <a:pt x="10160" y="361314"/>
                  </a:lnTo>
                  <a:lnTo>
                    <a:pt x="38989" y="429513"/>
                  </a:lnTo>
                  <a:lnTo>
                    <a:pt x="83566" y="487299"/>
                  </a:lnTo>
                  <a:lnTo>
                    <a:pt x="141350" y="531876"/>
                  </a:lnTo>
                  <a:lnTo>
                    <a:pt x="209550" y="560704"/>
                  </a:lnTo>
                  <a:lnTo>
                    <a:pt x="285496" y="570864"/>
                  </a:lnTo>
                  <a:lnTo>
                    <a:pt x="361315" y="560704"/>
                  </a:lnTo>
                  <a:lnTo>
                    <a:pt x="429514" y="531876"/>
                  </a:lnTo>
                  <a:lnTo>
                    <a:pt x="487299" y="487299"/>
                  </a:lnTo>
                  <a:lnTo>
                    <a:pt x="532003" y="429513"/>
                  </a:lnTo>
                  <a:lnTo>
                    <a:pt x="560705" y="361314"/>
                  </a:lnTo>
                  <a:lnTo>
                    <a:pt x="570992" y="285495"/>
                  </a:lnTo>
                  <a:lnTo>
                    <a:pt x="560705" y="209550"/>
                  </a:lnTo>
                  <a:lnTo>
                    <a:pt x="532003" y="141350"/>
                  </a:lnTo>
                  <a:lnTo>
                    <a:pt x="487299" y="83565"/>
                  </a:lnTo>
                  <a:lnTo>
                    <a:pt x="429514" y="38988"/>
                  </a:lnTo>
                  <a:lnTo>
                    <a:pt x="361315" y="10159"/>
                  </a:lnTo>
                  <a:lnTo>
                    <a:pt x="285496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689226" y="1743583"/>
              <a:ext cx="571500" cy="570865"/>
            </a:xfrm>
            <a:custGeom>
              <a:avLst/>
              <a:gdLst/>
              <a:ahLst/>
              <a:cxnLst/>
              <a:rect l="l" t="t" r="r" b="b"/>
              <a:pathLst>
                <a:path w="571500" h="570864">
                  <a:moveTo>
                    <a:pt x="570992" y="285495"/>
                  </a:moveTo>
                  <a:lnTo>
                    <a:pt x="560705" y="209550"/>
                  </a:lnTo>
                  <a:lnTo>
                    <a:pt x="532003" y="141350"/>
                  </a:lnTo>
                  <a:lnTo>
                    <a:pt x="487299" y="83565"/>
                  </a:lnTo>
                  <a:lnTo>
                    <a:pt x="429514" y="38988"/>
                  </a:lnTo>
                  <a:lnTo>
                    <a:pt x="361315" y="10159"/>
                  </a:lnTo>
                  <a:lnTo>
                    <a:pt x="285496" y="0"/>
                  </a:lnTo>
                  <a:lnTo>
                    <a:pt x="209550" y="10159"/>
                  </a:lnTo>
                  <a:lnTo>
                    <a:pt x="141350" y="38988"/>
                  </a:lnTo>
                  <a:lnTo>
                    <a:pt x="83566" y="83565"/>
                  </a:lnTo>
                  <a:lnTo>
                    <a:pt x="38989" y="141350"/>
                  </a:lnTo>
                  <a:lnTo>
                    <a:pt x="10160" y="209550"/>
                  </a:lnTo>
                  <a:lnTo>
                    <a:pt x="0" y="285495"/>
                  </a:lnTo>
                  <a:lnTo>
                    <a:pt x="10160" y="361314"/>
                  </a:lnTo>
                  <a:lnTo>
                    <a:pt x="38989" y="429513"/>
                  </a:lnTo>
                  <a:lnTo>
                    <a:pt x="83566" y="487299"/>
                  </a:lnTo>
                  <a:lnTo>
                    <a:pt x="141350" y="531876"/>
                  </a:lnTo>
                  <a:lnTo>
                    <a:pt x="209550" y="560704"/>
                  </a:lnTo>
                  <a:lnTo>
                    <a:pt x="285496" y="570864"/>
                  </a:lnTo>
                  <a:lnTo>
                    <a:pt x="361315" y="560704"/>
                  </a:lnTo>
                  <a:lnTo>
                    <a:pt x="429514" y="531876"/>
                  </a:lnTo>
                  <a:lnTo>
                    <a:pt x="487299" y="487299"/>
                  </a:lnTo>
                  <a:lnTo>
                    <a:pt x="532003" y="429513"/>
                  </a:lnTo>
                  <a:lnTo>
                    <a:pt x="560705" y="361314"/>
                  </a:lnTo>
                  <a:lnTo>
                    <a:pt x="570992" y="285495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67092" y="2247646"/>
              <a:ext cx="800100" cy="839469"/>
            </a:xfrm>
            <a:custGeom>
              <a:avLst/>
              <a:gdLst/>
              <a:ahLst/>
              <a:cxnLst/>
              <a:rect l="l" t="t" r="r" b="b"/>
              <a:pathLst>
                <a:path w="800100" h="839469">
                  <a:moveTo>
                    <a:pt x="0" y="839342"/>
                  </a:moveTo>
                  <a:lnTo>
                    <a:pt x="799477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03076" y="2239143"/>
              <a:ext cx="74790" cy="7161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470913" y="2301875"/>
              <a:ext cx="374015" cy="785495"/>
            </a:xfrm>
            <a:custGeom>
              <a:avLst/>
              <a:gdLst/>
              <a:ahLst/>
              <a:cxnLst/>
              <a:rect l="l" t="t" r="r" b="b"/>
              <a:pathLst>
                <a:path w="374014" h="785494">
                  <a:moveTo>
                    <a:pt x="0" y="785113"/>
                  </a:moveTo>
                  <a:lnTo>
                    <a:pt x="373888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82448" y="2295782"/>
              <a:ext cx="92195" cy="6362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926589" y="2301875"/>
              <a:ext cx="577215" cy="837565"/>
            </a:xfrm>
            <a:custGeom>
              <a:avLst/>
              <a:gdLst/>
              <a:ahLst/>
              <a:cxnLst/>
              <a:rect l="l" t="t" r="r" b="b"/>
              <a:pathLst>
                <a:path w="577214" h="837564">
                  <a:moveTo>
                    <a:pt x="48133" y="837311"/>
                  </a:moveTo>
                  <a:lnTo>
                    <a:pt x="48133" y="28701"/>
                  </a:lnTo>
                </a:path>
                <a:path w="577214" h="837564">
                  <a:moveTo>
                    <a:pt x="0" y="66421"/>
                  </a:moveTo>
                  <a:lnTo>
                    <a:pt x="18923" y="59054"/>
                  </a:lnTo>
                  <a:lnTo>
                    <a:pt x="32766" y="49149"/>
                  </a:lnTo>
                  <a:lnTo>
                    <a:pt x="42291" y="37337"/>
                  </a:lnTo>
                  <a:lnTo>
                    <a:pt x="48133" y="24637"/>
                  </a:lnTo>
                  <a:lnTo>
                    <a:pt x="53975" y="37337"/>
                  </a:lnTo>
                  <a:lnTo>
                    <a:pt x="63500" y="49149"/>
                  </a:lnTo>
                  <a:lnTo>
                    <a:pt x="77343" y="59054"/>
                  </a:lnTo>
                  <a:lnTo>
                    <a:pt x="96266" y="66421"/>
                  </a:lnTo>
                </a:path>
                <a:path w="577214" h="837564">
                  <a:moveTo>
                    <a:pt x="576707" y="837311"/>
                  </a:moveTo>
                  <a:lnTo>
                    <a:pt x="178054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74802" y="2295782"/>
              <a:ext cx="92195" cy="6362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182875" y="2247646"/>
              <a:ext cx="799465" cy="839469"/>
            </a:xfrm>
            <a:custGeom>
              <a:avLst/>
              <a:gdLst/>
              <a:ahLst/>
              <a:cxnLst/>
              <a:rect l="l" t="t" r="r" b="b"/>
              <a:pathLst>
                <a:path w="799464" h="839469">
                  <a:moveTo>
                    <a:pt x="799465" y="839342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71452" y="2239143"/>
              <a:ext cx="74917" cy="71615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926589" y="1322578"/>
              <a:ext cx="96520" cy="413384"/>
            </a:xfrm>
            <a:custGeom>
              <a:avLst/>
              <a:gdLst/>
              <a:ahLst/>
              <a:cxnLst/>
              <a:rect l="l" t="t" r="r" b="b"/>
              <a:pathLst>
                <a:path w="96519" h="413385">
                  <a:moveTo>
                    <a:pt x="48133" y="413004"/>
                  </a:moveTo>
                  <a:lnTo>
                    <a:pt x="48133" y="3937"/>
                  </a:lnTo>
                </a:path>
                <a:path w="96519" h="413385">
                  <a:moveTo>
                    <a:pt x="0" y="41656"/>
                  </a:moveTo>
                  <a:lnTo>
                    <a:pt x="18923" y="34417"/>
                  </a:lnTo>
                  <a:lnTo>
                    <a:pt x="32766" y="24384"/>
                  </a:lnTo>
                  <a:lnTo>
                    <a:pt x="42291" y="12700"/>
                  </a:lnTo>
                  <a:lnTo>
                    <a:pt x="48133" y="0"/>
                  </a:lnTo>
                  <a:lnTo>
                    <a:pt x="53975" y="12700"/>
                  </a:lnTo>
                  <a:lnTo>
                    <a:pt x="63500" y="24384"/>
                  </a:lnTo>
                  <a:lnTo>
                    <a:pt x="77343" y="34417"/>
                  </a:lnTo>
                  <a:lnTo>
                    <a:pt x="96266" y="41656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904238" y="950722"/>
            <a:ext cx="12446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y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781415" y="5604826"/>
            <a:ext cx="196215" cy="206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spc="-25" dirty="0">
                <a:solidFill>
                  <a:srgbClr val="213739"/>
                </a:solidFill>
                <a:latin typeface="Arial MT"/>
                <a:cs typeface="Arial MT"/>
              </a:rPr>
              <a:t>21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37261" y="6643369"/>
            <a:ext cx="1173480" cy="241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20"/>
              </a:lnSpc>
            </a:pPr>
            <a:r>
              <a:rPr sz="1700" b="1" dirty="0">
                <a:solidFill>
                  <a:srgbClr val="FFFFFF"/>
                </a:solidFill>
                <a:latin typeface="Calibri"/>
                <a:cs typeface="Calibri"/>
              </a:rPr>
              <a:t>NIT</a:t>
            </a:r>
            <a:r>
              <a:rPr sz="17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b="1" spc="-10" dirty="0">
                <a:solidFill>
                  <a:srgbClr val="FFFFFF"/>
                </a:solidFill>
                <a:latin typeface="Calibri"/>
                <a:cs typeface="Calibri"/>
              </a:rPr>
              <a:t>Rourkela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568188" y="6658229"/>
            <a:ext cx="293687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dirty="0">
                <a:latin typeface="Calibri"/>
                <a:cs typeface="Calibri"/>
              </a:rPr>
              <a:t>“Deep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Learning: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Neuron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to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Perceptron”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51331" y="2658617"/>
            <a:ext cx="254635" cy="23050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35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425" spc="-37" baseline="-11695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425" baseline="-11695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322577" y="2658617"/>
            <a:ext cx="254635" cy="23050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35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425" spc="-37" baseline="-11695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425" baseline="-11695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799082" y="2642691"/>
            <a:ext cx="444500" cy="231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4965" algn="l"/>
              </a:tabLst>
            </a:pPr>
            <a:r>
              <a:rPr sz="1350" i="1" spc="-25" dirty="0">
                <a:solidFill>
                  <a:srgbClr val="213739"/>
                </a:solidFill>
                <a:latin typeface="Calibri"/>
                <a:cs typeface="Calibri"/>
              </a:rPr>
              <a:t>..</a:t>
            </a:r>
            <a:r>
              <a:rPr sz="13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350" i="1" spc="-25" dirty="0">
                <a:solidFill>
                  <a:srgbClr val="213739"/>
                </a:solidFill>
                <a:latin typeface="Calibri"/>
                <a:cs typeface="Calibri"/>
              </a:rPr>
              <a:t>..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457323" y="2658617"/>
            <a:ext cx="264795" cy="23050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35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425" i="1" spc="-37" baseline="-11695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endParaRPr sz="1425" baseline="-11695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381246" y="875537"/>
            <a:ext cx="4384040" cy="653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 marR="5080" indent="-5080">
              <a:lnSpc>
                <a:spcPct val="117700"/>
              </a:lnSpc>
              <a:spcBef>
                <a:spcPts val="100"/>
              </a:spcBef>
            </a:pP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Frank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Rosenblatt,</a:t>
            </a:r>
            <a:r>
              <a:rPr sz="1750" spc="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an</a:t>
            </a:r>
            <a:r>
              <a:rPr sz="1750" spc="-1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American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psychologist,</a:t>
            </a:r>
            <a:r>
              <a:rPr sz="1750" spc="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pro-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posed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spc="-100" dirty="0">
                <a:solidFill>
                  <a:srgbClr val="213739"/>
                </a:solidFill>
                <a:latin typeface="Trebuchet MS"/>
                <a:cs typeface="Trebuchet MS"/>
              </a:rPr>
              <a:t>classical</a:t>
            </a:r>
            <a:r>
              <a:rPr sz="1750" b="1" spc="-135" dirty="0">
                <a:solidFill>
                  <a:srgbClr val="213739"/>
                </a:solidFill>
                <a:latin typeface="Trebuchet MS"/>
                <a:cs typeface="Trebuchet MS"/>
              </a:rPr>
              <a:t> </a:t>
            </a:r>
            <a:r>
              <a:rPr sz="1750" b="1" spc="-165" dirty="0">
                <a:solidFill>
                  <a:srgbClr val="213739"/>
                </a:solidFill>
                <a:latin typeface="Trebuchet MS"/>
                <a:cs typeface="Trebuchet MS"/>
              </a:rPr>
              <a:t>perceptron</a:t>
            </a:r>
            <a:r>
              <a:rPr sz="1750" b="1" spc="-125" dirty="0">
                <a:solidFill>
                  <a:srgbClr val="213739"/>
                </a:solidFill>
                <a:latin typeface="Trebuchet MS"/>
                <a:cs typeface="Trebuchet MS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model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(1958)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381246" y="2250636"/>
            <a:ext cx="4411345" cy="9683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145" marR="5080" indent="-5080" algn="just">
              <a:lnSpc>
                <a:spcPct val="117800"/>
              </a:lnSpc>
              <a:spcBef>
                <a:spcPts val="105"/>
              </a:spcBef>
            </a:pPr>
            <a:r>
              <a:rPr sz="1750" b="1" dirty="0">
                <a:solidFill>
                  <a:srgbClr val="213739"/>
                </a:solidFill>
                <a:latin typeface="Trebuchet MS"/>
                <a:cs typeface="Trebuchet MS"/>
              </a:rPr>
              <a:t>Main</a:t>
            </a:r>
            <a:r>
              <a:rPr sz="1750" b="1" spc="120" dirty="0">
                <a:solidFill>
                  <a:srgbClr val="213739"/>
                </a:solidFill>
                <a:latin typeface="Trebuchet MS"/>
                <a:cs typeface="Trebuchet MS"/>
              </a:rPr>
              <a:t> </a:t>
            </a:r>
            <a:r>
              <a:rPr sz="1750" b="1" spc="-10" dirty="0">
                <a:solidFill>
                  <a:srgbClr val="213739"/>
                </a:solidFill>
                <a:latin typeface="Trebuchet MS"/>
                <a:cs typeface="Trebuchet MS"/>
              </a:rPr>
              <a:t>differences:</a:t>
            </a:r>
            <a:r>
              <a:rPr sz="1750" b="1" spc="45" dirty="0">
                <a:solidFill>
                  <a:srgbClr val="213739"/>
                </a:solidFill>
                <a:latin typeface="Trebuchet MS"/>
                <a:cs typeface="Trebuchet MS"/>
              </a:rPr>
              <a:t> 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Introduction</a:t>
            </a:r>
            <a:r>
              <a:rPr sz="1750" spc="2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2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numerical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weights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for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inputs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a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mechanism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for</a:t>
            </a:r>
            <a:r>
              <a:rPr sz="1750" spc="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learning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these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weights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381246" y="3631840"/>
            <a:ext cx="4427855" cy="1352550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marR="5080" indent="1270">
              <a:lnSpc>
                <a:spcPct val="122100"/>
              </a:lnSpc>
              <a:spcBef>
                <a:spcPts val="290"/>
              </a:spcBef>
            </a:pP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Inputs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are</a:t>
            </a:r>
            <a:r>
              <a:rPr sz="1750" spc="-1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no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longer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limited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1750" spc="-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boolean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values 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Refined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carefully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analyzed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by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Minsky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Pa-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pert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(1969)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-</a:t>
            </a:r>
            <a:r>
              <a:rPr sz="1750" spc="-2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their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model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is</a:t>
            </a:r>
            <a:r>
              <a:rPr sz="1750" spc="-1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referred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as</a:t>
            </a:r>
            <a:r>
              <a:rPr sz="1750" spc="-2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spc="-45" dirty="0">
                <a:solidFill>
                  <a:srgbClr val="213739"/>
                </a:solidFill>
                <a:latin typeface="Trebuchet MS"/>
                <a:cs typeface="Trebuchet MS"/>
              </a:rPr>
              <a:t>per-</a:t>
            </a:r>
            <a:r>
              <a:rPr sz="1750" b="1" spc="-160" dirty="0">
                <a:solidFill>
                  <a:srgbClr val="213739"/>
                </a:solidFill>
                <a:latin typeface="Trebuchet MS"/>
                <a:cs typeface="Trebuchet MS"/>
              </a:rPr>
              <a:t>ceptron</a:t>
            </a:r>
            <a:r>
              <a:rPr sz="1750" b="1" spc="-185" dirty="0">
                <a:solidFill>
                  <a:srgbClr val="213739"/>
                </a:solidFill>
                <a:latin typeface="Trebuchet MS"/>
                <a:cs typeface="Trebuchet MS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model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here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26" name="object 2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Perceptron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5715" y="3031058"/>
            <a:ext cx="861060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620395" algn="l"/>
              </a:tabLst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04617" y="3011881"/>
            <a:ext cx="129539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..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75864" y="3011881"/>
            <a:ext cx="129539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..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63797" y="3031058"/>
            <a:ext cx="275590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5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i="1" spc="75" baseline="-8888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endParaRPr sz="1875" baseline="-8888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468384" y="1340113"/>
            <a:ext cx="2020570" cy="1821814"/>
            <a:chOff x="1468384" y="1340113"/>
            <a:chExt cx="2020570" cy="1821814"/>
          </a:xfrm>
        </p:grpSpPr>
        <p:sp>
          <p:nvSpPr>
            <p:cNvPr id="7" name="object 7"/>
            <p:cNvSpPr/>
            <p:nvPr/>
          </p:nvSpPr>
          <p:spPr>
            <a:xfrm>
              <a:off x="2193036" y="1763648"/>
              <a:ext cx="571500" cy="570865"/>
            </a:xfrm>
            <a:custGeom>
              <a:avLst/>
              <a:gdLst/>
              <a:ahLst/>
              <a:cxnLst/>
              <a:rect l="l" t="t" r="r" b="b"/>
              <a:pathLst>
                <a:path w="571500" h="570864">
                  <a:moveTo>
                    <a:pt x="285495" y="0"/>
                  </a:moveTo>
                  <a:lnTo>
                    <a:pt x="209676" y="10160"/>
                  </a:lnTo>
                  <a:lnTo>
                    <a:pt x="141477" y="38988"/>
                  </a:lnTo>
                  <a:lnTo>
                    <a:pt x="83693" y="83565"/>
                  </a:lnTo>
                  <a:lnTo>
                    <a:pt x="38988" y="141350"/>
                  </a:lnTo>
                  <a:lnTo>
                    <a:pt x="10287" y="209550"/>
                  </a:lnTo>
                  <a:lnTo>
                    <a:pt x="0" y="285496"/>
                  </a:lnTo>
                  <a:lnTo>
                    <a:pt x="10287" y="361314"/>
                  </a:lnTo>
                  <a:lnTo>
                    <a:pt x="38988" y="429513"/>
                  </a:lnTo>
                  <a:lnTo>
                    <a:pt x="83693" y="487299"/>
                  </a:lnTo>
                  <a:lnTo>
                    <a:pt x="141477" y="532002"/>
                  </a:lnTo>
                  <a:lnTo>
                    <a:pt x="209676" y="560704"/>
                  </a:lnTo>
                  <a:lnTo>
                    <a:pt x="285495" y="570864"/>
                  </a:lnTo>
                  <a:lnTo>
                    <a:pt x="361441" y="560704"/>
                  </a:lnTo>
                  <a:lnTo>
                    <a:pt x="429640" y="532002"/>
                  </a:lnTo>
                  <a:lnTo>
                    <a:pt x="487425" y="487299"/>
                  </a:lnTo>
                  <a:lnTo>
                    <a:pt x="532002" y="429513"/>
                  </a:lnTo>
                  <a:lnTo>
                    <a:pt x="560832" y="361314"/>
                  </a:lnTo>
                  <a:lnTo>
                    <a:pt x="570991" y="285496"/>
                  </a:lnTo>
                  <a:lnTo>
                    <a:pt x="560832" y="209550"/>
                  </a:lnTo>
                  <a:lnTo>
                    <a:pt x="532002" y="141350"/>
                  </a:lnTo>
                  <a:lnTo>
                    <a:pt x="487425" y="83565"/>
                  </a:lnTo>
                  <a:lnTo>
                    <a:pt x="429640" y="38988"/>
                  </a:lnTo>
                  <a:lnTo>
                    <a:pt x="361441" y="10160"/>
                  </a:lnTo>
                  <a:lnTo>
                    <a:pt x="285495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193036" y="1763648"/>
              <a:ext cx="571500" cy="570865"/>
            </a:xfrm>
            <a:custGeom>
              <a:avLst/>
              <a:gdLst/>
              <a:ahLst/>
              <a:cxnLst/>
              <a:rect l="l" t="t" r="r" b="b"/>
              <a:pathLst>
                <a:path w="571500" h="570864">
                  <a:moveTo>
                    <a:pt x="570991" y="285496"/>
                  </a:moveTo>
                  <a:lnTo>
                    <a:pt x="560832" y="209550"/>
                  </a:lnTo>
                  <a:lnTo>
                    <a:pt x="532002" y="141350"/>
                  </a:lnTo>
                  <a:lnTo>
                    <a:pt x="487425" y="83565"/>
                  </a:lnTo>
                  <a:lnTo>
                    <a:pt x="429640" y="38988"/>
                  </a:lnTo>
                  <a:lnTo>
                    <a:pt x="361441" y="10160"/>
                  </a:lnTo>
                  <a:lnTo>
                    <a:pt x="285495" y="0"/>
                  </a:lnTo>
                  <a:lnTo>
                    <a:pt x="209676" y="10160"/>
                  </a:lnTo>
                  <a:lnTo>
                    <a:pt x="141477" y="38988"/>
                  </a:lnTo>
                  <a:lnTo>
                    <a:pt x="83693" y="83565"/>
                  </a:lnTo>
                  <a:lnTo>
                    <a:pt x="38988" y="141350"/>
                  </a:lnTo>
                  <a:lnTo>
                    <a:pt x="10287" y="209550"/>
                  </a:lnTo>
                  <a:lnTo>
                    <a:pt x="0" y="285496"/>
                  </a:lnTo>
                  <a:lnTo>
                    <a:pt x="10287" y="361314"/>
                  </a:lnTo>
                  <a:lnTo>
                    <a:pt x="38988" y="429513"/>
                  </a:lnTo>
                  <a:lnTo>
                    <a:pt x="83693" y="487299"/>
                  </a:lnTo>
                  <a:lnTo>
                    <a:pt x="141477" y="532002"/>
                  </a:lnTo>
                  <a:lnTo>
                    <a:pt x="209676" y="560704"/>
                  </a:lnTo>
                  <a:lnTo>
                    <a:pt x="285495" y="570864"/>
                  </a:lnTo>
                  <a:lnTo>
                    <a:pt x="361441" y="560704"/>
                  </a:lnTo>
                  <a:lnTo>
                    <a:pt x="429640" y="532002"/>
                  </a:lnTo>
                  <a:lnTo>
                    <a:pt x="487425" y="487299"/>
                  </a:lnTo>
                  <a:lnTo>
                    <a:pt x="532002" y="429513"/>
                  </a:lnTo>
                  <a:lnTo>
                    <a:pt x="560832" y="361314"/>
                  </a:lnTo>
                  <a:lnTo>
                    <a:pt x="570991" y="285496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470914" y="2267711"/>
              <a:ext cx="799465" cy="839469"/>
            </a:xfrm>
            <a:custGeom>
              <a:avLst/>
              <a:gdLst/>
              <a:ahLst/>
              <a:cxnLst/>
              <a:rect l="l" t="t" r="r" b="b"/>
              <a:pathLst>
                <a:path w="799464" h="839469">
                  <a:moveTo>
                    <a:pt x="0" y="839342"/>
                  </a:moveTo>
                  <a:lnTo>
                    <a:pt x="799465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06885" y="2259209"/>
              <a:ext cx="74917" cy="7161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974723" y="2321940"/>
              <a:ext cx="374015" cy="785495"/>
            </a:xfrm>
            <a:custGeom>
              <a:avLst/>
              <a:gdLst/>
              <a:ahLst/>
              <a:cxnLst/>
              <a:rect l="l" t="t" r="r" b="b"/>
              <a:pathLst>
                <a:path w="374014" h="785494">
                  <a:moveTo>
                    <a:pt x="0" y="785113"/>
                  </a:moveTo>
                  <a:lnTo>
                    <a:pt x="373888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86257" y="2315848"/>
              <a:ext cx="92195" cy="6362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430399" y="2321940"/>
              <a:ext cx="577215" cy="837565"/>
            </a:xfrm>
            <a:custGeom>
              <a:avLst/>
              <a:gdLst/>
              <a:ahLst/>
              <a:cxnLst/>
              <a:rect l="l" t="t" r="r" b="b"/>
              <a:pathLst>
                <a:path w="577214" h="837564">
                  <a:moveTo>
                    <a:pt x="48132" y="837311"/>
                  </a:moveTo>
                  <a:lnTo>
                    <a:pt x="48132" y="28701"/>
                  </a:lnTo>
                </a:path>
                <a:path w="577214" h="837564">
                  <a:moveTo>
                    <a:pt x="0" y="66421"/>
                  </a:moveTo>
                  <a:lnTo>
                    <a:pt x="18923" y="59055"/>
                  </a:lnTo>
                  <a:lnTo>
                    <a:pt x="32765" y="49149"/>
                  </a:lnTo>
                  <a:lnTo>
                    <a:pt x="42290" y="37337"/>
                  </a:lnTo>
                  <a:lnTo>
                    <a:pt x="48132" y="24637"/>
                  </a:lnTo>
                  <a:lnTo>
                    <a:pt x="53975" y="37337"/>
                  </a:lnTo>
                  <a:lnTo>
                    <a:pt x="63500" y="49149"/>
                  </a:lnTo>
                  <a:lnTo>
                    <a:pt x="77343" y="59055"/>
                  </a:lnTo>
                  <a:lnTo>
                    <a:pt x="96265" y="66421"/>
                  </a:lnTo>
                </a:path>
                <a:path w="577214" h="837564">
                  <a:moveTo>
                    <a:pt x="576833" y="837311"/>
                  </a:moveTo>
                  <a:lnTo>
                    <a:pt x="178053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78611" y="2315848"/>
              <a:ext cx="92195" cy="6362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686685" y="2267711"/>
              <a:ext cx="799465" cy="839469"/>
            </a:xfrm>
            <a:custGeom>
              <a:avLst/>
              <a:gdLst/>
              <a:ahLst/>
              <a:cxnLst/>
              <a:rect l="l" t="t" r="r" b="b"/>
              <a:pathLst>
                <a:path w="799464" h="839469">
                  <a:moveTo>
                    <a:pt x="799464" y="839342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75388" y="2259209"/>
              <a:ext cx="74790" cy="71615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2430399" y="1342643"/>
              <a:ext cx="96520" cy="413384"/>
            </a:xfrm>
            <a:custGeom>
              <a:avLst/>
              <a:gdLst/>
              <a:ahLst/>
              <a:cxnLst/>
              <a:rect l="l" t="t" r="r" b="b"/>
              <a:pathLst>
                <a:path w="96519" h="413385">
                  <a:moveTo>
                    <a:pt x="48132" y="413003"/>
                  </a:moveTo>
                  <a:lnTo>
                    <a:pt x="48132" y="4063"/>
                  </a:lnTo>
                </a:path>
                <a:path w="96519" h="413385">
                  <a:moveTo>
                    <a:pt x="0" y="41782"/>
                  </a:moveTo>
                  <a:lnTo>
                    <a:pt x="18923" y="34416"/>
                  </a:lnTo>
                  <a:lnTo>
                    <a:pt x="32765" y="24383"/>
                  </a:lnTo>
                  <a:lnTo>
                    <a:pt x="42290" y="12700"/>
                  </a:lnTo>
                  <a:lnTo>
                    <a:pt x="48132" y="0"/>
                  </a:lnTo>
                  <a:lnTo>
                    <a:pt x="53975" y="12700"/>
                  </a:lnTo>
                  <a:lnTo>
                    <a:pt x="63500" y="24383"/>
                  </a:lnTo>
                  <a:lnTo>
                    <a:pt x="77343" y="34416"/>
                  </a:lnTo>
                  <a:lnTo>
                    <a:pt x="96265" y="41782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2408047" y="970915"/>
            <a:ext cx="12446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y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37261" y="6643369"/>
            <a:ext cx="1173480" cy="241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20"/>
              </a:lnSpc>
            </a:pPr>
            <a:r>
              <a:rPr sz="1700" b="1" dirty="0">
                <a:solidFill>
                  <a:srgbClr val="FFFFFF"/>
                </a:solidFill>
                <a:latin typeface="Calibri"/>
                <a:cs typeface="Calibri"/>
              </a:rPr>
              <a:t>NIT</a:t>
            </a:r>
            <a:r>
              <a:rPr sz="17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b="1" spc="-10" dirty="0">
                <a:solidFill>
                  <a:srgbClr val="FFFFFF"/>
                </a:solidFill>
                <a:latin typeface="Calibri"/>
                <a:cs typeface="Calibri"/>
              </a:rPr>
              <a:t>Rourkela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568188" y="6658229"/>
            <a:ext cx="293687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dirty="0">
                <a:latin typeface="Calibri"/>
                <a:cs typeface="Calibri"/>
              </a:rPr>
              <a:t>“Deep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Learning: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Neuron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to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Perceptron”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414017" y="2678683"/>
            <a:ext cx="678180" cy="23050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448309" algn="l"/>
              </a:tabLst>
            </a:pPr>
            <a:r>
              <a:rPr sz="135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425" spc="-37" baseline="-11695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425" baseline="-11695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35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425" spc="-37" baseline="-11695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425" baseline="-11695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781415" y="5589523"/>
            <a:ext cx="196215" cy="2197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50" spc="-25" dirty="0">
                <a:solidFill>
                  <a:srgbClr val="213739"/>
                </a:solidFill>
                <a:latin typeface="Arial MT"/>
                <a:cs typeface="Arial MT"/>
              </a:rPr>
              <a:t>22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302891" y="2663190"/>
            <a:ext cx="444500" cy="23050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54965" algn="l"/>
              </a:tabLst>
            </a:pPr>
            <a:r>
              <a:rPr sz="1350" i="1" spc="-25" dirty="0">
                <a:solidFill>
                  <a:srgbClr val="213739"/>
                </a:solidFill>
                <a:latin typeface="Calibri"/>
                <a:cs typeface="Calibri"/>
              </a:rPr>
              <a:t>..</a:t>
            </a:r>
            <a:r>
              <a:rPr sz="13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350" i="1" spc="-25" dirty="0">
                <a:solidFill>
                  <a:srgbClr val="213739"/>
                </a:solidFill>
                <a:latin typeface="Calibri"/>
                <a:cs typeface="Calibri"/>
              </a:rPr>
              <a:t>..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961132" y="2678683"/>
            <a:ext cx="264795" cy="23050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35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425" i="1" spc="-37" baseline="-11695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endParaRPr sz="1425" baseline="-11695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972558" y="1376883"/>
            <a:ext cx="932180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749935" algn="l"/>
              </a:tabLst>
            </a:pP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y</a:t>
            </a:r>
            <a:r>
              <a:rPr sz="1750" i="1" spc="15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9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65" dirty="0">
                <a:solidFill>
                  <a:srgbClr val="213739"/>
                </a:solidFill>
                <a:latin typeface="Calibri"/>
                <a:cs typeface="Calibri"/>
              </a:rPr>
              <a:t>if 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284086" y="1376883"/>
            <a:ext cx="1116330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i="1" baseline="-17777" dirty="0">
                <a:solidFill>
                  <a:srgbClr val="213739"/>
                </a:solidFill>
                <a:latin typeface="Calibri"/>
                <a:cs typeface="Calibri"/>
              </a:rPr>
              <a:t>i</a:t>
            </a:r>
            <a:r>
              <a:rPr sz="1875" i="1" spc="472" baseline="-17777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Lucida Sans Unicode"/>
                <a:cs typeface="Lucida Sans Unicode"/>
              </a:rPr>
              <a:t>∗</a:t>
            </a:r>
            <a:r>
              <a:rPr sz="1750" i="1" spc="-9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i="1" spc="-14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875" i="1" baseline="-17777" dirty="0">
                <a:solidFill>
                  <a:srgbClr val="213739"/>
                </a:solidFill>
                <a:latin typeface="Calibri"/>
                <a:cs typeface="Calibri"/>
              </a:rPr>
              <a:t>i</a:t>
            </a:r>
            <a:r>
              <a:rPr sz="1875" i="1" spc="577" baseline="-17777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≥</a:t>
            </a:r>
            <a:r>
              <a:rPr sz="1750" spc="-8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θ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975096" y="1148599"/>
            <a:ext cx="285115" cy="1519555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55"/>
              </a:spcBef>
            </a:pPr>
            <a:r>
              <a:rPr sz="1250" i="1" spc="-50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endParaRPr sz="1250">
              <a:latin typeface="Calibri"/>
              <a:cs typeface="Calibri"/>
            </a:endParaRPr>
          </a:p>
          <a:p>
            <a:pPr marR="25400" algn="ctr">
              <a:lnSpc>
                <a:spcPct val="100000"/>
              </a:lnSpc>
              <a:spcBef>
                <a:spcPts val="310"/>
              </a:spcBef>
            </a:pPr>
            <a:r>
              <a:rPr sz="1750" spc="-50" dirty="0">
                <a:solidFill>
                  <a:srgbClr val="213739"/>
                </a:solidFill>
                <a:latin typeface="Lucida Sans Unicode"/>
                <a:cs typeface="Lucida Sans Unicode"/>
              </a:rPr>
              <a:t>Σ</a:t>
            </a:r>
            <a:endParaRPr sz="1750">
              <a:latin typeface="Lucida Sans Unicode"/>
              <a:cs typeface="Lucida Sans Unicode"/>
            </a:endParaRPr>
          </a:p>
          <a:p>
            <a:pPr algn="ctr">
              <a:lnSpc>
                <a:spcPct val="100000"/>
              </a:lnSpc>
              <a:spcBef>
                <a:spcPts val="325"/>
              </a:spcBef>
            </a:pPr>
            <a:r>
              <a:rPr sz="1250" i="1" dirty="0">
                <a:solidFill>
                  <a:srgbClr val="FF0000"/>
                </a:solidFill>
                <a:latin typeface="Calibri"/>
                <a:cs typeface="Calibri"/>
              </a:rPr>
              <a:t>i</a:t>
            </a:r>
            <a:r>
              <a:rPr sz="1250" i="1" spc="-1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50" spc="55" dirty="0">
                <a:solidFill>
                  <a:srgbClr val="FF0000"/>
                </a:solidFill>
                <a:latin typeface="Calibri"/>
                <a:cs typeface="Calibri"/>
              </a:rPr>
              <a:t>=1 </a:t>
            </a:r>
            <a:endParaRPr sz="125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25"/>
              </a:spcBef>
            </a:pPr>
            <a:r>
              <a:rPr sz="1250" i="1" spc="-50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endParaRPr sz="125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280"/>
              </a:spcBef>
            </a:pPr>
            <a:r>
              <a:rPr sz="1750" spc="-50" dirty="0">
                <a:solidFill>
                  <a:srgbClr val="213739"/>
                </a:solidFill>
                <a:latin typeface="Lucida Sans Unicode"/>
                <a:cs typeface="Lucida Sans Unicode"/>
              </a:rPr>
              <a:t>Σ</a:t>
            </a:r>
            <a:endParaRPr sz="1750">
              <a:latin typeface="Lucida Sans Unicode"/>
              <a:cs typeface="Lucida Sans Unicode"/>
            </a:endParaRPr>
          </a:p>
          <a:p>
            <a:pPr algn="ctr">
              <a:lnSpc>
                <a:spcPct val="100000"/>
              </a:lnSpc>
              <a:spcBef>
                <a:spcPts val="360"/>
              </a:spcBef>
            </a:pPr>
            <a:r>
              <a:rPr sz="1250" i="1" dirty="0">
                <a:solidFill>
                  <a:srgbClr val="FF0000"/>
                </a:solidFill>
                <a:latin typeface="Calibri"/>
                <a:cs typeface="Calibri"/>
              </a:rPr>
              <a:t>i</a:t>
            </a:r>
            <a:r>
              <a:rPr sz="1250" i="1" spc="-1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50" spc="55" dirty="0">
                <a:solidFill>
                  <a:srgbClr val="FF0000"/>
                </a:solidFill>
                <a:latin typeface="Calibri"/>
                <a:cs typeface="Calibri"/>
              </a:rPr>
              <a:t>=1 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149341" y="2108961"/>
            <a:ext cx="75565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73405" algn="l"/>
              </a:tabLst>
            </a:pP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70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65" dirty="0">
                <a:solidFill>
                  <a:srgbClr val="213739"/>
                </a:solidFill>
                <a:latin typeface="Calibri"/>
                <a:cs typeface="Calibri"/>
              </a:rPr>
              <a:t>if 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282182" y="2108961"/>
            <a:ext cx="111760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i="1" baseline="-17777" dirty="0">
                <a:solidFill>
                  <a:srgbClr val="213739"/>
                </a:solidFill>
                <a:latin typeface="Calibri"/>
                <a:cs typeface="Calibri"/>
              </a:rPr>
              <a:t>i</a:t>
            </a:r>
            <a:r>
              <a:rPr sz="1875" i="1" spc="502" baseline="-17777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Lucida Sans Unicode"/>
                <a:cs typeface="Lucida Sans Unicode"/>
              </a:rPr>
              <a:t>∗</a:t>
            </a:r>
            <a:r>
              <a:rPr sz="1750" i="1" spc="-9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i="1" spc="-14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875" i="1" baseline="-17777" dirty="0">
                <a:solidFill>
                  <a:srgbClr val="213739"/>
                </a:solidFill>
                <a:latin typeface="Calibri"/>
                <a:cs typeface="Calibri"/>
              </a:rPr>
              <a:t>i</a:t>
            </a:r>
            <a:r>
              <a:rPr sz="1875" i="1" spc="652" baseline="-17777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spc="80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θ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28" name="object 2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Perceptron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5715" y="3031058"/>
            <a:ext cx="861060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620395" algn="l"/>
              </a:tabLst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04617" y="3011881"/>
            <a:ext cx="129539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..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75864" y="3011881"/>
            <a:ext cx="129539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..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63797" y="3031058"/>
            <a:ext cx="275590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5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i="1" spc="75" baseline="-8888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endParaRPr sz="1875" baseline="-8888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468384" y="1340113"/>
            <a:ext cx="2020570" cy="1821814"/>
            <a:chOff x="1468384" y="1340113"/>
            <a:chExt cx="2020570" cy="1821814"/>
          </a:xfrm>
        </p:grpSpPr>
        <p:sp>
          <p:nvSpPr>
            <p:cNvPr id="7" name="object 7"/>
            <p:cNvSpPr/>
            <p:nvPr/>
          </p:nvSpPr>
          <p:spPr>
            <a:xfrm>
              <a:off x="2193036" y="1763648"/>
              <a:ext cx="571500" cy="570865"/>
            </a:xfrm>
            <a:custGeom>
              <a:avLst/>
              <a:gdLst/>
              <a:ahLst/>
              <a:cxnLst/>
              <a:rect l="l" t="t" r="r" b="b"/>
              <a:pathLst>
                <a:path w="571500" h="570864">
                  <a:moveTo>
                    <a:pt x="285495" y="0"/>
                  </a:moveTo>
                  <a:lnTo>
                    <a:pt x="209676" y="10160"/>
                  </a:lnTo>
                  <a:lnTo>
                    <a:pt x="141477" y="38988"/>
                  </a:lnTo>
                  <a:lnTo>
                    <a:pt x="83693" y="83565"/>
                  </a:lnTo>
                  <a:lnTo>
                    <a:pt x="38988" y="141350"/>
                  </a:lnTo>
                  <a:lnTo>
                    <a:pt x="10287" y="209550"/>
                  </a:lnTo>
                  <a:lnTo>
                    <a:pt x="0" y="285496"/>
                  </a:lnTo>
                  <a:lnTo>
                    <a:pt x="10287" y="361314"/>
                  </a:lnTo>
                  <a:lnTo>
                    <a:pt x="38988" y="429513"/>
                  </a:lnTo>
                  <a:lnTo>
                    <a:pt x="83693" y="487299"/>
                  </a:lnTo>
                  <a:lnTo>
                    <a:pt x="141477" y="532002"/>
                  </a:lnTo>
                  <a:lnTo>
                    <a:pt x="209676" y="560704"/>
                  </a:lnTo>
                  <a:lnTo>
                    <a:pt x="285495" y="570864"/>
                  </a:lnTo>
                  <a:lnTo>
                    <a:pt x="361441" y="560704"/>
                  </a:lnTo>
                  <a:lnTo>
                    <a:pt x="429640" y="532002"/>
                  </a:lnTo>
                  <a:lnTo>
                    <a:pt x="487425" y="487299"/>
                  </a:lnTo>
                  <a:lnTo>
                    <a:pt x="532002" y="429513"/>
                  </a:lnTo>
                  <a:lnTo>
                    <a:pt x="560832" y="361314"/>
                  </a:lnTo>
                  <a:lnTo>
                    <a:pt x="570991" y="285496"/>
                  </a:lnTo>
                  <a:lnTo>
                    <a:pt x="560832" y="209550"/>
                  </a:lnTo>
                  <a:lnTo>
                    <a:pt x="532002" y="141350"/>
                  </a:lnTo>
                  <a:lnTo>
                    <a:pt x="487425" y="83565"/>
                  </a:lnTo>
                  <a:lnTo>
                    <a:pt x="429640" y="38988"/>
                  </a:lnTo>
                  <a:lnTo>
                    <a:pt x="361441" y="10160"/>
                  </a:lnTo>
                  <a:lnTo>
                    <a:pt x="285495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193036" y="1763648"/>
              <a:ext cx="571500" cy="570865"/>
            </a:xfrm>
            <a:custGeom>
              <a:avLst/>
              <a:gdLst/>
              <a:ahLst/>
              <a:cxnLst/>
              <a:rect l="l" t="t" r="r" b="b"/>
              <a:pathLst>
                <a:path w="571500" h="570864">
                  <a:moveTo>
                    <a:pt x="570991" y="285496"/>
                  </a:moveTo>
                  <a:lnTo>
                    <a:pt x="560832" y="209550"/>
                  </a:lnTo>
                  <a:lnTo>
                    <a:pt x="532002" y="141350"/>
                  </a:lnTo>
                  <a:lnTo>
                    <a:pt x="487425" y="83565"/>
                  </a:lnTo>
                  <a:lnTo>
                    <a:pt x="429640" y="38988"/>
                  </a:lnTo>
                  <a:lnTo>
                    <a:pt x="361441" y="10160"/>
                  </a:lnTo>
                  <a:lnTo>
                    <a:pt x="285495" y="0"/>
                  </a:lnTo>
                  <a:lnTo>
                    <a:pt x="209676" y="10160"/>
                  </a:lnTo>
                  <a:lnTo>
                    <a:pt x="141477" y="38988"/>
                  </a:lnTo>
                  <a:lnTo>
                    <a:pt x="83693" y="83565"/>
                  </a:lnTo>
                  <a:lnTo>
                    <a:pt x="38988" y="141350"/>
                  </a:lnTo>
                  <a:lnTo>
                    <a:pt x="10287" y="209550"/>
                  </a:lnTo>
                  <a:lnTo>
                    <a:pt x="0" y="285496"/>
                  </a:lnTo>
                  <a:lnTo>
                    <a:pt x="10287" y="361314"/>
                  </a:lnTo>
                  <a:lnTo>
                    <a:pt x="38988" y="429513"/>
                  </a:lnTo>
                  <a:lnTo>
                    <a:pt x="83693" y="487299"/>
                  </a:lnTo>
                  <a:lnTo>
                    <a:pt x="141477" y="532002"/>
                  </a:lnTo>
                  <a:lnTo>
                    <a:pt x="209676" y="560704"/>
                  </a:lnTo>
                  <a:lnTo>
                    <a:pt x="285495" y="570864"/>
                  </a:lnTo>
                  <a:lnTo>
                    <a:pt x="361441" y="560704"/>
                  </a:lnTo>
                  <a:lnTo>
                    <a:pt x="429640" y="532002"/>
                  </a:lnTo>
                  <a:lnTo>
                    <a:pt x="487425" y="487299"/>
                  </a:lnTo>
                  <a:lnTo>
                    <a:pt x="532002" y="429513"/>
                  </a:lnTo>
                  <a:lnTo>
                    <a:pt x="560832" y="361314"/>
                  </a:lnTo>
                  <a:lnTo>
                    <a:pt x="570991" y="285496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470914" y="2267711"/>
              <a:ext cx="799465" cy="839469"/>
            </a:xfrm>
            <a:custGeom>
              <a:avLst/>
              <a:gdLst/>
              <a:ahLst/>
              <a:cxnLst/>
              <a:rect l="l" t="t" r="r" b="b"/>
              <a:pathLst>
                <a:path w="799464" h="839469">
                  <a:moveTo>
                    <a:pt x="0" y="839342"/>
                  </a:moveTo>
                  <a:lnTo>
                    <a:pt x="799465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06885" y="2259209"/>
              <a:ext cx="74917" cy="7161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974723" y="2321940"/>
              <a:ext cx="374015" cy="785495"/>
            </a:xfrm>
            <a:custGeom>
              <a:avLst/>
              <a:gdLst/>
              <a:ahLst/>
              <a:cxnLst/>
              <a:rect l="l" t="t" r="r" b="b"/>
              <a:pathLst>
                <a:path w="374014" h="785494">
                  <a:moveTo>
                    <a:pt x="0" y="785113"/>
                  </a:moveTo>
                  <a:lnTo>
                    <a:pt x="373888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86257" y="2315848"/>
              <a:ext cx="92195" cy="6362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430399" y="2321940"/>
              <a:ext cx="577215" cy="837565"/>
            </a:xfrm>
            <a:custGeom>
              <a:avLst/>
              <a:gdLst/>
              <a:ahLst/>
              <a:cxnLst/>
              <a:rect l="l" t="t" r="r" b="b"/>
              <a:pathLst>
                <a:path w="577214" h="837564">
                  <a:moveTo>
                    <a:pt x="48132" y="837311"/>
                  </a:moveTo>
                  <a:lnTo>
                    <a:pt x="48132" y="28701"/>
                  </a:lnTo>
                </a:path>
                <a:path w="577214" h="837564">
                  <a:moveTo>
                    <a:pt x="0" y="66421"/>
                  </a:moveTo>
                  <a:lnTo>
                    <a:pt x="18923" y="59055"/>
                  </a:lnTo>
                  <a:lnTo>
                    <a:pt x="32765" y="49149"/>
                  </a:lnTo>
                  <a:lnTo>
                    <a:pt x="42290" y="37337"/>
                  </a:lnTo>
                  <a:lnTo>
                    <a:pt x="48132" y="24637"/>
                  </a:lnTo>
                  <a:lnTo>
                    <a:pt x="53975" y="37337"/>
                  </a:lnTo>
                  <a:lnTo>
                    <a:pt x="63500" y="49149"/>
                  </a:lnTo>
                  <a:lnTo>
                    <a:pt x="77343" y="59055"/>
                  </a:lnTo>
                  <a:lnTo>
                    <a:pt x="96265" y="66421"/>
                  </a:lnTo>
                </a:path>
                <a:path w="577214" h="837564">
                  <a:moveTo>
                    <a:pt x="576833" y="837311"/>
                  </a:moveTo>
                  <a:lnTo>
                    <a:pt x="178053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78611" y="2315848"/>
              <a:ext cx="92195" cy="6362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686685" y="2267711"/>
              <a:ext cx="799465" cy="839469"/>
            </a:xfrm>
            <a:custGeom>
              <a:avLst/>
              <a:gdLst/>
              <a:ahLst/>
              <a:cxnLst/>
              <a:rect l="l" t="t" r="r" b="b"/>
              <a:pathLst>
                <a:path w="799464" h="839469">
                  <a:moveTo>
                    <a:pt x="799464" y="839342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75388" y="2259209"/>
              <a:ext cx="74790" cy="71615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2430399" y="1342643"/>
              <a:ext cx="96520" cy="413384"/>
            </a:xfrm>
            <a:custGeom>
              <a:avLst/>
              <a:gdLst/>
              <a:ahLst/>
              <a:cxnLst/>
              <a:rect l="l" t="t" r="r" b="b"/>
              <a:pathLst>
                <a:path w="96519" h="413385">
                  <a:moveTo>
                    <a:pt x="48132" y="413003"/>
                  </a:moveTo>
                  <a:lnTo>
                    <a:pt x="48132" y="4063"/>
                  </a:lnTo>
                </a:path>
                <a:path w="96519" h="413385">
                  <a:moveTo>
                    <a:pt x="0" y="41782"/>
                  </a:moveTo>
                  <a:lnTo>
                    <a:pt x="18923" y="34416"/>
                  </a:lnTo>
                  <a:lnTo>
                    <a:pt x="32765" y="24383"/>
                  </a:lnTo>
                  <a:lnTo>
                    <a:pt x="42290" y="12700"/>
                  </a:lnTo>
                  <a:lnTo>
                    <a:pt x="48132" y="0"/>
                  </a:lnTo>
                  <a:lnTo>
                    <a:pt x="53975" y="12700"/>
                  </a:lnTo>
                  <a:lnTo>
                    <a:pt x="63500" y="24383"/>
                  </a:lnTo>
                  <a:lnTo>
                    <a:pt x="77343" y="34416"/>
                  </a:lnTo>
                  <a:lnTo>
                    <a:pt x="96265" y="41782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2408047" y="970915"/>
            <a:ext cx="12446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y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37261" y="6643369"/>
            <a:ext cx="1173480" cy="241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20"/>
              </a:lnSpc>
            </a:pPr>
            <a:r>
              <a:rPr sz="1700" b="1" dirty="0">
                <a:solidFill>
                  <a:srgbClr val="FFFFFF"/>
                </a:solidFill>
                <a:latin typeface="Calibri"/>
                <a:cs typeface="Calibri"/>
              </a:rPr>
              <a:t>NIT</a:t>
            </a:r>
            <a:r>
              <a:rPr sz="17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b="1" spc="-10" dirty="0">
                <a:solidFill>
                  <a:srgbClr val="FFFFFF"/>
                </a:solidFill>
                <a:latin typeface="Calibri"/>
                <a:cs typeface="Calibri"/>
              </a:rPr>
              <a:t>Rourkela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568188" y="6658229"/>
            <a:ext cx="293687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dirty="0">
                <a:latin typeface="Calibri"/>
                <a:cs typeface="Calibri"/>
              </a:rPr>
              <a:t>“Deep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Learning: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Neuron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to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Perceptron”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413510" y="2678683"/>
            <a:ext cx="680085" cy="23050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450215" algn="l"/>
              </a:tabLst>
            </a:pPr>
            <a:r>
              <a:rPr sz="135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425" spc="-37" baseline="-11695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425" baseline="-11695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35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425" spc="-37" baseline="-11695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425" baseline="-11695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781415" y="5589523"/>
            <a:ext cx="196215" cy="2197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50" spc="-25" dirty="0">
                <a:solidFill>
                  <a:srgbClr val="213739"/>
                </a:solidFill>
                <a:latin typeface="Arial MT"/>
                <a:cs typeface="Arial MT"/>
              </a:rPr>
              <a:t>22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302891" y="2663190"/>
            <a:ext cx="444500" cy="23050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54965" algn="l"/>
              </a:tabLst>
            </a:pPr>
            <a:r>
              <a:rPr sz="1350" i="1" spc="-25" dirty="0">
                <a:solidFill>
                  <a:srgbClr val="213739"/>
                </a:solidFill>
                <a:latin typeface="Calibri"/>
                <a:cs typeface="Calibri"/>
              </a:rPr>
              <a:t>..</a:t>
            </a:r>
            <a:r>
              <a:rPr sz="13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350" i="1" spc="-25" dirty="0">
                <a:solidFill>
                  <a:srgbClr val="213739"/>
                </a:solidFill>
                <a:latin typeface="Calibri"/>
                <a:cs typeface="Calibri"/>
              </a:rPr>
              <a:t>..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961132" y="2678683"/>
            <a:ext cx="264795" cy="23050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35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425" i="1" spc="-37" baseline="-11695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endParaRPr sz="1425" baseline="-11695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972558" y="1376883"/>
            <a:ext cx="932180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749935" algn="l"/>
              </a:tabLst>
            </a:pP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y</a:t>
            </a:r>
            <a:r>
              <a:rPr sz="1750" i="1" spc="15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9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65" dirty="0">
                <a:solidFill>
                  <a:srgbClr val="213739"/>
                </a:solidFill>
                <a:latin typeface="Calibri"/>
                <a:cs typeface="Calibri"/>
              </a:rPr>
              <a:t>if 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284086" y="1376883"/>
            <a:ext cx="1116330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i="1" baseline="-17777" dirty="0">
                <a:solidFill>
                  <a:srgbClr val="213739"/>
                </a:solidFill>
                <a:latin typeface="Calibri"/>
                <a:cs typeface="Calibri"/>
              </a:rPr>
              <a:t>i</a:t>
            </a:r>
            <a:r>
              <a:rPr sz="1875" i="1" spc="472" baseline="-17777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Lucida Sans Unicode"/>
                <a:cs typeface="Lucida Sans Unicode"/>
              </a:rPr>
              <a:t>∗</a:t>
            </a:r>
            <a:r>
              <a:rPr sz="1750" i="1" spc="-9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i="1" spc="-14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875" i="1" baseline="-17777" dirty="0">
                <a:solidFill>
                  <a:srgbClr val="213739"/>
                </a:solidFill>
                <a:latin typeface="Calibri"/>
                <a:cs typeface="Calibri"/>
              </a:rPr>
              <a:t>i</a:t>
            </a:r>
            <a:r>
              <a:rPr sz="1875" i="1" spc="577" baseline="-17777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≥</a:t>
            </a:r>
            <a:r>
              <a:rPr sz="1750" spc="-8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θ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975096" y="1128731"/>
            <a:ext cx="285115" cy="1000760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09"/>
              </a:spcBef>
            </a:pPr>
            <a:r>
              <a:rPr sz="1250" i="1" spc="-50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endParaRPr sz="1250">
              <a:latin typeface="Calibri"/>
              <a:cs typeface="Calibri"/>
            </a:endParaRPr>
          </a:p>
          <a:p>
            <a:pPr marR="14604" algn="ctr">
              <a:lnSpc>
                <a:spcPct val="100000"/>
              </a:lnSpc>
              <a:spcBef>
                <a:spcPts val="525"/>
              </a:spcBef>
            </a:pPr>
            <a:r>
              <a:rPr sz="1750" spc="-50" dirty="0">
                <a:solidFill>
                  <a:srgbClr val="213739"/>
                </a:solidFill>
                <a:latin typeface="Lucida Sans Unicode"/>
                <a:cs typeface="Lucida Sans Unicode"/>
              </a:rPr>
              <a:t>Σ</a:t>
            </a:r>
            <a:endParaRPr sz="1750">
              <a:latin typeface="Lucida Sans Unicode"/>
              <a:cs typeface="Lucida Sans Unicode"/>
            </a:endParaRPr>
          </a:p>
          <a:p>
            <a:pPr algn="ctr">
              <a:lnSpc>
                <a:spcPct val="100000"/>
              </a:lnSpc>
              <a:spcBef>
                <a:spcPts val="115"/>
              </a:spcBef>
            </a:pPr>
            <a:r>
              <a:rPr sz="1250" i="1" dirty="0">
                <a:solidFill>
                  <a:srgbClr val="FF0000"/>
                </a:solidFill>
                <a:latin typeface="Calibri"/>
                <a:cs typeface="Calibri"/>
              </a:rPr>
              <a:t>i</a:t>
            </a:r>
            <a:r>
              <a:rPr sz="1250" i="1" spc="-1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50" spc="55" dirty="0">
                <a:solidFill>
                  <a:srgbClr val="FF0000"/>
                </a:solidFill>
                <a:latin typeface="Calibri"/>
                <a:cs typeface="Calibri"/>
              </a:rPr>
              <a:t>=1 </a:t>
            </a:r>
            <a:endParaRPr sz="125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sz="1250" i="1" spc="-50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149341" y="2108961"/>
            <a:ext cx="75565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73405" algn="l"/>
              </a:tabLst>
            </a:pP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70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65" dirty="0">
                <a:solidFill>
                  <a:srgbClr val="213739"/>
                </a:solidFill>
                <a:latin typeface="Calibri"/>
                <a:cs typeface="Calibri"/>
              </a:rPr>
              <a:t>if 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949696" y="2007505"/>
            <a:ext cx="1450340" cy="660400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113030">
              <a:lnSpc>
                <a:spcPct val="100000"/>
              </a:lnSpc>
              <a:spcBef>
                <a:spcPts val="885"/>
              </a:spcBef>
            </a:pPr>
            <a:r>
              <a:rPr sz="2625" baseline="-4761" dirty="0">
                <a:solidFill>
                  <a:srgbClr val="213739"/>
                </a:solidFill>
                <a:latin typeface="Lucida Sans Unicode"/>
                <a:cs typeface="Lucida Sans Unicode"/>
              </a:rPr>
              <a:t>Σ</a:t>
            </a:r>
            <a:r>
              <a:rPr sz="2625" spc="637" baseline="-4761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i="1" baseline="-17777" dirty="0">
                <a:solidFill>
                  <a:srgbClr val="213739"/>
                </a:solidFill>
                <a:latin typeface="Calibri"/>
                <a:cs typeface="Calibri"/>
              </a:rPr>
              <a:t>i</a:t>
            </a:r>
            <a:r>
              <a:rPr sz="1875" i="1" spc="509" baseline="-17777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Lucida Sans Unicode"/>
                <a:cs typeface="Lucida Sans Unicode"/>
              </a:rPr>
              <a:t>∗</a:t>
            </a:r>
            <a:r>
              <a:rPr sz="1750" i="1" spc="-9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i="1" spc="-14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875" i="1" baseline="-17777" dirty="0">
                <a:solidFill>
                  <a:srgbClr val="213739"/>
                </a:solidFill>
                <a:latin typeface="Calibri"/>
                <a:cs typeface="Calibri"/>
              </a:rPr>
              <a:t>i</a:t>
            </a:r>
            <a:r>
              <a:rPr sz="1875" i="1" spc="644" baseline="-17777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spc="80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θ</a:t>
            </a:r>
            <a:endParaRPr sz="175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605"/>
              </a:spcBef>
            </a:pPr>
            <a:r>
              <a:rPr sz="1250" i="1" dirty="0">
                <a:solidFill>
                  <a:srgbClr val="FF0000"/>
                </a:solidFill>
                <a:latin typeface="Calibri"/>
                <a:cs typeface="Calibri"/>
              </a:rPr>
              <a:t>i</a:t>
            </a:r>
            <a:r>
              <a:rPr sz="1250" i="1" spc="-1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50" spc="55" dirty="0">
                <a:solidFill>
                  <a:srgbClr val="FF0000"/>
                </a:solidFill>
                <a:latin typeface="Calibri"/>
                <a:cs typeface="Calibri"/>
              </a:rPr>
              <a:t>=1 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946016" y="2877692"/>
            <a:ext cx="1863089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Rewriting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above,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972558" y="3580002"/>
            <a:ext cx="93218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749935" algn="l"/>
              </a:tabLst>
            </a:pP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y</a:t>
            </a:r>
            <a:r>
              <a:rPr sz="1750" i="1" spc="16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9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65" dirty="0">
                <a:solidFill>
                  <a:srgbClr val="213739"/>
                </a:solidFill>
                <a:latin typeface="Calibri"/>
                <a:cs typeface="Calibri"/>
              </a:rPr>
              <a:t>if 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284086" y="3580002"/>
            <a:ext cx="147955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i="1" baseline="-17777" dirty="0">
                <a:solidFill>
                  <a:srgbClr val="213739"/>
                </a:solidFill>
                <a:latin typeface="Calibri"/>
                <a:cs typeface="Calibri"/>
              </a:rPr>
              <a:t>i</a:t>
            </a:r>
            <a:r>
              <a:rPr sz="1875" i="1" spc="367" baseline="-17777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Lucida Sans Unicode"/>
                <a:cs typeface="Lucida Sans Unicode"/>
              </a:rPr>
              <a:t>∗</a:t>
            </a:r>
            <a:r>
              <a:rPr sz="1750" i="1" spc="-9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i="1" spc="-6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875" i="1" baseline="-17777" dirty="0">
                <a:solidFill>
                  <a:srgbClr val="213739"/>
                </a:solidFill>
                <a:latin typeface="Calibri"/>
                <a:cs typeface="Calibri"/>
              </a:rPr>
              <a:t>i</a:t>
            </a:r>
            <a:r>
              <a:rPr sz="1875" i="1" spc="270" baseline="-17777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−</a:t>
            </a:r>
            <a:r>
              <a:rPr sz="1750" spc="-23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θ</a:t>
            </a:r>
            <a:r>
              <a:rPr sz="1750" i="1" spc="11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≥</a:t>
            </a:r>
            <a:r>
              <a:rPr sz="1750" spc="-12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975096" y="3380613"/>
            <a:ext cx="285115" cy="14897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algn="ctr">
              <a:lnSpc>
                <a:spcPts val="1495"/>
              </a:lnSpc>
              <a:spcBef>
                <a:spcPts val="120"/>
              </a:spcBef>
            </a:pPr>
            <a:r>
              <a:rPr sz="1250" i="1" spc="-50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endParaRPr sz="1250">
              <a:latin typeface="Calibri"/>
              <a:cs typeface="Calibri"/>
            </a:endParaRPr>
          </a:p>
          <a:p>
            <a:pPr marL="22225" algn="ctr">
              <a:lnSpc>
                <a:spcPts val="2095"/>
              </a:lnSpc>
            </a:pPr>
            <a:r>
              <a:rPr sz="1750" spc="-50" dirty="0">
                <a:solidFill>
                  <a:srgbClr val="213739"/>
                </a:solidFill>
                <a:latin typeface="Lucida Sans Unicode"/>
                <a:cs typeface="Lucida Sans Unicode"/>
              </a:rPr>
              <a:t>Σ</a:t>
            </a:r>
            <a:endParaRPr sz="1750">
              <a:latin typeface="Lucida Sans Unicode"/>
              <a:cs typeface="Lucida Sans Unicode"/>
            </a:endParaRPr>
          </a:p>
          <a:p>
            <a:pPr algn="ctr">
              <a:lnSpc>
                <a:spcPct val="100000"/>
              </a:lnSpc>
              <a:spcBef>
                <a:spcPts val="650"/>
              </a:spcBef>
            </a:pPr>
            <a:r>
              <a:rPr sz="1250" i="1" dirty="0">
                <a:solidFill>
                  <a:srgbClr val="FF0000"/>
                </a:solidFill>
                <a:latin typeface="Calibri"/>
                <a:cs typeface="Calibri"/>
              </a:rPr>
              <a:t>i</a:t>
            </a:r>
            <a:r>
              <a:rPr sz="1250" i="1" spc="-1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50" spc="55" dirty="0">
                <a:solidFill>
                  <a:srgbClr val="FF0000"/>
                </a:solidFill>
                <a:latin typeface="Calibri"/>
                <a:cs typeface="Calibri"/>
              </a:rPr>
              <a:t>=1 </a:t>
            </a:r>
            <a:endParaRPr sz="125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25"/>
              </a:spcBef>
            </a:pPr>
            <a:r>
              <a:rPr sz="1250" i="1" spc="-50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endParaRPr sz="1250">
              <a:latin typeface="Calibri"/>
              <a:cs typeface="Calibri"/>
            </a:endParaRPr>
          </a:p>
          <a:p>
            <a:pPr marR="14604" algn="ctr">
              <a:lnSpc>
                <a:spcPct val="100000"/>
              </a:lnSpc>
              <a:spcBef>
                <a:spcPts val="225"/>
              </a:spcBef>
            </a:pPr>
            <a:r>
              <a:rPr sz="1750" spc="-50" dirty="0">
                <a:solidFill>
                  <a:srgbClr val="213739"/>
                </a:solidFill>
                <a:latin typeface="Lucida Sans Unicode"/>
                <a:cs typeface="Lucida Sans Unicode"/>
              </a:rPr>
              <a:t>Σ</a:t>
            </a:r>
            <a:endParaRPr sz="1750">
              <a:latin typeface="Lucida Sans Unicode"/>
              <a:cs typeface="Lucida Sans Unicode"/>
            </a:endParaRPr>
          </a:p>
          <a:p>
            <a:pPr algn="ctr">
              <a:lnSpc>
                <a:spcPct val="100000"/>
              </a:lnSpc>
              <a:spcBef>
                <a:spcPts val="409"/>
              </a:spcBef>
            </a:pPr>
            <a:r>
              <a:rPr sz="1250" i="1" dirty="0">
                <a:solidFill>
                  <a:srgbClr val="FF0000"/>
                </a:solidFill>
                <a:latin typeface="Calibri"/>
                <a:cs typeface="Calibri"/>
              </a:rPr>
              <a:t>i</a:t>
            </a:r>
            <a:r>
              <a:rPr sz="1250" i="1" spc="-1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50" spc="55" dirty="0">
                <a:solidFill>
                  <a:srgbClr val="FF0000"/>
                </a:solidFill>
                <a:latin typeface="Calibri"/>
                <a:cs typeface="Calibri"/>
              </a:rPr>
              <a:t>=1 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149341" y="4311522"/>
            <a:ext cx="75565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73405" algn="l"/>
              </a:tabLst>
            </a:pP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70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65" dirty="0">
                <a:solidFill>
                  <a:srgbClr val="213739"/>
                </a:solidFill>
                <a:latin typeface="Calibri"/>
                <a:cs typeface="Calibri"/>
              </a:rPr>
              <a:t>if 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282182" y="4311522"/>
            <a:ext cx="147955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i="1" baseline="-17777" dirty="0">
                <a:solidFill>
                  <a:srgbClr val="213739"/>
                </a:solidFill>
                <a:latin typeface="Calibri"/>
                <a:cs typeface="Calibri"/>
              </a:rPr>
              <a:t>i</a:t>
            </a:r>
            <a:r>
              <a:rPr sz="1875" i="1" spc="390" baseline="-17777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Lucida Sans Unicode"/>
                <a:cs typeface="Lucida Sans Unicode"/>
              </a:rPr>
              <a:t>∗</a:t>
            </a:r>
            <a:r>
              <a:rPr sz="1750" i="1" spc="-9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i="1" spc="-7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875" i="1" baseline="-17777" dirty="0">
                <a:solidFill>
                  <a:srgbClr val="213739"/>
                </a:solidFill>
                <a:latin typeface="Calibri"/>
                <a:cs typeface="Calibri"/>
              </a:rPr>
              <a:t>i</a:t>
            </a:r>
            <a:r>
              <a:rPr sz="1875" i="1" spc="315" baseline="-17777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−</a:t>
            </a:r>
            <a:r>
              <a:rPr sz="1750" spc="-22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θ</a:t>
            </a:r>
            <a:r>
              <a:rPr sz="1750" i="1" spc="11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spc="5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34" name="object 3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Perceptron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5410" y="3031058"/>
            <a:ext cx="861060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620395" algn="l"/>
              </a:tabLst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04110" y="3014294"/>
            <a:ext cx="129539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..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75864" y="3011881"/>
            <a:ext cx="129539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..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63797" y="3031058"/>
            <a:ext cx="275590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5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i="1" spc="75" baseline="-8888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endParaRPr sz="1875" baseline="-8888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98090" y="1340113"/>
            <a:ext cx="2491105" cy="1821814"/>
            <a:chOff x="998090" y="1340113"/>
            <a:chExt cx="2491105" cy="1821814"/>
          </a:xfrm>
        </p:grpSpPr>
        <p:sp>
          <p:nvSpPr>
            <p:cNvPr id="7" name="object 7"/>
            <p:cNvSpPr/>
            <p:nvPr/>
          </p:nvSpPr>
          <p:spPr>
            <a:xfrm>
              <a:off x="2193036" y="1763648"/>
              <a:ext cx="571500" cy="570865"/>
            </a:xfrm>
            <a:custGeom>
              <a:avLst/>
              <a:gdLst/>
              <a:ahLst/>
              <a:cxnLst/>
              <a:rect l="l" t="t" r="r" b="b"/>
              <a:pathLst>
                <a:path w="571500" h="570864">
                  <a:moveTo>
                    <a:pt x="285495" y="0"/>
                  </a:moveTo>
                  <a:lnTo>
                    <a:pt x="209676" y="10160"/>
                  </a:lnTo>
                  <a:lnTo>
                    <a:pt x="141477" y="38988"/>
                  </a:lnTo>
                  <a:lnTo>
                    <a:pt x="83693" y="83565"/>
                  </a:lnTo>
                  <a:lnTo>
                    <a:pt x="38988" y="141350"/>
                  </a:lnTo>
                  <a:lnTo>
                    <a:pt x="10287" y="209550"/>
                  </a:lnTo>
                  <a:lnTo>
                    <a:pt x="0" y="285496"/>
                  </a:lnTo>
                  <a:lnTo>
                    <a:pt x="10287" y="361314"/>
                  </a:lnTo>
                  <a:lnTo>
                    <a:pt x="38988" y="429513"/>
                  </a:lnTo>
                  <a:lnTo>
                    <a:pt x="83693" y="487299"/>
                  </a:lnTo>
                  <a:lnTo>
                    <a:pt x="141477" y="532002"/>
                  </a:lnTo>
                  <a:lnTo>
                    <a:pt x="209676" y="560704"/>
                  </a:lnTo>
                  <a:lnTo>
                    <a:pt x="285495" y="570864"/>
                  </a:lnTo>
                  <a:lnTo>
                    <a:pt x="361441" y="560704"/>
                  </a:lnTo>
                  <a:lnTo>
                    <a:pt x="429640" y="532002"/>
                  </a:lnTo>
                  <a:lnTo>
                    <a:pt x="487425" y="487299"/>
                  </a:lnTo>
                  <a:lnTo>
                    <a:pt x="532002" y="429513"/>
                  </a:lnTo>
                  <a:lnTo>
                    <a:pt x="560832" y="361314"/>
                  </a:lnTo>
                  <a:lnTo>
                    <a:pt x="570991" y="285496"/>
                  </a:lnTo>
                  <a:lnTo>
                    <a:pt x="560832" y="209550"/>
                  </a:lnTo>
                  <a:lnTo>
                    <a:pt x="532002" y="141350"/>
                  </a:lnTo>
                  <a:lnTo>
                    <a:pt x="487425" y="83565"/>
                  </a:lnTo>
                  <a:lnTo>
                    <a:pt x="429640" y="38988"/>
                  </a:lnTo>
                  <a:lnTo>
                    <a:pt x="361441" y="10160"/>
                  </a:lnTo>
                  <a:lnTo>
                    <a:pt x="285495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193036" y="1763648"/>
              <a:ext cx="571500" cy="570865"/>
            </a:xfrm>
            <a:custGeom>
              <a:avLst/>
              <a:gdLst/>
              <a:ahLst/>
              <a:cxnLst/>
              <a:rect l="l" t="t" r="r" b="b"/>
              <a:pathLst>
                <a:path w="571500" h="570864">
                  <a:moveTo>
                    <a:pt x="570991" y="285496"/>
                  </a:moveTo>
                  <a:lnTo>
                    <a:pt x="560832" y="209550"/>
                  </a:lnTo>
                  <a:lnTo>
                    <a:pt x="532002" y="141350"/>
                  </a:lnTo>
                  <a:lnTo>
                    <a:pt x="487425" y="83565"/>
                  </a:lnTo>
                  <a:lnTo>
                    <a:pt x="429640" y="38988"/>
                  </a:lnTo>
                  <a:lnTo>
                    <a:pt x="361441" y="10160"/>
                  </a:lnTo>
                  <a:lnTo>
                    <a:pt x="285495" y="0"/>
                  </a:lnTo>
                  <a:lnTo>
                    <a:pt x="209676" y="10160"/>
                  </a:lnTo>
                  <a:lnTo>
                    <a:pt x="141477" y="38988"/>
                  </a:lnTo>
                  <a:lnTo>
                    <a:pt x="83693" y="83565"/>
                  </a:lnTo>
                  <a:lnTo>
                    <a:pt x="38988" y="141350"/>
                  </a:lnTo>
                  <a:lnTo>
                    <a:pt x="10287" y="209550"/>
                  </a:lnTo>
                  <a:lnTo>
                    <a:pt x="0" y="285496"/>
                  </a:lnTo>
                  <a:lnTo>
                    <a:pt x="10287" y="361314"/>
                  </a:lnTo>
                  <a:lnTo>
                    <a:pt x="38988" y="429513"/>
                  </a:lnTo>
                  <a:lnTo>
                    <a:pt x="83693" y="487299"/>
                  </a:lnTo>
                  <a:lnTo>
                    <a:pt x="141477" y="532002"/>
                  </a:lnTo>
                  <a:lnTo>
                    <a:pt x="209676" y="560704"/>
                  </a:lnTo>
                  <a:lnTo>
                    <a:pt x="285495" y="570864"/>
                  </a:lnTo>
                  <a:lnTo>
                    <a:pt x="361441" y="560704"/>
                  </a:lnTo>
                  <a:lnTo>
                    <a:pt x="429640" y="532002"/>
                  </a:lnTo>
                  <a:lnTo>
                    <a:pt x="487425" y="487299"/>
                  </a:lnTo>
                  <a:lnTo>
                    <a:pt x="532002" y="429513"/>
                  </a:lnTo>
                  <a:lnTo>
                    <a:pt x="560832" y="361314"/>
                  </a:lnTo>
                  <a:lnTo>
                    <a:pt x="570991" y="285496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470913" y="2267711"/>
              <a:ext cx="799465" cy="839469"/>
            </a:xfrm>
            <a:custGeom>
              <a:avLst/>
              <a:gdLst/>
              <a:ahLst/>
              <a:cxnLst/>
              <a:rect l="l" t="t" r="r" b="b"/>
              <a:pathLst>
                <a:path w="799464" h="839469">
                  <a:moveTo>
                    <a:pt x="0" y="839342"/>
                  </a:moveTo>
                  <a:lnTo>
                    <a:pt x="799465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06885" y="2259209"/>
              <a:ext cx="74917" cy="7161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974722" y="2321940"/>
              <a:ext cx="374015" cy="785495"/>
            </a:xfrm>
            <a:custGeom>
              <a:avLst/>
              <a:gdLst/>
              <a:ahLst/>
              <a:cxnLst/>
              <a:rect l="l" t="t" r="r" b="b"/>
              <a:pathLst>
                <a:path w="374014" h="785494">
                  <a:moveTo>
                    <a:pt x="0" y="785113"/>
                  </a:moveTo>
                  <a:lnTo>
                    <a:pt x="373888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86257" y="2315848"/>
              <a:ext cx="92195" cy="6362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430398" y="2321940"/>
              <a:ext cx="577215" cy="837565"/>
            </a:xfrm>
            <a:custGeom>
              <a:avLst/>
              <a:gdLst/>
              <a:ahLst/>
              <a:cxnLst/>
              <a:rect l="l" t="t" r="r" b="b"/>
              <a:pathLst>
                <a:path w="577214" h="837564">
                  <a:moveTo>
                    <a:pt x="48132" y="837311"/>
                  </a:moveTo>
                  <a:lnTo>
                    <a:pt x="48132" y="28701"/>
                  </a:lnTo>
                </a:path>
                <a:path w="577214" h="837564">
                  <a:moveTo>
                    <a:pt x="0" y="66421"/>
                  </a:moveTo>
                  <a:lnTo>
                    <a:pt x="18923" y="59055"/>
                  </a:lnTo>
                  <a:lnTo>
                    <a:pt x="32765" y="49149"/>
                  </a:lnTo>
                  <a:lnTo>
                    <a:pt x="42290" y="37337"/>
                  </a:lnTo>
                  <a:lnTo>
                    <a:pt x="48132" y="24637"/>
                  </a:lnTo>
                  <a:lnTo>
                    <a:pt x="53975" y="37337"/>
                  </a:lnTo>
                  <a:lnTo>
                    <a:pt x="63500" y="49149"/>
                  </a:lnTo>
                  <a:lnTo>
                    <a:pt x="77343" y="59055"/>
                  </a:lnTo>
                  <a:lnTo>
                    <a:pt x="96265" y="66421"/>
                  </a:lnTo>
                </a:path>
                <a:path w="577214" h="837564">
                  <a:moveTo>
                    <a:pt x="576833" y="837311"/>
                  </a:moveTo>
                  <a:lnTo>
                    <a:pt x="178053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78611" y="2315848"/>
              <a:ext cx="92195" cy="6362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686685" y="2267711"/>
              <a:ext cx="799465" cy="839469"/>
            </a:xfrm>
            <a:custGeom>
              <a:avLst/>
              <a:gdLst/>
              <a:ahLst/>
              <a:cxnLst/>
              <a:rect l="l" t="t" r="r" b="b"/>
              <a:pathLst>
                <a:path w="799464" h="839469">
                  <a:moveTo>
                    <a:pt x="799464" y="839342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75388" y="2259209"/>
              <a:ext cx="74790" cy="71615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000620" y="2222880"/>
              <a:ext cx="1229995" cy="861060"/>
            </a:xfrm>
            <a:custGeom>
              <a:avLst/>
              <a:gdLst/>
              <a:ahLst/>
              <a:cxnLst/>
              <a:rect l="l" t="t" r="r" b="b"/>
              <a:pathLst>
                <a:path w="1229995" h="861060">
                  <a:moveTo>
                    <a:pt x="0" y="860679"/>
                  </a:moveTo>
                  <a:lnTo>
                    <a:pt x="1229753" y="0"/>
                  </a:lnTo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69030" y="2202432"/>
              <a:ext cx="67186" cy="84331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2430398" y="1342643"/>
              <a:ext cx="96520" cy="413384"/>
            </a:xfrm>
            <a:custGeom>
              <a:avLst/>
              <a:gdLst/>
              <a:ahLst/>
              <a:cxnLst/>
              <a:rect l="l" t="t" r="r" b="b"/>
              <a:pathLst>
                <a:path w="96519" h="413385">
                  <a:moveTo>
                    <a:pt x="48132" y="413003"/>
                  </a:moveTo>
                  <a:lnTo>
                    <a:pt x="48132" y="4063"/>
                  </a:lnTo>
                </a:path>
                <a:path w="96519" h="413385">
                  <a:moveTo>
                    <a:pt x="0" y="41782"/>
                  </a:moveTo>
                  <a:lnTo>
                    <a:pt x="18923" y="34416"/>
                  </a:lnTo>
                  <a:lnTo>
                    <a:pt x="32765" y="24383"/>
                  </a:lnTo>
                  <a:lnTo>
                    <a:pt x="42290" y="12700"/>
                  </a:lnTo>
                  <a:lnTo>
                    <a:pt x="48132" y="0"/>
                  </a:lnTo>
                  <a:lnTo>
                    <a:pt x="53975" y="12700"/>
                  </a:lnTo>
                  <a:lnTo>
                    <a:pt x="63500" y="24383"/>
                  </a:lnTo>
                  <a:lnTo>
                    <a:pt x="77343" y="34416"/>
                  </a:lnTo>
                  <a:lnTo>
                    <a:pt x="96265" y="41782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408047" y="970915"/>
            <a:ext cx="12446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y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37261" y="6643369"/>
            <a:ext cx="1173480" cy="241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20"/>
              </a:lnSpc>
            </a:pPr>
            <a:r>
              <a:rPr sz="1700" b="1" dirty="0">
                <a:solidFill>
                  <a:srgbClr val="FFFFFF"/>
                </a:solidFill>
                <a:latin typeface="Calibri"/>
                <a:cs typeface="Calibri"/>
              </a:rPr>
              <a:t>NIT</a:t>
            </a:r>
            <a:r>
              <a:rPr sz="17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b="1" spc="-10" dirty="0">
                <a:solidFill>
                  <a:srgbClr val="FFFFFF"/>
                </a:solidFill>
                <a:latin typeface="Calibri"/>
                <a:cs typeface="Calibri"/>
              </a:rPr>
              <a:t>Rourkela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568188" y="6658229"/>
            <a:ext cx="293687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dirty="0">
                <a:latin typeface="Calibri"/>
                <a:cs typeface="Calibri"/>
              </a:rPr>
              <a:t>“Deep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Learning: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Neuron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to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Perceptron”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414017" y="2678683"/>
            <a:ext cx="678180" cy="23050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448309" algn="l"/>
              </a:tabLst>
            </a:pPr>
            <a:r>
              <a:rPr sz="135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425" spc="-37" baseline="-11695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425" baseline="-11695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35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425" spc="-37" baseline="-11695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425" baseline="-11695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67690" y="5201539"/>
            <a:ext cx="63246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where,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259458" y="5195442"/>
            <a:ext cx="69913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6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89" baseline="-8888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875" spc="547" baseline="-8888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8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102230" y="5195442"/>
            <a:ext cx="150495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619760" algn="l"/>
              </a:tabLst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and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w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875" spc="397" baseline="-8888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80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spc="-25" dirty="0">
                <a:solidFill>
                  <a:srgbClr val="213739"/>
                </a:solidFill>
                <a:latin typeface="Lucida Sans Unicode"/>
                <a:cs typeface="Lucida Sans Unicode"/>
              </a:rPr>
              <a:t>−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θ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781415" y="5589523"/>
            <a:ext cx="196215" cy="2197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50" spc="-25" dirty="0">
                <a:solidFill>
                  <a:srgbClr val="213739"/>
                </a:solidFill>
                <a:latin typeface="Arial MT"/>
                <a:cs typeface="Arial MT"/>
              </a:rPr>
              <a:t>22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302891" y="2663190"/>
            <a:ext cx="444500" cy="23050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54965" algn="l"/>
              </a:tabLst>
            </a:pPr>
            <a:r>
              <a:rPr sz="1350" i="1" spc="-25" dirty="0">
                <a:solidFill>
                  <a:srgbClr val="213739"/>
                </a:solidFill>
                <a:latin typeface="Calibri"/>
                <a:cs typeface="Calibri"/>
              </a:rPr>
              <a:t>..</a:t>
            </a:r>
            <a:r>
              <a:rPr sz="13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350" i="1" spc="-25" dirty="0">
                <a:solidFill>
                  <a:srgbClr val="213739"/>
                </a:solidFill>
                <a:latin typeface="Calibri"/>
                <a:cs typeface="Calibri"/>
              </a:rPr>
              <a:t>..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961132" y="2678683"/>
            <a:ext cx="264795" cy="23050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35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425" i="1" spc="-37" baseline="-11695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endParaRPr sz="1425" baseline="-11695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12368" y="2692400"/>
            <a:ext cx="735965" cy="23050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350" i="1" dirty="0">
                <a:solidFill>
                  <a:srgbClr val="FF0000"/>
                </a:solidFill>
                <a:latin typeface="Calibri"/>
                <a:cs typeface="Calibri"/>
              </a:rPr>
              <a:t>w</a:t>
            </a:r>
            <a:r>
              <a:rPr sz="1425" baseline="-11695" dirty="0">
                <a:solidFill>
                  <a:srgbClr val="FF0000"/>
                </a:solidFill>
                <a:latin typeface="Calibri"/>
                <a:cs typeface="Calibri"/>
              </a:rPr>
              <a:t>0</a:t>
            </a:r>
            <a:r>
              <a:rPr sz="1425" spc="367" baseline="-1169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1350" spc="48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350" spc="-25" dirty="0">
                <a:solidFill>
                  <a:srgbClr val="FF0000"/>
                </a:solidFill>
                <a:latin typeface="Lucida Sans Unicode"/>
                <a:cs typeface="Lucida Sans Unicode"/>
              </a:rPr>
              <a:t>−</a:t>
            </a:r>
            <a:r>
              <a:rPr sz="1350" i="1" spc="-25" dirty="0">
                <a:solidFill>
                  <a:srgbClr val="FF0000"/>
                </a:solidFill>
                <a:latin typeface="Calibri"/>
                <a:cs typeface="Calibri"/>
              </a:rPr>
              <a:t>θ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16356" y="3056890"/>
            <a:ext cx="69913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60" dirty="0">
                <a:solidFill>
                  <a:srgbClr val="FF0000"/>
                </a:solidFill>
                <a:latin typeface="Calibri"/>
                <a:cs typeface="Calibri"/>
              </a:rPr>
              <a:t>x</a:t>
            </a:r>
            <a:r>
              <a:rPr sz="1875" spc="89" baseline="-8888" dirty="0">
                <a:solidFill>
                  <a:srgbClr val="FF0000"/>
                </a:solidFill>
                <a:latin typeface="Calibri"/>
                <a:cs typeface="Calibri"/>
              </a:rPr>
              <a:t>0</a:t>
            </a:r>
            <a:r>
              <a:rPr sz="1875" spc="547" baseline="-8888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1750" spc="85" dirty="0">
                <a:solidFill>
                  <a:srgbClr val="FF0000"/>
                </a:solidFill>
                <a:latin typeface="Calibri"/>
                <a:cs typeface="Calibri"/>
              </a:rPr>
              <a:t>  </a:t>
            </a:r>
            <a:r>
              <a:rPr sz="1750" spc="-50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972558" y="1376883"/>
            <a:ext cx="932180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749935" algn="l"/>
              </a:tabLst>
            </a:pP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y</a:t>
            </a:r>
            <a:r>
              <a:rPr sz="1750" i="1" spc="15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9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65" dirty="0">
                <a:solidFill>
                  <a:srgbClr val="213739"/>
                </a:solidFill>
                <a:latin typeface="Calibri"/>
                <a:cs typeface="Calibri"/>
              </a:rPr>
              <a:t>if 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284086" y="1376883"/>
            <a:ext cx="1116330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i="1" baseline="-17777" dirty="0">
                <a:solidFill>
                  <a:srgbClr val="213739"/>
                </a:solidFill>
                <a:latin typeface="Calibri"/>
                <a:cs typeface="Calibri"/>
              </a:rPr>
              <a:t>i</a:t>
            </a:r>
            <a:r>
              <a:rPr sz="1875" i="1" spc="472" baseline="-17777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Lucida Sans Unicode"/>
                <a:cs typeface="Lucida Sans Unicode"/>
              </a:rPr>
              <a:t>∗</a:t>
            </a:r>
            <a:r>
              <a:rPr sz="1750" i="1" spc="-9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i="1" spc="-14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875" i="1" baseline="-17777" dirty="0">
                <a:solidFill>
                  <a:srgbClr val="213739"/>
                </a:solidFill>
                <a:latin typeface="Calibri"/>
                <a:cs typeface="Calibri"/>
              </a:rPr>
              <a:t>i</a:t>
            </a:r>
            <a:r>
              <a:rPr sz="1875" i="1" spc="577" baseline="-17777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≥</a:t>
            </a:r>
            <a:r>
              <a:rPr sz="1750" spc="-8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θ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975096" y="1141914"/>
            <a:ext cx="285115" cy="987425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05"/>
              </a:spcBef>
            </a:pPr>
            <a:r>
              <a:rPr sz="1250" i="1" spc="-50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endParaRPr sz="1250">
              <a:latin typeface="Calibri"/>
              <a:cs typeface="Calibri"/>
            </a:endParaRPr>
          </a:p>
          <a:p>
            <a:pPr marR="14604" algn="ctr">
              <a:lnSpc>
                <a:spcPct val="100000"/>
              </a:lnSpc>
              <a:spcBef>
                <a:spcPts val="385"/>
              </a:spcBef>
            </a:pPr>
            <a:r>
              <a:rPr sz="1750" spc="-50" dirty="0">
                <a:solidFill>
                  <a:srgbClr val="213739"/>
                </a:solidFill>
                <a:latin typeface="Lucida Sans Unicode"/>
                <a:cs typeface="Lucida Sans Unicode"/>
              </a:rPr>
              <a:t>Σ</a:t>
            </a:r>
            <a:endParaRPr sz="1750">
              <a:latin typeface="Lucida Sans Unicode"/>
              <a:cs typeface="Lucida Sans Unicode"/>
            </a:endParaRPr>
          </a:p>
          <a:p>
            <a:pPr algn="ctr">
              <a:lnSpc>
                <a:spcPct val="100000"/>
              </a:lnSpc>
              <a:spcBef>
                <a:spcPts val="254"/>
              </a:spcBef>
            </a:pPr>
            <a:r>
              <a:rPr sz="1250" i="1" dirty="0">
                <a:solidFill>
                  <a:srgbClr val="FF0000"/>
                </a:solidFill>
                <a:latin typeface="Calibri"/>
                <a:cs typeface="Calibri"/>
              </a:rPr>
              <a:t>i</a:t>
            </a:r>
            <a:r>
              <a:rPr sz="1250" i="1" spc="-1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50" spc="55" dirty="0">
                <a:solidFill>
                  <a:srgbClr val="FF0000"/>
                </a:solidFill>
                <a:latin typeface="Calibri"/>
                <a:cs typeface="Calibri"/>
              </a:rPr>
              <a:t>=1 </a:t>
            </a:r>
            <a:endParaRPr sz="125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25"/>
              </a:spcBef>
            </a:pPr>
            <a:r>
              <a:rPr sz="1250" i="1" spc="-50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149341" y="2108961"/>
            <a:ext cx="75565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73405" algn="l"/>
              </a:tabLst>
            </a:pP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70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65" dirty="0">
                <a:solidFill>
                  <a:srgbClr val="213739"/>
                </a:solidFill>
                <a:latin typeface="Calibri"/>
                <a:cs typeface="Calibri"/>
              </a:rPr>
              <a:t>if 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949696" y="2007505"/>
            <a:ext cx="1450340" cy="660400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113030">
              <a:lnSpc>
                <a:spcPct val="100000"/>
              </a:lnSpc>
              <a:spcBef>
                <a:spcPts val="885"/>
              </a:spcBef>
            </a:pPr>
            <a:r>
              <a:rPr sz="2625" baseline="-4761" dirty="0">
                <a:solidFill>
                  <a:srgbClr val="213739"/>
                </a:solidFill>
                <a:latin typeface="Lucida Sans Unicode"/>
                <a:cs typeface="Lucida Sans Unicode"/>
              </a:rPr>
              <a:t>Σ</a:t>
            </a:r>
            <a:r>
              <a:rPr sz="2625" spc="637" baseline="-4761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i="1" baseline="-17777" dirty="0">
                <a:solidFill>
                  <a:srgbClr val="213739"/>
                </a:solidFill>
                <a:latin typeface="Calibri"/>
                <a:cs typeface="Calibri"/>
              </a:rPr>
              <a:t>i</a:t>
            </a:r>
            <a:r>
              <a:rPr sz="1875" i="1" spc="509" baseline="-17777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Lucida Sans Unicode"/>
                <a:cs typeface="Lucida Sans Unicode"/>
              </a:rPr>
              <a:t>∗</a:t>
            </a:r>
            <a:r>
              <a:rPr sz="1750" i="1" spc="-9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i="1" spc="-14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875" i="1" baseline="-17777" dirty="0">
                <a:solidFill>
                  <a:srgbClr val="213739"/>
                </a:solidFill>
                <a:latin typeface="Calibri"/>
                <a:cs typeface="Calibri"/>
              </a:rPr>
              <a:t>i</a:t>
            </a:r>
            <a:r>
              <a:rPr sz="1875" i="1" spc="644" baseline="-17777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spc="80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θ</a:t>
            </a:r>
            <a:endParaRPr sz="175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605"/>
              </a:spcBef>
            </a:pPr>
            <a:r>
              <a:rPr sz="1250" i="1" dirty="0">
                <a:solidFill>
                  <a:srgbClr val="FF0000"/>
                </a:solidFill>
                <a:latin typeface="Calibri"/>
                <a:cs typeface="Calibri"/>
              </a:rPr>
              <a:t>i</a:t>
            </a:r>
            <a:r>
              <a:rPr sz="1250" i="1" spc="-1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50" spc="55" dirty="0">
                <a:solidFill>
                  <a:srgbClr val="FF0000"/>
                </a:solidFill>
                <a:latin typeface="Calibri"/>
                <a:cs typeface="Calibri"/>
              </a:rPr>
              <a:t>=1 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946016" y="2877692"/>
            <a:ext cx="1863089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Rewriting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above,</a:t>
            </a:r>
            <a:endParaRPr sz="1750">
              <a:latin typeface="Arial MT"/>
              <a:cs typeface="Arial MT"/>
            </a:endParaRPr>
          </a:p>
        </p:txBody>
      </p:sp>
      <p:graphicFrame>
        <p:nvGraphicFramePr>
          <p:cNvPr id="36" name="object 36"/>
          <p:cNvGraphicFramePr>
            <a:graphicFrameLocks noGrp="1"/>
          </p:cNvGraphicFramePr>
          <p:nvPr/>
        </p:nvGraphicFramePr>
        <p:xfrm>
          <a:off x="348640" y="3407006"/>
          <a:ext cx="7408543" cy="1747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28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5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9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63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41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719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98475">
                <a:tc>
                  <a:txBody>
                    <a:bodyPr/>
                    <a:lstStyle/>
                    <a:p>
                      <a:pPr marL="31750">
                        <a:lnSpc>
                          <a:spcPts val="1925"/>
                        </a:lnSpc>
                      </a:pPr>
                      <a:r>
                        <a:rPr sz="1750" spc="-7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Amore</a:t>
                      </a:r>
                      <a:r>
                        <a:rPr sz="1750" spc="-85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750" spc="-10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accepted</a:t>
                      </a:r>
                      <a:r>
                        <a:rPr sz="1750" spc="-65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750" spc="-1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convention,</a:t>
                      </a:r>
                      <a:endParaRPr sz="1750">
                        <a:latin typeface="Arial MT"/>
                        <a:cs typeface="Arial MT"/>
                      </a:endParaRPr>
                    </a:p>
                    <a:p>
                      <a:pPr marL="27432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50" i="1" spc="-50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n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7150" algn="r">
                        <a:lnSpc>
                          <a:spcPct val="100000"/>
                        </a:lnSpc>
                        <a:spcBef>
                          <a:spcPts val="1450"/>
                        </a:spcBef>
                      </a:pPr>
                      <a:r>
                        <a:rPr sz="1750" i="1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y</a:t>
                      </a:r>
                      <a:r>
                        <a:rPr sz="1750" i="1" spc="150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750" spc="-50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=</a:t>
                      </a:r>
                      <a:endParaRPr sz="1750">
                        <a:latin typeface="Calibri"/>
                        <a:cs typeface="Calibri"/>
                      </a:endParaRPr>
                    </a:p>
                  </a:txBody>
                  <a:tcPr marL="0" marR="0" marT="18415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1450"/>
                        </a:spcBef>
                      </a:pPr>
                      <a:r>
                        <a:rPr sz="1750" spc="-50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750">
                        <a:latin typeface="Calibri"/>
                        <a:cs typeface="Calibri"/>
                      </a:endParaRPr>
                    </a:p>
                  </a:txBody>
                  <a:tcPr marL="0" marR="0" marT="184150" marB="0"/>
                </a:tc>
                <a:tc>
                  <a:txBody>
                    <a:bodyPr/>
                    <a:lstStyle/>
                    <a:p>
                      <a:pPr marL="59690" algn="ctr">
                        <a:lnSpc>
                          <a:spcPct val="100000"/>
                        </a:lnSpc>
                        <a:spcBef>
                          <a:spcPts val="1450"/>
                        </a:spcBef>
                      </a:pPr>
                      <a:r>
                        <a:rPr sz="1750" i="1" spc="65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if </a:t>
                      </a:r>
                      <a:endParaRPr sz="1750">
                        <a:latin typeface="Calibri"/>
                        <a:cs typeface="Calibri"/>
                      </a:endParaRPr>
                    </a:p>
                  </a:txBody>
                  <a:tcPr marL="0" marR="0" marT="184150" marB="0"/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ts val="1275"/>
                        </a:lnSpc>
                      </a:pPr>
                      <a:r>
                        <a:rPr sz="1250" i="1" spc="-50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n</a:t>
                      </a:r>
                      <a:endParaRPr sz="1250">
                        <a:latin typeface="Calibri"/>
                        <a:cs typeface="Calibri"/>
                      </a:endParaRPr>
                    </a:p>
                    <a:p>
                      <a:pPr marL="666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750" spc="-50" dirty="0">
                          <a:solidFill>
                            <a:srgbClr val="213739"/>
                          </a:solidFill>
                          <a:latin typeface="Lucida Sans Unicode"/>
                          <a:cs typeface="Lucida Sans Unicode"/>
                        </a:rPr>
                        <a:t>Σ</a:t>
                      </a:r>
                      <a:endParaRPr sz="1750">
                        <a:latin typeface="Lucida Sans Unicode"/>
                        <a:cs typeface="Lucida Sans Unicode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450"/>
                        </a:spcBef>
                      </a:pPr>
                      <a:r>
                        <a:rPr sz="1750" i="1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w</a:t>
                      </a:r>
                      <a:r>
                        <a:rPr sz="1875" i="1" baseline="-8888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sz="1875" i="1" spc="187" baseline="-8888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750" spc="-95" dirty="0">
                          <a:solidFill>
                            <a:srgbClr val="213739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1750" i="1" spc="-95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x</a:t>
                      </a:r>
                      <a:r>
                        <a:rPr sz="1750" i="1" spc="-204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75" i="1" baseline="-8888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sz="1875" i="1" spc="494" baseline="-8888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750" spc="-20" dirty="0">
                          <a:solidFill>
                            <a:srgbClr val="213739"/>
                          </a:solidFill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1750" spc="-225" dirty="0">
                          <a:solidFill>
                            <a:srgbClr val="213739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750" i="1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θ</a:t>
                      </a:r>
                      <a:r>
                        <a:rPr sz="1750" i="1" spc="125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750" dirty="0">
                          <a:solidFill>
                            <a:srgbClr val="213739"/>
                          </a:solidFill>
                          <a:latin typeface="Lucida Sans Unicode"/>
                          <a:cs typeface="Lucida Sans Unicode"/>
                        </a:rPr>
                        <a:t>≥</a:t>
                      </a:r>
                      <a:r>
                        <a:rPr sz="1750" spc="-90" dirty="0">
                          <a:solidFill>
                            <a:srgbClr val="213739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750" spc="-50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1750">
                        <a:latin typeface="Calibri"/>
                        <a:cs typeface="Calibri"/>
                      </a:endParaRPr>
                    </a:p>
                  </a:txBody>
                  <a:tcPr marL="0" marR="0" marT="18415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pPr marL="1054735">
                        <a:lnSpc>
                          <a:spcPts val="1910"/>
                        </a:lnSpc>
                        <a:tabLst>
                          <a:tab pos="1790700" algn="l"/>
                          <a:tab pos="2075814" algn="l"/>
                          <a:tab pos="2390140" algn="l"/>
                        </a:tabLst>
                      </a:pPr>
                      <a:r>
                        <a:rPr sz="1750" i="1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y</a:t>
                      </a:r>
                      <a:r>
                        <a:rPr sz="1750" i="1" spc="160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750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sz="1750" spc="95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  </a:t>
                      </a:r>
                      <a:r>
                        <a:rPr sz="1750" spc="-50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1</a:t>
                      </a:r>
                      <a:r>
                        <a:rPr sz="1750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sz="1750" i="1" spc="65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if</a:t>
                      </a:r>
                      <a:r>
                        <a:rPr sz="1750" i="1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sz="2625" spc="-75" baseline="-7936" dirty="0">
                          <a:solidFill>
                            <a:srgbClr val="213739"/>
                          </a:solidFill>
                          <a:latin typeface="Lucida Sans Unicode"/>
                          <a:cs typeface="Lucida Sans Unicode"/>
                        </a:rPr>
                        <a:t>Σ</a:t>
                      </a:r>
                      <a:r>
                        <a:rPr sz="2625" baseline="-7936" dirty="0">
                          <a:solidFill>
                            <a:srgbClr val="213739"/>
                          </a:solidFill>
                          <a:latin typeface="Lucida Sans Unicode"/>
                          <a:cs typeface="Lucida Sans Unicode"/>
                        </a:rPr>
                        <a:t>	</a:t>
                      </a:r>
                      <a:r>
                        <a:rPr sz="1750" i="1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w</a:t>
                      </a:r>
                      <a:r>
                        <a:rPr sz="1875" i="1" baseline="-8888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sz="1875" i="1" spc="284" baseline="-8888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750" spc="-90" dirty="0">
                          <a:solidFill>
                            <a:srgbClr val="213739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1750" i="1" spc="-90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x</a:t>
                      </a:r>
                      <a:r>
                        <a:rPr sz="1750" i="1" spc="-204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75" i="1" baseline="-8888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sz="1875" i="1" spc="705" baseline="-8888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750" dirty="0">
                          <a:solidFill>
                            <a:srgbClr val="213739"/>
                          </a:solidFill>
                          <a:latin typeface="Lucida Sans Unicode"/>
                          <a:cs typeface="Lucida Sans Unicode"/>
                        </a:rPr>
                        <a:t>≥</a:t>
                      </a:r>
                      <a:r>
                        <a:rPr sz="1750" spc="-45" dirty="0">
                          <a:solidFill>
                            <a:srgbClr val="213739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750" spc="-50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1750">
                        <a:latin typeface="Calibri"/>
                        <a:cs typeface="Calibri"/>
                      </a:endParaRPr>
                    </a:p>
                    <a:p>
                      <a:pPr marL="344170"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250" i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sz="1250" i="1" spc="-13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5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=0 </a:t>
                      </a:r>
                      <a:endParaRPr sz="1250">
                        <a:latin typeface="Calibri"/>
                        <a:cs typeface="Calibri"/>
                      </a:endParaRPr>
                    </a:p>
                    <a:p>
                      <a:pPr marL="340995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50" i="1" spc="-50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n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70"/>
                        </a:spcBef>
                      </a:pPr>
                      <a:endParaRPr sz="1750">
                        <a:latin typeface="Times New Roman"/>
                        <a:cs typeface="Times New Roman"/>
                      </a:endParaRPr>
                    </a:p>
                    <a:p>
                      <a:pPr marR="52069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750" spc="-50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=</a:t>
                      </a:r>
                      <a:endParaRPr sz="1750">
                        <a:latin typeface="Calibri"/>
                        <a:cs typeface="Calibri"/>
                      </a:endParaRPr>
                    </a:p>
                  </a:txBody>
                  <a:tcPr marL="0" marR="0" marT="1612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70"/>
                        </a:spcBef>
                      </a:pPr>
                      <a:endParaRPr sz="1750">
                        <a:latin typeface="Times New Roman"/>
                        <a:cs typeface="Times New Roman"/>
                      </a:endParaRPr>
                    </a:p>
                    <a:p>
                      <a:pPr marL="5969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750" spc="-50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1750">
                        <a:latin typeface="Calibri"/>
                        <a:cs typeface="Calibri"/>
                      </a:endParaRPr>
                    </a:p>
                  </a:txBody>
                  <a:tcPr marL="0" marR="0" marT="1612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70"/>
                        </a:spcBef>
                      </a:pPr>
                      <a:endParaRPr sz="1750">
                        <a:latin typeface="Times New Roman"/>
                        <a:cs typeface="Times New Roman"/>
                      </a:endParaRPr>
                    </a:p>
                    <a:p>
                      <a:pPr marL="6096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750" i="1" spc="65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if </a:t>
                      </a:r>
                      <a:endParaRPr sz="1750">
                        <a:latin typeface="Calibri"/>
                        <a:cs typeface="Calibri"/>
                      </a:endParaRPr>
                    </a:p>
                  </a:txBody>
                  <a:tcPr marL="0" marR="0" marT="161290" marB="0"/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250" i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sz="1250" i="1" spc="-13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5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=1 </a:t>
                      </a:r>
                      <a:endParaRPr sz="1250">
                        <a:latin typeface="Calibri"/>
                        <a:cs typeface="Calibri"/>
                      </a:endParaRPr>
                    </a:p>
                    <a:p>
                      <a:pPr marL="7620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50" i="1" spc="-50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n</a:t>
                      </a:r>
                      <a:endParaRPr sz="1250">
                        <a:latin typeface="Calibri"/>
                        <a:cs typeface="Calibri"/>
                      </a:endParaRPr>
                    </a:p>
                    <a:p>
                      <a:pPr marL="33655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750" spc="-50" dirty="0">
                          <a:solidFill>
                            <a:srgbClr val="213739"/>
                          </a:solidFill>
                          <a:latin typeface="Lucida Sans Unicode"/>
                          <a:cs typeface="Lucida Sans Unicode"/>
                        </a:rPr>
                        <a:t>Σ</a:t>
                      </a:r>
                      <a:endParaRPr sz="1750">
                        <a:latin typeface="Lucida Sans Unicode"/>
                        <a:cs typeface="Lucida Sans Unicode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70"/>
                        </a:spcBef>
                      </a:pPr>
                      <a:endParaRPr sz="1750">
                        <a:latin typeface="Times New Roman"/>
                        <a:cs typeface="Times New Roman"/>
                      </a:endParaRPr>
                    </a:p>
                    <a:p>
                      <a:pPr marL="444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750" i="1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w</a:t>
                      </a:r>
                      <a:r>
                        <a:rPr sz="1875" i="1" baseline="-17777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sz="1875" i="1" spc="390" baseline="-17777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750" spc="-95" dirty="0">
                          <a:solidFill>
                            <a:srgbClr val="213739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1750" i="1" spc="-95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x</a:t>
                      </a:r>
                      <a:r>
                        <a:rPr sz="1750" i="1" spc="-75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75" i="1" baseline="-17777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sz="1875" i="1" spc="315" baseline="-17777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750" spc="-20" dirty="0">
                          <a:solidFill>
                            <a:srgbClr val="213739"/>
                          </a:solidFill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1750" spc="-225" dirty="0">
                          <a:solidFill>
                            <a:srgbClr val="213739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750" i="1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θ</a:t>
                      </a:r>
                      <a:r>
                        <a:rPr sz="1750" i="1" spc="114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750" i="1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&lt;</a:t>
                      </a:r>
                      <a:r>
                        <a:rPr sz="1750" i="1" spc="55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  </a:t>
                      </a:r>
                      <a:r>
                        <a:rPr sz="1750" spc="-50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1750">
                        <a:latin typeface="Calibri"/>
                        <a:cs typeface="Calibri"/>
                      </a:endParaRPr>
                    </a:p>
                  </a:txBody>
                  <a:tcPr marL="0" marR="0" marT="16129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785">
                <a:tc>
                  <a:txBody>
                    <a:bodyPr/>
                    <a:lstStyle/>
                    <a:p>
                      <a:pPr marL="1230630">
                        <a:lnSpc>
                          <a:spcPts val="1830"/>
                        </a:lnSpc>
                        <a:tabLst>
                          <a:tab pos="1791335" algn="l"/>
                          <a:tab pos="2109470" algn="l"/>
                        </a:tabLst>
                      </a:pPr>
                      <a:r>
                        <a:rPr sz="1750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sz="1750" spc="70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  </a:t>
                      </a:r>
                      <a:r>
                        <a:rPr sz="1750" spc="-50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0</a:t>
                      </a:r>
                      <a:r>
                        <a:rPr sz="1750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sz="1750" i="1" spc="65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if</a:t>
                      </a:r>
                      <a:r>
                        <a:rPr sz="1750" i="1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sz="2625" baseline="-4761" dirty="0">
                          <a:solidFill>
                            <a:srgbClr val="213739"/>
                          </a:solidFill>
                          <a:latin typeface="Lucida Sans Unicode"/>
                          <a:cs typeface="Lucida Sans Unicode"/>
                        </a:rPr>
                        <a:t>Σ</a:t>
                      </a:r>
                      <a:r>
                        <a:rPr sz="2625" spc="37" baseline="-4761" dirty="0">
                          <a:solidFill>
                            <a:srgbClr val="213739"/>
                          </a:solidFill>
                          <a:latin typeface="Lucida Sans Unicode"/>
                          <a:cs typeface="Lucida Sans Unicode"/>
                        </a:rPr>
                        <a:t>  </a:t>
                      </a:r>
                      <a:r>
                        <a:rPr sz="1750" i="1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w</a:t>
                      </a:r>
                      <a:r>
                        <a:rPr sz="1875" i="1" baseline="-17777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sz="1875" i="1" spc="502" baseline="-17777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750" spc="-95" dirty="0">
                          <a:solidFill>
                            <a:srgbClr val="213739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1750" i="1" spc="-95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x</a:t>
                      </a:r>
                      <a:r>
                        <a:rPr sz="1750" i="1" spc="-145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75" i="1" baseline="-17777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sz="1875" i="1" spc="637" baseline="-17777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750" i="1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&lt;</a:t>
                      </a:r>
                      <a:r>
                        <a:rPr sz="1750" i="1" spc="80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  </a:t>
                      </a:r>
                      <a:r>
                        <a:rPr sz="1750" spc="-50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17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762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50" i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sz="1250" i="1" spc="-13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5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=1 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1841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5580">
                <a:tc>
                  <a:txBody>
                    <a:bodyPr/>
                    <a:lstStyle/>
                    <a:p>
                      <a:pPr marL="344170" algn="ctr">
                        <a:lnSpc>
                          <a:spcPts val="1445"/>
                        </a:lnSpc>
                      </a:pPr>
                      <a:r>
                        <a:rPr sz="1250" i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sz="1250" i="1" spc="-13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5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=0 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7" name="object 3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Perceptron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676400"/>
            <a:ext cx="4419600" cy="609600"/>
          </a:xfrm>
          <a:custGeom>
            <a:avLst/>
            <a:gdLst/>
            <a:ahLst/>
            <a:cxnLst/>
            <a:rect l="l" t="t" r="r" b="b"/>
            <a:pathLst>
              <a:path w="4419600" h="609600">
                <a:moveTo>
                  <a:pt x="4419600" y="0"/>
                </a:moveTo>
                <a:lnTo>
                  <a:pt x="0" y="0"/>
                </a:lnTo>
                <a:lnTo>
                  <a:pt x="0" y="609600"/>
                </a:lnTo>
                <a:lnTo>
                  <a:pt x="4419600" y="609600"/>
                </a:lnTo>
                <a:lnTo>
                  <a:pt x="441960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25400" y="-25400"/>
            <a:ext cx="9194800" cy="6908800"/>
            <a:chOff x="-25400" y="-25400"/>
            <a:chExt cx="9194800" cy="6908800"/>
          </a:xfrm>
        </p:grpSpPr>
        <p:sp>
          <p:nvSpPr>
            <p:cNvPr id="4" name="object 4"/>
            <p:cNvSpPr/>
            <p:nvPr/>
          </p:nvSpPr>
          <p:spPr>
            <a:xfrm>
              <a:off x="1447800" y="6629399"/>
              <a:ext cx="7696200" cy="228600"/>
            </a:xfrm>
            <a:custGeom>
              <a:avLst/>
              <a:gdLst/>
              <a:ahLst/>
              <a:cxnLst/>
              <a:rect l="l" t="t" r="r" b="b"/>
              <a:pathLst>
                <a:path w="7696200" h="228600">
                  <a:moveTo>
                    <a:pt x="0" y="228600"/>
                  </a:moveTo>
                  <a:lnTo>
                    <a:pt x="7696200" y="228600"/>
                  </a:lnTo>
                  <a:lnTo>
                    <a:pt x="76962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EE8B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629399"/>
              <a:ext cx="1447800" cy="228600"/>
            </a:xfrm>
            <a:custGeom>
              <a:avLst/>
              <a:gdLst/>
              <a:ahLst/>
              <a:cxnLst/>
              <a:rect l="l" t="t" r="r" b="b"/>
              <a:pathLst>
                <a:path w="1447800" h="228600">
                  <a:moveTo>
                    <a:pt x="14478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1447800" y="228600"/>
                  </a:lnTo>
                  <a:lnTo>
                    <a:pt x="14478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l" t="t" r="r" b="b"/>
              <a:pathLst>
                <a:path w="9144000" h="6858000">
                  <a:moveTo>
                    <a:pt x="0" y="6858000"/>
                  </a:moveTo>
                  <a:lnTo>
                    <a:pt x="9144000" y="685800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6858000"/>
                  </a:lnTo>
                  <a:close/>
                </a:path>
              </a:pathLst>
            </a:custGeom>
            <a:ln w="508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529319" y="6428638"/>
            <a:ext cx="1720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23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7261" y="6643369"/>
            <a:ext cx="1173480" cy="241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20"/>
              </a:lnSpc>
            </a:pPr>
            <a:r>
              <a:rPr sz="1700" b="1" dirty="0">
                <a:solidFill>
                  <a:srgbClr val="FFFFFF"/>
                </a:solidFill>
                <a:latin typeface="Calibri"/>
                <a:cs typeface="Calibri"/>
              </a:rPr>
              <a:t>NIT</a:t>
            </a:r>
            <a:r>
              <a:rPr sz="17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b="1" spc="-10" dirty="0">
                <a:solidFill>
                  <a:srgbClr val="FFFFFF"/>
                </a:solidFill>
                <a:latin typeface="Calibri"/>
                <a:cs typeface="Calibri"/>
              </a:rPr>
              <a:t>Rourkela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568188" y="6658229"/>
            <a:ext cx="293687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dirty="0">
                <a:latin typeface="Calibri"/>
                <a:cs typeface="Calibri"/>
              </a:rPr>
              <a:t>“Deep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Learning: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Neuron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to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Perceptron”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58366" y="3112389"/>
            <a:ext cx="6598920" cy="1426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31200"/>
              </a:lnSpc>
              <a:spcBef>
                <a:spcPts val="100"/>
              </a:spcBef>
            </a:pPr>
            <a:r>
              <a:rPr sz="2400" spc="-75" dirty="0">
                <a:solidFill>
                  <a:srgbClr val="213739"/>
                </a:solidFill>
                <a:latin typeface="Arial MT"/>
                <a:cs typeface="Arial MT"/>
              </a:rPr>
              <a:t>Why</a:t>
            </a:r>
            <a:r>
              <a:rPr sz="240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400" spc="-105" dirty="0">
                <a:solidFill>
                  <a:srgbClr val="213739"/>
                </a:solidFill>
                <a:latin typeface="Arial MT"/>
                <a:cs typeface="Arial MT"/>
              </a:rPr>
              <a:t>are</a:t>
            </a:r>
            <a:r>
              <a:rPr sz="2400" spc="-1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400" spc="-9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2400" spc="-1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400" spc="-45" dirty="0">
                <a:solidFill>
                  <a:srgbClr val="213739"/>
                </a:solidFill>
                <a:latin typeface="Arial MT"/>
                <a:cs typeface="Arial MT"/>
              </a:rPr>
              <a:t>trying</a:t>
            </a:r>
            <a:r>
              <a:rPr sz="240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2400" spc="-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400" spc="-95" dirty="0">
                <a:solidFill>
                  <a:srgbClr val="213739"/>
                </a:solidFill>
                <a:latin typeface="Arial MT"/>
                <a:cs typeface="Arial MT"/>
              </a:rPr>
              <a:t>implement</a:t>
            </a:r>
            <a:r>
              <a:rPr sz="2400" spc="-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400" spc="-110" dirty="0">
                <a:solidFill>
                  <a:srgbClr val="213739"/>
                </a:solidFill>
                <a:latin typeface="Arial MT"/>
                <a:cs typeface="Arial MT"/>
              </a:rPr>
              <a:t>boolean</a:t>
            </a:r>
            <a:r>
              <a:rPr sz="2400" spc="-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13739"/>
                </a:solidFill>
                <a:latin typeface="Arial MT"/>
                <a:cs typeface="Arial MT"/>
              </a:rPr>
              <a:t>functions? </a:t>
            </a:r>
            <a:r>
              <a:rPr sz="2400" spc="-75" dirty="0">
                <a:solidFill>
                  <a:srgbClr val="213739"/>
                </a:solidFill>
                <a:latin typeface="Arial MT"/>
                <a:cs typeface="Arial MT"/>
              </a:rPr>
              <a:t>Why</a:t>
            </a:r>
            <a:r>
              <a:rPr sz="240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400" spc="-60" dirty="0">
                <a:solidFill>
                  <a:srgbClr val="213739"/>
                </a:solidFill>
                <a:latin typeface="Arial MT"/>
                <a:cs typeface="Arial MT"/>
              </a:rPr>
              <a:t>do</a:t>
            </a:r>
            <a:r>
              <a:rPr sz="240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400" spc="-90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2400" spc="-1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400" spc="-120" dirty="0">
                <a:solidFill>
                  <a:srgbClr val="213739"/>
                </a:solidFill>
                <a:latin typeface="Arial MT"/>
                <a:cs typeface="Arial MT"/>
              </a:rPr>
              <a:t>need</a:t>
            </a:r>
            <a:r>
              <a:rPr sz="2400" spc="-1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400" spc="-75" dirty="0">
                <a:solidFill>
                  <a:srgbClr val="213739"/>
                </a:solidFill>
                <a:latin typeface="Arial MT"/>
                <a:cs typeface="Arial MT"/>
              </a:rPr>
              <a:t>weights</a:t>
            </a:r>
            <a:r>
              <a:rPr sz="240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400" spc="-50" dirty="0">
                <a:solidFill>
                  <a:srgbClr val="213739"/>
                </a:solidFill>
                <a:latin typeface="Arial MT"/>
                <a:cs typeface="Arial MT"/>
              </a:rPr>
              <a:t>?</a:t>
            </a:r>
            <a:endParaRPr sz="240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590"/>
              </a:spcBef>
            </a:pPr>
            <a:r>
              <a:rPr sz="2400" spc="-80" dirty="0">
                <a:solidFill>
                  <a:srgbClr val="213739"/>
                </a:solidFill>
                <a:latin typeface="Arial MT"/>
                <a:cs typeface="Arial MT"/>
              </a:rPr>
              <a:t>Why</a:t>
            </a:r>
            <a:r>
              <a:rPr sz="2400" spc="-1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400" spc="-75" dirty="0">
                <a:solidFill>
                  <a:srgbClr val="213739"/>
                </a:solidFill>
                <a:latin typeface="Arial MT"/>
                <a:cs typeface="Arial MT"/>
              </a:rPr>
              <a:t>is</a:t>
            </a:r>
            <a:r>
              <a:rPr sz="2400" spc="-1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40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2400" baseline="-868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2400" spc="412" baseline="-868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2400" spc="56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13739"/>
                </a:solidFill>
                <a:latin typeface="Lucida Sans Unicode"/>
                <a:cs typeface="Lucida Sans Unicode"/>
              </a:rPr>
              <a:t>−</a:t>
            </a:r>
            <a:r>
              <a:rPr sz="2400" i="1" dirty="0">
                <a:solidFill>
                  <a:srgbClr val="213739"/>
                </a:solidFill>
                <a:latin typeface="Calibri"/>
                <a:cs typeface="Calibri"/>
              </a:rPr>
              <a:t>θ</a:t>
            </a:r>
            <a:r>
              <a:rPr sz="2400" i="1" spc="-2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2400" spc="-70" dirty="0">
                <a:solidFill>
                  <a:srgbClr val="213739"/>
                </a:solidFill>
                <a:latin typeface="Arial MT"/>
                <a:cs typeface="Arial MT"/>
              </a:rPr>
              <a:t>ca</a:t>
            </a:r>
            <a:r>
              <a:rPr sz="2400" spc="-3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400" spc="-90" dirty="0">
                <a:solidFill>
                  <a:srgbClr val="213739"/>
                </a:solidFill>
                <a:latin typeface="Arial MT"/>
                <a:cs typeface="Arial MT"/>
              </a:rPr>
              <a:t>led</a:t>
            </a:r>
            <a:r>
              <a:rPr sz="240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400" spc="-55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2400" spc="-1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400" spc="-120" dirty="0">
                <a:solidFill>
                  <a:srgbClr val="213739"/>
                </a:solidFill>
                <a:latin typeface="Arial MT"/>
                <a:cs typeface="Arial MT"/>
              </a:rPr>
              <a:t>bias</a:t>
            </a:r>
            <a:r>
              <a:rPr sz="2400" spc="-1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400" spc="-50" dirty="0">
                <a:solidFill>
                  <a:srgbClr val="213739"/>
                </a:solidFill>
                <a:latin typeface="Arial MT"/>
                <a:cs typeface="Arial MT"/>
              </a:rPr>
              <a:t>?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78739" y="1622501"/>
            <a:ext cx="424561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dirty="0">
                <a:latin typeface="Times New Roman"/>
                <a:cs typeface="Times New Roman"/>
              </a:rPr>
              <a:t>Answer</a:t>
            </a:r>
            <a:r>
              <a:rPr sz="2500" b="1" spc="-8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the</a:t>
            </a:r>
            <a:r>
              <a:rPr sz="2500" b="1" spc="-5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following</a:t>
            </a:r>
            <a:r>
              <a:rPr sz="2500" b="1" spc="-35" dirty="0">
                <a:latin typeface="Times New Roman"/>
                <a:cs typeface="Times New Roman"/>
              </a:rPr>
              <a:t> </a:t>
            </a:r>
            <a:r>
              <a:rPr sz="2500" b="1" spc="-10" dirty="0">
                <a:latin typeface="Times New Roman"/>
                <a:cs typeface="Times New Roman"/>
              </a:rPr>
              <a:t>questions</a:t>
            </a:r>
            <a:endParaRPr sz="25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74342" y="3031058"/>
            <a:ext cx="264795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30830" y="3031058"/>
            <a:ext cx="264795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73273" y="3031058"/>
            <a:ext cx="264795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875" baseline="-8888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958974" y="1340113"/>
            <a:ext cx="2143760" cy="1769745"/>
            <a:chOff x="958974" y="1340113"/>
            <a:chExt cx="2143760" cy="1769745"/>
          </a:xfrm>
        </p:grpSpPr>
        <p:sp>
          <p:nvSpPr>
            <p:cNvPr id="6" name="object 6"/>
            <p:cNvSpPr/>
            <p:nvPr/>
          </p:nvSpPr>
          <p:spPr>
            <a:xfrm>
              <a:off x="1907667" y="1763648"/>
              <a:ext cx="570865" cy="570865"/>
            </a:xfrm>
            <a:custGeom>
              <a:avLst/>
              <a:gdLst/>
              <a:ahLst/>
              <a:cxnLst/>
              <a:rect l="l" t="t" r="r" b="b"/>
              <a:pathLst>
                <a:path w="570864" h="570864">
                  <a:moveTo>
                    <a:pt x="285369" y="0"/>
                  </a:moveTo>
                  <a:lnTo>
                    <a:pt x="209550" y="10160"/>
                  </a:lnTo>
                  <a:lnTo>
                    <a:pt x="141350" y="38988"/>
                  </a:lnTo>
                  <a:lnTo>
                    <a:pt x="83565" y="83565"/>
                  </a:lnTo>
                  <a:lnTo>
                    <a:pt x="38988" y="141350"/>
                  </a:lnTo>
                  <a:lnTo>
                    <a:pt x="10159" y="209550"/>
                  </a:lnTo>
                  <a:lnTo>
                    <a:pt x="0" y="285496"/>
                  </a:lnTo>
                  <a:lnTo>
                    <a:pt x="10159" y="361314"/>
                  </a:lnTo>
                  <a:lnTo>
                    <a:pt x="38988" y="429513"/>
                  </a:lnTo>
                  <a:lnTo>
                    <a:pt x="83565" y="487299"/>
                  </a:lnTo>
                  <a:lnTo>
                    <a:pt x="141350" y="532002"/>
                  </a:lnTo>
                  <a:lnTo>
                    <a:pt x="209550" y="560704"/>
                  </a:lnTo>
                  <a:lnTo>
                    <a:pt x="285369" y="570864"/>
                  </a:lnTo>
                  <a:lnTo>
                    <a:pt x="361314" y="560704"/>
                  </a:lnTo>
                  <a:lnTo>
                    <a:pt x="429513" y="532002"/>
                  </a:lnTo>
                  <a:lnTo>
                    <a:pt x="487299" y="487299"/>
                  </a:lnTo>
                  <a:lnTo>
                    <a:pt x="531876" y="429513"/>
                  </a:lnTo>
                  <a:lnTo>
                    <a:pt x="560705" y="361314"/>
                  </a:lnTo>
                  <a:lnTo>
                    <a:pt x="570864" y="285496"/>
                  </a:lnTo>
                  <a:lnTo>
                    <a:pt x="560705" y="209550"/>
                  </a:lnTo>
                  <a:lnTo>
                    <a:pt x="531876" y="141350"/>
                  </a:lnTo>
                  <a:lnTo>
                    <a:pt x="487299" y="83565"/>
                  </a:lnTo>
                  <a:lnTo>
                    <a:pt x="429513" y="38988"/>
                  </a:lnTo>
                  <a:lnTo>
                    <a:pt x="361314" y="10160"/>
                  </a:lnTo>
                  <a:lnTo>
                    <a:pt x="285369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907667" y="1763648"/>
              <a:ext cx="570865" cy="570865"/>
            </a:xfrm>
            <a:custGeom>
              <a:avLst/>
              <a:gdLst/>
              <a:ahLst/>
              <a:cxnLst/>
              <a:rect l="l" t="t" r="r" b="b"/>
              <a:pathLst>
                <a:path w="570864" h="570864">
                  <a:moveTo>
                    <a:pt x="570864" y="285496"/>
                  </a:moveTo>
                  <a:lnTo>
                    <a:pt x="560705" y="209550"/>
                  </a:lnTo>
                  <a:lnTo>
                    <a:pt x="531876" y="141350"/>
                  </a:lnTo>
                  <a:lnTo>
                    <a:pt x="487299" y="83565"/>
                  </a:lnTo>
                  <a:lnTo>
                    <a:pt x="429513" y="38988"/>
                  </a:lnTo>
                  <a:lnTo>
                    <a:pt x="361314" y="10160"/>
                  </a:lnTo>
                  <a:lnTo>
                    <a:pt x="285369" y="0"/>
                  </a:lnTo>
                  <a:lnTo>
                    <a:pt x="209550" y="10160"/>
                  </a:lnTo>
                  <a:lnTo>
                    <a:pt x="141350" y="38988"/>
                  </a:lnTo>
                  <a:lnTo>
                    <a:pt x="83565" y="83565"/>
                  </a:lnTo>
                  <a:lnTo>
                    <a:pt x="38988" y="141350"/>
                  </a:lnTo>
                  <a:lnTo>
                    <a:pt x="10159" y="209550"/>
                  </a:lnTo>
                  <a:lnTo>
                    <a:pt x="0" y="285496"/>
                  </a:lnTo>
                  <a:lnTo>
                    <a:pt x="10159" y="361314"/>
                  </a:lnTo>
                  <a:lnTo>
                    <a:pt x="38988" y="429513"/>
                  </a:lnTo>
                  <a:lnTo>
                    <a:pt x="83565" y="487299"/>
                  </a:lnTo>
                  <a:lnTo>
                    <a:pt x="141350" y="532002"/>
                  </a:lnTo>
                  <a:lnTo>
                    <a:pt x="209550" y="560704"/>
                  </a:lnTo>
                  <a:lnTo>
                    <a:pt x="285369" y="570864"/>
                  </a:lnTo>
                  <a:lnTo>
                    <a:pt x="361314" y="560704"/>
                  </a:lnTo>
                  <a:lnTo>
                    <a:pt x="429513" y="532002"/>
                  </a:lnTo>
                  <a:lnTo>
                    <a:pt x="487299" y="487299"/>
                  </a:lnTo>
                  <a:lnTo>
                    <a:pt x="531876" y="429513"/>
                  </a:lnTo>
                  <a:lnTo>
                    <a:pt x="560705" y="361314"/>
                  </a:lnTo>
                  <a:lnTo>
                    <a:pt x="570864" y="285496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689227" y="2321940"/>
              <a:ext cx="374015" cy="785495"/>
            </a:xfrm>
            <a:custGeom>
              <a:avLst/>
              <a:gdLst/>
              <a:ahLst/>
              <a:cxnLst/>
              <a:rect l="l" t="t" r="r" b="b"/>
              <a:pathLst>
                <a:path w="374014" h="785494">
                  <a:moveTo>
                    <a:pt x="0" y="785113"/>
                  </a:moveTo>
                  <a:lnTo>
                    <a:pt x="373888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00761" y="2315848"/>
              <a:ext cx="92195" cy="6362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263013" y="2342895"/>
              <a:ext cx="182245" cy="764540"/>
            </a:xfrm>
            <a:custGeom>
              <a:avLst/>
              <a:gdLst/>
              <a:ahLst/>
              <a:cxnLst/>
              <a:rect l="l" t="t" r="r" b="b"/>
              <a:pathLst>
                <a:path w="182244" h="764539">
                  <a:moveTo>
                    <a:pt x="181991" y="764158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224913" y="2339086"/>
              <a:ext cx="93980" cy="52069"/>
            </a:xfrm>
            <a:custGeom>
              <a:avLst/>
              <a:gdLst/>
              <a:ahLst/>
              <a:cxnLst/>
              <a:rect l="l" t="t" r="r" b="b"/>
              <a:pathLst>
                <a:path w="93980" h="52069">
                  <a:moveTo>
                    <a:pt x="0" y="51815"/>
                  </a:moveTo>
                  <a:lnTo>
                    <a:pt x="16637" y="40259"/>
                  </a:lnTo>
                  <a:lnTo>
                    <a:pt x="27939" y="27304"/>
                  </a:lnTo>
                  <a:lnTo>
                    <a:pt x="34417" y="13715"/>
                  </a:lnTo>
                  <a:lnTo>
                    <a:pt x="37211" y="0"/>
                  </a:lnTo>
                  <a:lnTo>
                    <a:pt x="45847" y="10922"/>
                  </a:lnTo>
                  <a:lnTo>
                    <a:pt x="57785" y="20192"/>
                  </a:lnTo>
                  <a:lnTo>
                    <a:pt x="73660" y="26669"/>
                  </a:lnTo>
                  <a:lnTo>
                    <a:pt x="93853" y="29463"/>
                  </a:lnTo>
                </a:path>
              </a:pathLst>
            </a:custGeom>
            <a:ln w="5069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390013" y="2278887"/>
              <a:ext cx="709930" cy="828675"/>
            </a:xfrm>
            <a:custGeom>
              <a:avLst/>
              <a:gdLst/>
              <a:ahLst/>
              <a:cxnLst/>
              <a:rect l="l" t="t" r="r" b="b"/>
              <a:pathLst>
                <a:path w="709930" h="828675">
                  <a:moveTo>
                    <a:pt x="709930" y="828166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75409" y="2273300"/>
              <a:ext cx="78483" cy="6832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61504" y="2243073"/>
              <a:ext cx="1000760" cy="840740"/>
            </a:xfrm>
            <a:custGeom>
              <a:avLst/>
              <a:gdLst/>
              <a:ahLst/>
              <a:cxnLst/>
              <a:rect l="l" t="t" r="r" b="b"/>
              <a:pathLst>
                <a:path w="1000760" h="840739">
                  <a:moveTo>
                    <a:pt x="0" y="840486"/>
                  </a:moveTo>
                  <a:lnTo>
                    <a:pt x="1000645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9536" y="2227831"/>
              <a:ext cx="68330" cy="7925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144903" y="1342643"/>
              <a:ext cx="96520" cy="413384"/>
            </a:xfrm>
            <a:custGeom>
              <a:avLst/>
              <a:gdLst/>
              <a:ahLst/>
              <a:cxnLst/>
              <a:rect l="l" t="t" r="r" b="b"/>
              <a:pathLst>
                <a:path w="96519" h="413385">
                  <a:moveTo>
                    <a:pt x="48133" y="413003"/>
                  </a:moveTo>
                  <a:lnTo>
                    <a:pt x="48133" y="4063"/>
                  </a:lnTo>
                </a:path>
                <a:path w="96519" h="413385">
                  <a:moveTo>
                    <a:pt x="0" y="41782"/>
                  </a:moveTo>
                  <a:lnTo>
                    <a:pt x="18923" y="34416"/>
                  </a:lnTo>
                  <a:lnTo>
                    <a:pt x="32893" y="24383"/>
                  </a:lnTo>
                  <a:lnTo>
                    <a:pt x="42418" y="12700"/>
                  </a:lnTo>
                  <a:lnTo>
                    <a:pt x="48133" y="0"/>
                  </a:lnTo>
                  <a:lnTo>
                    <a:pt x="53975" y="12700"/>
                  </a:lnTo>
                  <a:lnTo>
                    <a:pt x="63500" y="24383"/>
                  </a:lnTo>
                  <a:lnTo>
                    <a:pt x="77470" y="34416"/>
                  </a:lnTo>
                  <a:lnTo>
                    <a:pt x="96393" y="41782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122423" y="970915"/>
            <a:ext cx="12446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y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37261" y="6643369"/>
            <a:ext cx="1173480" cy="241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20"/>
              </a:lnSpc>
            </a:pPr>
            <a:r>
              <a:rPr sz="1700" b="1" dirty="0">
                <a:solidFill>
                  <a:srgbClr val="FFFFFF"/>
                </a:solidFill>
                <a:latin typeface="Calibri"/>
                <a:cs typeface="Calibri"/>
              </a:rPr>
              <a:t>NIT</a:t>
            </a:r>
            <a:r>
              <a:rPr sz="17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b="1" spc="-10" dirty="0">
                <a:solidFill>
                  <a:srgbClr val="FFFFFF"/>
                </a:solidFill>
                <a:latin typeface="Calibri"/>
                <a:cs typeface="Calibri"/>
              </a:rPr>
              <a:t>Rourkela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568188" y="6658229"/>
            <a:ext cx="293687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dirty="0">
                <a:latin typeface="Calibri"/>
                <a:cs typeface="Calibri"/>
              </a:rPr>
              <a:t>“Deep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Learning: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Neuron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to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Perceptron”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54456" y="2692400"/>
            <a:ext cx="735965" cy="23050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3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425" baseline="-11695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425" spc="367" baseline="-1169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350" spc="48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350" spc="-25" dirty="0">
                <a:solidFill>
                  <a:srgbClr val="213739"/>
                </a:solidFill>
                <a:latin typeface="Lucida Sans Unicode"/>
                <a:cs typeface="Lucida Sans Unicode"/>
              </a:rPr>
              <a:t>−</a:t>
            </a:r>
            <a:r>
              <a:rPr sz="1350" i="1" spc="-25" dirty="0">
                <a:solidFill>
                  <a:srgbClr val="213739"/>
                </a:solidFill>
                <a:latin typeface="Calibri"/>
                <a:cs typeface="Calibri"/>
              </a:rPr>
              <a:t>θ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16356" y="3056890"/>
            <a:ext cx="69913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6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89" baseline="-8888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875" spc="547" baseline="-8888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8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483741" y="2678683"/>
            <a:ext cx="254635" cy="23050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35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425" spc="-37" baseline="-11695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425" baseline="-11695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098929" y="2678683"/>
            <a:ext cx="735965" cy="23050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506095" algn="l"/>
              </a:tabLst>
            </a:pPr>
            <a:r>
              <a:rPr sz="135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425" spc="-37" baseline="-11695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425" baseline="-11695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35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425" spc="-37" baseline="-11695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425" baseline="-11695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42061" y="3730864"/>
            <a:ext cx="2259330" cy="776605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R="30480" algn="r">
              <a:lnSpc>
                <a:spcPct val="100000"/>
              </a:lnSpc>
              <a:spcBef>
                <a:spcPts val="960"/>
              </a:spcBef>
              <a:tabLst>
                <a:tab pos="561975" algn="l"/>
              </a:tabLst>
            </a:pPr>
            <a:r>
              <a:rPr sz="1750" i="1" spc="5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82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875" spc="690" baseline="-8888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70" dirty="0">
                <a:solidFill>
                  <a:srgbClr val="213739"/>
                </a:solidFill>
                <a:latin typeface="Calibri"/>
                <a:cs typeface="Calibri"/>
              </a:rPr>
              <a:t>isActorDamon</a:t>
            </a:r>
            <a:endParaRPr sz="1750">
              <a:latin typeface="Calibri"/>
              <a:cs typeface="Calibri"/>
            </a:endParaRPr>
          </a:p>
          <a:p>
            <a:pPr marR="32384" algn="r">
              <a:lnSpc>
                <a:spcPct val="100000"/>
              </a:lnSpc>
              <a:spcBef>
                <a:spcPts val="850"/>
              </a:spcBef>
              <a:tabLst>
                <a:tab pos="321310" algn="l"/>
                <a:tab pos="631825" algn="l"/>
              </a:tabLst>
            </a:pPr>
            <a:r>
              <a:rPr sz="1750" i="1" spc="3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44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100" dirty="0">
                <a:solidFill>
                  <a:srgbClr val="213739"/>
                </a:solidFill>
                <a:latin typeface="Calibri"/>
                <a:cs typeface="Calibri"/>
              </a:rPr>
              <a:t>isGenreThriller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582161" y="871575"/>
            <a:ext cx="5413375" cy="744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000"/>
              </a:lnSpc>
              <a:spcBef>
                <a:spcPts val="100"/>
              </a:spcBef>
            </a:pPr>
            <a:r>
              <a:rPr sz="2000" spc="-75" dirty="0">
                <a:solidFill>
                  <a:srgbClr val="213739"/>
                </a:solidFill>
                <a:latin typeface="Arial MT"/>
                <a:cs typeface="Arial MT"/>
              </a:rPr>
              <a:t>Consider</a:t>
            </a:r>
            <a:r>
              <a:rPr sz="2000" spc="-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2000" spc="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13739"/>
                </a:solidFill>
                <a:latin typeface="Arial MT"/>
                <a:cs typeface="Arial MT"/>
              </a:rPr>
              <a:t>task</a:t>
            </a:r>
            <a:r>
              <a:rPr sz="2000" spc="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200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spc="-30" dirty="0">
                <a:solidFill>
                  <a:srgbClr val="213739"/>
                </a:solidFill>
                <a:latin typeface="Arial MT"/>
                <a:cs typeface="Arial MT"/>
              </a:rPr>
              <a:t>predicting</a:t>
            </a:r>
            <a:r>
              <a:rPr sz="2000" spc="-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spc="-30" dirty="0">
                <a:solidFill>
                  <a:srgbClr val="213739"/>
                </a:solidFill>
                <a:latin typeface="Arial MT"/>
                <a:cs typeface="Arial MT"/>
              </a:rPr>
              <a:t>whether</a:t>
            </a:r>
            <a:r>
              <a:rPr sz="2000" spc="-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13739"/>
                </a:solidFill>
                <a:latin typeface="Arial MT"/>
                <a:cs typeface="Arial MT"/>
              </a:rPr>
              <a:t>we </a:t>
            </a:r>
            <a:r>
              <a:rPr sz="2000" spc="-10" dirty="0">
                <a:solidFill>
                  <a:srgbClr val="213739"/>
                </a:solidFill>
                <a:latin typeface="Arial MT"/>
                <a:cs typeface="Arial MT"/>
              </a:rPr>
              <a:t>would </a:t>
            </a:r>
            <a:r>
              <a:rPr sz="2000" dirty="0">
                <a:solidFill>
                  <a:srgbClr val="213739"/>
                </a:solidFill>
                <a:latin typeface="Arial MT"/>
                <a:cs typeface="Arial MT"/>
              </a:rPr>
              <a:t>like</a:t>
            </a:r>
            <a:r>
              <a:rPr sz="200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13739"/>
                </a:solidFill>
                <a:latin typeface="Arial MT"/>
                <a:cs typeface="Arial MT"/>
              </a:rPr>
              <a:t>a</a:t>
            </a:r>
            <a:r>
              <a:rPr sz="2000" spc="-1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spc="-100" dirty="0">
                <a:solidFill>
                  <a:srgbClr val="213739"/>
                </a:solidFill>
                <a:latin typeface="Arial MT"/>
                <a:cs typeface="Arial MT"/>
              </a:rPr>
              <a:t>movie</a:t>
            </a:r>
            <a:r>
              <a:rPr sz="2000" spc="-1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spc="-35" dirty="0">
                <a:solidFill>
                  <a:srgbClr val="213739"/>
                </a:solidFill>
                <a:latin typeface="Arial MT"/>
                <a:cs typeface="Arial MT"/>
              </a:rPr>
              <a:t>or</a:t>
            </a:r>
            <a:r>
              <a:rPr sz="200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213739"/>
                </a:solidFill>
                <a:latin typeface="Arial MT"/>
                <a:cs typeface="Arial MT"/>
              </a:rPr>
              <a:t>not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582161" y="2039213"/>
            <a:ext cx="5418455" cy="744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000"/>
              </a:lnSpc>
              <a:spcBef>
                <a:spcPts val="100"/>
              </a:spcBef>
            </a:pPr>
            <a:r>
              <a:rPr sz="2000" spc="-125" dirty="0">
                <a:solidFill>
                  <a:srgbClr val="213739"/>
                </a:solidFill>
                <a:latin typeface="Arial MT"/>
                <a:cs typeface="Arial MT"/>
              </a:rPr>
              <a:t>Suppose,</a:t>
            </a:r>
            <a:r>
              <a:rPr sz="2000" spc="-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200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spc="-125" dirty="0">
                <a:solidFill>
                  <a:srgbClr val="213739"/>
                </a:solidFill>
                <a:latin typeface="Arial MT"/>
                <a:cs typeface="Arial MT"/>
              </a:rPr>
              <a:t>base</a:t>
            </a:r>
            <a:r>
              <a:rPr sz="2000" spc="-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13739"/>
                </a:solidFill>
                <a:latin typeface="Arial MT"/>
                <a:cs typeface="Arial MT"/>
              </a:rPr>
              <a:t>our</a:t>
            </a:r>
            <a:r>
              <a:rPr sz="2000" spc="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spc="-80" dirty="0">
                <a:solidFill>
                  <a:srgbClr val="213739"/>
                </a:solidFill>
                <a:latin typeface="Arial MT"/>
                <a:cs typeface="Arial MT"/>
              </a:rPr>
              <a:t>decision</a:t>
            </a:r>
            <a:r>
              <a:rPr sz="200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13739"/>
                </a:solidFill>
                <a:latin typeface="Arial MT"/>
                <a:cs typeface="Arial MT"/>
              </a:rPr>
              <a:t>on</a:t>
            </a:r>
            <a:r>
              <a:rPr sz="200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13739"/>
                </a:solidFill>
                <a:latin typeface="Arial MT"/>
                <a:cs typeface="Arial MT"/>
              </a:rPr>
              <a:t>3</a:t>
            </a:r>
            <a:r>
              <a:rPr sz="2000" spc="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213739"/>
                </a:solidFill>
                <a:latin typeface="Arial MT"/>
                <a:cs typeface="Arial MT"/>
              </a:rPr>
              <a:t>inputs</a:t>
            </a:r>
            <a:r>
              <a:rPr sz="2000" spc="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spc="-70" dirty="0">
                <a:solidFill>
                  <a:srgbClr val="213739"/>
                </a:solidFill>
                <a:latin typeface="Arial MT"/>
                <a:cs typeface="Arial MT"/>
              </a:rPr>
              <a:t>(binary, </a:t>
            </a:r>
            <a:r>
              <a:rPr sz="2000" spc="-30" dirty="0">
                <a:solidFill>
                  <a:srgbClr val="213739"/>
                </a:solidFill>
                <a:latin typeface="Arial MT"/>
                <a:cs typeface="Arial MT"/>
              </a:rPr>
              <a:t>for</a:t>
            </a:r>
            <a:r>
              <a:rPr sz="2000" spc="-1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213739"/>
                </a:solidFill>
                <a:latin typeface="Arial MT"/>
                <a:cs typeface="Arial MT"/>
              </a:rPr>
              <a:t>simplicity)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582161" y="3246475"/>
            <a:ext cx="5419725" cy="1104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3970" algn="just">
              <a:lnSpc>
                <a:spcPct val="118000"/>
              </a:lnSpc>
              <a:spcBef>
                <a:spcPts val="100"/>
              </a:spcBef>
            </a:pPr>
            <a:r>
              <a:rPr sz="2000" spc="-90" dirty="0">
                <a:solidFill>
                  <a:srgbClr val="213739"/>
                </a:solidFill>
                <a:latin typeface="Arial MT"/>
                <a:cs typeface="Arial MT"/>
              </a:rPr>
              <a:t>Based</a:t>
            </a:r>
            <a:r>
              <a:rPr sz="200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13739"/>
                </a:solidFill>
                <a:latin typeface="Arial MT"/>
                <a:cs typeface="Arial MT"/>
              </a:rPr>
              <a:t>on</a:t>
            </a:r>
            <a:r>
              <a:rPr sz="2000" spc="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13739"/>
                </a:solidFill>
                <a:latin typeface="Arial MT"/>
                <a:cs typeface="Arial MT"/>
              </a:rPr>
              <a:t>our</a:t>
            </a:r>
            <a:r>
              <a:rPr sz="2000" spc="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13739"/>
                </a:solidFill>
                <a:latin typeface="Arial MT"/>
                <a:cs typeface="Arial MT"/>
              </a:rPr>
              <a:t>past</a:t>
            </a:r>
            <a:r>
              <a:rPr sz="2000" spc="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213739"/>
                </a:solidFill>
                <a:latin typeface="Arial MT"/>
                <a:cs typeface="Arial MT"/>
              </a:rPr>
              <a:t>viewing</a:t>
            </a:r>
            <a:r>
              <a:rPr sz="2000" spc="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spc="-70" dirty="0">
                <a:solidFill>
                  <a:srgbClr val="213739"/>
                </a:solidFill>
                <a:latin typeface="Arial MT"/>
                <a:cs typeface="Arial MT"/>
              </a:rPr>
              <a:t>experience</a:t>
            </a:r>
            <a:r>
              <a:rPr sz="2000" spc="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2000" b="1" dirty="0">
                <a:solidFill>
                  <a:srgbClr val="213739"/>
                </a:solidFill>
                <a:latin typeface="Trebuchet MS"/>
                <a:cs typeface="Trebuchet MS"/>
              </a:rPr>
              <a:t>data</a:t>
            </a:r>
            <a:r>
              <a:rPr sz="2000" dirty="0">
                <a:solidFill>
                  <a:srgbClr val="213739"/>
                </a:solidFill>
                <a:latin typeface="Arial MT"/>
                <a:cs typeface="Arial MT"/>
              </a:rPr>
              <a:t>),</a:t>
            </a:r>
            <a:r>
              <a:rPr sz="2000" spc="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213739"/>
                </a:solidFill>
                <a:latin typeface="Arial MT"/>
                <a:cs typeface="Arial MT"/>
              </a:rPr>
              <a:t>we </a:t>
            </a:r>
            <a:r>
              <a:rPr sz="2000" dirty="0">
                <a:solidFill>
                  <a:srgbClr val="213739"/>
                </a:solidFill>
                <a:latin typeface="Arial MT"/>
                <a:cs typeface="Arial MT"/>
              </a:rPr>
              <a:t>may  give</a:t>
            </a:r>
            <a:r>
              <a:rPr sz="2000" spc="15" dirty="0">
                <a:solidFill>
                  <a:srgbClr val="213739"/>
                </a:solidFill>
                <a:latin typeface="Arial MT"/>
                <a:cs typeface="Arial MT"/>
              </a:rPr>
              <a:t>  </a:t>
            </a:r>
            <a:r>
              <a:rPr sz="2000" dirty="0">
                <a:solidFill>
                  <a:srgbClr val="213739"/>
                </a:solidFill>
                <a:latin typeface="Arial MT"/>
                <a:cs typeface="Arial MT"/>
              </a:rPr>
              <a:t>a</a:t>
            </a:r>
            <a:r>
              <a:rPr sz="2000" spc="-10" dirty="0">
                <a:solidFill>
                  <a:srgbClr val="213739"/>
                </a:solidFill>
                <a:latin typeface="Arial MT"/>
                <a:cs typeface="Arial MT"/>
              </a:rPr>
              <a:t>  </a:t>
            </a:r>
            <a:r>
              <a:rPr sz="2000" dirty="0">
                <a:solidFill>
                  <a:srgbClr val="213739"/>
                </a:solidFill>
                <a:latin typeface="Arial MT"/>
                <a:cs typeface="Arial MT"/>
              </a:rPr>
              <a:t>high</a:t>
            </a:r>
            <a:r>
              <a:rPr sz="2000" spc="20" dirty="0">
                <a:solidFill>
                  <a:srgbClr val="213739"/>
                </a:solidFill>
                <a:latin typeface="Arial MT"/>
                <a:cs typeface="Arial MT"/>
              </a:rPr>
              <a:t>  </a:t>
            </a:r>
            <a:r>
              <a:rPr sz="2000" dirty="0">
                <a:solidFill>
                  <a:srgbClr val="213739"/>
                </a:solidFill>
                <a:latin typeface="Arial MT"/>
                <a:cs typeface="Arial MT"/>
              </a:rPr>
              <a:t>weight</a:t>
            </a:r>
            <a:r>
              <a:rPr sz="2000" spc="30" dirty="0">
                <a:solidFill>
                  <a:srgbClr val="213739"/>
                </a:solidFill>
                <a:latin typeface="Arial MT"/>
                <a:cs typeface="Arial MT"/>
              </a:rPr>
              <a:t>  </a:t>
            </a:r>
            <a:r>
              <a:rPr sz="200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2000" spc="65" dirty="0">
                <a:solidFill>
                  <a:srgbClr val="213739"/>
                </a:solidFill>
                <a:latin typeface="Arial MT"/>
                <a:cs typeface="Arial MT"/>
              </a:rPr>
              <a:t>  </a:t>
            </a:r>
            <a:r>
              <a:rPr sz="2000" i="1" spc="-35" dirty="0">
                <a:solidFill>
                  <a:srgbClr val="213739"/>
                </a:solidFill>
                <a:latin typeface="Times New Roman"/>
                <a:cs typeface="Times New Roman"/>
              </a:rPr>
              <a:t>isDirectorNolan</a:t>
            </a:r>
            <a:r>
              <a:rPr sz="2000" i="1" spc="60" dirty="0">
                <a:solidFill>
                  <a:srgbClr val="213739"/>
                </a:solidFill>
                <a:latin typeface="Times New Roman"/>
                <a:cs typeface="Times New Roman"/>
              </a:rPr>
              <a:t>  </a:t>
            </a:r>
            <a:r>
              <a:rPr sz="2000" spc="-45" dirty="0">
                <a:solidFill>
                  <a:srgbClr val="213739"/>
                </a:solidFill>
                <a:latin typeface="Arial MT"/>
                <a:cs typeface="Arial MT"/>
              </a:rPr>
              <a:t>as </a:t>
            </a:r>
            <a:r>
              <a:rPr sz="2000" spc="-105" dirty="0">
                <a:solidFill>
                  <a:srgbClr val="213739"/>
                </a:solidFill>
                <a:latin typeface="Arial MT"/>
                <a:cs typeface="Arial MT"/>
              </a:rPr>
              <a:t>compared</a:t>
            </a:r>
            <a:r>
              <a:rPr sz="2000" spc="-1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2000" spc="-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200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13739"/>
                </a:solidFill>
                <a:latin typeface="Arial MT"/>
                <a:cs typeface="Arial MT"/>
              </a:rPr>
              <a:t>other</a:t>
            </a:r>
            <a:r>
              <a:rPr sz="2000" spc="295" dirty="0">
                <a:solidFill>
                  <a:srgbClr val="213739"/>
                </a:solidFill>
                <a:latin typeface="Arial MT"/>
                <a:cs typeface="Arial MT"/>
              </a:rPr>
              <a:t>  </a:t>
            </a:r>
            <a:r>
              <a:rPr sz="2000" spc="-10" dirty="0">
                <a:solidFill>
                  <a:srgbClr val="213739"/>
                </a:solidFill>
                <a:latin typeface="Arial MT"/>
                <a:cs typeface="Arial MT"/>
              </a:rPr>
              <a:t>inputs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42061" y="4591303"/>
            <a:ext cx="8571865" cy="168528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</a:pPr>
            <a:r>
              <a:rPr sz="1750" i="1" spc="6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89" baseline="-8888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r>
              <a:rPr sz="1875" spc="547" baseline="-8888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8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i="1" spc="80" dirty="0">
                <a:solidFill>
                  <a:srgbClr val="213739"/>
                </a:solidFill>
                <a:latin typeface="Calibri"/>
                <a:cs typeface="Calibri"/>
              </a:rPr>
              <a:t>isDirectorNolan</a:t>
            </a:r>
            <a:endParaRPr sz="1750">
              <a:latin typeface="Calibri"/>
              <a:cs typeface="Calibri"/>
            </a:endParaRPr>
          </a:p>
          <a:p>
            <a:pPr marL="3152775" algn="just">
              <a:lnSpc>
                <a:spcPct val="100000"/>
              </a:lnSpc>
              <a:spcBef>
                <a:spcPts val="80"/>
              </a:spcBef>
            </a:pPr>
            <a:r>
              <a:rPr sz="2000" spc="-75" dirty="0">
                <a:solidFill>
                  <a:srgbClr val="213739"/>
                </a:solidFill>
                <a:latin typeface="Arial MT"/>
                <a:cs typeface="Arial MT"/>
              </a:rPr>
              <a:t>Specifically,</a:t>
            </a:r>
            <a:r>
              <a:rPr sz="2000" spc="2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13739"/>
                </a:solidFill>
                <a:latin typeface="Arial MT"/>
                <a:cs typeface="Arial MT"/>
              </a:rPr>
              <a:t>even</a:t>
            </a:r>
            <a:r>
              <a:rPr sz="2000" spc="2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13739"/>
                </a:solidFill>
                <a:latin typeface="Arial MT"/>
                <a:cs typeface="Arial MT"/>
              </a:rPr>
              <a:t>if</a:t>
            </a:r>
            <a:r>
              <a:rPr sz="2000" spc="2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2000" spc="2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13739"/>
                </a:solidFill>
                <a:latin typeface="Arial MT"/>
                <a:cs typeface="Arial MT"/>
              </a:rPr>
              <a:t>actor</a:t>
            </a:r>
            <a:r>
              <a:rPr sz="2000" spc="2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13739"/>
                </a:solidFill>
                <a:latin typeface="Arial MT"/>
                <a:cs typeface="Arial MT"/>
              </a:rPr>
              <a:t>is</a:t>
            </a:r>
            <a:r>
              <a:rPr sz="2000" spc="2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13739"/>
                </a:solidFill>
                <a:latin typeface="Arial MT"/>
                <a:cs typeface="Arial MT"/>
              </a:rPr>
              <a:t>not</a:t>
            </a:r>
            <a:r>
              <a:rPr sz="2000" spc="2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i="1" dirty="0">
                <a:solidFill>
                  <a:srgbClr val="213739"/>
                </a:solidFill>
                <a:latin typeface="Times New Roman"/>
                <a:cs typeface="Times New Roman"/>
              </a:rPr>
              <a:t>Matt</a:t>
            </a:r>
            <a:r>
              <a:rPr sz="2000" i="1" spc="320" dirty="0">
                <a:solidFill>
                  <a:srgbClr val="213739"/>
                </a:solidFill>
                <a:latin typeface="Times New Roman"/>
                <a:cs typeface="Times New Roman"/>
              </a:rPr>
              <a:t> </a:t>
            </a:r>
            <a:r>
              <a:rPr sz="2000" i="1" spc="-10" dirty="0">
                <a:solidFill>
                  <a:srgbClr val="213739"/>
                </a:solidFill>
                <a:latin typeface="Times New Roman"/>
                <a:cs typeface="Times New Roman"/>
              </a:rPr>
              <a:t>Damon</a:t>
            </a:r>
            <a:endParaRPr sz="2000">
              <a:latin typeface="Times New Roman"/>
              <a:cs typeface="Times New Roman"/>
            </a:endParaRPr>
          </a:p>
          <a:p>
            <a:pPr marL="3152775" marR="17780" algn="just">
              <a:lnSpc>
                <a:spcPct val="118000"/>
              </a:lnSpc>
            </a:pPr>
            <a:r>
              <a:rPr sz="2000" spc="-60" dirty="0">
                <a:solidFill>
                  <a:srgbClr val="213739"/>
                </a:solidFill>
                <a:latin typeface="Arial MT"/>
                <a:cs typeface="Arial MT"/>
              </a:rPr>
              <a:t>a</a:t>
            </a:r>
            <a:r>
              <a:rPr sz="2000" spc="-75" dirty="0">
                <a:solidFill>
                  <a:srgbClr val="213739"/>
                </a:solidFill>
                <a:latin typeface="Arial MT"/>
                <a:cs typeface="Arial MT"/>
              </a:rPr>
              <a:t>n</a:t>
            </a:r>
            <a:r>
              <a:rPr sz="2000" dirty="0">
                <a:solidFill>
                  <a:srgbClr val="213739"/>
                </a:solidFill>
                <a:latin typeface="Arial MT"/>
                <a:cs typeface="Arial MT"/>
              </a:rPr>
              <a:t>d</a:t>
            </a:r>
            <a:r>
              <a:rPr sz="2000" spc="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spc="-3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2000" spc="1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213739"/>
                </a:solidFill>
                <a:latin typeface="Arial MT"/>
                <a:cs typeface="Arial MT"/>
              </a:rPr>
              <a:t>ge</a:t>
            </a:r>
            <a:r>
              <a:rPr sz="2000" spc="-10" dirty="0">
                <a:solidFill>
                  <a:srgbClr val="213739"/>
                </a:solidFill>
                <a:latin typeface="Arial MT"/>
                <a:cs typeface="Arial MT"/>
              </a:rPr>
              <a:t>nr</a:t>
            </a:r>
            <a:r>
              <a:rPr sz="2000" dirty="0">
                <a:solidFill>
                  <a:srgbClr val="213739"/>
                </a:solidFill>
                <a:latin typeface="Arial MT"/>
                <a:cs typeface="Arial MT"/>
              </a:rPr>
              <a:t>e</a:t>
            </a:r>
            <a:r>
              <a:rPr sz="2000" spc="2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213739"/>
                </a:solidFill>
                <a:latin typeface="Arial MT"/>
                <a:cs typeface="Arial MT"/>
              </a:rPr>
              <a:t>is</a:t>
            </a:r>
            <a:r>
              <a:rPr sz="2000" spc="20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13739"/>
                </a:solidFill>
                <a:latin typeface="Arial MT"/>
                <a:cs typeface="Arial MT"/>
              </a:rPr>
              <a:t>not</a:t>
            </a:r>
            <a:r>
              <a:rPr sz="2000" spc="1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i="1" spc="-20" dirty="0">
                <a:solidFill>
                  <a:srgbClr val="213739"/>
                </a:solidFill>
                <a:latin typeface="Times New Roman"/>
                <a:cs typeface="Times New Roman"/>
              </a:rPr>
              <a:t>thriller</a:t>
            </a:r>
            <a:r>
              <a:rPr sz="2000" i="1" spc="250" dirty="0">
                <a:solidFill>
                  <a:srgbClr val="213739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2000" spc="2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spc="-15" dirty="0">
                <a:solidFill>
                  <a:srgbClr val="213739"/>
                </a:solidFill>
                <a:latin typeface="Arial MT"/>
                <a:cs typeface="Arial MT"/>
              </a:rPr>
              <a:t>would</a:t>
            </a:r>
            <a:r>
              <a:rPr sz="2000" spc="1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213739"/>
                </a:solidFill>
                <a:latin typeface="Arial MT"/>
                <a:cs typeface="Arial MT"/>
              </a:rPr>
              <a:t>still</a:t>
            </a:r>
            <a:r>
              <a:rPr sz="2000" spc="1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213739"/>
                </a:solidFill>
                <a:latin typeface="Arial MT"/>
                <a:cs typeface="Arial MT"/>
              </a:rPr>
              <a:t>want</a:t>
            </a:r>
            <a:r>
              <a:rPr sz="20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213739"/>
                </a:solidFill>
                <a:latin typeface="Arial MT"/>
                <a:cs typeface="Arial MT"/>
              </a:rPr>
              <a:t>t</a:t>
            </a:r>
            <a:r>
              <a:rPr sz="2000" dirty="0">
                <a:solidFill>
                  <a:srgbClr val="213739"/>
                </a:solidFill>
                <a:latin typeface="Arial MT"/>
                <a:cs typeface="Arial MT"/>
              </a:rPr>
              <a:t>o</a:t>
            </a:r>
            <a:r>
              <a:rPr sz="2000" spc="1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213739"/>
                </a:solidFill>
                <a:latin typeface="Arial MT"/>
                <a:cs typeface="Arial MT"/>
              </a:rPr>
              <a:t>c</a:t>
            </a:r>
            <a:r>
              <a:rPr sz="2000" spc="-10" dirty="0">
                <a:solidFill>
                  <a:srgbClr val="213739"/>
                </a:solidFill>
                <a:latin typeface="Arial MT"/>
                <a:cs typeface="Arial MT"/>
              </a:rPr>
              <a:t>r</a:t>
            </a:r>
            <a:r>
              <a:rPr sz="2000" spc="-25" dirty="0">
                <a:solidFill>
                  <a:srgbClr val="213739"/>
                </a:solidFill>
                <a:latin typeface="Arial MT"/>
                <a:cs typeface="Arial MT"/>
              </a:rPr>
              <a:t>os</a:t>
            </a:r>
            <a:r>
              <a:rPr sz="2000" dirty="0">
                <a:solidFill>
                  <a:srgbClr val="213739"/>
                </a:solidFill>
                <a:latin typeface="Arial MT"/>
                <a:cs typeface="Arial MT"/>
              </a:rPr>
              <a:t>s</a:t>
            </a:r>
            <a:r>
              <a:rPr sz="2000" spc="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spc="-3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2000" spc="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spc="-80" dirty="0">
                <a:solidFill>
                  <a:srgbClr val="213739"/>
                </a:solidFill>
                <a:latin typeface="Arial MT"/>
                <a:cs typeface="Arial MT"/>
              </a:rPr>
              <a:t>threshold</a:t>
            </a:r>
            <a:r>
              <a:rPr sz="20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i="1" dirty="0">
                <a:solidFill>
                  <a:srgbClr val="213739"/>
                </a:solidFill>
                <a:latin typeface="Calibri"/>
                <a:cs typeface="Calibri"/>
              </a:rPr>
              <a:t>θ</a:t>
            </a:r>
            <a:r>
              <a:rPr sz="2000" i="1" spc="-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2000" spc="-110" dirty="0">
                <a:solidFill>
                  <a:srgbClr val="213739"/>
                </a:solidFill>
                <a:latin typeface="Arial MT"/>
                <a:cs typeface="Arial MT"/>
              </a:rPr>
              <a:t>b</a:t>
            </a:r>
            <a:r>
              <a:rPr sz="2000" dirty="0">
                <a:solidFill>
                  <a:srgbClr val="213739"/>
                </a:solidFill>
                <a:latin typeface="Arial MT"/>
                <a:cs typeface="Arial MT"/>
              </a:rPr>
              <a:t>y</a:t>
            </a:r>
            <a:r>
              <a:rPr sz="2000" spc="-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spc="-100" dirty="0">
                <a:solidFill>
                  <a:srgbClr val="213739"/>
                </a:solidFill>
                <a:latin typeface="Arial MT"/>
                <a:cs typeface="Arial MT"/>
              </a:rPr>
              <a:t>assigning</a:t>
            </a:r>
            <a:r>
              <a:rPr sz="2000" spc="-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13739"/>
                </a:solidFill>
                <a:latin typeface="Arial MT"/>
                <a:cs typeface="Arial MT"/>
              </a:rPr>
              <a:t>a</a:t>
            </a:r>
            <a:r>
              <a:rPr sz="2000" spc="-1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spc="-80" dirty="0">
                <a:solidFill>
                  <a:srgbClr val="213739"/>
                </a:solidFill>
                <a:latin typeface="Arial MT"/>
                <a:cs typeface="Arial MT"/>
              </a:rPr>
              <a:t>high</a:t>
            </a:r>
            <a:r>
              <a:rPr sz="2000" spc="-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spc="-65" dirty="0">
                <a:solidFill>
                  <a:srgbClr val="213739"/>
                </a:solidFill>
                <a:latin typeface="Arial MT"/>
                <a:cs typeface="Arial MT"/>
              </a:rPr>
              <a:t>weight</a:t>
            </a:r>
            <a:r>
              <a:rPr sz="2000" spc="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213739"/>
                </a:solidFill>
                <a:latin typeface="Arial MT"/>
                <a:cs typeface="Arial MT"/>
              </a:rPr>
              <a:t>t</a:t>
            </a:r>
            <a:r>
              <a:rPr sz="2000" dirty="0">
                <a:solidFill>
                  <a:srgbClr val="213739"/>
                </a:solidFill>
                <a:latin typeface="Arial MT"/>
                <a:cs typeface="Arial MT"/>
              </a:rPr>
              <a:t>o</a:t>
            </a:r>
            <a:r>
              <a:rPr sz="2000" spc="-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000" i="1" spc="-25" dirty="0">
                <a:solidFill>
                  <a:srgbClr val="213739"/>
                </a:solidFill>
                <a:latin typeface="Times New Roman"/>
                <a:cs typeface="Times New Roman"/>
              </a:rPr>
              <a:t>isDirectorNolan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7" name="object 27" descr="$PPTXTitle"/>
          <p:cNvSpPr txBox="1">
            <a:spLocks noGrp="1"/>
          </p:cNvSpPr>
          <p:nvPr>
            <p:ph type="title"/>
          </p:nvPr>
        </p:nvSpPr>
        <p:spPr>
          <a:xfrm>
            <a:off x="307340" y="237490"/>
            <a:ext cx="551053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Why</a:t>
            </a:r>
            <a:r>
              <a:rPr spc="-80" dirty="0"/>
              <a:t> </a:t>
            </a:r>
            <a:r>
              <a:rPr dirty="0"/>
              <a:t>do</a:t>
            </a:r>
            <a:r>
              <a:rPr spc="-65" dirty="0"/>
              <a:t> </a:t>
            </a:r>
            <a:r>
              <a:rPr dirty="0"/>
              <a:t>we</a:t>
            </a:r>
            <a:r>
              <a:rPr spc="-80" dirty="0"/>
              <a:t> </a:t>
            </a:r>
            <a:r>
              <a:rPr dirty="0"/>
              <a:t>need</a:t>
            </a:r>
            <a:r>
              <a:rPr spc="-80" dirty="0"/>
              <a:t> </a:t>
            </a:r>
            <a:r>
              <a:rPr dirty="0"/>
              <a:t>weights</a:t>
            </a:r>
            <a:r>
              <a:rPr spc="-65" dirty="0"/>
              <a:t> </a:t>
            </a:r>
            <a:r>
              <a:rPr spc="-50" dirty="0"/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74342" y="3031058"/>
            <a:ext cx="264795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30830" y="3031058"/>
            <a:ext cx="264795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73273" y="3031058"/>
            <a:ext cx="264795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875" baseline="-8888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958974" y="1340113"/>
            <a:ext cx="2143760" cy="1769745"/>
            <a:chOff x="958974" y="1340113"/>
            <a:chExt cx="2143760" cy="1769745"/>
          </a:xfrm>
        </p:grpSpPr>
        <p:sp>
          <p:nvSpPr>
            <p:cNvPr id="6" name="object 6"/>
            <p:cNvSpPr/>
            <p:nvPr/>
          </p:nvSpPr>
          <p:spPr>
            <a:xfrm>
              <a:off x="1907667" y="1763648"/>
              <a:ext cx="570865" cy="570865"/>
            </a:xfrm>
            <a:custGeom>
              <a:avLst/>
              <a:gdLst/>
              <a:ahLst/>
              <a:cxnLst/>
              <a:rect l="l" t="t" r="r" b="b"/>
              <a:pathLst>
                <a:path w="570864" h="570864">
                  <a:moveTo>
                    <a:pt x="285369" y="0"/>
                  </a:moveTo>
                  <a:lnTo>
                    <a:pt x="209550" y="10160"/>
                  </a:lnTo>
                  <a:lnTo>
                    <a:pt x="141350" y="38988"/>
                  </a:lnTo>
                  <a:lnTo>
                    <a:pt x="83565" y="83565"/>
                  </a:lnTo>
                  <a:lnTo>
                    <a:pt x="38988" y="141350"/>
                  </a:lnTo>
                  <a:lnTo>
                    <a:pt x="10159" y="209550"/>
                  </a:lnTo>
                  <a:lnTo>
                    <a:pt x="0" y="285496"/>
                  </a:lnTo>
                  <a:lnTo>
                    <a:pt x="10159" y="361314"/>
                  </a:lnTo>
                  <a:lnTo>
                    <a:pt x="38988" y="429513"/>
                  </a:lnTo>
                  <a:lnTo>
                    <a:pt x="83565" y="487299"/>
                  </a:lnTo>
                  <a:lnTo>
                    <a:pt x="141350" y="532002"/>
                  </a:lnTo>
                  <a:lnTo>
                    <a:pt x="209550" y="560704"/>
                  </a:lnTo>
                  <a:lnTo>
                    <a:pt x="285369" y="570864"/>
                  </a:lnTo>
                  <a:lnTo>
                    <a:pt x="361314" y="560704"/>
                  </a:lnTo>
                  <a:lnTo>
                    <a:pt x="429513" y="532002"/>
                  </a:lnTo>
                  <a:lnTo>
                    <a:pt x="487299" y="487299"/>
                  </a:lnTo>
                  <a:lnTo>
                    <a:pt x="531876" y="429513"/>
                  </a:lnTo>
                  <a:lnTo>
                    <a:pt x="560705" y="361314"/>
                  </a:lnTo>
                  <a:lnTo>
                    <a:pt x="570864" y="285496"/>
                  </a:lnTo>
                  <a:lnTo>
                    <a:pt x="560705" y="209550"/>
                  </a:lnTo>
                  <a:lnTo>
                    <a:pt x="531876" y="141350"/>
                  </a:lnTo>
                  <a:lnTo>
                    <a:pt x="487299" y="83565"/>
                  </a:lnTo>
                  <a:lnTo>
                    <a:pt x="429513" y="38988"/>
                  </a:lnTo>
                  <a:lnTo>
                    <a:pt x="361314" y="10160"/>
                  </a:lnTo>
                  <a:lnTo>
                    <a:pt x="285369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907667" y="1763648"/>
              <a:ext cx="570865" cy="570865"/>
            </a:xfrm>
            <a:custGeom>
              <a:avLst/>
              <a:gdLst/>
              <a:ahLst/>
              <a:cxnLst/>
              <a:rect l="l" t="t" r="r" b="b"/>
              <a:pathLst>
                <a:path w="570864" h="570864">
                  <a:moveTo>
                    <a:pt x="570864" y="285496"/>
                  </a:moveTo>
                  <a:lnTo>
                    <a:pt x="560705" y="209550"/>
                  </a:lnTo>
                  <a:lnTo>
                    <a:pt x="531876" y="141350"/>
                  </a:lnTo>
                  <a:lnTo>
                    <a:pt x="487299" y="83565"/>
                  </a:lnTo>
                  <a:lnTo>
                    <a:pt x="429513" y="38988"/>
                  </a:lnTo>
                  <a:lnTo>
                    <a:pt x="361314" y="10160"/>
                  </a:lnTo>
                  <a:lnTo>
                    <a:pt x="285369" y="0"/>
                  </a:lnTo>
                  <a:lnTo>
                    <a:pt x="209550" y="10160"/>
                  </a:lnTo>
                  <a:lnTo>
                    <a:pt x="141350" y="38988"/>
                  </a:lnTo>
                  <a:lnTo>
                    <a:pt x="83565" y="83565"/>
                  </a:lnTo>
                  <a:lnTo>
                    <a:pt x="38988" y="141350"/>
                  </a:lnTo>
                  <a:lnTo>
                    <a:pt x="10159" y="209550"/>
                  </a:lnTo>
                  <a:lnTo>
                    <a:pt x="0" y="285496"/>
                  </a:lnTo>
                  <a:lnTo>
                    <a:pt x="10159" y="361314"/>
                  </a:lnTo>
                  <a:lnTo>
                    <a:pt x="38988" y="429513"/>
                  </a:lnTo>
                  <a:lnTo>
                    <a:pt x="83565" y="487299"/>
                  </a:lnTo>
                  <a:lnTo>
                    <a:pt x="141350" y="532002"/>
                  </a:lnTo>
                  <a:lnTo>
                    <a:pt x="209550" y="560704"/>
                  </a:lnTo>
                  <a:lnTo>
                    <a:pt x="285369" y="570864"/>
                  </a:lnTo>
                  <a:lnTo>
                    <a:pt x="361314" y="560704"/>
                  </a:lnTo>
                  <a:lnTo>
                    <a:pt x="429513" y="532002"/>
                  </a:lnTo>
                  <a:lnTo>
                    <a:pt x="487299" y="487299"/>
                  </a:lnTo>
                  <a:lnTo>
                    <a:pt x="531876" y="429513"/>
                  </a:lnTo>
                  <a:lnTo>
                    <a:pt x="560705" y="361314"/>
                  </a:lnTo>
                  <a:lnTo>
                    <a:pt x="570864" y="285496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689227" y="2321940"/>
              <a:ext cx="374015" cy="785495"/>
            </a:xfrm>
            <a:custGeom>
              <a:avLst/>
              <a:gdLst/>
              <a:ahLst/>
              <a:cxnLst/>
              <a:rect l="l" t="t" r="r" b="b"/>
              <a:pathLst>
                <a:path w="374014" h="785494">
                  <a:moveTo>
                    <a:pt x="0" y="785113"/>
                  </a:moveTo>
                  <a:lnTo>
                    <a:pt x="373888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00761" y="2315848"/>
              <a:ext cx="92195" cy="6362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263013" y="2342895"/>
              <a:ext cx="182245" cy="764540"/>
            </a:xfrm>
            <a:custGeom>
              <a:avLst/>
              <a:gdLst/>
              <a:ahLst/>
              <a:cxnLst/>
              <a:rect l="l" t="t" r="r" b="b"/>
              <a:pathLst>
                <a:path w="182244" h="764539">
                  <a:moveTo>
                    <a:pt x="181991" y="764158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224913" y="2339086"/>
              <a:ext cx="93980" cy="52069"/>
            </a:xfrm>
            <a:custGeom>
              <a:avLst/>
              <a:gdLst/>
              <a:ahLst/>
              <a:cxnLst/>
              <a:rect l="l" t="t" r="r" b="b"/>
              <a:pathLst>
                <a:path w="93980" h="52069">
                  <a:moveTo>
                    <a:pt x="0" y="51815"/>
                  </a:moveTo>
                  <a:lnTo>
                    <a:pt x="16637" y="40259"/>
                  </a:lnTo>
                  <a:lnTo>
                    <a:pt x="27939" y="27304"/>
                  </a:lnTo>
                  <a:lnTo>
                    <a:pt x="34417" y="13715"/>
                  </a:lnTo>
                  <a:lnTo>
                    <a:pt x="37211" y="0"/>
                  </a:lnTo>
                  <a:lnTo>
                    <a:pt x="45847" y="10922"/>
                  </a:lnTo>
                  <a:lnTo>
                    <a:pt x="57785" y="20192"/>
                  </a:lnTo>
                  <a:lnTo>
                    <a:pt x="73660" y="26669"/>
                  </a:lnTo>
                  <a:lnTo>
                    <a:pt x="93853" y="29463"/>
                  </a:lnTo>
                </a:path>
              </a:pathLst>
            </a:custGeom>
            <a:ln w="5069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390013" y="2278887"/>
              <a:ext cx="709930" cy="828675"/>
            </a:xfrm>
            <a:custGeom>
              <a:avLst/>
              <a:gdLst/>
              <a:ahLst/>
              <a:cxnLst/>
              <a:rect l="l" t="t" r="r" b="b"/>
              <a:pathLst>
                <a:path w="709930" h="828675">
                  <a:moveTo>
                    <a:pt x="709930" y="828166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75409" y="2273300"/>
              <a:ext cx="78483" cy="6832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61504" y="2243073"/>
              <a:ext cx="1000760" cy="840740"/>
            </a:xfrm>
            <a:custGeom>
              <a:avLst/>
              <a:gdLst/>
              <a:ahLst/>
              <a:cxnLst/>
              <a:rect l="l" t="t" r="r" b="b"/>
              <a:pathLst>
                <a:path w="1000760" h="840739">
                  <a:moveTo>
                    <a:pt x="0" y="840486"/>
                  </a:moveTo>
                  <a:lnTo>
                    <a:pt x="1000645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9536" y="2227831"/>
              <a:ext cx="68330" cy="7925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144903" y="1342643"/>
              <a:ext cx="96520" cy="413384"/>
            </a:xfrm>
            <a:custGeom>
              <a:avLst/>
              <a:gdLst/>
              <a:ahLst/>
              <a:cxnLst/>
              <a:rect l="l" t="t" r="r" b="b"/>
              <a:pathLst>
                <a:path w="96519" h="413385">
                  <a:moveTo>
                    <a:pt x="48133" y="413003"/>
                  </a:moveTo>
                  <a:lnTo>
                    <a:pt x="48133" y="4063"/>
                  </a:lnTo>
                </a:path>
                <a:path w="96519" h="413385">
                  <a:moveTo>
                    <a:pt x="0" y="41782"/>
                  </a:moveTo>
                  <a:lnTo>
                    <a:pt x="18923" y="34416"/>
                  </a:lnTo>
                  <a:lnTo>
                    <a:pt x="32893" y="24383"/>
                  </a:lnTo>
                  <a:lnTo>
                    <a:pt x="42418" y="12700"/>
                  </a:lnTo>
                  <a:lnTo>
                    <a:pt x="48133" y="0"/>
                  </a:lnTo>
                  <a:lnTo>
                    <a:pt x="53975" y="12700"/>
                  </a:lnTo>
                  <a:lnTo>
                    <a:pt x="63500" y="24383"/>
                  </a:lnTo>
                  <a:lnTo>
                    <a:pt x="77470" y="34416"/>
                  </a:lnTo>
                  <a:lnTo>
                    <a:pt x="96393" y="41782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122423" y="970915"/>
            <a:ext cx="12446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y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781415" y="5603912"/>
            <a:ext cx="196215" cy="206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spc="-25" dirty="0">
                <a:solidFill>
                  <a:srgbClr val="213739"/>
                </a:solidFill>
                <a:latin typeface="Arial MT"/>
                <a:cs typeface="Arial MT"/>
              </a:rPr>
              <a:t>24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37261" y="6643369"/>
            <a:ext cx="1173480" cy="241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20"/>
              </a:lnSpc>
            </a:pPr>
            <a:r>
              <a:rPr sz="1700" b="1" dirty="0">
                <a:solidFill>
                  <a:srgbClr val="FFFFFF"/>
                </a:solidFill>
                <a:latin typeface="Calibri"/>
                <a:cs typeface="Calibri"/>
              </a:rPr>
              <a:t>NIT</a:t>
            </a:r>
            <a:r>
              <a:rPr sz="17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b="1" spc="-10" dirty="0">
                <a:solidFill>
                  <a:srgbClr val="FFFFFF"/>
                </a:solidFill>
                <a:latin typeface="Calibri"/>
                <a:cs typeface="Calibri"/>
              </a:rPr>
              <a:t>Rourkela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568188" y="6658229"/>
            <a:ext cx="293687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dirty="0">
                <a:latin typeface="Calibri"/>
                <a:cs typeface="Calibri"/>
              </a:rPr>
              <a:t>“Deep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Learning: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Neuron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to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Perceptron”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54456" y="2692400"/>
            <a:ext cx="735965" cy="23050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3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425" baseline="-11695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425" spc="367" baseline="-1169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350" spc="48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350" spc="-25" dirty="0">
                <a:solidFill>
                  <a:srgbClr val="213739"/>
                </a:solidFill>
                <a:latin typeface="Lucida Sans Unicode"/>
                <a:cs typeface="Lucida Sans Unicode"/>
              </a:rPr>
              <a:t>−</a:t>
            </a:r>
            <a:r>
              <a:rPr sz="1350" i="1" spc="-25" dirty="0">
                <a:solidFill>
                  <a:srgbClr val="213739"/>
                </a:solidFill>
                <a:latin typeface="Calibri"/>
                <a:cs typeface="Calibri"/>
              </a:rPr>
              <a:t>θ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16356" y="3056890"/>
            <a:ext cx="69913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6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89" baseline="-8888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875" spc="547" baseline="-8888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8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483741" y="2678683"/>
            <a:ext cx="254635" cy="23050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35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425" spc="-37" baseline="-11695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425" baseline="-11695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098929" y="2678683"/>
            <a:ext cx="735965" cy="23050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506095" algn="l"/>
              </a:tabLst>
            </a:pPr>
            <a:r>
              <a:rPr sz="135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425" spc="-37" baseline="-11695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425" baseline="-11695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35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425" spc="-37" baseline="-11695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425" baseline="-11695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29361" y="3730864"/>
            <a:ext cx="2284730" cy="11512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3500" marR="43180" indent="194945" algn="just">
              <a:lnSpc>
                <a:spcPct val="140600"/>
              </a:lnSpc>
              <a:spcBef>
                <a:spcPts val="105"/>
              </a:spcBef>
            </a:pPr>
            <a:r>
              <a:rPr sz="1750" i="1" spc="5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82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875" spc="682" baseline="-8888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254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i="1" spc="70" dirty="0">
                <a:solidFill>
                  <a:srgbClr val="213739"/>
                </a:solidFill>
                <a:latin typeface="Calibri"/>
                <a:cs typeface="Calibri"/>
              </a:rPr>
              <a:t>isActorDamon </a:t>
            </a:r>
            <a:r>
              <a:rPr sz="1750" i="1" spc="5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82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875" spc="330" baseline="-8888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39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i="1" spc="100" dirty="0">
                <a:solidFill>
                  <a:srgbClr val="213739"/>
                </a:solidFill>
                <a:latin typeface="Calibri"/>
                <a:cs typeface="Calibri"/>
              </a:rPr>
              <a:t>isGenreThriller </a:t>
            </a:r>
            <a:r>
              <a:rPr sz="1750" i="1" spc="6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89" baseline="-8888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r>
              <a:rPr sz="1875" spc="547" baseline="-8888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8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i="1" spc="80" dirty="0">
                <a:solidFill>
                  <a:srgbClr val="213739"/>
                </a:solidFill>
                <a:latin typeface="Calibri"/>
                <a:cs typeface="Calibri"/>
              </a:rPr>
              <a:t>isDirectorNolan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557270" y="946530"/>
            <a:ext cx="509968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875" spc="367" baseline="-8888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is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ca</a:t>
            </a:r>
            <a:r>
              <a:rPr sz="1750" spc="-3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led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bias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as</a:t>
            </a:r>
            <a:r>
              <a:rPr sz="1750" spc="-20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it</a:t>
            </a:r>
            <a:r>
              <a:rPr sz="1750" spc="-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represents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prior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(prejudice)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24" name="object 2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Why</a:t>
            </a:r>
            <a:r>
              <a:rPr spc="-45" dirty="0"/>
              <a:t> </a:t>
            </a:r>
            <a:r>
              <a:rPr dirty="0"/>
              <a:t>is</a:t>
            </a:r>
            <a:r>
              <a:rPr spc="-15" dirty="0"/>
              <a:t> </a:t>
            </a:r>
            <a:r>
              <a:rPr i="1" dirty="0">
                <a:latin typeface="Times New Roman"/>
                <a:cs typeface="Times New Roman"/>
              </a:rPr>
              <a:t>w</a:t>
            </a:r>
            <a:r>
              <a:rPr sz="3975" i="1" baseline="-20964" dirty="0">
                <a:latin typeface="Times New Roman"/>
                <a:cs typeface="Times New Roman"/>
              </a:rPr>
              <a:t>0</a:t>
            </a:r>
            <a:r>
              <a:rPr sz="3975" i="1" spc="442" baseline="-20964" dirty="0">
                <a:latin typeface="Times New Roman"/>
                <a:cs typeface="Times New Roman"/>
              </a:rPr>
              <a:t> </a:t>
            </a:r>
            <a:r>
              <a:rPr sz="4000" dirty="0"/>
              <a:t>=</a:t>
            </a:r>
            <a:r>
              <a:rPr sz="4000" spc="-45" dirty="0"/>
              <a:t> </a:t>
            </a:r>
            <a:r>
              <a:rPr sz="4000" dirty="0"/>
              <a:t>−</a:t>
            </a:r>
            <a:r>
              <a:rPr sz="4000" i="1" dirty="0">
                <a:latin typeface="Times New Roman"/>
                <a:cs typeface="Times New Roman"/>
              </a:rPr>
              <a:t>θ</a:t>
            </a:r>
            <a:r>
              <a:rPr sz="4000" i="1" spc="-50" dirty="0">
                <a:latin typeface="Times New Roman"/>
                <a:cs typeface="Times New Roman"/>
              </a:rPr>
              <a:t> </a:t>
            </a:r>
            <a:r>
              <a:rPr sz="4000" dirty="0"/>
              <a:t>called</a:t>
            </a:r>
            <a:r>
              <a:rPr sz="4000" spc="-40" dirty="0"/>
              <a:t> </a:t>
            </a:r>
            <a:r>
              <a:rPr sz="4000" dirty="0"/>
              <a:t>the</a:t>
            </a:r>
            <a:r>
              <a:rPr sz="4000" spc="-55" dirty="0"/>
              <a:t> </a:t>
            </a:r>
            <a:r>
              <a:rPr sz="4000" dirty="0"/>
              <a:t>bias</a:t>
            </a:r>
            <a:r>
              <a:rPr sz="4000" spc="-40" dirty="0"/>
              <a:t> </a:t>
            </a:r>
            <a:r>
              <a:rPr sz="4000" spc="-60" dirty="0"/>
              <a:t>?</a:t>
            </a:r>
            <a:endParaRPr sz="40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74342" y="3031058"/>
            <a:ext cx="264795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30830" y="3031058"/>
            <a:ext cx="264795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73273" y="3031058"/>
            <a:ext cx="264795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875" baseline="-8888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958974" y="1340113"/>
            <a:ext cx="2143760" cy="1769745"/>
            <a:chOff x="958974" y="1340113"/>
            <a:chExt cx="2143760" cy="1769745"/>
          </a:xfrm>
        </p:grpSpPr>
        <p:sp>
          <p:nvSpPr>
            <p:cNvPr id="6" name="object 6"/>
            <p:cNvSpPr/>
            <p:nvPr/>
          </p:nvSpPr>
          <p:spPr>
            <a:xfrm>
              <a:off x="1907667" y="1763648"/>
              <a:ext cx="570865" cy="570865"/>
            </a:xfrm>
            <a:custGeom>
              <a:avLst/>
              <a:gdLst/>
              <a:ahLst/>
              <a:cxnLst/>
              <a:rect l="l" t="t" r="r" b="b"/>
              <a:pathLst>
                <a:path w="570864" h="570864">
                  <a:moveTo>
                    <a:pt x="285369" y="0"/>
                  </a:moveTo>
                  <a:lnTo>
                    <a:pt x="209550" y="10160"/>
                  </a:lnTo>
                  <a:lnTo>
                    <a:pt x="141350" y="38988"/>
                  </a:lnTo>
                  <a:lnTo>
                    <a:pt x="83565" y="83565"/>
                  </a:lnTo>
                  <a:lnTo>
                    <a:pt x="38988" y="141350"/>
                  </a:lnTo>
                  <a:lnTo>
                    <a:pt x="10159" y="209550"/>
                  </a:lnTo>
                  <a:lnTo>
                    <a:pt x="0" y="285496"/>
                  </a:lnTo>
                  <a:lnTo>
                    <a:pt x="10159" y="361314"/>
                  </a:lnTo>
                  <a:lnTo>
                    <a:pt x="38988" y="429513"/>
                  </a:lnTo>
                  <a:lnTo>
                    <a:pt x="83565" y="487299"/>
                  </a:lnTo>
                  <a:lnTo>
                    <a:pt x="141350" y="532002"/>
                  </a:lnTo>
                  <a:lnTo>
                    <a:pt x="209550" y="560704"/>
                  </a:lnTo>
                  <a:lnTo>
                    <a:pt x="285369" y="570864"/>
                  </a:lnTo>
                  <a:lnTo>
                    <a:pt x="361314" y="560704"/>
                  </a:lnTo>
                  <a:lnTo>
                    <a:pt x="429513" y="532002"/>
                  </a:lnTo>
                  <a:lnTo>
                    <a:pt x="487299" y="487299"/>
                  </a:lnTo>
                  <a:lnTo>
                    <a:pt x="531876" y="429513"/>
                  </a:lnTo>
                  <a:lnTo>
                    <a:pt x="560705" y="361314"/>
                  </a:lnTo>
                  <a:lnTo>
                    <a:pt x="570864" y="285496"/>
                  </a:lnTo>
                  <a:lnTo>
                    <a:pt x="560705" y="209550"/>
                  </a:lnTo>
                  <a:lnTo>
                    <a:pt x="531876" y="141350"/>
                  </a:lnTo>
                  <a:lnTo>
                    <a:pt x="487299" y="83565"/>
                  </a:lnTo>
                  <a:lnTo>
                    <a:pt x="429513" y="38988"/>
                  </a:lnTo>
                  <a:lnTo>
                    <a:pt x="361314" y="10160"/>
                  </a:lnTo>
                  <a:lnTo>
                    <a:pt x="285369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907667" y="1763648"/>
              <a:ext cx="570865" cy="570865"/>
            </a:xfrm>
            <a:custGeom>
              <a:avLst/>
              <a:gdLst/>
              <a:ahLst/>
              <a:cxnLst/>
              <a:rect l="l" t="t" r="r" b="b"/>
              <a:pathLst>
                <a:path w="570864" h="570864">
                  <a:moveTo>
                    <a:pt x="570864" y="285496"/>
                  </a:moveTo>
                  <a:lnTo>
                    <a:pt x="560705" y="209550"/>
                  </a:lnTo>
                  <a:lnTo>
                    <a:pt x="531876" y="141350"/>
                  </a:lnTo>
                  <a:lnTo>
                    <a:pt x="487299" y="83565"/>
                  </a:lnTo>
                  <a:lnTo>
                    <a:pt x="429513" y="38988"/>
                  </a:lnTo>
                  <a:lnTo>
                    <a:pt x="361314" y="10160"/>
                  </a:lnTo>
                  <a:lnTo>
                    <a:pt x="285369" y="0"/>
                  </a:lnTo>
                  <a:lnTo>
                    <a:pt x="209550" y="10160"/>
                  </a:lnTo>
                  <a:lnTo>
                    <a:pt x="141350" y="38988"/>
                  </a:lnTo>
                  <a:lnTo>
                    <a:pt x="83565" y="83565"/>
                  </a:lnTo>
                  <a:lnTo>
                    <a:pt x="38988" y="141350"/>
                  </a:lnTo>
                  <a:lnTo>
                    <a:pt x="10159" y="209550"/>
                  </a:lnTo>
                  <a:lnTo>
                    <a:pt x="0" y="285496"/>
                  </a:lnTo>
                  <a:lnTo>
                    <a:pt x="10159" y="361314"/>
                  </a:lnTo>
                  <a:lnTo>
                    <a:pt x="38988" y="429513"/>
                  </a:lnTo>
                  <a:lnTo>
                    <a:pt x="83565" y="487299"/>
                  </a:lnTo>
                  <a:lnTo>
                    <a:pt x="141350" y="532002"/>
                  </a:lnTo>
                  <a:lnTo>
                    <a:pt x="209550" y="560704"/>
                  </a:lnTo>
                  <a:lnTo>
                    <a:pt x="285369" y="570864"/>
                  </a:lnTo>
                  <a:lnTo>
                    <a:pt x="361314" y="560704"/>
                  </a:lnTo>
                  <a:lnTo>
                    <a:pt x="429513" y="532002"/>
                  </a:lnTo>
                  <a:lnTo>
                    <a:pt x="487299" y="487299"/>
                  </a:lnTo>
                  <a:lnTo>
                    <a:pt x="531876" y="429513"/>
                  </a:lnTo>
                  <a:lnTo>
                    <a:pt x="560705" y="361314"/>
                  </a:lnTo>
                  <a:lnTo>
                    <a:pt x="570864" y="285496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689227" y="2321940"/>
              <a:ext cx="374015" cy="785495"/>
            </a:xfrm>
            <a:custGeom>
              <a:avLst/>
              <a:gdLst/>
              <a:ahLst/>
              <a:cxnLst/>
              <a:rect l="l" t="t" r="r" b="b"/>
              <a:pathLst>
                <a:path w="374014" h="785494">
                  <a:moveTo>
                    <a:pt x="0" y="785113"/>
                  </a:moveTo>
                  <a:lnTo>
                    <a:pt x="373888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00761" y="2315848"/>
              <a:ext cx="92195" cy="6362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263013" y="2342895"/>
              <a:ext cx="182245" cy="764540"/>
            </a:xfrm>
            <a:custGeom>
              <a:avLst/>
              <a:gdLst/>
              <a:ahLst/>
              <a:cxnLst/>
              <a:rect l="l" t="t" r="r" b="b"/>
              <a:pathLst>
                <a:path w="182244" h="764539">
                  <a:moveTo>
                    <a:pt x="181991" y="764158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224913" y="2339086"/>
              <a:ext cx="93980" cy="52069"/>
            </a:xfrm>
            <a:custGeom>
              <a:avLst/>
              <a:gdLst/>
              <a:ahLst/>
              <a:cxnLst/>
              <a:rect l="l" t="t" r="r" b="b"/>
              <a:pathLst>
                <a:path w="93980" h="52069">
                  <a:moveTo>
                    <a:pt x="0" y="51815"/>
                  </a:moveTo>
                  <a:lnTo>
                    <a:pt x="16637" y="40259"/>
                  </a:lnTo>
                  <a:lnTo>
                    <a:pt x="27939" y="27304"/>
                  </a:lnTo>
                  <a:lnTo>
                    <a:pt x="34417" y="13715"/>
                  </a:lnTo>
                  <a:lnTo>
                    <a:pt x="37211" y="0"/>
                  </a:lnTo>
                  <a:lnTo>
                    <a:pt x="45847" y="10922"/>
                  </a:lnTo>
                  <a:lnTo>
                    <a:pt x="57785" y="20192"/>
                  </a:lnTo>
                  <a:lnTo>
                    <a:pt x="73660" y="26669"/>
                  </a:lnTo>
                  <a:lnTo>
                    <a:pt x="93853" y="29463"/>
                  </a:lnTo>
                </a:path>
              </a:pathLst>
            </a:custGeom>
            <a:ln w="5069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390013" y="2278887"/>
              <a:ext cx="709930" cy="828675"/>
            </a:xfrm>
            <a:custGeom>
              <a:avLst/>
              <a:gdLst/>
              <a:ahLst/>
              <a:cxnLst/>
              <a:rect l="l" t="t" r="r" b="b"/>
              <a:pathLst>
                <a:path w="709930" h="828675">
                  <a:moveTo>
                    <a:pt x="709930" y="828166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75409" y="2273300"/>
              <a:ext cx="78483" cy="6832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61504" y="2243073"/>
              <a:ext cx="1000760" cy="840740"/>
            </a:xfrm>
            <a:custGeom>
              <a:avLst/>
              <a:gdLst/>
              <a:ahLst/>
              <a:cxnLst/>
              <a:rect l="l" t="t" r="r" b="b"/>
              <a:pathLst>
                <a:path w="1000760" h="840739">
                  <a:moveTo>
                    <a:pt x="0" y="840486"/>
                  </a:moveTo>
                  <a:lnTo>
                    <a:pt x="1000645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9536" y="2227831"/>
              <a:ext cx="68330" cy="7925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144903" y="1342643"/>
              <a:ext cx="96520" cy="413384"/>
            </a:xfrm>
            <a:custGeom>
              <a:avLst/>
              <a:gdLst/>
              <a:ahLst/>
              <a:cxnLst/>
              <a:rect l="l" t="t" r="r" b="b"/>
              <a:pathLst>
                <a:path w="96519" h="413385">
                  <a:moveTo>
                    <a:pt x="48133" y="413003"/>
                  </a:moveTo>
                  <a:lnTo>
                    <a:pt x="48133" y="4063"/>
                  </a:lnTo>
                </a:path>
                <a:path w="96519" h="413385">
                  <a:moveTo>
                    <a:pt x="0" y="41782"/>
                  </a:moveTo>
                  <a:lnTo>
                    <a:pt x="18923" y="34416"/>
                  </a:lnTo>
                  <a:lnTo>
                    <a:pt x="32893" y="24383"/>
                  </a:lnTo>
                  <a:lnTo>
                    <a:pt x="42418" y="12700"/>
                  </a:lnTo>
                  <a:lnTo>
                    <a:pt x="48133" y="0"/>
                  </a:lnTo>
                  <a:lnTo>
                    <a:pt x="53975" y="12700"/>
                  </a:lnTo>
                  <a:lnTo>
                    <a:pt x="63500" y="24383"/>
                  </a:lnTo>
                  <a:lnTo>
                    <a:pt x="77470" y="34416"/>
                  </a:lnTo>
                  <a:lnTo>
                    <a:pt x="96393" y="41782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122423" y="970915"/>
            <a:ext cx="12446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y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781415" y="5603912"/>
            <a:ext cx="196215" cy="206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spc="-25" dirty="0">
                <a:solidFill>
                  <a:srgbClr val="213739"/>
                </a:solidFill>
                <a:latin typeface="Arial MT"/>
                <a:cs typeface="Arial MT"/>
              </a:rPr>
              <a:t>24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37261" y="6643369"/>
            <a:ext cx="1173480" cy="241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20"/>
              </a:lnSpc>
            </a:pPr>
            <a:r>
              <a:rPr sz="1700" b="1" dirty="0">
                <a:solidFill>
                  <a:srgbClr val="FFFFFF"/>
                </a:solidFill>
                <a:latin typeface="Calibri"/>
                <a:cs typeface="Calibri"/>
              </a:rPr>
              <a:t>NIT</a:t>
            </a:r>
            <a:r>
              <a:rPr sz="17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b="1" spc="-10" dirty="0">
                <a:solidFill>
                  <a:srgbClr val="FFFFFF"/>
                </a:solidFill>
                <a:latin typeface="Calibri"/>
                <a:cs typeface="Calibri"/>
              </a:rPr>
              <a:t>Rourkela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568188" y="6658229"/>
            <a:ext cx="293687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dirty="0">
                <a:latin typeface="Calibri"/>
                <a:cs typeface="Calibri"/>
              </a:rPr>
              <a:t>“Deep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Learning: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Neuron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to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Perceptron”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54456" y="2692400"/>
            <a:ext cx="735965" cy="23050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3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425" baseline="-11695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425" spc="367" baseline="-1169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350" spc="48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350" spc="-25" dirty="0">
                <a:solidFill>
                  <a:srgbClr val="213739"/>
                </a:solidFill>
                <a:latin typeface="Lucida Sans Unicode"/>
                <a:cs typeface="Lucida Sans Unicode"/>
              </a:rPr>
              <a:t>−</a:t>
            </a:r>
            <a:r>
              <a:rPr sz="1350" i="1" spc="-25" dirty="0">
                <a:solidFill>
                  <a:srgbClr val="213739"/>
                </a:solidFill>
                <a:latin typeface="Calibri"/>
                <a:cs typeface="Calibri"/>
              </a:rPr>
              <a:t>θ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16356" y="3056890"/>
            <a:ext cx="69913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6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89" baseline="-8888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875" spc="547" baseline="-8888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8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483741" y="2678683"/>
            <a:ext cx="254635" cy="23050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35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425" spc="-37" baseline="-11695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425" baseline="-11695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098929" y="2678683"/>
            <a:ext cx="735965" cy="23050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506095" algn="l"/>
              </a:tabLst>
            </a:pPr>
            <a:r>
              <a:rPr sz="135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425" spc="-37" baseline="-11695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425" baseline="-11695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35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425" spc="-37" baseline="-11695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425" baseline="-11695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29361" y="3730864"/>
            <a:ext cx="2284730" cy="11512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3500" marR="43180" indent="194945" algn="just">
              <a:lnSpc>
                <a:spcPct val="140600"/>
              </a:lnSpc>
              <a:spcBef>
                <a:spcPts val="105"/>
              </a:spcBef>
            </a:pPr>
            <a:r>
              <a:rPr sz="1750" i="1" spc="5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82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875" spc="682" baseline="-8888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254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i="1" spc="70" dirty="0">
                <a:solidFill>
                  <a:srgbClr val="213739"/>
                </a:solidFill>
                <a:latin typeface="Calibri"/>
                <a:cs typeface="Calibri"/>
              </a:rPr>
              <a:t>isActorDamon </a:t>
            </a:r>
            <a:r>
              <a:rPr sz="1750" i="1" spc="5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82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875" spc="330" baseline="-8888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39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i="1" spc="100" dirty="0">
                <a:solidFill>
                  <a:srgbClr val="213739"/>
                </a:solidFill>
                <a:latin typeface="Calibri"/>
                <a:cs typeface="Calibri"/>
              </a:rPr>
              <a:t>isGenreThriller </a:t>
            </a:r>
            <a:r>
              <a:rPr sz="1750" i="1" spc="6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89" baseline="-8888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r>
              <a:rPr sz="1875" spc="547" baseline="-8888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8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i="1" spc="80" dirty="0">
                <a:solidFill>
                  <a:srgbClr val="213739"/>
                </a:solidFill>
                <a:latin typeface="Calibri"/>
                <a:cs typeface="Calibri"/>
              </a:rPr>
              <a:t>isDirectorNolan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557270" y="855980"/>
            <a:ext cx="5242560" cy="243268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38100" marR="47625">
              <a:lnSpc>
                <a:spcPct val="125400"/>
              </a:lnSpc>
              <a:spcBef>
                <a:spcPts val="265"/>
              </a:spcBef>
              <a:tabLst>
                <a:tab pos="4984115" algn="l"/>
              </a:tabLst>
            </a:pP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875" spc="367" baseline="-8888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is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ca</a:t>
            </a:r>
            <a:r>
              <a:rPr sz="1750" spc="-3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led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bias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as</a:t>
            </a:r>
            <a:r>
              <a:rPr sz="1750" spc="-20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it</a:t>
            </a:r>
            <a:r>
              <a:rPr sz="1750" spc="-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represents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prior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(prejudice)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Amovie</a:t>
            </a:r>
            <a:r>
              <a:rPr sz="1750" spc="-1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buff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may</a:t>
            </a:r>
            <a:r>
              <a:rPr sz="1750" spc="-1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have</a:t>
            </a:r>
            <a:r>
              <a:rPr sz="1750" spc="-1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a</a:t>
            </a:r>
            <a:r>
              <a:rPr sz="1750" spc="-2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very</a:t>
            </a:r>
            <a:r>
              <a:rPr sz="1750" spc="-1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low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threshold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may</a:t>
            </a:r>
            <a:r>
              <a:rPr sz="1750" spc="-20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watch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any</a:t>
            </a:r>
            <a:r>
              <a:rPr sz="1750" spc="-1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movie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irrespective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genre,</a:t>
            </a:r>
            <a:r>
              <a:rPr sz="1750" spc="-1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actor,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director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[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θ</a:t>
            </a:r>
            <a:r>
              <a:rPr sz="1750" i="1" spc="26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]</a:t>
            </a:r>
            <a:endParaRPr sz="1750">
              <a:latin typeface="Arial MT"/>
              <a:cs typeface="Arial MT"/>
            </a:endParaRPr>
          </a:p>
          <a:p>
            <a:pPr marL="40640" marR="47625" indent="-3175">
              <a:lnSpc>
                <a:spcPct val="117700"/>
              </a:lnSpc>
              <a:spcBef>
                <a:spcPts val="505"/>
              </a:spcBef>
              <a:tabLst>
                <a:tab pos="4993005" algn="l"/>
              </a:tabLst>
            </a:pP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On</a:t>
            </a:r>
            <a:r>
              <a:rPr sz="1750" spc="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other</a:t>
            </a:r>
            <a:r>
              <a:rPr sz="1750" spc="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hand,</a:t>
            </a:r>
            <a:r>
              <a:rPr sz="1750" spc="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a</a:t>
            </a:r>
            <a:r>
              <a:rPr sz="1750" spc="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selective</a:t>
            </a:r>
            <a:r>
              <a:rPr sz="1750" spc="-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viewer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may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only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watch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thrillers</a:t>
            </a:r>
            <a:r>
              <a:rPr sz="1750" spc="-2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starring</a:t>
            </a:r>
            <a:r>
              <a:rPr sz="1750" spc="-1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Matt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Damon</a:t>
            </a:r>
            <a:r>
              <a:rPr sz="1750" spc="-2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750" spc="-229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directed</a:t>
            </a:r>
            <a:r>
              <a:rPr sz="1750" spc="-1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by</a:t>
            </a:r>
            <a:r>
              <a:rPr sz="1750" spc="-2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Nolan</a:t>
            </a:r>
            <a:r>
              <a:rPr sz="1750" spc="-2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[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θ</a:t>
            </a:r>
            <a:r>
              <a:rPr sz="1750" i="1" spc="28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]</a:t>
            </a:r>
            <a:endParaRPr sz="175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865"/>
              </a:spcBef>
            </a:pP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1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weights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-6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...,</a:t>
            </a:r>
            <a:r>
              <a:rPr sz="1750" i="1" spc="-7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i="1" baseline="-8888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)</a:t>
            </a:r>
            <a:r>
              <a:rPr sz="1750" spc="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bias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)</a:t>
            </a:r>
            <a:r>
              <a:rPr sz="1750" spc="-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will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depend</a:t>
            </a:r>
            <a:endParaRPr sz="1750">
              <a:latin typeface="Arial MT"/>
              <a:cs typeface="Arial MT"/>
            </a:endParaRPr>
          </a:p>
          <a:p>
            <a:pPr marL="40640">
              <a:lnSpc>
                <a:spcPct val="100000"/>
              </a:lnSpc>
              <a:spcBef>
                <a:spcPts val="370"/>
              </a:spcBef>
            </a:pP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on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data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(viewer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history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in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this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case)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24" name="object 24" descr="$PPTXTitle"/>
          <p:cNvSpPr txBox="1">
            <a:spLocks noGrp="1"/>
          </p:cNvSpPr>
          <p:nvPr>
            <p:ph type="title"/>
          </p:nvPr>
        </p:nvSpPr>
        <p:spPr>
          <a:xfrm>
            <a:off x="281940" y="237490"/>
            <a:ext cx="66243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/>
              <a:t>Why</a:t>
            </a:r>
            <a:r>
              <a:rPr spc="-45" dirty="0"/>
              <a:t> </a:t>
            </a:r>
            <a:r>
              <a:rPr dirty="0"/>
              <a:t>is</a:t>
            </a:r>
            <a:r>
              <a:rPr spc="-15" dirty="0"/>
              <a:t> </a:t>
            </a:r>
            <a:r>
              <a:rPr i="1" dirty="0">
                <a:latin typeface="Times New Roman"/>
                <a:cs typeface="Times New Roman"/>
              </a:rPr>
              <a:t>w</a:t>
            </a:r>
            <a:r>
              <a:rPr sz="3975" i="1" baseline="-20964" dirty="0">
                <a:latin typeface="Times New Roman"/>
                <a:cs typeface="Times New Roman"/>
              </a:rPr>
              <a:t>0</a:t>
            </a:r>
            <a:r>
              <a:rPr sz="3975" i="1" spc="442" baseline="-20964" dirty="0">
                <a:latin typeface="Times New Roman"/>
                <a:cs typeface="Times New Roman"/>
              </a:rPr>
              <a:t> </a:t>
            </a:r>
            <a:r>
              <a:rPr sz="4000" dirty="0"/>
              <a:t>=</a:t>
            </a:r>
            <a:r>
              <a:rPr sz="4000" spc="-45" dirty="0"/>
              <a:t> </a:t>
            </a:r>
            <a:r>
              <a:rPr sz="4000" dirty="0"/>
              <a:t>−</a:t>
            </a:r>
            <a:r>
              <a:rPr sz="4000" i="1" dirty="0">
                <a:latin typeface="Times New Roman"/>
                <a:cs typeface="Times New Roman"/>
              </a:rPr>
              <a:t>θ</a:t>
            </a:r>
            <a:r>
              <a:rPr sz="4000" i="1" spc="-50" dirty="0">
                <a:latin typeface="Times New Roman"/>
                <a:cs typeface="Times New Roman"/>
              </a:rPr>
              <a:t> </a:t>
            </a:r>
            <a:r>
              <a:rPr sz="4000" dirty="0"/>
              <a:t>called</a:t>
            </a:r>
            <a:r>
              <a:rPr sz="4000" spc="-40" dirty="0"/>
              <a:t> </a:t>
            </a:r>
            <a:r>
              <a:rPr sz="4000" dirty="0"/>
              <a:t>the</a:t>
            </a:r>
            <a:r>
              <a:rPr sz="4000" spc="-55" dirty="0"/>
              <a:t> </a:t>
            </a:r>
            <a:r>
              <a:rPr sz="4000" dirty="0"/>
              <a:t>bias</a:t>
            </a:r>
            <a:r>
              <a:rPr sz="4000" spc="-40" dirty="0"/>
              <a:t> </a:t>
            </a:r>
            <a:r>
              <a:rPr sz="4000" spc="-60" dirty="0"/>
              <a:t>?</a:t>
            </a:r>
            <a:endParaRPr sz="40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7848" y="2633598"/>
            <a:ext cx="75565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73405" algn="l"/>
              </a:tabLst>
            </a:pP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70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65" dirty="0">
                <a:solidFill>
                  <a:srgbClr val="213739"/>
                </a:solidFill>
                <a:latin typeface="Calibri"/>
                <a:cs typeface="Calibri"/>
              </a:rPr>
              <a:t>if 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37261" y="6643369"/>
            <a:ext cx="1173480" cy="241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20"/>
              </a:lnSpc>
            </a:pPr>
            <a:r>
              <a:rPr sz="1700" b="1" dirty="0">
                <a:solidFill>
                  <a:srgbClr val="FFFFFF"/>
                </a:solidFill>
                <a:latin typeface="Calibri"/>
                <a:cs typeface="Calibri"/>
              </a:rPr>
              <a:t>NIT</a:t>
            </a:r>
            <a:r>
              <a:rPr sz="17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b="1" spc="-10" dirty="0">
                <a:solidFill>
                  <a:srgbClr val="FFFFFF"/>
                </a:solidFill>
                <a:latin typeface="Calibri"/>
                <a:cs typeface="Calibri"/>
              </a:rPr>
              <a:t>Rourkela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568188" y="6658229"/>
            <a:ext cx="293687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dirty="0">
                <a:latin typeface="Calibri"/>
                <a:cs typeface="Calibri"/>
              </a:rPr>
              <a:t>“Deep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Learning: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Neuron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to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Perceptron”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10638" y="2633598"/>
            <a:ext cx="67056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i="1" spc="-20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875" i="1" baseline="-8888" dirty="0">
                <a:solidFill>
                  <a:srgbClr val="213739"/>
                </a:solidFill>
                <a:latin typeface="Calibri"/>
                <a:cs typeface="Calibri"/>
              </a:rPr>
              <a:t>i</a:t>
            </a:r>
            <a:r>
              <a:rPr sz="1875" i="1" spc="682" baseline="-8888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spc="80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11426" y="2447142"/>
            <a:ext cx="285115" cy="738505"/>
          </a:xfrm>
          <a:prstGeom prst="rect">
            <a:avLst/>
          </a:prstGeom>
        </p:spPr>
        <p:txBody>
          <a:bodyPr vert="horz" wrap="square" lIns="0" tIns="157480" rIns="0" bIns="0" rtlCol="0">
            <a:spAutoFit/>
          </a:bodyPr>
          <a:lstStyle/>
          <a:p>
            <a:pPr marL="66040">
              <a:lnSpc>
                <a:spcPct val="100000"/>
              </a:lnSpc>
              <a:spcBef>
                <a:spcPts val="1240"/>
              </a:spcBef>
            </a:pPr>
            <a:r>
              <a:rPr sz="1750" spc="-50" dirty="0">
                <a:solidFill>
                  <a:srgbClr val="213739"/>
                </a:solidFill>
                <a:latin typeface="Lucida Sans Unicode"/>
                <a:cs typeface="Lucida Sans Unicode"/>
              </a:rPr>
              <a:t>Σ</a:t>
            </a:r>
            <a:endParaRPr sz="17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1250" i="1" dirty="0">
                <a:solidFill>
                  <a:srgbClr val="213739"/>
                </a:solidFill>
                <a:latin typeface="Calibri"/>
                <a:cs typeface="Calibri"/>
              </a:rPr>
              <a:t>i</a:t>
            </a:r>
            <a:r>
              <a:rPr sz="1250" i="1" spc="-13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250" spc="55" dirty="0">
                <a:solidFill>
                  <a:srgbClr val="213739"/>
                </a:solidFill>
                <a:latin typeface="Calibri"/>
                <a:cs typeface="Calibri"/>
              </a:rPr>
              <a:t>=0 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7690" y="3761994"/>
            <a:ext cx="102171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b="1" spc="-135" dirty="0">
                <a:solidFill>
                  <a:srgbClr val="213739"/>
                </a:solidFill>
                <a:latin typeface="Trebuchet MS"/>
                <a:cs typeface="Trebuchet MS"/>
              </a:rPr>
              <a:t>Perceptron</a:t>
            </a:r>
            <a:endParaRPr sz="175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81246" y="1067816"/>
            <a:ext cx="439801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A</a:t>
            </a:r>
            <a:r>
              <a:rPr sz="1750" spc="-1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perceptron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separates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input</a:t>
            </a:r>
            <a:r>
              <a:rPr sz="1750" spc="-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space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into</a:t>
            </a:r>
            <a:r>
              <a:rPr sz="1750" spc="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two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81246" y="1712722"/>
            <a:ext cx="4397375" cy="650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 marR="5080" indent="-5080">
              <a:lnSpc>
                <a:spcPct val="117100"/>
              </a:lnSpc>
              <a:spcBef>
                <a:spcPts val="100"/>
              </a:spcBef>
            </a:pP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In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other</a:t>
            </a:r>
            <a:r>
              <a:rPr sz="1750" spc="-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words,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a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single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perceptron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can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only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be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used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1750" spc="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implement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linearly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separable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functions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82770" y="2836291"/>
            <a:ext cx="282956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b="1" spc="-145" dirty="0">
                <a:solidFill>
                  <a:srgbClr val="213739"/>
                </a:solidFill>
                <a:latin typeface="Arial"/>
                <a:cs typeface="Arial"/>
              </a:rPr>
              <a:t>Then</a:t>
            </a:r>
            <a:r>
              <a:rPr sz="1750" b="1" spc="-210" dirty="0">
                <a:solidFill>
                  <a:srgbClr val="213739"/>
                </a:solidFill>
                <a:latin typeface="Arial"/>
                <a:cs typeface="Arial"/>
              </a:rPr>
              <a:t> </a:t>
            </a:r>
            <a:r>
              <a:rPr sz="1750" b="1" spc="-60" dirty="0">
                <a:solidFill>
                  <a:srgbClr val="213739"/>
                </a:solidFill>
                <a:latin typeface="Arial"/>
                <a:cs typeface="Arial"/>
              </a:rPr>
              <a:t>what</a:t>
            </a:r>
            <a:r>
              <a:rPr sz="1750" b="1" spc="-110" dirty="0">
                <a:solidFill>
                  <a:srgbClr val="213739"/>
                </a:solidFill>
                <a:latin typeface="Arial"/>
                <a:cs typeface="Arial"/>
              </a:rPr>
              <a:t> </a:t>
            </a:r>
            <a:r>
              <a:rPr sz="1750" b="1" spc="-65" dirty="0">
                <a:solidFill>
                  <a:srgbClr val="213739"/>
                </a:solidFill>
                <a:latin typeface="Arial"/>
                <a:cs typeface="Arial"/>
              </a:rPr>
              <a:t>is</a:t>
            </a:r>
            <a:r>
              <a:rPr sz="1750" b="1" spc="-85" dirty="0">
                <a:solidFill>
                  <a:srgbClr val="213739"/>
                </a:solidFill>
                <a:latin typeface="Arial"/>
                <a:cs typeface="Arial"/>
              </a:rPr>
              <a:t> </a:t>
            </a:r>
            <a:r>
              <a:rPr sz="1750" b="1" spc="-45" dirty="0">
                <a:solidFill>
                  <a:srgbClr val="213739"/>
                </a:solidFill>
                <a:latin typeface="Arial"/>
                <a:cs typeface="Arial"/>
              </a:rPr>
              <a:t>the</a:t>
            </a:r>
            <a:r>
              <a:rPr sz="1750" b="1" spc="-70" dirty="0">
                <a:solidFill>
                  <a:srgbClr val="213739"/>
                </a:solidFill>
                <a:latin typeface="Arial"/>
                <a:cs typeface="Arial"/>
              </a:rPr>
              <a:t> </a:t>
            </a:r>
            <a:r>
              <a:rPr sz="1750" b="1" spc="-10" dirty="0">
                <a:solidFill>
                  <a:srgbClr val="213739"/>
                </a:solidFill>
                <a:latin typeface="Arial"/>
                <a:cs typeface="Arial"/>
              </a:rPr>
              <a:t>difference?</a:t>
            </a:r>
            <a:endParaRPr sz="17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781415" y="5732170"/>
            <a:ext cx="196215" cy="2197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50" spc="-25" dirty="0">
                <a:solidFill>
                  <a:srgbClr val="213739"/>
                </a:solidFill>
                <a:latin typeface="Arial MT"/>
                <a:cs typeface="Arial MT"/>
              </a:rPr>
              <a:t>26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52296" y="830071"/>
            <a:ext cx="27647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85" dirty="0">
                <a:latin typeface="Calibri"/>
                <a:cs typeface="Calibri"/>
              </a:rPr>
              <a:t>McCulloch</a:t>
            </a:r>
            <a:r>
              <a:rPr sz="2400" spc="-155" dirty="0">
                <a:latin typeface="Calibri"/>
                <a:cs typeface="Calibri"/>
              </a:rPr>
              <a:t> </a:t>
            </a:r>
            <a:r>
              <a:rPr sz="2400" spc="-85" dirty="0">
                <a:latin typeface="Calibri"/>
                <a:cs typeface="Calibri"/>
              </a:rPr>
              <a:t>Pitts </a:t>
            </a:r>
            <a:r>
              <a:rPr sz="2400" spc="-10" dirty="0">
                <a:latin typeface="Calibri"/>
                <a:cs typeface="Calibri"/>
              </a:rPr>
              <a:t>Neuron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44424" y="1258315"/>
            <a:ext cx="46494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114" dirty="0">
                <a:latin typeface="Arial MT"/>
                <a:cs typeface="Arial MT"/>
              </a:rPr>
              <a:t>(assuming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60" dirty="0">
                <a:latin typeface="Arial MT"/>
                <a:cs typeface="Arial MT"/>
              </a:rPr>
              <a:t>no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spc="-60" dirty="0">
                <a:latin typeface="Arial MT"/>
                <a:cs typeface="Arial MT"/>
              </a:rPr>
              <a:t>inhibitory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inputs)</a:t>
            </a:r>
            <a:r>
              <a:rPr sz="2400" spc="180" dirty="0">
                <a:latin typeface="Arial MT"/>
                <a:cs typeface="Arial MT"/>
              </a:rPr>
              <a:t> </a:t>
            </a:r>
            <a:r>
              <a:rPr sz="2625" spc="-52" baseline="-9523" dirty="0">
                <a:solidFill>
                  <a:srgbClr val="213739"/>
                </a:solidFill>
                <a:latin typeface="Arial MT"/>
                <a:cs typeface="Arial MT"/>
              </a:rPr>
              <a:t>halves</a:t>
            </a:r>
            <a:endParaRPr sz="2625" baseline="-9523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74750" y="1690877"/>
            <a:ext cx="2035175" cy="9690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01625" algn="ctr">
              <a:lnSpc>
                <a:spcPct val="100000"/>
              </a:lnSpc>
              <a:spcBef>
                <a:spcPts val="120"/>
              </a:spcBef>
            </a:pPr>
            <a:r>
              <a:rPr sz="1250" i="1" spc="-50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endParaRPr sz="125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40"/>
              </a:spcBef>
              <a:tabLst>
                <a:tab pos="775970" algn="l"/>
                <a:tab pos="1102360" algn="l"/>
              </a:tabLst>
            </a:pP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y</a:t>
            </a:r>
            <a:r>
              <a:rPr sz="1750" i="1" spc="16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9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65" dirty="0">
                <a:solidFill>
                  <a:srgbClr val="213739"/>
                </a:solidFill>
                <a:latin typeface="Calibri"/>
                <a:cs typeface="Calibri"/>
              </a:rPr>
              <a:t>if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Σ</a:t>
            </a:r>
            <a:r>
              <a:rPr sz="1750" spc="-5" dirty="0">
                <a:solidFill>
                  <a:srgbClr val="213739"/>
                </a:solidFill>
                <a:latin typeface="Lucida Sans Unicode"/>
                <a:cs typeface="Lucida Sans Unicode"/>
              </a:rPr>
              <a:t>  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i="1" spc="-17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875" i="1" baseline="-17777" dirty="0">
                <a:solidFill>
                  <a:srgbClr val="213739"/>
                </a:solidFill>
                <a:latin typeface="Calibri"/>
                <a:cs typeface="Calibri"/>
              </a:rPr>
              <a:t>i</a:t>
            </a:r>
            <a:r>
              <a:rPr sz="1875" i="1" spc="615" baseline="-17777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≥</a:t>
            </a:r>
            <a:r>
              <a:rPr sz="1750" spc="-9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endParaRPr sz="1750">
              <a:latin typeface="Calibri"/>
              <a:cs typeface="Calibri"/>
            </a:endParaRPr>
          </a:p>
          <a:p>
            <a:pPr marL="305435" algn="ctr">
              <a:lnSpc>
                <a:spcPct val="100000"/>
              </a:lnSpc>
              <a:spcBef>
                <a:spcPts val="600"/>
              </a:spcBef>
            </a:pPr>
            <a:r>
              <a:rPr sz="1250" i="1" dirty="0">
                <a:solidFill>
                  <a:srgbClr val="213739"/>
                </a:solidFill>
                <a:latin typeface="Calibri"/>
                <a:cs typeface="Calibri"/>
              </a:rPr>
              <a:t>i</a:t>
            </a:r>
            <a:r>
              <a:rPr sz="1250" i="1" spc="-13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250" spc="60" dirty="0">
                <a:solidFill>
                  <a:srgbClr val="213739"/>
                </a:solidFill>
                <a:latin typeface="Calibri"/>
                <a:cs typeface="Calibri"/>
              </a:rPr>
              <a:t>=0 </a:t>
            </a:r>
            <a:endParaRPr sz="1250">
              <a:latin typeface="Calibri"/>
              <a:cs typeface="Calibri"/>
            </a:endParaRPr>
          </a:p>
          <a:p>
            <a:pPr marL="252729" algn="ctr">
              <a:lnSpc>
                <a:spcPct val="100000"/>
              </a:lnSpc>
              <a:spcBef>
                <a:spcPts val="160"/>
              </a:spcBef>
            </a:pPr>
            <a:r>
              <a:rPr sz="1250" i="1" spc="-50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83742" y="4415154"/>
            <a:ext cx="93218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749935" algn="l"/>
              </a:tabLst>
            </a:pP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y</a:t>
            </a:r>
            <a:r>
              <a:rPr sz="1750" i="1" spc="16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9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65" dirty="0">
                <a:solidFill>
                  <a:srgbClr val="213739"/>
                </a:solidFill>
                <a:latin typeface="Calibri"/>
                <a:cs typeface="Calibri"/>
              </a:rPr>
              <a:t>if 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095245" y="4415154"/>
            <a:ext cx="110363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dirty="0">
                <a:solidFill>
                  <a:srgbClr val="FF0000"/>
                </a:solidFill>
                <a:latin typeface="Calibri"/>
                <a:cs typeface="Calibri"/>
              </a:rPr>
              <a:t>w</a:t>
            </a:r>
            <a:r>
              <a:rPr sz="1875" i="1" baseline="-13333" dirty="0">
                <a:solidFill>
                  <a:srgbClr val="FF0000"/>
                </a:solidFill>
                <a:latin typeface="Calibri"/>
                <a:cs typeface="Calibri"/>
              </a:rPr>
              <a:t>i</a:t>
            </a:r>
            <a:r>
              <a:rPr sz="1875" i="1" spc="494" baseline="-13333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25" spc="-142" baseline="3174" dirty="0">
                <a:latin typeface="Lucida Sans Unicode"/>
                <a:cs typeface="Lucida Sans Unicode"/>
              </a:rPr>
              <a:t>∗</a:t>
            </a:r>
            <a:r>
              <a:rPr sz="2625" i="1" spc="-142" baseline="3174" dirty="0">
                <a:latin typeface="Calibri"/>
                <a:cs typeface="Calibri"/>
              </a:rPr>
              <a:t>x</a:t>
            </a:r>
            <a:r>
              <a:rPr sz="2625" i="1" spc="-225" baseline="3174" dirty="0">
                <a:latin typeface="Calibri"/>
                <a:cs typeface="Calibri"/>
              </a:rPr>
              <a:t> </a:t>
            </a:r>
            <a:r>
              <a:rPr sz="1875" i="1" baseline="-13333" dirty="0">
                <a:latin typeface="Calibri"/>
                <a:cs typeface="Calibri"/>
              </a:rPr>
              <a:t>i</a:t>
            </a:r>
            <a:r>
              <a:rPr sz="1875" i="1" spc="577" baseline="-13333" dirty="0">
                <a:latin typeface="Calibri"/>
                <a:cs typeface="Calibri"/>
              </a:rPr>
              <a:t> </a:t>
            </a:r>
            <a:r>
              <a:rPr sz="2625" baseline="3174" dirty="0">
                <a:latin typeface="Lucida Sans Unicode"/>
                <a:cs typeface="Lucida Sans Unicode"/>
              </a:rPr>
              <a:t>≥</a:t>
            </a:r>
            <a:r>
              <a:rPr sz="2625" spc="-142" baseline="3174" dirty="0">
                <a:latin typeface="Lucida Sans Unicode"/>
                <a:cs typeface="Lucida Sans Unicode"/>
              </a:rPr>
              <a:t> </a:t>
            </a:r>
            <a:r>
              <a:rPr sz="2625" spc="-75" baseline="3174" dirty="0">
                <a:latin typeface="Calibri"/>
                <a:cs typeface="Calibri"/>
              </a:rPr>
              <a:t>0</a:t>
            </a:r>
            <a:endParaRPr sz="2625" baseline="3174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86254" y="4157671"/>
            <a:ext cx="285750" cy="154178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84"/>
              </a:spcBef>
            </a:pPr>
            <a:r>
              <a:rPr sz="1250" i="1" spc="-50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endParaRPr sz="1250">
              <a:latin typeface="Calibri"/>
              <a:cs typeface="Calibri"/>
            </a:endParaRPr>
          </a:p>
          <a:p>
            <a:pPr marL="16510" algn="ctr">
              <a:lnSpc>
                <a:spcPct val="100000"/>
              </a:lnSpc>
              <a:spcBef>
                <a:spcPts val="495"/>
              </a:spcBef>
            </a:pPr>
            <a:r>
              <a:rPr sz="1750" spc="-50" dirty="0">
                <a:solidFill>
                  <a:srgbClr val="213739"/>
                </a:solidFill>
                <a:latin typeface="Lucida Sans Unicode"/>
                <a:cs typeface="Lucida Sans Unicode"/>
              </a:rPr>
              <a:t>Σ</a:t>
            </a:r>
            <a:endParaRPr sz="1750">
              <a:latin typeface="Lucida Sans Unicode"/>
              <a:cs typeface="Lucida Sans Unicode"/>
            </a:endParaRPr>
          </a:p>
          <a:p>
            <a:pPr algn="ctr">
              <a:lnSpc>
                <a:spcPct val="100000"/>
              </a:lnSpc>
              <a:spcBef>
                <a:spcPts val="185"/>
              </a:spcBef>
            </a:pPr>
            <a:r>
              <a:rPr sz="1250" i="1" dirty="0">
                <a:solidFill>
                  <a:srgbClr val="213739"/>
                </a:solidFill>
                <a:latin typeface="Calibri"/>
                <a:cs typeface="Calibri"/>
              </a:rPr>
              <a:t>i</a:t>
            </a:r>
            <a:r>
              <a:rPr sz="1250" i="1" spc="-13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250" spc="55" dirty="0">
                <a:solidFill>
                  <a:srgbClr val="213739"/>
                </a:solidFill>
                <a:latin typeface="Calibri"/>
                <a:cs typeface="Calibri"/>
              </a:rPr>
              <a:t>=0 </a:t>
            </a:r>
            <a:endParaRPr sz="125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25"/>
              </a:spcBef>
            </a:pPr>
            <a:r>
              <a:rPr sz="1250" i="1" spc="-50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endParaRPr sz="1250">
              <a:latin typeface="Calibri"/>
              <a:cs typeface="Calibri"/>
            </a:endParaRPr>
          </a:p>
          <a:p>
            <a:pPr marL="15875" algn="ctr">
              <a:lnSpc>
                <a:spcPct val="100000"/>
              </a:lnSpc>
              <a:spcBef>
                <a:spcPts val="235"/>
              </a:spcBef>
            </a:pPr>
            <a:r>
              <a:rPr sz="1750" spc="-50" dirty="0">
                <a:solidFill>
                  <a:srgbClr val="213739"/>
                </a:solidFill>
                <a:latin typeface="Lucida Sans Unicode"/>
                <a:cs typeface="Lucida Sans Unicode"/>
              </a:rPr>
              <a:t>Σ</a:t>
            </a:r>
            <a:endParaRPr sz="1750">
              <a:latin typeface="Lucida Sans Unicode"/>
              <a:cs typeface="Lucida Sans Unicode"/>
            </a:endParaRPr>
          </a:p>
          <a:p>
            <a:pPr algn="ctr">
              <a:lnSpc>
                <a:spcPct val="100000"/>
              </a:lnSpc>
              <a:spcBef>
                <a:spcPts val="405"/>
              </a:spcBef>
            </a:pPr>
            <a:r>
              <a:rPr sz="1250" i="1" dirty="0">
                <a:solidFill>
                  <a:srgbClr val="213739"/>
                </a:solidFill>
                <a:latin typeface="Calibri"/>
                <a:cs typeface="Calibri"/>
              </a:rPr>
              <a:t>i</a:t>
            </a:r>
            <a:r>
              <a:rPr sz="1250" i="1" spc="-13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250" spc="55" dirty="0">
                <a:solidFill>
                  <a:srgbClr val="213739"/>
                </a:solidFill>
                <a:latin typeface="Calibri"/>
                <a:cs typeface="Calibri"/>
              </a:rPr>
              <a:t>=0 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60526" y="5135117"/>
            <a:ext cx="75565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73405" algn="l"/>
              </a:tabLst>
            </a:pP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70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65" dirty="0">
                <a:solidFill>
                  <a:srgbClr val="213739"/>
                </a:solidFill>
                <a:latin typeface="Calibri"/>
                <a:cs typeface="Calibri"/>
              </a:rPr>
              <a:t>if 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093341" y="5135117"/>
            <a:ext cx="110617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dirty="0">
                <a:solidFill>
                  <a:srgbClr val="FF0000"/>
                </a:solidFill>
                <a:latin typeface="Calibri"/>
                <a:cs typeface="Calibri"/>
              </a:rPr>
              <a:t>w</a:t>
            </a:r>
            <a:r>
              <a:rPr sz="1875" i="1" baseline="-17777" dirty="0">
                <a:solidFill>
                  <a:srgbClr val="FF0000"/>
                </a:solidFill>
                <a:latin typeface="Calibri"/>
                <a:cs typeface="Calibri"/>
              </a:rPr>
              <a:t>i</a:t>
            </a:r>
            <a:r>
              <a:rPr sz="1875" i="1" spc="502" baseline="-17777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750" spc="-95" dirty="0">
                <a:latin typeface="Lucida Sans Unicode"/>
                <a:cs typeface="Lucida Sans Unicode"/>
              </a:rPr>
              <a:t>∗</a:t>
            </a:r>
            <a:r>
              <a:rPr sz="1750" i="1" spc="-95" dirty="0">
                <a:latin typeface="Calibri"/>
                <a:cs typeface="Calibri"/>
              </a:rPr>
              <a:t>x</a:t>
            </a:r>
            <a:r>
              <a:rPr sz="1750" i="1" spc="-145" dirty="0">
                <a:latin typeface="Calibri"/>
                <a:cs typeface="Calibri"/>
              </a:rPr>
              <a:t> </a:t>
            </a:r>
            <a:r>
              <a:rPr sz="1875" i="1" baseline="-17777" dirty="0">
                <a:latin typeface="Calibri"/>
                <a:cs typeface="Calibri"/>
              </a:rPr>
              <a:t>i</a:t>
            </a:r>
            <a:r>
              <a:rPr sz="1875" i="1" spc="652" baseline="-17777" dirty="0">
                <a:latin typeface="Calibri"/>
                <a:cs typeface="Calibri"/>
              </a:rPr>
              <a:t> </a:t>
            </a:r>
            <a:r>
              <a:rPr sz="1750" i="1" dirty="0">
                <a:latin typeface="Calibri"/>
                <a:cs typeface="Calibri"/>
              </a:rPr>
              <a:t>&lt;</a:t>
            </a:r>
            <a:r>
              <a:rPr sz="1750" i="1" spc="80" dirty="0">
                <a:latin typeface="Calibri"/>
                <a:cs typeface="Calibri"/>
              </a:rPr>
              <a:t>  </a:t>
            </a:r>
            <a:r>
              <a:rPr sz="1750" spc="-50" dirty="0">
                <a:latin typeface="Calibri"/>
                <a:cs typeface="Calibri"/>
              </a:rPr>
              <a:t>0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18" name="object 18" descr="$PPTXTitle"/>
          <p:cNvSpPr txBox="1">
            <a:spLocks noGrp="1"/>
          </p:cNvSpPr>
          <p:nvPr>
            <p:ph type="title"/>
          </p:nvPr>
        </p:nvSpPr>
        <p:spPr>
          <a:xfrm>
            <a:off x="307340" y="237490"/>
            <a:ext cx="78987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Perceptron</a:t>
            </a:r>
            <a:r>
              <a:rPr spc="-105" dirty="0"/>
              <a:t> </a:t>
            </a:r>
            <a:r>
              <a:rPr dirty="0"/>
              <a:t>vs</a:t>
            </a:r>
            <a:r>
              <a:rPr spc="-110" dirty="0"/>
              <a:t> </a:t>
            </a:r>
            <a:r>
              <a:rPr dirty="0"/>
              <a:t>McCulloch</a:t>
            </a:r>
            <a:r>
              <a:rPr spc="-110" dirty="0"/>
              <a:t> </a:t>
            </a:r>
            <a:r>
              <a:rPr dirty="0"/>
              <a:t>Pitts</a:t>
            </a:r>
            <a:r>
              <a:rPr spc="-114" dirty="0"/>
              <a:t> </a:t>
            </a:r>
            <a:r>
              <a:rPr spc="-10" dirty="0"/>
              <a:t>Neuron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81415" y="5732475"/>
            <a:ext cx="196215" cy="2197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50" spc="-25" dirty="0">
                <a:solidFill>
                  <a:srgbClr val="213739"/>
                </a:solidFill>
                <a:latin typeface="Arial MT"/>
                <a:cs typeface="Arial MT"/>
              </a:rPr>
              <a:t>26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37261" y="6643369"/>
            <a:ext cx="1173480" cy="241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20"/>
              </a:lnSpc>
            </a:pPr>
            <a:r>
              <a:rPr sz="1700" b="1" dirty="0">
                <a:solidFill>
                  <a:srgbClr val="FFFFFF"/>
                </a:solidFill>
                <a:latin typeface="Calibri"/>
                <a:cs typeface="Calibri"/>
              </a:rPr>
              <a:t>NIT</a:t>
            </a:r>
            <a:r>
              <a:rPr sz="17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b="1" spc="-10" dirty="0">
                <a:solidFill>
                  <a:srgbClr val="FFFFFF"/>
                </a:solidFill>
                <a:latin typeface="Calibri"/>
                <a:cs typeface="Calibri"/>
              </a:rPr>
              <a:t>Rourkela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568188" y="6658229"/>
            <a:ext cx="293687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dirty="0">
                <a:latin typeface="Calibri"/>
                <a:cs typeface="Calibri"/>
              </a:rPr>
              <a:t>“Deep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Learning: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Neuron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to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Perceptron”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77848" y="2633294"/>
            <a:ext cx="755015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73405" algn="l"/>
              </a:tabLst>
            </a:pP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70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65" dirty="0">
                <a:solidFill>
                  <a:srgbClr val="213739"/>
                </a:solidFill>
                <a:latin typeface="Calibri"/>
                <a:cs typeface="Calibri"/>
              </a:rPr>
              <a:t>if 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10638" y="2633294"/>
            <a:ext cx="670560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i="1" spc="-20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875" i="1" baseline="-8888" dirty="0">
                <a:solidFill>
                  <a:srgbClr val="213739"/>
                </a:solidFill>
                <a:latin typeface="Calibri"/>
                <a:cs typeface="Calibri"/>
              </a:rPr>
              <a:t>i</a:t>
            </a:r>
            <a:r>
              <a:rPr sz="1875" i="1" spc="682" baseline="-8888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spc="80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11426" y="2446371"/>
            <a:ext cx="285115" cy="739140"/>
          </a:xfrm>
          <a:prstGeom prst="rect">
            <a:avLst/>
          </a:prstGeom>
        </p:spPr>
        <p:txBody>
          <a:bodyPr vert="horz" wrap="square" lIns="0" tIns="158750" rIns="0" bIns="0" rtlCol="0">
            <a:spAutoFit/>
          </a:bodyPr>
          <a:lstStyle/>
          <a:p>
            <a:pPr marL="66040">
              <a:lnSpc>
                <a:spcPct val="100000"/>
              </a:lnSpc>
              <a:spcBef>
                <a:spcPts val="1250"/>
              </a:spcBef>
            </a:pPr>
            <a:r>
              <a:rPr sz="1750" spc="-50" dirty="0">
                <a:solidFill>
                  <a:srgbClr val="213739"/>
                </a:solidFill>
                <a:latin typeface="Lucida Sans Unicode"/>
                <a:cs typeface="Lucida Sans Unicode"/>
              </a:rPr>
              <a:t>Σ</a:t>
            </a:r>
            <a:endParaRPr sz="17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1250" i="1" dirty="0">
                <a:solidFill>
                  <a:srgbClr val="213739"/>
                </a:solidFill>
                <a:latin typeface="Calibri"/>
                <a:cs typeface="Calibri"/>
              </a:rPr>
              <a:t>i</a:t>
            </a:r>
            <a:r>
              <a:rPr sz="1250" i="1" spc="-13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250" spc="55" dirty="0">
                <a:solidFill>
                  <a:srgbClr val="213739"/>
                </a:solidFill>
                <a:latin typeface="Calibri"/>
                <a:cs typeface="Calibri"/>
              </a:rPr>
              <a:t>=0 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7690" y="3761994"/>
            <a:ext cx="102171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b="1" spc="-135" dirty="0">
                <a:solidFill>
                  <a:srgbClr val="213739"/>
                </a:solidFill>
                <a:latin typeface="Trebuchet MS"/>
                <a:cs typeface="Trebuchet MS"/>
              </a:rPr>
              <a:t>Perceptron</a:t>
            </a:r>
            <a:endParaRPr sz="175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3742" y="4415154"/>
            <a:ext cx="93218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749935" algn="l"/>
              </a:tabLst>
            </a:pP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y</a:t>
            </a:r>
            <a:r>
              <a:rPr sz="1750" i="1" spc="16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9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65" dirty="0">
                <a:solidFill>
                  <a:srgbClr val="213739"/>
                </a:solidFill>
                <a:latin typeface="Calibri"/>
                <a:cs typeface="Calibri"/>
              </a:rPr>
              <a:t>if 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95245" y="4415154"/>
            <a:ext cx="110363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dirty="0">
                <a:solidFill>
                  <a:srgbClr val="FF0000"/>
                </a:solidFill>
                <a:latin typeface="Calibri"/>
                <a:cs typeface="Calibri"/>
              </a:rPr>
              <a:t>w</a:t>
            </a:r>
            <a:r>
              <a:rPr sz="1875" i="1" baseline="-13333" dirty="0">
                <a:solidFill>
                  <a:srgbClr val="FF0000"/>
                </a:solidFill>
                <a:latin typeface="Calibri"/>
                <a:cs typeface="Calibri"/>
              </a:rPr>
              <a:t>i</a:t>
            </a:r>
            <a:r>
              <a:rPr sz="1875" i="1" spc="494" baseline="-13333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25" spc="-142" baseline="3174" dirty="0">
                <a:latin typeface="Lucida Sans Unicode"/>
                <a:cs typeface="Lucida Sans Unicode"/>
              </a:rPr>
              <a:t>∗</a:t>
            </a:r>
            <a:r>
              <a:rPr sz="2625" i="1" spc="-142" baseline="3174" dirty="0">
                <a:latin typeface="Calibri"/>
                <a:cs typeface="Calibri"/>
              </a:rPr>
              <a:t>x</a:t>
            </a:r>
            <a:r>
              <a:rPr sz="2625" i="1" spc="-225" baseline="3174" dirty="0">
                <a:latin typeface="Calibri"/>
                <a:cs typeface="Calibri"/>
              </a:rPr>
              <a:t> </a:t>
            </a:r>
            <a:r>
              <a:rPr sz="1875" i="1" baseline="-13333" dirty="0">
                <a:latin typeface="Calibri"/>
                <a:cs typeface="Calibri"/>
              </a:rPr>
              <a:t>i</a:t>
            </a:r>
            <a:r>
              <a:rPr sz="1875" i="1" spc="577" baseline="-13333" dirty="0">
                <a:latin typeface="Calibri"/>
                <a:cs typeface="Calibri"/>
              </a:rPr>
              <a:t> </a:t>
            </a:r>
            <a:r>
              <a:rPr sz="2625" baseline="3174" dirty="0">
                <a:latin typeface="Lucida Sans Unicode"/>
                <a:cs typeface="Lucida Sans Unicode"/>
              </a:rPr>
              <a:t>≥</a:t>
            </a:r>
            <a:r>
              <a:rPr sz="2625" spc="-142" baseline="3174" dirty="0">
                <a:latin typeface="Lucida Sans Unicode"/>
                <a:cs typeface="Lucida Sans Unicode"/>
              </a:rPr>
              <a:t> </a:t>
            </a:r>
            <a:r>
              <a:rPr sz="2625" spc="-75" baseline="3174" dirty="0">
                <a:latin typeface="Calibri"/>
                <a:cs typeface="Calibri"/>
              </a:rPr>
              <a:t>0</a:t>
            </a:r>
            <a:endParaRPr sz="2625" baseline="3174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86254" y="4157638"/>
            <a:ext cx="285750" cy="154178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84"/>
              </a:spcBef>
            </a:pPr>
            <a:r>
              <a:rPr sz="1250" i="1" spc="-50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endParaRPr sz="1250">
              <a:latin typeface="Calibri"/>
              <a:cs typeface="Calibri"/>
            </a:endParaRPr>
          </a:p>
          <a:p>
            <a:pPr marL="15875" algn="ctr">
              <a:lnSpc>
                <a:spcPct val="100000"/>
              </a:lnSpc>
              <a:spcBef>
                <a:spcPts val="500"/>
              </a:spcBef>
            </a:pPr>
            <a:r>
              <a:rPr sz="1750" spc="-50" dirty="0">
                <a:solidFill>
                  <a:srgbClr val="213739"/>
                </a:solidFill>
                <a:latin typeface="Lucida Sans Unicode"/>
                <a:cs typeface="Lucida Sans Unicode"/>
              </a:rPr>
              <a:t>Σ</a:t>
            </a:r>
            <a:endParaRPr sz="1750">
              <a:latin typeface="Lucida Sans Unicode"/>
              <a:cs typeface="Lucida Sans Unicode"/>
            </a:endParaRPr>
          </a:p>
          <a:p>
            <a:pPr algn="ctr">
              <a:lnSpc>
                <a:spcPct val="100000"/>
              </a:lnSpc>
              <a:spcBef>
                <a:spcPts val="180"/>
              </a:spcBef>
            </a:pPr>
            <a:r>
              <a:rPr sz="1250" i="1" dirty="0">
                <a:solidFill>
                  <a:srgbClr val="213739"/>
                </a:solidFill>
                <a:latin typeface="Calibri"/>
                <a:cs typeface="Calibri"/>
              </a:rPr>
              <a:t>i</a:t>
            </a:r>
            <a:r>
              <a:rPr sz="1250" i="1" spc="-13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250" spc="55" dirty="0">
                <a:solidFill>
                  <a:srgbClr val="213739"/>
                </a:solidFill>
                <a:latin typeface="Calibri"/>
                <a:cs typeface="Calibri"/>
              </a:rPr>
              <a:t>=0 </a:t>
            </a:r>
            <a:endParaRPr sz="125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25"/>
              </a:spcBef>
            </a:pPr>
            <a:r>
              <a:rPr sz="1250" i="1" spc="-50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endParaRPr sz="1250">
              <a:latin typeface="Calibri"/>
              <a:cs typeface="Calibri"/>
            </a:endParaRPr>
          </a:p>
          <a:p>
            <a:pPr marL="16510" algn="ctr">
              <a:lnSpc>
                <a:spcPct val="100000"/>
              </a:lnSpc>
              <a:spcBef>
                <a:spcPts val="235"/>
              </a:spcBef>
            </a:pPr>
            <a:r>
              <a:rPr sz="1750" spc="-50" dirty="0">
                <a:solidFill>
                  <a:srgbClr val="213739"/>
                </a:solidFill>
                <a:latin typeface="Lucida Sans Unicode"/>
                <a:cs typeface="Lucida Sans Unicode"/>
              </a:rPr>
              <a:t>Σ</a:t>
            </a:r>
            <a:endParaRPr sz="1750">
              <a:latin typeface="Lucida Sans Unicode"/>
              <a:cs typeface="Lucida Sans Unicode"/>
            </a:endParaRPr>
          </a:p>
          <a:p>
            <a:pPr algn="ctr">
              <a:lnSpc>
                <a:spcPct val="100000"/>
              </a:lnSpc>
              <a:spcBef>
                <a:spcPts val="405"/>
              </a:spcBef>
            </a:pPr>
            <a:r>
              <a:rPr sz="1250" i="1" dirty="0">
                <a:solidFill>
                  <a:srgbClr val="213739"/>
                </a:solidFill>
                <a:latin typeface="Calibri"/>
                <a:cs typeface="Calibri"/>
              </a:rPr>
              <a:t>i</a:t>
            </a:r>
            <a:r>
              <a:rPr sz="1250" i="1" spc="-13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250" spc="55" dirty="0">
                <a:solidFill>
                  <a:srgbClr val="213739"/>
                </a:solidFill>
                <a:latin typeface="Calibri"/>
                <a:cs typeface="Calibri"/>
              </a:rPr>
              <a:t>=0 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60526" y="5135117"/>
            <a:ext cx="75565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73405" algn="l"/>
              </a:tabLst>
            </a:pP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70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65" dirty="0">
                <a:solidFill>
                  <a:srgbClr val="213739"/>
                </a:solidFill>
                <a:latin typeface="Calibri"/>
                <a:cs typeface="Calibri"/>
              </a:rPr>
              <a:t>if 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93341" y="5135117"/>
            <a:ext cx="110617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dirty="0">
                <a:solidFill>
                  <a:srgbClr val="FF0000"/>
                </a:solidFill>
                <a:latin typeface="Calibri"/>
                <a:cs typeface="Calibri"/>
              </a:rPr>
              <a:t>w</a:t>
            </a:r>
            <a:r>
              <a:rPr sz="1875" i="1" baseline="-17777" dirty="0">
                <a:solidFill>
                  <a:srgbClr val="FF0000"/>
                </a:solidFill>
                <a:latin typeface="Calibri"/>
                <a:cs typeface="Calibri"/>
              </a:rPr>
              <a:t>i</a:t>
            </a:r>
            <a:r>
              <a:rPr sz="1875" i="1" spc="502" baseline="-17777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750" spc="-95" dirty="0">
                <a:latin typeface="Lucida Sans Unicode"/>
                <a:cs typeface="Lucida Sans Unicode"/>
              </a:rPr>
              <a:t>∗</a:t>
            </a:r>
            <a:r>
              <a:rPr sz="1750" i="1" spc="-95" dirty="0">
                <a:latin typeface="Calibri"/>
                <a:cs typeface="Calibri"/>
              </a:rPr>
              <a:t>x</a:t>
            </a:r>
            <a:r>
              <a:rPr sz="1750" i="1" spc="-145" dirty="0">
                <a:latin typeface="Calibri"/>
                <a:cs typeface="Calibri"/>
              </a:rPr>
              <a:t> </a:t>
            </a:r>
            <a:r>
              <a:rPr sz="1875" i="1" baseline="-17777" dirty="0">
                <a:latin typeface="Calibri"/>
                <a:cs typeface="Calibri"/>
              </a:rPr>
              <a:t>i</a:t>
            </a:r>
            <a:r>
              <a:rPr sz="1875" i="1" spc="652" baseline="-17777" dirty="0">
                <a:latin typeface="Calibri"/>
                <a:cs typeface="Calibri"/>
              </a:rPr>
              <a:t> </a:t>
            </a:r>
            <a:r>
              <a:rPr sz="1750" i="1" dirty="0">
                <a:latin typeface="Calibri"/>
                <a:cs typeface="Calibri"/>
              </a:rPr>
              <a:t>&lt;</a:t>
            </a:r>
            <a:r>
              <a:rPr sz="1750" i="1" spc="80" dirty="0">
                <a:latin typeface="Calibri"/>
                <a:cs typeface="Calibri"/>
              </a:rPr>
              <a:t>  </a:t>
            </a:r>
            <a:r>
              <a:rPr sz="1750" spc="-50" dirty="0">
                <a:latin typeface="Calibri"/>
                <a:cs typeface="Calibri"/>
              </a:rPr>
              <a:t>0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381246" y="1067511"/>
            <a:ext cx="4398010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A</a:t>
            </a:r>
            <a:r>
              <a:rPr sz="1750" spc="-1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perceptron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separates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input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space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into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two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381246" y="1712722"/>
            <a:ext cx="4397375" cy="650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 marR="5080" indent="-5080">
              <a:lnSpc>
                <a:spcPct val="117100"/>
              </a:lnSpc>
              <a:spcBef>
                <a:spcPts val="100"/>
              </a:spcBef>
            </a:pP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In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other</a:t>
            </a:r>
            <a:r>
              <a:rPr sz="1750" spc="-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words,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a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single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perceptron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can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only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be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used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1750" spc="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implement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linearly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separable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functions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382770" y="2836291"/>
            <a:ext cx="282956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b="1" spc="-145" dirty="0">
                <a:solidFill>
                  <a:srgbClr val="213739"/>
                </a:solidFill>
                <a:latin typeface="Arial"/>
                <a:cs typeface="Arial"/>
              </a:rPr>
              <a:t>Then</a:t>
            </a:r>
            <a:r>
              <a:rPr sz="1750" b="1" spc="-210" dirty="0">
                <a:solidFill>
                  <a:srgbClr val="213739"/>
                </a:solidFill>
                <a:latin typeface="Arial"/>
                <a:cs typeface="Arial"/>
              </a:rPr>
              <a:t> </a:t>
            </a:r>
            <a:r>
              <a:rPr sz="1750" b="1" spc="-60" dirty="0">
                <a:solidFill>
                  <a:srgbClr val="213739"/>
                </a:solidFill>
                <a:latin typeface="Arial"/>
                <a:cs typeface="Arial"/>
              </a:rPr>
              <a:t>what</a:t>
            </a:r>
            <a:r>
              <a:rPr sz="1750" b="1" spc="-110" dirty="0">
                <a:solidFill>
                  <a:srgbClr val="213739"/>
                </a:solidFill>
                <a:latin typeface="Arial"/>
                <a:cs typeface="Arial"/>
              </a:rPr>
              <a:t> </a:t>
            </a:r>
            <a:r>
              <a:rPr sz="1750" b="1" spc="-65" dirty="0">
                <a:solidFill>
                  <a:srgbClr val="213739"/>
                </a:solidFill>
                <a:latin typeface="Arial"/>
                <a:cs typeface="Arial"/>
              </a:rPr>
              <a:t>is</a:t>
            </a:r>
            <a:r>
              <a:rPr sz="1750" b="1" spc="-85" dirty="0">
                <a:solidFill>
                  <a:srgbClr val="213739"/>
                </a:solidFill>
                <a:latin typeface="Arial"/>
                <a:cs typeface="Arial"/>
              </a:rPr>
              <a:t> </a:t>
            </a:r>
            <a:r>
              <a:rPr sz="1750" b="1" spc="-45" dirty="0">
                <a:solidFill>
                  <a:srgbClr val="213739"/>
                </a:solidFill>
                <a:latin typeface="Arial"/>
                <a:cs typeface="Arial"/>
              </a:rPr>
              <a:t>the</a:t>
            </a:r>
            <a:r>
              <a:rPr sz="1750" b="1" spc="-70" dirty="0">
                <a:solidFill>
                  <a:srgbClr val="213739"/>
                </a:solidFill>
                <a:latin typeface="Arial"/>
                <a:cs typeface="Arial"/>
              </a:rPr>
              <a:t> </a:t>
            </a:r>
            <a:r>
              <a:rPr sz="1750" b="1" spc="-10" dirty="0">
                <a:solidFill>
                  <a:srgbClr val="213739"/>
                </a:solidFill>
                <a:latin typeface="Arial"/>
                <a:cs typeface="Arial"/>
              </a:rPr>
              <a:t>difference?</a:t>
            </a:r>
            <a:endParaRPr sz="17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381246" y="3477641"/>
            <a:ext cx="4413885" cy="650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7200"/>
              </a:lnSpc>
              <a:spcBef>
                <a:spcPts val="100"/>
              </a:spcBef>
            </a:pPr>
            <a:r>
              <a:rPr sz="1750" spc="-175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weights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(including</a:t>
            </a:r>
            <a:r>
              <a:rPr sz="1750" spc="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threshold)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can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be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learned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inputs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can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be</a:t>
            </a:r>
            <a:r>
              <a:rPr sz="1750" spc="-2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real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valued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564251" y="4592192"/>
            <a:ext cx="75946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learning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483222" y="4592192"/>
            <a:ext cx="90487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algorithm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551801" y="4592192"/>
            <a:ext cx="34480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(for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059293" y="4592192"/>
            <a:ext cx="73025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learning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381246" y="4543425"/>
            <a:ext cx="1021715" cy="653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7700"/>
              </a:lnSpc>
              <a:spcBef>
                <a:spcPts val="100"/>
              </a:spcBef>
            </a:pP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perceptron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weights)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52296" y="802385"/>
            <a:ext cx="27647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85" dirty="0">
                <a:latin typeface="Calibri"/>
                <a:cs typeface="Calibri"/>
              </a:rPr>
              <a:t>McCulloch</a:t>
            </a:r>
            <a:r>
              <a:rPr sz="2400" spc="-155" dirty="0">
                <a:latin typeface="Calibri"/>
                <a:cs typeface="Calibri"/>
              </a:rPr>
              <a:t> </a:t>
            </a:r>
            <a:r>
              <a:rPr sz="2400" spc="-85" dirty="0">
                <a:latin typeface="Calibri"/>
                <a:cs typeface="Calibri"/>
              </a:rPr>
              <a:t>Pitts </a:t>
            </a:r>
            <a:r>
              <a:rPr sz="2400" spc="-10" dirty="0">
                <a:latin typeface="Calibri"/>
                <a:cs typeface="Calibri"/>
              </a:rPr>
              <a:t>Neuron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44424" y="1230325"/>
            <a:ext cx="465010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105" dirty="0">
                <a:latin typeface="Arial MT"/>
                <a:cs typeface="Arial MT"/>
              </a:rPr>
              <a:t>(assuming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60" dirty="0">
                <a:latin typeface="Arial MT"/>
                <a:cs typeface="Arial MT"/>
              </a:rPr>
              <a:t>no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spc="-60" dirty="0">
                <a:latin typeface="Arial MT"/>
                <a:cs typeface="Arial MT"/>
              </a:rPr>
              <a:t>inhibitory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inputs)</a:t>
            </a:r>
            <a:r>
              <a:rPr sz="2400" spc="85" dirty="0">
                <a:latin typeface="Arial MT"/>
                <a:cs typeface="Arial MT"/>
              </a:rPr>
              <a:t> </a:t>
            </a:r>
            <a:r>
              <a:rPr sz="2625" spc="-44" baseline="-17460" dirty="0">
                <a:solidFill>
                  <a:srgbClr val="213739"/>
                </a:solidFill>
                <a:latin typeface="Arial MT"/>
                <a:cs typeface="Arial MT"/>
              </a:rPr>
              <a:t>halves</a:t>
            </a:r>
            <a:endParaRPr sz="2625" baseline="-1746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74750" y="1690877"/>
            <a:ext cx="2035175" cy="9690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01625" algn="ctr">
              <a:lnSpc>
                <a:spcPct val="100000"/>
              </a:lnSpc>
              <a:spcBef>
                <a:spcPts val="120"/>
              </a:spcBef>
            </a:pPr>
            <a:r>
              <a:rPr sz="1250" i="1" spc="-50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endParaRPr sz="125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40"/>
              </a:spcBef>
              <a:tabLst>
                <a:tab pos="775970" algn="l"/>
                <a:tab pos="1102360" algn="l"/>
              </a:tabLst>
            </a:pP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y</a:t>
            </a:r>
            <a:r>
              <a:rPr sz="1750" i="1" spc="16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9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65" dirty="0">
                <a:solidFill>
                  <a:srgbClr val="213739"/>
                </a:solidFill>
                <a:latin typeface="Calibri"/>
                <a:cs typeface="Calibri"/>
              </a:rPr>
              <a:t>if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Σ</a:t>
            </a:r>
            <a:r>
              <a:rPr sz="1750" spc="-5" dirty="0">
                <a:solidFill>
                  <a:srgbClr val="213739"/>
                </a:solidFill>
                <a:latin typeface="Lucida Sans Unicode"/>
                <a:cs typeface="Lucida Sans Unicode"/>
              </a:rPr>
              <a:t>  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i="1" spc="-17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875" i="1" baseline="-17777" dirty="0">
                <a:solidFill>
                  <a:srgbClr val="213739"/>
                </a:solidFill>
                <a:latin typeface="Calibri"/>
                <a:cs typeface="Calibri"/>
              </a:rPr>
              <a:t>i</a:t>
            </a:r>
            <a:r>
              <a:rPr sz="1875" i="1" spc="615" baseline="-17777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≥</a:t>
            </a:r>
            <a:r>
              <a:rPr sz="1750" spc="-9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endParaRPr sz="1750">
              <a:latin typeface="Calibri"/>
              <a:cs typeface="Calibri"/>
            </a:endParaRPr>
          </a:p>
          <a:p>
            <a:pPr marL="305435" algn="ctr">
              <a:lnSpc>
                <a:spcPct val="100000"/>
              </a:lnSpc>
              <a:spcBef>
                <a:spcPts val="600"/>
              </a:spcBef>
            </a:pPr>
            <a:r>
              <a:rPr sz="1250" i="1" dirty="0">
                <a:solidFill>
                  <a:srgbClr val="213739"/>
                </a:solidFill>
                <a:latin typeface="Calibri"/>
                <a:cs typeface="Calibri"/>
              </a:rPr>
              <a:t>i</a:t>
            </a:r>
            <a:r>
              <a:rPr sz="1250" i="1" spc="-13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250" spc="60" dirty="0">
                <a:solidFill>
                  <a:srgbClr val="213739"/>
                </a:solidFill>
                <a:latin typeface="Calibri"/>
                <a:cs typeface="Calibri"/>
              </a:rPr>
              <a:t>=0 </a:t>
            </a:r>
            <a:endParaRPr sz="1250">
              <a:latin typeface="Calibri"/>
              <a:cs typeface="Calibri"/>
            </a:endParaRPr>
          </a:p>
          <a:p>
            <a:pPr marL="252729" algn="ctr">
              <a:lnSpc>
                <a:spcPct val="100000"/>
              </a:lnSpc>
              <a:spcBef>
                <a:spcPts val="160"/>
              </a:spcBef>
            </a:pPr>
            <a:r>
              <a:rPr sz="1250" i="1" spc="-50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24" name="object 24" descr="$PPTXTitle"/>
          <p:cNvSpPr txBox="1">
            <a:spLocks noGrp="1"/>
          </p:cNvSpPr>
          <p:nvPr>
            <p:ph type="title"/>
          </p:nvPr>
        </p:nvSpPr>
        <p:spPr>
          <a:xfrm>
            <a:off x="307340" y="237490"/>
            <a:ext cx="78987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Perceptron</a:t>
            </a:r>
            <a:r>
              <a:rPr spc="-105" dirty="0"/>
              <a:t> </a:t>
            </a:r>
            <a:r>
              <a:rPr dirty="0"/>
              <a:t>vs</a:t>
            </a:r>
            <a:r>
              <a:rPr spc="-110" dirty="0"/>
              <a:t> </a:t>
            </a:r>
            <a:r>
              <a:rPr dirty="0"/>
              <a:t>McCulloch</a:t>
            </a:r>
            <a:r>
              <a:rPr spc="-110" dirty="0"/>
              <a:t> </a:t>
            </a:r>
            <a:r>
              <a:rPr dirty="0"/>
              <a:t>Pitts</a:t>
            </a:r>
            <a:r>
              <a:rPr spc="-114" dirty="0"/>
              <a:t> </a:t>
            </a:r>
            <a:r>
              <a:rPr spc="-10" dirty="0"/>
              <a:t>Neuron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838200"/>
          </a:xfrm>
          <a:custGeom>
            <a:avLst/>
            <a:gdLst/>
            <a:ahLst/>
            <a:cxnLst/>
            <a:rect l="l" t="t" r="r" b="b"/>
            <a:pathLst>
              <a:path w="9144000" h="838200">
                <a:moveTo>
                  <a:pt x="9144000" y="0"/>
                </a:moveTo>
                <a:lnTo>
                  <a:pt x="0" y="0"/>
                </a:lnTo>
                <a:lnTo>
                  <a:pt x="0" y="838200"/>
                </a:lnTo>
                <a:lnTo>
                  <a:pt x="9144000" y="838200"/>
                </a:lnTo>
                <a:lnTo>
                  <a:pt x="914400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25400" y="-25400"/>
            <a:ext cx="9194800" cy="6908800"/>
            <a:chOff x="-25400" y="-25400"/>
            <a:chExt cx="9194800" cy="6908800"/>
          </a:xfrm>
        </p:grpSpPr>
        <p:sp>
          <p:nvSpPr>
            <p:cNvPr id="4" name="object 4"/>
            <p:cNvSpPr/>
            <p:nvPr/>
          </p:nvSpPr>
          <p:spPr>
            <a:xfrm>
              <a:off x="1447800" y="6629399"/>
              <a:ext cx="7696200" cy="228600"/>
            </a:xfrm>
            <a:custGeom>
              <a:avLst/>
              <a:gdLst/>
              <a:ahLst/>
              <a:cxnLst/>
              <a:rect l="l" t="t" r="r" b="b"/>
              <a:pathLst>
                <a:path w="7696200" h="228600">
                  <a:moveTo>
                    <a:pt x="0" y="228600"/>
                  </a:moveTo>
                  <a:lnTo>
                    <a:pt x="7696200" y="228600"/>
                  </a:lnTo>
                  <a:lnTo>
                    <a:pt x="76962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EE8B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629399"/>
              <a:ext cx="1447800" cy="228600"/>
            </a:xfrm>
            <a:custGeom>
              <a:avLst/>
              <a:gdLst/>
              <a:ahLst/>
              <a:cxnLst/>
              <a:rect l="l" t="t" r="r" b="b"/>
              <a:pathLst>
                <a:path w="1447800" h="228600">
                  <a:moveTo>
                    <a:pt x="14478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1447800" y="228600"/>
                  </a:lnTo>
                  <a:lnTo>
                    <a:pt x="14478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l" t="t" r="r" b="b"/>
              <a:pathLst>
                <a:path w="9144000" h="6858000">
                  <a:moveTo>
                    <a:pt x="0" y="6858000"/>
                  </a:moveTo>
                  <a:lnTo>
                    <a:pt x="9144000" y="685800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6858000"/>
                  </a:lnTo>
                  <a:close/>
                </a:path>
              </a:pathLst>
            </a:custGeom>
            <a:ln w="508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29600" y="0"/>
              <a:ext cx="891552" cy="85953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35191" y="1099134"/>
              <a:ext cx="5405976" cy="5406012"/>
            </a:xfrm>
            <a:prstGeom prst="rect">
              <a:avLst/>
            </a:prstGeom>
          </p:spPr>
        </p:pic>
      </p:grp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Learning</a:t>
            </a:r>
            <a:r>
              <a:rPr spc="-100" dirty="0"/>
              <a:t> </a:t>
            </a:r>
            <a:r>
              <a:rPr dirty="0"/>
              <a:t>the</a:t>
            </a:r>
            <a:r>
              <a:rPr spc="-95" dirty="0"/>
              <a:t> </a:t>
            </a:r>
            <a:r>
              <a:rPr spc="-10" dirty="0"/>
              <a:t>weights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781415" y="5603912"/>
            <a:ext cx="196215" cy="206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spc="-25" dirty="0">
                <a:solidFill>
                  <a:srgbClr val="213739"/>
                </a:solidFill>
                <a:latin typeface="Arial MT"/>
                <a:cs typeface="Arial MT"/>
              </a:rPr>
              <a:t>27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7261" y="6643369"/>
            <a:ext cx="1173480" cy="241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20"/>
              </a:lnSpc>
            </a:pPr>
            <a:r>
              <a:rPr sz="1700" b="1" dirty="0">
                <a:solidFill>
                  <a:srgbClr val="FFFFFF"/>
                </a:solidFill>
                <a:latin typeface="Calibri"/>
                <a:cs typeface="Calibri"/>
              </a:rPr>
              <a:t>NIT</a:t>
            </a:r>
            <a:r>
              <a:rPr sz="17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b="1" spc="-10" dirty="0">
                <a:solidFill>
                  <a:srgbClr val="FFFFFF"/>
                </a:solidFill>
                <a:latin typeface="Calibri"/>
                <a:cs typeface="Calibri"/>
              </a:rPr>
              <a:t>Rourkela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568188" y="6658229"/>
            <a:ext cx="293687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dirty="0">
                <a:latin typeface="Calibri"/>
                <a:cs typeface="Calibri"/>
              </a:rPr>
              <a:t>“Deep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Learning: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Neuron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to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Perceptron”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25400" y="-25400"/>
            <a:ext cx="9194800" cy="6908800"/>
            <a:chOff x="-25400" y="-25400"/>
            <a:chExt cx="9194800" cy="6908800"/>
          </a:xfrm>
        </p:grpSpPr>
        <p:sp>
          <p:nvSpPr>
            <p:cNvPr id="3" name="object 3"/>
            <p:cNvSpPr/>
            <p:nvPr/>
          </p:nvSpPr>
          <p:spPr>
            <a:xfrm>
              <a:off x="6907530" y="1599564"/>
              <a:ext cx="2052955" cy="2052955"/>
            </a:xfrm>
            <a:custGeom>
              <a:avLst/>
              <a:gdLst/>
              <a:ahLst/>
              <a:cxnLst/>
              <a:rect l="l" t="t" r="r" b="b"/>
              <a:pathLst>
                <a:path w="2052954" h="2052954">
                  <a:moveTo>
                    <a:pt x="62738" y="1990217"/>
                  </a:moveTo>
                  <a:lnTo>
                    <a:pt x="2044953" y="1990217"/>
                  </a:lnTo>
                </a:path>
                <a:path w="2052954" h="2052954">
                  <a:moveTo>
                    <a:pt x="2001520" y="1927479"/>
                  </a:moveTo>
                  <a:lnTo>
                    <a:pt x="2010664" y="1952117"/>
                  </a:lnTo>
                  <a:lnTo>
                    <a:pt x="2022855" y="1970277"/>
                  </a:lnTo>
                  <a:lnTo>
                    <a:pt x="2037334" y="1982597"/>
                  </a:lnTo>
                  <a:lnTo>
                    <a:pt x="2052954" y="1990217"/>
                  </a:lnTo>
                  <a:lnTo>
                    <a:pt x="2037334" y="1997837"/>
                  </a:lnTo>
                  <a:lnTo>
                    <a:pt x="2022855" y="2010156"/>
                  </a:lnTo>
                  <a:lnTo>
                    <a:pt x="2010664" y="2028190"/>
                  </a:lnTo>
                  <a:lnTo>
                    <a:pt x="2001520" y="2052828"/>
                  </a:lnTo>
                </a:path>
                <a:path w="2052954" h="2052954">
                  <a:moveTo>
                    <a:pt x="62738" y="1990217"/>
                  </a:moveTo>
                  <a:lnTo>
                    <a:pt x="62738" y="8000"/>
                  </a:lnTo>
                </a:path>
                <a:path w="2052954" h="2052954">
                  <a:moveTo>
                    <a:pt x="0" y="51308"/>
                  </a:moveTo>
                  <a:lnTo>
                    <a:pt x="24638" y="42290"/>
                  </a:lnTo>
                  <a:lnTo>
                    <a:pt x="42799" y="29972"/>
                  </a:lnTo>
                  <a:lnTo>
                    <a:pt x="55118" y="15621"/>
                  </a:lnTo>
                  <a:lnTo>
                    <a:pt x="62738" y="0"/>
                  </a:lnTo>
                  <a:lnTo>
                    <a:pt x="70358" y="15621"/>
                  </a:lnTo>
                  <a:lnTo>
                    <a:pt x="82676" y="29972"/>
                  </a:lnTo>
                  <a:lnTo>
                    <a:pt x="100711" y="42290"/>
                  </a:lnTo>
                  <a:lnTo>
                    <a:pt x="125349" y="51308"/>
                  </a:lnTo>
                </a:path>
              </a:pathLst>
            </a:custGeom>
            <a:ln w="10122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283959" y="1813560"/>
              <a:ext cx="2462530" cy="2462530"/>
            </a:xfrm>
            <a:custGeom>
              <a:avLst/>
              <a:gdLst/>
              <a:ahLst/>
              <a:cxnLst/>
              <a:rect l="l" t="t" r="r" b="b"/>
              <a:pathLst>
                <a:path w="2462529" h="2462529">
                  <a:moveTo>
                    <a:pt x="0" y="0"/>
                  </a:moveTo>
                  <a:lnTo>
                    <a:pt x="2462530" y="2462529"/>
                  </a:lnTo>
                </a:path>
              </a:pathLst>
            </a:custGeom>
            <a:ln w="5060">
              <a:solidFill>
                <a:srgbClr val="213739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8707881" y="3486988"/>
            <a:ext cx="265430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656958" y="3568700"/>
            <a:ext cx="48196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(0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 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0)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56346" y="3568700"/>
            <a:ext cx="48196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(1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 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0)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52667" y="1463125"/>
            <a:ext cx="2637790" cy="912494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R="655320" algn="ctr">
              <a:lnSpc>
                <a:spcPct val="100000"/>
              </a:lnSpc>
              <a:spcBef>
                <a:spcPts val="2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875" baseline="-8888">
              <a:latin typeface="Calibri"/>
              <a:cs typeface="Calibri"/>
            </a:endParaRPr>
          </a:p>
          <a:p>
            <a:pPr marR="297815" algn="ctr">
              <a:lnSpc>
                <a:spcPct val="100000"/>
              </a:lnSpc>
              <a:spcBef>
                <a:spcPts val="190"/>
              </a:spcBef>
              <a:tabLst>
                <a:tab pos="2092325" algn="l"/>
              </a:tabLst>
            </a:pP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−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spc="2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+</a:t>
            </a:r>
            <a:r>
              <a:rPr sz="1750" spc="459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.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875" spc="337" baseline="-8888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+</a:t>
            </a:r>
            <a:r>
              <a:rPr sz="1750" spc="459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.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875" spc="494" baseline="-8888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endParaRPr sz="1750">
              <a:latin typeface="Calibri"/>
              <a:cs typeface="Calibri"/>
            </a:endParaRPr>
          </a:p>
          <a:p>
            <a:pPr marL="765810" algn="ctr">
              <a:lnSpc>
                <a:spcPct val="100000"/>
              </a:lnSpc>
              <a:spcBef>
                <a:spcPts val="305"/>
              </a:spcBef>
              <a:tabLst>
                <a:tab pos="2078989" algn="l"/>
              </a:tabLst>
            </a:pP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(0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 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1)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	(1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 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1)</a:t>
            </a:r>
            <a:endParaRPr sz="175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927605" y="2405262"/>
            <a:ext cx="1227455" cy="1227455"/>
            <a:chOff x="6927605" y="2405262"/>
            <a:chExt cx="1227455" cy="122745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27605" y="3547119"/>
              <a:ext cx="85324" cy="8532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27605" y="2405262"/>
              <a:ext cx="85324" cy="8532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69462" y="3547119"/>
              <a:ext cx="85324" cy="8532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69462" y="2405262"/>
              <a:ext cx="85324" cy="85324"/>
            </a:xfrm>
            <a:prstGeom prst="rect">
              <a:avLst/>
            </a:prstGeom>
          </p:spPr>
        </p:pic>
      </p:grpSp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xfrm>
            <a:off x="281940" y="65759"/>
            <a:ext cx="5431790" cy="1463675"/>
          </a:xfrm>
          <a:prstGeom prst="rect">
            <a:avLst/>
          </a:prstGeom>
        </p:spPr>
        <p:txBody>
          <a:bodyPr vert="horz" wrap="square" lIns="0" tIns="1835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45"/>
              </a:spcBef>
            </a:pPr>
            <a:r>
              <a:rPr spc="-40" dirty="0">
                <a:latin typeface="Trebuchet MS"/>
                <a:cs typeface="Trebuchet MS"/>
              </a:rPr>
              <a:t>Errors</a:t>
            </a:r>
            <a:r>
              <a:rPr spc="-185" dirty="0">
                <a:latin typeface="Trebuchet MS"/>
                <a:cs typeface="Trebuchet MS"/>
              </a:rPr>
              <a:t> </a:t>
            </a:r>
            <a:r>
              <a:rPr spc="-215" dirty="0">
                <a:latin typeface="Trebuchet MS"/>
                <a:cs typeface="Trebuchet MS"/>
              </a:rPr>
              <a:t>and</a:t>
            </a:r>
            <a:r>
              <a:rPr spc="-425" dirty="0">
                <a:latin typeface="Trebuchet MS"/>
                <a:cs typeface="Trebuchet MS"/>
              </a:rPr>
              <a:t> </a:t>
            </a:r>
            <a:r>
              <a:rPr spc="-60" dirty="0">
                <a:latin typeface="Trebuchet MS"/>
                <a:cs typeface="Trebuchet MS"/>
              </a:rPr>
              <a:t>Error</a:t>
            </a:r>
            <a:r>
              <a:rPr spc="-235" dirty="0">
                <a:latin typeface="Trebuchet MS"/>
                <a:cs typeface="Trebuchet MS"/>
              </a:rPr>
              <a:t> </a:t>
            </a:r>
            <a:r>
              <a:rPr spc="-30" dirty="0">
                <a:latin typeface="Trebuchet MS"/>
                <a:cs typeface="Trebuchet MS"/>
              </a:rPr>
              <a:t>Surfaces</a:t>
            </a:r>
          </a:p>
          <a:p>
            <a:pPr marL="537210" marR="519430" indent="-5080">
              <a:lnSpc>
                <a:spcPct val="118900"/>
              </a:lnSpc>
              <a:spcBef>
                <a:spcPts val="185"/>
              </a:spcBef>
              <a:tabLst>
                <a:tab pos="3430270" algn="l"/>
              </a:tabLst>
            </a:pP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Let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us</a:t>
            </a:r>
            <a:r>
              <a:rPr sz="1750" spc="-1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fix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threshold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−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875" spc="569" baseline="-8888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	1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)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try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differ-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ent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values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-6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spc="-3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spc="-52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781415" y="5603912"/>
            <a:ext cx="196215" cy="206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spc="-25" dirty="0">
                <a:solidFill>
                  <a:srgbClr val="213739"/>
                </a:solidFill>
                <a:latin typeface="Arial MT"/>
                <a:cs typeface="Arial MT"/>
              </a:rPr>
              <a:t>29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7261" y="6643369"/>
            <a:ext cx="1173480" cy="241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20"/>
              </a:lnSpc>
            </a:pPr>
            <a:r>
              <a:rPr sz="1700" b="1" dirty="0">
                <a:solidFill>
                  <a:srgbClr val="FFFFFF"/>
                </a:solidFill>
                <a:latin typeface="Calibri"/>
                <a:cs typeface="Calibri"/>
              </a:rPr>
              <a:t>NIT</a:t>
            </a:r>
            <a:r>
              <a:rPr sz="17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b="1" spc="-10" dirty="0">
                <a:solidFill>
                  <a:srgbClr val="FFFFFF"/>
                </a:solidFill>
                <a:latin typeface="Calibri"/>
                <a:cs typeface="Calibri"/>
              </a:rPr>
              <a:t>Rourkela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568188" y="6658229"/>
            <a:ext cx="293687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dirty="0">
                <a:latin typeface="Calibri"/>
                <a:cs typeface="Calibri"/>
              </a:rPr>
              <a:t>“Deep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Learning: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Neuron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to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Perceptron”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6630" y="869442"/>
            <a:ext cx="4448175" cy="1724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545" marR="30480" indent="-5080">
              <a:lnSpc>
                <a:spcPct val="118900"/>
              </a:lnSpc>
              <a:spcBef>
                <a:spcPts val="100"/>
              </a:spcBef>
              <a:tabLst>
                <a:tab pos="2935605" algn="l"/>
              </a:tabLst>
            </a:pP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Let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us</a:t>
            </a:r>
            <a:r>
              <a:rPr sz="1750" spc="-1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fix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threshold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−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875" spc="569" baseline="-8888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	1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)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try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differ-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ent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values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-6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spc="-3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spc="-52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875" baseline="-8888">
              <a:latin typeface="Calibri"/>
              <a:cs typeface="Calibri"/>
            </a:endParaRPr>
          </a:p>
          <a:p>
            <a:pPr marL="39370">
              <a:lnSpc>
                <a:spcPct val="100000"/>
              </a:lnSpc>
              <a:spcBef>
                <a:spcPts val="919"/>
              </a:spcBef>
            </a:pPr>
            <a:r>
              <a:rPr sz="1750" spc="-185" dirty="0">
                <a:solidFill>
                  <a:srgbClr val="213739"/>
                </a:solidFill>
                <a:latin typeface="Arial MT"/>
                <a:cs typeface="Arial MT"/>
              </a:rPr>
              <a:t>Say,</a:t>
            </a:r>
            <a:r>
              <a:rPr sz="1750" spc="-1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875" spc="434" baseline="-8888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8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spc="-45" dirty="0">
                <a:solidFill>
                  <a:srgbClr val="213739"/>
                </a:solidFill>
                <a:latin typeface="Lucida Sans Unicode"/>
                <a:cs typeface="Lucida Sans Unicode"/>
              </a:rPr>
              <a:t>−</a:t>
            </a:r>
            <a:r>
              <a:rPr sz="1750" spc="-45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i="1" spc="-45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-10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875" spc="434" baseline="-8888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8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spc="-25" dirty="0">
                <a:solidFill>
                  <a:srgbClr val="213739"/>
                </a:solidFill>
                <a:latin typeface="Lucida Sans Unicode"/>
                <a:cs typeface="Lucida Sans Unicode"/>
              </a:rPr>
              <a:t>−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75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790"/>
              </a:spcBef>
            </a:pP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What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is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wrong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with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this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line?</a:t>
            </a:r>
            <a:r>
              <a:rPr sz="1750" spc="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make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an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error</a:t>
            </a:r>
            <a:endParaRPr sz="1750">
              <a:latin typeface="Arial MT"/>
              <a:cs typeface="Arial MT"/>
            </a:endParaRPr>
          </a:p>
          <a:p>
            <a:pPr marL="42545">
              <a:lnSpc>
                <a:spcPct val="100000"/>
              </a:lnSpc>
              <a:spcBef>
                <a:spcPts val="375"/>
              </a:spcBef>
            </a:pP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on</a:t>
            </a:r>
            <a:r>
              <a:rPr sz="1750" spc="-1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1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out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4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inputs</a:t>
            </a:r>
            <a:endParaRPr sz="175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825871" y="1594485"/>
            <a:ext cx="3140075" cy="3140075"/>
            <a:chOff x="5825871" y="1594485"/>
            <a:chExt cx="3140075" cy="3140075"/>
          </a:xfrm>
        </p:grpSpPr>
        <p:sp>
          <p:nvSpPr>
            <p:cNvPr id="4" name="object 4"/>
            <p:cNvSpPr/>
            <p:nvPr/>
          </p:nvSpPr>
          <p:spPr>
            <a:xfrm>
              <a:off x="6907530" y="1599565"/>
              <a:ext cx="2052955" cy="2052955"/>
            </a:xfrm>
            <a:custGeom>
              <a:avLst/>
              <a:gdLst/>
              <a:ahLst/>
              <a:cxnLst/>
              <a:rect l="l" t="t" r="r" b="b"/>
              <a:pathLst>
                <a:path w="2052954" h="2052954">
                  <a:moveTo>
                    <a:pt x="62738" y="1990217"/>
                  </a:moveTo>
                  <a:lnTo>
                    <a:pt x="2044953" y="1990217"/>
                  </a:lnTo>
                </a:path>
                <a:path w="2052954" h="2052954">
                  <a:moveTo>
                    <a:pt x="2001520" y="1927606"/>
                  </a:moveTo>
                  <a:lnTo>
                    <a:pt x="2010664" y="1952117"/>
                  </a:lnTo>
                  <a:lnTo>
                    <a:pt x="2022855" y="1970277"/>
                  </a:lnTo>
                  <a:lnTo>
                    <a:pt x="2037334" y="1982597"/>
                  </a:lnTo>
                  <a:lnTo>
                    <a:pt x="2052954" y="1990217"/>
                  </a:lnTo>
                  <a:lnTo>
                    <a:pt x="2037334" y="1997837"/>
                  </a:lnTo>
                  <a:lnTo>
                    <a:pt x="2022855" y="2010156"/>
                  </a:lnTo>
                  <a:lnTo>
                    <a:pt x="2010664" y="2028190"/>
                  </a:lnTo>
                  <a:lnTo>
                    <a:pt x="2001520" y="2052828"/>
                  </a:lnTo>
                </a:path>
                <a:path w="2052954" h="2052954">
                  <a:moveTo>
                    <a:pt x="62738" y="1990217"/>
                  </a:moveTo>
                  <a:lnTo>
                    <a:pt x="62738" y="8000"/>
                  </a:lnTo>
                </a:path>
                <a:path w="2052954" h="2052954">
                  <a:moveTo>
                    <a:pt x="0" y="51308"/>
                  </a:moveTo>
                  <a:lnTo>
                    <a:pt x="24638" y="42290"/>
                  </a:lnTo>
                  <a:lnTo>
                    <a:pt x="42799" y="29972"/>
                  </a:lnTo>
                  <a:lnTo>
                    <a:pt x="55118" y="15621"/>
                  </a:lnTo>
                  <a:lnTo>
                    <a:pt x="62738" y="0"/>
                  </a:lnTo>
                  <a:lnTo>
                    <a:pt x="70358" y="15621"/>
                  </a:lnTo>
                  <a:lnTo>
                    <a:pt x="82676" y="29972"/>
                  </a:lnTo>
                  <a:lnTo>
                    <a:pt x="100711" y="42290"/>
                  </a:lnTo>
                  <a:lnTo>
                    <a:pt x="125349" y="51308"/>
                  </a:lnTo>
                </a:path>
              </a:pathLst>
            </a:custGeom>
            <a:ln w="10122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283960" y="1813560"/>
              <a:ext cx="2462530" cy="2462530"/>
            </a:xfrm>
            <a:custGeom>
              <a:avLst/>
              <a:gdLst/>
              <a:ahLst/>
              <a:cxnLst/>
              <a:rect l="l" t="t" r="r" b="b"/>
              <a:pathLst>
                <a:path w="2462529" h="2462529">
                  <a:moveTo>
                    <a:pt x="0" y="0"/>
                  </a:moveTo>
                  <a:lnTo>
                    <a:pt x="2462530" y="2462529"/>
                  </a:lnTo>
                </a:path>
              </a:pathLst>
            </a:custGeom>
            <a:ln w="5060">
              <a:solidFill>
                <a:srgbClr val="213739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828411" y="3018790"/>
              <a:ext cx="1713230" cy="1713230"/>
            </a:xfrm>
            <a:custGeom>
              <a:avLst/>
              <a:gdLst/>
              <a:ahLst/>
              <a:cxnLst/>
              <a:rect l="l" t="t" r="r" b="b"/>
              <a:pathLst>
                <a:path w="1713229" h="1713229">
                  <a:moveTo>
                    <a:pt x="0" y="0"/>
                  </a:moveTo>
                  <a:lnTo>
                    <a:pt x="1712721" y="1712849"/>
                  </a:lnTo>
                </a:path>
              </a:pathLst>
            </a:custGeom>
            <a:ln w="5060">
              <a:solidFill>
                <a:srgbClr val="0000FF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707881" y="3486988"/>
            <a:ext cx="265430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09282" y="1488693"/>
            <a:ext cx="26479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56958" y="3568700"/>
            <a:ext cx="48196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(0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 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0)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856346" y="3568700"/>
            <a:ext cx="48196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(1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 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0)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865621" y="1747266"/>
            <a:ext cx="2613025" cy="63246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390"/>
              </a:spcBef>
              <a:tabLst>
                <a:tab pos="2143125" algn="l"/>
              </a:tabLst>
            </a:pP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−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spc="2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+</a:t>
            </a:r>
            <a:r>
              <a:rPr sz="1750" spc="459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.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875" spc="345" baseline="-8888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+</a:t>
            </a:r>
            <a:r>
              <a:rPr sz="1750" spc="46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.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875" spc="487" baseline="-8888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endParaRPr sz="1750">
              <a:latin typeface="Calibri"/>
              <a:cs typeface="Calibri"/>
            </a:endParaRPr>
          </a:p>
          <a:p>
            <a:pPr marL="803910">
              <a:lnSpc>
                <a:spcPct val="100000"/>
              </a:lnSpc>
              <a:spcBef>
                <a:spcPts val="285"/>
              </a:spcBef>
              <a:tabLst>
                <a:tab pos="2117090" algn="l"/>
              </a:tabLst>
            </a:pP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(0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 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1)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	(1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 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1)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581015" y="4527296"/>
            <a:ext cx="263207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2481580" algn="l"/>
              </a:tabLst>
            </a:pP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−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spc="7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+</a:t>
            </a:r>
            <a:r>
              <a:rPr sz="1750" spc="6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(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−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1)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875" spc="434" baseline="-8888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+</a:t>
            </a:r>
            <a:r>
              <a:rPr sz="1750" spc="6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(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−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1)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875" spc="630" baseline="-8888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endParaRPr sz="175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927605" y="2405262"/>
            <a:ext cx="1227455" cy="1227455"/>
            <a:chOff x="6927605" y="2405262"/>
            <a:chExt cx="1227455" cy="1227455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27605" y="3547119"/>
              <a:ext cx="85324" cy="8532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27605" y="2405262"/>
              <a:ext cx="85324" cy="8532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69462" y="3547119"/>
              <a:ext cx="85324" cy="8532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69462" y="2405262"/>
              <a:ext cx="85324" cy="85324"/>
            </a:xfrm>
            <a:prstGeom prst="rect">
              <a:avLst/>
            </a:prstGeom>
          </p:spPr>
        </p:pic>
      </p:grpSp>
      <p:sp>
        <p:nvSpPr>
          <p:cNvPr id="18" name="object 18" descr="$PPTXTitle"/>
          <p:cNvSpPr txBox="1">
            <a:spLocks noGrp="1"/>
          </p:cNvSpPr>
          <p:nvPr>
            <p:ph type="title"/>
          </p:nvPr>
        </p:nvSpPr>
        <p:spPr>
          <a:xfrm>
            <a:off x="307340" y="237490"/>
            <a:ext cx="53809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>
                <a:latin typeface="Trebuchet MS"/>
                <a:cs typeface="Trebuchet MS"/>
              </a:rPr>
              <a:t>Errors</a:t>
            </a:r>
            <a:r>
              <a:rPr spc="-185" dirty="0">
                <a:latin typeface="Trebuchet MS"/>
                <a:cs typeface="Trebuchet MS"/>
              </a:rPr>
              <a:t> </a:t>
            </a:r>
            <a:r>
              <a:rPr spc="-215" dirty="0">
                <a:latin typeface="Trebuchet MS"/>
                <a:cs typeface="Trebuchet MS"/>
              </a:rPr>
              <a:t>and</a:t>
            </a:r>
            <a:r>
              <a:rPr spc="-425" dirty="0">
                <a:latin typeface="Trebuchet MS"/>
                <a:cs typeface="Trebuchet MS"/>
              </a:rPr>
              <a:t> </a:t>
            </a:r>
            <a:r>
              <a:rPr spc="-60" dirty="0">
                <a:latin typeface="Trebuchet MS"/>
                <a:cs typeface="Trebuchet MS"/>
              </a:rPr>
              <a:t>Error</a:t>
            </a:r>
            <a:r>
              <a:rPr spc="-235" dirty="0">
                <a:latin typeface="Trebuchet MS"/>
                <a:cs typeface="Trebuchet MS"/>
              </a:rPr>
              <a:t> </a:t>
            </a:r>
            <a:r>
              <a:rPr spc="-55" dirty="0">
                <a:latin typeface="Trebuchet MS"/>
                <a:cs typeface="Trebuchet MS"/>
              </a:rPr>
              <a:t>Surfaces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8781415" y="5603912"/>
            <a:ext cx="196215" cy="206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spc="-25" dirty="0">
                <a:solidFill>
                  <a:srgbClr val="213739"/>
                </a:solidFill>
                <a:latin typeface="Arial MT"/>
                <a:cs typeface="Arial MT"/>
              </a:rPr>
              <a:t>29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37261" y="6643369"/>
            <a:ext cx="1173480" cy="241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20"/>
              </a:lnSpc>
            </a:pPr>
            <a:r>
              <a:rPr sz="1700" b="1" dirty="0">
                <a:solidFill>
                  <a:srgbClr val="FFFFFF"/>
                </a:solidFill>
                <a:latin typeface="Calibri"/>
                <a:cs typeface="Calibri"/>
              </a:rPr>
              <a:t>NIT</a:t>
            </a:r>
            <a:r>
              <a:rPr sz="17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b="1" spc="-10" dirty="0">
                <a:solidFill>
                  <a:srgbClr val="FFFFFF"/>
                </a:solidFill>
                <a:latin typeface="Calibri"/>
                <a:cs typeface="Calibri"/>
              </a:rPr>
              <a:t>Rourkela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568188" y="6658229"/>
            <a:ext cx="293687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dirty="0">
                <a:latin typeface="Calibri"/>
                <a:cs typeface="Calibri"/>
              </a:rPr>
              <a:t>“Deep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Learning: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Neuron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to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Perceptron”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6630" y="869442"/>
            <a:ext cx="4448175" cy="2416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545" marR="30480" indent="-5080">
              <a:lnSpc>
                <a:spcPct val="118900"/>
              </a:lnSpc>
              <a:spcBef>
                <a:spcPts val="100"/>
              </a:spcBef>
              <a:tabLst>
                <a:tab pos="2935605" algn="l"/>
              </a:tabLst>
            </a:pP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Let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us</a:t>
            </a:r>
            <a:r>
              <a:rPr sz="1750" spc="-1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fix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threshold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−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875" spc="569" baseline="-8888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	1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)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try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differ-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ent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values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-6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spc="-3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spc="-52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875" baseline="-8888">
              <a:latin typeface="Calibri"/>
              <a:cs typeface="Calibri"/>
            </a:endParaRPr>
          </a:p>
          <a:p>
            <a:pPr marL="39370">
              <a:lnSpc>
                <a:spcPct val="100000"/>
              </a:lnSpc>
              <a:spcBef>
                <a:spcPts val="919"/>
              </a:spcBef>
            </a:pPr>
            <a:r>
              <a:rPr sz="1750" spc="-185" dirty="0">
                <a:solidFill>
                  <a:srgbClr val="213739"/>
                </a:solidFill>
                <a:latin typeface="Arial MT"/>
                <a:cs typeface="Arial MT"/>
              </a:rPr>
              <a:t>Say,</a:t>
            </a:r>
            <a:r>
              <a:rPr sz="1750" spc="-1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875" spc="434" baseline="-8888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8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spc="-45" dirty="0">
                <a:solidFill>
                  <a:srgbClr val="213739"/>
                </a:solidFill>
                <a:latin typeface="Lucida Sans Unicode"/>
                <a:cs typeface="Lucida Sans Unicode"/>
              </a:rPr>
              <a:t>−</a:t>
            </a:r>
            <a:r>
              <a:rPr sz="1750" spc="-45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i="1" spc="-45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-10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875" spc="434" baseline="-8888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8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spc="-25" dirty="0">
                <a:solidFill>
                  <a:srgbClr val="213739"/>
                </a:solidFill>
                <a:latin typeface="Lucida Sans Unicode"/>
                <a:cs typeface="Lucida Sans Unicode"/>
              </a:rPr>
              <a:t>−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75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790"/>
              </a:spcBef>
            </a:pP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What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is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wrong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with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this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line?</a:t>
            </a:r>
            <a:r>
              <a:rPr sz="1750" spc="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make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an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error</a:t>
            </a:r>
            <a:endParaRPr sz="1750">
              <a:latin typeface="Arial MT"/>
              <a:cs typeface="Arial MT"/>
            </a:endParaRPr>
          </a:p>
          <a:p>
            <a:pPr marL="42545">
              <a:lnSpc>
                <a:spcPct val="100000"/>
              </a:lnSpc>
              <a:spcBef>
                <a:spcPts val="375"/>
              </a:spcBef>
            </a:pP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on</a:t>
            </a:r>
            <a:r>
              <a:rPr sz="1750" spc="-1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1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out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4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inputs</a:t>
            </a:r>
            <a:endParaRPr sz="1750">
              <a:latin typeface="Arial MT"/>
              <a:cs typeface="Arial MT"/>
            </a:endParaRPr>
          </a:p>
          <a:p>
            <a:pPr marL="42545" marR="34290" indent="-5080">
              <a:lnSpc>
                <a:spcPct val="117700"/>
              </a:lnSpc>
              <a:spcBef>
                <a:spcPts val="505"/>
              </a:spcBef>
            </a:pP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Lets</a:t>
            </a:r>
            <a:r>
              <a:rPr sz="1750" spc="-2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try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some</a:t>
            </a:r>
            <a:r>
              <a:rPr sz="1750" spc="-25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more</a:t>
            </a:r>
            <a:r>
              <a:rPr sz="1750" spc="-2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values</a:t>
            </a:r>
            <a:r>
              <a:rPr sz="1750" spc="-20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-5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875" spc="284" baseline="-8888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750" spc="-229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note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how 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many</a:t>
            </a:r>
            <a:r>
              <a:rPr sz="1750" spc="-1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errors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make</a:t>
            </a:r>
            <a:endParaRPr sz="175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825871" y="1594485"/>
            <a:ext cx="3140075" cy="3140075"/>
            <a:chOff x="5825871" y="1594485"/>
            <a:chExt cx="3140075" cy="3140075"/>
          </a:xfrm>
        </p:grpSpPr>
        <p:sp>
          <p:nvSpPr>
            <p:cNvPr id="4" name="object 4"/>
            <p:cNvSpPr/>
            <p:nvPr/>
          </p:nvSpPr>
          <p:spPr>
            <a:xfrm>
              <a:off x="6907530" y="1599565"/>
              <a:ext cx="2052955" cy="2052955"/>
            </a:xfrm>
            <a:custGeom>
              <a:avLst/>
              <a:gdLst/>
              <a:ahLst/>
              <a:cxnLst/>
              <a:rect l="l" t="t" r="r" b="b"/>
              <a:pathLst>
                <a:path w="2052954" h="2052954">
                  <a:moveTo>
                    <a:pt x="62738" y="1990217"/>
                  </a:moveTo>
                  <a:lnTo>
                    <a:pt x="2044953" y="1990217"/>
                  </a:lnTo>
                </a:path>
                <a:path w="2052954" h="2052954">
                  <a:moveTo>
                    <a:pt x="2001520" y="1927606"/>
                  </a:moveTo>
                  <a:lnTo>
                    <a:pt x="2010664" y="1952117"/>
                  </a:lnTo>
                  <a:lnTo>
                    <a:pt x="2022855" y="1970277"/>
                  </a:lnTo>
                  <a:lnTo>
                    <a:pt x="2037334" y="1982597"/>
                  </a:lnTo>
                  <a:lnTo>
                    <a:pt x="2052954" y="1990217"/>
                  </a:lnTo>
                  <a:lnTo>
                    <a:pt x="2037334" y="1997837"/>
                  </a:lnTo>
                  <a:lnTo>
                    <a:pt x="2022855" y="2010156"/>
                  </a:lnTo>
                  <a:lnTo>
                    <a:pt x="2010664" y="2028190"/>
                  </a:lnTo>
                  <a:lnTo>
                    <a:pt x="2001520" y="2052828"/>
                  </a:lnTo>
                </a:path>
                <a:path w="2052954" h="2052954">
                  <a:moveTo>
                    <a:pt x="62738" y="1990217"/>
                  </a:moveTo>
                  <a:lnTo>
                    <a:pt x="62738" y="8000"/>
                  </a:lnTo>
                </a:path>
                <a:path w="2052954" h="2052954">
                  <a:moveTo>
                    <a:pt x="0" y="51308"/>
                  </a:moveTo>
                  <a:lnTo>
                    <a:pt x="24638" y="42290"/>
                  </a:lnTo>
                  <a:lnTo>
                    <a:pt x="42799" y="29972"/>
                  </a:lnTo>
                  <a:lnTo>
                    <a:pt x="55118" y="15621"/>
                  </a:lnTo>
                  <a:lnTo>
                    <a:pt x="62738" y="0"/>
                  </a:lnTo>
                  <a:lnTo>
                    <a:pt x="70358" y="15621"/>
                  </a:lnTo>
                  <a:lnTo>
                    <a:pt x="82676" y="29972"/>
                  </a:lnTo>
                  <a:lnTo>
                    <a:pt x="100711" y="42290"/>
                  </a:lnTo>
                  <a:lnTo>
                    <a:pt x="125349" y="51308"/>
                  </a:lnTo>
                </a:path>
              </a:pathLst>
            </a:custGeom>
            <a:ln w="10122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283960" y="1813560"/>
              <a:ext cx="2462530" cy="2462530"/>
            </a:xfrm>
            <a:custGeom>
              <a:avLst/>
              <a:gdLst/>
              <a:ahLst/>
              <a:cxnLst/>
              <a:rect l="l" t="t" r="r" b="b"/>
              <a:pathLst>
                <a:path w="2462529" h="2462529">
                  <a:moveTo>
                    <a:pt x="0" y="0"/>
                  </a:moveTo>
                  <a:lnTo>
                    <a:pt x="2462530" y="2462529"/>
                  </a:lnTo>
                </a:path>
              </a:pathLst>
            </a:custGeom>
            <a:ln w="5060">
              <a:solidFill>
                <a:srgbClr val="213739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828411" y="3018790"/>
              <a:ext cx="1713230" cy="1713230"/>
            </a:xfrm>
            <a:custGeom>
              <a:avLst/>
              <a:gdLst/>
              <a:ahLst/>
              <a:cxnLst/>
              <a:rect l="l" t="t" r="r" b="b"/>
              <a:pathLst>
                <a:path w="1713229" h="1713229">
                  <a:moveTo>
                    <a:pt x="0" y="0"/>
                  </a:moveTo>
                  <a:lnTo>
                    <a:pt x="1712721" y="1712849"/>
                  </a:lnTo>
                </a:path>
              </a:pathLst>
            </a:custGeom>
            <a:ln w="5060">
              <a:solidFill>
                <a:srgbClr val="0000FF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707881" y="3486988"/>
            <a:ext cx="265430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09282" y="1488693"/>
            <a:ext cx="26479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56958" y="3568700"/>
            <a:ext cx="48196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(0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 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0)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856346" y="3568700"/>
            <a:ext cx="48196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(1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 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0)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865621" y="1747266"/>
            <a:ext cx="2613025" cy="63246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390"/>
              </a:spcBef>
              <a:tabLst>
                <a:tab pos="2143125" algn="l"/>
              </a:tabLst>
            </a:pP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−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spc="2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+</a:t>
            </a:r>
            <a:r>
              <a:rPr sz="1750" spc="459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.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875" spc="345" baseline="-8888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+</a:t>
            </a:r>
            <a:r>
              <a:rPr sz="1750" spc="46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.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875" spc="487" baseline="-8888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endParaRPr sz="1750">
              <a:latin typeface="Calibri"/>
              <a:cs typeface="Calibri"/>
            </a:endParaRPr>
          </a:p>
          <a:p>
            <a:pPr marL="803910">
              <a:lnSpc>
                <a:spcPct val="100000"/>
              </a:lnSpc>
              <a:spcBef>
                <a:spcPts val="285"/>
              </a:spcBef>
              <a:tabLst>
                <a:tab pos="2117090" algn="l"/>
              </a:tabLst>
            </a:pP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(0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 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1)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	(1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 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1)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581015" y="4527296"/>
            <a:ext cx="263207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2481580" algn="l"/>
              </a:tabLst>
            </a:pP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−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spc="7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+</a:t>
            </a:r>
            <a:r>
              <a:rPr sz="1750" spc="6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(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−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1)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875" spc="434" baseline="-8888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+</a:t>
            </a:r>
            <a:r>
              <a:rPr sz="1750" spc="6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(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−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1)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875" spc="630" baseline="-8888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endParaRPr sz="175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927605" y="2405262"/>
            <a:ext cx="1227455" cy="1227455"/>
            <a:chOff x="6927605" y="2405262"/>
            <a:chExt cx="1227455" cy="1227455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27605" y="3547119"/>
              <a:ext cx="85324" cy="8532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27605" y="2405262"/>
              <a:ext cx="85324" cy="8532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69462" y="3547119"/>
              <a:ext cx="85324" cy="8532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69462" y="2405262"/>
              <a:ext cx="85324" cy="85324"/>
            </a:xfrm>
            <a:prstGeom prst="rect">
              <a:avLst/>
            </a:prstGeom>
          </p:spPr>
        </p:pic>
      </p:grpSp>
      <p:sp>
        <p:nvSpPr>
          <p:cNvPr id="18" name="object 18" descr="$PPTXTitle"/>
          <p:cNvSpPr txBox="1">
            <a:spLocks noGrp="1"/>
          </p:cNvSpPr>
          <p:nvPr>
            <p:ph type="title"/>
          </p:nvPr>
        </p:nvSpPr>
        <p:spPr>
          <a:xfrm>
            <a:off x="307340" y="237490"/>
            <a:ext cx="53809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>
                <a:latin typeface="Trebuchet MS"/>
                <a:cs typeface="Trebuchet MS"/>
              </a:rPr>
              <a:t>Errors</a:t>
            </a:r>
            <a:r>
              <a:rPr spc="-185" dirty="0">
                <a:latin typeface="Trebuchet MS"/>
                <a:cs typeface="Trebuchet MS"/>
              </a:rPr>
              <a:t> </a:t>
            </a:r>
            <a:r>
              <a:rPr spc="-215" dirty="0">
                <a:latin typeface="Trebuchet MS"/>
                <a:cs typeface="Trebuchet MS"/>
              </a:rPr>
              <a:t>and</a:t>
            </a:r>
            <a:r>
              <a:rPr spc="-425" dirty="0">
                <a:latin typeface="Trebuchet MS"/>
                <a:cs typeface="Trebuchet MS"/>
              </a:rPr>
              <a:t> </a:t>
            </a:r>
            <a:r>
              <a:rPr spc="-60" dirty="0">
                <a:latin typeface="Trebuchet MS"/>
                <a:cs typeface="Trebuchet MS"/>
              </a:rPr>
              <a:t>Error</a:t>
            </a:r>
            <a:r>
              <a:rPr spc="-235" dirty="0">
                <a:latin typeface="Trebuchet MS"/>
                <a:cs typeface="Trebuchet MS"/>
              </a:rPr>
              <a:t> </a:t>
            </a:r>
            <a:r>
              <a:rPr spc="-55" dirty="0">
                <a:latin typeface="Trebuchet MS"/>
                <a:cs typeface="Trebuchet MS"/>
              </a:rPr>
              <a:t>Surfaces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8781415" y="5603912"/>
            <a:ext cx="196215" cy="206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spc="-25" dirty="0">
                <a:solidFill>
                  <a:srgbClr val="213739"/>
                </a:solidFill>
                <a:latin typeface="Arial MT"/>
                <a:cs typeface="Arial MT"/>
              </a:rPr>
              <a:t>29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37261" y="6643369"/>
            <a:ext cx="1173480" cy="241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20"/>
              </a:lnSpc>
            </a:pPr>
            <a:r>
              <a:rPr sz="1700" b="1" dirty="0">
                <a:solidFill>
                  <a:srgbClr val="FFFFFF"/>
                </a:solidFill>
                <a:latin typeface="Calibri"/>
                <a:cs typeface="Calibri"/>
              </a:rPr>
              <a:t>NIT</a:t>
            </a:r>
            <a:r>
              <a:rPr sz="17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b="1" spc="-10" dirty="0">
                <a:solidFill>
                  <a:srgbClr val="FFFFFF"/>
                </a:solidFill>
                <a:latin typeface="Calibri"/>
                <a:cs typeface="Calibri"/>
              </a:rPr>
              <a:t>Rourkela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568188" y="6658229"/>
            <a:ext cx="293687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dirty="0">
                <a:latin typeface="Calibri"/>
                <a:cs typeface="Calibri"/>
              </a:rPr>
              <a:t>“Deep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Learning: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Neuron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to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Perceptron”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01541" y="934338"/>
            <a:ext cx="149987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)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try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differ-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78154" y="873379"/>
            <a:ext cx="2839085" cy="1038860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70"/>
              </a:spcBef>
            </a:pP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Let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us</a:t>
            </a:r>
            <a:r>
              <a:rPr sz="1750" spc="-1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fix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threshold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−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875" spc="569" baseline="-8888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endParaRPr sz="1750">
              <a:latin typeface="Calibri"/>
              <a:cs typeface="Calibri"/>
            </a:endParaRPr>
          </a:p>
          <a:p>
            <a:pPr marL="42545">
              <a:lnSpc>
                <a:spcPct val="100000"/>
              </a:lnSpc>
              <a:spcBef>
                <a:spcPts val="465"/>
              </a:spcBef>
            </a:pP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ent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values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-6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875" baseline="-8888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745"/>
              </a:spcBef>
            </a:pPr>
            <a:r>
              <a:rPr sz="1750" spc="-185" dirty="0">
                <a:solidFill>
                  <a:srgbClr val="213739"/>
                </a:solidFill>
                <a:latin typeface="Arial MT"/>
                <a:cs typeface="Arial MT"/>
              </a:rPr>
              <a:t>Say,</a:t>
            </a:r>
            <a:r>
              <a:rPr sz="1750" spc="-1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875" spc="434" baseline="-8888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8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spc="-45" dirty="0">
                <a:solidFill>
                  <a:srgbClr val="213739"/>
                </a:solidFill>
                <a:latin typeface="Lucida Sans Unicode"/>
                <a:cs typeface="Lucida Sans Unicode"/>
              </a:rPr>
              <a:t>−</a:t>
            </a:r>
            <a:r>
              <a:rPr sz="1750" spc="-45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i="1" spc="-45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-10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875" spc="434" baseline="-8888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8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spc="-25" dirty="0">
                <a:solidFill>
                  <a:srgbClr val="213739"/>
                </a:solidFill>
                <a:latin typeface="Lucida Sans Unicode"/>
                <a:cs typeface="Lucida Sans Unicode"/>
              </a:rPr>
              <a:t>−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76630" y="1939613"/>
            <a:ext cx="4444365" cy="134620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75"/>
              </a:spcBef>
            </a:pP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What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is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wrong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with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this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line?</a:t>
            </a:r>
            <a:r>
              <a:rPr sz="1750" spc="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make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an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error</a:t>
            </a:r>
            <a:endParaRPr sz="1750">
              <a:latin typeface="Arial MT"/>
              <a:cs typeface="Arial MT"/>
            </a:endParaRPr>
          </a:p>
          <a:p>
            <a:pPr marL="42545">
              <a:lnSpc>
                <a:spcPct val="100000"/>
              </a:lnSpc>
              <a:spcBef>
                <a:spcPts val="375"/>
              </a:spcBef>
            </a:pP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on</a:t>
            </a:r>
            <a:r>
              <a:rPr sz="1750" spc="-1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1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out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4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inputs</a:t>
            </a:r>
            <a:endParaRPr sz="1750">
              <a:latin typeface="Arial MT"/>
              <a:cs typeface="Arial MT"/>
            </a:endParaRPr>
          </a:p>
          <a:p>
            <a:pPr marL="42545" marR="30480" indent="-5080">
              <a:lnSpc>
                <a:spcPct val="117700"/>
              </a:lnSpc>
              <a:spcBef>
                <a:spcPts val="505"/>
              </a:spcBef>
            </a:pP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Lets</a:t>
            </a:r>
            <a:r>
              <a:rPr sz="1750" spc="-2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try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some</a:t>
            </a:r>
            <a:r>
              <a:rPr sz="1750" spc="-25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more</a:t>
            </a:r>
            <a:r>
              <a:rPr sz="1750" spc="-2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values</a:t>
            </a:r>
            <a:r>
              <a:rPr sz="1750" spc="-20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-5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875" spc="284" baseline="-8888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750" spc="-229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note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how 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many</a:t>
            </a:r>
            <a:r>
              <a:rPr sz="1750" spc="-1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errors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make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980945" y="3395726"/>
            <a:ext cx="2034539" cy="0"/>
          </a:xfrm>
          <a:custGeom>
            <a:avLst/>
            <a:gdLst/>
            <a:ahLst/>
            <a:cxnLst/>
            <a:rect l="l" t="t" r="r" b="b"/>
            <a:pathLst>
              <a:path w="2034539">
                <a:moveTo>
                  <a:pt x="0" y="0"/>
                </a:moveTo>
                <a:lnTo>
                  <a:pt x="2034540" y="0"/>
                </a:lnTo>
              </a:path>
            </a:pathLst>
          </a:custGeom>
          <a:ln w="5053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943480" y="3373627"/>
            <a:ext cx="205295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231775" algn="l"/>
                <a:tab pos="878205" algn="l"/>
                <a:tab pos="1444625" algn="l"/>
              </a:tabLst>
            </a:pPr>
            <a:r>
              <a:rPr sz="1750" i="1" u="heavy" dirty="0">
                <a:solidFill>
                  <a:srgbClr val="213739"/>
                </a:solidFill>
                <a:uFill>
                  <a:solidFill>
                    <a:srgbClr val="213739"/>
                  </a:solidFill>
                </a:uFill>
                <a:latin typeface="Calibri"/>
                <a:cs typeface="Calibri"/>
              </a:rPr>
              <a:t>	</a:t>
            </a:r>
            <a:r>
              <a:rPr sz="1750" i="1" u="heavy" spc="-25" dirty="0">
                <a:solidFill>
                  <a:srgbClr val="213739"/>
                </a:solidFill>
                <a:uFill>
                  <a:solidFill>
                    <a:srgbClr val="213739"/>
                  </a:solidFill>
                </a:uFill>
                <a:latin typeface="Calibri"/>
                <a:cs typeface="Calibri"/>
              </a:rPr>
              <a:t>w</a:t>
            </a:r>
            <a:r>
              <a:rPr sz="1875" u="heavy" spc="-37" baseline="-8888" dirty="0">
                <a:solidFill>
                  <a:srgbClr val="213739"/>
                </a:solidFill>
                <a:uFill>
                  <a:solidFill>
                    <a:srgbClr val="213739"/>
                  </a:solidFill>
                </a:uFill>
                <a:latin typeface="Calibri"/>
                <a:cs typeface="Calibri"/>
              </a:rPr>
              <a:t>1</a:t>
            </a:r>
            <a:r>
              <a:rPr sz="1875" u="heavy" baseline="-8888" dirty="0">
                <a:solidFill>
                  <a:srgbClr val="213739"/>
                </a:solidFill>
                <a:uFill>
                  <a:solidFill>
                    <a:srgbClr val="213739"/>
                  </a:solidFill>
                </a:uFill>
                <a:latin typeface="Calibri"/>
                <a:cs typeface="Calibri"/>
              </a:rPr>
              <a:t>	</a:t>
            </a:r>
            <a:r>
              <a:rPr sz="1750" i="1" u="heavy" spc="-25" dirty="0">
                <a:solidFill>
                  <a:srgbClr val="213739"/>
                </a:solidFill>
                <a:uFill>
                  <a:solidFill>
                    <a:srgbClr val="213739"/>
                  </a:solidFill>
                </a:uFill>
                <a:latin typeface="Calibri"/>
                <a:cs typeface="Calibri"/>
              </a:rPr>
              <a:t>w</a:t>
            </a:r>
            <a:r>
              <a:rPr sz="1875" u="heavy" spc="-37" baseline="-8888" dirty="0">
                <a:solidFill>
                  <a:srgbClr val="213739"/>
                </a:solidFill>
                <a:uFill>
                  <a:solidFill>
                    <a:srgbClr val="213739"/>
                  </a:solidFill>
                </a:uFill>
                <a:latin typeface="Calibri"/>
                <a:cs typeface="Calibri"/>
              </a:rPr>
              <a:t>2</a:t>
            </a:r>
            <a:r>
              <a:rPr sz="1875" u="heavy" baseline="-8888" dirty="0">
                <a:solidFill>
                  <a:srgbClr val="213739"/>
                </a:solidFill>
                <a:uFill>
                  <a:solidFill>
                    <a:srgbClr val="213739"/>
                  </a:solidFill>
                </a:uFill>
                <a:latin typeface="Calibri"/>
                <a:cs typeface="Calibri"/>
              </a:rPr>
              <a:t>	</a:t>
            </a:r>
            <a:r>
              <a:rPr sz="1750" u="heavy" spc="-10" dirty="0">
                <a:solidFill>
                  <a:srgbClr val="213739"/>
                </a:solidFill>
                <a:uFill>
                  <a:solidFill>
                    <a:srgbClr val="213739"/>
                  </a:solidFill>
                </a:uFill>
                <a:latin typeface="Arial MT"/>
                <a:cs typeface="Arial MT"/>
              </a:rPr>
              <a:t>errors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88642" y="3650107"/>
            <a:ext cx="1630045" cy="976630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29539">
              <a:lnSpc>
                <a:spcPct val="100000"/>
              </a:lnSpc>
              <a:spcBef>
                <a:spcPts val="495"/>
              </a:spcBef>
              <a:tabLst>
                <a:tab pos="774700" algn="l"/>
                <a:tab pos="1494155" algn="l"/>
              </a:tabLst>
            </a:pP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-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1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	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-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1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	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3</a:t>
            </a:r>
            <a:endParaRPr sz="1750">
              <a:latin typeface="Arial MT"/>
              <a:cs typeface="Arial MT"/>
            </a:endParaRPr>
          </a:p>
          <a:p>
            <a:pPr marL="71755">
              <a:lnSpc>
                <a:spcPct val="100000"/>
              </a:lnSpc>
              <a:spcBef>
                <a:spcPts val="400"/>
              </a:spcBef>
              <a:tabLst>
                <a:tab pos="798830" algn="l"/>
                <a:tab pos="1494155" algn="l"/>
              </a:tabLst>
            </a:pP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1.5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	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0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	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1</a:t>
            </a:r>
            <a:endParaRPr sz="17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  <a:tabLst>
                <a:tab pos="655955" algn="l"/>
                <a:tab pos="1494155" algn="l"/>
              </a:tabLst>
            </a:pP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0.45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	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0.45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	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3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980945" y="4667122"/>
            <a:ext cx="2034539" cy="8255"/>
          </a:xfrm>
          <a:custGeom>
            <a:avLst/>
            <a:gdLst/>
            <a:ahLst/>
            <a:cxnLst/>
            <a:rect l="l" t="t" r="r" b="b"/>
            <a:pathLst>
              <a:path w="2034539" h="8254">
                <a:moveTo>
                  <a:pt x="0" y="0"/>
                </a:moveTo>
                <a:lnTo>
                  <a:pt x="2034540" y="0"/>
                </a:lnTo>
              </a:path>
              <a:path w="2034539" h="8254">
                <a:moveTo>
                  <a:pt x="0" y="8000"/>
                </a:moveTo>
                <a:lnTo>
                  <a:pt x="2034540" y="8000"/>
                </a:lnTo>
              </a:path>
            </a:pathLst>
          </a:custGeom>
          <a:ln w="5053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78459" y="4617395"/>
            <a:ext cx="4667250" cy="673100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0"/>
              </a:spcBef>
            </a:pPr>
            <a:r>
              <a:rPr sz="1750" b="1" dirty="0">
                <a:solidFill>
                  <a:srgbClr val="213739"/>
                </a:solidFill>
                <a:latin typeface="Arial"/>
                <a:cs typeface="Arial"/>
              </a:rPr>
              <a:t>We</a:t>
            </a:r>
            <a:r>
              <a:rPr sz="1750" b="1" spc="-100" dirty="0">
                <a:solidFill>
                  <a:srgbClr val="213739"/>
                </a:solidFill>
                <a:latin typeface="Arial"/>
                <a:cs typeface="Arial"/>
              </a:rPr>
              <a:t> </a:t>
            </a:r>
            <a:r>
              <a:rPr sz="1750" b="1" spc="-50" dirty="0">
                <a:solidFill>
                  <a:srgbClr val="213739"/>
                </a:solidFill>
                <a:latin typeface="Arial"/>
                <a:cs typeface="Arial"/>
              </a:rPr>
              <a:t>are </a:t>
            </a:r>
            <a:r>
              <a:rPr sz="1750" b="1" spc="-55" dirty="0">
                <a:solidFill>
                  <a:srgbClr val="213739"/>
                </a:solidFill>
                <a:latin typeface="Arial"/>
                <a:cs typeface="Arial"/>
              </a:rPr>
              <a:t>interested</a:t>
            </a:r>
            <a:r>
              <a:rPr sz="1750" b="1" spc="5" dirty="0">
                <a:solidFill>
                  <a:srgbClr val="213739"/>
                </a:solidFill>
                <a:latin typeface="Arial"/>
                <a:cs typeface="Arial"/>
              </a:rPr>
              <a:t> </a:t>
            </a:r>
            <a:r>
              <a:rPr sz="1750" b="1" dirty="0">
                <a:solidFill>
                  <a:srgbClr val="213739"/>
                </a:solidFill>
                <a:latin typeface="Arial"/>
                <a:cs typeface="Arial"/>
              </a:rPr>
              <a:t>in</a:t>
            </a:r>
            <a:r>
              <a:rPr sz="1750" b="1" spc="20" dirty="0">
                <a:solidFill>
                  <a:srgbClr val="213739"/>
                </a:solidFill>
                <a:latin typeface="Arial"/>
                <a:cs typeface="Arial"/>
              </a:rPr>
              <a:t> </a:t>
            </a:r>
            <a:r>
              <a:rPr sz="1750" b="1" spc="-30" dirty="0">
                <a:solidFill>
                  <a:srgbClr val="213739"/>
                </a:solidFill>
                <a:latin typeface="Arial"/>
                <a:cs typeface="Arial"/>
              </a:rPr>
              <a:t>those</a:t>
            </a:r>
            <a:r>
              <a:rPr sz="1750" b="1" spc="-25" dirty="0">
                <a:solidFill>
                  <a:srgbClr val="213739"/>
                </a:solidFill>
                <a:latin typeface="Arial"/>
                <a:cs typeface="Arial"/>
              </a:rPr>
              <a:t> </a:t>
            </a:r>
            <a:r>
              <a:rPr sz="1750" b="1" spc="-110" dirty="0">
                <a:solidFill>
                  <a:srgbClr val="213739"/>
                </a:solidFill>
                <a:latin typeface="Arial"/>
                <a:cs typeface="Arial"/>
              </a:rPr>
              <a:t>values</a:t>
            </a:r>
            <a:r>
              <a:rPr sz="1750" b="1" spc="-15" dirty="0">
                <a:solidFill>
                  <a:srgbClr val="213739"/>
                </a:solidFill>
                <a:latin typeface="Arial"/>
                <a:cs typeface="Arial"/>
              </a:rPr>
              <a:t> </a:t>
            </a:r>
            <a:r>
              <a:rPr sz="1750" b="1" dirty="0">
                <a:solidFill>
                  <a:srgbClr val="213739"/>
                </a:solidFill>
                <a:latin typeface="Arial"/>
                <a:cs typeface="Arial"/>
              </a:rPr>
              <a:t>of</a:t>
            </a:r>
            <a:r>
              <a:rPr sz="1750" b="1" spc="5" dirty="0">
                <a:solidFill>
                  <a:srgbClr val="213739"/>
                </a:solidFill>
                <a:latin typeface="Arial"/>
                <a:cs typeface="Arial"/>
              </a:rPr>
              <a:t> </a:t>
            </a:r>
            <a:r>
              <a:rPr sz="1750" b="1" i="1" spc="-1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b="1" spc="-15" baseline="-8888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b="1" i="1" spc="-10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b="1" i="1" spc="-11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i="1" spc="-1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b="1" spc="-15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b="1" i="1" spc="-10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b="1" i="1" spc="-11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b="1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875" baseline="-8888">
              <a:latin typeface="Calibri"/>
              <a:cs typeface="Calibri"/>
            </a:endParaRPr>
          </a:p>
          <a:p>
            <a:pPr marL="40640">
              <a:lnSpc>
                <a:spcPct val="100000"/>
              </a:lnSpc>
              <a:spcBef>
                <a:spcPts val="445"/>
              </a:spcBef>
            </a:pPr>
            <a:r>
              <a:rPr sz="1750" b="1" spc="-85" dirty="0">
                <a:solidFill>
                  <a:srgbClr val="213739"/>
                </a:solidFill>
                <a:latin typeface="Arial"/>
                <a:cs typeface="Arial"/>
              </a:rPr>
              <a:t>which</a:t>
            </a:r>
            <a:r>
              <a:rPr sz="1750" b="1" spc="-150" dirty="0">
                <a:solidFill>
                  <a:srgbClr val="213739"/>
                </a:solidFill>
                <a:latin typeface="Arial"/>
                <a:cs typeface="Arial"/>
              </a:rPr>
              <a:t> </a:t>
            </a:r>
            <a:r>
              <a:rPr sz="1750" b="1" spc="-70" dirty="0">
                <a:solidFill>
                  <a:srgbClr val="213739"/>
                </a:solidFill>
                <a:latin typeface="Arial"/>
                <a:cs typeface="Arial"/>
              </a:rPr>
              <a:t>result</a:t>
            </a:r>
            <a:r>
              <a:rPr sz="1750" b="1" spc="-120" dirty="0">
                <a:solidFill>
                  <a:srgbClr val="213739"/>
                </a:solidFill>
                <a:latin typeface="Arial"/>
                <a:cs typeface="Arial"/>
              </a:rPr>
              <a:t> </a:t>
            </a:r>
            <a:r>
              <a:rPr sz="1750" b="1" spc="-55" dirty="0">
                <a:solidFill>
                  <a:srgbClr val="213739"/>
                </a:solidFill>
                <a:latin typeface="Arial"/>
                <a:cs typeface="Arial"/>
              </a:rPr>
              <a:t>in</a:t>
            </a:r>
            <a:r>
              <a:rPr sz="1750" b="1" spc="-100" dirty="0">
                <a:solidFill>
                  <a:srgbClr val="213739"/>
                </a:solidFill>
                <a:latin typeface="Arial"/>
                <a:cs typeface="Arial"/>
              </a:rPr>
              <a:t> </a:t>
            </a:r>
            <a:r>
              <a:rPr sz="1750" b="1" dirty="0">
                <a:solidFill>
                  <a:srgbClr val="213739"/>
                </a:solidFill>
                <a:latin typeface="Arial"/>
                <a:cs typeface="Arial"/>
              </a:rPr>
              <a:t>0</a:t>
            </a:r>
            <a:r>
              <a:rPr sz="1750" b="1" spc="-75" dirty="0">
                <a:solidFill>
                  <a:srgbClr val="213739"/>
                </a:solidFill>
                <a:latin typeface="Arial"/>
                <a:cs typeface="Arial"/>
              </a:rPr>
              <a:t> </a:t>
            </a:r>
            <a:r>
              <a:rPr sz="1750" b="1" spc="-20" dirty="0">
                <a:solidFill>
                  <a:srgbClr val="213739"/>
                </a:solidFill>
                <a:latin typeface="Arial"/>
                <a:cs typeface="Arial"/>
              </a:rPr>
              <a:t>error</a:t>
            </a:r>
            <a:endParaRPr sz="175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825871" y="1052322"/>
            <a:ext cx="3311525" cy="3682365"/>
            <a:chOff x="5825871" y="1052322"/>
            <a:chExt cx="3311525" cy="3682365"/>
          </a:xfrm>
        </p:grpSpPr>
        <p:sp>
          <p:nvSpPr>
            <p:cNvPr id="11" name="object 11"/>
            <p:cNvSpPr/>
            <p:nvPr/>
          </p:nvSpPr>
          <p:spPr>
            <a:xfrm>
              <a:off x="6907530" y="1599565"/>
              <a:ext cx="2052955" cy="2052955"/>
            </a:xfrm>
            <a:custGeom>
              <a:avLst/>
              <a:gdLst/>
              <a:ahLst/>
              <a:cxnLst/>
              <a:rect l="l" t="t" r="r" b="b"/>
              <a:pathLst>
                <a:path w="2052954" h="2052954">
                  <a:moveTo>
                    <a:pt x="62738" y="1990217"/>
                  </a:moveTo>
                  <a:lnTo>
                    <a:pt x="2044953" y="1990217"/>
                  </a:lnTo>
                </a:path>
                <a:path w="2052954" h="2052954">
                  <a:moveTo>
                    <a:pt x="2001520" y="1927479"/>
                  </a:moveTo>
                  <a:lnTo>
                    <a:pt x="2010664" y="1952117"/>
                  </a:lnTo>
                  <a:lnTo>
                    <a:pt x="2022855" y="1970277"/>
                  </a:lnTo>
                  <a:lnTo>
                    <a:pt x="2037334" y="1982597"/>
                  </a:lnTo>
                  <a:lnTo>
                    <a:pt x="2052954" y="1990217"/>
                  </a:lnTo>
                  <a:lnTo>
                    <a:pt x="2037334" y="1997837"/>
                  </a:lnTo>
                  <a:lnTo>
                    <a:pt x="2022855" y="2010156"/>
                  </a:lnTo>
                  <a:lnTo>
                    <a:pt x="2010664" y="2028190"/>
                  </a:lnTo>
                  <a:lnTo>
                    <a:pt x="2001520" y="2052828"/>
                  </a:lnTo>
                </a:path>
                <a:path w="2052954" h="2052954">
                  <a:moveTo>
                    <a:pt x="62738" y="1990217"/>
                  </a:moveTo>
                  <a:lnTo>
                    <a:pt x="62738" y="8000"/>
                  </a:lnTo>
                </a:path>
                <a:path w="2052954" h="2052954">
                  <a:moveTo>
                    <a:pt x="0" y="51308"/>
                  </a:moveTo>
                  <a:lnTo>
                    <a:pt x="24638" y="42290"/>
                  </a:lnTo>
                  <a:lnTo>
                    <a:pt x="42799" y="29972"/>
                  </a:lnTo>
                  <a:lnTo>
                    <a:pt x="55118" y="15621"/>
                  </a:lnTo>
                  <a:lnTo>
                    <a:pt x="62738" y="0"/>
                  </a:lnTo>
                  <a:lnTo>
                    <a:pt x="70358" y="15621"/>
                  </a:lnTo>
                  <a:lnTo>
                    <a:pt x="82676" y="29972"/>
                  </a:lnTo>
                  <a:lnTo>
                    <a:pt x="100711" y="42290"/>
                  </a:lnTo>
                  <a:lnTo>
                    <a:pt x="125349" y="51308"/>
                  </a:lnTo>
                </a:path>
              </a:pathLst>
            </a:custGeom>
            <a:ln w="10122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283960" y="1813559"/>
              <a:ext cx="2462530" cy="2462530"/>
            </a:xfrm>
            <a:custGeom>
              <a:avLst/>
              <a:gdLst/>
              <a:ahLst/>
              <a:cxnLst/>
              <a:rect l="l" t="t" r="r" b="b"/>
              <a:pathLst>
                <a:path w="2462529" h="2462529">
                  <a:moveTo>
                    <a:pt x="0" y="0"/>
                  </a:moveTo>
                  <a:lnTo>
                    <a:pt x="2462530" y="2462529"/>
                  </a:lnTo>
                </a:path>
              </a:pathLst>
            </a:custGeom>
            <a:ln w="5060">
              <a:solidFill>
                <a:srgbClr val="213739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828411" y="1054862"/>
              <a:ext cx="3306445" cy="3677285"/>
            </a:xfrm>
            <a:custGeom>
              <a:avLst/>
              <a:gdLst/>
              <a:ahLst/>
              <a:cxnLst/>
              <a:rect l="l" t="t" r="r" b="b"/>
              <a:pathLst>
                <a:path w="3306445" h="3677285">
                  <a:moveTo>
                    <a:pt x="0" y="1963927"/>
                  </a:moveTo>
                  <a:lnTo>
                    <a:pt x="1712721" y="3676777"/>
                  </a:lnTo>
                </a:path>
                <a:path w="3306445" h="3677285">
                  <a:moveTo>
                    <a:pt x="1901189" y="1107566"/>
                  </a:moveTo>
                  <a:lnTo>
                    <a:pt x="1901189" y="3676777"/>
                  </a:lnTo>
                </a:path>
                <a:path w="3306445" h="3677285">
                  <a:moveTo>
                    <a:pt x="3306444" y="2164461"/>
                  </a:moveTo>
                  <a:lnTo>
                    <a:pt x="1141857" y="0"/>
                  </a:lnTo>
                </a:path>
              </a:pathLst>
            </a:custGeom>
            <a:ln w="5060">
              <a:solidFill>
                <a:srgbClr val="0000FF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8707881" y="3486988"/>
            <a:ext cx="265430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709282" y="1488693"/>
            <a:ext cx="26479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656958" y="2088641"/>
            <a:ext cx="48196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(0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 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1)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865621" y="1747266"/>
            <a:ext cx="2613025" cy="63246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390"/>
              </a:spcBef>
              <a:tabLst>
                <a:tab pos="2143125" algn="l"/>
              </a:tabLst>
            </a:pP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−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spc="2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+</a:t>
            </a:r>
            <a:r>
              <a:rPr sz="1750" spc="459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.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875" spc="345" baseline="-8888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+</a:t>
            </a:r>
            <a:r>
              <a:rPr sz="1750" spc="46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.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875" spc="487" baseline="-8888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endParaRPr sz="1750">
              <a:latin typeface="Calibri"/>
              <a:cs typeface="Calibri"/>
            </a:endParaRPr>
          </a:p>
          <a:p>
            <a:pPr marL="2117725">
              <a:lnSpc>
                <a:spcPct val="100000"/>
              </a:lnSpc>
              <a:spcBef>
                <a:spcPts val="285"/>
              </a:spcBef>
            </a:pP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(1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 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1)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310629" y="3440683"/>
            <a:ext cx="2474595" cy="81216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373380">
              <a:lnSpc>
                <a:spcPct val="100000"/>
              </a:lnSpc>
              <a:spcBef>
                <a:spcPts val="1095"/>
              </a:spcBef>
              <a:tabLst>
                <a:tab pos="1573530" algn="l"/>
              </a:tabLst>
            </a:pP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(0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 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0)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	(1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 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0)</a:t>
            </a:r>
            <a:endParaRPr sz="1750">
              <a:latin typeface="Calibri"/>
              <a:cs typeface="Calibri"/>
            </a:endParaRPr>
          </a:p>
          <a:p>
            <a:pPr marL="50800">
              <a:lnSpc>
                <a:spcPct val="100000"/>
              </a:lnSpc>
              <a:spcBef>
                <a:spcPts val="1000"/>
              </a:spcBef>
            </a:pP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−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spc="-3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+</a:t>
            </a:r>
            <a:r>
              <a:rPr sz="1750" spc="45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50" dirty="0">
                <a:solidFill>
                  <a:srgbClr val="213739"/>
                </a:solidFill>
                <a:latin typeface="Calibri"/>
                <a:cs typeface="Calibri"/>
              </a:rPr>
              <a:t>(1</a:t>
            </a:r>
            <a:r>
              <a:rPr sz="1750" i="1" spc="50" dirty="0">
                <a:solidFill>
                  <a:srgbClr val="213739"/>
                </a:solidFill>
                <a:latin typeface="Calibri"/>
                <a:cs typeface="Calibri"/>
              </a:rPr>
              <a:t>.</a:t>
            </a:r>
            <a:r>
              <a:rPr sz="1750" spc="50" dirty="0">
                <a:solidFill>
                  <a:srgbClr val="213739"/>
                </a:solidFill>
                <a:latin typeface="Calibri"/>
                <a:cs typeface="Calibri"/>
              </a:rPr>
              <a:t>5)</a:t>
            </a:r>
            <a:r>
              <a:rPr sz="1750" i="1" spc="5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75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875" spc="330" baseline="-8888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+</a:t>
            </a:r>
            <a:r>
              <a:rPr sz="1750" spc="44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70" dirty="0">
                <a:solidFill>
                  <a:srgbClr val="213739"/>
                </a:solidFill>
                <a:latin typeface="Calibri"/>
                <a:cs typeface="Calibri"/>
              </a:rPr>
              <a:t>(0)</a:t>
            </a:r>
            <a:r>
              <a:rPr sz="1750" i="1" spc="7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104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875" spc="509" baseline="-8888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70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593334" y="4532121"/>
            <a:ext cx="261937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2468880" algn="l"/>
              </a:tabLst>
            </a:pP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−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spc="7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+</a:t>
            </a:r>
            <a:r>
              <a:rPr sz="1750" spc="6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(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−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1)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875" spc="434" baseline="-8888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+</a:t>
            </a:r>
            <a:r>
              <a:rPr sz="1750" spc="6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(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−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1)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875" spc="637" baseline="-8888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168897" y="1214704"/>
            <a:ext cx="2376170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−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spc="7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+</a:t>
            </a:r>
            <a:r>
              <a:rPr sz="1750" spc="70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(0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.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45)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875" spc="457" baseline="-8888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+</a:t>
            </a:r>
            <a:r>
              <a:rPr sz="1750" spc="6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spc="-10" dirty="0">
                <a:solidFill>
                  <a:srgbClr val="213739"/>
                </a:solidFill>
                <a:latin typeface="Calibri"/>
                <a:cs typeface="Calibri"/>
              </a:rPr>
              <a:t>(0</a:t>
            </a: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.</a:t>
            </a:r>
            <a:r>
              <a:rPr sz="1750" spc="-10" dirty="0">
                <a:solidFill>
                  <a:srgbClr val="213739"/>
                </a:solidFill>
                <a:latin typeface="Calibri"/>
                <a:cs typeface="Calibri"/>
              </a:rPr>
              <a:t>45)</a:t>
            </a: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15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589009" y="1214704"/>
            <a:ext cx="389255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63525" algn="l"/>
              </a:tabLst>
            </a:pP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endParaRPr sz="175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927605" y="2405262"/>
            <a:ext cx="1227455" cy="1227455"/>
            <a:chOff x="6927605" y="2405262"/>
            <a:chExt cx="1227455" cy="1227455"/>
          </a:xfrm>
        </p:grpSpPr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27605" y="3547119"/>
              <a:ext cx="85324" cy="85324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27605" y="2405262"/>
              <a:ext cx="85324" cy="8532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69462" y="3547119"/>
              <a:ext cx="85324" cy="8532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69462" y="2405262"/>
              <a:ext cx="85324" cy="85324"/>
            </a:xfrm>
            <a:prstGeom prst="rect">
              <a:avLst/>
            </a:prstGeom>
          </p:spPr>
        </p:pic>
      </p:grpSp>
      <p:sp>
        <p:nvSpPr>
          <p:cNvPr id="27" name="object 2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>
                <a:latin typeface="Trebuchet MS"/>
                <a:cs typeface="Trebuchet MS"/>
              </a:rPr>
              <a:t>Errors</a:t>
            </a:r>
            <a:r>
              <a:rPr spc="-185" dirty="0">
                <a:latin typeface="Trebuchet MS"/>
                <a:cs typeface="Trebuchet MS"/>
              </a:rPr>
              <a:t> </a:t>
            </a:r>
            <a:r>
              <a:rPr spc="-215" dirty="0">
                <a:latin typeface="Trebuchet MS"/>
                <a:cs typeface="Trebuchet MS"/>
              </a:rPr>
              <a:t>and</a:t>
            </a:r>
            <a:r>
              <a:rPr spc="-425" dirty="0">
                <a:latin typeface="Trebuchet MS"/>
                <a:cs typeface="Trebuchet MS"/>
              </a:rPr>
              <a:t> </a:t>
            </a:r>
            <a:r>
              <a:rPr spc="-60" dirty="0">
                <a:latin typeface="Trebuchet MS"/>
                <a:cs typeface="Trebuchet MS"/>
              </a:rPr>
              <a:t>Error</a:t>
            </a:r>
            <a:r>
              <a:rPr spc="-235" dirty="0">
                <a:latin typeface="Trebuchet MS"/>
                <a:cs typeface="Trebuchet MS"/>
              </a:rPr>
              <a:t> </a:t>
            </a:r>
            <a:r>
              <a:rPr spc="-55" dirty="0">
                <a:latin typeface="Trebuchet MS"/>
                <a:cs typeface="Trebuchet MS"/>
              </a:rPr>
              <a:t>Surfaces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8781415" y="5603912"/>
            <a:ext cx="196215" cy="206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spc="-25" dirty="0">
                <a:solidFill>
                  <a:srgbClr val="213739"/>
                </a:solidFill>
                <a:latin typeface="Arial MT"/>
                <a:cs typeface="Arial MT"/>
              </a:rPr>
              <a:t>29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37261" y="6643369"/>
            <a:ext cx="1173480" cy="241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20"/>
              </a:lnSpc>
            </a:pPr>
            <a:r>
              <a:rPr sz="1700" b="1" dirty="0">
                <a:solidFill>
                  <a:srgbClr val="FFFFFF"/>
                </a:solidFill>
                <a:latin typeface="Calibri"/>
                <a:cs typeface="Calibri"/>
              </a:rPr>
              <a:t>NIT</a:t>
            </a:r>
            <a:r>
              <a:rPr sz="17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b="1" spc="-10" dirty="0">
                <a:solidFill>
                  <a:srgbClr val="FFFFFF"/>
                </a:solidFill>
                <a:latin typeface="Calibri"/>
                <a:cs typeface="Calibri"/>
              </a:rPr>
              <a:t>Rourkela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568188" y="6658229"/>
            <a:ext cx="293687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dirty="0">
                <a:latin typeface="Calibri"/>
                <a:cs typeface="Calibri"/>
              </a:rPr>
              <a:t>“Deep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Learning: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Neuron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to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Perceptron”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03729" y="3014294"/>
            <a:ext cx="701040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83565" algn="l"/>
              </a:tabLst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..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..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62405" y="3031058"/>
            <a:ext cx="2587625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90"/>
              </a:spcBef>
              <a:tabLst>
                <a:tab pos="633095" algn="l"/>
                <a:tab pos="2337435" algn="l"/>
              </a:tabLst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5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i="1" spc="75" baseline="-8888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endParaRPr sz="1875" baseline="-8888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98090" y="1340113"/>
            <a:ext cx="2491105" cy="1821814"/>
            <a:chOff x="998090" y="1340113"/>
            <a:chExt cx="2491105" cy="1821814"/>
          </a:xfrm>
        </p:grpSpPr>
        <p:sp>
          <p:nvSpPr>
            <p:cNvPr id="5" name="object 5"/>
            <p:cNvSpPr/>
            <p:nvPr/>
          </p:nvSpPr>
          <p:spPr>
            <a:xfrm>
              <a:off x="2193036" y="1763648"/>
              <a:ext cx="571500" cy="570865"/>
            </a:xfrm>
            <a:custGeom>
              <a:avLst/>
              <a:gdLst/>
              <a:ahLst/>
              <a:cxnLst/>
              <a:rect l="l" t="t" r="r" b="b"/>
              <a:pathLst>
                <a:path w="571500" h="570864">
                  <a:moveTo>
                    <a:pt x="285495" y="0"/>
                  </a:moveTo>
                  <a:lnTo>
                    <a:pt x="209676" y="10160"/>
                  </a:lnTo>
                  <a:lnTo>
                    <a:pt x="141477" y="38988"/>
                  </a:lnTo>
                  <a:lnTo>
                    <a:pt x="83693" y="83565"/>
                  </a:lnTo>
                  <a:lnTo>
                    <a:pt x="38988" y="141350"/>
                  </a:lnTo>
                  <a:lnTo>
                    <a:pt x="10287" y="209550"/>
                  </a:lnTo>
                  <a:lnTo>
                    <a:pt x="0" y="285496"/>
                  </a:lnTo>
                  <a:lnTo>
                    <a:pt x="10287" y="361314"/>
                  </a:lnTo>
                  <a:lnTo>
                    <a:pt x="38988" y="429513"/>
                  </a:lnTo>
                  <a:lnTo>
                    <a:pt x="83693" y="487299"/>
                  </a:lnTo>
                  <a:lnTo>
                    <a:pt x="141477" y="532002"/>
                  </a:lnTo>
                  <a:lnTo>
                    <a:pt x="209676" y="560704"/>
                  </a:lnTo>
                  <a:lnTo>
                    <a:pt x="285495" y="570864"/>
                  </a:lnTo>
                  <a:lnTo>
                    <a:pt x="361441" y="560704"/>
                  </a:lnTo>
                  <a:lnTo>
                    <a:pt x="429640" y="532002"/>
                  </a:lnTo>
                  <a:lnTo>
                    <a:pt x="487425" y="487299"/>
                  </a:lnTo>
                  <a:lnTo>
                    <a:pt x="532002" y="429513"/>
                  </a:lnTo>
                  <a:lnTo>
                    <a:pt x="560832" y="361314"/>
                  </a:lnTo>
                  <a:lnTo>
                    <a:pt x="570991" y="285496"/>
                  </a:lnTo>
                  <a:lnTo>
                    <a:pt x="560832" y="209550"/>
                  </a:lnTo>
                  <a:lnTo>
                    <a:pt x="532002" y="141350"/>
                  </a:lnTo>
                  <a:lnTo>
                    <a:pt x="487425" y="83565"/>
                  </a:lnTo>
                  <a:lnTo>
                    <a:pt x="429640" y="38988"/>
                  </a:lnTo>
                  <a:lnTo>
                    <a:pt x="361441" y="10160"/>
                  </a:lnTo>
                  <a:lnTo>
                    <a:pt x="285495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193036" y="1763648"/>
              <a:ext cx="571500" cy="570865"/>
            </a:xfrm>
            <a:custGeom>
              <a:avLst/>
              <a:gdLst/>
              <a:ahLst/>
              <a:cxnLst/>
              <a:rect l="l" t="t" r="r" b="b"/>
              <a:pathLst>
                <a:path w="571500" h="570864">
                  <a:moveTo>
                    <a:pt x="570991" y="285496"/>
                  </a:moveTo>
                  <a:lnTo>
                    <a:pt x="560832" y="209550"/>
                  </a:lnTo>
                  <a:lnTo>
                    <a:pt x="532002" y="141350"/>
                  </a:lnTo>
                  <a:lnTo>
                    <a:pt x="487425" y="83565"/>
                  </a:lnTo>
                  <a:lnTo>
                    <a:pt x="429640" y="38988"/>
                  </a:lnTo>
                  <a:lnTo>
                    <a:pt x="361441" y="10160"/>
                  </a:lnTo>
                  <a:lnTo>
                    <a:pt x="285495" y="0"/>
                  </a:lnTo>
                  <a:lnTo>
                    <a:pt x="209676" y="10160"/>
                  </a:lnTo>
                  <a:lnTo>
                    <a:pt x="141477" y="38988"/>
                  </a:lnTo>
                  <a:lnTo>
                    <a:pt x="83693" y="83565"/>
                  </a:lnTo>
                  <a:lnTo>
                    <a:pt x="38988" y="141350"/>
                  </a:lnTo>
                  <a:lnTo>
                    <a:pt x="10287" y="209550"/>
                  </a:lnTo>
                  <a:lnTo>
                    <a:pt x="0" y="285496"/>
                  </a:lnTo>
                  <a:lnTo>
                    <a:pt x="10287" y="361314"/>
                  </a:lnTo>
                  <a:lnTo>
                    <a:pt x="38988" y="429513"/>
                  </a:lnTo>
                  <a:lnTo>
                    <a:pt x="83693" y="487299"/>
                  </a:lnTo>
                  <a:lnTo>
                    <a:pt x="141477" y="532002"/>
                  </a:lnTo>
                  <a:lnTo>
                    <a:pt x="209676" y="560704"/>
                  </a:lnTo>
                  <a:lnTo>
                    <a:pt x="285495" y="570864"/>
                  </a:lnTo>
                  <a:lnTo>
                    <a:pt x="361441" y="560704"/>
                  </a:lnTo>
                  <a:lnTo>
                    <a:pt x="429640" y="532002"/>
                  </a:lnTo>
                  <a:lnTo>
                    <a:pt x="487425" y="487299"/>
                  </a:lnTo>
                  <a:lnTo>
                    <a:pt x="532002" y="429513"/>
                  </a:lnTo>
                  <a:lnTo>
                    <a:pt x="560832" y="361314"/>
                  </a:lnTo>
                  <a:lnTo>
                    <a:pt x="570991" y="285496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00620" y="2222880"/>
              <a:ext cx="1229995" cy="861060"/>
            </a:xfrm>
            <a:custGeom>
              <a:avLst/>
              <a:gdLst/>
              <a:ahLst/>
              <a:cxnLst/>
              <a:rect l="l" t="t" r="r" b="b"/>
              <a:pathLst>
                <a:path w="1229995" h="861060">
                  <a:moveTo>
                    <a:pt x="0" y="860679"/>
                  </a:moveTo>
                  <a:lnTo>
                    <a:pt x="1229753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69030" y="2202432"/>
              <a:ext cx="67186" cy="84331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470913" y="2267711"/>
              <a:ext cx="799465" cy="839469"/>
            </a:xfrm>
            <a:custGeom>
              <a:avLst/>
              <a:gdLst/>
              <a:ahLst/>
              <a:cxnLst/>
              <a:rect l="l" t="t" r="r" b="b"/>
              <a:pathLst>
                <a:path w="799464" h="839469">
                  <a:moveTo>
                    <a:pt x="0" y="839342"/>
                  </a:moveTo>
                  <a:lnTo>
                    <a:pt x="799465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06885" y="2259209"/>
              <a:ext cx="74917" cy="7161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974722" y="2321940"/>
              <a:ext cx="374015" cy="785495"/>
            </a:xfrm>
            <a:custGeom>
              <a:avLst/>
              <a:gdLst/>
              <a:ahLst/>
              <a:cxnLst/>
              <a:rect l="l" t="t" r="r" b="b"/>
              <a:pathLst>
                <a:path w="374014" h="785494">
                  <a:moveTo>
                    <a:pt x="0" y="785113"/>
                  </a:moveTo>
                  <a:lnTo>
                    <a:pt x="373888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86257" y="2315848"/>
              <a:ext cx="92195" cy="6362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430398" y="2321940"/>
              <a:ext cx="577215" cy="837565"/>
            </a:xfrm>
            <a:custGeom>
              <a:avLst/>
              <a:gdLst/>
              <a:ahLst/>
              <a:cxnLst/>
              <a:rect l="l" t="t" r="r" b="b"/>
              <a:pathLst>
                <a:path w="577214" h="837564">
                  <a:moveTo>
                    <a:pt x="48132" y="837311"/>
                  </a:moveTo>
                  <a:lnTo>
                    <a:pt x="48132" y="28701"/>
                  </a:lnTo>
                </a:path>
                <a:path w="577214" h="837564">
                  <a:moveTo>
                    <a:pt x="0" y="66421"/>
                  </a:moveTo>
                  <a:lnTo>
                    <a:pt x="18923" y="59055"/>
                  </a:lnTo>
                  <a:lnTo>
                    <a:pt x="32765" y="49149"/>
                  </a:lnTo>
                  <a:lnTo>
                    <a:pt x="42290" y="37337"/>
                  </a:lnTo>
                  <a:lnTo>
                    <a:pt x="48132" y="24637"/>
                  </a:lnTo>
                  <a:lnTo>
                    <a:pt x="53975" y="37337"/>
                  </a:lnTo>
                  <a:lnTo>
                    <a:pt x="63500" y="49149"/>
                  </a:lnTo>
                  <a:lnTo>
                    <a:pt x="77343" y="59055"/>
                  </a:lnTo>
                  <a:lnTo>
                    <a:pt x="96265" y="66421"/>
                  </a:lnTo>
                </a:path>
                <a:path w="577214" h="837564">
                  <a:moveTo>
                    <a:pt x="576833" y="837311"/>
                  </a:moveTo>
                  <a:lnTo>
                    <a:pt x="178053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78611" y="2315848"/>
              <a:ext cx="92195" cy="6362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686685" y="2267711"/>
              <a:ext cx="799465" cy="839469"/>
            </a:xfrm>
            <a:custGeom>
              <a:avLst/>
              <a:gdLst/>
              <a:ahLst/>
              <a:cxnLst/>
              <a:rect l="l" t="t" r="r" b="b"/>
              <a:pathLst>
                <a:path w="799464" h="839469">
                  <a:moveTo>
                    <a:pt x="799464" y="839342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75388" y="2259209"/>
              <a:ext cx="74790" cy="71615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2430398" y="1342643"/>
              <a:ext cx="96520" cy="413384"/>
            </a:xfrm>
            <a:custGeom>
              <a:avLst/>
              <a:gdLst/>
              <a:ahLst/>
              <a:cxnLst/>
              <a:rect l="l" t="t" r="r" b="b"/>
              <a:pathLst>
                <a:path w="96519" h="413385">
                  <a:moveTo>
                    <a:pt x="48132" y="413003"/>
                  </a:moveTo>
                  <a:lnTo>
                    <a:pt x="48132" y="4063"/>
                  </a:lnTo>
                </a:path>
                <a:path w="96519" h="413385">
                  <a:moveTo>
                    <a:pt x="0" y="41782"/>
                  </a:moveTo>
                  <a:lnTo>
                    <a:pt x="18923" y="34416"/>
                  </a:lnTo>
                  <a:lnTo>
                    <a:pt x="32765" y="24383"/>
                  </a:lnTo>
                  <a:lnTo>
                    <a:pt x="42290" y="12700"/>
                  </a:lnTo>
                  <a:lnTo>
                    <a:pt x="48132" y="0"/>
                  </a:lnTo>
                  <a:lnTo>
                    <a:pt x="53975" y="12700"/>
                  </a:lnTo>
                  <a:lnTo>
                    <a:pt x="63500" y="24383"/>
                  </a:lnTo>
                  <a:lnTo>
                    <a:pt x="77343" y="34416"/>
                  </a:lnTo>
                  <a:lnTo>
                    <a:pt x="96265" y="41782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2408047" y="970915"/>
            <a:ext cx="12446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y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37261" y="6643369"/>
            <a:ext cx="1173480" cy="241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20"/>
              </a:lnSpc>
            </a:pPr>
            <a:r>
              <a:rPr sz="1700" b="1" dirty="0">
                <a:solidFill>
                  <a:srgbClr val="FFFFFF"/>
                </a:solidFill>
                <a:latin typeface="Calibri"/>
                <a:cs typeface="Calibri"/>
              </a:rPr>
              <a:t>NIT</a:t>
            </a:r>
            <a:r>
              <a:rPr sz="17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b="1" spc="-10" dirty="0">
                <a:solidFill>
                  <a:srgbClr val="FFFFFF"/>
                </a:solidFill>
                <a:latin typeface="Calibri"/>
                <a:cs typeface="Calibri"/>
              </a:rPr>
              <a:t>Rourkela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568188" y="6658229"/>
            <a:ext cx="293687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dirty="0">
                <a:latin typeface="Calibri"/>
                <a:cs typeface="Calibri"/>
              </a:rPr>
              <a:t>“Deep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Learning: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Neuron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to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Perceptron”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12368" y="2692400"/>
            <a:ext cx="735965" cy="23050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3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425" baseline="-11695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425" spc="367" baseline="-1169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350" spc="48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350" spc="-25" dirty="0">
                <a:solidFill>
                  <a:srgbClr val="213739"/>
                </a:solidFill>
                <a:latin typeface="Lucida Sans Unicode"/>
                <a:cs typeface="Lucida Sans Unicode"/>
              </a:rPr>
              <a:t>−</a:t>
            </a:r>
            <a:r>
              <a:rPr sz="1350" i="1" spc="-25" dirty="0">
                <a:solidFill>
                  <a:srgbClr val="213739"/>
                </a:solidFill>
                <a:latin typeface="Calibri"/>
                <a:cs typeface="Calibri"/>
              </a:rPr>
              <a:t>θ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16356" y="3056890"/>
            <a:ext cx="69913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6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89" baseline="-8888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875" spc="547" baseline="-8888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8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781415" y="5588609"/>
            <a:ext cx="196215" cy="2197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50" spc="-25" dirty="0">
                <a:solidFill>
                  <a:srgbClr val="213739"/>
                </a:solidFill>
                <a:latin typeface="Arial MT"/>
                <a:cs typeface="Arial MT"/>
              </a:rPr>
              <a:t>33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413510" y="2678683"/>
            <a:ext cx="680085" cy="23050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450215" algn="l"/>
              </a:tabLst>
            </a:pPr>
            <a:r>
              <a:rPr sz="135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425" spc="-37" baseline="-11695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425" baseline="-11695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35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425" spc="-37" baseline="-11695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425" baseline="-11695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302891" y="2663190"/>
            <a:ext cx="444500" cy="23050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54965" algn="l"/>
              </a:tabLst>
            </a:pPr>
            <a:r>
              <a:rPr sz="1350" i="1" spc="-25" dirty="0">
                <a:solidFill>
                  <a:srgbClr val="213739"/>
                </a:solidFill>
                <a:latin typeface="Calibri"/>
                <a:cs typeface="Calibri"/>
              </a:rPr>
              <a:t>..</a:t>
            </a:r>
            <a:r>
              <a:rPr sz="13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350" i="1" spc="-25" dirty="0">
                <a:solidFill>
                  <a:srgbClr val="213739"/>
                </a:solidFill>
                <a:latin typeface="Calibri"/>
                <a:cs typeface="Calibri"/>
              </a:rPr>
              <a:t>..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961132" y="2678683"/>
            <a:ext cx="264795" cy="23050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35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425" i="1" spc="-37" baseline="-11695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endParaRPr sz="1425" baseline="-11695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68300" y="4939665"/>
            <a:ext cx="18097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...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24255" y="3296539"/>
            <a:ext cx="3156585" cy="1934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1062355">
              <a:lnSpc>
                <a:spcPct val="140600"/>
              </a:lnSpc>
              <a:spcBef>
                <a:spcPts val="100"/>
              </a:spcBef>
            </a:pPr>
            <a:r>
              <a:rPr sz="1750" i="1" spc="6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89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875" spc="547" baseline="-8888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8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i="1" spc="75" dirty="0">
                <a:solidFill>
                  <a:srgbClr val="213739"/>
                </a:solidFill>
                <a:latin typeface="Calibri"/>
                <a:cs typeface="Calibri"/>
              </a:rPr>
              <a:t>isActorDamon </a:t>
            </a:r>
            <a:r>
              <a:rPr sz="1750" i="1" spc="6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89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875" spc="547" baseline="-8888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8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i="1" spc="100" dirty="0">
                <a:solidFill>
                  <a:srgbClr val="213739"/>
                </a:solidFill>
                <a:latin typeface="Calibri"/>
                <a:cs typeface="Calibri"/>
              </a:rPr>
              <a:t>isGenreThriller</a:t>
            </a:r>
            <a:endParaRPr sz="175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850"/>
              </a:spcBef>
            </a:pPr>
            <a:r>
              <a:rPr sz="1750" i="1" spc="6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89" baseline="-8888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r>
              <a:rPr sz="1875" spc="547" baseline="-8888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8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i="1" spc="80" dirty="0">
                <a:solidFill>
                  <a:srgbClr val="213739"/>
                </a:solidFill>
                <a:latin typeface="Calibri"/>
                <a:cs typeface="Calibri"/>
              </a:rPr>
              <a:t>isDirectorNolan</a:t>
            </a:r>
            <a:endParaRPr sz="175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1085"/>
              </a:spcBef>
              <a:tabLst>
                <a:tab pos="560705" algn="l"/>
              </a:tabLst>
            </a:pPr>
            <a:r>
              <a:rPr sz="1750" i="1" spc="6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89" baseline="-8888" dirty="0">
                <a:solidFill>
                  <a:srgbClr val="213739"/>
                </a:solidFill>
                <a:latin typeface="Calibri"/>
                <a:cs typeface="Calibri"/>
              </a:rPr>
              <a:t>4</a:t>
            </a:r>
            <a:r>
              <a:rPr sz="1875" spc="652" baseline="-8888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imdbRating</a:t>
            </a:r>
            <a:r>
              <a:rPr sz="1750" i="1" dirty="0">
                <a:solidFill>
                  <a:srgbClr val="213739"/>
                </a:solidFill>
                <a:latin typeface="Times New Roman"/>
                <a:cs typeface="Times New Roman"/>
              </a:rPr>
              <a:t>(scaled</a:t>
            </a:r>
            <a:r>
              <a:rPr sz="1750" i="1" spc="25" dirty="0">
                <a:solidFill>
                  <a:srgbClr val="213739"/>
                </a:solidFill>
                <a:latin typeface="Times New Roman"/>
                <a:cs typeface="Times New Roman"/>
              </a:rPr>
              <a:t> </a:t>
            </a:r>
            <a:r>
              <a:rPr sz="1750" i="1" dirty="0">
                <a:solidFill>
                  <a:srgbClr val="213739"/>
                </a:solidFill>
                <a:latin typeface="Times New Roman"/>
                <a:cs typeface="Times New Roman"/>
              </a:rPr>
              <a:t>to</a:t>
            </a:r>
            <a:r>
              <a:rPr sz="1750" i="1" spc="-30" dirty="0">
                <a:solidFill>
                  <a:srgbClr val="213739"/>
                </a:solidFill>
                <a:latin typeface="Times New Roman"/>
                <a:cs typeface="Times New Roman"/>
              </a:rPr>
              <a:t> </a:t>
            </a:r>
            <a:r>
              <a:rPr sz="1750" i="1" dirty="0">
                <a:solidFill>
                  <a:srgbClr val="213739"/>
                </a:solidFill>
                <a:latin typeface="Times New Roman"/>
                <a:cs typeface="Times New Roman"/>
              </a:rPr>
              <a:t>0</a:t>
            </a:r>
            <a:r>
              <a:rPr sz="1750" i="1" spc="70" dirty="0">
                <a:solidFill>
                  <a:srgbClr val="213739"/>
                </a:solidFill>
                <a:latin typeface="Times New Roman"/>
                <a:cs typeface="Times New Roman"/>
              </a:rPr>
              <a:t> </a:t>
            </a:r>
            <a:r>
              <a:rPr sz="1750" i="1" dirty="0">
                <a:solidFill>
                  <a:srgbClr val="213739"/>
                </a:solidFill>
                <a:latin typeface="Times New Roman"/>
                <a:cs typeface="Times New Roman"/>
              </a:rPr>
              <a:t>to</a:t>
            </a:r>
            <a:r>
              <a:rPr sz="1750" i="1" spc="-55" dirty="0">
                <a:solidFill>
                  <a:srgbClr val="213739"/>
                </a:solidFill>
                <a:latin typeface="Times New Roman"/>
                <a:cs typeface="Times New Roman"/>
              </a:rPr>
              <a:t> </a:t>
            </a:r>
            <a:r>
              <a:rPr sz="1750" i="1" spc="-25" dirty="0">
                <a:solidFill>
                  <a:srgbClr val="213739"/>
                </a:solidFill>
                <a:latin typeface="Times New Roman"/>
                <a:cs typeface="Times New Roman"/>
              </a:rPr>
              <a:t>1)</a:t>
            </a:r>
            <a:endParaRPr sz="1750">
              <a:latin typeface="Times New Roman"/>
              <a:cs typeface="Times New Roman"/>
            </a:endParaRPr>
          </a:p>
          <a:p>
            <a:pPr marL="478155">
              <a:lnSpc>
                <a:spcPct val="100000"/>
              </a:lnSpc>
              <a:spcBef>
                <a:spcPts val="885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...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93268" y="5308472"/>
            <a:ext cx="333502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638810" algn="l"/>
              </a:tabLst>
            </a:pPr>
            <a:r>
              <a:rPr sz="1750" i="1" spc="9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i="1" spc="135" baseline="-8888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i="1" spc="322" baseline="-8888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criticsRating</a:t>
            </a:r>
            <a:r>
              <a:rPr sz="1750" i="1" dirty="0">
                <a:solidFill>
                  <a:srgbClr val="213739"/>
                </a:solidFill>
                <a:latin typeface="Times New Roman"/>
                <a:cs typeface="Times New Roman"/>
              </a:rPr>
              <a:t>(scaled</a:t>
            </a:r>
            <a:r>
              <a:rPr sz="1750" i="1" spc="80" dirty="0">
                <a:solidFill>
                  <a:srgbClr val="213739"/>
                </a:solidFill>
                <a:latin typeface="Times New Roman"/>
                <a:cs typeface="Times New Roman"/>
              </a:rPr>
              <a:t> </a:t>
            </a:r>
            <a:r>
              <a:rPr sz="1750" i="1" dirty="0">
                <a:solidFill>
                  <a:srgbClr val="213739"/>
                </a:solidFill>
                <a:latin typeface="Times New Roman"/>
                <a:cs typeface="Times New Roman"/>
              </a:rPr>
              <a:t>to</a:t>
            </a:r>
            <a:r>
              <a:rPr sz="1750" i="1" spc="25" dirty="0">
                <a:solidFill>
                  <a:srgbClr val="213739"/>
                </a:solidFill>
                <a:latin typeface="Times New Roman"/>
                <a:cs typeface="Times New Roman"/>
              </a:rPr>
              <a:t> </a:t>
            </a:r>
            <a:r>
              <a:rPr sz="1750" i="1" dirty="0">
                <a:solidFill>
                  <a:srgbClr val="213739"/>
                </a:solidFill>
                <a:latin typeface="Times New Roman"/>
                <a:cs typeface="Times New Roman"/>
              </a:rPr>
              <a:t>0</a:t>
            </a:r>
            <a:r>
              <a:rPr sz="1750" i="1" spc="114" dirty="0">
                <a:solidFill>
                  <a:srgbClr val="213739"/>
                </a:solidFill>
                <a:latin typeface="Times New Roman"/>
                <a:cs typeface="Times New Roman"/>
              </a:rPr>
              <a:t> </a:t>
            </a:r>
            <a:r>
              <a:rPr sz="1750" i="1" dirty="0">
                <a:solidFill>
                  <a:srgbClr val="213739"/>
                </a:solidFill>
                <a:latin typeface="Times New Roman"/>
                <a:cs typeface="Times New Roman"/>
              </a:rPr>
              <a:t>to</a:t>
            </a:r>
            <a:r>
              <a:rPr sz="1750" i="1" spc="30" dirty="0">
                <a:solidFill>
                  <a:srgbClr val="213739"/>
                </a:solidFill>
                <a:latin typeface="Times New Roman"/>
                <a:cs typeface="Times New Roman"/>
              </a:rPr>
              <a:t> </a:t>
            </a:r>
            <a:r>
              <a:rPr sz="1750" i="1" spc="-25" dirty="0">
                <a:solidFill>
                  <a:srgbClr val="213739"/>
                </a:solidFill>
                <a:latin typeface="Times New Roman"/>
                <a:cs typeface="Times New Roman"/>
              </a:rPr>
              <a:t>1)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381246" y="875537"/>
            <a:ext cx="4415790" cy="1972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 marR="13970" indent="-5080" algn="just">
              <a:lnSpc>
                <a:spcPct val="117700"/>
              </a:lnSpc>
              <a:spcBef>
                <a:spcPts val="100"/>
              </a:spcBef>
            </a:pPr>
            <a:r>
              <a:rPr sz="1750" spc="-185" dirty="0">
                <a:solidFill>
                  <a:srgbClr val="213739"/>
                </a:solidFill>
                <a:latin typeface="Arial MT"/>
                <a:cs typeface="Arial MT"/>
              </a:rPr>
              <a:t>Let</a:t>
            </a:r>
            <a:r>
              <a:rPr sz="1750" spc="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45" dirty="0">
                <a:solidFill>
                  <a:srgbClr val="213739"/>
                </a:solidFill>
                <a:latin typeface="Arial MT"/>
                <a:cs typeface="Arial MT"/>
              </a:rPr>
              <a:t>us</a:t>
            </a:r>
            <a:r>
              <a:rPr sz="1750" spc="2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reconsider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our</a:t>
            </a:r>
            <a:r>
              <a:rPr sz="1750" spc="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problem</a:t>
            </a:r>
            <a:r>
              <a:rPr sz="1750" spc="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deciding</a:t>
            </a:r>
            <a:r>
              <a:rPr sz="1750" spc="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whether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watch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a</a:t>
            </a:r>
            <a:r>
              <a:rPr sz="1750" spc="-229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movie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or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not</a:t>
            </a:r>
            <a:endParaRPr sz="1750">
              <a:latin typeface="Arial MT"/>
              <a:cs typeface="Arial MT"/>
            </a:endParaRPr>
          </a:p>
          <a:p>
            <a:pPr marL="17145" marR="5080" indent="-5080" algn="just">
              <a:lnSpc>
                <a:spcPct val="117600"/>
              </a:lnSpc>
              <a:spcBef>
                <a:spcPts val="505"/>
              </a:spcBef>
            </a:pP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Suppose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are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given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a</a:t>
            </a:r>
            <a:r>
              <a:rPr sz="1750" spc="-2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list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spc="-15" dirty="0">
                <a:solidFill>
                  <a:srgbClr val="213739"/>
                </a:solidFill>
                <a:latin typeface="Calibri"/>
                <a:cs typeface="Calibri"/>
              </a:rPr>
              <a:t>m</a:t>
            </a:r>
            <a:r>
              <a:rPr sz="1750" i="1" spc="21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movies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750" spc="-1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a</a:t>
            </a:r>
            <a:r>
              <a:rPr sz="1750" spc="-2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la-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bel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(class)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associated</a:t>
            </a:r>
            <a:r>
              <a:rPr sz="1750" spc="-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with</a:t>
            </a:r>
            <a:r>
              <a:rPr sz="1750" spc="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each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movie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indicating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whether</a:t>
            </a:r>
            <a:r>
              <a:rPr sz="1750" spc="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user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liked</a:t>
            </a:r>
            <a:r>
              <a:rPr sz="1750" spc="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this</a:t>
            </a:r>
            <a:r>
              <a:rPr sz="1750" spc="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movie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or</a:t>
            </a:r>
            <a:r>
              <a:rPr sz="1750" spc="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5" dirty="0">
                <a:solidFill>
                  <a:srgbClr val="213739"/>
                </a:solidFill>
                <a:latin typeface="Arial MT"/>
                <a:cs typeface="Arial MT"/>
              </a:rPr>
              <a:t>not</a:t>
            </a:r>
            <a:r>
              <a:rPr sz="1750" spc="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:</a:t>
            </a:r>
            <a:r>
              <a:rPr sz="1750" spc="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binary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decision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356861" y="2892679"/>
            <a:ext cx="4464050" cy="2653665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38100" algn="just">
              <a:lnSpc>
                <a:spcPct val="100000"/>
              </a:lnSpc>
              <a:spcBef>
                <a:spcPts val="545"/>
              </a:spcBef>
            </a:pP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Further,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suppose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represent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each</a:t>
            </a:r>
            <a:r>
              <a:rPr sz="1750" spc="-1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movie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with</a:t>
            </a:r>
            <a:r>
              <a:rPr sz="1750" spc="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endParaRPr sz="1750">
              <a:latin typeface="Calibri"/>
              <a:cs typeface="Calibri"/>
            </a:endParaRPr>
          </a:p>
          <a:p>
            <a:pPr marL="40640" algn="just">
              <a:lnSpc>
                <a:spcPct val="100000"/>
              </a:lnSpc>
              <a:spcBef>
                <a:spcPts val="445"/>
              </a:spcBef>
            </a:pP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features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(some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boolean,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some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real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valued)</a:t>
            </a:r>
            <a:endParaRPr sz="1750">
              <a:latin typeface="Arial MT"/>
              <a:cs typeface="Arial MT"/>
            </a:endParaRPr>
          </a:p>
          <a:p>
            <a:pPr marL="40640" marR="30480" indent="-3175" algn="just">
              <a:lnSpc>
                <a:spcPct val="117800"/>
              </a:lnSpc>
              <a:spcBef>
                <a:spcPts val="275"/>
              </a:spcBef>
            </a:pP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will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assume</a:t>
            </a:r>
            <a:r>
              <a:rPr sz="1750" spc="-1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that</a:t>
            </a:r>
            <a:r>
              <a:rPr sz="1750" spc="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data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is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linearly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separable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want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a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perceptron</a:t>
            </a:r>
            <a:r>
              <a:rPr sz="1750" spc="-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1750" spc="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learn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how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1750" spc="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make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this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decision</a:t>
            </a:r>
            <a:endParaRPr sz="1750">
              <a:latin typeface="Arial MT"/>
              <a:cs typeface="Arial MT"/>
            </a:endParaRPr>
          </a:p>
          <a:p>
            <a:pPr marL="40640" marR="32384" indent="-3175" algn="just">
              <a:lnSpc>
                <a:spcPct val="117700"/>
              </a:lnSpc>
              <a:spcBef>
                <a:spcPts val="490"/>
              </a:spcBef>
            </a:pPr>
            <a:r>
              <a:rPr sz="1750" spc="-285" dirty="0">
                <a:solidFill>
                  <a:srgbClr val="213739"/>
                </a:solidFill>
                <a:latin typeface="Arial MT"/>
                <a:cs typeface="Arial MT"/>
              </a:rPr>
              <a:t>In</a:t>
            </a:r>
            <a:r>
              <a:rPr sz="1750" spc="1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other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words,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40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2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want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perceptron</a:t>
            </a:r>
            <a:r>
              <a:rPr sz="1750" spc="-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1750" spc="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find</a:t>
            </a:r>
            <a:r>
              <a:rPr sz="1750" spc="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the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equation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this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separating</a:t>
            </a:r>
            <a:r>
              <a:rPr sz="1750" spc="-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plane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(or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find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 val-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ues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-3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-4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..,</a:t>
            </a:r>
            <a:r>
              <a:rPr sz="1750" i="1" spc="-3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i="1" spc="-37" baseline="-8888" dirty="0">
                <a:solidFill>
                  <a:srgbClr val="213739"/>
                </a:solidFill>
                <a:latin typeface="Calibri"/>
                <a:cs typeface="Calibri"/>
              </a:rPr>
              <a:t>m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)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30" name="object 30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Learning</a:t>
            </a:r>
            <a:r>
              <a:rPr spc="-130" dirty="0"/>
              <a:t> </a:t>
            </a:r>
            <a:r>
              <a:rPr dirty="0"/>
              <a:t>weights:</a:t>
            </a:r>
            <a:r>
              <a:rPr spc="-130" dirty="0"/>
              <a:t> </a:t>
            </a:r>
            <a:r>
              <a:rPr dirty="0"/>
              <a:t>movie</a:t>
            </a:r>
            <a:r>
              <a:rPr spc="-125" dirty="0"/>
              <a:t> </a:t>
            </a:r>
            <a:r>
              <a:rPr spc="-10" dirty="0"/>
              <a:t>review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676400"/>
            <a:ext cx="4419600" cy="609600"/>
          </a:xfrm>
          <a:custGeom>
            <a:avLst/>
            <a:gdLst/>
            <a:ahLst/>
            <a:cxnLst/>
            <a:rect l="l" t="t" r="r" b="b"/>
            <a:pathLst>
              <a:path w="4419600" h="609600">
                <a:moveTo>
                  <a:pt x="4419600" y="0"/>
                </a:moveTo>
                <a:lnTo>
                  <a:pt x="0" y="0"/>
                </a:lnTo>
                <a:lnTo>
                  <a:pt x="0" y="609600"/>
                </a:lnTo>
                <a:lnTo>
                  <a:pt x="4419600" y="609600"/>
                </a:lnTo>
                <a:lnTo>
                  <a:pt x="441960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25400" y="-25400"/>
            <a:ext cx="9194800" cy="6908800"/>
            <a:chOff x="-25400" y="-25400"/>
            <a:chExt cx="9194800" cy="6908800"/>
          </a:xfrm>
        </p:grpSpPr>
        <p:sp>
          <p:nvSpPr>
            <p:cNvPr id="4" name="object 4"/>
            <p:cNvSpPr/>
            <p:nvPr/>
          </p:nvSpPr>
          <p:spPr>
            <a:xfrm>
              <a:off x="1447800" y="6629399"/>
              <a:ext cx="7696200" cy="228600"/>
            </a:xfrm>
            <a:custGeom>
              <a:avLst/>
              <a:gdLst/>
              <a:ahLst/>
              <a:cxnLst/>
              <a:rect l="l" t="t" r="r" b="b"/>
              <a:pathLst>
                <a:path w="7696200" h="228600">
                  <a:moveTo>
                    <a:pt x="0" y="228600"/>
                  </a:moveTo>
                  <a:lnTo>
                    <a:pt x="7696200" y="228600"/>
                  </a:lnTo>
                  <a:lnTo>
                    <a:pt x="76962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EE8B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629399"/>
              <a:ext cx="1447800" cy="228600"/>
            </a:xfrm>
            <a:custGeom>
              <a:avLst/>
              <a:gdLst/>
              <a:ahLst/>
              <a:cxnLst/>
              <a:rect l="l" t="t" r="r" b="b"/>
              <a:pathLst>
                <a:path w="1447800" h="228600">
                  <a:moveTo>
                    <a:pt x="14478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1447800" y="228600"/>
                  </a:lnTo>
                  <a:lnTo>
                    <a:pt x="14478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l" t="t" r="r" b="b"/>
              <a:pathLst>
                <a:path w="9144000" h="6858000">
                  <a:moveTo>
                    <a:pt x="0" y="6858000"/>
                  </a:moveTo>
                  <a:lnTo>
                    <a:pt x="9144000" y="685800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6858000"/>
                  </a:lnTo>
                  <a:close/>
                </a:path>
              </a:pathLst>
            </a:custGeom>
            <a:ln w="508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529319" y="6428638"/>
            <a:ext cx="1720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31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7261" y="6643369"/>
            <a:ext cx="1173480" cy="241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20"/>
              </a:lnSpc>
            </a:pPr>
            <a:r>
              <a:rPr sz="1700" b="1" dirty="0">
                <a:solidFill>
                  <a:srgbClr val="FFFFFF"/>
                </a:solidFill>
                <a:latin typeface="Calibri"/>
                <a:cs typeface="Calibri"/>
              </a:rPr>
              <a:t>NIT</a:t>
            </a:r>
            <a:r>
              <a:rPr sz="17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b="1" spc="-10" dirty="0">
                <a:solidFill>
                  <a:srgbClr val="FFFFFF"/>
                </a:solidFill>
                <a:latin typeface="Calibri"/>
                <a:cs typeface="Calibri"/>
              </a:rPr>
              <a:t>Rourkela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568188" y="6658229"/>
            <a:ext cx="293687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b="1" dirty="0">
                <a:latin typeface="Calibri"/>
                <a:cs typeface="Calibri"/>
              </a:rPr>
              <a:t>“Deep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Learning: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Neuron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to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Perceptron”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78739" y="1777111"/>
            <a:ext cx="4126229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spc="-170" dirty="0">
                <a:latin typeface="Trebuchet MS"/>
                <a:cs typeface="Trebuchet MS"/>
              </a:rPr>
              <a:t>Perceptron</a:t>
            </a:r>
            <a:r>
              <a:rPr sz="2500" b="1" spc="-90" dirty="0">
                <a:latin typeface="Trebuchet MS"/>
                <a:cs typeface="Trebuchet MS"/>
              </a:rPr>
              <a:t> </a:t>
            </a:r>
            <a:r>
              <a:rPr sz="2500" b="1" spc="-220" dirty="0">
                <a:latin typeface="Trebuchet MS"/>
                <a:cs typeface="Trebuchet MS"/>
              </a:rPr>
              <a:t>Learning</a:t>
            </a:r>
            <a:r>
              <a:rPr sz="2500" b="1" spc="-420" dirty="0">
                <a:latin typeface="Trebuchet MS"/>
                <a:cs typeface="Trebuchet MS"/>
              </a:rPr>
              <a:t> </a:t>
            </a:r>
            <a:r>
              <a:rPr sz="2500" b="1" spc="-10" dirty="0">
                <a:latin typeface="Trebuchet MS"/>
                <a:cs typeface="Trebuchet MS"/>
              </a:rPr>
              <a:t>Algorithm</a:t>
            </a:r>
            <a:endParaRPr sz="250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0618" y="879347"/>
            <a:ext cx="4396105" cy="0"/>
          </a:xfrm>
          <a:custGeom>
            <a:avLst/>
            <a:gdLst/>
            <a:ahLst/>
            <a:cxnLst/>
            <a:rect l="l" t="t" r="r" b="b"/>
            <a:pathLst>
              <a:path w="4396105">
                <a:moveTo>
                  <a:pt x="0" y="0"/>
                </a:moveTo>
                <a:lnTo>
                  <a:pt x="4396105" y="0"/>
                </a:lnTo>
              </a:path>
            </a:pathLst>
          </a:custGeom>
          <a:ln w="10121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67690" y="849248"/>
            <a:ext cx="3754754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b="1" spc="-105" dirty="0">
                <a:solidFill>
                  <a:srgbClr val="213739"/>
                </a:solidFill>
                <a:latin typeface="Trebuchet MS"/>
                <a:cs typeface="Trebuchet MS"/>
              </a:rPr>
              <a:t>Algorithm:</a:t>
            </a:r>
            <a:r>
              <a:rPr sz="1750" b="1" spc="-75" dirty="0">
                <a:solidFill>
                  <a:srgbClr val="213739"/>
                </a:solidFill>
                <a:latin typeface="Trebuchet MS"/>
                <a:cs typeface="Trebuchet MS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Perceptron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Learning</a:t>
            </a:r>
            <a:r>
              <a:rPr sz="1750" spc="-1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Algorithm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80618" y="1192783"/>
            <a:ext cx="4396105" cy="0"/>
          </a:xfrm>
          <a:custGeom>
            <a:avLst/>
            <a:gdLst/>
            <a:ahLst/>
            <a:cxnLst/>
            <a:rect l="l" t="t" r="r" b="b"/>
            <a:pathLst>
              <a:path w="4396105">
                <a:moveTo>
                  <a:pt x="0" y="0"/>
                </a:moveTo>
                <a:lnTo>
                  <a:pt x="4396105" y="0"/>
                </a:lnTo>
              </a:path>
            </a:pathLst>
          </a:custGeom>
          <a:ln w="10121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67690" y="1138809"/>
            <a:ext cx="1171575" cy="653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7700"/>
              </a:lnSpc>
              <a:spcBef>
                <a:spcPts val="100"/>
              </a:spcBef>
            </a:pP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750" i="1" spc="60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←</a:t>
            </a:r>
            <a:r>
              <a:rPr sz="1750" spc="-1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spc="50" dirty="0">
                <a:solidFill>
                  <a:srgbClr val="213739"/>
                </a:solidFill>
                <a:latin typeface="Calibri"/>
                <a:cs typeface="Calibri"/>
              </a:rPr>
              <a:t>inputs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750" i="1" spc="5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← </a:t>
            </a:r>
            <a:r>
              <a:rPr sz="1750" i="1" spc="50" dirty="0">
                <a:solidFill>
                  <a:srgbClr val="213739"/>
                </a:solidFill>
                <a:latin typeface="Calibri"/>
                <a:cs typeface="Calibri"/>
              </a:rPr>
              <a:t>inputs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27707" y="1143380"/>
            <a:ext cx="473709" cy="653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275" marR="5080" indent="-29209">
              <a:lnSpc>
                <a:spcPct val="117700"/>
              </a:lnSpc>
              <a:spcBef>
                <a:spcPts val="100"/>
              </a:spcBef>
            </a:pPr>
            <a:r>
              <a:rPr sz="1750" i="1" spc="-20" dirty="0">
                <a:solidFill>
                  <a:srgbClr val="213739"/>
                </a:solidFill>
                <a:latin typeface="Calibri"/>
                <a:cs typeface="Calibri"/>
              </a:rPr>
              <a:t>with with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92172" y="1161860"/>
            <a:ext cx="895350" cy="66103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0"/>
              </a:spcBef>
              <a:tabLst>
                <a:tab pos="684530" algn="l"/>
              </a:tabLst>
            </a:pP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label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;</a:t>
            </a:r>
            <a:endParaRPr sz="1750">
              <a:latin typeface="Arial MT"/>
              <a:cs typeface="Arial MT"/>
            </a:endParaRPr>
          </a:p>
          <a:p>
            <a:pPr marL="41275">
              <a:lnSpc>
                <a:spcPct val="100000"/>
              </a:lnSpc>
              <a:spcBef>
                <a:spcPts val="400"/>
              </a:spcBef>
              <a:tabLst>
                <a:tab pos="713740" algn="l"/>
              </a:tabLst>
            </a:pP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label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;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80618" y="5703900"/>
            <a:ext cx="4396105" cy="0"/>
          </a:xfrm>
          <a:custGeom>
            <a:avLst/>
            <a:gdLst/>
            <a:ahLst/>
            <a:cxnLst/>
            <a:rect l="l" t="t" r="r" b="b"/>
            <a:pathLst>
              <a:path w="4396105">
                <a:moveTo>
                  <a:pt x="0" y="0"/>
                </a:moveTo>
                <a:lnTo>
                  <a:pt x="4396105" y="0"/>
                </a:lnTo>
              </a:path>
            </a:pathLst>
          </a:custGeom>
          <a:ln w="10121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8781415" y="5603912"/>
            <a:ext cx="196215" cy="206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spc="-25" dirty="0">
                <a:solidFill>
                  <a:srgbClr val="213739"/>
                </a:solidFill>
                <a:latin typeface="Arial MT"/>
                <a:cs typeface="Arial MT"/>
              </a:rPr>
              <a:t>34</a:t>
            </a:r>
            <a:endParaRPr sz="125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0618" y="879347"/>
            <a:ext cx="4396105" cy="0"/>
          </a:xfrm>
          <a:custGeom>
            <a:avLst/>
            <a:gdLst/>
            <a:ahLst/>
            <a:cxnLst/>
            <a:rect l="l" t="t" r="r" b="b"/>
            <a:pathLst>
              <a:path w="4396105">
                <a:moveTo>
                  <a:pt x="0" y="0"/>
                </a:moveTo>
                <a:lnTo>
                  <a:pt x="4396105" y="0"/>
                </a:lnTo>
              </a:path>
            </a:pathLst>
          </a:custGeom>
          <a:ln w="10121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67690" y="849248"/>
            <a:ext cx="3754754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b="1" spc="-105" dirty="0">
                <a:solidFill>
                  <a:srgbClr val="213739"/>
                </a:solidFill>
                <a:latin typeface="Trebuchet MS"/>
                <a:cs typeface="Trebuchet MS"/>
              </a:rPr>
              <a:t>Algorithm:</a:t>
            </a:r>
            <a:r>
              <a:rPr sz="1750" b="1" spc="-75" dirty="0">
                <a:solidFill>
                  <a:srgbClr val="213739"/>
                </a:solidFill>
                <a:latin typeface="Trebuchet MS"/>
                <a:cs typeface="Trebuchet MS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Perceptron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Learning</a:t>
            </a:r>
            <a:r>
              <a:rPr sz="1750" spc="-1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Algorithm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80618" y="1192783"/>
            <a:ext cx="4396105" cy="0"/>
          </a:xfrm>
          <a:custGeom>
            <a:avLst/>
            <a:gdLst/>
            <a:ahLst/>
            <a:cxnLst/>
            <a:rect l="l" t="t" r="r" b="b"/>
            <a:pathLst>
              <a:path w="4396105">
                <a:moveTo>
                  <a:pt x="0" y="0"/>
                </a:moveTo>
                <a:lnTo>
                  <a:pt x="4396105" y="0"/>
                </a:lnTo>
              </a:path>
            </a:pathLst>
          </a:custGeom>
          <a:ln w="10121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67690" y="1151890"/>
            <a:ext cx="1171575" cy="653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7700"/>
              </a:lnSpc>
              <a:spcBef>
                <a:spcPts val="100"/>
              </a:spcBef>
            </a:pP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750" i="1" spc="60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←</a:t>
            </a:r>
            <a:r>
              <a:rPr sz="1750" spc="-1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spc="50" dirty="0">
                <a:solidFill>
                  <a:srgbClr val="213739"/>
                </a:solidFill>
                <a:latin typeface="Calibri"/>
                <a:cs typeface="Calibri"/>
              </a:rPr>
              <a:t>inputs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750" i="1" spc="5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← </a:t>
            </a:r>
            <a:r>
              <a:rPr sz="1750" i="1" spc="50" dirty="0">
                <a:solidFill>
                  <a:srgbClr val="213739"/>
                </a:solidFill>
                <a:latin typeface="Calibri"/>
                <a:cs typeface="Calibri"/>
              </a:rPr>
              <a:t>inputs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27707" y="1143380"/>
            <a:ext cx="473709" cy="653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275" marR="5080" indent="-29209">
              <a:lnSpc>
                <a:spcPct val="117700"/>
              </a:lnSpc>
              <a:spcBef>
                <a:spcPts val="100"/>
              </a:spcBef>
            </a:pPr>
            <a:r>
              <a:rPr sz="1750" i="1" spc="-20" dirty="0">
                <a:solidFill>
                  <a:srgbClr val="213739"/>
                </a:solidFill>
                <a:latin typeface="Calibri"/>
                <a:cs typeface="Calibri"/>
              </a:rPr>
              <a:t>with with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92172" y="1161860"/>
            <a:ext cx="895350" cy="66103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0"/>
              </a:spcBef>
              <a:tabLst>
                <a:tab pos="684530" algn="l"/>
              </a:tabLst>
            </a:pP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label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;</a:t>
            </a:r>
            <a:endParaRPr sz="1750">
              <a:latin typeface="Arial MT"/>
              <a:cs typeface="Arial MT"/>
            </a:endParaRPr>
          </a:p>
          <a:p>
            <a:pPr marL="41275">
              <a:lnSpc>
                <a:spcPct val="100000"/>
              </a:lnSpc>
              <a:spcBef>
                <a:spcPts val="400"/>
              </a:spcBef>
              <a:tabLst>
                <a:tab pos="713740" algn="l"/>
              </a:tabLst>
            </a:pP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label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;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7690" y="1842261"/>
            <a:ext cx="1939289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Initialize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1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randomly;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80618" y="5703900"/>
            <a:ext cx="4396105" cy="0"/>
          </a:xfrm>
          <a:custGeom>
            <a:avLst/>
            <a:gdLst/>
            <a:ahLst/>
            <a:cxnLst/>
            <a:rect l="l" t="t" r="r" b="b"/>
            <a:pathLst>
              <a:path w="4396105">
                <a:moveTo>
                  <a:pt x="0" y="0"/>
                </a:moveTo>
                <a:lnTo>
                  <a:pt x="4396105" y="0"/>
                </a:lnTo>
              </a:path>
            </a:pathLst>
          </a:custGeom>
          <a:ln w="10121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781415" y="5603912"/>
            <a:ext cx="196215" cy="206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spc="-25" dirty="0">
                <a:solidFill>
                  <a:srgbClr val="213739"/>
                </a:solidFill>
                <a:latin typeface="Arial MT"/>
                <a:cs typeface="Arial MT"/>
              </a:rPr>
              <a:t>34</a:t>
            </a:r>
            <a:endParaRPr sz="125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0618" y="879347"/>
            <a:ext cx="4396105" cy="0"/>
          </a:xfrm>
          <a:custGeom>
            <a:avLst/>
            <a:gdLst/>
            <a:ahLst/>
            <a:cxnLst/>
            <a:rect l="l" t="t" r="r" b="b"/>
            <a:pathLst>
              <a:path w="4396105">
                <a:moveTo>
                  <a:pt x="0" y="0"/>
                </a:moveTo>
                <a:lnTo>
                  <a:pt x="4396105" y="0"/>
                </a:lnTo>
              </a:path>
            </a:pathLst>
          </a:custGeom>
          <a:ln w="10121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67690" y="849248"/>
            <a:ext cx="3754754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b="1" spc="-105" dirty="0">
                <a:solidFill>
                  <a:srgbClr val="213739"/>
                </a:solidFill>
                <a:latin typeface="Trebuchet MS"/>
                <a:cs typeface="Trebuchet MS"/>
              </a:rPr>
              <a:t>Algorithm:</a:t>
            </a:r>
            <a:r>
              <a:rPr sz="1750" b="1" spc="-75" dirty="0">
                <a:solidFill>
                  <a:srgbClr val="213739"/>
                </a:solidFill>
                <a:latin typeface="Trebuchet MS"/>
                <a:cs typeface="Trebuchet MS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Perceptron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Learning</a:t>
            </a:r>
            <a:r>
              <a:rPr sz="1750" spc="-1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Algorithm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80618" y="1192783"/>
            <a:ext cx="4396105" cy="0"/>
          </a:xfrm>
          <a:custGeom>
            <a:avLst/>
            <a:gdLst/>
            <a:ahLst/>
            <a:cxnLst/>
            <a:rect l="l" t="t" r="r" b="b"/>
            <a:pathLst>
              <a:path w="4396105">
                <a:moveTo>
                  <a:pt x="0" y="0"/>
                </a:moveTo>
                <a:lnTo>
                  <a:pt x="4396105" y="0"/>
                </a:lnTo>
              </a:path>
            </a:pathLst>
          </a:custGeom>
          <a:ln w="10121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67690" y="1151890"/>
            <a:ext cx="1171575" cy="653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7700"/>
              </a:lnSpc>
              <a:spcBef>
                <a:spcPts val="100"/>
              </a:spcBef>
            </a:pP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750" i="1" spc="60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←</a:t>
            </a:r>
            <a:r>
              <a:rPr sz="1750" spc="-1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spc="50" dirty="0">
                <a:solidFill>
                  <a:srgbClr val="213739"/>
                </a:solidFill>
                <a:latin typeface="Calibri"/>
                <a:cs typeface="Calibri"/>
              </a:rPr>
              <a:t>inputs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750" i="1" spc="5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← </a:t>
            </a:r>
            <a:r>
              <a:rPr sz="1750" i="1" spc="50" dirty="0">
                <a:solidFill>
                  <a:srgbClr val="213739"/>
                </a:solidFill>
                <a:latin typeface="Calibri"/>
                <a:cs typeface="Calibri"/>
              </a:rPr>
              <a:t>inputs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27707" y="1143380"/>
            <a:ext cx="473709" cy="653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275" marR="5080" indent="-29209">
              <a:lnSpc>
                <a:spcPct val="117700"/>
              </a:lnSpc>
              <a:spcBef>
                <a:spcPts val="100"/>
              </a:spcBef>
            </a:pPr>
            <a:r>
              <a:rPr sz="1750" i="1" spc="-20" dirty="0">
                <a:solidFill>
                  <a:srgbClr val="213739"/>
                </a:solidFill>
                <a:latin typeface="Calibri"/>
                <a:cs typeface="Calibri"/>
              </a:rPr>
              <a:t>with with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92172" y="1161860"/>
            <a:ext cx="895350" cy="66103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0"/>
              </a:spcBef>
              <a:tabLst>
                <a:tab pos="684530" algn="l"/>
              </a:tabLst>
            </a:pP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label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;</a:t>
            </a:r>
            <a:endParaRPr sz="1750">
              <a:latin typeface="Arial MT"/>
              <a:cs typeface="Arial MT"/>
            </a:endParaRPr>
          </a:p>
          <a:p>
            <a:pPr marL="41275">
              <a:lnSpc>
                <a:spcPct val="100000"/>
              </a:lnSpc>
              <a:spcBef>
                <a:spcPts val="400"/>
              </a:spcBef>
              <a:tabLst>
                <a:tab pos="713740" algn="l"/>
              </a:tabLst>
            </a:pP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label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;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7690" y="1790821"/>
            <a:ext cx="2108835" cy="659130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Initialize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1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randomly;</a:t>
            </a:r>
            <a:endParaRPr sz="17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750" b="1" spc="-120" dirty="0">
                <a:solidFill>
                  <a:srgbClr val="213739"/>
                </a:solidFill>
                <a:latin typeface="Trebuchet MS"/>
                <a:cs typeface="Trebuchet MS"/>
              </a:rPr>
              <a:t>while</a:t>
            </a:r>
            <a:r>
              <a:rPr sz="1750" b="1" spc="-20" dirty="0">
                <a:solidFill>
                  <a:srgbClr val="213739"/>
                </a:solidFill>
                <a:latin typeface="Trebuchet MS"/>
                <a:cs typeface="Trebuchet MS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!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convergence</a:t>
            </a:r>
            <a:r>
              <a:rPr sz="1750" i="1" spc="11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spc="-25" dirty="0">
                <a:solidFill>
                  <a:srgbClr val="213739"/>
                </a:solidFill>
                <a:latin typeface="Trebuchet MS"/>
                <a:cs typeface="Trebuchet MS"/>
              </a:rPr>
              <a:t>do</a:t>
            </a:r>
            <a:endParaRPr sz="175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93852" y="2496311"/>
            <a:ext cx="0" cy="2237105"/>
          </a:xfrm>
          <a:custGeom>
            <a:avLst/>
            <a:gdLst/>
            <a:ahLst/>
            <a:cxnLst/>
            <a:rect l="l" t="t" r="r" b="b"/>
            <a:pathLst>
              <a:path h="2237104">
                <a:moveTo>
                  <a:pt x="0" y="2236851"/>
                </a:moveTo>
                <a:lnTo>
                  <a:pt x="0" y="0"/>
                </a:lnTo>
              </a:path>
            </a:pathLst>
          </a:custGeom>
          <a:ln w="5053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80618" y="5703900"/>
            <a:ext cx="4396105" cy="0"/>
          </a:xfrm>
          <a:custGeom>
            <a:avLst/>
            <a:gdLst/>
            <a:ahLst/>
            <a:cxnLst/>
            <a:rect l="l" t="t" r="r" b="b"/>
            <a:pathLst>
              <a:path w="4396105">
                <a:moveTo>
                  <a:pt x="0" y="0"/>
                </a:moveTo>
                <a:lnTo>
                  <a:pt x="4396105" y="0"/>
                </a:lnTo>
              </a:path>
            </a:pathLst>
          </a:custGeom>
          <a:ln w="10121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67690" y="4746872"/>
            <a:ext cx="4022725" cy="8807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85"/>
              </a:lnSpc>
            </a:pPr>
            <a:r>
              <a:rPr sz="1750" b="1" spc="-25" dirty="0">
                <a:solidFill>
                  <a:srgbClr val="213739"/>
                </a:solidFill>
                <a:latin typeface="Trebuchet MS"/>
                <a:cs typeface="Trebuchet MS"/>
              </a:rPr>
              <a:t>end</a:t>
            </a:r>
            <a:endParaRPr sz="1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//the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algorithm 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converges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when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all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inputs</a:t>
            </a:r>
            <a:endParaRPr sz="1750">
              <a:latin typeface="Arial MT"/>
              <a:cs typeface="Arial MT"/>
            </a:endParaRPr>
          </a:p>
          <a:p>
            <a:pPr marL="121920">
              <a:lnSpc>
                <a:spcPct val="100000"/>
              </a:lnSpc>
              <a:spcBef>
                <a:spcPts val="375"/>
              </a:spcBef>
            </a:pP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are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classified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correctly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781415" y="5603912"/>
            <a:ext cx="196215" cy="206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spc="-25" dirty="0">
                <a:solidFill>
                  <a:srgbClr val="213739"/>
                </a:solidFill>
                <a:latin typeface="Arial MT"/>
                <a:cs typeface="Arial MT"/>
              </a:rPr>
              <a:t>34</a:t>
            </a:r>
            <a:endParaRPr sz="125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0618" y="879347"/>
            <a:ext cx="4396105" cy="0"/>
          </a:xfrm>
          <a:custGeom>
            <a:avLst/>
            <a:gdLst/>
            <a:ahLst/>
            <a:cxnLst/>
            <a:rect l="l" t="t" r="r" b="b"/>
            <a:pathLst>
              <a:path w="4396105">
                <a:moveTo>
                  <a:pt x="0" y="0"/>
                </a:moveTo>
                <a:lnTo>
                  <a:pt x="4396105" y="0"/>
                </a:lnTo>
              </a:path>
            </a:pathLst>
          </a:custGeom>
          <a:ln w="10121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67690" y="849248"/>
            <a:ext cx="3754754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b="1" spc="-105" dirty="0">
                <a:solidFill>
                  <a:srgbClr val="213739"/>
                </a:solidFill>
                <a:latin typeface="Trebuchet MS"/>
                <a:cs typeface="Trebuchet MS"/>
              </a:rPr>
              <a:t>Algorithm:</a:t>
            </a:r>
            <a:r>
              <a:rPr sz="1750" b="1" spc="-75" dirty="0">
                <a:solidFill>
                  <a:srgbClr val="213739"/>
                </a:solidFill>
                <a:latin typeface="Trebuchet MS"/>
                <a:cs typeface="Trebuchet MS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Perceptron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Learning</a:t>
            </a:r>
            <a:r>
              <a:rPr sz="1750" spc="-1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Algorithm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80618" y="1192783"/>
            <a:ext cx="4396105" cy="0"/>
          </a:xfrm>
          <a:custGeom>
            <a:avLst/>
            <a:gdLst/>
            <a:ahLst/>
            <a:cxnLst/>
            <a:rect l="l" t="t" r="r" b="b"/>
            <a:pathLst>
              <a:path w="4396105">
                <a:moveTo>
                  <a:pt x="0" y="0"/>
                </a:moveTo>
                <a:lnTo>
                  <a:pt x="4396105" y="0"/>
                </a:lnTo>
              </a:path>
            </a:pathLst>
          </a:custGeom>
          <a:ln w="10121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67690" y="1151890"/>
            <a:ext cx="1171575" cy="653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7700"/>
              </a:lnSpc>
              <a:spcBef>
                <a:spcPts val="100"/>
              </a:spcBef>
            </a:pP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750" i="1" spc="60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←</a:t>
            </a:r>
            <a:r>
              <a:rPr sz="1750" spc="-1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spc="50" dirty="0">
                <a:solidFill>
                  <a:srgbClr val="213739"/>
                </a:solidFill>
                <a:latin typeface="Calibri"/>
                <a:cs typeface="Calibri"/>
              </a:rPr>
              <a:t>inputs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750" i="1" spc="5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← </a:t>
            </a:r>
            <a:r>
              <a:rPr sz="1750" i="1" spc="50" dirty="0">
                <a:solidFill>
                  <a:srgbClr val="213739"/>
                </a:solidFill>
                <a:latin typeface="Calibri"/>
                <a:cs typeface="Calibri"/>
              </a:rPr>
              <a:t>inputs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27707" y="1143380"/>
            <a:ext cx="473709" cy="653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275" marR="5080" indent="-29209">
              <a:lnSpc>
                <a:spcPct val="117700"/>
              </a:lnSpc>
              <a:spcBef>
                <a:spcPts val="100"/>
              </a:spcBef>
            </a:pPr>
            <a:r>
              <a:rPr sz="1750" i="1" spc="-20" dirty="0">
                <a:solidFill>
                  <a:srgbClr val="213739"/>
                </a:solidFill>
                <a:latin typeface="Calibri"/>
                <a:cs typeface="Calibri"/>
              </a:rPr>
              <a:t>with with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92172" y="1161860"/>
            <a:ext cx="895350" cy="66103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0"/>
              </a:spcBef>
              <a:tabLst>
                <a:tab pos="684530" algn="l"/>
              </a:tabLst>
            </a:pP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label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;</a:t>
            </a:r>
            <a:endParaRPr sz="1750">
              <a:latin typeface="Arial MT"/>
              <a:cs typeface="Arial MT"/>
            </a:endParaRPr>
          </a:p>
          <a:p>
            <a:pPr marL="41275">
              <a:lnSpc>
                <a:spcPct val="100000"/>
              </a:lnSpc>
              <a:spcBef>
                <a:spcPts val="400"/>
              </a:spcBef>
              <a:tabLst>
                <a:tab pos="713740" algn="l"/>
              </a:tabLst>
            </a:pP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label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;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93852" y="2496311"/>
            <a:ext cx="0" cy="2237105"/>
          </a:xfrm>
          <a:custGeom>
            <a:avLst/>
            <a:gdLst/>
            <a:ahLst/>
            <a:cxnLst/>
            <a:rect l="l" t="t" r="r" b="b"/>
            <a:pathLst>
              <a:path h="2237104">
                <a:moveTo>
                  <a:pt x="0" y="2236851"/>
                </a:moveTo>
                <a:lnTo>
                  <a:pt x="0" y="0"/>
                </a:lnTo>
              </a:path>
            </a:pathLst>
          </a:custGeom>
          <a:ln w="5053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67690" y="1790821"/>
            <a:ext cx="2633980" cy="962660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Initialize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1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randomly;</a:t>
            </a:r>
            <a:endParaRPr sz="17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750" b="1" spc="-120" dirty="0">
                <a:solidFill>
                  <a:srgbClr val="213739"/>
                </a:solidFill>
                <a:latin typeface="Trebuchet MS"/>
                <a:cs typeface="Trebuchet MS"/>
              </a:rPr>
              <a:t>while</a:t>
            </a:r>
            <a:r>
              <a:rPr sz="1750" b="1" spc="-20" dirty="0">
                <a:solidFill>
                  <a:srgbClr val="213739"/>
                </a:solidFill>
                <a:latin typeface="Trebuchet MS"/>
                <a:cs typeface="Trebuchet MS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!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convergence</a:t>
            </a:r>
            <a:r>
              <a:rPr sz="1750" i="1" spc="11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spc="-25" dirty="0">
                <a:solidFill>
                  <a:srgbClr val="213739"/>
                </a:solidFill>
                <a:latin typeface="Trebuchet MS"/>
                <a:cs typeface="Trebuchet MS"/>
              </a:rPr>
              <a:t>do</a:t>
            </a:r>
            <a:endParaRPr sz="1750">
              <a:latin typeface="Trebuchet MS"/>
              <a:cs typeface="Trebuchet MS"/>
            </a:endParaRPr>
          </a:p>
          <a:p>
            <a:pPr marL="347980">
              <a:lnSpc>
                <a:spcPct val="100000"/>
              </a:lnSpc>
              <a:spcBef>
                <a:spcPts val="290"/>
              </a:spcBef>
            </a:pP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Pick</a:t>
            </a:r>
            <a:r>
              <a:rPr sz="1750" spc="-1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random</a:t>
            </a:r>
            <a:r>
              <a:rPr sz="1750" spc="-1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7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∈</a:t>
            </a:r>
            <a:r>
              <a:rPr sz="1750" spc="-30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750" i="1" spc="48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∪</a:t>
            </a:r>
            <a:r>
              <a:rPr sz="1750" spc="-40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750" i="1" spc="48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;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80618" y="5703900"/>
            <a:ext cx="4396105" cy="0"/>
          </a:xfrm>
          <a:custGeom>
            <a:avLst/>
            <a:gdLst/>
            <a:ahLst/>
            <a:cxnLst/>
            <a:rect l="l" t="t" r="r" b="b"/>
            <a:pathLst>
              <a:path w="4396105">
                <a:moveTo>
                  <a:pt x="0" y="0"/>
                </a:moveTo>
                <a:lnTo>
                  <a:pt x="4396105" y="0"/>
                </a:lnTo>
              </a:path>
            </a:pathLst>
          </a:custGeom>
          <a:ln w="10121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67690" y="4746872"/>
            <a:ext cx="4022725" cy="8807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85"/>
              </a:lnSpc>
            </a:pPr>
            <a:r>
              <a:rPr sz="1750" b="1" spc="-25" dirty="0">
                <a:solidFill>
                  <a:srgbClr val="213739"/>
                </a:solidFill>
                <a:latin typeface="Trebuchet MS"/>
                <a:cs typeface="Trebuchet MS"/>
              </a:rPr>
              <a:t>end</a:t>
            </a:r>
            <a:endParaRPr sz="1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//the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algorithm 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converges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when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all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inputs</a:t>
            </a:r>
            <a:endParaRPr sz="1750">
              <a:latin typeface="Arial MT"/>
              <a:cs typeface="Arial MT"/>
            </a:endParaRPr>
          </a:p>
          <a:p>
            <a:pPr marL="121920">
              <a:lnSpc>
                <a:spcPct val="100000"/>
              </a:lnSpc>
              <a:spcBef>
                <a:spcPts val="375"/>
              </a:spcBef>
            </a:pP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are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classified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correctly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781415" y="5603912"/>
            <a:ext cx="196215" cy="206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spc="-25" dirty="0">
                <a:solidFill>
                  <a:srgbClr val="213739"/>
                </a:solidFill>
                <a:latin typeface="Arial MT"/>
                <a:cs typeface="Arial MT"/>
              </a:rPr>
              <a:t>34</a:t>
            </a:r>
            <a:endParaRPr sz="125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0618" y="879347"/>
            <a:ext cx="4396105" cy="0"/>
          </a:xfrm>
          <a:custGeom>
            <a:avLst/>
            <a:gdLst/>
            <a:ahLst/>
            <a:cxnLst/>
            <a:rect l="l" t="t" r="r" b="b"/>
            <a:pathLst>
              <a:path w="4396105">
                <a:moveTo>
                  <a:pt x="0" y="0"/>
                </a:moveTo>
                <a:lnTo>
                  <a:pt x="4396105" y="0"/>
                </a:lnTo>
              </a:path>
            </a:pathLst>
          </a:custGeom>
          <a:ln w="10121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80618" y="1192783"/>
            <a:ext cx="4396105" cy="0"/>
          </a:xfrm>
          <a:custGeom>
            <a:avLst/>
            <a:gdLst/>
            <a:ahLst/>
            <a:cxnLst/>
            <a:rect l="l" t="t" r="r" b="b"/>
            <a:pathLst>
              <a:path w="4396105">
                <a:moveTo>
                  <a:pt x="0" y="0"/>
                </a:moveTo>
                <a:lnTo>
                  <a:pt x="4396105" y="0"/>
                </a:lnTo>
              </a:path>
            </a:pathLst>
          </a:custGeom>
          <a:ln w="10121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67690" y="1151890"/>
            <a:ext cx="1171575" cy="653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7700"/>
              </a:lnSpc>
              <a:spcBef>
                <a:spcPts val="100"/>
              </a:spcBef>
            </a:pP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750" i="1" spc="60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←</a:t>
            </a:r>
            <a:r>
              <a:rPr sz="1750" spc="-1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spc="50" dirty="0">
                <a:solidFill>
                  <a:srgbClr val="213739"/>
                </a:solidFill>
                <a:latin typeface="Calibri"/>
                <a:cs typeface="Calibri"/>
              </a:rPr>
              <a:t>inputs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750" i="1" spc="5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← </a:t>
            </a:r>
            <a:r>
              <a:rPr sz="1750" i="1" spc="50" dirty="0">
                <a:solidFill>
                  <a:srgbClr val="213739"/>
                </a:solidFill>
                <a:latin typeface="Calibri"/>
                <a:cs typeface="Calibri"/>
              </a:rPr>
              <a:t>inputs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27707" y="1143380"/>
            <a:ext cx="473709" cy="653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275" marR="5080" indent="-29209">
              <a:lnSpc>
                <a:spcPct val="117700"/>
              </a:lnSpc>
              <a:spcBef>
                <a:spcPts val="100"/>
              </a:spcBef>
            </a:pPr>
            <a:r>
              <a:rPr sz="1750" i="1" spc="-20" dirty="0">
                <a:solidFill>
                  <a:srgbClr val="213739"/>
                </a:solidFill>
                <a:latin typeface="Calibri"/>
                <a:cs typeface="Calibri"/>
              </a:rPr>
              <a:t>with with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92172" y="1161860"/>
            <a:ext cx="895350" cy="66103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0"/>
              </a:spcBef>
              <a:tabLst>
                <a:tab pos="684530" algn="l"/>
              </a:tabLst>
            </a:pP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label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;</a:t>
            </a:r>
            <a:endParaRPr sz="1750">
              <a:latin typeface="Arial MT"/>
              <a:cs typeface="Arial MT"/>
            </a:endParaRPr>
          </a:p>
          <a:p>
            <a:pPr marL="41275">
              <a:lnSpc>
                <a:spcPct val="100000"/>
              </a:lnSpc>
              <a:spcBef>
                <a:spcPts val="400"/>
              </a:spcBef>
              <a:tabLst>
                <a:tab pos="713740" algn="l"/>
              </a:tabLst>
            </a:pP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label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;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93852" y="2496311"/>
            <a:ext cx="0" cy="2237105"/>
          </a:xfrm>
          <a:custGeom>
            <a:avLst/>
            <a:gdLst/>
            <a:ahLst/>
            <a:cxnLst/>
            <a:rect l="l" t="t" r="r" b="b"/>
            <a:pathLst>
              <a:path h="2237104">
                <a:moveTo>
                  <a:pt x="0" y="2236851"/>
                </a:moveTo>
                <a:lnTo>
                  <a:pt x="0" y="0"/>
                </a:lnTo>
              </a:path>
            </a:pathLst>
          </a:custGeom>
          <a:ln w="5053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67690" y="1790821"/>
            <a:ext cx="2634615" cy="957580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Initialize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1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randomly;</a:t>
            </a:r>
            <a:endParaRPr sz="17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750" b="1" spc="-120" dirty="0">
                <a:solidFill>
                  <a:srgbClr val="213739"/>
                </a:solidFill>
                <a:latin typeface="Trebuchet MS"/>
                <a:cs typeface="Trebuchet MS"/>
              </a:rPr>
              <a:t>while</a:t>
            </a:r>
            <a:r>
              <a:rPr sz="1750" b="1" spc="-20" dirty="0">
                <a:solidFill>
                  <a:srgbClr val="213739"/>
                </a:solidFill>
                <a:latin typeface="Trebuchet MS"/>
                <a:cs typeface="Trebuchet MS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!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convergence</a:t>
            </a:r>
            <a:r>
              <a:rPr sz="1750" i="1" spc="11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spc="-25" dirty="0">
                <a:solidFill>
                  <a:srgbClr val="213739"/>
                </a:solidFill>
                <a:latin typeface="Trebuchet MS"/>
                <a:cs typeface="Trebuchet MS"/>
              </a:rPr>
              <a:t>do</a:t>
            </a:r>
            <a:endParaRPr sz="1750">
              <a:latin typeface="Trebuchet MS"/>
              <a:cs typeface="Trebuchet MS"/>
            </a:endParaRPr>
          </a:p>
          <a:p>
            <a:pPr marL="347980">
              <a:lnSpc>
                <a:spcPct val="100000"/>
              </a:lnSpc>
              <a:spcBef>
                <a:spcPts val="250"/>
              </a:spcBef>
            </a:pP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Pick</a:t>
            </a:r>
            <a:r>
              <a:rPr sz="1750" spc="-1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random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7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∈</a:t>
            </a:r>
            <a:r>
              <a:rPr sz="1750" spc="-30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750" i="1" spc="48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∪</a:t>
            </a:r>
            <a:r>
              <a:rPr sz="1750" spc="-40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750" i="1" spc="48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;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20417" y="2684779"/>
            <a:ext cx="34734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2625" baseline="-30158" dirty="0">
                <a:solidFill>
                  <a:srgbClr val="213739"/>
                </a:solidFill>
                <a:latin typeface="Lucida Sans Unicode"/>
                <a:cs typeface="Lucida Sans Unicode"/>
              </a:rPr>
              <a:t>Σ</a:t>
            </a:r>
            <a:r>
              <a:rPr sz="2625" spc="-187" baseline="-30158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250" i="1" spc="-50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33650" y="2910332"/>
            <a:ext cx="285115" cy="2197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50" i="1" dirty="0">
                <a:solidFill>
                  <a:srgbClr val="213739"/>
                </a:solidFill>
                <a:latin typeface="Calibri"/>
                <a:cs typeface="Calibri"/>
              </a:rPr>
              <a:t>i</a:t>
            </a:r>
            <a:r>
              <a:rPr sz="1250" i="1" spc="-13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250" spc="55" dirty="0">
                <a:solidFill>
                  <a:srgbClr val="213739"/>
                </a:solidFill>
                <a:latin typeface="Calibri"/>
                <a:cs typeface="Calibri"/>
              </a:rPr>
              <a:t>=0 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831592" y="2771648"/>
            <a:ext cx="64833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i="1" baseline="-8888" dirty="0">
                <a:solidFill>
                  <a:srgbClr val="213739"/>
                </a:solidFill>
                <a:latin typeface="Calibri"/>
                <a:cs typeface="Calibri"/>
              </a:rPr>
              <a:t>i</a:t>
            </a:r>
            <a:r>
              <a:rPr sz="1875" i="1" spc="292" baseline="-8888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Lucida Sans Unicode"/>
                <a:cs typeface="Lucida Sans Unicode"/>
              </a:rPr>
              <a:t>∗</a:t>
            </a:r>
            <a:r>
              <a:rPr sz="1750" i="1" spc="-9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i="1" spc="-20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875" i="1" spc="-75" baseline="-8888" dirty="0">
                <a:solidFill>
                  <a:srgbClr val="213739"/>
                </a:solidFill>
                <a:latin typeface="Calibri"/>
                <a:cs typeface="Calibri"/>
              </a:rPr>
              <a:t>i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524758" y="2771648"/>
            <a:ext cx="88900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spc="8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4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spc="-25" dirty="0">
                <a:solidFill>
                  <a:srgbClr val="213739"/>
                </a:solidFill>
                <a:latin typeface="Trebuchet MS"/>
                <a:cs typeface="Trebuchet MS"/>
              </a:rPr>
              <a:t>then</a:t>
            </a:r>
            <a:endParaRPr sz="1750">
              <a:latin typeface="Trebuchet MS"/>
              <a:cs typeface="Trebuchet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29602" y="3123945"/>
            <a:ext cx="0" cy="314325"/>
          </a:xfrm>
          <a:custGeom>
            <a:avLst/>
            <a:gdLst/>
            <a:ahLst/>
            <a:cxnLst/>
            <a:rect l="l" t="t" r="r" b="b"/>
            <a:pathLst>
              <a:path h="314325">
                <a:moveTo>
                  <a:pt x="0" y="313816"/>
                </a:moveTo>
                <a:lnTo>
                  <a:pt x="0" y="0"/>
                </a:lnTo>
              </a:path>
            </a:pathLst>
          </a:custGeom>
          <a:ln w="5053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03580" y="2710434"/>
            <a:ext cx="1533525" cy="678180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0"/>
              </a:spcBef>
              <a:tabLst>
                <a:tab pos="990600" algn="l"/>
              </a:tabLst>
            </a:pPr>
            <a:r>
              <a:rPr sz="1750" b="1" spc="-65" dirty="0">
                <a:solidFill>
                  <a:srgbClr val="213739"/>
                </a:solidFill>
                <a:latin typeface="Trebuchet MS"/>
                <a:cs typeface="Trebuchet MS"/>
              </a:rPr>
              <a:t>if</a:t>
            </a:r>
            <a:r>
              <a:rPr sz="1750" b="1" spc="-155" dirty="0">
                <a:solidFill>
                  <a:srgbClr val="213739"/>
                </a:solidFill>
                <a:latin typeface="Trebuchet MS"/>
                <a:cs typeface="Trebuchet MS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6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∈</a:t>
            </a:r>
            <a:r>
              <a:rPr sz="1750" spc="-32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and</a:t>
            </a:r>
            <a:endParaRPr sz="1750">
              <a:latin typeface="Calibri"/>
              <a:cs typeface="Calibri"/>
            </a:endParaRPr>
          </a:p>
          <a:p>
            <a:pPr marL="347980">
              <a:lnSpc>
                <a:spcPct val="100000"/>
              </a:lnSpc>
              <a:spcBef>
                <a:spcPts val="470"/>
              </a:spcBef>
            </a:pP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2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7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3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+</a:t>
            </a:r>
            <a:r>
              <a:rPr sz="1750" spc="44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25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;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03580" y="3433317"/>
            <a:ext cx="40259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b="1" spc="-25" dirty="0">
                <a:solidFill>
                  <a:srgbClr val="213739"/>
                </a:solidFill>
                <a:latin typeface="Trebuchet MS"/>
                <a:cs typeface="Trebuchet MS"/>
              </a:rPr>
              <a:t>end</a:t>
            </a:r>
            <a:endParaRPr sz="1750">
              <a:latin typeface="Trebuchet MS"/>
              <a:cs typeface="Trebuchet M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80618" y="5703900"/>
            <a:ext cx="4396105" cy="0"/>
          </a:xfrm>
          <a:custGeom>
            <a:avLst/>
            <a:gdLst/>
            <a:ahLst/>
            <a:cxnLst/>
            <a:rect l="l" t="t" r="r" b="b"/>
            <a:pathLst>
              <a:path w="4396105">
                <a:moveTo>
                  <a:pt x="0" y="0"/>
                </a:moveTo>
                <a:lnTo>
                  <a:pt x="4396105" y="0"/>
                </a:lnTo>
              </a:path>
            </a:pathLst>
          </a:custGeom>
          <a:ln w="10121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 descr="$PPTXTitle"/>
          <p:cNvSpPr txBox="1">
            <a:spLocks noGrp="1"/>
          </p:cNvSpPr>
          <p:nvPr>
            <p:ph type="title"/>
          </p:nvPr>
        </p:nvSpPr>
        <p:spPr>
          <a:xfrm>
            <a:off x="1613661" y="216535"/>
            <a:ext cx="60210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5" dirty="0">
                <a:solidFill>
                  <a:srgbClr val="000000"/>
                </a:solidFill>
                <a:latin typeface="Calibri"/>
                <a:cs typeface="Calibri"/>
              </a:rPr>
              <a:t>Algorithm:</a:t>
            </a:r>
            <a:r>
              <a:rPr sz="2800" spc="-7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110" dirty="0">
                <a:solidFill>
                  <a:srgbClr val="000000"/>
                </a:solidFill>
                <a:latin typeface="Arial MT"/>
                <a:cs typeface="Arial MT"/>
              </a:rPr>
              <a:t>Perceptron</a:t>
            </a:r>
            <a:r>
              <a:rPr sz="280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800" spc="-125" dirty="0">
                <a:solidFill>
                  <a:srgbClr val="000000"/>
                </a:solidFill>
                <a:latin typeface="Arial MT"/>
                <a:cs typeface="Arial MT"/>
              </a:rPr>
              <a:t>Learning</a:t>
            </a:r>
            <a:r>
              <a:rPr sz="2800" spc="-22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000000"/>
                </a:solidFill>
                <a:latin typeface="Arial MT"/>
                <a:cs typeface="Arial MT"/>
              </a:rPr>
              <a:t>Algorithm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67690" y="4746872"/>
            <a:ext cx="4022725" cy="8807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85"/>
              </a:lnSpc>
            </a:pPr>
            <a:r>
              <a:rPr sz="1750" b="1" spc="-25" dirty="0">
                <a:solidFill>
                  <a:srgbClr val="213739"/>
                </a:solidFill>
                <a:latin typeface="Trebuchet MS"/>
                <a:cs typeface="Trebuchet MS"/>
              </a:rPr>
              <a:t>end</a:t>
            </a:r>
            <a:endParaRPr sz="1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//the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algorithm 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converges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when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all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inputs</a:t>
            </a:r>
            <a:endParaRPr sz="1750">
              <a:latin typeface="Arial MT"/>
              <a:cs typeface="Arial MT"/>
            </a:endParaRPr>
          </a:p>
          <a:p>
            <a:pPr marL="121920">
              <a:lnSpc>
                <a:spcPct val="100000"/>
              </a:lnSpc>
              <a:spcBef>
                <a:spcPts val="375"/>
              </a:spcBef>
            </a:pP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are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classified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correctly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781415" y="5603912"/>
            <a:ext cx="196215" cy="206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spc="-25" dirty="0">
                <a:solidFill>
                  <a:srgbClr val="213739"/>
                </a:solidFill>
                <a:latin typeface="Arial MT"/>
                <a:cs typeface="Arial MT"/>
              </a:rPr>
              <a:t>34</a:t>
            </a:r>
            <a:endParaRPr sz="125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0618" y="879347"/>
            <a:ext cx="4396105" cy="0"/>
          </a:xfrm>
          <a:custGeom>
            <a:avLst/>
            <a:gdLst/>
            <a:ahLst/>
            <a:cxnLst/>
            <a:rect l="l" t="t" r="r" b="b"/>
            <a:pathLst>
              <a:path w="4396105">
                <a:moveTo>
                  <a:pt x="0" y="0"/>
                </a:moveTo>
                <a:lnTo>
                  <a:pt x="4396105" y="0"/>
                </a:lnTo>
              </a:path>
            </a:pathLst>
          </a:custGeom>
          <a:ln w="10121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80618" y="1192783"/>
            <a:ext cx="4396105" cy="0"/>
          </a:xfrm>
          <a:custGeom>
            <a:avLst/>
            <a:gdLst/>
            <a:ahLst/>
            <a:cxnLst/>
            <a:rect l="l" t="t" r="r" b="b"/>
            <a:pathLst>
              <a:path w="4396105">
                <a:moveTo>
                  <a:pt x="0" y="0"/>
                </a:moveTo>
                <a:lnTo>
                  <a:pt x="4396105" y="0"/>
                </a:lnTo>
              </a:path>
            </a:pathLst>
          </a:custGeom>
          <a:ln w="10121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67690" y="1151890"/>
            <a:ext cx="1171575" cy="653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7700"/>
              </a:lnSpc>
              <a:spcBef>
                <a:spcPts val="100"/>
              </a:spcBef>
            </a:pP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750" i="1" spc="60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←</a:t>
            </a:r>
            <a:r>
              <a:rPr sz="1750" spc="-1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spc="50" dirty="0">
                <a:solidFill>
                  <a:srgbClr val="213739"/>
                </a:solidFill>
                <a:latin typeface="Calibri"/>
                <a:cs typeface="Calibri"/>
              </a:rPr>
              <a:t>inputs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750" i="1" spc="5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← </a:t>
            </a:r>
            <a:r>
              <a:rPr sz="1750" i="1" spc="50" dirty="0">
                <a:solidFill>
                  <a:srgbClr val="213739"/>
                </a:solidFill>
                <a:latin typeface="Calibri"/>
                <a:cs typeface="Calibri"/>
              </a:rPr>
              <a:t>inputs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27707" y="1143380"/>
            <a:ext cx="473709" cy="653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275" marR="5080" indent="-29209">
              <a:lnSpc>
                <a:spcPct val="117700"/>
              </a:lnSpc>
              <a:spcBef>
                <a:spcPts val="100"/>
              </a:spcBef>
            </a:pPr>
            <a:r>
              <a:rPr sz="1750" i="1" spc="-20" dirty="0">
                <a:solidFill>
                  <a:srgbClr val="213739"/>
                </a:solidFill>
                <a:latin typeface="Calibri"/>
                <a:cs typeface="Calibri"/>
              </a:rPr>
              <a:t>with with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92172" y="1161860"/>
            <a:ext cx="895350" cy="66103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0"/>
              </a:spcBef>
              <a:tabLst>
                <a:tab pos="684530" algn="l"/>
              </a:tabLst>
            </a:pP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label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;</a:t>
            </a:r>
            <a:endParaRPr sz="1750">
              <a:latin typeface="Arial MT"/>
              <a:cs typeface="Arial MT"/>
            </a:endParaRPr>
          </a:p>
          <a:p>
            <a:pPr marL="41275">
              <a:lnSpc>
                <a:spcPct val="100000"/>
              </a:lnSpc>
              <a:spcBef>
                <a:spcPts val="400"/>
              </a:spcBef>
              <a:tabLst>
                <a:tab pos="713740" algn="l"/>
              </a:tabLst>
            </a:pP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label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;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93852" y="2496311"/>
            <a:ext cx="0" cy="2237105"/>
          </a:xfrm>
          <a:custGeom>
            <a:avLst/>
            <a:gdLst/>
            <a:ahLst/>
            <a:cxnLst/>
            <a:rect l="l" t="t" r="r" b="b"/>
            <a:pathLst>
              <a:path h="2237104">
                <a:moveTo>
                  <a:pt x="0" y="2236851"/>
                </a:moveTo>
                <a:lnTo>
                  <a:pt x="0" y="0"/>
                </a:lnTo>
              </a:path>
            </a:pathLst>
          </a:custGeom>
          <a:ln w="5053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67690" y="1790821"/>
            <a:ext cx="2634615" cy="957580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Initialize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1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randomly;</a:t>
            </a:r>
            <a:endParaRPr sz="17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750" b="1" spc="-120" dirty="0">
                <a:solidFill>
                  <a:srgbClr val="213739"/>
                </a:solidFill>
                <a:latin typeface="Trebuchet MS"/>
                <a:cs typeface="Trebuchet MS"/>
              </a:rPr>
              <a:t>while</a:t>
            </a:r>
            <a:r>
              <a:rPr sz="1750" b="1" spc="-20" dirty="0">
                <a:solidFill>
                  <a:srgbClr val="213739"/>
                </a:solidFill>
                <a:latin typeface="Trebuchet MS"/>
                <a:cs typeface="Trebuchet MS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!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convergence</a:t>
            </a:r>
            <a:r>
              <a:rPr sz="1750" i="1" spc="11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spc="-25" dirty="0">
                <a:solidFill>
                  <a:srgbClr val="213739"/>
                </a:solidFill>
                <a:latin typeface="Trebuchet MS"/>
                <a:cs typeface="Trebuchet MS"/>
              </a:rPr>
              <a:t>do</a:t>
            </a:r>
            <a:endParaRPr sz="1750">
              <a:latin typeface="Trebuchet MS"/>
              <a:cs typeface="Trebuchet MS"/>
            </a:endParaRPr>
          </a:p>
          <a:p>
            <a:pPr marL="347980">
              <a:lnSpc>
                <a:spcPct val="100000"/>
              </a:lnSpc>
              <a:spcBef>
                <a:spcPts val="250"/>
              </a:spcBef>
            </a:pP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Pick</a:t>
            </a:r>
            <a:r>
              <a:rPr sz="1750" spc="-1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random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7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∈</a:t>
            </a:r>
            <a:r>
              <a:rPr sz="1750" spc="-30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750" i="1" spc="48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∪</a:t>
            </a:r>
            <a:r>
              <a:rPr sz="1750" spc="-40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750" i="1" spc="48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;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42388" y="2684779"/>
            <a:ext cx="32512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2625" spc="-30" baseline="-23809" dirty="0">
                <a:solidFill>
                  <a:srgbClr val="213739"/>
                </a:solidFill>
                <a:latin typeface="Lucida Sans Unicode"/>
                <a:cs typeface="Lucida Sans Unicode"/>
              </a:rPr>
              <a:t>Σ</a:t>
            </a:r>
            <a:r>
              <a:rPr sz="2625" spc="-412" baseline="-23809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250" i="1" spc="-60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33650" y="2910332"/>
            <a:ext cx="285115" cy="2197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50" i="1" dirty="0">
                <a:solidFill>
                  <a:srgbClr val="213739"/>
                </a:solidFill>
                <a:latin typeface="Calibri"/>
                <a:cs typeface="Calibri"/>
              </a:rPr>
              <a:t>i</a:t>
            </a:r>
            <a:r>
              <a:rPr sz="1250" i="1" spc="-13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250" spc="55" dirty="0">
                <a:solidFill>
                  <a:srgbClr val="213739"/>
                </a:solidFill>
                <a:latin typeface="Calibri"/>
                <a:cs typeface="Calibri"/>
              </a:rPr>
              <a:t>=0 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831592" y="2771648"/>
            <a:ext cx="64833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i="1" baseline="-8888" dirty="0">
                <a:solidFill>
                  <a:srgbClr val="213739"/>
                </a:solidFill>
                <a:latin typeface="Calibri"/>
                <a:cs typeface="Calibri"/>
              </a:rPr>
              <a:t>i</a:t>
            </a:r>
            <a:r>
              <a:rPr sz="1875" i="1" spc="292" baseline="-8888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Lucida Sans Unicode"/>
                <a:cs typeface="Lucida Sans Unicode"/>
              </a:rPr>
              <a:t>∗</a:t>
            </a:r>
            <a:r>
              <a:rPr sz="1750" i="1" spc="-9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i="1" spc="-20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875" i="1" spc="-75" baseline="-8888" dirty="0">
                <a:solidFill>
                  <a:srgbClr val="213739"/>
                </a:solidFill>
                <a:latin typeface="Calibri"/>
                <a:cs typeface="Calibri"/>
              </a:rPr>
              <a:t>i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524758" y="2771648"/>
            <a:ext cx="88900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spc="8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4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spc="-25" dirty="0">
                <a:solidFill>
                  <a:srgbClr val="213739"/>
                </a:solidFill>
                <a:latin typeface="Trebuchet MS"/>
                <a:cs typeface="Trebuchet MS"/>
              </a:rPr>
              <a:t>then</a:t>
            </a:r>
            <a:endParaRPr sz="1750">
              <a:latin typeface="Trebuchet MS"/>
              <a:cs typeface="Trebuchet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29602" y="3123945"/>
            <a:ext cx="0" cy="314325"/>
          </a:xfrm>
          <a:custGeom>
            <a:avLst/>
            <a:gdLst/>
            <a:ahLst/>
            <a:cxnLst/>
            <a:rect l="l" t="t" r="r" b="b"/>
            <a:pathLst>
              <a:path h="314325">
                <a:moveTo>
                  <a:pt x="0" y="313816"/>
                </a:moveTo>
                <a:lnTo>
                  <a:pt x="0" y="0"/>
                </a:lnTo>
              </a:path>
            </a:pathLst>
          </a:custGeom>
          <a:ln w="5053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03580" y="2710688"/>
            <a:ext cx="1534160" cy="678180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0"/>
              </a:spcBef>
              <a:tabLst>
                <a:tab pos="990600" algn="l"/>
              </a:tabLst>
            </a:pPr>
            <a:r>
              <a:rPr sz="1750" b="1" spc="-65" dirty="0">
                <a:solidFill>
                  <a:srgbClr val="213739"/>
                </a:solidFill>
                <a:latin typeface="Trebuchet MS"/>
                <a:cs typeface="Trebuchet MS"/>
              </a:rPr>
              <a:t>if</a:t>
            </a:r>
            <a:r>
              <a:rPr sz="1750" b="1" spc="-155" dirty="0">
                <a:solidFill>
                  <a:srgbClr val="213739"/>
                </a:solidFill>
                <a:latin typeface="Trebuchet MS"/>
                <a:cs typeface="Trebuchet MS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6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∈</a:t>
            </a:r>
            <a:r>
              <a:rPr sz="1750" spc="-32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and</a:t>
            </a:r>
            <a:endParaRPr sz="1750">
              <a:latin typeface="Calibri"/>
              <a:cs typeface="Calibri"/>
            </a:endParaRPr>
          </a:p>
          <a:p>
            <a:pPr marL="347980">
              <a:lnSpc>
                <a:spcPct val="100000"/>
              </a:lnSpc>
              <a:spcBef>
                <a:spcPts val="465"/>
              </a:spcBef>
            </a:pP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2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7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3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+</a:t>
            </a:r>
            <a:r>
              <a:rPr sz="1750" spc="44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25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;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363089" y="3646423"/>
            <a:ext cx="33337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2625" spc="-30" baseline="-31746" dirty="0">
                <a:solidFill>
                  <a:srgbClr val="213739"/>
                </a:solidFill>
                <a:latin typeface="Lucida Sans Unicode"/>
                <a:cs typeface="Lucida Sans Unicode"/>
              </a:rPr>
              <a:t>Σ</a:t>
            </a:r>
            <a:r>
              <a:rPr sz="2625" spc="-322" baseline="-31746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250" i="1" spc="-50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562225" y="3871976"/>
            <a:ext cx="285115" cy="2197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50" i="1" dirty="0">
                <a:solidFill>
                  <a:srgbClr val="213739"/>
                </a:solidFill>
                <a:latin typeface="Calibri"/>
                <a:cs typeface="Calibri"/>
              </a:rPr>
              <a:t>i</a:t>
            </a:r>
            <a:r>
              <a:rPr sz="1250" i="1" spc="-13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250" spc="55" dirty="0">
                <a:solidFill>
                  <a:srgbClr val="213739"/>
                </a:solidFill>
                <a:latin typeface="Calibri"/>
                <a:cs typeface="Calibri"/>
              </a:rPr>
              <a:t>=0 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860548" y="3732987"/>
            <a:ext cx="647065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i="1" baseline="-8888" dirty="0">
                <a:solidFill>
                  <a:srgbClr val="213739"/>
                </a:solidFill>
                <a:latin typeface="Calibri"/>
                <a:cs typeface="Calibri"/>
              </a:rPr>
              <a:t>i</a:t>
            </a:r>
            <a:r>
              <a:rPr sz="1875" i="1" spc="270" baseline="-8888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Lucida Sans Unicode"/>
                <a:cs typeface="Lucida Sans Unicode"/>
              </a:rPr>
              <a:t>∗</a:t>
            </a:r>
            <a:r>
              <a:rPr sz="1750" i="1" spc="-9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i="1" spc="-20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875" i="1" spc="-75" baseline="-8888" dirty="0">
                <a:solidFill>
                  <a:srgbClr val="213739"/>
                </a:solidFill>
                <a:latin typeface="Calibri"/>
                <a:cs typeface="Calibri"/>
              </a:rPr>
              <a:t>i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550411" y="3732987"/>
            <a:ext cx="889635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≥</a:t>
            </a:r>
            <a:r>
              <a:rPr sz="1750" spc="-7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-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spc="-25" dirty="0">
                <a:solidFill>
                  <a:srgbClr val="213739"/>
                </a:solidFill>
                <a:latin typeface="Trebuchet MS"/>
                <a:cs typeface="Trebuchet MS"/>
              </a:rPr>
              <a:t>then</a:t>
            </a:r>
            <a:endParaRPr sz="1750">
              <a:latin typeface="Trebuchet MS"/>
              <a:cs typeface="Trebuchet MS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29602" y="4085463"/>
            <a:ext cx="0" cy="314325"/>
          </a:xfrm>
          <a:custGeom>
            <a:avLst/>
            <a:gdLst/>
            <a:ahLst/>
            <a:cxnLst/>
            <a:rect l="l" t="t" r="r" b="b"/>
            <a:pathLst>
              <a:path h="314325">
                <a:moveTo>
                  <a:pt x="0" y="313817"/>
                </a:moveTo>
                <a:lnTo>
                  <a:pt x="0" y="0"/>
                </a:lnTo>
              </a:path>
            </a:pathLst>
          </a:custGeom>
          <a:ln w="5053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703580" y="3404712"/>
            <a:ext cx="1533525" cy="93853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1750" b="1" spc="-25" dirty="0">
                <a:solidFill>
                  <a:srgbClr val="213739"/>
                </a:solidFill>
                <a:latin typeface="Trebuchet MS"/>
                <a:cs typeface="Trebuchet MS"/>
              </a:rPr>
              <a:t>end</a:t>
            </a:r>
            <a:endParaRPr sz="1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  <a:tabLst>
                <a:tab pos="1019810" algn="l"/>
              </a:tabLst>
            </a:pPr>
            <a:r>
              <a:rPr sz="1750" b="1" spc="-60" dirty="0">
                <a:solidFill>
                  <a:srgbClr val="213739"/>
                </a:solidFill>
                <a:latin typeface="Trebuchet MS"/>
                <a:cs typeface="Trebuchet MS"/>
              </a:rPr>
              <a:t>if</a:t>
            </a:r>
            <a:r>
              <a:rPr sz="1750" b="1" spc="-150" dirty="0">
                <a:solidFill>
                  <a:srgbClr val="213739"/>
                </a:solidFill>
                <a:latin typeface="Trebuchet MS"/>
                <a:cs typeface="Trebuchet MS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7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∈</a:t>
            </a:r>
            <a:r>
              <a:rPr sz="1750" spc="-32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and</a:t>
            </a:r>
            <a:endParaRPr sz="1750">
              <a:latin typeface="Calibri"/>
              <a:cs typeface="Calibri"/>
            </a:endParaRPr>
          </a:p>
          <a:p>
            <a:pPr marL="347980">
              <a:lnSpc>
                <a:spcPct val="100000"/>
              </a:lnSpc>
              <a:spcBef>
                <a:spcPts val="390"/>
              </a:spcBef>
            </a:pP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1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7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4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−</a:t>
            </a:r>
            <a:r>
              <a:rPr sz="1750" spc="-23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26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;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02970" y="4367910"/>
            <a:ext cx="37211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b="1" spc="-90" dirty="0">
                <a:solidFill>
                  <a:srgbClr val="213739"/>
                </a:solidFill>
                <a:latin typeface="Trebuchet MS"/>
                <a:cs typeface="Trebuchet MS"/>
              </a:rPr>
              <a:t>end</a:t>
            </a:r>
            <a:endParaRPr sz="1750">
              <a:latin typeface="Trebuchet MS"/>
              <a:cs typeface="Trebuchet MS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80618" y="5703900"/>
            <a:ext cx="4396105" cy="0"/>
          </a:xfrm>
          <a:custGeom>
            <a:avLst/>
            <a:gdLst/>
            <a:ahLst/>
            <a:cxnLst/>
            <a:rect l="l" t="t" r="r" b="b"/>
            <a:pathLst>
              <a:path w="4396105">
                <a:moveTo>
                  <a:pt x="0" y="0"/>
                </a:moveTo>
                <a:lnTo>
                  <a:pt x="4396105" y="0"/>
                </a:lnTo>
              </a:path>
            </a:pathLst>
          </a:custGeom>
          <a:ln w="10121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 descr="$PPTXTitle"/>
          <p:cNvSpPr txBox="1">
            <a:spLocks noGrp="1"/>
          </p:cNvSpPr>
          <p:nvPr>
            <p:ph type="title"/>
          </p:nvPr>
        </p:nvSpPr>
        <p:spPr>
          <a:xfrm>
            <a:off x="1613661" y="216535"/>
            <a:ext cx="60210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5" dirty="0">
                <a:solidFill>
                  <a:srgbClr val="000000"/>
                </a:solidFill>
                <a:latin typeface="Calibri"/>
                <a:cs typeface="Calibri"/>
              </a:rPr>
              <a:t>Algorithm:</a:t>
            </a:r>
            <a:r>
              <a:rPr sz="2800" spc="-7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110" dirty="0">
                <a:solidFill>
                  <a:srgbClr val="000000"/>
                </a:solidFill>
                <a:latin typeface="Arial MT"/>
                <a:cs typeface="Arial MT"/>
              </a:rPr>
              <a:t>Perceptron</a:t>
            </a:r>
            <a:r>
              <a:rPr sz="280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800" spc="-125" dirty="0">
                <a:solidFill>
                  <a:srgbClr val="000000"/>
                </a:solidFill>
                <a:latin typeface="Arial MT"/>
                <a:cs typeface="Arial MT"/>
              </a:rPr>
              <a:t>Learning</a:t>
            </a:r>
            <a:r>
              <a:rPr sz="2800" spc="-22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000000"/>
                </a:solidFill>
                <a:latin typeface="Arial MT"/>
                <a:cs typeface="Arial MT"/>
              </a:rPr>
              <a:t>Algorithm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67690" y="4746872"/>
            <a:ext cx="4022725" cy="8807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85"/>
              </a:lnSpc>
            </a:pPr>
            <a:r>
              <a:rPr sz="1750" b="1" spc="-25" dirty="0">
                <a:solidFill>
                  <a:srgbClr val="213739"/>
                </a:solidFill>
                <a:latin typeface="Trebuchet MS"/>
                <a:cs typeface="Trebuchet MS"/>
              </a:rPr>
              <a:t>end</a:t>
            </a:r>
            <a:endParaRPr sz="1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//the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algorithm 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converges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when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all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inputs</a:t>
            </a:r>
            <a:endParaRPr sz="1750">
              <a:latin typeface="Arial MT"/>
              <a:cs typeface="Arial MT"/>
            </a:endParaRPr>
          </a:p>
          <a:p>
            <a:pPr marL="121920">
              <a:lnSpc>
                <a:spcPct val="100000"/>
              </a:lnSpc>
              <a:spcBef>
                <a:spcPts val="375"/>
              </a:spcBef>
            </a:pP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are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classified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correctly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781415" y="5603912"/>
            <a:ext cx="196215" cy="206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spc="-25" dirty="0">
                <a:solidFill>
                  <a:srgbClr val="213739"/>
                </a:solidFill>
                <a:latin typeface="Arial MT"/>
                <a:cs typeface="Arial MT"/>
              </a:rPr>
              <a:t>34</a:t>
            </a:r>
            <a:endParaRPr sz="125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0618" y="879347"/>
            <a:ext cx="4396105" cy="0"/>
          </a:xfrm>
          <a:custGeom>
            <a:avLst/>
            <a:gdLst/>
            <a:ahLst/>
            <a:cxnLst/>
            <a:rect l="l" t="t" r="r" b="b"/>
            <a:pathLst>
              <a:path w="4396105">
                <a:moveTo>
                  <a:pt x="0" y="0"/>
                </a:moveTo>
                <a:lnTo>
                  <a:pt x="4396105" y="0"/>
                </a:lnTo>
              </a:path>
            </a:pathLst>
          </a:custGeom>
          <a:ln w="10121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529319" y="6428638"/>
            <a:ext cx="1720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34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80618" y="1192783"/>
            <a:ext cx="4396105" cy="0"/>
          </a:xfrm>
          <a:custGeom>
            <a:avLst/>
            <a:gdLst/>
            <a:ahLst/>
            <a:cxnLst/>
            <a:rect l="l" t="t" r="r" b="b"/>
            <a:pathLst>
              <a:path w="4396105">
                <a:moveTo>
                  <a:pt x="0" y="0"/>
                </a:moveTo>
                <a:lnTo>
                  <a:pt x="4396105" y="0"/>
                </a:lnTo>
              </a:path>
            </a:pathLst>
          </a:custGeom>
          <a:ln w="10121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67690" y="1151890"/>
            <a:ext cx="1171575" cy="653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7700"/>
              </a:lnSpc>
              <a:spcBef>
                <a:spcPts val="100"/>
              </a:spcBef>
            </a:pP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750" i="1" spc="60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←</a:t>
            </a:r>
            <a:r>
              <a:rPr sz="1750" spc="-1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spc="50" dirty="0">
                <a:solidFill>
                  <a:srgbClr val="213739"/>
                </a:solidFill>
                <a:latin typeface="Calibri"/>
                <a:cs typeface="Calibri"/>
              </a:rPr>
              <a:t>inputs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750" i="1" spc="5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← </a:t>
            </a:r>
            <a:r>
              <a:rPr sz="1750" i="1" spc="50" dirty="0">
                <a:solidFill>
                  <a:srgbClr val="213739"/>
                </a:solidFill>
                <a:latin typeface="Calibri"/>
                <a:cs typeface="Calibri"/>
              </a:rPr>
              <a:t>inputs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27707" y="1143380"/>
            <a:ext cx="473709" cy="653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275" marR="5080" indent="-29209">
              <a:lnSpc>
                <a:spcPct val="117700"/>
              </a:lnSpc>
              <a:spcBef>
                <a:spcPts val="100"/>
              </a:spcBef>
            </a:pPr>
            <a:r>
              <a:rPr sz="1750" i="1" spc="-20" dirty="0">
                <a:solidFill>
                  <a:srgbClr val="213739"/>
                </a:solidFill>
                <a:latin typeface="Calibri"/>
                <a:cs typeface="Calibri"/>
              </a:rPr>
              <a:t>with with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92172" y="1161860"/>
            <a:ext cx="895350" cy="66103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0"/>
              </a:spcBef>
              <a:tabLst>
                <a:tab pos="684530" algn="l"/>
              </a:tabLst>
            </a:pP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label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;</a:t>
            </a:r>
            <a:endParaRPr sz="1750">
              <a:latin typeface="Arial MT"/>
              <a:cs typeface="Arial MT"/>
            </a:endParaRPr>
          </a:p>
          <a:p>
            <a:pPr marL="41275">
              <a:lnSpc>
                <a:spcPct val="100000"/>
              </a:lnSpc>
              <a:spcBef>
                <a:spcPts val="400"/>
              </a:spcBef>
              <a:tabLst>
                <a:tab pos="713740" algn="l"/>
              </a:tabLst>
            </a:pP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label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;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7690" y="1790821"/>
            <a:ext cx="2108835" cy="659130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Initialize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1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randomly;</a:t>
            </a:r>
            <a:endParaRPr sz="17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750" b="1" spc="-120" dirty="0">
                <a:solidFill>
                  <a:srgbClr val="213739"/>
                </a:solidFill>
                <a:latin typeface="Trebuchet MS"/>
                <a:cs typeface="Trebuchet MS"/>
              </a:rPr>
              <a:t>while</a:t>
            </a:r>
            <a:r>
              <a:rPr sz="1750" b="1" spc="-20" dirty="0">
                <a:solidFill>
                  <a:srgbClr val="213739"/>
                </a:solidFill>
                <a:latin typeface="Trebuchet MS"/>
                <a:cs typeface="Trebuchet MS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!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convergence</a:t>
            </a:r>
            <a:r>
              <a:rPr sz="1750" i="1" spc="11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spc="-25" dirty="0">
                <a:solidFill>
                  <a:srgbClr val="213739"/>
                </a:solidFill>
                <a:latin typeface="Trebuchet MS"/>
                <a:cs typeface="Trebuchet MS"/>
              </a:rPr>
              <a:t>do</a:t>
            </a:r>
            <a:endParaRPr sz="175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93852" y="2496311"/>
            <a:ext cx="0" cy="2237105"/>
          </a:xfrm>
          <a:custGeom>
            <a:avLst/>
            <a:gdLst/>
            <a:ahLst/>
            <a:cxnLst/>
            <a:rect l="l" t="t" r="r" b="b"/>
            <a:pathLst>
              <a:path h="2237104">
                <a:moveTo>
                  <a:pt x="0" y="2236851"/>
                </a:moveTo>
                <a:lnTo>
                  <a:pt x="0" y="0"/>
                </a:lnTo>
              </a:path>
            </a:pathLst>
          </a:custGeom>
          <a:ln w="5053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703580" y="2457704"/>
            <a:ext cx="229870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Pick</a:t>
            </a:r>
            <a:r>
              <a:rPr sz="1750" spc="-1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random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7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∈</a:t>
            </a:r>
            <a:r>
              <a:rPr sz="1750" spc="-30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750" i="1" spc="48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∪</a:t>
            </a:r>
            <a:r>
              <a:rPr sz="1750" spc="-40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750" i="1" spc="48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;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55214" y="2684475"/>
            <a:ext cx="312420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2625" spc="-30" baseline="-30158" dirty="0">
                <a:solidFill>
                  <a:srgbClr val="213739"/>
                </a:solidFill>
                <a:latin typeface="Lucida Sans Unicode"/>
                <a:cs typeface="Lucida Sans Unicode"/>
              </a:rPr>
              <a:t>Σ</a:t>
            </a:r>
            <a:r>
              <a:rPr sz="2625" spc="-569" baseline="-30158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250" i="1" spc="-50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33650" y="2910332"/>
            <a:ext cx="285115" cy="2197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50" i="1" dirty="0">
                <a:solidFill>
                  <a:srgbClr val="213739"/>
                </a:solidFill>
                <a:latin typeface="Calibri"/>
                <a:cs typeface="Calibri"/>
              </a:rPr>
              <a:t>i</a:t>
            </a:r>
            <a:r>
              <a:rPr sz="1250" i="1" spc="-13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250" spc="55" dirty="0">
                <a:solidFill>
                  <a:srgbClr val="213739"/>
                </a:solidFill>
                <a:latin typeface="Calibri"/>
                <a:cs typeface="Calibri"/>
              </a:rPr>
              <a:t>=0 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831592" y="2771648"/>
            <a:ext cx="64833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i="1" baseline="-8888" dirty="0">
                <a:solidFill>
                  <a:srgbClr val="213739"/>
                </a:solidFill>
                <a:latin typeface="Calibri"/>
                <a:cs typeface="Calibri"/>
              </a:rPr>
              <a:t>i</a:t>
            </a:r>
            <a:r>
              <a:rPr sz="1875" i="1" spc="292" baseline="-8888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Lucida Sans Unicode"/>
                <a:cs typeface="Lucida Sans Unicode"/>
              </a:rPr>
              <a:t>∗</a:t>
            </a:r>
            <a:r>
              <a:rPr sz="1750" i="1" spc="-9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i="1" spc="-20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875" i="1" spc="-75" baseline="-8888" dirty="0">
                <a:solidFill>
                  <a:srgbClr val="213739"/>
                </a:solidFill>
                <a:latin typeface="Calibri"/>
                <a:cs typeface="Calibri"/>
              </a:rPr>
              <a:t>i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524758" y="2771648"/>
            <a:ext cx="88900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spc="8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4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spc="-25" dirty="0">
                <a:solidFill>
                  <a:srgbClr val="213739"/>
                </a:solidFill>
                <a:latin typeface="Trebuchet MS"/>
                <a:cs typeface="Trebuchet MS"/>
              </a:rPr>
              <a:t>then</a:t>
            </a:r>
            <a:endParaRPr sz="1750">
              <a:latin typeface="Trebuchet MS"/>
              <a:cs typeface="Trebuchet M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29602" y="3123945"/>
            <a:ext cx="0" cy="314325"/>
          </a:xfrm>
          <a:custGeom>
            <a:avLst/>
            <a:gdLst/>
            <a:ahLst/>
            <a:cxnLst/>
            <a:rect l="l" t="t" r="r" b="b"/>
            <a:pathLst>
              <a:path h="314325">
                <a:moveTo>
                  <a:pt x="0" y="313816"/>
                </a:moveTo>
                <a:lnTo>
                  <a:pt x="0" y="0"/>
                </a:lnTo>
              </a:path>
            </a:pathLst>
          </a:custGeom>
          <a:ln w="5053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703580" y="2710688"/>
            <a:ext cx="1534160" cy="678180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0"/>
              </a:spcBef>
              <a:tabLst>
                <a:tab pos="990600" algn="l"/>
              </a:tabLst>
            </a:pPr>
            <a:r>
              <a:rPr sz="1750" b="1" spc="-65" dirty="0">
                <a:solidFill>
                  <a:srgbClr val="213739"/>
                </a:solidFill>
                <a:latin typeface="Trebuchet MS"/>
                <a:cs typeface="Trebuchet MS"/>
              </a:rPr>
              <a:t>if</a:t>
            </a:r>
            <a:r>
              <a:rPr sz="1750" b="1" spc="-155" dirty="0">
                <a:solidFill>
                  <a:srgbClr val="213739"/>
                </a:solidFill>
                <a:latin typeface="Trebuchet MS"/>
                <a:cs typeface="Trebuchet MS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6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∈</a:t>
            </a:r>
            <a:r>
              <a:rPr sz="1750" spc="-32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and</a:t>
            </a:r>
            <a:endParaRPr sz="1750" dirty="0">
              <a:latin typeface="Calibri"/>
              <a:cs typeface="Calibri"/>
            </a:endParaRPr>
          </a:p>
          <a:p>
            <a:pPr marL="347980">
              <a:lnSpc>
                <a:spcPct val="100000"/>
              </a:lnSpc>
              <a:spcBef>
                <a:spcPts val="465"/>
              </a:spcBef>
            </a:pP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2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7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3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+</a:t>
            </a:r>
            <a:r>
              <a:rPr sz="1750" spc="44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25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;</a:t>
            </a:r>
            <a:endParaRPr sz="1750" dirty="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335022" y="3646119"/>
            <a:ext cx="361315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2625" baseline="-33333" dirty="0">
                <a:solidFill>
                  <a:srgbClr val="213739"/>
                </a:solidFill>
                <a:latin typeface="Lucida Sans Unicode"/>
                <a:cs typeface="Lucida Sans Unicode"/>
              </a:rPr>
              <a:t>Σ</a:t>
            </a:r>
            <a:r>
              <a:rPr sz="2625" spc="-22" baseline="-33333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250" i="1" spc="-50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562225" y="3871976"/>
            <a:ext cx="285115" cy="2197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50" i="1" dirty="0">
                <a:solidFill>
                  <a:srgbClr val="213739"/>
                </a:solidFill>
                <a:latin typeface="Calibri"/>
                <a:cs typeface="Calibri"/>
              </a:rPr>
              <a:t>i</a:t>
            </a:r>
            <a:r>
              <a:rPr sz="1250" i="1" spc="-13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250" spc="55" dirty="0">
                <a:solidFill>
                  <a:srgbClr val="213739"/>
                </a:solidFill>
                <a:latin typeface="Calibri"/>
                <a:cs typeface="Calibri"/>
              </a:rPr>
              <a:t>=0 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860548" y="3732987"/>
            <a:ext cx="647065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i="1" baseline="-8888" dirty="0">
                <a:solidFill>
                  <a:srgbClr val="213739"/>
                </a:solidFill>
                <a:latin typeface="Calibri"/>
                <a:cs typeface="Calibri"/>
              </a:rPr>
              <a:t>i</a:t>
            </a:r>
            <a:r>
              <a:rPr sz="1875" i="1" spc="270" baseline="-8888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Lucida Sans Unicode"/>
                <a:cs typeface="Lucida Sans Unicode"/>
              </a:rPr>
              <a:t>∗</a:t>
            </a:r>
            <a:r>
              <a:rPr sz="1750" i="1" spc="-9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i="1" spc="-20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875" i="1" spc="-75" baseline="-8888" dirty="0">
                <a:solidFill>
                  <a:srgbClr val="213739"/>
                </a:solidFill>
                <a:latin typeface="Calibri"/>
                <a:cs typeface="Calibri"/>
              </a:rPr>
              <a:t>i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550411" y="3732987"/>
            <a:ext cx="889635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≥</a:t>
            </a:r>
            <a:r>
              <a:rPr sz="1750" spc="-7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-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spc="-25" dirty="0">
                <a:solidFill>
                  <a:srgbClr val="213739"/>
                </a:solidFill>
                <a:latin typeface="Trebuchet MS"/>
                <a:cs typeface="Trebuchet MS"/>
              </a:rPr>
              <a:t>then</a:t>
            </a:r>
            <a:endParaRPr sz="1750">
              <a:latin typeface="Trebuchet MS"/>
              <a:cs typeface="Trebuchet MS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29602" y="4085463"/>
            <a:ext cx="0" cy="314325"/>
          </a:xfrm>
          <a:custGeom>
            <a:avLst/>
            <a:gdLst/>
            <a:ahLst/>
            <a:cxnLst/>
            <a:rect l="l" t="t" r="r" b="b"/>
            <a:pathLst>
              <a:path h="314325">
                <a:moveTo>
                  <a:pt x="0" y="313817"/>
                </a:moveTo>
                <a:lnTo>
                  <a:pt x="0" y="0"/>
                </a:lnTo>
              </a:path>
            </a:pathLst>
          </a:custGeom>
          <a:ln w="5053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703580" y="3404712"/>
            <a:ext cx="1533525" cy="93853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1750" b="1" spc="-25" dirty="0">
                <a:solidFill>
                  <a:srgbClr val="213739"/>
                </a:solidFill>
                <a:latin typeface="Trebuchet MS"/>
                <a:cs typeface="Trebuchet MS"/>
              </a:rPr>
              <a:t>end</a:t>
            </a:r>
            <a:endParaRPr sz="1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  <a:tabLst>
                <a:tab pos="1019810" algn="l"/>
              </a:tabLst>
            </a:pPr>
            <a:r>
              <a:rPr sz="1750" b="1" spc="-60" dirty="0">
                <a:solidFill>
                  <a:srgbClr val="213739"/>
                </a:solidFill>
                <a:latin typeface="Trebuchet MS"/>
                <a:cs typeface="Trebuchet MS"/>
              </a:rPr>
              <a:t>if</a:t>
            </a:r>
            <a:r>
              <a:rPr sz="1750" b="1" spc="-150" dirty="0">
                <a:solidFill>
                  <a:srgbClr val="213739"/>
                </a:solidFill>
                <a:latin typeface="Trebuchet MS"/>
                <a:cs typeface="Trebuchet MS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7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∈</a:t>
            </a:r>
            <a:r>
              <a:rPr sz="1750" spc="-32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and</a:t>
            </a:r>
            <a:endParaRPr sz="1750">
              <a:latin typeface="Calibri"/>
              <a:cs typeface="Calibri"/>
            </a:endParaRPr>
          </a:p>
          <a:p>
            <a:pPr marL="347980">
              <a:lnSpc>
                <a:spcPct val="100000"/>
              </a:lnSpc>
              <a:spcBef>
                <a:spcPts val="390"/>
              </a:spcBef>
            </a:pP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1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7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4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−</a:t>
            </a:r>
            <a:r>
              <a:rPr sz="1750" spc="-23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26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;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67690" y="4298208"/>
            <a:ext cx="4022725" cy="1328420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347980">
              <a:lnSpc>
                <a:spcPct val="100000"/>
              </a:lnSpc>
              <a:spcBef>
                <a:spcPts val="635"/>
              </a:spcBef>
            </a:pPr>
            <a:r>
              <a:rPr sz="1750" b="1" spc="-25" dirty="0">
                <a:solidFill>
                  <a:srgbClr val="213739"/>
                </a:solidFill>
                <a:latin typeface="Trebuchet MS"/>
                <a:cs typeface="Trebuchet MS"/>
              </a:rPr>
              <a:t>end</a:t>
            </a:r>
            <a:endParaRPr sz="1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750" b="1" spc="-25" dirty="0">
                <a:solidFill>
                  <a:srgbClr val="213739"/>
                </a:solidFill>
                <a:latin typeface="Trebuchet MS"/>
                <a:cs typeface="Trebuchet MS"/>
              </a:rPr>
              <a:t>end</a:t>
            </a:r>
            <a:endParaRPr sz="1750">
              <a:latin typeface="Trebuchet MS"/>
              <a:cs typeface="Trebuchet MS"/>
            </a:endParaRPr>
          </a:p>
          <a:p>
            <a:pPr marL="121920" marR="5080" indent="-109855">
              <a:lnSpc>
                <a:spcPct val="117700"/>
              </a:lnSpc>
              <a:spcBef>
                <a:spcPts val="40"/>
              </a:spcBef>
            </a:pP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//the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algorithm 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converges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when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all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inputs 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are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classified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correctly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80618" y="5703900"/>
            <a:ext cx="4396105" cy="0"/>
          </a:xfrm>
          <a:custGeom>
            <a:avLst/>
            <a:gdLst/>
            <a:ahLst/>
            <a:cxnLst/>
            <a:rect l="l" t="t" r="r" b="b"/>
            <a:pathLst>
              <a:path w="4396105">
                <a:moveTo>
                  <a:pt x="0" y="0"/>
                </a:moveTo>
                <a:lnTo>
                  <a:pt x="4396105" y="0"/>
                </a:lnTo>
              </a:path>
            </a:pathLst>
          </a:custGeom>
          <a:ln w="10121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5580634" y="868171"/>
            <a:ext cx="3211830" cy="1351915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13970" algn="just">
              <a:lnSpc>
                <a:spcPct val="100000"/>
              </a:lnSpc>
              <a:spcBef>
                <a:spcPts val="750"/>
              </a:spcBef>
            </a:pP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Why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would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this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work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?</a:t>
            </a:r>
            <a:endParaRPr sz="1750">
              <a:latin typeface="Arial MT"/>
              <a:cs typeface="Arial MT"/>
            </a:endParaRPr>
          </a:p>
          <a:p>
            <a:pPr marL="17145" marR="5080" indent="-5080" algn="just">
              <a:lnSpc>
                <a:spcPct val="117800"/>
              </a:lnSpc>
              <a:spcBef>
                <a:spcPts val="275"/>
              </a:spcBef>
            </a:pPr>
            <a:r>
              <a:rPr sz="1750" spc="-215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1750" spc="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understand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why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this</a:t>
            </a:r>
            <a:r>
              <a:rPr sz="1750" spc="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works</a:t>
            </a:r>
            <a:r>
              <a:rPr sz="1750" spc="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we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will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50" dirty="0">
                <a:solidFill>
                  <a:srgbClr val="213739"/>
                </a:solidFill>
                <a:latin typeface="Arial MT"/>
                <a:cs typeface="Arial MT"/>
              </a:rPr>
              <a:t>have</a:t>
            </a:r>
            <a:r>
              <a:rPr sz="1750" spc="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1750" spc="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get</a:t>
            </a:r>
            <a:r>
              <a:rPr sz="1750" spc="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into</a:t>
            </a:r>
            <a:r>
              <a:rPr sz="1750" spc="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a</a:t>
            </a:r>
            <a:r>
              <a:rPr sz="1750" spc="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bit</a:t>
            </a:r>
            <a:r>
              <a:rPr sz="1750" spc="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Linear 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Algebra</a:t>
            </a:r>
            <a:r>
              <a:rPr sz="1750" spc="-1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750" spc="-1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a</a:t>
            </a:r>
            <a:r>
              <a:rPr sz="1750" spc="-2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bit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geometry...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26" name="object 26" descr="$PPTXTitle"/>
          <p:cNvSpPr txBox="1">
            <a:spLocks noGrp="1"/>
          </p:cNvSpPr>
          <p:nvPr>
            <p:ph type="title"/>
          </p:nvPr>
        </p:nvSpPr>
        <p:spPr>
          <a:xfrm>
            <a:off x="1613661" y="216535"/>
            <a:ext cx="60210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5" dirty="0">
                <a:solidFill>
                  <a:srgbClr val="000000"/>
                </a:solidFill>
                <a:latin typeface="Calibri"/>
                <a:cs typeface="Calibri"/>
              </a:rPr>
              <a:t>Algorithm:</a:t>
            </a:r>
            <a:r>
              <a:rPr sz="2800" spc="-7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110" dirty="0">
                <a:solidFill>
                  <a:srgbClr val="000000"/>
                </a:solidFill>
                <a:latin typeface="Arial MT"/>
                <a:cs typeface="Arial MT"/>
              </a:rPr>
              <a:t>Perceptron</a:t>
            </a:r>
            <a:r>
              <a:rPr sz="280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800" spc="-125" dirty="0">
                <a:solidFill>
                  <a:srgbClr val="000000"/>
                </a:solidFill>
                <a:latin typeface="Arial MT"/>
                <a:cs typeface="Arial MT"/>
              </a:rPr>
              <a:t>Learning</a:t>
            </a:r>
            <a:r>
              <a:rPr sz="2800" spc="-22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000000"/>
                </a:solidFill>
                <a:latin typeface="Arial MT"/>
                <a:cs typeface="Arial MT"/>
              </a:rPr>
              <a:t>Algorithm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781415" y="5603912"/>
            <a:ext cx="196215" cy="206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spc="-25" dirty="0">
                <a:solidFill>
                  <a:srgbClr val="213739"/>
                </a:solidFill>
                <a:latin typeface="Arial MT"/>
                <a:cs typeface="Arial MT"/>
              </a:rPr>
              <a:t>35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04468" y="946530"/>
            <a:ext cx="266255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Consider</a:t>
            </a:r>
            <a:r>
              <a:rPr sz="1750" spc="-1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two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vectors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8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750" spc="-1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spc="-5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endParaRPr sz="175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781415" y="5603912"/>
            <a:ext cx="196215" cy="206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spc="-25" dirty="0">
                <a:solidFill>
                  <a:srgbClr val="213739"/>
                </a:solidFill>
                <a:latin typeface="Arial MT"/>
                <a:cs typeface="Arial MT"/>
              </a:rPr>
              <a:t>35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791463" y="946530"/>
            <a:ext cx="3060065" cy="11899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</a:pP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Consider</a:t>
            </a:r>
            <a:r>
              <a:rPr sz="1750" spc="-1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two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vectors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8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750" spc="-1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spc="-5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endParaRPr sz="1750">
              <a:latin typeface="Calibri"/>
              <a:cs typeface="Calibri"/>
            </a:endParaRPr>
          </a:p>
          <a:p>
            <a:pPr marL="843915">
              <a:lnSpc>
                <a:spcPct val="100000"/>
              </a:lnSpc>
              <a:spcBef>
                <a:spcPts val="2075"/>
              </a:spcBef>
              <a:tabLst>
                <a:tab pos="1348105" algn="l"/>
              </a:tabLst>
            </a:pP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33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	[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-4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-5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...,</a:t>
            </a:r>
            <a:r>
              <a:rPr sz="1750" i="1" spc="-6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i="1" spc="-37" baseline="-8888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]</a:t>
            </a:r>
            <a:endParaRPr sz="1750">
              <a:latin typeface="Calibri"/>
              <a:cs typeface="Calibri"/>
            </a:endParaRPr>
          </a:p>
          <a:p>
            <a:pPr marL="895350">
              <a:lnSpc>
                <a:spcPct val="100000"/>
              </a:lnSpc>
              <a:spcBef>
                <a:spcPts val="805"/>
              </a:spcBef>
            </a:pP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8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100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[1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-8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spc="6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89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875" spc="-217" baseline="-8888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2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spc="6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89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875" spc="-225" baseline="-8888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2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...,</a:t>
            </a:r>
            <a:r>
              <a:rPr sz="1750" i="1" spc="-10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spc="3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i="1" spc="52" baseline="-8888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750" spc="35" dirty="0">
                <a:solidFill>
                  <a:srgbClr val="213739"/>
                </a:solidFill>
                <a:latin typeface="Calibri"/>
                <a:cs typeface="Calibri"/>
              </a:rPr>
              <a:t>]</a:t>
            </a:r>
            <a:endParaRPr sz="175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04468" y="946530"/>
            <a:ext cx="266255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Consider</a:t>
            </a:r>
            <a:r>
              <a:rPr sz="1750" spc="-1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two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vectors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8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750" spc="-1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spc="-5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98041" y="1365203"/>
            <a:ext cx="2241550" cy="1047115"/>
          </a:xfrm>
          <a:prstGeom prst="rect">
            <a:avLst/>
          </a:prstGeom>
        </p:spPr>
        <p:txBody>
          <a:bodyPr vert="horz" wrap="square" lIns="0" tIns="1250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85"/>
              </a:spcBef>
              <a:tabLst>
                <a:tab pos="542290" algn="l"/>
              </a:tabLst>
            </a:pP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33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	[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-4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-5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...,</a:t>
            </a:r>
            <a:r>
              <a:rPr sz="1750" i="1" spc="-6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i="1" spc="-37" baseline="-8888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]</a:t>
            </a:r>
            <a:endParaRPr sz="1750">
              <a:latin typeface="Calibri"/>
              <a:cs typeface="Calibri"/>
            </a:endParaRPr>
          </a:p>
          <a:p>
            <a:pPr marL="89535">
              <a:lnSpc>
                <a:spcPct val="100000"/>
              </a:lnSpc>
              <a:spcBef>
                <a:spcPts val="890"/>
              </a:spcBef>
            </a:pP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8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10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[1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-9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spc="6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89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875" spc="-217" baseline="-8888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2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spc="6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89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875" spc="-225" baseline="-8888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2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...,</a:t>
            </a:r>
            <a:r>
              <a:rPr sz="1750" i="1" spc="-10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spc="3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i="1" spc="52" baseline="-8888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750" spc="35" dirty="0">
                <a:solidFill>
                  <a:srgbClr val="213739"/>
                </a:solidFill>
                <a:latin typeface="Calibri"/>
                <a:cs typeface="Calibri"/>
              </a:rPr>
              <a:t>]</a:t>
            </a:r>
            <a:endParaRPr sz="1750">
              <a:latin typeface="Calibri"/>
              <a:cs typeface="Calibri"/>
            </a:endParaRPr>
          </a:p>
          <a:p>
            <a:pPr marL="615315" algn="ctr">
              <a:lnSpc>
                <a:spcPct val="100000"/>
              </a:lnSpc>
              <a:spcBef>
                <a:spcPts val="560"/>
              </a:spcBef>
            </a:pPr>
            <a:r>
              <a:rPr sz="1250" i="1" spc="-50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92478" y="2381758"/>
            <a:ext cx="258127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1934210" algn="l"/>
              </a:tabLst>
            </a:pP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7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Lucida Sans Unicode"/>
                <a:cs typeface="Lucida Sans Unicode"/>
              </a:rPr>
              <a:t>·</a:t>
            </a:r>
            <a:r>
              <a:rPr sz="1750" b="1" spc="-1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29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50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b="1" spc="-2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-20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875" b="1" baseline="26666" dirty="0">
                <a:solidFill>
                  <a:srgbClr val="213739"/>
                </a:solidFill>
                <a:latin typeface="Calibri"/>
                <a:cs typeface="Calibri"/>
              </a:rPr>
              <a:t>T</a:t>
            </a:r>
            <a:r>
              <a:rPr sz="1875" b="1" spc="247" baseline="26666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0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i="1" baseline="-17777" dirty="0">
                <a:solidFill>
                  <a:srgbClr val="213739"/>
                </a:solidFill>
                <a:latin typeface="Calibri"/>
                <a:cs typeface="Calibri"/>
              </a:rPr>
              <a:t>i</a:t>
            </a:r>
            <a:r>
              <a:rPr sz="1875" i="1" spc="509" baseline="-17777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Lucida Sans Unicode"/>
                <a:cs typeface="Lucida Sans Unicode"/>
              </a:rPr>
              <a:t>∗</a:t>
            </a:r>
            <a:r>
              <a:rPr sz="1750" i="1" spc="-10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i="1" spc="-14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875" i="1" spc="-75" baseline="-17777" dirty="0">
                <a:solidFill>
                  <a:srgbClr val="213739"/>
                </a:solidFill>
                <a:latin typeface="Calibri"/>
                <a:cs typeface="Calibri"/>
              </a:rPr>
              <a:t>i</a:t>
            </a:r>
            <a:endParaRPr sz="1875" baseline="-17777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81629" y="2396782"/>
            <a:ext cx="284480" cy="543560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56515">
              <a:lnSpc>
                <a:spcPct val="100000"/>
              </a:lnSpc>
              <a:spcBef>
                <a:spcPts val="355"/>
              </a:spcBef>
            </a:pPr>
            <a:r>
              <a:rPr sz="1750" spc="-50" dirty="0">
                <a:solidFill>
                  <a:srgbClr val="213739"/>
                </a:solidFill>
                <a:latin typeface="Lucida Sans Unicode"/>
                <a:cs typeface="Lucida Sans Unicode"/>
              </a:rPr>
              <a:t>Σ</a:t>
            </a:r>
            <a:endParaRPr sz="17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250" i="1" dirty="0">
                <a:solidFill>
                  <a:srgbClr val="213739"/>
                </a:solidFill>
                <a:latin typeface="Calibri"/>
                <a:cs typeface="Calibri"/>
              </a:rPr>
              <a:t>i</a:t>
            </a:r>
            <a:r>
              <a:rPr sz="1250" i="1" spc="-13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250" spc="55" dirty="0">
                <a:solidFill>
                  <a:srgbClr val="213739"/>
                </a:solidFill>
                <a:latin typeface="Calibri"/>
                <a:cs typeface="Calibri"/>
              </a:rPr>
              <a:t>=0 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89940" y="3019805"/>
            <a:ext cx="3617595" cy="1595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" marR="17780" indent="-5080">
              <a:lnSpc>
                <a:spcPct val="117100"/>
              </a:lnSpc>
              <a:spcBef>
                <a:spcPts val="100"/>
              </a:spcBef>
            </a:pP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can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thus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rewrite</a:t>
            </a:r>
            <a:r>
              <a:rPr sz="1750" spc="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perceptron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rule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as</a:t>
            </a:r>
            <a:endParaRPr sz="17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endParaRPr sz="1750">
              <a:latin typeface="Arial MT"/>
              <a:cs typeface="Arial MT"/>
            </a:endParaRPr>
          </a:p>
          <a:p>
            <a:pPr marR="787400" algn="r">
              <a:lnSpc>
                <a:spcPct val="100000"/>
              </a:lnSpc>
              <a:spcBef>
                <a:spcPts val="5"/>
              </a:spcBef>
              <a:tabLst>
                <a:tab pos="738505" algn="l"/>
                <a:tab pos="1165225" algn="l"/>
              </a:tabLst>
            </a:pP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y</a:t>
            </a:r>
            <a:r>
              <a:rPr sz="1750" i="1" spc="15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9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55" dirty="0">
                <a:solidFill>
                  <a:srgbClr val="213739"/>
                </a:solidFill>
                <a:latin typeface="Calibri"/>
                <a:cs typeface="Calibri"/>
              </a:rPr>
              <a:t>if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b="1" spc="-2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-10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875" b="1" baseline="26666" dirty="0">
                <a:solidFill>
                  <a:srgbClr val="213739"/>
                </a:solidFill>
                <a:latin typeface="Calibri"/>
                <a:cs typeface="Calibri"/>
              </a:rPr>
              <a:t>T</a:t>
            </a:r>
            <a:r>
              <a:rPr sz="1875" b="1" spc="7" baseline="26666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6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≥</a:t>
            </a:r>
            <a:r>
              <a:rPr sz="1750" spc="-9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endParaRPr sz="1750">
              <a:latin typeface="Calibri"/>
              <a:cs typeface="Calibri"/>
            </a:endParaRPr>
          </a:p>
          <a:p>
            <a:pPr marR="787400" algn="r">
              <a:lnSpc>
                <a:spcPct val="100000"/>
              </a:lnSpc>
              <a:spcBef>
                <a:spcPts val="994"/>
              </a:spcBef>
              <a:tabLst>
                <a:tab pos="560705" algn="l"/>
                <a:tab pos="987425" algn="l"/>
              </a:tabLst>
            </a:pP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70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65" dirty="0">
                <a:solidFill>
                  <a:srgbClr val="213739"/>
                </a:solidFill>
                <a:latin typeface="Calibri"/>
                <a:cs typeface="Calibri"/>
              </a:rPr>
              <a:t>if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b="1" spc="-2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-10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875" b="1" baseline="26666" dirty="0">
                <a:solidFill>
                  <a:srgbClr val="213739"/>
                </a:solidFill>
                <a:latin typeface="Calibri"/>
                <a:cs typeface="Calibri"/>
              </a:rPr>
              <a:t>T</a:t>
            </a:r>
            <a:r>
              <a:rPr sz="1875" b="1" spc="7" baseline="26666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40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spc="7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781415" y="5603912"/>
            <a:ext cx="196215" cy="206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spc="-25" dirty="0">
                <a:solidFill>
                  <a:srgbClr val="213739"/>
                </a:solidFill>
                <a:latin typeface="Arial MT"/>
                <a:cs typeface="Arial MT"/>
              </a:rPr>
              <a:t>35</a:t>
            </a:r>
            <a:endParaRPr sz="125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4468" y="946530"/>
            <a:ext cx="266255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Consider</a:t>
            </a:r>
            <a:r>
              <a:rPr sz="1750" spc="-1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two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vectors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8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750" spc="-1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spc="-5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98041" y="1365203"/>
            <a:ext cx="2241550" cy="1047115"/>
          </a:xfrm>
          <a:prstGeom prst="rect">
            <a:avLst/>
          </a:prstGeom>
        </p:spPr>
        <p:txBody>
          <a:bodyPr vert="horz" wrap="square" lIns="0" tIns="1250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85"/>
              </a:spcBef>
              <a:tabLst>
                <a:tab pos="542290" algn="l"/>
              </a:tabLst>
            </a:pP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33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	[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-4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-5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...,</a:t>
            </a:r>
            <a:r>
              <a:rPr sz="1750" i="1" spc="-6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i="1" spc="-37" baseline="-8888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]</a:t>
            </a:r>
            <a:endParaRPr sz="1750">
              <a:latin typeface="Calibri"/>
              <a:cs typeface="Calibri"/>
            </a:endParaRPr>
          </a:p>
          <a:p>
            <a:pPr marL="89535">
              <a:lnSpc>
                <a:spcPct val="100000"/>
              </a:lnSpc>
              <a:spcBef>
                <a:spcPts val="890"/>
              </a:spcBef>
            </a:pP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8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10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[1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-9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spc="6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89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875" spc="-217" baseline="-8888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2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spc="6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89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875" spc="-225" baseline="-8888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2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...,</a:t>
            </a:r>
            <a:r>
              <a:rPr sz="1750" i="1" spc="-10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spc="3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i="1" spc="52" baseline="-8888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750" spc="35" dirty="0">
                <a:solidFill>
                  <a:srgbClr val="213739"/>
                </a:solidFill>
                <a:latin typeface="Calibri"/>
                <a:cs typeface="Calibri"/>
              </a:rPr>
              <a:t>]</a:t>
            </a:r>
            <a:endParaRPr sz="1750">
              <a:latin typeface="Calibri"/>
              <a:cs typeface="Calibri"/>
            </a:endParaRPr>
          </a:p>
          <a:p>
            <a:pPr marL="615315" algn="ctr">
              <a:lnSpc>
                <a:spcPct val="100000"/>
              </a:lnSpc>
              <a:spcBef>
                <a:spcPts val="560"/>
              </a:spcBef>
            </a:pPr>
            <a:r>
              <a:rPr sz="1250" i="1" spc="-50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05178" y="2381758"/>
            <a:ext cx="148209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7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Lucida Sans Unicode"/>
                <a:cs typeface="Lucida Sans Unicode"/>
              </a:rPr>
              <a:t>·</a:t>
            </a:r>
            <a:r>
              <a:rPr sz="1750" b="1" spc="-1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29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50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b="1" spc="-2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-20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875" b="1" baseline="26666" dirty="0">
                <a:solidFill>
                  <a:srgbClr val="213739"/>
                </a:solidFill>
                <a:latin typeface="Calibri"/>
                <a:cs typeface="Calibri"/>
              </a:rPr>
              <a:t>T</a:t>
            </a:r>
            <a:r>
              <a:rPr sz="1875" b="1" spc="247" baseline="26666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0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89097" y="2381758"/>
            <a:ext cx="67183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i="1" baseline="-17777" dirty="0">
                <a:solidFill>
                  <a:srgbClr val="213739"/>
                </a:solidFill>
                <a:latin typeface="Calibri"/>
                <a:cs typeface="Calibri"/>
              </a:rPr>
              <a:t>i</a:t>
            </a:r>
            <a:r>
              <a:rPr sz="1875" i="1" spc="509" baseline="-17777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Lucida Sans Unicode"/>
                <a:cs typeface="Lucida Sans Unicode"/>
              </a:rPr>
              <a:t>∗</a:t>
            </a:r>
            <a:r>
              <a:rPr sz="1750" i="1" spc="-10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i="1" spc="-14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875" i="1" spc="-75" baseline="-17777" dirty="0">
                <a:solidFill>
                  <a:srgbClr val="213739"/>
                </a:solidFill>
                <a:latin typeface="Calibri"/>
                <a:cs typeface="Calibri"/>
              </a:rPr>
              <a:t>i</a:t>
            </a:r>
            <a:endParaRPr sz="1875" baseline="-17777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81629" y="2353222"/>
            <a:ext cx="284480" cy="587375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56515">
              <a:lnSpc>
                <a:spcPct val="100000"/>
              </a:lnSpc>
              <a:spcBef>
                <a:spcPts val="555"/>
              </a:spcBef>
            </a:pPr>
            <a:r>
              <a:rPr sz="1750" spc="-50" dirty="0">
                <a:solidFill>
                  <a:srgbClr val="213739"/>
                </a:solidFill>
                <a:latin typeface="Lucida Sans Unicode"/>
                <a:cs typeface="Lucida Sans Unicode"/>
              </a:rPr>
              <a:t>Σ</a:t>
            </a:r>
            <a:endParaRPr sz="17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1250" i="1" dirty="0">
                <a:solidFill>
                  <a:srgbClr val="213739"/>
                </a:solidFill>
                <a:latin typeface="Calibri"/>
                <a:cs typeface="Calibri"/>
              </a:rPr>
              <a:t>i</a:t>
            </a:r>
            <a:r>
              <a:rPr sz="1250" i="1" spc="-13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250" spc="55" dirty="0">
                <a:solidFill>
                  <a:srgbClr val="213739"/>
                </a:solidFill>
                <a:latin typeface="Calibri"/>
                <a:cs typeface="Calibri"/>
              </a:rPr>
              <a:t>=0 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9940" y="3019805"/>
            <a:ext cx="3617595" cy="1595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" marR="17780" indent="-5080">
              <a:lnSpc>
                <a:spcPct val="117100"/>
              </a:lnSpc>
              <a:spcBef>
                <a:spcPts val="100"/>
              </a:spcBef>
            </a:pP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can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thus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rewrite</a:t>
            </a:r>
            <a:r>
              <a:rPr sz="1750" spc="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perceptron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rule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as</a:t>
            </a:r>
            <a:endParaRPr sz="17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endParaRPr sz="1750">
              <a:latin typeface="Arial MT"/>
              <a:cs typeface="Arial MT"/>
            </a:endParaRPr>
          </a:p>
          <a:p>
            <a:pPr marR="787400" algn="r">
              <a:lnSpc>
                <a:spcPct val="100000"/>
              </a:lnSpc>
              <a:spcBef>
                <a:spcPts val="5"/>
              </a:spcBef>
              <a:tabLst>
                <a:tab pos="738505" algn="l"/>
                <a:tab pos="1165225" algn="l"/>
              </a:tabLst>
            </a:pP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y</a:t>
            </a:r>
            <a:r>
              <a:rPr sz="1750" i="1" spc="15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9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55" dirty="0">
                <a:solidFill>
                  <a:srgbClr val="213739"/>
                </a:solidFill>
                <a:latin typeface="Calibri"/>
                <a:cs typeface="Calibri"/>
              </a:rPr>
              <a:t>if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b="1" spc="-2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-10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875" b="1" baseline="26666" dirty="0">
                <a:solidFill>
                  <a:srgbClr val="213739"/>
                </a:solidFill>
                <a:latin typeface="Calibri"/>
                <a:cs typeface="Calibri"/>
              </a:rPr>
              <a:t>T</a:t>
            </a:r>
            <a:r>
              <a:rPr sz="1875" b="1" spc="7" baseline="26666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6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≥</a:t>
            </a:r>
            <a:r>
              <a:rPr sz="1750" spc="-9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endParaRPr sz="1750">
              <a:latin typeface="Calibri"/>
              <a:cs typeface="Calibri"/>
            </a:endParaRPr>
          </a:p>
          <a:p>
            <a:pPr marR="787400" algn="r">
              <a:lnSpc>
                <a:spcPct val="100000"/>
              </a:lnSpc>
              <a:spcBef>
                <a:spcPts val="994"/>
              </a:spcBef>
              <a:tabLst>
                <a:tab pos="560705" algn="l"/>
                <a:tab pos="987425" algn="l"/>
              </a:tabLst>
            </a:pP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70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65" dirty="0">
                <a:solidFill>
                  <a:srgbClr val="213739"/>
                </a:solidFill>
                <a:latin typeface="Calibri"/>
                <a:cs typeface="Calibri"/>
              </a:rPr>
              <a:t>if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b="1" spc="-2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-10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875" b="1" baseline="26666" dirty="0">
                <a:solidFill>
                  <a:srgbClr val="213739"/>
                </a:solidFill>
                <a:latin typeface="Calibri"/>
                <a:cs typeface="Calibri"/>
              </a:rPr>
              <a:t>T</a:t>
            </a:r>
            <a:r>
              <a:rPr sz="1875" b="1" spc="7" baseline="26666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40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spc="7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156327" y="875537"/>
            <a:ext cx="3665854" cy="967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640" marR="30480" indent="-3175" algn="just">
              <a:lnSpc>
                <a:spcPct val="117700"/>
              </a:lnSpc>
              <a:spcBef>
                <a:spcPts val="100"/>
              </a:spcBef>
            </a:pP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1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5" dirty="0">
                <a:solidFill>
                  <a:srgbClr val="213739"/>
                </a:solidFill>
                <a:latin typeface="Arial MT"/>
                <a:cs typeface="Arial MT"/>
              </a:rPr>
              <a:t>are</a:t>
            </a:r>
            <a:r>
              <a:rPr sz="1750" spc="1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interested</a:t>
            </a:r>
            <a:r>
              <a:rPr sz="1750" spc="1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in</a:t>
            </a:r>
            <a:r>
              <a:rPr sz="1750" spc="1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finding</a:t>
            </a:r>
            <a:r>
              <a:rPr sz="1750" spc="1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1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line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spc="-1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-10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875" b="1" baseline="24444" dirty="0">
                <a:solidFill>
                  <a:srgbClr val="213739"/>
                </a:solidFill>
                <a:latin typeface="Calibri"/>
                <a:cs typeface="Calibri"/>
              </a:rPr>
              <a:t>T</a:t>
            </a:r>
            <a:r>
              <a:rPr sz="1875" b="1" spc="15" baseline="2444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spc="-1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47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67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13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which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divides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input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space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into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two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halves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781415" y="5603912"/>
            <a:ext cx="196215" cy="206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spc="-25" dirty="0">
                <a:solidFill>
                  <a:srgbClr val="213739"/>
                </a:solidFill>
                <a:latin typeface="Arial MT"/>
                <a:cs typeface="Arial MT"/>
              </a:rPr>
              <a:t>35</a:t>
            </a:r>
            <a:endParaRPr sz="125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4468" y="946530"/>
            <a:ext cx="266255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Consider</a:t>
            </a:r>
            <a:r>
              <a:rPr sz="1750" spc="-1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two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vectors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8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750" spc="-1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spc="-5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98041" y="1365203"/>
            <a:ext cx="2241550" cy="784225"/>
          </a:xfrm>
          <a:prstGeom prst="rect">
            <a:avLst/>
          </a:prstGeom>
        </p:spPr>
        <p:txBody>
          <a:bodyPr vert="horz" wrap="square" lIns="0" tIns="1250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85"/>
              </a:spcBef>
              <a:tabLst>
                <a:tab pos="542290" algn="l"/>
              </a:tabLst>
            </a:pP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33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	[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-4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-5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...,</a:t>
            </a:r>
            <a:r>
              <a:rPr sz="1750" i="1" spc="-6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i="1" spc="-37" baseline="-8888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]</a:t>
            </a:r>
            <a:endParaRPr sz="1750">
              <a:latin typeface="Calibri"/>
              <a:cs typeface="Calibri"/>
            </a:endParaRPr>
          </a:p>
          <a:p>
            <a:pPr marL="89535">
              <a:lnSpc>
                <a:spcPct val="100000"/>
              </a:lnSpc>
              <a:spcBef>
                <a:spcPts val="890"/>
              </a:spcBef>
            </a:pP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8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10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[1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-9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spc="6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89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875" spc="-217" baseline="-8888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2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spc="6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89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875" spc="-225" baseline="-8888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2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...,</a:t>
            </a:r>
            <a:r>
              <a:rPr sz="1750" i="1" spc="-10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spc="3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i="1" spc="52" baseline="-8888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750" spc="35" dirty="0">
                <a:solidFill>
                  <a:srgbClr val="213739"/>
                </a:solidFill>
                <a:latin typeface="Calibri"/>
                <a:cs typeface="Calibri"/>
              </a:rPr>
              <a:t>]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81629" y="2148916"/>
            <a:ext cx="284480" cy="791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3025">
              <a:lnSpc>
                <a:spcPct val="100000"/>
              </a:lnSpc>
              <a:spcBef>
                <a:spcPts val="100"/>
              </a:spcBef>
            </a:pPr>
            <a:r>
              <a:rPr sz="1800" i="1" spc="-50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endParaRPr sz="1800">
              <a:latin typeface="Calibri"/>
              <a:cs typeface="Calibri"/>
            </a:endParaRPr>
          </a:p>
          <a:p>
            <a:pPr marL="76200">
              <a:lnSpc>
                <a:spcPct val="100000"/>
              </a:lnSpc>
              <a:spcBef>
                <a:spcPts val="55"/>
              </a:spcBef>
            </a:pPr>
            <a:r>
              <a:rPr sz="1750" spc="-50" dirty="0">
                <a:solidFill>
                  <a:srgbClr val="213739"/>
                </a:solidFill>
                <a:latin typeface="Lucida Sans Unicode"/>
                <a:cs typeface="Lucida Sans Unicode"/>
              </a:rPr>
              <a:t>Σ</a:t>
            </a:r>
            <a:endParaRPr sz="17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209"/>
              </a:spcBef>
            </a:pPr>
            <a:r>
              <a:rPr sz="1250" i="1" dirty="0">
                <a:solidFill>
                  <a:srgbClr val="213739"/>
                </a:solidFill>
                <a:latin typeface="Calibri"/>
                <a:cs typeface="Calibri"/>
              </a:rPr>
              <a:t>i</a:t>
            </a:r>
            <a:r>
              <a:rPr sz="1250" i="1" spc="-13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250" spc="55" dirty="0">
                <a:solidFill>
                  <a:srgbClr val="213739"/>
                </a:solidFill>
                <a:latin typeface="Calibri"/>
                <a:cs typeface="Calibri"/>
              </a:rPr>
              <a:t>=0 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31213" y="2300985"/>
            <a:ext cx="1431290" cy="39878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R="362585" algn="r">
              <a:lnSpc>
                <a:spcPts val="1160"/>
              </a:lnSpc>
              <a:spcBef>
                <a:spcPts val="120"/>
              </a:spcBef>
            </a:pPr>
            <a:r>
              <a:rPr sz="1250" b="1" spc="-50" dirty="0">
                <a:solidFill>
                  <a:srgbClr val="213739"/>
                </a:solidFill>
                <a:latin typeface="Calibri"/>
                <a:cs typeface="Calibri"/>
              </a:rPr>
              <a:t>T</a:t>
            </a:r>
            <a:endParaRPr sz="1250">
              <a:latin typeface="Calibri"/>
              <a:cs typeface="Calibri"/>
            </a:endParaRPr>
          </a:p>
          <a:p>
            <a:pPr marL="12700">
              <a:lnSpc>
                <a:spcPts val="1760"/>
              </a:lnSpc>
              <a:tabLst>
                <a:tab pos="1111250" algn="l"/>
              </a:tabLst>
            </a:pP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6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Lucida Sans Unicode"/>
                <a:cs typeface="Lucida Sans Unicode"/>
              </a:rPr>
              <a:t>·</a:t>
            </a:r>
            <a:r>
              <a:rPr sz="1750" b="1" spc="-1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25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45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spc="-5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	x</a:t>
            </a:r>
            <a:r>
              <a:rPr sz="1750" b="1" spc="34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88207" y="2409190"/>
            <a:ext cx="65659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i="1" baseline="-8888" dirty="0">
                <a:solidFill>
                  <a:srgbClr val="213739"/>
                </a:solidFill>
                <a:latin typeface="Calibri"/>
                <a:cs typeface="Calibri"/>
              </a:rPr>
              <a:t>i</a:t>
            </a:r>
            <a:r>
              <a:rPr sz="1875" i="1" spc="367" baseline="-8888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Lucida Sans Unicode"/>
                <a:cs typeface="Lucida Sans Unicode"/>
              </a:rPr>
              <a:t>∗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i="1" spc="-37" baseline="-8888" dirty="0">
                <a:solidFill>
                  <a:srgbClr val="213739"/>
                </a:solidFill>
                <a:latin typeface="Calibri"/>
                <a:cs typeface="Calibri"/>
              </a:rPr>
              <a:t>i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9940" y="3019805"/>
            <a:ext cx="3617595" cy="1595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" marR="17780" indent="-5080">
              <a:lnSpc>
                <a:spcPct val="117100"/>
              </a:lnSpc>
              <a:spcBef>
                <a:spcPts val="100"/>
              </a:spcBef>
            </a:pP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can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thus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rewrite</a:t>
            </a:r>
            <a:r>
              <a:rPr sz="1750" spc="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perceptron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rule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as</a:t>
            </a:r>
            <a:endParaRPr sz="17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endParaRPr sz="1750">
              <a:latin typeface="Arial MT"/>
              <a:cs typeface="Arial MT"/>
            </a:endParaRPr>
          </a:p>
          <a:p>
            <a:pPr marR="787400" algn="r">
              <a:lnSpc>
                <a:spcPct val="100000"/>
              </a:lnSpc>
              <a:spcBef>
                <a:spcPts val="5"/>
              </a:spcBef>
              <a:tabLst>
                <a:tab pos="738505" algn="l"/>
                <a:tab pos="1165225" algn="l"/>
              </a:tabLst>
            </a:pP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y</a:t>
            </a:r>
            <a:r>
              <a:rPr sz="1750" i="1" spc="15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9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55" dirty="0">
                <a:solidFill>
                  <a:srgbClr val="213739"/>
                </a:solidFill>
                <a:latin typeface="Calibri"/>
                <a:cs typeface="Calibri"/>
              </a:rPr>
              <a:t>if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b="1" spc="-2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-10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875" b="1" baseline="26666" dirty="0">
                <a:solidFill>
                  <a:srgbClr val="213739"/>
                </a:solidFill>
                <a:latin typeface="Calibri"/>
                <a:cs typeface="Calibri"/>
              </a:rPr>
              <a:t>T</a:t>
            </a:r>
            <a:r>
              <a:rPr sz="1875" b="1" spc="7" baseline="26666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6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≥</a:t>
            </a:r>
            <a:r>
              <a:rPr sz="1750" spc="-9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endParaRPr sz="1750">
              <a:latin typeface="Calibri"/>
              <a:cs typeface="Calibri"/>
            </a:endParaRPr>
          </a:p>
          <a:p>
            <a:pPr marR="787400" algn="r">
              <a:lnSpc>
                <a:spcPct val="100000"/>
              </a:lnSpc>
              <a:spcBef>
                <a:spcPts val="994"/>
              </a:spcBef>
              <a:tabLst>
                <a:tab pos="560705" algn="l"/>
                <a:tab pos="987425" algn="l"/>
              </a:tabLst>
            </a:pP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70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65" dirty="0">
                <a:solidFill>
                  <a:srgbClr val="213739"/>
                </a:solidFill>
                <a:latin typeface="Calibri"/>
                <a:cs typeface="Calibri"/>
              </a:rPr>
              <a:t>if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b="1" spc="-2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-10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875" b="1" baseline="26666" dirty="0">
                <a:solidFill>
                  <a:srgbClr val="213739"/>
                </a:solidFill>
                <a:latin typeface="Calibri"/>
                <a:cs typeface="Calibri"/>
              </a:rPr>
              <a:t>T</a:t>
            </a:r>
            <a:r>
              <a:rPr sz="1875" b="1" spc="7" baseline="26666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40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spc="7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156327" y="875537"/>
            <a:ext cx="3665854" cy="16579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640" marR="30480" indent="-3175" algn="just">
              <a:lnSpc>
                <a:spcPct val="117700"/>
              </a:lnSpc>
              <a:spcBef>
                <a:spcPts val="100"/>
              </a:spcBef>
            </a:pP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1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5" dirty="0">
                <a:solidFill>
                  <a:srgbClr val="213739"/>
                </a:solidFill>
                <a:latin typeface="Arial MT"/>
                <a:cs typeface="Arial MT"/>
              </a:rPr>
              <a:t>are</a:t>
            </a:r>
            <a:r>
              <a:rPr sz="1750" spc="1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interested</a:t>
            </a:r>
            <a:r>
              <a:rPr sz="1750" spc="1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in</a:t>
            </a:r>
            <a:r>
              <a:rPr sz="1750" spc="1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finding</a:t>
            </a:r>
            <a:r>
              <a:rPr sz="1750" spc="1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1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line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spc="-1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-10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875" b="1" baseline="24444" dirty="0">
                <a:solidFill>
                  <a:srgbClr val="213739"/>
                </a:solidFill>
                <a:latin typeface="Calibri"/>
                <a:cs typeface="Calibri"/>
              </a:rPr>
              <a:t>T</a:t>
            </a:r>
            <a:r>
              <a:rPr sz="1875" b="1" spc="15" baseline="2444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spc="-1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47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67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13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which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divides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input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space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into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two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halves</a:t>
            </a:r>
            <a:endParaRPr sz="1750">
              <a:latin typeface="Arial MT"/>
              <a:cs typeface="Arial MT"/>
            </a:endParaRPr>
          </a:p>
          <a:p>
            <a:pPr marL="40640" marR="41275" indent="-3175" algn="just">
              <a:lnSpc>
                <a:spcPct val="117700"/>
              </a:lnSpc>
              <a:spcBef>
                <a:spcPts val="495"/>
              </a:spcBef>
            </a:pPr>
            <a:r>
              <a:rPr sz="1750" spc="-165" dirty="0">
                <a:solidFill>
                  <a:srgbClr val="213739"/>
                </a:solidFill>
                <a:latin typeface="Arial MT"/>
                <a:cs typeface="Arial MT"/>
              </a:rPr>
              <a:t>Every</a:t>
            </a:r>
            <a:r>
              <a:rPr sz="1750" spc="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point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)</a:t>
            </a:r>
            <a:r>
              <a:rPr sz="1750" spc="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on</a:t>
            </a:r>
            <a:r>
              <a:rPr sz="1750" spc="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this</a:t>
            </a:r>
            <a:r>
              <a:rPr sz="1750" spc="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line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satisfies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the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equation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spc="-2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-9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875" b="1" baseline="24444" dirty="0">
                <a:solidFill>
                  <a:srgbClr val="213739"/>
                </a:solidFill>
                <a:latin typeface="Calibri"/>
                <a:cs typeface="Calibri"/>
              </a:rPr>
              <a:t>T</a:t>
            </a:r>
            <a:r>
              <a:rPr sz="1875" b="1" spc="22" baseline="2444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43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90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781415" y="5603912"/>
            <a:ext cx="196215" cy="206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spc="-25" dirty="0">
                <a:solidFill>
                  <a:srgbClr val="213739"/>
                </a:solidFill>
                <a:latin typeface="Arial MT"/>
                <a:cs typeface="Arial MT"/>
              </a:rPr>
              <a:t>35</a:t>
            </a:r>
            <a:endParaRPr sz="125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/>
          <p:nvPr/>
        </p:nvSpPr>
        <p:spPr>
          <a:xfrm>
            <a:off x="8781415" y="5603912"/>
            <a:ext cx="196215" cy="206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spc="-25" dirty="0">
                <a:solidFill>
                  <a:srgbClr val="213739"/>
                </a:solidFill>
                <a:latin typeface="Arial MT"/>
                <a:cs typeface="Arial MT"/>
              </a:rPr>
              <a:t>35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04468" y="946530"/>
            <a:ext cx="266255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Consider</a:t>
            </a:r>
            <a:r>
              <a:rPr sz="1750" spc="-1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two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vectors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8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750" spc="-1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spc="-5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98041" y="1365203"/>
            <a:ext cx="2241550" cy="784225"/>
          </a:xfrm>
          <a:prstGeom prst="rect">
            <a:avLst/>
          </a:prstGeom>
        </p:spPr>
        <p:txBody>
          <a:bodyPr vert="horz" wrap="square" lIns="0" tIns="1250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85"/>
              </a:spcBef>
              <a:tabLst>
                <a:tab pos="542290" algn="l"/>
              </a:tabLst>
            </a:pP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33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	[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-4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-5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...,</a:t>
            </a:r>
            <a:r>
              <a:rPr sz="1750" i="1" spc="-6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i="1" spc="-37" baseline="-8888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]</a:t>
            </a:r>
            <a:endParaRPr sz="1750">
              <a:latin typeface="Calibri"/>
              <a:cs typeface="Calibri"/>
            </a:endParaRPr>
          </a:p>
          <a:p>
            <a:pPr marL="89535">
              <a:lnSpc>
                <a:spcPct val="100000"/>
              </a:lnSpc>
              <a:spcBef>
                <a:spcPts val="890"/>
              </a:spcBef>
            </a:pP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8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10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[1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-9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spc="6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89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875" spc="-217" baseline="-8888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2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spc="6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89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875" spc="-225" baseline="-8888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2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...,</a:t>
            </a:r>
            <a:r>
              <a:rPr sz="1750" i="1" spc="-10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spc="3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i="1" spc="52" baseline="-8888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750" spc="35" dirty="0">
                <a:solidFill>
                  <a:srgbClr val="213739"/>
                </a:solidFill>
                <a:latin typeface="Calibri"/>
                <a:cs typeface="Calibri"/>
              </a:rPr>
              <a:t>]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81376" y="2118064"/>
            <a:ext cx="284480" cy="82232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73660">
              <a:lnSpc>
                <a:spcPct val="100000"/>
              </a:lnSpc>
              <a:spcBef>
                <a:spcPts val="345"/>
              </a:spcBef>
            </a:pPr>
            <a:r>
              <a:rPr sz="1800" i="1" spc="-50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endParaRPr sz="1800">
              <a:latin typeface="Calibri"/>
              <a:cs typeface="Calibri"/>
            </a:endParaRPr>
          </a:p>
          <a:p>
            <a:pPr marL="76835">
              <a:lnSpc>
                <a:spcPct val="100000"/>
              </a:lnSpc>
              <a:spcBef>
                <a:spcPts val="225"/>
              </a:spcBef>
            </a:pPr>
            <a:r>
              <a:rPr sz="1750" spc="-50" dirty="0">
                <a:solidFill>
                  <a:srgbClr val="213739"/>
                </a:solidFill>
                <a:latin typeface="Lucida Sans Unicode"/>
                <a:cs typeface="Lucida Sans Unicode"/>
              </a:rPr>
              <a:t>Σ</a:t>
            </a:r>
            <a:endParaRPr sz="17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250" i="1" dirty="0">
                <a:solidFill>
                  <a:srgbClr val="213739"/>
                </a:solidFill>
                <a:latin typeface="Calibri"/>
                <a:cs typeface="Calibri"/>
              </a:rPr>
              <a:t>i</a:t>
            </a:r>
            <a:r>
              <a:rPr sz="1250" i="1" spc="-13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250" spc="55" dirty="0">
                <a:solidFill>
                  <a:srgbClr val="213739"/>
                </a:solidFill>
                <a:latin typeface="Calibri"/>
                <a:cs typeface="Calibri"/>
              </a:rPr>
              <a:t>=0 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31213" y="2300985"/>
            <a:ext cx="1431290" cy="39878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R="362585" algn="r">
              <a:lnSpc>
                <a:spcPts val="1160"/>
              </a:lnSpc>
              <a:spcBef>
                <a:spcPts val="120"/>
              </a:spcBef>
            </a:pPr>
            <a:r>
              <a:rPr sz="1250" b="1" spc="-50" dirty="0">
                <a:solidFill>
                  <a:srgbClr val="213739"/>
                </a:solidFill>
                <a:latin typeface="Calibri"/>
                <a:cs typeface="Calibri"/>
              </a:rPr>
              <a:t>T</a:t>
            </a:r>
            <a:endParaRPr sz="1250">
              <a:latin typeface="Calibri"/>
              <a:cs typeface="Calibri"/>
            </a:endParaRPr>
          </a:p>
          <a:p>
            <a:pPr marL="12700">
              <a:lnSpc>
                <a:spcPts val="1760"/>
              </a:lnSpc>
              <a:tabLst>
                <a:tab pos="1111250" algn="l"/>
              </a:tabLst>
            </a:pP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6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Lucida Sans Unicode"/>
                <a:cs typeface="Lucida Sans Unicode"/>
              </a:rPr>
              <a:t>·</a:t>
            </a:r>
            <a:r>
              <a:rPr sz="1750" b="1" spc="-1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25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45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spc="-5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	x</a:t>
            </a:r>
            <a:r>
              <a:rPr sz="1750" b="1" spc="34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88207" y="2409190"/>
            <a:ext cx="65659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i="1" baseline="-8888" dirty="0">
                <a:solidFill>
                  <a:srgbClr val="213739"/>
                </a:solidFill>
                <a:latin typeface="Calibri"/>
                <a:cs typeface="Calibri"/>
              </a:rPr>
              <a:t>i</a:t>
            </a:r>
            <a:r>
              <a:rPr sz="1875" i="1" spc="367" baseline="-8888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Lucida Sans Unicode"/>
                <a:cs typeface="Lucida Sans Unicode"/>
              </a:rPr>
              <a:t>∗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i="1" spc="-37" baseline="-8888" dirty="0">
                <a:solidFill>
                  <a:srgbClr val="213739"/>
                </a:solidFill>
                <a:latin typeface="Calibri"/>
                <a:cs typeface="Calibri"/>
              </a:rPr>
              <a:t>i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02944" y="3013074"/>
            <a:ext cx="3591560" cy="653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 marR="5080" indent="-5080">
              <a:lnSpc>
                <a:spcPct val="117700"/>
              </a:lnSpc>
              <a:spcBef>
                <a:spcPts val="100"/>
              </a:spcBef>
            </a:pP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can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thus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rewrite</a:t>
            </a:r>
            <a:r>
              <a:rPr sz="1750" spc="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perceptron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rule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as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44447" y="3792317"/>
            <a:ext cx="2117090" cy="808355"/>
          </a:xfrm>
          <a:prstGeom prst="rect">
            <a:avLst/>
          </a:prstGeom>
        </p:spPr>
        <p:txBody>
          <a:bodyPr vert="horz" wrap="square" lIns="0" tIns="137160" rIns="0" bIns="0" rtlCol="0">
            <a:spAutoFit/>
          </a:bodyPr>
          <a:lstStyle/>
          <a:p>
            <a:pPr marR="43180" algn="r">
              <a:lnSpc>
                <a:spcPct val="100000"/>
              </a:lnSpc>
              <a:spcBef>
                <a:spcPts val="1080"/>
              </a:spcBef>
              <a:tabLst>
                <a:tab pos="735965" algn="l"/>
                <a:tab pos="1162685" algn="l"/>
              </a:tabLst>
            </a:pP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y</a:t>
            </a:r>
            <a:r>
              <a:rPr sz="1750" i="1" spc="16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9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65" dirty="0">
                <a:solidFill>
                  <a:srgbClr val="213739"/>
                </a:solidFill>
                <a:latin typeface="Calibri"/>
                <a:cs typeface="Calibri"/>
              </a:rPr>
              <a:t>if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b="1" spc="-2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-10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875" b="1" baseline="26666" dirty="0">
                <a:solidFill>
                  <a:srgbClr val="213739"/>
                </a:solidFill>
                <a:latin typeface="Calibri"/>
                <a:cs typeface="Calibri"/>
              </a:rPr>
              <a:t>T</a:t>
            </a:r>
            <a:r>
              <a:rPr sz="1875" b="1" spc="7" baseline="26666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5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≥</a:t>
            </a:r>
            <a:r>
              <a:rPr sz="1750" spc="-9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endParaRPr sz="1750">
              <a:latin typeface="Calibri"/>
              <a:cs typeface="Calibri"/>
            </a:endParaRPr>
          </a:p>
          <a:p>
            <a:pPr marR="43180" algn="r">
              <a:lnSpc>
                <a:spcPct val="100000"/>
              </a:lnSpc>
              <a:spcBef>
                <a:spcPts val="985"/>
              </a:spcBef>
              <a:tabLst>
                <a:tab pos="560705" algn="l"/>
                <a:tab pos="987425" algn="l"/>
              </a:tabLst>
            </a:pP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70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65" dirty="0">
                <a:solidFill>
                  <a:srgbClr val="213739"/>
                </a:solidFill>
                <a:latin typeface="Calibri"/>
                <a:cs typeface="Calibri"/>
              </a:rPr>
              <a:t>if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b="1" spc="-2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-10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875" b="1" baseline="26666" dirty="0">
                <a:solidFill>
                  <a:srgbClr val="213739"/>
                </a:solidFill>
                <a:latin typeface="Calibri"/>
                <a:cs typeface="Calibri"/>
              </a:rPr>
              <a:t>T</a:t>
            </a:r>
            <a:r>
              <a:rPr sz="1875" b="1" spc="7" baseline="26666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40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spc="7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56327" y="875537"/>
            <a:ext cx="3665854" cy="2662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640" marR="30480" indent="-3175" algn="just">
              <a:lnSpc>
                <a:spcPct val="117700"/>
              </a:lnSpc>
              <a:spcBef>
                <a:spcPts val="100"/>
              </a:spcBef>
            </a:pP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1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5" dirty="0">
                <a:solidFill>
                  <a:srgbClr val="213739"/>
                </a:solidFill>
                <a:latin typeface="Arial MT"/>
                <a:cs typeface="Arial MT"/>
              </a:rPr>
              <a:t>are</a:t>
            </a:r>
            <a:r>
              <a:rPr sz="1750" spc="1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interested</a:t>
            </a:r>
            <a:r>
              <a:rPr sz="1750" spc="1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in</a:t>
            </a:r>
            <a:r>
              <a:rPr sz="1750" spc="1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finding</a:t>
            </a:r>
            <a:r>
              <a:rPr sz="1750" spc="1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1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line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spc="-1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-10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875" b="1" baseline="24444" dirty="0">
                <a:solidFill>
                  <a:srgbClr val="213739"/>
                </a:solidFill>
                <a:latin typeface="Calibri"/>
                <a:cs typeface="Calibri"/>
              </a:rPr>
              <a:t>T</a:t>
            </a:r>
            <a:r>
              <a:rPr sz="1875" b="1" spc="15" baseline="2444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spc="-1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47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67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13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which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divides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input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space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into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two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halves</a:t>
            </a:r>
            <a:endParaRPr sz="1750">
              <a:latin typeface="Arial MT"/>
              <a:cs typeface="Arial MT"/>
            </a:endParaRPr>
          </a:p>
          <a:p>
            <a:pPr marL="40640" marR="41275" indent="-3175" algn="just">
              <a:lnSpc>
                <a:spcPct val="117700"/>
              </a:lnSpc>
              <a:spcBef>
                <a:spcPts val="495"/>
              </a:spcBef>
            </a:pPr>
            <a:r>
              <a:rPr sz="1750" spc="-165" dirty="0">
                <a:solidFill>
                  <a:srgbClr val="213739"/>
                </a:solidFill>
                <a:latin typeface="Arial MT"/>
                <a:cs typeface="Arial MT"/>
              </a:rPr>
              <a:t>Every</a:t>
            </a:r>
            <a:r>
              <a:rPr sz="1750" spc="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point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)</a:t>
            </a:r>
            <a:r>
              <a:rPr sz="1750" spc="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on</a:t>
            </a:r>
            <a:r>
              <a:rPr sz="1750" spc="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this</a:t>
            </a:r>
            <a:r>
              <a:rPr sz="1750" spc="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line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satisfies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the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equation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spc="-2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-9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875" b="1" baseline="24444" dirty="0">
                <a:solidFill>
                  <a:srgbClr val="213739"/>
                </a:solidFill>
                <a:latin typeface="Calibri"/>
                <a:cs typeface="Calibri"/>
              </a:rPr>
              <a:t>T</a:t>
            </a:r>
            <a:r>
              <a:rPr sz="1875" b="1" spc="22" baseline="2444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43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90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endParaRPr sz="1750">
              <a:latin typeface="Calibri"/>
              <a:cs typeface="Calibri"/>
            </a:endParaRPr>
          </a:p>
          <a:p>
            <a:pPr marL="40640" marR="36830" indent="-3175" algn="just">
              <a:lnSpc>
                <a:spcPct val="117500"/>
              </a:lnSpc>
              <a:spcBef>
                <a:spcPts val="509"/>
              </a:spcBef>
            </a:pP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What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can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you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tell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about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angle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α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)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between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4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50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750" spc="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65" dirty="0">
                <a:solidFill>
                  <a:srgbClr val="213739"/>
                </a:solidFill>
                <a:latin typeface="Arial MT"/>
                <a:cs typeface="Arial MT"/>
              </a:rPr>
              <a:t>any</a:t>
            </a:r>
            <a:r>
              <a:rPr sz="1750" spc="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point</a:t>
            </a:r>
            <a:r>
              <a:rPr sz="1750" spc="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)</a:t>
            </a:r>
            <a:r>
              <a:rPr sz="1750" spc="1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which</a:t>
            </a:r>
            <a:r>
              <a:rPr sz="1750" spc="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lies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on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this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 line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?</a:t>
            </a:r>
            <a:endParaRPr sz="175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4468" y="946530"/>
            <a:ext cx="266255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Consider</a:t>
            </a:r>
            <a:r>
              <a:rPr sz="1750" spc="-1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two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vectors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8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750" spc="-1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spc="-5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98041" y="1365203"/>
            <a:ext cx="2241550" cy="784225"/>
          </a:xfrm>
          <a:prstGeom prst="rect">
            <a:avLst/>
          </a:prstGeom>
        </p:spPr>
        <p:txBody>
          <a:bodyPr vert="horz" wrap="square" lIns="0" tIns="1250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85"/>
              </a:spcBef>
              <a:tabLst>
                <a:tab pos="542290" algn="l"/>
              </a:tabLst>
            </a:pP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33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	[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-4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-5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...,</a:t>
            </a:r>
            <a:r>
              <a:rPr sz="1750" i="1" spc="-6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i="1" spc="-37" baseline="-8888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]</a:t>
            </a:r>
            <a:endParaRPr sz="1750">
              <a:latin typeface="Calibri"/>
              <a:cs typeface="Calibri"/>
            </a:endParaRPr>
          </a:p>
          <a:p>
            <a:pPr marL="89535">
              <a:lnSpc>
                <a:spcPct val="100000"/>
              </a:lnSpc>
              <a:spcBef>
                <a:spcPts val="890"/>
              </a:spcBef>
            </a:pP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8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10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[1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-9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spc="6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89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875" spc="-217" baseline="-8888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2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spc="6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89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875" spc="-225" baseline="-8888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2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...,</a:t>
            </a:r>
            <a:r>
              <a:rPr sz="1750" i="1" spc="-10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spc="3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i="1" spc="52" baseline="-8888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750" spc="35" dirty="0">
                <a:solidFill>
                  <a:srgbClr val="213739"/>
                </a:solidFill>
                <a:latin typeface="Calibri"/>
                <a:cs typeface="Calibri"/>
              </a:rPr>
              <a:t>]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81376" y="2118064"/>
            <a:ext cx="284480" cy="82232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73660">
              <a:lnSpc>
                <a:spcPct val="100000"/>
              </a:lnSpc>
              <a:spcBef>
                <a:spcPts val="345"/>
              </a:spcBef>
            </a:pPr>
            <a:r>
              <a:rPr sz="1800" i="1" spc="-50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endParaRPr sz="1800">
              <a:latin typeface="Calibri"/>
              <a:cs typeface="Calibri"/>
            </a:endParaRPr>
          </a:p>
          <a:p>
            <a:pPr marL="76835">
              <a:lnSpc>
                <a:spcPct val="100000"/>
              </a:lnSpc>
              <a:spcBef>
                <a:spcPts val="225"/>
              </a:spcBef>
            </a:pPr>
            <a:r>
              <a:rPr sz="1750" spc="-50" dirty="0">
                <a:solidFill>
                  <a:srgbClr val="213739"/>
                </a:solidFill>
                <a:latin typeface="Lucida Sans Unicode"/>
                <a:cs typeface="Lucida Sans Unicode"/>
              </a:rPr>
              <a:t>Σ</a:t>
            </a:r>
            <a:endParaRPr sz="17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250" i="1" dirty="0">
                <a:solidFill>
                  <a:srgbClr val="213739"/>
                </a:solidFill>
                <a:latin typeface="Calibri"/>
                <a:cs typeface="Calibri"/>
              </a:rPr>
              <a:t>i</a:t>
            </a:r>
            <a:r>
              <a:rPr sz="1250" i="1" spc="-13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250" spc="55" dirty="0">
                <a:solidFill>
                  <a:srgbClr val="213739"/>
                </a:solidFill>
                <a:latin typeface="Calibri"/>
                <a:cs typeface="Calibri"/>
              </a:rPr>
              <a:t>=0 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31213" y="2300985"/>
            <a:ext cx="1431290" cy="39878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R="362585" algn="r">
              <a:lnSpc>
                <a:spcPts val="1160"/>
              </a:lnSpc>
              <a:spcBef>
                <a:spcPts val="120"/>
              </a:spcBef>
            </a:pPr>
            <a:r>
              <a:rPr sz="1250" b="1" spc="-50" dirty="0">
                <a:solidFill>
                  <a:srgbClr val="213739"/>
                </a:solidFill>
                <a:latin typeface="Calibri"/>
                <a:cs typeface="Calibri"/>
              </a:rPr>
              <a:t>T</a:t>
            </a:r>
            <a:endParaRPr sz="1250">
              <a:latin typeface="Calibri"/>
              <a:cs typeface="Calibri"/>
            </a:endParaRPr>
          </a:p>
          <a:p>
            <a:pPr marL="12700">
              <a:lnSpc>
                <a:spcPts val="1760"/>
              </a:lnSpc>
              <a:tabLst>
                <a:tab pos="1111250" algn="l"/>
              </a:tabLst>
            </a:pP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6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Lucida Sans Unicode"/>
                <a:cs typeface="Lucida Sans Unicode"/>
              </a:rPr>
              <a:t>·</a:t>
            </a:r>
            <a:r>
              <a:rPr sz="1750" b="1" spc="-1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25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45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spc="-5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	x</a:t>
            </a:r>
            <a:r>
              <a:rPr sz="1750" b="1" spc="34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88207" y="2409190"/>
            <a:ext cx="65659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i="1" baseline="-8888" dirty="0">
                <a:solidFill>
                  <a:srgbClr val="213739"/>
                </a:solidFill>
                <a:latin typeface="Calibri"/>
                <a:cs typeface="Calibri"/>
              </a:rPr>
              <a:t>i</a:t>
            </a:r>
            <a:r>
              <a:rPr sz="1875" i="1" spc="367" baseline="-8888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Lucida Sans Unicode"/>
                <a:cs typeface="Lucida Sans Unicode"/>
              </a:rPr>
              <a:t>∗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i="1" spc="-37" baseline="-8888" dirty="0">
                <a:solidFill>
                  <a:srgbClr val="213739"/>
                </a:solidFill>
                <a:latin typeface="Calibri"/>
                <a:cs typeface="Calibri"/>
              </a:rPr>
              <a:t>i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02944" y="3013074"/>
            <a:ext cx="3591560" cy="653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 marR="5080" indent="-5080">
              <a:lnSpc>
                <a:spcPct val="117700"/>
              </a:lnSpc>
              <a:spcBef>
                <a:spcPts val="100"/>
              </a:spcBef>
            </a:pP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can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thus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rewrite</a:t>
            </a:r>
            <a:r>
              <a:rPr sz="1750" spc="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perceptron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rule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as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44447" y="3792317"/>
            <a:ext cx="2117090" cy="808355"/>
          </a:xfrm>
          <a:prstGeom prst="rect">
            <a:avLst/>
          </a:prstGeom>
        </p:spPr>
        <p:txBody>
          <a:bodyPr vert="horz" wrap="square" lIns="0" tIns="137160" rIns="0" bIns="0" rtlCol="0">
            <a:spAutoFit/>
          </a:bodyPr>
          <a:lstStyle/>
          <a:p>
            <a:pPr marR="43180" algn="r">
              <a:lnSpc>
                <a:spcPct val="100000"/>
              </a:lnSpc>
              <a:spcBef>
                <a:spcPts val="1080"/>
              </a:spcBef>
              <a:tabLst>
                <a:tab pos="735965" algn="l"/>
                <a:tab pos="1162685" algn="l"/>
              </a:tabLst>
            </a:pP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y</a:t>
            </a:r>
            <a:r>
              <a:rPr sz="1750" i="1" spc="16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9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65" dirty="0">
                <a:solidFill>
                  <a:srgbClr val="213739"/>
                </a:solidFill>
                <a:latin typeface="Calibri"/>
                <a:cs typeface="Calibri"/>
              </a:rPr>
              <a:t>if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b="1" spc="-2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-10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875" b="1" baseline="26666" dirty="0">
                <a:solidFill>
                  <a:srgbClr val="213739"/>
                </a:solidFill>
                <a:latin typeface="Calibri"/>
                <a:cs typeface="Calibri"/>
              </a:rPr>
              <a:t>T</a:t>
            </a:r>
            <a:r>
              <a:rPr sz="1875" b="1" spc="7" baseline="26666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5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≥</a:t>
            </a:r>
            <a:r>
              <a:rPr sz="1750" spc="-9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endParaRPr sz="1750">
              <a:latin typeface="Calibri"/>
              <a:cs typeface="Calibri"/>
            </a:endParaRPr>
          </a:p>
          <a:p>
            <a:pPr marR="43180" algn="r">
              <a:lnSpc>
                <a:spcPct val="100000"/>
              </a:lnSpc>
              <a:spcBef>
                <a:spcPts val="985"/>
              </a:spcBef>
              <a:tabLst>
                <a:tab pos="560705" algn="l"/>
                <a:tab pos="987425" algn="l"/>
              </a:tabLst>
            </a:pP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70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65" dirty="0">
                <a:solidFill>
                  <a:srgbClr val="213739"/>
                </a:solidFill>
                <a:latin typeface="Calibri"/>
                <a:cs typeface="Calibri"/>
              </a:rPr>
              <a:t>if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b="1" spc="-2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-10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875" b="1" baseline="26666" dirty="0">
                <a:solidFill>
                  <a:srgbClr val="213739"/>
                </a:solidFill>
                <a:latin typeface="Calibri"/>
                <a:cs typeface="Calibri"/>
              </a:rPr>
              <a:t>T</a:t>
            </a:r>
            <a:r>
              <a:rPr sz="1875" b="1" spc="7" baseline="26666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40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spc="7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56327" y="875537"/>
            <a:ext cx="3665854" cy="2662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640" marR="30480" indent="-3175" algn="just">
              <a:lnSpc>
                <a:spcPct val="117700"/>
              </a:lnSpc>
              <a:spcBef>
                <a:spcPts val="100"/>
              </a:spcBef>
            </a:pP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1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5" dirty="0">
                <a:solidFill>
                  <a:srgbClr val="213739"/>
                </a:solidFill>
                <a:latin typeface="Arial MT"/>
                <a:cs typeface="Arial MT"/>
              </a:rPr>
              <a:t>are</a:t>
            </a:r>
            <a:r>
              <a:rPr sz="1750" spc="1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interested</a:t>
            </a:r>
            <a:r>
              <a:rPr sz="1750" spc="1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in</a:t>
            </a:r>
            <a:r>
              <a:rPr sz="1750" spc="1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finding</a:t>
            </a:r>
            <a:r>
              <a:rPr sz="1750" spc="1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1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line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spc="-1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-10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875" b="1" baseline="24444" dirty="0">
                <a:solidFill>
                  <a:srgbClr val="213739"/>
                </a:solidFill>
                <a:latin typeface="Calibri"/>
                <a:cs typeface="Calibri"/>
              </a:rPr>
              <a:t>T</a:t>
            </a:r>
            <a:r>
              <a:rPr sz="1875" b="1" spc="15" baseline="2444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spc="-1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47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67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13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which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divides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input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space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into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two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halves</a:t>
            </a:r>
            <a:endParaRPr sz="1750">
              <a:latin typeface="Arial MT"/>
              <a:cs typeface="Arial MT"/>
            </a:endParaRPr>
          </a:p>
          <a:p>
            <a:pPr marL="40640" marR="41275" indent="-3175" algn="just">
              <a:lnSpc>
                <a:spcPct val="117700"/>
              </a:lnSpc>
              <a:spcBef>
                <a:spcPts val="495"/>
              </a:spcBef>
            </a:pPr>
            <a:r>
              <a:rPr sz="1750" spc="-165" dirty="0">
                <a:solidFill>
                  <a:srgbClr val="213739"/>
                </a:solidFill>
                <a:latin typeface="Arial MT"/>
                <a:cs typeface="Arial MT"/>
              </a:rPr>
              <a:t>Every</a:t>
            </a:r>
            <a:r>
              <a:rPr sz="1750" spc="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point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)</a:t>
            </a:r>
            <a:r>
              <a:rPr sz="1750" spc="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on</a:t>
            </a:r>
            <a:r>
              <a:rPr sz="1750" spc="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this</a:t>
            </a:r>
            <a:r>
              <a:rPr sz="1750" spc="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line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satisfies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the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equation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spc="-2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-9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875" b="1" baseline="24444" dirty="0">
                <a:solidFill>
                  <a:srgbClr val="213739"/>
                </a:solidFill>
                <a:latin typeface="Calibri"/>
                <a:cs typeface="Calibri"/>
              </a:rPr>
              <a:t>T</a:t>
            </a:r>
            <a:r>
              <a:rPr sz="1875" b="1" spc="22" baseline="2444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43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90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endParaRPr sz="1750">
              <a:latin typeface="Calibri"/>
              <a:cs typeface="Calibri"/>
            </a:endParaRPr>
          </a:p>
          <a:p>
            <a:pPr marL="40640" marR="36830" indent="-3175" algn="just">
              <a:lnSpc>
                <a:spcPct val="117500"/>
              </a:lnSpc>
              <a:spcBef>
                <a:spcPts val="509"/>
              </a:spcBef>
            </a:pP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What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can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you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tell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about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angle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α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)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between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4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50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750" spc="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65" dirty="0">
                <a:solidFill>
                  <a:srgbClr val="213739"/>
                </a:solidFill>
                <a:latin typeface="Arial MT"/>
                <a:cs typeface="Arial MT"/>
              </a:rPr>
              <a:t>any</a:t>
            </a:r>
            <a:r>
              <a:rPr sz="1750" spc="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point</a:t>
            </a:r>
            <a:r>
              <a:rPr sz="1750" spc="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)</a:t>
            </a:r>
            <a:r>
              <a:rPr sz="1750" spc="1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which</a:t>
            </a:r>
            <a:r>
              <a:rPr sz="1750" spc="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lies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on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this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 line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?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82361" y="3625977"/>
            <a:ext cx="232918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Theangle</a:t>
            </a:r>
            <a:r>
              <a:rPr sz="1750" spc="-229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is</a:t>
            </a:r>
            <a:r>
              <a:rPr sz="1750" spc="-2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90°</a:t>
            </a:r>
            <a:r>
              <a:rPr sz="1750" spc="-1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spc="-85" dirty="0">
                <a:solidFill>
                  <a:srgbClr val="213739"/>
                </a:solidFill>
                <a:latin typeface="Lucida Sans Unicode"/>
                <a:cs typeface="Lucida Sans Unicode"/>
              </a:rPr>
              <a:t>∵</a:t>
            </a:r>
            <a:r>
              <a:rPr sz="1750" spc="-10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cosα</a:t>
            </a:r>
            <a:r>
              <a:rPr sz="1750" i="1" spc="21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655179" y="3829050"/>
            <a:ext cx="601980" cy="0"/>
          </a:xfrm>
          <a:custGeom>
            <a:avLst/>
            <a:gdLst/>
            <a:ahLst/>
            <a:cxnLst/>
            <a:rect l="l" t="t" r="r" b="b"/>
            <a:pathLst>
              <a:path w="601979">
                <a:moveTo>
                  <a:pt x="0" y="0"/>
                </a:moveTo>
                <a:lnTo>
                  <a:pt x="601852" y="0"/>
                </a:lnTo>
              </a:path>
            </a:pathLst>
          </a:custGeom>
          <a:ln w="5536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618221" y="3613530"/>
            <a:ext cx="673735" cy="37592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R="15875" algn="ctr">
              <a:lnSpc>
                <a:spcPts val="1365"/>
              </a:lnSpc>
              <a:spcBef>
                <a:spcPts val="120"/>
              </a:spcBef>
            </a:pPr>
            <a:r>
              <a:rPr sz="12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425" i="1" baseline="23391" dirty="0">
                <a:solidFill>
                  <a:srgbClr val="213739"/>
                </a:solidFill>
                <a:latin typeface="Georgia"/>
                <a:cs typeface="Georgia"/>
              </a:rPr>
              <a:t>T</a:t>
            </a:r>
            <a:r>
              <a:rPr sz="1425" i="1" spc="270" baseline="23391" dirty="0">
                <a:solidFill>
                  <a:srgbClr val="213739"/>
                </a:solidFill>
                <a:latin typeface="Georgia"/>
                <a:cs typeface="Georgia"/>
              </a:rPr>
              <a:t> </a:t>
            </a:r>
            <a:r>
              <a:rPr sz="1250" i="1" spc="-5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endParaRPr sz="1250">
              <a:latin typeface="Calibri"/>
              <a:cs typeface="Calibri"/>
            </a:endParaRPr>
          </a:p>
          <a:p>
            <a:pPr algn="ctr">
              <a:lnSpc>
                <a:spcPts val="1365"/>
              </a:lnSpc>
            </a:pPr>
            <a:r>
              <a:rPr sz="1250" spc="-10" dirty="0">
                <a:solidFill>
                  <a:srgbClr val="213739"/>
                </a:solidFill>
                <a:latin typeface="Lucida Sans Unicode"/>
                <a:cs typeface="Lucida Sans Unicode"/>
              </a:rPr>
              <a:t>||</a:t>
            </a:r>
            <a:r>
              <a:rPr sz="1250" i="1" spc="-1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250" spc="-10" dirty="0">
                <a:solidFill>
                  <a:srgbClr val="213739"/>
                </a:solidFill>
                <a:latin typeface="Lucida Sans Unicode"/>
                <a:cs typeface="Lucida Sans Unicode"/>
              </a:rPr>
              <a:t>||||</a:t>
            </a:r>
            <a:r>
              <a:rPr sz="1250" i="1" spc="-1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250" spc="-10" dirty="0">
                <a:solidFill>
                  <a:srgbClr val="213739"/>
                </a:solidFill>
                <a:latin typeface="Lucida Sans Unicode"/>
                <a:cs typeface="Lucida Sans Unicode"/>
              </a:rPr>
              <a:t>||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781415" y="5603912"/>
            <a:ext cx="196215" cy="206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spc="-25" dirty="0">
                <a:solidFill>
                  <a:srgbClr val="213739"/>
                </a:solidFill>
                <a:latin typeface="Arial MT"/>
                <a:cs typeface="Arial MT"/>
              </a:rPr>
              <a:t>35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330310" y="3638169"/>
            <a:ext cx="43624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70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)</a:t>
            </a:r>
            <a:endParaRPr sz="175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4468" y="946530"/>
            <a:ext cx="266255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Consider</a:t>
            </a:r>
            <a:r>
              <a:rPr sz="1750" spc="-1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two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vectors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8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750" spc="-1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spc="-5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98041" y="1365203"/>
            <a:ext cx="2241550" cy="784225"/>
          </a:xfrm>
          <a:prstGeom prst="rect">
            <a:avLst/>
          </a:prstGeom>
        </p:spPr>
        <p:txBody>
          <a:bodyPr vert="horz" wrap="square" lIns="0" tIns="1250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85"/>
              </a:spcBef>
              <a:tabLst>
                <a:tab pos="542290" algn="l"/>
              </a:tabLst>
            </a:pP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33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	[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-4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-5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...,</a:t>
            </a:r>
            <a:r>
              <a:rPr sz="1750" i="1" spc="-6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i="1" spc="-37" baseline="-8888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]</a:t>
            </a:r>
            <a:endParaRPr sz="1750">
              <a:latin typeface="Calibri"/>
              <a:cs typeface="Calibri"/>
            </a:endParaRPr>
          </a:p>
          <a:p>
            <a:pPr marL="89535">
              <a:lnSpc>
                <a:spcPct val="100000"/>
              </a:lnSpc>
              <a:spcBef>
                <a:spcPts val="890"/>
              </a:spcBef>
            </a:pP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8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10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[1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-9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spc="6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89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875" spc="-217" baseline="-8888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2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spc="6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89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875" spc="-225" baseline="-8888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2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...,</a:t>
            </a:r>
            <a:r>
              <a:rPr sz="1750" i="1" spc="-10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spc="3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i="1" spc="52" baseline="-8888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750" spc="35" dirty="0">
                <a:solidFill>
                  <a:srgbClr val="213739"/>
                </a:solidFill>
                <a:latin typeface="Calibri"/>
                <a:cs typeface="Calibri"/>
              </a:rPr>
              <a:t>]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81376" y="2148916"/>
            <a:ext cx="284480" cy="791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3660">
              <a:lnSpc>
                <a:spcPct val="100000"/>
              </a:lnSpc>
              <a:spcBef>
                <a:spcPts val="100"/>
              </a:spcBef>
            </a:pPr>
            <a:r>
              <a:rPr sz="1800" i="1" spc="-50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endParaRPr sz="1800">
              <a:latin typeface="Calibri"/>
              <a:cs typeface="Calibri"/>
            </a:endParaRPr>
          </a:p>
          <a:p>
            <a:pPr marL="76835">
              <a:lnSpc>
                <a:spcPct val="100000"/>
              </a:lnSpc>
              <a:spcBef>
                <a:spcPts val="55"/>
              </a:spcBef>
            </a:pPr>
            <a:r>
              <a:rPr sz="1750" spc="-50" dirty="0">
                <a:solidFill>
                  <a:srgbClr val="213739"/>
                </a:solidFill>
                <a:latin typeface="Lucida Sans Unicode"/>
                <a:cs typeface="Lucida Sans Unicode"/>
              </a:rPr>
              <a:t>Σ</a:t>
            </a:r>
            <a:endParaRPr sz="17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209"/>
              </a:spcBef>
            </a:pPr>
            <a:r>
              <a:rPr sz="1250" i="1" dirty="0">
                <a:solidFill>
                  <a:srgbClr val="213739"/>
                </a:solidFill>
                <a:latin typeface="Calibri"/>
                <a:cs typeface="Calibri"/>
              </a:rPr>
              <a:t>i</a:t>
            </a:r>
            <a:r>
              <a:rPr sz="1250" i="1" spc="-13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250" spc="55" dirty="0">
                <a:solidFill>
                  <a:srgbClr val="213739"/>
                </a:solidFill>
                <a:latin typeface="Calibri"/>
                <a:cs typeface="Calibri"/>
              </a:rPr>
              <a:t>=0 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31213" y="2300985"/>
            <a:ext cx="1431290" cy="39878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R="362585" algn="r">
              <a:lnSpc>
                <a:spcPts val="1160"/>
              </a:lnSpc>
              <a:spcBef>
                <a:spcPts val="120"/>
              </a:spcBef>
            </a:pPr>
            <a:r>
              <a:rPr sz="1250" b="1" spc="-50" dirty="0">
                <a:solidFill>
                  <a:srgbClr val="213739"/>
                </a:solidFill>
                <a:latin typeface="Calibri"/>
                <a:cs typeface="Calibri"/>
              </a:rPr>
              <a:t>T</a:t>
            </a:r>
            <a:endParaRPr sz="1250">
              <a:latin typeface="Calibri"/>
              <a:cs typeface="Calibri"/>
            </a:endParaRPr>
          </a:p>
          <a:p>
            <a:pPr marL="12700">
              <a:lnSpc>
                <a:spcPts val="1760"/>
              </a:lnSpc>
              <a:tabLst>
                <a:tab pos="1111250" algn="l"/>
              </a:tabLst>
            </a:pP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6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Lucida Sans Unicode"/>
                <a:cs typeface="Lucida Sans Unicode"/>
              </a:rPr>
              <a:t>·</a:t>
            </a:r>
            <a:r>
              <a:rPr sz="1750" b="1" spc="-1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25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45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spc="-5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	x</a:t>
            </a:r>
            <a:r>
              <a:rPr sz="1750" b="1" spc="34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88207" y="2409190"/>
            <a:ext cx="65659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i="1" baseline="-8888" dirty="0">
                <a:solidFill>
                  <a:srgbClr val="213739"/>
                </a:solidFill>
                <a:latin typeface="Calibri"/>
                <a:cs typeface="Calibri"/>
              </a:rPr>
              <a:t>i</a:t>
            </a:r>
            <a:r>
              <a:rPr sz="1875" i="1" spc="367" baseline="-8888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Lucida Sans Unicode"/>
                <a:cs typeface="Lucida Sans Unicode"/>
              </a:rPr>
              <a:t>∗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i="1" spc="-37" baseline="-8888" dirty="0">
                <a:solidFill>
                  <a:srgbClr val="213739"/>
                </a:solidFill>
                <a:latin typeface="Calibri"/>
                <a:cs typeface="Calibri"/>
              </a:rPr>
              <a:t>i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02944" y="3013074"/>
            <a:ext cx="3591560" cy="653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 marR="5080" indent="-5080">
              <a:lnSpc>
                <a:spcPct val="117700"/>
              </a:lnSpc>
              <a:spcBef>
                <a:spcPts val="100"/>
              </a:spcBef>
            </a:pP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can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thus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rewrite</a:t>
            </a:r>
            <a:r>
              <a:rPr sz="1750" spc="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perceptron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rule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as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44447" y="3792317"/>
            <a:ext cx="2117090" cy="808355"/>
          </a:xfrm>
          <a:prstGeom prst="rect">
            <a:avLst/>
          </a:prstGeom>
        </p:spPr>
        <p:txBody>
          <a:bodyPr vert="horz" wrap="square" lIns="0" tIns="137160" rIns="0" bIns="0" rtlCol="0">
            <a:spAutoFit/>
          </a:bodyPr>
          <a:lstStyle/>
          <a:p>
            <a:pPr marR="43180" algn="r">
              <a:lnSpc>
                <a:spcPct val="100000"/>
              </a:lnSpc>
              <a:spcBef>
                <a:spcPts val="1080"/>
              </a:spcBef>
              <a:tabLst>
                <a:tab pos="735965" algn="l"/>
                <a:tab pos="1162685" algn="l"/>
              </a:tabLst>
            </a:pP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y</a:t>
            </a:r>
            <a:r>
              <a:rPr sz="1750" i="1" spc="16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9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65" dirty="0">
                <a:solidFill>
                  <a:srgbClr val="213739"/>
                </a:solidFill>
                <a:latin typeface="Calibri"/>
                <a:cs typeface="Calibri"/>
              </a:rPr>
              <a:t>if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b="1" spc="-2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-10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875" b="1" baseline="26666" dirty="0">
                <a:solidFill>
                  <a:srgbClr val="213739"/>
                </a:solidFill>
                <a:latin typeface="Calibri"/>
                <a:cs typeface="Calibri"/>
              </a:rPr>
              <a:t>T</a:t>
            </a:r>
            <a:r>
              <a:rPr sz="1875" b="1" spc="7" baseline="26666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5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≥</a:t>
            </a:r>
            <a:r>
              <a:rPr sz="1750" spc="-9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endParaRPr sz="1750">
              <a:latin typeface="Calibri"/>
              <a:cs typeface="Calibri"/>
            </a:endParaRPr>
          </a:p>
          <a:p>
            <a:pPr marR="43180" algn="r">
              <a:lnSpc>
                <a:spcPct val="100000"/>
              </a:lnSpc>
              <a:spcBef>
                <a:spcPts val="985"/>
              </a:spcBef>
              <a:tabLst>
                <a:tab pos="560705" algn="l"/>
                <a:tab pos="987425" algn="l"/>
              </a:tabLst>
            </a:pP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70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65" dirty="0">
                <a:solidFill>
                  <a:srgbClr val="213739"/>
                </a:solidFill>
                <a:latin typeface="Calibri"/>
                <a:cs typeface="Calibri"/>
              </a:rPr>
              <a:t>if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b="1" spc="-2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-10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875" b="1" baseline="26666" dirty="0">
                <a:solidFill>
                  <a:srgbClr val="213739"/>
                </a:solidFill>
                <a:latin typeface="Calibri"/>
                <a:cs typeface="Calibri"/>
              </a:rPr>
              <a:t>T</a:t>
            </a:r>
            <a:r>
              <a:rPr sz="1875" b="1" spc="7" baseline="26666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40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spc="7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56327" y="875537"/>
            <a:ext cx="3665854" cy="2662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640" marR="30480" indent="-3175" algn="just">
              <a:lnSpc>
                <a:spcPct val="117700"/>
              </a:lnSpc>
              <a:spcBef>
                <a:spcPts val="100"/>
              </a:spcBef>
            </a:pP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1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5" dirty="0">
                <a:solidFill>
                  <a:srgbClr val="213739"/>
                </a:solidFill>
                <a:latin typeface="Arial MT"/>
                <a:cs typeface="Arial MT"/>
              </a:rPr>
              <a:t>are</a:t>
            </a:r>
            <a:r>
              <a:rPr sz="1750" spc="1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interested</a:t>
            </a:r>
            <a:r>
              <a:rPr sz="1750" spc="1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in</a:t>
            </a:r>
            <a:r>
              <a:rPr sz="1750" spc="1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finding</a:t>
            </a:r>
            <a:r>
              <a:rPr sz="1750" spc="1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1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line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spc="-1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-10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875" b="1" baseline="24444" dirty="0">
                <a:solidFill>
                  <a:srgbClr val="213739"/>
                </a:solidFill>
                <a:latin typeface="Calibri"/>
                <a:cs typeface="Calibri"/>
              </a:rPr>
              <a:t>T</a:t>
            </a:r>
            <a:r>
              <a:rPr sz="1875" b="1" spc="15" baseline="2444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spc="-1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47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67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13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which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divides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input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space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into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two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halves</a:t>
            </a:r>
            <a:endParaRPr sz="1750">
              <a:latin typeface="Arial MT"/>
              <a:cs typeface="Arial MT"/>
            </a:endParaRPr>
          </a:p>
          <a:p>
            <a:pPr marL="40640" marR="41275" indent="-3175" algn="just">
              <a:lnSpc>
                <a:spcPct val="117700"/>
              </a:lnSpc>
              <a:spcBef>
                <a:spcPts val="495"/>
              </a:spcBef>
            </a:pPr>
            <a:r>
              <a:rPr sz="1750" spc="-165" dirty="0">
                <a:solidFill>
                  <a:srgbClr val="213739"/>
                </a:solidFill>
                <a:latin typeface="Arial MT"/>
                <a:cs typeface="Arial MT"/>
              </a:rPr>
              <a:t>Every</a:t>
            </a:r>
            <a:r>
              <a:rPr sz="1750" spc="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point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)</a:t>
            </a:r>
            <a:r>
              <a:rPr sz="1750" spc="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on</a:t>
            </a:r>
            <a:r>
              <a:rPr sz="1750" spc="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this</a:t>
            </a:r>
            <a:r>
              <a:rPr sz="1750" spc="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line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satisfies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the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equation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spc="-2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-9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875" b="1" baseline="24444" dirty="0">
                <a:solidFill>
                  <a:srgbClr val="213739"/>
                </a:solidFill>
                <a:latin typeface="Calibri"/>
                <a:cs typeface="Calibri"/>
              </a:rPr>
              <a:t>T</a:t>
            </a:r>
            <a:r>
              <a:rPr sz="1875" b="1" spc="22" baseline="2444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43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90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endParaRPr sz="1750">
              <a:latin typeface="Calibri"/>
              <a:cs typeface="Calibri"/>
            </a:endParaRPr>
          </a:p>
          <a:p>
            <a:pPr marL="40640" marR="36830" indent="-3175" algn="just">
              <a:lnSpc>
                <a:spcPct val="117500"/>
              </a:lnSpc>
              <a:spcBef>
                <a:spcPts val="509"/>
              </a:spcBef>
            </a:pP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What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can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you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tell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about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angle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α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)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between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4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50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750" spc="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65" dirty="0">
                <a:solidFill>
                  <a:srgbClr val="213739"/>
                </a:solidFill>
                <a:latin typeface="Arial MT"/>
                <a:cs typeface="Arial MT"/>
              </a:rPr>
              <a:t>any</a:t>
            </a:r>
            <a:r>
              <a:rPr sz="1750" spc="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point</a:t>
            </a:r>
            <a:r>
              <a:rPr sz="1750" spc="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)</a:t>
            </a:r>
            <a:r>
              <a:rPr sz="1750" spc="1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which</a:t>
            </a:r>
            <a:r>
              <a:rPr sz="1750" spc="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lies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on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this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 line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?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82361" y="3625977"/>
            <a:ext cx="232918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Theangle</a:t>
            </a:r>
            <a:r>
              <a:rPr sz="1750" spc="-229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is</a:t>
            </a:r>
            <a:r>
              <a:rPr sz="1750" spc="-2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90°</a:t>
            </a:r>
            <a:r>
              <a:rPr sz="1750" spc="-1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spc="-85" dirty="0">
                <a:solidFill>
                  <a:srgbClr val="213739"/>
                </a:solidFill>
                <a:latin typeface="Lucida Sans Unicode"/>
                <a:cs typeface="Lucida Sans Unicode"/>
              </a:rPr>
              <a:t>∵</a:t>
            </a:r>
            <a:r>
              <a:rPr sz="1750" spc="-10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cosα</a:t>
            </a:r>
            <a:r>
              <a:rPr sz="1750" i="1" spc="21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655179" y="3829050"/>
            <a:ext cx="601980" cy="0"/>
          </a:xfrm>
          <a:custGeom>
            <a:avLst/>
            <a:gdLst/>
            <a:ahLst/>
            <a:cxnLst/>
            <a:rect l="l" t="t" r="r" b="b"/>
            <a:pathLst>
              <a:path w="601979">
                <a:moveTo>
                  <a:pt x="0" y="0"/>
                </a:moveTo>
                <a:lnTo>
                  <a:pt x="601852" y="0"/>
                </a:lnTo>
              </a:path>
            </a:pathLst>
          </a:custGeom>
          <a:ln w="5536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618221" y="3613530"/>
            <a:ext cx="673735" cy="37592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R="15875" algn="ctr">
              <a:lnSpc>
                <a:spcPts val="1365"/>
              </a:lnSpc>
              <a:spcBef>
                <a:spcPts val="120"/>
              </a:spcBef>
            </a:pPr>
            <a:r>
              <a:rPr sz="12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425" i="1" baseline="23391" dirty="0">
                <a:solidFill>
                  <a:srgbClr val="213739"/>
                </a:solidFill>
                <a:latin typeface="Georgia"/>
                <a:cs typeface="Georgia"/>
              </a:rPr>
              <a:t>T</a:t>
            </a:r>
            <a:r>
              <a:rPr sz="1425" i="1" spc="270" baseline="23391" dirty="0">
                <a:solidFill>
                  <a:srgbClr val="213739"/>
                </a:solidFill>
                <a:latin typeface="Georgia"/>
                <a:cs typeface="Georgia"/>
              </a:rPr>
              <a:t> </a:t>
            </a:r>
            <a:r>
              <a:rPr sz="1250" i="1" spc="-5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endParaRPr sz="1250">
              <a:latin typeface="Calibri"/>
              <a:cs typeface="Calibri"/>
            </a:endParaRPr>
          </a:p>
          <a:p>
            <a:pPr algn="ctr">
              <a:lnSpc>
                <a:spcPts val="1365"/>
              </a:lnSpc>
            </a:pPr>
            <a:r>
              <a:rPr sz="1250" spc="-10" dirty="0">
                <a:solidFill>
                  <a:srgbClr val="213739"/>
                </a:solidFill>
                <a:latin typeface="Lucida Sans Unicode"/>
                <a:cs typeface="Lucida Sans Unicode"/>
              </a:rPr>
              <a:t>||</a:t>
            </a:r>
            <a:r>
              <a:rPr sz="1250" i="1" spc="-1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250" spc="-10" dirty="0">
                <a:solidFill>
                  <a:srgbClr val="213739"/>
                </a:solidFill>
                <a:latin typeface="Lucida Sans Unicode"/>
                <a:cs typeface="Lucida Sans Unicode"/>
              </a:rPr>
              <a:t>||||</a:t>
            </a:r>
            <a:r>
              <a:rPr sz="1250" i="1" spc="-1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250" spc="-10" dirty="0">
                <a:solidFill>
                  <a:srgbClr val="213739"/>
                </a:solidFill>
                <a:latin typeface="Lucida Sans Unicode"/>
                <a:cs typeface="Lucida Sans Unicode"/>
              </a:rPr>
              <a:t>||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781415" y="5603912"/>
            <a:ext cx="196215" cy="206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spc="-25" dirty="0">
                <a:solidFill>
                  <a:srgbClr val="213739"/>
                </a:solidFill>
                <a:latin typeface="Arial MT"/>
                <a:cs typeface="Arial MT"/>
              </a:rPr>
              <a:t>35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330310" y="3638169"/>
            <a:ext cx="43624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70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)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180838" y="3941445"/>
            <a:ext cx="3608070" cy="967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 marR="5080" indent="-5080" algn="just">
              <a:lnSpc>
                <a:spcPct val="117700"/>
              </a:lnSpc>
              <a:spcBef>
                <a:spcPts val="100"/>
              </a:spcBef>
            </a:pP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Since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vector</a:t>
            </a:r>
            <a:r>
              <a:rPr sz="1750" spc="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3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is</a:t>
            </a:r>
            <a:r>
              <a:rPr sz="1750" spc="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perpendicular</a:t>
            </a:r>
            <a:r>
              <a:rPr sz="1750" spc="-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to 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every</a:t>
            </a:r>
            <a:r>
              <a:rPr sz="1750" spc="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point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on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line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it 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is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actually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 per-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pendicular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1750" spc="-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line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itself</a:t>
            </a:r>
            <a:endParaRPr sz="175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000"/>
            <a:ext cx="9144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156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558545" y="1076597"/>
            <a:ext cx="3140075" cy="3140075"/>
            <a:chOff x="5558545" y="1076597"/>
            <a:chExt cx="3140075" cy="3140075"/>
          </a:xfrm>
        </p:grpSpPr>
        <p:sp>
          <p:nvSpPr>
            <p:cNvPr id="3" name="object 3"/>
            <p:cNvSpPr/>
            <p:nvPr/>
          </p:nvSpPr>
          <p:spPr>
            <a:xfrm>
              <a:off x="6640194" y="1081658"/>
              <a:ext cx="2052955" cy="2052955"/>
            </a:xfrm>
            <a:custGeom>
              <a:avLst/>
              <a:gdLst/>
              <a:ahLst/>
              <a:cxnLst/>
              <a:rect l="l" t="t" r="r" b="b"/>
              <a:pathLst>
                <a:path w="2052954" h="2052955">
                  <a:moveTo>
                    <a:pt x="62737" y="1990216"/>
                  </a:moveTo>
                  <a:lnTo>
                    <a:pt x="2044953" y="1990216"/>
                  </a:lnTo>
                </a:path>
                <a:path w="2052954" h="2052955">
                  <a:moveTo>
                    <a:pt x="2001647" y="1927605"/>
                  </a:moveTo>
                  <a:lnTo>
                    <a:pt x="2010663" y="1952243"/>
                  </a:lnTo>
                  <a:lnTo>
                    <a:pt x="2022855" y="1970277"/>
                  </a:lnTo>
                  <a:lnTo>
                    <a:pt x="2037333" y="1982596"/>
                  </a:lnTo>
                  <a:lnTo>
                    <a:pt x="2052954" y="1990216"/>
                  </a:lnTo>
                  <a:lnTo>
                    <a:pt x="2037333" y="1997837"/>
                  </a:lnTo>
                  <a:lnTo>
                    <a:pt x="2022855" y="2010155"/>
                  </a:lnTo>
                  <a:lnTo>
                    <a:pt x="2010663" y="2028316"/>
                  </a:lnTo>
                  <a:lnTo>
                    <a:pt x="2001647" y="2052954"/>
                  </a:lnTo>
                </a:path>
                <a:path w="2052954" h="2052955">
                  <a:moveTo>
                    <a:pt x="62737" y="1990216"/>
                  </a:moveTo>
                  <a:lnTo>
                    <a:pt x="62737" y="8000"/>
                  </a:lnTo>
                </a:path>
                <a:path w="2052954" h="2052955">
                  <a:moveTo>
                    <a:pt x="0" y="51307"/>
                  </a:moveTo>
                  <a:lnTo>
                    <a:pt x="24637" y="42290"/>
                  </a:lnTo>
                  <a:lnTo>
                    <a:pt x="42799" y="30099"/>
                  </a:lnTo>
                  <a:lnTo>
                    <a:pt x="55118" y="15620"/>
                  </a:lnTo>
                  <a:lnTo>
                    <a:pt x="62737" y="0"/>
                  </a:lnTo>
                  <a:lnTo>
                    <a:pt x="70357" y="15620"/>
                  </a:lnTo>
                  <a:lnTo>
                    <a:pt x="82676" y="30099"/>
                  </a:lnTo>
                  <a:lnTo>
                    <a:pt x="100710" y="42290"/>
                  </a:lnTo>
                  <a:lnTo>
                    <a:pt x="125349" y="51307"/>
                  </a:lnTo>
                </a:path>
              </a:pathLst>
            </a:custGeom>
            <a:ln w="10122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561076" y="1930018"/>
              <a:ext cx="2284095" cy="2284095"/>
            </a:xfrm>
            <a:custGeom>
              <a:avLst/>
              <a:gdLst/>
              <a:ahLst/>
              <a:cxnLst/>
              <a:rect l="l" t="t" r="r" b="b"/>
              <a:pathLst>
                <a:path w="2284095" h="2284095">
                  <a:moveTo>
                    <a:pt x="0" y="0"/>
                  </a:moveTo>
                  <a:lnTo>
                    <a:pt x="2283714" y="2283713"/>
                  </a:lnTo>
                </a:path>
              </a:pathLst>
            </a:custGeom>
            <a:ln w="5060">
              <a:solidFill>
                <a:srgbClr val="213739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702933" y="1821560"/>
              <a:ext cx="1250315" cy="1250315"/>
            </a:xfrm>
            <a:custGeom>
              <a:avLst/>
              <a:gdLst/>
              <a:ahLst/>
              <a:cxnLst/>
              <a:rect l="l" t="t" r="r" b="b"/>
              <a:pathLst>
                <a:path w="1250315" h="1250314">
                  <a:moveTo>
                    <a:pt x="0" y="1250314"/>
                  </a:moveTo>
                  <a:lnTo>
                    <a:pt x="1250315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74898" y="1811283"/>
              <a:ext cx="88626" cy="88626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8440166" y="2969514"/>
            <a:ext cx="26479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781415" y="5603912"/>
            <a:ext cx="196215" cy="206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spc="-25" dirty="0">
                <a:solidFill>
                  <a:srgbClr val="213739"/>
                </a:solidFill>
                <a:latin typeface="Arial MT"/>
                <a:cs typeface="Arial MT"/>
              </a:rPr>
              <a:t>36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41694" y="970915"/>
            <a:ext cx="26479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025510" y="1445767"/>
            <a:ext cx="19050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b="1" spc="-5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60771" y="1777365"/>
            <a:ext cx="94170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b="1" spc="-2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-10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875" b="1" baseline="24444" dirty="0">
                <a:solidFill>
                  <a:srgbClr val="213739"/>
                </a:solidFill>
                <a:latin typeface="Calibri"/>
                <a:cs typeface="Calibri"/>
              </a:rPr>
              <a:t>T</a:t>
            </a:r>
            <a:r>
              <a:rPr sz="1875" b="1" spc="7" baseline="2444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40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7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endParaRPr sz="175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8459" y="878585"/>
            <a:ext cx="4430395" cy="647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640" marR="30480" indent="-3175">
              <a:lnSpc>
                <a:spcPct val="116599"/>
              </a:lnSpc>
              <a:spcBef>
                <a:spcPts val="100"/>
              </a:spcBef>
            </a:pP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Consider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 some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points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(vectors)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which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lie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in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the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positive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half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space</a:t>
            </a:r>
            <a:r>
              <a:rPr sz="1750" spc="-1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this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line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i="1" spc="-80" dirty="0">
                <a:solidFill>
                  <a:srgbClr val="213739"/>
                </a:solidFill>
                <a:latin typeface="Times New Roman"/>
                <a:cs typeface="Times New Roman"/>
              </a:rPr>
              <a:t>i.e.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,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spc="-2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-8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875" b="1" baseline="24444" dirty="0">
                <a:solidFill>
                  <a:srgbClr val="213739"/>
                </a:solidFill>
                <a:latin typeface="Calibri"/>
                <a:cs typeface="Calibri"/>
              </a:rPr>
              <a:t>T</a:t>
            </a:r>
            <a:r>
              <a:rPr sz="1875" b="1" spc="37" baseline="2444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45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≥</a:t>
            </a:r>
            <a:r>
              <a:rPr sz="1750" spc="-4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)</a:t>
            </a:r>
            <a:endParaRPr sz="175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558535" y="1076578"/>
            <a:ext cx="3140075" cy="3140075"/>
            <a:chOff x="5558535" y="1076578"/>
            <a:chExt cx="3140075" cy="3140075"/>
          </a:xfrm>
        </p:grpSpPr>
        <p:sp>
          <p:nvSpPr>
            <p:cNvPr id="4" name="object 4"/>
            <p:cNvSpPr/>
            <p:nvPr/>
          </p:nvSpPr>
          <p:spPr>
            <a:xfrm>
              <a:off x="6640194" y="1081658"/>
              <a:ext cx="2052955" cy="2052955"/>
            </a:xfrm>
            <a:custGeom>
              <a:avLst/>
              <a:gdLst/>
              <a:ahLst/>
              <a:cxnLst/>
              <a:rect l="l" t="t" r="r" b="b"/>
              <a:pathLst>
                <a:path w="2052954" h="2052955">
                  <a:moveTo>
                    <a:pt x="62737" y="1990216"/>
                  </a:moveTo>
                  <a:lnTo>
                    <a:pt x="2044953" y="1990216"/>
                  </a:lnTo>
                </a:path>
                <a:path w="2052954" h="2052955">
                  <a:moveTo>
                    <a:pt x="2001647" y="1927605"/>
                  </a:moveTo>
                  <a:lnTo>
                    <a:pt x="2010663" y="1952243"/>
                  </a:lnTo>
                  <a:lnTo>
                    <a:pt x="2022855" y="1970277"/>
                  </a:lnTo>
                  <a:lnTo>
                    <a:pt x="2037333" y="1982596"/>
                  </a:lnTo>
                  <a:lnTo>
                    <a:pt x="2052954" y="1990216"/>
                  </a:lnTo>
                  <a:lnTo>
                    <a:pt x="2037333" y="1997837"/>
                  </a:lnTo>
                  <a:lnTo>
                    <a:pt x="2022855" y="2010155"/>
                  </a:lnTo>
                  <a:lnTo>
                    <a:pt x="2010663" y="2028316"/>
                  </a:lnTo>
                  <a:lnTo>
                    <a:pt x="2001647" y="2052954"/>
                  </a:lnTo>
                </a:path>
                <a:path w="2052954" h="2052955">
                  <a:moveTo>
                    <a:pt x="62737" y="1990216"/>
                  </a:moveTo>
                  <a:lnTo>
                    <a:pt x="62737" y="8000"/>
                  </a:lnTo>
                </a:path>
                <a:path w="2052954" h="2052955">
                  <a:moveTo>
                    <a:pt x="0" y="51307"/>
                  </a:moveTo>
                  <a:lnTo>
                    <a:pt x="24637" y="42290"/>
                  </a:lnTo>
                  <a:lnTo>
                    <a:pt x="42799" y="30099"/>
                  </a:lnTo>
                  <a:lnTo>
                    <a:pt x="55118" y="15620"/>
                  </a:lnTo>
                  <a:lnTo>
                    <a:pt x="62737" y="0"/>
                  </a:lnTo>
                  <a:lnTo>
                    <a:pt x="70357" y="15620"/>
                  </a:lnTo>
                  <a:lnTo>
                    <a:pt x="82676" y="30099"/>
                  </a:lnTo>
                  <a:lnTo>
                    <a:pt x="100710" y="42290"/>
                  </a:lnTo>
                  <a:lnTo>
                    <a:pt x="125349" y="51307"/>
                  </a:lnTo>
                </a:path>
              </a:pathLst>
            </a:custGeom>
            <a:ln w="10122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561075" y="1930018"/>
              <a:ext cx="2284095" cy="2284095"/>
            </a:xfrm>
            <a:custGeom>
              <a:avLst/>
              <a:gdLst/>
              <a:ahLst/>
              <a:cxnLst/>
              <a:rect l="l" t="t" r="r" b="b"/>
              <a:pathLst>
                <a:path w="2284095" h="2284095">
                  <a:moveTo>
                    <a:pt x="0" y="0"/>
                  </a:moveTo>
                  <a:lnTo>
                    <a:pt x="2283714" y="2283713"/>
                  </a:lnTo>
                </a:path>
              </a:pathLst>
            </a:custGeom>
            <a:ln w="5060">
              <a:solidFill>
                <a:srgbClr val="213739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702932" y="1821560"/>
              <a:ext cx="1250315" cy="1250315"/>
            </a:xfrm>
            <a:custGeom>
              <a:avLst/>
              <a:gdLst/>
              <a:ahLst/>
              <a:cxnLst/>
              <a:rect l="l" t="t" r="r" b="b"/>
              <a:pathLst>
                <a:path w="1250315" h="1250314">
                  <a:moveTo>
                    <a:pt x="0" y="1250314"/>
                  </a:moveTo>
                  <a:lnTo>
                    <a:pt x="1250315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74898" y="1811283"/>
              <a:ext cx="88626" cy="88626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8440166" y="2969514"/>
            <a:ext cx="26479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41694" y="970915"/>
            <a:ext cx="26479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849109" y="1536954"/>
            <a:ext cx="26797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276590" y="2108073"/>
            <a:ext cx="26797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025510" y="1445767"/>
            <a:ext cx="19050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b="1" spc="-5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686678" y="1752980"/>
            <a:ext cx="941705" cy="5314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30480" algn="r">
              <a:lnSpc>
                <a:spcPts val="2000"/>
              </a:lnSpc>
              <a:spcBef>
                <a:spcPts val="90"/>
              </a:spcBef>
            </a:pPr>
            <a:r>
              <a:rPr sz="1750" b="1" spc="-2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-9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875" b="1" baseline="24444" dirty="0">
                <a:solidFill>
                  <a:srgbClr val="213739"/>
                </a:solidFill>
                <a:latin typeface="Calibri"/>
                <a:cs typeface="Calibri"/>
              </a:rPr>
              <a:t>T</a:t>
            </a:r>
            <a:r>
              <a:rPr sz="1875" b="1" spc="7" baseline="2444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40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7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endParaRPr sz="1750">
              <a:latin typeface="Calibri"/>
              <a:cs typeface="Calibri"/>
            </a:endParaRPr>
          </a:p>
          <a:p>
            <a:pPr marR="92075" algn="r">
              <a:lnSpc>
                <a:spcPts val="2000"/>
              </a:lnSpc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8781415" y="5603912"/>
            <a:ext cx="196215" cy="206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spc="-25" dirty="0">
                <a:solidFill>
                  <a:srgbClr val="213739"/>
                </a:solidFill>
                <a:latin typeface="Arial MT"/>
                <a:cs typeface="Arial MT"/>
              </a:rPr>
              <a:t>36</a:t>
            </a:r>
            <a:endParaRPr sz="125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8459" y="878585"/>
            <a:ext cx="4446905" cy="1341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640" marR="46355" indent="-3175">
              <a:lnSpc>
                <a:spcPct val="116599"/>
              </a:lnSpc>
              <a:spcBef>
                <a:spcPts val="100"/>
              </a:spcBef>
            </a:pP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Consider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 some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points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(vectors)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which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lie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in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the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positive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half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space</a:t>
            </a:r>
            <a:r>
              <a:rPr sz="1750" spc="-1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this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line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i="1" spc="-80" dirty="0">
                <a:solidFill>
                  <a:srgbClr val="213739"/>
                </a:solidFill>
                <a:latin typeface="Times New Roman"/>
                <a:cs typeface="Times New Roman"/>
              </a:rPr>
              <a:t>i.e.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,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spc="-2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-8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875" b="1" baseline="24444" dirty="0">
                <a:solidFill>
                  <a:srgbClr val="213739"/>
                </a:solidFill>
                <a:latin typeface="Calibri"/>
                <a:cs typeface="Calibri"/>
              </a:rPr>
              <a:t>T</a:t>
            </a:r>
            <a:r>
              <a:rPr sz="1875" b="1" spc="37" baseline="2444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45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≥</a:t>
            </a:r>
            <a:r>
              <a:rPr sz="1750" spc="-4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)</a:t>
            </a:r>
            <a:endParaRPr sz="175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900"/>
              </a:spcBef>
            </a:pP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What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will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be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angle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between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any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such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vector</a:t>
            </a:r>
            <a:endParaRPr sz="1750">
              <a:latin typeface="Arial MT"/>
              <a:cs typeface="Arial MT"/>
            </a:endParaRPr>
          </a:p>
          <a:p>
            <a:pPr marL="40640">
              <a:lnSpc>
                <a:spcPct val="100000"/>
              </a:lnSpc>
              <a:spcBef>
                <a:spcPts val="360"/>
              </a:spcBef>
            </a:pP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750" spc="-1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6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?</a:t>
            </a:r>
            <a:endParaRPr sz="175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558535" y="1076578"/>
            <a:ext cx="3140075" cy="3140075"/>
            <a:chOff x="5558535" y="1076578"/>
            <a:chExt cx="3140075" cy="3140075"/>
          </a:xfrm>
        </p:grpSpPr>
        <p:sp>
          <p:nvSpPr>
            <p:cNvPr id="4" name="object 4"/>
            <p:cNvSpPr/>
            <p:nvPr/>
          </p:nvSpPr>
          <p:spPr>
            <a:xfrm>
              <a:off x="6640194" y="1081658"/>
              <a:ext cx="2052955" cy="2052955"/>
            </a:xfrm>
            <a:custGeom>
              <a:avLst/>
              <a:gdLst/>
              <a:ahLst/>
              <a:cxnLst/>
              <a:rect l="l" t="t" r="r" b="b"/>
              <a:pathLst>
                <a:path w="2052954" h="2052955">
                  <a:moveTo>
                    <a:pt x="62737" y="1990216"/>
                  </a:moveTo>
                  <a:lnTo>
                    <a:pt x="2044953" y="1990216"/>
                  </a:lnTo>
                </a:path>
                <a:path w="2052954" h="2052955">
                  <a:moveTo>
                    <a:pt x="2001647" y="1927605"/>
                  </a:moveTo>
                  <a:lnTo>
                    <a:pt x="2010663" y="1952243"/>
                  </a:lnTo>
                  <a:lnTo>
                    <a:pt x="2022855" y="1970277"/>
                  </a:lnTo>
                  <a:lnTo>
                    <a:pt x="2037333" y="1982596"/>
                  </a:lnTo>
                  <a:lnTo>
                    <a:pt x="2052954" y="1990216"/>
                  </a:lnTo>
                  <a:lnTo>
                    <a:pt x="2037333" y="1997837"/>
                  </a:lnTo>
                  <a:lnTo>
                    <a:pt x="2022855" y="2010155"/>
                  </a:lnTo>
                  <a:lnTo>
                    <a:pt x="2010663" y="2028316"/>
                  </a:lnTo>
                  <a:lnTo>
                    <a:pt x="2001647" y="2052954"/>
                  </a:lnTo>
                </a:path>
                <a:path w="2052954" h="2052955">
                  <a:moveTo>
                    <a:pt x="62737" y="1990216"/>
                  </a:moveTo>
                  <a:lnTo>
                    <a:pt x="62737" y="8000"/>
                  </a:lnTo>
                </a:path>
                <a:path w="2052954" h="2052955">
                  <a:moveTo>
                    <a:pt x="0" y="51307"/>
                  </a:moveTo>
                  <a:lnTo>
                    <a:pt x="24637" y="42290"/>
                  </a:lnTo>
                  <a:lnTo>
                    <a:pt x="42799" y="30099"/>
                  </a:lnTo>
                  <a:lnTo>
                    <a:pt x="55118" y="15620"/>
                  </a:lnTo>
                  <a:lnTo>
                    <a:pt x="62737" y="0"/>
                  </a:lnTo>
                  <a:lnTo>
                    <a:pt x="70357" y="15620"/>
                  </a:lnTo>
                  <a:lnTo>
                    <a:pt x="82676" y="30099"/>
                  </a:lnTo>
                  <a:lnTo>
                    <a:pt x="100710" y="42290"/>
                  </a:lnTo>
                  <a:lnTo>
                    <a:pt x="125349" y="51307"/>
                  </a:lnTo>
                </a:path>
              </a:pathLst>
            </a:custGeom>
            <a:ln w="10122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561075" y="1930018"/>
              <a:ext cx="2284095" cy="2284095"/>
            </a:xfrm>
            <a:custGeom>
              <a:avLst/>
              <a:gdLst/>
              <a:ahLst/>
              <a:cxnLst/>
              <a:rect l="l" t="t" r="r" b="b"/>
              <a:pathLst>
                <a:path w="2284095" h="2284095">
                  <a:moveTo>
                    <a:pt x="0" y="0"/>
                  </a:moveTo>
                  <a:lnTo>
                    <a:pt x="2283714" y="2283713"/>
                  </a:lnTo>
                </a:path>
              </a:pathLst>
            </a:custGeom>
            <a:ln w="5060">
              <a:solidFill>
                <a:srgbClr val="213739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702932" y="1821560"/>
              <a:ext cx="1250315" cy="1250315"/>
            </a:xfrm>
            <a:custGeom>
              <a:avLst/>
              <a:gdLst/>
              <a:ahLst/>
              <a:cxnLst/>
              <a:rect l="l" t="t" r="r" b="b"/>
              <a:pathLst>
                <a:path w="1250315" h="1250314">
                  <a:moveTo>
                    <a:pt x="0" y="1250314"/>
                  </a:moveTo>
                  <a:lnTo>
                    <a:pt x="1250315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74898" y="1811283"/>
              <a:ext cx="88626" cy="8862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420484" y="2394203"/>
              <a:ext cx="282575" cy="678180"/>
            </a:xfrm>
            <a:custGeom>
              <a:avLst/>
              <a:gdLst/>
              <a:ahLst/>
              <a:cxnLst/>
              <a:rect l="l" t="t" r="r" b="b"/>
              <a:pathLst>
                <a:path w="282575" h="678180">
                  <a:moveTo>
                    <a:pt x="282447" y="677672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81880" y="2387984"/>
              <a:ext cx="114418" cy="7606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702932" y="1937765"/>
              <a:ext cx="283845" cy="1134110"/>
            </a:xfrm>
            <a:custGeom>
              <a:avLst/>
              <a:gdLst/>
              <a:ahLst/>
              <a:cxnLst/>
              <a:rect l="l" t="t" r="r" b="b"/>
              <a:pathLst>
                <a:path w="283845" h="1134110">
                  <a:moveTo>
                    <a:pt x="0" y="1134110"/>
                  </a:moveTo>
                  <a:lnTo>
                    <a:pt x="283464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14905" y="1931425"/>
              <a:ext cx="119741" cy="69957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702932" y="2503550"/>
              <a:ext cx="1705610" cy="568325"/>
            </a:xfrm>
            <a:custGeom>
              <a:avLst/>
              <a:gdLst/>
              <a:ahLst/>
              <a:cxnLst/>
              <a:rect l="l" t="t" r="r" b="b"/>
              <a:pathLst>
                <a:path w="1705609" h="568325">
                  <a:moveTo>
                    <a:pt x="0" y="568325"/>
                  </a:moveTo>
                  <a:lnTo>
                    <a:pt x="1705102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343645" y="2462656"/>
              <a:ext cx="68580" cy="112395"/>
            </a:xfrm>
            <a:custGeom>
              <a:avLst/>
              <a:gdLst/>
              <a:ahLst/>
              <a:cxnLst/>
              <a:rect l="l" t="t" r="r" b="b"/>
              <a:pathLst>
                <a:path w="68579" h="112394">
                  <a:moveTo>
                    <a:pt x="0" y="0"/>
                  </a:moveTo>
                  <a:lnTo>
                    <a:pt x="16001" y="19176"/>
                  </a:lnTo>
                  <a:lnTo>
                    <a:pt x="33274" y="31368"/>
                  </a:lnTo>
                  <a:lnTo>
                    <a:pt x="50926" y="37845"/>
                  </a:lnTo>
                  <a:lnTo>
                    <a:pt x="68199" y="39623"/>
                  </a:lnTo>
                  <a:lnTo>
                    <a:pt x="55499" y="51434"/>
                  </a:lnTo>
                  <a:lnTo>
                    <a:pt x="45211" y="67182"/>
                  </a:lnTo>
                  <a:lnTo>
                    <a:pt x="38734" y="87248"/>
                  </a:lnTo>
                  <a:lnTo>
                    <a:pt x="37464" y="112267"/>
                  </a:lnTo>
                </a:path>
              </a:pathLst>
            </a:custGeom>
            <a:ln w="506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8440166" y="2969514"/>
            <a:ext cx="26479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441694" y="970915"/>
            <a:ext cx="26479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849109" y="1536954"/>
            <a:ext cx="26797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300973" y="2108073"/>
            <a:ext cx="13906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411718" y="2203780"/>
            <a:ext cx="107950" cy="2197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spc="-50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025510" y="1445767"/>
            <a:ext cx="19050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b="1" spc="-5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686678" y="1752980"/>
            <a:ext cx="941705" cy="5314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30480" algn="r">
              <a:lnSpc>
                <a:spcPts val="2000"/>
              </a:lnSpc>
              <a:spcBef>
                <a:spcPts val="90"/>
              </a:spcBef>
            </a:pPr>
            <a:r>
              <a:rPr sz="1750" b="1" spc="-2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-9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875" b="1" baseline="24444" dirty="0">
                <a:solidFill>
                  <a:srgbClr val="213739"/>
                </a:solidFill>
                <a:latin typeface="Calibri"/>
                <a:cs typeface="Calibri"/>
              </a:rPr>
              <a:t>T</a:t>
            </a:r>
            <a:r>
              <a:rPr sz="1875" b="1" spc="7" baseline="2444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40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7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endParaRPr sz="1750">
              <a:latin typeface="Calibri"/>
              <a:cs typeface="Calibri"/>
            </a:endParaRPr>
          </a:p>
          <a:p>
            <a:pPr marR="92075" algn="r">
              <a:lnSpc>
                <a:spcPts val="2000"/>
              </a:lnSpc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-8888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374774" y="1887356"/>
            <a:ext cx="2084070" cy="656590"/>
            <a:chOff x="6374774" y="1887356"/>
            <a:chExt cx="2084070" cy="656590"/>
          </a:xfrm>
        </p:grpSpPr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74774" y="2344175"/>
              <a:ext cx="85324" cy="8532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945766" y="1887356"/>
              <a:ext cx="85324" cy="85324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8375522" y="2460878"/>
              <a:ext cx="80645" cy="80645"/>
            </a:xfrm>
            <a:custGeom>
              <a:avLst/>
              <a:gdLst/>
              <a:ahLst/>
              <a:cxnLst/>
              <a:rect l="l" t="t" r="r" b="b"/>
              <a:pathLst>
                <a:path w="80645" h="80644">
                  <a:moveTo>
                    <a:pt x="40131" y="0"/>
                  </a:moveTo>
                  <a:lnTo>
                    <a:pt x="24510" y="3175"/>
                  </a:lnTo>
                  <a:lnTo>
                    <a:pt x="11810" y="11684"/>
                  </a:lnTo>
                  <a:lnTo>
                    <a:pt x="3175" y="24511"/>
                  </a:lnTo>
                  <a:lnTo>
                    <a:pt x="0" y="40132"/>
                  </a:lnTo>
                  <a:lnTo>
                    <a:pt x="3175" y="55753"/>
                  </a:lnTo>
                  <a:lnTo>
                    <a:pt x="11810" y="68453"/>
                  </a:lnTo>
                  <a:lnTo>
                    <a:pt x="24510" y="77088"/>
                  </a:lnTo>
                  <a:lnTo>
                    <a:pt x="40131" y="80263"/>
                  </a:lnTo>
                  <a:lnTo>
                    <a:pt x="55752" y="77088"/>
                  </a:lnTo>
                  <a:lnTo>
                    <a:pt x="68579" y="68453"/>
                  </a:lnTo>
                  <a:lnTo>
                    <a:pt x="77216" y="55753"/>
                  </a:lnTo>
                  <a:lnTo>
                    <a:pt x="80263" y="40132"/>
                  </a:lnTo>
                  <a:lnTo>
                    <a:pt x="77216" y="24511"/>
                  </a:lnTo>
                  <a:lnTo>
                    <a:pt x="68579" y="11684"/>
                  </a:lnTo>
                  <a:lnTo>
                    <a:pt x="55752" y="3175"/>
                  </a:lnTo>
                  <a:lnTo>
                    <a:pt x="40131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375522" y="2460878"/>
              <a:ext cx="80645" cy="80645"/>
            </a:xfrm>
            <a:custGeom>
              <a:avLst/>
              <a:gdLst/>
              <a:ahLst/>
              <a:cxnLst/>
              <a:rect l="l" t="t" r="r" b="b"/>
              <a:pathLst>
                <a:path w="80645" h="80644">
                  <a:moveTo>
                    <a:pt x="80263" y="40132"/>
                  </a:moveTo>
                  <a:lnTo>
                    <a:pt x="77216" y="24511"/>
                  </a:lnTo>
                  <a:lnTo>
                    <a:pt x="68579" y="11684"/>
                  </a:lnTo>
                  <a:lnTo>
                    <a:pt x="55752" y="3175"/>
                  </a:lnTo>
                  <a:lnTo>
                    <a:pt x="40131" y="0"/>
                  </a:lnTo>
                  <a:lnTo>
                    <a:pt x="24510" y="3175"/>
                  </a:lnTo>
                  <a:lnTo>
                    <a:pt x="11810" y="11684"/>
                  </a:lnTo>
                  <a:lnTo>
                    <a:pt x="3175" y="24511"/>
                  </a:lnTo>
                  <a:lnTo>
                    <a:pt x="0" y="40132"/>
                  </a:lnTo>
                  <a:lnTo>
                    <a:pt x="3175" y="55753"/>
                  </a:lnTo>
                  <a:lnTo>
                    <a:pt x="11810" y="68453"/>
                  </a:lnTo>
                  <a:lnTo>
                    <a:pt x="24510" y="77088"/>
                  </a:lnTo>
                  <a:lnTo>
                    <a:pt x="40131" y="80263"/>
                  </a:lnTo>
                  <a:lnTo>
                    <a:pt x="55752" y="77088"/>
                  </a:lnTo>
                  <a:lnTo>
                    <a:pt x="68579" y="68453"/>
                  </a:lnTo>
                  <a:lnTo>
                    <a:pt x="77216" y="55753"/>
                  </a:lnTo>
                  <a:lnTo>
                    <a:pt x="80263" y="40132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8781415" y="5603912"/>
            <a:ext cx="196215" cy="206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spc="-25" dirty="0">
                <a:solidFill>
                  <a:srgbClr val="213739"/>
                </a:solidFill>
                <a:latin typeface="Arial MT"/>
                <a:cs typeface="Arial MT"/>
              </a:rPr>
              <a:t>36</a:t>
            </a:r>
            <a:endParaRPr sz="125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8459" y="878585"/>
            <a:ext cx="4446905" cy="1341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640" marR="46355" indent="-3175">
              <a:lnSpc>
                <a:spcPct val="116599"/>
              </a:lnSpc>
              <a:spcBef>
                <a:spcPts val="100"/>
              </a:spcBef>
            </a:pP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Consider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 some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points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(vectors)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which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lie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in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the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positive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half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space</a:t>
            </a:r>
            <a:r>
              <a:rPr sz="1750" spc="-1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this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line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i="1" spc="-80" dirty="0">
                <a:solidFill>
                  <a:srgbClr val="213739"/>
                </a:solidFill>
                <a:latin typeface="Times New Roman"/>
                <a:cs typeface="Times New Roman"/>
              </a:rPr>
              <a:t>i.e.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,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spc="-2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-8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875" b="1" baseline="24444" dirty="0">
                <a:solidFill>
                  <a:srgbClr val="213739"/>
                </a:solidFill>
                <a:latin typeface="Calibri"/>
                <a:cs typeface="Calibri"/>
              </a:rPr>
              <a:t>T</a:t>
            </a:r>
            <a:r>
              <a:rPr sz="1875" b="1" spc="37" baseline="2444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45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≥</a:t>
            </a:r>
            <a:r>
              <a:rPr sz="1750" spc="-4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)</a:t>
            </a:r>
            <a:endParaRPr sz="175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900"/>
              </a:spcBef>
            </a:pP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What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will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be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angle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between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any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such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vector</a:t>
            </a:r>
            <a:endParaRPr sz="1750">
              <a:latin typeface="Arial MT"/>
              <a:cs typeface="Arial MT"/>
            </a:endParaRPr>
          </a:p>
          <a:p>
            <a:pPr marL="40640">
              <a:lnSpc>
                <a:spcPct val="100000"/>
              </a:lnSpc>
              <a:spcBef>
                <a:spcPts val="360"/>
              </a:spcBef>
            </a:pP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750" spc="-1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9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?</a:t>
            </a:r>
            <a:r>
              <a:rPr sz="1750" spc="-3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Obviously,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less</a:t>
            </a:r>
            <a:r>
              <a:rPr sz="1750" spc="-1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than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90°</a:t>
            </a:r>
            <a:endParaRPr sz="175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558535" y="1076578"/>
            <a:ext cx="3140075" cy="3140075"/>
            <a:chOff x="5558535" y="1076578"/>
            <a:chExt cx="3140075" cy="3140075"/>
          </a:xfrm>
        </p:grpSpPr>
        <p:sp>
          <p:nvSpPr>
            <p:cNvPr id="4" name="object 4"/>
            <p:cNvSpPr/>
            <p:nvPr/>
          </p:nvSpPr>
          <p:spPr>
            <a:xfrm>
              <a:off x="6640194" y="1081658"/>
              <a:ext cx="2052955" cy="2052955"/>
            </a:xfrm>
            <a:custGeom>
              <a:avLst/>
              <a:gdLst/>
              <a:ahLst/>
              <a:cxnLst/>
              <a:rect l="l" t="t" r="r" b="b"/>
              <a:pathLst>
                <a:path w="2052954" h="2052955">
                  <a:moveTo>
                    <a:pt x="62737" y="1990216"/>
                  </a:moveTo>
                  <a:lnTo>
                    <a:pt x="2044953" y="1990216"/>
                  </a:lnTo>
                </a:path>
                <a:path w="2052954" h="2052955">
                  <a:moveTo>
                    <a:pt x="2001647" y="1927605"/>
                  </a:moveTo>
                  <a:lnTo>
                    <a:pt x="2010663" y="1952243"/>
                  </a:lnTo>
                  <a:lnTo>
                    <a:pt x="2022855" y="1970277"/>
                  </a:lnTo>
                  <a:lnTo>
                    <a:pt x="2037333" y="1982596"/>
                  </a:lnTo>
                  <a:lnTo>
                    <a:pt x="2052954" y="1990216"/>
                  </a:lnTo>
                  <a:lnTo>
                    <a:pt x="2037333" y="1997837"/>
                  </a:lnTo>
                  <a:lnTo>
                    <a:pt x="2022855" y="2010155"/>
                  </a:lnTo>
                  <a:lnTo>
                    <a:pt x="2010663" y="2028316"/>
                  </a:lnTo>
                  <a:lnTo>
                    <a:pt x="2001647" y="2052954"/>
                  </a:lnTo>
                </a:path>
                <a:path w="2052954" h="2052955">
                  <a:moveTo>
                    <a:pt x="62737" y="1990216"/>
                  </a:moveTo>
                  <a:lnTo>
                    <a:pt x="62737" y="8000"/>
                  </a:lnTo>
                </a:path>
                <a:path w="2052954" h="2052955">
                  <a:moveTo>
                    <a:pt x="0" y="51307"/>
                  </a:moveTo>
                  <a:lnTo>
                    <a:pt x="24637" y="42290"/>
                  </a:lnTo>
                  <a:lnTo>
                    <a:pt x="42799" y="30099"/>
                  </a:lnTo>
                  <a:lnTo>
                    <a:pt x="55118" y="15620"/>
                  </a:lnTo>
                  <a:lnTo>
                    <a:pt x="62737" y="0"/>
                  </a:lnTo>
                  <a:lnTo>
                    <a:pt x="70357" y="15620"/>
                  </a:lnTo>
                  <a:lnTo>
                    <a:pt x="82676" y="30099"/>
                  </a:lnTo>
                  <a:lnTo>
                    <a:pt x="100710" y="42290"/>
                  </a:lnTo>
                  <a:lnTo>
                    <a:pt x="125349" y="51307"/>
                  </a:lnTo>
                </a:path>
              </a:pathLst>
            </a:custGeom>
            <a:ln w="10122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561075" y="1930018"/>
              <a:ext cx="2284095" cy="2284095"/>
            </a:xfrm>
            <a:custGeom>
              <a:avLst/>
              <a:gdLst/>
              <a:ahLst/>
              <a:cxnLst/>
              <a:rect l="l" t="t" r="r" b="b"/>
              <a:pathLst>
                <a:path w="2284095" h="2284095">
                  <a:moveTo>
                    <a:pt x="0" y="0"/>
                  </a:moveTo>
                  <a:lnTo>
                    <a:pt x="2283714" y="2283713"/>
                  </a:lnTo>
                </a:path>
              </a:pathLst>
            </a:custGeom>
            <a:ln w="5060">
              <a:solidFill>
                <a:srgbClr val="213739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702932" y="1821560"/>
              <a:ext cx="1250315" cy="1250315"/>
            </a:xfrm>
            <a:custGeom>
              <a:avLst/>
              <a:gdLst/>
              <a:ahLst/>
              <a:cxnLst/>
              <a:rect l="l" t="t" r="r" b="b"/>
              <a:pathLst>
                <a:path w="1250315" h="1250314">
                  <a:moveTo>
                    <a:pt x="0" y="1250314"/>
                  </a:moveTo>
                  <a:lnTo>
                    <a:pt x="1250315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74898" y="1811283"/>
              <a:ext cx="88626" cy="8862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420484" y="2394203"/>
              <a:ext cx="282575" cy="678180"/>
            </a:xfrm>
            <a:custGeom>
              <a:avLst/>
              <a:gdLst/>
              <a:ahLst/>
              <a:cxnLst/>
              <a:rect l="l" t="t" r="r" b="b"/>
              <a:pathLst>
                <a:path w="282575" h="678180">
                  <a:moveTo>
                    <a:pt x="282447" y="677672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81880" y="2387984"/>
              <a:ext cx="114418" cy="7606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702932" y="1937765"/>
              <a:ext cx="283845" cy="1134110"/>
            </a:xfrm>
            <a:custGeom>
              <a:avLst/>
              <a:gdLst/>
              <a:ahLst/>
              <a:cxnLst/>
              <a:rect l="l" t="t" r="r" b="b"/>
              <a:pathLst>
                <a:path w="283845" h="1134110">
                  <a:moveTo>
                    <a:pt x="0" y="1134110"/>
                  </a:moveTo>
                  <a:lnTo>
                    <a:pt x="283464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14905" y="1931425"/>
              <a:ext cx="119741" cy="69957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702932" y="2503550"/>
              <a:ext cx="1705610" cy="568325"/>
            </a:xfrm>
            <a:custGeom>
              <a:avLst/>
              <a:gdLst/>
              <a:ahLst/>
              <a:cxnLst/>
              <a:rect l="l" t="t" r="r" b="b"/>
              <a:pathLst>
                <a:path w="1705609" h="568325">
                  <a:moveTo>
                    <a:pt x="0" y="568325"/>
                  </a:moveTo>
                  <a:lnTo>
                    <a:pt x="1705102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343645" y="2462656"/>
              <a:ext cx="68580" cy="112395"/>
            </a:xfrm>
            <a:custGeom>
              <a:avLst/>
              <a:gdLst/>
              <a:ahLst/>
              <a:cxnLst/>
              <a:rect l="l" t="t" r="r" b="b"/>
              <a:pathLst>
                <a:path w="68579" h="112394">
                  <a:moveTo>
                    <a:pt x="0" y="0"/>
                  </a:moveTo>
                  <a:lnTo>
                    <a:pt x="16001" y="19176"/>
                  </a:lnTo>
                  <a:lnTo>
                    <a:pt x="33274" y="31368"/>
                  </a:lnTo>
                  <a:lnTo>
                    <a:pt x="50926" y="37845"/>
                  </a:lnTo>
                  <a:lnTo>
                    <a:pt x="68199" y="39623"/>
                  </a:lnTo>
                  <a:lnTo>
                    <a:pt x="55499" y="51434"/>
                  </a:lnTo>
                  <a:lnTo>
                    <a:pt x="45211" y="67182"/>
                  </a:lnTo>
                  <a:lnTo>
                    <a:pt x="38734" y="87248"/>
                  </a:lnTo>
                  <a:lnTo>
                    <a:pt x="37464" y="112267"/>
                  </a:lnTo>
                </a:path>
              </a:pathLst>
            </a:custGeom>
            <a:ln w="506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8440166" y="2969514"/>
            <a:ext cx="26479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441694" y="970915"/>
            <a:ext cx="26479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849109" y="1536954"/>
            <a:ext cx="26797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300973" y="2108073"/>
            <a:ext cx="13906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411718" y="2203780"/>
            <a:ext cx="107950" cy="2197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spc="-50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025510" y="1445767"/>
            <a:ext cx="19050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b="1" spc="-5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686678" y="1752980"/>
            <a:ext cx="941705" cy="5314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30480" algn="r">
              <a:lnSpc>
                <a:spcPts val="2000"/>
              </a:lnSpc>
              <a:spcBef>
                <a:spcPts val="90"/>
              </a:spcBef>
            </a:pPr>
            <a:r>
              <a:rPr sz="1750" b="1" spc="-2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-9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875" b="1" baseline="24444" dirty="0">
                <a:solidFill>
                  <a:srgbClr val="213739"/>
                </a:solidFill>
                <a:latin typeface="Calibri"/>
                <a:cs typeface="Calibri"/>
              </a:rPr>
              <a:t>T</a:t>
            </a:r>
            <a:r>
              <a:rPr sz="1875" b="1" spc="7" baseline="2444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40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7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endParaRPr sz="1750">
              <a:latin typeface="Calibri"/>
              <a:cs typeface="Calibri"/>
            </a:endParaRPr>
          </a:p>
          <a:p>
            <a:pPr marR="92075" algn="r">
              <a:lnSpc>
                <a:spcPts val="2000"/>
              </a:lnSpc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781415" y="5603912"/>
            <a:ext cx="196215" cy="206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spc="-25" dirty="0">
                <a:solidFill>
                  <a:srgbClr val="213739"/>
                </a:solidFill>
                <a:latin typeface="Arial MT"/>
                <a:cs typeface="Arial MT"/>
              </a:rPr>
              <a:t>36</a:t>
            </a:r>
            <a:endParaRPr sz="125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8459" y="878585"/>
            <a:ext cx="4454525" cy="2033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640" marR="53975" indent="-3175">
              <a:lnSpc>
                <a:spcPct val="116599"/>
              </a:lnSpc>
              <a:spcBef>
                <a:spcPts val="100"/>
              </a:spcBef>
            </a:pP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Consider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 some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points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(vectors)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which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lie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in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the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positive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half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space</a:t>
            </a:r>
            <a:r>
              <a:rPr sz="1750" spc="-1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this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line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i="1" spc="-80" dirty="0">
                <a:solidFill>
                  <a:srgbClr val="213739"/>
                </a:solidFill>
                <a:latin typeface="Times New Roman"/>
                <a:cs typeface="Times New Roman"/>
              </a:rPr>
              <a:t>i.e.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,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spc="-2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-8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875" b="1" baseline="24444" dirty="0">
                <a:solidFill>
                  <a:srgbClr val="213739"/>
                </a:solidFill>
                <a:latin typeface="Calibri"/>
                <a:cs typeface="Calibri"/>
              </a:rPr>
              <a:t>T</a:t>
            </a:r>
            <a:r>
              <a:rPr sz="1875" b="1" spc="37" baseline="2444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45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≥</a:t>
            </a:r>
            <a:r>
              <a:rPr sz="1750" spc="-4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)</a:t>
            </a:r>
            <a:endParaRPr sz="175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900"/>
              </a:spcBef>
            </a:pP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What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will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be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angle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between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any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such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vector</a:t>
            </a:r>
            <a:endParaRPr sz="1750">
              <a:latin typeface="Arial MT"/>
              <a:cs typeface="Arial MT"/>
            </a:endParaRPr>
          </a:p>
          <a:p>
            <a:pPr marL="40640">
              <a:lnSpc>
                <a:spcPct val="100000"/>
              </a:lnSpc>
              <a:spcBef>
                <a:spcPts val="360"/>
              </a:spcBef>
            </a:pP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750" spc="-1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9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?</a:t>
            </a:r>
            <a:r>
              <a:rPr sz="1750" spc="-3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Obviously,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less</a:t>
            </a:r>
            <a:r>
              <a:rPr sz="1750" spc="-1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than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90°</a:t>
            </a:r>
            <a:endParaRPr sz="1750">
              <a:latin typeface="Arial MT"/>
              <a:cs typeface="Arial MT"/>
            </a:endParaRPr>
          </a:p>
          <a:p>
            <a:pPr marL="40640" marR="30480" indent="-3175">
              <a:lnSpc>
                <a:spcPct val="117700"/>
              </a:lnSpc>
              <a:spcBef>
                <a:spcPts val="505"/>
              </a:spcBef>
            </a:pP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What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about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points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(vectors)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which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lie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in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neg-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ative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half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space</a:t>
            </a:r>
            <a:r>
              <a:rPr sz="1750" spc="-2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this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line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i="1" spc="-80" dirty="0">
                <a:solidFill>
                  <a:srgbClr val="213739"/>
                </a:solidFill>
                <a:latin typeface="Times New Roman"/>
                <a:cs typeface="Times New Roman"/>
              </a:rPr>
              <a:t>i.e.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,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spc="-2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-9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875" b="1" baseline="24444" dirty="0">
                <a:solidFill>
                  <a:srgbClr val="213739"/>
                </a:solidFill>
                <a:latin typeface="Calibri"/>
                <a:cs typeface="Calibri"/>
              </a:rPr>
              <a:t>T</a:t>
            </a:r>
            <a:r>
              <a:rPr sz="1875" b="1" spc="37" baseline="2444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44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spc="10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)</a:t>
            </a:r>
            <a:endParaRPr sz="175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558535" y="1076578"/>
            <a:ext cx="3140075" cy="3140075"/>
            <a:chOff x="5558535" y="1076578"/>
            <a:chExt cx="3140075" cy="3140075"/>
          </a:xfrm>
        </p:grpSpPr>
        <p:sp>
          <p:nvSpPr>
            <p:cNvPr id="4" name="object 4"/>
            <p:cNvSpPr/>
            <p:nvPr/>
          </p:nvSpPr>
          <p:spPr>
            <a:xfrm>
              <a:off x="6640194" y="1081658"/>
              <a:ext cx="2052955" cy="2052955"/>
            </a:xfrm>
            <a:custGeom>
              <a:avLst/>
              <a:gdLst/>
              <a:ahLst/>
              <a:cxnLst/>
              <a:rect l="l" t="t" r="r" b="b"/>
              <a:pathLst>
                <a:path w="2052954" h="2052955">
                  <a:moveTo>
                    <a:pt x="62737" y="1990216"/>
                  </a:moveTo>
                  <a:lnTo>
                    <a:pt x="2044953" y="1990216"/>
                  </a:lnTo>
                </a:path>
                <a:path w="2052954" h="2052955">
                  <a:moveTo>
                    <a:pt x="2001647" y="1927605"/>
                  </a:moveTo>
                  <a:lnTo>
                    <a:pt x="2010663" y="1952243"/>
                  </a:lnTo>
                  <a:lnTo>
                    <a:pt x="2022855" y="1970277"/>
                  </a:lnTo>
                  <a:lnTo>
                    <a:pt x="2037333" y="1982596"/>
                  </a:lnTo>
                  <a:lnTo>
                    <a:pt x="2052954" y="1990216"/>
                  </a:lnTo>
                  <a:lnTo>
                    <a:pt x="2037333" y="1997837"/>
                  </a:lnTo>
                  <a:lnTo>
                    <a:pt x="2022855" y="2010155"/>
                  </a:lnTo>
                  <a:lnTo>
                    <a:pt x="2010663" y="2028316"/>
                  </a:lnTo>
                  <a:lnTo>
                    <a:pt x="2001647" y="2052954"/>
                  </a:lnTo>
                </a:path>
                <a:path w="2052954" h="2052955">
                  <a:moveTo>
                    <a:pt x="62737" y="1990216"/>
                  </a:moveTo>
                  <a:lnTo>
                    <a:pt x="62737" y="8000"/>
                  </a:lnTo>
                </a:path>
                <a:path w="2052954" h="2052955">
                  <a:moveTo>
                    <a:pt x="0" y="51307"/>
                  </a:moveTo>
                  <a:lnTo>
                    <a:pt x="24637" y="42290"/>
                  </a:lnTo>
                  <a:lnTo>
                    <a:pt x="42799" y="30099"/>
                  </a:lnTo>
                  <a:lnTo>
                    <a:pt x="55118" y="15620"/>
                  </a:lnTo>
                  <a:lnTo>
                    <a:pt x="62737" y="0"/>
                  </a:lnTo>
                  <a:lnTo>
                    <a:pt x="70357" y="15620"/>
                  </a:lnTo>
                  <a:lnTo>
                    <a:pt x="82676" y="30099"/>
                  </a:lnTo>
                  <a:lnTo>
                    <a:pt x="100710" y="42290"/>
                  </a:lnTo>
                  <a:lnTo>
                    <a:pt x="125349" y="51307"/>
                  </a:lnTo>
                </a:path>
              </a:pathLst>
            </a:custGeom>
            <a:ln w="10122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561075" y="1930018"/>
              <a:ext cx="2284095" cy="2284095"/>
            </a:xfrm>
            <a:custGeom>
              <a:avLst/>
              <a:gdLst/>
              <a:ahLst/>
              <a:cxnLst/>
              <a:rect l="l" t="t" r="r" b="b"/>
              <a:pathLst>
                <a:path w="2284095" h="2284095">
                  <a:moveTo>
                    <a:pt x="0" y="0"/>
                  </a:moveTo>
                  <a:lnTo>
                    <a:pt x="2283714" y="2283713"/>
                  </a:lnTo>
                </a:path>
              </a:pathLst>
            </a:custGeom>
            <a:ln w="5060">
              <a:solidFill>
                <a:srgbClr val="213739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702932" y="1821560"/>
              <a:ext cx="1250315" cy="1250315"/>
            </a:xfrm>
            <a:custGeom>
              <a:avLst/>
              <a:gdLst/>
              <a:ahLst/>
              <a:cxnLst/>
              <a:rect l="l" t="t" r="r" b="b"/>
              <a:pathLst>
                <a:path w="1250315" h="1250314">
                  <a:moveTo>
                    <a:pt x="0" y="1250314"/>
                  </a:moveTo>
                  <a:lnTo>
                    <a:pt x="1250315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74898" y="1811283"/>
              <a:ext cx="88626" cy="8862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420484" y="2394203"/>
              <a:ext cx="282575" cy="678180"/>
            </a:xfrm>
            <a:custGeom>
              <a:avLst/>
              <a:gdLst/>
              <a:ahLst/>
              <a:cxnLst/>
              <a:rect l="l" t="t" r="r" b="b"/>
              <a:pathLst>
                <a:path w="282575" h="678180">
                  <a:moveTo>
                    <a:pt x="282447" y="677672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81880" y="2387984"/>
              <a:ext cx="114418" cy="7606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702932" y="1937765"/>
              <a:ext cx="283845" cy="1134110"/>
            </a:xfrm>
            <a:custGeom>
              <a:avLst/>
              <a:gdLst/>
              <a:ahLst/>
              <a:cxnLst/>
              <a:rect l="l" t="t" r="r" b="b"/>
              <a:pathLst>
                <a:path w="283845" h="1134110">
                  <a:moveTo>
                    <a:pt x="0" y="1134110"/>
                  </a:moveTo>
                  <a:lnTo>
                    <a:pt x="283464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14905" y="1931425"/>
              <a:ext cx="119741" cy="69957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702932" y="2503550"/>
              <a:ext cx="1705610" cy="568325"/>
            </a:xfrm>
            <a:custGeom>
              <a:avLst/>
              <a:gdLst/>
              <a:ahLst/>
              <a:cxnLst/>
              <a:rect l="l" t="t" r="r" b="b"/>
              <a:pathLst>
                <a:path w="1705609" h="568325">
                  <a:moveTo>
                    <a:pt x="0" y="568325"/>
                  </a:moveTo>
                  <a:lnTo>
                    <a:pt x="1705102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343645" y="2462656"/>
              <a:ext cx="68580" cy="112395"/>
            </a:xfrm>
            <a:custGeom>
              <a:avLst/>
              <a:gdLst/>
              <a:ahLst/>
              <a:cxnLst/>
              <a:rect l="l" t="t" r="r" b="b"/>
              <a:pathLst>
                <a:path w="68579" h="112394">
                  <a:moveTo>
                    <a:pt x="0" y="0"/>
                  </a:moveTo>
                  <a:lnTo>
                    <a:pt x="16001" y="19176"/>
                  </a:lnTo>
                  <a:lnTo>
                    <a:pt x="33274" y="31368"/>
                  </a:lnTo>
                  <a:lnTo>
                    <a:pt x="50926" y="37845"/>
                  </a:lnTo>
                  <a:lnTo>
                    <a:pt x="68199" y="39623"/>
                  </a:lnTo>
                  <a:lnTo>
                    <a:pt x="55499" y="51434"/>
                  </a:lnTo>
                  <a:lnTo>
                    <a:pt x="45211" y="67182"/>
                  </a:lnTo>
                  <a:lnTo>
                    <a:pt x="38734" y="87248"/>
                  </a:lnTo>
                  <a:lnTo>
                    <a:pt x="37464" y="112267"/>
                  </a:lnTo>
                </a:path>
              </a:pathLst>
            </a:custGeom>
            <a:ln w="506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8440166" y="2969514"/>
            <a:ext cx="26479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441694" y="970915"/>
            <a:ext cx="26479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849109" y="1536954"/>
            <a:ext cx="26797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300973" y="2108073"/>
            <a:ext cx="13906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411718" y="2203780"/>
            <a:ext cx="107950" cy="2197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spc="-50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720841" y="2741167"/>
            <a:ext cx="13906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852921" y="2837179"/>
            <a:ext cx="107314" cy="2197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50" spc="-50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254241" y="4168902"/>
            <a:ext cx="874394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620395" algn="l"/>
              </a:tabLst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025510" y="1445767"/>
            <a:ext cx="19050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b="1" spc="-5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686678" y="1752980"/>
            <a:ext cx="941705" cy="5314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30480" algn="r">
              <a:lnSpc>
                <a:spcPts val="2000"/>
              </a:lnSpc>
              <a:spcBef>
                <a:spcPts val="90"/>
              </a:spcBef>
            </a:pPr>
            <a:r>
              <a:rPr sz="1750" b="1" spc="-2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-9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875" b="1" baseline="24444" dirty="0">
                <a:solidFill>
                  <a:srgbClr val="213739"/>
                </a:solidFill>
                <a:latin typeface="Calibri"/>
                <a:cs typeface="Calibri"/>
              </a:rPr>
              <a:t>T</a:t>
            </a:r>
            <a:r>
              <a:rPr sz="1875" b="1" spc="7" baseline="2444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40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7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endParaRPr sz="1750">
              <a:latin typeface="Calibri"/>
              <a:cs typeface="Calibri"/>
            </a:endParaRPr>
          </a:p>
          <a:p>
            <a:pPr marR="92075" algn="r">
              <a:lnSpc>
                <a:spcPts val="2000"/>
              </a:lnSpc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781415" y="5603912"/>
            <a:ext cx="196215" cy="206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spc="-25" dirty="0">
                <a:solidFill>
                  <a:srgbClr val="213739"/>
                </a:solidFill>
                <a:latin typeface="Arial MT"/>
                <a:cs typeface="Arial MT"/>
              </a:rPr>
              <a:t>36</a:t>
            </a:r>
            <a:endParaRPr sz="125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8459" y="878585"/>
            <a:ext cx="4454525" cy="2723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640" marR="53975" indent="-3175">
              <a:lnSpc>
                <a:spcPct val="116599"/>
              </a:lnSpc>
              <a:spcBef>
                <a:spcPts val="100"/>
              </a:spcBef>
            </a:pP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Consider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 some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points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(vectors)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which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lie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in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the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positive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half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space</a:t>
            </a:r>
            <a:r>
              <a:rPr sz="1750" spc="-1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this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line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i="1" spc="-80" dirty="0">
                <a:solidFill>
                  <a:srgbClr val="213739"/>
                </a:solidFill>
                <a:latin typeface="Times New Roman"/>
                <a:cs typeface="Times New Roman"/>
              </a:rPr>
              <a:t>i.e.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,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spc="-2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-8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875" b="1" baseline="24444" dirty="0">
                <a:solidFill>
                  <a:srgbClr val="213739"/>
                </a:solidFill>
                <a:latin typeface="Calibri"/>
                <a:cs typeface="Calibri"/>
              </a:rPr>
              <a:t>T</a:t>
            </a:r>
            <a:r>
              <a:rPr sz="1875" b="1" spc="37" baseline="2444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45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≥</a:t>
            </a:r>
            <a:r>
              <a:rPr sz="1750" spc="-4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)</a:t>
            </a:r>
            <a:endParaRPr sz="175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900"/>
              </a:spcBef>
            </a:pP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What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will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be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angle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between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any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such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vector</a:t>
            </a:r>
            <a:endParaRPr sz="1750">
              <a:latin typeface="Arial MT"/>
              <a:cs typeface="Arial MT"/>
            </a:endParaRPr>
          </a:p>
          <a:p>
            <a:pPr marL="40640">
              <a:lnSpc>
                <a:spcPct val="100000"/>
              </a:lnSpc>
              <a:spcBef>
                <a:spcPts val="360"/>
              </a:spcBef>
            </a:pP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750" spc="-1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9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?</a:t>
            </a:r>
            <a:r>
              <a:rPr sz="1750" spc="-3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Obviously,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less</a:t>
            </a:r>
            <a:r>
              <a:rPr sz="1750" spc="-1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than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90°</a:t>
            </a:r>
            <a:endParaRPr sz="1750">
              <a:latin typeface="Arial MT"/>
              <a:cs typeface="Arial MT"/>
            </a:endParaRPr>
          </a:p>
          <a:p>
            <a:pPr marL="40640" marR="30480" indent="-3175">
              <a:lnSpc>
                <a:spcPct val="117700"/>
              </a:lnSpc>
              <a:spcBef>
                <a:spcPts val="505"/>
              </a:spcBef>
            </a:pP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What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about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points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(vectors)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which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lie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in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neg-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ative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half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space</a:t>
            </a:r>
            <a:r>
              <a:rPr sz="1750" spc="-2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this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line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i="1" spc="-80" dirty="0">
                <a:solidFill>
                  <a:srgbClr val="213739"/>
                </a:solidFill>
                <a:latin typeface="Times New Roman"/>
                <a:cs typeface="Times New Roman"/>
              </a:rPr>
              <a:t>i.e.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,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spc="-2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-9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875" b="1" baseline="24444" dirty="0">
                <a:solidFill>
                  <a:srgbClr val="213739"/>
                </a:solidFill>
                <a:latin typeface="Calibri"/>
                <a:cs typeface="Calibri"/>
              </a:rPr>
              <a:t>T</a:t>
            </a:r>
            <a:r>
              <a:rPr sz="1875" b="1" spc="37" baseline="2444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44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spc="10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)</a:t>
            </a:r>
            <a:endParaRPr sz="175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865"/>
              </a:spcBef>
            </a:pP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What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will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be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angle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between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any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such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vector</a:t>
            </a:r>
            <a:endParaRPr sz="1750">
              <a:latin typeface="Arial MT"/>
              <a:cs typeface="Arial MT"/>
            </a:endParaRPr>
          </a:p>
          <a:p>
            <a:pPr marL="40640">
              <a:lnSpc>
                <a:spcPct val="100000"/>
              </a:lnSpc>
              <a:spcBef>
                <a:spcPts val="375"/>
              </a:spcBef>
            </a:pP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750" spc="-1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6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?</a:t>
            </a:r>
            <a:endParaRPr sz="175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558535" y="1076578"/>
            <a:ext cx="3140075" cy="3140075"/>
            <a:chOff x="5558535" y="1076578"/>
            <a:chExt cx="3140075" cy="3140075"/>
          </a:xfrm>
        </p:grpSpPr>
        <p:sp>
          <p:nvSpPr>
            <p:cNvPr id="4" name="object 4"/>
            <p:cNvSpPr/>
            <p:nvPr/>
          </p:nvSpPr>
          <p:spPr>
            <a:xfrm>
              <a:off x="6640194" y="1081658"/>
              <a:ext cx="2052955" cy="2052955"/>
            </a:xfrm>
            <a:custGeom>
              <a:avLst/>
              <a:gdLst/>
              <a:ahLst/>
              <a:cxnLst/>
              <a:rect l="l" t="t" r="r" b="b"/>
              <a:pathLst>
                <a:path w="2052954" h="2052955">
                  <a:moveTo>
                    <a:pt x="62737" y="1990216"/>
                  </a:moveTo>
                  <a:lnTo>
                    <a:pt x="2044953" y="1990216"/>
                  </a:lnTo>
                </a:path>
                <a:path w="2052954" h="2052955">
                  <a:moveTo>
                    <a:pt x="2001647" y="1927605"/>
                  </a:moveTo>
                  <a:lnTo>
                    <a:pt x="2010663" y="1952243"/>
                  </a:lnTo>
                  <a:lnTo>
                    <a:pt x="2022855" y="1970277"/>
                  </a:lnTo>
                  <a:lnTo>
                    <a:pt x="2037333" y="1982596"/>
                  </a:lnTo>
                  <a:lnTo>
                    <a:pt x="2052954" y="1990216"/>
                  </a:lnTo>
                  <a:lnTo>
                    <a:pt x="2037333" y="1997837"/>
                  </a:lnTo>
                  <a:lnTo>
                    <a:pt x="2022855" y="2010155"/>
                  </a:lnTo>
                  <a:lnTo>
                    <a:pt x="2010663" y="2028316"/>
                  </a:lnTo>
                  <a:lnTo>
                    <a:pt x="2001647" y="2052954"/>
                  </a:lnTo>
                </a:path>
                <a:path w="2052954" h="2052955">
                  <a:moveTo>
                    <a:pt x="62737" y="1990216"/>
                  </a:moveTo>
                  <a:lnTo>
                    <a:pt x="62737" y="8000"/>
                  </a:lnTo>
                </a:path>
                <a:path w="2052954" h="2052955">
                  <a:moveTo>
                    <a:pt x="0" y="51307"/>
                  </a:moveTo>
                  <a:lnTo>
                    <a:pt x="24637" y="42290"/>
                  </a:lnTo>
                  <a:lnTo>
                    <a:pt x="42799" y="30099"/>
                  </a:lnTo>
                  <a:lnTo>
                    <a:pt x="55118" y="15620"/>
                  </a:lnTo>
                  <a:lnTo>
                    <a:pt x="62737" y="0"/>
                  </a:lnTo>
                  <a:lnTo>
                    <a:pt x="70357" y="15620"/>
                  </a:lnTo>
                  <a:lnTo>
                    <a:pt x="82676" y="30099"/>
                  </a:lnTo>
                  <a:lnTo>
                    <a:pt x="100710" y="42290"/>
                  </a:lnTo>
                  <a:lnTo>
                    <a:pt x="125349" y="51307"/>
                  </a:lnTo>
                </a:path>
              </a:pathLst>
            </a:custGeom>
            <a:ln w="10122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561075" y="1930018"/>
              <a:ext cx="2284095" cy="2284095"/>
            </a:xfrm>
            <a:custGeom>
              <a:avLst/>
              <a:gdLst/>
              <a:ahLst/>
              <a:cxnLst/>
              <a:rect l="l" t="t" r="r" b="b"/>
              <a:pathLst>
                <a:path w="2284095" h="2284095">
                  <a:moveTo>
                    <a:pt x="0" y="0"/>
                  </a:moveTo>
                  <a:lnTo>
                    <a:pt x="2283714" y="2283713"/>
                  </a:lnTo>
                </a:path>
              </a:pathLst>
            </a:custGeom>
            <a:ln w="5060">
              <a:solidFill>
                <a:srgbClr val="213739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702932" y="1821560"/>
              <a:ext cx="1250315" cy="1250315"/>
            </a:xfrm>
            <a:custGeom>
              <a:avLst/>
              <a:gdLst/>
              <a:ahLst/>
              <a:cxnLst/>
              <a:rect l="l" t="t" r="r" b="b"/>
              <a:pathLst>
                <a:path w="1250315" h="1250314">
                  <a:moveTo>
                    <a:pt x="0" y="1250314"/>
                  </a:moveTo>
                  <a:lnTo>
                    <a:pt x="1250315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74898" y="1811283"/>
              <a:ext cx="88626" cy="8862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420484" y="2394203"/>
              <a:ext cx="282575" cy="678180"/>
            </a:xfrm>
            <a:custGeom>
              <a:avLst/>
              <a:gdLst/>
              <a:ahLst/>
              <a:cxnLst/>
              <a:rect l="l" t="t" r="r" b="b"/>
              <a:pathLst>
                <a:path w="282575" h="678180">
                  <a:moveTo>
                    <a:pt x="282447" y="677672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81880" y="2387984"/>
              <a:ext cx="114418" cy="7606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702932" y="1937765"/>
              <a:ext cx="283845" cy="1134110"/>
            </a:xfrm>
            <a:custGeom>
              <a:avLst/>
              <a:gdLst/>
              <a:ahLst/>
              <a:cxnLst/>
              <a:rect l="l" t="t" r="r" b="b"/>
              <a:pathLst>
                <a:path w="283845" h="1134110">
                  <a:moveTo>
                    <a:pt x="0" y="1134110"/>
                  </a:moveTo>
                  <a:lnTo>
                    <a:pt x="283464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14905" y="1931425"/>
              <a:ext cx="119741" cy="69957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702932" y="2503550"/>
              <a:ext cx="1705610" cy="568325"/>
            </a:xfrm>
            <a:custGeom>
              <a:avLst/>
              <a:gdLst/>
              <a:ahLst/>
              <a:cxnLst/>
              <a:rect l="l" t="t" r="r" b="b"/>
              <a:pathLst>
                <a:path w="1705609" h="568325">
                  <a:moveTo>
                    <a:pt x="0" y="568325"/>
                  </a:moveTo>
                  <a:lnTo>
                    <a:pt x="1705102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41113" y="2460124"/>
              <a:ext cx="73264" cy="11733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854191" y="2788919"/>
              <a:ext cx="848994" cy="283210"/>
            </a:xfrm>
            <a:custGeom>
              <a:avLst/>
              <a:gdLst/>
              <a:ahLst/>
              <a:cxnLst/>
              <a:rect l="l" t="t" r="r" b="b"/>
              <a:pathLst>
                <a:path w="848995" h="283210">
                  <a:moveTo>
                    <a:pt x="848740" y="282955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47849" y="2745620"/>
              <a:ext cx="73264" cy="117206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419341" y="3071875"/>
              <a:ext cx="283845" cy="1134110"/>
            </a:xfrm>
            <a:custGeom>
              <a:avLst/>
              <a:gdLst/>
              <a:ahLst/>
              <a:cxnLst/>
              <a:rect l="l" t="t" r="r" b="b"/>
              <a:pathLst>
                <a:path w="283845" h="1134110">
                  <a:moveTo>
                    <a:pt x="283590" y="0"/>
                  </a:moveTo>
                  <a:lnTo>
                    <a:pt x="0" y="1134110"/>
                  </a:lnTo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371218" y="4142368"/>
              <a:ext cx="119741" cy="70084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6702932" y="3071875"/>
              <a:ext cx="329565" cy="1138555"/>
            </a:xfrm>
            <a:custGeom>
              <a:avLst/>
              <a:gdLst/>
              <a:ahLst/>
              <a:cxnLst/>
              <a:rect l="l" t="t" r="r" b="b"/>
              <a:pathLst>
                <a:path w="329565" h="1138554">
                  <a:moveTo>
                    <a:pt x="0" y="0"/>
                  </a:moveTo>
                  <a:lnTo>
                    <a:pt x="283464" y="1134110"/>
                  </a:lnTo>
                </a:path>
                <a:path w="329565" h="1138554">
                  <a:moveTo>
                    <a:pt x="329184" y="1073023"/>
                  </a:moveTo>
                  <a:lnTo>
                    <a:pt x="308864" y="1087628"/>
                  </a:lnTo>
                  <a:lnTo>
                    <a:pt x="295401" y="1103757"/>
                  </a:lnTo>
                  <a:lnTo>
                    <a:pt x="287527" y="1120902"/>
                  </a:lnTo>
                  <a:lnTo>
                    <a:pt x="284480" y="1138047"/>
                  </a:lnTo>
                  <a:lnTo>
                    <a:pt x="273685" y="1124331"/>
                  </a:lnTo>
                  <a:lnTo>
                    <a:pt x="258825" y="1112901"/>
                  </a:lnTo>
                  <a:lnTo>
                    <a:pt x="239268" y="1105027"/>
                  </a:lnTo>
                  <a:lnTo>
                    <a:pt x="214502" y="1101725"/>
                  </a:lnTo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8440166" y="2969514"/>
            <a:ext cx="26479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441694" y="970915"/>
            <a:ext cx="26479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849109" y="1536954"/>
            <a:ext cx="26797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300973" y="2108073"/>
            <a:ext cx="13906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411718" y="2203780"/>
            <a:ext cx="107950" cy="2197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spc="-50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720841" y="2741167"/>
            <a:ext cx="13906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852921" y="2837179"/>
            <a:ext cx="107314" cy="2197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50" spc="-50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254241" y="4168902"/>
            <a:ext cx="874394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620395" algn="l"/>
              </a:tabLst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025510" y="1445767"/>
            <a:ext cx="19050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b="1" spc="-5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686678" y="1752980"/>
            <a:ext cx="941705" cy="5314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30480" algn="r">
              <a:lnSpc>
                <a:spcPts val="2000"/>
              </a:lnSpc>
              <a:spcBef>
                <a:spcPts val="90"/>
              </a:spcBef>
            </a:pPr>
            <a:r>
              <a:rPr sz="1750" b="1" spc="-2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-9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875" b="1" baseline="24444" dirty="0">
                <a:solidFill>
                  <a:srgbClr val="213739"/>
                </a:solidFill>
                <a:latin typeface="Calibri"/>
                <a:cs typeface="Calibri"/>
              </a:rPr>
              <a:t>T</a:t>
            </a:r>
            <a:r>
              <a:rPr sz="1875" b="1" spc="7" baseline="2444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40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7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endParaRPr sz="1750">
              <a:latin typeface="Calibri"/>
              <a:cs typeface="Calibri"/>
            </a:endParaRPr>
          </a:p>
          <a:p>
            <a:pPr marR="92075" algn="r">
              <a:lnSpc>
                <a:spcPts val="2000"/>
              </a:lnSpc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-8888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5803910" y="1887356"/>
            <a:ext cx="2654935" cy="2369185"/>
            <a:chOff x="5803910" y="1887356"/>
            <a:chExt cx="2654935" cy="2369185"/>
          </a:xfrm>
        </p:grpSpPr>
        <p:pic>
          <p:nvPicPr>
            <p:cNvPr id="30" name="object 3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374775" y="2344175"/>
              <a:ext cx="85324" cy="85324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945767" y="1887356"/>
              <a:ext cx="85324" cy="85324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372992" y="2458348"/>
              <a:ext cx="85324" cy="85324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803910" y="2743717"/>
              <a:ext cx="85324" cy="85324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374775" y="4171070"/>
              <a:ext cx="85324" cy="85324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6948297" y="4173600"/>
              <a:ext cx="80645" cy="80645"/>
            </a:xfrm>
            <a:custGeom>
              <a:avLst/>
              <a:gdLst/>
              <a:ahLst/>
              <a:cxnLst/>
              <a:rect l="l" t="t" r="r" b="b"/>
              <a:pathLst>
                <a:path w="80645" h="80645">
                  <a:moveTo>
                    <a:pt x="40131" y="0"/>
                  </a:moveTo>
                  <a:lnTo>
                    <a:pt x="24510" y="3175"/>
                  </a:lnTo>
                  <a:lnTo>
                    <a:pt x="11683" y="11811"/>
                  </a:lnTo>
                  <a:lnTo>
                    <a:pt x="3048" y="24511"/>
                  </a:lnTo>
                  <a:lnTo>
                    <a:pt x="0" y="40131"/>
                  </a:lnTo>
                  <a:lnTo>
                    <a:pt x="3048" y="55753"/>
                  </a:lnTo>
                  <a:lnTo>
                    <a:pt x="11683" y="68580"/>
                  </a:lnTo>
                  <a:lnTo>
                    <a:pt x="24510" y="77088"/>
                  </a:lnTo>
                  <a:lnTo>
                    <a:pt x="40131" y="80263"/>
                  </a:lnTo>
                  <a:lnTo>
                    <a:pt x="55752" y="77088"/>
                  </a:lnTo>
                  <a:lnTo>
                    <a:pt x="68452" y="68580"/>
                  </a:lnTo>
                  <a:lnTo>
                    <a:pt x="77088" y="55753"/>
                  </a:lnTo>
                  <a:lnTo>
                    <a:pt x="80263" y="40131"/>
                  </a:lnTo>
                  <a:lnTo>
                    <a:pt x="77088" y="24511"/>
                  </a:lnTo>
                  <a:lnTo>
                    <a:pt x="68452" y="11811"/>
                  </a:lnTo>
                  <a:lnTo>
                    <a:pt x="55752" y="3175"/>
                  </a:lnTo>
                  <a:lnTo>
                    <a:pt x="40131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948297" y="4173600"/>
              <a:ext cx="80645" cy="80645"/>
            </a:xfrm>
            <a:custGeom>
              <a:avLst/>
              <a:gdLst/>
              <a:ahLst/>
              <a:cxnLst/>
              <a:rect l="l" t="t" r="r" b="b"/>
              <a:pathLst>
                <a:path w="80645" h="80645">
                  <a:moveTo>
                    <a:pt x="80263" y="40131"/>
                  </a:moveTo>
                  <a:lnTo>
                    <a:pt x="77088" y="24511"/>
                  </a:lnTo>
                  <a:lnTo>
                    <a:pt x="68452" y="11811"/>
                  </a:lnTo>
                  <a:lnTo>
                    <a:pt x="55752" y="3175"/>
                  </a:lnTo>
                  <a:lnTo>
                    <a:pt x="40131" y="0"/>
                  </a:lnTo>
                  <a:lnTo>
                    <a:pt x="24510" y="3175"/>
                  </a:lnTo>
                  <a:lnTo>
                    <a:pt x="11683" y="11811"/>
                  </a:lnTo>
                  <a:lnTo>
                    <a:pt x="3048" y="24511"/>
                  </a:lnTo>
                  <a:lnTo>
                    <a:pt x="0" y="40131"/>
                  </a:lnTo>
                  <a:lnTo>
                    <a:pt x="3048" y="55753"/>
                  </a:lnTo>
                  <a:lnTo>
                    <a:pt x="11683" y="68580"/>
                  </a:lnTo>
                  <a:lnTo>
                    <a:pt x="24510" y="77088"/>
                  </a:lnTo>
                  <a:lnTo>
                    <a:pt x="40131" y="80263"/>
                  </a:lnTo>
                  <a:lnTo>
                    <a:pt x="55752" y="77088"/>
                  </a:lnTo>
                  <a:lnTo>
                    <a:pt x="68452" y="68580"/>
                  </a:lnTo>
                  <a:lnTo>
                    <a:pt x="77088" y="55753"/>
                  </a:lnTo>
                  <a:lnTo>
                    <a:pt x="80263" y="40131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8781415" y="5603912"/>
            <a:ext cx="196215" cy="206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spc="-25" dirty="0">
                <a:solidFill>
                  <a:srgbClr val="213739"/>
                </a:solidFill>
                <a:latin typeface="Arial MT"/>
                <a:cs typeface="Arial MT"/>
              </a:rPr>
              <a:t>36</a:t>
            </a:r>
            <a:endParaRPr sz="125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8459" y="878585"/>
            <a:ext cx="4454525" cy="2723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640" marR="53975" indent="-3175">
              <a:lnSpc>
                <a:spcPct val="116599"/>
              </a:lnSpc>
              <a:spcBef>
                <a:spcPts val="100"/>
              </a:spcBef>
            </a:pP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Consider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 some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points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(vectors)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which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lie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in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the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positive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half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space</a:t>
            </a:r>
            <a:r>
              <a:rPr sz="1750" spc="-1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this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line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i="1" spc="-80" dirty="0">
                <a:solidFill>
                  <a:srgbClr val="213739"/>
                </a:solidFill>
                <a:latin typeface="Times New Roman"/>
                <a:cs typeface="Times New Roman"/>
              </a:rPr>
              <a:t>i.e.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,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spc="-2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-8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875" b="1" baseline="24444" dirty="0">
                <a:solidFill>
                  <a:srgbClr val="213739"/>
                </a:solidFill>
                <a:latin typeface="Calibri"/>
                <a:cs typeface="Calibri"/>
              </a:rPr>
              <a:t>T</a:t>
            </a:r>
            <a:r>
              <a:rPr sz="1875" b="1" spc="37" baseline="2444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45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≥</a:t>
            </a:r>
            <a:r>
              <a:rPr sz="1750" spc="-4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)</a:t>
            </a:r>
            <a:endParaRPr sz="175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900"/>
              </a:spcBef>
            </a:pP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What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will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be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angle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between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any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such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vector</a:t>
            </a:r>
            <a:endParaRPr sz="1750">
              <a:latin typeface="Arial MT"/>
              <a:cs typeface="Arial MT"/>
            </a:endParaRPr>
          </a:p>
          <a:p>
            <a:pPr marL="40640">
              <a:lnSpc>
                <a:spcPct val="100000"/>
              </a:lnSpc>
              <a:spcBef>
                <a:spcPts val="360"/>
              </a:spcBef>
            </a:pP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750" spc="-1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9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?</a:t>
            </a:r>
            <a:r>
              <a:rPr sz="1750" spc="-3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Obviously,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less</a:t>
            </a:r>
            <a:r>
              <a:rPr sz="1750" spc="-1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than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90°</a:t>
            </a:r>
            <a:endParaRPr sz="1750">
              <a:latin typeface="Arial MT"/>
              <a:cs typeface="Arial MT"/>
            </a:endParaRPr>
          </a:p>
          <a:p>
            <a:pPr marL="40640" marR="30480" indent="-3175">
              <a:lnSpc>
                <a:spcPct val="117700"/>
              </a:lnSpc>
              <a:spcBef>
                <a:spcPts val="505"/>
              </a:spcBef>
            </a:pP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What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about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points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(vectors)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which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lie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in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neg-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ative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half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space</a:t>
            </a:r>
            <a:r>
              <a:rPr sz="1750" spc="-2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this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line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i="1" spc="-80" dirty="0">
                <a:solidFill>
                  <a:srgbClr val="213739"/>
                </a:solidFill>
                <a:latin typeface="Times New Roman"/>
                <a:cs typeface="Times New Roman"/>
              </a:rPr>
              <a:t>i.e.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,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spc="-2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-9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875" b="1" baseline="24444" dirty="0">
                <a:solidFill>
                  <a:srgbClr val="213739"/>
                </a:solidFill>
                <a:latin typeface="Calibri"/>
                <a:cs typeface="Calibri"/>
              </a:rPr>
              <a:t>T</a:t>
            </a:r>
            <a:r>
              <a:rPr sz="1875" b="1" spc="37" baseline="2444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44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spc="10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)</a:t>
            </a:r>
            <a:endParaRPr sz="175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865"/>
              </a:spcBef>
            </a:pP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What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will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be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angle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between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any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such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vector</a:t>
            </a:r>
            <a:endParaRPr sz="1750">
              <a:latin typeface="Arial MT"/>
              <a:cs typeface="Arial MT"/>
            </a:endParaRPr>
          </a:p>
          <a:p>
            <a:pPr marL="40640">
              <a:lnSpc>
                <a:spcPct val="100000"/>
              </a:lnSpc>
              <a:spcBef>
                <a:spcPts val="375"/>
              </a:spcBef>
            </a:pP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750" spc="-1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1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?</a:t>
            </a:r>
            <a:r>
              <a:rPr sz="1750" spc="-3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Obviously,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greater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than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90°</a:t>
            </a:r>
            <a:endParaRPr sz="175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558535" y="1076578"/>
            <a:ext cx="3140075" cy="3140075"/>
            <a:chOff x="5558535" y="1076578"/>
            <a:chExt cx="3140075" cy="3140075"/>
          </a:xfrm>
        </p:grpSpPr>
        <p:sp>
          <p:nvSpPr>
            <p:cNvPr id="4" name="object 4"/>
            <p:cNvSpPr/>
            <p:nvPr/>
          </p:nvSpPr>
          <p:spPr>
            <a:xfrm>
              <a:off x="6640194" y="1081658"/>
              <a:ext cx="2052955" cy="2052955"/>
            </a:xfrm>
            <a:custGeom>
              <a:avLst/>
              <a:gdLst/>
              <a:ahLst/>
              <a:cxnLst/>
              <a:rect l="l" t="t" r="r" b="b"/>
              <a:pathLst>
                <a:path w="2052954" h="2052955">
                  <a:moveTo>
                    <a:pt x="62737" y="1990216"/>
                  </a:moveTo>
                  <a:lnTo>
                    <a:pt x="2044953" y="1990216"/>
                  </a:lnTo>
                </a:path>
                <a:path w="2052954" h="2052955">
                  <a:moveTo>
                    <a:pt x="2001647" y="1927605"/>
                  </a:moveTo>
                  <a:lnTo>
                    <a:pt x="2010663" y="1952243"/>
                  </a:lnTo>
                  <a:lnTo>
                    <a:pt x="2022855" y="1970277"/>
                  </a:lnTo>
                  <a:lnTo>
                    <a:pt x="2037333" y="1982596"/>
                  </a:lnTo>
                  <a:lnTo>
                    <a:pt x="2052954" y="1990216"/>
                  </a:lnTo>
                  <a:lnTo>
                    <a:pt x="2037333" y="1997837"/>
                  </a:lnTo>
                  <a:lnTo>
                    <a:pt x="2022855" y="2010155"/>
                  </a:lnTo>
                  <a:lnTo>
                    <a:pt x="2010663" y="2028316"/>
                  </a:lnTo>
                  <a:lnTo>
                    <a:pt x="2001647" y="2052954"/>
                  </a:lnTo>
                </a:path>
                <a:path w="2052954" h="2052955">
                  <a:moveTo>
                    <a:pt x="62737" y="1990216"/>
                  </a:moveTo>
                  <a:lnTo>
                    <a:pt x="62737" y="8000"/>
                  </a:lnTo>
                </a:path>
                <a:path w="2052954" h="2052955">
                  <a:moveTo>
                    <a:pt x="0" y="51307"/>
                  </a:moveTo>
                  <a:lnTo>
                    <a:pt x="24637" y="42290"/>
                  </a:lnTo>
                  <a:lnTo>
                    <a:pt x="42799" y="30099"/>
                  </a:lnTo>
                  <a:lnTo>
                    <a:pt x="55118" y="15620"/>
                  </a:lnTo>
                  <a:lnTo>
                    <a:pt x="62737" y="0"/>
                  </a:lnTo>
                  <a:lnTo>
                    <a:pt x="70357" y="15620"/>
                  </a:lnTo>
                  <a:lnTo>
                    <a:pt x="82676" y="30099"/>
                  </a:lnTo>
                  <a:lnTo>
                    <a:pt x="100710" y="42290"/>
                  </a:lnTo>
                  <a:lnTo>
                    <a:pt x="125349" y="51307"/>
                  </a:lnTo>
                </a:path>
              </a:pathLst>
            </a:custGeom>
            <a:ln w="10122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561075" y="1930018"/>
              <a:ext cx="2284095" cy="2284095"/>
            </a:xfrm>
            <a:custGeom>
              <a:avLst/>
              <a:gdLst/>
              <a:ahLst/>
              <a:cxnLst/>
              <a:rect l="l" t="t" r="r" b="b"/>
              <a:pathLst>
                <a:path w="2284095" h="2284095">
                  <a:moveTo>
                    <a:pt x="0" y="0"/>
                  </a:moveTo>
                  <a:lnTo>
                    <a:pt x="2283714" y="2283713"/>
                  </a:lnTo>
                </a:path>
              </a:pathLst>
            </a:custGeom>
            <a:ln w="5060">
              <a:solidFill>
                <a:srgbClr val="213739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702932" y="1821560"/>
              <a:ext cx="1250315" cy="1250315"/>
            </a:xfrm>
            <a:custGeom>
              <a:avLst/>
              <a:gdLst/>
              <a:ahLst/>
              <a:cxnLst/>
              <a:rect l="l" t="t" r="r" b="b"/>
              <a:pathLst>
                <a:path w="1250315" h="1250314">
                  <a:moveTo>
                    <a:pt x="0" y="1250314"/>
                  </a:moveTo>
                  <a:lnTo>
                    <a:pt x="1250315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74898" y="1811283"/>
              <a:ext cx="88626" cy="8862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420484" y="2394203"/>
              <a:ext cx="282575" cy="678180"/>
            </a:xfrm>
            <a:custGeom>
              <a:avLst/>
              <a:gdLst/>
              <a:ahLst/>
              <a:cxnLst/>
              <a:rect l="l" t="t" r="r" b="b"/>
              <a:pathLst>
                <a:path w="282575" h="678180">
                  <a:moveTo>
                    <a:pt x="282447" y="677672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81880" y="2387984"/>
              <a:ext cx="114418" cy="7606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702932" y="1937765"/>
              <a:ext cx="283845" cy="1134110"/>
            </a:xfrm>
            <a:custGeom>
              <a:avLst/>
              <a:gdLst/>
              <a:ahLst/>
              <a:cxnLst/>
              <a:rect l="l" t="t" r="r" b="b"/>
              <a:pathLst>
                <a:path w="283845" h="1134110">
                  <a:moveTo>
                    <a:pt x="0" y="1134110"/>
                  </a:moveTo>
                  <a:lnTo>
                    <a:pt x="283464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14905" y="1931425"/>
              <a:ext cx="119741" cy="69957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702932" y="2503550"/>
              <a:ext cx="1705610" cy="568325"/>
            </a:xfrm>
            <a:custGeom>
              <a:avLst/>
              <a:gdLst/>
              <a:ahLst/>
              <a:cxnLst/>
              <a:rect l="l" t="t" r="r" b="b"/>
              <a:pathLst>
                <a:path w="1705609" h="568325">
                  <a:moveTo>
                    <a:pt x="0" y="568325"/>
                  </a:moveTo>
                  <a:lnTo>
                    <a:pt x="1705102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41113" y="2460124"/>
              <a:ext cx="73264" cy="11733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854191" y="2788919"/>
              <a:ext cx="848994" cy="283210"/>
            </a:xfrm>
            <a:custGeom>
              <a:avLst/>
              <a:gdLst/>
              <a:ahLst/>
              <a:cxnLst/>
              <a:rect l="l" t="t" r="r" b="b"/>
              <a:pathLst>
                <a:path w="848995" h="283210">
                  <a:moveTo>
                    <a:pt x="848740" y="282955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47849" y="2745620"/>
              <a:ext cx="73264" cy="117206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419341" y="3071875"/>
              <a:ext cx="283845" cy="1134110"/>
            </a:xfrm>
            <a:custGeom>
              <a:avLst/>
              <a:gdLst/>
              <a:ahLst/>
              <a:cxnLst/>
              <a:rect l="l" t="t" r="r" b="b"/>
              <a:pathLst>
                <a:path w="283845" h="1134110">
                  <a:moveTo>
                    <a:pt x="283590" y="0"/>
                  </a:moveTo>
                  <a:lnTo>
                    <a:pt x="0" y="1134110"/>
                  </a:lnTo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371218" y="4142368"/>
              <a:ext cx="119741" cy="70084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6702932" y="3071875"/>
              <a:ext cx="329565" cy="1138555"/>
            </a:xfrm>
            <a:custGeom>
              <a:avLst/>
              <a:gdLst/>
              <a:ahLst/>
              <a:cxnLst/>
              <a:rect l="l" t="t" r="r" b="b"/>
              <a:pathLst>
                <a:path w="329565" h="1138554">
                  <a:moveTo>
                    <a:pt x="0" y="0"/>
                  </a:moveTo>
                  <a:lnTo>
                    <a:pt x="283464" y="1134110"/>
                  </a:lnTo>
                </a:path>
                <a:path w="329565" h="1138554">
                  <a:moveTo>
                    <a:pt x="329184" y="1073023"/>
                  </a:moveTo>
                  <a:lnTo>
                    <a:pt x="308864" y="1087628"/>
                  </a:lnTo>
                  <a:lnTo>
                    <a:pt x="295401" y="1103757"/>
                  </a:lnTo>
                  <a:lnTo>
                    <a:pt x="287527" y="1120902"/>
                  </a:lnTo>
                  <a:lnTo>
                    <a:pt x="284480" y="1138047"/>
                  </a:lnTo>
                  <a:lnTo>
                    <a:pt x="273685" y="1124331"/>
                  </a:lnTo>
                  <a:lnTo>
                    <a:pt x="258825" y="1112901"/>
                  </a:lnTo>
                  <a:lnTo>
                    <a:pt x="239268" y="1105027"/>
                  </a:lnTo>
                  <a:lnTo>
                    <a:pt x="214502" y="1101725"/>
                  </a:lnTo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8440166" y="2969514"/>
            <a:ext cx="26479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441694" y="970915"/>
            <a:ext cx="26479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849109" y="1536954"/>
            <a:ext cx="26797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300973" y="2108073"/>
            <a:ext cx="13906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411718" y="2203780"/>
            <a:ext cx="107950" cy="2197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spc="-50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720841" y="2741167"/>
            <a:ext cx="13906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852921" y="2837179"/>
            <a:ext cx="107314" cy="2197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50" spc="-50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254241" y="4168902"/>
            <a:ext cx="874394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620395" algn="l"/>
              </a:tabLst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025510" y="1445767"/>
            <a:ext cx="19050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b="1" spc="-5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686678" y="1752980"/>
            <a:ext cx="941705" cy="5314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30480" algn="r">
              <a:lnSpc>
                <a:spcPts val="2000"/>
              </a:lnSpc>
              <a:spcBef>
                <a:spcPts val="90"/>
              </a:spcBef>
            </a:pPr>
            <a:r>
              <a:rPr sz="1750" b="1" spc="-2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-9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875" b="1" baseline="24444" dirty="0">
                <a:solidFill>
                  <a:srgbClr val="213739"/>
                </a:solidFill>
                <a:latin typeface="Calibri"/>
                <a:cs typeface="Calibri"/>
              </a:rPr>
              <a:t>T</a:t>
            </a:r>
            <a:r>
              <a:rPr sz="1875" b="1" spc="7" baseline="2444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40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7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endParaRPr sz="1750">
              <a:latin typeface="Calibri"/>
              <a:cs typeface="Calibri"/>
            </a:endParaRPr>
          </a:p>
          <a:p>
            <a:pPr marR="92075" algn="r">
              <a:lnSpc>
                <a:spcPts val="2000"/>
              </a:lnSpc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781415" y="5603912"/>
            <a:ext cx="196215" cy="206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spc="-25" dirty="0">
                <a:solidFill>
                  <a:srgbClr val="213739"/>
                </a:solidFill>
                <a:latin typeface="Arial MT"/>
                <a:cs typeface="Arial MT"/>
              </a:rPr>
              <a:t>36</a:t>
            </a:r>
            <a:endParaRPr sz="125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8459" y="878585"/>
            <a:ext cx="4471670" cy="31184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640" marR="71755" indent="-3175">
              <a:lnSpc>
                <a:spcPct val="116599"/>
              </a:lnSpc>
              <a:spcBef>
                <a:spcPts val="100"/>
              </a:spcBef>
            </a:pP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Consider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 some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points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(vectors)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which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lie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in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the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positive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half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space</a:t>
            </a:r>
            <a:r>
              <a:rPr sz="1750" spc="-1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this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line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i="1" spc="-80" dirty="0">
                <a:solidFill>
                  <a:srgbClr val="213739"/>
                </a:solidFill>
                <a:latin typeface="Times New Roman"/>
                <a:cs typeface="Times New Roman"/>
              </a:rPr>
              <a:t>i.e.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,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spc="-2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-8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875" b="1" baseline="24444" dirty="0">
                <a:solidFill>
                  <a:srgbClr val="213739"/>
                </a:solidFill>
                <a:latin typeface="Calibri"/>
                <a:cs typeface="Calibri"/>
              </a:rPr>
              <a:t>T</a:t>
            </a:r>
            <a:r>
              <a:rPr sz="1875" b="1" spc="37" baseline="2444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45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≥</a:t>
            </a:r>
            <a:r>
              <a:rPr sz="1750" spc="-4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)</a:t>
            </a:r>
            <a:endParaRPr sz="175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900"/>
              </a:spcBef>
            </a:pP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What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will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be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angle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between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any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such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vector</a:t>
            </a:r>
            <a:endParaRPr sz="1750">
              <a:latin typeface="Arial MT"/>
              <a:cs typeface="Arial MT"/>
            </a:endParaRPr>
          </a:p>
          <a:p>
            <a:pPr marL="40640">
              <a:lnSpc>
                <a:spcPct val="100000"/>
              </a:lnSpc>
              <a:spcBef>
                <a:spcPts val="360"/>
              </a:spcBef>
            </a:pP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750" spc="-1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9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?</a:t>
            </a:r>
            <a:r>
              <a:rPr sz="1750" spc="-3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Obviously,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less</a:t>
            </a:r>
            <a:r>
              <a:rPr sz="1750" spc="-1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than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90°</a:t>
            </a:r>
            <a:endParaRPr sz="1750">
              <a:latin typeface="Arial MT"/>
              <a:cs typeface="Arial MT"/>
            </a:endParaRPr>
          </a:p>
          <a:p>
            <a:pPr marL="40640" marR="47625" indent="-3175">
              <a:lnSpc>
                <a:spcPct val="117700"/>
              </a:lnSpc>
              <a:spcBef>
                <a:spcPts val="505"/>
              </a:spcBef>
            </a:pP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What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about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points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(vectors)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which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lie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in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neg-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ative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half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space</a:t>
            </a:r>
            <a:r>
              <a:rPr sz="1750" spc="-2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this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line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i="1" spc="-80" dirty="0">
                <a:solidFill>
                  <a:srgbClr val="213739"/>
                </a:solidFill>
                <a:latin typeface="Times New Roman"/>
                <a:cs typeface="Times New Roman"/>
              </a:rPr>
              <a:t>i.e.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,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spc="-2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-9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875" b="1" baseline="24444" dirty="0">
                <a:solidFill>
                  <a:srgbClr val="213739"/>
                </a:solidFill>
                <a:latin typeface="Calibri"/>
                <a:cs typeface="Calibri"/>
              </a:rPr>
              <a:t>T</a:t>
            </a:r>
            <a:r>
              <a:rPr sz="1875" b="1" spc="37" baseline="2444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44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spc="10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)</a:t>
            </a:r>
            <a:endParaRPr sz="175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865"/>
              </a:spcBef>
            </a:pP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What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will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be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angle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between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any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such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vector</a:t>
            </a:r>
            <a:endParaRPr sz="1750">
              <a:latin typeface="Arial MT"/>
              <a:cs typeface="Arial MT"/>
            </a:endParaRPr>
          </a:p>
          <a:p>
            <a:pPr marL="40640">
              <a:lnSpc>
                <a:spcPct val="100000"/>
              </a:lnSpc>
              <a:spcBef>
                <a:spcPts val="375"/>
              </a:spcBef>
            </a:pP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750" spc="-1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1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?</a:t>
            </a:r>
            <a:r>
              <a:rPr sz="1750" spc="-3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Obviously,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greater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than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90°</a:t>
            </a:r>
            <a:endParaRPr sz="175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1005"/>
              </a:spcBef>
            </a:pP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course,</a:t>
            </a:r>
            <a:r>
              <a:rPr sz="1750" spc="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this</a:t>
            </a:r>
            <a:r>
              <a:rPr sz="1750" spc="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also</a:t>
            </a:r>
            <a:r>
              <a:rPr sz="1750" spc="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follows</a:t>
            </a:r>
            <a:r>
              <a:rPr sz="1750" spc="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from</a:t>
            </a:r>
            <a:r>
              <a:rPr sz="1750" spc="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formula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07212" y="4012438"/>
            <a:ext cx="71310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cosα</a:t>
            </a:r>
            <a:r>
              <a:rPr sz="1750" i="1" spc="24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58366" y="4203065"/>
            <a:ext cx="601980" cy="0"/>
          </a:xfrm>
          <a:custGeom>
            <a:avLst/>
            <a:gdLst/>
            <a:ahLst/>
            <a:cxnLst/>
            <a:rect l="l" t="t" r="r" b="b"/>
            <a:pathLst>
              <a:path w="601980">
                <a:moveTo>
                  <a:pt x="0" y="0"/>
                </a:moveTo>
                <a:lnTo>
                  <a:pt x="601852" y="0"/>
                </a:lnTo>
              </a:path>
            </a:pathLst>
          </a:custGeom>
          <a:ln w="5536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620266" y="3987546"/>
            <a:ext cx="673735" cy="37528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R="15240" algn="ctr">
              <a:lnSpc>
                <a:spcPts val="1365"/>
              </a:lnSpc>
              <a:spcBef>
                <a:spcPts val="120"/>
              </a:spcBef>
            </a:pPr>
            <a:r>
              <a:rPr sz="12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425" i="1" baseline="23391" dirty="0">
                <a:solidFill>
                  <a:srgbClr val="213739"/>
                </a:solidFill>
                <a:latin typeface="Georgia"/>
                <a:cs typeface="Georgia"/>
              </a:rPr>
              <a:t>T</a:t>
            </a:r>
            <a:r>
              <a:rPr sz="1425" i="1" spc="262" baseline="23391" dirty="0">
                <a:solidFill>
                  <a:srgbClr val="213739"/>
                </a:solidFill>
                <a:latin typeface="Georgia"/>
                <a:cs typeface="Georgia"/>
              </a:rPr>
              <a:t> </a:t>
            </a:r>
            <a:r>
              <a:rPr sz="1250" i="1" spc="-5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endParaRPr sz="1250">
              <a:latin typeface="Calibri"/>
              <a:cs typeface="Calibri"/>
            </a:endParaRPr>
          </a:p>
          <a:p>
            <a:pPr algn="ctr">
              <a:lnSpc>
                <a:spcPts val="1365"/>
              </a:lnSpc>
            </a:pPr>
            <a:r>
              <a:rPr sz="1250" spc="-10" dirty="0">
                <a:solidFill>
                  <a:srgbClr val="213739"/>
                </a:solidFill>
                <a:latin typeface="Lucida Sans Unicode"/>
                <a:cs typeface="Lucida Sans Unicode"/>
              </a:rPr>
              <a:t>||</a:t>
            </a:r>
            <a:r>
              <a:rPr sz="1250" i="1" spc="-1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250" spc="-10" dirty="0">
                <a:solidFill>
                  <a:srgbClr val="213739"/>
                </a:solidFill>
                <a:latin typeface="Lucida Sans Unicode"/>
                <a:cs typeface="Lucida Sans Unicode"/>
              </a:rPr>
              <a:t>||||</a:t>
            </a:r>
            <a:r>
              <a:rPr sz="1250" i="1" spc="-1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250" spc="-10" dirty="0">
                <a:solidFill>
                  <a:srgbClr val="213739"/>
                </a:solidFill>
                <a:latin typeface="Lucida Sans Unicode"/>
                <a:cs typeface="Lucida Sans Unicode"/>
              </a:rPr>
              <a:t>||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71522" y="4018534"/>
            <a:ext cx="9906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)</a:t>
            </a:r>
            <a:endParaRPr sz="175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558535" y="1076578"/>
            <a:ext cx="3140075" cy="3140075"/>
            <a:chOff x="5558535" y="1076578"/>
            <a:chExt cx="3140075" cy="3140075"/>
          </a:xfrm>
        </p:grpSpPr>
        <p:sp>
          <p:nvSpPr>
            <p:cNvPr id="8" name="object 8"/>
            <p:cNvSpPr/>
            <p:nvPr/>
          </p:nvSpPr>
          <p:spPr>
            <a:xfrm>
              <a:off x="6640194" y="1081658"/>
              <a:ext cx="2052955" cy="2052955"/>
            </a:xfrm>
            <a:custGeom>
              <a:avLst/>
              <a:gdLst/>
              <a:ahLst/>
              <a:cxnLst/>
              <a:rect l="l" t="t" r="r" b="b"/>
              <a:pathLst>
                <a:path w="2052954" h="2052955">
                  <a:moveTo>
                    <a:pt x="62737" y="1990216"/>
                  </a:moveTo>
                  <a:lnTo>
                    <a:pt x="2044953" y="1990216"/>
                  </a:lnTo>
                </a:path>
                <a:path w="2052954" h="2052955">
                  <a:moveTo>
                    <a:pt x="2001647" y="1927605"/>
                  </a:moveTo>
                  <a:lnTo>
                    <a:pt x="2010663" y="1952243"/>
                  </a:lnTo>
                  <a:lnTo>
                    <a:pt x="2022855" y="1970277"/>
                  </a:lnTo>
                  <a:lnTo>
                    <a:pt x="2037333" y="1982596"/>
                  </a:lnTo>
                  <a:lnTo>
                    <a:pt x="2052954" y="1990216"/>
                  </a:lnTo>
                  <a:lnTo>
                    <a:pt x="2037333" y="1997837"/>
                  </a:lnTo>
                  <a:lnTo>
                    <a:pt x="2022855" y="2010155"/>
                  </a:lnTo>
                  <a:lnTo>
                    <a:pt x="2010663" y="2028316"/>
                  </a:lnTo>
                  <a:lnTo>
                    <a:pt x="2001647" y="2052954"/>
                  </a:lnTo>
                </a:path>
                <a:path w="2052954" h="2052955">
                  <a:moveTo>
                    <a:pt x="62737" y="1990216"/>
                  </a:moveTo>
                  <a:lnTo>
                    <a:pt x="62737" y="8000"/>
                  </a:lnTo>
                </a:path>
                <a:path w="2052954" h="2052955">
                  <a:moveTo>
                    <a:pt x="0" y="51307"/>
                  </a:moveTo>
                  <a:lnTo>
                    <a:pt x="24637" y="42290"/>
                  </a:lnTo>
                  <a:lnTo>
                    <a:pt x="42799" y="30099"/>
                  </a:lnTo>
                  <a:lnTo>
                    <a:pt x="55118" y="15620"/>
                  </a:lnTo>
                  <a:lnTo>
                    <a:pt x="62737" y="0"/>
                  </a:lnTo>
                  <a:lnTo>
                    <a:pt x="70357" y="15620"/>
                  </a:lnTo>
                  <a:lnTo>
                    <a:pt x="82676" y="30099"/>
                  </a:lnTo>
                  <a:lnTo>
                    <a:pt x="100710" y="42290"/>
                  </a:lnTo>
                  <a:lnTo>
                    <a:pt x="125349" y="51307"/>
                  </a:lnTo>
                </a:path>
              </a:pathLst>
            </a:custGeom>
            <a:ln w="10122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561075" y="1930018"/>
              <a:ext cx="2284095" cy="2284095"/>
            </a:xfrm>
            <a:custGeom>
              <a:avLst/>
              <a:gdLst/>
              <a:ahLst/>
              <a:cxnLst/>
              <a:rect l="l" t="t" r="r" b="b"/>
              <a:pathLst>
                <a:path w="2284095" h="2284095">
                  <a:moveTo>
                    <a:pt x="0" y="0"/>
                  </a:moveTo>
                  <a:lnTo>
                    <a:pt x="2283714" y="2283713"/>
                  </a:lnTo>
                </a:path>
              </a:pathLst>
            </a:custGeom>
            <a:ln w="5060">
              <a:solidFill>
                <a:srgbClr val="213739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702932" y="1821560"/>
              <a:ext cx="1250315" cy="1250315"/>
            </a:xfrm>
            <a:custGeom>
              <a:avLst/>
              <a:gdLst/>
              <a:ahLst/>
              <a:cxnLst/>
              <a:rect l="l" t="t" r="r" b="b"/>
              <a:pathLst>
                <a:path w="1250315" h="1250314">
                  <a:moveTo>
                    <a:pt x="0" y="1250314"/>
                  </a:moveTo>
                  <a:lnTo>
                    <a:pt x="1250315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74898" y="1811283"/>
              <a:ext cx="88626" cy="8862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20484" y="2394203"/>
              <a:ext cx="282575" cy="678180"/>
            </a:xfrm>
            <a:custGeom>
              <a:avLst/>
              <a:gdLst/>
              <a:ahLst/>
              <a:cxnLst/>
              <a:rect l="l" t="t" r="r" b="b"/>
              <a:pathLst>
                <a:path w="282575" h="678180">
                  <a:moveTo>
                    <a:pt x="282447" y="677672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81880" y="2387984"/>
              <a:ext cx="114418" cy="7606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702932" y="1937765"/>
              <a:ext cx="283845" cy="1134110"/>
            </a:xfrm>
            <a:custGeom>
              <a:avLst/>
              <a:gdLst/>
              <a:ahLst/>
              <a:cxnLst/>
              <a:rect l="l" t="t" r="r" b="b"/>
              <a:pathLst>
                <a:path w="283845" h="1134110">
                  <a:moveTo>
                    <a:pt x="0" y="1134110"/>
                  </a:moveTo>
                  <a:lnTo>
                    <a:pt x="283464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14905" y="1931425"/>
              <a:ext cx="119741" cy="69957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702932" y="2503550"/>
              <a:ext cx="1705610" cy="568325"/>
            </a:xfrm>
            <a:custGeom>
              <a:avLst/>
              <a:gdLst/>
              <a:ahLst/>
              <a:cxnLst/>
              <a:rect l="l" t="t" r="r" b="b"/>
              <a:pathLst>
                <a:path w="1705609" h="568325">
                  <a:moveTo>
                    <a:pt x="0" y="568325"/>
                  </a:moveTo>
                  <a:lnTo>
                    <a:pt x="1705102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41113" y="2460124"/>
              <a:ext cx="73264" cy="11733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5854191" y="2788919"/>
              <a:ext cx="848994" cy="283210"/>
            </a:xfrm>
            <a:custGeom>
              <a:avLst/>
              <a:gdLst/>
              <a:ahLst/>
              <a:cxnLst/>
              <a:rect l="l" t="t" r="r" b="b"/>
              <a:pathLst>
                <a:path w="848995" h="283210">
                  <a:moveTo>
                    <a:pt x="848740" y="282955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47849" y="2745620"/>
              <a:ext cx="73264" cy="117206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6419341" y="3071875"/>
              <a:ext cx="283845" cy="1134110"/>
            </a:xfrm>
            <a:custGeom>
              <a:avLst/>
              <a:gdLst/>
              <a:ahLst/>
              <a:cxnLst/>
              <a:rect l="l" t="t" r="r" b="b"/>
              <a:pathLst>
                <a:path w="283845" h="1134110">
                  <a:moveTo>
                    <a:pt x="283590" y="0"/>
                  </a:moveTo>
                  <a:lnTo>
                    <a:pt x="0" y="1134110"/>
                  </a:lnTo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371218" y="4142368"/>
              <a:ext cx="119741" cy="70084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6702932" y="3071875"/>
              <a:ext cx="329565" cy="1138555"/>
            </a:xfrm>
            <a:custGeom>
              <a:avLst/>
              <a:gdLst/>
              <a:ahLst/>
              <a:cxnLst/>
              <a:rect l="l" t="t" r="r" b="b"/>
              <a:pathLst>
                <a:path w="329565" h="1138554">
                  <a:moveTo>
                    <a:pt x="0" y="0"/>
                  </a:moveTo>
                  <a:lnTo>
                    <a:pt x="283464" y="1134110"/>
                  </a:lnTo>
                </a:path>
                <a:path w="329565" h="1138554">
                  <a:moveTo>
                    <a:pt x="329184" y="1073023"/>
                  </a:moveTo>
                  <a:lnTo>
                    <a:pt x="308864" y="1087628"/>
                  </a:lnTo>
                  <a:lnTo>
                    <a:pt x="295401" y="1103757"/>
                  </a:lnTo>
                  <a:lnTo>
                    <a:pt x="287527" y="1120902"/>
                  </a:lnTo>
                  <a:lnTo>
                    <a:pt x="284480" y="1138047"/>
                  </a:lnTo>
                  <a:lnTo>
                    <a:pt x="273685" y="1124331"/>
                  </a:lnTo>
                  <a:lnTo>
                    <a:pt x="258825" y="1112901"/>
                  </a:lnTo>
                  <a:lnTo>
                    <a:pt x="239268" y="1105027"/>
                  </a:lnTo>
                  <a:lnTo>
                    <a:pt x="214502" y="1101725"/>
                  </a:lnTo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8440166" y="2969514"/>
            <a:ext cx="26479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441694" y="970915"/>
            <a:ext cx="26479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849109" y="1536954"/>
            <a:ext cx="26797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300973" y="2108073"/>
            <a:ext cx="13906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411718" y="2203780"/>
            <a:ext cx="107950" cy="2197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spc="-50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720841" y="2741167"/>
            <a:ext cx="13906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852921" y="2837179"/>
            <a:ext cx="107314" cy="2197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50" spc="-50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254241" y="4168902"/>
            <a:ext cx="874394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620395" algn="l"/>
              </a:tabLst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025510" y="1445767"/>
            <a:ext cx="19050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b="1" spc="-5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686678" y="1752980"/>
            <a:ext cx="941705" cy="5314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30480" algn="r">
              <a:lnSpc>
                <a:spcPts val="2000"/>
              </a:lnSpc>
              <a:spcBef>
                <a:spcPts val="90"/>
              </a:spcBef>
            </a:pPr>
            <a:r>
              <a:rPr sz="1750" b="1" spc="-2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-9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875" b="1" baseline="24444" dirty="0">
                <a:solidFill>
                  <a:srgbClr val="213739"/>
                </a:solidFill>
                <a:latin typeface="Calibri"/>
                <a:cs typeface="Calibri"/>
              </a:rPr>
              <a:t>T</a:t>
            </a:r>
            <a:r>
              <a:rPr sz="1875" b="1" spc="7" baseline="2444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40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7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endParaRPr sz="1750">
              <a:latin typeface="Calibri"/>
              <a:cs typeface="Calibri"/>
            </a:endParaRPr>
          </a:p>
          <a:p>
            <a:pPr marR="92075" algn="r">
              <a:lnSpc>
                <a:spcPts val="2000"/>
              </a:lnSpc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-8888">
              <a:latin typeface="Calibri"/>
              <a:cs typeface="Calibr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5803910" y="1887356"/>
            <a:ext cx="2654935" cy="2369185"/>
            <a:chOff x="5803910" y="1887356"/>
            <a:chExt cx="2654935" cy="2369185"/>
          </a:xfrm>
        </p:grpSpPr>
        <p:pic>
          <p:nvPicPr>
            <p:cNvPr id="34" name="object 3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374775" y="2344175"/>
              <a:ext cx="85324" cy="85324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945767" y="1887356"/>
              <a:ext cx="85324" cy="85324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372992" y="2458348"/>
              <a:ext cx="85324" cy="85324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803910" y="2743717"/>
              <a:ext cx="85324" cy="85324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374775" y="4171070"/>
              <a:ext cx="85324" cy="85324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6948297" y="4173600"/>
              <a:ext cx="80645" cy="80645"/>
            </a:xfrm>
            <a:custGeom>
              <a:avLst/>
              <a:gdLst/>
              <a:ahLst/>
              <a:cxnLst/>
              <a:rect l="l" t="t" r="r" b="b"/>
              <a:pathLst>
                <a:path w="80645" h="80645">
                  <a:moveTo>
                    <a:pt x="40131" y="0"/>
                  </a:moveTo>
                  <a:lnTo>
                    <a:pt x="24510" y="3175"/>
                  </a:lnTo>
                  <a:lnTo>
                    <a:pt x="11683" y="11811"/>
                  </a:lnTo>
                  <a:lnTo>
                    <a:pt x="3048" y="24511"/>
                  </a:lnTo>
                  <a:lnTo>
                    <a:pt x="0" y="40131"/>
                  </a:lnTo>
                  <a:lnTo>
                    <a:pt x="3048" y="55753"/>
                  </a:lnTo>
                  <a:lnTo>
                    <a:pt x="11683" y="68580"/>
                  </a:lnTo>
                  <a:lnTo>
                    <a:pt x="24510" y="77088"/>
                  </a:lnTo>
                  <a:lnTo>
                    <a:pt x="40131" y="80263"/>
                  </a:lnTo>
                  <a:lnTo>
                    <a:pt x="55752" y="77088"/>
                  </a:lnTo>
                  <a:lnTo>
                    <a:pt x="68452" y="68580"/>
                  </a:lnTo>
                  <a:lnTo>
                    <a:pt x="77088" y="55753"/>
                  </a:lnTo>
                  <a:lnTo>
                    <a:pt x="80263" y="40131"/>
                  </a:lnTo>
                  <a:lnTo>
                    <a:pt x="77088" y="24511"/>
                  </a:lnTo>
                  <a:lnTo>
                    <a:pt x="68452" y="11811"/>
                  </a:lnTo>
                  <a:lnTo>
                    <a:pt x="55752" y="3175"/>
                  </a:lnTo>
                  <a:lnTo>
                    <a:pt x="40131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948297" y="4173600"/>
              <a:ext cx="80645" cy="80645"/>
            </a:xfrm>
            <a:custGeom>
              <a:avLst/>
              <a:gdLst/>
              <a:ahLst/>
              <a:cxnLst/>
              <a:rect l="l" t="t" r="r" b="b"/>
              <a:pathLst>
                <a:path w="80645" h="80645">
                  <a:moveTo>
                    <a:pt x="80263" y="40131"/>
                  </a:moveTo>
                  <a:lnTo>
                    <a:pt x="77088" y="24511"/>
                  </a:lnTo>
                  <a:lnTo>
                    <a:pt x="68452" y="11811"/>
                  </a:lnTo>
                  <a:lnTo>
                    <a:pt x="55752" y="3175"/>
                  </a:lnTo>
                  <a:lnTo>
                    <a:pt x="40131" y="0"/>
                  </a:lnTo>
                  <a:lnTo>
                    <a:pt x="24510" y="3175"/>
                  </a:lnTo>
                  <a:lnTo>
                    <a:pt x="11683" y="11811"/>
                  </a:lnTo>
                  <a:lnTo>
                    <a:pt x="3048" y="24511"/>
                  </a:lnTo>
                  <a:lnTo>
                    <a:pt x="0" y="40131"/>
                  </a:lnTo>
                  <a:lnTo>
                    <a:pt x="3048" y="55753"/>
                  </a:lnTo>
                  <a:lnTo>
                    <a:pt x="11683" y="68580"/>
                  </a:lnTo>
                  <a:lnTo>
                    <a:pt x="24510" y="77088"/>
                  </a:lnTo>
                  <a:lnTo>
                    <a:pt x="40131" y="80263"/>
                  </a:lnTo>
                  <a:lnTo>
                    <a:pt x="55752" y="77088"/>
                  </a:lnTo>
                  <a:lnTo>
                    <a:pt x="68452" y="68580"/>
                  </a:lnTo>
                  <a:lnTo>
                    <a:pt x="77088" y="55753"/>
                  </a:lnTo>
                  <a:lnTo>
                    <a:pt x="80263" y="40131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8781415" y="5603912"/>
            <a:ext cx="196215" cy="206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spc="-25" dirty="0">
                <a:solidFill>
                  <a:srgbClr val="213739"/>
                </a:solidFill>
                <a:latin typeface="Arial MT"/>
                <a:cs typeface="Arial MT"/>
              </a:rPr>
              <a:t>36</a:t>
            </a:r>
            <a:endParaRPr sz="125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8459" y="878585"/>
            <a:ext cx="4471670" cy="31184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640" marR="71755" indent="-3175">
              <a:lnSpc>
                <a:spcPct val="116599"/>
              </a:lnSpc>
              <a:spcBef>
                <a:spcPts val="100"/>
              </a:spcBef>
            </a:pP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Consider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 some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points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(vectors)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which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lie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in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the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positive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half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space</a:t>
            </a:r>
            <a:r>
              <a:rPr sz="1750" spc="-1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this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line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i="1" spc="-80" dirty="0">
                <a:solidFill>
                  <a:srgbClr val="213739"/>
                </a:solidFill>
                <a:latin typeface="Times New Roman"/>
                <a:cs typeface="Times New Roman"/>
              </a:rPr>
              <a:t>i.e.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,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spc="-2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-8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875" b="1" baseline="24444" dirty="0">
                <a:solidFill>
                  <a:srgbClr val="213739"/>
                </a:solidFill>
                <a:latin typeface="Calibri"/>
                <a:cs typeface="Calibri"/>
              </a:rPr>
              <a:t>T</a:t>
            </a:r>
            <a:r>
              <a:rPr sz="1875" b="1" spc="37" baseline="2444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45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≥</a:t>
            </a:r>
            <a:r>
              <a:rPr sz="1750" spc="-4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)</a:t>
            </a:r>
            <a:endParaRPr sz="175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900"/>
              </a:spcBef>
            </a:pP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What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will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be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angle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between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any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such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vector</a:t>
            </a:r>
            <a:endParaRPr sz="1750">
              <a:latin typeface="Arial MT"/>
              <a:cs typeface="Arial MT"/>
            </a:endParaRPr>
          </a:p>
          <a:p>
            <a:pPr marL="40640">
              <a:lnSpc>
                <a:spcPct val="100000"/>
              </a:lnSpc>
              <a:spcBef>
                <a:spcPts val="360"/>
              </a:spcBef>
            </a:pP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750" spc="-1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9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?</a:t>
            </a:r>
            <a:r>
              <a:rPr sz="1750" spc="-3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Obviously,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less</a:t>
            </a:r>
            <a:r>
              <a:rPr sz="1750" spc="-1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than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90°</a:t>
            </a:r>
            <a:endParaRPr sz="1750">
              <a:latin typeface="Arial MT"/>
              <a:cs typeface="Arial MT"/>
            </a:endParaRPr>
          </a:p>
          <a:p>
            <a:pPr marL="40640" marR="47625" indent="-3175">
              <a:lnSpc>
                <a:spcPct val="117700"/>
              </a:lnSpc>
              <a:spcBef>
                <a:spcPts val="505"/>
              </a:spcBef>
            </a:pP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What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about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points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(vectors)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which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lie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in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neg-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ative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half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space</a:t>
            </a:r>
            <a:r>
              <a:rPr sz="1750" spc="-2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this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line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i="1" spc="-80" dirty="0">
                <a:solidFill>
                  <a:srgbClr val="213739"/>
                </a:solidFill>
                <a:latin typeface="Times New Roman"/>
                <a:cs typeface="Times New Roman"/>
              </a:rPr>
              <a:t>i.e.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,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spc="-2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-9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875" b="1" baseline="24444" dirty="0">
                <a:solidFill>
                  <a:srgbClr val="213739"/>
                </a:solidFill>
                <a:latin typeface="Calibri"/>
                <a:cs typeface="Calibri"/>
              </a:rPr>
              <a:t>T</a:t>
            </a:r>
            <a:r>
              <a:rPr sz="1875" b="1" spc="37" baseline="2444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44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spc="10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)</a:t>
            </a:r>
            <a:endParaRPr sz="175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865"/>
              </a:spcBef>
            </a:pP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What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will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be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angle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between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any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such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vector</a:t>
            </a:r>
            <a:endParaRPr sz="1750">
              <a:latin typeface="Arial MT"/>
              <a:cs typeface="Arial MT"/>
            </a:endParaRPr>
          </a:p>
          <a:p>
            <a:pPr marL="40640">
              <a:lnSpc>
                <a:spcPct val="100000"/>
              </a:lnSpc>
              <a:spcBef>
                <a:spcPts val="375"/>
              </a:spcBef>
            </a:pP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750" spc="-1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1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?</a:t>
            </a:r>
            <a:r>
              <a:rPr sz="1750" spc="-3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Obviously,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greater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than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90°</a:t>
            </a:r>
            <a:endParaRPr sz="175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1005"/>
              </a:spcBef>
            </a:pP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course,</a:t>
            </a:r>
            <a:r>
              <a:rPr sz="1750" spc="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this</a:t>
            </a:r>
            <a:r>
              <a:rPr sz="1750" spc="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also</a:t>
            </a:r>
            <a:r>
              <a:rPr sz="1750" spc="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follows</a:t>
            </a:r>
            <a:r>
              <a:rPr sz="1750" spc="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from</a:t>
            </a:r>
            <a:r>
              <a:rPr sz="1750" spc="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formula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07212" y="4012438"/>
            <a:ext cx="71310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cosα</a:t>
            </a:r>
            <a:r>
              <a:rPr sz="1750" i="1" spc="24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58366" y="4203065"/>
            <a:ext cx="601980" cy="0"/>
          </a:xfrm>
          <a:custGeom>
            <a:avLst/>
            <a:gdLst/>
            <a:ahLst/>
            <a:cxnLst/>
            <a:rect l="l" t="t" r="r" b="b"/>
            <a:pathLst>
              <a:path w="601980">
                <a:moveTo>
                  <a:pt x="0" y="0"/>
                </a:moveTo>
                <a:lnTo>
                  <a:pt x="601852" y="0"/>
                </a:lnTo>
              </a:path>
            </a:pathLst>
          </a:custGeom>
          <a:ln w="5536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620266" y="3987546"/>
            <a:ext cx="673735" cy="37528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R="15240" algn="ctr">
              <a:lnSpc>
                <a:spcPts val="1365"/>
              </a:lnSpc>
              <a:spcBef>
                <a:spcPts val="120"/>
              </a:spcBef>
            </a:pPr>
            <a:r>
              <a:rPr sz="12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425" i="1" baseline="23391" dirty="0">
                <a:solidFill>
                  <a:srgbClr val="213739"/>
                </a:solidFill>
                <a:latin typeface="Georgia"/>
                <a:cs typeface="Georgia"/>
              </a:rPr>
              <a:t>T</a:t>
            </a:r>
            <a:r>
              <a:rPr sz="1425" i="1" spc="262" baseline="23391" dirty="0">
                <a:solidFill>
                  <a:srgbClr val="213739"/>
                </a:solidFill>
                <a:latin typeface="Georgia"/>
                <a:cs typeface="Georgia"/>
              </a:rPr>
              <a:t> </a:t>
            </a:r>
            <a:r>
              <a:rPr sz="1250" i="1" spc="-5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endParaRPr sz="1250">
              <a:latin typeface="Calibri"/>
              <a:cs typeface="Calibri"/>
            </a:endParaRPr>
          </a:p>
          <a:p>
            <a:pPr algn="ctr">
              <a:lnSpc>
                <a:spcPts val="1365"/>
              </a:lnSpc>
            </a:pPr>
            <a:r>
              <a:rPr sz="1250" spc="-10" dirty="0">
                <a:solidFill>
                  <a:srgbClr val="213739"/>
                </a:solidFill>
                <a:latin typeface="Lucida Sans Unicode"/>
                <a:cs typeface="Lucida Sans Unicode"/>
              </a:rPr>
              <a:t>||</a:t>
            </a:r>
            <a:r>
              <a:rPr sz="1250" i="1" spc="-1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250" spc="-10" dirty="0">
                <a:solidFill>
                  <a:srgbClr val="213739"/>
                </a:solidFill>
                <a:latin typeface="Lucida Sans Unicode"/>
                <a:cs typeface="Lucida Sans Unicode"/>
              </a:rPr>
              <a:t>||||</a:t>
            </a:r>
            <a:r>
              <a:rPr sz="1250" i="1" spc="-1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250" spc="-10" dirty="0">
                <a:solidFill>
                  <a:srgbClr val="213739"/>
                </a:solidFill>
                <a:latin typeface="Lucida Sans Unicode"/>
                <a:cs typeface="Lucida Sans Unicode"/>
              </a:rPr>
              <a:t>||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71522" y="4018534"/>
            <a:ext cx="9906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)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02944" y="4315459"/>
            <a:ext cx="4401185" cy="653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 marR="5080" indent="-5080">
              <a:lnSpc>
                <a:spcPct val="117700"/>
              </a:lnSpc>
              <a:spcBef>
                <a:spcPts val="100"/>
              </a:spcBef>
            </a:pP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Keeping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this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picture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in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mind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let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us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revisit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 al-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gorithm</a:t>
            </a:r>
            <a:endParaRPr sz="175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558535" y="1076578"/>
            <a:ext cx="3140075" cy="3140075"/>
            <a:chOff x="5558535" y="1076578"/>
            <a:chExt cx="3140075" cy="3140075"/>
          </a:xfrm>
        </p:grpSpPr>
        <p:sp>
          <p:nvSpPr>
            <p:cNvPr id="9" name="object 9"/>
            <p:cNvSpPr/>
            <p:nvPr/>
          </p:nvSpPr>
          <p:spPr>
            <a:xfrm>
              <a:off x="6640194" y="1081658"/>
              <a:ext cx="2052955" cy="2052955"/>
            </a:xfrm>
            <a:custGeom>
              <a:avLst/>
              <a:gdLst/>
              <a:ahLst/>
              <a:cxnLst/>
              <a:rect l="l" t="t" r="r" b="b"/>
              <a:pathLst>
                <a:path w="2052954" h="2052955">
                  <a:moveTo>
                    <a:pt x="62737" y="1990216"/>
                  </a:moveTo>
                  <a:lnTo>
                    <a:pt x="2044953" y="1990216"/>
                  </a:lnTo>
                </a:path>
                <a:path w="2052954" h="2052955">
                  <a:moveTo>
                    <a:pt x="2001647" y="1927605"/>
                  </a:moveTo>
                  <a:lnTo>
                    <a:pt x="2010663" y="1952243"/>
                  </a:lnTo>
                  <a:lnTo>
                    <a:pt x="2022855" y="1970277"/>
                  </a:lnTo>
                  <a:lnTo>
                    <a:pt x="2037333" y="1982596"/>
                  </a:lnTo>
                  <a:lnTo>
                    <a:pt x="2052954" y="1990216"/>
                  </a:lnTo>
                  <a:lnTo>
                    <a:pt x="2037333" y="1997837"/>
                  </a:lnTo>
                  <a:lnTo>
                    <a:pt x="2022855" y="2010155"/>
                  </a:lnTo>
                  <a:lnTo>
                    <a:pt x="2010663" y="2028316"/>
                  </a:lnTo>
                  <a:lnTo>
                    <a:pt x="2001647" y="2052954"/>
                  </a:lnTo>
                </a:path>
                <a:path w="2052954" h="2052955">
                  <a:moveTo>
                    <a:pt x="62737" y="1990216"/>
                  </a:moveTo>
                  <a:lnTo>
                    <a:pt x="62737" y="8000"/>
                  </a:lnTo>
                </a:path>
                <a:path w="2052954" h="2052955">
                  <a:moveTo>
                    <a:pt x="0" y="51307"/>
                  </a:moveTo>
                  <a:lnTo>
                    <a:pt x="24637" y="42290"/>
                  </a:lnTo>
                  <a:lnTo>
                    <a:pt x="42799" y="30099"/>
                  </a:lnTo>
                  <a:lnTo>
                    <a:pt x="55118" y="15620"/>
                  </a:lnTo>
                  <a:lnTo>
                    <a:pt x="62737" y="0"/>
                  </a:lnTo>
                  <a:lnTo>
                    <a:pt x="70357" y="15620"/>
                  </a:lnTo>
                  <a:lnTo>
                    <a:pt x="82676" y="30099"/>
                  </a:lnTo>
                  <a:lnTo>
                    <a:pt x="100710" y="42290"/>
                  </a:lnTo>
                  <a:lnTo>
                    <a:pt x="125349" y="51307"/>
                  </a:lnTo>
                </a:path>
              </a:pathLst>
            </a:custGeom>
            <a:ln w="10122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561075" y="1930018"/>
              <a:ext cx="2284095" cy="2284095"/>
            </a:xfrm>
            <a:custGeom>
              <a:avLst/>
              <a:gdLst/>
              <a:ahLst/>
              <a:cxnLst/>
              <a:rect l="l" t="t" r="r" b="b"/>
              <a:pathLst>
                <a:path w="2284095" h="2284095">
                  <a:moveTo>
                    <a:pt x="0" y="0"/>
                  </a:moveTo>
                  <a:lnTo>
                    <a:pt x="2283714" y="2283713"/>
                  </a:lnTo>
                </a:path>
              </a:pathLst>
            </a:custGeom>
            <a:ln w="5060">
              <a:solidFill>
                <a:srgbClr val="213739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702932" y="1821560"/>
              <a:ext cx="1250315" cy="1250315"/>
            </a:xfrm>
            <a:custGeom>
              <a:avLst/>
              <a:gdLst/>
              <a:ahLst/>
              <a:cxnLst/>
              <a:rect l="l" t="t" r="r" b="b"/>
              <a:pathLst>
                <a:path w="1250315" h="1250314">
                  <a:moveTo>
                    <a:pt x="0" y="1250314"/>
                  </a:moveTo>
                  <a:lnTo>
                    <a:pt x="1250315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74898" y="1811283"/>
              <a:ext cx="88626" cy="8862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420484" y="2394203"/>
              <a:ext cx="282575" cy="678180"/>
            </a:xfrm>
            <a:custGeom>
              <a:avLst/>
              <a:gdLst/>
              <a:ahLst/>
              <a:cxnLst/>
              <a:rect l="l" t="t" r="r" b="b"/>
              <a:pathLst>
                <a:path w="282575" h="678180">
                  <a:moveTo>
                    <a:pt x="282447" y="677672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81880" y="2387984"/>
              <a:ext cx="114418" cy="76064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702932" y="1937765"/>
              <a:ext cx="283845" cy="1134110"/>
            </a:xfrm>
            <a:custGeom>
              <a:avLst/>
              <a:gdLst/>
              <a:ahLst/>
              <a:cxnLst/>
              <a:rect l="l" t="t" r="r" b="b"/>
              <a:pathLst>
                <a:path w="283845" h="1134110">
                  <a:moveTo>
                    <a:pt x="0" y="1134110"/>
                  </a:moveTo>
                  <a:lnTo>
                    <a:pt x="283464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14905" y="1931425"/>
              <a:ext cx="119741" cy="69957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6702932" y="2503550"/>
              <a:ext cx="1705610" cy="568325"/>
            </a:xfrm>
            <a:custGeom>
              <a:avLst/>
              <a:gdLst/>
              <a:ahLst/>
              <a:cxnLst/>
              <a:rect l="l" t="t" r="r" b="b"/>
              <a:pathLst>
                <a:path w="1705609" h="568325">
                  <a:moveTo>
                    <a:pt x="0" y="568325"/>
                  </a:moveTo>
                  <a:lnTo>
                    <a:pt x="1705102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41113" y="2460124"/>
              <a:ext cx="73264" cy="117333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5854191" y="2788919"/>
              <a:ext cx="848994" cy="283210"/>
            </a:xfrm>
            <a:custGeom>
              <a:avLst/>
              <a:gdLst/>
              <a:ahLst/>
              <a:cxnLst/>
              <a:rect l="l" t="t" r="r" b="b"/>
              <a:pathLst>
                <a:path w="848995" h="283210">
                  <a:moveTo>
                    <a:pt x="848740" y="282955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47849" y="2745620"/>
              <a:ext cx="73264" cy="117206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6419341" y="3071875"/>
              <a:ext cx="283845" cy="1134110"/>
            </a:xfrm>
            <a:custGeom>
              <a:avLst/>
              <a:gdLst/>
              <a:ahLst/>
              <a:cxnLst/>
              <a:rect l="l" t="t" r="r" b="b"/>
              <a:pathLst>
                <a:path w="283845" h="1134110">
                  <a:moveTo>
                    <a:pt x="283590" y="0"/>
                  </a:moveTo>
                  <a:lnTo>
                    <a:pt x="0" y="1134110"/>
                  </a:lnTo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371218" y="4142368"/>
              <a:ext cx="119741" cy="70084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6702932" y="3071875"/>
              <a:ext cx="329565" cy="1138555"/>
            </a:xfrm>
            <a:custGeom>
              <a:avLst/>
              <a:gdLst/>
              <a:ahLst/>
              <a:cxnLst/>
              <a:rect l="l" t="t" r="r" b="b"/>
              <a:pathLst>
                <a:path w="329565" h="1138554">
                  <a:moveTo>
                    <a:pt x="0" y="0"/>
                  </a:moveTo>
                  <a:lnTo>
                    <a:pt x="283464" y="1134110"/>
                  </a:lnTo>
                </a:path>
                <a:path w="329565" h="1138554">
                  <a:moveTo>
                    <a:pt x="329184" y="1073023"/>
                  </a:moveTo>
                  <a:lnTo>
                    <a:pt x="308864" y="1087628"/>
                  </a:lnTo>
                  <a:lnTo>
                    <a:pt x="295401" y="1103757"/>
                  </a:lnTo>
                  <a:lnTo>
                    <a:pt x="287527" y="1120902"/>
                  </a:lnTo>
                  <a:lnTo>
                    <a:pt x="284480" y="1138047"/>
                  </a:lnTo>
                  <a:lnTo>
                    <a:pt x="273685" y="1124331"/>
                  </a:lnTo>
                  <a:lnTo>
                    <a:pt x="258825" y="1112901"/>
                  </a:lnTo>
                  <a:lnTo>
                    <a:pt x="239268" y="1105027"/>
                  </a:lnTo>
                  <a:lnTo>
                    <a:pt x="214502" y="1101725"/>
                  </a:lnTo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8440166" y="2969514"/>
            <a:ext cx="26479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441694" y="970915"/>
            <a:ext cx="26479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849109" y="1536954"/>
            <a:ext cx="26797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300973" y="2108073"/>
            <a:ext cx="13906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411718" y="2203780"/>
            <a:ext cx="107950" cy="2197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spc="-50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720841" y="2741167"/>
            <a:ext cx="13906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852921" y="2837179"/>
            <a:ext cx="107314" cy="2197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50" spc="-50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254241" y="4168902"/>
            <a:ext cx="874394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620395" algn="l"/>
              </a:tabLst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025510" y="1445767"/>
            <a:ext cx="19050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b="1" spc="-5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686678" y="1752980"/>
            <a:ext cx="941705" cy="5314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30480" algn="r">
              <a:lnSpc>
                <a:spcPts val="2000"/>
              </a:lnSpc>
              <a:spcBef>
                <a:spcPts val="90"/>
              </a:spcBef>
            </a:pPr>
            <a:r>
              <a:rPr sz="1750" b="1" spc="-2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-9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875" b="1" baseline="24444" dirty="0">
                <a:solidFill>
                  <a:srgbClr val="213739"/>
                </a:solidFill>
                <a:latin typeface="Calibri"/>
                <a:cs typeface="Calibri"/>
              </a:rPr>
              <a:t>T</a:t>
            </a:r>
            <a:r>
              <a:rPr sz="1875" b="1" spc="7" baseline="2444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40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7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endParaRPr sz="1750">
              <a:latin typeface="Calibri"/>
              <a:cs typeface="Calibri"/>
            </a:endParaRPr>
          </a:p>
          <a:p>
            <a:pPr marR="92075" algn="r">
              <a:lnSpc>
                <a:spcPts val="2000"/>
              </a:lnSpc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-8888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5803910" y="1887356"/>
            <a:ext cx="2654935" cy="2369185"/>
            <a:chOff x="5803910" y="1887356"/>
            <a:chExt cx="2654935" cy="2369185"/>
          </a:xfrm>
        </p:grpSpPr>
        <p:pic>
          <p:nvPicPr>
            <p:cNvPr id="35" name="object 3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374775" y="2344175"/>
              <a:ext cx="85324" cy="85324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945767" y="1887356"/>
              <a:ext cx="85324" cy="85324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372992" y="2458348"/>
              <a:ext cx="85324" cy="85324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803910" y="2743717"/>
              <a:ext cx="85324" cy="85324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374775" y="4171070"/>
              <a:ext cx="85324" cy="85324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6948297" y="4173600"/>
              <a:ext cx="80645" cy="80645"/>
            </a:xfrm>
            <a:custGeom>
              <a:avLst/>
              <a:gdLst/>
              <a:ahLst/>
              <a:cxnLst/>
              <a:rect l="l" t="t" r="r" b="b"/>
              <a:pathLst>
                <a:path w="80645" h="80645">
                  <a:moveTo>
                    <a:pt x="40131" y="0"/>
                  </a:moveTo>
                  <a:lnTo>
                    <a:pt x="24510" y="3175"/>
                  </a:lnTo>
                  <a:lnTo>
                    <a:pt x="11683" y="11811"/>
                  </a:lnTo>
                  <a:lnTo>
                    <a:pt x="3048" y="24511"/>
                  </a:lnTo>
                  <a:lnTo>
                    <a:pt x="0" y="40131"/>
                  </a:lnTo>
                  <a:lnTo>
                    <a:pt x="3048" y="55753"/>
                  </a:lnTo>
                  <a:lnTo>
                    <a:pt x="11683" y="68580"/>
                  </a:lnTo>
                  <a:lnTo>
                    <a:pt x="24510" y="77088"/>
                  </a:lnTo>
                  <a:lnTo>
                    <a:pt x="40131" y="80263"/>
                  </a:lnTo>
                  <a:lnTo>
                    <a:pt x="55752" y="77088"/>
                  </a:lnTo>
                  <a:lnTo>
                    <a:pt x="68452" y="68580"/>
                  </a:lnTo>
                  <a:lnTo>
                    <a:pt x="77088" y="55753"/>
                  </a:lnTo>
                  <a:lnTo>
                    <a:pt x="80263" y="40131"/>
                  </a:lnTo>
                  <a:lnTo>
                    <a:pt x="77088" y="24511"/>
                  </a:lnTo>
                  <a:lnTo>
                    <a:pt x="68452" y="11811"/>
                  </a:lnTo>
                  <a:lnTo>
                    <a:pt x="55752" y="3175"/>
                  </a:lnTo>
                  <a:lnTo>
                    <a:pt x="40131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948297" y="4173600"/>
              <a:ext cx="80645" cy="80645"/>
            </a:xfrm>
            <a:custGeom>
              <a:avLst/>
              <a:gdLst/>
              <a:ahLst/>
              <a:cxnLst/>
              <a:rect l="l" t="t" r="r" b="b"/>
              <a:pathLst>
                <a:path w="80645" h="80645">
                  <a:moveTo>
                    <a:pt x="80263" y="40131"/>
                  </a:moveTo>
                  <a:lnTo>
                    <a:pt x="77088" y="24511"/>
                  </a:lnTo>
                  <a:lnTo>
                    <a:pt x="68452" y="11811"/>
                  </a:lnTo>
                  <a:lnTo>
                    <a:pt x="55752" y="3175"/>
                  </a:lnTo>
                  <a:lnTo>
                    <a:pt x="40131" y="0"/>
                  </a:lnTo>
                  <a:lnTo>
                    <a:pt x="24510" y="3175"/>
                  </a:lnTo>
                  <a:lnTo>
                    <a:pt x="11683" y="11811"/>
                  </a:lnTo>
                  <a:lnTo>
                    <a:pt x="3048" y="24511"/>
                  </a:lnTo>
                  <a:lnTo>
                    <a:pt x="0" y="40131"/>
                  </a:lnTo>
                  <a:lnTo>
                    <a:pt x="3048" y="55753"/>
                  </a:lnTo>
                  <a:lnTo>
                    <a:pt x="11683" y="68580"/>
                  </a:lnTo>
                  <a:lnTo>
                    <a:pt x="24510" y="77088"/>
                  </a:lnTo>
                  <a:lnTo>
                    <a:pt x="40131" y="80263"/>
                  </a:lnTo>
                  <a:lnTo>
                    <a:pt x="55752" y="77088"/>
                  </a:lnTo>
                  <a:lnTo>
                    <a:pt x="68452" y="68580"/>
                  </a:lnTo>
                  <a:lnTo>
                    <a:pt x="77088" y="55753"/>
                  </a:lnTo>
                  <a:lnTo>
                    <a:pt x="80263" y="40131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2" name="object 42"/>
          <p:cNvGrpSpPr/>
          <p:nvPr/>
        </p:nvGrpSpPr>
        <p:grpSpPr>
          <a:xfrm>
            <a:off x="3929716" y="4819684"/>
            <a:ext cx="38100" cy="38100"/>
            <a:chOff x="3929716" y="4819684"/>
            <a:chExt cx="38100" cy="38100"/>
          </a:xfrm>
        </p:grpSpPr>
        <p:sp>
          <p:nvSpPr>
            <p:cNvPr id="43" name="object 43"/>
            <p:cNvSpPr/>
            <p:nvPr/>
          </p:nvSpPr>
          <p:spPr>
            <a:xfrm>
              <a:off x="3942416" y="4832384"/>
              <a:ext cx="12700" cy="12700"/>
            </a:xfrm>
            <a:custGeom>
              <a:avLst/>
              <a:gdLst/>
              <a:ahLst/>
              <a:cxnLst/>
              <a:rect l="l" t="t" r="r" b="b"/>
              <a:pathLst>
                <a:path w="12700" h="12700">
                  <a:moveTo>
                    <a:pt x="9878" y="0"/>
                  </a:moveTo>
                  <a:lnTo>
                    <a:pt x="6350" y="0"/>
                  </a:lnTo>
                  <a:lnTo>
                    <a:pt x="2821" y="0"/>
                  </a:lnTo>
                  <a:lnTo>
                    <a:pt x="0" y="2821"/>
                  </a:lnTo>
                  <a:lnTo>
                    <a:pt x="0" y="9878"/>
                  </a:lnTo>
                  <a:lnTo>
                    <a:pt x="2821" y="12700"/>
                  </a:lnTo>
                  <a:lnTo>
                    <a:pt x="9878" y="12700"/>
                  </a:lnTo>
                  <a:lnTo>
                    <a:pt x="12700" y="9878"/>
                  </a:lnTo>
                  <a:lnTo>
                    <a:pt x="12700" y="2821"/>
                  </a:lnTo>
                  <a:lnTo>
                    <a:pt x="987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942416" y="4832384"/>
              <a:ext cx="12700" cy="12700"/>
            </a:xfrm>
            <a:custGeom>
              <a:avLst/>
              <a:gdLst/>
              <a:ahLst/>
              <a:cxnLst/>
              <a:rect l="l" t="t" r="r" b="b"/>
              <a:pathLst>
                <a:path w="12700" h="12700">
                  <a:moveTo>
                    <a:pt x="6350" y="0"/>
                  </a:moveTo>
                  <a:lnTo>
                    <a:pt x="9878" y="0"/>
                  </a:lnTo>
                  <a:lnTo>
                    <a:pt x="12700" y="2821"/>
                  </a:lnTo>
                  <a:lnTo>
                    <a:pt x="12700" y="6350"/>
                  </a:lnTo>
                  <a:lnTo>
                    <a:pt x="12700" y="9878"/>
                  </a:lnTo>
                  <a:lnTo>
                    <a:pt x="9878" y="12700"/>
                  </a:lnTo>
                  <a:lnTo>
                    <a:pt x="6350" y="12700"/>
                  </a:lnTo>
                  <a:lnTo>
                    <a:pt x="2821" y="12700"/>
                  </a:lnTo>
                  <a:lnTo>
                    <a:pt x="0" y="9878"/>
                  </a:lnTo>
                  <a:lnTo>
                    <a:pt x="0" y="6350"/>
                  </a:lnTo>
                  <a:lnTo>
                    <a:pt x="0" y="2821"/>
                  </a:lnTo>
                  <a:lnTo>
                    <a:pt x="2821" y="0"/>
                  </a:lnTo>
                  <a:lnTo>
                    <a:pt x="6350" y="0"/>
                  </a:lnTo>
                  <a:close/>
                </a:path>
              </a:pathLst>
            </a:custGeom>
            <a:ln w="25400">
              <a:solidFill>
                <a:srgbClr val="DB33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8781415" y="5603912"/>
            <a:ext cx="196215" cy="206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spc="-25" dirty="0">
                <a:solidFill>
                  <a:srgbClr val="213739"/>
                </a:solidFill>
                <a:latin typeface="Arial MT"/>
                <a:cs typeface="Arial MT"/>
              </a:rPr>
              <a:t>36</a:t>
            </a:r>
            <a:endParaRPr sz="125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0618" y="879347"/>
            <a:ext cx="4396105" cy="0"/>
          </a:xfrm>
          <a:custGeom>
            <a:avLst/>
            <a:gdLst/>
            <a:ahLst/>
            <a:cxnLst/>
            <a:rect l="l" t="t" r="r" b="b"/>
            <a:pathLst>
              <a:path w="4396105">
                <a:moveTo>
                  <a:pt x="0" y="0"/>
                </a:moveTo>
                <a:lnTo>
                  <a:pt x="4396105" y="0"/>
                </a:lnTo>
              </a:path>
            </a:pathLst>
          </a:custGeom>
          <a:ln w="10121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232712" y="202133"/>
            <a:ext cx="60204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10" dirty="0">
                <a:solidFill>
                  <a:srgbClr val="000000"/>
                </a:solidFill>
                <a:latin typeface="Calibri"/>
                <a:cs typeface="Calibri"/>
              </a:rPr>
              <a:t>Algorithm:</a:t>
            </a:r>
            <a:r>
              <a:rPr sz="2800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114" dirty="0">
                <a:solidFill>
                  <a:srgbClr val="000000"/>
                </a:solidFill>
                <a:latin typeface="Arial MT"/>
                <a:cs typeface="Arial MT"/>
              </a:rPr>
              <a:t>Perceptron</a:t>
            </a:r>
            <a:r>
              <a:rPr sz="2800" spc="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800" spc="-125" dirty="0">
                <a:solidFill>
                  <a:srgbClr val="000000"/>
                </a:solidFill>
                <a:latin typeface="Arial MT"/>
                <a:cs typeface="Arial MT"/>
              </a:rPr>
              <a:t>Learning</a:t>
            </a:r>
            <a:r>
              <a:rPr sz="2800" spc="-19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000000"/>
                </a:solidFill>
                <a:latin typeface="Arial MT"/>
                <a:cs typeface="Arial MT"/>
              </a:rPr>
              <a:t>Algorithm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80618" y="1192783"/>
            <a:ext cx="4396105" cy="0"/>
          </a:xfrm>
          <a:custGeom>
            <a:avLst/>
            <a:gdLst/>
            <a:ahLst/>
            <a:cxnLst/>
            <a:rect l="l" t="t" r="r" b="b"/>
            <a:pathLst>
              <a:path w="4396105">
                <a:moveTo>
                  <a:pt x="0" y="0"/>
                </a:moveTo>
                <a:lnTo>
                  <a:pt x="4396105" y="0"/>
                </a:lnTo>
              </a:path>
            </a:pathLst>
          </a:custGeom>
          <a:ln w="10121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67690" y="1151890"/>
            <a:ext cx="1171575" cy="653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7700"/>
              </a:lnSpc>
              <a:spcBef>
                <a:spcPts val="100"/>
              </a:spcBef>
            </a:pP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750" i="1" spc="60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←</a:t>
            </a:r>
            <a:r>
              <a:rPr sz="1750" spc="-1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spc="50" dirty="0">
                <a:solidFill>
                  <a:srgbClr val="213739"/>
                </a:solidFill>
                <a:latin typeface="Calibri"/>
                <a:cs typeface="Calibri"/>
              </a:rPr>
              <a:t>inputs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750" i="1" spc="5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← </a:t>
            </a:r>
            <a:r>
              <a:rPr sz="1750" i="1" spc="50" dirty="0">
                <a:solidFill>
                  <a:srgbClr val="213739"/>
                </a:solidFill>
                <a:latin typeface="Calibri"/>
                <a:cs typeface="Calibri"/>
              </a:rPr>
              <a:t>inputs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27707" y="1143380"/>
            <a:ext cx="473709" cy="653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275" marR="5080" indent="-29209">
              <a:lnSpc>
                <a:spcPct val="117700"/>
              </a:lnSpc>
              <a:spcBef>
                <a:spcPts val="100"/>
              </a:spcBef>
            </a:pPr>
            <a:r>
              <a:rPr sz="1750" i="1" spc="-20" dirty="0">
                <a:solidFill>
                  <a:srgbClr val="213739"/>
                </a:solidFill>
                <a:latin typeface="Calibri"/>
                <a:cs typeface="Calibri"/>
              </a:rPr>
              <a:t>with with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92172" y="1161860"/>
            <a:ext cx="895350" cy="66103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0"/>
              </a:spcBef>
              <a:tabLst>
                <a:tab pos="684530" algn="l"/>
              </a:tabLst>
            </a:pP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label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;</a:t>
            </a:r>
            <a:endParaRPr sz="1750">
              <a:latin typeface="Arial MT"/>
              <a:cs typeface="Arial MT"/>
            </a:endParaRPr>
          </a:p>
          <a:p>
            <a:pPr marL="41275">
              <a:lnSpc>
                <a:spcPct val="100000"/>
              </a:lnSpc>
              <a:spcBef>
                <a:spcPts val="400"/>
              </a:spcBef>
              <a:tabLst>
                <a:tab pos="713740" algn="l"/>
              </a:tabLst>
            </a:pP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label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;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93852" y="2496311"/>
            <a:ext cx="0" cy="2197100"/>
          </a:xfrm>
          <a:custGeom>
            <a:avLst/>
            <a:gdLst/>
            <a:ahLst/>
            <a:cxnLst/>
            <a:rect l="l" t="t" r="r" b="b"/>
            <a:pathLst>
              <a:path h="2197100">
                <a:moveTo>
                  <a:pt x="0" y="2196719"/>
                </a:moveTo>
                <a:lnTo>
                  <a:pt x="0" y="0"/>
                </a:lnTo>
              </a:path>
            </a:pathLst>
          </a:custGeom>
          <a:ln w="5053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29602" y="3123945"/>
            <a:ext cx="0" cy="314325"/>
          </a:xfrm>
          <a:custGeom>
            <a:avLst/>
            <a:gdLst/>
            <a:ahLst/>
            <a:cxnLst/>
            <a:rect l="l" t="t" r="r" b="b"/>
            <a:pathLst>
              <a:path h="314325">
                <a:moveTo>
                  <a:pt x="0" y="313816"/>
                </a:moveTo>
                <a:lnTo>
                  <a:pt x="0" y="0"/>
                </a:lnTo>
              </a:path>
            </a:pathLst>
          </a:custGeom>
          <a:ln w="5053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29602" y="4065396"/>
            <a:ext cx="0" cy="314325"/>
          </a:xfrm>
          <a:custGeom>
            <a:avLst/>
            <a:gdLst/>
            <a:ahLst/>
            <a:cxnLst/>
            <a:rect l="l" t="t" r="r" b="b"/>
            <a:pathLst>
              <a:path h="314325">
                <a:moveTo>
                  <a:pt x="0" y="313816"/>
                </a:moveTo>
                <a:lnTo>
                  <a:pt x="0" y="0"/>
                </a:lnTo>
              </a:path>
            </a:pathLst>
          </a:custGeom>
          <a:ln w="5053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67690" y="1790821"/>
            <a:ext cx="3406140" cy="378269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Initialize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1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randomly;</a:t>
            </a:r>
            <a:endParaRPr sz="17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750" b="1" spc="-114" dirty="0">
                <a:solidFill>
                  <a:srgbClr val="213739"/>
                </a:solidFill>
                <a:latin typeface="Trebuchet MS"/>
                <a:cs typeface="Trebuchet MS"/>
              </a:rPr>
              <a:t>while</a:t>
            </a:r>
            <a:r>
              <a:rPr sz="1750" b="1" spc="-20" dirty="0">
                <a:solidFill>
                  <a:srgbClr val="213739"/>
                </a:solidFill>
                <a:latin typeface="Trebuchet MS"/>
                <a:cs typeface="Trebuchet MS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!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convergence</a:t>
            </a:r>
            <a:r>
              <a:rPr sz="1750" i="1" spc="10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spc="-25" dirty="0">
                <a:solidFill>
                  <a:srgbClr val="213739"/>
                </a:solidFill>
                <a:latin typeface="Trebuchet MS"/>
                <a:cs typeface="Trebuchet MS"/>
              </a:rPr>
              <a:t>do</a:t>
            </a:r>
            <a:endParaRPr sz="1750">
              <a:latin typeface="Trebuchet MS"/>
              <a:cs typeface="Trebuchet MS"/>
            </a:endParaRPr>
          </a:p>
          <a:p>
            <a:pPr marL="347980">
              <a:lnSpc>
                <a:spcPct val="100000"/>
              </a:lnSpc>
              <a:spcBef>
                <a:spcPts val="290"/>
              </a:spcBef>
            </a:pP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Pick</a:t>
            </a:r>
            <a:r>
              <a:rPr sz="1750" spc="-1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random</a:t>
            </a:r>
            <a:r>
              <a:rPr sz="1750" spc="-1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7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∈</a:t>
            </a:r>
            <a:r>
              <a:rPr sz="1750" spc="-30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750" i="1" spc="48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∪</a:t>
            </a:r>
            <a:r>
              <a:rPr sz="1750" spc="-40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750" i="1" spc="48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;</a:t>
            </a:r>
            <a:endParaRPr sz="1750">
              <a:latin typeface="Arial MT"/>
              <a:cs typeface="Arial MT"/>
            </a:endParaRPr>
          </a:p>
          <a:p>
            <a:pPr marL="347980">
              <a:lnSpc>
                <a:spcPct val="100000"/>
              </a:lnSpc>
              <a:spcBef>
                <a:spcPts val="395"/>
              </a:spcBef>
              <a:tabLst>
                <a:tab pos="1326515" algn="l"/>
                <a:tab pos="1910080" algn="l"/>
              </a:tabLst>
            </a:pPr>
            <a:r>
              <a:rPr sz="1750" b="1" spc="-65" dirty="0">
                <a:solidFill>
                  <a:srgbClr val="213739"/>
                </a:solidFill>
                <a:latin typeface="Trebuchet MS"/>
                <a:cs typeface="Trebuchet MS"/>
              </a:rPr>
              <a:t>if</a:t>
            </a:r>
            <a:r>
              <a:rPr sz="1750" b="1" spc="-155" dirty="0">
                <a:solidFill>
                  <a:srgbClr val="213739"/>
                </a:solidFill>
                <a:latin typeface="Trebuchet MS"/>
                <a:cs typeface="Trebuchet MS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6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∈</a:t>
            </a:r>
            <a:r>
              <a:rPr sz="1750" spc="-32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and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b="1" spc="8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i="1" spc="85" dirty="0">
                <a:solidFill>
                  <a:srgbClr val="213739"/>
                </a:solidFill>
                <a:latin typeface="Calibri"/>
                <a:cs typeface="Calibri"/>
              </a:rPr>
              <a:t>.</a:t>
            </a:r>
            <a:r>
              <a:rPr sz="1750" b="1" spc="8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20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spc="70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1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spc="-20" dirty="0">
                <a:solidFill>
                  <a:srgbClr val="213739"/>
                </a:solidFill>
                <a:latin typeface="Trebuchet MS"/>
                <a:cs typeface="Trebuchet MS"/>
              </a:rPr>
              <a:t>then</a:t>
            </a:r>
            <a:endParaRPr sz="1750">
              <a:latin typeface="Trebuchet MS"/>
              <a:cs typeface="Trebuchet MS"/>
            </a:endParaRPr>
          </a:p>
          <a:p>
            <a:pPr marL="683260">
              <a:lnSpc>
                <a:spcPct val="100000"/>
              </a:lnSpc>
              <a:spcBef>
                <a:spcPts val="495"/>
              </a:spcBef>
            </a:pP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2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7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3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+</a:t>
            </a:r>
            <a:r>
              <a:rPr sz="1750" spc="44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25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;</a:t>
            </a:r>
            <a:endParaRPr sz="1750">
              <a:latin typeface="Arial MT"/>
              <a:cs typeface="Arial MT"/>
            </a:endParaRPr>
          </a:p>
          <a:p>
            <a:pPr marL="347980">
              <a:lnSpc>
                <a:spcPct val="100000"/>
              </a:lnSpc>
              <a:spcBef>
                <a:spcPts val="445"/>
              </a:spcBef>
            </a:pPr>
            <a:r>
              <a:rPr sz="1750" b="1" spc="-25" dirty="0">
                <a:solidFill>
                  <a:srgbClr val="213739"/>
                </a:solidFill>
                <a:latin typeface="Trebuchet MS"/>
                <a:cs typeface="Trebuchet MS"/>
              </a:rPr>
              <a:t>end</a:t>
            </a:r>
            <a:endParaRPr sz="1750">
              <a:latin typeface="Trebuchet MS"/>
              <a:cs typeface="Trebuchet MS"/>
            </a:endParaRPr>
          </a:p>
          <a:p>
            <a:pPr marL="347980">
              <a:lnSpc>
                <a:spcPct val="100000"/>
              </a:lnSpc>
              <a:spcBef>
                <a:spcPts val="240"/>
              </a:spcBef>
              <a:tabLst>
                <a:tab pos="1356995" algn="l"/>
                <a:tab pos="1939289" algn="l"/>
              </a:tabLst>
            </a:pPr>
            <a:r>
              <a:rPr sz="1750" b="1" spc="-65" dirty="0">
                <a:solidFill>
                  <a:srgbClr val="213739"/>
                </a:solidFill>
                <a:latin typeface="Trebuchet MS"/>
                <a:cs typeface="Trebuchet MS"/>
              </a:rPr>
              <a:t>if</a:t>
            </a:r>
            <a:r>
              <a:rPr sz="1750" b="1" spc="-155" dirty="0">
                <a:solidFill>
                  <a:srgbClr val="213739"/>
                </a:solidFill>
                <a:latin typeface="Trebuchet MS"/>
                <a:cs typeface="Trebuchet MS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6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∈</a:t>
            </a:r>
            <a:r>
              <a:rPr sz="1750" spc="-32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and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b="1" spc="8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i="1" spc="85" dirty="0">
                <a:solidFill>
                  <a:srgbClr val="213739"/>
                </a:solidFill>
                <a:latin typeface="Calibri"/>
                <a:cs typeface="Calibri"/>
              </a:rPr>
              <a:t>.</a:t>
            </a:r>
            <a:r>
              <a:rPr sz="1750" b="1" spc="8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18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≥</a:t>
            </a:r>
            <a:r>
              <a:rPr sz="1750" spc="-11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-2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spc="-20" dirty="0">
                <a:solidFill>
                  <a:srgbClr val="213739"/>
                </a:solidFill>
                <a:latin typeface="Trebuchet MS"/>
                <a:cs typeface="Trebuchet MS"/>
              </a:rPr>
              <a:t>then</a:t>
            </a:r>
            <a:endParaRPr sz="1750">
              <a:latin typeface="Trebuchet MS"/>
              <a:cs typeface="Trebuchet MS"/>
            </a:endParaRPr>
          </a:p>
          <a:p>
            <a:pPr marL="683260">
              <a:lnSpc>
                <a:spcPct val="100000"/>
              </a:lnSpc>
              <a:spcBef>
                <a:spcPts val="395"/>
              </a:spcBef>
            </a:pP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1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7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4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−</a:t>
            </a:r>
            <a:r>
              <a:rPr sz="1750" spc="-23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26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;</a:t>
            </a:r>
            <a:endParaRPr sz="1750">
              <a:latin typeface="Arial MT"/>
              <a:cs typeface="Arial MT"/>
            </a:endParaRPr>
          </a:p>
          <a:p>
            <a:pPr marL="12700" marR="2703195" indent="335280">
              <a:lnSpc>
                <a:spcPts val="2600"/>
              </a:lnSpc>
              <a:spcBef>
                <a:spcPts val="65"/>
              </a:spcBef>
            </a:pPr>
            <a:r>
              <a:rPr sz="1750" b="1" spc="-125" dirty="0">
                <a:solidFill>
                  <a:srgbClr val="213739"/>
                </a:solidFill>
                <a:latin typeface="Trebuchet MS"/>
                <a:cs typeface="Trebuchet MS"/>
              </a:rPr>
              <a:t>end </a:t>
            </a:r>
            <a:r>
              <a:rPr sz="1750" b="1" spc="-25" dirty="0">
                <a:solidFill>
                  <a:srgbClr val="213739"/>
                </a:solidFill>
                <a:latin typeface="Trebuchet MS"/>
                <a:cs typeface="Trebuchet MS"/>
              </a:rPr>
              <a:t>end</a:t>
            </a:r>
            <a:endParaRPr sz="1750">
              <a:latin typeface="Trebuchet MS"/>
              <a:cs typeface="Trebuchet MS"/>
            </a:endParaRPr>
          </a:p>
          <a:p>
            <a:pPr marL="12700" marR="5080">
              <a:lnSpc>
                <a:spcPts val="2090"/>
              </a:lnSpc>
              <a:spcBef>
                <a:spcPts val="360"/>
              </a:spcBef>
            </a:pP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//the</a:t>
            </a:r>
            <a:r>
              <a:rPr sz="1750" spc="-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algorithm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converges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when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all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the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inputs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80618" y="5663781"/>
            <a:ext cx="4396105" cy="0"/>
          </a:xfrm>
          <a:custGeom>
            <a:avLst/>
            <a:gdLst/>
            <a:ahLst/>
            <a:cxnLst/>
            <a:rect l="l" t="t" r="r" b="b"/>
            <a:pathLst>
              <a:path w="4396105">
                <a:moveTo>
                  <a:pt x="0" y="0"/>
                </a:moveTo>
                <a:lnTo>
                  <a:pt x="4396105" y="0"/>
                </a:lnTo>
              </a:path>
            </a:pathLst>
          </a:custGeom>
          <a:ln w="10121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941957" y="5769965"/>
            <a:ext cx="493395" cy="2197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50" i="1" dirty="0">
                <a:solidFill>
                  <a:srgbClr val="213739"/>
                </a:solidFill>
                <a:latin typeface="Calibri"/>
                <a:cs typeface="Calibri"/>
              </a:rPr>
              <a:t>cosα</a:t>
            </a:r>
            <a:r>
              <a:rPr sz="1250" i="1" spc="40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250" spc="-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52018" y="5599887"/>
            <a:ext cx="261366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2230120" algn="l"/>
              </a:tabLst>
            </a:pP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are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classified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correctly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	</a:t>
            </a:r>
            <a:r>
              <a:rPr sz="12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250" b="1" spc="-15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425" i="1" baseline="23391" dirty="0">
                <a:solidFill>
                  <a:srgbClr val="213739"/>
                </a:solidFill>
                <a:latin typeface="Georgia"/>
                <a:cs typeface="Georgia"/>
              </a:rPr>
              <a:t>T</a:t>
            </a:r>
            <a:r>
              <a:rPr sz="1425" i="1" spc="187" baseline="23391" dirty="0">
                <a:solidFill>
                  <a:srgbClr val="213739"/>
                </a:solidFill>
                <a:latin typeface="Georgia"/>
                <a:cs typeface="Georgia"/>
              </a:rPr>
              <a:t> </a:t>
            </a:r>
            <a:r>
              <a:rPr sz="1250" b="1" spc="-5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550922" y="5913386"/>
            <a:ext cx="628015" cy="0"/>
          </a:xfrm>
          <a:custGeom>
            <a:avLst/>
            <a:gdLst/>
            <a:ahLst/>
            <a:cxnLst/>
            <a:rect l="l" t="t" r="r" b="b"/>
            <a:pathLst>
              <a:path w="628014">
                <a:moveTo>
                  <a:pt x="0" y="0"/>
                </a:moveTo>
                <a:lnTo>
                  <a:pt x="627633" y="0"/>
                </a:lnTo>
              </a:path>
            </a:pathLst>
          </a:custGeom>
          <a:ln w="4559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8781415" y="5588609"/>
            <a:ext cx="196215" cy="2197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50" spc="-25" dirty="0">
                <a:solidFill>
                  <a:srgbClr val="213739"/>
                </a:solidFill>
                <a:latin typeface="Arial MT"/>
                <a:cs typeface="Arial MT"/>
              </a:rPr>
              <a:t>37</a:t>
            </a:r>
            <a:endParaRPr sz="125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7690" y="1151890"/>
            <a:ext cx="1171575" cy="653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7700"/>
              </a:lnSpc>
              <a:spcBef>
                <a:spcPts val="100"/>
              </a:spcBef>
            </a:pP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750" i="1" spc="60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←</a:t>
            </a:r>
            <a:r>
              <a:rPr sz="1750" spc="-1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spc="50" dirty="0">
                <a:solidFill>
                  <a:srgbClr val="213739"/>
                </a:solidFill>
                <a:latin typeface="Calibri"/>
                <a:cs typeface="Calibri"/>
              </a:rPr>
              <a:t>inputs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750" i="1" spc="5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← </a:t>
            </a:r>
            <a:r>
              <a:rPr sz="1750" i="1" spc="50" dirty="0">
                <a:solidFill>
                  <a:srgbClr val="213739"/>
                </a:solidFill>
                <a:latin typeface="Calibri"/>
                <a:cs typeface="Calibri"/>
              </a:rPr>
              <a:t>inputs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27707" y="1143380"/>
            <a:ext cx="473709" cy="653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275" marR="5080" indent="-29209">
              <a:lnSpc>
                <a:spcPct val="117700"/>
              </a:lnSpc>
              <a:spcBef>
                <a:spcPts val="100"/>
              </a:spcBef>
            </a:pPr>
            <a:r>
              <a:rPr sz="1750" i="1" spc="-20" dirty="0">
                <a:solidFill>
                  <a:srgbClr val="213739"/>
                </a:solidFill>
                <a:latin typeface="Calibri"/>
                <a:cs typeface="Calibri"/>
              </a:rPr>
              <a:t>with with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92172" y="1161860"/>
            <a:ext cx="895350" cy="66103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0"/>
              </a:spcBef>
              <a:tabLst>
                <a:tab pos="684530" algn="l"/>
              </a:tabLst>
            </a:pP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label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;</a:t>
            </a:r>
            <a:endParaRPr sz="1750">
              <a:latin typeface="Arial MT"/>
              <a:cs typeface="Arial MT"/>
            </a:endParaRPr>
          </a:p>
          <a:p>
            <a:pPr marL="41275">
              <a:lnSpc>
                <a:spcPct val="100000"/>
              </a:lnSpc>
              <a:spcBef>
                <a:spcPts val="400"/>
              </a:spcBef>
              <a:tabLst>
                <a:tab pos="713740" algn="l"/>
              </a:tabLst>
            </a:pP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label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;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93852" y="2496311"/>
            <a:ext cx="0" cy="2197100"/>
          </a:xfrm>
          <a:custGeom>
            <a:avLst/>
            <a:gdLst/>
            <a:ahLst/>
            <a:cxnLst/>
            <a:rect l="l" t="t" r="r" b="b"/>
            <a:pathLst>
              <a:path h="2197100">
                <a:moveTo>
                  <a:pt x="0" y="2196719"/>
                </a:moveTo>
                <a:lnTo>
                  <a:pt x="0" y="0"/>
                </a:lnTo>
              </a:path>
            </a:pathLst>
          </a:custGeom>
          <a:ln w="5053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29602" y="3123945"/>
            <a:ext cx="0" cy="314325"/>
          </a:xfrm>
          <a:custGeom>
            <a:avLst/>
            <a:gdLst/>
            <a:ahLst/>
            <a:cxnLst/>
            <a:rect l="l" t="t" r="r" b="b"/>
            <a:pathLst>
              <a:path h="314325">
                <a:moveTo>
                  <a:pt x="0" y="313816"/>
                </a:moveTo>
                <a:lnTo>
                  <a:pt x="0" y="0"/>
                </a:lnTo>
              </a:path>
            </a:pathLst>
          </a:custGeom>
          <a:ln w="5053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29602" y="4065396"/>
            <a:ext cx="0" cy="314325"/>
          </a:xfrm>
          <a:custGeom>
            <a:avLst/>
            <a:gdLst/>
            <a:ahLst/>
            <a:cxnLst/>
            <a:rect l="l" t="t" r="r" b="b"/>
            <a:pathLst>
              <a:path h="314325">
                <a:moveTo>
                  <a:pt x="0" y="313816"/>
                </a:moveTo>
                <a:lnTo>
                  <a:pt x="0" y="0"/>
                </a:lnTo>
              </a:path>
            </a:pathLst>
          </a:custGeom>
          <a:ln w="5053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67690" y="1793493"/>
            <a:ext cx="3406140" cy="377825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Initialize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1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randomly;</a:t>
            </a:r>
            <a:endParaRPr sz="175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1750" b="1" spc="-114" dirty="0">
                <a:solidFill>
                  <a:srgbClr val="213739"/>
                </a:solidFill>
                <a:latin typeface="Trebuchet MS"/>
                <a:cs typeface="Trebuchet MS"/>
              </a:rPr>
              <a:t>while</a:t>
            </a:r>
            <a:r>
              <a:rPr sz="1750" b="1" spc="-20" dirty="0">
                <a:solidFill>
                  <a:srgbClr val="213739"/>
                </a:solidFill>
                <a:latin typeface="Trebuchet MS"/>
                <a:cs typeface="Trebuchet MS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!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convergence</a:t>
            </a:r>
            <a:r>
              <a:rPr sz="1750" i="1" spc="9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spc="-25" dirty="0">
                <a:solidFill>
                  <a:srgbClr val="213739"/>
                </a:solidFill>
                <a:latin typeface="Trebuchet MS"/>
                <a:cs typeface="Trebuchet MS"/>
              </a:rPr>
              <a:t>do</a:t>
            </a:r>
            <a:endParaRPr sz="1750" dirty="0">
              <a:latin typeface="Trebuchet MS"/>
              <a:cs typeface="Trebuchet MS"/>
            </a:endParaRPr>
          </a:p>
          <a:p>
            <a:pPr marL="347980">
              <a:lnSpc>
                <a:spcPct val="100000"/>
              </a:lnSpc>
              <a:spcBef>
                <a:spcPts val="300"/>
              </a:spcBef>
            </a:pP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Pick</a:t>
            </a:r>
            <a:r>
              <a:rPr sz="1750" spc="-1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random</a:t>
            </a:r>
            <a:r>
              <a:rPr sz="1750" spc="-1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7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∈</a:t>
            </a:r>
            <a:r>
              <a:rPr sz="1750" spc="-30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750" i="1" spc="48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∪</a:t>
            </a:r>
            <a:r>
              <a:rPr sz="1750" spc="-40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750" i="1" spc="48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;</a:t>
            </a:r>
            <a:endParaRPr sz="1750" dirty="0">
              <a:latin typeface="Arial MT"/>
              <a:cs typeface="Arial MT"/>
            </a:endParaRPr>
          </a:p>
          <a:p>
            <a:pPr marL="347980">
              <a:lnSpc>
                <a:spcPct val="100000"/>
              </a:lnSpc>
              <a:spcBef>
                <a:spcPts val="384"/>
              </a:spcBef>
              <a:tabLst>
                <a:tab pos="1326515" algn="l"/>
                <a:tab pos="1910080" algn="l"/>
              </a:tabLst>
            </a:pPr>
            <a:r>
              <a:rPr sz="1750" b="1" spc="-60" dirty="0">
                <a:solidFill>
                  <a:srgbClr val="213739"/>
                </a:solidFill>
                <a:latin typeface="Trebuchet MS"/>
                <a:cs typeface="Trebuchet MS"/>
              </a:rPr>
              <a:t>if</a:t>
            </a:r>
            <a:r>
              <a:rPr sz="1750" b="1" spc="-150" dirty="0">
                <a:solidFill>
                  <a:srgbClr val="213739"/>
                </a:solidFill>
                <a:latin typeface="Trebuchet MS"/>
                <a:cs typeface="Trebuchet MS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7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∈</a:t>
            </a:r>
            <a:r>
              <a:rPr sz="1750" spc="-32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and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b="1" spc="9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i="1" spc="90" dirty="0">
                <a:solidFill>
                  <a:srgbClr val="213739"/>
                </a:solidFill>
                <a:latin typeface="Calibri"/>
                <a:cs typeface="Calibri"/>
              </a:rPr>
              <a:t>.</a:t>
            </a:r>
            <a:r>
              <a:rPr sz="1750" b="1" spc="9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20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spc="70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 </a:t>
            </a:r>
            <a:r>
              <a:rPr sz="1750" b="1" spc="-20" dirty="0">
                <a:solidFill>
                  <a:srgbClr val="213739"/>
                </a:solidFill>
                <a:latin typeface="Trebuchet MS"/>
                <a:cs typeface="Trebuchet MS"/>
              </a:rPr>
              <a:t>then</a:t>
            </a:r>
            <a:endParaRPr sz="1750" dirty="0">
              <a:latin typeface="Trebuchet MS"/>
              <a:cs typeface="Trebuchet MS"/>
            </a:endParaRPr>
          </a:p>
          <a:p>
            <a:pPr marL="683260">
              <a:lnSpc>
                <a:spcPct val="100000"/>
              </a:lnSpc>
              <a:spcBef>
                <a:spcPts val="495"/>
              </a:spcBef>
            </a:pP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2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7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3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+</a:t>
            </a:r>
            <a:r>
              <a:rPr sz="1750" spc="44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25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;</a:t>
            </a:r>
            <a:endParaRPr sz="1750" dirty="0">
              <a:latin typeface="Arial MT"/>
              <a:cs typeface="Arial MT"/>
            </a:endParaRPr>
          </a:p>
          <a:p>
            <a:pPr marL="347980">
              <a:lnSpc>
                <a:spcPct val="100000"/>
              </a:lnSpc>
              <a:spcBef>
                <a:spcPts val="445"/>
              </a:spcBef>
            </a:pPr>
            <a:r>
              <a:rPr sz="1750" b="1" spc="-25" dirty="0">
                <a:solidFill>
                  <a:srgbClr val="213739"/>
                </a:solidFill>
                <a:latin typeface="Trebuchet MS"/>
                <a:cs typeface="Trebuchet MS"/>
              </a:rPr>
              <a:t>end</a:t>
            </a:r>
            <a:endParaRPr sz="1750" dirty="0">
              <a:latin typeface="Trebuchet MS"/>
              <a:cs typeface="Trebuchet MS"/>
            </a:endParaRPr>
          </a:p>
          <a:p>
            <a:pPr marL="347980">
              <a:lnSpc>
                <a:spcPct val="100000"/>
              </a:lnSpc>
              <a:spcBef>
                <a:spcPts val="250"/>
              </a:spcBef>
              <a:tabLst>
                <a:tab pos="1356995" algn="l"/>
                <a:tab pos="1939289" algn="l"/>
              </a:tabLst>
            </a:pPr>
            <a:r>
              <a:rPr sz="1750" b="1" spc="-65" dirty="0">
                <a:solidFill>
                  <a:srgbClr val="213739"/>
                </a:solidFill>
                <a:latin typeface="Trebuchet MS"/>
                <a:cs typeface="Trebuchet MS"/>
              </a:rPr>
              <a:t>if</a:t>
            </a:r>
            <a:r>
              <a:rPr sz="1750" b="1" spc="-155" dirty="0">
                <a:solidFill>
                  <a:srgbClr val="213739"/>
                </a:solidFill>
                <a:latin typeface="Trebuchet MS"/>
                <a:cs typeface="Trebuchet MS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6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∈</a:t>
            </a:r>
            <a:r>
              <a:rPr sz="1750" spc="-32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and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b="1" spc="8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i="1" spc="85" dirty="0">
                <a:solidFill>
                  <a:srgbClr val="213739"/>
                </a:solidFill>
                <a:latin typeface="Calibri"/>
                <a:cs typeface="Calibri"/>
              </a:rPr>
              <a:t>.</a:t>
            </a:r>
            <a:r>
              <a:rPr sz="1750" b="1" spc="8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18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≥</a:t>
            </a:r>
            <a:r>
              <a:rPr sz="1750" spc="-11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-2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spc="-20" dirty="0">
                <a:solidFill>
                  <a:srgbClr val="213739"/>
                </a:solidFill>
                <a:latin typeface="Trebuchet MS"/>
                <a:cs typeface="Trebuchet MS"/>
              </a:rPr>
              <a:t>then</a:t>
            </a:r>
            <a:endParaRPr sz="1750" dirty="0">
              <a:latin typeface="Trebuchet MS"/>
              <a:cs typeface="Trebuchet MS"/>
            </a:endParaRPr>
          </a:p>
          <a:p>
            <a:pPr marL="683260">
              <a:lnSpc>
                <a:spcPct val="100000"/>
              </a:lnSpc>
              <a:spcBef>
                <a:spcPts val="385"/>
              </a:spcBef>
            </a:pP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2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7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4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−</a:t>
            </a:r>
            <a:r>
              <a:rPr sz="1750" spc="-23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26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;</a:t>
            </a:r>
            <a:endParaRPr sz="1750" dirty="0">
              <a:latin typeface="Arial MT"/>
              <a:cs typeface="Arial MT"/>
            </a:endParaRPr>
          </a:p>
          <a:p>
            <a:pPr marL="12700" marR="2703195" indent="335280">
              <a:lnSpc>
                <a:spcPts val="2600"/>
              </a:lnSpc>
              <a:spcBef>
                <a:spcPts val="65"/>
              </a:spcBef>
            </a:pPr>
            <a:r>
              <a:rPr sz="1750" b="1" spc="-125" dirty="0">
                <a:solidFill>
                  <a:srgbClr val="213739"/>
                </a:solidFill>
                <a:latin typeface="Trebuchet MS"/>
                <a:cs typeface="Trebuchet MS"/>
              </a:rPr>
              <a:t>end </a:t>
            </a:r>
            <a:r>
              <a:rPr sz="1750" b="1" spc="-25" dirty="0">
                <a:solidFill>
                  <a:srgbClr val="213739"/>
                </a:solidFill>
                <a:latin typeface="Trebuchet MS"/>
                <a:cs typeface="Trebuchet MS"/>
              </a:rPr>
              <a:t>end</a:t>
            </a:r>
            <a:endParaRPr sz="1750" dirty="0">
              <a:latin typeface="Trebuchet MS"/>
              <a:cs typeface="Trebuchet MS"/>
            </a:endParaRPr>
          </a:p>
          <a:p>
            <a:pPr marL="12700" marR="5080">
              <a:lnSpc>
                <a:spcPct val="100000"/>
              </a:lnSpc>
              <a:spcBef>
                <a:spcPts val="280"/>
              </a:spcBef>
            </a:pP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//the</a:t>
            </a:r>
            <a:r>
              <a:rPr sz="1750" spc="-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algorithm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converges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when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all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the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inputs</a:t>
            </a:r>
            <a:endParaRPr sz="1750" dirty="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80618" y="5663781"/>
            <a:ext cx="4396105" cy="0"/>
          </a:xfrm>
          <a:custGeom>
            <a:avLst/>
            <a:gdLst/>
            <a:ahLst/>
            <a:cxnLst/>
            <a:rect l="l" t="t" r="r" b="b"/>
            <a:pathLst>
              <a:path w="4396105">
                <a:moveTo>
                  <a:pt x="0" y="0"/>
                </a:moveTo>
                <a:lnTo>
                  <a:pt x="4396105" y="0"/>
                </a:lnTo>
              </a:path>
            </a:pathLst>
          </a:custGeom>
          <a:ln w="10121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941957" y="5769965"/>
            <a:ext cx="493395" cy="2197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50" i="1" dirty="0">
                <a:solidFill>
                  <a:srgbClr val="213739"/>
                </a:solidFill>
                <a:latin typeface="Calibri"/>
                <a:cs typeface="Calibri"/>
              </a:rPr>
              <a:t>cosα</a:t>
            </a:r>
            <a:r>
              <a:rPr sz="1250" i="1" spc="40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250" spc="-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52018" y="5598363"/>
            <a:ext cx="2613660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2230120" algn="l"/>
              </a:tabLst>
            </a:pP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are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classified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correctly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	</a:t>
            </a:r>
            <a:r>
              <a:rPr sz="12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250" b="1" spc="-15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425" i="1" baseline="23391" dirty="0">
                <a:solidFill>
                  <a:srgbClr val="213739"/>
                </a:solidFill>
                <a:latin typeface="Georgia"/>
                <a:cs typeface="Georgia"/>
              </a:rPr>
              <a:t>T</a:t>
            </a:r>
            <a:r>
              <a:rPr sz="1425" i="1" spc="187" baseline="23391" dirty="0">
                <a:solidFill>
                  <a:srgbClr val="213739"/>
                </a:solidFill>
                <a:latin typeface="Georgia"/>
                <a:cs typeface="Georgia"/>
              </a:rPr>
              <a:t> </a:t>
            </a:r>
            <a:r>
              <a:rPr sz="1250" b="1" spc="-5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550922" y="5913386"/>
            <a:ext cx="628015" cy="0"/>
          </a:xfrm>
          <a:custGeom>
            <a:avLst/>
            <a:gdLst/>
            <a:ahLst/>
            <a:cxnLst/>
            <a:rect l="l" t="t" r="r" b="b"/>
            <a:pathLst>
              <a:path w="628014">
                <a:moveTo>
                  <a:pt x="0" y="0"/>
                </a:moveTo>
                <a:lnTo>
                  <a:pt x="627633" y="0"/>
                </a:lnTo>
              </a:path>
            </a:pathLst>
          </a:custGeom>
          <a:ln w="4559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582158" y="895604"/>
            <a:ext cx="3210560" cy="1261110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4604" marR="5080" indent="-2540" algn="just">
              <a:lnSpc>
                <a:spcPct val="116500"/>
              </a:lnSpc>
              <a:spcBef>
                <a:spcPts val="45"/>
              </a:spcBef>
            </a:pP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For</a:t>
            </a:r>
            <a:r>
              <a:rPr sz="1750" spc="-2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spc="-1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6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5" dirty="0">
                <a:solidFill>
                  <a:srgbClr val="213739"/>
                </a:solidFill>
                <a:latin typeface="Lucida Sans Unicode"/>
                <a:cs typeface="Lucida Sans Unicode"/>
              </a:rPr>
              <a:t>∈</a:t>
            </a:r>
            <a:r>
              <a:rPr sz="1750" spc="-29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750" i="1" spc="48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if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spc="8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i="1" spc="85" dirty="0">
                <a:solidFill>
                  <a:srgbClr val="213739"/>
                </a:solidFill>
                <a:latin typeface="Calibri"/>
                <a:cs typeface="Calibri"/>
              </a:rPr>
              <a:t>.</a:t>
            </a:r>
            <a:r>
              <a:rPr sz="1750" b="1" spc="8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24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spc="58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1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then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it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means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that</a:t>
            </a:r>
            <a:r>
              <a:rPr sz="1750" spc="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angle</a:t>
            </a:r>
            <a:r>
              <a:rPr sz="1750" spc="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α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)</a:t>
            </a:r>
            <a:r>
              <a:rPr sz="1750" spc="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between</a:t>
            </a:r>
            <a:r>
              <a:rPr sz="1750" spc="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this</a:t>
            </a:r>
            <a:r>
              <a:rPr sz="1750" spc="11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spc="-1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-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750" spc="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5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current</a:t>
            </a:r>
            <a:r>
              <a:rPr sz="1750" spc="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spc="-1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4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is</a:t>
            </a:r>
            <a:r>
              <a:rPr sz="1750" spc="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greater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than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90°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781415" y="5588609"/>
            <a:ext cx="196215" cy="2197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50" spc="-25" dirty="0">
                <a:solidFill>
                  <a:srgbClr val="213739"/>
                </a:solidFill>
                <a:latin typeface="Arial MT"/>
                <a:cs typeface="Arial MT"/>
              </a:rPr>
              <a:t>37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15" name="object 15" descr="$PPTXTitle"/>
          <p:cNvSpPr txBox="1">
            <a:spLocks noGrp="1"/>
          </p:cNvSpPr>
          <p:nvPr>
            <p:ph type="title"/>
          </p:nvPr>
        </p:nvSpPr>
        <p:spPr>
          <a:xfrm>
            <a:off x="1232712" y="202133"/>
            <a:ext cx="60204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10" dirty="0">
                <a:solidFill>
                  <a:srgbClr val="000000"/>
                </a:solidFill>
                <a:latin typeface="Calibri"/>
                <a:cs typeface="Calibri"/>
              </a:rPr>
              <a:t>Algorithm:</a:t>
            </a:r>
            <a:r>
              <a:rPr sz="2800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114" dirty="0">
                <a:solidFill>
                  <a:srgbClr val="000000"/>
                </a:solidFill>
                <a:latin typeface="Arial MT"/>
                <a:cs typeface="Arial MT"/>
              </a:rPr>
              <a:t>Perceptron</a:t>
            </a:r>
            <a:r>
              <a:rPr sz="2800" spc="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800" spc="-125" dirty="0">
                <a:solidFill>
                  <a:srgbClr val="000000"/>
                </a:solidFill>
                <a:latin typeface="Arial MT"/>
                <a:cs typeface="Arial MT"/>
              </a:rPr>
              <a:t>Learning</a:t>
            </a:r>
            <a:r>
              <a:rPr sz="2800" spc="-19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000000"/>
                </a:solidFill>
                <a:latin typeface="Arial MT"/>
                <a:cs typeface="Arial MT"/>
              </a:rPr>
              <a:t>Algorithm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955213" y="1278862"/>
            <a:ext cx="284480" cy="0"/>
          </a:xfrm>
          <a:custGeom>
            <a:avLst/>
            <a:gdLst/>
            <a:ahLst/>
            <a:cxnLst/>
            <a:rect l="l" t="t" r="r" b="b"/>
            <a:pathLst>
              <a:path w="284479">
                <a:moveTo>
                  <a:pt x="0" y="0"/>
                </a:moveTo>
                <a:lnTo>
                  <a:pt x="0" y="0"/>
                </a:lnTo>
                <a:lnTo>
                  <a:pt x="236826" y="0"/>
                </a:lnTo>
                <a:lnTo>
                  <a:pt x="284191" y="0"/>
                </a:lnTo>
              </a:path>
            </a:pathLst>
          </a:custGeom>
          <a:ln w="25400">
            <a:solidFill>
              <a:srgbClr val="DB332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7690" y="1151890"/>
            <a:ext cx="1171575" cy="653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7700"/>
              </a:lnSpc>
              <a:spcBef>
                <a:spcPts val="100"/>
              </a:spcBef>
            </a:pP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750" i="1" spc="60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←</a:t>
            </a:r>
            <a:r>
              <a:rPr sz="1750" spc="-1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spc="50" dirty="0">
                <a:solidFill>
                  <a:srgbClr val="213739"/>
                </a:solidFill>
                <a:latin typeface="Calibri"/>
                <a:cs typeface="Calibri"/>
              </a:rPr>
              <a:t>inputs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750" i="1" spc="5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← </a:t>
            </a:r>
            <a:r>
              <a:rPr sz="1750" i="1" spc="50" dirty="0">
                <a:solidFill>
                  <a:srgbClr val="213739"/>
                </a:solidFill>
                <a:latin typeface="Calibri"/>
                <a:cs typeface="Calibri"/>
              </a:rPr>
              <a:t>inputs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27707" y="1143380"/>
            <a:ext cx="473709" cy="653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275" marR="5080" indent="-29209">
              <a:lnSpc>
                <a:spcPct val="117700"/>
              </a:lnSpc>
              <a:spcBef>
                <a:spcPts val="100"/>
              </a:spcBef>
            </a:pPr>
            <a:r>
              <a:rPr sz="1750" i="1" spc="-20" dirty="0">
                <a:solidFill>
                  <a:srgbClr val="213739"/>
                </a:solidFill>
                <a:latin typeface="Calibri"/>
                <a:cs typeface="Calibri"/>
              </a:rPr>
              <a:t>with with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92172" y="1161860"/>
            <a:ext cx="895350" cy="66103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0"/>
              </a:spcBef>
              <a:tabLst>
                <a:tab pos="684530" algn="l"/>
              </a:tabLst>
            </a:pP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label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;</a:t>
            </a:r>
            <a:endParaRPr sz="1750">
              <a:latin typeface="Arial MT"/>
              <a:cs typeface="Arial MT"/>
            </a:endParaRPr>
          </a:p>
          <a:p>
            <a:pPr marL="41275">
              <a:lnSpc>
                <a:spcPct val="100000"/>
              </a:lnSpc>
              <a:spcBef>
                <a:spcPts val="400"/>
              </a:spcBef>
              <a:tabLst>
                <a:tab pos="713740" algn="l"/>
              </a:tabLst>
            </a:pP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label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;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93852" y="2496311"/>
            <a:ext cx="0" cy="2197100"/>
          </a:xfrm>
          <a:custGeom>
            <a:avLst/>
            <a:gdLst/>
            <a:ahLst/>
            <a:cxnLst/>
            <a:rect l="l" t="t" r="r" b="b"/>
            <a:pathLst>
              <a:path h="2197100">
                <a:moveTo>
                  <a:pt x="0" y="2196719"/>
                </a:moveTo>
                <a:lnTo>
                  <a:pt x="0" y="0"/>
                </a:lnTo>
              </a:path>
            </a:pathLst>
          </a:custGeom>
          <a:ln w="5053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29602" y="3123945"/>
            <a:ext cx="0" cy="314325"/>
          </a:xfrm>
          <a:custGeom>
            <a:avLst/>
            <a:gdLst/>
            <a:ahLst/>
            <a:cxnLst/>
            <a:rect l="l" t="t" r="r" b="b"/>
            <a:pathLst>
              <a:path h="314325">
                <a:moveTo>
                  <a:pt x="0" y="313816"/>
                </a:moveTo>
                <a:lnTo>
                  <a:pt x="0" y="0"/>
                </a:lnTo>
              </a:path>
            </a:pathLst>
          </a:custGeom>
          <a:ln w="5053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29602" y="4065396"/>
            <a:ext cx="0" cy="314325"/>
          </a:xfrm>
          <a:custGeom>
            <a:avLst/>
            <a:gdLst/>
            <a:ahLst/>
            <a:cxnLst/>
            <a:rect l="l" t="t" r="r" b="b"/>
            <a:pathLst>
              <a:path h="314325">
                <a:moveTo>
                  <a:pt x="0" y="313816"/>
                </a:moveTo>
                <a:lnTo>
                  <a:pt x="0" y="0"/>
                </a:lnTo>
              </a:path>
            </a:pathLst>
          </a:custGeom>
          <a:ln w="5053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67690" y="1794118"/>
            <a:ext cx="3406140" cy="377507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Initialize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1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randomly;</a:t>
            </a:r>
            <a:endParaRPr sz="17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1750" b="1" spc="-114" dirty="0">
                <a:solidFill>
                  <a:srgbClr val="213739"/>
                </a:solidFill>
                <a:latin typeface="Trebuchet MS"/>
                <a:cs typeface="Trebuchet MS"/>
              </a:rPr>
              <a:t>while</a:t>
            </a:r>
            <a:r>
              <a:rPr sz="1750" b="1" spc="-20" dirty="0">
                <a:solidFill>
                  <a:srgbClr val="213739"/>
                </a:solidFill>
                <a:latin typeface="Trebuchet MS"/>
                <a:cs typeface="Trebuchet MS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!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convergence</a:t>
            </a:r>
            <a:r>
              <a:rPr sz="1750" i="1" spc="10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spc="-25" dirty="0">
                <a:solidFill>
                  <a:srgbClr val="213739"/>
                </a:solidFill>
                <a:latin typeface="Trebuchet MS"/>
                <a:cs typeface="Trebuchet MS"/>
              </a:rPr>
              <a:t>do</a:t>
            </a:r>
            <a:endParaRPr sz="1750">
              <a:latin typeface="Trebuchet MS"/>
              <a:cs typeface="Trebuchet MS"/>
            </a:endParaRPr>
          </a:p>
          <a:p>
            <a:pPr marL="347980">
              <a:lnSpc>
                <a:spcPct val="100000"/>
              </a:lnSpc>
              <a:spcBef>
                <a:spcPts val="275"/>
              </a:spcBef>
            </a:pP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Pick</a:t>
            </a:r>
            <a:r>
              <a:rPr sz="1750" spc="-1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random</a:t>
            </a:r>
            <a:r>
              <a:rPr sz="1750" spc="-1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7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∈</a:t>
            </a:r>
            <a:r>
              <a:rPr sz="1750" spc="-30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750" i="1" spc="48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∪</a:t>
            </a:r>
            <a:r>
              <a:rPr sz="1750" spc="-40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750" i="1" spc="48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;</a:t>
            </a:r>
            <a:endParaRPr sz="1750">
              <a:latin typeface="Arial MT"/>
              <a:cs typeface="Arial MT"/>
            </a:endParaRPr>
          </a:p>
          <a:p>
            <a:pPr marL="347980">
              <a:lnSpc>
                <a:spcPct val="100000"/>
              </a:lnSpc>
              <a:spcBef>
                <a:spcPts val="395"/>
              </a:spcBef>
              <a:tabLst>
                <a:tab pos="1326515" algn="l"/>
                <a:tab pos="1910080" algn="l"/>
              </a:tabLst>
            </a:pPr>
            <a:r>
              <a:rPr sz="1750" b="1" spc="-65" dirty="0">
                <a:solidFill>
                  <a:srgbClr val="213739"/>
                </a:solidFill>
                <a:latin typeface="Trebuchet MS"/>
                <a:cs typeface="Trebuchet MS"/>
              </a:rPr>
              <a:t>if</a:t>
            </a:r>
            <a:r>
              <a:rPr sz="1750" b="1" spc="-155" dirty="0">
                <a:solidFill>
                  <a:srgbClr val="213739"/>
                </a:solidFill>
                <a:latin typeface="Trebuchet MS"/>
                <a:cs typeface="Trebuchet MS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6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∈</a:t>
            </a:r>
            <a:r>
              <a:rPr sz="1750" spc="-32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and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b="1" spc="8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i="1" spc="85" dirty="0">
                <a:solidFill>
                  <a:srgbClr val="213739"/>
                </a:solidFill>
                <a:latin typeface="Calibri"/>
                <a:cs typeface="Calibri"/>
              </a:rPr>
              <a:t>.</a:t>
            </a:r>
            <a:r>
              <a:rPr sz="1750" b="1" spc="8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20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spc="70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1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spc="-20" dirty="0">
                <a:solidFill>
                  <a:srgbClr val="213739"/>
                </a:solidFill>
                <a:latin typeface="Trebuchet MS"/>
                <a:cs typeface="Trebuchet MS"/>
              </a:rPr>
              <a:t>then</a:t>
            </a:r>
            <a:endParaRPr sz="1750">
              <a:latin typeface="Trebuchet MS"/>
              <a:cs typeface="Trebuchet MS"/>
            </a:endParaRPr>
          </a:p>
          <a:p>
            <a:pPr marL="683260">
              <a:lnSpc>
                <a:spcPct val="100000"/>
              </a:lnSpc>
              <a:spcBef>
                <a:spcPts val="495"/>
              </a:spcBef>
            </a:pP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2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7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3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+</a:t>
            </a:r>
            <a:r>
              <a:rPr sz="1750" spc="44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25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;</a:t>
            </a:r>
            <a:endParaRPr sz="1750">
              <a:latin typeface="Arial MT"/>
              <a:cs typeface="Arial MT"/>
            </a:endParaRPr>
          </a:p>
          <a:p>
            <a:pPr marL="347980">
              <a:lnSpc>
                <a:spcPct val="100000"/>
              </a:lnSpc>
              <a:spcBef>
                <a:spcPts val="434"/>
              </a:spcBef>
            </a:pPr>
            <a:r>
              <a:rPr sz="1750" b="1" spc="-25" dirty="0">
                <a:solidFill>
                  <a:srgbClr val="213739"/>
                </a:solidFill>
                <a:latin typeface="Trebuchet MS"/>
                <a:cs typeface="Trebuchet MS"/>
              </a:rPr>
              <a:t>end</a:t>
            </a:r>
            <a:endParaRPr sz="1750">
              <a:latin typeface="Trebuchet MS"/>
              <a:cs typeface="Trebuchet MS"/>
            </a:endParaRPr>
          </a:p>
          <a:p>
            <a:pPr marL="347980">
              <a:lnSpc>
                <a:spcPct val="100000"/>
              </a:lnSpc>
              <a:spcBef>
                <a:spcPts val="250"/>
              </a:spcBef>
              <a:tabLst>
                <a:tab pos="1356995" algn="l"/>
                <a:tab pos="1939289" algn="l"/>
              </a:tabLst>
            </a:pPr>
            <a:r>
              <a:rPr sz="1750" b="1" spc="-65" dirty="0">
                <a:solidFill>
                  <a:srgbClr val="213739"/>
                </a:solidFill>
                <a:latin typeface="Trebuchet MS"/>
                <a:cs typeface="Trebuchet MS"/>
              </a:rPr>
              <a:t>if</a:t>
            </a:r>
            <a:r>
              <a:rPr sz="1750" b="1" spc="-155" dirty="0">
                <a:solidFill>
                  <a:srgbClr val="213739"/>
                </a:solidFill>
                <a:latin typeface="Trebuchet MS"/>
                <a:cs typeface="Trebuchet MS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6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∈</a:t>
            </a:r>
            <a:r>
              <a:rPr sz="1750" spc="-32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and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b="1" spc="8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i="1" spc="85" dirty="0">
                <a:solidFill>
                  <a:srgbClr val="213739"/>
                </a:solidFill>
                <a:latin typeface="Calibri"/>
                <a:cs typeface="Calibri"/>
              </a:rPr>
              <a:t>.</a:t>
            </a:r>
            <a:r>
              <a:rPr sz="1750" b="1" spc="8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18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≥</a:t>
            </a:r>
            <a:r>
              <a:rPr sz="1750" spc="-11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-2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spc="-20" dirty="0">
                <a:solidFill>
                  <a:srgbClr val="213739"/>
                </a:solidFill>
                <a:latin typeface="Trebuchet MS"/>
                <a:cs typeface="Trebuchet MS"/>
              </a:rPr>
              <a:t>then</a:t>
            </a:r>
            <a:endParaRPr sz="1750">
              <a:latin typeface="Trebuchet MS"/>
              <a:cs typeface="Trebuchet MS"/>
            </a:endParaRPr>
          </a:p>
          <a:p>
            <a:pPr marL="683260">
              <a:lnSpc>
                <a:spcPct val="100000"/>
              </a:lnSpc>
              <a:spcBef>
                <a:spcPts val="395"/>
              </a:spcBef>
            </a:pP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1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7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4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−</a:t>
            </a:r>
            <a:r>
              <a:rPr sz="1750" spc="-23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26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;</a:t>
            </a:r>
            <a:endParaRPr sz="1750">
              <a:latin typeface="Arial MT"/>
              <a:cs typeface="Arial MT"/>
            </a:endParaRPr>
          </a:p>
          <a:p>
            <a:pPr marL="12700" marR="2703195" indent="335280">
              <a:lnSpc>
                <a:spcPts val="2590"/>
              </a:lnSpc>
              <a:spcBef>
                <a:spcPts val="75"/>
              </a:spcBef>
            </a:pPr>
            <a:r>
              <a:rPr sz="1750" b="1" spc="-125" dirty="0">
                <a:solidFill>
                  <a:srgbClr val="213739"/>
                </a:solidFill>
                <a:latin typeface="Trebuchet MS"/>
                <a:cs typeface="Trebuchet MS"/>
              </a:rPr>
              <a:t>end </a:t>
            </a:r>
            <a:r>
              <a:rPr sz="1750" b="1" spc="-25" dirty="0">
                <a:solidFill>
                  <a:srgbClr val="213739"/>
                </a:solidFill>
                <a:latin typeface="Trebuchet MS"/>
                <a:cs typeface="Trebuchet MS"/>
              </a:rPr>
              <a:t>end</a:t>
            </a:r>
            <a:endParaRPr sz="1750">
              <a:latin typeface="Trebuchet MS"/>
              <a:cs typeface="Trebuchet MS"/>
            </a:endParaRPr>
          </a:p>
          <a:p>
            <a:pPr marL="12700" marR="5080">
              <a:lnSpc>
                <a:spcPts val="2090"/>
              </a:lnSpc>
              <a:spcBef>
                <a:spcPts val="370"/>
              </a:spcBef>
            </a:pP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//the</a:t>
            </a:r>
            <a:r>
              <a:rPr sz="1750" spc="-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algorithm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converges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when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all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the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inputs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7418" y="5595010"/>
            <a:ext cx="201930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are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classified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correctly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80618" y="5663781"/>
            <a:ext cx="4396105" cy="0"/>
          </a:xfrm>
          <a:custGeom>
            <a:avLst/>
            <a:gdLst/>
            <a:ahLst/>
            <a:cxnLst/>
            <a:rect l="l" t="t" r="r" b="b"/>
            <a:pathLst>
              <a:path w="4396105">
                <a:moveTo>
                  <a:pt x="0" y="0"/>
                </a:moveTo>
                <a:lnTo>
                  <a:pt x="4396105" y="0"/>
                </a:lnTo>
              </a:path>
            </a:pathLst>
          </a:custGeom>
          <a:ln w="10121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644394" y="5658103"/>
            <a:ext cx="408940" cy="2197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2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250" b="1" spc="-15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425" i="1" baseline="23391" dirty="0">
                <a:solidFill>
                  <a:srgbClr val="213739"/>
                </a:solidFill>
                <a:latin typeface="Georgia"/>
                <a:cs typeface="Georgia"/>
              </a:rPr>
              <a:t>T</a:t>
            </a:r>
            <a:r>
              <a:rPr sz="1425" i="1" spc="187" baseline="23391" dirty="0">
                <a:solidFill>
                  <a:srgbClr val="213739"/>
                </a:solidFill>
                <a:latin typeface="Georgia"/>
                <a:cs typeface="Georgia"/>
              </a:rPr>
              <a:t> </a:t>
            </a:r>
            <a:r>
              <a:rPr sz="1250" b="1" spc="-5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550922" y="5913386"/>
            <a:ext cx="628015" cy="0"/>
          </a:xfrm>
          <a:custGeom>
            <a:avLst/>
            <a:gdLst/>
            <a:ahLst/>
            <a:cxnLst/>
            <a:rect l="l" t="t" r="r" b="b"/>
            <a:pathLst>
              <a:path w="628014">
                <a:moveTo>
                  <a:pt x="0" y="0"/>
                </a:moveTo>
                <a:lnTo>
                  <a:pt x="627633" y="0"/>
                </a:lnTo>
              </a:path>
            </a:pathLst>
          </a:custGeom>
          <a:ln w="4559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582158" y="895604"/>
            <a:ext cx="3210560" cy="1575435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4604" marR="5080" indent="-2540" algn="just">
              <a:lnSpc>
                <a:spcPct val="116799"/>
              </a:lnSpc>
              <a:spcBef>
                <a:spcPts val="40"/>
              </a:spcBef>
            </a:pP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For</a:t>
            </a:r>
            <a:r>
              <a:rPr sz="1750" spc="-2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spc="-1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6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5" dirty="0">
                <a:solidFill>
                  <a:srgbClr val="213739"/>
                </a:solidFill>
                <a:latin typeface="Lucida Sans Unicode"/>
                <a:cs typeface="Lucida Sans Unicode"/>
              </a:rPr>
              <a:t>∈</a:t>
            </a:r>
            <a:r>
              <a:rPr sz="1750" spc="-29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750" i="1" spc="48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if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spc="8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i="1" spc="85" dirty="0">
                <a:solidFill>
                  <a:srgbClr val="213739"/>
                </a:solidFill>
                <a:latin typeface="Calibri"/>
                <a:cs typeface="Calibri"/>
              </a:rPr>
              <a:t>.</a:t>
            </a:r>
            <a:r>
              <a:rPr sz="1750" b="1" spc="8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24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spc="58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1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then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it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means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that</a:t>
            </a:r>
            <a:r>
              <a:rPr sz="1750" spc="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angle</a:t>
            </a:r>
            <a:r>
              <a:rPr sz="1750" spc="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α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)</a:t>
            </a:r>
            <a:r>
              <a:rPr sz="1750" spc="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between</a:t>
            </a:r>
            <a:r>
              <a:rPr sz="1750" spc="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this</a:t>
            </a:r>
            <a:r>
              <a:rPr sz="1750" spc="11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spc="-1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-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750" spc="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5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current</a:t>
            </a:r>
            <a:r>
              <a:rPr sz="1750" spc="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spc="-1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4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is</a:t>
            </a:r>
            <a:r>
              <a:rPr sz="1750" spc="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greater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than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90° (but</a:t>
            </a:r>
            <a:r>
              <a:rPr sz="1750" spc="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want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α</a:t>
            </a:r>
            <a:r>
              <a:rPr sz="1750" i="1" spc="20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be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less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than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90°)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941957" y="5810351"/>
            <a:ext cx="493395" cy="187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5"/>
              </a:lnSpc>
            </a:pPr>
            <a:r>
              <a:rPr sz="1250" i="1" dirty="0">
                <a:solidFill>
                  <a:srgbClr val="213739"/>
                </a:solidFill>
                <a:latin typeface="Calibri"/>
                <a:cs typeface="Calibri"/>
              </a:rPr>
              <a:t>cosα</a:t>
            </a:r>
            <a:r>
              <a:rPr sz="1250" i="1" spc="40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250" spc="-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781415" y="5588609"/>
            <a:ext cx="196215" cy="2197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50" spc="-25" dirty="0">
                <a:solidFill>
                  <a:srgbClr val="213739"/>
                </a:solidFill>
                <a:latin typeface="Arial MT"/>
                <a:cs typeface="Arial MT"/>
              </a:rPr>
              <a:t>37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15" name="object 15" descr="$PPTXTitle"/>
          <p:cNvSpPr txBox="1">
            <a:spLocks noGrp="1"/>
          </p:cNvSpPr>
          <p:nvPr>
            <p:ph type="title"/>
          </p:nvPr>
        </p:nvSpPr>
        <p:spPr>
          <a:xfrm>
            <a:off x="1232712" y="202133"/>
            <a:ext cx="60204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10" dirty="0">
                <a:solidFill>
                  <a:srgbClr val="000000"/>
                </a:solidFill>
                <a:latin typeface="Calibri"/>
                <a:cs typeface="Calibri"/>
              </a:rPr>
              <a:t>Algorithm:</a:t>
            </a:r>
            <a:r>
              <a:rPr sz="2800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114" dirty="0">
                <a:solidFill>
                  <a:srgbClr val="000000"/>
                </a:solidFill>
                <a:latin typeface="Arial MT"/>
                <a:cs typeface="Arial MT"/>
              </a:rPr>
              <a:t>Perceptron</a:t>
            </a:r>
            <a:r>
              <a:rPr sz="2800" spc="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800" spc="-125" dirty="0">
                <a:solidFill>
                  <a:srgbClr val="000000"/>
                </a:solidFill>
                <a:latin typeface="Arial MT"/>
                <a:cs typeface="Arial MT"/>
              </a:rPr>
              <a:t>Learning</a:t>
            </a:r>
            <a:r>
              <a:rPr sz="2800" spc="-19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000000"/>
                </a:solidFill>
                <a:latin typeface="Arial MT"/>
                <a:cs typeface="Arial MT"/>
              </a:rPr>
              <a:t>Algorithm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7690" y="1151890"/>
            <a:ext cx="1171575" cy="653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7700"/>
              </a:lnSpc>
              <a:spcBef>
                <a:spcPts val="100"/>
              </a:spcBef>
            </a:pP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750" i="1" spc="60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←</a:t>
            </a:r>
            <a:r>
              <a:rPr sz="1750" spc="-1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spc="50" dirty="0">
                <a:solidFill>
                  <a:srgbClr val="213739"/>
                </a:solidFill>
                <a:latin typeface="Calibri"/>
                <a:cs typeface="Calibri"/>
              </a:rPr>
              <a:t>inputs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750" i="1" spc="5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← </a:t>
            </a:r>
            <a:r>
              <a:rPr sz="1750" i="1" spc="50" dirty="0">
                <a:solidFill>
                  <a:srgbClr val="213739"/>
                </a:solidFill>
                <a:latin typeface="Calibri"/>
                <a:cs typeface="Calibri"/>
              </a:rPr>
              <a:t>inputs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27707" y="1143380"/>
            <a:ext cx="473709" cy="653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275" marR="5080" indent="-29209">
              <a:lnSpc>
                <a:spcPct val="117700"/>
              </a:lnSpc>
              <a:spcBef>
                <a:spcPts val="100"/>
              </a:spcBef>
            </a:pPr>
            <a:r>
              <a:rPr sz="1750" i="1" spc="-20" dirty="0">
                <a:solidFill>
                  <a:srgbClr val="213739"/>
                </a:solidFill>
                <a:latin typeface="Calibri"/>
                <a:cs typeface="Calibri"/>
              </a:rPr>
              <a:t>with with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92172" y="1161860"/>
            <a:ext cx="895350" cy="66103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0"/>
              </a:spcBef>
              <a:tabLst>
                <a:tab pos="684530" algn="l"/>
              </a:tabLst>
            </a:pP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label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;</a:t>
            </a:r>
            <a:endParaRPr sz="1750">
              <a:latin typeface="Arial MT"/>
              <a:cs typeface="Arial MT"/>
            </a:endParaRPr>
          </a:p>
          <a:p>
            <a:pPr marL="41275">
              <a:lnSpc>
                <a:spcPct val="100000"/>
              </a:lnSpc>
              <a:spcBef>
                <a:spcPts val="400"/>
              </a:spcBef>
              <a:tabLst>
                <a:tab pos="713740" algn="l"/>
              </a:tabLst>
            </a:pP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label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;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93852" y="2496311"/>
            <a:ext cx="0" cy="2197100"/>
          </a:xfrm>
          <a:custGeom>
            <a:avLst/>
            <a:gdLst/>
            <a:ahLst/>
            <a:cxnLst/>
            <a:rect l="l" t="t" r="r" b="b"/>
            <a:pathLst>
              <a:path h="2197100">
                <a:moveTo>
                  <a:pt x="0" y="2196719"/>
                </a:moveTo>
                <a:lnTo>
                  <a:pt x="0" y="0"/>
                </a:lnTo>
              </a:path>
            </a:pathLst>
          </a:custGeom>
          <a:ln w="5053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29602" y="3123945"/>
            <a:ext cx="0" cy="314325"/>
          </a:xfrm>
          <a:custGeom>
            <a:avLst/>
            <a:gdLst/>
            <a:ahLst/>
            <a:cxnLst/>
            <a:rect l="l" t="t" r="r" b="b"/>
            <a:pathLst>
              <a:path h="314325">
                <a:moveTo>
                  <a:pt x="0" y="313816"/>
                </a:moveTo>
                <a:lnTo>
                  <a:pt x="0" y="0"/>
                </a:lnTo>
              </a:path>
            </a:pathLst>
          </a:custGeom>
          <a:ln w="5053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29602" y="4065396"/>
            <a:ext cx="0" cy="314325"/>
          </a:xfrm>
          <a:custGeom>
            <a:avLst/>
            <a:gdLst/>
            <a:ahLst/>
            <a:cxnLst/>
            <a:rect l="l" t="t" r="r" b="b"/>
            <a:pathLst>
              <a:path h="314325">
                <a:moveTo>
                  <a:pt x="0" y="313816"/>
                </a:moveTo>
                <a:lnTo>
                  <a:pt x="0" y="0"/>
                </a:lnTo>
              </a:path>
            </a:pathLst>
          </a:custGeom>
          <a:ln w="5053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67690" y="1794118"/>
            <a:ext cx="4022725" cy="3792220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Initialize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1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randomly;</a:t>
            </a:r>
            <a:endParaRPr sz="17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1750" b="1" spc="-114" dirty="0">
                <a:solidFill>
                  <a:srgbClr val="213739"/>
                </a:solidFill>
                <a:latin typeface="Trebuchet MS"/>
                <a:cs typeface="Trebuchet MS"/>
              </a:rPr>
              <a:t>while</a:t>
            </a:r>
            <a:r>
              <a:rPr sz="1750" b="1" spc="-20" dirty="0">
                <a:solidFill>
                  <a:srgbClr val="213739"/>
                </a:solidFill>
                <a:latin typeface="Trebuchet MS"/>
                <a:cs typeface="Trebuchet MS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!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convergence</a:t>
            </a:r>
            <a:r>
              <a:rPr sz="1750" i="1" spc="10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spc="-25" dirty="0">
                <a:solidFill>
                  <a:srgbClr val="213739"/>
                </a:solidFill>
                <a:latin typeface="Trebuchet MS"/>
                <a:cs typeface="Trebuchet MS"/>
              </a:rPr>
              <a:t>do</a:t>
            </a:r>
            <a:endParaRPr sz="1750">
              <a:latin typeface="Trebuchet MS"/>
              <a:cs typeface="Trebuchet MS"/>
            </a:endParaRPr>
          </a:p>
          <a:p>
            <a:pPr marL="347980">
              <a:lnSpc>
                <a:spcPct val="100000"/>
              </a:lnSpc>
              <a:spcBef>
                <a:spcPts val="275"/>
              </a:spcBef>
            </a:pP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Pick</a:t>
            </a:r>
            <a:r>
              <a:rPr sz="1750" spc="-1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random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7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∈</a:t>
            </a:r>
            <a:r>
              <a:rPr sz="1750" spc="-30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750" i="1" spc="48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∪</a:t>
            </a:r>
            <a:r>
              <a:rPr sz="1750" spc="-40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750" i="1" spc="48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;</a:t>
            </a:r>
            <a:endParaRPr sz="1750">
              <a:latin typeface="Arial MT"/>
              <a:cs typeface="Arial MT"/>
            </a:endParaRPr>
          </a:p>
          <a:p>
            <a:pPr marL="347980">
              <a:lnSpc>
                <a:spcPct val="100000"/>
              </a:lnSpc>
              <a:spcBef>
                <a:spcPts val="370"/>
              </a:spcBef>
              <a:tabLst>
                <a:tab pos="1326515" algn="l"/>
                <a:tab pos="1910080" algn="l"/>
              </a:tabLst>
            </a:pPr>
            <a:r>
              <a:rPr sz="1750" b="1" spc="-65" dirty="0">
                <a:solidFill>
                  <a:srgbClr val="213739"/>
                </a:solidFill>
                <a:latin typeface="Trebuchet MS"/>
                <a:cs typeface="Trebuchet MS"/>
              </a:rPr>
              <a:t>if</a:t>
            </a:r>
            <a:r>
              <a:rPr sz="1750" b="1" spc="-155" dirty="0">
                <a:solidFill>
                  <a:srgbClr val="213739"/>
                </a:solidFill>
                <a:latin typeface="Trebuchet MS"/>
                <a:cs typeface="Trebuchet MS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6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∈</a:t>
            </a:r>
            <a:r>
              <a:rPr sz="1750" spc="-32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and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b="1" spc="6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i="1" spc="60" dirty="0">
                <a:solidFill>
                  <a:srgbClr val="213739"/>
                </a:solidFill>
                <a:latin typeface="Calibri"/>
                <a:cs typeface="Calibri"/>
              </a:rPr>
              <a:t>.</a:t>
            </a:r>
            <a:r>
              <a:rPr sz="1750" i="1" spc="-24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20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spc="70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spc="-20" dirty="0">
                <a:solidFill>
                  <a:srgbClr val="213739"/>
                </a:solidFill>
                <a:latin typeface="Trebuchet MS"/>
                <a:cs typeface="Trebuchet MS"/>
              </a:rPr>
              <a:t>then</a:t>
            </a:r>
            <a:endParaRPr sz="1750">
              <a:latin typeface="Trebuchet MS"/>
              <a:cs typeface="Trebuchet MS"/>
            </a:endParaRPr>
          </a:p>
          <a:p>
            <a:pPr marL="683260">
              <a:lnSpc>
                <a:spcPct val="100000"/>
              </a:lnSpc>
              <a:spcBef>
                <a:spcPts val="470"/>
              </a:spcBef>
            </a:pP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2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7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3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+</a:t>
            </a:r>
            <a:r>
              <a:rPr sz="1750" spc="44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25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;</a:t>
            </a:r>
            <a:endParaRPr sz="1750">
              <a:latin typeface="Arial MT"/>
              <a:cs typeface="Arial MT"/>
            </a:endParaRPr>
          </a:p>
          <a:p>
            <a:pPr marL="347980">
              <a:lnSpc>
                <a:spcPct val="100000"/>
              </a:lnSpc>
              <a:spcBef>
                <a:spcPts val="445"/>
              </a:spcBef>
            </a:pPr>
            <a:r>
              <a:rPr sz="1750" b="1" spc="-25" dirty="0">
                <a:solidFill>
                  <a:srgbClr val="213739"/>
                </a:solidFill>
                <a:latin typeface="Trebuchet MS"/>
                <a:cs typeface="Trebuchet MS"/>
              </a:rPr>
              <a:t>end</a:t>
            </a:r>
            <a:endParaRPr sz="1750">
              <a:latin typeface="Trebuchet MS"/>
              <a:cs typeface="Trebuchet MS"/>
            </a:endParaRPr>
          </a:p>
          <a:p>
            <a:pPr marL="347980">
              <a:lnSpc>
                <a:spcPct val="100000"/>
              </a:lnSpc>
              <a:spcBef>
                <a:spcPts val="240"/>
              </a:spcBef>
              <a:tabLst>
                <a:tab pos="1355725" algn="l"/>
                <a:tab pos="1938020" algn="l"/>
              </a:tabLst>
            </a:pPr>
            <a:r>
              <a:rPr sz="1750" b="1" spc="-65" dirty="0">
                <a:solidFill>
                  <a:srgbClr val="213739"/>
                </a:solidFill>
                <a:latin typeface="Trebuchet MS"/>
                <a:cs typeface="Trebuchet MS"/>
              </a:rPr>
              <a:t>if</a:t>
            </a:r>
            <a:r>
              <a:rPr sz="1750" b="1" spc="-155" dirty="0">
                <a:solidFill>
                  <a:srgbClr val="213739"/>
                </a:solidFill>
                <a:latin typeface="Trebuchet MS"/>
                <a:cs typeface="Trebuchet MS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6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∈</a:t>
            </a:r>
            <a:r>
              <a:rPr sz="1750" spc="-32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and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b="1" spc="8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i="1" spc="85" dirty="0">
                <a:solidFill>
                  <a:srgbClr val="213739"/>
                </a:solidFill>
                <a:latin typeface="Calibri"/>
                <a:cs typeface="Calibri"/>
              </a:rPr>
              <a:t>.</a:t>
            </a:r>
            <a:r>
              <a:rPr sz="1750" b="1" spc="8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19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≥</a:t>
            </a:r>
            <a:r>
              <a:rPr sz="1750" spc="-11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-2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spc="-20" dirty="0">
                <a:solidFill>
                  <a:srgbClr val="213739"/>
                </a:solidFill>
                <a:latin typeface="Trebuchet MS"/>
                <a:cs typeface="Trebuchet MS"/>
              </a:rPr>
              <a:t>then</a:t>
            </a:r>
            <a:endParaRPr sz="1750">
              <a:latin typeface="Trebuchet MS"/>
              <a:cs typeface="Trebuchet MS"/>
            </a:endParaRPr>
          </a:p>
          <a:p>
            <a:pPr marL="683260">
              <a:lnSpc>
                <a:spcPct val="100000"/>
              </a:lnSpc>
              <a:spcBef>
                <a:spcPts val="395"/>
              </a:spcBef>
            </a:pP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1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7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4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−</a:t>
            </a:r>
            <a:r>
              <a:rPr sz="1750" spc="-23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26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;</a:t>
            </a:r>
            <a:endParaRPr sz="1750">
              <a:latin typeface="Arial MT"/>
              <a:cs typeface="Arial MT"/>
            </a:endParaRPr>
          </a:p>
          <a:p>
            <a:pPr marL="347980">
              <a:lnSpc>
                <a:spcPct val="100000"/>
              </a:lnSpc>
              <a:spcBef>
                <a:spcPts val="204"/>
              </a:spcBef>
            </a:pPr>
            <a:r>
              <a:rPr sz="1750" b="1" spc="-25" dirty="0">
                <a:solidFill>
                  <a:srgbClr val="213739"/>
                </a:solidFill>
                <a:latin typeface="Trebuchet MS"/>
                <a:cs typeface="Trebuchet MS"/>
              </a:rPr>
              <a:t>end</a:t>
            </a:r>
            <a:endParaRPr sz="1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750" b="1" spc="-25" dirty="0">
                <a:solidFill>
                  <a:srgbClr val="213739"/>
                </a:solidFill>
                <a:latin typeface="Trebuchet MS"/>
                <a:cs typeface="Trebuchet MS"/>
              </a:rPr>
              <a:t>end</a:t>
            </a:r>
            <a:endParaRPr sz="1750">
              <a:latin typeface="Trebuchet MS"/>
              <a:cs typeface="Trebuchet MS"/>
            </a:endParaRPr>
          </a:p>
          <a:p>
            <a:pPr marL="121920" marR="5080" indent="-109855">
              <a:lnSpc>
                <a:spcPct val="117700"/>
              </a:lnSpc>
              <a:spcBef>
                <a:spcPts val="35"/>
              </a:spcBef>
            </a:pP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//the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algorithm 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converges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when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all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inputs 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are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classified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correctly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80618" y="5663781"/>
            <a:ext cx="4396105" cy="0"/>
          </a:xfrm>
          <a:custGeom>
            <a:avLst/>
            <a:gdLst/>
            <a:ahLst/>
            <a:cxnLst/>
            <a:rect l="l" t="t" r="r" b="b"/>
            <a:pathLst>
              <a:path w="4396105">
                <a:moveTo>
                  <a:pt x="0" y="0"/>
                </a:moveTo>
                <a:lnTo>
                  <a:pt x="4396105" y="0"/>
                </a:lnTo>
              </a:path>
            </a:pathLst>
          </a:custGeom>
          <a:ln w="10121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644394" y="5658103"/>
            <a:ext cx="408940" cy="2197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2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250" b="1" spc="-15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425" i="1" baseline="23391" dirty="0">
                <a:solidFill>
                  <a:srgbClr val="213739"/>
                </a:solidFill>
                <a:latin typeface="Georgia"/>
                <a:cs typeface="Georgia"/>
              </a:rPr>
              <a:t>T</a:t>
            </a:r>
            <a:r>
              <a:rPr sz="1425" i="1" spc="187" baseline="23391" dirty="0">
                <a:solidFill>
                  <a:srgbClr val="213739"/>
                </a:solidFill>
                <a:latin typeface="Georgia"/>
                <a:cs typeface="Georgia"/>
              </a:rPr>
              <a:t> </a:t>
            </a:r>
            <a:r>
              <a:rPr sz="1250" b="1" spc="-5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550922" y="5913386"/>
            <a:ext cx="628015" cy="0"/>
          </a:xfrm>
          <a:custGeom>
            <a:avLst/>
            <a:gdLst/>
            <a:ahLst/>
            <a:cxnLst/>
            <a:rect l="l" t="t" r="r" b="b"/>
            <a:pathLst>
              <a:path w="628014">
                <a:moveTo>
                  <a:pt x="0" y="0"/>
                </a:moveTo>
                <a:lnTo>
                  <a:pt x="627633" y="0"/>
                </a:lnTo>
              </a:path>
            </a:pathLst>
          </a:custGeom>
          <a:ln w="4559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520816" y="895604"/>
            <a:ext cx="3297554" cy="226568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76200" marR="30480" indent="-2540" algn="just">
              <a:lnSpc>
                <a:spcPct val="116799"/>
              </a:lnSpc>
              <a:spcBef>
                <a:spcPts val="40"/>
              </a:spcBef>
            </a:pP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For</a:t>
            </a:r>
            <a:r>
              <a:rPr sz="1750" spc="-2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spc="-1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6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5" dirty="0">
                <a:solidFill>
                  <a:srgbClr val="213739"/>
                </a:solidFill>
                <a:latin typeface="Lucida Sans Unicode"/>
                <a:cs typeface="Lucida Sans Unicode"/>
              </a:rPr>
              <a:t>∈</a:t>
            </a:r>
            <a:r>
              <a:rPr sz="1750" spc="-29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750" i="1" spc="48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if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spc="8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i="1" spc="85" dirty="0">
                <a:solidFill>
                  <a:srgbClr val="213739"/>
                </a:solidFill>
                <a:latin typeface="Calibri"/>
                <a:cs typeface="Calibri"/>
              </a:rPr>
              <a:t>.</a:t>
            </a:r>
            <a:r>
              <a:rPr sz="1750" b="1" spc="8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24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spc="58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1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then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it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means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that</a:t>
            </a:r>
            <a:r>
              <a:rPr sz="1750" spc="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angle</a:t>
            </a:r>
            <a:r>
              <a:rPr sz="1750" spc="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α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)</a:t>
            </a:r>
            <a:r>
              <a:rPr sz="1750" spc="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between</a:t>
            </a:r>
            <a:r>
              <a:rPr sz="1750" spc="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this</a:t>
            </a:r>
            <a:r>
              <a:rPr sz="1750" spc="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spc="-1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-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750" spc="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current</a:t>
            </a:r>
            <a:r>
              <a:rPr sz="1750" spc="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spc="-1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4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is</a:t>
            </a:r>
            <a:r>
              <a:rPr sz="1750" spc="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greater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than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90° (but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want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α</a:t>
            </a:r>
            <a:r>
              <a:rPr sz="1750" i="1" spc="20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1750" spc="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be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less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than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90°)</a:t>
            </a:r>
            <a:endParaRPr sz="1750">
              <a:latin typeface="Arial MT"/>
              <a:cs typeface="Arial MT"/>
            </a:endParaRPr>
          </a:p>
          <a:p>
            <a:pPr marL="76200" marR="34290" indent="-3175" algn="just">
              <a:lnSpc>
                <a:spcPct val="117700"/>
              </a:lnSpc>
              <a:spcBef>
                <a:spcPts val="495"/>
              </a:spcBef>
            </a:pP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What</a:t>
            </a:r>
            <a:r>
              <a:rPr sz="1750" spc="1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happens</a:t>
            </a:r>
            <a:r>
              <a:rPr sz="1750" spc="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1750" spc="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1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new</a:t>
            </a:r>
            <a:r>
              <a:rPr sz="1750" spc="1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angle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α</a:t>
            </a:r>
            <a:r>
              <a:rPr sz="1875" i="1" baseline="-8888" dirty="0">
                <a:solidFill>
                  <a:srgbClr val="213739"/>
                </a:solidFill>
                <a:latin typeface="Calibri"/>
                <a:cs typeface="Calibri"/>
              </a:rPr>
              <a:t>new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)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when </a:t>
            </a:r>
            <a:r>
              <a:rPr sz="1750" b="1" spc="10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b="1" spc="150" baseline="-8888" dirty="0">
                <a:solidFill>
                  <a:srgbClr val="213739"/>
                </a:solidFill>
                <a:latin typeface="Calibri"/>
                <a:cs typeface="Calibri"/>
              </a:rPr>
              <a:t>new</a:t>
            </a:r>
            <a:r>
              <a:rPr sz="1875" b="1" spc="735" baseline="-8888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12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1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+</a:t>
            </a:r>
            <a:r>
              <a:rPr sz="1750" spc="6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b="1" spc="-5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781415" y="5588609"/>
            <a:ext cx="196215" cy="2197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50" spc="-25" dirty="0">
                <a:solidFill>
                  <a:srgbClr val="213739"/>
                </a:solidFill>
                <a:latin typeface="Arial MT"/>
                <a:cs typeface="Arial MT"/>
              </a:rPr>
              <a:t>37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xfrm>
            <a:off x="1232712" y="202133"/>
            <a:ext cx="60204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10" dirty="0">
                <a:solidFill>
                  <a:srgbClr val="000000"/>
                </a:solidFill>
                <a:latin typeface="Calibri"/>
                <a:cs typeface="Calibri"/>
              </a:rPr>
              <a:t>Algorithm:</a:t>
            </a:r>
            <a:r>
              <a:rPr sz="2800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114" dirty="0">
                <a:solidFill>
                  <a:srgbClr val="000000"/>
                </a:solidFill>
                <a:latin typeface="Arial MT"/>
                <a:cs typeface="Arial MT"/>
              </a:rPr>
              <a:t>Perceptron</a:t>
            </a:r>
            <a:r>
              <a:rPr sz="2800" spc="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800" spc="-125" dirty="0">
                <a:solidFill>
                  <a:srgbClr val="000000"/>
                </a:solidFill>
                <a:latin typeface="Arial MT"/>
                <a:cs typeface="Arial MT"/>
              </a:rPr>
              <a:t>Learning</a:t>
            </a:r>
            <a:r>
              <a:rPr sz="2800" spc="-19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000000"/>
                </a:solidFill>
                <a:latin typeface="Arial MT"/>
                <a:cs typeface="Arial MT"/>
              </a:rPr>
              <a:t>Algorithm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941957" y="5810351"/>
            <a:ext cx="493395" cy="187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5"/>
              </a:lnSpc>
            </a:pPr>
            <a:r>
              <a:rPr sz="1250" i="1" dirty="0">
                <a:solidFill>
                  <a:srgbClr val="213739"/>
                </a:solidFill>
                <a:latin typeface="Calibri"/>
                <a:cs typeface="Calibri"/>
              </a:rPr>
              <a:t>cosα</a:t>
            </a:r>
            <a:r>
              <a:rPr sz="1250" i="1" spc="40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250" spc="-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endParaRPr sz="125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7690" y="1151890"/>
            <a:ext cx="1171575" cy="653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7700"/>
              </a:lnSpc>
              <a:spcBef>
                <a:spcPts val="100"/>
              </a:spcBef>
            </a:pP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750" i="1" spc="60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←</a:t>
            </a:r>
            <a:r>
              <a:rPr sz="1750" spc="-1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spc="50" dirty="0">
                <a:solidFill>
                  <a:srgbClr val="213739"/>
                </a:solidFill>
                <a:latin typeface="Calibri"/>
                <a:cs typeface="Calibri"/>
              </a:rPr>
              <a:t>inputs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750" i="1" spc="5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← </a:t>
            </a:r>
            <a:r>
              <a:rPr sz="1750" i="1" spc="50" dirty="0">
                <a:solidFill>
                  <a:srgbClr val="213739"/>
                </a:solidFill>
                <a:latin typeface="Calibri"/>
                <a:cs typeface="Calibri"/>
              </a:rPr>
              <a:t>inputs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27707" y="1143380"/>
            <a:ext cx="473709" cy="653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275" marR="5080" indent="-29209">
              <a:lnSpc>
                <a:spcPct val="117700"/>
              </a:lnSpc>
              <a:spcBef>
                <a:spcPts val="100"/>
              </a:spcBef>
            </a:pPr>
            <a:r>
              <a:rPr sz="1750" i="1" spc="-20" dirty="0">
                <a:solidFill>
                  <a:srgbClr val="213739"/>
                </a:solidFill>
                <a:latin typeface="Calibri"/>
                <a:cs typeface="Calibri"/>
              </a:rPr>
              <a:t>with with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92172" y="1161860"/>
            <a:ext cx="895350" cy="66103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0"/>
              </a:spcBef>
              <a:tabLst>
                <a:tab pos="684530" algn="l"/>
              </a:tabLst>
            </a:pP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label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;</a:t>
            </a:r>
            <a:endParaRPr sz="1750">
              <a:latin typeface="Arial MT"/>
              <a:cs typeface="Arial MT"/>
            </a:endParaRPr>
          </a:p>
          <a:p>
            <a:pPr marL="41275">
              <a:lnSpc>
                <a:spcPct val="100000"/>
              </a:lnSpc>
              <a:spcBef>
                <a:spcPts val="400"/>
              </a:spcBef>
              <a:tabLst>
                <a:tab pos="713740" algn="l"/>
              </a:tabLst>
            </a:pP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label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;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93852" y="2496311"/>
            <a:ext cx="0" cy="2197100"/>
          </a:xfrm>
          <a:custGeom>
            <a:avLst/>
            <a:gdLst/>
            <a:ahLst/>
            <a:cxnLst/>
            <a:rect l="l" t="t" r="r" b="b"/>
            <a:pathLst>
              <a:path h="2197100">
                <a:moveTo>
                  <a:pt x="0" y="2196719"/>
                </a:moveTo>
                <a:lnTo>
                  <a:pt x="0" y="0"/>
                </a:lnTo>
              </a:path>
            </a:pathLst>
          </a:custGeom>
          <a:ln w="5053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67690" y="1794118"/>
            <a:ext cx="3191510" cy="1268730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Initialize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1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randomly;</a:t>
            </a:r>
            <a:endParaRPr sz="17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1750" b="1" spc="-114" dirty="0">
                <a:solidFill>
                  <a:srgbClr val="213739"/>
                </a:solidFill>
                <a:latin typeface="Trebuchet MS"/>
                <a:cs typeface="Trebuchet MS"/>
              </a:rPr>
              <a:t>while</a:t>
            </a:r>
            <a:r>
              <a:rPr sz="1750" b="1" spc="-20" dirty="0">
                <a:solidFill>
                  <a:srgbClr val="213739"/>
                </a:solidFill>
                <a:latin typeface="Trebuchet MS"/>
                <a:cs typeface="Trebuchet MS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!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convergence</a:t>
            </a:r>
            <a:r>
              <a:rPr sz="1750" i="1" spc="10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spc="-25" dirty="0">
                <a:solidFill>
                  <a:srgbClr val="213739"/>
                </a:solidFill>
                <a:latin typeface="Trebuchet MS"/>
                <a:cs typeface="Trebuchet MS"/>
              </a:rPr>
              <a:t>do</a:t>
            </a:r>
            <a:endParaRPr sz="1750">
              <a:latin typeface="Trebuchet MS"/>
              <a:cs typeface="Trebuchet MS"/>
            </a:endParaRPr>
          </a:p>
          <a:p>
            <a:pPr marL="347980">
              <a:lnSpc>
                <a:spcPct val="100000"/>
              </a:lnSpc>
              <a:spcBef>
                <a:spcPts val="275"/>
              </a:spcBef>
            </a:pP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Pick</a:t>
            </a:r>
            <a:r>
              <a:rPr sz="1750" spc="-1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random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7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∈</a:t>
            </a:r>
            <a:r>
              <a:rPr sz="1750" spc="-30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750" i="1" spc="48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∪</a:t>
            </a:r>
            <a:r>
              <a:rPr sz="1750" spc="-40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750" i="1" spc="48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;</a:t>
            </a:r>
            <a:endParaRPr sz="1750">
              <a:latin typeface="Arial MT"/>
              <a:cs typeface="Arial MT"/>
            </a:endParaRPr>
          </a:p>
          <a:p>
            <a:pPr marL="347980">
              <a:lnSpc>
                <a:spcPct val="100000"/>
              </a:lnSpc>
              <a:spcBef>
                <a:spcPts val="370"/>
              </a:spcBef>
              <a:tabLst>
                <a:tab pos="1326515" algn="l"/>
                <a:tab pos="1910080" algn="l"/>
              </a:tabLst>
            </a:pPr>
            <a:r>
              <a:rPr sz="1750" b="1" spc="-65" dirty="0">
                <a:solidFill>
                  <a:srgbClr val="213739"/>
                </a:solidFill>
                <a:latin typeface="Trebuchet MS"/>
                <a:cs typeface="Trebuchet MS"/>
              </a:rPr>
              <a:t>if</a:t>
            </a:r>
            <a:r>
              <a:rPr sz="1750" b="1" spc="-155" dirty="0">
                <a:solidFill>
                  <a:srgbClr val="213739"/>
                </a:solidFill>
                <a:latin typeface="Trebuchet MS"/>
                <a:cs typeface="Trebuchet MS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6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∈</a:t>
            </a:r>
            <a:r>
              <a:rPr sz="1750" spc="-32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and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b="1" spc="6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i="1" spc="60" dirty="0">
                <a:solidFill>
                  <a:srgbClr val="213739"/>
                </a:solidFill>
                <a:latin typeface="Calibri"/>
                <a:cs typeface="Calibri"/>
              </a:rPr>
              <a:t>.</a:t>
            </a:r>
            <a:r>
              <a:rPr sz="1750" i="1" spc="-24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20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spc="70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spc="-70" dirty="0">
                <a:solidFill>
                  <a:srgbClr val="213739"/>
                </a:solidFill>
                <a:latin typeface="Trebuchet MS"/>
                <a:cs typeface="Trebuchet MS"/>
              </a:rPr>
              <a:t>then</a:t>
            </a:r>
            <a:endParaRPr sz="175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29602" y="3123945"/>
            <a:ext cx="0" cy="314325"/>
          </a:xfrm>
          <a:custGeom>
            <a:avLst/>
            <a:gdLst/>
            <a:ahLst/>
            <a:cxnLst/>
            <a:rect l="l" t="t" r="r" b="b"/>
            <a:pathLst>
              <a:path h="314325">
                <a:moveTo>
                  <a:pt x="0" y="313816"/>
                </a:moveTo>
                <a:lnTo>
                  <a:pt x="0" y="0"/>
                </a:lnTo>
              </a:path>
            </a:pathLst>
          </a:custGeom>
          <a:ln w="5053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29602" y="4065396"/>
            <a:ext cx="0" cy="314325"/>
          </a:xfrm>
          <a:custGeom>
            <a:avLst/>
            <a:gdLst/>
            <a:ahLst/>
            <a:cxnLst/>
            <a:rect l="l" t="t" r="r" b="b"/>
            <a:pathLst>
              <a:path h="314325">
                <a:moveTo>
                  <a:pt x="0" y="313816"/>
                </a:moveTo>
                <a:lnTo>
                  <a:pt x="0" y="0"/>
                </a:lnTo>
              </a:path>
            </a:pathLst>
          </a:custGeom>
          <a:ln w="5053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03580" y="3040125"/>
            <a:ext cx="1533525" cy="1285875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347980">
              <a:lnSpc>
                <a:spcPct val="100000"/>
              </a:lnSpc>
              <a:spcBef>
                <a:spcPts val="545"/>
              </a:spcBef>
            </a:pP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2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7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3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+</a:t>
            </a:r>
            <a:r>
              <a:rPr sz="1750" spc="44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25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;</a:t>
            </a:r>
            <a:endParaRPr sz="17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1750" b="1" spc="-25" dirty="0">
                <a:solidFill>
                  <a:srgbClr val="213739"/>
                </a:solidFill>
                <a:latin typeface="Trebuchet MS"/>
                <a:cs typeface="Trebuchet MS"/>
              </a:rPr>
              <a:t>end</a:t>
            </a:r>
            <a:endParaRPr sz="1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  <a:tabLst>
                <a:tab pos="1019810" algn="l"/>
              </a:tabLst>
            </a:pPr>
            <a:r>
              <a:rPr sz="1750" b="1" spc="-65" dirty="0">
                <a:solidFill>
                  <a:srgbClr val="213739"/>
                </a:solidFill>
                <a:latin typeface="Trebuchet MS"/>
                <a:cs typeface="Trebuchet MS"/>
              </a:rPr>
              <a:t>if</a:t>
            </a:r>
            <a:r>
              <a:rPr sz="1750" b="1" spc="-155" dirty="0">
                <a:solidFill>
                  <a:srgbClr val="213739"/>
                </a:solidFill>
                <a:latin typeface="Trebuchet MS"/>
                <a:cs typeface="Trebuchet MS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6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∈</a:t>
            </a:r>
            <a:r>
              <a:rPr sz="1750" spc="-32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and</a:t>
            </a:r>
            <a:endParaRPr sz="1750">
              <a:latin typeface="Calibri"/>
              <a:cs typeface="Calibri"/>
            </a:endParaRPr>
          </a:p>
          <a:p>
            <a:pPr marL="347980">
              <a:lnSpc>
                <a:spcPct val="100000"/>
              </a:lnSpc>
              <a:spcBef>
                <a:spcPts val="395"/>
              </a:spcBef>
            </a:pP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1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7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4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−</a:t>
            </a:r>
            <a:r>
              <a:rPr sz="1750" spc="-23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26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;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93111" y="3718305"/>
            <a:ext cx="129667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b="1" spc="8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i="1" spc="85" dirty="0">
                <a:solidFill>
                  <a:srgbClr val="213739"/>
                </a:solidFill>
                <a:latin typeface="Calibri"/>
                <a:cs typeface="Calibri"/>
              </a:rPr>
              <a:t>.</a:t>
            </a:r>
            <a:r>
              <a:rPr sz="1750" b="1" spc="8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19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≥</a:t>
            </a:r>
            <a:r>
              <a:rPr sz="1750" spc="-11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-2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spc="-55" dirty="0">
                <a:solidFill>
                  <a:srgbClr val="213739"/>
                </a:solidFill>
                <a:latin typeface="Trebuchet MS"/>
                <a:cs typeface="Trebuchet MS"/>
              </a:rPr>
              <a:t>then</a:t>
            </a:r>
            <a:endParaRPr sz="175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7690" y="4257801"/>
            <a:ext cx="4022725" cy="1328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320415" indent="335280">
              <a:lnSpc>
                <a:spcPct val="125699"/>
              </a:lnSpc>
              <a:spcBef>
                <a:spcPts val="100"/>
              </a:spcBef>
            </a:pPr>
            <a:r>
              <a:rPr sz="1750" b="1" spc="-120" dirty="0">
                <a:solidFill>
                  <a:srgbClr val="213739"/>
                </a:solidFill>
                <a:latin typeface="Trebuchet MS"/>
                <a:cs typeface="Trebuchet MS"/>
              </a:rPr>
              <a:t>end </a:t>
            </a:r>
            <a:r>
              <a:rPr sz="1750" b="1" spc="-25" dirty="0">
                <a:solidFill>
                  <a:srgbClr val="213739"/>
                </a:solidFill>
                <a:latin typeface="Trebuchet MS"/>
                <a:cs typeface="Trebuchet MS"/>
              </a:rPr>
              <a:t>end</a:t>
            </a:r>
            <a:endParaRPr sz="1750">
              <a:latin typeface="Trebuchet MS"/>
              <a:cs typeface="Trebuchet MS"/>
            </a:endParaRPr>
          </a:p>
          <a:p>
            <a:pPr marL="121920" marR="5080" indent="-109855">
              <a:lnSpc>
                <a:spcPct val="117700"/>
              </a:lnSpc>
              <a:spcBef>
                <a:spcPts val="35"/>
              </a:spcBef>
            </a:pP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//the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algorithm 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converges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when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all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inputs 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are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classified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correctly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80618" y="5663781"/>
            <a:ext cx="4396105" cy="0"/>
          </a:xfrm>
          <a:custGeom>
            <a:avLst/>
            <a:gdLst/>
            <a:ahLst/>
            <a:cxnLst/>
            <a:rect l="l" t="t" r="r" b="b"/>
            <a:pathLst>
              <a:path w="4396105">
                <a:moveTo>
                  <a:pt x="0" y="0"/>
                </a:moveTo>
                <a:lnTo>
                  <a:pt x="4396105" y="0"/>
                </a:lnTo>
              </a:path>
            </a:pathLst>
          </a:custGeom>
          <a:ln w="10121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941957" y="5769965"/>
            <a:ext cx="493395" cy="2197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50" i="1" dirty="0">
                <a:solidFill>
                  <a:srgbClr val="213739"/>
                </a:solidFill>
                <a:latin typeface="Calibri"/>
                <a:cs typeface="Calibri"/>
              </a:rPr>
              <a:t>cosα</a:t>
            </a:r>
            <a:r>
              <a:rPr sz="1250" i="1" spc="40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250" spc="-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644394" y="5658103"/>
            <a:ext cx="408940" cy="2197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2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250" b="1" spc="-15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425" i="1" baseline="23391" dirty="0">
                <a:solidFill>
                  <a:srgbClr val="213739"/>
                </a:solidFill>
                <a:latin typeface="Georgia"/>
                <a:cs typeface="Georgia"/>
              </a:rPr>
              <a:t>T</a:t>
            </a:r>
            <a:r>
              <a:rPr sz="1425" i="1" spc="187" baseline="23391" dirty="0">
                <a:solidFill>
                  <a:srgbClr val="213739"/>
                </a:solidFill>
                <a:latin typeface="Georgia"/>
                <a:cs typeface="Georgia"/>
              </a:rPr>
              <a:t> </a:t>
            </a:r>
            <a:r>
              <a:rPr sz="1250" b="1" spc="-5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550922" y="5913386"/>
            <a:ext cx="628015" cy="0"/>
          </a:xfrm>
          <a:custGeom>
            <a:avLst/>
            <a:gdLst/>
            <a:ahLst/>
            <a:cxnLst/>
            <a:rect l="l" t="t" r="r" b="b"/>
            <a:pathLst>
              <a:path w="628014">
                <a:moveTo>
                  <a:pt x="0" y="0"/>
                </a:moveTo>
                <a:lnTo>
                  <a:pt x="627633" y="0"/>
                </a:lnTo>
              </a:path>
            </a:pathLst>
          </a:custGeom>
          <a:ln w="4559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5555869" y="895604"/>
            <a:ext cx="3262629" cy="226568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40640" marR="30480" indent="-2540" algn="just">
              <a:lnSpc>
                <a:spcPct val="116799"/>
              </a:lnSpc>
              <a:spcBef>
                <a:spcPts val="40"/>
              </a:spcBef>
            </a:pP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For</a:t>
            </a:r>
            <a:r>
              <a:rPr sz="1750" spc="-2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spc="-1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6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5" dirty="0">
                <a:solidFill>
                  <a:srgbClr val="213739"/>
                </a:solidFill>
                <a:latin typeface="Lucida Sans Unicode"/>
                <a:cs typeface="Lucida Sans Unicode"/>
              </a:rPr>
              <a:t>∈</a:t>
            </a:r>
            <a:r>
              <a:rPr sz="1750" spc="-29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750" i="1" spc="48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if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spc="8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i="1" spc="85" dirty="0">
                <a:solidFill>
                  <a:srgbClr val="213739"/>
                </a:solidFill>
                <a:latin typeface="Calibri"/>
                <a:cs typeface="Calibri"/>
              </a:rPr>
              <a:t>.</a:t>
            </a:r>
            <a:r>
              <a:rPr sz="1750" b="1" spc="8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24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spc="58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1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then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it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means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that</a:t>
            </a:r>
            <a:r>
              <a:rPr sz="1750" spc="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angle</a:t>
            </a:r>
            <a:r>
              <a:rPr sz="1750" spc="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α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)</a:t>
            </a:r>
            <a:r>
              <a:rPr sz="1750" spc="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between</a:t>
            </a:r>
            <a:r>
              <a:rPr sz="1750" spc="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this</a:t>
            </a:r>
            <a:r>
              <a:rPr sz="1750" spc="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spc="-1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-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750" spc="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current</a:t>
            </a:r>
            <a:r>
              <a:rPr sz="1750" spc="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spc="-1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4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is</a:t>
            </a:r>
            <a:r>
              <a:rPr sz="1750" spc="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greater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than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90° (but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want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α</a:t>
            </a:r>
            <a:r>
              <a:rPr sz="1750" i="1" spc="20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1750" spc="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be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less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than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90°)</a:t>
            </a:r>
            <a:endParaRPr sz="1750">
              <a:latin typeface="Arial MT"/>
              <a:cs typeface="Arial MT"/>
            </a:endParaRPr>
          </a:p>
          <a:p>
            <a:pPr marL="40640" marR="34290" indent="-3175" algn="just">
              <a:lnSpc>
                <a:spcPct val="117700"/>
              </a:lnSpc>
              <a:spcBef>
                <a:spcPts val="495"/>
              </a:spcBef>
            </a:pP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What</a:t>
            </a:r>
            <a:r>
              <a:rPr sz="1750" spc="1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happens</a:t>
            </a:r>
            <a:r>
              <a:rPr sz="1750" spc="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1750" spc="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1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new</a:t>
            </a:r>
            <a:r>
              <a:rPr sz="1750" spc="1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angle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α</a:t>
            </a:r>
            <a:r>
              <a:rPr sz="1875" i="1" baseline="-8888" dirty="0">
                <a:solidFill>
                  <a:srgbClr val="213739"/>
                </a:solidFill>
                <a:latin typeface="Calibri"/>
                <a:cs typeface="Calibri"/>
              </a:rPr>
              <a:t>new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)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when </a:t>
            </a:r>
            <a:r>
              <a:rPr sz="1750" b="1" spc="10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b="1" spc="150" baseline="-8888" dirty="0">
                <a:solidFill>
                  <a:srgbClr val="213739"/>
                </a:solidFill>
                <a:latin typeface="Calibri"/>
                <a:cs typeface="Calibri"/>
              </a:rPr>
              <a:t>new</a:t>
            </a:r>
            <a:r>
              <a:rPr sz="1875" b="1" spc="735" baseline="-8888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12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1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+</a:t>
            </a:r>
            <a:r>
              <a:rPr sz="1750" spc="6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b="1" spc="-5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776209" y="3329762"/>
            <a:ext cx="217170" cy="3994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1160"/>
              </a:lnSpc>
              <a:spcBef>
                <a:spcPts val="125"/>
              </a:spcBef>
            </a:pPr>
            <a:r>
              <a:rPr sz="1250" i="1" spc="-50" dirty="0">
                <a:solidFill>
                  <a:srgbClr val="213739"/>
                </a:solidFill>
                <a:latin typeface="Calibri"/>
                <a:cs typeface="Calibri"/>
              </a:rPr>
              <a:t>T</a:t>
            </a:r>
            <a:endParaRPr sz="1250">
              <a:latin typeface="Calibri"/>
              <a:cs typeface="Calibri"/>
            </a:endParaRPr>
          </a:p>
          <a:p>
            <a:pPr marL="102235">
              <a:lnSpc>
                <a:spcPts val="1760"/>
              </a:lnSpc>
            </a:pPr>
            <a:r>
              <a:rPr sz="1750" b="1" spc="-5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523481" y="3520821"/>
            <a:ext cx="322580" cy="2197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50" i="1" spc="40" dirty="0">
                <a:solidFill>
                  <a:srgbClr val="213739"/>
                </a:solidFill>
                <a:latin typeface="Calibri"/>
                <a:cs typeface="Calibri"/>
              </a:rPr>
              <a:t>new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989701" y="3438525"/>
            <a:ext cx="140398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854075" algn="l"/>
              </a:tabLst>
            </a:pPr>
            <a:r>
              <a:rPr sz="1750" i="1" spc="45" dirty="0">
                <a:solidFill>
                  <a:srgbClr val="213739"/>
                </a:solidFill>
                <a:latin typeface="Calibri"/>
                <a:cs typeface="Calibri"/>
              </a:rPr>
              <a:t>cos</a:t>
            </a:r>
            <a:r>
              <a:rPr sz="1750" spc="45" dirty="0">
                <a:solidFill>
                  <a:srgbClr val="213739"/>
                </a:solidFill>
                <a:latin typeface="Calibri"/>
                <a:cs typeface="Calibri"/>
              </a:rPr>
              <a:t>(</a:t>
            </a:r>
            <a:r>
              <a:rPr sz="1750" i="1" spc="45" dirty="0">
                <a:solidFill>
                  <a:srgbClr val="213739"/>
                </a:solidFill>
                <a:latin typeface="Calibri"/>
                <a:cs typeface="Calibri"/>
              </a:rPr>
              <a:t>α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)</a:t>
            </a:r>
            <a:r>
              <a:rPr sz="1750" spc="21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Lucida Sans Unicode"/>
                <a:cs typeface="Lucida Sans Unicode"/>
              </a:rPr>
              <a:t>∝</a:t>
            </a:r>
            <a:r>
              <a:rPr sz="1750" spc="-39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b="1" spc="-5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384542" y="3520821"/>
            <a:ext cx="347345" cy="2197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50" b="1" spc="65" dirty="0">
                <a:solidFill>
                  <a:srgbClr val="213739"/>
                </a:solidFill>
                <a:latin typeface="Calibri"/>
                <a:cs typeface="Calibri"/>
              </a:rPr>
              <a:t>new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781415" y="5588609"/>
            <a:ext cx="196215" cy="2197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50" spc="-25" dirty="0">
                <a:solidFill>
                  <a:srgbClr val="213739"/>
                </a:solidFill>
                <a:latin typeface="Arial MT"/>
                <a:cs typeface="Arial MT"/>
              </a:rPr>
              <a:t>37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22" name="object 22" descr="$PPTXTitle"/>
          <p:cNvSpPr txBox="1">
            <a:spLocks noGrp="1"/>
          </p:cNvSpPr>
          <p:nvPr>
            <p:ph type="title"/>
          </p:nvPr>
        </p:nvSpPr>
        <p:spPr>
          <a:xfrm>
            <a:off x="1232712" y="202133"/>
            <a:ext cx="60204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10" dirty="0">
                <a:solidFill>
                  <a:srgbClr val="000000"/>
                </a:solidFill>
                <a:latin typeface="Calibri"/>
                <a:cs typeface="Calibri"/>
              </a:rPr>
              <a:t>Algorithm:</a:t>
            </a:r>
            <a:r>
              <a:rPr sz="2800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114" dirty="0">
                <a:solidFill>
                  <a:srgbClr val="000000"/>
                </a:solidFill>
                <a:latin typeface="Arial MT"/>
                <a:cs typeface="Arial MT"/>
              </a:rPr>
              <a:t>Perceptron</a:t>
            </a:r>
            <a:r>
              <a:rPr sz="2800" spc="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800" spc="-125" dirty="0">
                <a:solidFill>
                  <a:srgbClr val="000000"/>
                </a:solidFill>
                <a:latin typeface="Arial MT"/>
                <a:cs typeface="Arial MT"/>
              </a:rPr>
              <a:t>Learning</a:t>
            </a:r>
            <a:r>
              <a:rPr sz="2800" spc="-19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000000"/>
                </a:solidFill>
                <a:latin typeface="Arial MT"/>
                <a:cs typeface="Arial MT"/>
              </a:rPr>
              <a:t>Algorithm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7690" y="1151890"/>
            <a:ext cx="1171575" cy="653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7700"/>
              </a:lnSpc>
              <a:spcBef>
                <a:spcPts val="100"/>
              </a:spcBef>
            </a:pP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750" i="1" spc="60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←</a:t>
            </a:r>
            <a:r>
              <a:rPr sz="1750" spc="-1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spc="50" dirty="0">
                <a:solidFill>
                  <a:srgbClr val="213739"/>
                </a:solidFill>
                <a:latin typeface="Calibri"/>
                <a:cs typeface="Calibri"/>
              </a:rPr>
              <a:t>inputs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750" i="1" spc="5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← </a:t>
            </a:r>
            <a:r>
              <a:rPr sz="1750" i="1" spc="50" dirty="0">
                <a:solidFill>
                  <a:srgbClr val="213739"/>
                </a:solidFill>
                <a:latin typeface="Calibri"/>
                <a:cs typeface="Calibri"/>
              </a:rPr>
              <a:t>inputs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27707" y="1143380"/>
            <a:ext cx="473709" cy="653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275" marR="5080" indent="-29209">
              <a:lnSpc>
                <a:spcPct val="117700"/>
              </a:lnSpc>
              <a:spcBef>
                <a:spcPts val="100"/>
              </a:spcBef>
            </a:pPr>
            <a:r>
              <a:rPr sz="1750" i="1" spc="-20" dirty="0">
                <a:solidFill>
                  <a:srgbClr val="213739"/>
                </a:solidFill>
                <a:latin typeface="Calibri"/>
                <a:cs typeface="Calibri"/>
              </a:rPr>
              <a:t>with with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92172" y="1161860"/>
            <a:ext cx="895350" cy="66103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0"/>
              </a:spcBef>
              <a:tabLst>
                <a:tab pos="684530" algn="l"/>
              </a:tabLst>
            </a:pP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label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;</a:t>
            </a:r>
            <a:endParaRPr sz="1750">
              <a:latin typeface="Arial MT"/>
              <a:cs typeface="Arial MT"/>
            </a:endParaRPr>
          </a:p>
          <a:p>
            <a:pPr marL="41275">
              <a:lnSpc>
                <a:spcPct val="100000"/>
              </a:lnSpc>
              <a:spcBef>
                <a:spcPts val="400"/>
              </a:spcBef>
              <a:tabLst>
                <a:tab pos="713740" algn="l"/>
              </a:tabLst>
            </a:pP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label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;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93852" y="2496311"/>
            <a:ext cx="0" cy="2197100"/>
          </a:xfrm>
          <a:custGeom>
            <a:avLst/>
            <a:gdLst/>
            <a:ahLst/>
            <a:cxnLst/>
            <a:rect l="l" t="t" r="r" b="b"/>
            <a:pathLst>
              <a:path h="2197100">
                <a:moveTo>
                  <a:pt x="0" y="2196719"/>
                </a:moveTo>
                <a:lnTo>
                  <a:pt x="0" y="0"/>
                </a:lnTo>
              </a:path>
            </a:pathLst>
          </a:custGeom>
          <a:ln w="5053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67690" y="1794118"/>
            <a:ext cx="3191510" cy="1268730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Initialize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1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randomly;</a:t>
            </a:r>
            <a:endParaRPr sz="17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1750" b="1" spc="-114" dirty="0">
                <a:solidFill>
                  <a:srgbClr val="213739"/>
                </a:solidFill>
                <a:latin typeface="Trebuchet MS"/>
                <a:cs typeface="Trebuchet MS"/>
              </a:rPr>
              <a:t>while</a:t>
            </a:r>
            <a:r>
              <a:rPr sz="1750" b="1" spc="-20" dirty="0">
                <a:solidFill>
                  <a:srgbClr val="213739"/>
                </a:solidFill>
                <a:latin typeface="Trebuchet MS"/>
                <a:cs typeface="Trebuchet MS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!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convergence</a:t>
            </a:r>
            <a:r>
              <a:rPr sz="1750" i="1" spc="10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spc="-25" dirty="0">
                <a:solidFill>
                  <a:srgbClr val="213739"/>
                </a:solidFill>
                <a:latin typeface="Trebuchet MS"/>
                <a:cs typeface="Trebuchet MS"/>
              </a:rPr>
              <a:t>do</a:t>
            </a:r>
            <a:endParaRPr sz="1750">
              <a:latin typeface="Trebuchet MS"/>
              <a:cs typeface="Trebuchet MS"/>
            </a:endParaRPr>
          </a:p>
          <a:p>
            <a:pPr marL="347980">
              <a:lnSpc>
                <a:spcPct val="100000"/>
              </a:lnSpc>
              <a:spcBef>
                <a:spcPts val="275"/>
              </a:spcBef>
            </a:pP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Pick</a:t>
            </a:r>
            <a:r>
              <a:rPr sz="1750" spc="-1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random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7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∈</a:t>
            </a:r>
            <a:r>
              <a:rPr sz="1750" spc="-30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750" i="1" spc="48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∪</a:t>
            </a:r>
            <a:r>
              <a:rPr sz="1750" spc="-40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750" i="1" spc="48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;</a:t>
            </a:r>
            <a:endParaRPr sz="1750">
              <a:latin typeface="Arial MT"/>
              <a:cs typeface="Arial MT"/>
            </a:endParaRPr>
          </a:p>
          <a:p>
            <a:pPr marL="347980">
              <a:lnSpc>
                <a:spcPct val="100000"/>
              </a:lnSpc>
              <a:spcBef>
                <a:spcPts val="370"/>
              </a:spcBef>
              <a:tabLst>
                <a:tab pos="1326515" algn="l"/>
                <a:tab pos="1910080" algn="l"/>
              </a:tabLst>
            </a:pPr>
            <a:r>
              <a:rPr sz="1750" b="1" spc="-65" dirty="0">
                <a:solidFill>
                  <a:srgbClr val="213739"/>
                </a:solidFill>
                <a:latin typeface="Trebuchet MS"/>
                <a:cs typeface="Trebuchet MS"/>
              </a:rPr>
              <a:t>if</a:t>
            </a:r>
            <a:r>
              <a:rPr sz="1750" b="1" spc="-155" dirty="0">
                <a:solidFill>
                  <a:srgbClr val="213739"/>
                </a:solidFill>
                <a:latin typeface="Trebuchet MS"/>
                <a:cs typeface="Trebuchet MS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6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∈</a:t>
            </a:r>
            <a:r>
              <a:rPr sz="1750" spc="-32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and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b="1" spc="6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i="1" spc="60" dirty="0">
                <a:solidFill>
                  <a:srgbClr val="213739"/>
                </a:solidFill>
                <a:latin typeface="Calibri"/>
                <a:cs typeface="Calibri"/>
              </a:rPr>
              <a:t>.</a:t>
            </a:r>
            <a:r>
              <a:rPr sz="1750" i="1" spc="-24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20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spc="70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spc="-70" dirty="0">
                <a:solidFill>
                  <a:srgbClr val="213739"/>
                </a:solidFill>
                <a:latin typeface="Trebuchet MS"/>
                <a:cs typeface="Trebuchet MS"/>
              </a:rPr>
              <a:t>then</a:t>
            </a:r>
            <a:endParaRPr sz="175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29602" y="3123945"/>
            <a:ext cx="0" cy="314325"/>
          </a:xfrm>
          <a:custGeom>
            <a:avLst/>
            <a:gdLst/>
            <a:ahLst/>
            <a:cxnLst/>
            <a:rect l="l" t="t" r="r" b="b"/>
            <a:pathLst>
              <a:path h="314325">
                <a:moveTo>
                  <a:pt x="0" y="313816"/>
                </a:moveTo>
                <a:lnTo>
                  <a:pt x="0" y="0"/>
                </a:lnTo>
              </a:path>
            </a:pathLst>
          </a:custGeom>
          <a:ln w="5053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29602" y="4065396"/>
            <a:ext cx="0" cy="314325"/>
          </a:xfrm>
          <a:custGeom>
            <a:avLst/>
            <a:gdLst/>
            <a:ahLst/>
            <a:cxnLst/>
            <a:rect l="l" t="t" r="r" b="b"/>
            <a:pathLst>
              <a:path h="314325">
                <a:moveTo>
                  <a:pt x="0" y="313816"/>
                </a:moveTo>
                <a:lnTo>
                  <a:pt x="0" y="0"/>
                </a:lnTo>
              </a:path>
            </a:pathLst>
          </a:custGeom>
          <a:ln w="5053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03580" y="3040125"/>
            <a:ext cx="1533525" cy="1285875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347980">
              <a:lnSpc>
                <a:spcPct val="100000"/>
              </a:lnSpc>
              <a:spcBef>
                <a:spcPts val="545"/>
              </a:spcBef>
            </a:pP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2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7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3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+</a:t>
            </a:r>
            <a:r>
              <a:rPr sz="1750" spc="44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25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;</a:t>
            </a:r>
            <a:endParaRPr sz="17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1750" b="1" spc="-25" dirty="0">
                <a:solidFill>
                  <a:srgbClr val="213739"/>
                </a:solidFill>
                <a:latin typeface="Trebuchet MS"/>
                <a:cs typeface="Trebuchet MS"/>
              </a:rPr>
              <a:t>end</a:t>
            </a:r>
            <a:endParaRPr sz="1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  <a:tabLst>
                <a:tab pos="1019810" algn="l"/>
              </a:tabLst>
            </a:pPr>
            <a:r>
              <a:rPr sz="1750" b="1" spc="-65" dirty="0">
                <a:solidFill>
                  <a:srgbClr val="213739"/>
                </a:solidFill>
                <a:latin typeface="Trebuchet MS"/>
                <a:cs typeface="Trebuchet MS"/>
              </a:rPr>
              <a:t>if</a:t>
            </a:r>
            <a:r>
              <a:rPr sz="1750" b="1" spc="-155" dirty="0">
                <a:solidFill>
                  <a:srgbClr val="213739"/>
                </a:solidFill>
                <a:latin typeface="Trebuchet MS"/>
                <a:cs typeface="Trebuchet MS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6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∈</a:t>
            </a:r>
            <a:r>
              <a:rPr sz="1750" spc="-32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and</a:t>
            </a:r>
            <a:endParaRPr sz="1750">
              <a:latin typeface="Calibri"/>
              <a:cs typeface="Calibri"/>
            </a:endParaRPr>
          </a:p>
          <a:p>
            <a:pPr marL="347980">
              <a:lnSpc>
                <a:spcPct val="100000"/>
              </a:lnSpc>
              <a:spcBef>
                <a:spcPts val="395"/>
              </a:spcBef>
            </a:pP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1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7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4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−</a:t>
            </a:r>
            <a:r>
              <a:rPr sz="1750" spc="-23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26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;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93111" y="3718305"/>
            <a:ext cx="129667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b="1" spc="8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i="1" spc="85" dirty="0">
                <a:solidFill>
                  <a:srgbClr val="213739"/>
                </a:solidFill>
                <a:latin typeface="Calibri"/>
                <a:cs typeface="Calibri"/>
              </a:rPr>
              <a:t>.</a:t>
            </a:r>
            <a:r>
              <a:rPr sz="1750" b="1" spc="8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19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≥</a:t>
            </a:r>
            <a:r>
              <a:rPr sz="1750" spc="-11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-2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spc="-55" dirty="0">
                <a:solidFill>
                  <a:srgbClr val="213739"/>
                </a:solidFill>
                <a:latin typeface="Trebuchet MS"/>
                <a:cs typeface="Trebuchet MS"/>
              </a:rPr>
              <a:t>then</a:t>
            </a:r>
            <a:endParaRPr sz="175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7690" y="4257801"/>
            <a:ext cx="4022725" cy="1328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320415" indent="335280">
              <a:lnSpc>
                <a:spcPct val="125699"/>
              </a:lnSpc>
              <a:spcBef>
                <a:spcPts val="100"/>
              </a:spcBef>
            </a:pPr>
            <a:r>
              <a:rPr sz="1750" b="1" spc="-120" dirty="0">
                <a:solidFill>
                  <a:srgbClr val="213739"/>
                </a:solidFill>
                <a:latin typeface="Trebuchet MS"/>
                <a:cs typeface="Trebuchet MS"/>
              </a:rPr>
              <a:t>end </a:t>
            </a:r>
            <a:r>
              <a:rPr sz="1750" b="1" spc="-25" dirty="0">
                <a:solidFill>
                  <a:srgbClr val="213739"/>
                </a:solidFill>
                <a:latin typeface="Trebuchet MS"/>
                <a:cs typeface="Trebuchet MS"/>
              </a:rPr>
              <a:t>end</a:t>
            </a:r>
            <a:endParaRPr sz="1750">
              <a:latin typeface="Trebuchet MS"/>
              <a:cs typeface="Trebuchet MS"/>
            </a:endParaRPr>
          </a:p>
          <a:p>
            <a:pPr marL="121920" marR="5080" indent="-109855">
              <a:lnSpc>
                <a:spcPct val="117700"/>
              </a:lnSpc>
              <a:spcBef>
                <a:spcPts val="35"/>
              </a:spcBef>
            </a:pP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//the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algorithm 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converges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when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all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inputs 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are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classified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correctly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80618" y="5663781"/>
            <a:ext cx="4396105" cy="0"/>
          </a:xfrm>
          <a:custGeom>
            <a:avLst/>
            <a:gdLst/>
            <a:ahLst/>
            <a:cxnLst/>
            <a:rect l="l" t="t" r="r" b="b"/>
            <a:pathLst>
              <a:path w="4396105">
                <a:moveTo>
                  <a:pt x="0" y="0"/>
                </a:moveTo>
                <a:lnTo>
                  <a:pt x="4396105" y="0"/>
                </a:lnTo>
              </a:path>
            </a:pathLst>
          </a:custGeom>
          <a:ln w="10121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644394" y="5658103"/>
            <a:ext cx="408940" cy="2197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2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250" b="1" spc="-15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425" i="1" baseline="23391" dirty="0">
                <a:solidFill>
                  <a:srgbClr val="213739"/>
                </a:solidFill>
                <a:latin typeface="Georgia"/>
                <a:cs typeface="Georgia"/>
              </a:rPr>
              <a:t>T</a:t>
            </a:r>
            <a:r>
              <a:rPr sz="1425" i="1" spc="187" baseline="23391" dirty="0">
                <a:solidFill>
                  <a:srgbClr val="213739"/>
                </a:solidFill>
                <a:latin typeface="Georgia"/>
                <a:cs typeface="Georgia"/>
              </a:rPr>
              <a:t> </a:t>
            </a:r>
            <a:r>
              <a:rPr sz="1250" b="1" spc="-5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550922" y="5913386"/>
            <a:ext cx="628015" cy="0"/>
          </a:xfrm>
          <a:custGeom>
            <a:avLst/>
            <a:gdLst/>
            <a:ahLst/>
            <a:cxnLst/>
            <a:rect l="l" t="t" r="r" b="b"/>
            <a:pathLst>
              <a:path w="628014">
                <a:moveTo>
                  <a:pt x="0" y="0"/>
                </a:moveTo>
                <a:lnTo>
                  <a:pt x="627633" y="0"/>
                </a:lnTo>
              </a:path>
            </a:pathLst>
          </a:custGeom>
          <a:ln w="4559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555869" y="895604"/>
            <a:ext cx="3262629" cy="226568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40640" marR="30480" indent="-2540" algn="just">
              <a:lnSpc>
                <a:spcPct val="116799"/>
              </a:lnSpc>
              <a:spcBef>
                <a:spcPts val="40"/>
              </a:spcBef>
            </a:pP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For</a:t>
            </a:r>
            <a:r>
              <a:rPr sz="1750" spc="-2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spc="-1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6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5" dirty="0">
                <a:solidFill>
                  <a:srgbClr val="213739"/>
                </a:solidFill>
                <a:latin typeface="Lucida Sans Unicode"/>
                <a:cs typeface="Lucida Sans Unicode"/>
              </a:rPr>
              <a:t>∈</a:t>
            </a:r>
            <a:r>
              <a:rPr sz="1750" spc="-29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750" i="1" spc="48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if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spc="8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i="1" spc="85" dirty="0">
                <a:solidFill>
                  <a:srgbClr val="213739"/>
                </a:solidFill>
                <a:latin typeface="Calibri"/>
                <a:cs typeface="Calibri"/>
              </a:rPr>
              <a:t>.</a:t>
            </a:r>
            <a:r>
              <a:rPr sz="1750" b="1" spc="8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24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spc="58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1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then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it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means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that</a:t>
            </a:r>
            <a:r>
              <a:rPr sz="1750" spc="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angle</a:t>
            </a:r>
            <a:r>
              <a:rPr sz="1750" spc="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α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)</a:t>
            </a:r>
            <a:r>
              <a:rPr sz="1750" spc="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between</a:t>
            </a:r>
            <a:r>
              <a:rPr sz="1750" spc="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this</a:t>
            </a:r>
            <a:r>
              <a:rPr sz="1750" spc="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spc="-1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-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750" spc="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current</a:t>
            </a:r>
            <a:r>
              <a:rPr sz="1750" spc="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spc="-1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4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is</a:t>
            </a:r>
            <a:r>
              <a:rPr sz="1750" spc="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greater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than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90° (but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want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α</a:t>
            </a:r>
            <a:r>
              <a:rPr sz="1750" i="1" spc="20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1750" spc="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be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less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than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90°)</a:t>
            </a:r>
            <a:endParaRPr sz="1750">
              <a:latin typeface="Arial MT"/>
              <a:cs typeface="Arial MT"/>
            </a:endParaRPr>
          </a:p>
          <a:p>
            <a:pPr marL="40640" marR="34290" indent="-3175" algn="just">
              <a:lnSpc>
                <a:spcPct val="117700"/>
              </a:lnSpc>
              <a:spcBef>
                <a:spcPts val="495"/>
              </a:spcBef>
            </a:pP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What</a:t>
            </a:r>
            <a:r>
              <a:rPr sz="1750" spc="1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happens</a:t>
            </a:r>
            <a:r>
              <a:rPr sz="1750" spc="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1750" spc="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1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new</a:t>
            </a:r>
            <a:r>
              <a:rPr sz="1750" spc="1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angle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α</a:t>
            </a:r>
            <a:r>
              <a:rPr sz="1875" i="1" baseline="-8888" dirty="0">
                <a:solidFill>
                  <a:srgbClr val="213739"/>
                </a:solidFill>
                <a:latin typeface="Calibri"/>
                <a:cs typeface="Calibri"/>
              </a:rPr>
              <a:t>new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)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when </a:t>
            </a:r>
            <a:r>
              <a:rPr sz="1750" b="1" spc="10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b="1" spc="150" baseline="-8888" dirty="0">
                <a:solidFill>
                  <a:srgbClr val="213739"/>
                </a:solidFill>
                <a:latin typeface="Calibri"/>
                <a:cs typeface="Calibri"/>
              </a:rPr>
              <a:t>new</a:t>
            </a:r>
            <a:r>
              <a:rPr sz="1875" b="1" spc="735" baseline="-8888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12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1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+</a:t>
            </a:r>
            <a:r>
              <a:rPr sz="1750" spc="6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b="1" spc="-5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523481" y="3520821"/>
            <a:ext cx="322580" cy="2197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50" i="1" spc="40" dirty="0">
                <a:solidFill>
                  <a:srgbClr val="213739"/>
                </a:solidFill>
                <a:latin typeface="Calibri"/>
                <a:cs typeface="Calibri"/>
              </a:rPr>
              <a:t>new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989701" y="3438525"/>
            <a:ext cx="140398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854075" algn="l"/>
              </a:tabLst>
            </a:pPr>
            <a:r>
              <a:rPr sz="1750" i="1" spc="45" dirty="0">
                <a:solidFill>
                  <a:srgbClr val="213739"/>
                </a:solidFill>
                <a:latin typeface="Calibri"/>
                <a:cs typeface="Calibri"/>
              </a:rPr>
              <a:t>cos</a:t>
            </a:r>
            <a:r>
              <a:rPr sz="1750" spc="45" dirty="0">
                <a:solidFill>
                  <a:srgbClr val="213739"/>
                </a:solidFill>
                <a:latin typeface="Calibri"/>
                <a:cs typeface="Calibri"/>
              </a:rPr>
              <a:t>(</a:t>
            </a:r>
            <a:r>
              <a:rPr sz="1750" i="1" spc="45" dirty="0">
                <a:solidFill>
                  <a:srgbClr val="213739"/>
                </a:solidFill>
                <a:latin typeface="Calibri"/>
                <a:cs typeface="Calibri"/>
              </a:rPr>
              <a:t>α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)</a:t>
            </a:r>
            <a:r>
              <a:rPr sz="1750" spc="21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Lucida Sans Unicode"/>
                <a:cs typeface="Lucida Sans Unicode"/>
              </a:rPr>
              <a:t>∝</a:t>
            </a:r>
            <a:r>
              <a:rPr sz="1750" spc="-39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b="1" spc="-5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384542" y="3520821"/>
            <a:ext cx="347345" cy="2197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50" b="1" spc="65" dirty="0">
                <a:solidFill>
                  <a:srgbClr val="213739"/>
                </a:solidFill>
                <a:latin typeface="Calibri"/>
                <a:cs typeface="Calibri"/>
              </a:rPr>
              <a:t>new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776209" y="3329762"/>
            <a:ext cx="217170" cy="3994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1160"/>
              </a:lnSpc>
              <a:spcBef>
                <a:spcPts val="125"/>
              </a:spcBef>
            </a:pPr>
            <a:r>
              <a:rPr sz="1250" i="1" spc="-50" dirty="0">
                <a:solidFill>
                  <a:srgbClr val="213739"/>
                </a:solidFill>
                <a:latin typeface="Calibri"/>
                <a:cs typeface="Calibri"/>
              </a:rPr>
              <a:t>T</a:t>
            </a:r>
            <a:endParaRPr sz="1250">
              <a:latin typeface="Calibri"/>
              <a:cs typeface="Calibri"/>
            </a:endParaRPr>
          </a:p>
          <a:p>
            <a:pPr marL="102235">
              <a:lnSpc>
                <a:spcPts val="1760"/>
              </a:lnSpc>
            </a:pPr>
            <a:r>
              <a:rPr sz="1750" b="1" spc="-5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985254" y="3711321"/>
            <a:ext cx="1242695" cy="39878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R="131445" algn="r">
              <a:lnSpc>
                <a:spcPts val="1160"/>
              </a:lnSpc>
              <a:spcBef>
                <a:spcPts val="120"/>
              </a:spcBef>
            </a:pPr>
            <a:r>
              <a:rPr sz="1250" i="1" spc="-50" dirty="0">
                <a:solidFill>
                  <a:srgbClr val="213739"/>
                </a:solidFill>
                <a:latin typeface="Calibri"/>
                <a:cs typeface="Calibri"/>
              </a:rPr>
              <a:t>T</a:t>
            </a:r>
            <a:endParaRPr sz="1250">
              <a:latin typeface="Calibri"/>
              <a:cs typeface="Calibri"/>
            </a:endParaRPr>
          </a:p>
          <a:p>
            <a:pPr marL="12700">
              <a:lnSpc>
                <a:spcPts val="1760"/>
              </a:lnSpc>
              <a:tabLst>
                <a:tab pos="1127760" algn="l"/>
              </a:tabLst>
            </a:pPr>
            <a:r>
              <a:rPr sz="1750" spc="80" dirty="0">
                <a:solidFill>
                  <a:srgbClr val="213739"/>
                </a:solidFill>
                <a:latin typeface="Lucida Sans Unicode"/>
                <a:cs typeface="Lucida Sans Unicode"/>
              </a:rPr>
              <a:t>∝</a:t>
            </a:r>
            <a:r>
              <a:rPr sz="1750" spc="80" dirty="0">
                <a:solidFill>
                  <a:srgbClr val="213739"/>
                </a:solidFill>
                <a:latin typeface="Calibri"/>
                <a:cs typeface="Calibri"/>
              </a:rPr>
              <a:t>(</a:t>
            </a:r>
            <a:r>
              <a:rPr sz="1750" b="1" spc="8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5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+</a:t>
            </a:r>
            <a:r>
              <a:rPr sz="1750" spc="45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spc="-1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-20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)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b="1" spc="-5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781415" y="5588609"/>
            <a:ext cx="196215" cy="2197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50" spc="-25" dirty="0">
                <a:solidFill>
                  <a:srgbClr val="213739"/>
                </a:solidFill>
                <a:latin typeface="Arial MT"/>
                <a:cs typeface="Arial MT"/>
              </a:rPr>
              <a:t>37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22" name="object 22" descr="$PPTXTitle"/>
          <p:cNvSpPr txBox="1">
            <a:spLocks noGrp="1"/>
          </p:cNvSpPr>
          <p:nvPr>
            <p:ph type="title"/>
          </p:nvPr>
        </p:nvSpPr>
        <p:spPr>
          <a:xfrm>
            <a:off x="1232712" y="202133"/>
            <a:ext cx="60204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10" dirty="0">
                <a:solidFill>
                  <a:srgbClr val="000000"/>
                </a:solidFill>
                <a:latin typeface="Calibri"/>
                <a:cs typeface="Calibri"/>
              </a:rPr>
              <a:t>Algorithm:</a:t>
            </a:r>
            <a:r>
              <a:rPr sz="2800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114" dirty="0">
                <a:solidFill>
                  <a:srgbClr val="000000"/>
                </a:solidFill>
                <a:latin typeface="Arial MT"/>
                <a:cs typeface="Arial MT"/>
              </a:rPr>
              <a:t>Perceptron</a:t>
            </a:r>
            <a:r>
              <a:rPr sz="2800" spc="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800" spc="-125" dirty="0">
                <a:solidFill>
                  <a:srgbClr val="000000"/>
                </a:solidFill>
                <a:latin typeface="Arial MT"/>
                <a:cs typeface="Arial MT"/>
              </a:rPr>
              <a:t>Learning</a:t>
            </a:r>
            <a:r>
              <a:rPr sz="2800" spc="-19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000000"/>
                </a:solidFill>
                <a:latin typeface="Arial MT"/>
                <a:cs typeface="Arial MT"/>
              </a:rPr>
              <a:t>Algorithm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941957" y="5816142"/>
            <a:ext cx="493395" cy="187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5"/>
              </a:lnSpc>
            </a:pPr>
            <a:r>
              <a:rPr sz="1250" i="1" dirty="0">
                <a:solidFill>
                  <a:srgbClr val="213739"/>
                </a:solidFill>
                <a:latin typeface="Calibri"/>
                <a:cs typeface="Calibri"/>
              </a:rPr>
              <a:t>cosα</a:t>
            </a:r>
            <a:r>
              <a:rPr sz="1250" i="1" spc="40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250" spc="-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endParaRPr sz="125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7690" y="1151890"/>
            <a:ext cx="1171575" cy="653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7700"/>
              </a:lnSpc>
              <a:spcBef>
                <a:spcPts val="100"/>
              </a:spcBef>
            </a:pP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750" i="1" spc="60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←</a:t>
            </a:r>
            <a:r>
              <a:rPr sz="1750" spc="-1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spc="50" dirty="0">
                <a:solidFill>
                  <a:srgbClr val="213739"/>
                </a:solidFill>
                <a:latin typeface="Calibri"/>
                <a:cs typeface="Calibri"/>
              </a:rPr>
              <a:t>inputs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750" i="1" spc="5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← </a:t>
            </a:r>
            <a:r>
              <a:rPr sz="1750" i="1" spc="50" dirty="0">
                <a:solidFill>
                  <a:srgbClr val="213739"/>
                </a:solidFill>
                <a:latin typeface="Calibri"/>
                <a:cs typeface="Calibri"/>
              </a:rPr>
              <a:t>inputs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27707" y="1143380"/>
            <a:ext cx="473709" cy="653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275" marR="5080" indent="-29209">
              <a:lnSpc>
                <a:spcPct val="117700"/>
              </a:lnSpc>
              <a:spcBef>
                <a:spcPts val="100"/>
              </a:spcBef>
            </a:pPr>
            <a:r>
              <a:rPr sz="1750" i="1" spc="-20" dirty="0">
                <a:solidFill>
                  <a:srgbClr val="213739"/>
                </a:solidFill>
                <a:latin typeface="Calibri"/>
                <a:cs typeface="Calibri"/>
              </a:rPr>
              <a:t>with with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92172" y="1161860"/>
            <a:ext cx="895350" cy="66103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0"/>
              </a:spcBef>
              <a:tabLst>
                <a:tab pos="684530" algn="l"/>
              </a:tabLst>
            </a:pP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label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;</a:t>
            </a:r>
            <a:endParaRPr sz="1750">
              <a:latin typeface="Arial MT"/>
              <a:cs typeface="Arial MT"/>
            </a:endParaRPr>
          </a:p>
          <a:p>
            <a:pPr marL="41275">
              <a:lnSpc>
                <a:spcPct val="100000"/>
              </a:lnSpc>
              <a:spcBef>
                <a:spcPts val="400"/>
              </a:spcBef>
              <a:tabLst>
                <a:tab pos="713740" algn="l"/>
              </a:tabLst>
            </a:pP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label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;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93852" y="2496311"/>
            <a:ext cx="0" cy="2197100"/>
          </a:xfrm>
          <a:custGeom>
            <a:avLst/>
            <a:gdLst/>
            <a:ahLst/>
            <a:cxnLst/>
            <a:rect l="l" t="t" r="r" b="b"/>
            <a:pathLst>
              <a:path h="2197100">
                <a:moveTo>
                  <a:pt x="0" y="2196719"/>
                </a:moveTo>
                <a:lnTo>
                  <a:pt x="0" y="0"/>
                </a:lnTo>
              </a:path>
            </a:pathLst>
          </a:custGeom>
          <a:ln w="5053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67690" y="1794118"/>
            <a:ext cx="3191510" cy="1268730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Initialize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1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randomly;</a:t>
            </a:r>
            <a:endParaRPr sz="17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1750" b="1" spc="-114" dirty="0">
                <a:solidFill>
                  <a:srgbClr val="213739"/>
                </a:solidFill>
                <a:latin typeface="Trebuchet MS"/>
                <a:cs typeface="Trebuchet MS"/>
              </a:rPr>
              <a:t>while</a:t>
            </a:r>
            <a:r>
              <a:rPr sz="1750" b="1" spc="-20" dirty="0">
                <a:solidFill>
                  <a:srgbClr val="213739"/>
                </a:solidFill>
                <a:latin typeface="Trebuchet MS"/>
                <a:cs typeface="Trebuchet MS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!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convergence</a:t>
            </a:r>
            <a:r>
              <a:rPr sz="1750" i="1" spc="10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spc="-25" dirty="0">
                <a:solidFill>
                  <a:srgbClr val="213739"/>
                </a:solidFill>
                <a:latin typeface="Trebuchet MS"/>
                <a:cs typeface="Trebuchet MS"/>
              </a:rPr>
              <a:t>do</a:t>
            </a:r>
            <a:endParaRPr sz="1750">
              <a:latin typeface="Trebuchet MS"/>
              <a:cs typeface="Trebuchet MS"/>
            </a:endParaRPr>
          </a:p>
          <a:p>
            <a:pPr marL="347980">
              <a:lnSpc>
                <a:spcPct val="100000"/>
              </a:lnSpc>
              <a:spcBef>
                <a:spcPts val="275"/>
              </a:spcBef>
            </a:pP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Pick</a:t>
            </a:r>
            <a:r>
              <a:rPr sz="1750" spc="-1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random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7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∈</a:t>
            </a:r>
            <a:r>
              <a:rPr sz="1750" spc="-30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750" i="1" spc="48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∪</a:t>
            </a:r>
            <a:r>
              <a:rPr sz="1750" spc="-40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750" i="1" spc="48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;</a:t>
            </a:r>
            <a:endParaRPr sz="1750">
              <a:latin typeface="Arial MT"/>
              <a:cs typeface="Arial MT"/>
            </a:endParaRPr>
          </a:p>
          <a:p>
            <a:pPr marL="347980">
              <a:lnSpc>
                <a:spcPct val="100000"/>
              </a:lnSpc>
              <a:spcBef>
                <a:spcPts val="370"/>
              </a:spcBef>
              <a:tabLst>
                <a:tab pos="1326515" algn="l"/>
                <a:tab pos="1910080" algn="l"/>
              </a:tabLst>
            </a:pPr>
            <a:r>
              <a:rPr sz="1750" b="1" spc="-65" dirty="0">
                <a:solidFill>
                  <a:srgbClr val="213739"/>
                </a:solidFill>
                <a:latin typeface="Trebuchet MS"/>
                <a:cs typeface="Trebuchet MS"/>
              </a:rPr>
              <a:t>if</a:t>
            </a:r>
            <a:r>
              <a:rPr sz="1750" b="1" spc="-155" dirty="0">
                <a:solidFill>
                  <a:srgbClr val="213739"/>
                </a:solidFill>
                <a:latin typeface="Trebuchet MS"/>
                <a:cs typeface="Trebuchet MS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6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∈</a:t>
            </a:r>
            <a:r>
              <a:rPr sz="1750" spc="-32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and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b="1" spc="6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i="1" spc="60" dirty="0">
                <a:solidFill>
                  <a:srgbClr val="213739"/>
                </a:solidFill>
                <a:latin typeface="Calibri"/>
                <a:cs typeface="Calibri"/>
              </a:rPr>
              <a:t>.</a:t>
            </a:r>
            <a:r>
              <a:rPr sz="1750" i="1" spc="-24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20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spc="70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spc="-70" dirty="0">
                <a:solidFill>
                  <a:srgbClr val="213739"/>
                </a:solidFill>
                <a:latin typeface="Trebuchet MS"/>
                <a:cs typeface="Trebuchet MS"/>
              </a:rPr>
              <a:t>then</a:t>
            </a:r>
            <a:endParaRPr sz="175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29602" y="3123945"/>
            <a:ext cx="0" cy="314325"/>
          </a:xfrm>
          <a:custGeom>
            <a:avLst/>
            <a:gdLst/>
            <a:ahLst/>
            <a:cxnLst/>
            <a:rect l="l" t="t" r="r" b="b"/>
            <a:pathLst>
              <a:path h="314325">
                <a:moveTo>
                  <a:pt x="0" y="313816"/>
                </a:moveTo>
                <a:lnTo>
                  <a:pt x="0" y="0"/>
                </a:lnTo>
              </a:path>
            </a:pathLst>
          </a:custGeom>
          <a:ln w="5053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29602" y="4065396"/>
            <a:ext cx="0" cy="314325"/>
          </a:xfrm>
          <a:custGeom>
            <a:avLst/>
            <a:gdLst/>
            <a:ahLst/>
            <a:cxnLst/>
            <a:rect l="l" t="t" r="r" b="b"/>
            <a:pathLst>
              <a:path h="314325">
                <a:moveTo>
                  <a:pt x="0" y="313816"/>
                </a:moveTo>
                <a:lnTo>
                  <a:pt x="0" y="0"/>
                </a:lnTo>
              </a:path>
            </a:pathLst>
          </a:custGeom>
          <a:ln w="5053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03580" y="3040125"/>
            <a:ext cx="1533525" cy="1285875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347980">
              <a:lnSpc>
                <a:spcPct val="100000"/>
              </a:lnSpc>
              <a:spcBef>
                <a:spcPts val="545"/>
              </a:spcBef>
            </a:pP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2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7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3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+</a:t>
            </a:r>
            <a:r>
              <a:rPr sz="1750" spc="44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25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;</a:t>
            </a:r>
            <a:endParaRPr sz="17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1750" b="1" spc="-25" dirty="0">
                <a:solidFill>
                  <a:srgbClr val="213739"/>
                </a:solidFill>
                <a:latin typeface="Trebuchet MS"/>
                <a:cs typeface="Trebuchet MS"/>
              </a:rPr>
              <a:t>end</a:t>
            </a:r>
            <a:endParaRPr sz="1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  <a:tabLst>
                <a:tab pos="1019810" algn="l"/>
              </a:tabLst>
            </a:pPr>
            <a:r>
              <a:rPr sz="1750" b="1" spc="-65" dirty="0">
                <a:solidFill>
                  <a:srgbClr val="213739"/>
                </a:solidFill>
                <a:latin typeface="Trebuchet MS"/>
                <a:cs typeface="Trebuchet MS"/>
              </a:rPr>
              <a:t>if</a:t>
            </a:r>
            <a:r>
              <a:rPr sz="1750" b="1" spc="-155" dirty="0">
                <a:solidFill>
                  <a:srgbClr val="213739"/>
                </a:solidFill>
                <a:latin typeface="Trebuchet MS"/>
                <a:cs typeface="Trebuchet MS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6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∈</a:t>
            </a:r>
            <a:r>
              <a:rPr sz="1750" spc="-32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and</a:t>
            </a:r>
            <a:endParaRPr sz="1750">
              <a:latin typeface="Calibri"/>
              <a:cs typeface="Calibri"/>
            </a:endParaRPr>
          </a:p>
          <a:p>
            <a:pPr marL="347980">
              <a:lnSpc>
                <a:spcPct val="100000"/>
              </a:lnSpc>
              <a:spcBef>
                <a:spcPts val="395"/>
              </a:spcBef>
            </a:pP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1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7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4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−</a:t>
            </a:r>
            <a:r>
              <a:rPr sz="1750" spc="-23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26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;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93111" y="3718305"/>
            <a:ext cx="129667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b="1" spc="8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i="1" spc="85" dirty="0">
                <a:solidFill>
                  <a:srgbClr val="213739"/>
                </a:solidFill>
                <a:latin typeface="Calibri"/>
                <a:cs typeface="Calibri"/>
              </a:rPr>
              <a:t>.</a:t>
            </a:r>
            <a:r>
              <a:rPr sz="1750" b="1" spc="8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19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≥</a:t>
            </a:r>
            <a:r>
              <a:rPr sz="1750" spc="-11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-2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spc="-55" dirty="0">
                <a:solidFill>
                  <a:srgbClr val="213739"/>
                </a:solidFill>
                <a:latin typeface="Trebuchet MS"/>
                <a:cs typeface="Trebuchet MS"/>
              </a:rPr>
              <a:t>then</a:t>
            </a:r>
            <a:endParaRPr sz="1750">
              <a:latin typeface="Trebuchet MS"/>
              <a:cs typeface="Trebuchet M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80618" y="5663781"/>
            <a:ext cx="4396105" cy="0"/>
          </a:xfrm>
          <a:custGeom>
            <a:avLst/>
            <a:gdLst/>
            <a:ahLst/>
            <a:cxnLst/>
            <a:rect l="l" t="t" r="r" b="b"/>
            <a:pathLst>
              <a:path w="4396105">
                <a:moveTo>
                  <a:pt x="0" y="0"/>
                </a:moveTo>
                <a:lnTo>
                  <a:pt x="4396105" y="0"/>
                </a:lnTo>
              </a:path>
            </a:pathLst>
          </a:custGeom>
          <a:ln w="10121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54990" y="4290229"/>
            <a:ext cx="3431540" cy="1600200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360680">
              <a:lnSpc>
                <a:spcPct val="100000"/>
              </a:lnSpc>
              <a:spcBef>
                <a:spcPts val="635"/>
              </a:spcBef>
            </a:pPr>
            <a:r>
              <a:rPr sz="1750" b="1" spc="-25" dirty="0">
                <a:solidFill>
                  <a:srgbClr val="213739"/>
                </a:solidFill>
                <a:latin typeface="Trebuchet MS"/>
                <a:cs typeface="Trebuchet MS"/>
              </a:rPr>
              <a:t>end</a:t>
            </a:r>
            <a:endParaRPr sz="1750">
              <a:latin typeface="Trebuchet MS"/>
              <a:cs typeface="Trebuchet MS"/>
            </a:endParaRPr>
          </a:p>
          <a:p>
            <a:pPr marL="25400">
              <a:lnSpc>
                <a:spcPct val="100000"/>
              </a:lnSpc>
              <a:spcBef>
                <a:spcPts val="530"/>
              </a:spcBef>
            </a:pPr>
            <a:r>
              <a:rPr sz="1750" b="1" spc="-25" dirty="0">
                <a:solidFill>
                  <a:srgbClr val="213739"/>
                </a:solidFill>
                <a:latin typeface="Trebuchet MS"/>
                <a:cs typeface="Trebuchet MS"/>
              </a:rPr>
              <a:t>end</a:t>
            </a:r>
            <a:endParaRPr sz="1750">
              <a:latin typeface="Trebuchet MS"/>
              <a:cs typeface="Trebuchet MS"/>
            </a:endParaRPr>
          </a:p>
          <a:p>
            <a:pPr marL="25400">
              <a:lnSpc>
                <a:spcPct val="100000"/>
              </a:lnSpc>
              <a:spcBef>
                <a:spcPts val="280"/>
              </a:spcBef>
            </a:pP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//the</a:t>
            </a:r>
            <a:r>
              <a:rPr sz="1750" spc="-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algorithm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converges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when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all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endParaRPr sz="1750">
              <a:latin typeface="Arial MT"/>
              <a:cs typeface="Arial MT"/>
            </a:endParaRPr>
          </a:p>
          <a:p>
            <a:pPr marL="25400">
              <a:lnSpc>
                <a:spcPct val="100000"/>
              </a:lnSpc>
            </a:pP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inputs</a:t>
            </a:r>
            <a:endParaRPr sz="1750">
              <a:latin typeface="Arial MT"/>
              <a:cs typeface="Arial MT"/>
            </a:endParaRPr>
          </a:p>
          <a:p>
            <a:pPr marL="134620">
              <a:lnSpc>
                <a:spcPct val="100000"/>
              </a:lnSpc>
              <a:spcBef>
                <a:spcPts val="550"/>
              </a:spcBef>
              <a:tabLst>
                <a:tab pos="2326640" algn="l"/>
              </a:tabLst>
            </a:pP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are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classified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correctly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	</a:t>
            </a:r>
            <a:r>
              <a:rPr sz="12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250" b="1" spc="-15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425" i="1" baseline="23391" dirty="0">
                <a:solidFill>
                  <a:srgbClr val="213739"/>
                </a:solidFill>
                <a:latin typeface="Georgia"/>
                <a:cs typeface="Georgia"/>
              </a:rPr>
              <a:t>T</a:t>
            </a:r>
            <a:r>
              <a:rPr sz="1425" i="1" spc="187" baseline="23391" dirty="0">
                <a:solidFill>
                  <a:srgbClr val="213739"/>
                </a:solidFill>
                <a:latin typeface="Georgia"/>
                <a:cs typeface="Georgia"/>
              </a:rPr>
              <a:t> </a:t>
            </a:r>
            <a:r>
              <a:rPr sz="1250" b="1" spc="-5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550922" y="5913386"/>
            <a:ext cx="628015" cy="0"/>
          </a:xfrm>
          <a:custGeom>
            <a:avLst/>
            <a:gdLst/>
            <a:ahLst/>
            <a:cxnLst/>
            <a:rect l="l" t="t" r="r" b="b"/>
            <a:pathLst>
              <a:path w="628014">
                <a:moveTo>
                  <a:pt x="0" y="0"/>
                </a:moveTo>
                <a:lnTo>
                  <a:pt x="627633" y="0"/>
                </a:lnTo>
              </a:path>
            </a:pathLst>
          </a:custGeom>
          <a:ln w="4559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555869" y="895604"/>
            <a:ext cx="3262629" cy="226568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40640" marR="30480" indent="-2540" algn="just">
              <a:lnSpc>
                <a:spcPct val="116799"/>
              </a:lnSpc>
              <a:spcBef>
                <a:spcPts val="40"/>
              </a:spcBef>
            </a:pP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For</a:t>
            </a:r>
            <a:r>
              <a:rPr sz="1750" spc="-2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spc="-1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6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5" dirty="0">
                <a:solidFill>
                  <a:srgbClr val="213739"/>
                </a:solidFill>
                <a:latin typeface="Lucida Sans Unicode"/>
                <a:cs typeface="Lucida Sans Unicode"/>
              </a:rPr>
              <a:t>∈</a:t>
            </a:r>
            <a:r>
              <a:rPr sz="1750" spc="-29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750" i="1" spc="48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if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spc="8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i="1" spc="85" dirty="0">
                <a:solidFill>
                  <a:srgbClr val="213739"/>
                </a:solidFill>
                <a:latin typeface="Calibri"/>
                <a:cs typeface="Calibri"/>
              </a:rPr>
              <a:t>.</a:t>
            </a:r>
            <a:r>
              <a:rPr sz="1750" b="1" spc="8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24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spc="58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1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then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it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means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that</a:t>
            </a:r>
            <a:r>
              <a:rPr sz="1750" spc="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angle</a:t>
            </a:r>
            <a:r>
              <a:rPr sz="1750" spc="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α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)</a:t>
            </a:r>
            <a:r>
              <a:rPr sz="1750" spc="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between</a:t>
            </a:r>
            <a:r>
              <a:rPr sz="1750" spc="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this</a:t>
            </a:r>
            <a:r>
              <a:rPr sz="1750" spc="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spc="-1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-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750" spc="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current</a:t>
            </a:r>
            <a:r>
              <a:rPr sz="1750" spc="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spc="-1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4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is</a:t>
            </a:r>
            <a:r>
              <a:rPr sz="1750" spc="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greater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than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90° (but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want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α</a:t>
            </a:r>
            <a:r>
              <a:rPr sz="1750" i="1" spc="20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1750" spc="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be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less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than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90°)</a:t>
            </a:r>
            <a:endParaRPr sz="1750">
              <a:latin typeface="Arial MT"/>
              <a:cs typeface="Arial MT"/>
            </a:endParaRPr>
          </a:p>
          <a:p>
            <a:pPr marL="40640" marR="34290" indent="-3175" algn="just">
              <a:lnSpc>
                <a:spcPct val="117700"/>
              </a:lnSpc>
              <a:spcBef>
                <a:spcPts val="495"/>
              </a:spcBef>
            </a:pP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What</a:t>
            </a:r>
            <a:r>
              <a:rPr sz="1750" spc="1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happens</a:t>
            </a:r>
            <a:r>
              <a:rPr sz="1750" spc="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1750" spc="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1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new</a:t>
            </a:r>
            <a:r>
              <a:rPr sz="1750" spc="1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angle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α</a:t>
            </a:r>
            <a:r>
              <a:rPr sz="1875" i="1" baseline="-8888" dirty="0">
                <a:solidFill>
                  <a:srgbClr val="213739"/>
                </a:solidFill>
                <a:latin typeface="Calibri"/>
                <a:cs typeface="Calibri"/>
              </a:rPr>
              <a:t>new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)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when </a:t>
            </a:r>
            <a:r>
              <a:rPr sz="1750" b="1" spc="10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b="1" spc="150" baseline="-8888" dirty="0">
                <a:solidFill>
                  <a:srgbClr val="213739"/>
                </a:solidFill>
                <a:latin typeface="Calibri"/>
                <a:cs typeface="Calibri"/>
              </a:rPr>
              <a:t>new</a:t>
            </a:r>
            <a:r>
              <a:rPr sz="1875" b="1" spc="735" baseline="-8888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12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1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+</a:t>
            </a:r>
            <a:r>
              <a:rPr sz="1750" spc="6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b="1" spc="-5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941957" y="5816142"/>
            <a:ext cx="493395" cy="187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5"/>
              </a:lnSpc>
            </a:pPr>
            <a:r>
              <a:rPr sz="1250" i="1" dirty="0">
                <a:solidFill>
                  <a:srgbClr val="213739"/>
                </a:solidFill>
                <a:latin typeface="Calibri"/>
                <a:cs typeface="Calibri"/>
              </a:rPr>
              <a:t>cosα</a:t>
            </a:r>
            <a:r>
              <a:rPr sz="1250" i="1" spc="40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250" spc="-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781415" y="5588609"/>
            <a:ext cx="196215" cy="2197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50" spc="-25" dirty="0">
                <a:solidFill>
                  <a:srgbClr val="213739"/>
                </a:solidFill>
                <a:latin typeface="Arial MT"/>
                <a:cs typeface="Arial MT"/>
              </a:rPr>
              <a:t>37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523481" y="3520821"/>
            <a:ext cx="322580" cy="2197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50" i="1" spc="40" dirty="0">
                <a:solidFill>
                  <a:srgbClr val="213739"/>
                </a:solidFill>
                <a:latin typeface="Calibri"/>
                <a:cs typeface="Calibri"/>
              </a:rPr>
              <a:t>new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989701" y="3438525"/>
            <a:ext cx="140398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854075" algn="l"/>
              </a:tabLst>
            </a:pPr>
            <a:r>
              <a:rPr sz="1750" i="1" spc="45" dirty="0">
                <a:solidFill>
                  <a:srgbClr val="213739"/>
                </a:solidFill>
                <a:latin typeface="Calibri"/>
                <a:cs typeface="Calibri"/>
              </a:rPr>
              <a:t>cos</a:t>
            </a:r>
            <a:r>
              <a:rPr sz="1750" spc="45" dirty="0">
                <a:solidFill>
                  <a:srgbClr val="213739"/>
                </a:solidFill>
                <a:latin typeface="Calibri"/>
                <a:cs typeface="Calibri"/>
              </a:rPr>
              <a:t>(</a:t>
            </a:r>
            <a:r>
              <a:rPr sz="1750" i="1" spc="45" dirty="0">
                <a:solidFill>
                  <a:srgbClr val="213739"/>
                </a:solidFill>
                <a:latin typeface="Calibri"/>
                <a:cs typeface="Calibri"/>
              </a:rPr>
              <a:t>α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)</a:t>
            </a:r>
            <a:r>
              <a:rPr sz="1750" spc="21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Lucida Sans Unicode"/>
                <a:cs typeface="Lucida Sans Unicode"/>
              </a:rPr>
              <a:t>∝</a:t>
            </a:r>
            <a:r>
              <a:rPr sz="1750" spc="-39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b="1" spc="-5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384542" y="3520821"/>
            <a:ext cx="347345" cy="2197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50" b="1" spc="65" dirty="0">
                <a:solidFill>
                  <a:srgbClr val="213739"/>
                </a:solidFill>
                <a:latin typeface="Calibri"/>
                <a:cs typeface="Calibri"/>
              </a:rPr>
              <a:t>new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776209" y="3329762"/>
            <a:ext cx="217170" cy="3994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1160"/>
              </a:lnSpc>
              <a:spcBef>
                <a:spcPts val="125"/>
              </a:spcBef>
            </a:pPr>
            <a:r>
              <a:rPr sz="1250" i="1" spc="-50" dirty="0">
                <a:solidFill>
                  <a:srgbClr val="213739"/>
                </a:solidFill>
                <a:latin typeface="Calibri"/>
                <a:cs typeface="Calibri"/>
              </a:rPr>
              <a:t>T</a:t>
            </a:r>
            <a:endParaRPr sz="1250">
              <a:latin typeface="Calibri"/>
              <a:cs typeface="Calibri"/>
            </a:endParaRPr>
          </a:p>
          <a:p>
            <a:pPr marL="102235">
              <a:lnSpc>
                <a:spcPts val="1760"/>
              </a:lnSpc>
            </a:pPr>
            <a:r>
              <a:rPr sz="1750" b="1" spc="-5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985254" y="3711321"/>
            <a:ext cx="1341755" cy="77978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R="227329" algn="r">
              <a:lnSpc>
                <a:spcPts val="1160"/>
              </a:lnSpc>
              <a:spcBef>
                <a:spcPts val="120"/>
              </a:spcBef>
            </a:pPr>
            <a:r>
              <a:rPr sz="1250" i="1" spc="-50" dirty="0">
                <a:solidFill>
                  <a:srgbClr val="213739"/>
                </a:solidFill>
                <a:latin typeface="Calibri"/>
                <a:cs typeface="Calibri"/>
              </a:rPr>
              <a:t>T</a:t>
            </a:r>
            <a:endParaRPr sz="1250">
              <a:latin typeface="Calibri"/>
              <a:cs typeface="Calibri"/>
            </a:endParaRPr>
          </a:p>
          <a:p>
            <a:pPr marL="12700">
              <a:lnSpc>
                <a:spcPts val="1760"/>
              </a:lnSpc>
              <a:tabLst>
                <a:tab pos="1127760" algn="l"/>
              </a:tabLst>
            </a:pPr>
            <a:r>
              <a:rPr sz="1750" spc="80" dirty="0">
                <a:solidFill>
                  <a:srgbClr val="213739"/>
                </a:solidFill>
                <a:latin typeface="Lucida Sans Unicode"/>
                <a:cs typeface="Lucida Sans Unicode"/>
              </a:rPr>
              <a:t>∝</a:t>
            </a:r>
            <a:r>
              <a:rPr sz="1750" spc="80" dirty="0">
                <a:solidFill>
                  <a:srgbClr val="213739"/>
                </a:solidFill>
                <a:latin typeface="Calibri"/>
                <a:cs typeface="Calibri"/>
              </a:rPr>
              <a:t>(</a:t>
            </a:r>
            <a:r>
              <a:rPr sz="1750" b="1" spc="8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5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+</a:t>
            </a:r>
            <a:r>
              <a:rPr sz="1750" spc="45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spc="-1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-20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)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b="1" spc="-5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endParaRPr sz="1750">
              <a:latin typeface="Calibri"/>
              <a:cs typeface="Calibri"/>
            </a:endParaRPr>
          </a:p>
          <a:p>
            <a:pPr marL="454659">
              <a:lnSpc>
                <a:spcPts val="1160"/>
              </a:lnSpc>
              <a:spcBef>
                <a:spcPts val="80"/>
              </a:spcBef>
              <a:tabLst>
                <a:tab pos="1122045" algn="l"/>
              </a:tabLst>
            </a:pPr>
            <a:r>
              <a:rPr sz="1250" i="1" spc="-50" dirty="0">
                <a:solidFill>
                  <a:srgbClr val="213739"/>
                </a:solidFill>
                <a:latin typeface="Calibri"/>
                <a:cs typeface="Calibri"/>
              </a:rPr>
              <a:t>T</a:t>
            </a:r>
            <a:r>
              <a:rPr sz="12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250" i="1" spc="-50" dirty="0">
                <a:solidFill>
                  <a:srgbClr val="213739"/>
                </a:solidFill>
                <a:latin typeface="Calibri"/>
                <a:cs typeface="Calibri"/>
              </a:rPr>
              <a:t>T</a:t>
            </a:r>
            <a:endParaRPr sz="1250">
              <a:latin typeface="Calibri"/>
              <a:cs typeface="Calibri"/>
            </a:endParaRPr>
          </a:p>
          <a:p>
            <a:pPr marL="12700">
              <a:lnSpc>
                <a:spcPts val="1760"/>
              </a:lnSpc>
              <a:tabLst>
                <a:tab pos="558165" algn="l"/>
                <a:tab pos="1226820" algn="l"/>
              </a:tabLst>
            </a:pPr>
            <a:r>
              <a:rPr sz="1750" spc="-25" dirty="0">
                <a:solidFill>
                  <a:srgbClr val="213739"/>
                </a:solidFill>
                <a:latin typeface="Lucida Sans Unicode"/>
                <a:cs typeface="Lucida Sans Unicode"/>
              </a:rPr>
              <a:t>∝</a:t>
            </a:r>
            <a:r>
              <a:rPr sz="1750" spc="-40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b="1" spc="-5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	x</a:t>
            </a:r>
            <a:r>
              <a:rPr sz="1750" b="1" spc="22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+</a:t>
            </a:r>
            <a:r>
              <a:rPr sz="1750" spc="44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spc="-5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b="1" spc="-5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21" name="object 21" descr="$PPTXTitle"/>
          <p:cNvSpPr txBox="1">
            <a:spLocks noGrp="1"/>
          </p:cNvSpPr>
          <p:nvPr>
            <p:ph type="title"/>
          </p:nvPr>
        </p:nvSpPr>
        <p:spPr>
          <a:xfrm>
            <a:off x="1232712" y="202133"/>
            <a:ext cx="60204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10" dirty="0">
                <a:solidFill>
                  <a:srgbClr val="000000"/>
                </a:solidFill>
                <a:latin typeface="Calibri"/>
                <a:cs typeface="Calibri"/>
              </a:rPr>
              <a:t>Algorithm:</a:t>
            </a:r>
            <a:r>
              <a:rPr sz="2800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114" dirty="0">
                <a:solidFill>
                  <a:srgbClr val="000000"/>
                </a:solidFill>
                <a:latin typeface="Arial MT"/>
                <a:cs typeface="Arial MT"/>
              </a:rPr>
              <a:t>Perceptron</a:t>
            </a:r>
            <a:r>
              <a:rPr sz="2800" spc="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800" spc="-125" dirty="0">
                <a:solidFill>
                  <a:srgbClr val="000000"/>
                </a:solidFill>
                <a:latin typeface="Arial MT"/>
                <a:cs typeface="Arial MT"/>
              </a:rPr>
              <a:t>Learning</a:t>
            </a:r>
            <a:r>
              <a:rPr sz="2800" spc="-19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000000"/>
                </a:solidFill>
                <a:latin typeface="Arial MT"/>
                <a:cs typeface="Arial MT"/>
              </a:rPr>
              <a:t>Algorithm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7690" y="1151890"/>
            <a:ext cx="1171575" cy="653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7700"/>
              </a:lnSpc>
              <a:spcBef>
                <a:spcPts val="100"/>
              </a:spcBef>
            </a:pP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750" i="1" spc="60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←</a:t>
            </a:r>
            <a:r>
              <a:rPr sz="1750" spc="-1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spc="50" dirty="0">
                <a:solidFill>
                  <a:srgbClr val="213739"/>
                </a:solidFill>
                <a:latin typeface="Calibri"/>
                <a:cs typeface="Calibri"/>
              </a:rPr>
              <a:t>inputs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750" i="1" spc="5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← </a:t>
            </a:r>
            <a:r>
              <a:rPr sz="1750" i="1" spc="50" dirty="0">
                <a:solidFill>
                  <a:srgbClr val="213739"/>
                </a:solidFill>
                <a:latin typeface="Calibri"/>
                <a:cs typeface="Calibri"/>
              </a:rPr>
              <a:t>inputs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27707" y="1143380"/>
            <a:ext cx="473709" cy="653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275" marR="5080" indent="-29209">
              <a:lnSpc>
                <a:spcPct val="117700"/>
              </a:lnSpc>
              <a:spcBef>
                <a:spcPts val="100"/>
              </a:spcBef>
            </a:pPr>
            <a:r>
              <a:rPr sz="1750" i="1" spc="-20" dirty="0">
                <a:solidFill>
                  <a:srgbClr val="213739"/>
                </a:solidFill>
                <a:latin typeface="Calibri"/>
                <a:cs typeface="Calibri"/>
              </a:rPr>
              <a:t>with with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92172" y="1161860"/>
            <a:ext cx="895350" cy="66103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0"/>
              </a:spcBef>
              <a:tabLst>
                <a:tab pos="684530" algn="l"/>
              </a:tabLst>
            </a:pP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label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;</a:t>
            </a:r>
            <a:endParaRPr sz="1750">
              <a:latin typeface="Arial MT"/>
              <a:cs typeface="Arial MT"/>
            </a:endParaRPr>
          </a:p>
          <a:p>
            <a:pPr marL="41275">
              <a:lnSpc>
                <a:spcPct val="100000"/>
              </a:lnSpc>
              <a:spcBef>
                <a:spcPts val="400"/>
              </a:spcBef>
              <a:tabLst>
                <a:tab pos="713740" algn="l"/>
              </a:tabLst>
            </a:pP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label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;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93852" y="2496311"/>
            <a:ext cx="0" cy="2197100"/>
          </a:xfrm>
          <a:custGeom>
            <a:avLst/>
            <a:gdLst/>
            <a:ahLst/>
            <a:cxnLst/>
            <a:rect l="l" t="t" r="r" b="b"/>
            <a:pathLst>
              <a:path h="2197100">
                <a:moveTo>
                  <a:pt x="0" y="2196719"/>
                </a:moveTo>
                <a:lnTo>
                  <a:pt x="0" y="0"/>
                </a:lnTo>
              </a:path>
            </a:pathLst>
          </a:custGeom>
          <a:ln w="5053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67690" y="1794118"/>
            <a:ext cx="3191510" cy="1268730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Initialize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1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randomly;</a:t>
            </a:r>
            <a:endParaRPr sz="17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1750" b="1" spc="-114" dirty="0">
                <a:solidFill>
                  <a:srgbClr val="213739"/>
                </a:solidFill>
                <a:latin typeface="Trebuchet MS"/>
                <a:cs typeface="Trebuchet MS"/>
              </a:rPr>
              <a:t>while</a:t>
            </a:r>
            <a:r>
              <a:rPr sz="1750" b="1" spc="-20" dirty="0">
                <a:solidFill>
                  <a:srgbClr val="213739"/>
                </a:solidFill>
                <a:latin typeface="Trebuchet MS"/>
                <a:cs typeface="Trebuchet MS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!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convergence</a:t>
            </a:r>
            <a:r>
              <a:rPr sz="1750" i="1" spc="10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spc="-25" dirty="0">
                <a:solidFill>
                  <a:srgbClr val="213739"/>
                </a:solidFill>
                <a:latin typeface="Trebuchet MS"/>
                <a:cs typeface="Trebuchet MS"/>
              </a:rPr>
              <a:t>do</a:t>
            </a:r>
            <a:endParaRPr sz="1750">
              <a:latin typeface="Trebuchet MS"/>
              <a:cs typeface="Trebuchet MS"/>
            </a:endParaRPr>
          </a:p>
          <a:p>
            <a:pPr marL="347980">
              <a:lnSpc>
                <a:spcPct val="100000"/>
              </a:lnSpc>
              <a:spcBef>
                <a:spcPts val="275"/>
              </a:spcBef>
            </a:pP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Pick</a:t>
            </a:r>
            <a:r>
              <a:rPr sz="1750" spc="-1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random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7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∈</a:t>
            </a:r>
            <a:r>
              <a:rPr sz="1750" spc="-30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750" i="1" spc="48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∪</a:t>
            </a:r>
            <a:r>
              <a:rPr sz="1750" spc="-40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750" i="1" spc="48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;</a:t>
            </a:r>
            <a:endParaRPr sz="1750">
              <a:latin typeface="Arial MT"/>
              <a:cs typeface="Arial MT"/>
            </a:endParaRPr>
          </a:p>
          <a:p>
            <a:pPr marL="347980">
              <a:lnSpc>
                <a:spcPct val="100000"/>
              </a:lnSpc>
              <a:spcBef>
                <a:spcPts val="370"/>
              </a:spcBef>
              <a:tabLst>
                <a:tab pos="1326515" algn="l"/>
                <a:tab pos="1910080" algn="l"/>
              </a:tabLst>
            </a:pPr>
            <a:r>
              <a:rPr sz="1750" b="1" spc="-65" dirty="0">
                <a:solidFill>
                  <a:srgbClr val="213739"/>
                </a:solidFill>
                <a:latin typeface="Trebuchet MS"/>
                <a:cs typeface="Trebuchet MS"/>
              </a:rPr>
              <a:t>if</a:t>
            </a:r>
            <a:r>
              <a:rPr sz="1750" b="1" spc="-155" dirty="0">
                <a:solidFill>
                  <a:srgbClr val="213739"/>
                </a:solidFill>
                <a:latin typeface="Trebuchet MS"/>
                <a:cs typeface="Trebuchet MS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6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∈</a:t>
            </a:r>
            <a:r>
              <a:rPr sz="1750" spc="-32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and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b="1" spc="6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i="1" spc="60" dirty="0">
                <a:solidFill>
                  <a:srgbClr val="213739"/>
                </a:solidFill>
                <a:latin typeface="Calibri"/>
                <a:cs typeface="Calibri"/>
              </a:rPr>
              <a:t>.</a:t>
            </a:r>
            <a:r>
              <a:rPr sz="1750" i="1" spc="-24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20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spc="70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spc="-70" dirty="0">
                <a:solidFill>
                  <a:srgbClr val="213739"/>
                </a:solidFill>
                <a:latin typeface="Trebuchet MS"/>
                <a:cs typeface="Trebuchet MS"/>
              </a:rPr>
              <a:t>then</a:t>
            </a:r>
            <a:endParaRPr sz="175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29602" y="3123945"/>
            <a:ext cx="0" cy="314325"/>
          </a:xfrm>
          <a:custGeom>
            <a:avLst/>
            <a:gdLst/>
            <a:ahLst/>
            <a:cxnLst/>
            <a:rect l="l" t="t" r="r" b="b"/>
            <a:pathLst>
              <a:path h="314325">
                <a:moveTo>
                  <a:pt x="0" y="313816"/>
                </a:moveTo>
                <a:lnTo>
                  <a:pt x="0" y="0"/>
                </a:lnTo>
              </a:path>
            </a:pathLst>
          </a:custGeom>
          <a:ln w="5053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29602" y="4065396"/>
            <a:ext cx="0" cy="314325"/>
          </a:xfrm>
          <a:custGeom>
            <a:avLst/>
            <a:gdLst/>
            <a:ahLst/>
            <a:cxnLst/>
            <a:rect l="l" t="t" r="r" b="b"/>
            <a:pathLst>
              <a:path h="314325">
                <a:moveTo>
                  <a:pt x="0" y="313816"/>
                </a:moveTo>
                <a:lnTo>
                  <a:pt x="0" y="0"/>
                </a:lnTo>
              </a:path>
            </a:pathLst>
          </a:custGeom>
          <a:ln w="5053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03580" y="3040125"/>
            <a:ext cx="1533525" cy="1285875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347980">
              <a:lnSpc>
                <a:spcPct val="100000"/>
              </a:lnSpc>
              <a:spcBef>
                <a:spcPts val="545"/>
              </a:spcBef>
            </a:pP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2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7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3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+</a:t>
            </a:r>
            <a:r>
              <a:rPr sz="1750" spc="44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25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;</a:t>
            </a:r>
            <a:endParaRPr sz="17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1750" b="1" spc="-25" dirty="0">
                <a:solidFill>
                  <a:srgbClr val="213739"/>
                </a:solidFill>
                <a:latin typeface="Trebuchet MS"/>
                <a:cs typeface="Trebuchet MS"/>
              </a:rPr>
              <a:t>end</a:t>
            </a:r>
            <a:endParaRPr sz="1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  <a:tabLst>
                <a:tab pos="1019810" algn="l"/>
              </a:tabLst>
            </a:pPr>
            <a:r>
              <a:rPr sz="1750" b="1" spc="-65" dirty="0">
                <a:solidFill>
                  <a:srgbClr val="213739"/>
                </a:solidFill>
                <a:latin typeface="Trebuchet MS"/>
                <a:cs typeface="Trebuchet MS"/>
              </a:rPr>
              <a:t>if</a:t>
            </a:r>
            <a:r>
              <a:rPr sz="1750" b="1" spc="-155" dirty="0">
                <a:solidFill>
                  <a:srgbClr val="213739"/>
                </a:solidFill>
                <a:latin typeface="Trebuchet MS"/>
                <a:cs typeface="Trebuchet MS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6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∈</a:t>
            </a:r>
            <a:r>
              <a:rPr sz="1750" spc="-32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and</a:t>
            </a:r>
            <a:endParaRPr sz="1750">
              <a:latin typeface="Calibri"/>
              <a:cs typeface="Calibri"/>
            </a:endParaRPr>
          </a:p>
          <a:p>
            <a:pPr marL="347980">
              <a:lnSpc>
                <a:spcPct val="100000"/>
              </a:lnSpc>
              <a:spcBef>
                <a:spcPts val="395"/>
              </a:spcBef>
            </a:pP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1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7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4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−</a:t>
            </a:r>
            <a:r>
              <a:rPr sz="1750" spc="-23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26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;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93111" y="3718305"/>
            <a:ext cx="129667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b="1" spc="8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i="1" spc="85" dirty="0">
                <a:solidFill>
                  <a:srgbClr val="213739"/>
                </a:solidFill>
                <a:latin typeface="Calibri"/>
                <a:cs typeface="Calibri"/>
              </a:rPr>
              <a:t>.</a:t>
            </a:r>
            <a:r>
              <a:rPr sz="1750" b="1" spc="8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19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≥</a:t>
            </a:r>
            <a:r>
              <a:rPr sz="1750" spc="-11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-2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spc="-55" dirty="0">
                <a:solidFill>
                  <a:srgbClr val="213739"/>
                </a:solidFill>
                <a:latin typeface="Trebuchet MS"/>
                <a:cs typeface="Trebuchet MS"/>
              </a:rPr>
              <a:t>then</a:t>
            </a:r>
            <a:endParaRPr sz="1750">
              <a:latin typeface="Trebuchet MS"/>
              <a:cs typeface="Trebuchet M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80618" y="5663781"/>
            <a:ext cx="4396105" cy="0"/>
          </a:xfrm>
          <a:custGeom>
            <a:avLst/>
            <a:gdLst/>
            <a:ahLst/>
            <a:cxnLst/>
            <a:rect l="l" t="t" r="r" b="b"/>
            <a:pathLst>
              <a:path w="4396105">
                <a:moveTo>
                  <a:pt x="0" y="0"/>
                </a:moveTo>
                <a:lnTo>
                  <a:pt x="4396105" y="0"/>
                </a:lnTo>
              </a:path>
            </a:pathLst>
          </a:custGeom>
          <a:ln w="10121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54990" y="4290229"/>
            <a:ext cx="3431540" cy="1600200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360680">
              <a:lnSpc>
                <a:spcPct val="100000"/>
              </a:lnSpc>
              <a:spcBef>
                <a:spcPts val="635"/>
              </a:spcBef>
            </a:pPr>
            <a:r>
              <a:rPr sz="1750" b="1" spc="-25" dirty="0">
                <a:solidFill>
                  <a:srgbClr val="213739"/>
                </a:solidFill>
                <a:latin typeface="Trebuchet MS"/>
                <a:cs typeface="Trebuchet MS"/>
              </a:rPr>
              <a:t>end</a:t>
            </a:r>
            <a:endParaRPr sz="1750">
              <a:latin typeface="Trebuchet MS"/>
              <a:cs typeface="Trebuchet MS"/>
            </a:endParaRPr>
          </a:p>
          <a:p>
            <a:pPr marL="25400">
              <a:lnSpc>
                <a:spcPct val="100000"/>
              </a:lnSpc>
              <a:spcBef>
                <a:spcPts val="530"/>
              </a:spcBef>
            </a:pPr>
            <a:r>
              <a:rPr sz="1750" b="1" spc="-25" dirty="0">
                <a:solidFill>
                  <a:srgbClr val="213739"/>
                </a:solidFill>
                <a:latin typeface="Trebuchet MS"/>
                <a:cs typeface="Trebuchet MS"/>
              </a:rPr>
              <a:t>end</a:t>
            </a:r>
            <a:endParaRPr sz="1750">
              <a:latin typeface="Trebuchet MS"/>
              <a:cs typeface="Trebuchet MS"/>
            </a:endParaRPr>
          </a:p>
          <a:p>
            <a:pPr marL="25400">
              <a:lnSpc>
                <a:spcPct val="100000"/>
              </a:lnSpc>
              <a:spcBef>
                <a:spcPts val="280"/>
              </a:spcBef>
            </a:pP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//the</a:t>
            </a:r>
            <a:r>
              <a:rPr sz="1750" spc="-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algorithm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converges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when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all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endParaRPr sz="1750">
              <a:latin typeface="Arial MT"/>
              <a:cs typeface="Arial MT"/>
            </a:endParaRPr>
          </a:p>
          <a:p>
            <a:pPr marL="25400">
              <a:lnSpc>
                <a:spcPct val="100000"/>
              </a:lnSpc>
            </a:pP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inputs</a:t>
            </a:r>
            <a:endParaRPr sz="1750">
              <a:latin typeface="Arial MT"/>
              <a:cs typeface="Arial MT"/>
            </a:endParaRPr>
          </a:p>
          <a:p>
            <a:pPr marL="134620">
              <a:lnSpc>
                <a:spcPct val="100000"/>
              </a:lnSpc>
              <a:spcBef>
                <a:spcPts val="550"/>
              </a:spcBef>
              <a:tabLst>
                <a:tab pos="2326640" algn="l"/>
              </a:tabLst>
            </a:pP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are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classified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correctly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	</a:t>
            </a:r>
            <a:r>
              <a:rPr sz="12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250" b="1" spc="-15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425" i="1" baseline="23391" dirty="0">
                <a:solidFill>
                  <a:srgbClr val="213739"/>
                </a:solidFill>
                <a:latin typeface="Georgia"/>
                <a:cs typeface="Georgia"/>
              </a:rPr>
              <a:t>T</a:t>
            </a:r>
            <a:r>
              <a:rPr sz="1425" i="1" spc="187" baseline="23391" dirty="0">
                <a:solidFill>
                  <a:srgbClr val="213739"/>
                </a:solidFill>
                <a:latin typeface="Georgia"/>
                <a:cs typeface="Georgia"/>
              </a:rPr>
              <a:t> </a:t>
            </a:r>
            <a:r>
              <a:rPr sz="1250" b="1" spc="-5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550922" y="5913386"/>
            <a:ext cx="628015" cy="0"/>
          </a:xfrm>
          <a:custGeom>
            <a:avLst/>
            <a:gdLst/>
            <a:ahLst/>
            <a:cxnLst/>
            <a:rect l="l" t="t" r="r" b="b"/>
            <a:pathLst>
              <a:path w="628014">
                <a:moveTo>
                  <a:pt x="0" y="0"/>
                </a:moveTo>
                <a:lnTo>
                  <a:pt x="627633" y="0"/>
                </a:lnTo>
              </a:path>
            </a:pathLst>
          </a:custGeom>
          <a:ln w="4559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555869" y="895604"/>
            <a:ext cx="3262629" cy="226568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40640" marR="30480" indent="-2540" algn="just">
              <a:lnSpc>
                <a:spcPct val="116799"/>
              </a:lnSpc>
              <a:spcBef>
                <a:spcPts val="40"/>
              </a:spcBef>
            </a:pP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For</a:t>
            </a:r>
            <a:r>
              <a:rPr sz="1750" spc="-2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spc="-1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6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5" dirty="0">
                <a:solidFill>
                  <a:srgbClr val="213739"/>
                </a:solidFill>
                <a:latin typeface="Lucida Sans Unicode"/>
                <a:cs typeface="Lucida Sans Unicode"/>
              </a:rPr>
              <a:t>∈</a:t>
            </a:r>
            <a:r>
              <a:rPr sz="1750" spc="-29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750" i="1" spc="48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if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spc="8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i="1" spc="85" dirty="0">
                <a:solidFill>
                  <a:srgbClr val="213739"/>
                </a:solidFill>
                <a:latin typeface="Calibri"/>
                <a:cs typeface="Calibri"/>
              </a:rPr>
              <a:t>.</a:t>
            </a:r>
            <a:r>
              <a:rPr sz="1750" b="1" spc="8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24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spc="58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1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then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it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means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that</a:t>
            </a:r>
            <a:r>
              <a:rPr sz="1750" spc="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angle</a:t>
            </a:r>
            <a:r>
              <a:rPr sz="1750" spc="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α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)</a:t>
            </a:r>
            <a:r>
              <a:rPr sz="1750" spc="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between</a:t>
            </a:r>
            <a:r>
              <a:rPr sz="1750" spc="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this</a:t>
            </a:r>
            <a:r>
              <a:rPr sz="1750" spc="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spc="-1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-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750" spc="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current</a:t>
            </a:r>
            <a:r>
              <a:rPr sz="1750" spc="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spc="-1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4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is</a:t>
            </a:r>
            <a:r>
              <a:rPr sz="1750" spc="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greater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than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90° (but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want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α</a:t>
            </a:r>
            <a:r>
              <a:rPr sz="1750" i="1" spc="20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1750" spc="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be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less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than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90°)</a:t>
            </a:r>
            <a:endParaRPr sz="1750">
              <a:latin typeface="Arial MT"/>
              <a:cs typeface="Arial MT"/>
            </a:endParaRPr>
          </a:p>
          <a:p>
            <a:pPr marL="40640" marR="34290" indent="-3175" algn="just">
              <a:lnSpc>
                <a:spcPct val="117700"/>
              </a:lnSpc>
              <a:spcBef>
                <a:spcPts val="495"/>
              </a:spcBef>
            </a:pP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What</a:t>
            </a:r>
            <a:r>
              <a:rPr sz="1750" spc="1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happens</a:t>
            </a:r>
            <a:r>
              <a:rPr sz="1750" spc="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1750" spc="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1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new</a:t>
            </a:r>
            <a:r>
              <a:rPr sz="1750" spc="1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angle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α</a:t>
            </a:r>
            <a:r>
              <a:rPr sz="1875" i="1" baseline="-8888" dirty="0">
                <a:solidFill>
                  <a:srgbClr val="213739"/>
                </a:solidFill>
                <a:latin typeface="Calibri"/>
                <a:cs typeface="Calibri"/>
              </a:rPr>
              <a:t>new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)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when </a:t>
            </a:r>
            <a:r>
              <a:rPr sz="1750" b="1" spc="10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b="1" spc="150" baseline="-8888" dirty="0">
                <a:solidFill>
                  <a:srgbClr val="213739"/>
                </a:solidFill>
                <a:latin typeface="Calibri"/>
                <a:cs typeface="Calibri"/>
              </a:rPr>
              <a:t>new</a:t>
            </a:r>
            <a:r>
              <a:rPr sz="1875" b="1" spc="735" baseline="-8888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12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1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+</a:t>
            </a:r>
            <a:r>
              <a:rPr sz="1750" spc="6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b="1" spc="-5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781415" y="5588609"/>
            <a:ext cx="196215" cy="2197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50" spc="-25" dirty="0">
                <a:solidFill>
                  <a:srgbClr val="213739"/>
                </a:solidFill>
                <a:latin typeface="Arial MT"/>
                <a:cs typeface="Arial MT"/>
              </a:rPr>
              <a:t>37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523481" y="3520821"/>
            <a:ext cx="322580" cy="2197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50" i="1" spc="40" dirty="0">
                <a:solidFill>
                  <a:srgbClr val="213739"/>
                </a:solidFill>
                <a:latin typeface="Calibri"/>
                <a:cs typeface="Calibri"/>
              </a:rPr>
              <a:t>new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989701" y="3438525"/>
            <a:ext cx="140398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854075" algn="l"/>
              </a:tabLst>
            </a:pPr>
            <a:r>
              <a:rPr sz="1750" i="1" spc="45" dirty="0">
                <a:solidFill>
                  <a:srgbClr val="213739"/>
                </a:solidFill>
                <a:latin typeface="Calibri"/>
                <a:cs typeface="Calibri"/>
              </a:rPr>
              <a:t>cos</a:t>
            </a:r>
            <a:r>
              <a:rPr sz="1750" spc="45" dirty="0">
                <a:solidFill>
                  <a:srgbClr val="213739"/>
                </a:solidFill>
                <a:latin typeface="Calibri"/>
                <a:cs typeface="Calibri"/>
              </a:rPr>
              <a:t>(</a:t>
            </a:r>
            <a:r>
              <a:rPr sz="1750" i="1" spc="45" dirty="0">
                <a:solidFill>
                  <a:srgbClr val="213739"/>
                </a:solidFill>
                <a:latin typeface="Calibri"/>
                <a:cs typeface="Calibri"/>
              </a:rPr>
              <a:t>α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)</a:t>
            </a:r>
            <a:r>
              <a:rPr sz="1750" spc="21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Lucida Sans Unicode"/>
                <a:cs typeface="Lucida Sans Unicode"/>
              </a:rPr>
              <a:t>∝</a:t>
            </a:r>
            <a:r>
              <a:rPr sz="1750" spc="-39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b="1" spc="-5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384542" y="3520821"/>
            <a:ext cx="347345" cy="2197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50" b="1" spc="65" dirty="0">
                <a:solidFill>
                  <a:srgbClr val="213739"/>
                </a:solidFill>
                <a:latin typeface="Calibri"/>
                <a:cs typeface="Calibri"/>
              </a:rPr>
              <a:t>new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776209" y="3329762"/>
            <a:ext cx="217170" cy="3994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1160"/>
              </a:lnSpc>
              <a:spcBef>
                <a:spcPts val="125"/>
              </a:spcBef>
            </a:pPr>
            <a:r>
              <a:rPr sz="1250" i="1" spc="-50" dirty="0">
                <a:solidFill>
                  <a:srgbClr val="213739"/>
                </a:solidFill>
                <a:latin typeface="Calibri"/>
                <a:cs typeface="Calibri"/>
              </a:rPr>
              <a:t>T</a:t>
            </a:r>
            <a:endParaRPr sz="1250">
              <a:latin typeface="Calibri"/>
              <a:cs typeface="Calibri"/>
            </a:endParaRPr>
          </a:p>
          <a:p>
            <a:pPr marL="102235">
              <a:lnSpc>
                <a:spcPts val="1760"/>
              </a:lnSpc>
            </a:pPr>
            <a:r>
              <a:rPr sz="1750" b="1" spc="-5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934454" y="3711321"/>
            <a:ext cx="1443355" cy="112776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R="278130" algn="r">
              <a:lnSpc>
                <a:spcPts val="1160"/>
              </a:lnSpc>
              <a:spcBef>
                <a:spcPts val="120"/>
              </a:spcBef>
            </a:pPr>
            <a:r>
              <a:rPr sz="1250" i="1" spc="-50" dirty="0">
                <a:solidFill>
                  <a:srgbClr val="213739"/>
                </a:solidFill>
                <a:latin typeface="Calibri"/>
                <a:cs typeface="Calibri"/>
              </a:rPr>
              <a:t>T</a:t>
            </a:r>
            <a:endParaRPr sz="1250">
              <a:latin typeface="Calibri"/>
              <a:cs typeface="Calibri"/>
            </a:endParaRPr>
          </a:p>
          <a:p>
            <a:pPr marL="63500">
              <a:lnSpc>
                <a:spcPts val="1760"/>
              </a:lnSpc>
              <a:tabLst>
                <a:tab pos="1178560" algn="l"/>
              </a:tabLst>
            </a:pPr>
            <a:r>
              <a:rPr sz="1750" spc="80" dirty="0">
                <a:solidFill>
                  <a:srgbClr val="213739"/>
                </a:solidFill>
                <a:latin typeface="Lucida Sans Unicode"/>
                <a:cs typeface="Lucida Sans Unicode"/>
              </a:rPr>
              <a:t>∝</a:t>
            </a:r>
            <a:r>
              <a:rPr sz="1750" spc="80" dirty="0">
                <a:solidFill>
                  <a:srgbClr val="213739"/>
                </a:solidFill>
                <a:latin typeface="Calibri"/>
                <a:cs typeface="Calibri"/>
              </a:rPr>
              <a:t>(</a:t>
            </a:r>
            <a:r>
              <a:rPr sz="1750" b="1" spc="8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5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+</a:t>
            </a:r>
            <a:r>
              <a:rPr sz="1750" spc="45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spc="-1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-20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)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b="1" spc="-5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endParaRPr sz="1750">
              <a:latin typeface="Calibri"/>
              <a:cs typeface="Calibri"/>
            </a:endParaRPr>
          </a:p>
          <a:p>
            <a:pPr marL="505459">
              <a:lnSpc>
                <a:spcPts val="1160"/>
              </a:lnSpc>
              <a:spcBef>
                <a:spcPts val="80"/>
              </a:spcBef>
              <a:tabLst>
                <a:tab pos="1172845" algn="l"/>
              </a:tabLst>
            </a:pPr>
            <a:r>
              <a:rPr sz="1250" i="1" spc="-50" dirty="0">
                <a:solidFill>
                  <a:srgbClr val="213739"/>
                </a:solidFill>
                <a:latin typeface="Calibri"/>
                <a:cs typeface="Calibri"/>
              </a:rPr>
              <a:t>T</a:t>
            </a:r>
            <a:r>
              <a:rPr sz="12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250" i="1" spc="-50" dirty="0">
                <a:solidFill>
                  <a:srgbClr val="213739"/>
                </a:solidFill>
                <a:latin typeface="Calibri"/>
                <a:cs typeface="Calibri"/>
              </a:rPr>
              <a:t>T</a:t>
            </a:r>
            <a:endParaRPr sz="1250">
              <a:latin typeface="Calibri"/>
              <a:cs typeface="Calibri"/>
            </a:endParaRPr>
          </a:p>
          <a:p>
            <a:pPr marL="63500">
              <a:lnSpc>
                <a:spcPts val="1760"/>
              </a:lnSpc>
              <a:tabLst>
                <a:tab pos="608965" algn="l"/>
                <a:tab pos="1277620" algn="l"/>
              </a:tabLst>
            </a:pPr>
            <a:r>
              <a:rPr sz="1750" spc="-25" dirty="0">
                <a:solidFill>
                  <a:srgbClr val="213739"/>
                </a:solidFill>
                <a:latin typeface="Lucida Sans Unicode"/>
                <a:cs typeface="Lucida Sans Unicode"/>
              </a:rPr>
              <a:t>∝</a:t>
            </a:r>
            <a:r>
              <a:rPr sz="1750" spc="-40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b="1" spc="-5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	x</a:t>
            </a:r>
            <a:r>
              <a:rPr sz="1750" b="1" spc="22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+</a:t>
            </a:r>
            <a:r>
              <a:rPr sz="1750" spc="44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spc="-5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b="1" spc="-5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endParaRPr sz="1750">
              <a:latin typeface="Calibri"/>
              <a:cs typeface="Calibri"/>
            </a:endParaRPr>
          </a:p>
          <a:p>
            <a:pPr marL="63500">
              <a:lnSpc>
                <a:spcPct val="100000"/>
              </a:lnSpc>
              <a:spcBef>
                <a:spcPts val="635"/>
              </a:spcBef>
            </a:pPr>
            <a:r>
              <a:rPr sz="1750" spc="-25" dirty="0">
                <a:solidFill>
                  <a:srgbClr val="213739"/>
                </a:solidFill>
                <a:latin typeface="Lucida Sans Unicode"/>
                <a:cs typeface="Lucida Sans Unicode"/>
              </a:rPr>
              <a:t>∝</a:t>
            </a:r>
            <a:r>
              <a:rPr sz="1750" spc="-36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cosα</a:t>
            </a:r>
            <a:r>
              <a:rPr sz="1750" i="1" spc="2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+</a:t>
            </a:r>
            <a:r>
              <a:rPr sz="1750" spc="47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875" i="1" baseline="31111" dirty="0">
                <a:solidFill>
                  <a:srgbClr val="213739"/>
                </a:solidFill>
                <a:latin typeface="Calibri"/>
                <a:cs typeface="Calibri"/>
              </a:rPr>
              <a:t>T</a:t>
            </a:r>
            <a:r>
              <a:rPr sz="1875" i="1" spc="104" baseline="31111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spc="-5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21" name="object 21" descr="$PPTXTitle"/>
          <p:cNvSpPr txBox="1">
            <a:spLocks noGrp="1"/>
          </p:cNvSpPr>
          <p:nvPr>
            <p:ph type="title"/>
          </p:nvPr>
        </p:nvSpPr>
        <p:spPr>
          <a:xfrm>
            <a:off x="1232712" y="202133"/>
            <a:ext cx="60204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10" dirty="0">
                <a:solidFill>
                  <a:srgbClr val="000000"/>
                </a:solidFill>
                <a:latin typeface="Calibri"/>
                <a:cs typeface="Calibri"/>
              </a:rPr>
              <a:t>Algorithm:</a:t>
            </a:r>
            <a:r>
              <a:rPr sz="2800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114" dirty="0">
                <a:solidFill>
                  <a:srgbClr val="000000"/>
                </a:solidFill>
                <a:latin typeface="Arial MT"/>
                <a:cs typeface="Arial MT"/>
              </a:rPr>
              <a:t>Perceptron</a:t>
            </a:r>
            <a:r>
              <a:rPr sz="2800" spc="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800" spc="-125" dirty="0">
                <a:solidFill>
                  <a:srgbClr val="000000"/>
                </a:solidFill>
                <a:latin typeface="Arial MT"/>
                <a:cs typeface="Arial MT"/>
              </a:rPr>
              <a:t>Learning</a:t>
            </a:r>
            <a:r>
              <a:rPr sz="2800" spc="-19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000000"/>
                </a:solidFill>
                <a:latin typeface="Arial MT"/>
                <a:cs typeface="Arial MT"/>
              </a:rPr>
              <a:t>Algorithm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941957" y="5816142"/>
            <a:ext cx="493395" cy="187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5"/>
              </a:lnSpc>
            </a:pPr>
            <a:r>
              <a:rPr sz="1250" i="1" dirty="0">
                <a:solidFill>
                  <a:srgbClr val="213739"/>
                </a:solidFill>
                <a:latin typeface="Calibri"/>
                <a:cs typeface="Calibri"/>
              </a:rPr>
              <a:t>cosα</a:t>
            </a:r>
            <a:r>
              <a:rPr sz="1250" i="1" spc="40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250" spc="-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endParaRPr sz="125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7690" y="1151890"/>
            <a:ext cx="1171575" cy="653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7700"/>
              </a:lnSpc>
              <a:spcBef>
                <a:spcPts val="100"/>
              </a:spcBef>
            </a:pP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750" i="1" spc="60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←</a:t>
            </a:r>
            <a:r>
              <a:rPr sz="1750" spc="-1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spc="50" dirty="0">
                <a:solidFill>
                  <a:srgbClr val="213739"/>
                </a:solidFill>
                <a:latin typeface="Calibri"/>
                <a:cs typeface="Calibri"/>
              </a:rPr>
              <a:t>inputs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750" i="1" spc="5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← </a:t>
            </a:r>
            <a:r>
              <a:rPr sz="1750" i="1" spc="50" dirty="0">
                <a:solidFill>
                  <a:srgbClr val="213739"/>
                </a:solidFill>
                <a:latin typeface="Calibri"/>
                <a:cs typeface="Calibri"/>
              </a:rPr>
              <a:t>inputs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27707" y="1143380"/>
            <a:ext cx="473709" cy="653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275" marR="5080" indent="-29209">
              <a:lnSpc>
                <a:spcPct val="117700"/>
              </a:lnSpc>
              <a:spcBef>
                <a:spcPts val="100"/>
              </a:spcBef>
            </a:pPr>
            <a:r>
              <a:rPr sz="1750" i="1" spc="-20" dirty="0">
                <a:solidFill>
                  <a:srgbClr val="213739"/>
                </a:solidFill>
                <a:latin typeface="Calibri"/>
                <a:cs typeface="Calibri"/>
              </a:rPr>
              <a:t>with with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92172" y="1161860"/>
            <a:ext cx="895350" cy="66103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0"/>
              </a:spcBef>
              <a:tabLst>
                <a:tab pos="684530" algn="l"/>
              </a:tabLst>
            </a:pP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label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;</a:t>
            </a:r>
            <a:endParaRPr sz="1750">
              <a:latin typeface="Arial MT"/>
              <a:cs typeface="Arial MT"/>
            </a:endParaRPr>
          </a:p>
          <a:p>
            <a:pPr marL="41275">
              <a:lnSpc>
                <a:spcPct val="100000"/>
              </a:lnSpc>
              <a:spcBef>
                <a:spcPts val="400"/>
              </a:spcBef>
              <a:tabLst>
                <a:tab pos="713740" algn="l"/>
              </a:tabLst>
            </a:pP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label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;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93852" y="2496311"/>
            <a:ext cx="0" cy="2197100"/>
          </a:xfrm>
          <a:custGeom>
            <a:avLst/>
            <a:gdLst/>
            <a:ahLst/>
            <a:cxnLst/>
            <a:rect l="l" t="t" r="r" b="b"/>
            <a:pathLst>
              <a:path h="2197100">
                <a:moveTo>
                  <a:pt x="0" y="2196719"/>
                </a:moveTo>
                <a:lnTo>
                  <a:pt x="0" y="0"/>
                </a:lnTo>
              </a:path>
            </a:pathLst>
          </a:custGeom>
          <a:ln w="5053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67690" y="1794118"/>
            <a:ext cx="3191510" cy="1268730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Initialize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1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randomly;</a:t>
            </a:r>
            <a:endParaRPr sz="17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1750" b="1" spc="-114" dirty="0">
                <a:solidFill>
                  <a:srgbClr val="213739"/>
                </a:solidFill>
                <a:latin typeface="Trebuchet MS"/>
                <a:cs typeface="Trebuchet MS"/>
              </a:rPr>
              <a:t>while</a:t>
            </a:r>
            <a:r>
              <a:rPr sz="1750" b="1" spc="-20" dirty="0">
                <a:solidFill>
                  <a:srgbClr val="213739"/>
                </a:solidFill>
                <a:latin typeface="Trebuchet MS"/>
                <a:cs typeface="Trebuchet MS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!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convergence</a:t>
            </a:r>
            <a:r>
              <a:rPr sz="1750" i="1" spc="10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spc="-25" dirty="0">
                <a:solidFill>
                  <a:srgbClr val="213739"/>
                </a:solidFill>
                <a:latin typeface="Trebuchet MS"/>
                <a:cs typeface="Trebuchet MS"/>
              </a:rPr>
              <a:t>do</a:t>
            </a:r>
            <a:endParaRPr sz="1750">
              <a:latin typeface="Trebuchet MS"/>
              <a:cs typeface="Trebuchet MS"/>
            </a:endParaRPr>
          </a:p>
          <a:p>
            <a:pPr marL="347980">
              <a:lnSpc>
                <a:spcPct val="100000"/>
              </a:lnSpc>
              <a:spcBef>
                <a:spcPts val="275"/>
              </a:spcBef>
            </a:pP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Pick</a:t>
            </a:r>
            <a:r>
              <a:rPr sz="1750" spc="-1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random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7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∈</a:t>
            </a:r>
            <a:r>
              <a:rPr sz="1750" spc="-30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750" i="1" spc="48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∪</a:t>
            </a:r>
            <a:r>
              <a:rPr sz="1750" spc="-40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750" i="1" spc="48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;</a:t>
            </a:r>
            <a:endParaRPr sz="1750">
              <a:latin typeface="Arial MT"/>
              <a:cs typeface="Arial MT"/>
            </a:endParaRPr>
          </a:p>
          <a:p>
            <a:pPr marL="347980">
              <a:lnSpc>
                <a:spcPct val="100000"/>
              </a:lnSpc>
              <a:spcBef>
                <a:spcPts val="370"/>
              </a:spcBef>
              <a:tabLst>
                <a:tab pos="1326515" algn="l"/>
                <a:tab pos="1910080" algn="l"/>
              </a:tabLst>
            </a:pPr>
            <a:r>
              <a:rPr sz="1750" b="1" spc="-65" dirty="0">
                <a:solidFill>
                  <a:srgbClr val="213739"/>
                </a:solidFill>
                <a:latin typeface="Trebuchet MS"/>
                <a:cs typeface="Trebuchet MS"/>
              </a:rPr>
              <a:t>if</a:t>
            </a:r>
            <a:r>
              <a:rPr sz="1750" b="1" spc="-155" dirty="0">
                <a:solidFill>
                  <a:srgbClr val="213739"/>
                </a:solidFill>
                <a:latin typeface="Trebuchet MS"/>
                <a:cs typeface="Trebuchet MS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6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∈</a:t>
            </a:r>
            <a:r>
              <a:rPr sz="1750" spc="-32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and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b="1" spc="6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i="1" spc="60" dirty="0">
                <a:solidFill>
                  <a:srgbClr val="213739"/>
                </a:solidFill>
                <a:latin typeface="Calibri"/>
                <a:cs typeface="Calibri"/>
              </a:rPr>
              <a:t>.</a:t>
            </a:r>
            <a:r>
              <a:rPr sz="1750" i="1" spc="-24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20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spc="70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spc="-70" dirty="0">
                <a:solidFill>
                  <a:srgbClr val="213739"/>
                </a:solidFill>
                <a:latin typeface="Trebuchet MS"/>
                <a:cs typeface="Trebuchet MS"/>
              </a:rPr>
              <a:t>then</a:t>
            </a:r>
            <a:endParaRPr sz="175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29602" y="3123945"/>
            <a:ext cx="0" cy="314325"/>
          </a:xfrm>
          <a:custGeom>
            <a:avLst/>
            <a:gdLst/>
            <a:ahLst/>
            <a:cxnLst/>
            <a:rect l="l" t="t" r="r" b="b"/>
            <a:pathLst>
              <a:path h="314325">
                <a:moveTo>
                  <a:pt x="0" y="313816"/>
                </a:moveTo>
                <a:lnTo>
                  <a:pt x="0" y="0"/>
                </a:lnTo>
              </a:path>
            </a:pathLst>
          </a:custGeom>
          <a:ln w="5053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29602" y="4065396"/>
            <a:ext cx="0" cy="314325"/>
          </a:xfrm>
          <a:custGeom>
            <a:avLst/>
            <a:gdLst/>
            <a:ahLst/>
            <a:cxnLst/>
            <a:rect l="l" t="t" r="r" b="b"/>
            <a:pathLst>
              <a:path h="314325">
                <a:moveTo>
                  <a:pt x="0" y="313816"/>
                </a:moveTo>
                <a:lnTo>
                  <a:pt x="0" y="0"/>
                </a:lnTo>
              </a:path>
            </a:pathLst>
          </a:custGeom>
          <a:ln w="5053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03580" y="3040125"/>
            <a:ext cx="1533525" cy="1285875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347980">
              <a:lnSpc>
                <a:spcPct val="100000"/>
              </a:lnSpc>
              <a:spcBef>
                <a:spcPts val="545"/>
              </a:spcBef>
            </a:pP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2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7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3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+</a:t>
            </a:r>
            <a:r>
              <a:rPr sz="1750" spc="44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25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;</a:t>
            </a:r>
            <a:endParaRPr sz="17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1750" b="1" spc="-25" dirty="0">
                <a:solidFill>
                  <a:srgbClr val="213739"/>
                </a:solidFill>
                <a:latin typeface="Trebuchet MS"/>
                <a:cs typeface="Trebuchet MS"/>
              </a:rPr>
              <a:t>end</a:t>
            </a:r>
            <a:endParaRPr sz="1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  <a:tabLst>
                <a:tab pos="1019810" algn="l"/>
              </a:tabLst>
            </a:pPr>
            <a:r>
              <a:rPr sz="1750" b="1" spc="-65" dirty="0">
                <a:solidFill>
                  <a:srgbClr val="213739"/>
                </a:solidFill>
                <a:latin typeface="Trebuchet MS"/>
                <a:cs typeface="Trebuchet MS"/>
              </a:rPr>
              <a:t>if</a:t>
            </a:r>
            <a:r>
              <a:rPr sz="1750" b="1" spc="-155" dirty="0">
                <a:solidFill>
                  <a:srgbClr val="213739"/>
                </a:solidFill>
                <a:latin typeface="Trebuchet MS"/>
                <a:cs typeface="Trebuchet MS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6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∈</a:t>
            </a:r>
            <a:r>
              <a:rPr sz="1750" spc="-32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and</a:t>
            </a:r>
            <a:endParaRPr sz="1750">
              <a:latin typeface="Calibri"/>
              <a:cs typeface="Calibri"/>
            </a:endParaRPr>
          </a:p>
          <a:p>
            <a:pPr marL="347980">
              <a:lnSpc>
                <a:spcPct val="100000"/>
              </a:lnSpc>
              <a:spcBef>
                <a:spcPts val="395"/>
              </a:spcBef>
            </a:pP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1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7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4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−</a:t>
            </a:r>
            <a:r>
              <a:rPr sz="1750" spc="-23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26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;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93111" y="3718305"/>
            <a:ext cx="129667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b="1" spc="8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i="1" spc="85" dirty="0">
                <a:solidFill>
                  <a:srgbClr val="213739"/>
                </a:solidFill>
                <a:latin typeface="Calibri"/>
                <a:cs typeface="Calibri"/>
              </a:rPr>
              <a:t>.</a:t>
            </a:r>
            <a:r>
              <a:rPr sz="1750" b="1" spc="8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19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≥</a:t>
            </a:r>
            <a:r>
              <a:rPr sz="1750" spc="-11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-2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spc="-55" dirty="0">
                <a:solidFill>
                  <a:srgbClr val="213739"/>
                </a:solidFill>
                <a:latin typeface="Trebuchet MS"/>
                <a:cs typeface="Trebuchet MS"/>
              </a:rPr>
              <a:t>then</a:t>
            </a:r>
            <a:endParaRPr sz="175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7690" y="4289974"/>
            <a:ext cx="4022725" cy="1294765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347980">
              <a:lnSpc>
                <a:spcPct val="100000"/>
              </a:lnSpc>
              <a:spcBef>
                <a:spcPts val="635"/>
              </a:spcBef>
            </a:pPr>
            <a:r>
              <a:rPr sz="1750" b="1" spc="-25" dirty="0">
                <a:solidFill>
                  <a:srgbClr val="213739"/>
                </a:solidFill>
                <a:latin typeface="Trebuchet MS"/>
                <a:cs typeface="Trebuchet MS"/>
              </a:rPr>
              <a:t>end</a:t>
            </a:r>
            <a:endParaRPr sz="1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750" b="1" spc="-25" dirty="0">
                <a:solidFill>
                  <a:srgbClr val="213739"/>
                </a:solidFill>
                <a:latin typeface="Trebuchet MS"/>
                <a:cs typeface="Trebuchet MS"/>
              </a:rPr>
              <a:t>end</a:t>
            </a:r>
            <a:endParaRPr sz="1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//the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algorithm 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converges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when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all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inputs</a:t>
            </a:r>
            <a:endParaRPr sz="1750">
              <a:latin typeface="Arial MT"/>
              <a:cs typeface="Arial MT"/>
            </a:endParaRPr>
          </a:p>
          <a:p>
            <a:pPr marL="121920">
              <a:lnSpc>
                <a:spcPct val="100000"/>
              </a:lnSpc>
              <a:spcBef>
                <a:spcPts val="370"/>
              </a:spcBef>
            </a:pP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are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classified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correctly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80618" y="5663781"/>
            <a:ext cx="4396105" cy="0"/>
          </a:xfrm>
          <a:custGeom>
            <a:avLst/>
            <a:gdLst/>
            <a:ahLst/>
            <a:cxnLst/>
            <a:rect l="l" t="t" r="r" b="b"/>
            <a:pathLst>
              <a:path w="4396105">
                <a:moveTo>
                  <a:pt x="0" y="0"/>
                </a:moveTo>
                <a:lnTo>
                  <a:pt x="4396105" y="0"/>
                </a:lnTo>
              </a:path>
            </a:pathLst>
          </a:custGeom>
          <a:ln w="10121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550922" y="5913386"/>
            <a:ext cx="628015" cy="0"/>
          </a:xfrm>
          <a:custGeom>
            <a:avLst/>
            <a:gdLst/>
            <a:ahLst/>
            <a:cxnLst/>
            <a:rect l="l" t="t" r="r" b="b"/>
            <a:pathLst>
              <a:path w="628014">
                <a:moveTo>
                  <a:pt x="0" y="0"/>
                </a:moveTo>
                <a:lnTo>
                  <a:pt x="627633" y="0"/>
                </a:lnTo>
              </a:path>
            </a:pathLst>
          </a:custGeom>
          <a:ln w="4559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555869" y="895604"/>
            <a:ext cx="3262629" cy="226568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40640" marR="30480" indent="-2540" algn="just">
              <a:lnSpc>
                <a:spcPct val="116799"/>
              </a:lnSpc>
              <a:spcBef>
                <a:spcPts val="40"/>
              </a:spcBef>
            </a:pP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For</a:t>
            </a:r>
            <a:r>
              <a:rPr sz="1750" spc="-2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spc="-1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6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5" dirty="0">
                <a:solidFill>
                  <a:srgbClr val="213739"/>
                </a:solidFill>
                <a:latin typeface="Lucida Sans Unicode"/>
                <a:cs typeface="Lucida Sans Unicode"/>
              </a:rPr>
              <a:t>∈</a:t>
            </a:r>
            <a:r>
              <a:rPr sz="1750" spc="-29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750" i="1" spc="48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if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spc="8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i="1" spc="85" dirty="0">
                <a:solidFill>
                  <a:srgbClr val="213739"/>
                </a:solidFill>
                <a:latin typeface="Calibri"/>
                <a:cs typeface="Calibri"/>
              </a:rPr>
              <a:t>.</a:t>
            </a:r>
            <a:r>
              <a:rPr sz="1750" b="1" spc="8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24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spc="58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1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then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it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means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that</a:t>
            </a:r>
            <a:r>
              <a:rPr sz="1750" spc="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angle</a:t>
            </a:r>
            <a:r>
              <a:rPr sz="1750" spc="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α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)</a:t>
            </a:r>
            <a:r>
              <a:rPr sz="1750" spc="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between</a:t>
            </a:r>
            <a:r>
              <a:rPr sz="1750" spc="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this</a:t>
            </a:r>
            <a:r>
              <a:rPr sz="1750" spc="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spc="-1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-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750" spc="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current</a:t>
            </a:r>
            <a:r>
              <a:rPr sz="1750" spc="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spc="-1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4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is</a:t>
            </a:r>
            <a:r>
              <a:rPr sz="1750" spc="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greater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than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90° (but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want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α</a:t>
            </a:r>
            <a:r>
              <a:rPr sz="1750" i="1" spc="20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1750" spc="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be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less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than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90°)</a:t>
            </a:r>
            <a:endParaRPr sz="1750">
              <a:latin typeface="Arial MT"/>
              <a:cs typeface="Arial MT"/>
            </a:endParaRPr>
          </a:p>
          <a:p>
            <a:pPr marL="40640" marR="34290" indent="-3175" algn="just">
              <a:lnSpc>
                <a:spcPct val="117700"/>
              </a:lnSpc>
              <a:spcBef>
                <a:spcPts val="495"/>
              </a:spcBef>
            </a:pP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What</a:t>
            </a:r>
            <a:r>
              <a:rPr sz="1750" spc="1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happens</a:t>
            </a:r>
            <a:r>
              <a:rPr sz="1750" spc="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1750" spc="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1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new</a:t>
            </a:r>
            <a:r>
              <a:rPr sz="1750" spc="1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angle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α</a:t>
            </a:r>
            <a:r>
              <a:rPr sz="1875" i="1" baseline="-8888" dirty="0">
                <a:solidFill>
                  <a:srgbClr val="213739"/>
                </a:solidFill>
                <a:latin typeface="Calibri"/>
                <a:cs typeface="Calibri"/>
              </a:rPr>
              <a:t>new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)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when </a:t>
            </a:r>
            <a:r>
              <a:rPr sz="1750" b="1" spc="10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b="1" spc="150" baseline="-8888" dirty="0">
                <a:solidFill>
                  <a:srgbClr val="213739"/>
                </a:solidFill>
                <a:latin typeface="Calibri"/>
                <a:cs typeface="Calibri"/>
              </a:rPr>
              <a:t>new</a:t>
            </a:r>
            <a:r>
              <a:rPr sz="1875" b="1" spc="735" baseline="-8888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12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1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+</a:t>
            </a:r>
            <a:r>
              <a:rPr sz="1750" spc="6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b="1" spc="-5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643885" y="5658713"/>
            <a:ext cx="408305" cy="2197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2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250" b="1" spc="-15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425" i="1" baseline="23391" dirty="0">
                <a:solidFill>
                  <a:srgbClr val="213739"/>
                </a:solidFill>
                <a:latin typeface="Georgia"/>
                <a:cs typeface="Georgia"/>
              </a:rPr>
              <a:t>T</a:t>
            </a:r>
            <a:r>
              <a:rPr sz="1425" i="1" spc="187" baseline="23391" dirty="0">
                <a:solidFill>
                  <a:srgbClr val="213739"/>
                </a:solidFill>
                <a:latin typeface="Georgia"/>
                <a:cs typeface="Georgia"/>
              </a:rPr>
              <a:t> </a:t>
            </a:r>
            <a:r>
              <a:rPr sz="1250" b="1" spc="-5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523481" y="3520821"/>
            <a:ext cx="322580" cy="2197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50" i="1" spc="40" dirty="0">
                <a:solidFill>
                  <a:srgbClr val="213739"/>
                </a:solidFill>
                <a:latin typeface="Calibri"/>
                <a:cs typeface="Calibri"/>
              </a:rPr>
              <a:t>new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989701" y="3438525"/>
            <a:ext cx="140398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854075" algn="l"/>
              </a:tabLst>
            </a:pPr>
            <a:r>
              <a:rPr sz="1750" i="1" spc="45" dirty="0">
                <a:solidFill>
                  <a:srgbClr val="213739"/>
                </a:solidFill>
                <a:latin typeface="Calibri"/>
                <a:cs typeface="Calibri"/>
              </a:rPr>
              <a:t>cos</a:t>
            </a:r>
            <a:r>
              <a:rPr sz="1750" spc="45" dirty="0">
                <a:solidFill>
                  <a:srgbClr val="213739"/>
                </a:solidFill>
                <a:latin typeface="Calibri"/>
                <a:cs typeface="Calibri"/>
              </a:rPr>
              <a:t>(</a:t>
            </a:r>
            <a:r>
              <a:rPr sz="1750" i="1" spc="45" dirty="0">
                <a:solidFill>
                  <a:srgbClr val="213739"/>
                </a:solidFill>
                <a:latin typeface="Calibri"/>
                <a:cs typeface="Calibri"/>
              </a:rPr>
              <a:t>α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)</a:t>
            </a:r>
            <a:r>
              <a:rPr sz="1750" spc="21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Lucida Sans Unicode"/>
                <a:cs typeface="Lucida Sans Unicode"/>
              </a:rPr>
              <a:t>∝</a:t>
            </a:r>
            <a:r>
              <a:rPr sz="1750" spc="-39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b="1" spc="-5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384542" y="3520821"/>
            <a:ext cx="347345" cy="2197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50" b="1" spc="65" dirty="0">
                <a:solidFill>
                  <a:srgbClr val="213739"/>
                </a:solidFill>
                <a:latin typeface="Calibri"/>
                <a:cs typeface="Calibri"/>
              </a:rPr>
              <a:t>new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776209" y="3329762"/>
            <a:ext cx="217170" cy="3994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1160"/>
              </a:lnSpc>
              <a:spcBef>
                <a:spcPts val="125"/>
              </a:spcBef>
            </a:pPr>
            <a:r>
              <a:rPr sz="1250" i="1" spc="-50" dirty="0">
                <a:solidFill>
                  <a:srgbClr val="213739"/>
                </a:solidFill>
                <a:latin typeface="Calibri"/>
                <a:cs typeface="Calibri"/>
              </a:rPr>
              <a:t>T</a:t>
            </a:r>
            <a:endParaRPr sz="1250">
              <a:latin typeface="Calibri"/>
              <a:cs typeface="Calibri"/>
            </a:endParaRPr>
          </a:p>
          <a:p>
            <a:pPr marL="102235">
              <a:lnSpc>
                <a:spcPts val="1760"/>
              </a:lnSpc>
            </a:pPr>
            <a:r>
              <a:rPr sz="1750" b="1" spc="-5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925311" y="3711321"/>
            <a:ext cx="3065145" cy="2096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R="890905" algn="r">
              <a:lnSpc>
                <a:spcPts val="1160"/>
              </a:lnSpc>
              <a:spcBef>
                <a:spcPts val="120"/>
              </a:spcBef>
            </a:pPr>
            <a:r>
              <a:rPr sz="1250" i="1" spc="-50" dirty="0">
                <a:solidFill>
                  <a:srgbClr val="213739"/>
                </a:solidFill>
                <a:latin typeface="Calibri"/>
                <a:cs typeface="Calibri"/>
              </a:rPr>
              <a:t>T</a:t>
            </a:r>
            <a:endParaRPr sz="1250" dirty="0">
              <a:latin typeface="Calibri"/>
              <a:cs typeface="Calibri"/>
            </a:endParaRPr>
          </a:p>
          <a:p>
            <a:pPr marL="1072515">
              <a:lnSpc>
                <a:spcPts val="1760"/>
              </a:lnSpc>
              <a:tabLst>
                <a:tab pos="2187575" algn="l"/>
              </a:tabLst>
            </a:pPr>
            <a:r>
              <a:rPr sz="1750" spc="80" dirty="0">
                <a:solidFill>
                  <a:srgbClr val="213739"/>
                </a:solidFill>
                <a:latin typeface="Lucida Sans Unicode"/>
                <a:cs typeface="Lucida Sans Unicode"/>
              </a:rPr>
              <a:t>∝</a:t>
            </a:r>
            <a:r>
              <a:rPr sz="1750" spc="80" dirty="0">
                <a:solidFill>
                  <a:srgbClr val="213739"/>
                </a:solidFill>
                <a:latin typeface="Calibri"/>
                <a:cs typeface="Calibri"/>
              </a:rPr>
              <a:t>(</a:t>
            </a:r>
            <a:r>
              <a:rPr sz="1750" b="1" spc="8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5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+</a:t>
            </a:r>
            <a:r>
              <a:rPr sz="1750" spc="45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spc="-1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-20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)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b="1" spc="-5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endParaRPr sz="1750" dirty="0">
              <a:latin typeface="Calibri"/>
              <a:cs typeface="Calibri"/>
            </a:endParaRPr>
          </a:p>
          <a:p>
            <a:pPr marL="1514475">
              <a:lnSpc>
                <a:spcPts val="1160"/>
              </a:lnSpc>
              <a:spcBef>
                <a:spcPts val="80"/>
              </a:spcBef>
              <a:tabLst>
                <a:tab pos="2181860" algn="l"/>
              </a:tabLst>
            </a:pPr>
            <a:r>
              <a:rPr sz="1250" i="1" spc="-50" dirty="0">
                <a:solidFill>
                  <a:srgbClr val="213739"/>
                </a:solidFill>
                <a:latin typeface="Calibri"/>
                <a:cs typeface="Calibri"/>
              </a:rPr>
              <a:t>T</a:t>
            </a:r>
            <a:r>
              <a:rPr sz="12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250" i="1" spc="-50" dirty="0">
                <a:solidFill>
                  <a:srgbClr val="213739"/>
                </a:solidFill>
                <a:latin typeface="Calibri"/>
                <a:cs typeface="Calibri"/>
              </a:rPr>
              <a:t>T</a:t>
            </a:r>
            <a:endParaRPr sz="1250" dirty="0">
              <a:latin typeface="Calibri"/>
              <a:cs typeface="Calibri"/>
            </a:endParaRPr>
          </a:p>
          <a:p>
            <a:pPr marL="1072515">
              <a:lnSpc>
                <a:spcPts val="1760"/>
              </a:lnSpc>
              <a:tabLst>
                <a:tab pos="1617980" algn="l"/>
                <a:tab pos="2286635" algn="l"/>
              </a:tabLst>
            </a:pPr>
            <a:r>
              <a:rPr sz="1750" spc="-25" dirty="0">
                <a:solidFill>
                  <a:srgbClr val="213739"/>
                </a:solidFill>
                <a:latin typeface="Lucida Sans Unicode"/>
                <a:cs typeface="Lucida Sans Unicode"/>
              </a:rPr>
              <a:t>∝</a:t>
            </a:r>
            <a:r>
              <a:rPr sz="1750" spc="-40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b="1" spc="-5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	x</a:t>
            </a:r>
            <a:r>
              <a:rPr sz="1750" b="1" spc="22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+</a:t>
            </a:r>
            <a:r>
              <a:rPr sz="1750" spc="44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spc="-5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b="1" spc="-5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endParaRPr sz="1750" dirty="0">
              <a:latin typeface="Calibri"/>
              <a:cs typeface="Calibri"/>
            </a:endParaRPr>
          </a:p>
          <a:p>
            <a:pPr marL="1072515">
              <a:lnSpc>
                <a:spcPct val="100000"/>
              </a:lnSpc>
              <a:spcBef>
                <a:spcPts val="585"/>
              </a:spcBef>
            </a:pPr>
            <a:r>
              <a:rPr sz="1750" spc="-25" dirty="0">
                <a:solidFill>
                  <a:srgbClr val="213739"/>
                </a:solidFill>
                <a:latin typeface="Lucida Sans Unicode"/>
                <a:cs typeface="Lucida Sans Unicode"/>
              </a:rPr>
              <a:t>∝</a:t>
            </a:r>
            <a:r>
              <a:rPr sz="1750" spc="-35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cosα</a:t>
            </a:r>
            <a:r>
              <a:rPr sz="1750" i="1" spc="2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+</a:t>
            </a:r>
            <a:r>
              <a:rPr sz="1750" spc="459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1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875" i="1" baseline="26666" dirty="0">
                <a:solidFill>
                  <a:srgbClr val="213739"/>
                </a:solidFill>
                <a:latin typeface="Calibri"/>
                <a:cs typeface="Calibri"/>
              </a:rPr>
              <a:t>T</a:t>
            </a:r>
            <a:r>
              <a:rPr sz="1875" i="1" spc="120" baseline="26666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spc="-5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endParaRPr sz="1750" dirty="0">
              <a:latin typeface="Calibri"/>
              <a:cs typeface="Calibri"/>
            </a:endParaRPr>
          </a:p>
          <a:p>
            <a:pPr marL="76200">
              <a:lnSpc>
                <a:spcPct val="100000"/>
              </a:lnSpc>
              <a:spcBef>
                <a:spcPts val="825"/>
              </a:spcBef>
            </a:pPr>
            <a:r>
              <a:rPr sz="1750" i="1" spc="70" dirty="0">
                <a:solidFill>
                  <a:srgbClr val="213739"/>
                </a:solidFill>
                <a:latin typeface="Calibri"/>
                <a:cs typeface="Calibri"/>
              </a:rPr>
              <a:t>cos</a:t>
            </a:r>
            <a:r>
              <a:rPr sz="1750" spc="70" dirty="0">
                <a:solidFill>
                  <a:srgbClr val="213739"/>
                </a:solidFill>
                <a:latin typeface="Calibri"/>
                <a:cs typeface="Calibri"/>
              </a:rPr>
              <a:t>(</a:t>
            </a:r>
            <a:r>
              <a:rPr sz="1750" i="1" spc="70" dirty="0">
                <a:solidFill>
                  <a:srgbClr val="213739"/>
                </a:solidFill>
                <a:latin typeface="Calibri"/>
                <a:cs typeface="Calibri"/>
              </a:rPr>
              <a:t>α</a:t>
            </a:r>
            <a:r>
              <a:rPr sz="1875" i="1" spc="104" baseline="-8888" dirty="0">
                <a:solidFill>
                  <a:srgbClr val="213739"/>
                </a:solidFill>
                <a:latin typeface="Calibri"/>
                <a:cs typeface="Calibri"/>
              </a:rPr>
              <a:t>new</a:t>
            </a:r>
            <a:r>
              <a:rPr sz="1750" spc="70" dirty="0">
                <a:solidFill>
                  <a:srgbClr val="213739"/>
                </a:solidFill>
                <a:latin typeface="Calibri"/>
                <a:cs typeface="Calibri"/>
              </a:rPr>
              <a:t>)</a:t>
            </a:r>
            <a:r>
              <a:rPr sz="1750" spc="18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&gt;</a:t>
            </a:r>
            <a:r>
              <a:rPr sz="1750" i="1" spc="80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i="1" spc="-20" dirty="0">
                <a:solidFill>
                  <a:srgbClr val="213739"/>
                </a:solidFill>
                <a:latin typeface="Calibri"/>
                <a:cs typeface="Calibri"/>
              </a:rPr>
              <a:t>cosα</a:t>
            </a:r>
            <a:endParaRPr sz="17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15"/>
              </a:spcBef>
            </a:pPr>
            <a:endParaRPr sz="1750" dirty="0">
              <a:latin typeface="Calibri"/>
              <a:cs typeface="Calibri"/>
            </a:endParaRPr>
          </a:p>
          <a:p>
            <a:pPr marR="17780" algn="r">
              <a:lnSpc>
                <a:spcPct val="100000"/>
              </a:lnSpc>
            </a:pPr>
            <a:r>
              <a:rPr sz="1250" spc="-25" dirty="0">
                <a:solidFill>
                  <a:srgbClr val="213739"/>
                </a:solidFill>
                <a:latin typeface="Arial MT"/>
                <a:cs typeface="Arial MT"/>
              </a:rPr>
              <a:t>37</a:t>
            </a:r>
            <a:endParaRPr sz="1250" dirty="0">
              <a:latin typeface="Arial MT"/>
              <a:cs typeface="Arial MT"/>
            </a:endParaRPr>
          </a:p>
        </p:txBody>
      </p:sp>
      <p:sp>
        <p:nvSpPr>
          <p:cNvPr id="21" name="object 21" descr="$PPTXTitle"/>
          <p:cNvSpPr txBox="1">
            <a:spLocks noGrp="1"/>
          </p:cNvSpPr>
          <p:nvPr>
            <p:ph type="title"/>
          </p:nvPr>
        </p:nvSpPr>
        <p:spPr>
          <a:xfrm>
            <a:off x="1232712" y="202133"/>
            <a:ext cx="60204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10" dirty="0">
                <a:solidFill>
                  <a:srgbClr val="000000"/>
                </a:solidFill>
                <a:latin typeface="Calibri"/>
                <a:cs typeface="Calibri"/>
              </a:rPr>
              <a:t>Algorithm:</a:t>
            </a:r>
            <a:r>
              <a:rPr sz="2800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114" dirty="0">
                <a:solidFill>
                  <a:srgbClr val="000000"/>
                </a:solidFill>
                <a:latin typeface="Arial MT"/>
                <a:cs typeface="Arial MT"/>
              </a:rPr>
              <a:t>Perceptron</a:t>
            </a:r>
            <a:r>
              <a:rPr sz="2800" spc="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800" spc="-125" dirty="0">
                <a:solidFill>
                  <a:srgbClr val="000000"/>
                </a:solidFill>
                <a:latin typeface="Arial MT"/>
                <a:cs typeface="Arial MT"/>
              </a:rPr>
              <a:t>Learning</a:t>
            </a:r>
            <a:r>
              <a:rPr sz="2800" spc="-19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000000"/>
                </a:solidFill>
                <a:latin typeface="Arial MT"/>
                <a:cs typeface="Arial MT"/>
              </a:rPr>
              <a:t>Algorithm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941957" y="5816142"/>
            <a:ext cx="493395" cy="187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5"/>
              </a:lnSpc>
            </a:pPr>
            <a:r>
              <a:rPr sz="1250" i="1" dirty="0">
                <a:solidFill>
                  <a:srgbClr val="213739"/>
                </a:solidFill>
                <a:latin typeface="Calibri"/>
                <a:cs typeface="Calibri"/>
              </a:rPr>
              <a:t>cosα</a:t>
            </a:r>
            <a:r>
              <a:rPr sz="1250" i="1" spc="40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250" spc="-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endParaRPr sz="125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7690" y="1151890"/>
            <a:ext cx="1171575" cy="653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7700"/>
              </a:lnSpc>
              <a:spcBef>
                <a:spcPts val="100"/>
              </a:spcBef>
            </a:pP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750" i="1" spc="60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←</a:t>
            </a:r>
            <a:r>
              <a:rPr sz="1750" spc="-1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spc="50" dirty="0">
                <a:solidFill>
                  <a:srgbClr val="213739"/>
                </a:solidFill>
                <a:latin typeface="Calibri"/>
                <a:cs typeface="Calibri"/>
              </a:rPr>
              <a:t>inputs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750" i="1" spc="5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← </a:t>
            </a:r>
            <a:r>
              <a:rPr sz="1750" i="1" spc="50" dirty="0">
                <a:solidFill>
                  <a:srgbClr val="213739"/>
                </a:solidFill>
                <a:latin typeface="Calibri"/>
                <a:cs typeface="Calibri"/>
              </a:rPr>
              <a:t>inputs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27707" y="1143380"/>
            <a:ext cx="473709" cy="653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275" marR="5080" indent="-29209">
              <a:lnSpc>
                <a:spcPct val="117700"/>
              </a:lnSpc>
              <a:spcBef>
                <a:spcPts val="100"/>
              </a:spcBef>
            </a:pPr>
            <a:r>
              <a:rPr sz="1750" i="1" spc="-20" dirty="0">
                <a:solidFill>
                  <a:srgbClr val="213739"/>
                </a:solidFill>
                <a:latin typeface="Calibri"/>
                <a:cs typeface="Calibri"/>
              </a:rPr>
              <a:t>with with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92172" y="1161860"/>
            <a:ext cx="895350" cy="66103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0"/>
              </a:spcBef>
              <a:tabLst>
                <a:tab pos="684530" algn="l"/>
              </a:tabLst>
            </a:pP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label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;</a:t>
            </a:r>
            <a:endParaRPr sz="1750">
              <a:latin typeface="Arial MT"/>
              <a:cs typeface="Arial MT"/>
            </a:endParaRPr>
          </a:p>
          <a:p>
            <a:pPr marL="41275">
              <a:lnSpc>
                <a:spcPct val="100000"/>
              </a:lnSpc>
              <a:spcBef>
                <a:spcPts val="400"/>
              </a:spcBef>
              <a:tabLst>
                <a:tab pos="713740" algn="l"/>
              </a:tabLst>
            </a:pP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label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;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93852" y="2496311"/>
            <a:ext cx="0" cy="2197100"/>
          </a:xfrm>
          <a:custGeom>
            <a:avLst/>
            <a:gdLst/>
            <a:ahLst/>
            <a:cxnLst/>
            <a:rect l="l" t="t" r="r" b="b"/>
            <a:pathLst>
              <a:path h="2197100">
                <a:moveTo>
                  <a:pt x="0" y="2196719"/>
                </a:moveTo>
                <a:lnTo>
                  <a:pt x="0" y="0"/>
                </a:lnTo>
              </a:path>
            </a:pathLst>
          </a:custGeom>
          <a:ln w="5053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67690" y="1794118"/>
            <a:ext cx="3191510" cy="1268730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Initialize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1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randomly;</a:t>
            </a:r>
            <a:endParaRPr sz="17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1750" b="1" spc="-114" dirty="0">
                <a:solidFill>
                  <a:srgbClr val="213739"/>
                </a:solidFill>
                <a:latin typeface="Trebuchet MS"/>
                <a:cs typeface="Trebuchet MS"/>
              </a:rPr>
              <a:t>while</a:t>
            </a:r>
            <a:r>
              <a:rPr sz="1750" b="1" spc="-20" dirty="0">
                <a:solidFill>
                  <a:srgbClr val="213739"/>
                </a:solidFill>
                <a:latin typeface="Trebuchet MS"/>
                <a:cs typeface="Trebuchet MS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!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convergence</a:t>
            </a:r>
            <a:r>
              <a:rPr sz="1750" i="1" spc="10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spc="-25" dirty="0">
                <a:solidFill>
                  <a:srgbClr val="213739"/>
                </a:solidFill>
                <a:latin typeface="Trebuchet MS"/>
                <a:cs typeface="Trebuchet MS"/>
              </a:rPr>
              <a:t>do</a:t>
            </a:r>
            <a:endParaRPr sz="1750">
              <a:latin typeface="Trebuchet MS"/>
              <a:cs typeface="Trebuchet MS"/>
            </a:endParaRPr>
          </a:p>
          <a:p>
            <a:pPr marL="347980">
              <a:lnSpc>
                <a:spcPct val="100000"/>
              </a:lnSpc>
              <a:spcBef>
                <a:spcPts val="275"/>
              </a:spcBef>
            </a:pP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Pick</a:t>
            </a:r>
            <a:r>
              <a:rPr sz="1750" spc="-1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random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7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∈</a:t>
            </a:r>
            <a:r>
              <a:rPr sz="1750" spc="-30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750" i="1" spc="48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∪</a:t>
            </a:r>
            <a:r>
              <a:rPr sz="1750" spc="-40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750" i="1" spc="48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;</a:t>
            </a:r>
            <a:endParaRPr sz="1750">
              <a:latin typeface="Arial MT"/>
              <a:cs typeface="Arial MT"/>
            </a:endParaRPr>
          </a:p>
          <a:p>
            <a:pPr marL="347980">
              <a:lnSpc>
                <a:spcPct val="100000"/>
              </a:lnSpc>
              <a:spcBef>
                <a:spcPts val="370"/>
              </a:spcBef>
              <a:tabLst>
                <a:tab pos="1326515" algn="l"/>
                <a:tab pos="1910080" algn="l"/>
              </a:tabLst>
            </a:pPr>
            <a:r>
              <a:rPr sz="1750" b="1" spc="-65" dirty="0">
                <a:solidFill>
                  <a:srgbClr val="213739"/>
                </a:solidFill>
                <a:latin typeface="Trebuchet MS"/>
                <a:cs typeface="Trebuchet MS"/>
              </a:rPr>
              <a:t>if</a:t>
            </a:r>
            <a:r>
              <a:rPr sz="1750" b="1" spc="-155" dirty="0">
                <a:solidFill>
                  <a:srgbClr val="213739"/>
                </a:solidFill>
                <a:latin typeface="Trebuchet MS"/>
                <a:cs typeface="Trebuchet MS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6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∈</a:t>
            </a:r>
            <a:r>
              <a:rPr sz="1750" spc="-32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and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b="1" spc="6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i="1" spc="60" dirty="0">
                <a:solidFill>
                  <a:srgbClr val="213739"/>
                </a:solidFill>
                <a:latin typeface="Calibri"/>
                <a:cs typeface="Calibri"/>
              </a:rPr>
              <a:t>.</a:t>
            </a:r>
            <a:r>
              <a:rPr sz="1750" i="1" spc="-24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20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spc="70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spc="-70" dirty="0">
                <a:solidFill>
                  <a:srgbClr val="213739"/>
                </a:solidFill>
                <a:latin typeface="Trebuchet MS"/>
                <a:cs typeface="Trebuchet MS"/>
              </a:rPr>
              <a:t>then</a:t>
            </a:r>
            <a:endParaRPr sz="175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29602" y="3123945"/>
            <a:ext cx="0" cy="314325"/>
          </a:xfrm>
          <a:custGeom>
            <a:avLst/>
            <a:gdLst/>
            <a:ahLst/>
            <a:cxnLst/>
            <a:rect l="l" t="t" r="r" b="b"/>
            <a:pathLst>
              <a:path h="314325">
                <a:moveTo>
                  <a:pt x="0" y="313816"/>
                </a:moveTo>
                <a:lnTo>
                  <a:pt x="0" y="0"/>
                </a:lnTo>
              </a:path>
            </a:pathLst>
          </a:custGeom>
          <a:ln w="5053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29602" y="4065396"/>
            <a:ext cx="0" cy="314325"/>
          </a:xfrm>
          <a:custGeom>
            <a:avLst/>
            <a:gdLst/>
            <a:ahLst/>
            <a:cxnLst/>
            <a:rect l="l" t="t" r="r" b="b"/>
            <a:pathLst>
              <a:path h="314325">
                <a:moveTo>
                  <a:pt x="0" y="313816"/>
                </a:moveTo>
                <a:lnTo>
                  <a:pt x="0" y="0"/>
                </a:lnTo>
              </a:path>
            </a:pathLst>
          </a:custGeom>
          <a:ln w="5053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03580" y="3040125"/>
            <a:ext cx="1533525" cy="1285875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347980">
              <a:lnSpc>
                <a:spcPct val="100000"/>
              </a:lnSpc>
              <a:spcBef>
                <a:spcPts val="545"/>
              </a:spcBef>
            </a:pP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2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7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3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+</a:t>
            </a:r>
            <a:r>
              <a:rPr sz="1750" spc="44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25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;</a:t>
            </a:r>
            <a:endParaRPr sz="17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1750" b="1" spc="-25" dirty="0">
                <a:solidFill>
                  <a:srgbClr val="213739"/>
                </a:solidFill>
                <a:latin typeface="Trebuchet MS"/>
                <a:cs typeface="Trebuchet MS"/>
              </a:rPr>
              <a:t>end</a:t>
            </a:r>
            <a:endParaRPr sz="1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  <a:tabLst>
                <a:tab pos="1019810" algn="l"/>
              </a:tabLst>
            </a:pPr>
            <a:r>
              <a:rPr sz="1750" b="1" spc="-65" dirty="0">
                <a:solidFill>
                  <a:srgbClr val="213739"/>
                </a:solidFill>
                <a:latin typeface="Trebuchet MS"/>
                <a:cs typeface="Trebuchet MS"/>
              </a:rPr>
              <a:t>if</a:t>
            </a:r>
            <a:r>
              <a:rPr sz="1750" b="1" spc="-155" dirty="0">
                <a:solidFill>
                  <a:srgbClr val="213739"/>
                </a:solidFill>
                <a:latin typeface="Trebuchet MS"/>
                <a:cs typeface="Trebuchet MS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6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∈</a:t>
            </a:r>
            <a:r>
              <a:rPr sz="1750" spc="-32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and</a:t>
            </a:r>
            <a:endParaRPr sz="1750">
              <a:latin typeface="Calibri"/>
              <a:cs typeface="Calibri"/>
            </a:endParaRPr>
          </a:p>
          <a:p>
            <a:pPr marL="347980">
              <a:lnSpc>
                <a:spcPct val="100000"/>
              </a:lnSpc>
              <a:spcBef>
                <a:spcPts val="395"/>
              </a:spcBef>
            </a:pP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1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7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4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−</a:t>
            </a:r>
            <a:r>
              <a:rPr sz="1750" spc="-23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26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;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93111" y="3718305"/>
            <a:ext cx="129667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b="1" spc="8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i="1" spc="85" dirty="0">
                <a:solidFill>
                  <a:srgbClr val="213739"/>
                </a:solidFill>
                <a:latin typeface="Calibri"/>
                <a:cs typeface="Calibri"/>
              </a:rPr>
              <a:t>.</a:t>
            </a:r>
            <a:r>
              <a:rPr sz="1750" b="1" spc="8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19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≥</a:t>
            </a:r>
            <a:r>
              <a:rPr sz="1750" spc="-11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-2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spc="-55" dirty="0">
                <a:solidFill>
                  <a:srgbClr val="213739"/>
                </a:solidFill>
                <a:latin typeface="Trebuchet MS"/>
                <a:cs typeface="Trebuchet MS"/>
              </a:rPr>
              <a:t>then</a:t>
            </a:r>
            <a:endParaRPr sz="175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7690" y="4289974"/>
            <a:ext cx="4022725" cy="1294765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347980">
              <a:lnSpc>
                <a:spcPct val="100000"/>
              </a:lnSpc>
              <a:spcBef>
                <a:spcPts val="635"/>
              </a:spcBef>
            </a:pPr>
            <a:r>
              <a:rPr sz="1750" b="1" spc="-25" dirty="0">
                <a:solidFill>
                  <a:srgbClr val="213739"/>
                </a:solidFill>
                <a:latin typeface="Trebuchet MS"/>
                <a:cs typeface="Trebuchet MS"/>
              </a:rPr>
              <a:t>end</a:t>
            </a:r>
            <a:endParaRPr sz="1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750" b="1" spc="-25" dirty="0">
                <a:solidFill>
                  <a:srgbClr val="213739"/>
                </a:solidFill>
                <a:latin typeface="Trebuchet MS"/>
                <a:cs typeface="Trebuchet MS"/>
              </a:rPr>
              <a:t>end</a:t>
            </a:r>
            <a:endParaRPr sz="1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//the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algorithm 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converges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when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all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inputs</a:t>
            </a:r>
            <a:endParaRPr sz="1750">
              <a:latin typeface="Arial MT"/>
              <a:cs typeface="Arial MT"/>
            </a:endParaRPr>
          </a:p>
          <a:p>
            <a:pPr marL="121920">
              <a:lnSpc>
                <a:spcPct val="100000"/>
              </a:lnSpc>
              <a:spcBef>
                <a:spcPts val="370"/>
              </a:spcBef>
            </a:pP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are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classified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correctly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80618" y="5663781"/>
            <a:ext cx="4396105" cy="0"/>
          </a:xfrm>
          <a:custGeom>
            <a:avLst/>
            <a:gdLst/>
            <a:ahLst/>
            <a:cxnLst/>
            <a:rect l="l" t="t" r="r" b="b"/>
            <a:pathLst>
              <a:path w="4396105">
                <a:moveTo>
                  <a:pt x="0" y="0"/>
                </a:moveTo>
                <a:lnTo>
                  <a:pt x="4396105" y="0"/>
                </a:lnTo>
              </a:path>
            </a:pathLst>
          </a:custGeom>
          <a:ln w="10121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550922" y="5913386"/>
            <a:ext cx="628015" cy="0"/>
          </a:xfrm>
          <a:custGeom>
            <a:avLst/>
            <a:gdLst/>
            <a:ahLst/>
            <a:cxnLst/>
            <a:rect l="l" t="t" r="r" b="b"/>
            <a:pathLst>
              <a:path w="628014">
                <a:moveTo>
                  <a:pt x="0" y="0"/>
                </a:moveTo>
                <a:lnTo>
                  <a:pt x="627633" y="0"/>
                </a:lnTo>
              </a:path>
            </a:pathLst>
          </a:custGeom>
          <a:ln w="4559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555869" y="895604"/>
            <a:ext cx="3262629" cy="226568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40640" marR="30480" indent="-2540" algn="just">
              <a:lnSpc>
                <a:spcPct val="116799"/>
              </a:lnSpc>
              <a:spcBef>
                <a:spcPts val="40"/>
              </a:spcBef>
            </a:pP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For</a:t>
            </a:r>
            <a:r>
              <a:rPr sz="1750" spc="-2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spc="-1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6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5" dirty="0">
                <a:solidFill>
                  <a:srgbClr val="213739"/>
                </a:solidFill>
                <a:latin typeface="Lucida Sans Unicode"/>
                <a:cs typeface="Lucida Sans Unicode"/>
              </a:rPr>
              <a:t>∈</a:t>
            </a:r>
            <a:r>
              <a:rPr sz="1750" spc="-29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750" i="1" spc="48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if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spc="8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i="1" spc="85" dirty="0">
                <a:solidFill>
                  <a:srgbClr val="213739"/>
                </a:solidFill>
                <a:latin typeface="Calibri"/>
                <a:cs typeface="Calibri"/>
              </a:rPr>
              <a:t>.</a:t>
            </a:r>
            <a:r>
              <a:rPr sz="1750" b="1" spc="8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24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spc="58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1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then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it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means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that</a:t>
            </a:r>
            <a:r>
              <a:rPr sz="1750" spc="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angle</a:t>
            </a:r>
            <a:r>
              <a:rPr sz="1750" spc="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α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)</a:t>
            </a:r>
            <a:r>
              <a:rPr sz="1750" spc="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between</a:t>
            </a:r>
            <a:r>
              <a:rPr sz="1750" spc="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this</a:t>
            </a:r>
            <a:r>
              <a:rPr sz="1750" spc="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spc="-1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-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750" spc="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current</a:t>
            </a:r>
            <a:r>
              <a:rPr sz="1750" spc="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spc="-1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4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is</a:t>
            </a:r>
            <a:r>
              <a:rPr sz="1750" spc="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greater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than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90° (but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want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α</a:t>
            </a:r>
            <a:r>
              <a:rPr sz="1750" i="1" spc="20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1750" spc="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be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less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than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90°)</a:t>
            </a:r>
            <a:endParaRPr sz="1750">
              <a:latin typeface="Arial MT"/>
              <a:cs typeface="Arial MT"/>
            </a:endParaRPr>
          </a:p>
          <a:p>
            <a:pPr marL="40640" marR="34290" indent="-3175" algn="just">
              <a:lnSpc>
                <a:spcPct val="117700"/>
              </a:lnSpc>
              <a:spcBef>
                <a:spcPts val="495"/>
              </a:spcBef>
            </a:pP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What</a:t>
            </a:r>
            <a:r>
              <a:rPr sz="1750" spc="1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happens</a:t>
            </a:r>
            <a:r>
              <a:rPr sz="1750" spc="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1750" spc="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1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new</a:t>
            </a:r>
            <a:r>
              <a:rPr sz="1750" spc="1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angle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α</a:t>
            </a:r>
            <a:r>
              <a:rPr sz="1875" i="1" baseline="-8888" dirty="0">
                <a:solidFill>
                  <a:srgbClr val="213739"/>
                </a:solidFill>
                <a:latin typeface="Calibri"/>
                <a:cs typeface="Calibri"/>
              </a:rPr>
              <a:t>new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)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when </a:t>
            </a:r>
            <a:r>
              <a:rPr sz="1750" b="1" spc="10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b="1" spc="150" baseline="-8888" dirty="0">
                <a:solidFill>
                  <a:srgbClr val="213739"/>
                </a:solidFill>
                <a:latin typeface="Calibri"/>
                <a:cs typeface="Calibri"/>
              </a:rPr>
              <a:t>new</a:t>
            </a:r>
            <a:r>
              <a:rPr sz="1875" b="1" spc="735" baseline="-8888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12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1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+</a:t>
            </a:r>
            <a:r>
              <a:rPr sz="1750" spc="6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b="1" spc="-5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521957" y="3520821"/>
            <a:ext cx="322580" cy="2197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50" i="1" spc="40" dirty="0">
                <a:solidFill>
                  <a:srgbClr val="213739"/>
                </a:solidFill>
                <a:latin typeface="Calibri"/>
                <a:cs typeface="Calibri"/>
              </a:rPr>
              <a:t>new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988558" y="3438525"/>
            <a:ext cx="140335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853440" algn="l"/>
              </a:tabLst>
            </a:pPr>
            <a:r>
              <a:rPr sz="1750" i="1" spc="40" dirty="0">
                <a:solidFill>
                  <a:srgbClr val="213739"/>
                </a:solidFill>
                <a:latin typeface="Calibri"/>
                <a:cs typeface="Calibri"/>
              </a:rPr>
              <a:t>cos</a:t>
            </a:r>
            <a:r>
              <a:rPr sz="1750" spc="40" dirty="0">
                <a:solidFill>
                  <a:srgbClr val="213739"/>
                </a:solidFill>
                <a:latin typeface="Calibri"/>
                <a:cs typeface="Calibri"/>
              </a:rPr>
              <a:t>(</a:t>
            </a:r>
            <a:r>
              <a:rPr sz="1750" i="1" spc="40" dirty="0">
                <a:solidFill>
                  <a:srgbClr val="213739"/>
                </a:solidFill>
                <a:latin typeface="Calibri"/>
                <a:cs typeface="Calibri"/>
              </a:rPr>
              <a:t>α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)</a:t>
            </a:r>
            <a:r>
              <a:rPr sz="1750" spc="21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Lucida Sans Unicode"/>
                <a:cs typeface="Lucida Sans Unicode"/>
              </a:rPr>
              <a:t>∝</a:t>
            </a:r>
            <a:r>
              <a:rPr sz="1750" spc="-39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b="1" spc="-5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383018" y="3520821"/>
            <a:ext cx="347345" cy="2197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50" b="1" spc="65" dirty="0">
                <a:solidFill>
                  <a:srgbClr val="213739"/>
                </a:solidFill>
                <a:latin typeface="Calibri"/>
                <a:cs typeface="Calibri"/>
              </a:rPr>
              <a:t>new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776464" y="3329762"/>
            <a:ext cx="215900" cy="3994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1160"/>
              </a:lnSpc>
              <a:spcBef>
                <a:spcPts val="125"/>
              </a:spcBef>
            </a:pPr>
            <a:r>
              <a:rPr sz="1250" i="1" spc="-50" dirty="0">
                <a:solidFill>
                  <a:srgbClr val="213739"/>
                </a:solidFill>
                <a:latin typeface="Calibri"/>
                <a:cs typeface="Calibri"/>
              </a:rPr>
              <a:t>T</a:t>
            </a:r>
            <a:endParaRPr sz="1250">
              <a:latin typeface="Calibri"/>
              <a:cs typeface="Calibri"/>
            </a:endParaRPr>
          </a:p>
          <a:p>
            <a:pPr marL="100965">
              <a:lnSpc>
                <a:spcPts val="1760"/>
              </a:lnSpc>
            </a:pPr>
            <a:r>
              <a:rPr sz="1750" b="1" spc="-5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530498" y="3719174"/>
            <a:ext cx="3284220" cy="19037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R="717550" algn="r">
              <a:lnSpc>
                <a:spcPts val="1160"/>
              </a:lnSpc>
              <a:spcBef>
                <a:spcPts val="120"/>
              </a:spcBef>
            </a:pPr>
            <a:r>
              <a:rPr sz="1250" i="1" spc="-50" dirty="0">
                <a:solidFill>
                  <a:srgbClr val="213739"/>
                </a:solidFill>
                <a:latin typeface="Calibri"/>
                <a:cs typeface="Calibri"/>
              </a:rPr>
              <a:t>T</a:t>
            </a:r>
            <a:endParaRPr sz="1250" dirty="0">
              <a:latin typeface="Calibri"/>
              <a:cs typeface="Calibri"/>
            </a:endParaRPr>
          </a:p>
          <a:p>
            <a:pPr marL="1466850">
              <a:lnSpc>
                <a:spcPts val="1760"/>
              </a:lnSpc>
              <a:tabLst>
                <a:tab pos="2583180" algn="l"/>
              </a:tabLst>
            </a:pPr>
            <a:r>
              <a:rPr sz="1750" spc="80" dirty="0">
                <a:solidFill>
                  <a:srgbClr val="213739"/>
                </a:solidFill>
                <a:latin typeface="Lucida Sans Unicode"/>
                <a:cs typeface="Lucida Sans Unicode"/>
              </a:rPr>
              <a:t>∝</a:t>
            </a:r>
            <a:r>
              <a:rPr sz="1750" spc="80" dirty="0">
                <a:solidFill>
                  <a:srgbClr val="213739"/>
                </a:solidFill>
                <a:latin typeface="Calibri"/>
                <a:cs typeface="Calibri"/>
              </a:rPr>
              <a:t>(</a:t>
            </a:r>
            <a:r>
              <a:rPr sz="1750" b="1" spc="8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5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+</a:t>
            </a:r>
            <a:r>
              <a:rPr sz="1750" spc="45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spc="-1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-20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)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b="1" spc="-5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endParaRPr sz="1750" dirty="0">
              <a:latin typeface="Calibri"/>
              <a:cs typeface="Calibri"/>
            </a:endParaRPr>
          </a:p>
          <a:p>
            <a:pPr marL="1907539">
              <a:lnSpc>
                <a:spcPts val="1160"/>
              </a:lnSpc>
              <a:spcBef>
                <a:spcPts val="80"/>
              </a:spcBef>
              <a:tabLst>
                <a:tab pos="2575560" algn="l"/>
              </a:tabLst>
            </a:pPr>
            <a:r>
              <a:rPr sz="1250" i="1" spc="-50" dirty="0">
                <a:solidFill>
                  <a:srgbClr val="213739"/>
                </a:solidFill>
                <a:latin typeface="Calibri"/>
                <a:cs typeface="Calibri"/>
              </a:rPr>
              <a:t>T</a:t>
            </a:r>
            <a:r>
              <a:rPr sz="12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250" i="1" spc="-50" dirty="0">
                <a:solidFill>
                  <a:srgbClr val="213739"/>
                </a:solidFill>
                <a:latin typeface="Calibri"/>
                <a:cs typeface="Calibri"/>
              </a:rPr>
              <a:t>T</a:t>
            </a:r>
            <a:endParaRPr sz="1250" dirty="0">
              <a:latin typeface="Calibri"/>
              <a:cs typeface="Calibri"/>
            </a:endParaRPr>
          </a:p>
          <a:p>
            <a:pPr marL="1466850">
              <a:lnSpc>
                <a:spcPts val="1760"/>
              </a:lnSpc>
              <a:tabLst>
                <a:tab pos="2012950" algn="l"/>
                <a:tab pos="2682240" algn="l"/>
              </a:tabLst>
            </a:pPr>
            <a:r>
              <a:rPr sz="1750" spc="-25" dirty="0">
                <a:solidFill>
                  <a:srgbClr val="213739"/>
                </a:solidFill>
                <a:latin typeface="Lucida Sans Unicode"/>
                <a:cs typeface="Lucida Sans Unicode"/>
              </a:rPr>
              <a:t>∝</a:t>
            </a:r>
            <a:r>
              <a:rPr sz="1750" spc="-40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b="1" spc="-50" dirty="0" smtClean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dirty="0" smtClean="0">
                <a:solidFill>
                  <a:srgbClr val="213739"/>
                </a:solidFill>
                <a:latin typeface="Calibri"/>
                <a:cs typeface="Calibri"/>
              </a:rPr>
              <a:t>	x</a:t>
            </a:r>
            <a:r>
              <a:rPr sz="1750" b="1" spc="225" dirty="0" smtClean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+</a:t>
            </a:r>
            <a:r>
              <a:rPr sz="1750" spc="44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spc="-5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b="1" spc="-5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endParaRPr sz="1750" dirty="0">
              <a:latin typeface="Calibri"/>
              <a:cs typeface="Calibri"/>
            </a:endParaRPr>
          </a:p>
          <a:p>
            <a:pPr marL="1466850">
              <a:lnSpc>
                <a:spcPct val="100000"/>
              </a:lnSpc>
              <a:spcBef>
                <a:spcPts val="635"/>
              </a:spcBef>
            </a:pPr>
            <a:r>
              <a:rPr sz="1750" spc="-25" dirty="0">
                <a:solidFill>
                  <a:srgbClr val="213739"/>
                </a:solidFill>
                <a:latin typeface="Lucida Sans Unicode"/>
                <a:cs typeface="Lucida Sans Unicode"/>
              </a:rPr>
              <a:t>∝</a:t>
            </a:r>
            <a:r>
              <a:rPr sz="1750" spc="-36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cosα</a:t>
            </a:r>
            <a:r>
              <a:rPr sz="1750" i="1" spc="2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+</a:t>
            </a:r>
            <a:r>
              <a:rPr sz="1750" spc="47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875" i="1" baseline="31111" dirty="0">
                <a:solidFill>
                  <a:srgbClr val="213739"/>
                </a:solidFill>
                <a:latin typeface="Calibri"/>
                <a:cs typeface="Calibri"/>
              </a:rPr>
              <a:t>T</a:t>
            </a:r>
            <a:r>
              <a:rPr sz="1875" i="1" spc="112" baseline="31111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spc="-5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endParaRPr sz="1750" dirty="0">
              <a:latin typeface="Calibri"/>
              <a:cs typeface="Calibri"/>
            </a:endParaRPr>
          </a:p>
          <a:p>
            <a:pPr marL="470534">
              <a:lnSpc>
                <a:spcPct val="100000"/>
              </a:lnSpc>
              <a:spcBef>
                <a:spcPts val="1000"/>
              </a:spcBef>
            </a:pPr>
            <a:r>
              <a:rPr sz="1750" i="1" spc="70" dirty="0">
                <a:solidFill>
                  <a:srgbClr val="213739"/>
                </a:solidFill>
                <a:latin typeface="Calibri"/>
                <a:cs typeface="Calibri"/>
              </a:rPr>
              <a:t>cos</a:t>
            </a:r>
            <a:r>
              <a:rPr sz="1750" spc="70" dirty="0">
                <a:solidFill>
                  <a:srgbClr val="213739"/>
                </a:solidFill>
                <a:latin typeface="Calibri"/>
                <a:cs typeface="Calibri"/>
              </a:rPr>
              <a:t>(</a:t>
            </a:r>
            <a:r>
              <a:rPr sz="1750" i="1" spc="70" dirty="0">
                <a:solidFill>
                  <a:srgbClr val="213739"/>
                </a:solidFill>
                <a:latin typeface="Calibri"/>
                <a:cs typeface="Calibri"/>
              </a:rPr>
              <a:t>α</a:t>
            </a:r>
            <a:r>
              <a:rPr sz="1875" i="1" spc="104" baseline="-8888" dirty="0">
                <a:solidFill>
                  <a:srgbClr val="213739"/>
                </a:solidFill>
                <a:latin typeface="Calibri"/>
                <a:cs typeface="Calibri"/>
              </a:rPr>
              <a:t>new</a:t>
            </a:r>
            <a:r>
              <a:rPr sz="1750" spc="70" dirty="0">
                <a:solidFill>
                  <a:srgbClr val="213739"/>
                </a:solidFill>
                <a:latin typeface="Calibri"/>
                <a:cs typeface="Calibri"/>
              </a:rPr>
              <a:t>)</a:t>
            </a:r>
            <a:r>
              <a:rPr sz="1750" spc="19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&gt;</a:t>
            </a:r>
            <a:r>
              <a:rPr sz="1750" i="1" spc="80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i="1" spc="-20" dirty="0">
                <a:solidFill>
                  <a:srgbClr val="213739"/>
                </a:solidFill>
                <a:latin typeface="Calibri"/>
                <a:cs typeface="Calibri"/>
              </a:rPr>
              <a:t>cosα</a:t>
            </a:r>
            <a:endParaRPr sz="1750" dirty="0">
              <a:latin typeface="Calibri"/>
              <a:cs typeface="Calibri"/>
            </a:endParaRPr>
          </a:p>
          <a:p>
            <a:pPr marL="63500">
              <a:lnSpc>
                <a:spcPct val="100000"/>
              </a:lnSpc>
              <a:spcBef>
                <a:spcPts val="915"/>
              </a:spcBef>
            </a:pP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Thus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spc="65" dirty="0">
                <a:solidFill>
                  <a:srgbClr val="213739"/>
                </a:solidFill>
                <a:latin typeface="Calibri"/>
                <a:cs typeface="Calibri"/>
              </a:rPr>
              <a:t>α</a:t>
            </a:r>
            <a:r>
              <a:rPr sz="1875" i="1" spc="97" baseline="-8888" dirty="0">
                <a:solidFill>
                  <a:srgbClr val="213739"/>
                </a:solidFill>
                <a:latin typeface="Calibri"/>
                <a:cs typeface="Calibri"/>
              </a:rPr>
              <a:t>new</a:t>
            </a:r>
            <a:r>
              <a:rPr sz="1875" i="1" spc="494" baseline="-8888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will</a:t>
            </a:r>
            <a:r>
              <a:rPr sz="1750" spc="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be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less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than</a:t>
            </a:r>
            <a:r>
              <a:rPr sz="1750" spc="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α</a:t>
            </a:r>
            <a:r>
              <a:rPr sz="1750" i="1" spc="21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endParaRPr sz="1750" dirty="0">
              <a:latin typeface="Arial MT"/>
              <a:cs typeface="Arial MT"/>
            </a:endParaRPr>
          </a:p>
        </p:txBody>
      </p:sp>
      <p:sp>
        <p:nvSpPr>
          <p:cNvPr id="20" name="object 20" descr="$PPTXTitle"/>
          <p:cNvSpPr txBox="1">
            <a:spLocks noGrp="1"/>
          </p:cNvSpPr>
          <p:nvPr>
            <p:ph type="title"/>
          </p:nvPr>
        </p:nvSpPr>
        <p:spPr>
          <a:xfrm>
            <a:off x="1232712" y="202133"/>
            <a:ext cx="60204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10" dirty="0">
                <a:solidFill>
                  <a:srgbClr val="000000"/>
                </a:solidFill>
                <a:latin typeface="Calibri"/>
                <a:cs typeface="Calibri"/>
              </a:rPr>
              <a:t>Algorithm:</a:t>
            </a:r>
            <a:r>
              <a:rPr sz="2800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114" dirty="0">
                <a:solidFill>
                  <a:srgbClr val="000000"/>
                </a:solidFill>
                <a:latin typeface="Arial MT"/>
                <a:cs typeface="Arial MT"/>
              </a:rPr>
              <a:t>Perceptron</a:t>
            </a:r>
            <a:r>
              <a:rPr sz="2800" spc="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800" spc="-125" dirty="0">
                <a:solidFill>
                  <a:srgbClr val="000000"/>
                </a:solidFill>
                <a:latin typeface="Arial MT"/>
                <a:cs typeface="Arial MT"/>
              </a:rPr>
              <a:t>Learning</a:t>
            </a:r>
            <a:r>
              <a:rPr sz="2800" spc="-19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000000"/>
                </a:solidFill>
                <a:latin typeface="Arial MT"/>
                <a:cs typeface="Arial MT"/>
              </a:rPr>
              <a:t>Algorithm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8781415" y="5603912"/>
            <a:ext cx="196215" cy="206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spc="-25" dirty="0">
                <a:solidFill>
                  <a:srgbClr val="213739"/>
                </a:solidFill>
                <a:latin typeface="Arial MT"/>
                <a:cs typeface="Arial MT"/>
              </a:rPr>
              <a:t>37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669794" y="5658953"/>
            <a:ext cx="358140" cy="2266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2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250" b="1" spc="-15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425" i="1" baseline="23391" dirty="0">
                <a:solidFill>
                  <a:srgbClr val="213739"/>
                </a:solidFill>
                <a:latin typeface="Georgia"/>
                <a:cs typeface="Georgia"/>
              </a:rPr>
              <a:t>T</a:t>
            </a:r>
            <a:r>
              <a:rPr sz="1425" i="1" spc="187" baseline="23391" dirty="0">
                <a:solidFill>
                  <a:srgbClr val="213739"/>
                </a:solidFill>
                <a:latin typeface="Georgia"/>
                <a:cs typeface="Georgia"/>
              </a:rPr>
              <a:t> </a:t>
            </a:r>
            <a:r>
              <a:rPr sz="1250" b="1" spc="-5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584316" y="5658919"/>
            <a:ext cx="2502535" cy="272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25"/>
              </a:lnSpc>
            </a:pP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this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is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exactly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what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want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941957" y="5810351"/>
            <a:ext cx="493395" cy="187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5"/>
              </a:lnSpc>
            </a:pPr>
            <a:r>
              <a:rPr sz="1250" i="1" dirty="0">
                <a:solidFill>
                  <a:srgbClr val="213739"/>
                </a:solidFill>
                <a:latin typeface="Calibri"/>
                <a:cs typeface="Calibri"/>
              </a:rPr>
              <a:t>cosα</a:t>
            </a:r>
            <a:r>
              <a:rPr sz="1250" i="1" spc="40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250" spc="-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endParaRPr sz="125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0618" y="879347"/>
            <a:ext cx="4396105" cy="0"/>
          </a:xfrm>
          <a:custGeom>
            <a:avLst/>
            <a:gdLst/>
            <a:ahLst/>
            <a:cxnLst/>
            <a:rect l="l" t="t" r="r" b="b"/>
            <a:pathLst>
              <a:path w="4396105">
                <a:moveTo>
                  <a:pt x="0" y="0"/>
                </a:moveTo>
                <a:lnTo>
                  <a:pt x="4396105" y="0"/>
                </a:lnTo>
              </a:path>
            </a:pathLst>
          </a:custGeom>
          <a:ln w="10121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80618" y="1192783"/>
            <a:ext cx="4396105" cy="0"/>
          </a:xfrm>
          <a:custGeom>
            <a:avLst/>
            <a:gdLst/>
            <a:ahLst/>
            <a:cxnLst/>
            <a:rect l="l" t="t" r="r" b="b"/>
            <a:pathLst>
              <a:path w="4396105">
                <a:moveTo>
                  <a:pt x="0" y="0"/>
                </a:moveTo>
                <a:lnTo>
                  <a:pt x="4396105" y="0"/>
                </a:lnTo>
              </a:path>
            </a:pathLst>
          </a:custGeom>
          <a:ln w="10121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67690" y="1151890"/>
            <a:ext cx="1171575" cy="653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7700"/>
              </a:lnSpc>
              <a:spcBef>
                <a:spcPts val="100"/>
              </a:spcBef>
            </a:pP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750" i="1" spc="60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←</a:t>
            </a:r>
            <a:r>
              <a:rPr sz="1750" spc="-1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spc="50" dirty="0">
                <a:solidFill>
                  <a:srgbClr val="213739"/>
                </a:solidFill>
                <a:latin typeface="Calibri"/>
                <a:cs typeface="Calibri"/>
              </a:rPr>
              <a:t>inputs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750" i="1" spc="5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← </a:t>
            </a:r>
            <a:r>
              <a:rPr sz="1750" i="1" spc="50" dirty="0">
                <a:solidFill>
                  <a:srgbClr val="213739"/>
                </a:solidFill>
                <a:latin typeface="Calibri"/>
                <a:cs typeface="Calibri"/>
              </a:rPr>
              <a:t>inputs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27707" y="1143380"/>
            <a:ext cx="473709" cy="653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275" marR="5080" indent="-29209">
              <a:lnSpc>
                <a:spcPct val="117700"/>
              </a:lnSpc>
              <a:spcBef>
                <a:spcPts val="100"/>
              </a:spcBef>
            </a:pPr>
            <a:r>
              <a:rPr sz="1750" i="1" spc="-20" dirty="0">
                <a:solidFill>
                  <a:srgbClr val="213739"/>
                </a:solidFill>
                <a:latin typeface="Calibri"/>
                <a:cs typeface="Calibri"/>
              </a:rPr>
              <a:t>with with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92172" y="1161860"/>
            <a:ext cx="895350" cy="66103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0"/>
              </a:spcBef>
              <a:tabLst>
                <a:tab pos="684530" algn="l"/>
              </a:tabLst>
            </a:pP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label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;</a:t>
            </a:r>
            <a:endParaRPr sz="1750">
              <a:latin typeface="Arial MT"/>
              <a:cs typeface="Arial MT"/>
            </a:endParaRPr>
          </a:p>
          <a:p>
            <a:pPr marL="41275">
              <a:lnSpc>
                <a:spcPct val="100000"/>
              </a:lnSpc>
              <a:spcBef>
                <a:spcPts val="400"/>
              </a:spcBef>
              <a:tabLst>
                <a:tab pos="713740" algn="l"/>
              </a:tabLst>
            </a:pP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label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;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93852" y="2496311"/>
            <a:ext cx="0" cy="2197100"/>
          </a:xfrm>
          <a:custGeom>
            <a:avLst/>
            <a:gdLst/>
            <a:ahLst/>
            <a:cxnLst/>
            <a:rect l="l" t="t" r="r" b="b"/>
            <a:pathLst>
              <a:path h="2197100">
                <a:moveTo>
                  <a:pt x="0" y="2196719"/>
                </a:moveTo>
                <a:lnTo>
                  <a:pt x="0" y="0"/>
                </a:lnTo>
              </a:path>
            </a:pathLst>
          </a:custGeom>
          <a:ln w="5053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29602" y="3123945"/>
            <a:ext cx="0" cy="314325"/>
          </a:xfrm>
          <a:custGeom>
            <a:avLst/>
            <a:gdLst/>
            <a:ahLst/>
            <a:cxnLst/>
            <a:rect l="l" t="t" r="r" b="b"/>
            <a:pathLst>
              <a:path h="314325">
                <a:moveTo>
                  <a:pt x="0" y="313816"/>
                </a:moveTo>
                <a:lnTo>
                  <a:pt x="0" y="0"/>
                </a:lnTo>
              </a:path>
            </a:pathLst>
          </a:custGeom>
          <a:ln w="5053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29602" y="4065396"/>
            <a:ext cx="0" cy="314325"/>
          </a:xfrm>
          <a:custGeom>
            <a:avLst/>
            <a:gdLst/>
            <a:ahLst/>
            <a:cxnLst/>
            <a:rect l="l" t="t" r="r" b="b"/>
            <a:pathLst>
              <a:path h="314325">
                <a:moveTo>
                  <a:pt x="0" y="313816"/>
                </a:moveTo>
                <a:lnTo>
                  <a:pt x="0" y="0"/>
                </a:lnTo>
              </a:path>
            </a:pathLst>
          </a:custGeom>
          <a:ln w="5053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67690" y="1790821"/>
            <a:ext cx="3406140" cy="378269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Initialize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1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randomly;</a:t>
            </a:r>
            <a:endParaRPr sz="17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750" b="1" spc="-114" dirty="0">
                <a:solidFill>
                  <a:srgbClr val="213739"/>
                </a:solidFill>
                <a:latin typeface="Trebuchet MS"/>
                <a:cs typeface="Trebuchet MS"/>
              </a:rPr>
              <a:t>while</a:t>
            </a:r>
            <a:r>
              <a:rPr sz="1750" b="1" spc="-20" dirty="0">
                <a:solidFill>
                  <a:srgbClr val="213739"/>
                </a:solidFill>
                <a:latin typeface="Trebuchet MS"/>
                <a:cs typeface="Trebuchet MS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!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convergence</a:t>
            </a:r>
            <a:r>
              <a:rPr sz="1750" i="1" spc="10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spc="-25" dirty="0">
                <a:solidFill>
                  <a:srgbClr val="213739"/>
                </a:solidFill>
                <a:latin typeface="Trebuchet MS"/>
                <a:cs typeface="Trebuchet MS"/>
              </a:rPr>
              <a:t>do</a:t>
            </a:r>
            <a:endParaRPr sz="1750">
              <a:latin typeface="Trebuchet MS"/>
              <a:cs typeface="Trebuchet MS"/>
            </a:endParaRPr>
          </a:p>
          <a:p>
            <a:pPr marL="347980">
              <a:lnSpc>
                <a:spcPct val="100000"/>
              </a:lnSpc>
              <a:spcBef>
                <a:spcPts val="290"/>
              </a:spcBef>
            </a:pP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Pick</a:t>
            </a:r>
            <a:r>
              <a:rPr sz="1750" spc="-1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random</a:t>
            </a:r>
            <a:r>
              <a:rPr sz="1750" spc="-1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7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∈</a:t>
            </a:r>
            <a:r>
              <a:rPr sz="1750" spc="-30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750" i="1" spc="48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∪</a:t>
            </a:r>
            <a:r>
              <a:rPr sz="1750" spc="-40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750" i="1" spc="48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;</a:t>
            </a:r>
            <a:endParaRPr sz="1750">
              <a:latin typeface="Arial MT"/>
              <a:cs typeface="Arial MT"/>
            </a:endParaRPr>
          </a:p>
          <a:p>
            <a:pPr marL="347980">
              <a:lnSpc>
                <a:spcPct val="100000"/>
              </a:lnSpc>
              <a:spcBef>
                <a:spcPts val="395"/>
              </a:spcBef>
              <a:tabLst>
                <a:tab pos="1326515" algn="l"/>
                <a:tab pos="1910080" algn="l"/>
              </a:tabLst>
            </a:pPr>
            <a:r>
              <a:rPr sz="1750" b="1" spc="-65" dirty="0">
                <a:solidFill>
                  <a:srgbClr val="213739"/>
                </a:solidFill>
                <a:latin typeface="Trebuchet MS"/>
                <a:cs typeface="Trebuchet MS"/>
              </a:rPr>
              <a:t>if</a:t>
            </a:r>
            <a:r>
              <a:rPr sz="1750" b="1" spc="-155" dirty="0">
                <a:solidFill>
                  <a:srgbClr val="213739"/>
                </a:solidFill>
                <a:latin typeface="Trebuchet MS"/>
                <a:cs typeface="Trebuchet MS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6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∈</a:t>
            </a:r>
            <a:r>
              <a:rPr sz="1750" spc="-32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and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b="1" spc="8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i="1" spc="85" dirty="0">
                <a:solidFill>
                  <a:srgbClr val="213739"/>
                </a:solidFill>
                <a:latin typeface="Calibri"/>
                <a:cs typeface="Calibri"/>
              </a:rPr>
              <a:t>.</a:t>
            </a:r>
            <a:r>
              <a:rPr sz="1750" b="1" spc="8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20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spc="70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1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spc="-20" dirty="0">
                <a:solidFill>
                  <a:srgbClr val="213739"/>
                </a:solidFill>
                <a:latin typeface="Trebuchet MS"/>
                <a:cs typeface="Trebuchet MS"/>
              </a:rPr>
              <a:t>then</a:t>
            </a:r>
            <a:endParaRPr sz="1750">
              <a:latin typeface="Trebuchet MS"/>
              <a:cs typeface="Trebuchet MS"/>
            </a:endParaRPr>
          </a:p>
          <a:p>
            <a:pPr marL="683260">
              <a:lnSpc>
                <a:spcPct val="100000"/>
              </a:lnSpc>
              <a:spcBef>
                <a:spcPts val="495"/>
              </a:spcBef>
            </a:pP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2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7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3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+</a:t>
            </a:r>
            <a:r>
              <a:rPr sz="1750" spc="44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25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;</a:t>
            </a:r>
            <a:endParaRPr sz="1750">
              <a:latin typeface="Arial MT"/>
              <a:cs typeface="Arial MT"/>
            </a:endParaRPr>
          </a:p>
          <a:p>
            <a:pPr marL="347980">
              <a:lnSpc>
                <a:spcPct val="100000"/>
              </a:lnSpc>
              <a:spcBef>
                <a:spcPts val="445"/>
              </a:spcBef>
            </a:pPr>
            <a:r>
              <a:rPr sz="1750" b="1" spc="-25" dirty="0">
                <a:solidFill>
                  <a:srgbClr val="213739"/>
                </a:solidFill>
                <a:latin typeface="Trebuchet MS"/>
                <a:cs typeface="Trebuchet MS"/>
              </a:rPr>
              <a:t>end</a:t>
            </a:r>
            <a:endParaRPr sz="1750">
              <a:latin typeface="Trebuchet MS"/>
              <a:cs typeface="Trebuchet MS"/>
            </a:endParaRPr>
          </a:p>
          <a:p>
            <a:pPr marL="347980">
              <a:lnSpc>
                <a:spcPct val="100000"/>
              </a:lnSpc>
              <a:spcBef>
                <a:spcPts val="240"/>
              </a:spcBef>
              <a:tabLst>
                <a:tab pos="1356995" algn="l"/>
                <a:tab pos="1939289" algn="l"/>
              </a:tabLst>
            </a:pPr>
            <a:r>
              <a:rPr sz="1750" b="1" spc="-65" dirty="0">
                <a:solidFill>
                  <a:srgbClr val="213739"/>
                </a:solidFill>
                <a:latin typeface="Trebuchet MS"/>
                <a:cs typeface="Trebuchet MS"/>
              </a:rPr>
              <a:t>if</a:t>
            </a:r>
            <a:r>
              <a:rPr sz="1750" b="1" spc="-155" dirty="0">
                <a:solidFill>
                  <a:srgbClr val="213739"/>
                </a:solidFill>
                <a:latin typeface="Trebuchet MS"/>
                <a:cs typeface="Trebuchet MS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6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∈</a:t>
            </a:r>
            <a:r>
              <a:rPr sz="1750" spc="-32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and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b="1" spc="8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i="1" spc="85" dirty="0">
                <a:solidFill>
                  <a:srgbClr val="213739"/>
                </a:solidFill>
                <a:latin typeface="Calibri"/>
                <a:cs typeface="Calibri"/>
              </a:rPr>
              <a:t>.</a:t>
            </a:r>
            <a:r>
              <a:rPr sz="1750" b="1" spc="8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18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≥</a:t>
            </a:r>
            <a:r>
              <a:rPr sz="1750" spc="-11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-2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spc="-20" dirty="0">
                <a:solidFill>
                  <a:srgbClr val="213739"/>
                </a:solidFill>
                <a:latin typeface="Trebuchet MS"/>
                <a:cs typeface="Trebuchet MS"/>
              </a:rPr>
              <a:t>then</a:t>
            </a:r>
            <a:endParaRPr sz="1750">
              <a:latin typeface="Trebuchet MS"/>
              <a:cs typeface="Trebuchet MS"/>
            </a:endParaRPr>
          </a:p>
          <a:p>
            <a:pPr marL="683260">
              <a:lnSpc>
                <a:spcPct val="100000"/>
              </a:lnSpc>
              <a:spcBef>
                <a:spcPts val="395"/>
              </a:spcBef>
            </a:pP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1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7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4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−</a:t>
            </a:r>
            <a:r>
              <a:rPr sz="1750" spc="-23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26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;</a:t>
            </a:r>
            <a:endParaRPr sz="1750">
              <a:latin typeface="Arial MT"/>
              <a:cs typeface="Arial MT"/>
            </a:endParaRPr>
          </a:p>
          <a:p>
            <a:pPr marL="12700" marR="2703195" indent="335280">
              <a:lnSpc>
                <a:spcPts val="2600"/>
              </a:lnSpc>
              <a:spcBef>
                <a:spcPts val="65"/>
              </a:spcBef>
            </a:pPr>
            <a:r>
              <a:rPr sz="1750" b="1" spc="-125" dirty="0">
                <a:solidFill>
                  <a:srgbClr val="213739"/>
                </a:solidFill>
                <a:latin typeface="Trebuchet MS"/>
                <a:cs typeface="Trebuchet MS"/>
              </a:rPr>
              <a:t>end </a:t>
            </a:r>
            <a:r>
              <a:rPr sz="1750" b="1" spc="-25" dirty="0">
                <a:solidFill>
                  <a:srgbClr val="213739"/>
                </a:solidFill>
                <a:latin typeface="Trebuchet MS"/>
                <a:cs typeface="Trebuchet MS"/>
              </a:rPr>
              <a:t>end</a:t>
            </a:r>
            <a:endParaRPr sz="1750">
              <a:latin typeface="Trebuchet MS"/>
              <a:cs typeface="Trebuchet MS"/>
            </a:endParaRPr>
          </a:p>
          <a:p>
            <a:pPr marL="12700" marR="5080">
              <a:lnSpc>
                <a:spcPts val="2090"/>
              </a:lnSpc>
              <a:spcBef>
                <a:spcPts val="360"/>
              </a:spcBef>
            </a:pP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//the</a:t>
            </a:r>
            <a:r>
              <a:rPr sz="1750" spc="-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algorithm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converges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when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all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the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inputs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are</a:t>
            </a:r>
            <a:r>
              <a:rPr sz="1750" spc="-1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classified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correctly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80618" y="5663781"/>
            <a:ext cx="4396105" cy="0"/>
          </a:xfrm>
          <a:custGeom>
            <a:avLst/>
            <a:gdLst/>
            <a:ahLst/>
            <a:cxnLst/>
            <a:rect l="l" t="t" r="r" b="b"/>
            <a:pathLst>
              <a:path w="4396105">
                <a:moveTo>
                  <a:pt x="0" y="0"/>
                </a:moveTo>
                <a:lnTo>
                  <a:pt x="4396105" y="0"/>
                </a:lnTo>
              </a:path>
            </a:pathLst>
          </a:custGeom>
          <a:ln w="10121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550922" y="5913386"/>
            <a:ext cx="628015" cy="0"/>
          </a:xfrm>
          <a:custGeom>
            <a:avLst/>
            <a:gdLst/>
            <a:ahLst/>
            <a:cxnLst/>
            <a:rect l="l" t="t" r="r" b="b"/>
            <a:pathLst>
              <a:path w="628014">
                <a:moveTo>
                  <a:pt x="0" y="0"/>
                </a:moveTo>
                <a:lnTo>
                  <a:pt x="627633" y="0"/>
                </a:lnTo>
              </a:path>
            </a:pathLst>
          </a:custGeom>
          <a:ln w="4559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582158" y="873767"/>
            <a:ext cx="3211830" cy="99504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4604" marR="5080" indent="-2540" algn="just">
              <a:lnSpc>
                <a:spcPct val="120600"/>
              </a:lnSpc>
              <a:spcBef>
                <a:spcPts val="135"/>
              </a:spcBef>
            </a:pP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For</a:t>
            </a:r>
            <a:r>
              <a:rPr sz="1750" spc="-3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spc="-1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6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5" dirty="0">
                <a:solidFill>
                  <a:srgbClr val="213739"/>
                </a:solidFill>
                <a:latin typeface="Lucida Sans Unicode"/>
                <a:cs typeface="Lucida Sans Unicode"/>
              </a:rPr>
              <a:t>∈</a:t>
            </a:r>
            <a:r>
              <a:rPr sz="1750" spc="-29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spc="-15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750" i="1" spc="41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if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spc="8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i="1" spc="85" dirty="0">
                <a:solidFill>
                  <a:srgbClr val="213739"/>
                </a:solidFill>
                <a:latin typeface="Calibri"/>
                <a:cs typeface="Calibri"/>
              </a:rPr>
              <a:t>.</a:t>
            </a:r>
            <a:r>
              <a:rPr sz="1750" b="1" spc="8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24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5" dirty="0">
                <a:solidFill>
                  <a:srgbClr val="213739"/>
                </a:solidFill>
                <a:latin typeface="Lucida Sans Unicode"/>
                <a:cs typeface="Lucida Sans Unicode"/>
              </a:rPr>
              <a:t>≥</a:t>
            </a:r>
            <a:r>
              <a:rPr sz="1750" spc="-5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-2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then</a:t>
            </a:r>
            <a:r>
              <a:rPr sz="1750" spc="-1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it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means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that</a:t>
            </a:r>
            <a:r>
              <a:rPr sz="1750" spc="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5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angle</a:t>
            </a:r>
            <a:r>
              <a:rPr sz="1750" spc="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5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i="1" spc="-15" dirty="0">
                <a:solidFill>
                  <a:srgbClr val="213739"/>
                </a:solidFill>
                <a:latin typeface="Calibri"/>
                <a:cs typeface="Calibri"/>
              </a:rPr>
              <a:t>α</a:t>
            </a:r>
            <a:r>
              <a:rPr sz="1750" spc="-15" dirty="0">
                <a:solidFill>
                  <a:srgbClr val="213739"/>
                </a:solidFill>
                <a:latin typeface="Arial MT"/>
                <a:cs typeface="Arial MT"/>
              </a:rPr>
              <a:t>)</a:t>
            </a:r>
            <a:r>
              <a:rPr sz="1750" spc="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between</a:t>
            </a:r>
            <a:r>
              <a:rPr sz="1750" spc="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this</a:t>
            </a:r>
            <a:r>
              <a:rPr sz="1750" spc="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5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current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spc="-1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2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5" dirty="0">
                <a:solidFill>
                  <a:srgbClr val="213739"/>
                </a:solidFill>
                <a:latin typeface="Arial MT"/>
                <a:cs typeface="Arial MT"/>
              </a:rPr>
              <a:t>is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less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than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90°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781415" y="5603912"/>
            <a:ext cx="196215" cy="206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spc="-25" dirty="0">
                <a:solidFill>
                  <a:srgbClr val="213739"/>
                </a:solidFill>
                <a:latin typeface="Arial MT"/>
                <a:cs typeface="Arial MT"/>
              </a:rPr>
              <a:t>38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669794" y="5658953"/>
            <a:ext cx="358140" cy="2266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2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250" b="1" spc="-15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425" i="1" baseline="23391" dirty="0">
                <a:solidFill>
                  <a:srgbClr val="213739"/>
                </a:solidFill>
                <a:latin typeface="Georgia"/>
                <a:cs typeface="Georgia"/>
              </a:rPr>
              <a:t>T</a:t>
            </a:r>
            <a:r>
              <a:rPr sz="1425" i="1" spc="187" baseline="23391" dirty="0">
                <a:solidFill>
                  <a:srgbClr val="213739"/>
                </a:solidFill>
                <a:latin typeface="Georgia"/>
                <a:cs typeface="Georgia"/>
              </a:rPr>
              <a:t> </a:t>
            </a:r>
            <a:r>
              <a:rPr sz="1250" b="1" spc="-5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941957" y="5810351"/>
            <a:ext cx="493395" cy="187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5"/>
              </a:lnSpc>
            </a:pPr>
            <a:r>
              <a:rPr sz="1250" i="1" dirty="0">
                <a:solidFill>
                  <a:srgbClr val="213739"/>
                </a:solidFill>
                <a:latin typeface="Calibri"/>
                <a:cs typeface="Calibri"/>
              </a:rPr>
              <a:t>cosα</a:t>
            </a:r>
            <a:r>
              <a:rPr sz="1250" i="1" spc="40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250" spc="-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xfrm>
            <a:off x="1232712" y="202133"/>
            <a:ext cx="60204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10" dirty="0">
                <a:solidFill>
                  <a:srgbClr val="000000"/>
                </a:solidFill>
                <a:latin typeface="Calibri"/>
                <a:cs typeface="Calibri"/>
              </a:rPr>
              <a:t>Algorithm:</a:t>
            </a:r>
            <a:r>
              <a:rPr sz="2800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114" dirty="0">
                <a:solidFill>
                  <a:srgbClr val="000000"/>
                </a:solidFill>
                <a:latin typeface="Arial MT"/>
                <a:cs typeface="Arial MT"/>
              </a:rPr>
              <a:t>Perceptron</a:t>
            </a:r>
            <a:r>
              <a:rPr sz="2800" spc="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800" spc="-125" dirty="0">
                <a:solidFill>
                  <a:srgbClr val="000000"/>
                </a:solidFill>
                <a:latin typeface="Arial MT"/>
                <a:cs typeface="Arial MT"/>
              </a:rPr>
              <a:t>Learning</a:t>
            </a:r>
            <a:r>
              <a:rPr sz="2800" spc="-19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000000"/>
                </a:solidFill>
                <a:latin typeface="Arial MT"/>
                <a:cs typeface="Arial MT"/>
              </a:rPr>
              <a:t>Algorithm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7690" y="1151890"/>
            <a:ext cx="1171575" cy="653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7700"/>
              </a:lnSpc>
              <a:spcBef>
                <a:spcPts val="100"/>
              </a:spcBef>
            </a:pP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750" i="1" spc="60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←</a:t>
            </a:r>
            <a:r>
              <a:rPr sz="1750" spc="-1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spc="50" dirty="0">
                <a:solidFill>
                  <a:srgbClr val="213739"/>
                </a:solidFill>
                <a:latin typeface="Calibri"/>
                <a:cs typeface="Calibri"/>
              </a:rPr>
              <a:t>inputs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750" i="1" spc="5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← </a:t>
            </a:r>
            <a:r>
              <a:rPr sz="1750" i="1" spc="50" dirty="0">
                <a:solidFill>
                  <a:srgbClr val="213739"/>
                </a:solidFill>
                <a:latin typeface="Calibri"/>
                <a:cs typeface="Calibri"/>
              </a:rPr>
              <a:t>inputs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27707" y="1143380"/>
            <a:ext cx="473709" cy="653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275" marR="5080" indent="-29209">
              <a:lnSpc>
                <a:spcPct val="117700"/>
              </a:lnSpc>
              <a:spcBef>
                <a:spcPts val="100"/>
              </a:spcBef>
            </a:pPr>
            <a:r>
              <a:rPr sz="1750" i="1" spc="-20" dirty="0">
                <a:solidFill>
                  <a:srgbClr val="213739"/>
                </a:solidFill>
                <a:latin typeface="Calibri"/>
                <a:cs typeface="Calibri"/>
              </a:rPr>
              <a:t>with with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92172" y="1161860"/>
            <a:ext cx="895350" cy="66103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0"/>
              </a:spcBef>
              <a:tabLst>
                <a:tab pos="684530" algn="l"/>
              </a:tabLst>
            </a:pP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label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;</a:t>
            </a:r>
            <a:endParaRPr sz="1750">
              <a:latin typeface="Arial MT"/>
              <a:cs typeface="Arial MT"/>
            </a:endParaRPr>
          </a:p>
          <a:p>
            <a:pPr marL="41275">
              <a:lnSpc>
                <a:spcPct val="100000"/>
              </a:lnSpc>
              <a:spcBef>
                <a:spcPts val="400"/>
              </a:spcBef>
              <a:tabLst>
                <a:tab pos="713740" algn="l"/>
              </a:tabLst>
            </a:pP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label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;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93852" y="2496311"/>
            <a:ext cx="0" cy="2197100"/>
          </a:xfrm>
          <a:custGeom>
            <a:avLst/>
            <a:gdLst/>
            <a:ahLst/>
            <a:cxnLst/>
            <a:rect l="l" t="t" r="r" b="b"/>
            <a:pathLst>
              <a:path h="2197100">
                <a:moveTo>
                  <a:pt x="0" y="2196719"/>
                </a:moveTo>
                <a:lnTo>
                  <a:pt x="0" y="0"/>
                </a:lnTo>
              </a:path>
            </a:pathLst>
          </a:custGeom>
          <a:ln w="5053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67690" y="1794118"/>
            <a:ext cx="3191510" cy="1268730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Initialize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1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randomly;</a:t>
            </a:r>
            <a:endParaRPr sz="17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1750" b="1" spc="-114" dirty="0">
                <a:solidFill>
                  <a:srgbClr val="213739"/>
                </a:solidFill>
                <a:latin typeface="Trebuchet MS"/>
                <a:cs typeface="Trebuchet MS"/>
              </a:rPr>
              <a:t>while</a:t>
            </a:r>
            <a:r>
              <a:rPr sz="1750" b="1" spc="-20" dirty="0">
                <a:solidFill>
                  <a:srgbClr val="213739"/>
                </a:solidFill>
                <a:latin typeface="Trebuchet MS"/>
                <a:cs typeface="Trebuchet MS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!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convergence</a:t>
            </a:r>
            <a:r>
              <a:rPr sz="1750" i="1" spc="10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spc="-25" dirty="0">
                <a:solidFill>
                  <a:srgbClr val="213739"/>
                </a:solidFill>
                <a:latin typeface="Trebuchet MS"/>
                <a:cs typeface="Trebuchet MS"/>
              </a:rPr>
              <a:t>do</a:t>
            </a:r>
            <a:endParaRPr sz="1750">
              <a:latin typeface="Trebuchet MS"/>
              <a:cs typeface="Trebuchet MS"/>
            </a:endParaRPr>
          </a:p>
          <a:p>
            <a:pPr marL="347980">
              <a:lnSpc>
                <a:spcPct val="100000"/>
              </a:lnSpc>
              <a:spcBef>
                <a:spcPts val="275"/>
              </a:spcBef>
            </a:pP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Pick</a:t>
            </a:r>
            <a:r>
              <a:rPr sz="1750" spc="-1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random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7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∈</a:t>
            </a:r>
            <a:r>
              <a:rPr sz="1750" spc="-30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750" i="1" spc="48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∪</a:t>
            </a:r>
            <a:r>
              <a:rPr sz="1750" spc="-40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750" i="1" spc="48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;</a:t>
            </a:r>
            <a:endParaRPr sz="1750">
              <a:latin typeface="Arial MT"/>
              <a:cs typeface="Arial MT"/>
            </a:endParaRPr>
          </a:p>
          <a:p>
            <a:pPr marL="347980">
              <a:lnSpc>
                <a:spcPct val="100000"/>
              </a:lnSpc>
              <a:spcBef>
                <a:spcPts val="370"/>
              </a:spcBef>
              <a:tabLst>
                <a:tab pos="1326515" algn="l"/>
                <a:tab pos="1910080" algn="l"/>
              </a:tabLst>
            </a:pPr>
            <a:r>
              <a:rPr sz="1750" b="1" spc="-65" dirty="0">
                <a:solidFill>
                  <a:srgbClr val="213739"/>
                </a:solidFill>
                <a:latin typeface="Trebuchet MS"/>
                <a:cs typeface="Trebuchet MS"/>
              </a:rPr>
              <a:t>if</a:t>
            </a:r>
            <a:r>
              <a:rPr sz="1750" b="1" spc="-155" dirty="0">
                <a:solidFill>
                  <a:srgbClr val="213739"/>
                </a:solidFill>
                <a:latin typeface="Trebuchet MS"/>
                <a:cs typeface="Trebuchet MS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6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∈</a:t>
            </a:r>
            <a:r>
              <a:rPr sz="1750" spc="-32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and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b="1" spc="6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i="1" spc="60" dirty="0">
                <a:solidFill>
                  <a:srgbClr val="213739"/>
                </a:solidFill>
                <a:latin typeface="Calibri"/>
                <a:cs typeface="Calibri"/>
              </a:rPr>
              <a:t>.</a:t>
            </a:r>
            <a:r>
              <a:rPr sz="1750" i="1" spc="-24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20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spc="70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spc="-70" dirty="0">
                <a:solidFill>
                  <a:srgbClr val="213739"/>
                </a:solidFill>
                <a:latin typeface="Trebuchet MS"/>
                <a:cs typeface="Trebuchet MS"/>
              </a:rPr>
              <a:t>then</a:t>
            </a:r>
            <a:endParaRPr sz="175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29602" y="3123945"/>
            <a:ext cx="0" cy="314325"/>
          </a:xfrm>
          <a:custGeom>
            <a:avLst/>
            <a:gdLst/>
            <a:ahLst/>
            <a:cxnLst/>
            <a:rect l="l" t="t" r="r" b="b"/>
            <a:pathLst>
              <a:path h="314325">
                <a:moveTo>
                  <a:pt x="0" y="313816"/>
                </a:moveTo>
                <a:lnTo>
                  <a:pt x="0" y="0"/>
                </a:lnTo>
              </a:path>
            </a:pathLst>
          </a:custGeom>
          <a:ln w="5053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29602" y="4065396"/>
            <a:ext cx="0" cy="314325"/>
          </a:xfrm>
          <a:custGeom>
            <a:avLst/>
            <a:gdLst/>
            <a:ahLst/>
            <a:cxnLst/>
            <a:rect l="l" t="t" r="r" b="b"/>
            <a:pathLst>
              <a:path h="314325">
                <a:moveTo>
                  <a:pt x="0" y="313816"/>
                </a:moveTo>
                <a:lnTo>
                  <a:pt x="0" y="0"/>
                </a:lnTo>
              </a:path>
            </a:pathLst>
          </a:custGeom>
          <a:ln w="5053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293111" y="3718305"/>
            <a:ext cx="129667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b="1" spc="8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i="1" spc="85" dirty="0">
                <a:solidFill>
                  <a:srgbClr val="213739"/>
                </a:solidFill>
                <a:latin typeface="Calibri"/>
                <a:cs typeface="Calibri"/>
              </a:rPr>
              <a:t>.</a:t>
            </a:r>
            <a:r>
              <a:rPr sz="1750" b="1" spc="8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19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≥</a:t>
            </a:r>
            <a:r>
              <a:rPr sz="1750" spc="-11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-2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spc="-55" dirty="0">
                <a:solidFill>
                  <a:srgbClr val="213739"/>
                </a:solidFill>
                <a:latin typeface="Trebuchet MS"/>
                <a:cs typeface="Trebuchet MS"/>
              </a:rPr>
              <a:t>then</a:t>
            </a:r>
            <a:endParaRPr sz="175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03580" y="3040125"/>
            <a:ext cx="1533525" cy="1285875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347980">
              <a:lnSpc>
                <a:spcPct val="100000"/>
              </a:lnSpc>
              <a:spcBef>
                <a:spcPts val="545"/>
              </a:spcBef>
            </a:pP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2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7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3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+</a:t>
            </a:r>
            <a:r>
              <a:rPr sz="1750" spc="44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25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;</a:t>
            </a:r>
            <a:endParaRPr sz="17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1750" b="1" spc="-25" dirty="0">
                <a:solidFill>
                  <a:srgbClr val="213739"/>
                </a:solidFill>
                <a:latin typeface="Trebuchet MS"/>
                <a:cs typeface="Trebuchet MS"/>
              </a:rPr>
              <a:t>end</a:t>
            </a:r>
            <a:endParaRPr sz="1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  <a:tabLst>
                <a:tab pos="1019810" algn="l"/>
              </a:tabLst>
            </a:pPr>
            <a:r>
              <a:rPr sz="1750" b="1" spc="-65" dirty="0">
                <a:solidFill>
                  <a:srgbClr val="213739"/>
                </a:solidFill>
                <a:latin typeface="Trebuchet MS"/>
                <a:cs typeface="Trebuchet MS"/>
              </a:rPr>
              <a:t>if</a:t>
            </a:r>
            <a:r>
              <a:rPr sz="1750" b="1" spc="-155" dirty="0">
                <a:solidFill>
                  <a:srgbClr val="213739"/>
                </a:solidFill>
                <a:latin typeface="Trebuchet MS"/>
                <a:cs typeface="Trebuchet MS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6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∈</a:t>
            </a:r>
            <a:r>
              <a:rPr sz="1750" spc="-32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and</a:t>
            </a:r>
            <a:endParaRPr sz="1750">
              <a:latin typeface="Calibri"/>
              <a:cs typeface="Calibri"/>
            </a:endParaRPr>
          </a:p>
          <a:p>
            <a:pPr marL="347980">
              <a:lnSpc>
                <a:spcPct val="100000"/>
              </a:lnSpc>
              <a:spcBef>
                <a:spcPts val="395"/>
              </a:spcBef>
            </a:pP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1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7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4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−</a:t>
            </a:r>
            <a:r>
              <a:rPr sz="1750" spc="-23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26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;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7690" y="4289974"/>
            <a:ext cx="4022725" cy="1294765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347980">
              <a:lnSpc>
                <a:spcPct val="100000"/>
              </a:lnSpc>
              <a:spcBef>
                <a:spcPts val="635"/>
              </a:spcBef>
            </a:pPr>
            <a:r>
              <a:rPr sz="1750" b="1" spc="-25" dirty="0">
                <a:solidFill>
                  <a:srgbClr val="213739"/>
                </a:solidFill>
                <a:latin typeface="Trebuchet MS"/>
                <a:cs typeface="Trebuchet MS"/>
              </a:rPr>
              <a:t>end</a:t>
            </a:r>
            <a:endParaRPr sz="1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750" b="1" spc="-25" dirty="0">
                <a:solidFill>
                  <a:srgbClr val="213739"/>
                </a:solidFill>
                <a:latin typeface="Trebuchet MS"/>
                <a:cs typeface="Trebuchet MS"/>
              </a:rPr>
              <a:t>end</a:t>
            </a:r>
            <a:endParaRPr sz="1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//the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algorithm 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converges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when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all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inputs</a:t>
            </a:r>
            <a:endParaRPr sz="1750">
              <a:latin typeface="Arial MT"/>
              <a:cs typeface="Arial MT"/>
            </a:endParaRPr>
          </a:p>
          <a:p>
            <a:pPr marL="121920">
              <a:lnSpc>
                <a:spcPct val="100000"/>
              </a:lnSpc>
              <a:spcBef>
                <a:spcPts val="370"/>
              </a:spcBef>
            </a:pP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are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classified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correctly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80618" y="5663781"/>
            <a:ext cx="4396105" cy="0"/>
          </a:xfrm>
          <a:custGeom>
            <a:avLst/>
            <a:gdLst/>
            <a:ahLst/>
            <a:cxnLst/>
            <a:rect l="l" t="t" r="r" b="b"/>
            <a:pathLst>
              <a:path w="4396105">
                <a:moveTo>
                  <a:pt x="0" y="0"/>
                </a:moveTo>
                <a:lnTo>
                  <a:pt x="4396105" y="0"/>
                </a:lnTo>
              </a:path>
            </a:pathLst>
          </a:custGeom>
          <a:ln w="10121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550922" y="5913386"/>
            <a:ext cx="628015" cy="0"/>
          </a:xfrm>
          <a:custGeom>
            <a:avLst/>
            <a:gdLst/>
            <a:ahLst/>
            <a:cxnLst/>
            <a:rect l="l" t="t" r="r" b="b"/>
            <a:pathLst>
              <a:path w="628014">
                <a:moveTo>
                  <a:pt x="0" y="0"/>
                </a:moveTo>
                <a:lnTo>
                  <a:pt x="627633" y="0"/>
                </a:lnTo>
              </a:path>
            </a:pathLst>
          </a:custGeom>
          <a:ln w="4559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530469" y="895604"/>
            <a:ext cx="3306445" cy="2837815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66040" marR="47625" indent="-2540" algn="just">
              <a:lnSpc>
                <a:spcPct val="116799"/>
              </a:lnSpc>
              <a:spcBef>
                <a:spcPts val="40"/>
              </a:spcBef>
            </a:pP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For</a:t>
            </a:r>
            <a:r>
              <a:rPr sz="1750" spc="-3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spc="-1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6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5" dirty="0">
                <a:solidFill>
                  <a:srgbClr val="213739"/>
                </a:solidFill>
                <a:latin typeface="Lucida Sans Unicode"/>
                <a:cs typeface="Lucida Sans Unicode"/>
              </a:rPr>
              <a:t>∈</a:t>
            </a:r>
            <a:r>
              <a:rPr sz="1750" spc="-29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spc="-15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750" i="1" spc="41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if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spc="8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i="1" spc="85" dirty="0">
                <a:solidFill>
                  <a:srgbClr val="213739"/>
                </a:solidFill>
                <a:latin typeface="Calibri"/>
                <a:cs typeface="Calibri"/>
              </a:rPr>
              <a:t>.</a:t>
            </a:r>
            <a:r>
              <a:rPr sz="1750" b="1" spc="8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24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5" dirty="0">
                <a:solidFill>
                  <a:srgbClr val="213739"/>
                </a:solidFill>
                <a:latin typeface="Lucida Sans Unicode"/>
                <a:cs typeface="Lucida Sans Unicode"/>
              </a:rPr>
              <a:t>≥</a:t>
            </a:r>
            <a:r>
              <a:rPr sz="1750" spc="-5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-2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then</a:t>
            </a:r>
            <a:r>
              <a:rPr sz="1750" spc="-1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it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means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that</a:t>
            </a:r>
            <a:r>
              <a:rPr sz="1750" spc="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angle</a:t>
            </a:r>
            <a:r>
              <a:rPr sz="1750" spc="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α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)</a:t>
            </a:r>
            <a:r>
              <a:rPr sz="1750" spc="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between</a:t>
            </a:r>
            <a:r>
              <a:rPr sz="1750" spc="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this</a:t>
            </a:r>
            <a:r>
              <a:rPr sz="1750" spc="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spc="-1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-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5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current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u="heavy" spc="-15" dirty="0">
                <a:solidFill>
                  <a:srgbClr val="213739"/>
                </a:solidFill>
                <a:uFill>
                  <a:solidFill>
                    <a:srgbClr val="DB3324"/>
                  </a:solidFill>
                </a:uFill>
                <a:latin typeface="Calibri"/>
                <a:cs typeface="Calibri"/>
              </a:rPr>
              <a:t>w</a:t>
            </a:r>
            <a:r>
              <a:rPr sz="1750" b="1" u="heavy" spc="204" dirty="0">
                <a:solidFill>
                  <a:srgbClr val="213739"/>
                </a:solidFill>
                <a:uFill>
                  <a:solidFill>
                    <a:srgbClr val="DB3324"/>
                  </a:solidFill>
                </a:u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is</a:t>
            </a:r>
            <a:r>
              <a:rPr sz="1750" spc="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less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than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90°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5" dirty="0">
                <a:solidFill>
                  <a:srgbClr val="213739"/>
                </a:solidFill>
                <a:latin typeface="Arial MT"/>
                <a:cs typeface="Arial MT"/>
              </a:rPr>
              <a:t>(but</a:t>
            </a:r>
            <a:r>
              <a:rPr sz="1750" spc="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want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α</a:t>
            </a:r>
            <a:r>
              <a:rPr sz="1750" i="1" spc="229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1750" spc="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be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greater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than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90°)</a:t>
            </a:r>
            <a:endParaRPr sz="1750" dirty="0">
              <a:latin typeface="Arial MT"/>
              <a:cs typeface="Arial MT"/>
            </a:endParaRPr>
          </a:p>
          <a:p>
            <a:pPr marL="66040" marR="60325" indent="-3175" algn="just">
              <a:lnSpc>
                <a:spcPct val="116599"/>
              </a:lnSpc>
              <a:spcBef>
                <a:spcPts val="520"/>
              </a:spcBef>
            </a:pP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What</a:t>
            </a:r>
            <a:r>
              <a:rPr sz="1750" spc="2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happens</a:t>
            </a:r>
            <a:r>
              <a:rPr sz="1750" spc="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1750" spc="2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20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new</a:t>
            </a:r>
            <a:r>
              <a:rPr sz="1750" spc="1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angle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α</a:t>
            </a:r>
            <a:r>
              <a:rPr sz="1875" i="1" baseline="-8888" dirty="0">
                <a:solidFill>
                  <a:srgbClr val="213739"/>
                </a:solidFill>
                <a:latin typeface="Calibri"/>
                <a:cs typeface="Calibri"/>
              </a:rPr>
              <a:t>new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)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when </a:t>
            </a:r>
            <a:r>
              <a:rPr sz="1750" b="1" spc="10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b="1" spc="150" baseline="-8888" dirty="0">
                <a:solidFill>
                  <a:srgbClr val="213739"/>
                </a:solidFill>
                <a:latin typeface="Calibri"/>
                <a:cs typeface="Calibri"/>
              </a:rPr>
              <a:t>new</a:t>
            </a:r>
            <a:r>
              <a:rPr sz="1875" b="1" spc="742" baseline="-8888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12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2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−</a:t>
            </a:r>
            <a:r>
              <a:rPr sz="1750" spc="-15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b="1" spc="-5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endParaRPr sz="1750" dirty="0">
              <a:latin typeface="Calibri"/>
              <a:cs typeface="Calibri"/>
            </a:endParaRPr>
          </a:p>
          <a:p>
            <a:pPr marR="960755" algn="r">
              <a:lnSpc>
                <a:spcPts val="1155"/>
              </a:lnSpc>
              <a:spcBef>
                <a:spcPts val="1614"/>
              </a:spcBef>
            </a:pPr>
            <a:r>
              <a:rPr sz="1250" i="1" spc="-50" dirty="0">
                <a:solidFill>
                  <a:srgbClr val="213739"/>
                </a:solidFill>
                <a:latin typeface="Calibri"/>
                <a:cs typeface="Calibri"/>
              </a:rPr>
              <a:t>T</a:t>
            </a:r>
            <a:endParaRPr sz="1250" dirty="0">
              <a:latin typeface="Calibri"/>
              <a:cs typeface="Calibri"/>
            </a:endParaRPr>
          </a:p>
          <a:p>
            <a:pPr marL="470534">
              <a:lnSpc>
                <a:spcPts val="1755"/>
              </a:lnSpc>
              <a:tabLst>
                <a:tab pos="2346960" algn="l"/>
              </a:tabLst>
            </a:pPr>
            <a:r>
              <a:rPr sz="1750" i="1" spc="70" dirty="0">
                <a:solidFill>
                  <a:srgbClr val="213739"/>
                </a:solidFill>
                <a:latin typeface="Calibri"/>
                <a:cs typeface="Calibri"/>
              </a:rPr>
              <a:t>cos</a:t>
            </a:r>
            <a:r>
              <a:rPr sz="1750" spc="70" dirty="0">
                <a:solidFill>
                  <a:srgbClr val="213739"/>
                </a:solidFill>
                <a:latin typeface="Calibri"/>
                <a:cs typeface="Calibri"/>
              </a:rPr>
              <a:t>(</a:t>
            </a:r>
            <a:r>
              <a:rPr sz="1750" i="1" spc="70" dirty="0">
                <a:solidFill>
                  <a:srgbClr val="213739"/>
                </a:solidFill>
                <a:latin typeface="Calibri"/>
                <a:cs typeface="Calibri"/>
              </a:rPr>
              <a:t>α</a:t>
            </a:r>
            <a:r>
              <a:rPr sz="1875" i="1" spc="104" baseline="-8888" dirty="0">
                <a:solidFill>
                  <a:srgbClr val="213739"/>
                </a:solidFill>
                <a:latin typeface="Calibri"/>
                <a:cs typeface="Calibri"/>
              </a:rPr>
              <a:t>new</a:t>
            </a:r>
            <a:r>
              <a:rPr sz="1750" spc="70" dirty="0">
                <a:solidFill>
                  <a:srgbClr val="213739"/>
                </a:solidFill>
                <a:latin typeface="Calibri"/>
                <a:cs typeface="Calibri"/>
              </a:rPr>
              <a:t>)</a:t>
            </a:r>
            <a:r>
              <a:rPr sz="1750" spc="21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Lucida Sans Unicode"/>
                <a:cs typeface="Lucida Sans Unicode"/>
              </a:rPr>
              <a:t>∝</a:t>
            </a:r>
            <a:r>
              <a:rPr sz="1750" spc="-39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b="1" spc="7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b="1" spc="112" baseline="-8888" dirty="0">
                <a:solidFill>
                  <a:srgbClr val="213739"/>
                </a:solidFill>
                <a:latin typeface="Calibri"/>
                <a:cs typeface="Calibri"/>
              </a:rPr>
              <a:t>new</a:t>
            </a:r>
            <a:r>
              <a:rPr sz="1875" b="1" baseline="-8888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b="1" spc="-5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endParaRPr sz="1750" dirty="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997443" y="3716782"/>
            <a:ext cx="104139" cy="2197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50" i="1" spc="-50" dirty="0">
                <a:solidFill>
                  <a:srgbClr val="213739"/>
                </a:solidFill>
                <a:latin typeface="Calibri"/>
                <a:cs typeface="Calibri"/>
              </a:rPr>
              <a:t>T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425690" y="4097782"/>
            <a:ext cx="772160" cy="2197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680085" algn="l"/>
              </a:tabLst>
            </a:pPr>
            <a:r>
              <a:rPr sz="1250" i="1" spc="-50" dirty="0">
                <a:solidFill>
                  <a:srgbClr val="213739"/>
                </a:solidFill>
                <a:latin typeface="Calibri"/>
                <a:cs typeface="Calibri"/>
              </a:rPr>
              <a:t>T</a:t>
            </a:r>
            <a:r>
              <a:rPr sz="12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250" i="1" spc="-50" dirty="0">
                <a:solidFill>
                  <a:srgbClr val="213739"/>
                </a:solidFill>
                <a:latin typeface="Calibri"/>
                <a:cs typeface="Calibri"/>
              </a:rPr>
              <a:t>T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963158" y="3707638"/>
            <a:ext cx="2389505" cy="1530350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1034415">
              <a:lnSpc>
                <a:spcPct val="100000"/>
              </a:lnSpc>
              <a:spcBef>
                <a:spcPts val="1000"/>
              </a:spcBef>
              <a:tabLst>
                <a:tab pos="2150110" algn="l"/>
              </a:tabLst>
            </a:pPr>
            <a:r>
              <a:rPr sz="1750" spc="80" dirty="0">
                <a:solidFill>
                  <a:srgbClr val="213739"/>
                </a:solidFill>
                <a:latin typeface="Lucida Sans Unicode"/>
                <a:cs typeface="Lucida Sans Unicode"/>
              </a:rPr>
              <a:t>∝</a:t>
            </a:r>
            <a:r>
              <a:rPr sz="1750" spc="80" dirty="0">
                <a:solidFill>
                  <a:srgbClr val="213739"/>
                </a:solidFill>
                <a:latin typeface="Calibri"/>
                <a:cs typeface="Calibri"/>
              </a:rPr>
              <a:t>(</a:t>
            </a:r>
            <a:r>
              <a:rPr sz="1750" b="1" spc="8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5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−</a:t>
            </a:r>
            <a:r>
              <a:rPr sz="1750" spc="-21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b="1" spc="-1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-20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)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b="1" spc="-5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endParaRPr sz="1750">
              <a:latin typeface="Calibri"/>
              <a:cs typeface="Calibri"/>
            </a:endParaRPr>
          </a:p>
          <a:p>
            <a:pPr marL="1034415">
              <a:lnSpc>
                <a:spcPct val="100000"/>
              </a:lnSpc>
              <a:spcBef>
                <a:spcPts val="900"/>
              </a:spcBef>
              <a:tabLst>
                <a:tab pos="1579880" algn="l"/>
                <a:tab pos="2249170" algn="l"/>
              </a:tabLst>
            </a:pPr>
            <a:r>
              <a:rPr sz="1750" spc="-25" dirty="0">
                <a:solidFill>
                  <a:srgbClr val="213739"/>
                </a:solidFill>
                <a:latin typeface="Lucida Sans Unicode"/>
                <a:cs typeface="Lucida Sans Unicode"/>
              </a:rPr>
              <a:t>∝</a:t>
            </a:r>
            <a:r>
              <a:rPr sz="1750" spc="-40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b="1" spc="-5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	x</a:t>
            </a:r>
            <a:r>
              <a:rPr sz="1750" b="1" spc="229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−</a:t>
            </a:r>
            <a:r>
              <a:rPr sz="1750" spc="-22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b="1" spc="-5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b="1" spc="-5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endParaRPr sz="1750">
              <a:latin typeface="Calibri"/>
              <a:cs typeface="Calibri"/>
            </a:endParaRPr>
          </a:p>
          <a:p>
            <a:pPr marL="1034415">
              <a:lnSpc>
                <a:spcPct val="100000"/>
              </a:lnSpc>
              <a:spcBef>
                <a:spcPts val="745"/>
              </a:spcBef>
            </a:pPr>
            <a:r>
              <a:rPr sz="1750" spc="-25" dirty="0">
                <a:solidFill>
                  <a:srgbClr val="213739"/>
                </a:solidFill>
                <a:latin typeface="Lucida Sans Unicode"/>
                <a:cs typeface="Lucida Sans Unicode"/>
              </a:rPr>
              <a:t>∝</a:t>
            </a:r>
            <a:r>
              <a:rPr sz="1750" spc="-35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cosα</a:t>
            </a:r>
            <a:r>
              <a:rPr sz="1750" i="1" spc="1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−</a:t>
            </a:r>
            <a:r>
              <a:rPr sz="1750" spc="-18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1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875" i="1" baseline="37777" dirty="0">
                <a:solidFill>
                  <a:srgbClr val="213739"/>
                </a:solidFill>
                <a:latin typeface="Calibri"/>
                <a:cs typeface="Calibri"/>
              </a:rPr>
              <a:t>T</a:t>
            </a:r>
            <a:r>
              <a:rPr sz="1875" i="1" spc="104" baseline="37777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spc="-5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endParaRPr sz="175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900"/>
              </a:spcBef>
            </a:pPr>
            <a:r>
              <a:rPr sz="1750" i="1" spc="70" dirty="0">
                <a:solidFill>
                  <a:srgbClr val="213739"/>
                </a:solidFill>
                <a:latin typeface="Calibri"/>
                <a:cs typeface="Calibri"/>
              </a:rPr>
              <a:t>cos</a:t>
            </a:r>
            <a:r>
              <a:rPr sz="1750" spc="70" dirty="0">
                <a:solidFill>
                  <a:srgbClr val="213739"/>
                </a:solidFill>
                <a:latin typeface="Calibri"/>
                <a:cs typeface="Calibri"/>
              </a:rPr>
              <a:t>(</a:t>
            </a:r>
            <a:r>
              <a:rPr sz="1750" i="1" spc="70" dirty="0">
                <a:solidFill>
                  <a:srgbClr val="213739"/>
                </a:solidFill>
                <a:latin typeface="Calibri"/>
                <a:cs typeface="Calibri"/>
              </a:rPr>
              <a:t>α</a:t>
            </a:r>
            <a:r>
              <a:rPr sz="1875" i="1" spc="104" baseline="-8888" dirty="0">
                <a:solidFill>
                  <a:srgbClr val="213739"/>
                </a:solidFill>
                <a:latin typeface="Calibri"/>
                <a:cs typeface="Calibri"/>
              </a:rPr>
              <a:t>new</a:t>
            </a:r>
            <a:r>
              <a:rPr sz="1750" spc="70" dirty="0">
                <a:solidFill>
                  <a:srgbClr val="213739"/>
                </a:solidFill>
                <a:latin typeface="Calibri"/>
                <a:cs typeface="Calibri"/>
              </a:rPr>
              <a:t>)</a:t>
            </a:r>
            <a:r>
              <a:rPr sz="1750" spc="19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spc="80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i="1" spc="-20" dirty="0">
                <a:solidFill>
                  <a:srgbClr val="213739"/>
                </a:solidFill>
                <a:latin typeface="Calibri"/>
                <a:cs typeface="Calibri"/>
              </a:rPr>
              <a:t>cosα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555869" y="5329554"/>
            <a:ext cx="323342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Thus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α</a:t>
            </a:r>
            <a:r>
              <a:rPr sz="1875" i="1" baseline="-8888" dirty="0">
                <a:solidFill>
                  <a:srgbClr val="213739"/>
                </a:solidFill>
                <a:latin typeface="Calibri"/>
                <a:cs typeface="Calibri"/>
              </a:rPr>
              <a:t>new</a:t>
            </a:r>
            <a:r>
              <a:rPr sz="1875" i="1" spc="315" baseline="-8888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will</a:t>
            </a:r>
            <a:r>
              <a:rPr sz="1750" spc="-1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be</a:t>
            </a:r>
            <a:r>
              <a:rPr sz="1750" spc="-3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greater</a:t>
            </a:r>
            <a:r>
              <a:rPr sz="1750" spc="-2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than</a:t>
            </a:r>
            <a:r>
              <a:rPr sz="1750" spc="-20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α</a:t>
            </a:r>
            <a:r>
              <a:rPr sz="1750" i="1" spc="4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19" name="object 19" descr="$PPTXTitle"/>
          <p:cNvSpPr txBox="1">
            <a:spLocks noGrp="1"/>
          </p:cNvSpPr>
          <p:nvPr>
            <p:ph type="title"/>
          </p:nvPr>
        </p:nvSpPr>
        <p:spPr>
          <a:xfrm>
            <a:off x="1232712" y="202133"/>
            <a:ext cx="60204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10" dirty="0">
                <a:solidFill>
                  <a:srgbClr val="000000"/>
                </a:solidFill>
                <a:latin typeface="Calibri"/>
                <a:cs typeface="Calibri"/>
              </a:rPr>
              <a:t>Algorithm:</a:t>
            </a:r>
            <a:r>
              <a:rPr sz="2800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800" spc="-114" dirty="0">
                <a:solidFill>
                  <a:srgbClr val="000000"/>
                </a:solidFill>
                <a:latin typeface="Arial MT"/>
                <a:cs typeface="Arial MT"/>
              </a:rPr>
              <a:t>Perceptron</a:t>
            </a:r>
            <a:r>
              <a:rPr sz="2800" spc="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800" spc="-125" dirty="0">
                <a:solidFill>
                  <a:srgbClr val="000000"/>
                </a:solidFill>
                <a:latin typeface="Arial MT"/>
                <a:cs typeface="Arial MT"/>
              </a:rPr>
              <a:t>Learning</a:t>
            </a:r>
            <a:r>
              <a:rPr sz="2800" spc="-19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000000"/>
                </a:solidFill>
                <a:latin typeface="Arial MT"/>
                <a:cs typeface="Arial MT"/>
              </a:rPr>
              <a:t>Algorithm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074872" y="1263903"/>
            <a:ext cx="254635" cy="0"/>
          </a:xfrm>
          <a:custGeom>
            <a:avLst/>
            <a:gdLst/>
            <a:ahLst/>
            <a:cxnLst/>
            <a:rect l="l" t="t" r="r" b="b"/>
            <a:pathLst>
              <a:path w="254634">
                <a:moveTo>
                  <a:pt x="0" y="0"/>
                </a:moveTo>
                <a:lnTo>
                  <a:pt x="50295" y="0"/>
                </a:lnTo>
                <a:lnTo>
                  <a:pt x="101171" y="0"/>
                </a:lnTo>
                <a:lnTo>
                  <a:pt x="152327" y="0"/>
                </a:lnTo>
                <a:lnTo>
                  <a:pt x="203463" y="0"/>
                </a:lnTo>
                <a:lnTo>
                  <a:pt x="254276" y="0"/>
                </a:lnTo>
              </a:path>
            </a:pathLst>
          </a:custGeom>
          <a:ln w="25400">
            <a:solidFill>
              <a:srgbClr val="DB332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8781415" y="5603912"/>
            <a:ext cx="196215" cy="206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spc="-25" dirty="0">
                <a:solidFill>
                  <a:srgbClr val="213739"/>
                </a:solidFill>
                <a:latin typeface="Arial MT"/>
                <a:cs typeface="Arial MT"/>
              </a:rPr>
              <a:t>38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669794" y="5658953"/>
            <a:ext cx="358140" cy="2266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2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250" b="1" spc="-15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425" i="1" baseline="23391" dirty="0">
                <a:solidFill>
                  <a:srgbClr val="213739"/>
                </a:solidFill>
                <a:latin typeface="Georgia"/>
                <a:cs typeface="Georgia"/>
              </a:rPr>
              <a:t>T</a:t>
            </a:r>
            <a:r>
              <a:rPr sz="1425" i="1" spc="187" baseline="23391" dirty="0">
                <a:solidFill>
                  <a:srgbClr val="213739"/>
                </a:solidFill>
                <a:latin typeface="Georgia"/>
                <a:cs typeface="Georgia"/>
              </a:rPr>
              <a:t> </a:t>
            </a:r>
            <a:r>
              <a:rPr sz="1250" b="1" spc="-5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endParaRPr sz="1250" dirty="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584316" y="5664406"/>
            <a:ext cx="2502535" cy="272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25"/>
              </a:lnSpc>
            </a:pP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this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is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exactly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what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want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941957" y="5810351"/>
            <a:ext cx="493395" cy="187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5"/>
              </a:lnSpc>
            </a:pPr>
            <a:r>
              <a:rPr sz="1250" i="1" dirty="0">
                <a:solidFill>
                  <a:srgbClr val="213739"/>
                </a:solidFill>
                <a:latin typeface="Calibri"/>
                <a:cs typeface="Calibri"/>
              </a:rPr>
              <a:t>cosα</a:t>
            </a:r>
            <a:r>
              <a:rPr sz="1250" i="1" spc="40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250" spc="-5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endParaRPr sz="125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887459" y="5668848"/>
            <a:ext cx="172085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39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994968" y="3020948"/>
            <a:ext cx="4321810" cy="5575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0"/>
              </a:spcBef>
            </a:pP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will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now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see</a:t>
            </a:r>
            <a:r>
              <a:rPr sz="1750" spc="-2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this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algorithm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in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action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for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a</a:t>
            </a:r>
            <a:r>
              <a:rPr sz="1750" spc="-229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toy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dataset</a:t>
            </a:r>
            <a:endParaRPr sz="175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56825" y="1076578"/>
            <a:ext cx="2850515" cy="3136265"/>
            <a:chOff x="956825" y="1076578"/>
            <a:chExt cx="2850515" cy="3136265"/>
          </a:xfrm>
        </p:grpSpPr>
        <p:sp>
          <p:nvSpPr>
            <p:cNvPr id="3" name="object 3"/>
            <p:cNvSpPr/>
            <p:nvPr/>
          </p:nvSpPr>
          <p:spPr>
            <a:xfrm>
              <a:off x="1749298" y="1081658"/>
              <a:ext cx="2052955" cy="2052955"/>
            </a:xfrm>
            <a:custGeom>
              <a:avLst/>
              <a:gdLst/>
              <a:ahLst/>
              <a:cxnLst/>
              <a:rect l="l" t="t" r="r" b="b"/>
              <a:pathLst>
                <a:path w="2052954" h="2052955">
                  <a:moveTo>
                    <a:pt x="62610" y="1990216"/>
                  </a:moveTo>
                  <a:lnTo>
                    <a:pt x="2044827" y="1990216"/>
                  </a:lnTo>
                </a:path>
                <a:path w="2052954" h="2052955">
                  <a:moveTo>
                    <a:pt x="2001519" y="1927605"/>
                  </a:moveTo>
                  <a:lnTo>
                    <a:pt x="2010537" y="1952243"/>
                  </a:lnTo>
                  <a:lnTo>
                    <a:pt x="2022855" y="1970277"/>
                  </a:lnTo>
                  <a:lnTo>
                    <a:pt x="2037334" y="1982596"/>
                  </a:lnTo>
                  <a:lnTo>
                    <a:pt x="2052827" y="1990216"/>
                  </a:lnTo>
                  <a:lnTo>
                    <a:pt x="2037334" y="1997837"/>
                  </a:lnTo>
                  <a:lnTo>
                    <a:pt x="2022855" y="2010155"/>
                  </a:lnTo>
                  <a:lnTo>
                    <a:pt x="2010537" y="2028316"/>
                  </a:lnTo>
                  <a:lnTo>
                    <a:pt x="2001519" y="2052954"/>
                  </a:lnTo>
                </a:path>
                <a:path w="2052954" h="2052955">
                  <a:moveTo>
                    <a:pt x="62610" y="1990216"/>
                  </a:moveTo>
                  <a:lnTo>
                    <a:pt x="62610" y="8000"/>
                  </a:lnTo>
                </a:path>
                <a:path w="2052954" h="2052955">
                  <a:moveTo>
                    <a:pt x="0" y="51307"/>
                  </a:moveTo>
                  <a:lnTo>
                    <a:pt x="24637" y="42290"/>
                  </a:lnTo>
                  <a:lnTo>
                    <a:pt x="42671" y="30099"/>
                  </a:lnTo>
                  <a:lnTo>
                    <a:pt x="55118" y="15620"/>
                  </a:lnTo>
                  <a:lnTo>
                    <a:pt x="62610" y="0"/>
                  </a:lnTo>
                  <a:lnTo>
                    <a:pt x="70231" y="15620"/>
                  </a:lnTo>
                  <a:lnTo>
                    <a:pt x="82676" y="30099"/>
                  </a:lnTo>
                  <a:lnTo>
                    <a:pt x="100710" y="42290"/>
                  </a:lnTo>
                  <a:lnTo>
                    <a:pt x="125349" y="51307"/>
                  </a:lnTo>
                </a:path>
              </a:pathLst>
            </a:custGeom>
            <a:ln w="10122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529588" y="2394203"/>
              <a:ext cx="282575" cy="678180"/>
            </a:xfrm>
            <a:custGeom>
              <a:avLst/>
              <a:gdLst/>
              <a:ahLst/>
              <a:cxnLst/>
              <a:rect l="l" t="t" r="r" b="b"/>
              <a:pathLst>
                <a:path w="282575" h="678180">
                  <a:moveTo>
                    <a:pt x="282320" y="677672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90984" y="2387984"/>
              <a:ext cx="114418" cy="7606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811908" y="1937765"/>
              <a:ext cx="283845" cy="1134110"/>
            </a:xfrm>
            <a:custGeom>
              <a:avLst/>
              <a:gdLst/>
              <a:ahLst/>
              <a:cxnLst/>
              <a:rect l="l" t="t" r="r" b="b"/>
              <a:pathLst>
                <a:path w="283844" h="1134110">
                  <a:moveTo>
                    <a:pt x="0" y="1134110"/>
                  </a:moveTo>
                  <a:lnTo>
                    <a:pt x="283591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23881" y="1931425"/>
              <a:ext cx="119741" cy="6995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811908" y="2503550"/>
              <a:ext cx="1705610" cy="568325"/>
            </a:xfrm>
            <a:custGeom>
              <a:avLst/>
              <a:gdLst/>
              <a:ahLst/>
              <a:cxnLst/>
              <a:rect l="l" t="t" r="r" b="b"/>
              <a:pathLst>
                <a:path w="1705610" h="568325">
                  <a:moveTo>
                    <a:pt x="0" y="568325"/>
                  </a:moveTo>
                  <a:lnTo>
                    <a:pt x="1705229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50089" y="2460124"/>
              <a:ext cx="73391" cy="11733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63168" y="2788919"/>
              <a:ext cx="848994" cy="283210"/>
            </a:xfrm>
            <a:custGeom>
              <a:avLst/>
              <a:gdLst/>
              <a:ahLst/>
              <a:cxnLst/>
              <a:rect l="l" t="t" r="r" b="b"/>
              <a:pathLst>
                <a:path w="848994" h="283210">
                  <a:moveTo>
                    <a:pt x="848740" y="282955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6825" y="2745620"/>
              <a:ext cx="73314" cy="11720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528445" y="3071875"/>
              <a:ext cx="283845" cy="1134110"/>
            </a:xfrm>
            <a:custGeom>
              <a:avLst/>
              <a:gdLst/>
              <a:ahLst/>
              <a:cxnLst/>
              <a:rect l="l" t="t" r="r" b="b"/>
              <a:pathLst>
                <a:path w="283844" h="1134110">
                  <a:moveTo>
                    <a:pt x="283463" y="0"/>
                  </a:moveTo>
                  <a:lnTo>
                    <a:pt x="0" y="1134110"/>
                  </a:lnTo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80194" y="4142368"/>
              <a:ext cx="119741" cy="7008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811908" y="3071875"/>
              <a:ext cx="329565" cy="1138555"/>
            </a:xfrm>
            <a:custGeom>
              <a:avLst/>
              <a:gdLst/>
              <a:ahLst/>
              <a:cxnLst/>
              <a:rect l="l" t="t" r="r" b="b"/>
              <a:pathLst>
                <a:path w="329564" h="1138554">
                  <a:moveTo>
                    <a:pt x="0" y="0"/>
                  </a:moveTo>
                  <a:lnTo>
                    <a:pt x="283591" y="1134110"/>
                  </a:lnTo>
                </a:path>
                <a:path w="329564" h="1138554">
                  <a:moveTo>
                    <a:pt x="329184" y="1073023"/>
                  </a:moveTo>
                  <a:lnTo>
                    <a:pt x="308864" y="1087628"/>
                  </a:lnTo>
                  <a:lnTo>
                    <a:pt x="295402" y="1103757"/>
                  </a:lnTo>
                  <a:lnTo>
                    <a:pt x="287655" y="1120902"/>
                  </a:lnTo>
                  <a:lnTo>
                    <a:pt x="284480" y="1138047"/>
                  </a:lnTo>
                  <a:lnTo>
                    <a:pt x="273685" y="1124331"/>
                  </a:lnTo>
                  <a:lnTo>
                    <a:pt x="258826" y="1112901"/>
                  </a:lnTo>
                  <a:lnTo>
                    <a:pt x="239268" y="1105027"/>
                  </a:lnTo>
                  <a:lnTo>
                    <a:pt x="214503" y="1101725"/>
                  </a:lnTo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548507" y="2969514"/>
            <a:ext cx="26479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49908" y="970915"/>
            <a:ext cx="26479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86205" y="1993773"/>
            <a:ext cx="26797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957070" y="1536954"/>
            <a:ext cx="26797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384803" y="2108073"/>
            <a:ext cx="26797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04672" y="2741167"/>
            <a:ext cx="27876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362583" y="4168902"/>
            <a:ext cx="874394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620395" algn="l"/>
              </a:tabLst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875" baseline="-8888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65489" y="1887356"/>
            <a:ext cx="2901950" cy="2369185"/>
            <a:chOff x="665489" y="1887356"/>
            <a:chExt cx="2901950" cy="2369185"/>
          </a:xfrm>
        </p:grpSpPr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83750" y="2344175"/>
              <a:ext cx="85324" cy="85324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054742" y="1887356"/>
              <a:ext cx="85324" cy="8532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82095" y="2458348"/>
              <a:ext cx="85324" cy="8532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12885" y="2743717"/>
              <a:ext cx="85324" cy="85324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483750" y="4171070"/>
              <a:ext cx="85324" cy="85324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2057273" y="4173600"/>
              <a:ext cx="80645" cy="80645"/>
            </a:xfrm>
            <a:custGeom>
              <a:avLst/>
              <a:gdLst/>
              <a:ahLst/>
              <a:cxnLst/>
              <a:rect l="l" t="t" r="r" b="b"/>
              <a:pathLst>
                <a:path w="80644" h="80645">
                  <a:moveTo>
                    <a:pt x="40131" y="0"/>
                  </a:moveTo>
                  <a:lnTo>
                    <a:pt x="24510" y="3175"/>
                  </a:lnTo>
                  <a:lnTo>
                    <a:pt x="11810" y="11811"/>
                  </a:lnTo>
                  <a:lnTo>
                    <a:pt x="3175" y="24511"/>
                  </a:lnTo>
                  <a:lnTo>
                    <a:pt x="0" y="40131"/>
                  </a:lnTo>
                  <a:lnTo>
                    <a:pt x="3175" y="55753"/>
                  </a:lnTo>
                  <a:lnTo>
                    <a:pt x="11810" y="68580"/>
                  </a:lnTo>
                  <a:lnTo>
                    <a:pt x="24510" y="77088"/>
                  </a:lnTo>
                  <a:lnTo>
                    <a:pt x="40131" y="80263"/>
                  </a:lnTo>
                  <a:lnTo>
                    <a:pt x="55752" y="77088"/>
                  </a:lnTo>
                  <a:lnTo>
                    <a:pt x="68452" y="68580"/>
                  </a:lnTo>
                  <a:lnTo>
                    <a:pt x="77088" y="55753"/>
                  </a:lnTo>
                  <a:lnTo>
                    <a:pt x="80263" y="40131"/>
                  </a:lnTo>
                  <a:lnTo>
                    <a:pt x="77088" y="24511"/>
                  </a:lnTo>
                  <a:lnTo>
                    <a:pt x="68452" y="11811"/>
                  </a:lnTo>
                  <a:lnTo>
                    <a:pt x="55752" y="3175"/>
                  </a:lnTo>
                  <a:lnTo>
                    <a:pt x="40131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057273" y="4173600"/>
              <a:ext cx="80645" cy="80645"/>
            </a:xfrm>
            <a:custGeom>
              <a:avLst/>
              <a:gdLst/>
              <a:ahLst/>
              <a:cxnLst/>
              <a:rect l="l" t="t" r="r" b="b"/>
              <a:pathLst>
                <a:path w="80644" h="80645">
                  <a:moveTo>
                    <a:pt x="80263" y="40131"/>
                  </a:moveTo>
                  <a:lnTo>
                    <a:pt x="77088" y="24511"/>
                  </a:lnTo>
                  <a:lnTo>
                    <a:pt x="68452" y="11811"/>
                  </a:lnTo>
                  <a:lnTo>
                    <a:pt x="55752" y="3175"/>
                  </a:lnTo>
                  <a:lnTo>
                    <a:pt x="40131" y="0"/>
                  </a:lnTo>
                  <a:lnTo>
                    <a:pt x="24510" y="3175"/>
                  </a:lnTo>
                  <a:lnTo>
                    <a:pt x="11810" y="11811"/>
                  </a:lnTo>
                  <a:lnTo>
                    <a:pt x="3175" y="24511"/>
                  </a:lnTo>
                  <a:lnTo>
                    <a:pt x="0" y="40131"/>
                  </a:lnTo>
                  <a:lnTo>
                    <a:pt x="3175" y="55753"/>
                  </a:lnTo>
                  <a:lnTo>
                    <a:pt x="11810" y="68580"/>
                  </a:lnTo>
                  <a:lnTo>
                    <a:pt x="24510" y="77088"/>
                  </a:lnTo>
                  <a:lnTo>
                    <a:pt x="40131" y="80263"/>
                  </a:lnTo>
                  <a:lnTo>
                    <a:pt x="55752" y="77088"/>
                  </a:lnTo>
                  <a:lnTo>
                    <a:pt x="68452" y="68580"/>
                  </a:lnTo>
                  <a:lnTo>
                    <a:pt x="77088" y="55753"/>
                  </a:lnTo>
                  <a:lnTo>
                    <a:pt x="80263" y="40131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75754" y="3071875"/>
              <a:ext cx="1136650" cy="1136650"/>
            </a:xfrm>
            <a:custGeom>
              <a:avLst/>
              <a:gdLst/>
              <a:ahLst/>
              <a:cxnLst/>
              <a:rect l="l" t="t" r="r" b="b"/>
              <a:pathLst>
                <a:path w="1136650" h="1136650">
                  <a:moveTo>
                    <a:pt x="1136154" y="0"/>
                  </a:moveTo>
                  <a:lnTo>
                    <a:pt x="0" y="1136269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65489" y="4129668"/>
              <a:ext cx="88638" cy="88626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4382770" y="946530"/>
            <a:ext cx="312991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initialized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1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a</a:t>
            </a:r>
            <a:r>
              <a:rPr sz="1750" spc="-20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random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value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781415" y="5603912"/>
            <a:ext cx="196215" cy="206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spc="-25" dirty="0">
                <a:solidFill>
                  <a:srgbClr val="213739"/>
                </a:solidFill>
                <a:latin typeface="Arial MT"/>
                <a:cs typeface="Arial MT"/>
              </a:rPr>
              <a:t>40</a:t>
            </a:r>
            <a:endParaRPr sz="125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56825" y="1076578"/>
            <a:ext cx="2850515" cy="3136265"/>
            <a:chOff x="956825" y="1076578"/>
            <a:chExt cx="2850515" cy="3136265"/>
          </a:xfrm>
        </p:grpSpPr>
        <p:sp>
          <p:nvSpPr>
            <p:cNvPr id="3" name="object 3"/>
            <p:cNvSpPr/>
            <p:nvPr/>
          </p:nvSpPr>
          <p:spPr>
            <a:xfrm>
              <a:off x="1749298" y="1081658"/>
              <a:ext cx="2052955" cy="2052955"/>
            </a:xfrm>
            <a:custGeom>
              <a:avLst/>
              <a:gdLst/>
              <a:ahLst/>
              <a:cxnLst/>
              <a:rect l="l" t="t" r="r" b="b"/>
              <a:pathLst>
                <a:path w="2052954" h="2052955">
                  <a:moveTo>
                    <a:pt x="62610" y="1990216"/>
                  </a:moveTo>
                  <a:lnTo>
                    <a:pt x="2044827" y="1990216"/>
                  </a:lnTo>
                </a:path>
                <a:path w="2052954" h="2052955">
                  <a:moveTo>
                    <a:pt x="2001519" y="1927605"/>
                  </a:moveTo>
                  <a:lnTo>
                    <a:pt x="2010537" y="1952243"/>
                  </a:lnTo>
                  <a:lnTo>
                    <a:pt x="2022855" y="1970277"/>
                  </a:lnTo>
                  <a:lnTo>
                    <a:pt x="2037334" y="1982596"/>
                  </a:lnTo>
                  <a:lnTo>
                    <a:pt x="2052827" y="1990216"/>
                  </a:lnTo>
                  <a:lnTo>
                    <a:pt x="2037334" y="1997837"/>
                  </a:lnTo>
                  <a:lnTo>
                    <a:pt x="2022855" y="2010155"/>
                  </a:lnTo>
                  <a:lnTo>
                    <a:pt x="2010537" y="2028316"/>
                  </a:lnTo>
                  <a:lnTo>
                    <a:pt x="2001519" y="2052954"/>
                  </a:lnTo>
                </a:path>
                <a:path w="2052954" h="2052955">
                  <a:moveTo>
                    <a:pt x="62610" y="1990216"/>
                  </a:moveTo>
                  <a:lnTo>
                    <a:pt x="62610" y="8000"/>
                  </a:lnTo>
                </a:path>
                <a:path w="2052954" h="2052955">
                  <a:moveTo>
                    <a:pt x="0" y="51307"/>
                  </a:moveTo>
                  <a:lnTo>
                    <a:pt x="24637" y="42290"/>
                  </a:lnTo>
                  <a:lnTo>
                    <a:pt x="42671" y="30099"/>
                  </a:lnTo>
                  <a:lnTo>
                    <a:pt x="55118" y="15620"/>
                  </a:lnTo>
                  <a:lnTo>
                    <a:pt x="62610" y="0"/>
                  </a:lnTo>
                  <a:lnTo>
                    <a:pt x="70231" y="15620"/>
                  </a:lnTo>
                  <a:lnTo>
                    <a:pt x="82676" y="30099"/>
                  </a:lnTo>
                  <a:lnTo>
                    <a:pt x="100710" y="42290"/>
                  </a:lnTo>
                  <a:lnTo>
                    <a:pt x="125349" y="51307"/>
                  </a:lnTo>
                </a:path>
              </a:pathLst>
            </a:custGeom>
            <a:ln w="10122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529588" y="2394203"/>
              <a:ext cx="282575" cy="678180"/>
            </a:xfrm>
            <a:custGeom>
              <a:avLst/>
              <a:gdLst/>
              <a:ahLst/>
              <a:cxnLst/>
              <a:rect l="l" t="t" r="r" b="b"/>
              <a:pathLst>
                <a:path w="282575" h="678180">
                  <a:moveTo>
                    <a:pt x="282320" y="677672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90984" y="2387984"/>
              <a:ext cx="114418" cy="7606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811908" y="1937765"/>
              <a:ext cx="283845" cy="1134110"/>
            </a:xfrm>
            <a:custGeom>
              <a:avLst/>
              <a:gdLst/>
              <a:ahLst/>
              <a:cxnLst/>
              <a:rect l="l" t="t" r="r" b="b"/>
              <a:pathLst>
                <a:path w="283844" h="1134110">
                  <a:moveTo>
                    <a:pt x="0" y="1134110"/>
                  </a:moveTo>
                  <a:lnTo>
                    <a:pt x="283591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23881" y="1931425"/>
              <a:ext cx="119741" cy="6995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811908" y="2503550"/>
              <a:ext cx="1705610" cy="568325"/>
            </a:xfrm>
            <a:custGeom>
              <a:avLst/>
              <a:gdLst/>
              <a:ahLst/>
              <a:cxnLst/>
              <a:rect l="l" t="t" r="r" b="b"/>
              <a:pathLst>
                <a:path w="1705610" h="568325">
                  <a:moveTo>
                    <a:pt x="0" y="568325"/>
                  </a:moveTo>
                  <a:lnTo>
                    <a:pt x="1705229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50089" y="2460124"/>
              <a:ext cx="73391" cy="11733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63168" y="2788919"/>
              <a:ext cx="848994" cy="283210"/>
            </a:xfrm>
            <a:custGeom>
              <a:avLst/>
              <a:gdLst/>
              <a:ahLst/>
              <a:cxnLst/>
              <a:rect l="l" t="t" r="r" b="b"/>
              <a:pathLst>
                <a:path w="848994" h="283210">
                  <a:moveTo>
                    <a:pt x="848740" y="282955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6825" y="2745620"/>
              <a:ext cx="73314" cy="11720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528445" y="3071875"/>
              <a:ext cx="283845" cy="1134110"/>
            </a:xfrm>
            <a:custGeom>
              <a:avLst/>
              <a:gdLst/>
              <a:ahLst/>
              <a:cxnLst/>
              <a:rect l="l" t="t" r="r" b="b"/>
              <a:pathLst>
                <a:path w="283844" h="1134110">
                  <a:moveTo>
                    <a:pt x="283463" y="0"/>
                  </a:moveTo>
                  <a:lnTo>
                    <a:pt x="0" y="1134110"/>
                  </a:lnTo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80194" y="4142368"/>
              <a:ext cx="119741" cy="7008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811908" y="3071875"/>
              <a:ext cx="329565" cy="1138555"/>
            </a:xfrm>
            <a:custGeom>
              <a:avLst/>
              <a:gdLst/>
              <a:ahLst/>
              <a:cxnLst/>
              <a:rect l="l" t="t" r="r" b="b"/>
              <a:pathLst>
                <a:path w="329564" h="1138554">
                  <a:moveTo>
                    <a:pt x="0" y="0"/>
                  </a:moveTo>
                  <a:lnTo>
                    <a:pt x="283591" y="1134110"/>
                  </a:lnTo>
                </a:path>
                <a:path w="329564" h="1138554">
                  <a:moveTo>
                    <a:pt x="329184" y="1073023"/>
                  </a:moveTo>
                  <a:lnTo>
                    <a:pt x="308864" y="1087628"/>
                  </a:lnTo>
                  <a:lnTo>
                    <a:pt x="295402" y="1103757"/>
                  </a:lnTo>
                  <a:lnTo>
                    <a:pt x="287655" y="1120902"/>
                  </a:lnTo>
                  <a:lnTo>
                    <a:pt x="284480" y="1138047"/>
                  </a:lnTo>
                  <a:lnTo>
                    <a:pt x="273685" y="1124331"/>
                  </a:lnTo>
                  <a:lnTo>
                    <a:pt x="258826" y="1112901"/>
                  </a:lnTo>
                  <a:lnTo>
                    <a:pt x="239268" y="1105027"/>
                  </a:lnTo>
                  <a:lnTo>
                    <a:pt x="214503" y="1101725"/>
                  </a:lnTo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548507" y="2969514"/>
            <a:ext cx="26479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49908" y="970915"/>
            <a:ext cx="26479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86205" y="1993773"/>
            <a:ext cx="26797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957070" y="1536954"/>
            <a:ext cx="26797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409315" y="2108073"/>
            <a:ext cx="13906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519932" y="2203780"/>
            <a:ext cx="107950" cy="2197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spc="-50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04672" y="2741167"/>
            <a:ext cx="27876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62583" y="4168902"/>
            <a:ext cx="874394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620395" algn="l"/>
              </a:tabLst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875" baseline="-8888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65489" y="1887356"/>
            <a:ext cx="2901950" cy="2369185"/>
            <a:chOff x="665489" y="1887356"/>
            <a:chExt cx="2901950" cy="2369185"/>
          </a:xfrm>
        </p:grpSpPr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83750" y="2344175"/>
              <a:ext cx="85324" cy="8532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054742" y="1887356"/>
              <a:ext cx="85324" cy="8532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82095" y="2458348"/>
              <a:ext cx="85324" cy="85324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12885" y="2743717"/>
              <a:ext cx="85324" cy="85324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483750" y="4171070"/>
              <a:ext cx="85324" cy="85324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2057273" y="4173600"/>
              <a:ext cx="80645" cy="80645"/>
            </a:xfrm>
            <a:custGeom>
              <a:avLst/>
              <a:gdLst/>
              <a:ahLst/>
              <a:cxnLst/>
              <a:rect l="l" t="t" r="r" b="b"/>
              <a:pathLst>
                <a:path w="80644" h="80645">
                  <a:moveTo>
                    <a:pt x="40131" y="0"/>
                  </a:moveTo>
                  <a:lnTo>
                    <a:pt x="24510" y="3175"/>
                  </a:lnTo>
                  <a:lnTo>
                    <a:pt x="11810" y="11811"/>
                  </a:lnTo>
                  <a:lnTo>
                    <a:pt x="3175" y="24511"/>
                  </a:lnTo>
                  <a:lnTo>
                    <a:pt x="0" y="40131"/>
                  </a:lnTo>
                  <a:lnTo>
                    <a:pt x="3175" y="55753"/>
                  </a:lnTo>
                  <a:lnTo>
                    <a:pt x="11810" y="68580"/>
                  </a:lnTo>
                  <a:lnTo>
                    <a:pt x="24510" y="77088"/>
                  </a:lnTo>
                  <a:lnTo>
                    <a:pt x="40131" y="80263"/>
                  </a:lnTo>
                  <a:lnTo>
                    <a:pt x="55752" y="77088"/>
                  </a:lnTo>
                  <a:lnTo>
                    <a:pt x="68452" y="68580"/>
                  </a:lnTo>
                  <a:lnTo>
                    <a:pt x="77088" y="55753"/>
                  </a:lnTo>
                  <a:lnTo>
                    <a:pt x="80263" y="40131"/>
                  </a:lnTo>
                  <a:lnTo>
                    <a:pt x="77088" y="24511"/>
                  </a:lnTo>
                  <a:lnTo>
                    <a:pt x="68452" y="11811"/>
                  </a:lnTo>
                  <a:lnTo>
                    <a:pt x="55752" y="3175"/>
                  </a:lnTo>
                  <a:lnTo>
                    <a:pt x="40131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057273" y="4173600"/>
              <a:ext cx="80645" cy="80645"/>
            </a:xfrm>
            <a:custGeom>
              <a:avLst/>
              <a:gdLst/>
              <a:ahLst/>
              <a:cxnLst/>
              <a:rect l="l" t="t" r="r" b="b"/>
              <a:pathLst>
                <a:path w="80644" h="80645">
                  <a:moveTo>
                    <a:pt x="80263" y="40131"/>
                  </a:moveTo>
                  <a:lnTo>
                    <a:pt x="77088" y="24511"/>
                  </a:lnTo>
                  <a:lnTo>
                    <a:pt x="68452" y="11811"/>
                  </a:lnTo>
                  <a:lnTo>
                    <a:pt x="55752" y="3175"/>
                  </a:lnTo>
                  <a:lnTo>
                    <a:pt x="40131" y="0"/>
                  </a:lnTo>
                  <a:lnTo>
                    <a:pt x="24510" y="3175"/>
                  </a:lnTo>
                  <a:lnTo>
                    <a:pt x="11810" y="11811"/>
                  </a:lnTo>
                  <a:lnTo>
                    <a:pt x="3175" y="24511"/>
                  </a:lnTo>
                  <a:lnTo>
                    <a:pt x="0" y="40131"/>
                  </a:lnTo>
                  <a:lnTo>
                    <a:pt x="3175" y="55753"/>
                  </a:lnTo>
                  <a:lnTo>
                    <a:pt x="11810" y="68580"/>
                  </a:lnTo>
                  <a:lnTo>
                    <a:pt x="24510" y="77088"/>
                  </a:lnTo>
                  <a:lnTo>
                    <a:pt x="40131" y="80263"/>
                  </a:lnTo>
                  <a:lnTo>
                    <a:pt x="55752" y="77088"/>
                  </a:lnTo>
                  <a:lnTo>
                    <a:pt x="68452" y="68580"/>
                  </a:lnTo>
                  <a:lnTo>
                    <a:pt x="77088" y="55753"/>
                  </a:lnTo>
                  <a:lnTo>
                    <a:pt x="80263" y="40131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75754" y="3071875"/>
              <a:ext cx="1136650" cy="1136650"/>
            </a:xfrm>
            <a:custGeom>
              <a:avLst/>
              <a:gdLst/>
              <a:ahLst/>
              <a:cxnLst/>
              <a:rect l="l" t="t" r="r" b="b"/>
              <a:pathLst>
                <a:path w="1136650" h="1136650">
                  <a:moveTo>
                    <a:pt x="1136154" y="0"/>
                  </a:moveTo>
                  <a:lnTo>
                    <a:pt x="0" y="1136269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65489" y="4129668"/>
              <a:ext cx="88638" cy="88626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4382770" y="849883"/>
            <a:ext cx="4401820" cy="1995170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initialized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1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a</a:t>
            </a:r>
            <a:r>
              <a:rPr sz="1750" spc="-20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random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value</a:t>
            </a:r>
            <a:endParaRPr sz="1750">
              <a:latin typeface="Arial MT"/>
              <a:cs typeface="Arial MT"/>
            </a:endParaRPr>
          </a:p>
          <a:p>
            <a:pPr marL="15240" marR="5080" indent="-3175">
              <a:lnSpc>
                <a:spcPct val="116799"/>
              </a:lnSpc>
              <a:spcBef>
                <a:spcPts val="395"/>
              </a:spcBef>
              <a:tabLst>
                <a:tab pos="3201035" algn="l"/>
              </a:tabLst>
            </a:pP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observe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that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currently,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1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·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5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5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spc="-85" dirty="0">
                <a:solidFill>
                  <a:srgbClr val="213739"/>
                </a:solidFill>
                <a:latin typeface="Lucida Sans Unicode"/>
                <a:cs typeface="Lucida Sans Unicode"/>
              </a:rPr>
              <a:t>∵</a:t>
            </a:r>
            <a:r>
              <a:rPr sz="1750" spc="-23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angle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&gt;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90°)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for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all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positive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points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5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·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459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≥</a:t>
            </a:r>
            <a:r>
              <a:rPr sz="1750" spc="4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4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spc="-25" dirty="0">
                <a:solidFill>
                  <a:srgbClr val="213739"/>
                </a:solidFill>
                <a:latin typeface="Lucida Sans Unicode"/>
                <a:cs typeface="Lucida Sans Unicode"/>
              </a:rPr>
              <a:t>∵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angle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spc="44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90°)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for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all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negative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points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(the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situ-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ation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is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exactly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oppsite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what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actually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want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it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be)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781415" y="5603912"/>
            <a:ext cx="196215" cy="206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spc="-25" dirty="0">
                <a:solidFill>
                  <a:srgbClr val="213739"/>
                </a:solidFill>
                <a:latin typeface="Arial MT"/>
                <a:cs typeface="Arial MT"/>
              </a:rPr>
              <a:t>40</a:t>
            </a:r>
            <a:endParaRPr sz="125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56825" y="1076578"/>
            <a:ext cx="2850515" cy="3136265"/>
            <a:chOff x="956825" y="1076578"/>
            <a:chExt cx="2850515" cy="3136265"/>
          </a:xfrm>
        </p:grpSpPr>
        <p:sp>
          <p:nvSpPr>
            <p:cNvPr id="3" name="object 3"/>
            <p:cNvSpPr/>
            <p:nvPr/>
          </p:nvSpPr>
          <p:spPr>
            <a:xfrm>
              <a:off x="1749298" y="1081658"/>
              <a:ext cx="2052955" cy="2052955"/>
            </a:xfrm>
            <a:custGeom>
              <a:avLst/>
              <a:gdLst/>
              <a:ahLst/>
              <a:cxnLst/>
              <a:rect l="l" t="t" r="r" b="b"/>
              <a:pathLst>
                <a:path w="2052954" h="2052955">
                  <a:moveTo>
                    <a:pt x="62610" y="1990216"/>
                  </a:moveTo>
                  <a:lnTo>
                    <a:pt x="2044827" y="1990216"/>
                  </a:lnTo>
                </a:path>
                <a:path w="2052954" h="2052955">
                  <a:moveTo>
                    <a:pt x="2001519" y="1927605"/>
                  </a:moveTo>
                  <a:lnTo>
                    <a:pt x="2010537" y="1952243"/>
                  </a:lnTo>
                  <a:lnTo>
                    <a:pt x="2022855" y="1970277"/>
                  </a:lnTo>
                  <a:lnTo>
                    <a:pt x="2037334" y="1982596"/>
                  </a:lnTo>
                  <a:lnTo>
                    <a:pt x="2052827" y="1990216"/>
                  </a:lnTo>
                  <a:lnTo>
                    <a:pt x="2037334" y="1997837"/>
                  </a:lnTo>
                  <a:lnTo>
                    <a:pt x="2022855" y="2010155"/>
                  </a:lnTo>
                  <a:lnTo>
                    <a:pt x="2010537" y="2028316"/>
                  </a:lnTo>
                  <a:lnTo>
                    <a:pt x="2001519" y="2052954"/>
                  </a:lnTo>
                </a:path>
                <a:path w="2052954" h="2052955">
                  <a:moveTo>
                    <a:pt x="62610" y="1990216"/>
                  </a:moveTo>
                  <a:lnTo>
                    <a:pt x="62610" y="8000"/>
                  </a:lnTo>
                </a:path>
                <a:path w="2052954" h="2052955">
                  <a:moveTo>
                    <a:pt x="0" y="51307"/>
                  </a:moveTo>
                  <a:lnTo>
                    <a:pt x="24637" y="42290"/>
                  </a:lnTo>
                  <a:lnTo>
                    <a:pt x="42671" y="30099"/>
                  </a:lnTo>
                  <a:lnTo>
                    <a:pt x="55118" y="15620"/>
                  </a:lnTo>
                  <a:lnTo>
                    <a:pt x="62610" y="0"/>
                  </a:lnTo>
                  <a:lnTo>
                    <a:pt x="70231" y="15620"/>
                  </a:lnTo>
                  <a:lnTo>
                    <a:pt x="82676" y="30099"/>
                  </a:lnTo>
                  <a:lnTo>
                    <a:pt x="100710" y="42290"/>
                  </a:lnTo>
                  <a:lnTo>
                    <a:pt x="125349" y="51307"/>
                  </a:lnTo>
                </a:path>
              </a:pathLst>
            </a:custGeom>
            <a:ln w="10122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529588" y="2394203"/>
              <a:ext cx="282575" cy="678180"/>
            </a:xfrm>
            <a:custGeom>
              <a:avLst/>
              <a:gdLst/>
              <a:ahLst/>
              <a:cxnLst/>
              <a:rect l="l" t="t" r="r" b="b"/>
              <a:pathLst>
                <a:path w="282575" h="678180">
                  <a:moveTo>
                    <a:pt x="282320" y="677672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90984" y="2387984"/>
              <a:ext cx="114418" cy="7606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811908" y="1937765"/>
              <a:ext cx="283845" cy="1134110"/>
            </a:xfrm>
            <a:custGeom>
              <a:avLst/>
              <a:gdLst/>
              <a:ahLst/>
              <a:cxnLst/>
              <a:rect l="l" t="t" r="r" b="b"/>
              <a:pathLst>
                <a:path w="283844" h="1134110">
                  <a:moveTo>
                    <a:pt x="0" y="1134110"/>
                  </a:moveTo>
                  <a:lnTo>
                    <a:pt x="283591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23881" y="1931425"/>
              <a:ext cx="119741" cy="6995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811908" y="2503550"/>
              <a:ext cx="1705610" cy="568325"/>
            </a:xfrm>
            <a:custGeom>
              <a:avLst/>
              <a:gdLst/>
              <a:ahLst/>
              <a:cxnLst/>
              <a:rect l="l" t="t" r="r" b="b"/>
              <a:pathLst>
                <a:path w="1705610" h="568325">
                  <a:moveTo>
                    <a:pt x="0" y="568325"/>
                  </a:moveTo>
                  <a:lnTo>
                    <a:pt x="1705229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50089" y="2460124"/>
              <a:ext cx="73391" cy="11733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63168" y="2788919"/>
              <a:ext cx="848994" cy="283210"/>
            </a:xfrm>
            <a:custGeom>
              <a:avLst/>
              <a:gdLst/>
              <a:ahLst/>
              <a:cxnLst/>
              <a:rect l="l" t="t" r="r" b="b"/>
              <a:pathLst>
                <a:path w="848994" h="283210">
                  <a:moveTo>
                    <a:pt x="848740" y="282955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6825" y="2745620"/>
              <a:ext cx="73314" cy="11720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528445" y="3071875"/>
              <a:ext cx="283845" cy="1134110"/>
            </a:xfrm>
            <a:custGeom>
              <a:avLst/>
              <a:gdLst/>
              <a:ahLst/>
              <a:cxnLst/>
              <a:rect l="l" t="t" r="r" b="b"/>
              <a:pathLst>
                <a:path w="283844" h="1134110">
                  <a:moveTo>
                    <a:pt x="283463" y="0"/>
                  </a:moveTo>
                  <a:lnTo>
                    <a:pt x="0" y="1134110"/>
                  </a:lnTo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80194" y="4142368"/>
              <a:ext cx="119741" cy="7008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811908" y="3071875"/>
              <a:ext cx="329565" cy="1138555"/>
            </a:xfrm>
            <a:custGeom>
              <a:avLst/>
              <a:gdLst/>
              <a:ahLst/>
              <a:cxnLst/>
              <a:rect l="l" t="t" r="r" b="b"/>
              <a:pathLst>
                <a:path w="329564" h="1138554">
                  <a:moveTo>
                    <a:pt x="0" y="0"/>
                  </a:moveTo>
                  <a:lnTo>
                    <a:pt x="283591" y="1134110"/>
                  </a:lnTo>
                </a:path>
                <a:path w="329564" h="1138554">
                  <a:moveTo>
                    <a:pt x="329184" y="1073023"/>
                  </a:moveTo>
                  <a:lnTo>
                    <a:pt x="308864" y="1087628"/>
                  </a:lnTo>
                  <a:lnTo>
                    <a:pt x="295402" y="1103757"/>
                  </a:lnTo>
                  <a:lnTo>
                    <a:pt x="287655" y="1120902"/>
                  </a:lnTo>
                  <a:lnTo>
                    <a:pt x="284480" y="1138047"/>
                  </a:lnTo>
                  <a:lnTo>
                    <a:pt x="273685" y="1124331"/>
                  </a:lnTo>
                  <a:lnTo>
                    <a:pt x="258826" y="1112901"/>
                  </a:lnTo>
                  <a:lnTo>
                    <a:pt x="239268" y="1105027"/>
                  </a:lnTo>
                  <a:lnTo>
                    <a:pt x="214503" y="1101725"/>
                  </a:lnTo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548507" y="2969514"/>
            <a:ext cx="26479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49908" y="970915"/>
            <a:ext cx="26479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86205" y="1993773"/>
            <a:ext cx="26797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957070" y="1536954"/>
            <a:ext cx="26797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409315" y="2108073"/>
            <a:ext cx="13906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519932" y="2203780"/>
            <a:ext cx="107950" cy="2197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spc="-50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04672" y="2741167"/>
            <a:ext cx="27876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62583" y="4168902"/>
            <a:ext cx="874394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620395" algn="l"/>
              </a:tabLst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875" baseline="-8888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65489" y="1887356"/>
            <a:ext cx="2901950" cy="2369185"/>
            <a:chOff x="665489" y="1887356"/>
            <a:chExt cx="2901950" cy="2369185"/>
          </a:xfrm>
        </p:grpSpPr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83750" y="2344175"/>
              <a:ext cx="85324" cy="8532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054742" y="1887356"/>
              <a:ext cx="85324" cy="8532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82095" y="2458348"/>
              <a:ext cx="85324" cy="85324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12885" y="2743717"/>
              <a:ext cx="85324" cy="85324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483750" y="4171070"/>
              <a:ext cx="85324" cy="85324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2057273" y="4173600"/>
              <a:ext cx="80645" cy="80645"/>
            </a:xfrm>
            <a:custGeom>
              <a:avLst/>
              <a:gdLst/>
              <a:ahLst/>
              <a:cxnLst/>
              <a:rect l="l" t="t" r="r" b="b"/>
              <a:pathLst>
                <a:path w="80644" h="80645">
                  <a:moveTo>
                    <a:pt x="40131" y="0"/>
                  </a:moveTo>
                  <a:lnTo>
                    <a:pt x="24510" y="3175"/>
                  </a:lnTo>
                  <a:lnTo>
                    <a:pt x="11810" y="11811"/>
                  </a:lnTo>
                  <a:lnTo>
                    <a:pt x="3175" y="24511"/>
                  </a:lnTo>
                  <a:lnTo>
                    <a:pt x="0" y="40131"/>
                  </a:lnTo>
                  <a:lnTo>
                    <a:pt x="3175" y="55753"/>
                  </a:lnTo>
                  <a:lnTo>
                    <a:pt x="11810" y="68580"/>
                  </a:lnTo>
                  <a:lnTo>
                    <a:pt x="24510" y="77088"/>
                  </a:lnTo>
                  <a:lnTo>
                    <a:pt x="40131" y="80263"/>
                  </a:lnTo>
                  <a:lnTo>
                    <a:pt x="55752" y="77088"/>
                  </a:lnTo>
                  <a:lnTo>
                    <a:pt x="68452" y="68580"/>
                  </a:lnTo>
                  <a:lnTo>
                    <a:pt x="77088" y="55753"/>
                  </a:lnTo>
                  <a:lnTo>
                    <a:pt x="80263" y="40131"/>
                  </a:lnTo>
                  <a:lnTo>
                    <a:pt x="77088" y="24511"/>
                  </a:lnTo>
                  <a:lnTo>
                    <a:pt x="68452" y="11811"/>
                  </a:lnTo>
                  <a:lnTo>
                    <a:pt x="55752" y="3175"/>
                  </a:lnTo>
                  <a:lnTo>
                    <a:pt x="40131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057273" y="4173600"/>
              <a:ext cx="80645" cy="80645"/>
            </a:xfrm>
            <a:custGeom>
              <a:avLst/>
              <a:gdLst/>
              <a:ahLst/>
              <a:cxnLst/>
              <a:rect l="l" t="t" r="r" b="b"/>
              <a:pathLst>
                <a:path w="80644" h="80645">
                  <a:moveTo>
                    <a:pt x="80263" y="40131"/>
                  </a:moveTo>
                  <a:lnTo>
                    <a:pt x="77088" y="24511"/>
                  </a:lnTo>
                  <a:lnTo>
                    <a:pt x="68452" y="11811"/>
                  </a:lnTo>
                  <a:lnTo>
                    <a:pt x="55752" y="3175"/>
                  </a:lnTo>
                  <a:lnTo>
                    <a:pt x="40131" y="0"/>
                  </a:lnTo>
                  <a:lnTo>
                    <a:pt x="24510" y="3175"/>
                  </a:lnTo>
                  <a:lnTo>
                    <a:pt x="11810" y="11811"/>
                  </a:lnTo>
                  <a:lnTo>
                    <a:pt x="3175" y="24511"/>
                  </a:lnTo>
                  <a:lnTo>
                    <a:pt x="0" y="40131"/>
                  </a:lnTo>
                  <a:lnTo>
                    <a:pt x="3175" y="55753"/>
                  </a:lnTo>
                  <a:lnTo>
                    <a:pt x="11810" y="68580"/>
                  </a:lnTo>
                  <a:lnTo>
                    <a:pt x="24510" y="77088"/>
                  </a:lnTo>
                  <a:lnTo>
                    <a:pt x="40131" y="80263"/>
                  </a:lnTo>
                  <a:lnTo>
                    <a:pt x="55752" y="77088"/>
                  </a:lnTo>
                  <a:lnTo>
                    <a:pt x="68452" y="68580"/>
                  </a:lnTo>
                  <a:lnTo>
                    <a:pt x="77088" y="55753"/>
                  </a:lnTo>
                  <a:lnTo>
                    <a:pt x="80263" y="40131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75754" y="3071875"/>
              <a:ext cx="1136650" cy="1136650"/>
            </a:xfrm>
            <a:custGeom>
              <a:avLst/>
              <a:gdLst/>
              <a:ahLst/>
              <a:cxnLst/>
              <a:rect l="l" t="t" r="r" b="b"/>
              <a:pathLst>
                <a:path w="1136650" h="1136650">
                  <a:moveTo>
                    <a:pt x="1136154" y="0"/>
                  </a:moveTo>
                  <a:lnTo>
                    <a:pt x="0" y="1136269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65489" y="4129668"/>
              <a:ext cx="88638" cy="88626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4381246" y="849883"/>
            <a:ext cx="4403725" cy="2685415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850"/>
              </a:spcBef>
            </a:pP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initialized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1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a</a:t>
            </a:r>
            <a:r>
              <a:rPr sz="1750" spc="-20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random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value</a:t>
            </a:r>
            <a:endParaRPr sz="1750">
              <a:latin typeface="Arial MT"/>
              <a:cs typeface="Arial MT"/>
            </a:endParaRPr>
          </a:p>
          <a:p>
            <a:pPr marL="16510" marR="5080" indent="-3175">
              <a:lnSpc>
                <a:spcPct val="116799"/>
              </a:lnSpc>
              <a:spcBef>
                <a:spcPts val="395"/>
              </a:spcBef>
              <a:tabLst>
                <a:tab pos="3202940" algn="l"/>
              </a:tabLst>
            </a:pP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observe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that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currently,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1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·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5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5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spc="-85" dirty="0">
                <a:solidFill>
                  <a:srgbClr val="213739"/>
                </a:solidFill>
                <a:latin typeface="Lucida Sans Unicode"/>
                <a:cs typeface="Lucida Sans Unicode"/>
              </a:rPr>
              <a:t>∵</a:t>
            </a:r>
            <a:r>
              <a:rPr sz="1750" spc="-23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angle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&gt;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90°)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for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all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positive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points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5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·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459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≥</a:t>
            </a:r>
            <a:r>
              <a:rPr sz="1750" spc="4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4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spc="-25" dirty="0">
                <a:solidFill>
                  <a:srgbClr val="213739"/>
                </a:solidFill>
                <a:latin typeface="Lucida Sans Unicode"/>
                <a:cs typeface="Lucida Sans Unicode"/>
              </a:rPr>
              <a:t>∵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angle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spc="409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90°)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for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all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negative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points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(the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situ-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ation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is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exactly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oppsite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what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actually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want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it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be)</a:t>
            </a:r>
            <a:endParaRPr sz="1750">
              <a:latin typeface="Arial MT"/>
              <a:cs typeface="Arial MT"/>
            </a:endParaRPr>
          </a:p>
          <a:p>
            <a:pPr marL="17145" marR="5080" indent="-5080">
              <a:lnSpc>
                <a:spcPct val="117700"/>
              </a:lnSpc>
              <a:spcBef>
                <a:spcPts val="495"/>
              </a:spcBef>
            </a:pPr>
            <a:r>
              <a:rPr sz="1750" spc="-16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now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run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algorithm</a:t>
            </a:r>
            <a:r>
              <a:rPr sz="1750" spc="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by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randomly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going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over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points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781415" y="5603912"/>
            <a:ext cx="196215" cy="206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spc="-25" dirty="0">
                <a:solidFill>
                  <a:srgbClr val="213739"/>
                </a:solidFill>
                <a:latin typeface="Arial MT"/>
                <a:cs typeface="Arial MT"/>
              </a:rPr>
              <a:t>40</a:t>
            </a:r>
            <a:endParaRPr sz="125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56825" y="1076578"/>
            <a:ext cx="2850515" cy="3136265"/>
            <a:chOff x="956825" y="1076578"/>
            <a:chExt cx="2850515" cy="3136265"/>
          </a:xfrm>
        </p:grpSpPr>
        <p:sp>
          <p:nvSpPr>
            <p:cNvPr id="3" name="object 3"/>
            <p:cNvSpPr/>
            <p:nvPr/>
          </p:nvSpPr>
          <p:spPr>
            <a:xfrm>
              <a:off x="1749298" y="1081658"/>
              <a:ext cx="2052955" cy="2052955"/>
            </a:xfrm>
            <a:custGeom>
              <a:avLst/>
              <a:gdLst/>
              <a:ahLst/>
              <a:cxnLst/>
              <a:rect l="l" t="t" r="r" b="b"/>
              <a:pathLst>
                <a:path w="2052954" h="2052955">
                  <a:moveTo>
                    <a:pt x="62610" y="1990216"/>
                  </a:moveTo>
                  <a:lnTo>
                    <a:pt x="2044827" y="1990216"/>
                  </a:lnTo>
                </a:path>
                <a:path w="2052954" h="2052955">
                  <a:moveTo>
                    <a:pt x="2001519" y="1927605"/>
                  </a:moveTo>
                  <a:lnTo>
                    <a:pt x="2010537" y="1952243"/>
                  </a:lnTo>
                  <a:lnTo>
                    <a:pt x="2022855" y="1970277"/>
                  </a:lnTo>
                  <a:lnTo>
                    <a:pt x="2037334" y="1982596"/>
                  </a:lnTo>
                  <a:lnTo>
                    <a:pt x="2052827" y="1990216"/>
                  </a:lnTo>
                  <a:lnTo>
                    <a:pt x="2037334" y="1997837"/>
                  </a:lnTo>
                  <a:lnTo>
                    <a:pt x="2022855" y="2010155"/>
                  </a:lnTo>
                  <a:lnTo>
                    <a:pt x="2010537" y="2028316"/>
                  </a:lnTo>
                  <a:lnTo>
                    <a:pt x="2001519" y="2052954"/>
                  </a:lnTo>
                </a:path>
                <a:path w="2052954" h="2052955">
                  <a:moveTo>
                    <a:pt x="62610" y="1990216"/>
                  </a:moveTo>
                  <a:lnTo>
                    <a:pt x="62610" y="8000"/>
                  </a:lnTo>
                </a:path>
                <a:path w="2052954" h="2052955">
                  <a:moveTo>
                    <a:pt x="0" y="51307"/>
                  </a:moveTo>
                  <a:lnTo>
                    <a:pt x="24637" y="42290"/>
                  </a:lnTo>
                  <a:lnTo>
                    <a:pt x="42671" y="30099"/>
                  </a:lnTo>
                  <a:lnTo>
                    <a:pt x="55118" y="15620"/>
                  </a:lnTo>
                  <a:lnTo>
                    <a:pt x="62610" y="0"/>
                  </a:lnTo>
                  <a:lnTo>
                    <a:pt x="70231" y="15620"/>
                  </a:lnTo>
                  <a:lnTo>
                    <a:pt x="82676" y="30099"/>
                  </a:lnTo>
                  <a:lnTo>
                    <a:pt x="100710" y="42290"/>
                  </a:lnTo>
                  <a:lnTo>
                    <a:pt x="125349" y="51307"/>
                  </a:lnTo>
                </a:path>
              </a:pathLst>
            </a:custGeom>
            <a:ln w="10122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529588" y="2394203"/>
              <a:ext cx="282575" cy="678180"/>
            </a:xfrm>
            <a:custGeom>
              <a:avLst/>
              <a:gdLst/>
              <a:ahLst/>
              <a:cxnLst/>
              <a:rect l="l" t="t" r="r" b="b"/>
              <a:pathLst>
                <a:path w="282575" h="678180">
                  <a:moveTo>
                    <a:pt x="282320" y="677672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90984" y="2387984"/>
              <a:ext cx="114418" cy="7606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811908" y="1937765"/>
              <a:ext cx="283845" cy="1134110"/>
            </a:xfrm>
            <a:custGeom>
              <a:avLst/>
              <a:gdLst/>
              <a:ahLst/>
              <a:cxnLst/>
              <a:rect l="l" t="t" r="r" b="b"/>
              <a:pathLst>
                <a:path w="283844" h="1134110">
                  <a:moveTo>
                    <a:pt x="0" y="1134110"/>
                  </a:moveTo>
                  <a:lnTo>
                    <a:pt x="283591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23881" y="1931425"/>
              <a:ext cx="119741" cy="6995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811908" y="2503550"/>
              <a:ext cx="1705610" cy="568325"/>
            </a:xfrm>
            <a:custGeom>
              <a:avLst/>
              <a:gdLst/>
              <a:ahLst/>
              <a:cxnLst/>
              <a:rect l="l" t="t" r="r" b="b"/>
              <a:pathLst>
                <a:path w="1705610" h="568325">
                  <a:moveTo>
                    <a:pt x="0" y="568325"/>
                  </a:moveTo>
                  <a:lnTo>
                    <a:pt x="1705229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50089" y="2460124"/>
              <a:ext cx="73391" cy="11733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63168" y="2788919"/>
              <a:ext cx="848994" cy="283210"/>
            </a:xfrm>
            <a:custGeom>
              <a:avLst/>
              <a:gdLst/>
              <a:ahLst/>
              <a:cxnLst/>
              <a:rect l="l" t="t" r="r" b="b"/>
              <a:pathLst>
                <a:path w="848994" h="283210">
                  <a:moveTo>
                    <a:pt x="848740" y="282955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6825" y="2745620"/>
              <a:ext cx="73314" cy="11720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528445" y="3071875"/>
              <a:ext cx="283845" cy="1134110"/>
            </a:xfrm>
            <a:custGeom>
              <a:avLst/>
              <a:gdLst/>
              <a:ahLst/>
              <a:cxnLst/>
              <a:rect l="l" t="t" r="r" b="b"/>
              <a:pathLst>
                <a:path w="283844" h="1134110">
                  <a:moveTo>
                    <a:pt x="283463" y="0"/>
                  </a:moveTo>
                  <a:lnTo>
                    <a:pt x="0" y="1134110"/>
                  </a:lnTo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80194" y="4142368"/>
              <a:ext cx="119741" cy="7008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811908" y="3071875"/>
              <a:ext cx="329565" cy="1138555"/>
            </a:xfrm>
            <a:custGeom>
              <a:avLst/>
              <a:gdLst/>
              <a:ahLst/>
              <a:cxnLst/>
              <a:rect l="l" t="t" r="r" b="b"/>
              <a:pathLst>
                <a:path w="329564" h="1138554">
                  <a:moveTo>
                    <a:pt x="0" y="0"/>
                  </a:moveTo>
                  <a:lnTo>
                    <a:pt x="283591" y="1134110"/>
                  </a:lnTo>
                </a:path>
                <a:path w="329564" h="1138554">
                  <a:moveTo>
                    <a:pt x="329184" y="1073023"/>
                  </a:moveTo>
                  <a:lnTo>
                    <a:pt x="308864" y="1087628"/>
                  </a:lnTo>
                  <a:lnTo>
                    <a:pt x="295402" y="1103757"/>
                  </a:lnTo>
                  <a:lnTo>
                    <a:pt x="287655" y="1120902"/>
                  </a:lnTo>
                  <a:lnTo>
                    <a:pt x="284480" y="1138047"/>
                  </a:lnTo>
                  <a:lnTo>
                    <a:pt x="273685" y="1124331"/>
                  </a:lnTo>
                  <a:lnTo>
                    <a:pt x="258826" y="1112901"/>
                  </a:lnTo>
                  <a:lnTo>
                    <a:pt x="239268" y="1105027"/>
                  </a:lnTo>
                  <a:lnTo>
                    <a:pt x="214503" y="1101725"/>
                  </a:lnTo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548507" y="2969514"/>
            <a:ext cx="26479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49908" y="970915"/>
            <a:ext cx="26479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86205" y="1993773"/>
            <a:ext cx="26797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957070" y="1536954"/>
            <a:ext cx="26797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409315" y="2108073"/>
            <a:ext cx="13906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519932" y="2203780"/>
            <a:ext cx="107950" cy="2197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spc="-50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04672" y="2741167"/>
            <a:ext cx="27876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62583" y="4168902"/>
            <a:ext cx="874394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620395" algn="l"/>
              </a:tabLst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875" baseline="-8888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65489" y="1887356"/>
            <a:ext cx="2901950" cy="2369185"/>
            <a:chOff x="665489" y="1887356"/>
            <a:chExt cx="2901950" cy="2369185"/>
          </a:xfrm>
        </p:grpSpPr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83750" y="2344175"/>
              <a:ext cx="85324" cy="8532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054742" y="1887356"/>
              <a:ext cx="85324" cy="8532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82095" y="2458348"/>
              <a:ext cx="85324" cy="85324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12885" y="2743717"/>
              <a:ext cx="85324" cy="85324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483750" y="4171070"/>
              <a:ext cx="85324" cy="85324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2057273" y="4173600"/>
              <a:ext cx="80645" cy="80645"/>
            </a:xfrm>
            <a:custGeom>
              <a:avLst/>
              <a:gdLst/>
              <a:ahLst/>
              <a:cxnLst/>
              <a:rect l="l" t="t" r="r" b="b"/>
              <a:pathLst>
                <a:path w="80644" h="80645">
                  <a:moveTo>
                    <a:pt x="40131" y="0"/>
                  </a:moveTo>
                  <a:lnTo>
                    <a:pt x="24510" y="3175"/>
                  </a:lnTo>
                  <a:lnTo>
                    <a:pt x="11810" y="11811"/>
                  </a:lnTo>
                  <a:lnTo>
                    <a:pt x="3175" y="24511"/>
                  </a:lnTo>
                  <a:lnTo>
                    <a:pt x="0" y="40131"/>
                  </a:lnTo>
                  <a:lnTo>
                    <a:pt x="3175" y="55753"/>
                  </a:lnTo>
                  <a:lnTo>
                    <a:pt x="11810" y="68580"/>
                  </a:lnTo>
                  <a:lnTo>
                    <a:pt x="24510" y="77088"/>
                  </a:lnTo>
                  <a:lnTo>
                    <a:pt x="40131" y="80263"/>
                  </a:lnTo>
                  <a:lnTo>
                    <a:pt x="55752" y="77088"/>
                  </a:lnTo>
                  <a:lnTo>
                    <a:pt x="68452" y="68580"/>
                  </a:lnTo>
                  <a:lnTo>
                    <a:pt x="77088" y="55753"/>
                  </a:lnTo>
                  <a:lnTo>
                    <a:pt x="80263" y="40131"/>
                  </a:lnTo>
                  <a:lnTo>
                    <a:pt x="77088" y="24511"/>
                  </a:lnTo>
                  <a:lnTo>
                    <a:pt x="68452" y="11811"/>
                  </a:lnTo>
                  <a:lnTo>
                    <a:pt x="55752" y="3175"/>
                  </a:lnTo>
                  <a:lnTo>
                    <a:pt x="40131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057273" y="4173600"/>
              <a:ext cx="80645" cy="80645"/>
            </a:xfrm>
            <a:custGeom>
              <a:avLst/>
              <a:gdLst/>
              <a:ahLst/>
              <a:cxnLst/>
              <a:rect l="l" t="t" r="r" b="b"/>
              <a:pathLst>
                <a:path w="80644" h="80645">
                  <a:moveTo>
                    <a:pt x="80263" y="40131"/>
                  </a:moveTo>
                  <a:lnTo>
                    <a:pt x="77088" y="24511"/>
                  </a:lnTo>
                  <a:lnTo>
                    <a:pt x="68452" y="11811"/>
                  </a:lnTo>
                  <a:lnTo>
                    <a:pt x="55752" y="3175"/>
                  </a:lnTo>
                  <a:lnTo>
                    <a:pt x="40131" y="0"/>
                  </a:lnTo>
                  <a:lnTo>
                    <a:pt x="24510" y="3175"/>
                  </a:lnTo>
                  <a:lnTo>
                    <a:pt x="11810" y="11811"/>
                  </a:lnTo>
                  <a:lnTo>
                    <a:pt x="3175" y="24511"/>
                  </a:lnTo>
                  <a:lnTo>
                    <a:pt x="0" y="40131"/>
                  </a:lnTo>
                  <a:lnTo>
                    <a:pt x="3175" y="55753"/>
                  </a:lnTo>
                  <a:lnTo>
                    <a:pt x="11810" y="68580"/>
                  </a:lnTo>
                  <a:lnTo>
                    <a:pt x="24510" y="77088"/>
                  </a:lnTo>
                  <a:lnTo>
                    <a:pt x="40131" y="80263"/>
                  </a:lnTo>
                  <a:lnTo>
                    <a:pt x="55752" y="77088"/>
                  </a:lnTo>
                  <a:lnTo>
                    <a:pt x="68452" y="68580"/>
                  </a:lnTo>
                  <a:lnTo>
                    <a:pt x="77088" y="55753"/>
                  </a:lnTo>
                  <a:lnTo>
                    <a:pt x="80263" y="40131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75754" y="3071875"/>
              <a:ext cx="1136650" cy="1136650"/>
            </a:xfrm>
            <a:custGeom>
              <a:avLst/>
              <a:gdLst/>
              <a:ahLst/>
              <a:cxnLst/>
              <a:rect l="l" t="t" r="r" b="b"/>
              <a:pathLst>
                <a:path w="1136650" h="1136650">
                  <a:moveTo>
                    <a:pt x="1136154" y="0"/>
                  </a:moveTo>
                  <a:lnTo>
                    <a:pt x="0" y="1136269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65489" y="4129668"/>
              <a:ext cx="88638" cy="88626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4356861" y="849883"/>
            <a:ext cx="4464685" cy="3712845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50"/>
              </a:spcBef>
            </a:pP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initialized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1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a</a:t>
            </a:r>
            <a:r>
              <a:rPr sz="1750" spc="-20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random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value</a:t>
            </a:r>
            <a:endParaRPr sz="1750">
              <a:latin typeface="Arial MT"/>
              <a:cs typeface="Arial MT"/>
            </a:endParaRPr>
          </a:p>
          <a:p>
            <a:pPr marL="40640" marR="41910" indent="-2540">
              <a:lnSpc>
                <a:spcPct val="116799"/>
              </a:lnSpc>
              <a:spcBef>
                <a:spcPts val="395"/>
              </a:spcBef>
              <a:tabLst>
                <a:tab pos="3227070" algn="l"/>
              </a:tabLst>
            </a:pP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observe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that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currently,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1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·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5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5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spc="-85" dirty="0">
                <a:solidFill>
                  <a:srgbClr val="213739"/>
                </a:solidFill>
                <a:latin typeface="Lucida Sans Unicode"/>
                <a:cs typeface="Lucida Sans Unicode"/>
              </a:rPr>
              <a:t>∵</a:t>
            </a:r>
            <a:r>
              <a:rPr sz="1750" spc="-23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angle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&gt;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90°)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for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all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positive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points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5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·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459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≥</a:t>
            </a:r>
            <a:r>
              <a:rPr sz="1750" spc="4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4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spc="-25" dirty="0">
                <a:solidFill>
                  <a:srgbClr val="213739"/>
                </a:solidFill>
                <a:latin typeface="Lucida Sans Unicode"/>
                <a:cs typeface="Lucida Sans Unicode"/>
              </a:rPr>
              <a:t>∵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angle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spc="409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90°)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for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all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negative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points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(the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situ-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ation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is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exactly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oppsite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what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actually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want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it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be)</a:t>
            </a:r>
            <a:endParaRPr sz="1750">
              <a:latin typeface="Arial MT"/>
              <a:cs typeface="Arial MT"/>
            </a:endParaRPr>
          </a:p>
          <a:p>
            <a:pPr marL="40640" marR="41910" indent="-3175">
              <a:lnSpc>
                <a:spcPct val="117700"/>
              </a:lnSpc>
              <a:spcBef>
                <a:spcPts val="495"/>
              </a:spcBef>
            </a:pPr>
            <a:r>
              <a:rPr sz="1750" spc="-16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now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run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algorithm</a:t>
            </a:r>
            <a:r>
              <a:rPr sz="1750" spc="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by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randomly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going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over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points</a:t>
            </a:r>
            <a:endParaRPr sz="1750">
              <a:latin typeface="Arial MT"/>
              <a:cs typeface="Arial MT"/>
            </a:endParaRPr>
          </a:p>
          <a:p>
            <a:pPr marL="41275" marR="30480" indent="-3810" algn="just">
              <a:lnSpc>
                <a:spcPct val="117200"/>
              </a:lnSpc>
              <a:spcBef>
                <a:spcPts val="710"/>
              </a:spcBef>
            </a:pP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Randomly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pick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a</a:t>
            </a:r>
            <a:r>
              <a:rPr sz="1750" spc="-1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point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(say,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875" spc="-15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),</a:t>
            </a:r>
            <a:r>
              <a:rPr sz="1750" spc="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apply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correction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spc="-1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4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59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spc="-1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-8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Calibri"/>
                <a:cs typeface="Calibri"/>
              </a:rPr>
              <a:t>+</a:t>
            </a:r>
            <a:r>
              <a:rPr sz="1750" spc="3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spc="-1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6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5" dirty="0">
                <a:solidFill>
                  <a:srgbClr val="213739"/>
                </a:solidFill>
                <a:latin typeface="Lucida Sans Unicode"/>
                <a:cs typeface="Lucida Sans Unicode"/>
              </a:rPr>
              <a:t>∵</a:t>
            </a:r>
            <a:r>
              <a:rPr sz="1750" spc="-29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b="1" spc="-1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5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40" dirty="0">
                <a:solidFill>
                  <a:srgbClr val="213739"/>
                </a:solidFill>
                <a:latin typeface="Lucida Sans Unicode"/>
                <a:cs typeface="Lucida Sans Unicode"/>
              </a:rPr>
              <a:t>·</a:t>
            </a:r>
            <a:r>
              <a:rPr sz="1750" b="1" spc="-14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6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spc="57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spc="-1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b="1" spc="4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(you</a:t>
            </a:r>
            <a:r>
              <a:rPr sz="1750" spc="-1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can</a:t>
            </a:r>
            <a:r>
              <a:rPr sz="1750" spc="-2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check</a:t>
            </a:r>
            <a:r>
              <a:rPr sz="1750" spc="-2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20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angle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visually)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781415" y="5603912"/>
            <a:ext cx="196215" cy="206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spc="-25" dirty="0">
                <a:solidFill>
                  <a:srgbClr val="213739"/>
                </a:solidFill>
                <a:latin typeface="Arial MT"/>
                <a:cs typeface="Arial MT"/>
              </a:rPr>
              <a:t>40</a:t>
            </a:r>
            <a:endParaRPr sz="125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56825" y="1076578"/>
            <a:ext cx="2850515" cy="3136265"/>
            <a:chOff x="956825" y="1076578"/>
            <a:chExt cx="2850515" cy="3136265"/>
          </a:xfrm>
        </p:grpSpPr>
        <p:sp>
          <p:nvSpPr>
            <p:cNvPr id="3" name="object 3"/>
            <p:cNvSpPr/>
            <p:nvPr/>
          </p:nvSpPr>
          <p:spPr>
            <a:xfrm>
              <a:off x="1749298" y="1081658"/>
              <a:ext cx="2052955" cy="2052955"/>
            </a:xfrm>
            <a:custGeom>
              <a:avLst/>
              <a:gdLst/>
              <a:ahLst/>
              <a:cxnLst/>
              <a:rect l="l" t="t" r="r" b="b"/>
              <a:pathLst>
                <a:path w="2052954" h="2052955">
                  <a:moveTo>
                    <a:pt x="62610" y="1990216"/>
                  </a:moveTo>
                  <a:lnTo>
                    <a:pt x="2044827" y="1990216"/>
                  </a:lnTo>
                </a:path>
                <a:path w="2052954" h="2052955">
                  <a:moveTo>
                    <a:pt x="2001519" y="1927605"/>
                  </a:moveTo>
                  <a:lnTo>
                    <a:pt x="2010537" y="1952243"/>
                  </a:lnTo>
                  <a:lnTo>
                    <a:pt x="2022855" y="1970277"/>
                  </a:lnTo>
                  <a:lnTo>
                    <a:pt x="2037334" y="1982596"/>
                  </a:lnTo>
                  <a:lnTo>
                    <a:pt x="2052827" y="1990216"/>
                  </a:lnTo>
                  <a:lnTo>
                    <a:pt x="2037334" y="1997837"/>
                  </a:lnTo>
                  <a:lnTo>
                    <a:pt x="2022855" y="2010155"/>
                  </a:lnTo>
                  <a:lnTo>
                    <a:pt x="2010537" y="2028316"/>
                  </a:lnTo>
                  <a:lnTo>
                    <a:pt x="2001519" y="2052954"/>
                  </a:lnTo>
                </a:path>
                <a:path w="2052954" h="2052955">
                  <a:moveTo>
                    <a:pt x="62610" y="1990216"/>
                  </a:moveTo>
                  <a:lnTo>
                    <a:pt x="62610" y="8000"/>
                  </a:lnTo>
                </a:path>
                <a:path w="2052954" h="2052955">
                  <a:moveTo>
                    <a:pt x="0" y="51307"/>
                  </a:moveTo>
                  <a:lnTo>
                    <a:pt x="24637" y="42290"/>
                  </a:lnTo>
                  <a:lnTo>
                    <a:pt x="42671" y="30099"/>
                  </a:lnTo>
                  <a:lnTo>
                    <a:pt x="55118" y="15620"/>
                  </a:lnTo>
                  <a:lnTo>
                    <a:pt x="62610" y="0"/>
                  </a:lnTo>
                  <a:lnTo>
                    <a:pt x="70231" y="15620"/>
                  </a:lnTo>
                  <a:lnTo>
                    <a:pt x="82676" y="30099"/>
                  </a:lnTo>
                  <a:lnTo>
                    <a:pt x="100710" y="42290"/>
                  </a:lnTo>
                  <a:lnTo>
                    <a:pt x="125349" y="51307"/>
                  </a:lnTo>
                </a:path>
              </a:pathLst>
            </a:custGeom>
            <a:ln w="10122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529588" y="2394203"/>
              <a:ext cx="282575" cy="678180"/>
            </a:xfrm>
            <a:custGeom>
              <a:avLst/>
              <a:gdLst/>
              <a:ahLst/>
              <a:cxnLst/>
              <a:rect l="l" t="t" r="r" b="b"/>
              <a:pathLst>
                <a:path w="282575" h="678180">
                  <a:moveTo>
                    <a:pt x="282320" y="677672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90984" y="2387984"/>
              <a:ext cx="114418" cy="7606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811908" y="1937765"/>
              <a:ext cx="283845" cy="1134110"/>
            </a:xfrm>
            <a:custGeom>
              <a:avLst/>
              <a:gdLst/>
              <a:ahLst/>
              <a:cxnLst/>
              <a:rect l="l" t="t" r="r" b="b"/>
              <a:pathLst>
                <a:path w="283844" h="1134110">
                  <a:moveTo>
                    <a:pt x="0" y="1134110"/>
                  </a:moveTo>
                  <a:lnTo>
                    <a:pt x="283591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23881" y="1931425"/>
              <a:ext cx="119741" cy="6995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811908" y="2503550"/>
              <a:ext cx="1705610" cy="568325"/>
            </a:xfrm>
            <a:custGeom>
              <a:avLst/>
              <a:gdLst/>
              <a:ahLst/>
              <a:cxnLst/>
              <a:rect l="l" t="t" r="r" b="b"/>
              <a:pathLst>
                <a:path w="1705610" h="568325">
                  <a:moveTo>
                    <a:pt x="0" y="568325"/>
                  </a:moveTo>
                  <a:lnTo>
                    <a:pt x="1705229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50089" y="2460124"/>
              <a:ext cx="73391" cy="11733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63168" y="2788919"/>
              <a:ext cx="848994" cy="283210"/>
            </a:xfrm>
            <a:custGeom>
              <a:avLst/>
              <a:gdLst/>
              <a:ahLst/>
              <a:cxnLst/>
              <a:rect l="l" t="t" r="r" b="b"/>
              <a:pathLst>
                <a:path w="848994" h="283210">
                  <a:moveTo>
                    <a:pt x="848740" y="282955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6825" y="2745620"/>
              <a:ext cx="73314" cy="11720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528445" y="3071875"/>
              <a:ext cx="283845" cy="1134110"/>
            </a:xfrm>
            <a:custGeom>
              <a:avLst/>
              <a:gdLst/>
              <a:ahLst/>
              <a:cxnLst/>
              <a:rect l="l" t="t" r="r" b="b"/>
              <a:pathLst>
                <a:path w="283844" h="1134110">
                  <a:moveTo>
                    <a:pt x="283463" y="0"/>
                  </a:moveTo>
                  <a:lnTo>
                    <a:pt x="0" y="1134110"/>
                  </a:lnTo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80194" y="4142368"/>
              <a:ext cx="119741" cy="7008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811908" y="3071875"/>
              <a:ext cx="329565" cy="1138555"/>
            </a:xfrm>
            <a:custGeom>
              <a:avLst/>
              <a:gdLst/>
              <a:ahLst/>
              <a:cxnLst/>
              <a:rect l="l" t="t" r="r" b="b"/>
              <a:pathLst>
                <a:path w="329564" h="1138554">
                  <a:moveTo>
                    <a:pt x="0" y="0"/>
                  </a:moveTo>
                  <a:lnTo>
                    <a:pt x="283591" y="1134110"/>
                  </a:lnTo>
                </a:path>
                <a:path w="329564" h="1138554">
                  <a:moveTo>
                    <a:pt x="329184" y="1073023"/>
                  </a:moveTo>
                  <a:lnTo>
                    <a:pt x="308864" y="1087628"/>
                  </a:lnTo>
                  <a:lnTo>
                    <a:pt x="295402" y="1103757"/>
                  </a:lnTo>
                  <a:lnTo>
                    <a:pt x="287655" y="1120902"/>
                  </a:lnTo>
                  <a:lnTo>
                    <a:pt x="284480" y="1138047"/>
                  </a:lnTo>
                  <a:lnTo>
                    <a:pt x="273685" y="1124331"/>
                  </a:lnTo>
                  <a:lnTo>
                    <a:pt x="258826" y="1112901"/>
                  </a:lnTo>
                  <a:lnTo>
                    <a:pt x="239268" y="1105027"/>
                  </a:lnTo>
                  <a:lnTo>
                    <a:pt x="214503" y="1101725"/>
                  </a:lnTo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548507" y="2969514"/>
            <a:ext cx="26479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49908" y="970915"/>
            <a:ext cx="26479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86205" y="1993773"/>
            <a:ext cx="26797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957070" y="1536954"/>
            <a:ext cx="26797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409315" y="2108073"/>
            <a:ext cx="13906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519932" y="2203780"/>
            <a:ext cx="107950" cy="2197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spc="-50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04672" y="2741167"/>
            <a:ext cx="27876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62583" y="4168902"/>
            <a:ext cx="874394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620395" algn="l"/>
              </a:tabLst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875" baseline="-8888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85904" y="1905000"/>
            <a:ext cx="3181515" cy="2369038"/>
            <a:chOff x="385904" y="1887356"/>
            <a:chExt cx="3181515" cy="2369038"/>
          </a:xfrm>
        </p:grpSpPr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83750" y="2344175"/>
              <a:ext cx="85324" cy="8532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054742" y="1887356"/>
              <a:ext cx="85324" cy="8532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82095" y="2458348"/>
              <a:ext cx="85324" cy="85324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12885" y="2743717"/>
              <a:ext cx="85324" cy="85324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483750" y="4171070"/>
              <a:ext cx="85324" cy="85324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2057272" y="4173600"/>
              <a:ext cx="80645" cy="80645"/>
            </a:xfrm>
            <a:custGeom>
              <a:avLst/>
              <a:gdLst/>
              <a:ahLst/>
              <a:cxnLst/>
              <a:rect l="l" t="t" r="r" b="b"/>
              <a:pathLst>
                <a:path w="80644" h="80645">
                  <a:moveTo>
                    <a:pt x="40131" y="0"/>
                  </a:moveTo>
                  <a:lnTo>
                    <a:pt x="24510" y="3175"/>
                  </a:lnTo>
                  <a:lnTo>
                    <a:pt x="11810" y="11811"/>
                  </a:lnTo>
                  <a:lnTo>
                    <a:pt x="3175" y="24511"/>
                  </a:lnTo>
                  <a:lnTo>
                    <a:pt x="0" y="40131"/>
                  </a:lnTo>
                  <a:lnTo>
                    <a:pt x="3175" y="55753"/>
                  </a:lnTo>
                  <a:lnTo>
                    <a:pt x="11810" y="68580"/>
                  </a:lnTo>
                  <a:lnTo>
                    <a:pt x="24510" y="77088"/>
                  </a:lnTo>
                  <a:lnTo>
                    <a:pt x="40131" y="80263"/>
                  </a:lnTo>
                  <a:lnTo>
                    <a:pt x="55752" y="77088"/>
                  </a:lnTo>
                  <a:lnTo>
                    <a:pt x="68452" y="68580"/>
                  </a:lnTo>
                  <a:lnTo>
                    <a:pt x="77088" y="55753"/>
                  </a:lnTo>
                  <a:lnTo>
                    <a:pt x="80263" y="40131"/>
                  </a:lnTo>
                  <a:lnTo>
                    <a:pt x="77088" y="24511"/>
                  </a:lnTo>
                  <a:lnTo>
                    <a:pt x="68452" y="11811"/>
                  </a:lnTo>
                  <a:lnTo>
                    <a:pt x="55752" y="3175"/>
                  </a:lnTo>
                  <a:lnTo>
                    <a:pt x="40131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057272" y="4173600"/>
              <a:ext cx="80645" cy="80645"/>
            </a:xfrm>
            <a:custGeom>
              <a:avLst/>
              <a:gdLst/>
              <a:ahLst/>
              <a:cxnLst/>
              <a:rect l="l" t="t" r="r" b="b"/>
              <a:pathLst>
                <a:path w="80644" h="80645">
                  <a:moveTo>
                    <a:pt x="80263" y="40131"/>
                  </a:moveTo>
                  <a:lnTo>
                    <a:pt x="77088" y="24511"/>
                  </a:lnTo>
                  <a:lnTo>
                    <a:pt x="68452" y="11811"/>
                  </a:lnTo>
                  <a:lnTo>
                    <a:pt x="55752" y="3175"/>
                  </a:lnTo>
                  <a:lnTo>
                    <a:pt x="40131" y="0"/>
                  </a:lnTo>
                  <a:lnTo>
                    <a:pt x="24510" y="3175"/>
                  </a:lnTo>
                  <a:lnTo>
                    <a:pt x="11810" y="11811"/>
                  </a:lnTo>
                  <a:lnTo>
                    <a:pt x="3175" y="24511"/>
                  </a:lnTo>
                  <a:lnTo>
                    <a:pt x="0" y="40131"/>
                  </a:lnTo>
                  <a:lnTo>
                    <a:pt x="3175" y="55753"/>
                  </a:lnTo>
                  <a:lnTo>
                    <a:pt x="11810" y="68580"/>
                  </a:lnTo>
                  <a:lnTo>
                    <a:pt x="24510" y="77088"/>
                  </a:lnTo>
                  <a:lnTo>
                    <a:pt x="40131" y="80263"/>
                  </a:lnTo>
                  <a:lnTo>
                    <a:pt x="55752" y="77088"/>
                  </a:lnTo>
                  <a:lnTo>
                    <a:pt x="68452" y="68580"/>
                  </a:lnTo>
                  <a:lnTo>
                    <a:pt x="77088" y="55753"/>
                  </a:lnTo>
                  <a:lnTo>
                    <a:pt x="80263" y="40131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75754" y="3071875"/>
              <a:ext cx="1136650" cy="1136650"/>
            </a:xfrm>
            <a:custGeom>
              <a:avLst/>
              <a:gdLst/>
              <a:ahLst/>
              <a:cxnLst/>
              <a:rect l="l" t="t" r="r" b="b"/>
              <a:pathLst>
                <a:path w="1136650" h="1136650">
                  <a:moveTo>
                    <a:pt x="1136154" y="0"/>
                  </a:moveTo>
                  <a:lnTo>
                    <a:pt x="0" y="1136269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65489" y="4129668"/>
              <a:ext cx="88638" cy="88626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392277" y="3071875"/>
              <a:ext cx="1419860" cy="454659"/>
            </a:xfrm>
            <a:custGeom>
              <a:avLst/>
              <a:gdLst/>
              <a:ahLst/>
              <a:cxnLst/>
              <a:rect l="l" t="t" r="r" b="b"/>
              <a:pathLst>
                <a:path w="1419860" h="454660">
                  <a:moveTo>
                    <a:pt x="1419631" y="0"/>
                  </a:moveTo>
                  <a:lnTo>
                    <a:pt x="0" y="454278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85904" y="3452497"/>
              <a:ext cx="72969" cy="117978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4356861" y="849883"/>
            <a:ext cx="4464685" cy="3712845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50"/>
              </a:spcBef>
            </a:pP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initialized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1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a</a:t>
            </a:r>
            <a:r>
              <a:rPr sz="1750" spc="-20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random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value</a:t>
            </a:r>
            <a:endParaRPr sz="1750">
              <a:latin typeface="Arial MT"/>
              <a:cs typeface="Arial MT"/>
            </a:endParaRPr>
          </a:p>
          <a:p>
            <a:pPr marL="40640" marR="41910" indent="-2540">
              <a:lnSpc>
                <a:spcPct val="116799"/>
              </a:lnSpc>
              <a:spcBef>
                <a:spcPts val="395"/>
              </a:spcBef>
              <a:tabLst>
                <a:tab pos="3227070" algn="l"/>
              </a:tabLst>
            </a:pP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observe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that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currently,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1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·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5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5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spc="-85" dirty="0">
                <a:solidFill>
                  <a:srgbClr val="213739"/>
                </a:solidFill>
                <a:latin typeface="Lucida Sans Unicode"/>
                <a:cs typeface="Lucida Sans Unicode"/>
              </a:rPr>
              <a:t>∵</a:t>
            </a:r>
            <a:r>
              <a:rPr sz="1750" spc="-23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angle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&gt;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90°)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for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all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positive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points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5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·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459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≥</a:t>
            </a:r>
            <a:r>
              <a:rPr sz="1750" spc="4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4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spc="-25" dirty="0">
                <a:solidFill>
                  <a:srgbClr val="213739"/>
                </a:solidFill>
                <a:latin typeface="Lucida Sans Unicode"/>
                <a:cs typeface="Lucida Sans Unicode"/>
              </a:rPr>
              <a:t>∵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angle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spc="409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90°)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for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all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negative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points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(the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situ-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ation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is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exactly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oppsite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what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actually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want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it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be)</a:t>
            </a:r>
            <a:endParaRPr sz="1750">
              <a:latin typeface="Arial MT"/>
              <a:cs typeface="Arial MT"/>
            </a:endParaRPr>
          </a:p>
          <a:p>
            <a:pPr marL="40640" marR="41910" indent="-3175">
              <a:lnSpc>
                <a:spcPct val="117700"/>
              </a:lnSpc>
              <a:spcBef>
                <a:spcPts val="495"/>
              </a:spcBef>
            </a:pPr>
            <a:r>
              <a:rPr sz="1750" spc="-16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now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run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algorithm</a:t>
            </a:r>
            <a:r>
              <a:rPr sz="1750" spc="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by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randomly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going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over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points</a:t>
            </a:r>
            <a:endParaRPr sz="1750">
              <a:latin typeface="Arial MT"/>
              <a:cs typeface="Arial MT"/>
            </a:endParaRPr>
          </a:p>
          <a:p>
            <a:pPr marL="41275" marR="30480" indent="-3810" algn="just">
              <a:lnSpc>
                <a:spcPct val="117200"/>
              </a:lnSpc>
              <a:spcBef>
                <a:spcPts val="710"/>
              </a:spcBef>
            </a:pP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Randomly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pick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a</a:t>
            </a:r>
            <a:r>
              <a:rPr sz="1750" spc="-1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point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(say,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875" spc="-15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),</a:t>
            </a:r>
            <a:r>
              <a:rPr sz="1750" spc="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apply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correction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spc="-1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4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59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spc="-1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-8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Calibri"/>
                <a:cs typeface="Calibri"/>
              </a:rPr>
              <a:t>+</a:t>
            </a:r>
            <a:r>
              <a:rPr sz="1750" spc="3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spc="-1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6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5" dirty="0">
                <a:solidFill>
                  <a:srgbClr val="213739"/>
                </a:solidFill>
                <a:latin typeface="Lucida Sans Unicode"/>
                <a:cs typeface="Lucida Sans Unicode"/>
              </a:rPr>
              <a:t>∵</a:t>
            </a:r>
            <a:r>
              <a:rPr sz="1750" spc="-29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b="1" spc="-1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5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40" dirty="0">
                <a:solidFill>
                  <a:srgbClr val="213739"/>
                </a:solidFill>
                <a:latin typeface="Lucida Sans Unicode"/>
                <a:cs typeface="Lucida Sans Unicode"/>
              </a:rPr>
              <a:t>·</a:t>
            </a:r>
            <a:r>
              <a:rPr sz="1750" b="1" spc="-14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6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spc="57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spc="-1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b="1" spc="4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(you</a:t>
            </a:r>
            <a:r>
              <a:rPr sz="1750" spc="-1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can</a:t>
            </a:r>
            <a:r>
              <a:rPr sz="1750" spc="-2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check</a:t>
            </a:r>
            <a:r>
              <a:rPr sz="1750" spc="-2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20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angle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visually)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781415" y="5603912"/>
            <a:ext cx="196215" cy="206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spc="-25" dirty="0">
                <a:solidFill>
                  <a:srgbClr val="213739"/>
                </a:solidFill>
                <a:latin typeface="Arial MT"/>
                <a:cs typeface="Arial MT"/>
              </a:rPr>
              <a:t>40</a:t>
            </a:r>
            <a:endParaRPr sz="125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56825" y="1076578"/>
            <a:ext cx="2850515" cy="3136265"/>
            <a:chOff x="956825" y="1076578"/>
            <a:chExt cx="2850515" cy="3136265"/>
          </a:xfrm>
        </p:grpSpPr>
        <p:sp>
          <p:nvSpPr>
            <p:cNvPr id="3" name="object 3"/>
            <p:cNvSpPr/>
            <p:nvPr/>
          </p:nvSpPr>
          <p:spPr>
            <a:xfrm>
              <a:off x="1749298" y="1081658"/>
              <a:ext cx="2052955" cy="2052955"/>
            </a:xfrm>
            <a:custGeom>
              <a:avLst/>
              <a:gdLst/>
              <a:ahLst/>
              <a:cxnLst/>
              <a:rect l="l" t="t" r="r" b="b"/>
              <a:pathLst>
                <a:path w="2052954" h="2052955">
                  <a:moveTo>
                    <a:pt x="62610" y="1990216"/>
                  </a:moveTo>
                  <a:lnTo>
                    <a:pt x="2044827" y="1990216"/>
                  </a:lnTo>
                </a:path>
                <a:path w="2052954" h="2052955">
                  <a:moveTo>
                    <a:pt x="2001519" y="1927605"/>
                  </a:moveTo>
                  <a:lnTo>
                    <a:pt x="2010537" y="1952243"/>
                  </a:lnTo>
                  <a:lnTo>
                    <a:pt x="2022855" y="1970277"/>
                  </a:lnTo>
                  <a:lnTo>
                    <a:pt x="2037334" y="1982596"/>
                  </a:lnTo>
                  <a:lnTo>
                    <a:pt x="2052827" y="1990216"/>
                  </a:lnTo>
                  <a:lnTo>
                    <a:pt x="2037334" y="1997837"/>
                  </a:lnTo>
                  <a:lnTo>
                    <a:pt x="2022855" y="2010155"/>
                  </a:lnTo>
                  <a:lnTo>
                    <a:pt x="2010537" y="2028316"/>
                  </a:lnTo>
                  <a:lnTo>
                    <a:pt x="2001519" y="2052954"/>
                  </a:lnTo>
                </a:path>
                <a:path w="2052954" h="2052955">
                  <a:moveTo>
                    <a:pt x="62610" y="1990216"/>
                  </a:moveTo>
                  <a:lnTo>
                    <a:pt x="62610" y="8000"/>
                  </a:lnTo>
                </a:path>
                <a:path w="2052954" h="2052955">
                  <a:moveTo>
                    <a:pt x="0" y="51307"/>
                  </a:moveTo>
                  <a:lnTo>
                    <a:pt x="24637" y="42290"/>
                  </a:lnTo>
                  <a:lnTo>
                    <a:pt x="42671" y="30099"/>
                  </a:lnTo>
                  <a:lnTo>
                    <a:pt x="55118" y="15620"/>
                  </a:lnTo>
                  <a:lnTo>
                    <a:pt x="62610" y="0"/>
                  </a:lnTo>
                  <a:lnTo>
                    <a:pt x="70231" y="15620"/>
                  </a:lnTo>
                  <a:lnTo>
                    <a:pt x="82676" y="30099"/>
                  </a:lnTo>
                  <a:lnTo>
                    <a:pt x="100710" y="42290"/>
                  </a:lnTo>
                  <a:lnTo>
                    <a:pt x="125349" y="51307"/>
                  </a:lnTo>
                </a:path>
              </a:pathLst>
            </a:custGeom>
            <a:ln w="10122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529588" y="2394203"/>
              <a:ext cx="282575" cy="678180"/>
            </a:xfrm>
            <a:custGeom>
              <a:avLst/>
              <a:gdLst/>
              <a:ahLst/>
              <a:cxnLst/>
              <a:rect l="l" t="t" r="r" b="b"/>
              <a:pathLst>
                <a:path w="282575" h="678180">
                  <a:moveTo>
                    <a:pt x="282320" y="677672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90984" y="2387984"/>
              <a:ext cx="114418" cy="7606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811908" y="1937765"/>
              <a:ext cx="283845" cy="1134110"/>
            </a:xfrm>
            <a:custGeom>
              <a:avLst/>
              <a:gdLst/>
              <a:ahLst/>
              <a:cxnLst/>
              <a:rect l="l" t="t" r="r" b="b"/>
              <a:pathLst>
                <a:path w="283844" h="1134110">
                  <a:moveTo>
                    <a:pt x="0" y="1134110"/>
                  </a:moveTo>
                  <a:lnTo>
                    <a:pt x="283591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23881" y="1931425"/>
              <a:ext cx="119741" cy="6995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811908" y="2503550"/>
              <a:ext cx="1705610" cy="568325"/>
            </a:xfrm>
            <a:custGeom>
              <a:avLst/>
              <a:gdLst/>
              <a:ahLst/>
              <a:cxnLst/>
              <a:rect l="l" t="t" r="r" b="b"/>
              <a:pathLst>
                <a:path w="1705610" h="568325">
                  <a:moveTo>
                    <a:pt x="0" y="568325"/>
                  </a:moveTo>
                  <a:lnTo>
                    <a:pt x="1705229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50089" y="2460124"/>
              <a:ext cx="73391" cy="11733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63168" y="2788919"/>
              <a:ext cx="848994" cy="283210"/>
            </a:xfrm>
            <a:custGeom>
              <a:avLst/>
              <a:gdLst/>
              <a:ahLst/>
              <a:cxnLst/>
              <a:rect l="l" t="t" r="r" b="b"/>
              <a:pathLst>
                <a:path w="848994" h="283210">
                  <a:moveTo>
                    <a:pt x="848740" y="282955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6825" y="2745620"/>
              <a:ext cx="73314" cy="11720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528445" y="3071875"/>
              <a:ext cx="283845" cy="1134110"/>
            </a:xfrm>
            <a:custGeom>
              <a:avLst/>
              <a:gdLst/>
              <a:ahLst/>
              <a:cxnLst/>
              <a:rect l="l" t="t" r="r" b="b"/>
              <a:pathLst>
                <a:path w="283844" h="1134110">
                  <a:moveTo>
                    <a:pt x="283463" y="0"/>
                  </a:moveTo>
                  <a:lnTo>
                    <a:pt x="0" y="1134110"/>
                  </a:lnTo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80194" y="4142368"/>
              <a:ext cx="119741" cy="7008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811908" y="3071875"/>
              <a:ext cx="329565" cy="1138555"/>
            </a:xfrm>
            <a:custGeom>
              <a:avLst/>
              <a:gdLst/>
              <a:ahLst/>
              <a:cxnLst/>
              <a:rect l="l" t="t" r="r" b="b"/>
              <a:pathLst>
                <a:path w="329564" h="1138554">
                  <a:moveTo>
                    <a:pt x="0" y="0"/>
                  </a:moveTo>
                  <a:lnTo>
                    <a:pt x="283591" y="1134110"/>
                  </a:lnTo>
                </a:path>
                <a:path w="329564" h="1138554">
                  <a:moveTo>
                    <a:pt x="329184" y="1073023"/>
                  </a:moveTo>
                  <a:lnTo>
                    <a:pt x="308864" y="1087628"/>
                  </a:lnTo>
                  <a:lnTo>
                    <a:pt x="295402" y="1103757"/>
                  </a:lnTo>
                  <a:lnTo>
                    <a:pt x="287655" y="1120902"/>
                  </a:lnTo>
                  <a:lnTo>
                    <a:pt x="284480" y="1138047"/>
                  </a:lnTo>
                  <a:lnTo>
                    <a:pt x="273685" y="1124331"/>
                  </a:lnTo>
                  <a:lnTo>
                    <a:pt x="258826" y="1112901"/>
                  </a:lnTo>
                  <a:lnTo>
                    <a:pt x="239268" y="1105027"/>
                  </a:lnTo>
                  <a:lnTo>
                    <a:pt x="214503" y="1101725"/>
                  </a:lnTo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548507" y="2969514"/>
            <a:ext cx="26479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49908" y="970915"/>
            <a:ext cx="26479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86205" y="1993773"/>
            <a:ext cx="26797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957070" y="1536954"/>
            <a:ext cx="26797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409315" y="2108073"/>
            <a:ext cx="13906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519932" y="2203780"/>
            <a:ext cx="107950" cy="2197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spc="-50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04672" y="2741167"/>
            <a:ext cx="27876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62583" y="4168902"/>
            <a:ext cx="874394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620395" algn="l"/>
              </a:tabLst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875" baseline="-8888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85904" y="1887356"/>
            <a:ext cx="3181985" cy="2369185"/>
            <a:chOff x="385904" y="1887356"/>
            <a:chExt cx="3181985" cy="2369185"/>
          </a:xfrm>
        </p:grpSpPr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83750" y="2344175"/>
              <a:ext cx="85324" cy="8532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054742" y="1887356"/>
              <a:ext cx="85324" cy="8532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82095" y="2458348"/>
              <a:ext cx="85324" cy="85324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12885" y="2743717"/>
              <a:ext cx="85324" cy="85324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483750" y="4171070"/>
              <a:ext cx="85324" cy="85324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2057272" y="4173600"/>
              <a:ext cx="80645" cy="80645"/>
            </a:xfrm>
            <a:custGeom>
              <a:avLst/>
              <a:gdLst/>
              <a:ahLst/>
              <a:cxnLst/>
              <a:rect l="l" t="t" r="r" b="b"/>
              <a:pathLst>
                <a:path w="80644" h="80645">
                  <a:moveTo>
                    <a:pt x="40131" y="0"/>
                  </a:moveTo>
                  <a:lnTo>
                    <a:pt x="24510" y="3175"/>
                  </a:lnTo>
                  <a:lnTo>
                    <a:pt x="11810" y="11811"/>
                  </a:lnTo>
                  <a:lnTo>
                    <a:pt x="3175" y="24511"/>
                  </a:lnTo>
                  <a:lnTo>
                    <a:pt x="0" y="40131"/>
                  </a:lnTo>
                  <a:lnTo>
                    <a:pt x="3175" y="55753"/>
                  </a:lnTo>
                  <a:lnTo>
                    <a:pt x="11810" y="68580"/>
                  </a:lnTo>
                  <a:lnTo>
                    <a:pt x="24510" y="77088"/>
                  </a:lnTo>
                  <a:lnTo>
                    <a:pt x="40131" y="80263"/>
                  </a:lnTo>
                  <a:lnTo>
                    <a:pt x="55752" y="77088"/>
                  </a:lnTo>
                  <a:lnTo>
                    <a:pt x="68452" y="68580"/>
                  </a:lnTo>
                  <a:lnTo>
                    <a:pt x="77088" y="55753"/>
                  </a:lnTo>
                  <a:lnTo>
                    <a:pt x="80263" y="40131"/>
                  </a:lnTo>
                  <a:lnTo>
                    <a:pt x="77088" y="24511"/>
                  </a:lnTo>
                  <a:lnTo>
                    <a:pt x="68452" y="11811"/>
                  </a:lnTo>
                  <a:lnTo>
                    <a:pt x="55752" y="3175"/>
                  </a:lnTo>
                  <a:lnTo>
                    <a:pt x="40131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057272" y="4173600"/>
              <a:ext cx="80645" cy="80645"/>
            </a:xfrm>
            <a:custGeom>
              <a:avLst/>
              <a:gdLst/>
              <a:ahLst/>
              <a:cxnLst/>
              <a:rect l="l" t="t" r="r" b="b"/>
              <a:pathLst>
                <a:path w="80644" h="80645">
                  <a:moveTo>
                    <a:pt x="80263" y="40131"/>
                  </a:moveTo>
                  <a:lnTo>
                    <a:pt x="77088" y="24511"/>
                  </a:lnTo>
                  <a:lnTo>
                    <a:pt x="68452" y="11811"/>
                  </a:lnTo>
                  <a:lnTo>
                    <a:pt x="55752" y="3175"/>
                  </a:lnTo>
                  <a:lnTo>
                    <a:pt x="40131" y="0"/>
                  </a:lnTo>
                  <a:lnTo>
                    <a:pt x="24510" y="3175"/>
                  </a:lnTo>
                  <a:lnTo>
                    <a:pt x="11810" y="11811"/>
                  </a:lnTo>
                  <a:lnTo>
                    <a:pt x="3175" y="24511"/>
                  </a:lnTo>
                  <a:lnTo>
                    <a:pt x="0" y="40131"/>
                  </a:lnTo>
                  <a:lnTo>
                    <a:pt x="3175" y="55753"/>
                  </a:lnTo>
                  <a:lnTo>
                    <a:pt x="11810" y="68580"/>
                  </a:lnTo>
                  <a:lnTo>
                    <a:pt x="24510" y="77088"/>
                  </a:lnTo>
                  <a:lnTo>
                    <a:pt x="40131" y="80263"/>
                  </a:lnTo>
                  <a:lnTo>
                    <a:pt x="55752" y="77088"/>
                  </a:lnTo>
                  <a:lnTo>
                    <a:pt x="68452" y="68580"/>
                  </a:lnTo>
                  <a:lnTo>
                    <a:pt x="77088" y="55753"/>
                  </a:lnTo>
                  <a:lnTo>
                    <a:pt x="80263" y="40131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75754" y="3071875"/>
              <a:ext cx="1136650" cy="1136650"/>
            </a:xfrm>
            <a:custGeom>
              <a:avLst/>
              <a:gdLst/>
              <a:ahLst/>
              <a:cxnLst/>
              <a:rect l="l" t="t" r="r" b="b"/>
              <a:pathLst>
                <a:path w="1136650" h="1136650">
                  <a:moveTo>
                    <a:pt x="1136154" y="0"/>
                  </a:moveTo>
                  <a:lnTo>
                    <a:pt x="0" y="1136269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65489" y="4129668"/>
              <a:ext cx="88638" cy="88626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392277" y="3071875"/>
              <a:ext cx="1419860" cy="454659"/>
            </a:xfrm>
            <a:custGeom>
              <a:avLst/>
              <a:gdLst/>
              <a:ahLst/>
              <a:cxnLst/>
              <a:rect l="l" t="t" r="r" b="b"/>
              <a:pathLst>
                <a:path w="1419860" h="454660">
                  <a:moveTo>
                    <a:pt x="1419631" y="0"/>
                  </a:moveTo>
                  <a:lnTo>
                    <a:pt x="0" y="454278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85904" y="3452497"/>
              <a:ext cx="72969" cy="117978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4356861" y="849883"/>
            <a:ext cx="4464685" cy="3712845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50"/>
              </a:spcBef>
            </a:pP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initialized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1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a</a:t>
            </a:r>
            <a:r>
              <a:rPr sz="1750" spc="-20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random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value</a:t>
            </a:r>
            <a:endParaRPr sz="1750">
              <a:latin typeface="Arial MT"/>
              <a:cs typeface="Arial MT"/>
            </a:endParaRPr>
          </a:p>
          <a:p>
            <a:pPr marL="40640" marR="41910" indent="-2540">
              <a:lnSpc>
                <a:spcPct val="116799"/>
              </a:lnSpc>
              <a:spcBef>
                <a:spcPts val="395"/>
              </a:spcBef>
              <a:tabLst>
                <a:tab pos="3227070" algn="l"/>
              </a:tabLst>
            </a:pP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observe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that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currently,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1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·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5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5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spc="-85" dirty="0">
                <a:solidFill>
                  <a:srgbClr val="213739"/>
                </a:solidFill>
                <a:latin typeface="Lucida Sans Unicode"/>
                <a:cs typeface="Lucida Sans Unicode"/>
              </a:rPr>
              <a:t>∵</a:t>
            </a:r>
            <a:r>
              <a:rPr sz="1750" spc="-23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angle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&gt;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90°)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for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all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positive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points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5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·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459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≥</a:t>
            </a:r>
            <a:r>
              <a:rPr sz="1750" spc="4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4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spc="-25" dirty="0">
                <a:solidFill>
                  <a:srgbClr val="213739"/>
                </a:solidFill>
                <a:latin typeface="Lucida Sans Unicode"/>
                <a:cs typeface="Lucida Sans Unicode"/>
              </a:rPr>
              <a:t>∵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angle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spc="409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90°)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for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all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negative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points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(the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situ-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ation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is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exactly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oppsite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what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actually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want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it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be)</a:t>
            </a:r>
            <a:endParaRPr sz="1750">
              <a:latin typeface="Arial MT"/>
              <a:cs typeface="Arial MT"/>
            </a:endParaRPr>
          </a:p>
          <a:p>
            <a:pPr marL="40640" marR="41910" indent="-3175">
              <a:lnSpc>
                <a:spcPct val="117700"/>
              </a:lnSpc>
              <a:spcBef>
                <a:spcPts val="495"/>
              </a:spcBef>
            </a:pPr>
            <a:r>
              <a:rPr sz="1750" spc="-16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now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run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algorithm</a:t>
            </a:r>
            <a:r>
              <a:rPr sz="1750" spc="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by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randomly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going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over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points</a:t>
            </a:r>
            <a:endParaRPr sz="1750">
              <a:latin typeface="Arial MT"/>
              <a:cs typeface="Arial MT"/>
            </a:endParaRPr>
          </a:p>
          <a:p>
            <a:pPr marL="41275" marR="30480" indent="-3810" algn="just">
              <a:lnSpc>
                <a:spcPct val="117200"/>
              </a:lnSpc>
              <a:spcBef>
                <a:spcPts val="710"/>
              </a:spcBef>
            </a:pP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Randomly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pick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a</a:t>
            </a:r>
            <a:r>
              <a:rPr sz="1750" spc="-1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point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(say,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875" spc="-15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),</a:t>
            </a:r>
            <a:r>
              <a:rPr sz="1750" spc="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apply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correction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spc="-1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4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59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spc="-1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-8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Calibri"/>
                <a:cs typeface="Calibri"/>
              </a:rPr>
              <a:t>+</a:t>
            </a:r>
            <a:r>
              <a:rPr sz="1750" spc="3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spc="-1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6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5" dirty="0">
                <a:solidFill>
                  <a:srgbClr val="213739"/>
                </a:solidFill>
                <a:latin typeface="Lucida Sans Unicode"/>
                <a:cs typeface="Lucida Sans Unicode"/>
              </a:rPr>
              <a:t>∵</a:t>
            </a:r>
            <a:r>
              <a:rPr sz="1750" spc="-29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b="1" spc="-1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5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40" dirty="0">
                <a:solidFill>
                  <a:srgbClr val="213739"/>
                </a:solidFill>
                <a:latin typeface="Lucida Sans Unicode"/>
                <a:cs typeface="Lucida Sans Unicode"/>
              </a:rPr>
              <a:t>·</a:t>
            </a:r>
            <a:r>
              <a:rPr sz="1750" b="1" spc="-14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6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spc="57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spc="-1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b="1" spc="4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(you</a:t>
            </a:r>
            <a:r>
              <a:rPr sz="1750" spc="-1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can</a:t>
            </a:r>
            <a:r>
              <a:rPr sz="1750" spc="-2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check</a:t>
            </a:r>
            <a:r>
              <a:rPr sz="1750" spc="-2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20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angle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visually)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781415" y="5603912"/>
            <a:ext cx="196215" cy="206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spc="-25" dirty="0">
                <a:solidFill>
                  <a:srgbClr val="213739"/>
                </a:solidFill>
                <a:latin typeface="Arial MT"/>
                <a:cs typeface="Arial MT"/>
              </a:rPr>
              <a:t>40</a:t>
            </a:r>
            <a:endParaRPr sz="125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56825" y="1076578"/>
            <a:ext cx="2850515" cy="3136265"/>
            <a:chOff x="956825" y="1076578"/>
            <a:chExt cx="2850515" cy="3136265"/>
          </a:xfrm>
        </p:grpSpPr>
        <p:sp>
          <p:nvSpPr>
            <p:cNvPr id="3" name="object 3"/>
            <p:cNvSpPr/>
            <p:nvPr/>
          </p:nvSpPr>
          <p:spPr>
            <a:xfrm>
              <a:off x="1749298" y="1081658"/>
              <a:ext cx="2052955" cy="2052955"/>
            </a:xfrm>
            <a:custGeom>
              <a:avLst/>
              <a:gdLst/>
              <a:ahLst/>
              <a:cxnLst/>
              <a:rect l="l" t="t" r="r" b="b"/>
              <a:pathLst>
                <a:path w="2052954" h="2052955">
                  <a:moveTo>
                    <a:pt x="62610" y="1990216"/>
                  </a:moveTo>
                  <a:lnTo>
                    <a:pt x="2044827" y="1990216"/>
                  </a:lnTo>
                </a:path>
                <a:path w="2052954" h="2052955">
                  <a:moveTo>
                    <a:pt x="2001519" y="1927605"/>
                  </a:moveTo>
                  <a:lnTo>
                    <a:pt x="2010537" y="1952243"/>
                  </a:lnTo>
                  <a:lnTo>
                    <a:pt x="2022855" y="1970277"/>
                  </a:lnTo>
                  <a:lnTo>
                    <a:pt x="2037334" y="1982596"/>
                  </a:lnTo>
                  <a:lnTo>
                    <a:pt x="2052827" y="1990216"/>
                  </a:lnTo>
                  <a:lnTo>
                    <a:pt x="2037334" y="1997837"/>
                  </a:lnTo>
                  <a:lnTo>
                    <a:pt x="2022855" y="2010155"/>
                  </a:lnTo>
                  <a:lnTo>
                    <a:pt x="2010537" y="2028316"/>
                  </a:lnTo>
                  <a:lnTo>
                    <a:pt x="2001519" y="2052954"/>
                  </a:lnTo>
                </a:path>
                <a:path w="2052954" h="2052955">
                  <a:moveTo>
                    <a:pt x="62610" y="1990216"/>
                  </a:moveTo>
                  <a:lnTo>
                    <a:pt x="62610" y="8000"/>
                  </a:lnTo>
                </a:path>
                <a:path w="2052954" h="2052955">
                  <a:moveTo>
                    <a:pt x="0" y="51307"/>
                  </a:moveTo>
                  <a:lnTo>
                    <a:pt x="24637" y="42290"/>
                  </a:lnTo>
                  <a:lnTo>
                    <a:pt x="42671" y="30099"/>
                  </a:lnTo>
                  <a:lnTo>
                    <a:pt x="55118" y="15620"/>
                  </a:lnTo>
                  <a:lnTo>
                    <a:pt x="62610" y="0"/>
                  </a:lnTo>
                  <a:lnTo>
                    <a:pt x="70231" y="15620"/>
                  </a:lnTo>
                  <a:lnTo>
                    <a:pt x="82676" y="30099"/>
                  </a:lnTo>
                  <a:lnTo>
                    <a:pt x="100710" y="42290"/>
                  </a:lnTo>
                  <a:lnTo>
                    <a:pt x="125349" y="51307"/>
                  </a:lnTo>
                </a:path>
              </a:pathLst>
            </a:custGeom>
            <a:ln w="10122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529588" y="2394203"/>
              <a:ext cx="282575" cy="678180"/>
            </a:xfrm>
            <a:custGeom>
              <a:avLst/>
              <a:gdLst/>
              <a:ahLst/>
              <a:cxnLst/>
              <a:rect l="l" t="t" r="r" b="b"/>
              <a:pathLst>
                <a:path w="282575" h="678180">
                  <a:moveTo>
                    <a:pt x="282320" y="677672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90984" y="2387984"/>
              <a:ext cx="114418" cy="7606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811908" y="1937765"/>
              <a:ext cx="283845" cy="1134110"/>
            </a:xfrm>
            <a:custGeom>
              <a:avLst/>
              <a:gdLst/>
              <a:ahLst/>
              <a:cxnLst/>
              <a:rect l="l" t="t" r="r" b="b"/>
              <a:pathLst>
                <a:path w="283844" h="1134110">
                  <a:moveTo>
                    <a:pt x="0" y="1134110"/>
                  </a:moveTo>
                  <a:lnTo>
                    <a:pt x="283591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23881" y="1931425"/>
              <a:ext cx="119741" cy="6995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811908" y="2503550"/>
              <a:ext cx="1705610" cy="568325"/>
            </a:xfrm>
            <a:custGeom>
              <a:avLst/>
              <a:gdLst/>
              <a:ahLst/>
              <a:cxnLst/>
              <a:rect l="l" t="t" r="r" b="b"/>
              <a:pathLst>
                <a:path w="1705610" h="568325">
                  <a:moveTo>
                    <a:pt x="0" y="568325"/>
                  </a:moveTo>
                  <a:lnTo>
                    <a:pt x="1705229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50089" y="2460124"/>
              <a:ext cx="73391" cy="11733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63168" y="2788919"/>
              <a:ext cx="848994" cy="283210"/>
            </a:xfrm>
            <a:custGeom>
              <a:avLst/>
              <a:gdLst/>
              <a:ahLst/>
              <a:cxnLst/>
              <a:rect l="l" t="t" r="r" b="b"/>
              <a:pathLst>
                <a:path w="848994" h="283210">
                  <a:moveTo>
                    <a:pt x="848740" y="282955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6825" y="2745620"/>
              <a:ext cx="73314" cy="11720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528445" y="3071875"/>
              <a:ext cx="283845" cy="1134110"/>
            </a:xfrm>
            <a:custGeom>
              <a:avLst/>
              <a:gdLst/>
              <a:ahLst/>
              <a:cxnLst/>
              <a:rect l="l" t="t" r="r" b="b"/>
              <a:pathLst>
                <a:path w="283844" h="1134110">
                  <a:moveTo>
                    <a:pt x="283463" y="0"/>
                  </a:moveTo>
                  <a:lnTo>
                    <a:pt x="0" y="1134110"/>
                  </a:lnTo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80194" y="4142368"/>
              <a:ext cx="119741" cy="7008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811908" y="3071875"/>
              <a:ext cx="329565" cy="1138555"/>
            </a:xfrm>
            <a:custGeom>
              <a:avLst/>
              <a:gdLst/>
              <a:ahLst/>
              <a:cxnLst/>
              <a:rect l="l" t="t" r="r" b="b"/>
              <a:pathLst>
                <a:path w="329564" h="1138554">
                  <a:moveTo>
                    <a:pt x="0" y="0"/>
                  </a:moveTo>
                  <a:lnTo>
                    <a:pt x="283591" y="1134110"/>
                  </a:lnTo>
                </a:path>
                <a:path w="329564" h="1138554">
                  <a:moveTo>
                    <a:pt x="329184" y="1073023"/>
                  </a:moveTo>
                  <a:lnTo>
                    <a:pt x="308864" y="1087628"/>
                  </a:lnTo>
                  <a:lnTo>
                    <a:pt x="295402" y="1103757"/>
                  </a:lnTo>
                  <a:lnTo>
                    <a:pt x="287655" y="1120902"/>
                  </a:lnTo>
                  <a:lnTo>
                    <a:pt x="284480" y="1138047"/>
                  </a:lnTo>
                  <a:lnTo>
                    <a:pt x="273685" y="1124331"/>
                  </a:lnTo>
                  <a:lnTo>
                    <a:pt x="258826" y="1112901"/>
                  </a:lnTo>
                  <a:lnTo>
                    <a:pt x="239268" y="1105027"/>
                  </a:lnTo>
                  <a:lnTo>
                    <a:pt x="214503" y="1101725"/>
                  </a:lnTo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548507" y="2969514"/>
            <a:ext cx="26479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49908" y="970915"/>
            <a:ext cx="26479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86205" y="1993773"/>
            <a:ext cx="26797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957070" y="1536954"/>
            <a:ext cx="26797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409315" y="2108073"/>
            <a:ext cx="13906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519932" y="2203780"/>
            <a:ext cx="107950" cy="2197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spc="-50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04672" y="2741167"/>
            <a:ext cx="27876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62583" y="4168902"/>
            <a:ext cx="874394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620395" algn="l"/>
              </a:tabLst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875" baseline="-8888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85904" y="1887356"/>
            <a:ext cx="3181515" cy="2369038"/>
            <a:chOff x="385904" y="1887356"/>
            <a:chExt cx="3181515" cy="2369038"/>
          </a:xfrm>
        </p:grpSpPr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83750" y="2344175"/>
              <a:ext cx="85324" cy="8532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054742" y="1887356"/>
              <a:ext cx="85324" cy="8532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82095" y="2458348"/>
              <a:ext cx="85324" cy="85324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12885" y="2743717"/>
              <a:ext cx="85324" cy="85324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483750" y="4171070"/>
              <a:ext cx="85324" cy="85324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2057272" y="4173600"/>
              <a:ext cx="80645" cy="80645"/>
            </a:xfrm>
            <a:custGeom>
              <a:avLst/>
              <a:gdLst/>
              <a:ahLst/>
              <a:cxnLst/>
              <a:rect l="l" t="t" r="r" b="b"/>
              <a:pathLst>
                <a:path w="80644" h="80645">
                  <a:moveTo>
                    <a:pt x="40131" y="0"/>
                  </a:moveTo>
                  <a:lnTo>
                    <a:pt x="24510" y="3175"/>
                  </a:lnTo>
                  <a:lnTo>
                    <a:pt x="11810" y="11811"/>
                  </a:lnTo>
                  <a:lnTo>
                    <a:pt x="3175" y="24511"/>
                  </a:lnTo>
                  <a:lnTo>
                    <a:pt x="0" y="40131"/>
                  </a:lnTo>
                  <a:lnTo>
                    <a:pt x="3175" y="55753"/>
                  </a:lnTo>
                  <a:lnTo>
                    <a:pt x="11810" y="68580"/>
                  </a:lnTo>
                  <a:lnTo>
                    <a:pt x="24510" y="77088"/>
                  </a:lnTo>
                  <a:lnTo>
                    <a:pt x="40131" y="80263"/>
                  </a:lnTo>
                  <a:lnTo>
                    <a:pt x="55752" y="77088"/>
                  </a:lnTo>
                  <a:lnTo>
                    <a:pt x="68452" y="68580"/>
                  </a:lnTo>
                  <a:lnTo>
                    <a:pt x="77088" y="55753"/>
                  </a:lnTo>
                  <a:lnTo>
                    <a:pt x="80263" y="40131"/>
                  </a:lnTo>
                  <a:lnTo>
                    <a:pt x="77088" y="24511"/>
                  </a:lnTo>
                  <a:lnTo>
                    <a:pt x="68452" y="11811"/>
                  </a:lnTo>
                  <a:lnTo>
                    <a:pt x="55752" y="3175"/>
                  </a:lnTo>
                  <a:lnTo>
                    <a:pt x="40131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057272" y="4173600"/>
              <a:ext cx="80645" cy="80645"/>
            </a:xfrm>
            <a:custGeom>
              <a:avLst/>
              <a:gdLst/>
              <a:ahLst/>
              <a:cxnLst/>
              <a:rect l="l" t="t" r="r" b="b"/>
              <a:pathLst>
                <a:path w="80644" h="80645">
                  <a:moveTo>
                    <a:pt x="80263" y="40131"/>
                  </a:moveTo>
                  <a:lnTo>
                    <a:pt x="77088" y="24511"/>
                  </a:lnTo>
                  <a:lnTo>
                    <a:pt x="68452" y="11811"/>
                  </a:lnTo>
                  <a:lnTo>
                    <a:pt x="55752" y="3175"/>
                  </a:lnTo>
                  <a:lnTo>
                    <a:pt x="40131" y="0"/>
                  </a:lnTo>
                  <a:lnTo>
                    <a:pt x="24510" y="3175"/>
                  </a:lnTo>
                  <a:lnTo>
                    <a:pt x="11810" y="11811"/>
                  </a:lnTo>
                  <a:lnTo>
                    <a:pt x="3175" y="24511"/>
                  </a:lnTo>
                  <a:lnTo>
                    <a:pt x="0" y="40131"/>
                  </a:lnTo>
                  <a:lnTo>
                    <a:pt x="3175" y="55753"/>
                  </a:lnTo>
                  <a:lnTo>
                    <a:pt x="11810" y="68580"/>
                  </a:lnTo>
                  <a:lnTo>
                    <a:pt x="24510" y="77088"/>
                  </a:lnTo>
                  <a:lnTo>
                    <a:pt x="40131" y="80263"/>
                  </a:lnTo>
                  <a:lnTo>
                    <a:pt x="55752" y="77088"/>
                  </a:lnTo>
                  <a:lnTo>
                    <a:pt x="68452" y="68580"/>
                  </a:lnTo>
                  <a:lnTo>
                    <a:pt x="77088" y="55753"/>
                  </a:lnTo>
                  <a:lnTo>
                    <a:pt x="80263" y="40131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75754" y="3071875"/>
              <a:ext cx="1136650" cy="1136650"/>
            </a:xfrm>
            <a:custGeom>
              <a:avLst/>
              <a:gdLst/>
              <a:ahLst/>
              <a:cxnLst/>
              <a:rect l="l" t="t" r="r" b="b"/>
              <a:pathLst>
                <a:path w="1136650" h="1136650">
                  <a:moveTo>
                    <a:pt x="1136154" y="0"/>
                  </a:moveTo>
                  <a:lnTo>
                    <a:pt x="0" y="1136269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65489" y="4129668"/>
              <a:ext cx="88638" cy="88626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392277" y="3071875"/>
              <a:ext cx="1419860" cy="454659"/>
            </a:xfrm>
            <a:custGeom>
              <a:avLst/>
              <a:gdLst/>
              <a:ahLst/>
              <a:cxnLst/>
              <a:rect l="l" t="t" r="r" b="b"/>
              <a:pathLst>
                <a:path w="1419860" h="454660">
                  <a:moveTo>
                    <a:pt x="1419631" y="0"/>
                  </a:moveTo>
                  <a:lnTo>
                    <a:pt x="0" y="454278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85904" y="3452497"/>
              <a:ext cx="72969" cy="117978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676986" y="2390901"/>
              <a:ext cx="1135380" cy="681355"/>
            </a:xfrm>
            <a:custGeom>
              <a:avLst/>
              <a:gdLst/>
              <a:ahLst/>
              <a:cxnLst/>
              <a:rect l="l" t="t" r="r" b="b"/>
              <a:pathLst>
                <a:path w="1135380" h="681355">
                  <a:moveTo>
                    <a:pt x="1134922" y="680974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70990" y="2362325"/>
              <a:ext cx="80559" cy="106937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4356861" y="849883"/>
            <a:ext cx="4464685" cy="3712845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50"/>
              </a:spcBef>
            </a:pP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initialized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1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a</a:t>
            </a:r>
            <a:r>
              <a:rPr sz="1750" spc="-20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random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value</a:t>
            </a:r>
            <a:endParaRPr sz="1750">
              <a:latin typeface="Arial MT"/>
              <a:cs typeface="Arial MT"/>
            </a:endParaRPr>
          </a:p>
          <a:p>
            <a:pPr marL="40640" marR="41910" indent="-2540">
              <a:lnSpc>
                <a:spcPct val="116799"/>
              </a:lnSpc>
              <a:spcBef>
                <a:spcPts val="395"/>
              </a:spcBef>
              <a:tabLst>
                <a:tab pos="3227070" algn="l"/>
              </a:tabLst>
            </a:pP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observe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that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currently,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1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·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5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5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spc="-85" dirty="0">
                <a:solidFill>
                  <a:srgbClr val="213739"/>
                </a:solidFill>
                <a:latin typeface="Lucida Sans Unicode"/>
                <a:cs typeface="Lucida Sans Unicode"/>
              </a:rPr>
              <a:t>∵</a:t>
            </a:r>
            <a:r>
              <a:rPr sz="1750" spc="-23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angle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&gt;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90°)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for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all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positive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points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5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·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459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≥</a:t>
            </a:r>
            <a:r>
              <a:rPr sz="1750" spc="4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4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spc="-25" dirty="0">
                <a:solidFill>
                  <a:srgbClr val="213739"/>
                </a:solidFill>
                <a:latin typeface="Lucida Sans Unicode"/>
                <a:cs typeface="Lucida Sans Unicode"/>
              </a:rPr>
              <a:t>∵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angle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spc="409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90°)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for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all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negative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points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(the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situ-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ation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is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exactly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oppsite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what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actually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want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it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be)</a:t>
            </a:r>
            <a:endParaRPr sz="1750">
              <a:latin typeface="Arial MT"/>
              <a:cs typeface="Arial MT"/>
            </a:endParaRPr>
          </a:p>
          <a:p>
            <a:pPr marL="40640" marR="41910" indent="-3175">
              <a:lnSpc>
                <a:spcPct val="117700"/>
              </a:lnSpc>
              <a:spcBef>
                <a:spcPts val="495"/>
              </a:spcBef>
            </a:pPr>
            <a:r>
              <a:rPr sz="1750" spc="-16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now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run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algorithm</a:t>
            </a:r>
            <a:r>
              <a:rPr sz="1750" spc="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by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randomly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going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over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points</a:t>
            </a:r>
            <a:endParaRPr sz="1750">
              <a:latin typeface="Arial MT"/>
              <a:cs typeface="Arial MT"/>
            </a:endParaRPr>
          </a:p>
          <a:p>
            <a:pPr marL="41275" marR="30480" indent="-3810" algn="just">
              <a:lnSpc>
                <a:spcPct val="117200"/>
              </a:lnSpc>
              <a:spcBef>
                <a:spcPts val="710"/>
              </a:spcBef>
            </a:pP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Randomly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pick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a</a:t>
            </a:r>
            <a:r>
              <a:rPr sz="1750" spc="-1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point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(say,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875" spc="-15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),</a:t>
            </a:r>
            <a:r>
              <a:rPr sz="1750" spc="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apply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correction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spc="-1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4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59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spc="-1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-8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Calibri"/>
                <a:cs typeface="Calibri"/>
              </a:rPr>
              <a:t>+</a:t>
            </a:r>
            <a:r>
              <a:rPr sz="1750" spc="3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spc="-1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6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5" dirty="0">
                <a:solidFill>
                  <a:srgbClr val="213739"/>
                </a:solidFill>
                <a:latin typeface="Lucida Sans Unicode"/>
                <a:cs typeface="Lucida Sans Unicode"/>
              </a:rPr>
              <a:t>∵</a:t>
            </a:r>
            <a:r>
              <a:rPr sz="1750" spc="-29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b="1" spc="-1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5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40" dirty="0">
                <a:solidFill>
                  <a:srgbClr val="213739"/>
                </a:solidFill>
                <a:latin typeface="Lucida Sans Unicode"/>
                <a:cs typeface="Lucida Sans Unicode"/>
              </a:rPr>
              <a:t>·</a:t>
            </a:r>
            <a:r>
              <a:rPr sz="1750" b="1" spc="-14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6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spc="57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spc="-1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b="1" spc="4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(you</a:t>
            </a:r>
            <a:r>
              <a:rPr sz="1750" spc="-1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can</a:t>
            </a:r>
            <a:r>
              <a:rPr sz="1750" spc="-2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check</a:t>
            </a:r>
            <a:r>
              <a:rPr sz="1750" spc="-2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20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angle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visually)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781415" y="5603912"/>
            <a:ext cx="196215" cy="206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spc="-25" dirty="0">
                <a:solidFill>
                  <a:srgbClr val="213739"/>
                </a:solidFill>
                <a:latin typeface="Arial MT"/>
                <a:cs typeface="Arial MT"/>
              </a:rPr>
              <a:t>40</a:t>
            </a:r>
            <a:endParaRPr sz="125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56825" y="1076578"/>
            <a:ext cx="2850515" cy="3136265"/>
            <a:chOff x="956825" y="1076578"/>
            <a:chExt cx="2850515" cy="3136265"/>
          </a:xfrm>
        </p:grpSpPr>
        <p:sp>
          <p:nvSpPr>
            <p:cNvPr id="3" name="object 3"/>
            <p:cNvSpPr/>
            <p:nvPr/>
          </p:nvSpPr>
          <p:spPr>
            <a:xfrm>
              <a:off x="1749298" y="1081658"/>
              <a:ext cx="2052955" cy="2052955"/>
            </a:xfrm>
            <a:custGeom>
              <a:avLst/>
              <a:gdLst/>
              <a:ahLst/>
              <a:cxnLst/>
              <a:rect l="l" t="t" r="r" b="b"/>
              <a:pathLst>
                <a:path w="2052954" h="2052955">
                  <a:moveTo>
                    <a:pt x="62610" y="1990216"/>
                  </a:moveTo>
                  <a:lnTo>
                    <a:pt x="2044827" y="1990216"/>
                  </a:lnTo>
                </a:path>
                <a:path w="2052954" h="2052955">
                  <a:moveTo>
                    <a:pt x="2001519" y="1927605"/>
                  </a:moveTo>
                  <a:lnTo>
                    <a:pt x="2010537" y="1952243"/>
                  </a:lnTo>
                  <a:lnTo>
                    <a:pt x="2022855" y="1970277"/>
                  </a:lnTo>
                  <a:lnTo>
                    <a:pt x="2037334" y="1982596"/>
                  </a:lnTo>
                  <a:lnTo>
                    <a:pt x="2052827" y="1990216"/>
                  </a:lnTo>
                  <a:lnTo>
                    <a:pt x="2037334" y="1997837"/>
                  </a:lnTo>
                  <a:lnTo>
                    <a:pt x="2022855" y="2010155"/>
                  </a:lnTo>
                  <a:lnTo>
                    <a:pt x="2010537" y="2028316"/>
                  </a:lnTo>
                  <a:lnTo>
                    <a:pt x="2001519" y="2052954"/>
                  </a:lnTo>
                </a:path>
                <a:path w="2052954" h="2052955">
                  <a:moveTo>
                    <a:pt x="62610" y="1990216"/>
                  </a:moveTo>
                  <a:lnTo>
                    <a:pt x="62610" y="8000"/>
                  </a:lnTo>
                </a:path>
                <a:path w="2052954" h="2052955">
                  <a:moveTo>
                    <a:pt x="0" y="51307"/>
                  </a:moveTo>
                  <a:lnTo>
                    <a:pt x="24637" y="42290"/>
                  </a:lnTo>
                  <a:lnTo>
                    <a:pt x="42671" y="30099"/>
                  </a:lnTo>
                  <a:lnTo>
                    <a:pt x="55118" y="15620"/>
                  </a:lnTo>
                  <a:lnTo>
                    <a:pt x="62610" y="0"/>
                  </a:lnTo>
                  <a:lnTo>
                    <a:pt x="70231" y="15620"/>
                  </a:lnTo>
                  <a:lnTo>
                    <a:pt x="82676" y="30099"/>
                  </a:lnTo>
                  <a:lnTo>
                    <a:pt x="100710" y="42290"/>
                  </a:lnTo>
                  <a:lnTo>
                    <a:pt x="125349" y="51307"/>
                  </a:lnTo>
                </a:path>
              </a:pathLst>
            </a:custGeom>
            <a:ln w="10122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529588" y="2394203"/>
              <a:ext cx="282575" cy="678180"/>
            </a:xfrm>
            <a:custGeom>
              <a:avLst/>
              <a:gdLst/>
              <a:ahLst/>
              <a:cxnLst/>
              <a:rect l="l" t="t" r="r" b="b"/>
              <a:pathLst>
                <a:path w="282575" h="678180">
                  <a:moveTo>
                    <a:pt x="282320" y="677672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90984" y="2387984"/>
              <a:ext cx="114418" cy="7606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811908" y="1937765"/>
              <a:ext cx="283845" cy="1134110"/>
            </a:xfrm>
            <a:custGeom>
              <a:avLst/>
              <a:gdLst/>
              <a:ahLst/>
              <a:cxnLst/>
              <a:rect l="l" t="t" r="r" b="b"/>
              <a:pathLst>
                <a:path w="283844" h="1134110">
                  <a:moveTo>
                    <a:pt x="0" y="1134110"/>
                  </a:moveTo>
                  <a:lnTo>
                    <a:pt x="283591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23881" y="1931425"/>
              <a:ext cx="119741" cy="6995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811908" y="2503550"/>
              <a:ext cx="1705610" cy="568325"/>
            </a:xfrm>
            <a:custGeom>
              <a:avLst/>
              <a:gdLst/>
              <a:ahLst/>
              <a:cxnLst/>
              <a:rect l="l" t="t" r="r" b="b"/>
              <a:pathLst>
                <a:path w="1705610" h="568325">
                  <a:moveTo>
                    <a:pt x="0" y="568325"/>
                  </a:moveTo>
                  <a:lnTo>
                    <a:pt x="1705229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50089" y="2460124"/>
              <a:ext cx="73391" cy="11733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63168" y="2788919"/>
              <a:ext cx="848994" cy="283210"/>
            </a:xfrm>
            <a:custGeom>
              <a:avLst/>
              <a:gdLst/>
              <a:ahLst/>
              <a:cxnLst/>
              <a:rect l="l" t="t" r="r" b="b"/>
              <a:pathLst>
                <a:path w="848994" h="283210">
                  <a:moveTo>
                    <a:pt x="848740" y="282955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6825" y="2745620"/>
              <a:ext cx="73314" cy="11720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528445" y="3071875"/>
              <a:ext cx="283845" cy="1134110"/>
            </a:xfrm>
            <a:custGeom>
              <a:avLst/>
              <a:gdLst/>
              <a:ahLst/>
              <a:cxnLst/>
              <a:rect l="l" t="t" r="r" b="b"/>
              <a:pathLst>
                <a:path w="283844" h="1134110">
                  <a:moveTo>
                    <a:pt x="283463" y="0"/>
                  </a:moveTo>
                  <a:lnTo>
                    <a:pt x="0" y="1134110"/>
                  </a:lnTo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80194" y="4142368"/>
              <a:ext cx="119741" cy="7008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811908" y="3071875"/>
              <a:ext cx="329565" cy="1138555"/>
            </a:xfrm>
            <a:custGeom>
              <a:avLst/>
              <a:gdLst/>
              <a:ahLst/>
              <a:cxnLst/>
              <a:rect l="l" t="t" r="r" b="b"/>
              <a:pathLst>
                <a:path w="329564" h="1138554">
                  <a:moveTo>
                    <a:pt x="0" y="0"/>
                  </a:moveTo>
                  <a:lnTo>
                    <a:pt x="283591" y="1134110"/>
                  </a:lnTo>
                </a:path>
                <a:path w="329564" h="1138554">
                  <a:moveTo>
                    <a:pt x="329184" y="1073023"/>
                  </a:moveTo>
                  <a:lnTo>
                    <a:pt x="308864" y="1087628"/>
                  </a:lnTo>
                  <a:lnTo>
                    <a:pt x="295402" y="1103757"/>
                  </a:lnTo>
                  <a:lnTo>
                    <a:pt x="287655" y="1120902"/>
                  </a:lnTo>
                  <a:lnTo>
                    <a:pt x="284480" y="1138047"/>
                  </a:lnTo>
                  <a:lnTo>
                    <a:pt x="273685" y="1124331"/>
                  </a:lnTo>
                  <a:lnTo>
                    <a:pt x="258826" y="1112901"/>
                  </a:lnTo>
                  <a:lnTo>
                    <a:pt x="239268" y="1105027"/>
                  </a:lnTo>
                  <a:lnTo>
                    <a:pt x="214503" y="1101725"/>
                  </a:lnTo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548507" y="2969514"/>
            <a:ext cx="26479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49908" y="970915"/>
            <a:ext cx="26479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86205" y="1993773"/>
            <a:ext cx="26797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957070" y="1536954"/>
            <a:ext cx="26797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409315" y="2108073"/>
            <a:ext cx="13906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519932" y="2203780"/>
            <a:ext cx="107950" cy="2197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spc="-50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04672" y="2741167"/>
            <a:ext cx="27876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62583" y="4168902"/>
            <a:ext cx="874394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620395" algn="l"/>
              </a:tabLst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875" baseline="-8888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85904" y="1887356"/>
            <a:ext cx="3181985" cy="2369185"/>
            <a:chOff x="385904" y="1887356"/>
            <a:chExt cx="3181985" cy="2369185"/>
          </a:xfrm>
        </p:grpSpPr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83750" y="2344175"/>
              <a:ext cx="85324" cy="8532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054742" y="1887356"/>
              <a:ext cx="85324" cy="8532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82095" y="2458348"/>
              <a:ext cx="85324" cy="85324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12885" y="2743717"/>
              <a:ext cx="85324" cy="85324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483750" y="4171070"/>
              <a:ext cx="85324" cy="85324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2057272" y="4173600"/>
              <a:ext cx="80645" cy="80645"/>
            </a:xfrm>
            <a:custGeom>
              <a:avLst/>
              <a:gdLst/>
              <a:ahLst/>
              <a:cxnLst/>
              <a:rect l="l" t="t" r="r" b="b"/>
              <a:pathLst>
                <a:path w="80644" h="80645">
                  <a:moveTo>
                    <a:pt x="40131" y="0"/>
                  </a:moveTo>
                  <a:lnTo>
                    <a:pt x="24510" y="3175"/>
                  </a:lnTo>
                  <a:lnTo>
                    <a:pt x="11810" y="11811"/>
                  </a:lnTo>
                  <a:lnTo>
                    <a:pt x="3175" y="24511"/>
                  </a:lnTo>
                  <a:lnTo>
                    <a:pt x="0" y="40131"/>
                  </a:lnTo>
                  <a:lnTo>
                    <a:pt x="3175" y="55753"/>
                  </a:lnTo>
                  <a:lnTo>
                    <a:pt x="11810" y="68580"/>
                  </a:lnTo>
                  <a:lnTo>
                    <a:pt x="24510" y="77088"/>
                  </a:lnTo>
                  <a:lnTo>
                    <a:pt x="40131" y="80263"/>
                  </a:lnTo>
                  <a:lnTo>
                    <a:pt x="55752" y="77088"/>
                  </a:lnTo>
                  <a:lnTo>
                    <a:pt x="68452" y="68580"/>
                  </a:lnTo>
                  <a:lnTo>
                    <a:pt x="77088" y="55753"/>
                  </a:lnTo>
                  <a:lnTo>
                    <a:pt x="80263" y="40131"/>
                  </a:lnTo>
                  <a:lnTo>
                    <a:pt x="77088" y="24511"/>
                  </a:lnTo>
                  <a:lnTo>
                    <a:pt x="68452" y="11811"/>
                  </a:lnTo>
                  <a:lnTo>
                    <a:pt x="55752" y="3175"/>
                  </a:lnTo>
                  <a:lnTo>
                    <a:pt x="40131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057272" y="4173600"/>
              <a:ext cx="80645" cy="80645"/>
            </a:xfrm>
            <a:custGeom>
              <a:avLst/>
              <a:gdLst/>
              <a:ahLst/>
              <a:cxnLst/>
              <a:rect l="l" t="t" r="r" b="b"/>
              <a:pathLst>
                <a:path w="80644" h="80645">
                  <a:moveTo>
                    <a:pt x="80263" y="40131"/>
                  </a:moveTo>
                  <a:lnTo>
                    <a:pt x="77088" y="24511"/>
                  </a:lnTo>
                  <a:lnTo>
                    <a:pt x="68452" y="11811"/>
                  </a:lnTo>
                  <a:lnTo>
                    <a:pt x="55752" y="3175"/>
                  </a:lnTo>
                  <a:lnTo>
                    <a:pt x="40131" y="0"/>
                  </a:lnTo>
                  <a:lnTo>
                    <a:pt x="24510" y="3175"/>
                  </a:lnTo>
                  <a:lnTo>
                    <a:pt x="11810" y="11811"/>
                  </a:lnTo>
                  <a:lnTo>
                    <a:pt x="3175" y="24511"/>
                  </a:lnTo>
                  <a:lnTo>
                    <a:pt x="0" y="40131"/>
                  </a:lnTo>
                  <a:lnTo>
                    <a:pt x="3175" y="55753"/>
                  </a:lnTo>
                  <a:lnTo>
                    <a:pt x="11810" y="68580"/>
                  </a:lnTo>
                  <a:lnTo>
                    <a:pt x="24510" y="77088"/>
                  </a:lnTo>
                  <a:lnTo>
                    <a:pt x="40131" y="80263"/>
                  </a:lnTo>
                  <a:lnTo>
                    <a:pt x="55752" y="77088"/>
                  </a:lnTo>
                  <a:lnTo>
                    <a:pt x="68452" y="68580"/>
                  </a:lnTo>
                  <a:lnTo>
                    <a:pt x="77088" y="55753"/>
                  </a:lnTo>
                  <a:lnTo>
                    <a:pt x="80263" y="40131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75754" y="3071875"/>
              <a:ext cx="1136650" cy="1136650"/>
            </a:xfrm>
            <a:custGeom>
              <a:avLst/>
              <a:gdLst/>
              <a:ahLst/>
              <a:cxnLst/>
              <a:rect l="l" t="t" r="r" b="b"/>
              <a:pathLst>
                <a:path w="1136650" h="1136650">
                  <a:moveTo>
                    <a:pt x="1136154" y="0"/>
                  </a:moveTo>
                  <a:lnTo>
                    <a:pt x="0" y="1136269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65489" y="4129668"/>
              <a:ext cx="88638" cy="88626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392277" y="3071875"/>
              <a:ext cx="1419860" cy="454659"/>
            </a:xfrm>
            <a:custGeom>
              <a:avLst/>
              <a:gdLst/>
              <a:ahLst/>
              <a:cxnLst/>
              <a:rect l="l" t="t" r="r" b="b"/>
              <a:pathLst>
                <a:path w="1419860" h="454660">
                  <a:moveTo>
                    <a:pt x="1419631" y="0"/>
                  </a:moveTo>
                  <a:lnTo>
                    <a:pt x="0" y="454278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85904" y="3452497"/>
              <a:ext cx="72969" cy="117978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676986" y="2390901"/>
              <a:ext cx="1135380" cy="681355"/>
            </a:xfrm>
            <a:custGeom>
              <a:avLst/>
              <a:gdLst/>
              <a:ahLst/>
              <a:cxnLst/>
              <a:rect l="l" t="t" r="r" b="b"/>
              <a:pathLst>
                <a:path w="1135380" h="681355">
                  <a:moveTo>
                    <a:pt x="1134922" y="680974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70990" y="2362325"/>
              <a:ext cx="80559" cy="106937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4356861" y="849883"/>
            <a:ext cx="4462780" cy="3712845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50"/>
              </a:spcBef>
            </a:pP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initialized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1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a</a:t>
            </a:r>
            <a:r>
              <a:rPr sz="1750" spc="-20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random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value</a:t>
            </a:r>
            <a:endParaRPr sz="1750">
              <a:latin typeface="Arial MT"/>
              <a:cs typeface="Arial MT"/>
            </a:endParaRPr>
          </a:p>
          <a:p>
            <a:pPr marL="40640" marR="40005" indent="-2540">
              <a:lnSpc>
                <a:spcPct val="116799"/>
              </a:lnSpc>
              <a:spcBef>
                <a:spcPts val="395"/>
              </a:spcBef>
              <a:tabLst>
                <a:tab pos="3227070" algn="l"/>
              </a:tabLst>
            </a:pP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observe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that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currently,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1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·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5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5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spc="-85" dirty="0">
                <a:solidFill>
                  <a:srgbClr val="213739"/>
                </a:solidFill>
                <a:latin typeface="Lucida Sans Unicode"/>
                <a:cs typeface="Lucida Sans Unicode"/>
              </a:rPr>
              <a:t>∵</a:t>
            </a:r>
            <a:r>
              <a:rPr sz="1750" spc="-23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angle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&gt;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90°)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for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all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positive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points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5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·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459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≥</a:t>
            </a:r>
            <a:r>
              <a:rPr sz="1750" spc="4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4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spc="-25" dirty="0">
                <a:solidFill>
                  <a:srgbClr val="213739"/>
                </a:solidFill>
                <a:latin typeface="Lucida Sans Unicode"/>
                <a:cs typeface="Lucida Sans Unicode"/>
              </a:rPr>
              <a:t>∵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angle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spc="409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90°)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for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all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negative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points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(the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situ-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ation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is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exactly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oppsite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what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actually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want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it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be)</a:t>
            </a:r>
            <a:endParaRPr sz="1750">
              <a:latin typeface="Arial MT"/>
              <a:cs typeface="Arial MT"/>
            </a:endParaRPr>
          </a:p>
          <a:p>
            <a:pPr marL="40640" marR="40005" indent="-3175">
              <a:lnSpc>
                <a:spcPct val="117700"/>
              </a:lnSpc>
              <a:spcBef>
                <a:spcPts val="495"/>
              </a:spcBef>
            </a:pPr>
            <a:r>
              <a:rPr sz="1750" spc="-16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now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run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algorithm</a:t>
            </a:r>
            <a:r>
              <a:rPr sz="1750" spc="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by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randomly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going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over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points</a:t>
            </a:r>
            <a:endParaRPr sz="1750">
              <a:latin typeface="Arial MT"/>
              <a:cs typeface="Arial MT"/>
            </a:endParaRPr>
          </a:p>
          <a:p>
            <a:pPr marL="41275" marR="30480" indent="-3810" algn="just">
              <a:lnSpc>
                <a:spcPct val="117200"/>
              </a:lnSpc>
              <a:spcBef>
                <a:spcPts val="710"/>
              </a:spcBef>
            </a:pP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Randomly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pick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a</a:t>
            </a:r>
            <a:r>
              <a:rPr sz="1750" spc="-1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point</a:t>
            </a:r>
            <a:r>
              <a:rPr sz="1750" spc="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(say,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spc="-15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),</a:t>
            </a:r>
            <a:r>
              <a:rPr sz="1750" spc="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apply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correction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spc="-1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4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57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spc="-1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-10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35" dirty="0">
                <a:solidFill>
                  <a:srgbClr val="213739"/>
                </a:solidFill>
                <a:latin typeface="Lucida Sans Unicode"/>
                <a:cs typeface="Lucida Sans Unicode"/>
              </a:rPr>
              <a:t>−</a:t>
            </a:r>
            <a:r>
              <a:rPr sz="1750" b="1" spc="3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18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5" dirty="0">
                <a:solidFill>
                  <a:srgbClr val="213739"/>
                </a:solidFill>
                <a:latin typeface="Lucida Sans Unicode"/>
                <a:cs typeface="Lucida Sans Unicode"/>
              </a:rPr>
              <a:t>∵</a:t>
            </a:r>
            <a:r>
              <a:rPr sz="1750" spc="-29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b="1" spc="-1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4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40" dirty="0">
                <a:solidFill>
                  <a:srgbClr val="213739"/>
                </a:solidFill>
                <a:latin typeface="Lucida Sans Unicode"/>
                <a:cs typeface="Lucida Sans Unicode"/>
              </a:rPr>
              <a:t>·</a:t>
            </a:r>
            <a:r>
              <a:rPr sz="1750" b="1" spc="-14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5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5" dirty="0">
                <a:solidFill>
                  <a:srgbClr val="213739"/>
                </a:solidFill>
                <a:latin typeface="Lucida Sans Unicode"/>
                <a:cs typeface="Lucida Sans Unicode"/>
              </a:rPr>
              <a:t>≥</a:t>
            </a:r>
            <a:r>
              <a:rPr sz="1750" spc="-5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b="1" spc="-1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b="1" spc="4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(you</a:t>
            </a:r>
            <a:r>
              <a:rPr sz="1750" spc="-1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can</a:t>
            </a:r>
            <a:r>
              <a:rPr sz="1750" spc="-2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check</a:t>
            </a:r>
            <a:r>
              <a:rPr sz="1750" spc="-2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20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angle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visually)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781415" y="5603912"/>
            <a:ext cx="196215" cy="206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spc="-25" dirty="0">
                <a:solidFill>
                  <a:srgbClr val="213739"/>
                </a:solidFill>
                <a:latin typeface="Arial MT"/>
                <a:cs typeface="Arial MT"/>
              </a:rPr>
              <a:t>40</a:t>
            </a:r>
            <a:endParaRPr sz="125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56825" y="1076578"/>
            <a:ext cx="2850515" cy="3136265"/>
            <a:chOff x="956825" y="1076578"/>
            <a:chExt cx="2850515" cy="3136265"/>
          </a:xfrm>
        </p:grpSpPr>
        <p:sp>
          <p:nvSpPr>
            <p:cNvPr id="3" name="object 3"/>
            <p:cNvSpPr/>
            <p:nvPr/>
          </p:nvSpPr>
          <p:spPr>
            <a:xfrm>
              <a:off x="1749298" y="1081658"/>
              <a:ext cx="2052955" cy="2052955"/>
            </a:xfrm>
            <a:custGeom>
              <a:avLst/>
              <a:gdLst/>
              <a:ahLst/>
              <a:cxnLst/>
              <a:rect l="l" t="t" r="r" b="b"/>
              <a:pathLst>
                <a:path w="2052954" h="2052955">
                  <a:moveTo>
                    <a:pt x="62610" y="1990216"/>
                  </a:moveTo>
                  <a:lnTo>
                    <a:pt x="2044827" y="1990216"/>
                  </a:lnTo>
                </a:path>
                <a:path w="2052954" h="2052955">
                  <a:moveTo>
                    <a:pt x="2001519" y="1927605"/>
                  </a:moveTo>
                  <a:lnTo>
                    <a:pt x="2010537" y="1952243"/>
                  </a:lnTo>
                  <a:lnTo>
                    <a:pt x="2022855" y="1970277"/>
                  </a:lnTo>
                  <a:lnTo>
                    <a:pt x="2037334" y="1982596"/>
                  </a:lnTo>
                  <a:lnTo>
                    <a:pt x="2052827" y="1990216"/>
                  </a:lnTo>
                  <a:lnTo>
                    <a:pt x="2037334" y="1997837"/>
                  </a:lnTo>
                  <a:lnTo>
                    <a:pt x="2022855" y="2010155"/>
                  </a:lnTo>
                  <a:lnTo>
                    <a:pt x="2010537" y="2028316"/>
                  </a:lnTo>
                  <a:lnTo>
                    <a:pt x="2001519" y="2052954"/>
                  </a:lnTo>
                </a:path>
                <a:path w="2052954" h="2052955">
                  <a:moveTo>
                    <a:pt x="62610" y="1990216"/>
                  </a:moveTo>
                  <a:lnTo>
                    <a:pt x="62610" y="8000"/>
                  </a:lnTo>
                </a:path>
                <a:path w="2052954" h="2052955">
                  <a:moveTo>
                    <a:pt x="0" y="51307"/>
                  </a:moveTo>
                  <a:lnTo>
                    <a:pt x="24637" y="42290"/>
                  </a:lnTo>
                  <a:lnTo>
                    <a:pt x="42671" y="30099"/>
                  </a:lnTo>
                  <a:lnTo>
                    <a:pt x="55118" y="15620"/>
                  </a:lnTo>
                  <a:lnTo>
                    <a:pt x="62610" y="0"/>
                  </a:lnTo>
                  <a:lnTo>
                    <a:pt x="70231" y="15620"/>
                  </a:lnTo>
                  <a:lnTo>
                    <a:pt x="82676" y="30099"/>
                  </a:lnTo>
                  <a:lnTo>
                    <a:pt x="100710" y="42290"/>
                  </a:lnTo>
                  <a:lnTo>
                    <a:pt x="125349" y="51307"/>
                  </a:lnTo>
                </a:path>
              </a:pathLst>
            </a:custGeom>
            <a:ln w="10122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529588" y="2394203"/>
              <a:ext cx="282575" cy="678180"/>
            </a:xfrm>
            <a:custGeom>
              <a:avLst/>
              <a:gdLst/>
              <a:ahLst/>
              <a:cxnLst/>
              <a:rect l="l" t="t" r="r" b="b"/>
              <a:pathLst>
                <a:path w="282575" h="678180">
                  <a:moveTo>
                    <a:pt x="282320" y="677672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90984" y="2387984"/>
              <a:ext cx="114418" cy="7606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811908" y="1937765"/>
              <a:ext cx="283845" cy="1134110"/>
            </a:xfrm>
            <a:custGeom>
              <a:avLst/>
              <a:gdLst/>
              <a:ahLst/>
              <a:cxnLst/>
              <a:rect l="l" t="t" r="r" b="b"/>
              <a:pathLst>
                <a:path w="283844" h="1134110">
                  <a:moveTo>
                    <a:pt x="0" y="1134110"/>
                  </a:moveTo>
                  <a:lnTo>
                    <a:pt x="283591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23881" y="1931425"/>
              <a:ext cx="119741" cy="6995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811908" y="2503550"/>
              <a:ext cx="1705610" cy="568325"/>
            </a:xfrm>
            <a:custGeom>
              <a:avLst/>
              <a:gdLst/>
              <a:ahLst/>
              <a:cxnLst/>
              <a:rect l="l" t="t" r="r" b="b"/>
              <a:pathLst>
                <a:path w="1705610" h="568325">
                  <a:moveTo>
                    <a:pt x="0" y="568325"/>
                  </a:moveTo>
                  <a:lnTo>
                    <a:pt x="1705229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50089" y="2460124"/>
              <a:ext cx="73391" cy="11733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63168" y="2788919"/>
              <a:ext cx="848994" cy="283210"/>
            </a:xfrm>
            <a:custGeom>
              <a:avLst/>
              <a:gdLst/>
              <a:ahLst/>
              <a:cxnLst/>
              <a:rect l="l" t="t" r="r" b="b"/>
              <a:pathLst>
                <a:path w="848994" h="283210">
                  <a:moveTo>
                    <a:pt x="848740" y="282955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6825" y="2745620"/>
              <a:ext cx="73314" cy="11720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528445" y="3071875"/>
              <a:ext cx="283845" cy="1134110"/>
            </a:xfrm>
            <a:custGeom>
              <a:avLst/>
              <a:gdLst/>
              <a:ahLst/>
              <a:cxnLst/>
              <a:rect l="l" t="t" r="r" b="b"/>
              <a:pathLst>
                <a:path w="283844" h="1134110">
                  <a:moveTo>
                    <a:pt x="283463" y="0"/>
                  </a:moveTo>
                  <a:lnTo>
                    <a:pt x="0" y="1134110"/>
                  </a:lnTo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80194" y="4142368"/>
              <a:ext cx="119741" cy="7008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811908" y="3071875"/>
              <a:ext cx="329565" cy="1138555"/>
            </a:xfrm>
            <a:custGeom>
              <a:avLst/>
              <a:gdLst/>
              <a:ahLst/>
              <a:cxnLst/>
              <a:rect l="l" t="t" r="r" b="b"/>
              <a:pathLst>
                <a:path w="329564" h="1138554">
                  <a:moveTo>
                    <a:pt x="0" y="0"/>
                  </a:moveTo>
                  <a:lnTo>
                    <a:pt x="283591" y="1134110"/>
                  </a:lnTo>
                </a:path>
                <a:path w="329564" h="1138554">
                  <a:moveTo>
                    <a:pt x="329184" y="1073023"/>
                  </a:moveTo>
                  <a:lnTo>
                    <a:pt x="308864" y="1087628"/>
                  </a:lnTo>
                  <a:lnTo>
                    <a:pt x="295402" y="1103757"/>
                  </a:lnTo>
                  <a:lnTo>
                    <a:pt x="287655" y="1120902"/>
                  </a:lnTo>
                  <a:lnTo>
                    <a:pt x="284480" y="1138047"/>
                  </a:lnTo>
                  <a:lnTo>
                    <a:pt x="273685" y="1124331"/>
                  </a:lnTo>
                  <a:lnTo>
                    <a:pt x="258826" y="1112901"/>
                  </a:lnTo>
                  <a:lnTo>
                    <a:pt x="239268" y="1105027"/>
                  </a:lnTo>
                  <a:lnTo>
                    <a:pt x="214503" y="1101725"/>
                  </a:lnTo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548507" y="2969514"/>
            <a:ext cx="26479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49908" y="970915"/>
            <a:ext cx="26479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86205" y="1993773"/>
            <a:ext cx="26797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957070" y="1536954"/>
            <a:ext cx="26797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409315" y="2108073"/>
            <a:ext cx="13906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519932" y="2203780"/>
            <a:ext cx="107950" cy="2197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spc="-50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04672" y="2741167"/>
            <a:ext cx="27876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62583" y="4168902"/>
            <a:ext cx="874394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620395" algn="l"/>
              </a:tabLst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875" baseline="-8888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85904" y="1887356"/>
            <a:ext cx="3181985" cy="2369185"/>
            <a:chOff x="385904" y="1887356"/>
            <a:chExt cx="3181985" cy="2369185"/>
          </a:xfrm>
        </p:grpSpPr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83750" y="2344175"/>
              <a:ext cx="85324" cy="8532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054742" y="1887356"/>
              <a:ext cx="85324" cy="8532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82095" y="2458348"/>
              <a:ext cx="85324" cy="85324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12885" y="2743717"/>
              <a:ext cx="85324" cy="85324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483750" y="4171070"/>
              <a:ext cx="85324" cy="85324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2057272" y="4173600"/>
              <a:ext cx="80645" cy="80645"/>
            </a:xfrm>
            <a:custGeom>
              <a:avLst/>
              <a:gdLst/>
              <a:ahLst/>
              <a:cxnLst/>
              <a:rect l="l" t="t" r="r" b="b"/>
              <a:pathLst>
                <a:path w="80644" h="80645">
                  <a:moveTo>
                    <a:pt x="40131" y="0"/>
                  </a:moveTo>
                  <a:lnTo>
                    <a:pt x="24510" y="3175"/>
                  </a:lnTo>
                  <a:lnTo>
                    <a:pt x="11810" y="11811"/>
                  </a:lnTo>
                  <a:lnTo>
                    <a:pt x="3175" y="24511"/>
                  </a:lnTo>
                  <a:lnTo>
                    <a:pt x="0" y="40131"/>
                  </a:lnTo>
                  <a:lnTo>
                    <a:pt x="3175" y="55753"/>
                  </a:lnTo>
                  <a:lnTo>
                    <a:pt x="11810" y="68580"/>
                  </a:lnTo>
                  <a:lnTo>
                    <a:pt x="24510" y="77088"/>
                  </a:lnTo>
                  <a:lnTo>
                    <a:pt x="40131" y="80263"/>
                  </a:lnTo>
                  <a:lnTo>
                    <a:pt x="55752" y="77088"/>
                  </a:lnTo>
                  <a:lnTo>
                    <a:pt x="68452" y="68580"/>
                  </a:lnTo>
                  <a:lnTo>
                    <a:pt x="77088" y="55753"/>
                  </a:lnTo>
                  <a:lnTo>
                    <a:pt x="80263" y="40131"/>
                  </a:lnTo>
                  <a:lnTo>
                    <a:pt x="77088" y="24511"/>
                  </a:lnTo>
                  <a:lnTo>
                    <a:pt x="68452" y="11811"/>
                  </a:lnTo>
                  <a:lnTo>
                    <a:pt x="55752" y="3175"/>
                  </a:lnTo>
                  <a:lnTo>
                    <a:pt x="40131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057272" y="4173600"/>
              <a:ext cx="80645" cy="80645"/>
            </a:xfrm>
            <a:custGeom>
              <a:avLst/>
              <a:gdLst/>
              <a:ahLst/>
              <a:cxnLst/>
              <a:rect l="l" t="t" r="r" b="b"/>
              <a:pathLst>
                <a:path w="80644" h="80645">
                  <a:moveTo>
                    <a:pt x="80263" y="40131"/>
                  </a:moveTo>
                  <a:lnTo>
                    <a:pt x="77088" y="24511"/>
                  </a:lnTo>
                  <a:lnTo>
                    <a:pt x="68452" y="11811"/>
                  </a:lnTo>
                  <a:lnTo>
                    <a:pt x="55752" y="3175"/>
                  </a:lnTo>
                  <a:lnTo>
                    <a:pt x="40131" y="0"/>
                  </a:lnTo>
                  <a:lnTo>
                    <a:pt x="24510" y="3175"/>
                  </a:lnTo>
                  <a:lnTo>
                    <a:pt x="11810" y="11811"/>
                  </a:lnTo>
                  <a:lnTo>
                    <a:pt x="3175" y="24511"/>
                  </a:lnTo>
                  <a:lnTo>
                    <a:pt x="0" y="40131"/>
                  </a:lnTo>
                  <a:lnTo>
                    <a:pt x="3175" y="55753"/>
                  </a:lnTo>
                  <a:lnTo>
                    <a:pt x="11810" y="68580"/>
                  </a:lnTo>
                  <a:lnTo>
                    <a:pt x="24510" y="77088"/>
                  </a:lnTo>
                  <a:lnTo>
                    <a:pt x="40131" y="80263"/>
                  </a:lnTo>
                  <a:lnTo>
                    <a:pt x="55752" y="77088"/>
                  </a:lnTo>
                  <a:lnTo>
                    <a:pt x="68452" y="68580"/>
                  </a:lnTo>
                  <a:lnTo>
                    <a:pt x="77088" y="55753"/>
                  </a:lnTo>
                  <a:lnTo>
                    <a:pt x="80263" y="40131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75754" y="3071875"/>
              <a:ext cx="1136650" cy="1136650"/>
            </a:xfrm>
            <a:custGeom>
              <a:avLst/>
              <a:gdLst/>
              <a:ahLst/>
              <a:cxnLst/>
              <a:rect l="l" t="t" r="r" b="b"/>
              <a:pathLst>
                <a:path w="1136650" h="1136650">
                  <a:moveTo>
                    <a:pt x="1136154" y="0"/>
                  </a:moveTo>
                  <a:lnTo>
                    <a:pt x="0" y="1136269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65489" y="4129668"/>
              <a:ext cx="88638" cy="88626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392277" y="3071875"/>
              <a:ext cx="1419860" cy="454659"/>
            </a:xfrm>
            <a:custGeom>
              <a:avLst/>
              <a:gdLst/>
              <a:ahLst/>
              <a:cxnLst/>
              <a:rect l="l" t="t" r="r" b="b"/>
              <a:pathLst>
                <a:path w="1419860" h="454660">
                  <a:moveTo>
                    <a:pt x="1419631" y="0"/>
                  </a:moveTo>
                  <a:lnTo>
                    <a:pt x="0" y="454278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85904" y="3452497"/>
              <a:ext cx="72969" cy="117978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676986" y="2390901"/>
              <a:ext cx="1135380" cy="681355"/>
            </a:xfrm>
            <a:custGeom>
              <a:avLst/>
              <a:gdLst/>
              <a:ahLst/>
              <a:cxnLst/>
              <a:rect l="l" t="t" r="r" b="b"/>
              <a:pathLst>
                <a:path w="1135380" h="681355">
                  <a:moveTo>
                    <a:pt x="1134922" y="680974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70990" y="2362325"/>
              <a:ext cx="80559" cy="106937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506981" y="2671533"/>
              <a:ext cx="308965" cy="404406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4356861" y="849883"/>
            <a:ext cx="4462780" cy="3712845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50"/>
              </a:spcBef>
            </a:pP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initialized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1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a</a:t>
            </a:r>
            <a:r>
              <a:rPr sz="1750" spc="-20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random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value</a:t>
            </a:r>
            <a:endParaRPr sz="1750">
              <a:latin typeface="Arial MT"/>
              <a:cs typeface="Arial MT"/>
            </a:endParaRPr>
          </a:p>
          <a:p>
            <a:pPr marL="40640" marR="40005" indent="-2540">
              <a:lnSpc>
                <a:spcPct val="116799"/>
              </a:lnSpc>
              <a:spcBef>
                <a:spcPts val="395"/>
              </a:spcBef>
              <a:tabLst>
                <a:tab pos="3227070" algn="l"/>
              </a:tabLst>
            </a:pP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observe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that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currently,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1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·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5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5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spc="-85" dirty="0">
                <a:solidFill>
                  <a:srgbClr val="213739"/>
                </a:solidFill>
                <a:latin typeface="Lucida Sans Unicode"/>
                <a:cs typeface="Lucida Sans Unicode"/>
              </a:rPr>
              <a:t>∵</a:t>
            </a:r>
            <a:r>
              <a:rPr sz="1750" spc="-23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angle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&gt;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90°)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for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all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positive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points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5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·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459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≥</a:t>
            </a:r>
            <a:r>
              <a:rPr sz="1750" spc="4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4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spc="-25" dirty="0">
                <a:solidFill>
                  <a:srgbClr val="213739"/>
                </a:solidFill>
                <a:latin typeface="Lucida Sans Unicode"/>
                <a:cs typeface="Lucida Sans Unicode"/>
              </a:rPr>
              <a:t>∵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angle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spc="409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90°)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for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all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negative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points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(the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situ-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ation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is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exactly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oppsite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what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actually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want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it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be)</a:t>
            </a:r>
            <a:endParaRPr sz="1750">
              <a:latin typeface="Arial MT"/>
              <a:cs typeface="Arial MT"/>
            </a:endParaRPr>
          </a:p>
          <a:p>
            <a:pPr marL="40640" marR="40005" indent="-3175">
              <a:lnSpc>
                <a:spcPct val="117700"/>
              </a:lnSpc>
              <a:spcBef>
                <a:spcPts val="495"/>
              </a:spcBef>
            </a:pPr>
            <a:r>
              <a:rPr sz="1750" spc="-16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now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run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algorithm</a:t>
            </a:r>
            <a:r>
              <a:rPr sz="1750" spc="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by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randomly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going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over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points</a:t>
            </a:r>
            <a:endParaRPr sz="1750">
              <a:latin typeface="Arial MT"/>
              <a:cs typeface="Arial MT"/>
            </a:endParaRPr>
          </a:p>
          <a:p>
            <a:pPr marL="41275" marR="30480" indent="-3810" algn="just">
              <a:lnSpc>
                <a:spcPct val="117200"/>
              </a:lnSpc>
              <a:spcBef>
                <a:spcPts val="710"/>
              </a:spcBef>
            </a:pP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Randomly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pick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a</a:t>
            </a:r>
            <a:r>
              <a:rPr sz="1750" spc="-1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point</a:t>
            </a:r>
            <a:r>
              <a:rPr sz="1750" spc="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(say,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spc="-15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),</a:t>
            </a:r>
            <a:r>
              <a:rPr sz="1750" spc="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apply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correction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spc="-1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4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57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spc="-1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-10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35" dirty="0">
                <a:solidFill>
                  <a:srgbClr val="213739"/>
                </a:solidFill>
                <a:latin typeface="Lucida Sans Unicode"/>
                <a:cs typeface="Lucida Sans Unicode"/>
              </a:rPr>
              <a:t>−</a:t>
            </a:r>
            <a:r>
              <a:rPr sz="1750" b="1" spc="3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18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5" dirty="0">
                <a:solidFill>
                  <a:srgbClr val="213739"/>
                </a:solidFill>
                <a:latin typeface="Lucida Sans Unicode"/>
                <a:cs typeface="Lucida Sans Unicode"/>
              </a:rPr>
              <a:t>∵</a:t>
            </a:r>
            <a:r>
              <a:rPr sz="1750" spc="-29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b="1" spc="-1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4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40" dirty="0">
                <a:solidFill>
                  <a:srgbClr val="213739"/>
                </a:solidFill>
                <a:latin typeface="Lucida Sans Unicode"/>
                <a:cs typeface="Lucida Sans Unicode"/>
              </a:rPr>
              <a:t>·</a:t>
            </a:r>
            <a:r>
              <a:rPr sz="1750" b="1" spc="-14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5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5" dirty="0">
                <a:solidFill>
                  <a:srgbClr val="213739"/>
                </a:solidFill>
                <a:latin typeface="Lucida Sans Unicode"/>
                <a:cs typeface="Lucida Sans Unicode"/>
              </a:rPr>
              <a:t>≥</a:t>
            </a:r>
            <a:r>
              <a:rPr sz="1750" spc="-5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b="1" spc="-1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b="1" spc="4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(you</a:t>
            </a:r>
            <a:r>
              <a:rPr sz="1750" spc="-1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can</a:t>
            </a:r>
            <a:r>
              <a:rPr sz="1750" spc="-2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check</a:t>
            </a:r>
            <a:r>
              <a:rPr sz="1750" spc="-2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20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angle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visually)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781415" y="5603912"/>
            <a:ext cx="196215" cy="206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spc="-25" dirty="0">
                <a:solidFill>
                  <a:srgbClr val="213739"/>
                </a:solidFill>
                <a:latin typeface="Arial MT"/>
                <a:cs typeface="Arial MT"/>
              </a:rPr>
              <a:t>40</a:t>
            </a:r>
            <a:endParaRPr sz="125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56825" y="1076578"/>
            <a:ext cx="2850515" cy="3136265"/>
            <a:chOff x="956825" y="1076578"/>
            <a:chExt cx="2850515" cy="3136265"/>
          </a:xfrm>
        </p:grpSpPr>
        <p:sp>
          <p:nvSpPr>
            <p:cNvPr id="3" name="object 3"/>
            <p:cNvSpPr/>
            <p:nvPr/>
          </p:nvSpPr>
          <p:spPr>
            <a:xfrm>
              <a:off x="1749298" y="1081658"/>
              <a:ext cx="2052955" cy="2052955"/>
            </a:xfrm>
            <a:custGeom>
              <a:avLst/>
              <a:gdLst/>
              <a:ahLst/>
              <a:cxnLst/>
              <a:rect l="l" t="t" r="r" b="b"/>
              <a:pathLst>
                <a:path w="2052954" h="2052955">
                  <a:moveTo>
                    <a:pt x="62610" y="1990216"/>
                  </a:moveTo>
                  <a:lnTo>
                    <a:pt x="2044827" y="1990216"/>
                  </a:lnTo>
                </a:path>
                <a:path w="2052954" h="2052955">
                  <a:moveTo>
                    <a:pt x="2001519" y="1927605"/>
                  </a:moveTo>
                  <a:lnTo>
                    <a:pt x="2010537" y="1952243"/>
                  </a:lnTo>
                  <a:lnTo>
                    <a:pt x="2022855" y="1970277"/>
                  </a:lnTo>
                  <a:lnTo>
                    <a:pt x="2037334" y="1982596"/>
                  </a:lnTo>
                  <a:lnTo>
                    <a:pt x="2052827" y="1990216"/>
                  </a:lnTo>
                  <a:lnTo>
                    <a:pt x="2037334" y="1997837"/>
                  </a:lnTo>
                  <a:lnTo>
                    <a:pt x="2022855" y="2010155"/>
                  </a:lnTo>
                  <a:lnTo>
                    <a:pt x="2010537" y="2028316"/>
                  </a:lnTo>
                  <a:lnTo>
                    <a:pt x="2001519" y="2052954"/>
                  </a:lnTo>
                </a:path>
                <a:path w="2052954" h="2052955">
                  <a:moveTo>
                    <a:pt x="62610" y="1990216"/>
                  </a:moveTo>
                  <a:lnTo>
                    <a:pt x="62610" y="8000"/>
                  </a:lnTo>
                </a:path>
                <a:path w="2052954" h="2052955">
                  <a:moveTo>
                    <a:pt x="0" y="51307"/>
                  </a:moveTo>
                  <a:lnTo>
                    <a:pt x="24637" y="42290"/>
                  </a:lnTo>
                  <a:lnTo>
                    <a:pt x="42671" y="30099"/>
                  </a:lnTo>
                  <a:lnTo>
                    <a:pt x="55118" y="15620"/>
                  </a:lnTo>
                  <a:lnTo>
                    <a:pt x="62610" y="0"/>
                  </a:lnTo>
                  <a:lnTo>
                    <a:pt x="70231" y="15620"/>
                  </a:lnTo>
                  <a:lnTo>
                    <a:pt x="82676" y="30099"/>
                  </a:lnTo>
                  <a:lnTo>
                    <a:pt x="100710" y="42290"/>
                  </a:lnTo>
                  <a:lnTo>
                    <a:pt x="125349" y="51307"/>
                  </a:lnTo>
                </a:path>
              </a:pathLst>
            </a:custGeom>
            <a:ln w="10122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529588" y="2394203"/>
              <a:ext cx="282575" cy="678180"/>
            </a:xfrm>
            <a:custGeom>
              <a:avLst/>
              <a:gdLst/>
              <a:ahLst/>
              <a:cxnLst/>
              <a:rect l="l" t="t" r="r" b="b"/>
              <a:pathLst>
                <a:path w="282575" h="678180">
                  <a:moveTo>
                    <a:pt x="282320" y="677672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90984" y="2387984"/>
              <a:ext cx="114418" cy="7606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811908" y="1937765"/>
              <a:ext cx="283845" cy="1134110"/>
            </a:xfrm>
            <a:custGeom>
              <a:avLst/>
              <a:gdLst/>
              <a:ahLst/>
              <a:cxnLst/>
              <a:rect l="l" t="t" r="r" b="b"/>
              <a:pathLst>
                <a:path w="283844" h="1134110">
                  <a:moveTo>
                    <a:pt x="0" y="1134110"/>
                  </a:moveTo>
                  <a:lnTo>
                    <a:pt x="283591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23881" y="1931425"/>
              <a:ext cx="119741" cy="6995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811908" y="2503550"/>
              <a:ext cx="1705610" cy="568325"/>
            </a:xfrm>
            <a:custGeom>
              <a:avLst/>
              <a:gdLst/>
              <a:ahLst/>
              <a:cxnLst/>
              <a:rect l="l" t="t" r="r" b="b"/>
              <a:pathLst>
                <a:path w="1705610" h="568325">
                  <a:moveTo>
                    <a:pt x="0" y="568325"/>
                  </a:moveTo>
                  <a:lnTo>
                    <a:pt x="1705229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50089" y="2460124"/>
              <a:ext cx="73391" cy="11733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63168" y="2788919"/>
              <a:ext cx="848994" cy="283210"/>
            </a:xfrm>
            <a:custGeom>
              <a:avLst/>
              <a:gdLst/>
              <a:ahLst/>
              <a:cxnLst/>
              <a:rect l="l" t="t" r="r" b="b"/>
              <a:pathLst>
                <a:path w="848994" h="283210">
                  <a:moveTo>
                    <a:pt x="848740" y="282955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6825" y="2745620"/>
              <a:ext cx="73314" cy="11720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528445" y="3071875"/>
              <a:ext cx="283845" cy="1134110"/>
            </a:xfrm>
            <a:custGeom>
              <a:avLst/>
              <a:gdLst/>
              <a:ahLst/>
              <a:cxnLst/>
              <a:rect l="l" t="t" r="r" b="b"/>
              <a:pathLst>
                <a:path w="283844" h="1134110">
                  <a:moveTo>
                    <a:pt x="283463" y="0"/>
                  </a:moveTo>
                  <a:lnTo>
                    <a:pt x="0" y="1134110"/>
                  </a:lnTo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80194" y="4142368"/>
              <a:ext cx="119741" cy="7008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811908" y="3071875"/>
              <a:ext cx="329565" cy="1138555"/>
            </a:xfrm>
            <a:custGeom>
              <a:avLst/>
              <a:gdLst/>
              <a:ahLst/>
              <a:cxnLst/>
              <a:rect l="l" t="t" r="r" b="b"/>
              <a:pathLst>
                <a:path w="329564" h="1138554">
                  <a:moveTo>
                    <a:pt x="0" y="0"/>
                  </a:moveTo>
                  <a:lnTo>
                    <a:pt x="283591" y="1134110"/>
                  </a:lnTo>
                </a:path>
                <a:path w="329564" h="1138554">
                  <a:moveTo>
                    <a:pt x="329184" y="1073023"/>
                  </a:moveTo>
                  <a:lnTo>
                    <a:pt x="308864" y="1087628"/>
                  </a:lnTo>
                  <a:lnTo>
                    <a:pt x="295402" y="1103757"/>
                  </a:lnTo>
                  <a:lnTo>
                    <a:pt x="287655" y="1120902"/>
                  </a:lnTo>
                  <a:lnTo>
                    <a:pt x="284480" y="1138047"/>
                  </a:lnTo>
                  <a:lnTo>
                    <a:pt x="273685" y="1124331"/>
                  </a:lnTo>
                  <a:lnTo>
                    <a:pt x="258826" y="1112901"/>
                  </a:lnTo>
                  <a:lnTo>
                    <a:pt x="239268" y="1105027"/>
                  </a:lnTo>
                  <a:lnTo>
                    <a:pt x="214503" y="1101725"/>
                  </a:lnTo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548507" y="2969514"/>
            <a:ext cx="26479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49908" y="970915"/>
            <a:ext cx="26479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86205" y="1993773"/>
            <a:ext cx="26797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957070" y="1536954"/>
            <a:ext cx="26797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409315" y="2108073"/>
            <a:ext cx="13906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519932" y="2203780"/>
            <a:ext cx="107950" cy="2197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spc="-50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04672" y="2741167"/>
            <a:ext cx="27876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62583" y="4168902"/>
            <a:ext cx="874394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620395" algn="l"/>
              </a:tabLst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875" baseline="-8888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85904" y="1887356"/>
            <a:ext cx="3181985" cy="2369185"/>
            <a:chOff x="385904" y="1887356"/>
            <a:chExt cx="3181985" cy="2369185"/>
          </a:xfrm>
        </p:grpSpPr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83750" y="2344175"/>
              <a:ext cx="85324" cy="8532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054742" y="1887356"/>
              <a:ext cx="85324" cy="8532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82095" y="2458348"/>
              <a:ext cx="85324" cy="85324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12885" y="2743717"/>
              <a:ext cx="85324" cy="85324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483750" y="4171070"/>
              <a:ext cx="85324" cy="85324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2057272" y="4173600"/>
              <a:ext cx="80645" cy="80645"/>
            </a:xfrm>
            <a:custGeom>
              <a:avLst/>
              <a:gdLst/>
              <a:ahLst/>
              <a:cxnLst/>
              <a:rect l="l" t="t" r="r" b="b"/>
              <a:pathLst>
                <a:path w="80644" h="80645">
                  <a:moveTo>
                    <a:pt x="40131" y="0"/>
                  </a:moveTo>
                  <a:lnTo>
                    <a:pt x="24510" y="3175"/>
                  </a:lnTo>
                  <a:lnTo>
                    <a:pt x="11810" y="11811"/>
                  </a:lnTo>
                  <a:lnTo>
                    <a:pt x="3175" y="24511"/>
                  </a:lnTo>
                  <a:lnTo>
                    <a:pt x="0" y="40131"/>
                  </a:lnTo>
                  <a:lnTo>
                    <a:pt x="3175" y="55753"/>
                  </a:lnTo>
                  <a:lnTo>
                    <a:pt x="11810" y="68580"/>
                  </a:lnTo>
                  <a:lnTo>
                    <a:pt x="24510" y="77088"/>
                  </a:lnTo>
                  <a:lnTo>
                    <a:pt x="40131" y="80263"/>
                  </a:lnTo>
                  <a:lnTo>
                    <a:pt x="55752" y="77088"/>
                  </a:lnTo>
                  <a:lnTo>
                    <a:pt x="68452" y="68580"/>
                  </a:lnTo>
                  <a:lnTo>
                    <a:pt x="77088" y="55753"/>
                  </a:lnTo>
                  <a:lnTo>
                    <a:pt x="80263" y="40131"/>
                  </a:lnTo>
                  <a:lnTo>
                    <a:pt x="77088" y="24511"/>
                  </a:lnTo>
                  <a:lnTo>
                    <a:pt x="68452" y="11811"/>
                  </a:lnTo>
                  <a:lnTo>
                    <a:pt x="55752" y="3175"/>
                  </a:lnTo>
                  <a:lnTo>
                    <a:pt x="40131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057272" y="4173600"/>
              <a:ext cx="80645" cy="80645"/>
            </a:xfrm>
            <a:custGeom>
              <a:avLst/>
              <a:gdLst/>
              <a:ahLst/>
              <a:cxnLst/>
              <a:rect l="l" t="t" r="r" b="b"/>
              <a:pathLst>
                <a:path w="80644" h="80645">
                  <a:moveTo>
                    <a:pt x="80263" y="40131"/>
                  </a:moveTo>
                  <a:lnTo>
                    <a:pt x="77088" y="24511"/>
                  </a:lnTo>
                  <a:lnTo>
                    <a:pt x="68452" y="11811"/>
                  </a:lnTo>
                  <a:lnTo>
                    <a:pt x="55752" y="3175"/>
                  </a:lnTo>
                  <a:lnTo>
                    <a:pt x="40131" y="0"/>
                  </a:lnTo>
                  <a:lnTo>
                    <a:pt x="24510" y="3175"/>
                  </a:lnTo>
                  <a:lnTo>
                    <a:pt x="11810" y="11811"/>
                  </a:lnTo>
                  <a:lnTo>
                    <a:pt x="3175" y="24511"/>
                  </a:lnTo>
                  <a:lnTo>
                    <a:pt x="0" y="40131"/>
                  </a:lnTo>
                  <a:lnTo>
                    <a:pt x="3175" y="55753"/>
                  </a:lnTo>
                  <a:lnTo>
                    <a:pt x="11810" y="68580"/>
                  </a:lnTo>
                  <a:lnTo>
                    <a:pt x="24510" y="77088"/>
                  </a:lnTo>
                  <a:lnTo>
                    <a:pt x="40131" y="80263"/>
                  </a:lnTo>
                  <a:lnTo>
                    <a:pt x="55752" y="77088"/>
                  </a:lnTo>
                  <a:lnTo>
                    <a:pt x="68452" y="68580"/>
                  </a:lnTo>
                  <a:lnTo>
                    <a:pt x="77088" y="55753"/>
                  </a:lnTo>
                  <a:lnTo>
                    <a:pt x="80263" y="40131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75754" y="3071875"/>
              <a:ext cx="1136650" cy="1136650"/>
            </a:xfrm>
            <a:custGeom>
              <a:avLst/>
              <a:gdLst/>
              <a:ahLst/>
              <a:cxnLst/>
              <a:rect l="l" t="t" r="r" b="b"/>
              <a:pathLst>
                <a:path w="1136650" h="1136650">
                  <a:moveTo>
                    <a:pt x="1136154" y="0"/>
                  </a:moveTo>
                  <a:lnTo>
                    <a:pt x="0" y="1136269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65489" y="4129668"/>
              <a:ext cx="88638" cy="88626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392277" y="3071875"/>
              <a:ext cx="1419860" cy="454659"/>
            </a:xfrm>
            <a:custGeom>
              <a:avLst/>
              <a:gdLst/>
              <a:ahLst/>
              <a:cxnLst/>
              <a:rect l="l" t="t" r="r" b="b"/>
              <a:pathLst>
                <a:path w="1419860" h="454660">
                  <a:moveTo>
                    <a:pt x="1419631" y="0"/>
                  </a:moveTo>
                  <a:lnTo>
                    <a:pt x="0" y="454278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85904" y="3452497"/>
              <a:ext cx="72969" cy="117978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676986" y="2390901"/>
              <a:ext cx="1135380" cy="681355"/>
            </a:xfrm>
            <a:custGeom>
              <a:avLst/>
              <a:gdLst/>
              <a:ahLst/>
              <a:cxnLst/>
              <a:rect l="l" t="t" r="r" b="b"/>
              <a:pathLst>
                <a:path w="1135380" h="681355">
                  <a:moveTo>
                    <a:pt x="1134922" y="680974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70990" y="2362325"/>
              <a:ext cx="80559" cy="106937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506981" y="2671533"/>
              <a:ext cx="308965" cy="404406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4356861" y="849883"/>
            <a:ext cx="4458335" cy="3712845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50"/>
              </a:spcBef>
            </a:pP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initialized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1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a</a:t>
            </a:r>
            <a:r>
              <a:rPr sz="1750" spc="-20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random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value</a:t>
            </a:r>
            <a:endParaRPr sz="1750">
              <a:latin typeface="Arial MT"/>
              <a:cs typeface="Arial MT"/>
            </a:endParaRPr>
          </a:p>
          <a:p>
            <a:pPr marL="40640" marR="35560" indent="-2540">
              <a:lnSpc>
                <a:spcPct val="116799"/>
              </a:lnSpc>
              <a:spcBef>
                <a:spcPts val="395"/>
              </a:spcBef>
              <a:tabLst>
                <a:tab pos="3227070" algn="l"/>
              </a:tabLst>
            </a:pP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observe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that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currently,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1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·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5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5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spc="-85" dirty="0">
                <a:solidFill>
                  <a:srgbClr val="213739"/>
                </a:solidFill>
                <a:latin typeface="Lucida Sans Unicode"/>
                <a:cs typeface="Lucida Sans Unicode"/>
              </a:rPr>
              <a:t>∵</a:t>
            </a:r>
            <a:r>
              <a:rPr sz="1750" spc="-23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angle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&gt;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90°)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for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all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positive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points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5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·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459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≥</a:t>
            </a:r>
            <a:r>
              <a:rPr sz="1750" spc="4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4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spc="-25" dirty="0">
                <a:solidFill>
                  <a:srgbClr val="213739"/>
                </a:solidFill>
                <a:latin typeface="Lucida Sans Unicode"/>
                <a:cs typeface="Lucida Sans Unicode"/>
              </a:rPr>
              <a:t>∵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angle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spc="409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90°)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for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all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negative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points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(the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situ-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ation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is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exactly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oppsite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what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actually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want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it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be)</a:t>
            </a:r>
            <a:endParaRPr sz="1750">
              <a:latin typeface="Arial MT"/>
              <a:cs typeface="Arial MT"/>
            </a:endParaRPr>
          </a:p>
          <a:p>
            <a:pPr marL="40640" marR="35560" indent="-3175">
              <a:lnSpc>
                <a:spcPct val="117700"/>
              </a:lnSpc>
              <a:spcBef>
                <a:spcPts val="495"/>
              </a:spcBef>
            </a:pPr>
            <a:r>
              <a:rPr sz="1750" spc="-16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now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run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algorithm</a:t>
            </a:r>
            <a:r>
              <a:rPr sz="1750" spc="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by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randomly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going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over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points</a:t>
            </a:r>
            <a:endParaRPr sz="1750">
              <a:latin typeface="Arial MT"/>
              <a:cs typeface="Arial MT"/>
            </a:endParaRPr>
          </a:p>
          <a:p>
            <a:pPr marL="41275" marR="30480" indent="-3810" algn="just">
              <a:lnSpc>
                <a:spcPct val="117200"/>
              </a:lnSpc>
              <a:spcBef>
                <a:spcPts val="710"/>
              </a:spcBef>
            </a:pP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Randomly</a:t>
            </a:r>
            <a:r>
              <a:rPr sz="1750" spc="-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pick</a:t>
            </a:r>
            <a:r>
              <a:rPr sz="1750" spc="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a</a:t>
            </a:r>
            <a:r>
              <a:rPr sz="1750" spc="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point</a:t>
            </a:r>
            <a:r>
              <a:rPr sz="1750" spc="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(say,</a:t>
            </a:r>
            <a:r>
              <a:rPr sz="1750" spc="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),</a:t>
            </a:r>
            <a:r>
              <a:rPr sz="1750" spc="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no</a:t>
            </a:r>
            <a:r>
              <a:rPr sz="1750" spc="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correction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needed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∵</a:t>
            </a:r>
            <a:r>
              <a:rPr sz="1750" spc="229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·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20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spc="38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b="1" spc="21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(you</a:t>
            </a:r>
            <a:r>
              <a:rPr sz="1750" spc="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can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check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angle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visually)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781415" y="5603912"/>
            <a:ext cx="196215" cy="206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spc="-25" dirty="0">
                <a:solidFill>
                  <a:srgbClr val="213739"/>
                </a:solidFill>
                <a:latin typeface="Arial MT"/>
                <a:cs typeface="Arial MT"/>
              </a:rPr>
              <a:t>40</a:t>
            </a:r>
            <a:endParaRPr sz="125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56825" y="1076578"/>
            <a:ext cx="2850515" cy="3136265"/>
            <a:chOff x="956825" y="1076578"/>
            <a:chExt cx="2850515" cy="3136265"/>
          </a:xfrm>
        </p:grpSpPr>
        <p:sp>
          <p:nvSpPr>
            <p:cNvPr id="3" name="object 3"/>
            <p:cNvSpPr/>
            <p:nvPr/>
          </p:nvSpPr>
          <p:spPr>
            <a:xfrm>
              <a:off x="1749298" y="1081658"/>
              <a:ext cx="2052955" cy="2052955"/>
            </a:xfrm>
            <a:custGeom>
              <a:avLst/>
              <a:gdLst/>
              <a:ahLst/>
              <a:cxnLst/>
              <a:rect l="l" t="t" r="r" b="b"/>
              <a:pathLst>
                <a:path w="2052954" h="2052955">
                  <a:moveTo>
                    <a:pt x="62610" y="1990216"/>
                  </a:moveTo>
                  <a:lnTo>
                    <a:pt x="2044827" y="1990216"/>
                  </a:lnTo>
                </a:path>
                <a:path w="2052954" h="2052955">
                  <a:moveTo>
                    <a:pt x="2001519" y="1927605"/>
                  </a:moveTo>
                  <a:lnTo>
                    <a:pt x="2010537" y="1952243"/>
                  </a:lnTo>
                  <a:lnTo>
                    <a:pt x="2022855" y="1970277"/>
                  </a:lnTo>
                  <a:lnTo>
                    <a:pt x="2037334" y="1982596"/>
                  </a:lnTo>
                  <a:lnTo>
                    <a:pt x="2052827" y="1990216"/>
                  </a:lnTo>
                  <a:lnTo>
                    <a:pt x="2037334" y="1997837"/>
                  </a:lnTo>
                  <a:lnTo>
                    <a:pt x="2022855" y="2010155"/>
                  </a:lnTo>
                  <a:lnTo>
                    <a:pt x="2010537" y="2028316"/>
                  </a:lnTo>
                  <a:lnTo>
                    <a:pt x="2001519" y="2052954"/>
                  </a:lnTo>
                </a:path>
                <a:path w="2052954" h="2052955">
                  <a:moveTo>
                    <a:pt x="62610" y="1990216"/>
                  </a:moveTo>
                  <a:lnTo>
                    <a:pt x="62610" y="8000"/>
                  </a:lnTo>
                </a:path>
                <a:path w="2052954" h="2052955">
                  <a:moveTo>
                    <a:pt x="0" y="51307"/>
                  </a:moveTo>
                  <a:lnTo>
                    <a:pt x="24637" y="42290"/>
                  </a:lnTo>
                  <a:lnTo>
                    <a:pt x="42671" y="30099"/>
                  </a:lnTo>
                  <a:lnTo>
                    <a:pt x="55118" y="15620"/>
                  </a:lnTo>
                  <a:lnTo>
                    <a:pt x="62610" y="0"/>
                  </a:lnTo>
                  <a:lnTo>
                    <a:pt x="70231" y="15620"/>
                  </a:lnTo>
                  <a:lnTo>
                    <a:pt x="82676" y="30099"/>
                  </a:lnTo>
                  <a:lnTo>
                    <a:pt x="100710" y="42290"/>
                  </a:lnTo>
                  <a:lnTo>
                    <a:pt x="125349" y="51307"/>
                  </a:lnTo>
                </a:path>
              </a:pathLst>
            </a:custGeom>
            <a:ln w="10122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529588" y="2394203"/>
              <a:ext cx="282575" cy="678180"/>
            </a:xfrm>
            <a:custGeom>
              <a:avLst/>
              <a:gdLst/>
              <a:ahLst/>
              <a:cxnLst/>
              <a:rect l="l" t="t" r="r" b="b"/>
              <a:pathLst>
                <a:path w="282575" h="678180">
                  <a:moveTo>
                    <a:pt x="282320" y="677672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90984" y="2387984"/>
              <a:ext cx="114418" cy="7606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811908" y="1937765"/>
              <a:ext cx="283845" cy="1134110"/>
            </a:xfrm>
            <a:custGeom>
              <a:avLst/>
              <a:gdLst/>
              <a:ahLst/>
              <a:cxnLst/>
              <a:rect l="l" t="t" r="r" b="b"/>
              <a:pathLst>
                <a:path w="283844" h="1134110">
                  <a:moveTo>
                    <a:pt x="0" y="1134110"/>
                  </a:moveTo>
                  <a:lnTo>
                    <a:pt x="283591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23881" y="1931425"/>
              <a:ext cx="119741" cy="6995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811908" y="2503550"/>
              <a:ext cx="1705610" cy="568325"/>
            </a:xfrm>
            <a:custGeom>
              <a:avLst/>
              <a:gdLst/>
              <a:ahLst/>
              <a:cxnLst/>
              <a:rect l="l" t="t" r="r" b="b"/>
              <a:pathLst>
                <a:path w="1705610" h="568325">
                  <a:moveTo>
                    <a:pt x="0" y="568325"/>
                  </a:moveTo>
                  <a:lnTo>
                    <a:pt x="1705229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50089" y="2460124"/>
              <a:ext cx="73391" cy="11733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63168" y="2788919"/>
              <a:ext cx="848994" cy="283210"/>
            </a:xfrm>
            <a:custGeom>
              <a:avLst/>
              <a:gdLst/>
              <a:ahLst/>
              <a:cxnLst/>
              <a:rect l="l" t="t" r="r" b="b"/>
              <a:pathLst>
                <a:path w="848994" h="283210">
                  <a:moveTo>
                    <a:pt x="848740" y="282955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6825" y="2745620"/>
              <a:ext cx="73314" cy="11720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528445" y="3071875"/>
              <a:ext cx="283845" cy="1134110"/>
            </a:xfrm>
            <a:custGeom>
              <a:avLst/>
              <a:gdLst/>
              <a:ahLst/>
              <a:cxnLst/>
              <a:rect l="l" t="t" r="r" b="b"/>
              <a:pathLst>
                <a:path w="283844" h="1134110">
                  <a:moveTo>
                    <a:pt x="283463" y="0"/>
                  </a:moveTo>
                  <a:lnTo>
                    <a:pt x="0" y="1134110"/>
                  </a:lnTo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80194" y="4142368"/>
              <a:ext cx="119741" cy="7008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811908" y="3071875"/>
              <a:ext cx="329565" cy="1138555"/>
            </a:xfrm>
            <a:custGeom>
              <a:avLst/>
              <a:gdLst/>
              <a:ahLst/>
              <a:cxnLst/>
              <a:rect l="l" t="t" r="r" b="b"/>
              <a:pathLst>
                <a:path w="329564" h="1138554">
                  <a:moveTo>
                    <a:pt x="0" y="0"/>
                  </a:moveTo>
                  <a:lnTo>
                    <a:pt x="283591" y="1134110"/>
                  </a:lnTo>
                </a:path>
                <a:path w="329564" h="1138554">
                  <a:moveTo>
                    <a:pt x="329184" y="1073023"/>
                  </a:moveTo>
                  <a:lnTo>
                    <a:pt x="308864" y="1087628"/>
                  </a:lnTo>
                  <a:lnTo>
                    <a:pt x="295402" y="1103757"/>
                  </a:lnTo>
                  <a:lnTo>
                    <a:pt x="287655" y="1120902"/>
                  </a:lnTo>
                  <a:lnTo>
                    <a:pt x="284480" y="1138047"/>
                  </a:lnTo>
                  <a:lnTo>
                    <a:pt x="273685" y="1124331"/>
                  </a:lnTo>
                  <a:lnTo>
                    <a:pt x="258826" y="1112901"/>
                  </a:lnTo>
                  <a:lnTo>
                    <a:pt x="239268" y="1105027"/>
                  </a:lnTo>
                  <a:lnTo>
                    <a:pt x="214503" y="1101725"/>
                  </a:lnTo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548507" y="2969514"/>
            <a:ext cx="26479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49908" y="970915"/>
            <a:ext cx="26479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86205" y="1993773"/>
            <a:ext cx="26797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957070" y="1536954"/>
            <a:ext cx="26797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409315" y="2108073"/>
            <a:ext cx="13906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519932" y="2203780"/>
            <a:ext cx="107950" cy="2197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spc="-50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04672" y="2741167"/>
            <a:ext cx="27876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62583" y="4168902"/>
            <a:ext cx="874394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620395" algn="l"/>
              </a:tabLst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875" baseline="-8888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85904" y="1887356"/>
            <a:ext cx="3181985" cy="2369185"/>
            <a:chOff x="385904" y="1887356"/>
            <a:chExt cx="3181985" cy="2369185"/>
          </a:xfrm>
        </p:grpSpPr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83750" y="2344175"/>
              <a:ext cx="85324" cy="8532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054742" y="1887356"/>
              <a:ext cx="85324" cy="8532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82095" y="2458348"/>
              <a:ext cx="85324" cy="85324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12885" y="2743717"/>
              <a:ext cx="85324" cy="85324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483750" y="4171070"/>
              <a:ext cx="85324" cy="85324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2057272" y="4173600"/>
              <a:ext cx="80645" cy="80645"/>
            </a:xfrm>
            <a:custGeom>
              <a:avLst/>
              <a:gdLst/>
              <a:ahLst/>
              <a:cxnLst/>
              <a:rect l="l" t="t" r="r" b="b"/>
              <a:pathLst>
                <a:path w="80644" h="80645">
                  <a:moveTo>
                    <a:pt x="40131" y="0"/>
                  </a:moveTo>
                  <a:lnTo>
                    <a:pt x="24510" y="3175"/>
                  </a:lnTo>
                  <a:lnTo>
                    <a:pt x="11810" y="11811"/>
                  </a:lnTo>
                  <a:lnTo>
                    <a:pt x="3175" y="24511"/>
                  </a:lnTo>
                  <a:lnTo>
                    <a:pt x="0" y="40131"/>
                  </a:lnTo>
                  <a:lnTo>
                    <a:pt x="3175" y="55753"/>
                  </a:lnTo>
                  <a:lnTo>
                    <a:pt x="11810" y="68580"/>
                  </a:lnTo>
                  <a:lnTo>
                    <a:pt x="24510" y="77088"/>
                  </a:lnTo>
                  <a:lnTo>
                    <a:pt x="40131" y="80263"/>
                  </a:lnTo>
                  <a:lnTo>
                    <a:pt x="55752" y="77088"/>
                  </a:lnTo>
                  <a:lnTo>
                    <a:pt x="68452" y="68580"/>
                  </a:lnTo>
                  <a:lnTo>
                    <a:pt x="77088" y="55753"/>
                  </a:lnTo>
                  <a:lnTo>
                    <a:pt x="80263" y="40131"/>
                  </a:lnTo>
                  <a:lnTo>
                    <a:pt x="77088" y="24511"/>
                  </a:lnTo>
                  <a:lnTo>
                    <a:pt x="68452" y="11811"/>
                  </a:lnTo>
                  <a:lnTo>
                    <a:pt x="55752" y="3175"/>
                  </a:lnTo>
                  <a:lnTo>
                    <a:pt x="40131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057272" y="4173600"/>
              <a:ext cx="80645" cy="80645"/>
            </a:xfrm>
            <a:custGeom>
              <a:avLst/>
              <a:gdLst/>
              <a:ahLst/>
              <a:cxnLst/>
              <a:rect l="l" t="t" r="r" b="b"/>
              <a:pathLst>
                <a:path w="80644" h="80645">
                  <a:moveTo>
                    <a:pt x="80263" y="40131"/>
                  </a:moveTo>
                  <a:lnTo>
                    <a:pt x="77088" y="24511"/>
                  </a:lnTo>
                  <a:lnTo>
                    <a:pt x="68452" y="11811"/>
                  </a:lnTo>
                  <a:lnTo>
                    <a:pt x="55752" y="3175"/>
                  </a:lnTo>
                  <a:lnTo>
                    <a:pt x="40131" y="0"/>
                  </a:lnTo>
                  <a:lnTo>
                    <a:pt x="24510" y="3175"/>
                  </a:lnTo>
                  <a:lnTo>
                    <a:pt x="11810" y="11811"/>
                  </a:lnTo>
                  <a:lnTo>
                    <a:pt x="3175" y="24511"/>
                  </a:lnTo>
                  <a:lnTo>
                    <a:pt x="0" y="40131"/>
                  </a:lnTo>
                  <a:lnTo>
                    <a:pt x="3175" y="55753"/>
                  </a:lnTo>
                  <a:lnTo>
                    <a:pt x="11810" y="68580"/>
                  </a:lnTo>
                  <a:lnTo>
                    <a:pt x="24510" y="77088"/>
                  </a:lnTo>
                  <a:lnTo>
                    <a:pt x="40131" y="80263"/>
                  </a:lnTo>
                  <a:lnTo>
                    <a:pt x="55752" y="77088"/>
                  </a:lnTo>
                  <a:lnTo>
                    <a:pt x="68452" y="68580"/>
                  </a:lnTo>
                  <a:lnTo>
                    <a:pt x="77088" y="55753"/>
                  </a:lnTo>
                  <a:lnTo>
                    <a:pt x="80263" y="40131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75754" y="3071875"/>
              <a:ext cx="1136650" cy="1136650"/>
            </a:xfrm>
            <a:custGeom>
              <a:avLst/>
              <a:gdLst/>
              <a:ahLst/>
              <a:cxnLst/>
              <a:rect l="l" t="t" r="r" b="b"/>
              <a:pathLst>
                <a:path w="1136650" h="1136650">
                  <a:moveTo>
                    <a:pt x="1136154" y="0"/>
                  </a:moveTo>
                  <a:lnTo>
                    <a:pt x="0" y="1136269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65489" y="4129668"/>
              <a:ext cx="88638" cy="88626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392277" y="3071875"/>
              <a:ext cx="1419860" cy="454659"/>
            </a:xfrm>
            <a:custGeom>
              <a:avLst/>
              <a:gdLst/>
              <a:ahLst/>
              <a:cxnLst/>
              <a:rect l="l" t="t" r="r" b="b"/>
              <a:pathLst>
                <a:path w="1419860" h="454660">
                  <a:moveTo>
                    <a:pt x="1419631" y="0"/>
                  </a:moveTo>
                  <a:lnTo>
                    <a:pt x="0" y="454278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85904" y="3452497"/>
              <a:ext cx="72969" cy="117978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676986" y="2390901"/>
              <a:ext cx="1135380" cy="681355"/>
            </a:xfrm>
            <a:custGeom>
              <a:avLst/>
              <a:gdLst/>
              <a:ahLst/>
              <a:cxnLst/>
              <a:rect l="l" t="t" r="r" b="b"/>
              <a:pathLst>
                <a:path w="1135380" h="681355">
                  <a:moveTo>
                    <a:pt x="1134922" y="680974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70990" y="2362325"/>
              <a:ext cx="80559" cy="106937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506981" y="2671533"/>
              <a:ext cx="308965" cy="404406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4356861" y="849883"/>
            <a:ext cx="4458335" cy="3712845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50"/>
              </a:spcBef>
            </a:pP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initialized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1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a</a:t>
            </a:r>
            <a:r>
              <a:rPr sz="1750" spc="-20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random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value</a:t>
            </a:r>
            <a:endParaRPr sz="1750">
              <a:latin typeface="Arial MT"/>
              <a:cs typeface="Arial MT"/>
            </a:endParaRPr>
          </a:p>
          <a:p>
            <a:pPr marL="40640" marR="35560" indent="-2540">
              <a:lnSpc>
                <a:spcPct val="116799"/>
              </a:lnSpc>
              <a:spcBef>
                <a:spcPts val="395"/>
              </a:spcBef>
              <a:tabLst>
                <a:tab pos="3227070" algn="l"/>
              </a:tabLst>
            </a:pP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observe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that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currently,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1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·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5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5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spc="-85" dirty="0">
                <a:solidFill>
                  <a:srgbClr val="213739"/>
                </a:solidFill>
                <a:latin typeface="Lucida Sans Unicode"/>
                <a:cs typeface="Lucida Sans Unicode"/>
              </a:rPr>
              <a:t>∵</a:t>
            </a:r>
            <a:r>
              <a:rPr sz="1750" spc="-23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angle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&gt;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90°)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for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all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positive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points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5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·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459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≥</a:t>
            </a:r>
            <a:r>
              <a:rPr sz="1750" spc="4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4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spc="-25" dirty="0">
                <a:solidFill>
                  <a:srgbClr val="213739"/>
                </a:solidFill>
                <a:latin typeface="Lucida Sans Unicode"/>
                <a:cs typeface="Lucida Sans Unicode"/>
              </a:rPr>
              <a:t>∵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angle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spc="409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90°)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for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all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negative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points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(the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situ-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ation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is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exactly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oppsite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what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actually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want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it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be)</a:t>
            </a:r>
            <a:endParaRPr sz="1750">
              <a:latin typeface="Arial MT"/>
              <a:cs typeface="Arial MT"/>
            </a:endParaRPr>
          </a:p>
          <a:p>
            <a:pPr marL="40640" marR="35560" indent="-3175">
              <a:lnSpc>
                <a:spcPct val="117700"/>
              </a:lnSpc>
              <a:spcBef>
                <a:spcPts val="495"/>
              </a:spcBef>
            </a:pPr>
            <a:r>
              <a:rPr sz="1750" spc="-16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now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run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algorithm</a:t>
            </a:r>
            <a:r>
              <a:rPr sz="1750" spc="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by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randomly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going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over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points</a:t>
            </a:r>
            <a:endParaRPr sz="1750">
              <a:latin typeface="Arial MT"/>
              <a:cs typeface="Arial MT"/>
            </a:endParaRPr>
          </a:p>
          <a:p>
            <a:pPr marL="41275" marR="30480" indent="-3810" algn="just">
              <a:lnSpc>
                <a:spcPct val="117200"/>
              </a:lnSpc>
              <a:spcBef>
                <a:spcPts val="710"/>
              </a:spcBef>
            </a:pP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Randomly</a:t>
            </a:r>
            <a:r>
              <a:rPr sz="1750" spc="-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pick</a:t>
            </a:r>
            <a:r>
              <a:rPr sz="1750" spc="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a</a:t>
            </a:r>
            <a:r>
              <a:rPr sz="1750" spc="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point</a:t>
            </a:r>
            <a:r>
              <a:rPr sz="1750" spc="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(say,</a:t>
            </a:r>
            <a:r>
              <a:rPr sz="1750" spc="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),</a:t>
            </a:r>
            <a:r>
              <a:rPr sz="1750" spc="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no</a:t>
            </a:r>
            <a:r>
              <a:rPr sz="1750" spc="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correction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needed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∵</a:t>
            </a:r>
            <a:r>
              <a:rPr sz="1750" spc="229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·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20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spc="38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b="1" spc="21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(you</a:t>
            </a:r>
            <a:r>
              <a:rPr sz="1750" spc="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can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check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angle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visually)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781415" y="5603912"/>
            <a:ext cx="196215" cy="206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spc="-25" dirty="0">
                <a:solidFill>
                  <a:srgbClr val="213739"/>
                </a:solidFill>
                <a:latin typeface="Arial MT"/>
                <a:cs typeface="Arial MT"/>
              </a:rPr>
              <a:t>40</a:t>
            </a:r>
            <a:endParaRPr sz="125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56825" y="1076578"/>
            <a:ext cx="2850515" cy="3136265"/>
            <a:chOff x="956825" y="1076578"/>
            <a:chExt cx="2850515" cy="3136265"/>
          </a:xfrm>
        </p:grpSpPr>
        <p:sp>
          <p:nvSpPr>
            <p:cNvPr id="3" name="object 3"/>
            <p:cNvSpPr/>
            <p:nvPr/>
          </p:nvSpPr>
          <p:spPr>
            <a:xfrm>
              <a:off x="1749298" y="1081658"/>
              <a:ext cx="2052955" cy="2052955"/>
            </a:xfrm>
            <a:custGeom>
              <a:avLst/>
              <a:gdLst/>
              <a:ahLst/>
              <a:cxnLst/>
              <a:rect l="l" t="t" r="r" b="b"/>
              <a:pathLst>
                <a:path w="2052954" h="2052955">
                  <a:moveTo>
                    <a:pt x="62610" y="1990216"/>
                  </a:moveTo>
                  <a:lnTo>
                    <a:pt x="2044827" y="1990216"/>
                  </a:lnTo>
                </a:path>
                <a:path w="2052954" h="2052955">
                  <a:moveTo>
                    <a:pt x="2001519" y="1927605"/>
                  </a:moveTo>
                  <a:lnTo>
                    <a:pt x="2010537" y="1952243"/>
                  </a:lnTo>
                  <a:lnTo>
                    <a:pt x="2022855" y="1970277"/>
                  </a:lnTo>
                  <a:lnTo>
                    <a:pt x="2037334" y="1982596"/>
                  </a:lnTo>
                  <a:lnTo>
                    <a:pt x="2052827" y="1990216"/>
                  </a:lnTo>
                  <a:lnTo>
                    <a:pt x="2037334" y="1997837"/>
                  </a:lnTo>
                  <a:lnTo>
                    <a:pt x="2022855" y="2010155"/>
                  </a:lnTo>
                  <a:lnTo>
                    <a:pt x="2010537" y="2028316"/>
                  </a:lnTo>
                  <a:lnTo>
                    <a:pt x="2001519" y="2052954"/>
                  </a:lnTo>
                </a:path>
                <a:path w="2052954" h="2052955">
                  <a:moveTo>
                    <a:pt x="62610" y="1990216"/>
                  </a:moveTo>
                  <a:lnTo>
                    <a:pt x="62610" y="8000"/>
                  </a:lnTo>
                </a:path>
                <a:path w="2052954" h="2052955">
                  <a:moveTo>
                    <a:pt x="0" y="51307"/>
                  </a:moveTo>
                  <a:lnTo>
                    <a:pt x="24637" y="42290"/>
                  </a:lnTo>
                  <a:lnTo>
                    <a:pt x="42671" y="30099"/>
                  </a:lnTo>
                  <a:lnTo>
                    <a:pt x="55118" y="15620"/>
                  </a:lnTo>
                  <a:lnTo>
                    <a:pt x="62610" y="0"/>
                  </a:lnTo>
                  <a:lnTo>
                    <a:pt x="70231" y="15620"/>
                  </a:lnTo>
                  <a:lnTo>
                    <a:pt x="82676" y="30099"/>
                  </a:lnTo>
                  <a:lnTo>
                    <a:pt x="100710" y="42290"/>
                  </a:lnTo>
                  <a:lnTo>
                    <a:pt x="125349" y="51307"/>
                  </a:lnTo>
                </a:path>
              </a:pathLst>
            </a:custGeom>
            <a:ln w="10122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529588" y="2394203"/>
              <a:ext cx="282575" cy="678180"/>
            </a:xfrm>
            <a:custGeom>
              <a:avLst/>
              <a:gdLst/>
              <a:ahLst/>
              <a:cxnLst/>
              <a:rect l="l" t="t" r="r" b="b"/>
              <a:pathLst>
                <a:path w="282575" h="678180">
                  <a:moveTo>
                    <a:pt x="282320" y="677672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90984" y="2387984"/>
              <a:ext cx="114418" cy="7606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811908" y="1937765"/>
              <a:ext cx="283845" cy="1134110"/>
            </a:xfrm>
            <a:custGeom>
              <a:avLst/>
              <a:gdLst/>
              <a:ahLst/>
              <a:cxnLst/>
              <a:rect l="l" t="t" r="r" b="b"/>
              <a:pathLst>
                <a:path w="283844" h="1134110">
                  <a:moveTo>
                    <a:pt x="0" y="1134110"/>
                  </a:moveTo>
                  <a:lnTo>
                    <a:pt x="283591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23881" y="1931425"/>
              <a:ext cx="119741" cy="6995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811908" y="2503550"/>
              <a:ext cx="1705610" cy="568325"/>
            </a:xfrm>
            <a:custGeom>
              <a:avLst/>
              <a:gdLst/>
              <a:ahLst/>
              <a:cxnLst/>
              <a:rect l="l" t="t" r="r" b="b"/>
              <a:pathLst>
                <a:path w="1705610" h="568325">
                  <a:moveTo>
                    <a:pt x="0" y="568325"/>
                  </a:moveTo>
                  <a:lnTo>
                    <a:pt x="1705229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50089" y="2460124"/>
              <a:ext cx="73391" cy="11733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63168" y="2788919"/>
              <a:ext cx="848994" cy="283210"/>
            </a:xfrm>
            <a:custGeom>
              <a:avLst/>
              <a:gdLst/>
              <a:ahLst/>
              <a:cxnLst/>
              <a:rect l="l" t="t" r="r" b="b"/>
              <a:pathLst>
                <a:path w="848994" h="283210">
                  <a:moveTo>
                    <a:pt x="848740" y="282955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6825" y="2745620"/>
              <a:ext cx="73314" cy="11720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528445" y="3071875"/>
              <a:ext cx="283845" cy="1134110"/>
            </a:xfrm>
            <a:custGeom>
              <a:avLst/>
              <a:gdLst/>
              <a:ahLst/>
              <a:cxnLst/>
              <a:rect l="l" t="t" r="r" b="b"/>
              <a:pathLst>
                <a:path w="283844" h="1134110">
                  <a:moveTo>
                    <a:pt x="283463" y="0"/>
                  </a:moveTo>
                  <a:lnTo>
                    <a:pt x="0" y="1134110"/>
                  </a:lnTo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80194" y="4142368"/>
              <a:ext cx="119741" cy="7008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811908" y="3071875"/>
              <a:ext cx="329565" cy="1138555"/>
            </a:xfrm>
            <a:custGeom>
              <a:avLst/>
              <a:gdLst/>
              <a:ahLst/>
              <a:cxnLst/>
              <a:rect l="l" t="t" r="r" b="b"/>
              <a:pathLst>
                <a:path w="329564" h="1138554">
                  <a:moveTo>
                    <a:pt x="0" y="0"/>
                  </a:moveTo>
                  <a:lnTo>
                    <a:pt x="283591" y="1134110"/>
                  </a:lnTo>
                </a:path>
                <a:path w="329564" h="1138554">
                  <a:moveTo>
                    <a:pt x="329184" y="1073023"/>
                  </a:moveTo>
                  <a:lnTo>
                    <a:pt x="308864" y="1087628"/>
                  </a:lnTo>
                  <a:lnTo>
                    <a:pt x="295402" y="1103757"/>
                  </a:lnTo>
                  <a:lnTo>
                    <a:pt x="287655" y="1120902"/>
                  </a:lnTo>
                  <a:lnTo>
                    <a:pt x="284480" y="1138047"/>
                  </a:lnTo>
                  <a:lnTo>
                    <a:pt x="273685" y="1124331"/>
                  </a:lnTo>
                  <a:lnTo>
                    <a:pt x="258826" y="1112901"/>
                  </a:lnTo>
                  <a:lnTo>
                    <a:pt x="239268" y="1105027"/>
                  </a:lnTo>
                  <a:lnTo>
                    <a:pt x="214503" y="1101725"/>
                  </a:lnTo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548507" y="2969514"/>
            <a:ext cx="26479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49908" y="970915"/>
            <a:ext cx="26479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86205" y="1993773"/>
            <a:ext cx="26797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957070" y="1536954"/>
            <a:ext cx="26797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409315" y="2108073"/>
            <a:ext cx="13906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519932" y="2203780"/>
            <a:ext cx="107950" cy="2197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spc="-50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04672" y="2741167"/>
            <a:ext cx="27876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62583" y="4168902"/>
            <a:ext cx="874394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620395" algn="l"/>
              </a:tabLst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875" baseline="-8888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85904" y="1887356"/>
            <a:ext cx="3181985" cy="2369185"/>
            <a:chOff x="385904" y="1887356"/>
            <a:chExt cx="3181985" cy="2369185"/>
          </a:xfrm>
        </p:grpSpPr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83750" y="2344175"/>
              <a:ext cx="85324" cy="8532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054742" y="1887356"/>
              <a:ext cx="85324" cy="8532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82095" y="2458348"/>
              <a:ext cx="85324" cy="85324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12885" y="2743717"/>
              <a:ext cx="85324" cy="85324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483750" y="4171070"/>
              <a:ext cx="85324" cy="85324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2057272" y="4173600"/>
              <a:ext cx="80645" cy="80645"/>
            </a:xfrm>
            <a:custGeom>
              <a:avLst/>
              <a:gdLst/>
              <a:ahLst/>
              <a:cxnLst/>
              <a:rect l="l" t="t" r="r" b="b"/>
              <a:pathLst>
                <a:path w="80644" h="80645">
                  <a:moveTo>
                    <a:pt x="40131" y="0"/>
                  </a:moveTo>
                  <a:lnTo>
                    <a:pt x="24510" y="3175"/>
                  </a:lnTo>
                  <a:lnTo>
                    <a:pt x="11810" y="11811"/>
                  </a:lnTo>
                  <a:lnTo>
                    <a:pt x="3175" y="24511"/>
                  </a:lnTo>
                  <a:lnTo>
                    <a:pt x="0" y="40131"/>
                  </a:lnTo>
                  <a:lnTo>
                    <a:pt x="3175" y="55753"/>
                  </a:lnTo>
                  <a:lnTo>
                    <a:pt x="11810" y="68580"/>
                  </a:lnTo>
                  <a:lnTo>
                    <a:pt x="24510" y="77088"/>
                  </a:lnTo>
                  <a:lnTo>
                    <a:pt x="40131" y="80263"/>
                  </a:lnTo>
                  <a:lnTo>
                    <a:pt x="55752" y="77088"/>
                  </a:lnTo>
                  <a:lnTo>
                    <a:pt x="68452" y="68580"/>
                  </a:lnTo>
                  <a:lnTo>
                    <a:pt x="77088" y="55753"/>
                  </a:lnTo>
                  <a:lnTo>
                    <a:pt x="80263" y="40131"/>
                  </a:lnTo>
                  <a:lnTo>
                    <a:pt x="77088" y="24511"/>
                  </a:lnTo>
                  <a:lnTo>
                    <a:pt x="68452" y="11811"/>
                  </a:lnTo>
                  <a:lnTo>
                    <a:pt x="55752" y="3175"/>
                  </a:lnTo>
                  <a:lnTo>
                    <a:pt x="40131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057272" y="4173600"/>
              <a:ext cx="80645" cy="80645"/>
            </a:xfrm>
            <a:custGeom>
              <a:avLst/>
              <a:gdLst/>
              <a:ahLst/>
              <a:cxnLst/>
              <a:rect l="l" t="t" r="r" b="b"/>
              <a:pathLst>
                <a:path w="80644" h="80645">
                  <a:moveTo>
                    <a:pt x="80263" y="40131"/>
                  </a:moveTo>
                  <a:lnTo>
                    <a:pt x="77088" y="24511"/>
                  </a:lnTo>
                  <a:lnTo>
                    <a:pt x="68452" y="11811"/>
                  </a:lnTo>
                  <a:lnTo>
                    <a:pt x="55752" y="3175"/>
                  </a:lnTo>
                  <a:lnTo>
                    <a:pt x="40131" y="0"/>
                  </a:lnTo>
                  <a:lnTo>
                    <a:pt x="24510" y="3175"/>
                  </a:lnTo>
                  <a:lnTo>
                    <a:pt x="11810" y="11811"/>
                  </a:lnTo>
                  <a:lnTo>
                    <a:pt x="3175" y="24511"/>
                  </a:lnTo>
                  <a:lnTo>
                    <a:pt x="0" y="40131"/>
                  </a:lnTo>
                  <a:lnTo>
                    <a:pt x="3175" y="55753"/>
                  </a:lnTo>
                  <a:lnTo>
                    <a:pt x="11810" y="68580"/>
                  </a:lnTo>
                  <a:lnTo>
                    <a:pt x="24510" y="77088"/>
                  </a:lnTo>
                  <a:lnTo>
                    <a:pt x="40131" y="80263"/>
                  </a:lnTo>
                  <a:lnTo>
                    <a:pt x="55752" y="77088"/>
                  </a:lnTo>
                  <a:lnTo>
                    <a:pt x="68452" y="68580"/>
                  </a:lnTo>
                  <a:lnTo>
                    <a:pt x="77088" y="55753"/>
                  </a:lnTo>
                  <a:lnTo>
                    <a:pt x="80263" y="40131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75754" y="3071875"/>
              <a:ext cx="1136650" cy="1136650"/>
            </a:xfrm>
            <a:custGeom>
              <a:avLst/>
              <a:gdLst/>
              <a:ahLst/>
              <a:cxnLst/>
              <a:rect l="l" t="t" r="r" b="b"/>
              <a:pathLst>
                <a:path w="1136650" h="1136650">
                  <a:moveTo>
                    <a:pt x="1136154" y="0"/>
                  </a:moveTo>
                  <a:lnTo>
                    <a:pt x="0" y="1136269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65489" y="4129668"/>
              <a:ext cx="88638" cy="88626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392277" y="3071875"/>
              <a:ext cx="1419860" cy="454659"/>
            </a:xfrm>
            <a:custGeom>
              <a:avLst/>
              <a:gdLst/>
              <a:ahLst/>
              <a:cxnLst/>
              <a:rect l="l" t="t" r="r" b="b"/>
              <a:pathLst>
                <a:path w="1419860" h="454660">
                  <a:moveTo>
                    <a:pt x="1419631" y="0"/>
                  </a:moveTo>
                  <a:lnTo>
                    <a:pt x="0" y="454278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85904" y="3452497"/>
              <a:ext cx="72969" cy="117978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676986" y="2390901"/>
              <a:ext cx="1135380" cy="681355"/>
            </a:xfrm>
            <a:custGeom>
              <a:avLst/>
              <a:gdLst/>
              <a:ahLst/>
              <a:cxnLst/>
              <a:rect l="l" t="t" r="r" b="b"/>
              <a:pathLst>
                <a:path w="1135380" h="681355">
                  <a:moveTo>
                    <a:pt x="1134922" y="680974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70990" y="2362325"/>
              <a:ext cx="80559" cy="106937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506981" y="2671533"/>
              <a:ext cx="308965" cy="404406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4356861" y="849883"/>
            <a:ext cx="4458335" cy="3712845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50"/>
              </a:spcBef>
            </a:pP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initialized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1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a</a:t>
            </a:r>
            <a:r>
              <a:rPr sz="1750" spc="-20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random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value</a:t>
            </a:r>
            <a:endParaRPr sz="1750">
              <a:latin typeface="Arial MT"/>
              <a:cs typeface="Arial MT"/>
            </a:endParaRPr>
          </a:p>
          <a:p>
            <a:pPr marL="40640" marR="35560" indent="-2540">
              <a:lnSpc>
                <a:spcPct val="116799"/>
              </a:lnSpc>
              <a:spcBef>
                <a:spcPts val="395"/>
              </a:spcBef>
              <a:tabLst>
                <a:tab pos="3227070" algn="l"/>
              </a:tabLst>
            </a:pP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observe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that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currently,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1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·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5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5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spc="-85" dirty="0">
                <a:solidFill>
                  <a:srgbClr val="213739"/>
                </a:solidFill>
                <a:latin typeface="Lucida Sans Unicode"/>
                <a:cs typeface="Lucida Sans Unicode"/>
              </a:rPr>
              <a:t>∵</a:t>
            </a:r>
            <a:r>
              <a:rPr sz="1750" spc="-23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angle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&gt;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90°)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for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all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positive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points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5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·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459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≥</a:t>
            </a:r>
            <a:r>
              <a:rPr sz="1750" spc="4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4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spc="-25" dirty="0">
                <a:solidFill>
                  <a:srgbClr val="213739"/>
                </a:solidFill>
                <a:latin typeface="Lucida Sans Unicode"/>
                <a:cs typeface="Lucida Sans Unicode"/>
              </a:rPr>
              <a:t>∵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angle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spc="409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90°)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for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all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negative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points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(the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situ-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ation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is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exactly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oppsite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what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actually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want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it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be)</a:t>
            </a:r>
            <a:endParaRPr sz="1750">
              <a:latin typeface="Arial MT"/>
              <a:cs typeface="Arial MT"/>
            </a:endParaRPr>
          </a:p>
          <a:p>
            <a:pPr marL="40640" marR="35560" indent="-3175">
              <a:lnSpc>
                <a:spcPct val="117700"/>
              </a:lnSpc>
              <a:spcBef>
                <a:spcPts val="495"/>
              </a:spcBef>
            </a:pPr>
            <a:r>
              <a:rPr sz="1750" spc="-16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now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run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algorithm</a:t>
            </a:r>
            <a:r>
              <a:rPr sz="1750" spc="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by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randomly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going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over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points</a:t>
            </a:r>
            <a:endParaRPr sz="1750">
              <a:latin typeface="Arial MT"/>
              <a:cs typeface="Arial MT"/>
            </a:endParaRPr>
          </a:p>
          <a:p>
            <a:pPr marL="41275" marR="30480" indent="-3810" algn="just">
              <a:lnSpc>
                <a:spcPct val="117200"/>
              </a:lnSpc>
              <a:spcBef>
                <a:spcPts val="710"/>
              </a:spcBef>
            </a:pP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Randomly</a:t>
            </a:r>
            <a:r>
              <a:rPr sz="1750" spc="-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pick</a:t>
            </a:r>
            <a:r>
              <a:rPr sz="1750" spc="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a</a:t>
            </a:r>
            <a:r>
              <a:rPr sz="1750" spc="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point</a:t>
            </a:r>
            <a:r>
              <a:rPr sz="1750" spc="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(say,</a:t>
            </a:r>
            <a:r>
              <a:rPr sz="1750" spc="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),</a:t>
            </a:r>
            <a:r>
              <a:rPr sz="1750" spc="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no</a:t>
            </a:r>
            <a:r>
              <a:rPr sz="1750" spc="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correction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needed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∵</a:t>
            </a:r>
            <a:r>
              <a:rPr sz="1750" spc="229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·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20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spc="38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b="1" spc="21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(you</a:t>
            </a:r>
            <a:r>
              <a:rPr sz="1750" spc="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can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check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angle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visually)</a:t>
            </a:r>
            <a:endParaRPr sz="1750">
              <a:latin typeface="Arial MT"/>
              <a:cs typeface="Arial MT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8416950" y="4707503"/>
            <a:ext cx="38100" cy="38100"/>
            <a:chOff x="8416950" y="4707503"/>
            <a:chExt cx="38100" cy="38100"/>
          </a:xfrm>
        </p:grpSpPr>
        <p:sp>
          <p:nvSpPr>
            <p:cNvPr id="40" name="object 40"/>
            <p:cNvSpPr/>
            <p:nvPr/>
          </p:nvSpPr>
          <p:spPr>
            <a:xfrm>
              <a:off x="8429650" y="4720203"/>
              <a:ext cx="12700" cy="12700"/>
            </a:xfrm>
            <a:custGeom>
              <a:avLst/>
              <a:gdLst/>
              <a:ahLst/>
              <a:cxnLst/>
              <a:rect l="l" t="t" r="r" b="b"/>
              <a:pathLst>
                <a:path w="12700" h="12700">
                  <a:moveTo>
                    <a:pt x="9878" y="0"/>
                  </a:moveTo>
                  <a:lnTo>
                    <a:pt x="6350" y="0"/>
                  </a:lnTo>
                  <a:lnTo>
                    <a:pt x="2821" y="0"/>
                  </a:lnTo>
                  <a:lnTo>
                    <a:pt x="0" y="2821"/>
                  </a:lnTo>
                  <a:lnTo>
                    <a:pt x="0" y="9876"/>
                  </a:lnTo>
                  <a:lnTo>
                    <a:pt x="2821" y="12700"/>
                  </a:lnTo>
                  <a:lnTo>
                    <a:pt x="9878" y="12700"/>
                  </a:lnTo>
                  <a:lnTo>
                    <a:pt x="12700" y="9876"/>
                  </a:lnTo>
                  <a:lnTo>
                    <a:pt x="12700" y="2821"/>
                  </a:lnTo>
                  <a:lnTo>
                    <a:pt x="987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8429650" y="4720203"/>
              <a:ext cx="12700" cy="12700"/>
            </a:xfrm>
            <a:custGeom>
              <a:avLst/>
              <a:gdLst/>
              <a:ahLst/>
              <a:cxnLst/>
              <a:rect l="l" t="t" r="r" b="b"/>
              <a:pathLst>
                <a:path w="12700" h="12700">
                  <a:moveTo>
                    <a:pt x="6350" y="0"/>
                  </a:moveTo>
                  <a:lnTo>
                    <a:pt x="9878" y="0"/>
                  </a:lnTo>
                  <a:lnTo>
                    <a:pt x="12700" y="2821"/>
                  </a:lnTo>
                  <a:lnTo>
                    <a:pt x="12700" y="6350"/>
                  </a:lnTo>
                  <a:lnTo>
                    <a:pt x="12700" y="9876"/>
                  </a:lnTo>
                  <a:lnTo>
                    <a:pt x="9878" y="12700"/>
                  </a:lnTo>
                  <a:lnTo>
                    <a:pt x="6350" y="12700"/>
                  </a:lnTo>
                  <a:lnTo>
                    <a:pt x="2821" y="12700"/>
                  </a:lnTo>
                  <a:lnTo>
                    <a:pt x="0" y="9876"/>
                  </a:lnTo>
                  <a:lnTo>
                    <a:pt x="0" y="6350"/>
                  </a:lnTo>
                  <a:lnTo>
                    <a:pt x="0" y="2821"/>
                  </a:lnTo>
                  <a:lnTo>
                    <a:pt x="2821" y="0"/>
                  </a:lnTo>
                  <a:lnTo>
                    <a:pt x="6350" y="0"/>
                  </a:lnTo>
                  <a:close/>
                </a:path>
              </a:pathLst>
            </a:custGeom>
            <a:ln w="25400">
              <a:solidFill>
                <a:srgbClr val="DB33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8781415" y="5603912"/>
            <a:ext cx="196215" cy="206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spc="-25" dirty="0">
                <a:solidFill>
                  <a:srgbClr val="213739"/>
                </a:solidFill>
                <a:latin typeface="Arial MT"/>
                <a:cs typeface="Arial MT"/>
              </a:rPr>
              <a:t>40</a:t>
            </a:r>
            <a:endParaRPr sz="125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56825" y="1076578"/>
            <a:ext cx="2850515" cy="3136265"/>
            <a:chOff x="956825" y="1076578"/>
            <a:chExt cx="2850515" cy="3136265"/>
          </a:xfrm>
        </p:grpSpPr>
        <p:sp>
          <p:nvSpPr>
            <p:cNvPr id="3" name="object 3"/>
            <p:cNvSpPr/>
            <p:nvPr/>
          </p:nvSpPr>
          <p:spPr>
            <a:xfrm>
              <a:off x="1749298" y="1081658"/>
              <a:ext cx="2052955" cy="2052955"/>
            </a:xfrm>
            <a:custGeom>
              <a:avLst/>
              <a:gdLst/>
              <a:ahLst/>
              <a:cxnLst/>
              <a:rect l="l" t="t" r="r" b="b"/>
              <a:pathLst>
                <a:path w="2052954" h="2052955">
                  <a:moveTo>
                    <a:pt x="62610" y="1990216"/>
                  </a:moveTo>
                  <a:lnTo>
                    <a:pt x="2044827" y="1990216"/>
                  </a:lnTo>
                </a:path>
                <a:path w="2052954" h="2052955">
                  <a:moveTo>
                    <a:pt x="2001519" y="1927605"/>
                  </a:moveTo>
                  <a:lnTo>
                    <a:pt x="2010537" y="1952243"/>
                  </a:lnTo>
                  <a:lnTo>
                    <a:pt x="2022855" y="1970277"/>
                  </a:lnTo>
                  <a:lnTo>
                    <a:pt x="2037334" y="1982596"/>
                  </a:lnTo>
                  <a:lnTo>
                    <a:pt x="2052827" y="1990216"/>
                  </a:lnTo>
                  <a:lnTo>
                    <a:pt x="2037334" y="1997837"/>
                  </a:lnTo>
                  <a:lnTo>
                    <a:pt x="2022855" y="2010155"/>
                  </a:lnTo>
                  <a:lnTo>
                    <a:pt x="2010537" y="2028316"/>
                  </a:lnTo>
                  <a:lnTo>
                    <a:pt x="2001519" y="2052954"/>
                  </a:lnTo>
                </a:path>
                <a:path w="2052954" h="2052955">
                  <a:moveTo>
                    <a:pt x="62610" y="1990216"/>
                  </a:moveTo>
                  <a:lnTo>
                    <a:pt x="62610" y="8000"/>
                  </a:lnTo>
                </a:path>
                <a:path w="2052954" h="2052955">
                  <a:moveTo>
                    <a:pt x="0" y="51307"/>
                  </a:moveTo>
                  <a:lnTo>
                    <a:pt x="24637" y="42290"/>
                  </a:lnTo>
                  <a:lnTo>
                    <a:pt x="42671" y="30099"/>
                  </a:lnTo>
                  <a:lnTo>
                    <a:pt x="55118" y="15620"/>
                  </a:lnTo>
                  <a:lnTo>
                    <a:pt x="62610" y="0"/>
                  </a:lnTo>
                  <a:lnTo>
                    <a:pt x="70231" y="15620"/>
                  </a:lnTo>
                  <a:lnTo>
                    <a:pt x="82676" y="30099"/>
                  </a:lnTo>
                  <a:lnTo>
                    <a:pt x="100710" y="42290"/>
                  </a:lnTo>
                  <a:lnTo>
                    <a:pt x="125349" y="51307"/>
                  </a:lnTo>
                </a:path>
              </a:pathLst>
            </a:custGeom>
            <a:ln w="10122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529588" y="2394203"/>
              <a:ext cx="282575" cy="678180"/>
            </a:xfrm>
            <a:custGeom>
              <a:avLst/>
              <a:gdLst/>
              <a:ahLst/>
              <a:cxnLst/>
              <a:rect l="l" t="t" r="r" b="b"/>
              <a:pathLst>
                <a:path w="282575" h="678180">
                  <a:moveTo>
                    <a:pt x="282320" y="677672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90984" y="2387984"/>
              <a:ext cx="114418" cy="7606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811908" y="1937765"/>
              <a:ext cx="283845" cy="1134110"/>
            </a:xfrm>
            <a:custGeom>
              <a:avLst/>
              <a:gdLst/>
              <a:ahLst/>
              <a:cxnLst/>
              <a:rect l="l" t="t" r="r" b="b"/>
              <a:pathLst>
                <a:path w="283844" h="1134110">
                  <a:moveTo>
                    <a:pt x="0" y="1134110"/>
                  </a:moveTo>
                  <a:lnTo>
                    <a:pt x="283591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23881" y="1931425"/>
              <a:ext cx="119741" cy="6995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811908" y="2503550"/>
              <a:ext cx="1705610" cy="568325"/>
            </a:xfrm>
            <a:custGeom>
              <a:avLst/>
              <a:gdLst/>
              <a:ahLst/>
              <a:cxnLst/>
              <a:rect l="l" t="t" r="r" b="b"/>
              <a:pathLst>
                <a:path w="1705610" h="568325">
                  <a:moveTo>
                    <a:pt x="0" y="568325"/>
                  </a:moveTo>
                  <a:lnTo>
                    <a:pt x="1705229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50089" y="2460124"/>
              <a:ext cx="73391" cy="11733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63168" y="2788919"/>
              <a:ext cx="848994" cy="283210"/>
            </a:xfrm>
            <a:custGeom>
              <a:avLst/>
              <a:gdLst/>
              <a:ahLst/>
              <a:cxnLst/>
              <a:rect l="l" t="t" r="r" b="b"/>
              <a:pathLst>
                <a:path w="848994" h="283210">
                  <a:moveTo>
                    <a:pt x="848740" y="282955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6825" y="2745620"/>
              <a:ext cx="73314" cy="11720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528445" y="3071875"/>
              <a:ext cx="283845" cy="1134110"/>
            </a:xfrm>
            <a:custGeom>
              <a:avLst/>
              <a:gdLst/>
              <a:ahLst/>
              <a:cxnLst/>
              <a:rect l="l" t="t" r="r" b="b"/>
              <a:pathLst>
                <a:path w="283844" h="1134110">
                  <a:moveTo>
                    <a:pt x="283463" y="0"/>
                  </a:moveTo>
                  <a:lnTo>
                    <a:pt x="0" y="1134110"/>
                  </a:lnTo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80194" y="4142368"/>
              <a:ext cx="119741" cy="7008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811908" y="3071875"/>
              <a:ext cx="329565" cy="1138555"/>
            </a:xfrm>
            <a:custGeom>
              <a:avLst/>
              <a:gdLst/>
              <a:ahLst/>
              <a:cxnLst/>
              <a:rect l="l" t="t" r="r" b="b"/>
              <a:pathLst>
                <a:path w="329564" h="1138554">
                  <a:moveTo>
                    <a:pt x="0" y="0"/>
                  </a:moveTo>
                  <a:lnTo>
                    <a:pt x="283591" y="1134110"/>
                  </a:lnTo>
                </a:path>
                <a:path w="329564" h="1138554">
                  <a:moveTo>
                    <a:pt x="329184" y="1073023"/>
                  </a:moveTo>
                  <a:lnTo>
                    <a:pt x="308864" y="1087628"/>
                  </a:lnTo>
                  <a:lnTo>
                    <a:pt x="295402" y="1103757"/>
                  </a:lnTo>
                  <a:lnTo>
                    <a:pt x="287655" y="1120902"/>
                  </a:lnTo>
                  <a:lnTo>
                    <a:pt x="284480" y="1138047"/>
                  </a:lnTo>
                  <a:lnTo>
                    <a:pt x="273685" y="1124331"/>
                  </a:lnTo>
                  <a:lnTo>
                    <a:pt x="258826" y="1112901"/>
                  </a:lnTo>
                  <a:lnTo>
                    <a:pt x="239268" y="1105027"/>
                  </a:lnTo>
                  <a:lnTo>
                    <a:pt x="214503" y="1101725"/>
                  </a:lnTo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548507" y="2969514"/>
            <a:ext cx="26479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49908" y="970915"/>
            <a:ext cx="26479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86205" y="1993773"/>
            <a:ext cx="26797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957070" y="1536954"/>
            <a:ext cx="26797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409315" y="2108073"/>
            <a:ext cx="13906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519932" y="2203780"/>
            <a:ext cx="107950" cy="2197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spc="-50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04672" y="2741167"/>
            <a:ext cx="27876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62583" y="4168902"/>
            <a:ext cx="874394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620395" algn="l"/>
              </a:tabLst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875" baseline="-8888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85904" y="1887356"/>
            <a:ext cx="3181985" cy="2369185"/>
            <a:chOff x="385904" y="1887356"/>
            <a:chExt cx="3181985" cy="2369185"/>
          </a:xfrm>
        </p:grpSpPr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83750" y="2344175"/>
              <a:ext cx="85324" cy="8532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054742" y="1887356"/>
              <a:ext cx="85324" cy="8532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82095" y="2458348"/>
              <a:ext cx="85324" cy="85324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12885" y="2743717"/>
              <a:ext cx="85324" cy="85324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483750" y="4171070"/>
              <a:ext cx="85324" cy="85324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2057272" y="4173600"/>
              <a:ext cx="80645" cy="80645"/>
            </a:xfrm>
            <a:custGeom>
              <a:avLst/>
              <a:gdLst/>
              <a:ahLst/>
              <a:cxnLst/>
              <a:rect l="l" t="t" r="r" b="b"/>
              <a:pathLst>
                <a:path w="80644" h="80645">
                  <a:moveTo>
                    <a:pt x="40131" y="0"/>
                  </a:moveTo>
                  <a:lnTo>
                    <a:pt x="24510" y="3175"/>
                  </a:lnTo>
                  <a:lnTo>
                    <a:pt x="11810" y="11811"/>
                  </a:lnTo>
                  <a:lnTo>
                    <a:pt x="3175" y="24511"/>
                  </a:lnTo>
                  <a:lnTo>
                    <a:pt x="0" y="40131"/>
                  </a:lnTo>
                  <a:lnTo>
                    <a:pt x="3175" y="55753"/>
                  </a:lnTo>
                  <a:lnTo>
                    <a:pt x="11810" y="68580"/>
                  </a:lnTo>
                  <a:lnTo>
                    <a:pt x="24510" y="77088"/>
                  </a:lnTo>
                  <a:lnTo>
                    <a:pt x="40131" y="80263"/>
                  </a:lnTo>
                  <a:lnTo>
                    <a:pt x="55752" y="77088"/>
                  </a:lnTo>
                  <a:lnTo>
                    <a:pt x="68452" y="68580"/>
                  </a:lnTo>
                  <a:lnTo>
                    <a:pt x="77088" y="55753"/>
                  </a:lnTo>
                  <a:lnTo>
                    <a:pt x="80263" y="40131"/>
                  </a:lnTo>
                  <a:lnTo>
                    <a:pt x="77088" y="24511"/>
                  </a:lnTo>
                  <a:lnTo>
                    <a:pt x="68452" y="11811"/>
                  </a:lnTo>
                  <a:lnTo>
                    <a:pt x="55752" y="3175"/>
                  </a:lnTo>
                  <a:lnTo>
                    <a:pt x="40131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057272" y="4173600"/>
              <a:ext cx="80645" cy="80645"/>
            </a:xfrm>
            <a:custGeom>
              <a:avLst/>
              <a:gdLst/>
              <a:ahLst/>
              <a:cxnLst/>
              <a:rect l="l" t="t" r="r" b="b"/>
              <a:pathLst>
                <a:path w="80644" h="80645">
                  <a:moveTo>
                    <a:pt x="80263" y="40131"/>
                  </a:moveTo>
                  <a:lnTo>
                    <a:pt x="77088" y="24511"/>
                  </a:lnTo>
                  <a:lnTo>
                    <a:pt x="68452" y="11811"/>
                  </a:lnTo>
                  <a:lnTo>
                    <a:pt x="55752" y="3175"/>
                  </a:lnTo>
                  <a:lnTo>
                    <a:pt x="40131" y="0"/>
                  </a:lnTo>
                  <a:lnTo>
                    <a:pt x="24510" y="3175"/>
                  </a:lnTo>
                  <a:lnTo>
                    <a:pt x="11810" y="11811"/>
                  </a:lnTo>
                  <a:lnTo>
                    <a:pt x="3175" y="24511"/>
                  </a:lnTo>
                  <a:lnTo>
                    <a:pt x="0" y="40131"/>
                  </a:lnTo>
                  <a:lnTo>
                    <a:pt x="3175" y="55753"/>
                  </a:lnTo>
                  <a:lnTo>
                    <a:pt x="11810" y="68580"/>
                  </a:lnTo>
                  <a:lnTo>
                    <a:pt x="24510" y="77088"/>
                  </a:lnTo>
                  <a:lnTo>
                    <a:pt x="40131" y="80263"/>
                  </a:lnTo>
                  <a:lnTo>
                    <a:pt x="55752" y="77088"/>
                  </a:lnTo>
                  <a:lnTo>
                    <a:pt x="68452" y="68580"/>
                  </a:lnTo>
                  <a:lnTo>
                    <a:pt x="77088" y="55753"/>
                  </a:lnTo>
                  <a:lnTo>
                    <a:pt x="80263" y="40131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75754" y="3071875"/>
              <a:ext cx="1136650" cy="1136650"/>
            </a:xfrm>
            <a:custGeom>
              <a:avLst/>
              <a:gdLst/>
              <a:ahLst/>
              <a:cxnLst/>
              <a:rect l="l" t="t" r="r" b="b"/>
              <a:pathLst>
                <a:path w="1136650" h="1136650">
                  <a:moveTo>
                    <a:pt x="1136154" y="0"/>
                  </a:moveTo>
                  <a:lnTo>
                    <a:pt x="0" y="1136269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65489" y="4129668"/>
              <a:ext cx="88638" cy="88626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392277" y="3071875"/>
              <a:ext cx="1419860" cy="454659"/>
            </a:xfrm>
            <a:custGeom>
              <a:avLst/>
              <a:gdLst/>
              <a:ahLst/>
              <a:cxnLst/>
              <a:rect l="l" t="t" r="r" b="b"/>
              <a:pathLst>
                <a:path w="1419860" h="454660">
                  <a:moveTo>
                    <a:pt x="1419631" y="0"/>
                  </a:moveTo>
                  <a:lnTo>
                    <a:pt x="0" y="454278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85904" y="3452497"/>
              <a:ext cx="72969" cy="117978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676986" y="2390901"/>
              <a:ext cx="1135380" cy="681355"/>
            </a:xfrm>
            <a:custGeom>
              <a:avLst/>
              <a:gdLst/>
              <a:ahLst/>
              <a:cxnLst/>
              <a:rect l="l" t="t" r="r" b="b"/>
              <a:pathLst>
                <a:path w="1135380" h="681355">
                  <a:moveTo>
                    <a:pt x="1134922" y="680974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70990" y="2362325"/>
              <a:ext cx="80559" cy="106937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506981" y="2671533"/>
              <a:ext cx="308965" cy="404406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4356861" y="849883"/>
            <a:ext cx="4458335" cy="3712845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50"/>
              </a:spcBef>
            </a:pP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initialized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1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a</a:t>
            </a:r>
            <a:r>
              <a:rPr sz="1750" spc="-20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random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value</a:t>
            </a:r>
            <a:endParaRPr sz="1750">
              <a:latin typeface="Arial MT"/>
              <a:cs typeface="Arial MT"/>
            </a:endParaRPr>
          </a:p>
          <a:p>
            <a:pPr marL="40640" marR="35560" indent="-2540">
              <a:lnSpc>
                <a:spcPct val="116799"/>
              </a:lnSpc>
              <a:spcBef>
                <a:spcPts val="395"/>
              </a:spcBef>
              <a:tabLst>
                <a:tab pos="3227070" algn="l"/>
              </a:tabLst>
            </a:pP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observe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that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currently,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1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·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5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5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spc="-85" dirty="0">
                <a:solidFill>
                  <a:srgbClr val="213739"/>
                </a:solidFill>
                <a:latin typeface="Lucida Sans Unicode"/>
                <a:cs typeface="Lucida Sans Unicode"/>
              </a:rPr>
              <a:t>∵</a:t>
            </a:r>
            <a:r>
              <a:rPr sz="1750" spc="-23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angle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&gt;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90°)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for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all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positive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points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5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·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459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≥</a:t>
            </a:r>
            <a:r>
              <a:rPr sz="1750" spc="4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4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spc="-25" dirty="0">
                <a:solidFill>
                  <a:srgbClr val="213739"/>
                </a:solidFill>
                <a:latin typeface="Lucida Sans Unicode"/>
                <a:cs typeface="Lucida Sans Unicode"/>
              </a:rPr>
              <a:t>∵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angle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spc="409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90°)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for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all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negative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points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(the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situ-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ation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is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exactly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oppsite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what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actually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want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it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be)</a:t>
            </a:r>
            <a:endParaRPr sz="1750">
              <a:latin typeface="Arial MT"/>
              <a:cs typeface="Arial MT"/>
            </a:endParaRPr>
          </a:p>
          <a:p>
            <a:pPr marL="40640" marR="35560" indent="-3175">
              <a:lnSpc>
                <a:spcPct val="117700"/>
              </a:lnSpc>
              <a:spcBef>
                <a:spcPts val="495"/>
              </a:spcBef>
            </a:pPr>
            <a:r>
              <a:rPr sz="1750" spc="-16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now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run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algorithm</a:t>
            </a:r>
            <a:r>
              <a:rPr sz="1750" spc="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by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randomly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going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over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points</a:t>
            </a:r>
            <a:endParaRPr sz="1750">
              <a:latin typeface="Arial MT"/>
              <a:cs typeface="Arial MT"/>
            </a:endParaRPr>
          </a:p>
          <a:p>
            <a:pPr marL="41275" marR="30480" indent="-3810" algn="just">
              <a:lnSpc>
                <a:spcPct val="117200"/>
              </a:lnSpc>
              <a:spcBef>
                <a:spcPts val="710"/>
              </a:spcBef>
            </a:pP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Randomly</a:t>
            </a:r>
            <a:r>
              <a:rPr sz="1750" spc="-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pick</a:t>
            </a:r>
            <a:r>
              <a:rPr sz="1750" spc="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a</a:t>
            </a:r>
            <a:r>
              <a:rPr sz="1750" spc="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point</a:t>
            </a:r>
            <a:r>
              <a:rPr sz="1750" spc="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(say,</a:t>
            </a:r>
            <a:r>
              <a:rPr sz="1750" spc="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),</a:t>
            </a:r>
            <a:r>
              <a:rPr sz="1750" spc="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no</a:t>
            </a:r>
            <a:r>
              <a:rPr sz="1750" spc="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correction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needed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∵</a:t>
            </a:r>
            <a:r>
              <a:rPr sz="1750" spc="229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·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20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spc="38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b="1" spc="21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(you</a:t>
            </a:r>
            <a:r>
              <a:rPr sz="1750" spc="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can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check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angle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visually)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781415" y="5603912"/>
            <a:ext cx="196215" cy="206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spc="-25" dirty="0">
                <a:solidFill>
                  <a:srgbClr val="213739"/>
                </a:solidFill>
                <a:latin typeface="Arial MT"/>
                <a:cs typeface="Arial MT"/>
              </a:rPr>
              <a:t>40</a:t>
            </a:r>
            <a:endParaRPr sz="125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56825" y="1076578"/>
            <a:ext cx="2850515" cy="3136265"/>
            <a:chOff x="956825" y="1076578"/>
            <a:chExt cx="2850515" cy="3136265"/>
          </a:xfrm>
        </p:grpSpPr>
        <p:sp>
          <p:nvSpPr>
            <p:cNvPr id="3" name="object 3"/>
            <p:cNvSpPr/>
            <p:nvPr/>
          </p:nvSpPr>
          <p:spPr>
            <a:xfrm>
              <a:off x="1749298" y="1081658"/>
              <a:ext cx="2052955" cy="2052955"/>
            </a:xfrm>
            <a:custGeom>
              <a:avLst/>
              <a:gdLst/>
              <a:ahLst/>
              <a:cxnLst/>
              <a:rect l="l" t="t" r="r" b="b"/>
              <a:pathLst>
                <a:path w="2052954" h="2052955">
                  <a:moveTo>
                    <a:pt x="62610" y="1990216"/>
                  </a:moveTo>
                  <a:lnTo>
                    <a:pt x="2044827" y="1990216"/>
                  </a:lnTo>
                </a:path>
                <a:path w="2052954" h="2052955">
                  <a:moveTo>
                    <a:pt x="2001519" y="1927605"/>
                  </a:moveTo>
                  <a:lnTo>
                    <a:pt x="2010537" y="1952243"/>
                  </a:lnTo>
                  <a:lnTo>
                    <a:pt x="2022855" y="1970277"/>
                  </a:lnTo>
                  <a:lnTo>
                    <a:pt x="2037334" y="1982596"/>
                  </a:lnTo>
                  <a:lnTo>
                    <a:pt x="2052827" y="1990216"/>
                  </a:lnTo>
                  <a:lnTo>
                    <a:pt x="2037334" y="1997837"/>
                  </a:lnTo>
                  <a:lnTo>
                    <a:pt x="2022855" y="2010155"/>
                  </a:lnTo>
                  <a:lnTo>
                    <a:pt x="2010537" y="2028316"/>
                  </a:lnTo>
                  <a:lnTo>
                    <a:pt x="2001519" y="2052954"/>
                  </a:lnTo>
                </a:path>
                <a:path w="2052954" h="2052955">
                  <a:moveTo>
                    <a:pt x="62610" y="1990216"/>
                  </a:moveTo>
                  <a:lnTo>
                    <a:pt x="62610" y="8000"/>
                  </a:lnTo>
                </a:path>
                <a:path w="2052954" h="2052955">
                  <a:moveTo>
                    <a:pt x="0" y="51307"/>
                  </a:moveTo>
                  <a:lnTo>
                    <a:pt x="24637" y="42290"/>
                  </a:lnTo>
                  <a:lnTo>
                    <a:pt x="42671" y="30099"/>
                  </a:lnTo>
                  <a:lnTo>
                    <a:pt x="55118" y="15620"/>
                  </a:lnTo>
                  <a:lnTo>
                    <a:pt x="62610" y="0"/>
                  </a:lnTo>
                  <a:lnTo>
                    <a:pt x="70231" y="15620"/>
                  </a:lnTo>
                  <a:lnTo>
                    <a:pt x="82676" y="30099"/>
                  </a:lnTo>
                  <a:lnTo>
                    <a:pt x="100710" y="42290"/>
                  </a:lnTo>
                  <a:lnTo>
                    <a:pt x="125349" y="51307"/>
                  </a:lnTo>
                </a:path>
              </a:pathLst>
            </a:custGeom>
            <a:ln w="10122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529588" y="2394203"/>
              <a:ext cx="282575" cy="678180"/>
            </a:xfrm>
            <a:custGeom>
              <a:avLst/>
              <a:gdLst/>
              <a:ahLst/>
              <a:cxnLst/>
              <a:rect l="l" t="t" r="r" b="b"/>
              <a:pathLst>
                <a:path w="282575" h="678180">
                  <a:moveTo>
                    <a:pt x="282320" y="677672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90984" y="2387984"/>
              <a:ext cx="114418" cy="7606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811908" y="1937765"/>
              <a:ext cx="283845" cy="1134110"/>
            </a:xfrm>
            <a:custGeom>
              <a:avLst/>
              <a:gdLst/>
              <a:ahLst/>
              <a:cxnLst/>
              <a:rect l="l" t="t" r="r" b="b"/>
              <a:pathLst>
                <a:path w="283844" h="1134110">
                  <a:moveTo>
                    <a:pt x="0" y="1134110"/>
                  </a:moveTo>
                  <a:lnTo>
                    <a:pt x="283591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23881" y="1931425"/>
              <a:ext cx="119741" cy="6995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811908" y="2503550"/>
              <a:ext cx="1705610" cy="568325"/>
            </a:xfrm>
            <a:custGeom>
              <a:avLst/>
              <a:gdLst/>
              <a:ahLst/>
              <a:cxnLst/>
              <a:rect l="l" t="t" r="r" b="b"/>
              <a:pathLst>
                <a:path w="1705610" h="568325">
                  <a:moveTo>
                    <a:pt x="0" y="568325"/>
                  </a:moveTo>
                  <a:lnTo>
                    <a:pt x="1705229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50089" y="2460124"/>
              <a:ext cx="73391" cy="11733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63168" y="2788919"/>
              <a:ext cx="848994" cy="283210"/>
            </a:xfrm>
            <a:custGeom>
              <a:avLst/>
              <a:gdLst/>
              <a:ahLst/>
              <a:cxnLst/>
              <a:rect l="l" t="t" r="r" b="b"/>
              <a:pathLst>
                <a:path w="848994" h="283210">
                  <a:moveTo>
                    <a:pt x="848740" y="282955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6825" y="2745620"/>
              <a:ext cx="73314" cy="11720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528445" y="3071875"/>
              <a:ext cx="283845" cy="1134110"/>
            </a:xfrm>
            <a:custGeom>
              <a:avLst/>
              <a:gdLst/>
              <a:ahLst/>
              <a:cxnLst/>
              <a:rect l="l" t="t" r="r" b="b"/>
              <a:pathLst>
                <a:path w="283844" h="1134110">
                  <a:moveTo>
                    <a:pt x="283463" y="0"/>
                  </a:moveTo>
                  <a:lnTo>
                    <a:pt x="0" y="1134110"/>
                  </a:lnTo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80194" y="4142368"/>
              <a:ext cx="119741" cy="7008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811908" y="3071875"/>
              <a:ext cx="329565" cy="1138555"/>
            </a:xfrm>
            <a:custGeom>
              <a:avLst/>
              <a:gdLst/>
              <a:ahLst/>
              <a:cxnLst/>
              <a:rect l="l" t="t" r="r" b="b"/>
              <a:pathLst>
                <a:path w="329564" h="1138554">
                  <a:moveTo>
                    <a:pt x="0" y="0"/>
                  </a:moveTo>
                  <a:lnTo>
                    <a:pt x="283591" y="1134110"/>
                  </a:lnTo>
                </a:path>
                <a:path w="329564" h="1138554">
                  <a:moveTo>
                    <a:pt x="329184" y="1073023"/>
                  </a:moveTo>
                  <a:lnTo>
                    <a:pt x="308864" y="1087628"/>
                  </a:lnTo>
                  <a:lnTo>
                    <a:pt x="295402" y="1103757"/>
                  </a:lnTo>
                  <a:lnTo>
                    <a:pt x="287655" y="1120902"/>
                  </a:lnTo>
                  <a:lnTo>
                    <a:pt x="284480" y="1138047"/>
                  </a:lnTo>
                  <a:lnTo>
                    <a:pt x="273685" y="1124331"/>
                  </a:lnTo>
                  <a:lnTo>
                    <a:pt x="258826" y="1112901"/>
                  </a:lnTo>
                  <a:lnTo>
                    <a:pt x="239268" y="1105027"/>
                  </a:lnTo>
                  <a:lnTo>
                    <a:pt x="214503" y="1101725"/>
                  </a:lnTo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548507" y="2969514"/>
            <a:ext cx="26479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49908" y="970915"/>
            <a:ext cx="26479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86205" y="1993773"/>
            <a:ext cx="26797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957070" y="1536954"/>
            <a:ext cx="26797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409315" y="2108073"/>
            <a:ext cx="13906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519932" y="2203780"/>
            <a:ext cx="107950" cy="2197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spc="-50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04672" y="2741167"/>
            <a:ext cx="27876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62583" y="4168902"/>
            <a:ext cx="874394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620395" algn="l"/>
              </a:tabLst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875" baseline="-8888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85904" y="1887356"/>
            <a:ext cx="3181985" cy="2369185"/>
            <a:chOff x="385904" y="1887356"/>
            <a:chExt cx="3181985" cy="2369185"/>
          </a:xfrm>
        </p:grpSpPr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83750" y="2344175"/>
              <a:ext cx="85324" cy="8532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054742" y="1887356"/>
              <a:ext cx="85324" cy="8532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82095" y="2458348"/>
              <a:ext cx="85324" cy="85324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12885" y="2743717"/>
              <a:ext cx="85324" cy="85324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483750" y="4171070"/>
              <a:ext cx="85324" cy="85324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2057272" y="4173600"/>
              <a:ext cx="80645" cy="80645"/>
            </a:xfrm>
            <a:custGeom>
              <a:avLst/>
              <a:gdLst/>
              <a:ahLst/>
              <a:cxnLst/>
              <a:rect l="l" t="t" r="r" b="b"/>
              <a:pathLst>
                <a:path w="80644" h="80645">
                  <a:moveTo>
                    <a:pt x="40131" y="0"/>
                  </a:moveTo>
                  <a:lnTo>
                    <a:pt x="24510" y="3175"/>
                  </a:lnTo>
                  <a:lnTo>
                    <a:pt x="11810" y="11811"/>
                  </a:lnTo>
                  <a:lnTo>
                    <a:pt x="3175" y="24511"/>
                  </a:lnTo>
                  <a:lnTo>
                    <a:pt x="0" y="40131"/>
                  </a:lnTo>
                  <a:lnTo>
                    <a:pt x="3175" y="55753"/>
                  </a:lnTo>
                  <a:lnTo>
                    <a:pt x="11810" y="68580"/>
                  </a:lnTo>
                  <a:lnTo>
                    <a:pt x="24510" y="77088"/>
                  </a:lnTo>
                  <a:lnTo>
                    <a:pt x="40131" y="80263"/>
                  </a:lnTo>
                  <a:lnTo>
                    <a:pt x="55752" y="77088"/>
                  </a:lnTo>
                  <a:lnTo>
                    <a:pt x="68452" y="68580"/>
                  </a:lnTo>
                  <a:lnTo>
                    <a:pt x="77088" y="55753"/>
                  </a:lnTo>
                  <a:lnTo>
                    <a:pt x="80263" y="40131"/>
                  </a:lnTo>
                  <a:lnTo>
                    <a:pt x="77088" y="24511"/>
                  </a:lnTo>
                  <a:lnTo>
                    <a:pt x="68452" y="11811"/>
                  </a:lnTo>
                  <a:lnTo>
                    <a:pt x="55752" y="3175"/>
                  </a:lnTo>
                  <a:lnTo>
                    <a:pt x="40131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057272" y="4173600"/>
              <a:ext cx="80645" cy="80645"/>
            </a:xfrm>
            <a:custGeom>
              <a:avLst/>
              <a:gdLst/>
              <a:ahLst/>
              <a:cxnLst/>
              <a:rect l="l" t="t" r="r" b="b"/>
              <a:pathLst>
                <a:path w="80644" h="80645">
                  <a:moveTo>
                    <a:pt x="80263" y="40131"/>
                  </a:moveTo>
                  <a:lnTo>
                    <a:pt x="77088" y="24511"/>
                  </a:lnTo>
                  <a:lnTo>
                    <a:pt x="68452" y="11811"/>
                  </a:lnTo>
                  <a:lnTo>
                    <a:pt x="55752" y="3175"/>
                  </a:lnTo>
                  <a:lnTo>
                    <a:pt x="40131" y="0"/>
                  </a:lnTo>
                  <a:lnTo>
                    <a:pt x="24510" y="3175"/>
                  </a:lnTo>
                  <a:lnTo>
                    <a:pt x="11810" y="11811"/>
                  </a:lnTo>
                  <a:lnTo>
                    <a:pt x="3175" y="24511"/>
                  </a:lnTo>
                  <a:lnTo>
                    <a:pt x="0" y="40131"/>
                  </a:lnTo>
                  <a:lnTo>
                    <a:pt x="3175" y="55753"/>
                  </a:lnTo>
                  <a:lnTo>
                    <a:pt x="11810" y="68580"/>
                  </a:lnTo>
                  <a:lnTo>
                    <a:pt x="24510" y="77088"/>
                  </a:lnTo>
                  <a:lnTo>
                    <a:pt x="40131" y="80263"/>
                  </a:lnTo>
                  <a:lnTo>
                    <a:pt x="55752" y="77088"/>
                  </a:lnTo>
                  <a:lnTo>
                    <a:pt x="68452" y="68580"/>
                  </a:lnTo>
                  <a:lnTo>
                    <a:pt x="77088" y="55753"/>
                  </a:lnTo>
                  <a:lnTo>
                    <a:pt x="80263" y="40131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75754" y="3071875"/>
              <a:ext cx="1136650" cy="1136650"/>
            </a:xfrm>
            <a:custGeom>
              <a:avLst/>
              <a:gdLst/>
              <a:ahLst/>
              <a:cxnLst/>
              <a:rect l="l" t="t" r="r" b="b"/>
              <a:pathLst>
                <a:path w="1136650" h="1136650">
                  <a:moveTo>
                    <a:pt x="1136154" y="0"/>
                  </a:moveTo>
                  <a:lnTo>
                    <a:pt x="0" y="1136269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65489" y="4129668"/>
              <a:ext cx="88638" cy="88626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392277" y="3071875"/>
              <a:ext cx="1419860" cy="454659"/>
            </a:xfrm>
            <a:custGeom>
              <a:avLst/>
              <a:gdLst/>
              <a:ahLst/>
              <a:cxnLst/>
              <a:rect l="l" t="t" r="r" b="b"/>
              <a:pathLst>
                <a:path w="1419860" h="454660">
                  <a:moveTo>
                    <a:pt x="1419631" y="0"/>
                  </a:moveTo>
                  <a:lnTo>
                    <a:pt x="0" y="454278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85904" y="3452497"/>
              <a:ext cx="72969" cy="117978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676986" y="2390901"/>
              <a:ext cx="1135380" cy="681355"/>
            </a:xfrm>
            <a:custGeom>
              <a:avLst/>
              <a:gdLst/>
              <a:ahLst/>
              <a:cxnLst/>
              <a:rect l="l" t="t" r="r" b="b"/>
              <a:pathLst>
                <a:path w="1135380" h="681355">
                  <a:moveTo>
                    <a:pt x="1134922" y="680974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70990" y="2362325"/>
              <a:ext cx="80559" cy="106937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506981" y="2671533"/>
              <a:ext cx="308965" cy="404406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4356861" y="849883"/>
            <a:ext cx="4464685" cy="3712845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50"/>
              </a:spcBef>
            </a:pP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initialized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1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a</a:t>
            </a:r>
            <a:r>
              <a:rPr sz="1750" spc="-20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random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value</a:t>
            </a:r>
            <a:endParaRPr sz="1750">
              <a:latin typeface="Arial MT"/>
              <a:cs typeface="Arial MT"/>
            </a:endParaRPr>
          </a:p>
          <a:p>
            <a:pPr marL="40640" marR="41910" indent="-2540">
              <a:lnSpc>
                <a:spcPct val="116799"/>
              </a:lnSpc>
              <a:spcBef>
                <a:spcPts val="395"/>
              </a:spcBef>
              <a:tabLst>
                <a:tab pos="3227070" algn="l"/>
              </a:tabLst>
            </a:pP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observe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that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currently,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1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·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5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5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spc="-85" dirty="0">
                <a:solidFill>
                  <a:srgbClr val="213739"/>
                </a:solidFill>
                <a:latin typeface="Lucida Sans Unicode"/>
                <a:cs typeface="Lucida Sans Unicode"/>
              </a:rPr>
              <a:t>∵</a:t>
            </a:r>
            <a:r>
              <a:rPr sz="1750" spc="-23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angle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&gt;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90°)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for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all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positive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points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5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·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459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≥</a:t>
            </a:r>
            <a:r>
              <a:rPr sz="1750" spc="4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4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spc="-25" dirty="0">
                <a:solidFill>
                  <a:srgbClr val="213739"/>
                </a:solidFill>
                <a:latin typeface="Lucida Sans Unicode"/>
                <a:cs typeface="Lucida Sans Unicode"/>
              </a:rPr>
              <a:t>∵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angle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spc="409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90°)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for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all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negative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points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(the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situ-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ation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is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exactly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oppsite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what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actually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want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it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be)</a:t>
            </a:r>
            <a:endParaRPr sz="1750">
              <a:latin typeface="Arial MT"/>
              <a:cs typeface="Arial MT"/>
            </a:endParaRPr>
          </a:p>
          <a:p>
            <a:pPr marL="40640" marR="41910" indent="-3175">
              <a:lnSpc>
                <a:spcPct val="117700"/>
              </a:lnSpc>
              <a:spcBef>
                <a:spcPts val="495"/>
              </a:spcBef>
            </a:pPr>
            <a:r>
              <a:rPr sz="1750" spc="-16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now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run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algorithm</a:t>
            </a:r>
            <a:r>
              <a:rPr sz="1750" spc="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by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randomly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going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over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points</a:t>
            </a:r>
            <a:endParaRPr sz="1750">
              <a:latin typeface="Arial MT"/>
              <a:cs typeface="Arial MT"/>
            </a:endParaRPr>
          </a:p>
          <a:p>
            <a:pPr marL="41275" marR="30480" indent="-3810" algn="just">
              <a:lnSpc>
                <a:spcPct val="117200"/>
              </a:lnSpc>
              <a:spcBef>
                <a:spcPts val="710"/>
              </a:spcBef>
            </a:pP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Randomly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pick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a</a:t>
            </a:r>
            <a:r>
              <a:rPr sz="1750" spc="-1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point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(say,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875" spc="-15" baseline="-8888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),</a:t>
            </a:r>
            <a:r>
              <a:rPr sz="1750" spc="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apply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correction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spc="-1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4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59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spc="-1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-8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Calibri"/>
                <a:cs typeface="Calibri"/>
              </a:rPr>
              <a:t>+</a:t>
            </a:r>
            <a:r>
              <a:rPr sz="1750" spc="3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spc="-1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6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5" dirty="0">
                <a:solidFill>
                  <a:srgbClr val="213739"/>
                </a:solidFill>
                <a:latin typeface="Lucida Sans Unicode"/>
                <a:cs typeface="Lucida Sans Unicode"/>
              </a:rPr>
              <a:t>∵</a:t>
            </a:r>
            <a:r>
              <a:rPr sz="1750" spc="-29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b="1" spc="-1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5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40" dirty="0">
                <a:solidFill>
                  <a:srgbClr val="213739"/>
                </a:solidFill>
                <a:latin typeface="Lucida Sans Unicode"/>
                <a:cs typeface="Lucida Sans Unicode"/>
              </a:rPr>
              <a:t>·</a:t>
            </a:r>
            <a:r>
              <a:rPr sz="1750" b="1" spc="-14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6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spc="57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spc="-1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b="1" spc="4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(you</a:t>
            </a:r>
            <a:r>
              <a:rPr sz="1750" spc="-1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can</a:t>
            </a:r>
            <a:r>
              <a:rPr sz="1750" spc="-2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check</a:t>
            </a:r>
            <a:r>
              <a:rPr sz="1750" spc="-2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20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angle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visually)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781415" y="5603912"/>
            <a:ext cx="196215" cy="206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spc="-25" dirty="0">
                <a:solidFill>
                  <a:srgbClr val="213739"/>
                </a:solidFill>
                <a:latin typeface="Arial MT"/>
                <a:cs typeface="Arial MT"/>
              </a:rPr>
              <a:t>40</a:t>
            </a:r>
            <a:endParaRPr sz="125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56825" y="1076578"/>
            <a:ext cx="2850515" cy="3136265"/>
            <a:chOff x="956825" y="1076578"/>
            <a:chExt cx="2850515" cy="3136265"/>
          </a:xfrm>
        </p:grpSpPr>
        <p:sp>
          <p:nvSpPr>
            <p:cNvPr id="3" name="object 3"/>
            <p:cNvSpPr/>
            <p:nvPr/>
          </p:nvSpPr>
          <p:spPr>
            <a:xfrm>
              <a:off x="1749298" y="1081658"/>
              <a:ext cx="2052955" cy="2052955"/>
            </a:xfrm>
            <a:custGeom>
              <a:avLst/>
              <a:gdLst/>
              <a:ahLst/>
              <a:cxnLst/>
              <a:rect l="l" t="t" r="r" b="b"/>
              <a:pathLst>
                <a:path w="2052954" h="2052955">
                  <a:moveTo>
                    <a:pt x="62610" y="1990216"/>
                  </a:moveTo>
                  <a:lnTo>
                    <a:pt x="2044827" y="1990216"/>
                  </a:lnTo>
                </a:path>
                <a:path w="2052954" h="2052955">
                  <a:moveTo>
                    <a:pt x="2001519" y="1927605"/>
                  </a:moveTo>
                  <a:lnTo>
                    <a:pt x="2010537" y="1952243"/>
                  </a:lnTo>
                  <a:lnTo>
                    <a:pt x="2022855" y="1970277"/>
                  </a:lnTo>
                  <a:lnTo>
                    <a:pt x="2037334" y="1982596"/>
                  </a:lnTo>
                  <a:lnTo>
                    <a:pt x="2052827" y="1990216"/>
                  </a:lnTo>
                  <a:lnTo>
                    <a:pt x="2037334" y="1997837"/>
                  </a:lnTo>
                  <a:lnTo>
                    <a:pt x="2022855" y="2010155"/>
                  </a:lnTo>
                  <a:lnTo>
                    <a:pt x="2010537" y="2028316"/>
                  </a:lnTo>
                  <a:lnTo>
                    <a:pt x="2001519" y="2052954"/>
                  </a:lnTo>
                </a:path>
                <a:path w="2052954" h="2052955">
                  <a:moveTo>
                    <a:pt x="62610" y="1990216"/>
                  </a:moveTo>
                  <a:lnTo>
                    <a:pt x="62610" y="8000"/>
                  </a:lnTo>
                </a:path>
                <a:path w="2052954" h="2052955">
                  <a:moveTo>
                    <a:pt x="0" y="51307"/>
                  </a:moveTo>
                  <a:lnTo>
                    <a:pt x="24637" y="42290"/>
                  </a:lnTo>
                  <a:lnTo>
                    <a:pt x="42671" y="30099"/>
                  </a:lnTo>
                  <a:lnTo>
                    <a:pt x="55118" y="15620"/>
                  </a:lnTo>
                  <a:lnTo>
                    <a:pt x="62610" y="0"/>
                  </a:lnTo>
                  <a:lnTo>
                    <a:pt x="70231" y="15620"/>
                  </a:lnTo>
                  <a:lnTo>
                    <a:pt x="82676" y="30099"/>
                  </a:lnTo>
                  <a:lnTo>
                    <a:pt x="100710" y="42290"/>
                  </a:lnTo>
                  <a:lnTo>
                    <a:pt x="125349" y="51307"/>
                  </a:lnTo>
                </a:path>
              </a:pathLst>
            </a:custGeom>
            <a:ln w="10122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529588" y="2394203"/>
              <a:ext cx="282575" cy="678180"/>
            </a:xfrm>
            <a:custGeom>
              <a:avLst/>
              <a:gdLst/>
              <a:ahLst/>
              <a:cxnLst/>
              <a:rect l="l" t="t" r="r" b="b"/>
              <a:pathLst>
                <a:path w="282575" h="678180">
                  <a:moveTo>
                    <a:pt x="282320" y="677672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90984" y="2387984"/>
              <a:ext cx="114418" cy="7606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811908" y="1937765"/>
              <a:ext cx="283845" cy="1134110"/>
            </a:xfrm>
            <a:custGeom>
              <a:avLst/>
              <a:gdLst/>
              <a:ahLst/>
              <a:cxnLst/>
              <a:rect l="l" t="t" r="r" b="b"/>
              <a:pathLst>
                <a:path w="283844" h="1134110">
                  <a:moveTo>
                    <a:pt x="0" y="1134110"/>
                  </a:moveTo>
                  <a:lnTo>
                    <a:pt x="283591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23881" y="1931425"/>
              <a:ext cx="119741" cy="6995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811908" y="2503550"/>
              <a:ext cx="1705610" cy="568325"/>
            </a:xfrm>
            <a:custGeom>
              <a:avLst/>
              <a:gdLst/>
              <a:ahLst/>
              <a:cxnLst/>
              <a:rect l="l" t="t" r="r" b="b"/>
              <a:pathLst>
                <a:path w="1705610" h="568325">
                  <a:moveTo>
                    <a:pt x="0" y="568325"/>
                  </a:moveTo>
                  <a:lnTo>
                    <a:pt x="1705229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50089" y="2460124"/>
              <a:ext cx="73391" cy="11733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63168" y="2788919"/>
              <a:ext cx="848994" cy="283210"/>
            </a:xfrm>
            <a:custGeom>
              <a:avLst/>
              <a:gdLst/>
              <a:ahLst/>
              <a:cxnLst/>
              <a:rect l="l" t="t" r="r" b="b"/>
              <a:pathLst>
                <a:path w="848994" h="283210">
                  <a:moveTo>
                    <a:pt x="848740" y="282955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6825" y="2745620"/>
              <a:ext cx="73314" cy="11720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528445" y="3071875"/>
              <a:ext cx="283845" cy="1134110"/>
            </a:xfrm>
            <a:custGeom>
              <a:avLst/>
              <a:gdLst/>
              <a:ahLst/>
              <a:cxnLst/>
              <a:rect l="l" t="t" r="r" b="b"/>
              <a:pathLst>
                <a:path w="283844" h="1134110">
                  <a:moveTo>
                    <a:pt x="283463" y="0"/>
                  </a:moveTo>
                  <a:lnTo>
                    <a:pt x="0" y="1134110"/>
                  </a:lnTo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80194" y="4142368"/>
              <a:ext cx="119741" cy="7008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811908" y="3071875"/>
              <a:ext cx="329565" cy="1138555"/>
            </a:xfrm>
            <a:custGeom>
              <a:avLst/>
              <a:gdLst/>
              <a:ahLst/>
              <a:cxnLst/>
              <a:rect l="l" t="t" r="r" b="b"/>
              <a:pathLst>
                <a:path w="329564" h="1138554">
                  <a:moveTo>
                    <a:pt x="0" y="0"/>
                  </a:moveTo>
                  <a:lnTo>
                    <a:pt x="283591" y="1134110"/>
                  </a:lnTo>
                </a:path>
                <a:path w="329564" h="1138554">
                  <a:moveTo>
                    <a:pt x="329184" y="1073023"/>
                  </a:moveTo>
                  <a:lnTo>
                    <a:pt x="308864" y="1087628"/>
                  </a:lnTo>
                  <a:lnTo>
                    <a:pt x="295402" y="1103757"/>
                  </a:lnTo>
                  <a:lnTo>
                    <a:pt x="287655" y="1120902"/>
                  </a:lnTo>
                  <a:lnTo>
                    <a:pt x="284480" y="1138047"/>
                  </a:lnTo>
                  <a:lnTo>
                    <a:pt x="273685" y="1124331"/>
                  </a:lnTo>
                  <a:lnTo>
                    <a:pt x="258826" y="1112901"/>
                  </a:lnTo>
                  <a:lnTo>
                    <a:pt x="239268" y="1105027"/>
                  </a:lnTo>
                  <a:lnTo>
                    <a:pt x="214503" y="1101725"/>
                  </a:lnTo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548507" y="2969514"/>
            <a:ext cx="26479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49908" y="970915"/>
            <a:ext cx="26479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86205" y="1993773"/>
            <a:ext cx="26797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957070" y="1536954"/>
            <a:ext cx="26797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409315" y="2108073"/>
            <a:ext cx="13906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519932" y="2203780"/>
            <a:ext cx="107950" cy="2197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spc="-50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04672" y="2741167"/>
            <a:ext cx="27876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62583" y="4168902"/>
            <a:ext cx="874394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620395" algn="l"/>
              </a:tabLst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875" baseline="-8888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85904" y="1887356"/>
            <a:ext cx="3181985" cy="2369185"/>
            <a:chOff x="385904" y="1887356"/>
            <a:chExt cx="3181985" cy="2369185"/>
          </a:xfrm>
        </p:grpSpPr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83750" y="2344175"/>
              <a:ext cx="85324" cy="8532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054742" y="1887356"/>
              <a:ext cx="85324" cy="8532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82095" y="2458348"/>
              <a:ext cx="85324" cy="85324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12885" y="2743717"/>
              <a:ext cx="85324" cy="85324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483750" y="4171070"/>
              <a:ext cx="85324" cy="85324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2057272" y="4173600"/>
              <a:ext cx="80645" cy="80645"/>
            </a:xfrm>
            <a:custGeom>
              <a:avLst/>
              <a:gdLst/>
              <a:ahLst/>
              <a:cxnLst/>
              <a:rect l="l" t="t" r="r" b="b"/>
              <a:pathLst>
                <a:path w="80644" h="80645">
                  <a:moveTo>
                    <a:pt x="40131" y="0"/>
                  </a:moveTo>
                  <a:lnTo>
                    <a:pt x="24510" y="3175"/>
                  </a:lnTo>
                  <a:lnTo>
                    <a:pt x="11810" y="11811"/>
                  </a:lnTo>
                  <a:lnTo>
                    <a:pt x="3175" y="24511"/>
                  </a:lnTo>
                  <a:lnTo>
                    <a:pt x="0" y="40131"/>
                  </a:lnTo>
                  <a:lnTo>
                    <a:pt x="3175" y="55753"/>
                  </a:lnTo>
                  <a:lnTo>
                    <a:pt x="11810" y="68580"/>
                  </a:lnTo>
                  <a:lnTo>
                    <a:pt x="24510" y="77088"/>
                  </a:lnTo>
                  <a:lnTo>
                    <a:pt x="40131" y="80263"/>
                  </a:lnTo>
                  <a:lnTo>
                    <a:pt x="55752" y="77088"/>
                  </a:lnTo>
                  <a:lnTo>
                    <a:pt x="68452" y="68580"/>
                  </a:lnTo>
                  <a:lnTo>
                    <a:pt x="77088" y="55753"/>
                  </a:lnTo>
                  <a:lnTo>
                    <a:pt x="80263" y="40131"/>
                  </a:lnTo>
                  <a:lnTo>
                    <a:pt x="77088" y="24511"/>
                  </a:lnTo>
                  <a:lnTo>
                    <a:pt x="68452" y="11811"/>
                  </a:lnTo>
                  <a:lnTo>
                    <a:pt x="55752" y="3175"/>
                  </a:lnTo>
                  <a:lnTo>
                    <a:pt x="40131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057272" y="4173600"/>
              <a:ext cx="80645" cy="80645"/>
            </a:xfrm>
            <a:custGeom>
              <a:avLst/>
              <a:gdLst/>
              <a:ahLst/>
              <a:cxnLst/>
              <a:rect l="l" t="t" r="r" b="b"/>
              <a:pathLst>
                <a:path w="80644" h="80645">
                  <a:moveTo>
                    <a:pt x="80263" y="40131"/>
                  </a:moveTo>
                  <a:lnTo>
                    <a:pt x="77088" y="24511"/>
                  </a:lnTo>
                  <a:lnTo>
                    <a:pt x="68452" y="11811"/>
                  </a:lnTo>
                  <a:lnTo>
                    <a:pt x="55752" y="3175"/>
                  </a:lnTo>
                  <a:lnTo>
                    <a:pt x="40131" y="0"/>
                  </a:lnTo>
                  <a:lnTo>
                    <a:pt x="24510" y="3175"/>
                  </a:lnTo>
                  <a:lnTo>
                    <a:pt x="11810" y="11811"/>
                  </a:lnTo>
                  <a:lnTo>
                    <a:pt x="3175" y="24511"/>
                  </a:lnTo>
                  <a:lnTo>
                    <a:pt x="0" y="40131"/>
                  </a:lnTo>
                  <a:lnTo>
                    <a:pt x="3175" y="55753"/>
                  </a:lnTo>
                  <a:lnTo>
                    <a:pt x="11810" y="68580"/>
                  </a:lnTo>
                  <a:lnTo>
                    <a:pt x="24510" y="77088"/>
                  </a:lnTo>
                  <a:lnTo>
                    <a:pt x="40131" y="80263"/>
                  </a:lnTo>
                  <a:lnTo>
                    <a:pt x="55752" y="77088"/>
                  </a:lnTo>
                  <a:lnTo>
                    <a:pt x="68452" y="68580"/>
                  </a:lnTo>
                  <a:lnTo>
                    <a:pt x="77088" y="55753"/>
                  </a:lnTo>
                  <a:lnTo>
                    <a:pt x="80263" y="40131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75754" y="3071875"/>
              <a:ext cx="1136650" cy="1136650"/>
            </a:xfrm>
            <a:custGeom>
              <a:avLst/>
              <a:gdLst/>
              <a:ahLst/>
              <a:cxnLst/>
              <a:rect l="l" t="t" r="r" b="b"/>
              <a:pathLst>
                <a:path w="1136650" h="1136650">
                  <a:moveTo>
                    <a:pt x="1136154" y="0"/>
                  </a:moveTo>
                  <a:lnTo>
                    <a:pt x="0" y="1136269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65489" y="4129668"/>
              <a:ext cx="88638" cy="88626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392277" y="3071875"/>
              <a:ext cx="1419860" cy="454659"/>
            </a:xfrm>
            <a:custGeom>
              <a:avLst/>
              <a:gdLst/>
              <a:ahLst/>
              <a:cxnLst/>
              <a:rect l="l" t="t" r="r" b="b"/>
              <a:pathLst>
                <a:path w="1419860" h="454660">
                  <a:moveTo>
                    <a:pt x="1419631" y="0"/>
                  </a:moveTo>
                  <a:lnTo>
                    <a:pt x="0" y="454278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85904" y="3452497"/>
              <a:ext cx="72969" cy="117978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676986" y="2390901"/>
              <a:ext cx="1135380" cy="681355"/>
            </a:xfrm>
            <a:custGeom>
              <a:avLst/>
              <a:gdLst/>
              <a:ahLst/>
              <a:cxnLst/>
              <a:rect l="l" t="t" r="r" b="b"/>
              <a:pathLst>
                <a:path w="1135380" h="681355">
                  <a:moveTo>
                    <a:pt x="1134922" y="680974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70990" y="2362325"/>
              <a:ext cx="80559" cy="106937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506981" y="2671533"/>
              <a:ext cx="308965" cy="404406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1811909" y="2105913"/>
              <a:ext cx="1421130" cy="966469"/>
            </a:xfrm>
            <a:custGeom>
              <a:avLst/>
              <a:gdLst/>
              <a:ahLst/>
              <a:cxnLst/>
              <a:rect l="l" t="t" r="r" b="b"/>
              <a:pathLst>
                <a:path w="1421130" h="966469">
                  <a:moveTo>
                    <a:pt x="0" y="965962"/>
                  </a:moveTo>
                  <a:lnTo>
                    <a:pt x="1420749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156709" y="2081400"/>
              <a:ext cx="81791" cy="103254"/>
            </a:xfrm>
            <a:prstGeom prst="rect">
              <a:avLst/>
            </a:prstGeom>
          </p:spPr>
        </p:pic>
      </p:grpSp>
      <p:sp>
        <p:nvSpPr>
          <p:cNvPr id="40" name="object 40"/>
          <p:cNvSpPr txBox="1"/>
          <p:nvPr/>
        </p:nvSpPr>
        <p:spPr>
          <a:xfrm>
            <a:off x="4356861" y="849883"/>
            <a:ext cx="4464685" cy="3712845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50"/>
              </a:spcBef>
            </a:pP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initialized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1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a</a:t>
            </a:r>
            <a:r>
              <a:rPr sz="1750" spc="-20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random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value</a:t>
            </a:r>
            <a:endParaRPr sz="1750">
              <a:latin typeface="Arial MT"/>
              <a:cs typeface="Arial MT"/>
            </a:endParaRPr>
          </a:p>
          <a:p>
            <a:pPr marL="40640" marR="41910" indent="-2540">
              <a:lnSpc>
                <a:spcPct val="116799"/>
              </a:lnSpc>
              <a:spcBef>
                <a:spcPts val="395"/>
              </a:spcBef>
              <a:tabLst>
                <a:tab pos="3227070" algn="l"/>
              </a:tabLst>
            </a:pP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observe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that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currently,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1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·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5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5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spc="-85" dirty="0">
                <a:solidFill>
                  <a:srgbClr val="213739"/>
                </a:solidFill>
                <a:latin typeface="Lucida Sans Unicode"/>
                <a:cs typeface="Lucida Sans Unicode"/>
              </a:rPr>
              <a:t>∵</a:t>
            </a:r>
            <a:r>
              <a:rPr sz="1750" spc="-23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angle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&gt;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90°)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for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all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positive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points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5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·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459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≥</a:t>
            </a:r>
            <a:r>
              <a:rPr sz="1750" spc="4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4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spc="-25" dirty="0">
                <a:solidFill>
                  <a:srgbClr val="213739"/>
                </a:solidFill>
                <a:latin typeface="Lucida Sans Unicode"/>
                <a:cs typeface="Lucida Sans Unicode"/>
              </a:rPr>
              <a:t>∵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angle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spc="409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90°)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for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all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negative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points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(the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situ-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ation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is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exactly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oppsite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what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actually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want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it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be)</a:t>
            </a:r>
            <a:endParaRPr sz="1750">
              <a:latin typeface="Arial MT"/>
              <a:cs typeface="Arial MT"/>
            </a:endParaRPr>
          </a:p>
          <a:p>
            <a:pPr marL="40640" marR="41910" indent="-3175">
              <a:lnSpc>
                <a:spcPct val="117700"/>
              </a:lnSpc>
              <a:spcBef>
                <a:spcPts val="495"/>
              </a:spcBef>
            </a:pPr>
            <a:r>
              <a:rPr sz="1750" spc="-16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now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run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algorithm</a:t>
            </a:r>
            <a:r>
              <a:rPr sz="1750" spc="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by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randomly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going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over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points</a:t>
            </a:r>
            <a:endParaRPr sz="1750">
              <a:latin typeface="Arial MT"/>
              <a:cs typeface="Arial MT"/>
            </a:endParaRPr>
          </a:p>
          <a:p>
            <a:pPr marL="41275" marR="30480" indent="-3810" algn="just">
              <a:lnSpc>
                <a:spcPct val="117200"/>
              </a:lnSpc>
              <a:spcBef>
                <a:spcPts val="710"/>
              </a:spcBef>
            </a:pP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Randomly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pick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a</a:t>
            </a:r>
            <a:r>
              <a:rPr sz="1750" spc="-1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point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(say,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875" spc="-15" baseline="-8888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),</a:t>
            </a:r>
            <a:r>
              <a:rPr sz="1750" spc="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apply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correction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spc="-1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4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750" spc="59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spc="-1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-8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Calibri"/>
                <a:cs typeface="Calibri"/>
              </a:rPr>
              <a:t>+</a:t>
            </a:r>
            <a:r>
              <a:rPr sz="1750" spc="3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spc="-1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6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5" dirty="0">
                <a:solidFill>
                  <a:srgbClr val="213739"/>
                </a:solidFill>
                <a:latin typeface="Lucida Sans Unicode"/>
                <a:cs typeface="Lucida Sans Unicode"/>
              </a:rPr>
              <a:t>∵</a:t>
            </a:r>
            <a:r>
              <a:rPr sz="1750" spc="-29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b="1" spc="-1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5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40" dirty="0">
                <a:solidFill>
                  <a:srgbClr val="213739"/>
                </a:solidFill>
                <a:latin typeface="Lucida Sans Unicode"/>
                <a:cs typeface="Lucida Sans Unicode"/>
              </a:rPr>
              <a:t>·</a:t>
            </a:r>
            <a:r>
              <a:rPr sz="1750" b="1" spc="-14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6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spc="57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spc="-1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b="1" spc="4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(you</a:t>
            </a:r>
            <a:r>
              <a:rPr sz="1750" spc="-1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can</a:t>
            </a:r>
            <a:r>
              <a:rPr sz="1750" spc="-2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check</a:t>
            </a:r>
            <a:r>
              <a:rPr sz="1750" spc="-2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20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angle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visually)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8781415" y="5603912"/>
            <a:ext cx="196215" cy="206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spc="-25" dirty="0">
                <a:solidFill>
                  <a:srgbClr val="213739"/>
                </a:solidFill>
                <a:latin typeface="Arial MT"/>
                <a:cs typeface="Arial MT"/>
              </a:rPr>
              <a:t>40</a:t>
            </a:r>
            <a:endParaRPr sz="125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56825" y="1076578"/>
            <a:ext cx="2850515" cy="3136265"/>
            <a:chOff x="956825" y="1076578"/>
            <a:chExt cx="2850515" cy="3136265"/>
          </a:xfrm>
        </p:grpSpPr>
        <p:sp>
          <p:nvSpPr>
            <p:cNvPr id="3" name="object 3"/>
            <p:cNvSpPr/>
            <p:nvPr/>
          </p:nvSpPr>
          <p:spPr>
            <a:xfrm>
              <a:off x="1749298" y="1081658"/>
              <a:ext cx="2052955" cy="2052955"/>
            </a:xfrm>
            <a:custGeom>
              <a:avLst/>
              <a:gdLst/>
              <a:ahLst/>
              <a:cxnLst/>
              <a:rect l="l" t="t" r="r" b="b"/>
              <a:pathLst>
                <a:path w="2052954" h="2052955">
                  <a:moveTo>
                    <a:pt x="62610" y="1990216"/>
                  </a:moveTo>
                  <a:lnTo>
                    <a:pt x="2044827" y="1990216"/>
                  </a:lnTo>
                </a:path>
                <a:path w="2052954" h="2052955">
                  <a:moveTo>
                    <a:pt x="2001519" y="1927605"/>
                  </a:moveTo>
                  <a:lnTo>
                    <a:pt x="2010537" y="1952243"/>
                  </a:lnTo>
                  <a:lnTo>
                    <a:pt x="2022855" y="1970277"/>
                  </a:lnTo>
                  <a:lnTo>
                    <a:pt x="2037334" y="1982596"/>
                  </a:lnTo>
                  <a:lnTo>
                    <a:pt x="2052827" y="1990216"/>
                  </a:lnTo>
                  <a:lnTo>
                    <a:pt x="2037334" y="1997837"/>
                  </a:lnTo>
                  <a:lnTo>
                    <a:pt x="2022855" y="2010155"/>
                  </a:lnTo>
                  <a:lnTo>
                    <a:pt x="2010537" y="2028316"/>
                  </a:lnTo>
                  <a:lnTo>
                    <a:pt x="2001519" y="2052954"/>
                  </a:lnTo>
                </a:path>
                <a:path w="2052954" h="2052955">
                  <a:moveTo>
                    <a:pt x="62610" y="1990216"/>
                  </a:moveTo>
                  <a:lnTo>
                    <a:pt x="62610" y="8000"/>
                  </a:lnTo>
                </a:path>
                <a:path w="2052954" h="2052955">
                  <a:moveTo>
                    <a:pt x="0" y="51307"/>
                  </a:moveTo>
                  <a:lnTo>
                    <a:pt x="24637" y="42290"/>
                  </a:lnTo>
                  <a:lnTo>
                    <a:pt x="42671" y="30099"/>
                  </a:lnTo>
                  <a:lnTo>
                    <a:pt x="55118" y="15620"/>
                  </a:lnTo>
                  <a:lnTo>
                    <a:pt x="62610" y="0"/>
                  </a:lnTo>
                  <a:lnTo>
                    <a:pt x="70231" y="15620"/>
                  </a:lnTo>
                  <a:lnTo>
                    <a:pt x="82676" y="30099"/>
                  </a:lnTo>
                  <a:lnTo>
                    <a:pt x="100710" y="42290"/>
                  </a:lnTo>
                  <a:lnTo>
                    <a:pt x="125349" y="51307"/>
                  </a:lnTo>
                </a:path>
              </a:pathLst>
            </a:custGeom>
            <a:ln w="10122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529588" y="2394203"/>
              <a:ext cx="282575" cy="678180"/>
            </a:xfrm>
            <a:custGeom>
              <a:avLst/>
              <a:gdLst/>
              <a:ahLst/>
              <a:cxnLst/>
              <a:rect l="l" t="t" r="r" b="b"/>
              <a:pathLst>
                <a:path w="282575" h="678180">
                  <a:moveTo>
                    <a:pt x="282320" y="677672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90984" y="2387984"/>
              <a:ext cx="114418" cy="7606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811908" y="1937765"/>
              <a:ext cx="283845" cy="1134110"/>
            </a:xfrm>
            <a:custGeom>
              <a:avLst/>
              <a:gdLst/>
              <a:ahLst/>
              <a:cxnLst/>
              <a:rect l="l" t="t" r="r" b="b"/>
              <a:pathLst>
                <a:path w="283844" h="1134110">
                  <a:moveTo>
                    <a:pt x="0" y="1134110"/>
                  </a:moveTo>
                  <a:lnTo>
                    <a:pt x="283591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23881" y="1931425"/>
              <a:ext cx="119741" cy="6995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811908" y="2503550"/>
              <a:ext cx="1705610" cy="568325"/>
            </a:xfrm>
            <a:custGeom>
              <a:avLst/>
              <a:gdLst/>
              <a:ahLst/>
              <a:cxnLst/>
              <a:rect l="l" t="t" r="r" b="b"/>
              <a:pathLst>
                <a:path w="1705610" h="568325">
                  <a:moveTo>
                    <a:pt x="0" y="568325"/>
                  </a:moveTo>
                  <a:lnTo>
                    <a:pt x="1705229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50089" y="2460124"/>
              <a:ext cx="73391" cy="11733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63168" y="2788919"/>
              <a:ext cx="848994" cy="283210"/>
            </a:xfrm>
            <a:custGeom>
              <a:avLst/>
              <a:gdLst/>
              <a:ahLst/>
              <a:cxnLst/>
              <a:rect l="l" t="t" r="r" b="b"/>
              <a:pathLst>
                <a:path w="848994" h="283210">
                  <a:moveTo>
                    <a:pt x="848740" y="282955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6825" y="2745620"/>
              <a:ext cx="73314" cy="11720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528445" y="3071875"/>
              <a:ext cx="283845" cy="1134110"/>
            </a:xfrm>
            <a:custGeom>
              <a:avLst/>
              <a:gdLst/>
              <a:ahLst/>
              <a:cxnLst/>
              <a:rect l="l" t="t" r="r" b="b"/>
              <a:pathLst>
                <a:path w="283844" h="1134110">
                  <a:moveTo>
                    <a:pt x="283463" y="0"/>
                  </a:moveTo>
                  <a:lnTo>
                    <a:pt x="0" y="1134110"/>
                  </a:lnTo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80194" y="4142368"/>
              <a:ext cx="119741" cy="7008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811908" y="3071875"/>
              <a:ext cx="329565" cy="1138555"/>
            </a:xfrm>
            <a:custGeom>
              <a:avLst/>
              <a:gdLst/>
              <a:ahLst/>
              <a:cxnLst/>
              <a:rect l="l" t="t" r="r" b="b"/>
              <a:pathLst>
                <a:path w="329564" h="1138554">
                  <a:moveTo>
                    <a:pt x="0" y="0"/>
                  </a:moveTo>
                  <a:lnTo>
                    <a:pt x="283591" y="1134110"/>
                  </a:lnTo>
                </a:path>
                <a:path w="329564" h="1138554">
                  <a:moveTo>
                    <a:pt x="329184" y="1073023"/>
                  </a:moveTo>
                  <a:lnTo>
                    <a:pt x="308864" y="1087628"/>
                  </a:lnTo>
                  <a:lnTo>
                    <a:pt x="295402" y="1103757"/>
                  </a:lnTo>
                  <a:lnTo>
                    <a:pt x="287655" y="1120902"/>
                  </a:lnTo>
                  <a:lnTo>
                    <a:pt x="284480" y="1138047"/>
                  </a:lnTo>
                  <a:lnTo>
                    <a:pt x="273685" y="1124331"/>
                  </a:lnTo>
                  <a:lnTo>
                    <a:pt x="258826" y="1112901"/>
                  </a:lnTo>
                  <a:lnTo>
                    <a:pt x="239268" y="1105027"/>
                  </a:lnTo>
                  <a:lnTo>
                    <a:pt x="214503" y="1101725"/>
                  </a:lnTo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548507" y="2969514"/>
            <a:ext cx="26479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49908" y="970915"/>
            <a:ext cx="26479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86205" y="1993773"/>
            <a:ext cx="26797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957070" y="1536954"/>
            <a:ext cx="26797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409315" y="2108073"/>
            <a:ext cx="13906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519932" y="2203780"/>
            <a:ext cx="107950" cy="2197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spc="-50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04672" y="2741167"/>
            <a:ext cx="27876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62583" y="4168902"/>
            <a:ext cx="874394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620395" algn="l"/>
              </a:tabLst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875" baseline="-8888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85904" y="1887356"/>
            <a:ext cx="3181985" cy="2369185"/>
            <a:chOff x="385904" y="1887356"/>
            <a:chExt cx="3181985" cy="2369185"/>
          </a:xfrm>
        </p:grpSpPr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83750" y="2344175"/>
              <a:ext cx="85324" cy="8532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054742" y="1887356"/>
              <a:ext cx="85324" cy="8532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82095" y="2458348"/>
              <a:ext cx="85324" cy="85324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12885" y="2743717"/>
              <a:ext cx="85324" cy="85324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483750" y="4171070"/>
              <a:ext cx="85324" cy="85324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2057272" y="4173600"/>
              <a:ext cx="80645" cy="80645"/>
            </a:xfrm>
            <a:custGeom>
              <a:avLst/>
              <a:gdLst/>
              <a:ahLst/>
              <a:cxnLst/>
              <a:rect l="l" t="t" r="r" b="b"/>
              <a:pathLst>
                <a:path w="80644" h="80645">
                  <a:moveTo>
                    <a:pt x="40131" y="0"/>
                  </a:moveTo>
                  <a:lnTo>
                    <a:pt x="24510" y="3175"/>
                  </a:lnTo>
                  <a:lnTo>
                    <a:pt x="11810" y="11811"/>
                  </a:lnTo>
                  <a:lnTo>
                    <a:pt x="3175" y="24511"/>
                  </a:lnTo>
                  <a:lnTo>
                    <a:pt x="0" y="40131"/>
                  </a:lnTo>
                  <a:lnTo>
                    <a:pt x="3175" y="55753"/>
                  </a:lnTo>
                  <a:lnTo>
                    <a:pt x="11810" y="68580"/>
                  </a:lnTo>
                  <a:lnTo>
                    <a:pt x="24510" y="77088"/>
                  </a:lnTo>
                  <a:lnTo>
                    <a:pt x="40131" y="80263"/>
                  </a:lnTo>
                  <a:lnTo>
                    <a:pt x="55752" y="77088"/>
                  </a:lnTo>
                  <a:lnTo>
                    <a:pt x="68452" y="68580"/>
                  </a:lnTo>
                  <a:lnTo>
                    <a:pt x="77088" y="55753"/>
                  </a:lnTo>
                  <a:lnTo>
                    <a:pt x="80263" y="40131"/>
                  </a:lnTo>
                  <a:lnTo>
                    <a:pt x="77088" y="24511"/>
                  </a:lnTo>
                  <a:lnTo>
                    <a:pt x="68452" y="11811"/>
                  </a:lnTo>
                  <a:lnTo>
                    <a:pt x="55752" y="3175"/>
                  </a:lnTo>
                  <a:lnTo>
                    <a:pt x="40131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057272" y="4173600"/>
              <a:ext cx="80645" cy="80645"/>
            </a:xfrm>
            <a:custGeom>
              <a:avLst/>
              <a:gdLst/>
              <a:ahLst/>
              <a:cxnLst/>
              <a:rect l="l" t="t" r="r" b="b"/>
              <a:pathLst>
                <a:path w="80644" h="80645">
                  <a:moveTo>
                    <a:pt x="80263" y="40131"/>
                  </a:moveTo>
                  <a:lnTo>
                    <a:pt x="77088" y="24511"/>
                  </a:lnTo>
                  <a:lnTo>
                    <a:pt x="68452" y="11811"/>
                  </a:lnTo>
                  <a:lnTo>
                    <a:pt x="55752" y="3175"/>
                  </a:lnTo>
                  <a:lnTo>
                    <a:pt x="40131" y="0"/>
                  </a:lnTo>
                  <a:lnTo>
                    <a:pt x="24510" y="3175"/>
                  </a:lnTo>
                  <a:lnTo>
                    <a:pt x="11810" y="11811"/>
                  </a:lnTo>
                  <a:lnTo>
                    <a:pt x="3175" y="24511"/>
                  </a:lnTo>
                  <a:lnTo>
                    <a:pt x="0" y="40131"/>
                  </a:lnTo>
                  <a:lnTo>
                    <a:pt x="3175" y="55753"/>
                  </a:lnTo>
                  <a:lnTo>
                    <a:pt x="11810" y="68580"/>
                  </a:lnTo>
                  <a:lnTo>
                    <a:pt x="24510" y="77088"/>
                  </a:lnTo>
                  <a:lnTo>
                    <a:pt x="40131" y="80263"/>
                  </a:lnTo>
                  <a:lnTo>
                    <a:pt x="55752" y="77088"/>
                  </a:lnTo>
                  <a:lnTo>
                    <a:pt x="68452" y="68580"/>
                  </a:lnTo>
                  <a:lnTo>
                    <a:pt x="77088" y="55753"/>
                  </a:lnTo>
                  <a:lnTo>
                    <a:pt x="80263" y="40131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75754" y="3071875"/>
              <a:ext cx="1136650" cy="1136650"/>
            </a:xfrm>
            <a:custGeom>
              <a:avLst/>
              <a:gdLst/>
              <a:ahLst/>
              <a:cxnLst/>
              <a:rect l="l" t="t" r="r" b="b"/>
              <a:pathLst>
                <a:path w="1136650" h="1136650">
                  <a:moveTo>
                    <a:pt x="1136154" y="0"/>
                  </a:moveTo>
                  <a:lnTo>
                    <a:pt x="0" y="1136269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65489" y="4129668"/>
              <a:ext cx="88638" cy="88626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392277" y="3071875"/>
              <a:ext cx="1419860" cy="454659"/>
            </a:xfrm>
            <a:custGeom>
              <a:avLst/>
              <a:gdLst/>
              <a:ahLst/>
              <a:cxnLst/>
              <a:rect l="l" t="t" r="r" b="b"/>
              <a:pathLst>
                <a:path w="1419860" h="454660">
                  <a:moveTo>
                    <a:pt x="1419631" y="0"/>
                  </a:moveTo>
                  <a:lnTo>
                    <a:pt x="0" y="454278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85904" y="3452497"/>
              <a:ext cx="72969" cy="117978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676986" y="2390901"/>
              <a:ext cx="1135380" cy="681355"/>
            </a:xfrm>
            <a:custGeom>
              <a:avLst/>
              <a:gdLst/>
              <a:ahLst/>
              <a:cxnLst/>
              <a:rect l="l" t="t" r="r" b="b"/>
              <a:pathLst>
                <a:path w="1135380" h="681355">
                  <a:moveTo>
                    <a:pt x="1134922" y="680974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70990" y="2362325"/>
              <a:ext cx="80559" cy="106937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506981" y="2671533"/>
              <a:ext cx="308965" cy="404406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1811909" y="2105913"/>
              <a:ext cx="1421130" cy="966469"/>
            </a:xfrm>
            <a:custGeom>
              <a:avLst/>
              <a:gdLst/>
              <a:ahLst/>
              <a:cxnLst/>
              <a:rect l="l" t="t" r="r" b="b"/>
              <a:pathLst>
                <a:path w="1421130" h="966469">
                  <a:moveTo>
                    <a:pt x="0" y="965962"/>
                  </a:moveTo>
                  <a:lnTo>
                    <a:pt x="1420749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156709" y="2081400"/>
              <a:ext cx="81791" cy="103254"/>
            </a:xfrm>
            <a:prstGeom prst="rect">
              <a:avLst/>
            </a:prstGeom>
          </p:spPr>
        </p:pic>
      </p:grpSp>
      <p:sp>
        <p:nvSpPr>
          <p:cNvPr id="40" name="object 40"/>
          <p:cNvSpPr txBox="1"/>
          <p:nvPr/>
        </p:nvSpPr>
        <p:spPr>
          <a:xfrm>
            <a:off x="4356861" y="849883"/>
            <a:ext cx="4456430" cy="3712845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50"/>
              </a:spcBef>
            </a:pP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initialized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1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a</a:t>
            </a:r>
            <a:r>
              <a:rPr sz="1750" spc="-20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random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value</a:t>
            </a:r>
            <a:endParaRPr sz="1750">
              <a:latin typeface="Arial MT"/>
              <a:cs typeface="Arial MT"/>
            </a:endParaRPr>
          </a:p>
          <a:p>
            <a:pPr marL="40640" marR="34290" indent="-2540">
              <a:lnSpc>
                <a:spcPct val="116799"/>
              </a:lnSpc>
              <a:spcBef>
                <a:spcPts val="395"/>
              </a:spcBef>
              <a:tabLst>
                <a:tab pos="3227070" algn="l"/>
              </a:tabLst>
            </a:pP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observe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that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currently,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1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·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5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5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spc="-85" dirty="0">
                <a:solidFill>
                  <a:srgbClr val="213739"/>
                </a:solidFill>
                <a:latin typeface="Lucida Sans Unicode"/>
                <a:cs typeface="Lucida Sans Unicode"/>
              </a:rPr>
              <a:t>∵</a:t>
            </a:r>
            <a:r>
              <a:rPr sz="1750" spc="-23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angle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&gt;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90°)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for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all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positive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points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5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·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459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≥</a:t>
            </a:r>
            <a:r>
              <a:rPr sz="1750" spc="4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4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spc="-25" dirty="0">
                <a:solidFill>
                  <a:srgbClr val="213739"/>
                </a:solidFill>
                <a:latin typeface="Lucida Sans Unicode"/>
                <a:cs typeface="Lucida Sans Unicode"/>
              </a:rPr>
              <a:t>∵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angle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spc="40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90°)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for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all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negative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points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(the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situ-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ation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is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exactly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oppsite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what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actually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want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it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be)</a:t>
            </a:r>
            <a:endParaRPr sz="1750">
              <a:latin typeface="Arial MT"/>
              <a:cs typeface="Arial MT"/>
            </a:endParaRPr>
          </a:p>
          <a:p>
            <a:pPr marL="40640" marR="33655" indent="-3175">
              <a:lnSpc>
                <a:spcPct val="117700"/>
              </a:lnSpc>
              <a:spcBef>
                <a:spcPts val="495"/>
              </a:spcBef>
            </a:pPr>
            <a:r>
              <a:rPr sz="1750" spc="-16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now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run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algorithm</a:t>
            </a:r>
            <a:r>
              <a:rPr sz="1750" spc="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by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randomly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going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over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points</a:t>
            </a:r>
            <a:endParaRPr sz="1750">
              <a:latin typeface="Arial MT"/>
              <a:cs typeface="Arial MT"/>
            </a:endParaRPr>
          </a:p>
          <a:p>
            <a:pPr marL="41275" marR="30480" indent="-3810" algn="just">
              <a:lnSpc>
                <a:spcPct val="117200"/>
              </a:lnSpc>
              <a:spcBef>
                <a:spcPts val="710"/>
              </a:spcBef>
            </a:pP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Randomly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5" dirty="0">
                <a:solidFill>
                  <a:srgbClr val="213739"/>
                </a:solidFill>
                <a:latin typeface="Arial MT"/>
                <a:cs typeface="Arial MT"/>
              </a:rPr>
              <a:t>pick</a:t>
            </a:r>
            <a:r>
              <a:rPr sz="1750" spc="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a</a:t>
            </a:r>
            <a:r>
              <a:rPr sz="1750" spc="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point</a:t>
            </a:r>
            <a:r>
              <a:rPr sz="1750" spc="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(say,</a:t>
            </a:r>
            <a:r>
              <a:rPr sz="1750" spc="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spc="-5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875" spc="-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),</a:t>
            </a:r>
            <a:r>
              <a:rPr sz="1750" spc="1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no</a:t>
            </a:r>
            <a:r>
              <a:rPr sz="1750" spc="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correction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needed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5" dirty="0">
                <a:solidFill>
                  <a:srgbClr val="213739"/>
                </a:solidFill>
                <a:latin typeface="Lucida Sans Unicode"/>
                <a:cs typeface="Lucida Sans Unicode"/>
              </a:rPr>
              <a:t>∵</a:t>
            </a:r>
            <a:r>
              <a:rPr sz="1750" spc="409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b="1" spc="-1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5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45" dirty="0">
                <a:solidFill>
                  <a:srgbClr val="213739"/>
                </a:solidFill>
                <a:latin typeface="Lucida Sans Unicode"/>
                <a:cs typeface="Lucida Sans Unicode"/>
              </a:rPr>
              <a:t>·</a:t>
            </a:r>
            <a:r>
              <a:rPr sz="1750" b="1" spc="-14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27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5" dirty="0">
                <a:solidFill>
                  <a:srgbClr val="213739"/>
                </a:solidFill>
                <a:latin typeface="Lucida Sans Unicode"/>
                <a:cs typeface="Lucida Sans Unicode"/>
              </a:rPr>
              <a:t>≥</a:t>
            </a:r>
            <a:r>
              <a:rPr sz="1750" spc="-15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b="1" spc="-1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b="1" spc="27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(you</a:t>
            </a:r>
            <a:r>
              <a:rPr sz="1750" spc="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can</a:t>
            </a:r>
            <a:r>
              <a:rPr sz="1750" spc="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check</a:t>
            </a:r>
            <a:r>
              <a:rPr sz="1750" spc="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5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angle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visually)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8781415" y="5603912"/>
            <a:ext cx="196215" cy="206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spc="-25" dirty="0">
                <a:solidFill>
                  <a:srgbClr val="213739"/>
                </a:solidFill>
                <a:latin typeface="Arial MT"/>
                <a:cs typeface="Arial MT"/>
              </a:rPr>
              <a:t>40</a:t>
            </a:r>
            <a:endParaRPr sz="125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56825" y="1076578"/>
            <a:ext cx="2850515" cy="3136265"/>
            <a:chOff x="956825" y="1076578"/>
            <a:chExt cx="2850515" cy="3136265"/>
          </a:xfrm>
        </p:grpSpPr>
        <p:sp>
          <p:nvSpPr>
            <p:cNvPr id="3" name="object 3"/>
            <p:cNvSpPr/>
            <p:nvPr/>
          </p:nvSpPr>
          <p:spPr>
            <a:xfrm>
              <a:off x="1749298" y="1081658"/>
              <a:ext cx="2052955" cy="2052955"/>
            </a:xfrm>
            <a:custGeom>
              <a:avLst/>
              <a:gdLst/>
              <a:ahLst/>
              <a:cxnLst/>
              <a:rect l="l" t="t" r="r" b="b"/>
              <a:pathLst>
                <a:path w="2052954" h="2052955">
                  <a:moveTo>
                    <a:pt x="62610" y="1990216"/>
                  </a:moveTo>
                  <a:lnTo>
                    <a:pt x="2044827" y="1990216"/>
                  </a:lnTo>
                </a:path>
                <a:path w="2052954" h="2052955">
                  <a:moveTo>
                    <a:pt x="2001519" y="1927605"/>
                  </a:moveTo>
                  <a:lnTo>
                    <a:pt x="2010537" y="1952243"/>
                  </a:lnTo>
                  <a:lnTo>
                    <a:pt x="2022855" y="1970277"/>
                  </a:lnTo>
                  <a:lnTo>
                    <a:pt x="2037334" y="1982596"/>
                  </a:lnTo>
                  <a:lnTo>
                    <a:pt x="2052827" y="1990216"/>
                  </a:lnTo>
                  <a:lnTo>
                    <a:pt x="2037334" y="1997837"/>
                  </a:lnTo>
                  <a:lnTo>
                    <a:pt x="2022855" y="2010155"/>
                  </a:lnTo>
                  <a:lnTo>
                    <a:pt x="2010537" y="2028316"/>
                  </a:lnTo>
                  <a:lnTo>
                    <a:pt x="2001519" y="2052954"/>
                  </a:lnTo>
                </a:path>
                <a:path w="2052954" h="2052955">
                  <a:moveTo>
                    <a:pt x="62610" y="1990216"/>
                  </a:moveTo>
                  <a:lnTo>
                    <a:pt x="62610" y="8000"/>
                  </a:lnTo>
                </a:path>
                <a:path w="2052954" h="2052955">
                  <a:moveTo>
                    <a:pt x="0" y="51307"/>
                  </a:moveTo>
                  <a:lnTo>
                    <a:pt x="24637" y="42290"/>
                  </a:lnTo>
                  <a:lnTo>
                    <a:pt x="42671" y="30099"/>
                  </a:lnTo>
                  <a:lnTo>
                    <a:pt x="55118" y="15620"/>
                  </a:lnTo>
                  <a:lnTo>
                    <a:pt x="62610" y="0"/>
                  </a:lnTo>
                  <a:lnTo>
                    <a:pt x="70231" y="15620"/>
                  </a:lnTo>
                  <a:lnTo>
                    <a:pt x="82676" y="30099"/>
                  </a:lnTo>
                  <a:lnTo>
                    <a:pt x="100710" y="42290"/>
                  </a:lnTo>
                  <a:lnTo>
                    <a:pt x="125349" y="51307"/>
                  </a:lnTo>
                </a:path>
              </a:pathLst>
            </a:custGeom>
            <a:ln w="10122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529588" y="2394203"/>
              <a:ext cx="282575" cy="678180"/>
            </a:xfrm>
            <a:custGeom>
              <a:avLst/>
              <a:gdLst/>
              <a:ahLst/>
              <a:cxnLst/>
              <a:rect l="l" t="t" r="r" b="b"/>
              <a:pathLst>
                <a:path w="282575" h="678180">
                  <a:moveTo>
                    <a:pt x="282320" y="677672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90984" y="2387984"/>
              <a:ext cx="114418" cy="7606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811908" y="1937765"/>
              <a:ext cx="283845" cy="1134110"/>
            </a:xfrm>
            <a:custGeom>
              <a:avLst/>
              <a:gdLst/>
              <a:ahLst/>
              <a:cxnLst/>
              <a:rect l="l" t="t" r="r" b="b"/>
              <a:pathLst>
                <a:path w="283844" h="1134110">
                  <a:moveTo>
                    <a:pt x="0" y="1134110"/>
                  </a:moveTo>
                  <a:lnTo>
                    <a:pt x="283591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23881" y="1931425"/>
              <a:ext cx="119741" cy="6995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811908" y="2503550"/>
              <a:ext cx="1705610" cy="568325"/>
            </a:xfrm>
            <a:custGeom>
              <a:avLst/>
              <a:gdLst/>
              <a:ahLst/>
              <a:cxnLst/>
              <a:rect l="l" t="t" r="r" b="b"/>
              <a:pathLst>
                <a:path w="1705610" h="568325">
                  <a:moveTo>
                    <a:pt x="0" y="568325"/>
                  </a:moveTo>
                  <a:lnTo>
                    <a:pt x="1705229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50089" y="2460124"/>
              <a:ext cx="73391" cy="11733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63168" y="2788919"/>
              <a:ext cx="848994" cy="283210"/>
            </a:xfrm>
            <a:custGeom>
              <a:avLst/>
              <a:gdLst/>
              <a:ahLst/>
              <a:cxnLst/>
              <a:rect l="l" t="t" r="r" b="b"/>
              <a:pathLst>
                <a:path w="848994" h="283210">
                  <a:moveTo>
                    <a:pt x="848740" y="282955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6825" y="2745620"/>
              <a:ext cx="73314" cy="11720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528445" y="3071875"/>
              <a:ext cx="283845" cy="1134110"/>
            </a:xfrm>
            <a:custGeom>
              <a:avLst/>
              <a:gdLst/>
              <a:ahLst/>
              <a:cxnLst/>
              <a:rect l="l" t="t" r="r" b="b"/>
              <a:pathLst>
                <a:path w="283844" h="1134110">
                  <a:moveTo>
                    <a:pt x="283463" y="0"/>
                  </a:moveTo>
                  <a:lnTo>
                    <a:pt x="0" y="1134110"/>
                  </a:lnTo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80194" y="4142368"/>
              <a:ext cx="119741" cy="7008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811908" y="3071875"/>
              <a:ext cx="329565" cy="1138555"/>
            </a:xfrm>
            <a:custGeom>
              <a:avLst/>
              <a:gdLst/>
              <a:ahLst/>
              <a:cxnLst/>
              <a:rect l="l" t="t" r="r" b="b"/>
              <a:pathLst>
                <a:path w="329564" h="1138554">
                  <a:moveTo>
                    <a:pt x="0" y="0"/>
                  </a:moveTo>
                  <a:lnTo>
                    <a:pt x="283591" y="1134110"/>
                  </a:lnTo>
                </a:path>
                <a:path w="329564" h="1138554">
                  <a:moveTo>
                    <a:pt x="329184" y="1073023"/>
                  </a:moveTo>
                  <a:lnTo>
                    <a:pt x="308864" y="1087628"/>
                  </a:lnTo>
                  <a:lnTo>
                    <a:pt x="295402" y="1103757"/>
                  </a:lnTo>
                  <a:lnTo>
                    <a:pt x="287655" y="1120902"/>
                  </a:lnTo>
                  <a:lnTo>
                    <a:pt x="284480" y="1138047"/>
                  </a:lnTo>
                  <a:lnTo>
                    <a:pt x="273685" y="1124331"/>
                  </a:lnTo>
                  <a:lnTo>
                    <a:pt x="258826" y="1112901"/>
                  </a:lnTo>
                  <a:lnTo>
                    <a:pt x="239268" y="1105027"/>
                  </a:lnTo>
                  <a:lnTo>
                    <a:pt x="214503" y="1101725"/>
                  </a:lnTo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548507" y="2969514"/>
            <a:ext cx="26479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49908" y="970915"/>
            <a:ext cx="26479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86205" y="1993773"/>
            <a:ext cx="26797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957070" y="1536954"/>
            <a:ext cx="26797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409315" y="2108073"/>
            <a:ext cx="13906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519932" y="2203780"/>
            <a:ext cx="107950" cy="2197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spc="-50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04672" y="2741167"/>
            <a:ext cx="27876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62583" y="4168902"/>
            <a:ext cx="874394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620395" algn="l"/>
              </a:tabLst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875" baseline="-8888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85904" y="1887356"/>
            <a:ext cx="3181985" cy="2369185"/>
            <a:chOff x="385904" y="1887356"/>
            <a:chExt cx="3181985" cy="2369185"/>
          </a:xfrm>
        </p:grpSpPr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83750" y="2344175"/>
              <a:ext cx="85324" cy="8532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054742" y="1887356"/>
              <a:ext cx="85324" cy="8532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82095" y="2458348"/>
              <a:ext cx="85324" cy="85324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12885" y="2743717"/>
              <a:ext cx="85324" cy="85324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483750" y="4171070"/>
              <a:ext cx="85324" cy="85324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2057272" y="4173600"/>
              <a:ext cx="80645" cy="80645"/>
            </a:xfrm>
            <a:custGeom>
              <a:avLst/>
              <a:gdLst/>
              <a:ahLst/>
              <a:cxnLst/>
              <a:rect l="l" t="t" r="r" b="b"/>
              <a:pathLst>
                <a:path w="80644" h="80645">
                  <a:moveTo>
                    <a:pt x="40131" y="0"/>
                  </a:moveTo>
                  <a:lnTo>
                    <a:pt x="24510" y="3175"/>
                  </a:lnTo>
                  <a:lnTo>
                    <a:pt x="11810" y="11811"/>
                  </a:lnTo>
                  <a:lnTo>
                    <a:pt x="3175" y="24511"/>
                  </a:lnTo>
                  <a:lnTo>
                    <a:pt x="0" y="40131"/>
                  </a:lnTo>
                  <a:lnTo>
                    <a:pt x="3175" y="55753"/>
                  </a:lnTo>
                  <a:lnTo>
                    <a:pt x="11810" y="68580"/>
                  </a:lnTo>
                  <a:lnTo>
                    <a:pt x="24510" y="77088"/>
                  </a:lnTo>
                  <a:lnTo>
                    <a:pt x="40131" y="80263"/>
                  </a:lnTo>
                  <a:lnTo>
                    <a:pt x="55752" y="77088"/>
                  </a:lnTo>
                  <a:lnTo>
                    <a:pt x="68452" y="68580"/>
                  </a:lnTo>
                  <a:lnTo>
                    <a:pt x="77088" y="55753"/>
                  </a:lnTo>
                  <a:lnTo>
                    <a:pt x="80263" y="40131"/>
                  </a:lnTo>
                  <a:lnTo>
                    <a:pt x="77088" y="24511"/>
                  </a:lnTo>
                  <a:lnTo>
                    <a:pt x="68452" y="11811"/>
                  </a:lnTo>
                  <a:lnTo>
                    <a:pt x="55752" y="3175"/>
                  </a:lnTo>
                  <a:lnTo>
                    <a:pt x="40131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057272" y="4173600"/>
              <a:ext cx="80645" cy="80645"/>
            </a:xfrm>
            <a:custGeom>
              <a:avLst/>
              <a:gdLst/>
              <a:ahLst/>
              <a:cxnLst/>
              <a:rect l="l" t="t" r="r" b="b"/>
              <a:pathLst>
                <a:path w="80644" h="80645">
                  <a:moveTo>
                    <a:pt x="80263" y="40131"/>
                  </a:moveTo>
                  <a:lnTo>
                    <a:pt x="77088" y="24511"/>
                  </a:lnTo>
                  <a:lnTo>
                    <a:pt x="68452" y="11811"/>
                  </a:lnTo>
                  <a:lnTo>
                    <a:pt x="55752" y="3175"/>
                  </a:lnTo>
                  <a:lnTo>
                    <a:pt x="40131" y="0"/>
                  </a:lnTo>
                  <a:lnTo>
                    <a:pt x="24510" y="3175"/>
                  </a:lnTo>
                  <a:lnTo>
                    <a:pt x="11810" y="11811"/>
                  </a:lnTo>
                  <a:lnTo>
                    <a:pt x="3175" y="24511"/>
                  </a:lnTo>
                  <a:lnTo>
                    <a:pt x="0" y="40131"/>
                  </a:lnTo>
                  <a:lnTo>
                    <a:pt x="3175" y="55753"/>
                  </a:lnTo>
                  <a:lnTo>
                    <a:pt x="11810" y="68580"/>
                  </a:lnTo>
                  <a:lnTo>
                    <a:pt x="24510" y="77088"/>
                  </a:lnTo>
                  <a:lnTo>
                    <a:pt x="40131" y="80263"/>
                  </a:lnTo>
                  <a:lnTo>
                    <a:pt x="55752" y="77088"/>
                  </a:lnTo>
                  <a:lnTo>
                    <a:pt x="68452" y="68580"/>
                  </a:lnTo>
                  <a:lnTo>
                    <a:pt x="77088" y="55753"/>
                  </a:lnTo>
                  <a:lnTo>
                    <a:pt x="80263" y="40131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75754" y="3071875"/>
              <a:ext cx="1136650" cy="1136650"/>
            </a:xfrm>
            <a:custGeom>
              <a:avLst/>
              <a:gdLst/>
              <a:ahLst/>
              <a:cxnLst/>
              <a:rect l="l" t="t" r="r" b="b"/>
              <a:pathLst>
                <a:path w="1136650" h="1136650">
                  <a:moveTo>
                    <a:pt x="1136154" y="0"/>
                  </a:moveTo>
                  <a:lnTo>
                    <a:pt x="0" y="1136269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65489" y="4129668"/>
              <a:ext cx="88638" cy="88626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392277" y="3071875"/>
              <a:ext cx="1419860" cy="454659"/>
            </a:xfrm>
            <a:custGeom>
              <a:avLst/>
              <a:gdLst/>
              <a:ahLst/>
              <a:cxnLst/>
              <a:rect l="l" t="t" r="r" b="b"/>
              <a:pathLst>
                <a:path w="1419860" h="454660">
                  <a:moveTo>
                    <a:pt x="1419631" y="0"/>
                  </a:moveTo>
                  <a:lnTo>
                    <a:pt x="0" y="454278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85904" y="3452497"/>
              <a:ext cx="72969" cy="117978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676986" y="2390901"/>
              <a:ext cx="1135380" cy="681355"/>
            </a:xfrm>
            <a:custGeom>
              <a:avLst/>
              <a:gdLst/>
              <a:ahLst/>
              <a:cxnLst/>
              <a:rect l="l" t="t" r="r" b="b"/>
              <a:pathLst>
                <a:path w="1135380" h="681355">
                  <a:moveTo>
                    <a:pt x="1134922" y="680974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70990" y="2362325"/>
              <a:ext cx="80559" cy="106937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506981" y="2671533"/>
              <a:ext cx="308965" cy="404406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1811909" y="2105913"/>
              <a:ext cx="1421130" cy="966469"/>
            </a:xfrm>
            <a:custGeom>
              <a:avLst/>
              <a:gdLst/>
              <a:ahLst/>
              <a:cxnLst/>
              <a:rect l="l" t="t" r="r" b="b"/>
              <a:pathLst>
                <a:path w="1421130" h="966469">
                  <a:moveTo>
                    <a:pt x="0" y="965962"/>
                  </a:moveTo>
                  <a:lnTo>
                    <a:pt x="1420749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156709" y="2081400"/>
              <a:ext cx="81791" cy="103254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1811909" y="2105913"/>
              <a:ext cx="1421130" cy="966469"/>
            </a:xfrm>
            <a:custGeom>
              <a:avLst/>
              <a:gdLst/>
              <a:ahLst/>
              <a:cxnLst/>
              <a:rect l="l" t="t" r="r" b="b"/>
              <a:pathLst>
                <a:path w="1421130" h="966469">
                  <a:moveTo>
                    <a:pt x="0" y="965962"/>
                  </a:moveTo>
                  <a:lnTo>
                    <a:pt x="1420749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156709" y="2081400"/>
              <a:ext cx="81791" cy="103254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>
            <a:off x="4356861" y="849883"/>
            <a:ext cx="4456430" cy="3712845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50"/>
              </a:spcBef>
            </a:pP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initialized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1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a</a:t>
            </a:r>
            <a:r>
              <a:rPr sz="1750" spc="-20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random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value</a:t>
            </a:r>
            <a:endParaRPr sz="1750">
              <a:latin typeface="Arial MT"/>
              <a:cs typeface="Arial MT"/>
            </a:endParaRPr>
          </a:p>
          <a:p>
            <a:pPr marL="40640" marR="34290" indent="-2540">
              <a:lnSpc>
                <a:spcPct val="116799"/>
              </a:lnSpc>
              <a:spcBef>
                <a:spcPts val="395"/>
              </a:spcBef>
              <a:tabLst>
                <a:tab pos="3227070" algn="l"/>
              </a:tabLst>
            </a:pP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observe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that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currently,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1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·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5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5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spc="-85" dirty="0">
                <a:solidFill>
                  <a:srgbClr val="213739"/>
                </a:solidFill>
                <a:latin typeface="Lucida Sans Unicode"/>
                <a:cs typeface="Lucida Sans Unicode"/>
              </a:rPr>
              <a:t>∵</a:t>
            </a:r>
            <a:r>
              <a:rPr sz="1750" spc="-23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angle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&gt;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90°)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for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all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positive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points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5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·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459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≥</a:t>
            </a:r>
            <a:r>
              <a:rPr sz="1750" spc="4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4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spc="-25" dirty="0">
                <a:solidFill>
                  <a:srgbClr val="213739"/>
                </a:solidFill>
                <a:latin typeface="Lucida Sans Unicode"/>
                <a:cs typeface="Lucida Sans Unicode"/>
              </a:rPr>
              <a:t>∵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angle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spc="40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90°)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for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all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negative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points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(the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situ-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ation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is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exactly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oppsite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what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actually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want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it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be)</a:t>
            </a:r>
            <a:endParaRPr sz="1750">
              <a:latin typeface="Arial MT"/>
              <a:cs typeface="Arial MT"/>
            </a:endParaRPr>
          </a:p>
          <a:p>
            <a:pPr marL="40640" marR="33655" indent="-3175">
              <a:lnSpc>
                <a:spcPct val="117700"/>
              </a:lnSpc>
              <a:spcBef>
                <a:spcPts val="495"/>
              </a:spcBef>
            </a:pPr>
            <a:r>
              <a:rPr sz="1750" spc="-16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now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run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algorithm</a:t>
            </a:r>
            <a:r>
              <a:rPr sz="1750" spc="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by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randomly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going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over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points</a:t>
            </a:r>
            <a:endParaRPr sz="1750">
              <a:latin typeface="Arial MT"/>
              <a:cs typeface="Arial MT"/>
            </a:endParaRPr>
          </a:p>
          <a:p>
            <a:pPr marL="41275" marR="30480" indent="-3810" algn="just">
              <a:lnSpc>
                <a:spcPct val="117200"/>
              </a:lnSpc>
              <a:spcBef>
                <a:spcPts val="710"/>
              </a:spcBef>
            </a:pP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Randomly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5" dirty="0">
                <a:solidFill>
                  <a:srgbClr val="213739"/>
                </a:solidFill>
                <a:latin typeface="Arial MT"/>
                <a:cs typeface="Arial MT"/>
              </a:rPr>
              <a:t>pick</a:t>
            </a:r>
            <a:r>
              <a:rPr sz="1750" spc="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a</a:t>
            </a:r>
            <a:r>
              <a:rPr sz="1750" spc="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point</a:t>
            </a:r>
            <a:r>
              <a:rPr sz="1750" spc="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(say,</a:t>
            </a:r>
            <a:r>
              <a:rPr sz="1750" spc="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spc="-5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875" spc="-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),</a:t>
            </a:r>
            <a:r>
              <a:rPr sz="1750" spc="1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no</a:t>
            </a:r>
            <a:r>
              <a:rPr sz="1750" spc="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correction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needed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5" dirty="0">
                <a:solidFill>
                  <a:srgbClr val="213739"/>
                </a:solidFill>
                <a:latin typeface="Lucida Sans Unicode"/>
                <a:cs typeface="Lucida Sans Unicode"/>
              </a:rPr>
              <a:t>∵</a:t>
            </a:r>
            <a:r>
              <a:rPr sz="1750" spc="409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b="1" spc="-1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5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45" dirty="0">
                <a:solidFill>
                  <a:srgbClr val="213739"/>
                </a:solidFill>
                <a:latin typeface="Lucida Sans Unicode"/>
                <a:cs typeface="Lucida Sans Unicode"/>
              </a:rPr>
              <a:t>·</a:t>
            </a:r>
            <a:r>
              <a:rPr sz="1750" b="1" spc="-14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27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5" dirty="0">
                <a:solidFill>
                  <a:srgbClr val="213739"/>
                </a:solidFill>
                <a:latin typeface="Lucida Sans Unicode"/>
                <a:cs typeface="Lucida Sans Unicode"/>
              </a:rPr>
              <a:t>≥</a:t>
            </a:r>
            <a:r>
              <a:rPr sz="1750" spc="-15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b="1" spc="-1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b="1" spc="27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(you</a:t>
            </a:r>
            <a:r>
              <a:rPr sz="1750" spc="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can</a:t>
            </a:r>
            <a:r>
              <a:rPr sz="1750" spc="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check</a:t>
            </a:r>
            <a:r>
              <a:rPr sz="1750" spc="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5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angle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visually)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8781415" y="5603912"/>
            <a:ext cx="196215" cy="206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spc="-25" dirty="0">
                <a:solidFill>
                  <a:srgbClr val="213739"/>
                </a:solidFill>
                <a:latin typeface="Arial MT"/>
                <a:cs typeface="Arial MT"/>
              </a:rPr>
              <a:t>40</a:t>
            </a:r>
            <a:endParaRPr sz="125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56825" y="1076578"/>
            <a:ext cx="2850515" cy="3136265"/>
            <a:chOff x="956825" y="1076578"/>
            <a:chExt cx="2850515" cy="3136265"/>
          </a:xfrm>
        </p:grpSpPr>
        <p:sp>
          <p:nvSpPr>
            <p:cNvPr id="3" name="object 3"/>
            <p:cNvSpPr/>
            <p:nvPr/>
          </p:nvSpPr>
          <p:spPr>
            <a:xfrm>
              <a:off x="1749298" y="1081658"/>
              <a:ext cx="2052955" cy="2052955"/>
            </a:xfrm>
            <a:custGeom>
              <a:avLst/>
              <a:gdLst/>
              <a:ahLst/>
              <a:cxnLst/>
              <a:rect l="l" t="t" r="r" b="b"/>
              <a:pathLst>
                <a:path w="2052954" h="2052955">
                  <a:moveTo>
                    <a:pt x="62610" y="1990216"/>
                  </a:moveTo>
                  <a:lnTo>
                    <a:pt x="2044827" y="1990216"/>
                  </a:lnTo>
                </a:path>
                <a:path w="2052954" h="2052955">
                  <a:moveTo>
                    <a:pt x="2001519" y="1927605"/>
                  </a:moveTo>
                  <a:lnTo>
                    <a:pt x="2010537" y="1952243"/>
                  </a:lnTo>
                  <a:lnTo>
                    <a:pt x="2022855" y="1970277"/>
                  </a:lnTo>
                  <a:lnTo>
                    <a:pt x="2037334" y="1982596"/>
                  </a:lnTo>
                  <a:lnTo>
                    <a:pt x="2052827" y="1990216"/>
                  </a:lnTo>
                  <a:lnTo>
                    <a:pt x="2037334" y="1997837"/>
                  </a:lnTo>
                  <a:lnTo>
                    <a:pt x="2022855" y="2010155"/>
                  </a:lnTo>
                  <a:lnTo>
                    <a:pt x="2010537" y="2028316"/>
                  </a:lnTo>
                  <a:lnTo>
                    <a:pt x="2001519" y="2052954"/>
                  </a:lnTo>
                </a:path>
                <a:path w="2052954" h="2052955">
                  <a:moveTo>
                    <a:pt x="62610" y="1990216"/>
                  </a:moveTo>
                  <a:lnTo>
                    <a:pt x="62610" y="8000"/>
                  </a:lnTo>
                </a:path>
                <a:path w="2052954" h="2052955">
                  <a:moveTo>
                    <a:pt x="0" y="51307"/>
                  </a:moveTo>
                  <a:lnTo>
                    <a:pt x="24637" y="42290"/>
                  </a:lnTo>
                  <a:lnTo>
                    <a:pt x="42671" y="30099"/>
                  </a:lnTo>
                  <a:lnTo>
                    <a:pt x="55118" y="15620"/>
                  </a:lnTo>
                  <a:lnTo>
                    <a:pt x="62610" y="0"/>
                  </a:lnTo>
                  <a:lnTo>
                    <a:pt x="70231" y="15620"/>
                  </a:lnTo>
                  <a:lnTo>
                    <a:pt x="82676" y="30099"/>
                  </a:lnTo>
                  <a:lnTo>
                    <a:pt x="100710" y="42290"/>
                  </a:lnTo>
                  <a:lnTo>
                    <a:pt x="125349" y="51307"/>
                  </a:lnTo>
                </a:path>
              </a:pathLst>
            </a:custGeom>
            <a:ln w="10122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529588" y="2394203"/>
              <a:ext cx="282575" cy="678180"/>
            </a:xfrm>
            <a:custGeom>
              <a:avLst/>
              <a:gdLst/>
              <a:ahLst/>
              <a:cxnLst/>
              <a:rect l="l" t="t" r="r" b="b"/>
              <a:pathLst>
                <a:path w="282575" h="678180">
                  <a:moveTo>
                    <a:pt x="282320" y="677672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90984" y="2387984"/>
              <a:ext cx="114418" cy="7606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811908" y="1937765"/>
              <a:ext cx="283845" cy="1134110"/>
            </a:xfrm>
            <a:custGeom>
              <a:avLst/>
              <a:gdLst/>
              <a:ahLst/>
              <a:cxnLst/>
              <a:rect l="l" t="t" r="r" b="b"/>
              <a:pathLst>
                <a:path w="283844" h="1134110">
                  <a:moveTo>
                    <a:pt x="0" y="1134110"/>
                  </a:moveTo>
                  <a:lnTo>
                    <a:pt x="283591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23881" y="1931425"/>
              <a:ext cx="119741" cy="6995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811908" y="2503550"/>
              <a:ext cx="1705610" cy="568325"/>
            </a:xfrm>
            <a:custGeom>
              <a:avLst/>
              <a:gdLst/>
              <a:ahLst/>
              <a:cxnLst/>
              <a:rect l="l" t="t" r="r" b="b"/>
              <a:pathLst>
                <a:path w="1705610" h="568325">
                  <a:moveTo>
                    <a:pt x="0" y="568325"/>
                  </a:moveTo>
                  <a:lnTo>
                    <a:pt x="1705229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50089" y="2460124"/>
              <a:ext cx="73391" cy="11733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63168" y="2788919"/>
              <a:ext cx="848994" cy="283210"/>
            </a:xfrm>
            <a:custGeom>
              <a:avLst/>
              <a:gdLst/>
              <a:ahLst/>
              <a:cxnLst/>
              <a:rect l="l" t="t" r="r" b="b"/>
              <a:pathLst>
                <a:path w="848994" h="283210">
                  <a:moveTo>
                    <a:pt x="848740" y="282955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6825" y="2745620"/>
              <a:ext cx="73314" cy="11720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528445" y="3071875"/>
              <a:ext cx="283845" cy="1134110"/>
            </a:xfrm>
            <a:custGeom>
              <a:avLst/>
              <a:gdLst/>
              <a:ahLst/>
              <a:cxnLst/>
              <a:rect l="l" t="t" r="r" b="b"/>
              <a:pathLst>
                <a:path w="283844" h="1134110">
                  <a:moveTo>
                    <a:pt x="283463" y="0"/>
                  </a:moveTo>
                  <a:lnTo>
                    <a:pt x="0" y="1134110"/>
                  </a:lnTo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80194" y="4142368"/>
              <a:ext cx="119741" cy="7008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811908" y="3071875"/>
              <a:ext cx="329565" cy="1138555"/>
            </a:xfrm>
            <a:custGeom>
              <a:avLst/>
              <a:gdLst/>
              <a:ahLst/>
              <a:cxnLst/>
              <a:rect l="l" t="t" r="r" b="b"/>
              <a:pathLst>
                <a:path w="329564" h="1138554">
                  <a:moveTo>
                    <a:pt x="0" y="0"/>
                  </a:moveTo>
                  <a:lnTo>
                    <a:pt x="283591" y="1134110"/>
                  </a:lnTo>
                </a:path>
                <a:path w="329564" h="1138554">
                  <a:moveTo>
                    <a:pt x="329184" y="1073023"/>
                  </a:moveTo>
                  <a:lnTo>
                    <a:pt x="308864" y="1087628"/>
                  </a:lnTo>
                  <a:lnTo>
                    <a:pt x="295402" y="1103757"/>
                  </a:lnTo>
                  <a:lnTo>
                    <a:pt x="287655" y="1120902"/>
                  </a:lnTo>
                  <a:lnTo>
                    <a:pt x="284480" y="1138047"/>
                  </a:lnTo>
                  <a:lnTo>
                    <a:pt x="273685" y="1124331"/>
                  </a:lnTo>
                  <a:lnTo>
                    <a:pt x="258826" y="1112901"/>
                  </a:lnTo>
                  <a:lnTo>
                    <a:pt x="239268" y="1105027"/>
                  </a:lnTo>
                  <a:lnTo>
                    <a:pt x="214503" y="1101725"/>
                  </a:lnTo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548507" y="2969514"/>
            <a:ext cx="26479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49908" y="970915"/>
            <a:ext cx="26479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86205" y="1993773"/>
            <a:ext cx="26797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957070" y="1536954"/>
            <a:ext cx="26797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409315" y="2108073"/>
            <a:ext cx="13906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519932" y="2203780"/>
            <a:ext cx="107950" cy="2197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spc="-50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04672" y="2741167"/>
            <a:ext cx="27876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62583" y="4168902"/>
            <a:ext cx="874394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620395" algn="l"/>
              </a:tabLst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875" baseline="-8888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85904" y="1887356"/>
            <a:ext cx="3181985" cy="2369185"/>
            <a:chOff x="385904" y="1887356"/>
            <a:chExt cx="3181985" cy="2369185"/>
          </a:xfrm>
        </p:grpSpPr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83750" y="2344175"/>
              <a:ext cx="85324" cy="8532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054742" y="1887356"/>
              <a:ext cx="85324" cy="8532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82095" y="2458348"/>
              <a:ext cx="85324" cy="85324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12885" y="2743717"/>
              <a:ext cx="85324" cy="85324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483750" y="4171070"/>
              <a:ext cx="85324" cy="85324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2057272" y="4173600"/>
              <a:ext cx="80645" cy="80645"/>
            </a:xfrm>
            <a:custGeom>
              <a:avLst/>
              <a:gdLst/>
              <a:ahLst/>
              <a:cxnLst/>
              <a:rect l="l" t="t" r="r" b="b"/>
              <a:pathLst>
                <a:path w="80644" h="80645">
                  <a:moveTo>
                    <a:pt x="40131" y="0"/>
                  </a:moveTo>
                  <a:lnTo>
                    <a:pt x="24510" y="3175"/>
                  </a:lnTo>
                  <a:lnTo>
                    <a:pt x="11810" y="11811"/>
                  </a:lnTo>
                  <a:lnTo>
                    <a:pt x="3175" y="24511"/>
                  </a:lnTo>
                  <a:lnTo>
                    <a:pt x="0" y="40131"/>
                  </a:lnTo>
                  <a:lnTo>
                    <a:pt x="3175" y="55753"/>
                  </a:lnTo>
                  <a:lnTo>
                    <a:pt x="11810" y="68580"/>
                  </a:lnTo>
                  <a:lnTo>
                    <a:pt x="24510" y="77088"/>
                  </a:lnTo>
                  <a:lnTo>
                    <a:pt x="40131" y="80263"/>
                  </a:lnTo>
                  <a:lnTo>
                    <a:pt x="55752" y="77088"/>
                  </a:lnTo>
                  <a:lnTo>
                    <a:pt x="68452" y="68580"/>
                  </a:lnTo>
                  <a:lnTo>
                    <a:pt x="77088" y="55753"/>
                  </a:lnTo>
                  <a:lnTo>
                    <a:pt x="80263" y="40131"/>
                  </a:lnTo>
                  <a:lnTo>
                    <a:pt x="77088" y="24511"/>
                  </a:lnTo>
                  <a:lnTo>
                    <a:pt x="68452" y="11811"/>
                  </a:lnTo>
                  <a:lnTo>
                    <a:pt x="55752" y="3175"/>
                  </a:lnTo>
                  <a:lnTo>
                    <a:pt x="40131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057272" y="4173600"/>
              <a:ext cx="80645" cy="80645"/>
            </a:xfrm>
            <a:custGeom>
              <a:avLst/>
              <a:gdLst/>
              <a:ahLst/>
              <a:cxnLst/>
              <a:rect l="l" t="t" r="r" b="b"/>
              <a:pathLst>
                <a:path w="80644" h="80645">
                  <a:moveTo>
                    <a:pt x="80263" y="40131"/>
                  </a:moveTo>
                  <a:lnTo>
                    <a:pt x="77088" y="24511"/>
                  </a:lnTo>
                  <a:lnTo>
                    <a:pt x="68452" y="11811"/>
                  </a:lnTo>
                  <a:lnTo>
                    <a:pt x="55752" y="3175"/>
                  </a:lnTo>
                  <a:lnTo>
                    <a:pt x="40131" y="0"/>
                  </a:lnTo>
                  <a:lnTo>
                    <a:pt x="24510" y="3175"/>
                  </a:lnTo>
                  <a:lnTo>
                    <a:pt x="11810" y="11811"/>
                  </a:lnTo>
                  <a:lnTo>
                    <a:pt x="3175" y="24511"/>
                  </a:lnTo>
                  <a:lnTo>
                    <a:pt x="0" y="40131"/>
                  </a:lnTo>
                  <a:lnTo>
                    <a:pt x="3175" y="55753"/>
                  </a:lnTo>
                  <a:lnTo>
                    <a:pt x="11810" y="68580"/>
                  </a:lnTo>
                  <a:lnTo>
                    <a:pt x="24510" y="77088"/>
                  </a:lnTo>
                  <a:lnTo>
                    <a:pt x="40131" y="80263"/>
                  </a:lnTo>
                  <a:lnTo>
                    <a:pt x="55752" y="77088"/>
                  </a:lnTo>
                  <a:lnTo>
                    <a:pt x="68452" y="68580"/>
                  </a:lnTo>
                  <a:lnTo>
                    <a:pt x="77088" y="55753"/>
                  </a:lnTo>
                  <a:lnTo>
                    <a:pt x="80263" y="40131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75754" y="3071875"/>
              <a:ext cx="1136650" cy="1136650"/>
            </a:xfrm>
            <a:custGeom>
              <a:avLst/>
              <a:gdLst/>
              <a:ahLst/>
              <a:cxnLst/>
              <a:rect l="l" t="t" r="r" b="b"/>
              <a:pathLst>
                <a:path w="1136650" h="1136650">
                  <a:moveTo>
                    <a:pt x="1136154" y="0"/>
                  </a:moveTo>
                  <a:lnTo>
                    <a:pt x="0" y="1136269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65489" y="4129668"/>
              <a:ext cx="88638" cy="88626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392277" y="3071875"/>
              <a:ext cx="1419860" cy="454659"/>
            </a:xfrm>
            <a:custGeom>
              <a:avLst/>
              <a:gdLst/>
              <a:ahLst/>
              <a:cxnLst/>
              <a:rect l="l" t="t" r="r" b="b"/>
              <a:pathLst>
                <a:path w="1419860" h="454660">
                  <a:moveTo>
                    <a:pt x="1419631" y="0"/>
                  </a:moveTo>
                  <a:lnTo>
                    <a:pt x="0" y="454278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85904" y="3452497"/>
              <a:ext cx="72969" cy="117978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676986" y="2390901"/>
              <a:ext cx="1135380" cy="681355"/>
            </a:xfrm>
            <a:custGeom>
              <a:avLst/>
              <a:gdLst/>
              <a:ahLst/>
              <a:cxnLst/>
              <a:rect l="l" t="t" r="r" b="b"/>
              <a:pathLst>
                <a:path w="1135380" h="681355">
                  <a:moveTo>
                    <a:pt x="1134922" y="680974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70990" y="2362325"/>
              <a:ext cx="80559" cy="106937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506981" y="2671533"/>
              <a:ext cx="308965" cy="404406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1811909" y="2105913"/>
              <a:ext cx="1421130" cy="966469"/>
            </a:xfrm>
            <a:custGeom>
              <a:avLst/>
              <a:gdLst/>
              <a:ahLst/>
              <a:cxnLst/>
              <a:rect l="l" t="t" r="r" b="b"/>
              <a:pathLst>
                <a:path w="1421130" h="966469">
                  <a:moveTo>
                    <a:pt x="0" y="965962"/>
                  </a:moveTo>
                  <a:lnTo>
                    <a:pt x="1420749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156709" y="2081400"/>
              <a:ext cx="81791" cy="103254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1811909" y="2105913"/>
              <a:ext cx="1421130" cy="966469"/>
            </a:xfrm>
            <a:custGeom>
              <a:avLst/>
              <a:gdLst/>
              <a:ahLst/>
              <a:cxnLst/>
              <a:rect l="l" t="t" r="r" b="b"/>
              <a:pathLst>
                <a:path w="1421130" h="966469">
                  <a:moveTo>
                    <a:pt x="0" y="965962"/>
                  </a:moveTo>
                  <a:lnTo>
                    <a:pt x="1420749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156709" y="2081400"/>
              <a:ext cx="81791" cy="103254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>
            <a:off x="4356861" y="849883"/>
            <a:ext cx="4456430" cy="3712845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50"/>
              </a:spcBef>
            </a:pP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initialized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1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a</a:t>
            </a:r>
            <a:r>
              <a:rPr sz="1750" spc="-20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random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value</a:t>
            </a:r>
            <a:endParaRPr sz="1750">
              <a:latin typeface="Arial MT"/>
              <a:cs typeface="Arial MT"/>
            </a:endParaRPr>
          </a:p>
          <a:p>
            <a:pPr marL="40640" marR="34290" indent="-2540">
              <a:lnSpc>
                <a:spcPct val="116799"/>
              </a:lnSpc>
              <a:spcBef>
                <a:spcPts val="395"/>
              </a:spcBef>
              <a:tabLst>
                <a:tab pos="3227070" algn="l"/>
              </a:tabLst>
            </a:pP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observe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that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currently,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1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·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5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5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spc="-85" dirty="0">
                <a:solidFill>
                  <a:srgbClr val="213739"/>
                </a:solidFill>
                <a:latin typeface="Lucida Sans Unicode"/>
                <a:cs typeface="Lucida Sans Unicode"/>
              </a:rPr>
              <a:t>∵</a:t>
            </a:r>
            <a:r>
              <a:rPr sz="1750" spc="-23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angle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&gt;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90°)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for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all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positive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points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5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·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459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≥</a:t>
            </a:r>
            <a:r>
              <a:rPr sz="1750" spc="4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4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spc="-25" dirty="0">
                <a:solidFill>
                  <a:srgbClr val="213739"/>
                </a:solidFill>
                <a:latin typeface="Lucida Sans Unicode"/>
                <a:cs typeface="Lucida Sans Unicode"/>
              </a:rPr>
              <a:t>∵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angle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spc="40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90°)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for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all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negative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points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(the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situ-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ation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is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exactly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oppsite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what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actually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want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it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be)</a:t>
            </a:r>
            <a:endParaRPr sz="1750">
              <a:latin typeface="Arial MT"/>
              <a:cs typeface="Arial MT"/>
            </a:endParaRPr>
          </a:p>
          <a:p>
            <a:pPr marL="40640" marR="33655" indent="-3175">
              <a:lnSpc>
                <a:spcPct val="117700"/>
              </a:lnSpc>
              <a:spcBef>
                <a:spcPts val="495"/>
              </a:spcBef>
            </a:pPr>
            <a:r>
              <a:rPr sz="1750" spc="-16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now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run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algorithm</a:t>
            </a:r>
            <a:r>
              <a:rPr sz="1750" spc="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by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randomly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going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over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points</a:t>
            </a:r>
            <a:endParaRPr sz="1750">
              <a:latin typeface="Arial MT"/>
              <a:cs typeface="Arial MT"/>
            </a:endParaRPr>
          </a:p>
          <a:p>
            <a:pPr marL="41275" marR="30480" indent="-3810" algn="just">
              <a:lnSpc>
                <a:spcPct val="117200"/>
              </a:lnSpc>
              <a:spcBef>
                <a:spcPts val="710"/>
              </a:spcBef>
            </a:pP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Randomly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5" dirty="0">
                <a:solidFill>
                  <a:srgbClr val="213739"/>
                </a:solidFill>
                <a:latin typeface="Arial MT"/>
                <a:cs typeface="Arial MT"/>
              </a:rPr>
              <a:t>pick</a:t>
            </a:r>
            <a:r>
              <a:rPr sz="1750" spc="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a</a:t>
            </a:r>
            <a:r>
              <a:rPr sz="1750" spc="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point</a:t>
            </a:r>
            <a:r>
              <a:rPr sz="1750" spc="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(say,</a:t>
            </a:r>
            <a:r>
              <a:rPr sz="1750" spc="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spc="-5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875" spc="-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),</a:t>
            </a:r>
            <a:r>
              <a:rPr sz="1750" spc="1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no</a:t>
            </a:r>
            <a:r>
              <a:rPr sz="1750" spc="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correction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needed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5" dirty="0">
                <a:solidFill>
                  <a:srgbClr val="213739"/>
                </a:solidFill>
                <a:latin typeface="Lucida Sans Unicode"/>
                <a:cs typeface="Lucida Sans Unicode"/>
              </a:rPr>
              <a:t>∵</a:t>
            </a:r>
            <a:r>
              <a:rPr sz="1750" spc="409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b="1" spc="-1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5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45" dirty="0">
                <a:solidFill>
                  <a:srgbClr val="213739"/>
                </a:solidFill>
                <a:latin typeface="Lucida Sans Unicode"/>
                <a:cs typeface="Lucida Sans Unicode"/>
              </a:rPr>
              <a:t>·</a:t>
            </a:r>
            <a:r>
              <a:rPr sz="1750" b="1" spc="-14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27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5" dirty="0">
                <a:solidFill>
                  <a:srgbClr val="213739"/>
                </a:solidFill>
                <a:latin typeface="Lucida Sans Unicode"/>
                <a:cs typeface="Lucida Sans Unicode"/>
              </a:rPr>
              <a:t>≥</a:t>
            </a:r>
            <a:r>
              <a:rPr sz="1750" spc="-15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b="1" spc="-1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b="1" spc="27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(you</a:t>
            </a:r>
            <a:r>
              <a:rPr sz="1750" spc="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can</a:t>
            </a:r>
            <a:r>
              <a:rPr sz="1750" spc="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check</a:t>
            </a:r>
            <a:r>
              <a:rPr sz="1750" spc="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5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angle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visually)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8781415" y="5603912"/>
            <a:ext cx="196215" cy="206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spc="-25" dirty="0">
                <a:solidFill>
                  <a:srgbClr val="213739"/>
                </a:solidFill>
                <a:latin typeface="Arial MT"/>
                <a:cs typeface="Arial MT"/>
              </a:rPr>
              <a:t>40</a:t>
            </a:r>
            <a:endParaRPr sz="125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56825" y="1076578"/>
            <a:ext cx="2850515" cy="3136265"/>
            <a:chOff x="956825" y="1076578"/>
            <a:chExt cx="2850515" cy="3136265"/>
          </a:xfrm>
        </p:grpSpPr>
        <p:sp>
          <p:nvSpPr>
            <p:cNvPr id="3" name="object 3"/>
            <p:cNvSpPr/>
            <p:nvPr/>
          </p:nvSpPr>
          <p:spPr>
            <a:xfrm>
              <a:off x="1749298" y="1081658"/>
              <a:ext cx="2052955" cy="2052955"/>
            </a:xfrm>
            <a:custGeom>
              <a:avLst/>
              <a:gdLst/>
              <a:ahLst/>
              <a:cxnLst/>
              <a:rect l="l" t="t" r="r" b="b"/>
              <a:pathLst>
                <a:path w="2052954" h="2052955">
                  <a:moveTo>
                    <a:pt x="62610" y="1990216"/>
                  </a:moveTo>
                  <a:lnTo>
                    <a:pt x="2044827" y="1990216"/>
                  </a:lnTo>
                </a:path>
                <a:path w="2052954" h="2052955">
                  <a:moveTo>
                    <a:pt x="2001519" y="1927605"/>
                  </a:moveTo>
                  <a:lnTo>
                    <a:pt x="2010537" y="1952243"/>
                  </a:lnTo>
                  <a:lnTo>
                    <a:pt x="2022855" y="1970277"/>
                  </a:lnTo>
                  <a:lnTo>
                    <a:pt x="2037334" y="1982596"/>
                  </a:lnTo>
                  <a:lnTo>
                    <a:pt x="2052827" y="1990216"/>
                  </a:lnTo>
                  <a:lnTo>
                    <a:pt x="2037334" y="1997837"/>
                  </a:lnTo>
                  <a:lnTo>
                    <a:pt x="2022855" y="2010155"/>
                  </a:lnTo>
                  <a:lnTo>
                    <a:pt x="2010537" y="2028316"/>
                  </a:lnTo>
                  <a:lnTo>
                    <a:pt x="2001519" y="2052954"/>
                  </a:lnTo>
                </a:path>
                <a:path w="2052954" h="2052955">
                  <a:moveTo>
                    <a:pt x="62610" y="1990216"/>
                  </a:moveTo>
                  <a:lnTo>
                    <a:pt x="62610" y="8000"/>
                  </a:lnTo>
                </a:path>
                <a:path w="2052954" h="2052955">
                  <a:moveTo>
                    <a:pt x="0" y="51307"/>
                  </a:moveTo>
                  <a:lnTo>
                    <a:pt x="24637" y="42290"/>
                  </a:lnTo>
                  <a:lnTo>
                    <a:pt x="42671" y="30099"/>
                  </a:lnTo>
                  <a:lnTo>
                    <a:pt x="55118" y="15620"/>
                  </a:lnTo>
                  <a:lnTo>
                    <a:pt x="62610" y="0"/>
                  </a:lnTo>
                  <a:lnTo>
                    <a:pt x="70231" y="15620"/>
                  </a:lnTo>
                  <a:lnTo>
                    <a:pt x="82676" y="30099"/>
                  </a:lnTo>
                  <a:lnTo>
                    <a:pt x="100710" y="42290"/>
                  </a:lnTo>
                  <a:lnTo>
                    <a:pt x="125349" y="51307"/>
                  </a:lnTo>
                </a:path>
              </a:pathLst>
            </a:custGeom>
            <a:ln w="10122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529588" y="2394203"/>
              <a:ext cx="282575" cy="678180"/>
            </a:xfrm>
            <a:custGeom>
              <a:avLst/>
              <a:gdLst/>
              <a:ahLst/>
              <a:cxnLst/>
              <a:rect l="l" t="t" r="r" b="b"/>
              <a:pathLst>
                <a:path w="282575" h="678180">
                  <a:moveTo>
                    <a:pt x="282320" y="677672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90984" y="2387984"/>
              <a:ext cx="114418" cy="7606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811908" y="1937765"/>
              <a:ext cx="283845" cy="1134110"/>
            </a:xfrm>
            <a:custGeom>
              <a:avLst/>
              <a:gdLst/>
              <a:ahLst/>
              <a:cxnLst/>
              <a:rect l="l" t="t" r="r" b="b"/>
              <a:pathLst>
                <a:path w="283844" h="1134110">
                  <a:moveTo>
                    <a:pt x="0" y="1134110"/>
                  </a:moveTo>
                  <a:lnTo>
                    <a:pt x="283591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23881" y="1931425"/>
              <a:ext cx="119741" cy="6995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811908" y="2503550"/>
              <a:ext cx="1705610" cy="568325"/>
            </a:xfrm>
            <a:custGeom>
              <a:avLst/>
              <a:gdLst/>
              <a:ahLst/>
              <a:cxnLst/>
              <a:rect l="l" t="t" r="r" b="b"/>
              <a:pathLst>
                <a:path w="1705610" h="568325">
                  <a:moveTo>
                    <a:pt x="0" y="568325"/>
                  </a:moveTo>
                  <a:lnTo>
                    <a:pt x="1705229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50089" y="2460124"/>
              <a:ext cx="73391" cy="11733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63168" y="2788919"/>
              <a:ext cx="848994" cy="283210"/>
            </a:xfrm>
            <a:custGeom>
              <a:avLst/>
              <a:gdLst/>
              <a:ahLst/>
              <a:cxnLst/>
              <a:rect l="l" t="t" r="r" b="b"/>
              <a:pathLst>
                <a:path w="848994" h="283210">
                  <a:moveTo>
                    <a:pt x="848740" y="282955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6825" y="2745620"/>
              <a:ext cx="73314" cy="11720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528445" y="3071875"/>
              <a:ext cx="283845" cy="1134110"/>
            </a:xfrm>
            <a:custGeom>
              <a:avLst/>
              <a:gdLst/>
              <a:ahLst/>
              <a:cxnLst/>
              <a:rect l="l" t="t" r="r" b="b"/>
              <a:pathLst>
                <a:path w="283844" h="1134110">
                  <a:moveTo>
                    <a:pt x="283463" y="0"/>
                  </a:moveTo>
                  <a:lnTo>
                    <a:pt x="0" y="1134110"/>
                  </a:lnTo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80194" y="4142368"/>
              <a:ext cx="119741" cy="7008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811908" y="3071875"/>
              <a:ext cx="329565" cy="1138555"/>
            </a:xfrm>
            <a:custGeom>
              <a:avLst/>
              <a:gdLst/>
              <a:ahLst/>
              <a:cxnLst/>
              <a:rect l="l" t="t" r="r" b="b"/>
              <a:pathLst>
                <a:path w="329564" h="1138554">
                  <a:moveTo>
                    <a:pt x="0" y="0"/>
                  </a:moveTo>
                  <a:lnTo>
                    <a:pt x="283591" y="1134110"/>
                  </a:lnTo>
                </a:path>
                <a:path w="329564" h="1138554">
                  <a:moveTo>
                    <a:pt x="329184" y="1073023"/>
                  </a:moveTo>
                  <a:lnTo>
                    <a:pt x="308864" y="1087628"/>
                  </a:lnTo>
                  <a:lnTo>
                    <a:pt x="295402" y="1103757"/>
                  </a:lnTo>
                  <a:lnTo>
                    <a:pt x="287655" y="1120902"/>
                  </a:lnTo>
                  <a:lnTo>
                    <a:pt x="284480" y="1138047"/>
                  </a:lnTo>
                  <a:lnTo>
                    <a:pt x="273685" y="1124331"/>
                  </a:lnTo>
                  <a:lnTo>
                    <a:pt x="258826" y="1112901"/>
                  </a:lnTo>
                  <a:lnTo>
                    <a:pt x="239268" y="1105027"/>
                  </a:lnTo>
                  <a:lnTo>
                    <a:pt x="214503" y="1101725"/>
                  </a:lnTo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548507" y="2969514"/>
            <a:ext cx="26479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49908" y="970915"/>
            <a:ext cx="26479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86205" y="1993773"/>
            <a:ext cx="26797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957070" y="1536954"/>
            <a:ext cx="26797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409315" y="2108073"/>
            <a:ext cx="13906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519932" y="2203780"/>
            <a:ext cx="107950" cy="2197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spc="-50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04672" y="2741167"/>
            <a:ext cx="27876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62583" y="4168902"/>
            <a:ext cx="874394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620395" algn="l"/>
              </a:tabLst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875" baseline="-8888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85904" y="1887356"/>
            <a:ext cx="3181985" cy="2369185"/>
            <a:chOff x="385904" y="1887356"/>
            <a:chExt cx="3181985" cy="2369185"/>
          </a:xfrm>
        </p:grpSpPr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83750" y="2344175"/>
              <a:ext cx="85324" cy="8532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054742" y="1887356"/>
              <a:ext cx="85324" cy="8532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82095" y="2458348"/>
              <a:ext cx="85324" cy="85324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12885" y="2743717"/>
              <a:ext cx="85324" cy="85324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483750" y="4171070"/>
              <a:ext cx="85324" cy="85324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2057272" y="4173600"/>
              <a:ext cx="80645" cy="80645"/>
            </a:xfrm>
            <a:custGeom>
              <a:avLst/>
              <a:gdLst/>
              <a:ahLst/>
              <a:cxnLst/>
              <a:rect l="l" t="t" r="r" b="b"/>
              <a:pathLst>
                <a:path w="80644" h="80645">
                  <a:moveTo>
                    <a:pt x="40131" y="0"/>
                  </a:moveTo>
                  <a:lnTo>
                    <a:pt x="24510" y="3175"/>
                  </a:lnTo>
                  <a:lnTo>
                    <a:pt x="11810" y="11811"/>
                  </a:lnTo>
                  <a:lnTo>
                    <a:pt x="3175" y="24511"/>
                  </a:lnTo>
                  <a:lnTo>
                    <a:pt x="0" y="40131"/>
                  </a:lnTo>
                  <a:lnTo>
                    <a:pt x="3175" y="55753"/>
                  </a:lnTo>
                  <a:lnTo>
                    <a:pt x="11810" y="68580"/>
                  </a:lnTo>
                  <a:lnTo>
                    <a:pt x="24510" y="77088"/>
                  </a:lnTo>
                  <a:lnTo>
                    <a:pt x="40131" y="80263"/>
                  </a:lnTo>
                  <a:lnTo>
                    <a:pt x="55752" y="77088"/>
                  </a:lnTo>
                  <a:lnTo>
                    <a:pt x="68452" y="68580"/>
                  </a:lnTo>
                  <a:lnTo>
                    <a:pt x="77088" y="55753"/>
                  </a:lnTo>
                  <a:lnTo>
                    <a:pt x="80263" y="40131"/>
                  </a:lnTo>
                  <a:lnTo>
                    <a:pt x="77088" y="24511"/>
                  </a:lnTo>
                  <a:lnTo>
                    <a:pt x="68452" y="11811"/>
                  </a:lnTo>
                  <a:lnTo>
                    <a:pt x="55752" y="3175"/>
                  </a:lnTo>
                  <a:lnTo>
                    <a:pt x="40131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057272" y="4173600"/>
              <a:ext cx="80645" cy="80645"/>
            </a:xfrm>
            <a:custGeom>
              <a:avLst/>
              <a:gdLst/>
              <a:ahLst/>
              <a:cxnLst/>
              <a:rect l="l" t="t" r="r" b="b"/>
              <a:pathLst>
                <a:path w="80644" h="80645">
                  <a:moveTo>
                    <a:pt x="80263" y="40131"/>
                  </a:moveTo>
                  <a:lnTo>
                    <a:pt x="77088" y="24511"/>
                  </a:lnTo>
                  <a:lnTo>
                    <a:pt x="68452" y="11811"/>
                  </a:lnTo>
                  <a:lnTo>
                    <a:pt x="55752" y="3175"/>
                  </a:lnTo>
                  <a:lnTo>
                    <a:pt x="40131" y="0"/>
                  </a:lnTo>
                  <a:lnTo>
                    <a:pt x="24510" y="3175"/>
                  </a:lnTo>
                  <a:lnTo>
                    <a:pt x="11810" y="11811"/>
                  </a:lnTo>
                  <a:lnTo>
                    <a:pt x="3175" y="24511"/>
                  </a:lnTo>
                  <a:lnTo>
                    <a:pt x="0" y="40131"/>
                  </a:lnTo>
                  <a:lnTo>
                    <a:pt x="3175" y="55753"/>
                  </a:lnTo>
                  <a:lnTo>
                    <a:pt x="11810" y="68580"/>
                  </a:lnTo>
                  <a:lnTo>
                    <a:pt x="24510" y="77088"/>
                  </a:lnTo>
                  <a:lnTo>
                    <a:pt x="40131" y="80263"/>
                  </a:lnTo>
                  <a:lnTo>
                    <a:pt x="55752" y="77088"/>
                  </a:lnTo>
                  <a:lnTo>
                    <a:pt x="68452" y="68580"/>
                  </a:lnTo>
                  <a:lnTo>
                    <a:pt x="77088" y="55753"/>
                  </a:lnTo>
                  <a:lnTo>
                    <a:pt x="80263" y="40131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75754" y="3071875"/>
              <a:ext cx="1136650" cy="1136650"/>
            </a:xfrm>
            <a:custGeom>
              <a:avLst/>
              <a:gdLst/>
              <a:ahLst/>
              <a:cxnLst/>
              <a:rect l="l" t="t" r="r" b="b"/>
              <a:pathLst>
                <a:path w="1136650" h="1136650">
                  <a:moveTo>
                    <a:pt x="1136154" y="0"/>
                  </a:moveTo>
                  <a:lnTo>
                    <a:pt x="0" y="1136269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65489" y="4129668"/>
              <a:ext cx="88638" cy="88626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392277" y="3071875"/>
              <a:ext cx="1419860" cy="454659"/>
            </a:xfrm>
            <a:custGeom>
              <a:avLst/>
              <a:gdLst/>
              <a:ahLst/>
              <a:cxnLst/>
              <a:rect l="l" t="t" r="r" b="b"/>
              <a:pathLst>
                <a:path w="1419860" h="454660">
                  <a:moveTo>
                    <a:pt x="1419631" y="0"/>
                  </a:moveTo>
                  <a:lnTo>
                    <a:pt x="0" y="454278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85904" y="3452497"/>
              <a:ext cx="72969" cy="117978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676986" y="2390901"/>
              <a:ext cx="1135380" cy="681355"/>
            </a:xfrm>
            <a:custGeom>
              <a:avLst/>
              <a:gdLst/>
              <a:ahLst/>
              <a:cxnLst/>
              <a:rect l="l" t="t" r="r" b="b"/>
              <a:pathLst>
                <a:path w="1135380" h="681355">
                  <a:moveTo>
                    <a:pt x="1134922" y="680974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70990" y="2362325"/>
              <a:ext cx="80559" cy="106937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506981" y="2671533"/>
              <a:ext cx="308965" cy="404406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1811909" y="2105913"/>
              <a:ext cx="1421130" cy="966469"/>
            </a:xfrm>
            <a:custGeom>
              <a:avLst/>
              <a:gdLst/>
              <a:ahLst/>
              <a:cxnLst/>
              <a:rect l="l" t="t" r="r" b="b"/>
              <a:pathLst>
                <a:path w="1421130" h="966469">
                  <a:moveTo>
                    <a:pt x="0" y="965962"/>
                  </a:moveTo>
                  <a:lnTo>
                    <a:pt x="1420749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156709" y="2081400"/>
              <a:ext cx="81791" cy="103254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1811909" y="2105913"/>
              <a:ext cx="1421130" cy="966469"/>
            </a:xfrm>
            <a:custGeom>
              <a:avLst/>
              <a:gdLst/>
              <a:ahLst/>
              <a:cxnLst/>
              <a:rect l="l" t="t" r="r" b="b"/>
              <a:pathLst>
                <a:path w="1421130" h="966469">
                  <a:moveTo>
                    <a:pt x="0" y="965962"/>
                  </a:moveTo>
                  <a:lnTo>
                    <a:pt x="1420749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156709" y="2081400"/>
              <a:ext cx="81791" cy="103254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1811909" y="2105913"/>
              <a:ext cx="1421130" cy="966469"/>
            </a:xfrm>
            <a:custGeom>
              <a:avLst/>
              <a:gdLst/>
              <a:ahLst/>
              <a:cxnLst/>
              <a:rect l="l" t="t" r="r" b="b"/>
              <a:pathLst>
                <a:path w="1421130" h="966469">
                  <a:moveTo>
                    <a:pt x="0" y="965962"/>
                  </a:moveTo>
                  <a:lnTo>
                    <a:pt x="1420749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156709" y="2081400"/>
              <a:ext cx="81791" cy="103254"/>
            </a:xfrm>
            <a:prstGeom prst="rect">
              <a:avLst/>
            </a:prstGeom>
          </p:spPr>
        </p:pic>
      </p:grpSp>
      <p:sp>
        <p:nvSpPr>
          <p:cNvPr id="44" name="object 44"/>
          <p:cNvSpPr txBox="1"/>
          <p:nvPr/>
        </p:nvSpPr>
        <p:spPr>
          <a:xfrm>
            <a:off x="4356861" y="849883"/>
            <a:ext cx="4456430" cy="3712845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50"/>
              </a:spcBef>
            </a:pP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initialized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1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a</a:t>
            </a:r>
            <a:r>
              <a:rPr sz="1750" spc="-20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random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value</a:t>
            </a:r>
            <a:endParaRPr sz="1750">
              <a:latin typeface="Arial MT"/>
              <a:cs typeface="Arial MT"/>
            </a:endParaRPr>
          </a:p>
          <a:p>
            <a:pPr marL="40640" marR="34290" indent="-2540">
              <a:lnSpc>
                <a:spcPct val="116799"/>
              </a:lnSpc>
              <a:spcBef>
                <a:spcPts val="395"/>
              </a:spcBef>
              <a:tabLst>
                <a:tab pos="3227070" algn="l"/>
              </a:tabLst>
            </a:pP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observe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that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currently,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1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·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5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5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spc="-85" dirty="0">
                <a:solidFill>
                  <a:srgbClr val="213739"/>
                </a:solidFill>
                <a:latin typeface="Lucida Sans Unicode"/>
                <a:cs typeface="Lucida Sans Unicode"/>
              </a:rPr>
              <a:t>∵</a:t>
            </a:r>
            <a:r>
              <a:rPr sz="1750" spc="-23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angle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&gt;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90°)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for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all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positive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points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5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·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459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≥</a:t>
            </a:r>
            <a:r>
              <a:rPr sz="1750" spc="4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4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spc="-25" dirty="0">
                <a:solidFill>
                  <a:srgbClr val="213739"/>
                </a:solidFill>
                <a:latin typeface="Lucida Sans Unicode"/>
                <a:cs typeface="Lucida Sans Unicode"/>
              </a:rPr>
              <a:t>∵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angle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spc="40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90°)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for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all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negative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points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(the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situ-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ation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is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exactly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oppsite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what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actually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want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it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be)</a:t>
            </a:r>
            <a:endParaRPr sz="1750">
              <a:latin typeface="Arial MT"/>
              <a:cs typeface="Arial MT"/>
            </a:endParaRPr>
          </a:p>
          <a:p>
            <a:pPr marL="40640" marR="33655" indent="-3175">
              <a:lnSpc>
                <a:spcPct val="117700"/>
              </a:lnSpc>
              <a:spcBef>
                <a:spcPts val="495"/>
              </a:spcBef>
            </a:pPr>
            <a:r>
              <a:rPr sz="1750" spc="-16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now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run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algorithm</a:t>
            </a:r>
            <a:r>
              <a:rPr sz="1750" spc="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by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randomly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going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over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points</a:t>
            </a:r>
            <a:endParaRPr sz="1750">
              <a:latin typeface="Arial MT"/>
              <a:cs typeface="Arial MT"/>
            </a:endParaRPr>
          </a:p>
          <a:p>
            <a:pPr marL="41275" marR="30480" indent="-3810" algn="just">
              <a:lnSpc>
                <a:spcPct val="117200"/>
              </a:lnSpc>
              <a:spcBef>
                <a:spcPts val="710"/>
              </a:spcBef>
            </a:pP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Randomly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5" dirty="0">
                <a:solidFill>
                  <a:srgbClr val="213739"/>
                </a:solidFill>
                <a:latin typeface="Arial MT"/>
                <a:cs typeface="Arial MT"/>
              </a:rPr>
              <a:t>pick</a:t>
            </a:r>
            <a:r>
              <a:rPr sz="1750" spc="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a</a:t>
            </a:r>
            <a:r>
              <a:rPr sz="1750" spc="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point</a:t>
            </a:r>
            <a:r>
              <a:rPr sz="1750" spc="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(say,</a:t>
            </a:r>
            <a:r>
              <a:rPr sz="1750" spc="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spc="-5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875" spc="-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),</a:t>
            </a:r>
            <a:r>
              <a:rPr sz="1750" spc="1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no</a:t>
            </a:r>
            <a:r>
              <a:rPr sz="1750" spc="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correction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needed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5" dirty="0">
                <a:solidFill>
                  <a:srgbClr val="213739"/>
                </a:solidFill>
                <a:latin typeface="Lucida Sans Unicode"/>
                <a:cs typeface="Lucida Sans Unicode"/>
              </a:rPr>
              <a:t>∵</a:t>
            </a:r>
            <a:r>
              <a:rPr sz="1750" spc="409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b="1" spc="-1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5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45" dirty="0">
                <a:solidFill>
                  <a:srgbClr val="213739"/>
                </a:solidFill>
                <a:latin typeface="Lucida Sans Unicode"/>
                <a:cs typeface="Lucida Sans Unicode"/>
              </a:rPr>
              <a:t>·</a:t>
            </a:r>
            <a:r>
              <a:rPr sz="1750" b="1" spc="-14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27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5" dirty="0">
                <a:solidFill>
                  <a:srgbClr val="213739"/>
                </a:solidFill>
                <a:latin typeface="Lucida Sans Unicode"/>
                <a:cs typeface="Lucida Sans Unicode"/>
              </a:rPr>
              <a:t>≥</a:t>
            </a:r>
            <a:r>
              <a:rPr sz="1750" spc="-15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b="1" spc="-1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b="1" spc="27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(you</a:t>
            </a:r>
            <a:r>
              <a:rPr sz="1750" spc="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can</a:t>
            </a:r>
            <a:r>
              <a:rPr sz="1750" spc="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check</a:t>
            </a:r>
            <a:r>
              <a:rPr sz="1750" spc="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5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angle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visually)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8781415" y="5603912"/>
            <a:ext cx="196215" cy="206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spc="-25" dirty="0">
                <a:solidFill>
                  <a:srgbClr val="213739"/>
                </a:solidFill>
                <a:latin typeface="Arial MT"/>
                <a:cs typeface="Arial MT"/>
              </a:rPr>
              <a:t>40</a:t>
            </a:r>
            <a:endParaRPr sz="125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56825" y="1076578"/>
            <a:ext cx="2850515" cy="3136265"/>
            <a:chOff x="956825" y="1076578"/>
            <a:chExt cx="2850515" cy="3136265"/>
          </a:xfrm>
        </p:grpSpPr>
        <p:sp>
          <p:nvSpPr>
            <p:cNvPr id="3" name="object 3"/>
            <p:cNvSpPr/>
            <p:nvPr/>
          </p:nvSpPr>
          <p:spPr>
            <a:xfrm>
              <a:off x="1749298" y="1081658"/>
              <a:ext cx="2052955" cy="2052955"/>
            </a:xfrm>
            <a:custGeom>
              <a:avLst/>
              <a:gdLst/>
              <a:ahLst/>
              <a:cxnLst/>
              <a:rect l="l" t="t" r="r" b="b"/>
              <a:pathLst>
                <a:path w="2052954" h="2052955">
                  <a:moveTo>
                    <a:pt x="62610" y="1990216"/>
                  </a:moveTo>
                  <a:lnTo>
                    <a:pt x="2044827" y="1990216"/>
                  </a:lnTo>
                </a:path>
                <a:path w="2052954" h="2052955">
                  <a:moveTo>
                    <a:pt x="2001519" y="1927605"/>
                  </a:moveTo>
                  <a:lnTo>
                    <a:pt x="2010537" y="1952243"/>
                  </a:lnTo>
                  <a:lnTo>
                    <a:pt x="2022855" y="1970277"/>
                  </a:lnTo>
                  <a:lnTo>
                    <a:pt x="2037334" y="1982596"/>
                  </a:lnTo>
                  <a:lnTo>
                    <a:pt x="2052827" y="1990216"/>
                  </a:lnTo>
                  <a:lnTo>
                    <a:pt x="2037334" y="1997837"/>
                  </a:lnTo>
                  <a:lnTo>
                    <a:pt x="2022855" y="2010155"/>
                  </a:lnTo>
                  <a:lnTo>
                    <a:pt x="2010537" y="2028316"/>
                  </a:lnTo>
                  <a:lnTo>
                    <a:pt x="2001519" y="2052954"/>
                  </a:lnTo>
                </a:path>
                <a:path w="2052954" h="2052955">
                  <a:moveTo>
                    <a:pt x="62610" y="1990216"/>
                  </a:moveTo>
                  <a:lnTo>
                    <a:pt x="62610" y="8000"/>
                  </a:lnTo>
                </a:path>
                <a:path w="2052954" h="2052955">
                  <a:moveTo>
                    <a:pt x="0" y="51307"/>
                  </a:moveTo>
                  <a:lnTo>
                    <a:pt x="24637" y="42290"/>
                  </a:lnTo>
                  <a:lnTo>
                    <a:pt x="42671" y="30099"/>
                  </a:lnTo>
                  <a:lnTo>
                    <a:pt x="55118" y="15620"/>
                  </a:lnTo>
                  <a:lnTo>
                    <a:pt x="62610" y="0"/>
                  </a:lnTo>
                  <a:lnTo>
                    <a:pt x="70231" y="15620"/>
                  </a:lnTo>
                  <a:lnTo>
                    <a:pt x="82676" y="30099"/>
                  </a:lnTo>
                  <a:lnTo>
                    <a:pt x="100710" y="42290"/>
                  </a:lnTo>
                  <a:lnTo>
                    <a:pt x="125349" y="51307"/>
                  </a:lnTo>
                </a:path>
              </a:pathLst>
            </a:custGeom>
            <a:ln w="10122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529588" y="2394203"/>
              <a:ext cx="282575" cy="678180"/>
            </a:xfrm>
            <a:custGeom>
              <a:avLst/>
              <a:gdLst/>
              <a:ahLst/>
              <a:cxnLst/>
              <a:rect l="l" t="t" r="r" b="b"/>
              <a:pathLst>
                <a:path w="282575" h="678180">
                  <a:moveTo>
                    <a:pt x="282320" y="677672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90984" y="2387984"/>
              <a:ext cx="114418" cy="7606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811908" y="1937765"/>
              <a:ext cx="283845" cy="1134110"/>
            </a:xfrm>
            <a:custGeom>
              <a:avLst/>
              <a:gdLst/>
              <a:ahLst/>
              <a:cxnLst/>
              <a:rect l="l" t="t" r="r" b="b"/>
              <a:pathLst>
                <a:path w="283844" h="1134110">
                  <a:moveTo>
                    <a:pt x="0" y="1134110"/>
                  </a:moveTo>
                  <a:lnTo>
                    <a:pt x="283591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23881" y="1931425"/>
              <a:ext cx="119741" cy="6995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811908" y="2503550"/>
              <a:ext cx="1705610" cy="568325"/>
            </a:xfrm>
            <a:custGeom>
              <a:avLst/>
              <a:gdLst/>
              <a:ahLst/>
              <a:cxnLst/>
              <a:rect l="l" t="t" r="r" b="b"/>
              <a:pathLst>
                <a:path w="1705610" h="568325">
                  <a:moveTo>
                    <a:pt x="0" y="568325"/>
                  </a:moveTo>
                  <a:lnTo>
                    <a:pt x="1705229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50089" y="2460124"/>
              <a:ext cx="73391" cy="11733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63168" y="2788919"/>
              <a:ext cx="848994" cy="283210"/>
            </a:xfrm>
            <a:custGeom>
              <a:avLst/>
              <a:gdLst/>
              <a:ahLst/>
              <a:cxnLst/>
              <a:rect l="l" t="t" r="r" b="b"/>
              <a:pathLst>
                <a:path w="848994" h="283210">
                  <a:moveTo>
                    <a:pt x="848740" y="282955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6825" y="2745620"/>
              <a:ext cx="73314" cy="11720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528445" y="3071875"/>
              <a:ext cx="283845" cy="1134110"/>
            </a:xfrm>
            <a:custGeom>
              <a:avLst/>
              <a:gdLst/>
              <a:ahLst/>
              <a:cxnLst/>
              <a:rect l="l" t="t" r="r" b="b"/>
              <a:pathLst>
                <a:path w="283844" h="1134110">
                  <a:moveTo>
                    <a:pt x="283463" y="0"/>
                  </a:moveTo>
                  <a:lnTo>
                    <a:pt x="0" y="1134110"/>
                  </a:lnTo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80194" y="4142368"/>
              <a:ext cx="119741" cy="7008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811908" y="3071875"/>
              <a:ext cx="329565" cy="1138555"/>
            </a:xfrm>
            <a:custGeom>
              <a:avLst/>
              <a:gdLst/>
              <a:ahLst/>
              <a:cxnLst/>
              <a:rect l="l" t="t" r="r" b="b"/>
              <a:pathLst>
                <a:path w="329564" h="1138554">
                  <a:moveTo>
                    <a:pt x="0" y="0"/>
                  </a:moveTo>
                  <a:lnTo>
                    <a:pt x="283591" y="1134110"/>
                  </a:lnTo>
                </a:path>
                <a:path w="329564" h="1138554">
                  <a:moveTo>
                    <a:pt x="329184" y="1073023"/>
                  </a:moveTo>
                  <a:lnTo>
                    <a:pt x="308864" y="1087628"/>
                  </a:lnTo>
                  <a:lnTo>
                    <a:pt x="295402" y="1103757"/>
                  </a:lnTo>
                  <a:lnTo>
                    <a:pt x="287655" y="1120902"/>
                  </a:lnTo>
                  <a:lnTo>
                    <a:pt x="284480" y="1138047"/>
                  </a:lnTo>
                  <a:lnTo>
                    <a:pt x="273685" y="1124331"/>
                  </a:lnTo>
                  <a:lnTo>
                    <a:pt x="258826" y="1112901"/>
                  </a:lnTo>
                  <a:lnTo>
                    <a:pt x="239268" y="1105027"/>
                  </a:lnTo>
                  <a:lnTo>
                    <a:pt x="214503" y="1101725"/>
                  </a:lnTo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548507" y="2969514"/>
            <a:ext cx="26479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49908" y="970915"/>
            <a:ext cx="26479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86205" y="1993773"/>
            <a:ext cx="26797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957070" y="1536954"/>
            <a:ext cx="26797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409315" y="2108073"/>
            <a:ext cx="13906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519932" y="2203780"/>
            <a:ext cx="107950" cy="2197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spc="-50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04672" y="2741167"/>
            <a:ext cx="27876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62583" y="4168902"/>
            <a:ext cx="874394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620395" algn="l"/>
              </a:tabLst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875" baseline="-8888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85904" y="1887356"/>
            <a:ext cx="3181985" cy="2369185"/>
            <a:chOff x="385904" y="1887356"/>
            <a:chExt cx="3181985" cy="2369185"/>
          </a:xfrm>
        </p:grpSpPr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83750" y="2344175"/>
              <a:ext cx="85324" cy="8532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054742" y="1887356"/>
              <a:ext cx="85324" cy="8532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82095" y="2458348"/>
              <a:ext cx="85324" cy="85324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12885" y="2743717"/>
              <a:ext cx="85324" cy="85324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483750" y="4171070"/>
              <a:ext cx="85324" cy="85324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2057272" y="4173600"/>
              <a:ext cx="80645" cy="80645"/>
            </a:xfrm>
            <a:custGeom>
              <a:avLst/>
              <a:gdLst/>
              <a:ahLst/>
              <a:cxnLst/>
              <a:rect l="l" t="t" r="r" b="b"/>
              <a:pathLst>
                <a:path w="80644" h="80645">
                  <a:moveTo>
                    <a:pt x="40131" y="0"/>
                  </a:moveTo>
                  <a:lnTo>
                    <a:pt x="24510" y="3175"/>
                  </a:lnTo>
                  <a:lnTo>
                    <a:pt x="11810" y="11811"/>
                  </a:lnTo>
                  <a:lnTo>
                    <a:pt x="3175" y="24511"/>
                  </a:lnTo>
                  <a:lnTo>
                    <a:pt x="0" y="40131"/>
                  </a:lnTo>
                  <a:lnTo>
                    <a:pt x="3175" y="55753"/>
                  </a:lnTo>
                  <a:lnTo>
                    <a:pt x="11810" y="68580"/>
                  </a:lnTo>
                  <a:lnTo>
                    <a:pt x="24510" y="77088"/>
                  </a:lnTo>
                  <a:lnTo>
                    <a:pt x="40131" y="80263"/>
                  </a:lnTo>
                  <a:lnTo>
                    <a:pt x="55752" y="77088"/>
                  </a:lnTo>
                  <a:lnTo>
                    <a:pt x="68452" y="68580"/>
                  </a:lnTo>
                  <a:lnTo>
                    <a:pt x="77088" y="55753"/>
                  </a:lnTo>
                  <a:lnTo>
                    <a:pt x="80263" y="40131"/>
                  </a:lnTo>
                  <a:lnTo>
                    <a:pt x="77088" y="24511"/>
                  </a:lnTo>
                  <a:lnTo>
                    <a:pt x="68452" y="11811"/>
                  </a:lnTo>
                  <a:lnTo>
                    <a:pt x="55752" y="3175"/>
                  </a:lnTo>
                  <a:lnTo>
                    <a:pt x="40131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057272" y="4173600"/>
              <a:ext cx="80645" cy="80645"/>
            </a:xfrm>
            <a:custGeom>
              <a:avLst/>
              <a:gdLst/>
              <a:ahLst/>
              <a:cxnLst/>
              <a:rect l="l" t="t" r="r" b="b"/>
              <a:pathLst>
                <a:path w="80644" h="80645">
                  <a:moveTo>
                    <a:pt x="80263" y="40131"/>
                  </a:moveTo>
                  <a:lnTo>
                    <a:pt x="77088" y="24511"/>
                  </a:lnTo>
                  <a:lnTo>
                    <a:pt x="68452" y="11811"/>
                  </a:lnTo>
                  <a:lnTo>
                    <a:pt x="55752" y="3175"/>
                  </a:lnTo>
                  <a:lnTo>
                    <a:pt x="40131" y="0"/>
                  </a:lnTo>
                  <a:lnTo>
                    <a:pt x="24510" y="3175"/>
                  </a:lnTo>
                  <a:lnTo>
                    <a:pt x="11810" y="11811"/>
                  </a:lnTo>
                  <a:lnTo>
                    <a:pt x="3175" y="24511"/>
                  </a:lnTo>
                  <a:lnTo>
                    <a:pt x="0" y="40131"/>
                  </a:lnTo>
                  <a:lnTo>
                    <a:pt x="3175" y="55753"/>
                  </a:lnTo>
                  <a:lnTo>
                    <a:pt x="11810" y="68580"/>
                  </a:lnTo>
                  <a:lnTo>
                    <a:pt x="24510" y="77088"/>
                  </a:lnTo>
                  <a:lnTo>
                    <a:pt x="40131" y="80263"/>
                  </a:lnTo>
                  <a:lnTo>
                    <a:pt x="55752" y="77088"/>
                  </a:lnTo>
                  <a:lnTo>
                    <a:pt x="68452" y="68580"/>
                  </a:lnTo>
                  <a:lnTo>
                    <a:pt x="77088" y="55753"/>
                  </a:lnTo>
                  <a:lnTo>
                    <a:pt x="80263" y="40131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75754" y="3071875"/>
              <a:ext cx="1136650" cy="1136650"/>
            </a:xfrm>
            <a:custGeom>
              <a:avLst/>
              <a:gdLst/>
              <a:ahLst/>
              <a:cxnLst/>
              <a:rect l="l" t="t" r="r" b="b"/>
              <a:pathLst>
                <a:path w="1136650" h="1136650">
                  <a:moveTo>
                    <a:pt x="1136154" y="0"/>
                  </a:moveTo>
                  <a:lnTo>
                    <a:pt x="0" y="1136269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65489" y="4129668"/>
              <a:ext cx="88638" cy="88626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392277" y="3071875"/>
              <a:ext cx="1419860" cy="454659"/>
            </a:xfrm>
            <a:custGeom>
              <a:avLst/>
              <a:gdLst/>
              <a:ahLst/>
              <a:cxnLst/>
              <a:rect l="l" t="t" r="r" b="b"/>
              <a:pathLst>
                <a:path w="1419860" h="454660">
                  <a:moveTo>
                    <a:pt x="1419631" y="0"/>
                  </a:moveTo>
                  <a:lnTo>
                    <a:pt x="0" y="454278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85904" y="3452497"/>
              <a:ext cx="72969" cy="117978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676986" y="2390901"/>
              <a:ext cx="1135380" cy="681355"/>
            </a:xfrm>
            <a:custGeom>
              <a:avLst/>
              <a:gdLst/>
              <a:ahLst/>
              <a:cxnLst/>
              <a:rect l="l" t="t" r="r" b="b"/>
              <a:pathLst>
                <a:path w="1135380" h="681355">
                  <a:moveTo>
                    <a:pt x="1134922" y="680974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70990" y="2362325"/>
              <a:ext cx="80559" cy="106937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506981" y="2671533"/>
              <a:ext cx="308965" cy="404406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1811909" y="2105913"/>
              <a:ext cx="1421130" cy="966469"/>
            </a:xfrm>
            <a:custGeom>
              <a:avLst/>
              <a:gdLst/>
              <a:ahLst/>
              <a:cxnLst/>
              <a:rect l="l" t="t" r="r" b="b"/>
              <a:pathLst>
                <a:path w="1421130" h="966469">
                  <a:moveTo>
                    <a:pt x="0" y="965962"/>
                  </a:moveTo>
                  <a:lnTo>
                    <a:pt x="1420749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156709" y="2081400"/>
              <a:ext cx="81791" cy="103254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1811909" y="2105913"/>
              <a:ext cx="1421130" cy="966469"/>
            </a:xfrm>
            <a:custGeom>
              <a:avLst/>
              <a:gdLst/>
              <a:ahLst/>
              <a:cxnLst/>
              <a:rect l="l" t="t" r="r" b="b"/>
              <a:pathLst>
                <a:path w="1421130" h="966469">
                  <a:moveTo>
                    <a:pt x="0" y="965962"/>
                  </a:moveTo>
                  <a:lnTo>
                    <a:pt x="1420749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156709" y="2081400"/>
              <a:ext cx="81791" cy="103254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1811909" y="2105913"/>
              <a:ext cx="1421130" cy="966469"/>
            </a:xfrm>
            <a:custGeom>
              <a:avLst/>
              <a:gdLst/>
              <a:ahLst/>
              <a:cxnLst/>
              <a:rect l="l" t="t" r="r" b="b"/>
              <a:pathLst>
                <a:path w="1421130" h="966469">
                  <a:moveTo>
                    <a:pt x="0" y="965962"/>
                  </a:moveTo>
                  <a:lnTo>
                    <a:pt x="1420749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156709" y="2081400"/>
              <a:ext cx="81791" cy="103254"/>
            </a:xfrm>
            <a:prstGeom prst="rect">
              <a:avLst/>
            </a:prstGeom>
          </p:spPr>
        </p:pic>
      </p:grpSp>
      <p:sp>
        <p:nvSpPr>
          <p:cNvPr id="44" name="object 44"/>
          <p:cNvSpPr txBox="1"/>
          <p:nvPr/>
        </p:nvSpPr>
        <p:spPr>
          <a:xfrm>
            <a:off x="4356861" y="849883"/>
            <a:ext cx="4458335" cy="3712845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50"/>
              </a:spcBef>
            </a:pP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initialized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1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a</a:t>
            </a:r>
            <a:r>
              <a:rPr sz="1750" spc="-20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random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value</a:t>
            </a:r>
            <a:endParaRPr sz="1750">
              <a:latin typeface="Arial MT"/>
              <a:cs typeface="Arial MT"/>
            </a:endParaRPr>
          </a:p>
          <a:p>
            <a:pPr marL="40640" marR="35560" indent="-2540">
              <a:lnSpc>
                <a:spcPct val="116799"/>
              </a:lnSpc>
              <a:spcBef>
                <a:spcPts val="395"/>
              </a:spcBef>
              <a:tabLst>
                <a:tab pos="3227070" algn="l"/>
              </a:tabLst>
            </a:pP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observe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that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currently,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1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·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5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5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spc="-85" dirty="0">
                <a:solidFill>
                  <a:srgbClr val="213739"/>
                </a:solidFill>
                <a:latin typeface="Lucida Sans Unicode"/>
                <a:cs typeface="Lucida Sans Unicode"/>
              </a:rPr>
              <a:t>∵</a:t>
            </a:r>
            <a:r>
              <a:rPr sz="1750" spc="-23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angle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&gt;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90°)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for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all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positive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points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5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·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459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≥</a:t>
            </a:r>
            <a:r>
              <a:rPr sz="1750" spc="4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4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spc="-25" dirty="0">
                <a:solidFill>
                  <a:srgbClr val="213739"/>
                </a:solidFill>
                <a:latin typeface="Lucida Sans Unicode"/>
                <a:cs typeface="Lucida Sans Unicode"/>
              </a:rPr>
              <a:t>∵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angle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spc="409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90°)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for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all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negative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points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(the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situ-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ation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is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exactly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oppsite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what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actually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want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it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be)</a:t>
            </a:r>
            <a:endParaRPr sz="1750">
              <a:latin typeface="Arial MT"/>
              <a:cs typeface="Arial MT"/>
            </a:endParaRPr>
          </a:p>
          <a:p>
            <a:pPr marL="40640" marR="35560" indent="-3175">
              <a:lnSpc>
                <a:spcPct val="117700"/>
              </a:lnSpc>
              <a:spcBef>
                <a:spcPts val="495"/>
              </a:spcBef>
            </a:pPr>
            <a:r>
              <a:rPr sz="1750" spc="-16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now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run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algorithm</a:t>
            </a:r>
            <a:r>
              <a:rPr sz="1750" spc="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by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randomly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going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over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points</a:t>
            </a:r>
            <a:endParaRPr sz="1750">
              <a:latin typeface="Arial MT"/>
              <a:cs typeface="Arial MT"/>
            </a:endParaRPr>
          </a:p>
          <a:p>
            <a:pPr marL="41275" marR="30480" indent="-3810" algn="just">
              <a:lnSpc>
                <a:spcPct val="117200"/>
              </a:lnSpc>
              <a:spcBef>
                <a:spcPts val="710"/>
              </a:spcBef>
            </a:pP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Randomly</a:t>
            </a:r>
            <a:r>
              <a:rPr sz="1750" spc="-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pick</a:t>
            </a:r>
            <a:r>
              <a:rPr sz="1750" spc="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a</a:t>
            </a:r>
            <a:r>
              <a:rPr sz="1750" spc="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point</a:t>
            </a:r>
            <a:r>
              <a:rPr sz="1750" spc="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(say,</a:t>
            </a:r>
            <a:r>
              <a:rPr sz="1750" spc="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),</a:t>
            </a:r>
            <a:r>
              <a:rPr sz="1750" spc="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no</a:t>
            </a:r>
            <a:r>
              <a:rPr sz="1750" spc="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correction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needed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∵</a:t>
            </a:r>
            <a:r>
              <a:rPr sz="1750" spc="229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·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20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spc="38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b="1" spc="21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(you</a:t>
            </a:r>
            <a:r>
              <a:rPr sz="1750" spc="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can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check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angle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visually)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8781415" y="5603912"/>
            <a:ext cx="196215" cy="206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spc="-25" dirty="0">
                <a:solidFill>
                  <a:srgbClr val="213739"/>
                </a:solidFill>
                <a:latin typeface="Arial MT"/>
                <a:cs typeface="Arial MT"/>
              </a:rPr>
              <a:t>40</a:t>
            </a:r>
            <a:endParaRPr sz="125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56825" y="1076578"/>
            <a:ext cx="2850515" cy="3136265"/>
            <a:chOff x="956825" y="1076578"/>
            <a:chExt cx="2850515" cy="3136265"/>
          </a:xfrm>
        </p:grpSpPr>
        <p:sp>
          <p:nvSpPr>
            <p:cNvPr id="3" name="object 3"/>
            <p:cNvSpPr/>
            <p:nvPr/>
          </p:nvSpPr>
          <p:spPr>
            <a:xfrm>
              <a:off x="1749298" y="1081658"/>
              <a:ext cx="2052955" cy="2052955"/>
            </a:xfrm>
            <a:custGeom>
              <a:avLst/>
              <a:gdLst/>
              <a:ahLst/>
              <a:cxnLst/>
              <a:rect l="l" t="t" r="r" b="b"/>
              <a:pathLst>
                <a:path w="2052954" h="2052955">
                  <a:moveTo>
                    <a:pt x="62610" y="1990216"/>
                  </a:moveTo>
                  <a:lnTo>
                    <a:pt x="2044827" y="1990216"/>
                  </a:lnTo>
                </a:path>
                <a:path w="2052954" h="2052955">
                  <a:moveTo>
                    <a:pt x="2001519" y="1927605"/>
                  </a:moveTo>
                  <a:lnTo>
                    <a:pt x="2010537" y="1952243"/>
                  </a:lnTo>
                  <a:lnTo>
                    <a:pt x="2022855" y="1970277"/>
                  </a:lnTo>
                  <a:lnTo>
                    <a:pt x="2037334" y="1982596"/>
                  </a:lnTo>
                  <a:lnTo>
                    <a:pt x="2052827" y="1990216"/>
                  </a:lnTo>
                  <a:lnTo>
                    <a:pt x="2037334" y="1997837"/>
                  </a:lnTo>
                  <a:lnTo>
                    <a:pt x="2022855" y="2010155"/>
                  </a:lnTo>
                  <a:lnTo>
                    <a:pt x="2010537" y="2028316"/>
                  </a:lnTo>
                  <a:lnTo>
                    <a:pt x="2001519" y="2052954"/>
                  </a:lnTo>
                </a:path>
                <a:path w="2052954" h="2052955">
                  <a:moveTo>
                    <a:pt x="62610" y="1990216"/>
                  </a:moveTo>
                  <a:lnTo>
                    <a:pt x="62610" y="8000"/>
                  </a:lnTo>
                </a:path>
                <a:path w="2052954" h="2052955">
                  <a:moveTo>
                    <a:pt x="0" y="51307"/>
                  </a:moveTo>
                  <a:lnTo>
                    <a:pt x="24637" y="42290"/>
                  </a:lnTo>
                  <a:lnTo>
                    <a:pt x="42671" y="30099"/>
                  </a:lnTo>
                  <a:lnTo>
                    <a:pt x="55118" y="15620"/>
                  </a:lnTo>
                  <a:lnTo>
                    <a:pt x="62610" y="0"/>
                  </a:lnTo>
                  <a:lnTo>
                    <a:pt x="70231" y="15620"/>
                  </a:lnTo>
                  <a:lnTo>
                    <a:pt x="82676" y="30099"/>
                  </a:lnTo>
                  <a:lnTo>
                    <a:pt x="100710" y="42290"/>
                  </a:lnTo>
                  <a:lnTo>
                    <a:pt x="125349" y="51307"/>
                  </a:lnTo>
                </a:path>
              </a:pathLst>
            </a:custGeom>
            <a:ln w="10122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529588" y="2394203"/>
              <a:ext cx="282575" cy="678180"/>
            </a:xfrm>
            <a:custGeom>
              <a:avLst/>
              <a:gdLst/>
              <a:ahLst/>
              <a:cxnLst/>
              <a:rect l="l" t="t" r="r" b="b"/>
              <a:pathLst>
                <a:path w="282575" h="678180">
                  <a:moveTo>
                    <a:pt x="282320" y="677672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90984" y="2387984"/>
              <a:ext cx="114418" cy="7606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811908" y="1937765"/>
              <a:ext cx="283845" cy="1134110"/>
            </a:xfrm>
            <a:custGeom>
              <a:avLst/>
              <a:gdLst/>
              <a:ahLst/>
              <a:cxnLst/>
              <a:rect l="l" t="t" r="r" b="b"/>
              <a:pathLst>
                <a:path w="283844" h="1134110">
                  <a:moveTo>
                    <a:pt x="0" y="1134110"/>
                  </a:moveTo>
                  <a:lnTo>
                    <a:pt x="283591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23881" y="1931425"/>
              <a:ext cx="119741" cy="6995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811908" y="2503550"/>
              <a:ext cx="1705610" cy="568325"/>
            </a:xfrm>
            <a:custGeom>
              <a:avLst/>
              <a:gdLst/>
              <a:ahLst/>
              <a:cxnLst/>
              <a:rect l="l" t="t" r="r" b="b"/>
              <a:pathLst>
                <a:path w="1705610" h="568325">
                  <a:moveTo>
                    <a:pt x="0" y="568325"/>
                  </a:moveTo>
                  <a:lnTo>
                    <a:pt x="1705229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50089" y="2460124"/>
              <a:ext cx="73391" cy="11733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63168" y="2788919"/>
              <a:ext cx="848994" cy="283210"/>
            </a:xfrm>
            <a:custGeom>
              <a:avLst/>
              <a:gdLst/>
              <a:ahLst/>
              <a:cxnLst/>
              <a:rect l="l" t="t" r="r" b="b"/>
              <a:pathLst>
                <a:path w="848994" h="283210">
                  <a:moveTo>
                    <a:pt x="848740" y="282955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6825" y="2745620"/>
              <a:ext cx="73314" cy="11720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528445" y="3071875"/>
              <a:ext cx="283845" cy="1134110"/>
            </a:xfrm>
            <a:custGeom>
              <a:avLst/>
              <a:gdLst/>
              <a:ahLst/>
              <a:cxnLst/>
              <a:rect l="l" t="t" r="r" b="b"/>
              <a:pathLst>
                <a:path w="283844" h="1134110">
                  <a:moveTo>
                    <a:pt x="283463" y="0"/>
                  </a:moveTo>
                  <a:lnTo>
                    <a:pt x="0" y="1134110"/>
                  </a:lnTo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80194" y="4142368"/>
              <a:ext cx="119741" cy="7008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811908" y="3071875"/>
              <a:ext cx="329565" cy="1138555"/>
            </a:xfrm>
            <a:custGeom>
              <a:avLst/>
              <a:gdLst/>
              <a:ahLst/>
              <a:cxnLst/>
              <a:rect l="l" t="t" r="r" b="b"/>
              <a:pathLst>
                <a:path w="329564" h="1138554">
                  <a:moveTo>
                    <a:pt x="0" y="0"/>
                  </a:moveTo>
                  <a:lnTo>
                    <a:pt x="283591" y="1134110"/>
                  </a:lnTo>
                </a:path>
                <a:path w="329564" h="1138554">
                  <a:moveTo>
                    <a:pt x="329184" y="1073023"/>
                  </a:moveTo>
                  <a:lnTo>
                    <a:pt x="308864" y="1087628"/>
                  </a:lnTo>
                  <a:lnTo>
                    <a:pt x="295402" y="1103757"/>
                  </a:lnTo>
                  <a:lnTo>
                    <a:pt x="287655" y="1120902"/>
                  </a:lnTo>
                  <a:lnTo>
                    <a:pt x="284480" y="1138047"/>
                  </a:lnTo>
                  <a:lnTo>
                    <a:pt x="273685" y="1124331"/>
                  </a:lnTo>
                  <a:lnTo>
                    <a:pt x="258826" y="1112901"/>
                  </a:lnTo>
                  <a:lnTo>
                    <a:pt x="239268" y="1105027"/>
                  </a:lnTo>
                  <a:lnTo>
                    <a:pt x="214503" y="1101725"/>
                  </a:lnTo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548507" y="2969514"/>
            <a:ext cx="26479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49908" y="970915"/>
            <a:ext cx="26479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86205" y="1993773"/>
            <a:ext cx="26797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957070" y="1536954"/>
            <a:ext cx="26797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409315" y="2108073"/>
            <a:ext cx="13906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519932" y="2203780"/>
            <a:ext cx="107950" cy="2197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spc="-50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04672" y="2741167"/>
            <a:ext cx="27876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62583" y="4168902"/>
            <a:ext cx="874394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620395" algn="l"/>
              </a:tabLst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875" baseline="-8888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85904" y="1887356"/>
            <a:ext cx="3181985" cy="2369185"/>
            <a:chOff x="385904" y="1887356"/>
            <a:chExt cx="3181985" cy="2369185"/>
          </a:xfrm>
        </p:grpSpPr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83750" y="2344175"/>
              <a:ext cx="85324" cy="8532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054742" y="1887356"/>
              <a:ext cx="85324" cy="8532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82095" y="2458348"/>
              <a:ext cx="85324" cy="85324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12885" y="2743717"/>
              <a:ext cx="85324" cy="85324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483750" y="4171070"/>
              <a:ext cx="85324" cy="85324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2057272" y="4173600"/>
              <a:ext cx="80645" cy="80645"/>
            </a:xfrm>
            <a:custGeom>
              <a:avLst/>
              <a:gdLst/>
              <a:ahLst/>
              <a:cxnLst/>
              <a:rect l="l" t="t" r="r" b="b"/>
              <a:pathLst>
                <a:path w="80644" h="80645">
                  <a:moveTo>
                    <a:pt x="40131" y="0"/>
                  </a:moveTo>
                  <a:lnTo>
                    <a:pt x="24510" y="3175"/>
                  </a:lnTo>
                  <a:lnTo>
                    <a:pt x="11810" y="11811"/>
                  </a:lnTo>
                  <a:lnTo>
                    <a:pt x="3175" y="24511"/>
                  </a:lnTo>
                  <a:lnTo>
                    <a:pt x="0" y="40131"/>
                  </a:lnTo>
                  <a:lnTo>
                    <a:pt x="3175" y="55753"/>
                  </a:lnTo>
                  <a:lnTo>
                    <a:pt x="11810" y="68580"/>
                  </a:lnTo>
                  <a:lnTo>
                    <a:pt x="24510" y="77088"/>
                  </a:lnTo>
                  <a:lnTo>
                    <a:pt x="40131" y="80263"/>
                  </a:lnTo>
                  <a:lnTo>
                    <a:pt x="55752" y="77088"/>
                  </a:lnTo>
                  <a:lnTo>
                    <a:pt x="68452" y="68580"/>
                  </a:lnTo>
                  <a:lnTo>
                    <a:pt x="77088" y="55753"/>
                  </a:lnTo>
                  <a:lnTo>
                    <a:pt x="80263" y="40131"/>
                  </a:lnTo>
                  <a:lnTo>
                    <a:pt x="77088" y="24511"/>
                  </a:lnTo>
                  <a:lnTo>
                    <a:pt x="68452" y="11811"/>
                  </a:lnTo>
                  <a:lnTo>
                    <a:pt x="55752" y="3175"/>
                  </a:lnTo>
                  <a:lnTo>
                    <a:pt x="40131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057272" y="4173600"/>
              <a:ext cx="80645" cy="80645"/>
            </a:xfrm>
            <a:custGeom>
              <a:avLst/>
              <a:gdLst/>
              <a:ahLst/>
              <a:cxnLst/>
              <a:rect l="l" t="t" r="r" b="b"/>
              <a:pathLst>
                <a:path w="80644" h="80645">
                  <a:moveTo>
                    <a:pt x="80263" y="40131"/>
                  </a:moveTo>
                  <a:lnTo>
                    <a:pt x="77088" y="24511"/>
                  </a:lnTo>
                  <a:lnTo>
                    <a:pt x="68452" y="11811"/>
                  </a:lnTo>
                  <a:lnTo>
                    <a:pt x="55752" y="3175"/>
                  </a:lnTo>
                  <a:lnTo>
                    <a:pt x="40131" y="0"/>
                  </a:lnTo>
                  <a:lnTo>
                    <a:pt x="24510" y="3175"/>
                  </a:lnTo>
                  <a:lnTo>
                    <a:pt x="11810" y="11811"/>
                  </a:lnTo>
                  <a:lnTo>
                    <a:pt x="3175" y="24511"/>
                  </a:lnTo>
                  <a:lnTo>
                    <a:pt x="0" y="40131"/>
                  </a:lnTo>
                  <a:lnTo>
                    <a:pt x="3175" y="55753"/>
                  </a:lnTo>
                  <a:lnTo>
                    <a:pt x="11810" y="68580"/>
                  </a:lnTo>
                  <a:lnTo>
                    <a:pt x="24510" y="77088"/>
                  </a:lnTo>
                  <a:lnTo>
                    <a:pt x="40131" y="80263"/>
                  </a:lnTo>
                  <a:lnTo>
                    <a:pt x="55752" y="77088"/>
                  </a:lnTo>
                  <a:lnTo>
                    <a:pt x="68452" y="68580"/>
                  </a:lnTo>
                  <a:lnTo>
                    <a:pt x="77088" y="55753"/>
                  </a:lnTo>
                  <a:lnTo>
                    <a:pt x="80263" y="40131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75754" y="3071875"/>
              <a:ext cx="1136650" cy="1136650"/>
            </a:xfrm>
            <a:custGeom>
              <a:avLst/>
              <a:gdLst/>
              <a:ahLst/>
              <a:cxnLst/>
              <a:rect l="l" t="t" r="r" b="b"/>
              <a:pathLst>
                <a:path w="1136650" h="1136650">
                  <a:moveTo>
                    <a:pt x="1136154" y="0"/>
                  </a:moveTo>
                  <a:lnTo>
                    <a:pt x="0" y="1136269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65489" y="4129668"/>
              <a:ext cx="88638" cy="88626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392277" y="3071875"/>
              <a:ext cx="1419860" cy="454659"/>
            </a:xfrm>
            <a:custGeom>
              <a:avLst/>
              <a:gdLst/>
              <a:ahLst/>
              <a:cxnLst/>
              <a:rect l="l" t="t" r="r" b="b"/>
              <a:pathLst>
                <a:path w="1419860" h="454660">
                  <a:moveTo>
                    <a:pt x="1419631" y="0"/>
                  </a:moveTo>
                  <a:lnTo>
                    <a:pt x="0" y="454278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85904" y="3452497"/>
              <a:ext cx="72969" cy="117978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676986" y="2390901"/>
              <a:ext cx="1135380" cy="681355"/>
            </a:xfrm>
            <a:custGeom>
              <a:avLst/>
              <a:gdLst/>
              <a:ahLst/>
              <a:cxnLst/>
              <a:rect l="l" t="t" r="r" b="b"/>
              <a:pathLst>
                <a:path w="1135380" h="681355">
                  <a:moveTo>
                    <a:pt x="1134922" y="680974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70990" y="2362325"/>
              <a:ext cx="80559" cy="106937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506981" y="2671533"/>
              <a:ext cx="308965" cy="404406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1811909" y="2105913"/>
              <a:ext cx="1421130" cy="966469"/>
            </a:xfrm>
            <a:custGeom>
              <a:avLst/>
              <a:gdLst/>
              <a:ahLst/>
              <a:cxnLst/>
              <a:rect l="l" t="t" r="r" b="b"/>
              <a:pathLst>
                <a:path w="1421130" h="966469">
                  <a:moveTo>
                    <a:pt x="0" y="965962"/>
                  </a:moveTo>
                  <a:lnTo>
                    <a:pt x="1420749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156709" y="2081400"/>
              <a:ext cx="81791" cy="103254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1811909" y="2105913"/>
              <a:ext cx="1421130" cy="966469"/>
            </a:xfrm>
            <a:custGeom>
              <a:avLst/>
              <a:gdLst/>
              <a:ahLst/>
              <a:cxnLst/>
              <a:rect l="l" t="t" r="r" b="b"/>
              <a:pathLst>
                <a:path w="1421130" h="966469">
                  <a:moveTo>
                    <a:pt x="0" y="965962"/>
                  </a:moveTo>
                  <a:lnTo>
                    <a:pt x="1420749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156709" y="2081400"/>
              <a:ext cx="81791" cy="103254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1811909" y="2105913"/>
              <a:ext cx="1421130" cy="966469"/>
            </a:xfrm>
            <a:custGeom>
              <a:avLst/>
              <a:gdLst/>
              <a:ahLst/>
              <a:cxnLst/>
              <a:rect l="l" t="t" r="r" b="b"/>
              <a:pathLst>
                <a:path w="1421130" h="966469">
                  <a:moveTo>
                    <a:pt x="0" y="965962"/>
                  </a:moveTo>
                  <a:lnTo>
                    <a:pt x="1420749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156709" y="2081400"/>
              <a:ext cx="81791" cy="103254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1811909" y="2105913"/>
              <a:ext cx="1421130" cy="966469"/>
            </a:xfrm>
            <a:custGeom>
              <a:avLst/>
              <a:gdLst/>
              <a:ahLst/>
              <a:cxnLst/>
              <a:rect l="l" t="t" r="r" b="b"/>
              <a:pathLst>
                <a:path w="1421130" h="966469">
                  <a:moveTo>
                    <a:pt x="0" y="965962"/>
                  </a:moveTo>
                  <a:lnTo>
                    <a:pt x="1420749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156709" y="2081400"/>
              <a:ext cx="81791" cy="103254"/>
            </a:xfrm>
            <a:prstGeom prst="rect">
              <a:avLst/>
            </a:prstGeom>
          </p:spPr>
        </p:pic>
      </p:grpSp>
      <p:sp>
        <p:nvSpPr>
          <p:cNvPr id="46" name="object 46"/>
          <p:cNvSpPr txBox="1"/>
          <p:nvPr/>
        </p:nvSpPr>
        <p:spPr>
          <a:xfrm>
            <a:off x="4356861" y="849883"/>
            <a:ext cx="4458335" cy="3712845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50"/>
              </a:spcBef>
            </a:pP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initialized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1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a</a:t>
            </a:r>
            <a:r>
              <a:rPr sz="1750" spc="-20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random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value</a:t>
            </a:r>
            <a:endParaRPr sz="1750">
              <a:latin typeface="Arial MT"/>
              <a:cs typeface="Arial MT"/>
            </a:endParaRPr>
          </a:p>
          <a:p>
            <a:pPr marL="40640" marR="35560" indent="-2540">
              <a:lnSpc>
                <a:spcPct val="116799"/>
              </a:lnSpc>
              <a:spcBef>
                <a:spcPts val="395"/>
              </a:spcBef>
              <a:tabLst>
                <a:tab pos="3227070" algn="l"/>
              </a:tabLst>
            </a:pP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observe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that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currently,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1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·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5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5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spc="-85" dirty="0">
                <a:solidFill>
                  <a:srgbClr val="213739"/>
                </a:solidFill>
                <a:latin typeface="Lucida Sans Unicode"/>
                <a:cs typeface="Lucida Sans Unicode"/>
              </a:rPr>
              <a:t>∵</a:t>
            </a:r>
            <a:r>
              <a:rPr sz="1750" spc="-23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angle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&gt;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90°)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for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all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positive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points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5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·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459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≥</a:t>
            </a:r>
            <a:r>
              <a:rPr sz="1750" spc="4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4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spc="-25" dirty="0">
                <a:solidFill>
                  <a:srgbClr val="213739"/>
                </a:solidFill>
                <a:latin typeface="Lucida Sans Unicode"/>
                <a:cs typeface="Lucida Sans Unicode"/>
              </a:rPr>
              <a:t>∵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angle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spc="409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90°)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for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all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negative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points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(the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situ-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ation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is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exactly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oppsite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what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actually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want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it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be)</a:t>
            </a:r>
            <a:endParaRPr sz="1750">
              <a:latin typeface="Arial MT"/>
              <a:cs typeface="Arial MT"/>
            </a:endParaRPr>
          </a:p>
          <a:p>
            <a:pPr marL="40640" marR="35560" indent="-3175">
              <a:lnSpc>
                <a:spcPct val="117700"/>
              </a:lnSpc>
              <a:spcBef>
                <a:spcPts val="495"/>
              </a:spcBef>
            </a:pPr>
            <a:r>
              <a:rPr sz="1750" spc="-16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now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run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algorithm</a:t>
            </a:r>
            <a:r>
              <a:rPr sz="1750" spc="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by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randomly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going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over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points</a:t>
            </a:r>
            <a:endParaRPr sz="1750">
              <a:latin typeface="Arial MT"/>
              <a:cs typeface="Arial MT"/>
            </a:endParaRPr>
          </a:p>
          <a:p>
            <a:pPr marL="41275" marR="30480" indent="-3810" algn="just">
              <a:lnSpc>
                <a:spcPct val="117200"/>
              </a:lnSpc>
              <a:spcBef>
                <a:spcPts val="710"/>
              </a:spcBef>
            </a:pP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Randomly</a:t>
            </a:r>
            <a:r>
              <a:rPr sz="1750" spc="-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pick</a:t>
            </a:r>
            <a:r>
              <a:rPr sz="1750" spc="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a</a:t>
            </a:r>
            <a:r>
              <a:rPr sz="1750" spc="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point</a:t>
            </a:r>
            <a:r>
              <a:rPr sz="1750" spc="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(say,</a:t>
            </a:r>
            <a:r>
              <a:rPr sz="1750" spc="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),</a:t>
            </a:r>
            <a:r>
              <a:rPr sz="1750" spc="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no</a:t>
            </a:r>
            <a:r>
              <a:rPr sz="1750" spc="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correction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needed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∵</a:t>
            </a:r>
            <a:r>
              <a:rPr sz="1750" spc="229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·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20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spc="38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b="1" spc="21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(you</a:t>
            </a:r>
            <a:r>
              <a:rPr sz="1750" spc="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can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check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angle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visually)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8781415" y="5603912"/>
            <a:ext cx="196215" cy="206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spc="-25" dirty="0">
                <a:solidFill>
                  <a:srgbClr val="213739"/>
                </a:solidFill>
                <a:latin typeface="Arial MT"/>
                <a:cs typeface="Arial MT"/>
              </a:rPr>
              <a:t>40</a:t>
            </a:r>
            <a:endParaRPr sz="125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56825" y="1076578"/>
            <a:ext cx="2850515" cy="3136265"/>
            <a:chOff x="956825" y="1076578"/>
            <a:chExt cx="2850515" cy="3136265"/>
          </a:xfrm>
        </p:grpSpPr>
        <p:sp>
          <p:nvSpPr>
            <p:cNvPr id="3" name="object 3"/>
            <p:cNvSpPr/>
            <p:nvPr/>
          </p:nvSpPr>
          <p:spPr>
            <a:xfrm>
              <a:off x="1749298" y="1081658"/>
              <a:ext cx="2052955" cy="2052955"/>
            </a:xfrm>
            <a:custGeom>
              <a:avLst/>
              <a:gdLst/>
              <a:ahLst/>
              <a:cxnLst/>
              <a:rect l="l" t="t" r="r" b="b"/>
              <a:pathLst>
                <a:path w="2052954" h="2052955">
                  <a:moveTo>
                    <a:pt x="62610" y="1990216"/>
                  </a:moveTo>
                  <a:lnTo>
                    <a:pt x="2044827" y="1990216"/>
                  </a:lnTo>
                </a:path>
                <a:path w="2052954" h="2052955">
                  <a:moveTo>
                    <a:pt x="2001519" y="1927605"/>
                  </a:moveTo>
                  <a:lnTo>
                    <a:pt x="2010537" y="1952243"/>
                  </a:lnTo>
                  <a:lnTo>
                    <a:pt x="2022855" y="1970277"/>
                  </a:lnTo>
                  <a:lnTo>
                    <a:pt x="2037334" y="1982596"/>
                  </a:lnTo>
                  <a:lnTo>
                    <a:pt x="2052827" y="1990216"/>
                  </a:lnTo>
                  <a:lnTo>
                    <a:pt x="2037334" y="1997837"/>
                  </a:lnTo>
                  <a:lnTo>
                    <a:pt x="2022855" y="2010155"/>
                  </a:lnTo>
                  <a:lnTo>
                    <a:pt x="2010537" y="2028316"/>
                  </a:lnTo>
                  <a:lnTo>
                    <a:pt x="2001519" y="2052954"/>
                  </a:lnTo>
                </a:path>
                <a:path w="2052954" h="2052955">
                  <a:moveTo>
                    <a:pt x="62610" y="1990216"/>
                  </a:moveTo>
                  <a:lnTo>
                    <a:pt x="62610" y="8000"/>
                  </a:lnTo>
                </a:path>
                <a:path w="2052954" h="2052955">
                  <a:moveTo>
                    <a:pt x="0" y="51307"/>
                  </a:moveTo>
                  <a:lnTo>
                    <a:pt x="24637" y="42290"/>
                  </a:lnTo>
                  <a:lnTo>
                    <a:pt x="42671" y="30099"/>
                  </a:lnTo>
                  <a:lnTo>
                    <a:pt x="55118" y="15620"/>
                  </a:lnTo>
                  <a:lnTo>
                    <a:pt x="62610" y="0"/>
                  </a:lnTo>
                  <a:lnTo>
                    <a:pt x="70231" y="15620"/>
                  </a:lnTo>
                  <a:lnTo>
                    <a:pt x="82676" y="30099"/>
                  </a:lnTo>
                  <a:lnTo>
                    <a:pt x="100710" y="42290"/>
                  </a:lnTo>
                  <a:lnTo>
                    <a:pt x="125349" y="51307"/>
                  </a:lnTo>
                </a:path>
              </a:pathLst>
            </a:custGeom>
            <a:ln w="10122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529588" y="2394203"/>
              <a:ext cx="282575" cy="678180"/>
            </a:xfrm>
            <a:custGeom>
              <a:avLst/>
              <a:gdLst/>
              <a:ahLst/>
              <a:cxnLst/>
              <a:rect l="l" t="t" r="r" b="b"/>
              <a:pathLst>
                <a:path w="282575" h="678180">
                  <a:moveTo>
                    <a:pt x="282320" y="677672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90984" y="2387984"/>
              <a:ext cx="114418" cy="7606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811908" y="1937765"/>
              <a:ext cx="283845" cy="1134110"/>
            </a:xfrm>
            <a:custGeom>
              <a:avLst/>
              <a:gdLst/>
              <a:ahLst/>
              <a:cxnLst/>
              <a:rect l="l" t="t" r="r" b="b"/>
              <a:pathLst>
                <a:path w="283844" h="1134110">
                  <a:moveTo>
                    <a:pt x="0" y="1134110"/>
                  </a:moveTo>
                  <a:lnTo>
                    <a:pt x="283591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23881" y="1931425"/>
              <a:ext cx="119741" cy="6995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811908" y="2503550"/>
              <a:ext cx="1705610" cy="568325"/>
            </a:xfrm>
            <a:custGeom>
              <a:avLst/>
              <a:gdLst/>
              <a:ahLst/>
              <a:cxnLst/>
              <a:rect l="l" t="t" r="r" b="b"/>
              <a:pathLst>
                <a:path w="1705610" h="568325">
                  <a:moveTo>
                    <a:pt x="0" y="568325"/>
                  </a:moveTo>
                  <a:lnTo>
                    <a:pt x="1705229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50089" y="2460124"/>
              <a:ext cx="73391" cy="11733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63168" y="2788919"/>
              <a:ext cx="848994" cy="283210"/>
            </a:xfrm>
            <a:custGeom>
              <a:avLst/>
              <a:gdLst/>
              <a:ahLst/>
              <a:cxnLst/>
              <a:rect l="l" t="t" r="r" b="b"/>
              <a:pathLst>
                <a:path w="848994" h="283210">
                  <a:moveTo>
                    <a:pt x="848740" y="282955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6825" y="2745620"/>
              <a:ext cx="73314" cy="11720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528445" y="3071875"/>
              <a:ext cx="283845" cy="1134110"/>
            </a:xfrm>
            <a:custGeom>
              <a:avLst/>
              <a:gdLst/>
              <a:ahLst/>
              <a:cxnLst/>
              <a:rect l="l" t="t" r="r" b="b"/>
              <a:pathLst>
                <a:path w="283844" h="1134110">
                  <a:moveTo>
                    <a:pt x="283463" y="0"/>
                  </a:moveTo>
                  <a:lnTo>
                    <a:pt x="0" y="1134110"/>
                  </a:lnTo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80194" y="4142368"/>
              <a:ext cx="119741" cy="7008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811908" y="3071875"/>
              <a:ext cx="329565" cy="1138555"/>
            </a:xfrm>
            <a:custGeom>
              <a:avLst/>
              <a:gdLst/>
              <a:ahLst/>
              <a:cxnLst/>
              <a:rect l="l" t="t" r="r" b="b"/>
              <a:pathLst>
                <a:path w="329564" h="1138554">
                  <a:moveTo>
                    <a:pt x="0" y="0"/>
                  </a:moveTo>
                  <a:lnTo>
                    <a:pt x="283591" y="1134110"/>
                  </a:lnTo>
                </a:path>
                <a:path w="329564" h="1138554">
                  <a:moveTo>
                    <a:pt x="329184" y="1073023"/>
                  </a:moveTo>
                  <a:lnTo>
                    <a:pt x="308864" y="1087628"/>
                  </a:lnTo>
                  <a:lnTo>
                    <a:pt x="295402" y="1103757"/>
                  </a:lnTo>
                  <a:lnTo>
                    <a:pt x="287655" y="1120902"/>
                  </a:lnTo>
                  <a:lnTo>
                    <a:pt x="284480" y="1138047"/>
                  </a:lnTo>
                  <a:lnTo>
                    <a:pt x="273685" y="1124331"/>
                  </a:lnTo>
                  <a:lnTo>
                    <a:pt x="258826" y="1112901"/>
                  </a:lnTo>
                  <a:lnTo>
                    <a:pt x="239268" y="1105027"/>
                  </a:lnTo>
                  <a:lnTo>
                    <a:pt x="214503" y="1101725"/>
                  </a:lnTo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548507" y="2969514"/>
            <a:ext cx="26479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49908" y="970915"/>
            <a:ext cx="26479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86205" y="1993773"/>
            <a:ext cx="26797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957070" y="1536954"/>
            <a:ext cx="26797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409315" y="2108073"/>
            <a:ext cx="13906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519932" y="2203780"/>
            <a:ext cx="107950" cy="2197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spc="-50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04672" y="2741167"/>
            <a:ext cx="27876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62583" y="4168902"/>
            <a:ext cx="874394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620395" algn="l"/>
              </a:tabLst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875" baseline="-8888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85904" y="1887356"/>
            <a:ext cx="3181985" cy="2369185"/>
            <a:chOff x="385904" y="1887356"/>
            <a:chExt cx="3181985" cy="2369185"/>
          </a:xfrm>
        </p:grpSpPr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83750" y="2344175"/>
              <a:ext cx="85324" cy="8532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054742" y="1887356"/>
              <a:ext cx="85324" cy="8532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82095" y="2458348"/>
              <a:ext cx="85324" cy="85324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12885" y="2743717"/>
              <a:ext cx="85324" cy="85324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483750" y="4171070"/>
              <a:ext cx="85324" cy="85324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2057272" y="4173600"/>
              <a:ext cx="80645" cy="80645"/>
            </a:xfrm>
            <a:custGeom>
              <a:avLst/>
              <a:gdLst/>
              <a:ahLst/>
              <a:cxnLst/>
              <a:rect l="l" t="t" r="r" b="b"/>
              <a:pathLst>
                <a:path w="80644" h="80645">
                  <a:moveTo>
                    <a:pt x="40131" y="0"/>
                  </a:moveTo>
                  <a:lnTo>
                    <a:pt x="24510" y="3175"/>
                  </a:lnTo>
                  <a:lnTo>
                    <a:pt x="11810" y="11811"/>
                  </a:lnTo>
                  <a:lnTo>
                    <a:pt x="3175" y="24511"/>
                  </a:lnTo>
                  <a:lnTo>
                    <a:pt x="0" y="40131"/>
                  </a:lnTo>
                  <a:lnTo>
                    <a:pt x="3175" y="55753"/>
                  </a:lnTo>
                  <a:lnTo>
                    <a:pt x="11810" y="68580"/>
                  </a:lnTo>
                  <a:lnTo>
                    <a:pt x="24510" y="77088"/>
                  </a:lnTo>
                  <a:lnTo>
                    <a:pt x="40131" y="80263"/>
                  </a:lnTo>
                  <a:lnTo>
                    <a:pt x="55752" y="77088"/>
                  </a:lnTo>
                  <a:lnTo>
                    <a:pt x="68452" y="68580"/>
                  </a:lnTo>
                  <a:lnTo>
                    <a:pt x="77088" y="55753"/>
                  </a:lnTo>
                  <a:lnTo>
                    <a:pt x="80263" y="40131"/>
                  </a:lnTo>
                  <a:lnTo>
                    <a:pt x="77088" y="24511"/>
                  </a:lnTo>
                  <a:lnTo>
                    <a:pt x="68452" y="11811"/>
                  </a:lnTo>
                  <a:lnTo>
                    <a:pt x="55752" y="3175"/>
                  </a:lnTo>
                  <a:lnTo>
                    <a:pt x="40131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057272" y="4173600"/>
              <a:ext cx="80645" cy="80645"/>
            </a:xfrm>
            <a:custGeom>
              <a:avLst/>
              <a:gdLst/>
              <a:ahLst/>
              <a:cxnLst/>
              <a:rect l="l" t="t" r="r" b="b"/>
              <a:pathLst>
                <a:path w="80644" h="80645">
                  <a:moveTo>
                    <a:pt x="80263" y="40131"/>
                  </a:moveTo>
                  <a:lnTo>
                    <a:pt x="77088" y="24511"/>
                  </a:lnTo>
                  <a:lnTo>
                    <a:pt x="68452" y="11811"/>
                  </a:lnTo>
                  <a:lnTo>
                    <a:pt x="55752" y="3175"/>
                  </a:lnTo>
                  <a:lnTo>
                    <a:pt x="40131" y="0"/>
                  </a:lnTo>
                  <a:lnTo>
                    <a:pt x="24510" y="3175"/>
                  </a:lnTo>
                  <a:lnTo>
                    <a:pt x="11810" y="11811"/>
                  </a:lnTo>
                  <a:lnTo>
                    <a:pt x="3175" y="24511"/>
                  </a:lnTo>
                  <a:lnTo>
                    <a:pt x="0" y="40131"/>
                  </a:lnTo>
                  <a:lnTo>
                    <a:pt x="3175" y="55753"/>
                  </a:lnTo>
                  <a:lnTo>
                    <a:pt x="11810" y="68580"/>
                  </a:lnTo>
                  <a:lnTo>
                    <a:pt x="24510" y="77088"/>
                  </a:lnTo>
                  <a:lnTo>
                    <a:pt x="40131" y="80263"/>
                  </a:lnTo>
                  <a:lnTo>
                    <a:pt x="55752" y="77088"/>
                  </a:lnTo>
                  <a:lnTo>
                    <a:pt x="68452" y="68580"/>
                  </a:lnTo>
                  <a:lnTo>
                    <a:pt x="77088" y="55753"/>
                  </a:lnTo>
                  <a:lnTo>
                    <a:pt x="80263" y="40131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75754" y="3071875"/>
              <a:ext cx="1136650" cy="1136650"/>
            </a:xfrm>
            <a:custGeom>
              <a:avLst/>
              <a:gdLst/>
              <a:ahLst/>
              <a:cxnLst/>
              <a:rect l="l" t="t" r="r" b="b"/>
              <a:pathLst>
                <a:path w="1136650" h="1136650">
                  <a:moveTo>
                    <a:pt x="1136154" y="0"/>
                  </a:moveTo>
                  <a:lnTo>
                    <a:pt x="0" y="1136269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65489" y="4129668"/>
              <a:ext cx="88638" cy="88626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392277" y="3071875"/>
              <a:ext cx="1419860" cy="454659"/>
            </a:xfrm>
            <a:custGeom>
              <a:avLst/>
              <a:gdLst/>
              <a:ahLst/>
              <a:cxnLst/>
              <a:rect l="l" t="t" r="r" b="b"/>
              <a:pathLst>
                <a:path w="1419860" h="454660">
                  <a:moveTo>
                    <a:pt x="1419631" y="0"/>
                  </a:moveTo>
                  <a:lnTo>
                    <a:pt x="0" y="454278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85904" y="3452497"/>
              <a:ext cx="72969" cy="117978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676986" y="2390901"/>
              <a:ext cx="1135380" cy="681355"/>
            </a:xfrm>
            <a:custGeom>
              <a:avLst/>
              <a:gdLst/>
              <a:ahLst/>
              <a:cxnLst/>
              <a:rect l="l" t="t" r="r" b="b"/>
              <a:pathLst>
                <a:path w="1135380" h="681355">
                  <a:moveTo>
                    <a:pt x="1134922" y="680974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70990" y="2362325"/>
              <a:ext cx="80559" cy="106937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506981" y="2671533"/>
              <a:ext cx="308965" cy="404406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1811909" y="2105913"/>
              <a:ext cx="1421130" cy="966469"/>
            </a:xfrm>
            <a:custGeom>
              <a:avLst/>
              <a:gdLst/>
              <a:ahLst/>
              <a:cxnLst/>
              <a:rect l="l" t="t" r="r" b="b"/>
              <a:pathLst>
                <a:path w="1421130" h="966469">
                  <a:moveTo>
                    <a:pt x="0" y="965962"/>
                  </a:moveTo>
                  <a:lnTo>
                    <a:pt x="1420749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156709" y="2081400"/>
              <a:ext cx="81791" cy="103254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1811909" y="2105913"/>
              <a:ext cx="1421130" cy="966469"/>
            </a:xfrm>
            <a:custGeom>
              <a:avLst/>
              <a:gdLst/>
              <a:ahLst/>
              <a:cxnLst/>
              <a:rect l="l" t="t" r="r" b="b"/>
              <a:pathLst>
                <a:path w="1421130" h="966469">
                  <a:moveTo>
                    <a:pt x="0" y="965962"/>
                  </a:moveTo>
                  <a:lnTo>
                    <a:pt x="1420749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156709" y="2081400"/>
              <a:ext cx="81791" cy="103254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1811909" y="2105913"/>
              <a:ext cx="1421130" cy="966469"/>
            </a:xfrm>
            <a:custGeom>
              <a:avLst/>
              <a:gdLst/>
              <a:ahLst/>
              <a:cxnLst/>
              <a:rect l="l" t="t" r="r" b="b"/>
              <a:pathLst>
                <a:path w="1421130" h="966469">
                  <a:moveTo>
                    <a:pt x="0" y="965962"/>
                  </a:moveTo>
                  <a:lnTo>
                    <a:pt x="1420749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156709" y="2081400"/>
              <a:ext cx="81791" cy="103254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1811909" y="2105913"/>
              <a:ext cx="1421130" cy="966469"/>
            </a:xfrm>
            <a:custGeom>
              <a:avLst/>
              <a:gdLst/>
              <a:ahLst/>
              <a:cxnLst/>
              <a:rect l="l" t="t" r="r" b="b"/>
              <a:pathLst>
                <a:path w="1421130" h="966469">
                  <a:moveTo>
                    <a:pt x="0" y="965962"/>
                  </a:moveTo>
                  <a:lnTo>
                    <a:pt x="1420749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156709" y="2081400"/>
              <a:ext cx="81791" cy="103254"/>
            </a:xfrm>
            <a:prstGeom prst="rect">
              <a:avLst/>
            </a:prstGeom>
          </p:spPr>
        </p:pic>
      </p:grpSp>
      <p:sp>
        <p:nvSpPr>
          <p:cNvPr id="46" name="object 46"/>
          <p:cNvSpPr txBox="1"/>
          <p:nvPr/>
        </p:nvSpPr>
        <p:spPr>
          <a:xfrm>
            <a:off x="4356861" y="849883"/>
            <a:ext cx="4458335" cy="3712845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50"/>
              </a:spcBef>
            </a:pP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initialized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1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a</a:t>
            </a:r>
            <a:r>
              <a:rPr sz="1750" spc="-20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random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value</a:t>
            </a:r>
            <a:endParaRPr sz="1750">
              <a:latin typeface="Arial MT"/>
              <a:cs typeface="Arial MT"/>
            </a:endParaRPr>
          </a:p>
          <a:p>
            <a:pPr marL="40640" marR="35560" indent="-2540">
              <a:lnSpc>
                <a:spcPct val="116799"/>
              </a:lnSpc>
              <a:spcBef>
                <a:spcPts val="395"/>
              </a:spcBef>
              <a:tabLst>
                <a:tab pos="3227070" algn="l"/>
              </a:tabLst>
            </a:pP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observe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that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currently,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1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·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5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5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spc="-85" dirty="0">
                <a:solidFill>
                  <a:srgbClr val="213739"/>
                </a:solidFill>
                <a:latin typeface="Lucida Sans Unicode"/>
                <a:cs typeface="Lucida Sans Unicode"/>
              </a:rPr>
              <a:t>∵</a:t>
            </a:r>
            <a:r>
              <a:rPr sz="1750" spc="-23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angle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&gt;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90°)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for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all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positive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points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5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·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459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≥</a:t>
            </a:r>
            <a:r>
              <a:rPr sz="1750" spc="4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4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spc="-25" dirty="0">
                <a:solidFill>
                  <a:srgbClr val="213739"/>
                </a:solidFill>
                <a:latin typeface="Lucida Sans Unicode"/>
                <a:cs typeface="Lucida Sans Unicode"/>
              </a:rPr>
              <a:t>∵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angle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spc="409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90°)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for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all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negative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points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(the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situ-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ation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is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exactly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oppsite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what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actually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want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it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be)</a:t>
            </a:r>
            <a:endParaRPr sz="1750">
              <a:latin typeface="Arial MT"/>
              <a:cs typeface="Arial MT"/>
            </a:endParaRPr>
          </a:p>
          <a:p>
            <a:pPr marL="40640" marR="35560" indent="-3175">
              <a:lnSpc>
                <a:spcPct val="117700"/>
              </a:lnSpc>
              <a:spcBef>
                <a:spcPts val="495"/>
              </a:spcBef>
            </a:pPr>
            <a:r>
              <a:rPr sz="1750" spc="-16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now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run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algorithm</a:t>
            </a:r>
            <a:r>
              <a:rPr sz="1750" spc="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by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randomly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going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over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points</a:t>
            </a:r>
            <a:endParaRPr sz="1750">
              <a:latin typeface="Arial MT"/>
              <a:cs typeface="Arial MT"/>
            </a:endParaRPr>
          </a:p>
          <a:p>
            <a:pPr marL="41275" marR="30480" indent="-3810" algn="just">
              <a:lnSpc>
                <a:spcPct val="117200"/>
              </a:lnSpc>
              <a:spcBef>
                <a:spcPts val="710"/>
              </a:spcBef>
            </a:pP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Randomly</a:t>
            </a:r>
            <a:r>
              <a:rPr sz="1750" spc="-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pick</a:t>
            </a:r>
            <a:r>
              <a:rPr sz="1750" spc="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a</a:t>
            </a:r>
            <a:r>
              <a:rPr sz="1750" spc="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point</a:t>
            </a:r>
            <a:r>
              <a:rPr sz="1750" spc="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(say,</a:t>
            </a:r>
            <a:r>
              <a:rPr sz="1750" spc="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),</a:t>
            </a:r>
            <a:r>
              <a:rPr sz="1750" spc="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no</a:t>
            </a:r>
            <a:r>
              <a:rPr sz="1750" spc="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correction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needed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∵</a:t>
            </a:r>
            <a:r>
              <a:rPr sz="1750" spc="229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·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20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spc="38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b="1" spc="21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(you</a:t>
            </a:r>
            <a:r>
              <a:rPr sz="1750" spc="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can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check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angle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visually)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8781415" y="5603912"/>
            <a:ext cx="196215" cy="206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spc="-25" dirty="0">
                <a:solidFill>
                  <a:srgbClr val="213739"/>
                </a:solidFill>
                <a:latin typeface="Arial MT"/>
                <a:cs typeface="Arial MT"/>
              </a:rPr>
              <a:t>40</a:t>
            </a:r>
            <a:endParaRPr sz="125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56825" y="1076578"/>
            <a:ext cx="2850515" cy="3136265"/>
            <a:chOff x="956825" y="1076578"/>
            <a:chExt cx="2850515" cy="3136265"/>
          </a:xfrm>
        </p:grpSpPr>
        <p:sp>
          <p:nvSpPr>
            <p:cNvPr id="3" name="object 3"/>
            <p:cNvSpPr/>
            <p:nvPr/>
          </p:nvSpPr>
          <p:spPr>
            <a:xfrm>
              <a:off x="1749298" y="1081658"/>
              <a:ext cx="2052955" cy="2052955"/>
            </a:xfrm>
            <a:custGeom>
              <a:avLst/>
              <a:gdLst/>
              <a:ahLst/>
              <a:cxnLst/>
              <a:rect l="l" t="t" r="r" b="b"/>
              <a:pathLst>
                <a:path w="2052954" h="2052955">
                  <a:moveTo>
                    <a:pt x="62610" y="1990216"/>
                  </a:moveTo>
                  <a:lnTo>
                    <a:pt x="2044827" y="1990216"/>
                  </a:lnTo>
                </a:path>
                <a:path w="2052954" h="2052955">
                  <a:moveTo>
                    <a:pt x="2001519" y="1927605"/>
                  </a:moveTo>
                  <a:lnTo>
                    <a:pt x="2010537" y="1952243"/>
                  </a:lnTo>
                  <a:lnTo>
                    <a:pt x="2022855" y="1970277"/>
                  </a:lnTo>
                  <a:lnTo>
                    <a:pt x="2037334" y="1982596"/>
                  </a:lnTo>
                  <a:lnTo>
                    <a:pt x="2052827" y="1990216"/>
                  </a:lnTo>
                  <a:lnTo>
                    <a:pt x="2037334" y="1997837"/>
                  </a:lnTo>
                  <a:lnTo>
                    <a:pt x="2022855" y="2010155"/>
                  </a:lnTo>
                  <a:lnTo>
                    <a:pt x="2010537" y="2028316"/>
                  </a:lnTo>
                  <a:lnTo>
                    <a:pt x="2001519" y="2052954"/>
                  </a:lnTo>
                </a:path>
                <a:path w="2052954" h="2052955">
                  <a:moveTo>
                    <a:pt x="62610" y="1990216"/>
                  </a:moveTo>
                  <a:lnTo>
                    <a:pt x="62610" y="8000"/>
                  </a:lnTo>
                </a:path>
                <a:path w="2052954" h="2052955">
                  <a:moveTo>
                    <a:pt x="0" y="51307"/>
                  </a:moveTo>
                  <a:lnTo>
                    <a:pt x="24637" y="42290"/>
                  </a:lnTo>
                  <a:lnTo>
                    <a:pt x="42671" y="30099"/>
                  </a:lnTo>
                  <a:lnTo>
                    <a:pt x="55118" y="15620"/>
                  </a:lnTo>
                  <a:lnTo>
                    <a:pt x="62610" y="0"/>
                  </a:lnTo>
                  <a:lnTo>
                    <a:pt x="70231" y="15620"/>
                  </a:lnTo>
                  <a:lnTo>
                    <a:pt x="82676" y="30099"/>
                  </a:lnTo>
                  <a:lnTo>
                    <a:pt x="100710" y="42290"/>
                  </a:lnTo>
                  <a:lnTo>
                    <a:pt x="125349" y="51307"/>
                  </a:lnTo>
                </a:path>
              </a:pathLst>
            </a:custGeom>
            <a:ln w="10122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529588" y="2394203"/>
              <a:ext cx="282575" cy="678180"/>
            </a:xfrm>
            <a:custGeom>
              <a:avLst/>
              <a:gdLst/>
              <a:ahLst/>
              <a:cxnLst/>
              <a:rect l="l" t="t" r="r" b="b"/>
              <a:pathLst>
                <a:path w="282575" h="678180">
                  <a:moveTo>
                    <a:pt x="282320" y="677672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90984" y="2387984"/>
              <a:ext cx="114418" cy="7606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811908" y="1937765"/>
              <a:ext cx="283845" cy="1134110"/>
            </a:xfrm>
            <a:custGeom>
              <a:avLst/>
              <a:gdLst/>
              <a:ahLst/>
              <a:cxnLst/>
              <a:rect l="l" t="t" r="r" b="b"/>
              <a:pathLst>
                <a:path w="283844" h="1134110">
                  <a:moveTo>
                    <a:pt x="0" y="1134110"/>
                  </a:moveTo>
                  <a:lnTo>
                    <a:pt x="283591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23881" y="1931425"/>
              <a:ext cx="119741" cy="6995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811908" y="2503550"/>
              <a:ext cx="1705610" cy="568325"/>
            </a:xfrm>
            <a:custGeom>
              <a:avLst/>
              <a:gdLst/>
              <a:ahLst/>
              <a:cxnLst/>
              <a:rect l="l" t="t" r="r" b="b"/>
              <a:pathLst>
                <a:path w="1705610" h="568325">
                  <a:moveTo>
                    <a:pt x="0" y="568325"/>
                  </a:moveTo>
                  <a:lnTo>
                    <a:pt x="1705229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50089" y="2460124"/>
              <a:ext cx="73391" cy="11733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63168" y="2788919"/>
              <a:ext cx="848994" cy="283210"/>
            </a:xfrm>
            <a:custGeom>
              <a:avLst/>
              <a:gdLst/>
              <a:ahLst/>
              <a:cxnLst/>
              <a:rect l="l" t="t" r="r" b="b"/>
              <a:pathLst>
                <a:path w="848994" h="283210">
                  <a:moveTo>
                    <a:pt x="848740" y="282955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6825" y="2745620"/>
              <a:ext cx="73314" cy="11720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528445" y="3071875"/>
              <a:ext cx="283845" cy="1134110"/>
            </a:xfrm>
            <a:custGeom>
              <a:avLst/>
              <a:gdLst/>
              <a:ahLst/>
              <a:cxnLst/>
              <a:rect l="l" t="t" r="r" b="b"/>
              <a:pathLst>
                <a:path w="283844" h="1134110">
                  <a:moveTo>
                    <a:pt x="283463" y="0"/>
                  </a:moveTo>
                  <a:lnTo>
                    <a:pt x="0" y="1134110"/>
                  </a:lnTo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80194" y="4142368"/>
              <a:ext cx="119741" cy="7008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811908" y="3071875"/>
              <a:ext cx="329565" cy="1138555"/>
            </a:xfrm>
            <a:custGeom>
              <a:avLst/>
              <a:gdLst/>
              <a:ahLst/>
              <a:cxnLst/>
              <a:rect l="l" t="t" r="r" b="b"/>
              <a:pathLst>
                <a:path w="329564" h="1138554">
                  <a:moveTo>
                    <a:pt x="0" y="0"/>
                  </a:moveTo>
                  <a:lnTo>
                    <a:pt x="283591" y="1134110"/>
                  </a:lnTo>
                </a:path>
                <a:path w="329564" h="1138554">
                  <a:moveTo>
                    <a:pt x="329184" y="1073023"/>
                  </a:moveTo>
                  <a:lnTo>
                    <a:pt x="308864" y="1087628"/>
                  </a:lnTo>
                  <a:lnTo>
                    <a:pt x="295402" y="1103757"/>
                  </a:lnTo>
                  <a:lnTo>
                    <a:pt x="287655" y="1120902"/>
                  </a:lnTo>
                  <a:lnTo>
                    <a:pt x="284480" y="1138047"/>
                  </a:lnTo>
                  <a:lnTo>
                    <a:pt x="273685" y="1124331"/>
                  </a:lnTo>
                  <a:lnTo>
                    <a:pt x="258826" y="1112901"/>
                  </a:lnTo>
                  <a:lnTo>
                    <a:pt x="239268" y="1105027"/>
                  </a:lnTo>
                  <a:lnTo>
                    <a:pt x="214503" y="1101725"/>
                  </a:lnTo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548507" y="2969514"/>
            <a:ext cx="26479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49908" y="970915"/>
            <a:ext cx="26479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86205" y="1993773"/>
            <a:ext cx="26797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957070" y="1536954"/>
            <a:ext cx="26797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409315" y="2108073"/>
            <a:ext cx="13906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519932" y="2203780"/>
            <a:ext cx="107950" cy="2197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spc="-50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04672" y="2741167"/>
            <a:ext cx="27876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62583" y="4168902"/>
            <a:ext cx="874394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620395" algn="l"/>
              </a:tabLst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875" baseline="-8888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85904" y="1887356"/>
            <a:ext cx="3181985" cy="2369185"/>
            <a:chOff x="385904" y="1887356"/>
            <a:chExt cx="3181985" cy="2369185"/>
          </a:xfrm>
        </p:grpSpPr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83750" y="2344175"/>
              <a:ext cx="85324" cy="8532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054742" y="1887356"/>
              <a:ext cx="85324" cy="8532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82095" y="2458348"/>
              <a:ext cx="85324" cy="85324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12885" y="2743717"/>
              <a:ext cx="85324" cy="85324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483750" y="4171070"/>
              <a:ext cx="85324" cy="85324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2057272" y="4173600"/>
              <a:ext cx="80645" cy="80645"/>
            </a:xfrm>
            <a:custGeom>
              <a:avLst/>
              <a:gdLst/>
              <a:ahLst/>
              <a:cxnLst/>
              <a:rect l="l" t="t" r="r" b="b"/>
              <a:pathLst>
                <a:path w="80644" h="80645">
                  <a:moveTo>
                    <a:pt x="40131" y="0"/>
                  </a:moveTo>
                  <a:lnTo>
                    <a:pt x="24510" y="3175"/>
                  </a:lnTo>
                  <a:lnTo>
                    <a:pt x="11810" y="11811"/>
                  </a:lnTo>
                  <a:lnTo>
                    <a:pt x="3175" y="24511"/>
                  </a:lnTo>
                  <a:lnTo>
                    <a:pt x="0" y="40131"/>
                  </a:lnTo>
                  <a:lnTo>
                    <a:pt x="3175" y="55753"/>
                  </a:lnTo>
                  <a:lnTo>
                    <a:pt x="11810" y="68580"/>
                  </a:lnTo>
                  <a:lnTo>
                    <a:pt x="24510" y="77088"/>
                  </a:lnTo>
                  <a:lnTo>
                    <a:pt x="40131" y="80263"/>
                  </a:lnTo>
                  <a:lnTo>
                    <a:pt x="55752" y="77088"/>
                  </a:lnTo>
                  <a:lnTo>
                    <a:pt x="68452" y="68580"/>
                  </a:lnTo>
                  <a:lnTo>
                    <a:pt x="77088" y="55753"/>
                  </a:lnTo>
                  <a:lnTo>
                    <a:pt x="80263" y="40131"/>
                  </a:lnTo>
                  <a:lnTo>
                    <a:pt x="77088" y="24511"/>
                  </a:lnTo>
                  <a:lnTo>
                    <a:pt x="68452" y="11811"/>
                  </a:lnTo>
                  <a:lnTo>
                    <a:pt x="55752" y="3175"/>
                  </a:lnTo>
                  <a:lnTo>
                    <a:pt x="40131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057272" y="4173600"/>
              <a:ext cx="80645" cy="80645"/>
            </a:xfrm>
            <a:custGeom>
              <a:avLst/>
              <a:gdLst/>
              <a:ahLst/>
              <a:cxnLst/>
              <a:rect l="l" t="t" r="r" b="b"/>
              <a:pathLst>
                <a:path w="80644" h="80645">
                  <a:moveTo>
                    <a:pt x="80263" y="40131"/>
                  </a:moveTo>
                  <a:lnTo>
                    <a:pt x="77088" y="24511"/>
                  </a:lnTo>
                  <a:lnTo>
                    <a:pt x="68452" y="11811"/>
                  </a:lnTo>
                  <a:lnTo>
                    <a:pt x="55752" y="3175"/>
                  </a:lnTo>
                  <a:lnTo>
                    <a:pt x="40131" y="0"/>
                  </a:lnTo>
                  <a:lnTo>
                    <a:pt x="24510" y="3175"/>
                  </a:lnTo>
                  <a:lnTo>
                    <a:pt x="11810" y="11811"/>
                  </a:lnTo>
                  <a:lnTo>
                    <a:pt x="3175" y="24511"/>
                  </a:lnTo>
                  <a:lnTo>
                    <a:pt x="0" y="40131"/>
                  </a:lnTo>
                  <a:lnTo>
                    <a:pt x="3175" y="55753"/>
                  </a:lnTo>
                  <a:lnTo>
                    <a:pt x="11810" y="68580"/>
                  </a:lnTo>
                  <a:lnTo>
                    <a:pt x="24510" y="77088"/>
                  </a:lnTo>
                  <a:lnTo>
                    <a:pt x="40131" y="80263"/>
                  </a:lnTo>
                  <a:lnTo>
                    <a:pt x="55752" y="77088"/>
                  </a:lnTo>
                  <a:lnTo>
                    <a:pt x="68452" y="68580"/>
                  </a:lnTo>
                  <a:lnTo>
                    <a:pt x="77088" y="55753"/>
                  </a:lnTo>
                  <a:lnTo>
                    <a:pt x="80263" y="40131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75754" y="3071875"/>
              <a:ext cx="1136650" cy="1136650"/>
            </a:xfrm>
            <a:custGeom>
              <a:avLst/>
              <a:gdLst/>
              <a:ahLst/>
              <a:cxnLst/>
              <a:rect l="l" t="t" r="r" b="b"/>
              <a:pathLst>
                <a:path w="1136650" h="1136650">
                  <a:moveTo>
                    <a:pt x="1136154" y="0"/>
                  </a:moveTo>
                  <a:lnTo>
                    <a:pt x="0" y="1136269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65489" y="4129668"/>
              <a:ext cx="88638" cy="88626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392277" y="3071875"/>
              <a:ext cx="1419860" cy="454659"/>
            </a:xfrm>
            <a:custGeom>
              <a:avLst/>
              <a:gdLst/>
              <a:ahLst/>
              <a:cxnLst/>
              <a:rect l="l" t="t" r="r" b="b"/>
              <a:pathLst>
                <a:path w="1419860" h="454660">
                  <a:moveTo>
                    <a:pt x="1419631" y="0"/>
                  </a:moveTo>
                  <a:lnTo>
                    <a:pt x="0" y="454278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85904" y="3452497"/>
              <a:ext cx="72969" cy="117978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676986" y="2390901"/>
              <a:ext cx="1135380" cy="681355"/>
            </a:xfrm>
            <a:custGeom>
              <a:avLst/>
              <a:gdLst/>
              <a:ahLst/>
              <a:cxnLst/>
              <a:rect l="l" t="t" r="r" b="b"/>
              <a:pathLst>
                <a:path w="1135380" h="681355">
                  <a:moveTo>
                    <a:pt x="1134922" y="680974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70990" y="2362325"/>
              <a:ext cx="80559" cy="106937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506981" y="2671533"/>
              <a:ext cx="308965" cy="404406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1811909" y="2105913"/>
              <a:ext cx="1421130" cy="966469"/>
            </a:xfrm>
            <a:custGeom>
              <a:avLst/>
              <a:gdLst/>
              <a:ahLst/>
              <a:cxnLst/>
              <a:rect l="l" t="t" r="r" b="b"/>
              <a:pathLst>
                <a:path w="1421130" h="966469">
                  <a:moveTo>
                    <a:pt x="0" y="965962"/>
                  </a:moveTo>
                  <a:lnTo>
                    <a:pt x="1420749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156709" y="2081400"/>
              <a:ext cx="81791" cy="103254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1811909" y="2105913"/>
              <a:ext cx="1421130" cy="966469"/>
            </a:xfrm>
            <a:custGeom>
              <a:avLst/>
              <a:gdLst/>
              <a:ahLst/>
              <a:cxnLst/>
              <a:rect l="l" t="t" r="r" b="b"/>
              <a:pathLst>
                <a:path w="1421130" h="966469">
                  <a:moveTo>
                    <a:pt x="0" y="965962"/>
                  </a:moveTo>
                  <a:lnTo>
                    <a:pt x="1420749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156709" y="2081400"/>
              <a:ext cx="81791" cy="103254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1811909" y="2105913"/>
              <a:ext cx="1421130" cy="966469"/>
            </a:xfrm>
            <a:custGeom>
              <a:avLst/>
              <a:gdLst/>
              <a:ahLst/>
              <a:cxnLst/>
              <a:rect l="l" t="t" r="r" b="b"/>
              <a:pathLst>
                <a:path w="1421130" h="966469">
                  <a:moveTo>
                    <a:pt x="0" y="965962"/>
                  </a:moveTo>
                  <a:lnTo>
                    <a:pt x="1420749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156709" y="2081400"/>
              <a:ext cx="81791" cy="103254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1811909" y="2105913"/>
              <a:ext cx="1421130" cy="966469"/>
            </a:xfrm>
            <a:custGeom>
              <a:avLst/>
              <a:gdLst/>
              <a:ahLst/>
              <a:cxnLst/>
              <a:rect l="l" t="t" r="r" b="b"/>
              <a:pathLst>
                <a:path w="1421130" h="966469">
                  <a:moveTo>
                    <a:pt x="0" y="965962"/>
                  </a:moveTo>
                  <a:lnTo>
                    <a:pt x="1420749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156709" y="2081400"/>
              <a:ext cx="81791" cy="103254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1811909" y="2105913"/>
              <a:ext cx="1421130" cy="966469"/>
            </a:xfrm>
            <a:custGeom>
              <a:avLst/>
              <a:gdLst/>
              <a:ahLst/>
              <a:cxnLst/>
              <a:rect l="l" t="t" r="r" b="b"/>
              <a:pathLst>
                <a:path w="1421130" h="966469">
                  <a:moveTo>
                    <a:pt x="0" y="965962"/>
                  </a:moveTo>
                  <a:lnTo>
                    <a:pt x="1420749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156709" y="2081400"/>
              <a:ext cx="81791" cy="103254"/>
            </a:xfrm>
            <a:prstGeom prst="rect">
              <a:avLst/>
            </a:prstGeom>
          </p:spPr>
        </p:pic>
      </p:grpSp>
      <p:sp>
        <p:nvSpPr>
          <p:cNvPr id="48" name="object 48"/>
          <p:cNvSpPr txBox="1"/>
          <p:nvPr/>
        </p:nvSpPr>
        <p:spPr>
          <a:xfrm>
            <a:off x="4356861" y="849883"/>
            <a:ext cx="4458335" cy="3712845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50"/>
              </a:spcBef>
            </a:pP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initialized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1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a</a:t>
            </a:r>
            <a:r>
              <a:rPr sz="1750" spc="-20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random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value</a:t>
            </a:r>
            <a:endParaRPr sz="1750">
              <a:latin typeface="Arial MT"/>
              <a:cs typeface="Arial MT"/>
            </a:endParaRPr>
          </a:p>
          <a:p>
            <a:pPr marL="40640" marR="35560" indent="-2540">
              <a:lnSpc>
                <a:spcPct val="116799"/>
              </a:lnSpc>
              <a:spcBef>
                <a:spcPts val="395"/>
              </a:spcBef>
              <a:tabLst>
                <a:tab pos="3227070" algn="l"/>
              </a:tabLst>
            </a:pP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observe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that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currently,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1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·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5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5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spc="-85" dirty="0">
                <a:solidFill>
                  <a:srgbClr val="213739"/>
                </a:solidFill>
                <a:latin typeface="Lucida Sans Unicode"/>
                <a:cs typeface="Lucida Sans Unicode"/>
              </a:rPr>
              <a:t>∵</a:t>
            </a:r>
            <a:r>
              <a:rPr sz="1750" spc="-23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angle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&gt;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90°)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for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all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positive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points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5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·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459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≥</a:t>
            </a:r>
            <a:r>
              <a:rPr sz="1750" spc="4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4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spc="-25" dirty="0">
                <a:solidFill>
                  <a:srgbClr val="213739"/>
                </a:solidFill>
                <a:latin typeface="Lucida Sans Unicode"/>
                <a:cs typeface="Lucida Sans Unicode"/>
              </a:rPr>
              <a:t>∵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angle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spc="409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90°)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for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all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negative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points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(the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situ-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ation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is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exactly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oppsite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what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actually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want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it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be)</a:t>
            </a:r>
            <a:endParaRPr sz="1750">
              <a:latin typeface="Arial MT"/>
              <a:cs typeface="Arial MT"/>
            </a:endParaRPr>
          </a:p>
          <a:p>
            <a:pPr marL="40640" marR="35560" indent="-3175">
              <a:lnSpc>
                <a:spcPct val="117700"/>
              </a:lnSpc>
              <a:spcBef>
                <a:spcPts val="495"/>
              </a:spcBef>
            </a:pPr>
            <a:r>
              <a:rPr sz="1750" spc="-16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now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run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algorithm</a:t>
            </a:r>
            <a:r>
              <a:rPr sz="1750" spc="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by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randomly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going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over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points</a:t>
            </a:r>
            <a:endParaRPr sz="1750">
              <a:latin typeface="Arial MT"/>
              <a:cs typeface="Arial MT"/>
            </a:endParaRPr>
          </a:p>
          <a:p>
            <a:pPr marL="41275" marR="30480" indent="-3810" algn="just">
              <a:lnSpc>
                <a:spcPct val="117200"/>
              </a:lnSpc>
              <a:spcBef>
                <a:spcPts val="710"/>
              </a:spcBef>
            </a:pP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Randomly</a:t>
            </a:r>
            <a:r>
              <a:rPr sz="1750" spc="-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pick</a:t>
            </a:r>
            <a:r>
              <a:rPr sz="1750" spc="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a</a:t>
            </a:r>
            <a:r>
              <a:rPr sz="1750" spc="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point</a:t>
            </a:r>
            <a:r>
              <a:rPr sz="1750" spc="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(say,</a:t>
            </a:r>
            <a:r>
              <a:rPr sz="1750" spc="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),</a:t>
            </a:r>
            <a:r>
              <a:rPr sz="1750" spc="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no</a:t>
            </a:r>
            <a:r>
              <a:rPr sz="1750" spc="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correction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needed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∵</a:t>
            </a:r>
            <a:r>
              <a:rPr sz="1750" spc="229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·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20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spc="38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b="1" spc="21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(you</a:t>
            </a:r>
            <a:r>
              <a:rPr sz="1750" spc="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can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check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angle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visually)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8781415" y="5603912"/>
            <a:ext cx="196215" cy="206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spc="-25" dirty="0">
                <a:solidFill>
                  <a:srgbClr val="213739"/>
                </a:solidFill>
                <a:latin typeface="Arial MT"/>
                <a:cs typeface="Arial MT"/>
              </a:rPr>
              <a:t>40</a:t>
            </a:r>
            <a:endParaRPr sz="125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56825" y="1076578"/>
            <a:ext cx="2850515" cy="3136265"/>
            <a:chOff x="956825" y="1076578"/>
            <a:chExt cx="2850515" cy="3136265"/>
          </a:xfrm>
        </p:grpSpPr>
        <p:sp>
          <p:nvSpPr>
            <p:cNvPr id="3" name="object 3"/>
            <p:cNvSpPr/>
            <p:nvPr/>
          </p:nvSpPr>
          <p:spPr>
            <a:xfrm>
              <a:off x="1749298" y="1081658"/>
              <a:ext cx="2052955" cy="2052955"/>
            </a:xfrm>
            <a:custGeom>
              <a:avLst/>
              <a:gdLst/>
              <a:ahLst/>
              <a:cxnLst/>
              <a:rect l="l" t="t" r="r" b="b"/>
              <a:pathLst>
                <a:path w="2052954" h="2052955">
                  <a:moveTo>
                    <a:pt x="62610" y="1990216"/>
                  </a:moveTo>
                  <a:lnTo>
                    <a:pt x="2044827" y="1990216"/>
                  </a:lnTo>
                </a:path>
                <a:path w="2052954" h="2052955">
                  <a:moveTo>
                    <a:pt x="2001519" y="1927605"/>
                  </a:moveTo>
                  <a:lnTo>
                    <a:pt x="2010537" y="1952243"/>
                  </a:lnTo>
                  <a:lnTo>
                    <a:pt x="2022855" y="1970277"/>
                  </a:lnTo>
                  <a:lnTo>
                    <a:pt x="2037334" y="1982596"/>
                  </a:lnTo>
                  <a:lnTo>
                    <a:pt x="2052827" y="1990216"/>
                  </a:lnTo>
                  <a:lnTo>
                    <a:pt x="2037334" y="1997837"/>
                  </a:lnTo>
                  <a:lnTo>
                    <a:pt x="2022855" y="2010155"/>
                  </a:lnTo>
                  <a:lnTo>
                    <a:pt x="2010537" y="2028316"/>
                  </a:lnTo>
                  <a:lnTo>
                    <a:pt x="2001519" y="2052954"/>
                  </a:lnTo>
                </a:path>
                <a:path w="2052954" h="2052955">
                  <a:moveTo>
                    <a:pt x="62610" y="1990216"/>
                  </a:moveTo>
                  <a:lnTo>
                    <a:pt x="62610" y="8000"/>
                  </a:lnTo>
                </a:path>
                <a:path w="2052954" h="2052955">
                  <a:moveTo>
                    <a:pt x="0" y="51307"/>
                  </a:moveTo>
                  <a:lnTo>
                    <a:pt x="24637" y="42290"/>
                  </a:lnTo>
                  <a:lnTo>
                    <a:pt x="42671" y="30099"/>
                  </a:lnTo>
                  <a:lnTo>
                    <a:pt x="55118" y="15620"/>
                  </a:lnTo>
                  <a:lnTo>
                    <a:pt x="62610" y="0"/>
                  </a:lnTo>
                  <a:lnTo>
                    <a:pt x="70231" y="15620"/>
                  </a:lnTo>
                  <a:lnTo>
                    <a:pt x="82676" y="30099"/>
                  </a:lnTo>
                  <a:lnTo>
                    <a:pt x="100710" y="42290"/>
                  </a:lnTo>
                  <a:lnTo>
                    <a:pt x="125349" y="51307"/>
                  </a:lnTo>
                </a:path>
              </a:pathLst>
            </a:custGeom>
            <a:ln w="10122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529588" y="2394203"/>
              <a:ext cx="282575" cy="678180"/>
            </a:xfrm>
            <a:custGeom>
              <a:avLst/>
              <a:gdLst/>
              <a:ahLst/>
              <a:cxnLst/>
              <a:rect l="l" t="t" r="r" b="b"/>
              <a:pathLst>
                <a:path w="282575" h="678180">
                  <a:moveTo>
                    <a:pt x="282320" y="677672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90984" y="2387984"/>
              <a:ext cx="114418" cy="7606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811908" y="1937765"/>
              <a:ext cx="283845" cy="1134110"/>
            </a:xfrm>
            <a:custGeom>
              <a:avLst/>
              <a:gdLst/>
              <a:ahLst/>
              <a:cxnLst/>
              <a:rect l="l" t="t" r="r" b="b"/>
              <a:pathLst>
                <a:path w="283844" h="1134110">
                  <a:moveTo>
                    <a:pt x="0" y="1134110"/>
                  </a:moveTo>
                  <a:lnTo>
                    <a:pt x="283591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23881" y="1931425"/>
              <a:ext cx="119741" cy="6995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811908" y="2503550"/>
              <a:ext cx="1705610" cy="568325"/>
            </a:xfrm>
            <a:custGeom>
              <a:avLst/>
              <a:gdLst/>
              <a:ahLst/>
              <a:cxnLst/>
              <a:rect l="l" t="t" r="r" b="b"/>
              <a:pathLst>
                <a:path w="1705610" h="568325">
                  <a:moveTo>
                    <a:pt x="0" y="568325"/>
                  </a:moveTo>
                  <a:lnTo>
                    <a:pt x="1705229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50089" y="2460124"/>
              <a:ext cx="73391" cy="11733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63168" y="2788919"/>
              <a:ext cx="848994" cy="283210"/>
            </a:xfrm>
            <a:custGeom>
              <a:avLst/>
              <a:gdLst/>
              <a:ahLst/>
              <a:cxnLst/>
              <a:rect l="l" t="t" r="r" b="b"/>
              <a:pathLst>
                <a:path w="848994" h="283210">
                  <a:moveTo>
                    <a:pt x="848740" y="282955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6825" y="2745620"/>
              <a:ext cx="73314" cy="11720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528445" y="3071875"/>
              <a:ext cx="283845" cy="1134110"/>
            </a:xfrm>
            <a:custGeom>
              <a:avLst/>
              <a:gdLst/>
              <a:ahLst/>
              <a:cxnLst/>
              <a:rect l="l" t="t" r="r" b="b"/>
              <a:pathLst>
                <a:path w="283844" h="1134110">
                  <a:moveTo>
                    <a:pt x="283463" y="0"/>
                  </a:moveTo>
                  <a:lnTo>
                    <a:pt x="0" y="1134110"/>
                  </a:lnTo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80194" y="4142368"/>
              <a:ext cx="119741" cy="7008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811908" y="3071875"/>
              <a:ext cx="329565" cy="1138555"/>
            </a:xfrm>
            <a:custGeom>
              <a:avLst/>
              <a:gdLst/>
              <a:ahLst/>
              <a:cxnLst/>
              <a:rect l="l" t="t" r="r" b="b"/>
              <a:pathLst>
                <a:path w="329564" h="1138554">
                  <a:moveTo>
                    <a:pt x="0" y="0"/>
                  </a:moveTo>
                  <a:lnTo>
                    <a:pt x="283591" y="1134110"/>
                  </a:lnTo>
                </a:path>
                <a:path w="329564" h="1138554">
                  <a:moveTo>
                    <a:pt x="329184" y="1073023"/>
                  </a:moveTo>
                  <a:lnTo>
                    <a:pt x="308864" y="1087628"/>
                  </a:lnTo>
                  <a:lnTo>
                    <a:pt x="295402" y="1103757"/>
                  </a:lnTo>
                  <a:lnTo>
                    <a:pt x="287655" y="1120902"/>
                  </a:lnTo>
                  <a:lnTo>
                    <a:pt x="284480" y="1138047"/>
                  </a:lnTo>
                  <a:lnTo>
                    <a:pt x="273685" y="1124331"/>
                  </a:lnTo>
                  <a:lnTo>
                    <a:pt x="258826" y="1112901"/>
                  </a:lnTo>
                  <a:lnTo>
                    <a:pt x="239268" y="1105027"/>
                  </a:lnTo>
                  <a:lnTo>
                    <a:pt x="214503" y="1101725"/>
                  </a:lnTo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548507" y="2969514"/>
            <a:ext cx="26479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49908" y="970915"/>
            <a:ext cx="26479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86205" y="1993773"/>
            <a:ext cx="26797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957070" y="1536954"/>
            <a:ext cx="26797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409315" y="2108073"/>
            <a:ext cx="13906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519932" y="2203780"/>
            <a:ext cx="107950" cy="2197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spc="-50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04672" y="2741167"/>
            <a:ext cx="27876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62583" y="4168902"/>
            <a:ext cx="874394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620395" algn="l"/>
              </a:tabLst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875" baseline="-8888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85904" y="1887356"/>
            <a:ext cx="3181985" cy="2369185"/>
            <a:chOff x="385904" y="1887356"/>
            <a:chExt cx="3181985" cy="2369185"/>
          </a:xfrm>
        </p:grpSpPr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83750" y="2344175"/>
              <a:ext cx="85324" cy="8532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054742" y="1887356"/>
              <a:ext cx="85324" cy="8532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82095" y="2458348"/>
              <a:ext cx="85324" cy="85324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12885" y="2743717"/>
              <a:ext cx="85324" cy="85324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483750" y="4171070"/>
              <a:ext cx="85324" cy="85324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2057272" y="4173600"/>
              <a:ext cx="80645" cy="80645"/>
            </a:xfrm>
            <a:custGeom>
              <a:avLst/>
              <a:gdLst/>
              <a:ahLst/>
              <a:cxnLst/>
              <a:rect l="l" t="t" r="r" b="b"/>
              <a:pathLst>
                <a:path w="80644" h="80645">
                  <a:moveTo>
                    <a:pt x="40131" y="0"/>
                  </a:moveTo>
                  <a:lnTo>
                    <a:pt x="24510" y="3175"/>
                  </a:lnTo>
                  <a:lnTo>
                    <a:pt x="11810" y="11811"/>
                  </a:lnTo>
                  <a:lnTo>
                    <a:pt x="3175" y="24511"/>
                  </a:lnTo>
                  <a:lnTo>
                    <a:pt x="0" y="40131"/>
                  </a:lnTo>
                  <a:lnTo>
                    <a:pt x="3175" y="55753"/>
                  </a:lnTo>
                  <a:lnTo>
                    <a:pt x="11810" y="68580"/>
                  </a:lnTo>
                  <a:lnTo>
                    <a:pt x="24510" y="77088"/>
                  </a:lnTo>
                  <a:lnTo>
                    <a:pt x="40131" y="80263"/>
                  </a:lnTo>
                  <a:lnTo>
                    <a:pt x="55752" y="77088"/>
                  </a:lnTo>
                  <a:lnTo>
                    <a:pt x="68452" y="68580"/>
                  </a:lnTo>
                  <a:lnTo>
                    <a:pt x="77088" y="55753"/>
                  </a:lnTo>
                  <a:lnTo>
                    <a:pt x="80263" y="40131"/>
                  </a:lnTo>
                  <a:lnTo>
                    <a:pt x="77088" y="24511"/>
                  </a:lnTo>
                  <a:lnTo>
                    <a:pt x="68452" y="11811"/>
                  </a:lnTo>
                  <a:lnTo>
                    <a:pt x="55752" y="3175"/>
                  </a:lnTo>
                  <a:lnTo>
                    <a:pt x="40131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057272" y="4173600"/>
              <a:ext cx="80645" cy="80645"/>
            </a:xfrm>
            <a:custGeom>
              <a:avLst/>
              <a:gdLst/>
              <a:ahLst/>
              <a:cxnLst/>
              <a:rect l="l" t="t" r="r" b="b"/>
              <a:pathLst>
                <a:path w="80644" h="80645">
                  <a:moveTo>
                    <a:pt x="80263" y="40131"/>
                  </a:moveTo>
                  <a:lnTo>
                    <a:pt x="77088" y="24511"/>
                  </a:lnTo>
                  <a:lnTo>
                    <a:pt x="68452" y="11811"/>
                  </a:lnTo>
                  <a:lnTo>
                    <a:pt x="55752" y="3175"/>
                  </a:lnTo>
                  <a:lnTo>
                    <a:pt x="40131" y="0"/>
                  </a:lnTo>
                  <a:lnTo>
                    <a:pt x="24510" y="3175"/>
                  </a:lnTo>
                  <a:lnTo>
                    <a:pt x="11810" y="11811"/>
                  </a:lnTo>
                  <a:lnTo>
                    <a:pt x="3175" y="24511"/>
                  </a:lnTo>
                  <a:lnTo>
                    <a:pt x="0" y="40131"/>
                  </a:lnTo>
                  <a:lnTo>
                    <a:pt x="3175" y="55753"/>
                  </a:lnTo>
                  <a:lnTo>
                    <a:pt x="11810" y="68580"/>
                  </a:lnTo>
                  <a:lnTo>
                    <a:pt x="24510" y="77088"/>
                  </a:lnTo>
                  <a:lnTo>
                    <a:pt x="40131" y="80263"/>
                  </a:lnTo>
                  <a:lnTo>
                    <a:pt x="55752" y="77088"/>
                  </a:lnTo>
                  <a:lnTo>
                    <a:pt x="68452" y="68580"/>
                  </a:lnTo>
                  <a:lnTo>
                    <a:pt x="77088" y="55753"/>
                  </a:lnTo>
                  <a:lnTo>
                    <a:pt x="80263" y="40131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75754" y="3071875"/>
              <a:ext cx="1136650" cy="1136650"/>
            </a:xfrm>
            <a:custGeom>
              <a:avLst/>
              <a:gdLst/>
              <a:ahLst/>
              <a:cxnLst/>
              <a:rect l="l" t="t" r="r" b="b"/>
              <a:pathLst>
                <a:path w="1136650" h="1136650">
                  <a:moveTo>
                    <a:pt x="1136154" y="0"/>
                  </a:moveTo>
                  <a:lnTo>
                    <a:pt x="0" y="1136269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65489" y="4129668"/>
              <a:ext cx="88638" cy="88626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392277" y="3071875"/>
              <a:ext cx="1419860" cy="454659"/>
            </a:xfrm>
            <a:custGeom>
              <a:avLst/>
              <a:gdLst/>
              <a:ahLst/>
              <a:cxnLst/>
              <a:rect l="l" t="t" r="r" b="b"/>
              <a:pathLst>
                <a:path w="1419860" h="454660">
                  <a:moveTo>
                    <a:pt x="1419631" y="0"/>
                  </a:moveTo>
                  <a:lnTo>
                    <a:pt x="0" y="454278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85904" y="3452497"/>
              <a:ext cx="72969" cy="117978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676986" y="2390901"/>
              <a:ext cx="1135380" cy="681355"/>
            </a:xfrm>
            <a:custGeom>
              <a:avLst/>
              <a:gdLst/>
              <a:ahLst/>
              <a:cxnLst/>
              <a:rect l="l" t="t" r="r" b="b"/>
              <a:pathLst>
                <a:path w="1135380" h="681355">
                  <a:moveTo>
                    <a:pt x="1134922" y="680974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70990" y="2362325"/>
              <a:ext cx="80559" cy="106937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506981" y="2671533"/>
              <a:ext cx="308965" cy="404406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1811909" y="2105913"/>
              <a:ext cx="1421130" cy="966469"/>
            </a:xfrm>
            <a:custGeom>
              <a:avLst/>
              <a:gdLst/>
              <a:ahLst/>
              <a:cxnLst/>
              <a:rect l="l" t="t" r="r" b="b"/>
              <a:pathLst>
                <a:path w="1421130" h="966469">
                  <a:moveTo>
                    <a:pt x="0" y="965962"/>
                  </a:moveTo>
                  <a:lnTo>
                    <a:pt x="1420749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156709" y="2081400"/>
              <a:ext cx="81791" cy="103254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1811909" y="2105913"/>
              <a:ext cx="1421130" cy="966469"/>
            </a:xfrm>
            <a:custGeom>
              <a:avLst/>
              <a:gdLst/>
              <a:ahLst/>
              <a:cxnLst/>
              <a:rect l="l" t="t" r="r" b="b"/>
              <a:pathLst>
                <a:path w="1421130" h="966469">
                  <a:moveTo>
                    <a:pt x="0" y="965962"/>
                  </a:moveTo>
                  <a:lnTo>
                    <a:pt x="1420749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156709" y="2081400"/>
              <a:ext cx="81791" cy="103254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1811909" y="2105913"/>
              <a:ext cx="1421130" cy="966469"/>
            </a:xfrm>
            <a:custGeom>
              <a:avLst/>
              <a:gdLst/>
              <a:ahLst/>
              <a:cxnLst/>
              <a:rect l="l" t="t" r="r" b="b"/>
              <a:pathLst>
                <a:path w="1421130" h="966469">
                  <a:moveTo>
                    <a:pt x="0" y="965962"/>
                  </a:moveTo>
                  <a:lnTo>
                    <a:pt x="1420749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156709" y="2081400"/>
              <a:ext cx="81791" cy="103254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1811909" y="2105913"/>
              <a:ext cx="1421130" cy="966469"/>
            </a:xfrm>
            <a:custGeom>
              <a:avLst/>
              <a:gdLst/>
              <a:ahLst/>
              <a:cxnLst/>
              <a:rect l="l" t="t" r="r" b="b"/>
              <a:pathLst>
                <a:path w="1421130" h="966469">
                  <a:moveTo>
                    <a:pt x="0" y="965962"/>
                  </a:moveTo>
                  <a:lnTo>
                    <a:pt x="1420749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156709" y="2081400"/>
              <a:ext cx="81791" cy="103254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1811909" y="2105913"/>
              <a:ext cx="1421130" cy="966469"/>
            </a:xfrm>
            <a:custGeom>
              <a:avLst/>
              <a:gdLst/>
              <a:ahLst/>
              <a:cxnLst/>
              <a:rect l="l" t="t" r="r" b="b"/>
              <a:pathLst>
                <a:path w="1421130" h="966469">
                  <a:moveTo>
                    <a:pt x="0" y="965962"/>
                  </a:moveTo>
                  <a:lnTo>
                    <a:pt x="1420749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156709" y="2081400"/>
              <a:ext cx="81791" cy="103254"/>
            </a:xfrm>
            <a:prstGeom prst="rect">
              <a:avLst/>
            </a:prstGeom>
          </p:spPr>
        </p:pic>
      </p:grpSp>
      <p:sp>
        <p:nvSpPr>
          <p:cNvPr id="48" name="object 48"/>
          <p:cNvSpPr txBox="1"/>
          <p:nvPr/>
        </p:nvSpPr>
        <p:spPr>
          <a:xfrm>
            <a:off x="4356861" y="849883"/>
            <a:ext cx="4458335" cy="3712845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50"/>
              </a:spcBef>
            </a:pP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initialized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1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a</a:t>
            </a:r>
            <a:r>
              <a:rPr sz="1750" spc="-20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random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value</a:t>
            </a:r>
            <a:endParaRPr sz="1750">
              <a:latin typeface="Arial MT"/>
              <a:cs typeface="Arial MT"/>
            </a:endParaRPr>
          </a:p>
          <a:p>
            <a:pPr marL="40640" marR="35560" indent="-2540">
              <a:lnSpc>
                <a:spcPct val="116799"/>
              </a:lnSpc>
              <a:spcBef>
                <a:spcPts val="395"/>
              </a:spcBef>
              <a:tabLst>
                <a:tab pos="3227070" algn="l"/>
              </a:tabLst>
            </a:pP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observe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that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currently,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1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·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5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5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spc="-85" dirty="0">
                <a:solidFill>
                  <a:srgbClr val="213739"/>
                </a:solidFill>
                <a:latin typeface="Lucida Sans Unicode"/>
                <a:cs typeface="Lucida Sans Unicode"/>
              </a:rPr>
              <a:t>∵</a:t>
            </a:r>
            <a:r>
              <a:rPr sz="1750" spc="-23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angle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&gt;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90°)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for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all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positive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points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5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·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459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≥</a:t>
            </a:r>
            <a:r>
              <a:rPr sz="1750" spc="4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4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spc="-25" dirty="0">
                <a:solidFill>
                  <a:srgbClr val="213739"/>
                </a:solidFill>
                <a:latin typeface="Lucida Sans Unicode"/>
                <a:cs typeface="Lucida Sans Unicode"/>
              </a:rPr>
              <a:t>∵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angle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spc="409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90°)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for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all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negative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points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(the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situ-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ation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is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exactly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oppsite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what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actually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want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it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be)</a:t>
            </a:r>
            <a:endParaRPr sz="1750">
              <a:latin typeface="Arial MT"/>
              <a:cs typeface="Arial MT"/>
            </a:endParaRPr>
          </a:p>
          <a:p>
            <a:pPr marL="40640" marR="35560" indent="-3175">
              <a:lnSpc>
                <a:spcPct val="117700"/>
              </a:lnSpc>
              <a:spcBef>
                <a:spcPts val="495"/>
              </a:spcBef>
            </a:pPr>
            <a:r>
              <a:rPr sz="1750" spc="-16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now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run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algorithm</a:t>
            </a:r>
            <a:r>
              <a:rPr sz="1750" spc="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by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randomly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going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over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points</a:t>
            </a:r>
            <a:endParaRPr sz="1750">
              <a:latin typeface="Arial MT"/>
              <a:cs typeface="Arial MT"/>
            </a:endParaRPr>
          </a:p>
          <a:p>
            <a:pPr marL="41275" marR="30480" indent="-3810" algn="just">
              <a:lnSpc>
                <a:spcPct val="117200"/>
              </a:lnSpc>
              <a:spcBef>
                <a:spcPts val="710"/>
              </a:spcBef>
            </a:pP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Randomly</a:t>
            </a:r>
            <a:r>
              <a:rPr sz="1750" spc="-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pick</a:t>
            </a:r>
            <a:r>
              <a:rPr sz="1750" spc="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a</a:t>
            </a:r>
            <a:r>
              <a:rPr sz="1750" spc="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point</a:t>
            </a:r>
            <a:r>
              <a:rPr sz="1750" spc="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(say,</a:t>
            </a:r>
            <a:r>
              <a:rPr sz="1750" spc="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),</a:t>
            </a:r>
            <a:r>
              <a:rPr sz="1750" spc="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no</a:t>
            </a:r>
            <a:r>
              <a:rPr sz="1750" spc="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correction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needed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∵</a:t>
            </a:r>
            <a:r>
              <a:rPr sz="1750" spc="229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·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20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spc="38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b="1" spc="21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(you</a:t>
            </a:r>
            <a:r>
              <a:rPr sz="1750" spc="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can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check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angle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visually)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8781415" y="5603912"/>
            <a:ext cx="196215" cy="206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spc="-25" dirty="0">
                <a:solidFill>
                  <a:srgbClr val="213739"/>
                </a:solidFill>
                <a:latin typeface="Arial MT"/>
                <a:cs typeface="Arial MT"/>
              </a:rPr>
              <a:t>40</a:t>
            </a:r>
            <a:endParaRPr sz="125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56825" y="1076578"/>
            <a:ext cx="2850515" cy="3136265"/>
            <a:chOff x="956825" y="1076578"/>
            <a:chExt cx="2850515" cy="3136265"/>
          </a:xfrm>
        </p:grpSpPr>
        <p:sp>
          <p:nvSpPr>
            <p:cNvPr id="3" name="object 3"/>
            <p:cNvSpPr/>
            <p:nvPr/>
          </p:nvSpPr>
          <p:spPr>
            <a:xfrm>
              <a:off x="1749298" y="1081658"/>
              <a:ext cx="2052955" cy="2052955"/>
            </a:xfrm>
            <a:custGeom>
              <a:avLst/>
              <a:gdLst/>
              <a:ahLst/>
              <a:cxnLst/>
              <a:rect l="l" t="t" r="r" b="b"/>
              <a:pathLst>
                <a:path w="2052954" h="2052955">
                  <a:moveTo>
                    <a:pt x="62610" y="1990216"/>
                  </a:moveTo>
                  <a:lnTo>
                    <a:pt x="2044827" y="1990216"/>
                  </a:lnTo>
                </a:path>
                <a:path w="2052954" h="2052955">
                  <a:moveTo>
                    <a:pt x="2001519" y="1927605"/>
                  </a:moveTo>
                  <a:lnTo>
                    <a:pt x="2010537" y="1952243"/>
                  </a:lnTo>
                  <a:lnTo>
                    <a:pt x="2022855" y="1970277"/>
                  </a:lnTo>
                  <a:lnTo>
                    <a:pt x="2037334" y="1982596"/>
                  </a:lnTo>
                  <a:lnTo>
                    <a:pt x="2052827" y="1990216"/>
                  </a:lnTo>
                  <a:lnTo>
                    <a:pt x="2037334" y="1997837"/>
                  </a:lnTo>
                  <a:lnTo>
                    <a:pt x="2022855" y="2010155"/>
                  </a:lnTo>
                  <a:lnTo>
                    <a:pt x="2010537" y="2028316"/>
                  </a:lnTo>
                  <a:lnTo>
                    <a:pt x="2001519" y="2052954"/>
                  </a:lnTo>
                </a:path>
                <a:path w="2052954" h="2052955">
                  <a:moveTo>
                    <a:pt x="62610" y="1990216"/>
                  </a:moveTo>
                  <a:lnTo>
                    <a:pt x="62610" y="8000"/>
                  </a:lnTo>
                </a:path>
                <a:path w="2052954" h="2052955">
                  <a:moveTo>
                    <a:pt x="0" y="51307"/>
                  </a:moveTo>
                  <a:lnTo>
                    <a:pt x="24637" y="42290"/>
                  </a:lnTo>
                  <a:lnTo>
                    <a:pt x="42671" y="30099"/>
                  </a:lnTo>
                  <a:lnTo>
                    <a:pt x="55118" y="15620"/>
                  </a:lnTo>
                  <a:lnTo>
                    <a:pt x="62610" y="0"/>
                  </a:lnTo>
                  <a:lnTo>
                    <a:pt x="70231" y="15620"/>
                  </a:lnTo>
                  <a:lnTo>
                    <a:pt x="82676" y="30099"/>
                  </a:lnTo>
                  <a:lnTo>
                    <a:pt x="100710" y="42290"/>
                  </a:lnTo>
                  <a:lnTo>
                    <a:pt x="125349" y="51307"/>
                  </a:lnTo>
                </a:path>
              </a:pathLst>
            </a:custGeom>
            <a:ln w="10122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529588" y="2394203"/>
              <a:ext cx="282575" cy="678180"/>
            </a:xfrm>
            <a:custGeom>
              <a:avLst/>
              <a:gdLst/>
              <a:ahLst/>
              <a:cxnLst/>
              <a:rect l="l" t="t" r="r" b="b"/>
              <a:pathLst>
                <a:path w="282575" h="678180">
                  <a:moveTo>
                    <a:pt x="282320" y="677672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90984" y="2387984"/>
              <a:ext cx="114418" cy="7606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811908" y="1937765"/>
              <a:ext cx="283845" cy="1134110"/>
            </a:xfrm>
            <a:custGeom>
              <a:avLst/>
              <a:gdLst/>
              <a:ahLst/>
              <a:cxnLst/>
              <a:rect l="l" t="t" r="r" b="b"/>
              <a:pathLst>
                <a:path w="283844" h="1134110">
                  <a:moveTo>
                    <a:pt x="0" y="1134110"/>
                  </a:moveTo>
                  <a:lnTo>
                    <a:pt x="283591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23881" y="1931425"/>
              <a:ext cx="119741" cy="6995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811908" y="2503550"/>
              <a:ext cx="1705610" cy="568325"/>
            </a:xfrm>
            <a:custGeom>
              <a:avLst/>
              <a:gdLst/>
              <a:ahLst/>
              <a:cxnLst/>
              <a:rect l="l" t="t" r="r" b="b"/>
              <a:pathLst>
                <a:path w="1705610" h="568325">
                  <a:moveTo>
                    <a:pt x="0" y="568325"/>
                  </a:moveTo>
                  <a:lnTo>
                    <a:pt x="1705229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50089" y="2460124"/>
              <a:ext cx="73391" cy="11733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63168" y="2788919"/>
              <a:ext cx="848994" cy="283210"/>
            </a:xfrm>
            <a:custGeom>
              <a:avLst/>
              <a:gdLst/>
              <a:ahLst/>
              <a:cxnLst/>
              <a:rect l="l" t="t" r="r" b="b"/>
              <a:pathLst>
                <a:path w="848994" h="283210">
                  <a:moveTo>
                    <a:pt x="848740" y="282955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6825" y="2745620"/>
              <a:ext cx="73314" cy="11720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528445" y="3071875"/>
              <a:ext cx="283845" cy="1134110"/>
            </a:xfrm>
            <a:custGeom>
              <a:avLst/>
              <a:gdLst/>
              <a:ahLst/>
              <a:cxnLst/>
              <a:rect l="l" t="t" r="r" b="b"/>
              <a:pathLst>
                <a:path w="283844" h="1134110">
                  <a:moveTo>
                    <a:pt x="283463" y="0"/>
                  </a:moveTo>
                  <a:lnTo>
                    <a:pt x="0" y="1134110"/>
                  </a:lnTo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80194" y="4142368"/>
              <a:ext cx="119741" cy="7008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811908" y="3071875"/>
              <a:ext cx="329565" cy="1138555"/>
            </a:xfrm>
            <a:custGeom>
              <a:avLst/>
              <a:gdLst/>
              <a:ahLst/>
              <a:cxnLst/>
              <a:rect l="l" t="t" r="r" b="b"/>
              <a:pathLst>
                <a:path w="329564" h="1138554">
                  <a:moveTo>
                    <a:pt x="0" y="0"/>
                  </a:moveTo>
                  <a:lnTo>
                    <a:pt x="283591" y="1134110"/>
                  </a:lnTo>
                </a:path>
                <a:path w="329564" h="1138554">
                  <a:moveTo>
                    <a:pt x="329184" y="1073023"/>
                  </a:moveTo>
                  <a:lnTo>
                    <a:pt x="308864" y="1087628"/>
                  </a:lnTo>
                  <a:lnTo>
                    <a:pt x="295402" y="1103757"/>
                  </a:lnTo>
                  <a:lnTo>
                    <a:pt x="287655" y="1120902"/>
                  </a:lnTo>
                  <a:lnTo>
                    <a:pt x="284480" y="1138047"/>
                  </a:lnTo>
                  <a:lnTo>
                    <a:pt x="273685" y="1124331"/>
                  </a:lnTo>
                  <a:lnTo>
                    <a:pt x="258826" y="1112901"/>
                  </a:lnTo>
                  <a:lnTo>
                    <a:pt x="239268" y="1105027"/>
                  </a:lnTo>
                  <a:lnTo>
                    <a:pt x="214503" y="1101725"/>
                  </a:lnTo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548507" y="2969514"/>
            <a:ext cx="26479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49908" y="970915"/>
            <a:ext cx="26479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86205" y="1993773"/>
            <a:ext cx="26797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957070" y="1536954"/>
            <a:ext cx="26797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409315" y="2108073"/>
            <a:ext cx="13906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519932" y="2203780"/>
            <a:ext cx="107950" cy="2197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spc="-50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04672" y="2741167"/>
            <a:ext cx="27876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62583" y="4168902"/>
            <a:ext cx="874394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620395" algn="l"/>
              </a:tabLst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875" baseline="-8888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85904" y="1887356"/>
            <a:ext cx="3181985" cy="2369185"/>
            <a:chOff x="385904" y="1887356"/>
            <a:chExt cx="3181985" cy="2369185"/>
          </a:xfrm>
        </p:grpSpPr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83750" y="2344175"/>
              <a:ext cx="85324" cy="8532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054742" y="1887356"/>
              <a:ext cx="85324" cy="8532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82095" y="2458348"/>
              <a:ext cx="85324" cy="85324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12885" y="2743717"/>
              <a:ext cx="85324" cy="85324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483750" y="4171070"/>
              <a:ext cx="85324" cy="85324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2057272" y="4173600"/>
              <a:ext cx="80645" cy="80645"/>
            </a:xfrm>
            <a:custGeom>
              <a:avLst/>
              <a:gdLst/>
              <a:ahLst/>
              <a:cxnLst/>
              <a:rect l="l" t="t" r="r" b="b"/>
              <a:pathLst>
                <a:path w="80644" h="80645">
                  <a:moveTo>
                    <a:pt x="40131" y="0"/>
                  </a:moveTo>
                  <a:lnTo>
                    <a:pt x="24510" y="3175"/>
                  </a:lnTo>
                  <a:lnTo>
                    <a:pt x="11810" y="11811"/>
                  </a:lnTo>
                  <a:lnTo>
                    <a:pt x="3175" y="24511"/>
                  </a:lnTo>
                  <a:lnTo>
                    <a:pt x="0" y="40131"/>
                  </a:lnTo>
                  <a:lnTo>
                    <a:pt x="3175" y="55753"/>
                  </a:lnTo>
                  <a:lnTo>
                    <a:pt x="11810" y="68580"/>
                  </a:lnTo>
                  <a:lnTo>
                    <a:pt x="24510" y="77088"/>
                  </a:lnTo>
                  <a:lnTo>
                    <a:pt x="40131" y="80263"/>
                  </a:lnTo>
                  <a:lnTo>
                    <a:pt x="55752" y="77088"/>
                  </a:lnTo>
                  <a:lnTo>
                    <a:pt x="68452" y="68580"/>
                  </a:lnTo>
                  <a:lnTo>
                    <a:pt x="77088" y="55753"/>
                  </a:lnTo>
                  <a:lnTo>
                    <a:pt x="80263" y="40131"/>
                  </a:lnTo>
                  <a:lnTo>
                    <a:pt x="77088" y="24511"/>
                  </a:lnTo>
                  <a:lnTo>
                    <a:pt x="68452" y="11811"/>
                  </a:lnTo>
                  <a:lnTo>
                    <a:pt x="55752" y="3175"/>
                  </a:lnTo>
                  <a:lnTo>
                    <a:pt x="40131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057272" y="4173600"/>
              <a:ext cx="80645" cy="80645"/>
            </a:xfrm>
            <a:custGeom>
              <a:avLst/>
              <a:gdLst/>
              <a:ahLst/>
              <a:cxnLst/>
              <a:rect l="l" t="t" r="r" b="b"/>
              <a:pathLst>
                <a:path w="80644" h="80645">
                  <a:moveTo>
                    <a:pt x="80263" y="40131"/>
                  </a:moveTo>
                  <a:lnTo>
                    <a:pt x="77088" y="24511"/>
                  </a:lnTo>
                  <a:lnTo>
                    <a:pt x="68452" y="11811"/>
                  </a:lnTo>
                  <a:lnTo>
                    <a:pt x="55752" y="3175"/>
                  </a:lnTo>
                  <a:lnTo>
                    <a:pt x="40131" y="0"/>
                  </a:lnTo>
                  <a:lnTo>
                    <a:pt x="24510" y="3175"/>
                  </a:lnTo>
                  <a:lnTo>
                    <a:pt x="11810" y="11811"/>
                  </a:lnTo>
                  <a:lnTo>
                    <a:pt x="3175" y="24511"/>
                  </a:lnTo>
                  <a:lnTo>
                    <a:pt x="0" y="40131"/>
                  </a:lnTo>
                  <a:lnTo>
                    <a:pt x="3175" y="55753"/>
                  </a:lnTo>
                  <a:lnTo>
                    <a:pt x="11810" y="68580"/>
                  </a:lnTo>
                  <a:lnTo>
                    <a:pt x="24510" y="77088"/>
                  </a:lnTo>
                  <a:lnTo>
                    <a:pt x="40131" y="80263"/>
                  </a:lnTo>
                  <a:lnTo>
                    <a:pt x="55752" y="77088"/>
                  </a:lnTo>
                  <a:lnTo>
                    <a:pt x="68452" y="68580"/>
                  </a:lnTo>
                  <a:lnTo>
                    <a:pt x="77088" y="55753"/>
                  </a:lnTo>
                  <a:lnTo>
                    <a:pt x="80263" y="40131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75754" y="3071875"/>
              <a:ext cx="1136650" cy="1136650"/>
            </a:xfrm>
            <a:custGeom>
              <a:avLst/>
              <a:gdLst/>
              <a:ahLst/>
              <a:cxnLst/>
              <a:rect l="l" t="t" r="r" b="b"/>
              <a:pathLst>
                <a:path w="1136650" h="1136650">
                  <a:moveTo>
                    <a:pt x="1136154" y="0"/>
                  </a:moveTo>
                  <a:lnTo>
                    <a:pt x="0" y="1136269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65489" y="4129668"/>
              <a:ext cx="88638" cy="88626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392277" y="3071875"/>
              <a:ext cx="1419860" cy="454659"/>
            </a:xfrm>
            <a:custGeom>
              <a:avLst/>
              <a:gdLst/>
              <a:ahLst/>
              <a:cxnLst/>
              <a:rect l="l" t="t" r="r" b="b"/>
              <a:pathLst>
                <a:path w="1419860" h="454660">
                  <a:moveTo>
                    <a:pt x="1419631" y="0"/>
                  </a:moveTo>
                  <a:lnTo>
                    <a:pt x="0" y="454278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85904" y="3452497"/>
              <a:ext cx="72969" cy="117978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676986" y="2390901"/>
              <a:ext cx="1135380" cy="681355"/>
            </a:xfrm>
            <a:custGeom>
              <a:avLst/>
              <a:gdLst/>
              <a:ahLst/>
              <a:cxnLst/>
              <a:rect l="l" t="t" r="r" b="b"/>
              <a:pathLst>
                <a:path w="1135380" h="681355">
                  <a:moveTo>
                    <a:pt x="1134922" y="680974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70990" y="2362325"/>
              <a:ext cx="80559" cy="106937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506981" y="2671533"/>
              <a:ext cx="308965" cy="404406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1811909" y="2105913"/>
              <a:ext cx="1421130" cy="966469"/>
            </a:xfrm>
            <a:custGeom>
              <a:avLst/>
              <a:gdLst/>
              <a:ahLst/>
              <a:cxnLst/>
              <a:rect l="l" t="t" r="r" b="b"/>
              <a:pathLst>
                <a:path w="1421130" h="966469">
                  <a:moveTo>
                    <a:pt x="0" y="965962"/>
                  </a:moveTo>
                  <a:lnTo>
                    <a:pt x="1420749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156709" y="2081400"/>
              <a:ext cx="81791" cy="103254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1811909" y="2105913"/>
              <a:ext cx="1421130" cy="966469"/>
            </a:xfrm>
            <a:custGeom>
              <a:avLst/>
              <a:gdLst/>
              <a:ahLst/>
              <a:cxnLst/>
              <a:rect l="l" t="t" r="r" b="b"/>
              <a:pathLst>
                <a:path w="1421130" h="966469">
                  <a:moveTo>
                    <a:pt x="0" y="965962"/>
                  </a:moveTo>
                  <a:lnTo>
                    <a:pt x="1420749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156709" y="2081400"/>
              <a:ext cx="81791" cy="103254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1811909" y="2105913"/>
              <a:ext cx="1421130" cy="966469"/>
            </a:xfrm>
            <a:custGeom>
              <a:avLst/>
              <a:gdLst/>
              <a:ahLst/>
              <a:cxnLst/>
              <a:rect l="l" t="t" r="r" b="b"/>
              <a:pathLst>
                <a:path w="1421130" h="966469">
                  <a:moveTo>
                    <a:pt x="0" y="965962"/>
                  </a:moveTo>
                  <a:lnTo>
                    <a:pt x="1420749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156709" y="2081400"/>
              <a:ext cx="81791" cy="103254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1811909" y="2105913"/>
              <a:ext cx="1421130" cy="966469"/>
            </a:xfrm>
            <a:custGeom>
              <a:avLst/>
              <a:gdLst/>
              <a:ahLst/>
              <a:cxnLst/>
              <a:rect l="l" t="t" r="r" b="b"/>
              <a:pathLst>
                <a:path w="1421130" h="966469">
                  <a:moveTo>
                    <a:pt x="0" y="965962"/>
                  </a:moveTo>
                  <a:lnTo>
                    <a:pt x="1420749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156709" y="2081400"/>
              <a:ext cx="81791" cy="103254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1811909" y="2105913"/>
              <a:ext cx="1421130" cy="966469"/>
            </a:xfrm>
            <a:custGeom>
              <a:avLst/>
              <a:gdLst/>
              <a:ahLst/>
              <a:cxnLst/>
              <a:rect l="l" t="t" r="r" b="b"/>
              <a:pathLst>
                <a:path w="1421130" h="966469">
                  <a:moveTo>
                    <a:pt x="0" y="965962"/>
                  </a:moveTo>
                  <a:lnTo>
                    <a:pt x="1420749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156709" y="2081400"/>
              <a:ext cx="81791" cy="103254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1811909" y="2105913"/>
              <a:ext cx="1421130" cy="966469"/>
            </a:xfrm>
            <a:custGeom>
              <a:avLst/>
              <a:gdLst/>
              <a:ahLst/>
              <a:cxnLst/>
              <a:rect l="l" t="t" r="r" b="b"/>
              <a:pathLst>
                <a:path w="1421130" h="966469">
                  <a:moveTo>
                    <a:pt x="0" y="965962"/>
                  </a:moveTo>
                  <a:lnTo>
                    <a:pt x="1420749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156709" y="2081400"/>
              <a:ext cx="81791" cy="103254"/>
            </a:xfrm>
            <a:prstGeom prst="rect">
              <a:avLst/>
            </a:prstGeom>
          </p:spPr>
        </p:pic>
      </p:grpSp>
      <p:sp>
        <p:nvSpPr>
          <p:cNvPr id="50" name="object 50"/>
          <p:cNvSpPr txBox="1"/>
          <p:nvPr/>
        </p:nvSpPr>
        <p:spPr>
          <a:xfrm>
            <a:off x="4356861" y="849883"/>
            <a:ext cx="4458335" cy="3712845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50"/>
              </a:spcBef>
            </a:pP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initialized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1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a</a:t>
            </a:r>
            <a:r>
              <a:rPr sz="1750" spc="-20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random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value</a:t>
            </a:r>
            <a:endParaRPr sz="1750">
              <a:latin typeface="Arial MT"/>
              <a:cs typeface="Arial MT"/>
            </a:endParaRPr>
          </a:p>
          <a:p>
            <a:pPr marL="40640" marR="35560" indent="-2540">
              <a:lnSpc>
                <a:spcPct val="116799"/>
              </a:lnSpc>
              <a:spcBef>
                <a:spcPts val="395"/>
              </a:spcBef>
              <a:tabLst>
                <a:tab pos="3227070" algn="l"/>
              </a:tabLst>
            </a:pP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observe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that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currently,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1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·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5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5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spc="-85" dirty="0">
                <a:solidFill>
                  <a:srgbClr val="213739"/>
                </a:solidFill>
                <a:latin typeface="Lucida Sans Unicode"/>
                <a:cs typeface="Lucida Sans Unicode"/>
              </a:rPr>
              <a:t>∵</a:t>
            </a:r>
            <a:r>
              <a:rPr sz="1750" spc="-23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angle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&gt;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90°)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for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all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positive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points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5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·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459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≥</a:t>
            </a:r>
            <a:r>
              <a:rPr sz="1750" spc="4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4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spc="-25" dirty="0">
                <a:solidFill>
                  <a:srgbClr val="213739"/>
                </a:solidFill>
                <a:latin typeface="Lucida Sans Unicode"/>
                <a:cs typeface="Lucida Sans Unicode"/>
              </a:rPr>
              <a:t>∵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angle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spc="409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90°)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for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all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negative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points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(the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situ-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ation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is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exactly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oppsite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what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actually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want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it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be)</a:t>
            </a:r>
            <a:endParaRPr sz="1750">
              <a:latin typeface="Arial MT"/>
              <a:cs typeface="Arial MT"/>
            </a:endParaRPr>
          </a:p>
          <a:p>
            <a:pPr marL="40640" marR="35560" indent="-3175">
              <a:lnSpc>
                <a:spcPct val="117700"/>
              </a:lnSpc>
              <a:spcBef>
                <a:spcPts val="495"/>
              </a:spcBef>
            </a:pPr>
            <a:r>
              <a:rPr sz="1750" spc="-16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now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run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algorithm</a:t>
            </a:r>
            <a:r>
              <a:rPr sz="1750" spc="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by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randomly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going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over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points</a:t>
            </a:r>
            <a:endParaRPr sz="1750">
              <a:latin typeface="Arial MT"/>
              <a:cs typeface="Arial MT"/>
            </a:endParaRPr>
          </a:p>
          <a:p>
            <a:pPr marL="41275" marR="30480" indent="-3810" algn="just">
              <a:lnSpc>
                <a:spcPct val="117200"/>
              </a:lnSpc>
              <a:spcBef>
                <a:spcPts val="710"/>
              </a:spcBef>
            </a:pP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Randomly</a:t>
            </a:r>
            <a:r>
              <a:rPr sz="1750" spc="-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pick</a:t>
            </a:r>
            <a:r>
              <a:rPr sz="1750" spc="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a</a:t>
            </a:r>
            <a:r>
              <a:rPr sz="1750" spc="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point</a:t>
            </a:r>
            <a:r>
              <a:rPr sz="1750" spc="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(say,</a:t>
            </a:r>
            <a:r>
              <a:rPr sz="1750" spc="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),</a:t>
            </a:r>
            <a:r>
              <a:rPr sz="1750" spc="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no</a:t>
            </a:r>
            <a:r>
              <a:rPr sz="1750" spc="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correction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needed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∵</a:t>
            </a:r>
            <a:r>
              <a:rPr sz="1750" spc="229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·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20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spc="38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b="1" spc="21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(you</a:t>
            </a:r>
            <a:r>
              <a:rPr sz="1750" spc="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can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check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angle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visually)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8781415" y="5603912"/>
            <a:ext cx="196215" cy="206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spc="-25" dirty="0">
                <a:solidFill>
                  <a:srgbClr val="213739"/>
                </a:solidFill>
                <a:latin typeface="Arial MT"/>
                <a:cs typeface="Arial MT"/>
              </a:rPr>
              <a:t>40</a:t>
            </a:r>
            <a:endParaRPr sz="125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56825" y="1076578"/>
            <a:ext cx="2850515" cy="3136265"/>
            <a:chOff x="956825" y="1076578"/>
            <a:chExt cx="2850515" cy="3136265"/>
          </a:xfrm>
        </p:grpSpPr>
        <p:sp>
          <p:nvSpPr>
            <p:cNvPr id="3" name="object 3"/>
            <p:cNvSpPr/>
            <p:nvPr/>
          </p:nvSpPr>
          <p:spPr>
            <a:xfrm>
              <a:off x="1749298" y="1081658"/>
              <a:ext cx="2052955" cy="2052955"/>
            </a:xfrm>
            <a:custGeom>
              <a:avLst/>
              <a:gdLst/>
              <a:ahLst/>
              <a:cxnLst/>
              <a:rect l="l" t="t" r="r" b="b"/>
              <a:pathLst>
                <a:path w="2052954" h="2052955">
                  <a:moveTo>
                    <a:pt x="62610" y="1990216"/>
                  </a:moveTo>
                  <a:lnTo>
                    <a:pt x="2044827" y="1990216"/>
                  </a:lnTo>
                </a:path>
                <a:path w="2052954" h="2052955">
                  <a:moveTo>
                    <a:pt x="2001519" y="1927605"/>
                  </a:moveTo>
                  <a:lnTo>
                    <a:pt x="2010537" y="1952243"/>
                  </a:lnTo>
                  <a:lnTo>
                    <a:pt x="2022855" y="1970277"/>
                  </a:lnTo>
                  <a:lnTo>
                    <a:pt x="2037334" y="1982596"/>
                  </a:lnTo>
                  <a:lnTo>
                    <a:pt x="2052827" y="1990216"/>
                  </a:lnTo>
                  <a:lnTo>
                    <a:pt x="2037334" y="1997837"/>
                  </a:lnTo>
                  <a:lnTo>
                    <a:pt x="2022855" y="2010155"/>
                  </a:lnTo>
                  <a:lnTo>
                    <a:pt x="2010537" y="2028316"/>
                  </a:lnTo>
                  <a:lnTo>
                    <a:pt x="2001519" y="2052954"/>
                  </a:lnTo>
                </a:path>
                <a:path w="2052954" h="2052955">
                  <a:moveTo>
                    <a:pt x="62610" y="1990216"/>
                  </a:moveTo>
                  <a:lnTo>
                    <a:pt x="62610" y="8000"/>
                  </a:lnTo>
                </a:path>
                <a:path w="2052954" h="2052955">
                  <a:moveTo>
                    <a:pt x="0" y="51307"/>
                  </a:moveTo>
                  <a:lnTo>
                    <a:pt x="24637" y="42290"/>
                  </a:lnTo>
                  <a:lnTo>
                    <a:pt x="42671" y="30099"/>
                  </a:lnTo>
                  <a:lnTo>
                    <a:pt x="55118" y="15620"/>
                  </a:lnTo>
                  <a:lnTo>
                    <a:pt x="62610" y="0"/>
                  </a:lnTo>
                  <a:lnTo>
                    <a:pt x="70231" y="15620"/>
                  </a:lnTo>
                  <a:lnTo>
                    <a:pt x="82676" y="30099"/>
                  </a:lnTo>
                  <a:lnTo>
                    <a:pt x="100710" y="42290"/>
                  </a:lnTo>
                  <a:lnTo>
                    <a:pt x="125349" y="51307"/>
                  </a:lnTo>
                </a:path>
              </a:pathLst>
            </a:custGeom>
            <a:ln w="10122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529588" y="2394203"/>
              <a:ext cx="282575" cy="678180"/>
            </a:xfrm>
            <a:custGeom>
              <a:avLst/>
              <a:gdLst/>
              <a:ahLst/>
              <a:cxnLst/>
              <a:rect l="l" t="t" r="r" b="b"/>
              <a:pathLst>
                <a:path w="282575" h="678180">
                  <a:moveTo>
                    <a:pt x="282320" y="677672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90984" y="2387984"/>
              <a:ext cx="114418" cy="7606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811908" y="1937765"/>
              <a:ext cx="283845" cy="1134110"/>
            </a:xfrm>
            <a:custGeom>
              <a:avLst/>
              <a:gdLst/>
              <a:ahLst/>
              <a:cxnLst/>
              <a:rect l="l" t="t" r="r" b="b"/>
              <a:pathLst>
                <a:path w="283844" h="1134110">
                  <a:moveTo>
                    <a:pt x="0" y="1134110"/>
                  </a:moveTo>
                  <a:lnTo>
                    <a:pt x="283591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23881" y="1931425"/>
              <a:ext cx="119741" cy="6995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811908" y="2503550"/>
              <a:ext cx="1705610" cy="568325"/>
            </a:xfrm>
            <a:custGeom>
              <a:avLst/>
              <a:gdLst/>
              <a:ahLst/>
              <a:cxnLst/>
              <a:rect l="l" t="t" r="r" b="b"/>
              <a:pathLst>
                <a:path w="1705610" h="568325">
                  <a:moveTo>
                    <a:pt x="0" y="568325"/>
                  </a:moveTo>
                  <a:lnTo>
                    <a:pt x="1705229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50089" y="2460124"/>
              <a:ext cx="73391" cy="11733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63168" y="2788919"/>
              <a:ext cx="848994" cy="283210"/>
            </a:xfrm>
            <a:custGeom>
              <a:avLst/>
              <a:gdLst/>
              <a:ahLst/>
              <a:cxnLst/>
              <a:rect l="l" t="t" r="r" b="b"/>
              <a:pathLst>
                <a:path w="848994" h="283210">
                  <a:moveTo>
                    <a:pt x="848740" y="282955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6825" y="2745620"/>
              <a:ext cx="73314" cy="11720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528445" y="3071875"/>
              <a:ext cx="283845" cy="1134110"/>
            </a:xfrm>
            <a:custGeom>
              <a:avLst/>
              <a:gdLst/>
              <a:ahLst/>
              <a:cxnLst/>
              <a:rect l="l" t="t" r="r" b="b"/>
              <a:pathLst>
                <a:path w="283844" h="1134110">
                  <a:moveTo>
                    <a:pt x="283463" y="0"/>
                  </a:moveTo>
                  <a:lnTo>
                    <a:pt x="0" y="1134110"/>
                  </a:lnTo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80194" y="4142368"/>
              <a:ext cx="119741" cy="7008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811908" y="3071875"/>
              <a:ext cx="329565" cy="1138555"/>
            </a:xfrm>
            <a:custGeom>
              <a:avLst/>
              <a:gdLst/>
              <a:ahLst/>
              <a:cxnLst/>
              <a:rect l="l" t="t" r="r" b="b"/>
              <a:pathLst>
                <a:path w="329564" h="1138554">
                  <a:moveTo>
                    <a:pt x="0" y="0"/>
                  </a:moveTo>
                  <a:lnTo>
                    <a:pt x="283591" y="1134110"/>
                  </a:lnTo>
                </a:path>
                <a:path w="329564" h="1138554">
                  <a:moveTo>
                    <a:pt x="329184" y="1073023"/>
                  </a:moveTo>
                  <a:lnTo>
                    <a:pt x="308864" y="1087628"/>
                  </a:lnTo>
                  <a:lnTo>
                    <a:pt x="295402" y="1103757"/>
                  </a:lnTo>
                  <a:lnTo>
                    <a:pt x="287655" y="1120902"/>
                  </a:lnTo>
                  <a:lnTo>
                    <a:pt x="284480" y="1138047"/>
                  </a:lnTo>
                  <a:lnTo>
                    <a:pt x="273685" y="1124331"/>
                  </a:lnTo>
                  <a:lnTo>
                    <a:pt x="258826" y="1112901"/>
                  </a:lnTo>
                  <a:lnTo>
                    <a:pt x="239268" y="1105027"/>
                  </a:lnTo>
                  <a:lnTo>
                    <a:pt x="214503" y="1101725"/>
                  </a:lnTo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548507" y="2969514"/>
            <a:ext cx="26479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49908" y="970915"/>
            <a:ext cx="26479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86205" y="1993773"/>
            <a:ext cx="26797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957070" y="1536954"/>
            <a:ext cx="26797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409315" y="2108073"/>
            <a:ext cx="13906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519932" y="2203780"/>
            <a:ext cx="107950" cy="2197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spc="-50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04672" y="2741167"/>
            <a:ext cx="27876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62583" y="4168902"/>
            <a:ext cx="874394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620395" algn="l"/>
              </a:tabLst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875" baseline="-8888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85904" y="1887356"/>
            <a:ext cx="3181985" cy="2369185"/>
            <a:chOff x="385904" y="1887356"/>
            <a:chExt cx="3181985" cy="2369185"/>
          </a:xfrm>
        </p:grpSpPr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83750" y="2344175"/>
              <a:ext cx="85324" cy="8532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054742" y="1887356"/>
              <a:ext cx="85324" cy="8532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82095" y="2458348"/>
              <a:ext cx="85324" cy="85324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12885" y="2743717"/>
              <a:ext cx="85324" cy="85324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483750" y="4171070"/>
              <a:ext cx="85324" cy="85324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2057272" y="4173600"/>
              <a:ext cx="80645" cy="80645"/>
            </a:xfrm>
            <a:custGeom>
              <a:avLst/>
              <a:gdLst/>
              <a:ahLst/>
              <a:cxnLst/>
              <a:rect l="l" t="t" r="r" b="b"/>
              <a:pathLst>
                <a:path w="80644" h="80645">
                  <a:moveTo>
                    <a:pt x="40131" y="0"/>
                  </a:moveTo>
                  <a:lnTo>
                    <a:pt x="24510" y="3175"/>
                  </a:lnTo>
                  <a:lnTo>
                    <a:pt x="11810" y="11811"/>
                  </a:lnTo>
                  <a:lnTo>
                    <a:pt x="3175" y="24511"/>
                  </a:lnTo>
                  <a:lnTo>
                    <a:pt x="0" y="40131"/>
                  </a:lnTo>
                  <a:lnTo>
                    <a:pt x="3175" y="55753"/>
                  </a:lnTo>
                  <a:lnTo>
                    <a:pt x="11810" y="68580"/>
                  </a:lnTo>
                  <a:lnTo>
                    <a:pt x="24510" y="77088"/>
                  </a:lnTo>
                  <a:lnTo>
                    <a:pt x="40131" y="80263"/>
                  </a:lnTo>
                  <a:lnTo>
                    <a:pt x="55752" y="77088"/>
                  </a:lnTo>
                  <a:lnTo>
                    <a:pt x="68452" y="68580"/>
                  </a:lnTo>
                  <a:lnTo>
                    <a:pt x="77088" y="55753"/>
                  </a:lnTo>
                  <a:lnTo>
                    <a:pt x="80263" y="40131"/>
                  </a:lnTo>
                  <a:lnTo>
                    <a:pt x="77088" y="24511"/>
                  </a:lnTo>
                  <a:lnTo>
                    <a:pt x="68452" y="11811"/>
                  </a:lnTo>
                  <a:lnTo>
                    <a:pt x="55752" y="3175"/>
                  </a:lnTo>
                  <a:lnTo>
                    <a:pt x="40131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057272" y="4173600"/>
              <a:ext cx="80645" cy="80645"/>
            </a:xfrm>
            <a:custGeom>
              <a:avLst/>
              <a:gdLst/>
              <a:ahLst/>
              <a:cxnLst/>
              <a:rect l="l" t="t" r="r" b="b"/>
              <a:pathLst>
                <a:path w="80644" h="80645">
                  <a:moveTo>
                    <a:pt x="80263" y="40131"/>
                  </a:moveTo>
                  <a:lnTo>
                    <a:pt x="77088" y="24511"/>
                  </a:lnTo>
                  <a:lnTo>
                    <a:pt x="68452" y="11811"/>
                  </a:lnTo>
                  <a:lnTo>
                    <a:pt x="55752" y="3175"/>
                  </a:lnTo>
                  <a:lnTo>
                    <a:pt x="40131" y="0"/>
                  </a:lnTo>
                  <a:lnTo>
                    <a:pt x="24510" y="3175"/>
                  </a:lnTo>
                  <a:lnTo>
                    <a:pt x="11810" y="11811"/>
                  </a:lnTo>
                  <a:lnTo>
                    <a:pt x="3175" y="24511"/>
                  </a:lnTo>
                  <a:lnTo>
                    <a:pt x="0" y="40131"/>
                  </a:lnTo>
                  <a:lnTo>
                    <a:pt x="3175" y="55753"/>
                  </a:lnTo>
                  <a:lnTo>
                    <a:pt x="11810" y="68580"/>
                  </a:lnTo>
                  <a:lnTo>
                    <a:pt x="24510" y="77088"/>
                  </a:lnTo>
                  <a:lnTo>
                    <a:pt x="40131" y="80263"/>
                  </a:lnTo>
                  <a:lnTo>
                    <a:pt x="55752" y="77088"/>
                  </a:lnTo>
                  <a:lnTo>
                    <a:pt x="68452" y="68580"/>
                  </a:lnTo>
                  <a:lnTo>
                    <a:pt x="77088" y="55753"/>
                  </a:lnTo>
                  <a:lnTo>
                    <a:pt x="80263" y="40131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75754" y="3071875"/>
              <a:ext cx="1136650" cy="1136650"/>
            </a:xfrm>
            <a:custGeom>
              <a:avLst/>
              <a:gdLst/>
              <a:ahLst/>
              <a:cxnLst/>
              <a:rect l="l" t="t" r="r" b="b"/>
              <a:pathLst>
                <a:path w="1136650" h="1136650">
                  <a:moveTo>
                    <a:pt x="1136154" y="0"/>
                  </a:moveTo>
                  <a:lnTo>
                    <a:pt x="0" y="1136269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65489" y="4129668"/>
              <a:ext cx="88638" cy="88626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392277" y="3071875"/>
              <a:ext cx="1419860" cy="454659"/>
            </a:xfrm>
            <a:custGeom>
              <a:avLst/>
              <a:gdLst/>
              <a:ahLst/>
              <a:cxnLst/>
              <a:rect l="l" t="t" r="r" b="b"/>
              <a:pathLst>
                <a:path w="1419860" h="454660">
                  <a:moveTo>
                    <a:pt x="1419631" y="0"/>
                  </a:moveTo>
                  <a:lnTo>
                    <a:pt x="0" y="454278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85904" y="3452497"/>
              <a:ext cx="72969" cy="117978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676986" y="2390901"/>
              <a:ext cx="1135380" cy="681355"/>
            </a:xfrm>
            <a:custGeom>
              <a:avLst/>
              <a:gdLst/>
              <a:ahLst/>
              <a:cxnLst/>
              <a:rect l="l" t="t" r="r" b="b"/>
              <a:pathLst>
                <a:path w="1135380" h="681355">
                  <a:moveTo>
                    <a:pt x="1134922" y="680974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70990" y="2362325"/>
              <a:ext cx="80559" cy="106937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506981" y="2671533"/>
              <a:ext cx="308965" cy="404406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1811909" y="2105913"/>
              <a:ext cx="1421130" cy="966469"/>
            </a:xfrm>
            <a:custGeom>
              <a:avLst/>
              <a:gdLst/>
              <a:ahLst/>
              <a:cxnLst/>
              <a:rect l="l" t="t" r="r" b="b"/>
              <a:pathLst>
                <a:path w="1421130" h="966469">
                  <a:moveTo>
                    <a:pt x="0" y="965962"/>
                  </a:moveTo>
                  <a:lnTo>
                    <a:pt x="1420749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156709" y="2081400"/>
              <a:ext cx="81791" cy="103254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1811909" y="2105913"/>
              <a:ext cx="1421130" cy="966469"/>
            </a:xfrm>
            <a:custGeom>
              <a:avLst/>
              <a:gdLst/>
              <a:ahLst/>
              <a:cxnLst/>
              <a:rect l="l" t="t" r="r" b="b"/>
              <a:pathLst>
                <a:path w="1421130" h="966469">
                  <a:moveTo>
                    <a:pt x="0" y="965962"/>
                  </a:moveTo>
                  <a:lnTo>
                    <a:pt x="1420749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156709" y="2081400"/>
              <a:ext cx="81791" cy="103254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1811909" y="2105913"/>
              <a:ext cx="1421130" cy="966469"/>
            </a:xfrm>
            <a:custGeom>
              <a:avLst/>
              <a:gdLst/>
              <a:ahLst/>
              <a:cxnLst/>
              <a:rect l="l" t="t" r="r" b="b"/>
              <a:pathLst>
                <a:path w="1421130" h="966469">
                  <a:moveTo>
                    <a:pt x="0" y="965962"/>
                  </a:moveTo>
                  <a:lnTo>
                    <a:pt x="1420749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156709" y="2081400"/>
              <a:ext cx="81791" cy="103254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1811909" y="2105913"/>
              <a:ext cx="1421130" cy="966469"/>
            </a:xfrm>
            <a:custGeom>
              <a:avLst/>
              <a:gdLst/>
              <a:ahLst/>
              <a:cxnLst/>
              <a:rect l="l" t="t" r="r" b="b"/>
              <a:pathLst>
                <a:path w="1421130" h="966469">
                  <a:moveTo>
                    <a:pt x="0" y="965962"/>
                  </a:moveTo>
                  <a:lnTo>
                    <a:pt x="1420749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156709" y="2081400"/>
              <a:ext cx="81791" cy="103254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1811909" y="2105913"/>
              <a:ext cx="1421130" cy="966469"/>
            </a:xfrm>
            <a:custGeom>
              <a:avLst/>
              <a:gdLst/>
              <a:ahLst/>
              <a:cxnLst/>
              <a:rect l="l" t="t" r="r" b="b"/>
              <a:pathLst>
                <a:path w="1421130" h="966469">
                  <a:moveTo>
                    <a:pt x="0" y="965962"/>
                  </a:moveTo>
                  <a:lnTo>
                    <a:pt x="1420749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156709" y="2081400"/>
              <a:ext cx="81791" cy="103254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1811909" y="2105913"/>
              <a:ext cx="1421130" cy="966469"/>
            </a:xfrm>
            <a:custGeom>
              <a:avLst/>
              <a:gdLst/>
              <a:ahLst/>
              <a:cxnLst/>
              <a:rect l="l" t="t" r="r" b="b"/>
              <a:pathLst>
                <a:path w="1421130" h="966469">
                  <a:moveTo>
                    <a:pt x="0" y="965962"/>
                  </a:moveTo>
                  <a:lnTo>
                    <a:pt x="1420749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156709" y="2081400"/>
              <a:ext cx="81791" cy="103254"/>
            </a:xfrm>
            <a:prstGeom prst="rect">
              <a:avLst/>
            </a:prstGeom>
          </p:spPr>
        </p:pic>
      </p:grpSp>
      <p:sp>
        <p:nvSpPr>
          <p:cNvPr id="50" name="object 50"/>
          <p:cNvSpPr txBox="1"/>
          <p:nvPr/>
        </p:nvSpPr>
        <p:spPr>
          <a:xfrm>
            <a:off x="4356861" y="849883"/>
            <a:ext cx="4456430" cy="3712845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50"/>
              </a:spcBef>
            </a:pP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initialized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1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a</a:t>
            </a:r>
            <a:r>
              <a:rPr sz="1750" spc="-20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random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value</a:t>
            </a:r>
            <a:endParaRPr sz="1750">
              <a:latin typeface="Arial MT"/>
              <a:cs typeface="Arial MT"/>
            </a:endParaRPr>
          </a:p>
          <a:p>
            <a:pPr marL="40640" marR="34290" indent="-2540">
              <a:lnSpc>
                <a:spcPct val="116799"/>
              </a:lnSpc>
              <a:spcBef>
                <a:spcPts val="395"/>
              </a:spcBef>
              <a:tabLst>
                <a:tab pos="3227070" algn="l"/>
              </a:tabLst>
            </a:pP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observe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that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currently,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1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·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5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5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spc="-85" dirty="0">
                <a:solidFill>
                  <a:srgbClr val="213739"/>
                </a:solidFill>
                <a:latin typeface="Lucida Sans Unicode"/>
                <a:cs typeface="Lucida Sans Unicode"/>
              </a:rPr>
              <a:t>∵</a:t>
            </a:r>
            <a:r>
              <a:rPr sz="1750" spc="-23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angle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&gt;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90°)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for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all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positive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points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5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·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459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≥</a:t>
            </a:r>
            <a:r>
              <a:rPr sz="1750" spc="4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4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spc="-25" dirty="0">
                <a:solidFill>
                  <a:srgbClr val="213739"/>
                </a:solidFill>
                <a:latin typeface="Lucida Sans Unicode"/>
                <a:cs typeface="Lucida Sans Unicode"/>
              </a:rPr>
              <a:t>∵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angle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spc="40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90°)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for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all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negative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points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(the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situ-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ation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is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exactly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oppsite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what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actually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want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it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be)</a:t>
            </a:r>
            <a:endParaRPr sz="1750">
              <a:latin typeface="Arial MT"/>
              <a:cs typeface="Arial MT"/>
            </a:endParaRPr>
          </a:p>
          <a:p>
            <a:pPr marL="40640" marR="33655" indent="-3175">
              <a:lnSpc>
                <a:spcPct val="117700"/>
              </a:lnSpc>
              <a:spcBef>
                <a:spcPts val="495"/>
              </a:spcBef>
            </a:pPr>
            <a:r>
              <a:rPr sz="1750" spc="-16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now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run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algorithm</a:t>
            </a:r>
            <a:r>
              <a:rPr sz="1750" spc="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by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randomly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going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over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points</a:t>
            </a:r>
            <a:endParaRPr sz="1750">
              <a:latin typeface="Arial MT"/>
              <a:cs typeface="Arial MT"/>
            </a:endParaRPr>
          </a:p>
          <a:p>
            <a:pPr marL="41275" marR="30480" indent="-3810" algn="just">
              <a:lnSpc>
                <a:spcPct val="117200"/>
              </a:lnSpc>
              <a:spcBef>
                <a:spcPts val="710"/>
              </a:spcBef>
            </a:pP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Randomly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5" dirty="0">
                <a:solidFill>
                  <a:srgbClr val="213739"/>
                </a:solidFill>
                <a:latin typeface="Arial MT"/>
                <a:cs typeface="Arial MT"/>
              </a:rPr>
              <a:t>pick</a:t>
            </a:r>
            <a:r>
              <a:rPr sz="1750" spc="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a</a:t>
            </a:r>
            <a:r>
              <a:rPr sz="1750" spc="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point</a:t>
            </a:r>
            <a:r>
              <a:rPr sz="1750" spc="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(say,</a:t>
            </a:r>
            <a:r>
              <a:rPr sz="1750" spc="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spc="-5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875" spc="-7" baseline="-8888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),</a:t>
            </a:r>
            <a:r>
              <a:rPr sz="1750" spc="1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no</a:t>
            </a:r>
            <a:r>
              <a:rPr sz="1750" spc="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correction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needed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5" dirty="0">
                <a:solidFill>
                  <a:srgbClr val="213739"/>
                </a:solidFill>
                <a:latin typeface="Lucida Sans Unicode"/>
                <a:cs typeface="Lucida Sans Unicode"/>
              </a:rPr>
              <a:t>∵</a:t>
            </a:r>
            <a:r>
              <a:rPr sz="1750" spc="409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b="1" spc="-1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5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45" dirty="0">
                <a:solidFill>
                  <a:srgbClr val="213739"/>
                </a:solidFill>
                <a:latin typeface="Lucida Sans Unicode"/>
                <a:cs typeface="Lucida Sans Unicode"/>
              </a:rPr>
              <a:t>·</a:t>
            </a:r>
            <a:r>
              <a:rPr sz="1750" b="1" spc="-14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27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5" dirty="0">
                <a:solidFill>
                  <a:srgbClr val="213739"/>
                </a:solidFill>
                <a:latin typeface="Lucida Sans Unicode"/>
                <a:cs typeface="Lucida Sans Unicode"/>
              </a:rPr>
              <a:t>≥</a:t>
            </a:r>
            <a:r>
              <a:rPr sz="1750" spc="-15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b="1" spc="-1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b="1" spc="27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(you</a:t>
            </a:r>
            <a:r>
              <a:rPr sz="1750" spc="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can</a:t>
            </a:r>
            <a:r>
              <a:rPr sz="1750" spc="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check</a:t>
            </a:r>
            <a:r>
              <a:rPr sz="1750" spc="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5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angle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visually)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8781415" y="5603912"/>
            <a:ext cx="196215" cy="206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spc="-25" dirty="0">
                <a:solidFill>
                  <a:srgbClr val="213739"/>
                </a:solidFill>
                <a:latin typeface="Arial MT"/>
                <a:cs typeface="Arial MT"/>
              </a:rPr>
              <a:t>40</a:t>
            </a:r>
            <a:endParaRPr sz="125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56825" y="1076578"/>
            <a:ext cx="2850515" cy="3136265"/>
            <a:chOff x="956825" y="1076578"/>
            <a:chExt cx="2850515" cy="3136265"/>
          </a:xfrm>
        </p:grpSpPr>
        <p:sp>
          <p:nvSpPr>
            <p:cNvPr id="3" name="object 3"/>
            <p:cNvSpPr/>
            <p:nvPr/>
          </p:nvSpPr>
          <p:spPr>
            <a:xfrm>
              <a:off x="1749298" y="1081658"/>
              <a:ext cx="2052955" cy="2052955"/>
            </a:xfrm>
            <a:custGeom>
              <a:avLst/>
              <a:gdLst/>
              <a:ahLst/>
              <a:cxnLst/>
              <a:rect l="l" t="t" r="r" b="b"/>
              <a:pathLst>
                <a:path w="2052954" h="2052955">
                  <a:moveTo>
                    <a:pt x="62610" y="1990216"/>
                  </a:moveTo>
                  <a:lnTo>
                    <a:pt x="2044827" y="1990216"/>
                  </a:lnTo>
                </a:path>
                <a:path w="2052954" h="2052955">
                  <a:moveTo>
                    <a:pt x="2001519" y="1927605"/>
                  </a:moveTo>
                  <a:lnTo>
                    <a:pt x="2010537" y="1952243"/>
                  </a:lnTo>
                  <a:lnTo>
                    <a:pt x="2022855" y="1970277"/>
                  </a:lnTo>
                  <a:lnTo>
                    <a:pt x="2037334" y="1982596"/>
                  </a:lnTo>
                  <a:lnTo>
                    <a:pt x="2052827" y="1990216"/>
                  </a:lnTo>
                  <a:lnTo>
                    <a:pt x="2037334" y="1997837"/>
                  </a:lnTo>
                  <a:lnTo>
                    <a:pt x="2022855" y="2010155"/>
                  </a:lnTo>
                  <a:lnTo>
                    <a:pt x="2010537" y="2028316"/>
                  </a:lnTo>
                  <a:lnTo>
                    <a:pt x="2001519" y="2052954"/>
                  </a:lnTo>
                </a:path>
                <a:path w="2052954" h="2052955">
                  <a:moveTo>
                    <a:pt x="62610" y="1990216"/>
                  </a:moveTo>
                  <a:lnTo>
                    <a:pt x="62610" y="8000"/>
                  </a:lnTo>
                </a:path>
                <a:path w="2052954" h="2052955">
                  <a:moveTo>
                    <a:pt x="0" y="51307"/>
                  </a:moveTo>
                  <a:lnTo>
                    <a:pt x="24637" y="42290"/>
                  </a:lnTo>
                  <a:lnTo>
                    <a:pt x="42671" y="30099"/>
                  </a:lnTo>
                  <a:lnTo>
                    <a:pt x="55118" y="15620"/>
                  </a:lnTo>
                  <a:lnTo>
                    <a:pt x="62610" y="0"/>
                  </a:lnTo>
                  <a:lnTo>
                    <a:pt x="70231" y="15620"/>
                  </a:lnTo>
                  <a:lnTo>
                    <a:pt x="82676" y="30099"/>
                  </a:lnTo>
                  <a:lnTo>
                    <a:pt x="100710" y="42290"/>
                  </a:lnTo>
                  <a:lnTo>
                    <a:pt x="125349" y="51307"/>
                  </a:lnTo>
                </a:path>
              </a:pathLst>
            </a:custGeom>
            <a:ln w="10122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529588" y="2394203"/>
              <a:ext cx="282575" cy="678180"/>
            </a:xfrm>
            <a:custGeom>
              <a:avLst/>
              <a:gdLst/>
              <a:ahLst/>
              <a:cxnLst/>
              <a:rect l="l" t="t" r="r" b="b"/>
              <a:pathLst>
                <a:path w="282575" h="678180">
                  <a:moveTo>
                    <a:pt x="282320" y="677672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90984" y="2387984"/>
              <a:ext cx="114418" cy="7606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811908" y="1937765"/>
              <a:ext cx="283845" cy="1134110"/>
            </a:xfrm>
            <a:custGeom>
              <a:avLst/>
              <a:gdLst/>
              <a:ahLst/>
              <a:cxnLst/>
              <a:rect l="l" t="t" r="r" b="b"/>
              <a:pathLst>
                <a:path w="283844" h="1134110">
                  <a:moveTo>
                    <a:pt x="0" y="1134110"/>
                  </a:moveTo>
                  <a:lnTo>
                    <a:pt x="283591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23881" y="1931425"/>
              <a:ext cx="119741" cy="6995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811908" y="2503550"/>
              <a:ext cx="1705610" cy="568325"/>
            </a:xfrm>
            <a:custGeom>
              <a:avLst/>
              <a:gdLst/>
              <a:ahLst/>
              <a:cxnLst/>
              <a:rect l="l" t="t" r="r" b="b"/>
              <a:pathLst>
                <a:path w="1705610" h="568325">
                  <a:moveTo>
                    <a:pt x="0" y="568325"/>
                  </a:moveTo>
                  <a:lnTo>
                    <a:pt x="1705229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50089" y="2460124"/>
              <a:ext cx="73391" cy="11733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63168" y="2788919"/>
              <a:ext cx="848994" cy="283210"/>
            </a:xfrm>
            <a:custGeom>
              <a:avLst/>
              <a:gdLst/>
              <a:ahLst/>
              <a:cxnLst/>
              <a:rect l="l" t="t" r="r" b="b"/>
              <a:pathLst>
                <a:path w="848994" h="283210">
                  <a:moveTo>
                    <a:pt x="848740" y="282955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6825" y="2745620"/>
              <a:ext cx="73314" cy="11720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528445" y="3071875"/>
              <a:ext cx="283845" cy="1134110"/>
            </a:xfrm>
            <a:custGeom>
              <a:avLst/>
              <a:gdLst/>
              <a:ahLst/>
              <a:cxnLst/>
              <a:rect l="l" t="t" r="r" b="b"/>
              <a:pathLst>
                <a:path w="283844" h="1134110">
                  <a:moveTo>
                    <a:pt x="283463" y="0"/>
                  </a:moveTo>
                  <a:lnTo>
                    <a:pt x="0" y="1134110"/>
                  </a:lnTo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80194" y="4142368"/>
              <a:ext cx="119741" cy="7008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811908" y="3071875"/>
              <a:ext cx="329565" cy="1138555"/>
            </a:xfrm>
            <a:custGeom>
              <a:avLst/>
              <a:gdLst/>
              <a:ahLst/>
              <a:cxnLst/>
              <a:rect l="l" t="t" r="r" b="b"/>
              <a:pathLst>
                <a:path w="329564" h="1138554">
                  <a:moveTo>
                    <a:pt x="0" y="0"/>
                  </a:moveTo>
                  <a:lnTo>
                    <a:pt x="283591" y="1134110"/>
                  </a:lnTo>
                </a:path>
                <a:path w="329564" h="1138554">
                  <a:moveTo>
                    <a:pt x="329184" y="1073023"/>
                  </a:moveTo>
                  <a:lnTo>
                    <a:pt x="308864" y="1087628"/>
                  </a:lnTo>
                  <a:lnTo>
                    <a:pt x="295402" y="1103757"/>
                  </a:lnTo>
                  <a:lnTo>
                    <a:pt x="287655" y="1120902"/>
                  </a:lnTo>
                  <a:lnTo>
                    <a:pt x="284480" y="1138047"/>
                  </a:lnTo>
                  <a:lnTo>
                    <a:pt x="273685" y="1124331"/>
                  </a:lnTo>
                  <a:lnTo>
                    <a:pt x="258826" y="1112901"/>
                  </a:lnTo>
                  <a:lnTo>
                    <a:pt x="239268" y="1105027"/>
                  </a:lnTo>
                  <a:lnTo>
                    <a:pt x="214503" y="1101725"/>
                  </a:lnTo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548507" y="2969514"/>
            <a:ext cx="26479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49908" y="970915"/>
            <a:ext cx="26479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86205" y="1993773"/>
            <a:ext cx="26797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957070" y="1536954"/>
            <a:ext cx="26797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409315" y="2108073"/>
            <a:ext cx="13906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p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519932" y="2203780"/>
            <a:ext cx="107950" cy="2197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spc="-50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04672" y="2741167"/>
            <a:ext cx="27876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875" baseline="-8888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62583" y="4168902"/>
            <a:ext cx="874394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620395" algn="l"/>
              </a:tabLst>
            </a:pP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875" baseline="-8888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85904" y="1887356"/>
            <a:ext cx="3181985" cy="2369185"/>
            <a:chOff x="385904" y="1887356"/>
            <a:chExt cx="3181985" cy="2369185"/>
          </a:xfrm>
        </p:grpSpPr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83750" y="2344175"/>
              <a:ext cx="85324" cy="8532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054742" y="1887356"/>
              <a:ext cx="85324" cy="8532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82095" y="2458348"/>
              <a:ext cx="85324" cy="85324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12885" y="2743717"/>
              <a:ext cx="85324" cy="85324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483750" y="4171070"/>
              <a:ext cx="85324" cy="85324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2057272" y="4173600"/>
              <a:ext cx="80645" cy="80645"/>
            </a:xfrm>
            <a:custGeom>
              <a:avLst/>
              <a:gdLst/>
              <a:ahLst/>
              <a:cxnLst/>
              <a:rect l="l" t="t" r="r" b="b"/>
              <a:pathLst>
                <a:path w="80644" h="80645">
                  <a:moveTo>
                    <a:pt x="40131" y="0"/>
                  </a:moveTo>
                  <a:lnTo>
                    <a:pt x="24510" y="3175"/>
                  </a:lnTo>
                  <a:lnTo>
                    <a:pt x="11810" y="11811"/>
                  </a:lnTo>
                  <a:lnTo>
                    <a:pt x="3175" y="24511"/>
                  </a:lnTo>
                  <a:lnTo>
                    <a:pt x="0" y="40131"/>
                  </a:lnTo>
                  <a:lnTo>
                    <a:pt x="3175" y="55753"/>
                  </a:lnTo>
                  <a:lnTo>
                    <a:pt x="11810" y="68580"/>
                  </a:lnTo>
                  <a:lnTo>
                    <a:pt x="24510" y="77088"/>
                  </a:lnTo>
                  <a:lnTo>
                    <a:pt x="40131" y="80263"/>
                  </a:lnTo>
                  <a:lnTo>
                    <a:pt x="55752" y="77088"/>
                  </a:lnTo>
                  <a:lnTo>
                    <a:pt x="68452" y="68580"/>
                  </a:lnTo>
                  <a:lnTo>
                    <a:pt x="77088" y="55753"/>
                  </a:lnTo>
                  <a:lnTo>
                    <a:pt x="80263" y="40131"/>
                  </a:lnTo>
                  <a:lnTo>
                    <a:pt x="77088" y="24511"/>
                  </a:lnTo>
                  <a:lnTo>
                    <a:pt x="68452" y="11811"/>
                  </a:lnTo>
                  <a:lnTo>
                    <a:pt x="55752" y="3175"/>
                  </a:lnTo>
                  <a:lnTo>
                    <a:pt x="40131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057272" y="4173600"/>
              <a:ext cx="80645" cy="80645"/>
            </a:xfrm>
            <a:custGeom>
              <a:avLst/>
              <a:gdLst/>
              <a:ahLst/>
              <a:cxnLst/>
              <a:rect l="l" t="t" r="r" b="b"/>
              <a:pathLst>
                <a:path w="80644" h="80645">
                  <a:moveTo>
                    <a:pt x="80263" y="40131"/>
                  </a:moveTo>
                  <a:lnTo>
                    <a:pt x="77088" y="24511"/>
                  </a:lnTo>
                  <a:lnTo>
                    <a:pt x="68452" y="11811"/>
                  </a:lnTo>
                  <a:lnTo>
                    <a:pt x="55752" y="3175"/>
                  </a:lnTo>
                  <a:lnTo>
                    <a:pt x="40131" y="0"/>
                  </a:lnTo>
                  <a:lnTo>
                    <a:pt x="24510" y="3175"/>
                  </a:lnTo>
                  <a:lnTo>
                    <a:pt x="11810" y="11811"/>
                  </a:lnTo>
                  <a:lnTo>
                    <a:pt x="3175" y="24511"/>
                  </a:lnTo>
                  <a:lnTo>
                    <a:pt x="0" y="40131"/>
                  </a:lnTo>
                  <a:lnTo>
                    <a:pt x="3175" y="55753"/>
                  </a:lnTo>
                  <a:lnTo>
                    <a:pt x="11810" y="68580"/>
                  </a:lnTo>
                  <a:lnTo>
                    <a:pt x="24510" y="77088"/>
                  </a:lnTo>
                  <a:lnTo>
                    <a:pt x="40131" y="80263"/>
                  </a:lnTo>
                  <a:lnTo>
                    <a:pt x="55752" y="77088"/>
                  </a:lnTo>
                  <a:lnTo>
                    <a:pt x="68452" y="68580"/>
                  </a:lnTo>
                  <a:lnTo>
                    <a:pt x="77088" y="55753"/>
                  </a:lnTo>
                  <a:lnTo>
                    <a:pt x="80263" y="40131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75754" y="3071875"/>
              <a:ext cx="1136650" cy="1136650"/>
            </a:xfrm>
            <a:custGeom>
              <a:avLst/>
              <a:gdLst/>
              <a:ahLst/>
              <a:cxnLst/>
              <a:rect l="l" t="t" r="r" b="b"/>
              <a:pathLst>
                <a:path w="1136650" h="1136650">
                  <a:moveTo>
                    <a:pt x="1136154" y="0"/>
                  </a:moveTo>
                  <a:lnTo>
                    <a:pt x="0" y="1136269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65489" y="4129668"/>
              <a:ext cx="88638" cy="88626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392277" y="3071875"/>
              <a:ext cx="1419860" cy="454659"/>
            </a:xfrm>
            <a:custGeom>
              <a:avLst/>
              <a:gdLst/>
              <a:ahLst/>
              <a:cxnLst/>
              <a:rect l="l" t="t" r="r" b="b"/>
              <a:pathLst>
                <a:path w="1419860" h="454660">
                  <a:moveTo>
                    <a:pt x="1419631" y="0"/>
                  </a:moveTo>
                  <a:lnTo>
                    <a:pt x="0" y="454278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85904" y="3452497"/>
              <a:ext cx="72969" cy="117978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676986" y="2390901"/>
              <a:ext cx="1135380" cy="681355"/>
            </a:xfrm>
            <a:custGeom>
              <a:avLst/>
              <a:gdLst/>
              <a:ahLst/>
              <a:cxnLst/>
              <a:rect l="l" t="t" r="r" b="b"/>
              <a:pathLst>
                <a:path w="1135380" h="681355">
                  <a:moveTo>
                    <a:pt x="1134922" y="680974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70990" y="2362325"/>
              <a:ext cx="80559" cy="106937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506981" y="2671533"/>
              <a:ext cx="308965" cy="404406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1811909" y="2105913"/>
              <a:ext cx="1421130" cy="966469"/>
            </a:xfrm>
            <a:custGeom>
              <a:avLst/>
              <a:gdLst/>
              <a:ahLst/>
              <a:cxnLst/>
              <a:rect l="l" t="t" r="r" b="b"/>
              <a:pathLst>
                <a:path w="1421130" h="966469">
                  <a:moveTo>
                    <a:pt x="0" y="965962"/>
                  </a:moveTo>
                  <a:lnTo>
                    <a:pt x="1420749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156709" y="2081400"/>
              <a:ext cx="81791" cy="103254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1811909" y="2105913"/>
              <a:ext cx="1421130" cy="966469"/>
            </a:xfrm>
            <a:custGeom>
              <a:avLst/>
              <a:gdLst/>
              <a:ahLst/>
              <a:cxnLst/>
              <a:rect l="l" t="t" r="r" b="b"/>
              <a:pathLst>
                <a:path w="1421130" h="966469">
                  <a:moveTo>
                    <a:pt x="0" y="965962"/>
                  </a:moveTo>
                  <a:lnTo>
                    <a:pt x="1420749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156709" y="2081400"/>
              <a:ext cx="81791" cy="103254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1811909" y="2105913"/>
              <a:ext cx="1421130" cy="966469"/>
            </a:xfrm>
            <a:custGeom>
              <a:avLst/>
              <a:gdLst/>
              <a:ahLst/>
              <a:cxnLst/>
              <a:rect l="l" t="t" r="r" b="b"/>
              <a:pathLst>
                <a:path w="1421130" h="966469">
                  <a:moveTo>
                    <a:pt x="0" y="965962"/>
                  </a:moveTo>
                  <a:lnTo>
                    <a:pt x="1420749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156709" y="2081400"/>
              <a:ext cx="81791" cy="103254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1811909" y="2105913"/>
              <a:ext cx="1421130" cy="966469"/>
            </a:xfrm>
            <a:custGeom>
              <a:avLst/>
              <a:gdLst/>
              <a:ahLst/>
              <a:cxnLst/>
              <a:rect l="l" t="t" r="r" b="b"/>
              <a:pathLst>
                <a:path w="1421130" h="966469">
                  <a:moveTo>
                    <a:pt x="0" y="965962"/>
                  </a:moveTo>
                  <a:lnTo>
                    <a:pt x="1420749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156709" y="2081400"/>
              <a:ext cx="81791" cy="103254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1811909" y="2105913"/>
              <a:ext cx="1421130" cy="966469"/>
            </a:xfrm>
            <a:custGeom>
              <a:avLst/>
              <a:gdLst/>
              <a:ahLst/>
              <a:cxnLst/>
              <a:rect l="l" t="t" r="r" b="b"/>
              <a:pathLst>
                <a:path w="1421130" h="966469">
                  <a:moveTo>
                    <a:pt x="0" y="965962"/>
                  </a:moveTo>
                  <a:lnTo>
                    <a:pt x="1420749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156709" y="2081400"/>
              <a:ext cx="81791" cy="103254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1811909" y="2105913"/>
              <a:ext cx="1421130" cy="966469"/>
            </a:xfrm>
            <a:custGeom>
              <a:avLst/>
              <a:gdLst/>
              <a:ahLst/>
              <a:cxnLst/>
              <a:rect l="l" t="t" r="r" b="b"/>
              <a:pathLst>
                <a:path w="1421130" h="966469">
                  <a:moveTo>
                    <a:pt x="0" y="965962"/>
                  </a:moveTo>
                  <a:lnTo>
                    <a:pt x="1420749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156709" y="2081400"/>
              <a:ext cx="81791" cy="103254"/>
            </a:xfrm>
            <a:prstGeom prst="rect">
              <a:avLst/>
            </a:prstGeom>
          </p:spPr>
        </p:pic>
      </p:grpSp>
      <p:sp>
        <p:nvSpPr>
          <p:cNvPr id="50" name="object 50"/>
          <p:cNvSpPr txBox="1"/>
          <p:nvPr/>
        </p:nvSpPr>
        <p:spPr>
          <a:xfrm>
            <a:off x="4381246" y="849883"/>
            <a:ext cx="4403725" cy="3094355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850"/>
              </a:spcBef>
            </a:pP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initialized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21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a</a:t>
            </a:r>
            <a:r>
              <a:rPr sz="1750" spc="-20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random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value</a:t>
            </a:r>
            <a:endParaRPr sz="1750">
              <a:latin typeface="Arial MT"/>
              <a:cs typeface="Arial MT"/>
            </a:endParaRPr>
          </a:p>
          <a:p>
            <a:pPr marL="16510" marR="5080" indent="-3175">
              <a:lnSpc>
                <a:spcPct val="116799"/>
              </a:lnSpc>
              <a:spcBef>
                <a:spcPts val="395"/>
              </a:spcBef>
              <a:tabLst>
                <a:tab pos="3202940" algn="l"/>
              </a:tabLst>
            </a:pP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observe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that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currently,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1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·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35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5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spc="-85" dirty="0">
                <a:solidFill>
                  <a:srgbClr val="213739"/>
                </a:solidFill>
                <a:latin typeface="Lucida Sans Unicode"/>
                <a:cs typeface="Lucida Sans Unicode"/>
              </a:rPr>
              <a:t>∵</a:t>
            </a:r>
            <a:r>
              <a:rPr sz="1750" spc="-23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angle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&gt;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90°)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for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all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positive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points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b="1" spc="15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·</a:t>
            </a:r>
            <a:r>
              <a:rPr sz="1750" b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750" b="1" spc="459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≥</a:t>
            </a:r>
            <a:r>
              <a:rPr sz="1750" spc="40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4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spc="-25" dirty="0">
                <a:solidFill>
                  <a:srgbClr val="213739"/>
                </a:solidFill>
                <a:latin typeface="Lucida Sans Unicode"/>
                <a:cs typeface="Lucida Sans Unicode"/>
              </a:rPr>
              <a:t>∵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angle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750" i="1" spc="409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90°)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for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all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negative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points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(the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situ-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ation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is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exactly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oppsite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what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actually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want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it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be)</a:t>
            </a:r>
            <a:endParaRPr sz="1750">
              <a:latin typeface="Arial MT"/>
              <a:cs typeface="Arial MT"/>
            </a:endParaRPr>
          </a:p>
          <a:p>
            <a:pPr marL="17145" marR="5080" indent="-5080">
              <a:lnSpc>
                <a:spcPct val="117700"/>
              </a:lnSpc>
              <a:spcBef>
                <a:spcPts val="495"/>
              </a:spcBef>
            </a:pPr>
            <a:r>
              <a:rPr sz="1750" spc="-16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now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run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algorithm</a:t>
            </a:r>
            <a:r>
              <a:rPr sz="1750" spc="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by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randomly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going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over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points</a:t>
            </a:r>
            <a:endParaRPr sz="1750">
              <a:latin typeface="Arial MT"/>
              <a:cs typeface="Arial MT"/>
            </a:endParaRPr>
          </a:p>
          <a:p>
            <a:pPr marL="13970">
              <a:lnSpc>
                <a:spcPct val="100000"/>
              </a:lnSpc>
              <a:spcBef>
                <a:spcPts val="1115"/>
              </a:spcBef>
            </a:pP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2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algorithm 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has</a:t>
            </a:r>
            <a:r>
              <a:rPr sz="1750" spc="-1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converged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8781415" y="5603912"/>
            <a:ext cx="196215" cy="206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spc="-25" dirty="0">
                <a:solidFill>
                  <a:srgbClr val="213739"/>
                </a:solidFill>
                <a:latin typeface="Arial MT"/>
                <a:cs typeface="Arial MT"/>
              </a:rPr>
              <a:t>40</a:t>
            </a:r>
            <a:endParaRPr sz="125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0915" y="1717611"/>
            <a:ext cx="7993380" cy="256540"/>
          </a:xfrm>
          <a:prstGeom prst="rect">
            <a:avLst/>
          </a:prstGeom>
          <a:solidFill>
            <a:srgbClr val="013547"/>
          </a:solidFill>
        </p:spPr>
        <p:txBody>
          <a:bodyPr vert="horz" wrap="square" lIns="0" tIns="0" rIns="0" bIns="0" rtlCol="0">
            <a:spAutoFit/>
          </a:bodyPr>
          <a:lstStyle/>
          <a:p>
            <a:pPr marL="69850">
              <a:lnSpc>
                <a:spcPts val="1950"/>
              </a:lnSpc>
            </a:pPr>
            <a:r>
              <a:rPr sz="1750" b="1" spc="-140" dirty="0">
                <a:solidFill>
                  <a:srgbClr val="FFFFFF"/>
                </a:solidFill>
                <a:latin typeface="Trebuchet MS"/>
                <a:cs typeface="Trebuchet MS"/>
              </a:rPr>
              <a:t>Coming</a:t>
            </a:r>
            <a:r>
              <a:rPr sz="1750" b="1" spc="-2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750" b="1" spc="-114" dirty="0">
                <a:solidFill>
                  <a:srgbClr val="FFFFFF"/>
                </a:solidFill>
                <a:latin typeface="Trebuchet MS"/>
                <a:cs typeface="Trebuchet MS"/>
              </a:rPr>
              <a:t>back</a:t>
            </a:r>
            <a:r>
              <a:rPr sz="1750" b="1" spc="-1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750" b="1" spc="-60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1750" b="1" spc="-11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750" b="1" spc="-75" dirty="0">
                <a:solidFill>
                  <a:srgbClr val="FFFFFF"/>
                </a:solidFill>
                <a:latin typeface="Trebuchet MS"/>
                <a:cs typeface="Trebuchet MS"/>
              </a:rPr>
              <a:t>our</a:t>
            </a:r>
            <a:r>
              <a:rPr sz="1750" b="1" spc="-1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750" b="1" spc="-150" dirty="0">
                <a:solidFill>
                  <a:srgbClr val="FFFFFF"/>
                </a:solidFill>
                <a:latin typeface="Trebuchet MS"/>
                <a:cs typeface="Trebuchet MS"/>
              </a:rPr>
              <a:t>questions</a:t>
            </a:r>
            <a:r>
              <a:rPr sz="1750" b="1" spc="-1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750" b="1" spc="-25" dirty="0">
                <a:solidFill>
                  <a:srgbClr val="FFFFFF"/>
                </a:solidFill>
                <a:latin typeface="Trebuchet MS"/>
                <a:cs typeface="Trebuchet MS"/>
              </a:rPr>
              <a:t>...</a:t>
            </a:r>
            <a:endParaRPr sz="175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3444" y="2120010"/>
            <a:ext cx="7028180" cy="20466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90"/>
              </a:spcBef>
            </a:pP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What</a:t>
            </a:r>
            <a:r>
              <a:rPr sz="1750" spc="-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about 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non-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boolean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(say,</a:t>
            </a:r>
            <a:r>
              <a:rPr sz="1750" spc="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real)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inputs?</a:t>
            </a:r>
            <a:endParaRPr sz="175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80"/>
              </a:spcBef>
            </a:pPr>
            <a:endParaRPr sz="1750" dirty="0">
              <a:latin typeface="Arial MT"/>
              <a:cs typeface="Arial MT"/>
            </a:endParaRPr>
          </a:p>
          <a:p>
            <a:pPr marL="13970">
              <a:lnSpc>
                <a:spcPct val="100000"/>
              </a:lnSpc>
            </a:pPr>
            <a:r>
              <a:rPr sz="1750" spc="-85" dirty="0">
                <a:latin typeface="Arial MT"/>
                <a:cs typeface="Arial MT"/>
              </a:rPr>
              <a:t>Do</a:t>
            </a:r>
            <a:r>
              <a:rPr sz="1750" spc="-180" dirty="0">
                <a:latin typeface="Arial MT"/>
                <a:cs typeface="Arial MT"/>
              </a:rPr>
              <a:t> </a:t>
            </a:r>
            <a:r>
              <a:rPr sz="1750" spc="-95" dirty="0">
                <a:latin typeface="Arial MT"/>
                <a:cs typeface="Arial MT"/>
              </a:rPr>
              <a:t>we</a:t>
            </a:r>
            <a:r>
              <a:rPr sz="1750" spc="-145" dirty="0">
                <a:latin typeface="Arial MT"/>
                <a:cs typeface="Arial MT"/>
              </a:rPr>
              <a:t> </a:t>
            </a:r>
            <a:r>
              <a:rPr sz="1750" spc="-135" dirty="0">
                <a:latin typeface="Arial MT"/>
                <a:cs typeface="Arial MT"/>
              </a:rPr>
              <a:t>always</a:t>
            </a:r>
            <a:r>
              <a:rPr sz="1750" spc="-105" dirty="0">
                <a:latin typeface="Arial MT"/>
                <a:cs typeface="Arial MT"/>
              </a:rPr>
              <a:t> </a:t>
            </a:r>
            <a:r>
              <a:rPr sz="1750" spc="-114" dirty="0">
                <a:latin typeface="Arial MT"/>
                <a:cs typeface="Arial MT"/>
              </a:rPr>
              <a:t>need</a:t>
            </a:r>
            <a:r>
              <a:rPr sz="1750" spc="-140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to</a:t>
            </a:r>
            <a:r>
              <a:rPr sz="1750" spc="-25" dirty="0">
                <a:latin typeface="Arial MT"/>
                <a:cs typeface="Arial MT"/>
              </a:rPr>
              <a:t> </a:t>
            </a:r>
            <a:r>
              <a:rPr sz="1750" spc="-95" dirty="0">
                <a:latin typeface="Arial MT"/>
                <a:cs typeface="Arial MT"/>
              </a:rPr>
              <a:t>hand</a:t>
            </a:r>
            <a:r>
              <a:rPr sz="1750" spc="-145" dirty="0">
                <a:latin typeface="Arial MT"/>
                <a:cs typeface="Arial MT"/>
              </a:rPr>
              <a:t> </a:t>
            </a:r>
            <a:r>
              <a:rPr sz="1750" spc="-95" dirty="0">
                <a:latin typeface="Arial MT"/>
                <a:cs typeface="Arial MT"/>
              </a:rPr>
              <a:t>code</a:t>
            </a:r>
            <a:r>
              <a:rPr sz="1750" spc="-140" dirty="0">
                <a:latin typeface="Arial MT"/>
                <a:cs typeface="Arial MT"/>
              </a:rPr>
              <a:t> </a:t>
            </a:r>
            <a:r>
              <a:rPr sz="1750" spc="-55" dirty="0">
                <a:latin typeface="Arial MT"/>
                <a:cs typeface="Arial MT"/>
              </a:rPr>
              <a:t>the</a:t>
            </a:r>
            <a:r>
              <a:rPr sz="1750" spc="-90" dirty="0">
                <a:latin typeface="Arial MT"/>
                <a:cs typeface="Arial MT"/>
              </a:rPr>
              <a:t> </a:t>
            </a:r>
            <a:r>
              <a:rPr sz="1750" spc="-10" dirty="0">
                <a:latin typeface="Arial MT"/>
                <a:cs typeface="Arial MT"/>
              </a:rPr>
              <a:t>threshold?</a:t>
            </a:r>
            <a:endParaRPr sz="175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sz="1750" spc="-110" dirty="0">
                <a:latin typeface="Arial MT"/>
                <a:cs typeface="Arial MT"/>
              </a:rPr>
              <a:t>Are</a:t>
            </a:r>
            <a:r>
              <a:rPr sz="1750" spc="-125" dirty="0">
                <a:latin typeface="Arial MT"/>
                <a:cs typeface="Arial MT"/>
              </a:rPr>
              <a:t> </a:t>
            </a:r>
            <a:r>
              <a:rPr sz="1750" spc="-35" dirty="0">
                <a:latin typeface="Arial MT"/>
                <a:cs typeface="Arial MT"/>
              </a:rPr>
              <a:t>all</a:t>
            </a:r>
            <a:r>
              <a:rPr sz="1750" spc="-90" dirty="0">
                <a:latin typeface="Arial MT"/>
                <a:cs typeface="Arial MT"/>
              </a:rPr>
              <a:t> </a:t>
            </a:r>
            <a:r>
              <a:rPr sz="1750" spc="-35" dirty="0">
                <a:latin typeface="Arial MT"/>
                <a:cs typeface="Arial MT"/>
              </a:rPr>
              <a:t>inputs</a:t>
            </a:r>
            <a:r>
              <a:rPr sz="1750" spc="-85" dirty="0">
                <a:latin typeface="Arial MT"/>
                <a:cs typeface="Arial MT"/>
              </a:rPr>
              <a:t> </a:t>
            </a:r>
            <a:r>
              <a:rPr sz="1750" spc="-50" dirty="0">
                <a:latin typeface="Arial MT"/>
                <a:cs typeface="Arial MT"/>
              </a:rPr>
              <a:t>equal?</a:t>
            </a:r>
            <a:r>
              <a:rPr sz="1750" spc="30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What</a:t>
            </a:r>
            <a:r>
              <a:rPr sz="1750" spc="-30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if</a:t>
            </a:r>
            <a:r>
              <a:rPr sz="1750" spc="-50" dirty="0">
                <a:latin typeface="Arial MT"/>
                <a:cs typeface="Arial MT"/>
              </a:rPr>
              <a:t> </a:t>
            </a:r>
            <a:r>
              <a:rPr sz="1750" spc="-75" dirty="0">
                <a:latin typeface="Arial MT"/>
                <a:cs typeface="Arial MT"/>
              </a:rPr>
              <a:t>we</a:t>
            </a:r>
            <a:r>
              <a:rPr sz="1750" spc="-65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want</a:t>
            </a:r>
            <a:r>
              <a:rPr sz="1750" spc="-45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to</a:t>
            </a:r>
            <a:r>
              <a:rPr sz="1750" spc="-35" dirty="0">
                <a:latin typeface="Arial MT"/>
                <a:cs typeface="Arial MT"/>
              </a:rPr>
              <a:t> </a:t>
            </a:r>
            <a:r>
              <a:rPr sz="1750" spc="-110" dirty="0">
                <a:latin typeface="Arial MT"/>
                <a:cs typeface="Arial MT"/>
              </a:rPr>
              <a:t>assign</a:t>
            </a:r>
            <a:r>
              <a:rPr sz="1750" spc="-105" dirty="0">
                <a:latin typeface="Arial MT"/>
                <a:cs typeface="Arial MT"/>
              </a:rPr>
              <a:t> </a:t>
            </a:r>
            <a:r>
              <a:rPr sz="1750" spc="-80" dirty="0">
                <a:latin typeface="Arial MT"/>
                <a:cs typeface="Arial MT"/>
              </a:rPr>
              <a:t>more</a:t>
            </a:r>
            <a:r>
              <a:rPr sz="1750" spc="-100" dirty="0">
                <a:latin typeface="Arial MT"/>
                <a:cs typeface="Arial MT"/>
              </a:rPr>
              <a:t> </a:t>
            </a:r>
            <a:r>
              <a:rPr sz="1750" spc="-25" dirty="0">
                <a:latin typeface="Arial MT"/>
                <a:cs typeface="Arial MT"/>
              </a:rPr>
              <a:t>weight</a:t>
            </a:r>
            <a:r>
              <a:rPr sz="1750" spc="-20" dirty="0">
                <a:latin typeface="Arial MT"/>
                <a:cs typeface="Arial MT"/>
              </a:rPr>
              <a:t> </a:t>
            </a:r>
            <a:r>
              <a:rPr sz="1750" spc="-65" dirty="0">
                <a:latin typeface="Arial MT"/>
                <a:cs typeface="Arial MT"/>
              </a:rPr>
              <a:t>(importance)</a:t>
            </a:r>
            <a:r>
              <a:rPr sz="1750" spc="-45" dirty="0">
                <a:latin typeface="Arial MT"/>
                <a:cs typeface="Arial MT"/>
              </a:rPr>
              <a:t> </a:t>
            </a:r>
            <a:r>
              <a:rPr sz="1750" spc="-25" dirty="0">
                <a:latin typeface="Arial MT"/>
                <a:cs typeface="Arial MT"/>
              </a:rPr>
              <a:t>to</a:t>
            </a:r>
            <a:endParaRPr sz="175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  <a:tabLst>
                <a:tab pos="742315" algn="l"/>
              </a:tabLst>
            </a:pPr>
            <a:r>
              <a:rPr sz="1750" spc="-20" dirty="0">
                <a:latin typeface="Arial MT"/>
                <a:cs typeface="Arial MT"/>
              </a:rPr>
              <a:t>some</a:t>
            </a:r>
            <a:r>
              <a:rPr sz="1750" dirty="0">
                <a:latin typeface="Arial MT"/>
                <a:cs typeface="Arial MT"/>
              </a:rPr>
              <a:t>	</a:t>
            </a:r>
            <a:r>
              <a:rPr sz="1750" spc="-10" dirty="0">
                <a:latin typeface="Arial MT"/>
                <a:cs typeface="Arial MT"/>
              </a:rPr>
              <a:t>inputs?</a:t>
            </a:r>
            <a:endParaRPr sz="1750" dirty="0">
              <a:latin typeface="Arial MT"/>
              <a:cs typeface="Arial MT"/>
            </a:endParaRPr>
          </a:p>
          <a:p>
            <a:pPr marL="13970">
              <a:lnSpc>
                <a:spcPct val="100000"/>
              </a:lnSpc>
              <a:spcBef>
                <a:spcPts val="1019"/>
              </a:spcBef>
            </a:pPr>
            <a:r>
              <a:rPr sz="1750" dirty="0">
                <a:latin typeface="Arial MT"/>
                <a:cs typeface="Arial MT"/>
              </a:rPr>
              <a:t>What</a:t>
            </a:r>
            <a:r>
              <a:rPr sz="1750" spc="-35" dirty="0">
                <a:latin typeface="Arial MT"/>
                <a:cs typeface="Arial MT"/>
              </a:rPr>
              <a:t> </a:t>
            </a:r>
            <a:r>
              <a:rPr sz="1750" spc="-25" dirty="0">
                <a:latin typeface="Arial MT"/>
                <a:cs typeface="Arial MT"/>
              </a:rPr>
              <a:t>about</a:t>
            </a:r>
            <a:r>
              <a:rPr sz="1750" spc="-20" dirty="0">
                <a:latin typeface="Arial MT"/>
                <a:cs typeface="Arial MT"/>
              </a:rPr>
              <a:t> </a:t>
            </a:r>
            <a:r>
              <a:rPr sz="1750" spc="-40" dirty="0">
                <a:latin typeface="Arial MT"/>
                <a:cs typeface="Arial MT"/>
              </a:rPr>
              <a:t>functions</a:t>
            </a:r>
            <a:r>
              <a:rPr sz="1750" spc="-55" dirty="0">
                <a:latin typeface="Arial MT"/>
                <a:cs typeface="Arial MT"/>
              </a:rPr>
              <a:t> </a:t>
            </a:r>
            <a:r>
              <a:rPr sz="1750" spc="-60" dirty="0">
                <a:latin typeface="Arial MT"/>
                <a:cs typeface="Arial MT"/>
              </a:rPr>
              <a:t>which</a:t>
            </a:r>
            <a:r>
              <a:rPr sz="1750" spc="-40" dirty="0">
                <a:latin typeface="Arial MT"/>
                <a:cs typeface="Arial MT"/>
              </a:rPr>
              <a:t> </a:t>
            </a:r>
            <a:r>
              <a:rPr sz="1750" spc="-85" dirty="0">
                <a:latin typeface="Arial MT"/>
                <a:cs typeface="Arial MT"/>
              </a:rPr>
              <a:t>are</a:t>
            </a:r>
            <a:r>
              <a:rPr sz="1750" spc="-100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not</a:t>
            </a:r>
            <a:r>
              <a:rPr sz="1750" spc="-5" dirty="0">
                <a:latin typeface="Arial MT"/>
                <a:cs typeface="Arial MT"/>
              </a:rPr>
              <a:t> </a:t>
            </a:r>
            <a:r>
              <a:rPr sz="1750" spc="-75" dirty="0">
                <a:latin typeface="Arial MT"/>
                <a:cs typeface="Arial MT"/>
              </a:rPr>
              <a:t>linearly </a:t>
            </a:r>
            <a:r>
              <a:rPr sz="1750" spc="-110" dirty="0">
                <a:latin typeface="Arial MT"/>
                <a:cs typeface="Arial MT"/>
              </a:rPr>
              <a:t>separable</a:t>
            </a:r>
            <a:r>
              <a:rPr sz="1750" spc="-114" dirty="0">
                <a:latin typeface="Arial MT"/>
                <a:cs typeface="Arial MT"/>
              </a:rPr>
              <a:t> </a:t>
            </a:r>
            <a:r>
              <a:rPr sz="1750" spc="-50" dirty="0">
                <a:latin typeface="Arial MT"/>
                <a:cs typeface="Arial MT"/>
              </a:rPr>
              <a:t>?</a:t>
            </a:r>
            <a:endParaRPr sz="1750" dirty="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205397" y="3630566"/>
            <a:ext cx="38100" cy="38100"/>
            <a:chOff x="7205397" y="3630566"/>
            <a:chExt cx="38100" cy="38100"/>
          </a:xfrm>
        </p:grpSpPr>
        <p:sp>
          <p:nvSpPr>
            <p:cNvPr id="6" name="object 6"/>
            <p:cNvSpPr/>
            <p:nvPr/>
          </p:nvSpPr>
          <p:spPr>
            <a:xfrm>
              <a:off x="7218097" y="3643266"/>
              <a:ext cx="12700" cy="12700"/>
            </a:xfrm>
            <a:custGeom>
              <a:avLst/>
              <a:gdLst/>
              <a:ahLst/>
              <a:cxnLst/>
              <a:rect l="l" t="t" r="r" b="b"/>
              <a:pathLst>
                <a:path w="12700" h="12700">
                  <a:moveTo>
                    <a:pt x="9878" y="0"/>
                  </a:moveTo>
                  <a:lnTo>
                    <a:pt x="6350" y="0"/>
                  </a:lnTo>
                  <a:lnTo>
                    <a:pt x="2823" y="0"/>
                  </a:lnTo>
                  <a:lnTo>
                    <a:pt x="0" y="2823"/>
                  </a:lnTo>
                  <a:lnTo>
                    <a:pt x="0" y="9878"/>
                  </a:lnTo>
                  <a:lnTo>
                    <a:pt x="2823" y="12700"/>
                  </a:lnTo>
                  <a:lnTo>
                    <a:pt x="9878" y="12700"/>
                  </a:lnTo>
                  <a:lnTo>
                    <a:pt x="12700" y="9878"/>
                  </a:lnTo>
                  <a:lnTo>
                    <a:pt x="12700" y="2823"/>
                  </a:lnTo>
                  <a:lnTo>
                    <a:pt x="987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218097" y="3643266"/>
              <a:ext cx="12700" cy="12700"/>
            </a:xfrm>
            <a:custGeom>
              <a:avLst/>
              <a:gdLst/>
              <a:ahLst/>
              <a:cxnLst/>
              <a:rect l="l" t="t" r="r" b="b"/>
              <a:pathLst>
                <a:path w="12700" h="12700">
                  <a:moveTo>
                    <a:pt x="6350" y="0"/>
                  </a:moveTo>
                  <a:lnTo>
                    <a:pt x="9878" y="0"/>
                  </a:lnTo>
                  <a:lnTo>
                    <a:pt x="12700" y="2823"/>
                  </a:lnTo>
                  <a:lnTo>
                    <a:pt x="12700" y="6350"/>
                  </a:lnTo>
                  <a:lnTo>
                    <a:pt x="12700" y="9878"/>
                  </a:lnTo>
                  <a:lnTo>
                    <a:pt x="9878" y="12700"/>
                  </a:lnTo>
                  <a:lnTo>
                    <a:pt x="6350" y="12700"/>
                  </a:lnTo>
                  <a:lnTo>
                    <a:pt x="2823" y="12700"/>
                  </a:lnTo>
                  <a:lnTo>
                    <a:pt x="0" y="9878"/>
                  </a:lnTo>
                  <a:lnTo>
                    <a:pt x="0" y="6350"/>
                  </a:lnTo>
                  <a:lnTo>
                    <a:pt x="0" y="2823"/>
                  </a:lnTo>
                  <a:lnTo>
                    <a:pt x="2823" y="0"/>
                  </a:lnTo>
                  <a:lnTo>
                    <a:pt x="6350" y="0"/>
                  </a:lnTo>
                  <a:close/>
                </a:path>
              </a:pathLst>
            </a:custGeom>
            <a:ln w="25400">
              <a:solidFill>
                <a:srgbClr val="DB33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7556897" y="3623088"/>
            <a:ext cx="38100" cy="38100"/>
            <a:chOff x="7556897" y="3623088"/>
            <a:chExt cx="38100" cy="38100"/>
          </a:xfrm>
        </p:grpSpPr>
        <p:sp>
          <p:nvSpPr>
            <p:cNvPr id="9" name="object 9"/>
            <p:cNvSpPr/>
            <p:nvPr/>
          </p:nvSpPr>
          <p:spPr>
            <a:xfrm>
              <a:off x="7569597" y="3635788"/>
              <a:ext cx="12700" cy="12700"/>
            </a:xfrm>
            <a:custGeom>
              <a:avLst/>
              <a:gdLst/>
              <a:ahLst/>
              <a:cxnLst/>
              <a:rect l="l" t="t" r="r" b="b"/>
              <a:pathLst>
                <a:path w="12700" h="12700">
                  <a:moveTo>
                    <a:pt x="9876" y="0"/>
                  </a:moveTo>
                  <a:lnTo>
                    <a:pt x="6350" y="0"/>
                  </a:lnTo>
                  <a:lnTo>
                    <a:pt x="2821" y="0"/>
                  </a:lnTo>
                  <a:lnTo>
                    <a:pt x="0" y="2821"/>
                  </a:lnTo>
                  <a:lnTo>
                    <a:pt x="0" y="9876"/>
                  </a:lnTo>
                  <a:lnTo>
                    <a:pt x="2821" y="12700"/>
                  </a:lnTo>
                  <a:lnTo>
                    <a:pt x="9876" y="12700"/>
                  </a:lnTo>
                  <a:lnTo>
                    <a:pt x="12700" y="9876"/>
                  </a:lnTo>
                  <a:lnTo>
                    <a:pt x="12700" y="2821"/>
                  </a:lnTo>
                  <a:lnTo>
                    <a:pt x="98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569597" y="3635788"/>
              <a:ext cx="12700" cy="12700"/>
            </a:xfrm>
            <a:custGeom>
              <a:avLst/>
              <a:gdLst/>
              <a:ahLst/>
              <a:cxnLst/>
              <a:rect l="l" t="t" r="r" b="b"/>
              <a:pathLst>
                <a:path w="12700" h="12700">
                  <a:moveTo>
                    <a:pt x="6350" y="0"/>
                  </a:moveTo>
                  <a:lnTo>
                    <a:pt x="9876" y="0"/>
                  </a:lnTo>
                  <a:lnTo>
                    <a:pt x="12700" y="2821"/>
                  </a:lnTo>
                  <a:lnTo>
                    <a:pt x="12700" y="6350"/>
                  </a:lnTo>
                  <a:lnTo>
                    <a:pt x="12700" y="9876"/>
                  </a:lnTo>
                  <a:lnTo>
                    <a:pt x="9876" y="12700"/>
                  </a:lnTo>
                  <a:lnTo>
                    <a:pt x="6350" y="12700"/>
                  </a:lnTo>
                  <a:lnTo>
                    <a:pt x="2821" y="12700"/>
                  </a:lnTo>
                  <a:lnTo>
                    <a:pt x="0" y="9876"/>
                  </a:lnTo>
                  <a:lnTo>
                    <a:pt x="0" y="6350"/>
                  </a:lnTo>
                  <a:lnTo>
                    <a:pt x="0" y="2821"/>
                  </a:lnTo>
                  <a:lnTo>
                    <a:pt x="2821" y="0"/>
                  </a:lnTo>
                  <a:lnTo>
                    <a:pt x="6350" y="0"/>
                  </a:lnTo>
                  <a:close/>
                </a:path>
              </a:pathLst>
            </a:custGeom>
            <a:ln w="25400">
              <a:solidFill>
                <a:srgbClr val="DB33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0915" y="1717611"/>
            <a:ext cx="7993380" cy="256540"/>
          </a:xfrm>
          <a:prstGeom prst="rect">
            <a:avLst/>
          </a:prstGeom>
          <a:solidFill>
            <a:srgbClr val="013547"/>
          </a:solidFill>
        </p:spPr>
        <p:txBody>
          <a:bodyPr vert="horz" wrap="square" lIns="0" tIns="0" rIns="0" bIns="0" rtlCol="0">
            <a:spAutoFit/>
          </a:bodyPr>
          <a:lstStyle/>
          <a:p>
            <a:pPr marL="69850">
              <a:lnSpc>
                <a:spcPts val="1950"/>
              </a:lnSpc>
            </a:pPr>
            <a:r>
              <a:rPr sz="1750" b="1" spc="-140" dirty="0">
                <a:solidFill>
                  <a:srgbClr val="FFFFFF"/>
                </a:solidFill>
                <a:latin typeface="Trebuchet MS"/>
                <a:cs typeface="Trebuchet MS"/>
              </a:rPr>
              <a:t>Coming</a:t>
            </a:r>
            <a:r>
              <a:rPr sz="1750" b="1" spc="-2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750" b="1" spc="-114" dirty="0">
                <a:solidFill>
                  <a:srgbClr val="FFFFFF"/>
                </a:solidFill>
                <a:latin typeface="Trebuchet MS"/>
                <a:cs typeface="Trebuchet MS"/>
              </a:rPr>
              <a:t>back</a:t>
            </a:r>
            <a:r>
              <a:rPr sz="1750" b="1" spc="-1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750" b="1" spc="-60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1750" b="1" spc="-11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750" b="1" spc="-75" dirty="0">
                <a:solidFill>
                  <a:srgbClr val="FFFFFF"/>
                </a:solidFill>
                <a:latin typeface="Trebuchet MS"/>
                <a:cs typeface="Trebuchet MS"/>
              </a:rPr>
              <a:t>our</a:t>
            </a:r>
            <a:r>
              <a:rPr sz="1750" b="1" spc="-1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750" b="1" spc="-150" dirty="0">
                <a:solidFill>
                  <a:srgbClr val="FFFFFF"/>
                </a:solidFill>
                <a:latin typeface="Trebuchet MS"/>
                <a:cs typeface="Trebuchet MS"/>
              </a:rPr>
              <a:t>questions</a:t>
            </a:r>
            <a:r>
              <a:rPr sz="1750" b="1" spc="-1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750" b="1" spc="-25" dirty="0">
                <a:solidFill>
                  <a:srgbClr val="FFFFFF"/>
                </a:solidFill>
                <a:latin typeface="Trebuchet MS"/>
                <a:cs typeface="Trebuchet MS"/>
              </a:rPr>
              <a:t>...</a:t>
            </a:r>
            <a:endParaRPr sz="175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3444" y="2042922"/>
            <a:ext cx="7583170" cy="2133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 marR="5080" indent="-5080">
              <a:lnSpc>
                <a:spcPct val="117700"/>
              </a:lnSpc>
              <a:spcBef>
                <a:spcPts val="100"/>
              </a:spcBef>
            </a:pP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What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about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non-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boolean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(say,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real)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inputs?</a:t>
            </a:r>
            <a:r>
              <a:rPr sz="1750" spc="2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30" dirty="0">
                <a:solidFill>
                  <a:srgbClr val="FF0000"/>
                </a:solidFill>
                <a:latin typeface="Arial MT"/>
                <a:cs typeface="Arial MT"/>
              </a:rPr>
              <a:t>Real</a:t>
            </a:r>
            <a:r>
              <a:rPr sz="1750" spc="-1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FF0000"/>
                </a:solidFill>
                <a:latin typeface="Arial MT"/>
                <a:cs typeface="Arial MT"/>
              </a:rPr>
              <a:t>valued</a:t>
            </a:r>
            <a:r>
              <a:rPr sz="1750" spc="-8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FF0000"/>
                </a:solidFill>
                <a:latin typeface="Arial MT"/>
                <a:cs typeface="Arial MT"/>
              </a:rPr>
              <a:t>inputs</a:t>
            </a:r>
            <a:r>
              <a:rPr sz="1750" spc="-3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FF0000"/>
                </a:solidFill>
                <a:latin typeface="Arial MT"/>
                <a:cs typeface="Arial MT"/>
              </a:rPr>
              <a:t>are</a:t>
            </a:r>
            <a:r>
              <a:rPr sz="1750" spc="-7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FF0000"/>
                </a:solidFill>
                <a:latin typeface="Arial MT"/>
                <a:cs typeface="Arial MT"/>
              </a:rPr>
              <a:t>allowed </a:t>
            </a:r>
            <a:r>
              <a:rPr sz="1750" dirty="0">
                <a:solidFill>
                  <a:srgbClr val="FF0000"/>
                </a:solidFill>
                <a:latin typeface="Arial MT"/>
                <a:cs typeface="Arial MT"/>
              </a:rPr>
              <a:t>in</a:t>
            </a:r>
            <a:r>
              <a:rPr sz="1750" spc="-4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FF0000"/>
                </a:solidFill>
                <a:latin typeface="Arial MT"/>
                <a:cs typeface="Arial MT"/>
              </a:rPr>
              <a:t>per-</a:t>
            </a:r>
            <a:r>
              <a:rPr sz="1750" spc="-10" dirty="0">
                <a:solidFill>
                  <a:srgbClr val="FF0000"/>
                </a:solidFill>
                <a:latin typeface="Arial MT"/>
                <a:cs typeface="Arial MT"/>
              </a:rPr>
              <a:t>ceptron</a:t>
            </a:r>
            <a:endParaRPr sz="1750">
              <a:latin typeface="Arial MT"/>
              <a:cs typeface="Arial MT"/>
            </a:endParaRPr>
          </a:p>
          <a:p>
            <a:pPr marL="13970">
              <a:lnSpc>
                <a:spcPct val="100000"/>
              </a:lnSpc>
              <a:spcBef>
                <a:spcPts val="1115"/>
              </a:spcBef>
            </a:pPr>
            <a:r>
              <a:rPr sz="1750" spc="-85" dirty="0">
                <a:latin typeface="Arial MT"/>
                <a:cs typeface="Arial MT"/>
              </a:rPr>
              <a:t>Do</a:t>
            </a:r>
            <a:r>
              <a:rPr sz="1750" spc="-180" dirty="0">
                <a:latin typeface="Arial MT"/>
                <a:cs typeface="Arial MT"/>
              </a:rPr>
              <a:t> </a:t>
            </a:r>
            <a:r>
              <a:rPr sz="1750" spc="-95" dirty="0">
                <a:latin typeface="Arial MT"/>
                <a:cs typeface="Arial MT"/>
              </a:rPr>
              <a:t>we</a:t>
            </a:r>
            <a:r>
              <a:rPr sz="1750" spc="-145" dirty="0">
                <a:latin typeface="Arial MT"/>
                <a:cs typeface="Arial MT"/>
              </a:rPr>
              <a:t> </a:t>
            </a:r>
            <a:r>
              <a:rPr sz="1750" spc="-135" dirty="0">
                <a:latin typeface="Arial MT"/>
                <a:cs typeface="Arial MT"/>
              </a:rPr>
              <a:t>always</a:t>
            </a:r>
            <a:r>
              <a:rPr sz="1750" spc="-105" dirty="0">
                <a:latin typeface="Arial MT"/>
                <a:cs typeface="Arial MT"/>
              </a:rPr>
              <a:t> </a:t>
            </a:r>
            <a:r>
              <a:rPr sz="1750" spc="-114" dirty="0">
                <a:latin typeface="Arial MT"/>
                <a:cs typeface="Arial MT"/>
              </a:rPr>
              <a:t>need</a:t>
            </a:r>
            <a:r>
              <a:rPr sz="1750" spc="-140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to</a:t>
            </a:r>
            <a:r>
              <a:rPr sz="1750" spc="-25" dirty="0">
                <a:latin typeface="Arial MT"/>
                <a:cs typeface="Arial MT"/>
              </a:rPr>
              <a:t> </a:t>
            </a:r>
            <a:r>
              <a:rPr sz="1750" spc="-95" dirty="0">
                <a:latin typeface="Arial MT"/>
                <a:cs typeface="Arial MT"/>
              </a:rPr>
              <a:t>hand</a:t>
            </a:r>
            <a:r>
              <a:rPr sz="1750" spc="-145" dirty="0">
                <a:latin typeface="Arial MT"/>
                <a:cs typeface="Arial MT"/>
              </a:rPr>
              <a:t> </a:t>
            </a:r>
            <a:r>
              <a:rPr sz="1750" spc="-95" dirty="0">
                <a:latin typeface="Arial MT"/>
                <a:cs typeface="Arial MT"/>
              </a:rPr>
              <a:t>code</a:t>
            </a:r>
            <a:r>
              <a:rPr sz="1750" spc="-140" dirty="0">
                <a:latin typeface="Arial MT"/>
                <a:cs typeface="Arial MT"/>
              </a:rPr>
              <a:t> </a:t>
            </a:r>
            <a:r>
              <a:rPr sz="1750" spc="-55" dirty="0">
                <a:latin typeface="Arial MT"/>
                <a:cs typeface="Arial MT"/>
              </a:rPr>
              <a:t>the</a:t>
            </a:r>
            <a:r>
              <a:rPr sz="1750" spc="-90" dirty="0">
                <a:latin typeface="Arial MT"/>
                <a:cs typeface="Arial MT"/>
              </a:rPr>
              <a:t> </a:t>
            </a:r>
            <a:r>
              <a:rPr sz="1750" spc="-10" dirty="0">
                <a:latin typeface="Arial MT"/>
                <a:cs typeface="Arial MT"/>
              </a:rPr>
              <a:t>threshold?</a:t>
            </a:r>
            <a:endParaRPr sz="17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sz="1750" spc="-110" dirty="0">
                <a:latin typeface="Arial MT"/>
                <a:cs typeface="Arial MT"/>
              </a:rPr>
              <a:t>Are</a:t>
            </a:r>
            <a:r>
              <a:rPr sz="1750" spc="-125" dirty="0">
                <a:latin typeface="Arial MT"/>
                <a:cs typeface="Arial MT"/>
              </a:rPr>
              <a:t> </a:t>
            </a:r>
            <a:r>
              <a:rPr sz="1750" spc="-35" dirty="0">
                <a:latin typeface="Arial MT"/>
                <a:cs typeface="Arial MT"/>
              </a:rPr>
              <a:t>all</a:t>
            </a:r>
            <a:r>
              <a:rPr sz="1750" spc="-90" dirty="0">
                <a:latin typeface="Arial MT"/>
                <a:cs typeface="Arial MT"/>
              </a:rPr>
              <a:t> </a:t>
            </a:r>
            <a:r>
              <a:rPr sz="1750" spc="-35" dirty="0">
                <a:latin typeface="Arial MT"/>
                <a:cs typeface="Arial MT"/>
              </a:rPr>
              <a:t>inputs</a:t>
            </a:r>
            <a:r>
              <a:rPr sz="1750" spc="-85" dirty="0">
                <a:latin typeface="Arial MT"/>
                <a:cs typeface="Arial MT"/>
              </a:rPr>
              <a:t> </a:t>
            </a:r>
            <a:r>
              <a:rPr sz="1750" spc="-50" dirty="0">
                <a:latin typeface="Arial MT"/>
                <a:cs typeface="Arial MT"/>
              </a:rPr>
              <a:t>equal?</a:t>
            </a:r>
            <a:r>
              <a:rPr sz="1750" spc="30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What</a:t>
            </a:r>
            <a:r>
              <a:rPr sz="1750" spc="-30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if</a:t>
            </a:r>
            <a:r>
              <a:rPr sz="1750" spc="-50" dirty="0">
                <a:latin typeface="Arial MT"/>
                <a:cs typeface="Arial MT"/>
              </a:rPr>
              <a:t> </a:t>
            </a:r>
            <a:r>
              <a:rPr sz="1750" spc="-75" dirty="0">
                <a:latin typeface="Arial MT"/>
                <a:cs typeface="Arial MT"/>
              </a:rPr>
              <a:t>we</a:t>
            </a:r>
            <a:r>
              <a:rPr sz="1750" spc="-65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want</a:t>
            </a:r>
            <a:r>
              <a:rPr sz="1750" spc="-45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to</a:t>
            </a:r>
            <a:r>
              <a:rPr sz="1750" spc="-35" dirty="0">
                <a:latin typeface="Arial MT"/>
                <a:cs typeface="Arial MT"/>
              </a:rPr>
              <a:t> </a:t>
            </a:r>
            <a:r>
              <a:rPr sz="1750" spc="-110" dirty="0">
                <a:latin typeface="Arial MT"/>
                <a:cs typeface="Arial MT"/>
              </a:rPr>
              <a:t>assign</a:t>
            </a:r>
            <a:r>
              <a:rPr sz="1750" spc="-105" dirty="0">
                <a:latin typeface="Arial MT"/>
                <a:cs typeface="Arial MT"/>
              </a:rPr>
              <a:t> </a:t>
            </a:r>
            <a:r>
              <a:rPr sz="1750" spc="-80" dirty="0">
                <a:latin typeface="Arial MT"/>
                <a:cs typeface="Arial MT"/>
              </a:rPr>
              <a:t>more</a:t>
            </a:r>
            <a:r>
              <a:rPr sz="1750" spc="-100" dirty="0">
                <a:latin typeface="Arial MT"/>
                <a:cs typeface="Arial MT"/>
              </a:rPr>
              <a:t> </a:t>
            </a:r>
            <a:r>
              <a:rPr sz="1750" spc="-25" dirty="0">
                <a:latin typeface="Arial MT"/>
                <a:cs typeface="Arial MT"/>
              </a:rPr>
              <a:t>weight</a:t>
            </a:r>
            <a:r>
              <a:rPr sz="1750" spc="-20" dirty="0">
                <a:latin typeface="Arial MT"/>
                <a:cs typeface="Arial MT"/>
              </a:rPr>
              <a:t> </a:t>
            </a:r>
            <a:r>
              <a:rPr sz="1750" spc="-65" dirty="0">
                <a:latin typeface="Arial MT"/>
                <a:cs typeface="Arial MT"/>
              </a:rPr>
              <a:t>(importance)</a:t>
            </a:r>
            <a:r>
              <a:rPr sz="1750" spc="-45" dirty="0">
                <a:latin typeface="Arial MT"/>
                <a:cs typeface="Arial MT"/>
              </a:rPr>
              <a:t> </a:t>
            </a:r>
            <a:r>
              <a:rPr sz="1750" spc="-25" dirty="0">
                <a:latin typeface="Arial MT"/>
                <a:cs typeface="Arial MT"/>
              </a:rPr>
              <a:t>to</a:t>
            </a:r>
            <a:endParaRPr sz="17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  <a:tabLst>
                <a:tab pos="742315" algn="l"/>
              </a:tabLst>
            </a:pPr>
            <a:r>
              <a:rPr sz="1750" spc="-20" dirty="0">
                <a:latin typeface="Arial MT"/>
                <a:cs typeface="Arial MT"/>
              </a:rPr>
              <a:t>some</a:t>
            </a:r>
            <a:r>
              <a:rPr sz="1750" dirty="0">
                <a:latin typeface="Arial MT"/>
                <a:cs typeface="Arial MT"/>
              </a:rPr>
              <a:t>	</a:t>
            </a:r>
            <a:r>
              <a:rPr sz="1750" spc="-10" dirty="0">
                <a:latin typeface="Arial MT"/>
                <a:cs typeface="Arial MT"/>
              </a:rPr>
              <a:t>inputs?</a:t>
            </a:r>
            <a:endParaRPr sz="1750">
              <a:latin typeface="Arial MT"/>
              <a:cs typeface="Arial MT"/>
            </a:endParaRPr>
          </a:p>
          <a:p>
            <a:pPr marL="13970">
              <a:lnSpc>
                <a:spcPct val="100000"/>
              </a:lnSpc>
              <a:spcBef>
                <a:spcPts val="1115"/>
              </a:spcBef>
            </a:pPr>
            <a:r>
              <a:rPr sz="1750" dirty="0">
                <a:latin typeface="Arial MT"/>
                <a:cs typeface="Arial MT"/>
              </a:rPr>
              <a:t>What</a:t>
            </a:r>
            <a:r>
              <a:rPr sz="1750" spc="-35" dirty="0">
                <a:latin typeface="Arial MT"/>
                <a:cs typeface="Arial MT"/>
              </a:rPr>
              <a:t> </a:t>
            </a:r>
            <a:r>
              <a:rPr sz="1750" spc="-25" dirty="0">
                <a:latin typeface="Arial MT"/>
                <a:cs typeface="Arial MT"/>
              </a:rPr>
              <a:t>about</a:t>
            </a:r>
            <a:r>
              <a:rPr sz="1750" spc="-20" dirty="0">
                <a:latin typeface="Arial MT"/>
                <a:cs typeface="Arial MT"/>
              </a:rPr>
              <a:t> </a:t>
            </a:r>
            <a:r>
              <a:rPr sz="1750" spc="-40" dirty="0">
                <a:latin typeface="Arial MT"/>
                <a:cs typeface="Arial MT"/>
              </a:rPr>
              <a:t>functions</a:t>
            </a:r>
            <a:r>
              <a:rPr sz="1750" spc="-55" dirty="0">
                <a:latin typeface="Arial MT"/>
                <a:cs typeface="Arial MT"/>
              </a:rPr>
              <a:t> </a:t>
            </a:r>
            <a:r>
              <a:rPr sz="1750" spc="-60" dirty="0">
                <a:latin typeface="Arial MT"/>
                <a:cs typeface="Arial MT"/>
              </a:rPr>
              <a:t>which</a:t>
            </a:r>
            <a:r>
              <a:rPr sz="1750" spc="-40" dirty="0">
                <a:latin typeface="Arial MT"/>
                <a:cs typeface="Arial MT"/>
              </a:rPr>
              <a:t> </a:t>
            </a:r>
            <a:r>
              <a:rPr sz="1750" spc="-85" dirty="0">
                <a:latin typeface="Arial MT"/>
                <a:cs typeface="Arial MT"/>
              </a:rPr>
              <a:t>are</a:t>
            </a:r>
            <a:r>
              <a:rPr sz="1750" spc="-100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not</a:t>
            </a:r>
            <a:r>
              <a:rPr sz="1750" spc="-5" dirty="0">
                <a:latin typeface="Arial MT"/>
                <a:cs typeface="Arial MT"/>
              </a:rPr>
              <a:t> </a:t>
            </a:r>
            <a:r>
              <a:rPr sz="1750" spc="-75" dirty="0">
                <a:latin typeface="Arial MT"/>
                <a:cs typeface="Arial MT"/>
              </a:rPr>
              <a:t>linearly </a:t>
            </a:r>
            <a:r>
              <a:rPr sz="1750" spc="-110" dirty="0">
                <a:latin typeface="Arial MT"/>
                <a:cs typeface="Arial MT"/>
              </a:rPr>
              <a:t>separable</a:t>
            </a:r>
            <a:r>
              <a:rPr sz="1750" spc="-114" dirty="0">
                <a:latin typeface="Arial MT"/>
                <a:cs typeface="Arial MT"/>
              </a:rPr>
              <a:t> </a:t>
            </a:r>
            <a:r>
              <a:rPr sz="1750" spc="-50" dirty="0">
                <a:latin typeface="Arial MT"/>
                <a:cs typeface="Arial MT"/>
              </a:rPr>
              <a:t>?</a:t>
            </a:r>
            <a:endParaRPr sz="175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0915" y="1717611"/>
            <a:ext cx="7993380" cy="256540"/>
          </a:xfrm>
          <a:prstGeom prst="rect">
            <a:avLst/>
          </a:prstGeom>
          <a:solidFill>
            <a:srgbClr val="013547"/>
          </a:solidFill>
        </p:spPr>
        <p:txBody>
          <a:bodyPr vert="horz" wrap="square" lIns="0" tIns="0" rIns="0" bIns="0" rtlCol="0">
            <a:spAutoFit/>
          </a:bodyPr>
          <a:lstStyle/>
          <a:p>
            <a:pPr marL="69850">
              <a:lnSpc>
                <a:spcPts val="1950"/>
              </a:lnSpc>
            </a:pPr>
            <a:r>
              <a:rPr sz="1750" b="1" spc="-140" dirty="0">
                <a:solidFill>
                  <a:srgbClr val="FFFFFF"/>
                </a:solidFill>
                <a:latin typeface="Trebuchet MS"/>
                <a:cs typeface="Trebuchet MS"/>
              </a:rPr>
              <a:t>Coming</a:t>
            </a:r>
            <a:r>
              <a:rPr sz="1750" b="1" spc="-2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750" b="1" spc="-114" dirty="0">
                <a:solidFill>
                  <a:srgbClr val="FFFFFF"/>
                </a:solidFill>
                <a:latin typeface="Trebuchet MS"/>
                <a:cs typeface="Trebuchet MS"/>
              </a:rPr>
              <a:t>back</a:t>
            </a:r>
            <a:r>
              <a:rPr sz="1750" b="1" spc="-1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750" b="1" spc="-60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1750" b="1" spc="-11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750" b="1" spc="-75" dirty="0">
                <a:solidFill>
                  <a:srgbClr val="FFFFFF"/>
                </a:solidFill>
                <a:latin typeface="Trebuchet MS"/>
                <a:cs typeface="Trebuchet MS"/>
              </a:rPr>
              <a:t>our</a:t>
            </a:r>
            <a:r>
              <a:rPr sz="1750" b="1" spc="-1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750" b="1" spc="-150" dirty="0">
                <a:solidFill>
                  <a:srgbClr val="FFFFFF"/>
                </a:solidFill>
                <a:latin typeface="Trebuchet MS"/>
                <a:cs typeface="Trebuchet MS"/>
              </a:rPr>
              <a:t>questions</a:t>
            </a:r>
            <a:r>
              <a:rPr sz="1750" b="1" spc="-1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750" b="1" spc="-25" dirty="0">
                <a:solidFill>
                  <a:srgbClr val="FFFFFF"/>
                </a:solidFill>
                <a:latin typeface="Trebuchet MS"/>
                <a:cs typeface="Trebuchet MS"/>
              </a:rPr>
              <a:t>...</a:t>
            </a:r>
            <a:endParaRPr sz="175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3444" y="2042922"/>
            <a:ext cx="7583170" cy="2133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 marR="5080" indent="-5080" algn="just">
              <a:lnSpc>
                <a:spcPct val="117700"/>
              </a:lnSpc>
              <a:spcBef>
                <a:spcPts val="100"/>
              </a:spcBef>
            </a:pP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What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about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non-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boolean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(say,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real)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inputs?</a:t>
            </a:r>
            <a:r>
              <a:rPr sz="1750" spc="2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70" dirty="0">
                <a:solidFill>
                  <a:srgbClr val="FF0000"/>
                </a:solidFill>
                <a:latin typeface="Arial MT"/>
                <a:cs typeface="Arial MT"/>
              </a:rPr>
              <a:t>Real</a:t>
            </a:r>
            <a:r>
              <a:rPr sz="1750" spc="4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FF0000"/>
                </a:solidFill>
                <a:latin typeface="Arial MT"/>
                <a:cs typeface="Arial MT"/>
              </a:rPr>
              <a:t>valued</a:t>
            </a:r>
            <a:r>
              <a:rPr sz="1750" spc="-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FF0000"/>
                </a:solidFill>
                <a:latin typeface="Arial MT"/>
                <a:cs typeface="Arial MT"/>
              </a:rPr>
              <a:t>inputs </a:t>
            </a:r>
            <a:r>
              <a:rPr sz="1750" spc="-50" dirty="0">
                <a:solidFill>
                  <a:srgbClr val="FF0000"/>
                </a:solidFill>
                <a:latin typeface="Arial MT"/>
                <a:cs typeface="Arial MT"/>
              </a:rPr>
              <a:t>are</a:t>
            </a:r>
            <a:r>
              <a:rPr sz="1750" spc="-7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FF0000"/>
                </a:solidFill>
                <a:latin typeface="Arial MT"/>
                <a:cs typeface="Arial MT"/>
              </a:rPr>
              <a:t>allowed</a:t>
            </a:r>
            <a:r>
              <a:rPr sz="1750" spc="-4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FF0000"/>
                </a:solidFill>
                <a:latin typeface="Arial MT"/>
                <a:cs typeface="Arial MT"/>
              </a:rPr>
              <a:t>in</a:t>
            </a:r>
            <a:r>
              <a:rPr sz="1750" spc="-20" dirty="0">
                <a:solidFill>
                  <a:srgbClr val="FF0000"/>
                </a:solidFill>
                <a:latin typeface="Arial MT"/>
                <a:cs typeface="Arial MT"/>
              </a:rPr>
              <a:t> per-</a:t>
            </a:r>
            <a:r>
              <a:rPr sz="1750" spc="-10" dirty="0">
                <a:solidFill>
                  <a:srgbClr val="FF0000"/>
                </a:solidFill>
                <a:latin typeface="Arial MT"/>
                <a:cs typeface="Arial MT"/>
              </a:rPr>
              <a:t>ceptron</a:t>
            </a:r>
            <a:endParaRPr sz="1750">
              <a:latin typeface="Arial MT"/>
              <a:cs typeface="Arial MT"/>
            </a:endParaRPr>
          </a:p>
          <a:p>
            <a:pPr marL="12700" marR="551180" indent="1270" algn="just">
              <a:lnSpc>
                <a:spcPct val="124300"/>
              </a:lnSpc>
              <a:spcBef>
                <a:spcPts val="605"/>
              </a:spcBef>
            </a:pPr>
            <a:r>
              <a:rPr sz="1750" spc="-229" dirty="0">
                <a:latin typeface="Arial MT"/>
                <a:cs typeface="Arial MT"/>
              </a:rPr>
              <a:t>Do</a:t>
            </a:r>
            <a:r>
              <a:rPr sz="1750" spc="105" dirty="0">
                <a:latin typeface="Arial MT"/>
                <a:cs typeface="Arial MT"/>
              </a:rPr>
              <a:t> </a:t>
            </a:r>
            <a:r>
              <a:rPr sz="1750" spc="-220" dirty="0">
                <a:latin typeface="Arial MT"/>
                <a:cs typeface="Arial MT"/>
              </a:rPr>
              <a:t>we</a:t>
            </a:r>
            <a:r>
              <a:rPr sz="1750" spc="100" dirty="0">
                <a:latin typeface="Arial MT"/>
                <a:cs typeface="Arial MT"/>
              </a:rPr>
              <a:t> </a:t>
            </a:r>
            <a:r>
              <a:rPr sz="1750" spc="-160" dirty="0">
                <a:latin typeface="Arial MT"/>
                <a:cs typeface="Arial MT"/>
              </a:rPr>
              <a:t>always</a:t>
            </a:r>
            <a:r>
              <a:rPr sz="1750" spc="35" dirty="0">
                <a:latin typeface="Arial MT"/>
                <a:cs typeface="Arial MT"/>
              </a:rPr>
              <a:t> </a:t>
            </a:r>
            <a:r>
              <a:rPr sz="1750" spc="-165" dirty="0">
                <a:latin typeface="Arial MT"/>
                <a:cs typeface="Arial MT"/>
              </a:rPr>
              <a:t>need</a:t>
            </a:r>
            <a:r>
              <a:rPr sz="1750" spc="45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to</a:t>
            </a:r>
            <a:r>
              <a:rPr sz="1750" spc="-120" dirty="0">
                <a:latin typeface="Arial MT"/>
                <a:cs typeface="Arial MT"/>
              </a:rPr>
              <a:t> </a:t>
            </a:r>
            <a:r>
              <a:rPr sz="1750" spc="-145" dirty="0">
                <a:latin typeface="Arial MT"/>
                <a:cs typeface="Arial MT"/>
              </a:rPr>
              <a:t>hand</a:t>
            </a:r>
            <a:r>
              <a:rPr sz="1750" spc="20" dirty="0">
                <a:latin typeface="Arial MT"/>
                <a:cs typeface="Arial MT"/>
              </a:rPr>
              <a:t> </a:t>
            </a:r>
            <a:r>
              <a:rPr sz="1750" spc="-140" dirty="0">
                <a:latin typeface="Arial MT"/>
                <a:cs typeface="Arial MT"/>
              </a:rPr>
              <a:t>code</a:t>
            </a:r>
            <a:r>
              <a:rPr sz="1750" spc="20" dirty="0">
                <a:latin typeface="Arial MT"/>
                <a:cs typeface="Arial MT"/>
              </a:rPr>
              <a:t> </a:t>
            </a:r>
            <a:r>
              <a:rPr sz="1750" spc="-70" dirty="0">
                <a:latin typeface="Arial MT"/>
                <a:cs typeface="Arial MT"/>
              </a:rPr>
              <a:t>the</a:t>
            </a:r>
            <a:r>
              <a:rPr sz="1750" spc="-50" dirty="0">
                <a:latin typeface="Arial MT"/>
                <a:cs typeface="Arial MT"/>
              </a:rPr>
              <a:t> </a:t>
            </a:r>
            <a:r>
              <a:rPr sz="1750" spc="-105" dirty="0">
                <a:latin typeface="Arial MT"/>
                <a:cs typeface="Arial MT"/>
              </a:rPr>
              <a:t>threshold?</a:t>
            </a:r>
            <a:r>
              <a:rPr sz="1750" spc="70" dirty="0">
                <a:latin typeface="Arial MT"/>
                <a:cs typeface="Arial MT"/>
              </a:rPr>
              <a:t> </a:t>
            </a:r>
            <a:r>
              <a:rPr sz="1750" spc="-160" dirty="0">
                <a:solidFill>
                  <a:srgbClr val="FF0000"/>
                </a:solidFill>
                <a:latin typeface="Arial MT"/>
                <a:cs typeface="Arial MT"/>
              </a:rPr>
              <a:t>No,</a:t>
            </a:r>
            <a:r>
              <a:rPr sz="1750" spc="4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750" spc="-220" dirty="0">
                <a:solidFill>
                  <a:srgbClr val="FF0000"/>
                </a:solidFill>
                <a:latin typeface="Arial MT"/>
                <a:cs typeface="Arial MT"/>
              </a:rPr>
              <a:t>we</a:t>
            </a:r>
            <a:r>
              <a:rPr sz="1750" spc="9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750" spc="-170" dirty="0">
                <a:solidFill>
                  <a:srgbClr val="FF0000"/>
                </a:solidFill>
                <a:latin typeface="Arial MT"/>
                <a:cs typeface="Arial MT"/>
              </a:rPr>
              <a:t>can</a:t>
            </a:r>
            <a:r>
              <a:rPr sz="1750" spc="5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FF0000"/>
                </a:solidFill>
                <a:latin typeface="Arial MT"/>
                <a:cs typeface="Arial MT"/>
              </a:rPr>
              <a:t>learn</a:t>
            </a:r>
            <a:r>
              <a:rPr sz="1750" spc="4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FF0000"/>
                </a:solidFill>
                <a:latin typeface="Arial MT"/>
                <a:cs typeface="Arial MT"/>
              </a:rPr>
              <a:t>the</a:t>
            </a:r>
            <a:r>
              <a:rPr sz="1750" spc="8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FF0000"/>
                </a:solidFill>
                <a:latin typeface="Arial MT"/>
                <a:cs typeface="Arial MT"/>
              </a:rPr>
              <a:t>threshold </a:t>
            </a:r>
            <a:r>
              <a:rPr sz="1750" spc="-165" dirty="0">
                <a:latin typeface="Arial MT"/>
                <a:cs typeface="Arial MT"/>
              </a:rPr>
              <a:t>Are</a:t>
            </a:r>
            <a:r>
              <a:rPr sz="1750" spc="40" dirty="0">
                <a:latin typeface="Arial MT"/>
                <a:cs typeface="Arial MT"/>
              </a:rPr>
              <a:t> </a:t>
            </a:r>
            <a:r>
              <a:rPr sz="1750" spc="-35" dirty="0">
                <a:latin typeface="Arial MT"/>
                <a:cs typeface="Arial MT"/>
              </a:rPr>
              <a:t>all</a:t>
            </a:r>
            <a:r>
              <a:rPr sz="1750" spc="-85" dirty="0">
                <a:latin typeface="Arial MT"/>
                <a:cs typeface="Arial MT"/>
              </a:rPr>
              <a:t> </a:t>
            </a:r>
            <a:r>
              <a:rPr sz="1750" spc="-35" dirty="0">
                <a:latin typeface="Arial MT"/>
                <a:cs typeface="Arial MT"/>
              </a:rPr>
              <a:t>inputs</a:t>
            </a:r>
            <a:r>
              <a:rPr sz="1750" spc="-90" dirty="0">
                <a:latin typeface="Arial MT"/>
                <a:cs typeface="Arial MT"/>
              </a:rPr>
              <a:t> </a:t>
            </a:r>
            <a:r>
              <a:rPr sz="1750" spc="-35" dirty="0">
                <a:latin typeface="Arial MT"/>
                <a:cs typeface="Arial MT"/>
              </a:rPr>
              <a:t>equal?</a:t>
            </a:r>
            <a:r>
              <a:rPr sz="1750" spc="-85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What</a:t>
            </a:r>
            <a:r>
              <a:rPr sz="1750" spc="-120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if</a:t>
            </a:r>
            <a:r>
              <a:rPr sz="1750" spc="-40" dirty="0">
                <a:latin typeface="Arial MT"/>
                <a:cs typeface="Arial MT"/>
              </a:rPr>
              <a:t> </a:t>
            </a:r>
            <a:r>
              <a:rPr sz="1750" spc="-85" dirty="0">
                <a:latin typeface="Arial MT"/>
                <a:cs typeface="Arial MT"/>
              </a:rPr>
              <a:t>we</a:t>
            </a:r>
            <a:r>
              <a:rPr sz="1750" spc="-35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want</a:t>
            </a:r>
            <a:r>
              <a:rPr sz="1750" spc="-20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to</a:t>
            </a:r>
            <a:r>
              <a:rPr sz="1750" spc="-15" dirty="0">
                <a:latin typeface="Arial MT"/>
                <a:cs typeface="Arial MT"/>
              </a:rPr>
              <a:t> </a:t>
            </a:r>
            <a:r>
              <a:rPr sz="1750" spc="-130" dirty="0">
                <a:latin typeface="Arial MT"/>
                <a:cs typeface="Arial MT"/>
              </a:rPr>
              <a:t>assign</a:t>
            </a:r>
            <a:r>
              <a:rPr sz="1750" spc="5" dirty="0">
                <a:latin typeface="Arial MT"/>
                <a:cs typeface="Arial MT"/>
              </a:rPr>
              <a:t> </a:t>
            </a:r>
            <a:r>
              <a:rPr sz="1750" spc="-95" dirty="0">
                <a:latin typeface="Arial MT"/>
                <a:cs typeface="Arial MT"/>
              </a:rPr>
              <a:t>more</a:t>
            </a:r>
            <a:r>
              <a:rPr sz="1750" spc="-25" dirty="0">
                <a:latin typeface="Arial MT"/>
                <a:cs typeface="Arial MT"/>
              </a:rPr>
              <a:t> weight</a:t>
            </a:r>
            <a:r>
              <a:rPr sz="1750" dirty="0">
                <a:latin typeface="Arial MT"/>
                <a:cs typeface="Arial MT"/>
              </a:rPr>
              <a:t> </a:t>
            </a:r>
            <a:r>
              <a:rPr sz="1750" spc="-65" dirty="0">
                <a:latin typeface="Arial MT"/>
                <a:cs typeface="Arial MT"/>
              </a:rPr>
              <a:t>(importance)</a:t>
            </a:r>
            <a:r>
              <a:rPr sz="1750" spc="-20" dirty="0">
                <a:latin typeface="Arial MT"/>
                <a:cs typeface="Arial MT"/>
              </a:rPr>
              <a:t> </a:t>
            </a:r>
            <a:r>
              <a:rPr sz="1750" spc="-25" dirty="0">
                <a:latin typeface="Arial MT"/>
                <a:cs typeface="Arial MT"/>
              </a:rPr>
              <a:t>to </a:t>
            </a:r>
            <a:r>
              <a:rPr sz="1750" dirty="0">
                <a:latin typeface="Arial MT"/>
                <a:cs typeface="Arial MT"/>
              </a:rPr>
              <a:t>some</a:t>
            </a:r>
            <a:r>
              <a:rPr sz="1750" spc="229" dirty="0">
                <a:latin typeface="Arial MT"/>
                <a:cs typeface="Arial MT"/>
              </a:rPr>
              <a:t>  </a:t>
            </a:r>
            <a:r>
              <a:rPr sz="1750" spc="-10" dirty="0">
                <a:latin typeface="Arial MT"/>
                <a:cs typeface="Arial MT"/>
              </a:rPr>
              <a:t>inputs?</a:t>
            </a:r>
            <a:endParaRPr sz="1750">
              <a:latin typeface="Arial MT"/>
              <a:cs typeface="Arial MT"/>
            </a:endParaRPr>
          </a:p>
          <a:p>
            <a:pPr marL="13970" algn="just">
              <a:lnSpc>
                <a:spcPct val="100000"/>
              </a:lnSpc>
              <a:spcBef>
                <a:spcPts val="1120"/>
              </a:spcBef>
            </a:pPr>
            <a:r>
              <a:rPr sz="1750" dirty="0">
                <a:latin typeface="Arial MT"/>
                <a:cs typeface="Arial MT"/>
              </a:rPr>
              <a:t>What</a:t>
            </a:r>
            <a:r>
              <a:rPr sz="1750" spc="-35" dirty="0">
                <a:latin typeface="Arial MT"/>
                <a:cs typeface="Arial MT"/>
              </a:rPr>
              <a:t> </a:t>
            </a:r>
            <a:r>
              <a:rPr sz="1750" spc="-25" dirty="0">
                <a:latin typeface="Arial MT"/>
                <a:cs typeface="Arial MT"/>
              </a:rPr>
              <a:t>about</a:t>
            </a:r>
            <a:r>
              <a:rPr sz="1750" spc="-20" dirty="0">
                <a:latin typeface="Arial MT"/>
                <a:cs typeface="Arial MT"/>
              </a:rPr>
              <a:t> </a:t>
            </a:r>
            <a:r>
              <a:rPr sz="1750" spc="-40" dirty="0">
                <a:latin typeface="Arial MT"/>
                <a:cs typeface="Arial MT"/>
              </a:rPr>
              <a:t>functions</a:t>
            </a:r>
            <a:r>
              <a:rPr sz="1750" spc="-55" dirty="0">
                <a:latin typeface="Arial MT"/>
                <a:cs typeface="Arial MT"/>
              </a:rPr>
              <a:t> </a:t>
            </a:r>
            <a:r>
              <a:rPr sz="1750" spc="-60" dirty="0">
                <a:latin typeface="Arial MT"/>
                <a:cs typeface="Arial MT"/>
              </a:rPr>
              <a:t>which</a:t>
            </a:r>
            <a:r>
              <a:rPr sz="1750" spc="-40" dirty="0">
                <a:latin typeface="Arial MT"/>
                <a:cs typeface="Arial MT"/>
              </a:rPr>
              <a:t> </a:t>
            </a:r>
            <a:r>
              <a:rPr sz="1750" spc="-85" dirty="0">
                <a:latin typeface="Arial MT"/>
                <a:cs typeface="Arial MT"/>
              </a:rPr>
              <a:t>are</a:t>
            </a:r>
            <a:r>
              <a:rPr sz="1750" spc="-100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not</a:t>
            </a:r>
            <a:r>
              <a:rPr sz="1750" spc="-5" dirty="0">
                <a:latin typeface="Arial MT"/>
                <a:cs typeface="Arial MT"/>
              </a:rPr>
              <a:t> </a:t>
            </a:r>
            <a:r>
              <a:rPr sz="1750" spc="-75" dirty="0">
                <a:latin typeface="Arial MT"/>
                <a:cs typeface="Arial MT"/>
              </a:rPr>
              <a:t>linearly </a:t>
            </a:r>
            <a:r>
              <a:rPr sz="1750" spc="-110" dirty="0">
                <a:latin typeface="Arial MT"/>
                <a:cs typeface="Arial MT"/>
              </a:rPr>
              <a:t>separable</a:t>
            </a:r>
            <a:r>
              <a:rPr sz="1750" spc="-114" dirty="0">
                <a:latin typeface="Arial MT"/>
                <a:cs typeface="Arial MT"/>
              </a:rPr>
              <a:t> </a:t>
            </a:r>
            <a:r>
              <a:rPr sz="1750" spc="-50" dirty="0">
                <a:latin typeface="Arial MT"/>
                <a:cs typeface="Arial MT"/>
              </a:rPr>
              <a:t>?</a:t>
            </a:r>
            <a:endParaRPr sz="175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0915" y="1717611"/>
            <a:ext cx="7993380" cy="256540"/>
          </a:xfrm>
          <a:prstGeom prst="rect">
            <a:avLst/>
          </a:prstGeom>
          <a:solidFill>
            <a:srgbClr val="013547"/>
          </a:solidFill>
        </p:spPr>
        <p:txBody>
          <a:bodyPr vert="horz" wrap="square" lIns="0" tIns="0" rIns="0" bIns="0" rtlCol="0">
            <a:spAutoFit/>
          </a:bodyPr>
          <a:lstStyle/>
          <a:p>
            <a:pPr marL="69850">
              <a:lnSpc>
                <a:spcPts val="1950"/>
              </a:lnSpc>
            </a:pPr>
            <a:r>
              <a:rPr sz="1750" b="1" spc="-140" dirty="0">
                <a:solidFill>
                  <a:srgbClr val="FFFFFF"/>
                </a:solidFill>
                <a:latin typeface="Trebuchet MS"/>
                <a:cs typeface="Trebuchet MS"/>
              </a:rPr>
              <a:t>Coming</a:t>
            </a:r>
            <a:r>
              <a:rPr sz="1750" b="1" spc="-2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750" b="1" spc="-114" dirty="0">
                <a:solidFill>
                  <a:srgbClr val="FFFFFF"/>
                </a:solidFill>
                <a:latin typeface="Trebuchet MS"/>
                <a:cs typeface="Trebuchet MS"/>
              </a:rPr>
              <a:t>back</a:t>
            </a:r>
            <a:r>
              <a:rPr sz="1750" b="1" spc="-1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750" b="1" spc="-60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1750" b="1" spc="-11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750" b="1" spc="-75" dirty="0">
                <a:solidFill>
                  <a:srgbClr val="FFFFFF"/>
                </a:solidFill>
                <a:latin typeface="Trebuchet MS"/>
                <a:cs typeface="Trebuchet MS"/>
              </a:rPr>
              <a:t>our</a:t>
            </a:r>
            <a:r>
              <a:rPr sz="1750" b="1" spc="-1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750" b="1" spc="-150" dirty="0">
                <a:solidFill>
                  <a:srgbClr val="FFFFFF"/>
                </a:solidFill>
                <a:latin typeface="Trebuchet MS"/>
                <a:cs typeface="Trebuchet MS"/>
              </a:rPr>
              <a:t>questions</a:t>
            </a:r>
            <a:r>
              <a:rPr sz="1750" b="1" spc="-1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750" b="1" spc="-25" dirty="0">
                <a:solidFill>
                  <a:srgbClr val="FFFFFF"/>
                </a:solidFill>
                <a:latin typeface="Trebuchet MS"/>
                <a:cs typeface="Trebuchet MS"/>
              </a:rPr>
              <a:t>...</a:t>
            </a:r>
            <a:endParaRPr sz="175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3444" y="2042922"/>
            <a:ext cx="7583170" cy="2133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 marR="5080" indent="-5080" algn="just">
              <a:lnSpc>
                <a:spcPct val="117700"/>
              </a:lnSpc>
              <a:spcBef>
                <a:spcPts val="100"/>
              </a:spcBef>
            </a:pP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What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about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non-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boolean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(say,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real)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inputs?</a:t>
            </a:r>
            <a:r>
              <a:rPr sz="1750" spc="2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70" dirty="0">
                <a:solidFill>
                  <a:srgbClr val="FF0000"/>
                </a:solidFill>
                <a:latin typeface="Arial MT"/>
                <a:cs typeface="Arial MT"/>
              </a:rPr>
              <a:t>Real</a:t>
            </a:r>
            <a:r>
              <a:rPr sz="1750" spc="4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FF0000"/>
                </a:solidFill>
                <a:latin typeface="Arial MT"/>
                <a:cs typeface="Arial MT"/>
              </a:rPr>
              <a:t>valued</a:t>
            </a:r>
            <a:r>
              <a:rPr sz="1750" spc="-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FF0000"/>
                </a:solidFill>
                <a:latin typeface="Arial MT"/>
                <a:cs typeface="Arial MT"/>
              </a:rPr>
              <a:t>inputs </a:t>
            </a:r>
            <a:r>
              <a:rPr sz="1750" spc="-50" dirty="0">
                <a:solidFill>
                  <a:srgbClr val="FF0000"/>
                </a:solidFill>
                <a:latin typeface="Arial MT"/>
                <a:cs typeface="Arial MT"/>
              </a:rPr>
              <a:t>are</a:t>
            </a:r>
            <a:r>
              <a:rPr sz="1750" spc="-7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FF0000"/>
                </a:solidFill>
                <a:latin typeface="Arial MT"/>
                <a:cs typeface="Arial MT"/>
              </a:rPr>
              <a:t>allowed</a:t>
            </a:r>
            <a:r>
              <a:rPr sz="1750" spc="-4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FF0000"/>
                </a:solidFill>
                <a:latin typeface="Arial MT"/>
                <a:cs typeface="Arial MT"/>
              </a:rPr>
              <a:t>in</a:t>
            </a:r>
            <a:r>
              <a:rPr sz="1750" spc="-20" dirty="0">
                <a:solidFill>
                  <a:srgbClr val="FF0000"/>
                </a:solidFill>
                <a:latin typeface="Arial MT"/>
                <a:cs typeface="Arial MT"/>
              </a:rPr>
              <a:t> per-</a:t>
            </a:r>
            <a:r>
              <a:rPr sz="1750" spc="-10" dirty="0">
                <a:solidFill>
                  <a:srgbClr val="FF0000"/>
                </a:solidFill>
                <a:latin typeface="Arial MT"/>
                <a:cs typeface="Arial MT"/>
              </a:rPr>
              <a:t>ceptron</a:t>
            </a:r>
            <a:endParaRPr sz="1750">
              <a:latin typeface="Arial MT"/>
              <a:cs typeface="Arial MT"/>
            </a:endParaRPr>
          </a:p>
          <a:p>
            <a:pPr marL="12700" marR="551180" indent="1270" algn="just">
              <a:lnSpc>
                <a:spcPct val="124300"/>
              </a:lnSpc>
              <a:spcBef>
                <a:spcPts val="605"/>
              </a:spcBef>
            </a:pPr>
            <a:r>
              <a:rPr sz="1750" spc="-229" dirty="0">
                <a:latin typeface="Arial MT"/>
                <a:cs typeface="Arial MT"/>
              </a:rPr>
              <a:t>Do</a:t>
            </a:r>
            <a:r>
              <a:rPr sz="1750" spc="105" dirty="0">
                <a:latin typeface="Arial MT"/>
                <a:cs typeface="Arial MT"/>
              </a:rPr>
              <a:t> </a:t>
            </a:r>
            <a:r>
              <a:rPr sz="1750" spc="-220" dirty="0">
                <a:latin typeface="Arial MT"/>
                <a:cs typeface="Arial MT"/>
              </a:rPr>
              <a:t>we</a:t>
            </a:r>
            <a:r>
              <a:rPr sz="1750" spc="100" dirty="0">
                <a:latin typeface="Arial MT"/>
                <a:cs typeface="Arial MT"/>
              </a:rPr>
              <a:t> </a:t>
            </a:r>
            <a:r>
              <a:rPr sz="1750" spc="-160" dirty="0">
                <a:latin typeface="Arial MT"/>
                <a:cs typeface="Arial MT"/>
              </a:rPr>
              <a:t>always</a:t>
            </a:r>
            <a:r>
              <a:rPr sz="1750" spc="35" dirty="0">
                <a:latin typeface="Arial MT"/>
                <a:cs typeface="Arial MT"/>
              </a:rPr>
              <a:t> </a:t>
            </a:r>
            <a:r>
              <a:rPr sz="1750" spc="-165" dirty="0">
                <a:latin typeface="Arial MT"/>
                <a:cs typeface="Arial MT"/>
              </a:rPr>
              <a:t>need</a:t>
            </a:r>
            <a:r>
              <a:rPr sz="1750" spc="45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to</a:t>
            </a:r>
            <a:r>
              <a:rPr sz="1750" spc="-120" dirty="0">
                <a:latin typeface="Arial MT"/>
                <a:cs typeface="Arial MT"/>
              </a:rPr>
              <a:t> </a:t>
            </a:r>
            <a:r>
              <a:rPr sz="1750" spc="-145" dirty="0">
                <a:latin typeface="Arial MT"/>
                <a:cs typeface="Arial MT"/>
              </a:rPr>
              <a:t>hand</a:t>
            </a:r>
            <a:r>
              <a:rPr sz="1750" spc="20" dirty="0">
                <a:latin typeface="Arial MT"/>
                <a:cs typeface="Arial MT"/>
              </a:rPr>
              <a:t> </a:t>
            </a:r>
            <a:r>
              <a:rPr sz="1750" spc="-140" dirty="0">
                <a:latin typeface="Arial MT"/>
                <a:cs typeface="Arial MT"/>
              </a:rPr>
              <a:t>code</a:t>
            </a:r>
            <a:r>
              <a:rPr sz="1750" spc="20" dirty="0">
                <a:latin typeface="Arial MT"/>
                <a:cs typeface="Arial MT"/>
              </a:rPr>
              <a:t> </a:t>
            </a:r>
            <a:r>
              <a:rPr sz="1750" spc="-70" dirty="0">
                <a:latin typeface="Arial MT"/>
                <a:cs typeface="Arial MT"/>
              </a:rPr>
              <a:t>the</a:t>
            </a:r>
            <a:r>
              <a:rPr sz="1750" spc="-50" dirty="0">
                <a:latin typeface="Arial MT"/>
                <a:cs typeface="Arial MT"/>
              </a:rPr>
              <a:t> </a:t>
            </a:r>
            <a:r>
              <a:rPr sz="1750" spc="-105" dirty="0">
                <a:latin typeface="Arial MT"/>
                <a:cs typeface="Arial MT"/>
              </a:rPr>
              <a:t>threshold?</a:t>
            </a:r>
            <a:r>
              <a:rPr sz="1750" spc="70" dirty="0">
                <a:latin typeface="Arial MT"/>
                <a:cs typeface="Arial MT"/>
              </a:rPr>
              <a:t> </a:t>
            </a:r>
            <a:r>
              <a:rPr sz="1750" spc="-160" dirty="0">
                <a:solidFill>
                  <a:srgbClr val="FF0000"/>
                </a:solidFill>
                <a:latin typeface="Arial MT"/>
                <a:cs typeface="Arial MT"/>
              </a:rPr>
              <a:t>No,</a:t>
            </a:r>
            <a:r>
              <a:rPr sz="1750" spc="4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750" spc="-220" dirty="0">
                <a:solidFill>
                  <a:srgbClr val="FF0000"/>
                </a:solidFill>
                <a:latin typeface="Arial MT"/>
                <a:cs typeface="Arial MT"/>
              </a:rPr>
              <a:t>we</a:t>
            </a:r>
            <a:r>
              <a:rPr sz="1750" spc="9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750" spc="-170" dirty="0">
                <a:solidFill>
                  <a:srgbClr val="FF0000"/>
                </a:solidFill>
                <a:latin typeface="Arial MT"/>
                <a:cs typeface="Arial MT"/>
              </a:rPr>
              <a:t>can</a:t>
            </a:r>
            <a:r>
              <a:rPr sz="1750" spc="5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FF0000"/>
                </a:solidFill>
                <a:latin typeface="Arial MT"/>
                <a:cs typeface="Arial MT"/>
              </a:rPr>
              <a:t>learn</a:t>
            </a:r>
            <a:r>
              <a:rPr sz="1750" spc="4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FF0000"/>
                </a:solidFill>
                <a:latin typeface="Arial MT"/>
                <a:cs typeface="Arial MT"/>
              </a:rPr>
              <a:t>the</a:t>
            </a:r>
            <a:r>
              <a:rPr sz="1750" spc="8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FF0000"/>
                </a:solidFill>
                <a:latin typeface="Arial MT"/>
                <a:cs typeface="Arial MT"/>
              </a:rPr>
              <a:t>threshold </a:t>
            </a:r>
            <a:r>
              <a:rPr sz="1750" spc="-165" dirty="0">
                <a:latin typeface="Arial MT"/>
                <a:cs typeface="Arial MT"/>
              </a:rPr>
              <a:t>Are</a:t>
            </a:r>
            <a:r>
              <a:rPr sz="1750" spc="40" dirty="0">
                <a:latin typeface="Arial MT"/>
                <a:cs typeface="Arial MT"/>
              </a:rPr>
              <a:t> </a:t>
            </a:r>
            <a:r>
              <a:rPr sz="1750" spc="-35" dirty="0">
                <a:latin typeface="Arial MT"/>
                <a:cs typeface="Arial MT"/>
              </a:rPr>
              <a:t>all</a:t>
            </a:r>
            <a:r>
              <a:rPr sz="1750" spc="-85" dirty="0">
                <a:latin typeface="Arial MT"/>
                <a:cs typeface="Arial MT"/>
              </a:rPr>
              <a:t> </a:t>
            </a:r>
            <a:r>
              <a:rPr sz="1750" spc="-35" dirty="0">
                <a:latin typeface="Arial MT"/>
                <a:cs typeface="Arial MT"/>
              </a:rPr>
              <a:t>inputs</a:t>
            </a:r>
            <a:r>
              <a:rPr sz="1750" spc="-90" dirty="0">
                <a:latin typeface="Arial MT"/>
                <a:cs typeface="Arial MT"/>
              </a:rPr>
              <a:t> </a:t>
            </a:r>
            <a:r>
              <a:rPr sz="1750" spc="-35" dirty="0">
                <a:latin typeface="Arial MT"/>
                <a:cs typeface="Arial MT"/>
              </a:rPr>
              <a:t>equal?</a:t>
            </a:r>
            <a:r>
              <a:rPr sz="1750" spc="-85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What</a:t>
            </a:r>
            <a:r>
              <a:rPr sz="1750" spc="-120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if</a:t>
            </a:r>
            <a:r>
              <a:rPr sz="1750" spc="-40" dirty="0">
                <a:latin typeface="Arial MT"/>
                <a:cs typeface="Arial MT"/>
              </a:rPr>
              <a:t> </a:t>
            </a:r>
            <a:r>
              <a:rPr sz="1750" spc="-85" dirty="0">
                <a:latin typeface="Arial MT"/>
                <a:cs typeface="Arial MT"/>
              </a:rPr>
              <a:t>we</a:t>
            </a:r>
            <a:r>
              <a:rPr sz="1750" spc="-35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want</a:t>
            </a:r>
            <a:r>
              <a:rPr sz="1750" spc="-20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to</a:t>
            </a:r>
            <a:r>
              <a:rPr sz="1750" spc="-15" dirty="0">
                <a:latin typeface="Arial MT"/>
                <a:cs typeface="Arial MT"/>
              </a:rPr>
              <a:t> </a:t>
            </a:r>
            <a:r>
              <a:rPr sz="1750" spc="-130" dirty="0">
                <a:latin typeface="Arial MT"/>
                <a:cs typeface="Arial MT"/>
              </a:rPr>
              <a:t>assign</a:t>
            </a:r>
            <a:r>
              <a:rPr sz="1750" spc="5" dirty="0">
                <a:latin typeface="Arial MT"/>
                <a:cs typeface="Arial MT"/>
              </a:rPr>
              <a:t> </a:t>
            </a:r>
            <a:r>
              <a:rPr sz="1750" spc="-95" dirty="0">
                <a:latin typeface="Arial MT"/>
                <a:cs typeface="Arial MT"/>
              </a:rPr>
              <a:t>more</a:t>
            </a:r>
            <a:r>
              <a:rPr sz="1750" spc="-25" dirty="0">
                <a:latin typeface="Arial MT"/>
                <a:cs typeface="Arial MT"/>
              </a:rPr>
              <a:t> weight</a:t>
            </a:r>
            <a:r>
              <a:rPr sz="1750" dirty="0">
                <a:latin typeface="Arial MT"/>
                <a:cs typeface="Arial MT"/>
              </a:rPr>
              <a:t> </a:t>
            </a:r>
            <a:r>
              <a:rPr sz="1750" spc="-65" dirty="0">
                <a:latin typeface="Arial MT"/>
                <a:cs typeface="Arial MT"/>
              </a:rPr>
              <a:t>(importance)</a:t>
            </a:r>
            <a:r>
              <a:rPr sz="1750" spc="-20" dirty="0">
                <a:latin typeface="Arial MT"/>
                <a:cs typeface="Arial MT"/>
              </a:rPr>
              <a:t> </a:t>
            </a:r>
            <a:r>
              <a:rPr sz="1750" spc="-25" dirty="0">
                <a:latin typeface="Arial MT"/>
                <a:cs typeface="Arial MT"/>
              </a:rPr>
              <a:t>to </a:t>
            </a:r>
            <a:r>
              <a:rPr sz="1750" dirty="0">
                <a:latin typeface="Arial MT"/>
                <a:cs typeface="Arial MT"/>
              </a:rPr>
              <a:t>some</a:t>
            </a:r>
            <a:r>
              <a:rPr sz="1750" spc="295" dirty="0">
                <a:latin typeface="Arial MT"/>
                <a:cs typeface="Arial MT"/>
              </a:rPr>
              <a:t>  </a:t>
            </a:r>
            <a:r>
              <a:rPr sz="1750" spc="-110" dirty="0">
                <a:latin typeface="Arial MT"/>
                <a:cs typeface="Arial MT"/>
              </a:rPr>
              <a:t>inputs?</a:t>
            </a:r>
            <a:r>
              <a:rPr sz="1750" spc="-120" dirty="0"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FF0000"/>
                </a:solidFill>
                <a:latin typeface="Arial MT"/>
                <a:cs typeface="Arial MT"/>
              </a:rPr>
              <a:t>Aperceptron</a:t>
            </a:r>
            <a:r>
              <a:rPr sz="1750" spc="-6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FF0000"/>
                </a:solidFill>
                <a:latin typeface="Arial MT"/>
                <a:cs typeface="Arial MT"/>
              </a:rPr>
              <a:t>allows</a:t>
            </a:r>
            <a:r>
              <a:rPr sz="1750" spc="-8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750" spc="-75" dirty="0">
                <a:solidFill>
                  <a:srgbClr val="FF0000"/>
                </a:solidFill>
                <a:latin typeface="Arial MT"/>
                <a:cs typeface="Arial MT"/>
              </a:rPr>
              <a:t>weights</a:t>
            </a:r>
            <a:r>
              <a:rPr sz="1750" spc="-6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FF0000"/>
                </a:solidFill>
                <a:latin typeface="Arial MT"/>
                <a:cs typeface="Arial MT"/>
              </a:rPr>
              <a:t>to</a:t>
            </a:r>
            <a:r>
              <a:rPr sz="1750" spc="-4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FF0000"/>
                </a:solidFill>
                <a:latin typeface="Arial MT"/>
                <a:cs typeface="Arial MT"/>
              </a:rPr>
              <a:t>be</a:t>
            </a:r>
            <a:r>
              <a:rPr sz="1750" spc="-17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750" spc="-130" dirty="0">
                <a:solidFill>
                  <a:srgbClr val="FF0000"/>
                </a:solidFill>
                <a:latin typeface="Arial MT"/>
                <a:cs typeface="Arial MT"/>
              </a:rPr>
              <a:t>assigned</a:t>
            </a:r>
            <a:r>
              <a:rPr sz="1750" spc="-114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FF0000"/>
                </a:solidFill>
                <a:latin typeface="Arial MT"/>
                <a:cs typeface="Arial MT"/>
              </a:rPr>
              <a:t>to</a:t>
            </a:r>
            <a:r>
              <a:rPr sz="1750" spc="-4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FF0000"/>
                </a:solidFill>
                <a:latin typeface="Arial MT"/>
                <a:cs typeface="Arial MT"/>
              </a:rPr>
              <a:t>inputs</a:t>
            </a:r>
            <a:endParaRPr sz="1750">
              <a:latin typeface="Arial MT"/>
              <a:cs typeface="Arial MT"/>
            </a:endParaRPr>
          </a:p>
          <a:p>
            <a:pPr marL="13970" algn="just">
              <a:lnSpc>
                <a:spcPct val="100000"/>
              </a:lnSpc>
              <a:spcBef>
                <a:spcPts val="1120"/>
              </a:spcBef>
            </a:pPr>
            <a:r>
              <a:rPr sz="1750" dirty="0">
                <a:latin typeface="Arial MT"/>
                <a:cs typeface="Arial MT"/>
              </a:rPr>
              <a:t>What</a:t>
            </a:r>
            <a:r>
              <a:rPr sz="1750" spc="-35" dirty="0">
                <a:latin typeface="Arial MT"/>
                <a:cs typeface="Arial MT"/>
              </a:rPr>
              <a:t> </a:t>
            </a:r>
            <a:r>
              <a:rPr sz="1750" spc="-25" dirty="0">
                <a:latin typeface="Arial MT"/>
                <a:cs typeface="Arial MT"/>
              </a:rPr>
              <a:t>about</a:t>
            </a:r>
            <a:r>
              <a:rPr sz="1750" spc="-20" dirty="0">
                <a:latin typeface="Arial MT"/>
                <a:cs typeface="Arial MT"/>
              </a:rPr>
              <a:t> </a:t>
            </a:r>
            <a:r>
              <a:rPr sz="1750" spc="-40" dirty="0">
                <a:latin typeface="Arial MT"/>
                <a:cs typeface="Arial MT"/>
              </a:rPr>
              <a:t>functions</a:t>
            </a:r>
            <a:r>
              <a:rPr sz="1750" spc="-55" dirty="0">
                <a:latin typeface="Arial MT"/>
                <a:cs typeface="Arial MT"/>
              </a:rPr>
              <a:t> </a:t>
            </a:r>
            <a:r>
              <a:rPr sz="1750" spc="-60" dirty="0">
                <a:latin typeface="Arial MT"/>
                <a:cs typeface="Arial MT"/>
              </a:rPr>
              <a:t>which</a:t>
            </a:r>
            <a:r>
              <a:rPr sz="1750" spc="-40" dirty="0">
                <a:latin typeface="Arial MT"/>
                <a:cs typeface="Arial MT"/>
              </a:rPr>
              <a:t> </a:t>
            </a:r>
            <a:r>
              <a:rPr sz="1750" spc="-85" dirty="0">
                <a:latin typeface="Arial MT"/>
                <a:cs typeface="Arial MT"/>
              </a:rPr>
              <a:t>are</a:t>
            </a:r>
            <a:r>
              <a:rPr sz="1750" spc="-100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not</a:t>
            </a:r>
            <a:r>
              <a:rPr sz="1750" spc="-5" dirty="0">
                <a:latin typeface="Arial MT"/>
                <a:cs typeface="Arial MT"/>
              </a:rPr>
              <a:t> </a:t>
            </a:r>
            <a:r>
              <a:rPr sz="1750" spc="-75" dirty="0">
                <a:latin typeface="Arial MT"/>
                <a:cs typeface="Arial MT"/>
              </a:rPr>
              <a:t>linearly </a:t>
            </a:r>
            <a:r>
              <a:rPr sz="1750" spc="-110" dirty="0">
                <a:latin typeface="Arial MT"/>
                <a:cs typeface="Arial MT"/>
              </a:rPr>
              <a:t>separable</a:t>
            </a:r>
            <a:r>
              <a:rPr sz="1750" spc="-114" dirty="0">
                <a:latin typeface="Arial MT"/>
                <a:cs typeface="Arial MT"/>
              </a:rPr>
              <a:t> </a:t>
            </a:r>
            <a:r>
              <a:rPr sz="1750" spc="-50" dirty="0">
                <a:latin typeface="Arial MT"/>
                <a:cs typeface="Arial MT"/>
              </a:rPr>
              <a:t>?</a:t>
            </a:r>
            <a:endParaRPr sz="175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0915" y="1717611"/>
            <a:ext cx="7993380" cy="256540"/>
          </a:xfrm>
          <a:prstGeom prst="rect">
            <a:avLst/>
          </a:prstGeom>
          <a:solidFill>
            <a:srgbClr val="013547"/>
          </a:solidFill>
        </p:spPr>
        <p:txBody>
          <a:bodyPr vert="horz" wrap="square" lIns="0" tIns="0" rIns="0" bIns="0" rtlCol="0">
            <a:spAutoFit/>
          </a:bodyPr>
          <a:lstStyle/>
          <a:p>
            <a:pPr marL="69850">
              <a:lnSpc>
                <a:spcPts val="1950"/>
              </a:lnSpc>
            </a:pPr>
            <a:r>
              <a:rPr sz="1750" b="1" spc="-140" dirty="0">
                <a:solidFill>
                  <a:srgbClr val="FFFFFF"/>
                </a:solidFill>
                <a:latin typeface="Trebuchet MS"/>
                <a:cs typeface="Trebuchet MS"/>
              </a:rPr>
              <a:t>Coming</a:t>
            </a:r>
            <a:r>
              <a:rPr sz="1750" b="1" spc="-2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750" b="1" spc="-114" dirty="0">
                <a:solidFill>
                  <a:srgbClr val="FFFFFF"/>
                </a:solidFill>
                <a:latin typeface="Trebuchet MS"/>
                <a:cs typeface="Trebuchet MS"/>
              </a:rPr>
              <a:t>back</a:t>
            </a:r>
            <a:r>
              <a:rPr sz="1750" b="1" spc="-1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750" b="1" spc="-60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1750" b="1" spc="-11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750" b="1" spc="-75" dirty="0">
                <a:solidFill>
                  <a:srgbClr val="FFFFFF"/>
                </a:solidFill>
                <a:latin typeface="Trebuchet MS"/>
                <a:cs typeface="Trebuchet MS"/>
              </a:rPr>
              <a:t>our</a:t>
            </a:r>
            <a:r>
              <a:rPr sz="1750" b="1" spc="-1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750" b="1" spc="-150" dirty="0">
                <a:solidFill>
                  <a:srgbClr val="FFFFFF"/>
                </a:solidFill>
                <a:latin typeface="Trebuchet MS"/>
                <a:cs typeface="Trebuchet MS"/>
              </a:rPr>
              <a:t>questions</a:t>
            </a:r>
            <a:r>
              <a:rPr sz="1750" b="1" spc="-1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750" b="1" spc="-25" dirty="0">
                <a:solidFill>
                  <a:srgbClr val="FFFFFF"/>
                </a:solidFill>
                <a:latin typeface="Trebuchet MS"/>
                <a:cs typeface="Trebuchet MS"/>
              </a:rPr>
              <a:t>...</a:t>
            </a:r>
            <a:endParaRPr sz="175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3444" y="2042922"/>
            <a:ext cx="7583170" cy="2415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 marR="5080" indent="-5080" algn="just">
              <a:lnSpc>
                <a:spcPct val="117700"/>
              </a:lnSpc>
              <a:spcBef>
                <a:spcPts val="100"/>
              </a:spcBef>
            </a:pP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What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about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non-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boolean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(say,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real)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inputs?</a:t>
            </a:r>
            <a:r>
              <a:rPr sz="1750" spc="2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70" dirty="0">
                <a:solidFill>
                  <a:srgbClr val="FF0000"/>
                </a:solidFill>
                <a:latin typeface="Arial MT"/>
                <a:cs typeface="Arial MT"/>
              </a:rPr>
              <a:t>Real</a:t>
            </a:r>
            <a:r>
              <a:rPr sz="1750" spc="4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FF0000"/>
                </a:solidFill>
                <a:latin typeface="Arial MT"/>
                <a:cs typeface="Arial MT"/>
              </a:rPr>
              <a:t>valued</a:t>
            </a:r>
            <a:r>
              <a:rPr sz="1750" spc="-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FF0000"/>
                </a:solidFill>
                <a:latin typeface="Arial MT"/>
                <a:cs typeface="Arial MT"/>
              </a:rPr>
              <a:t>inputs </a:t>
            </a:r>
            <a:r>
              <a:rPr sz="1750" spc="-50" dirty="0">
                <a:solidFill>
                  <a:srgbClr val="FF0000"/>
                </a:solidFill>
                <a:latin typeface="Arial MT"/>
                <a:cs typeface="Arial MT"/>
              </a:rPr>
              <a:t>are</a:t>
            </a:r>
            <a:r>
              <a:rPr sz="1750" spc="-7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FF0000"/>
                </a:solidFill>
                <a:latin typeface="Arial MT"/>
                <a:cs typeface="Arial MT"/>
              </a:rPr>
              <a:t>allowed</a:t>
            </a:r>
            <a:r>
              <a:rPr sz="1750" spc="-4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FF0000"/>
                </a:solidFill>
                <a:latin typeface="Arial MT"/>
                <a:cs typeface="Arial MT"/>
              </a:rPr>
              <a:t>in</a:t>
            </a:r>
            <a:r>
              <a:rPr sz="1750" spc="-20" dirty="0">
                <a:solidFill>
                  <a:srgbClr val="FF0000"/>
                </a:solidFill>
                <a:latin typeface="Arial MT"/>
                <a:cs typeface="Arial MT"/>
              </a:rPr>
              <a:t> per-</a:t>
            </a:r>
            <a:r>
              <a:rPr sz="1750" spc="-10" dirty="0">
                <a:solidFill>
                  <a:srgbClr val="FF0000"/>
                </a:solidFill>
                <a:latin typeface="Arial MT"/>
                <a:cs typeface="Arial MT"/>
              </a:rPr>
              <a:t>ceptron</a:t>
            </a:r>
            <a:endParaRPr sz="1750">
              <a:latin typeface="Arial MT"/>
              <a:cs typeface="Arial MT"/>
            </a:endParaRPr>
          </a:p>
          <a:p>
            <a:pPr marL="12700" marR="551180" indent="1270" algn="just">
              <a:lnSpc>
                <a:spcPct val="124300"/>
              </a:lnSpc>
              <a:spcBef>
                <a:spcPts val="605"/>
              </a:spcBef>
            </a:pPr>
            <a:r>
              <a:rPr sz="1750" spc="-229" dirty="0">
                <a:latin typeface="Arial MT"/>
                <a:cs typeface="Arial MT"/>
              </a:rPr>
              <a:t>Do</a:t>
            </a:r>
            <a:r>
              <a:rPr sz="1750" spc="105" dirty="0">
                <a:latin typeface="Arial MT"/>
                <a:cs typeface="Arial MT"/>
              </a:rPr>
              <a:t> </a:t>
            </a:r>
            <a:r>
              <a:rPr sz="1750" spc="-220" dirty="0">
                <a:latin typeface="Arial MT"/>
                <a:cs typeface="Arial MT"/>
              </a:rPr>
              <a:t>we</a:t>
            </a:r>
            <a:r>
              <a:rPr sz="1750" spc="100" dirty="0">
                <a:latin typeface="Arial MT"/>
                <a:cs typeface="Arial MT"/>
              </a:rPr>
              <a:t> </a:t>
            </a:r>
            <a:r>
              <a:rPr sz="1750" spc="-160" dirty="0">
                <a:latin typeface="Arial MT"/>
                <a:cs typeface="Arial MT"/>
              </a:rPr>
              <a:t>always</a:t>
            </a:r>
            <a:r>
              <a:rPr sz="1750" spc="35" dirty="0">
                <a:latin typeface="Arial MT"/>
                <a:cs typeface="Arial MT"/>
              </a:rPr>
              <a:t> </a:t>
            </a:r>
            <a:r>
              <a:rPr sz="1750" spc="-165" dirty="0">
                <a:latin typeface="Arial MT"/>
                <a:cs typeface="Arial MT"/>
              </a:rPr>
              <a:t>need</a:t>
            </a:r>
            <a:r>
              <a:rPr sz="1750" spc="45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to</a:t>
            </a:r>
            <a:r>
              <a:rPr sz="1750" spc="-120" dirty="0">
                <a:latin typeface="Arial MT"/>
                <a:cs typeface="Arial MT"/>
              </a:rPr>
              <a:t> </a:t>
            </a:r>
            <a:r>
              <a:rPr sz="1750" spc="-145" dirty="0">
                <a:latin typeface="Arial MT"/>
                <a:cs typeface="Arial MT"/>
              </a:rPr>
              <a:t>hand</a:t>
            </a:r>
            <a:r>
              <a:rPr sz="1750" spc="20" dirty="0">
                <a:latin typeface="Arial MT"/>
                <a:cs typeface="Arial MT"/>
              </a:rPr>
              <a:t> </a:t>
            </a:r>
            <a:r>
              <a:rPr sz="1750" spc="-140" dirty="0">
                <a:latin typeface="Arial MT"/>
                <a:cs typeface="Arial MT"/>
              </a:rPr>
              <a:t>code</a:t>
            </a:r>
            <a:r>
              <a:rPr sz="1750" spc="20" dirty="0">
                <a:latin typeface="Arial MT"/>
                <a:cs typeface="Arial MT"/>
              </a:rPr>
              <a:t> </a:t>
            </a:r>
            <a:r>
              <a:rPr sz="1750" spc="-70" dirty="0">
                <a:latin typeface="Arial MT"/>
                <a:cs typeface="Arial MT"/>
              </a:rPr>
              <a:t>the</a:t>
            </a:r>
            <a:r>
              <a:rPr sz="1750" spc="-50" dirty="0">
                <a:latin typeface="Arial MT"/>
                <a:cs typeface="Arial MT"/>
              </a:rPr>
              <a:t> </a:t>
            </a:r>
            <a:r>
              <a:rPr sz="1750" spc="-105" dirty="0">
                <a:latin typeface="Arial MT"/>
                <a:cs typeface="Arial MT"/>
              </a:rPr>
              <a:t>threshold?</a:t>
            </a:r>
            <a:r>
              <a:rPr sz="1750" spc="70" dirty="0">
                <a:latin typeface="Arial MT"/>
                <a:cs typeface="Arial MT"/>
              </a:rPr>
              <a:t> </a:t>
            </a:r>
            <a:r>
              <a:rPr sz="1750" spc="-160" dirty="0">
                <a:solidFill>
                  <a:srgbClr val="FF0000"/>
                </a:solidFill>
                <a:latin typeface="Arial MT"/>
                <a:cs typeface="Arial MT"/>
              </a:rPr>
              <a:t>No,</a:t>
            </a:r>
            <a:r>
              <a:rPr sz="1750" spc="4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750" spc="-220" dirty="0">
                <a:solidFill>
                  <a:srgbClr val="FF0000"/>
                </a:solidFill>
                <a:latin typeface="Arial MT"/>
                <a:cs typeface="Arial MT"/>
              </a:rPr>
              <a:t>we</a:t>
            </a:r>
            <a:r>
              <a:rPr sz="1750" spc="9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750" spc="-170" dirty="0">
                <a:solidFill>
                  <a:srgbClr val="FF0000"/>
                </a:solidFill>
                <a:latin typeface="Arial MT"/>
                <a:cs typeface="Arial MT"/>
              </a:rPr>
              <a:t>can</a:t>
            </a:r>
            <a:r>
              <a:rPr sz="1750" spc="5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FF0000"/>
                </a:solidFill>
                <a:latin typeface="Arial MT"/>
                <a:cs typeface="Arial MT"/>
              </a:rPr>
              <a:t>learn</a:t>
            </a:r>
            <a:r>
              <a:rPr sz="1750" spc="4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FF0000"/>
                </a:solidFill>
                <a:latin typeface="Arial MT"/>
                <a:cs typeface="Arial MT"/>
              </a:rPr>
              <a:t>the</a:t>
            </a:r>
            <a:r>
              <a:rPr sz="1750" spc="8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FF0000"/>
                </a:solidFill>
                <a:latin typeface="Arial MT"/>
                <a:cs typeface="Arial MT"/>
              </a:rPr>
              <a:t>threshold </a:t>
            </a:r>
            <a:r>
              <a:rPr sz="1750" spc="-165" dirty="0">
                <a:latin typeface="Arial MT"/>
                <a:cs typeface="Arial MT"/>
              </a:rPr>
              <a:t>Are</a:t>
            </a:r>
            <a:r>
              <a:rPr sz="1750" spc="40" dirty="0">
                <a:latin typeface="Arial MT"/>
                <a:cs typeface="Arial MT"/>
              </a:rPr>
              <a:t> </a:t>
            </a:r>
            <a:r>
              <a:rPr sz="1750" spc="-35" dirty="0">
                <a:latin typeface="Arial MT"/>
                <a:cs typeface="Arial MT"/>
              </a:rPr>
              <a:t>all</a:t>
            </a:r>
            <a:r>
              <a:rPr sz="1750" spc="-85" dirty="0">
                <a:latin typeface="Arial MT"/>
                <a:cs typeface="Arial MT"/>
              </a:rPr>
              <a:t> </a:t>
            </a:r>
            <a:r>
              <a:rPr sz="1750" spc="-35" dirty="0">
                <a:latin typeface="Arial MT"/>
                <a:cs typeface="Arial MT"/>
              </a:rPr>
              <a:t>inputs</a:t>
            </a:r>
            <a:r>
              <a:rPr sz="1750" spc="-90" dirty="0">
                <a:latin typeface="Arial MT"/>
                <a:cs typeface="Arial MT"/>
              </a:rPr>
              <a:t> </a:t>
            </a:r>
            <a:r>
              <a:rPr sz="1750" spc="-35" dirty="0">
                <a:latin typeface="Arial MT"/>
                <a:cs typeface="Arial MT"/>
              </a:rPr>
              <a:t>equal?</a:t>
            </a:r>
            <a:r>
              <a:rPr sz="1750" spc="-85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What</a:t>
            </a:r>
            <a:r>
              <a:rPr sz="1750" spc="-120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if</a:t>
            </a:r>
            <a:r>
              <a:rPr sz="1750" spc="-40" dirty="0">
                <a:latin typeface="Arial MT"/>
                <a:cs typeface="Arial MT"/>
              </a:rPr>
              <a:t> </a:t>
            </a:r>
            <a:r>
              <a:rPr sz="1750" spc="-85" dirty="0">
                <a:latin typeface="Arial MT"/>
                <a:cs typeface="Arial MT"/>
              </a:rPr>
              <a:t>we</a:t>
            </a:r>
            <a:r>
              <a:rPr sz="1750" spc="-35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want</a:t>
            </a:r>
            <a:r>
              <a:rPr sz="1750" spc="-20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to</a:t>
            </a:r>
            <a:r>
              <a:rPr sz="1750" spc="-15" dirty="0">
                <a:latin typeface="Arial MT"/>
                <a:cs typeface="Arial MT"/>
              </a:rPr>
              <a:t> </a:t>
            </a:r>
            <a:r>
              <a:rPr sz="1750" spc="-130" dirty="0">
                <a:latin typeface="Arial MT"/>
                <a:cs typeface="Arial MT"/>
              </a:rPr>
              <a:t>assign</a:t>
            </a:r>
            <a:r>
              <a:rPr sz="1750" spc="5" dirty="0">
                <a:latin typeface="Arial MT"/>
                <a:cs typeface="Arial MT"/>
              </a:rPr>
              <a:t> </a:t>
            </a:r>
            <a:r>
              <a:rPr sz="1750" spc="-95" dirty="0">
                <a:latin typeface="Arial MT"/>
                <a:cs typeface="Arial MT"/>
              </a:rPr>
              <a:t>more</a:t>
            </a:r>
            <a:r>
              <a:rPr sz="1750" spc="-25" dirty="0">
                <a:latin typeface="Arial MT"/>
                <a:cs typeface="Arial MT"/>
              </a:rPr>
              <a:t> weight</a:t>
            </a:r>
            <a:r>
              <a:rPr sz="1750" dirty="0">
                <a:latin typeface="Arial MT"/>
                <a:cs typeface="Arial MT"/>
              </a:rPr>
              <a:t> </a:t>
            </a:r>
            <a:r>
              <a:rPr sz="1750" spc="-65" dirty="0">
                <a:latin typeface="Arial MT"/>
                <a:cs typeface="Arial MT"/>
              </a:rPr>
              <a:t>(importance)</a:t>
            </a:r>
            <a:r>
              <a:rPr sz="1750" spc="-20" dirty="0">
                <a:latin typeface="Arial MT"/>
                <a:cs typeface="Arial MT"/>
              </a:rPr>
              <a:t> </a:t>
            </a:r>
            <a:r>
              <a:rPr sz="1750" spc="-25" dirty="0">
                <a:latin typeface="Arial MT"/>
                <a:cs typeface="Arial MT"/>
              </a:rPr>
              <a:t>to </a:t>
            </a:r>
            <a:r>
              <a:rPr sz="1750" dirty="0">
                <a:latin typeface="Arial MT"/>
                <a:cs typeface="Arial MT"/>
              </a:rPr>
              <a:t>some</a:t>
            </a:r>
            <a:r>
              <a:rPr sz="1750" spc="295" dirty="0">
                <a:latin typeface="Arial MT"/>
                <a:cs typeface="Arial MT"/>
              </a:rPr>
              <a:t>  </a:t>
            </a:r>
            <a:r>
              <a:rPr sz="1750" spc="-110" dirty="0">
                <a:latin typeface="Arial MT"/>
                <a:cs typeface="Arial MT"/>
              </a:rPr>
              <a:t>inputs?</a:t>
            </a:r>
            <a:r>
              <a:rPr sz="1750" spc="-120" dirty="0"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FF0000"/>
                </a:solidFill>
                <a:latin typeface="Arial MT"/>
                <a:cs typeface="Arial MT"/>
              </a:rPr>
              <a:t>Aperceptron</a:t>
            </a:r>
            <a:r>
              <a:rPr sz="1750" spc="-6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FF0000"/>
                </a:solidFill>
                <a:latin typeface="Arial MT"/>
                <a:cs typeface="Arial MT"/>
              </a:rPr>
              <a:t>allows</a:t>
            </a:r>
            <a:r>
              <a:rPr sz="1750" spc="-8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750" spc="-75" dirty="0">
                <a:solidFill>
                  <a:srgbClr val="FF0000"/>
                </a:solidFill>
                <a:latin typeface="Arial MT"/>
                <a:cs typeface="Arial MT"/>
              </a:rPr>
              <a:t>weights</a:t>
            </a:r>
            <a:r>
              <a:rPr sz="1750" spc="-6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FF0000"/>
                </a:solidFill>
                <a:latin typeface="Arial MT"/>
                <a:cs typeface="Arial MT"/>
              </a:rPr>
              <a:t>to</a:t>
            </a:r>
            <a:r>
              <a:rPr sz="1750" spc="-4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FF0000"/>
                </a:solidFill>
                <a:latin typeface="Arial MT"/>
                <a:cs typeface="Arial MT"/>
              </a:rPr>
              <a:t>be</a:t>
            </a:r>
            <a:r>
              <a:rPr sz="1750" spc="-17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750" spc="-130" dirty="0">
                <a:solidFill>
                  <a:srgbClr val="FF0000"/>
                </a:solidFill>
                <a:latin typeface="Arial MT"/>
                <a:cs typeface="Arial MT"/>
              </a:rPr>
              <a:t>assigned</a:t>
            </a:r>
            <a:r>
              <a:rPr sz="1750" spc="-114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FF0000"/>
                </a:solidFill>
                <a:latin typeface="Arial MT"/>
                <a:cs typeface="Arial MT"/>
              </a:rPr>
              <a:t>to</a:t>
            </a:r>
            <a:r>
              <a:rPr sz="1750" spc="-4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FF0000"/>
                </a:solidFill>
                <a:latin typeface="Arial MT"/>
                <a:cs typeface="Arial MT"/>
              </a:rPr>
              <a:t>inputs</a:t>
            </a:r>
            <a:endParaRPr sz="1750">
              <a:latin typeface="Arial MT"/>
              <a:cs typeface="Arial MT"/>
            </a:endParaRPr>
          </a:p>
          <a:p>
            <a:pPr marL="12700" marR="609600" algn="just">
              <a:lnSpc>
                <a:spcPct val="117700"/>
              </a:lnSpc>
              <a:spcBef>
                <a:spcPts val="495"/>
              </a:spcBef>
            </a:pPr>
            <a:r>
              <a:rPr sz="1750" dirty="0">
                <a:latin typeface="Arial MT"/>
                <a:cs typeface="Arial MT"/>
              </a:rPr>
              <a:t>What</a:t>
            </a:r>
            <a:r>
              <a:rPr sz="1750" spc="-125" dirty="0">
                <a:latin typeface="Arial MT"/>
                <a:cs typeface="Arial MT"/>
              </a:rPr>
              <a:t> </a:t>
            </a:r>
            <a:r>
              <a:rPr sz="1750" spc="-25" dirty="0">
                <a:latin typeface="Arial MT"/>
                <a:cs typeface="Arial MT"/>
              </a:rPr>
              <a:t>about</a:t>
            </a:r>
            <a:r>
              <a:rPr sz="1750" spc="-95" dirty="0">
                <a:latin typeface="Arial MT"/>
                <a:cs typeface="Arial MT"/>
              </a:rPr>
              <a:t> </a:t>
            </a:r>
            <a:r>
              <a:rPr sz="1750" spc="-40" dirty="0">
                <a:latin typeface="Arial MT"/>
                <a:cs typeface="Arial MT"/>
              </a:rPr>
              <a:t>functions</a:t>
            </a:r>
            <a:r>
              <a:rPr sz="1750" spc="-85" dirty="0">
                <a:latin typeface="Arial MT"/>
                <a:cs typeface="Arial MT"/>
              </a:rPr>
              <a:t> </a:t>
            </a:r>
            <a:r>
              <a:rPr sz="1750" spc="-65" dirty="0">
                <a:latin typeface="Arial MT"/>
                <a:cs typeface="Arial MT"/>
              </a:rPr>
              <a:t>which</a:t>
            </a:r>
            <a:r>
              <a:rPr sz="1750" spc="-55" dirty="0">
                <a:latin typeface="Arial MT"/>
                <a:cs typeface="Arial MT"/>
              </a:rPr>
              <a:t> </a:t>
            </a:r>
            <a:r>
              <a:rPr sz="1750" spc="-120" dirty="0">
                <a:latin typeface="Arial MT"/>
                <a:cs typeface="Arial MT"/>
              </a:rPr>
              <a:t>are</a:t>
            </a:r>
            <a:r>
              <a:rPr sz="1750" dirty="0">
                <a:latin typeface="Arial MT"/>
                <a:cs typeface="Arial MT"/>
              </a:rPr>
              <a:t> not</a:t>
            </a:r>
            <a:r>
              <a:rPr sz="1750" spc="10" dirty="0">
                <a:latin typeface="Arial MT"/>
                <a:cs typeface="Arial MT"/>
              </a:rPr>
              <a:t> </a:t>
            </a:r>
            <a:r>
              <a:rPr sz="1750" spc="-85" dirty="0">
                <a:latin typeface="Arial MT"/>
                <a:cs typeface="Arial MT"/>
              </a:rPr>
              <a:t>linearly</a:t>
            </a:r>
            <a:r>
              <a:rPr sz="1750" spc="-35" dirty="0">
                <a:latin typeface="Arial MT"/>
                <a:cs typeface="Arial MT"/>
              </a:rPr>
              <a:t> </a:t>
            </a:r>
            <a:r>
              <a:rPr sz="1750" spc="-120" dirty="0">
                <a:latin typeface="Arial MT"/>
                <a:cs typeface="Arial MT"/>
              </a:rPr>
              <a:t>separable</a:t>
            </a:r>
            <a:r>
              <a:rPr sz="1750" dirty="0">
                <a:latin typeface="Arial MT"/>
                <a:cs typeface="Arial MT"/>
              </a:rPr>
              <a:t> ?</a:t>
            </a:r>
            <a:r>
              <a:rPr sz="1750" spc="335" dirty="0"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FF0000"/>
                </a:solidFill>
                <a:latin typeface="Arial MT"/>
                <a:cs typeface="Arial MT"/>
              </a:rPr>
              <a:t>Not</a:t>
            </a:r>
            <a:r>
              <a:rPr sz="1750" spc="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750" spc="-110" dirty="0">
                <a:solidFill>
                  <a:srgbClr val="FF0000"/>
                </a:solidFill>
                <a:latin typeface="Arial MT"/>
                <a:cs typeface="Arial MT"/>
              </a:rPr>
              <a:t>possible</a:t>
            </a:r>
            <a:r>
              <a:rPr sz="1750" spc="-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FF0000"/>
                </a:solidFill>
                <a:latin typeface="Arial MT"/>
                <a:cs typeface="Arial MT"/>
              </a:rPr>
              <a:t>with</a:t>
            </a:r>
            <a:r>
              <a:rPr sz="1750" spc="4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FF0000"/>
                </a:solidFill>
                <a:latin typeface="Arial MT"/>
                <a:cs typeface="Arial MT"/>
              </a:rPr>
              <a:t>a </a:t>
            </a:r>
            <a:r>
              <a:rPr sz="1750" dirty="0">
                <a:solidFill>
                  <a:srgbClr val="FF0000"/>
                </a:solidFill>
                <a:latin typeface="Arial MT"/>
                <a:cs typeface="Arial MT"/>
              </a:rPr>
              <a:t>single</a:t>
            </a:r>
            <a:r>
              <a:rPr sz="1750" spc="140" dirty="0">
                <a:solidFill>
                  <a:srgbClr val="FF0000"/>
                </a:solidFill>
                <a:latin typeface="Arial MT"/>
                <a:cs typeface="Arial MT"/>
              </a:rPr>
              <a:t>  </a:t>
            </a:r>
            <a:r>
              <a:rPr sz="1750" spc="-90" dirty="0">
                <a:solidFill>
                  <a:srgbClr val="FF0000"/>
                </a:solidFill>
                <a:latin typeface="Arial MT"/>
                <a:cs typeface="Arial MT"/>
              </a:rPr>
              <a:t>perceptron </a:t>
            </a:r>
            <a:r>
              <a:rPr sz="1750" dirty="0">
                <a:solidFill>
                  <a:srgbClr val="FF0000"/>
                </a:solidFill>
                <a:latin typeface="Arial MT"/>
                <a:cs typeface="Arial MT"/>
              </a:rPr>
              <a:t>but</a:t>
            </a:r>
            <a:r>
              <a:rPr sz="1750" spc="-7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FF0000"/>
                </a:solidFill>
                <a:latin typeface="Arial MT"/>
                <a:cs typeface="Arial MT"/>
              </a:rPr>
              <a:t>we</a:t>
            </a:r>
            <a:r>
              <a:rPr sz="1750" spc="-16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750" spc="-55" dirty="0">
                <a:solidFill>
                  <a:srgbClr val="FF0000"/>
                </a:solidFill>
                <a:latin typeface="Arial MT"/>
                <a:cs typeface="Arial MT"/>
              </a:rPr>
              <a:t>will</a:t>
            </a:r>
            <a:r>
              <a:rPr sz="1750" spc="-7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750" spc="-135" dirty="0">
                <a:solidFill>
                  <a:srgbClr val="FF0000"/>
                </a:solidFill>
                <a:latin typeface="Arial MT"/>
                <a:cs typeface="Arial MT"/>
              </a:rPr>
              <a:t>see</a:t>
            </a:r>
            <a:r>
              <a:rPr sz="1750" spc="-2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FF0000"/>
                </a:solidFill>
                <a:latin typeface="Arial MT"/>
                <a:cs typeface="Arial MT"/>
              </a:rPr>
              <a:t>how</a:t>
            </a:r>
            <a:r>
              <a:rPr sz="1750" spc="-13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FF0000"/>
                </a:solidFill>
                <a:latin typeface="Arial MT"/>
                <a:cs typeface="Arial MT"/>
              </a:rPr>
              <a:t>to</a:t>
            </a:r>
            <a:r>
              <a:rPr sz="1750" spc="-4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FF0000"/>
                </a:solidFill>
                <a:latin typeface="Arial MT"/>
                <a:cs typeface="Arial MT"/>
              </a:rPr>
              <a:t>handle</a:t>
            </a:r>
            <a:r>
              <a:rPr sz="1750" spc="-16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750" spc="-55" dirty="0">
                <a:solidFill>
                  <a:srgbClr val="FF0000"/>
                </a:solidFill>
                <a:latin typeface="Arial MT"/>
                <a:cs typeface="Arial MT"/>
              </a:rPr>
              <a:t>this</a:t>
            </a:r>
            <a:r>
              <a:rPr sz="1750" spc="-8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FF0000"/>
                </a:solidFill>
                <a:latin typeface="Arial MT"/>
                <a:cs typeface="Arial MT"/>
              </a:rPr>
              <a:t>..</a:t>
            </a:r>
            <a:endParaRPr sz="175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676400"/>
            <a:ext cx="4419600" cy="609600"/>
          </a:xfrm>
          <a:custGeom>
            <a:avLst/>
            <a:gdLst/>
            <a:ahLst/>
            <a:cxnLst/>
            <a:rect l="l" t="t" r="r" b="b"/>
            <a:pathLst>
              <a:path w="4419600" h="609600">
                <a:moveTo>
                  <a:pt x="4419600" y="0"/>
                </a:moveTo>
                <a:lnTo>
                  <a:pt x="0" y="0"/>
                </a:lnTo>
                <a:lnTo>
                  <a:pt x="0" y="609600"/>
                </a:lnTo>
                <a:lnTo>
                  <a:pt x="4419600" y="609600"/>
                </a:lnTo>
                <a:lnTo>
                  <a:pt x="441960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447800" y="6629399"/>
            <a:ext cx="7696200" cy="228600"/>
          </a:xfrm>
          <a:custGeom>
            <a:avLst/>
            <a:gdLst/>
            <a:ahLst/>
            <a:cxnLst/>
            <a:rect l="l" t="t" r="r" b="b"/>
            <a:pathLst>
              <a:path w="7696200" h="228600">
                <a:moveTo>
                  <a:pt x="0" y="228600"/>
                </a:moveTo>
                <a:lnTo>
                  <a:pt x="7696200" y="228600"/>
                </a:lnTo>
                <a:lnTo>
                  <a:pt x="76962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EE8B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568188" y="6613652"/>
            <a:ext cx="29368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Calibri"/>
                <a:cs typeface="Calibri"/>
              </a:rPr>
              <a:t>“Deep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Learning: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Neuron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to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Perceptron”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6629399"/>
            <a:ext cx="1447800" cy="228600"/>
          </a:xfrm>
          <a:custGeom>
            <a:avLst/>
            <a:gdLst/>
            <a:ahLst/>
            <a:cxnLst/>
            <a:rect l="l" t="t" r="r" b="b"/>
            <a:pathLst>
              <a:path w="1447800" h="228600">
                <a:moveTo>
                  <a:pt x="1447800" y="0"/>
                </a:moveTo>
                <a:lnTo>
                  <a:pt x="0" y="0"/>
                </a:lnTo>
                <a:lnTo>
                  <a:pt x="0" y="228600"/>
                </a:lnTo>
                <a:lnTo>
                  <a:pt x="1447800" y="228600"/>
                </a:lnTo>
                <a:lnTo>
                  <a:pt x="144780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37261" y="6589268"/>
            <a:ext cx="117348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dirty="0">
                <a:solidFill>
                  <a:srgbClr val="FFFFFF"/>
                </a:solidFill>
                <a:latin typeface="Calibri"/>
                <a:cs typeface="Calibri"/>
              </a:rPr>
              <a:t>NIT</a:t>
            </a:r>
            <a:r>
              <a:rPr sz="17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b="1" spc="-10" dirty="0">
                <a:solidFill>
                  <a:srgbClr val="FFFFFF"/>
                </a:solidFill>
                <a:latin typeface="Calibri"/>
                <a:cs typeface="Calibri"/>
              </a:rPr>
              <a:t>Rourkela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0" y="6858000"/>
                </a:moveTo>
                <a:lnTo>
                  <a:pt x="9144000" y="6858000"/>
                </a:lnTo>
                <a:lnTo>
                  <a:pt x="9144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ln w="508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8739" y="1640789"/>
            <a:ext cx="3559810" cy="5759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ts val="216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b="1" spc="-220" dirty="0">
                <a:solidFill>
                  <a:srgbClr val="FFFFFF"/>
                </a:solidFill>
                <a:latin typeface="Trebuchet MS"/>
                <a:cs typeface="Trebuchet MS"/>
              </a:rPr>
              <a:t>Non-</a:t>
            </a:r>
            <a:r>
              <a:rPr sz="2000" b="1" spc="-190" dirty="0">
                <a:solidFill>
                  <a:srgbClr val="FFFFFF"/>
                </a:solidFill>
                <a:latin typeface="Trebuchet MS"/>
                <a:cs typeface="Trebuchet MS"/>
              </a:rPr>
              <a:t>Linearly</a:t>
            </a:r>
            <a:r>
              <a:rPr sz="2000" b="1" spc="-2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14" dirty="0">
                <a:solidFill>
                  <a:srgbClr val="FFFFFF"/>
                </a:solidFill>
                <a:latin typeface="Trebuchet MS"/>
                <a:cs typeface="Trebuchet MS"/>
              </a:rPr>
              <a:t>Separable</a:t>
            </a:r>
            <a:r>
              <a:rPr sz="2000" b="1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35" dirty="0">
                <a:solidFill>
                  <a:srgbClr val="FFFFFF"/>
                </a:solidFill>
                <a:latin typeface="Trebuchet MS"/>
                <a:cs typeface="Trebuchet MS"/>
              </a:rPr>
              <a:t>Boolean</a:t>
            </a:r>
            <a:endParaRPr sz="2000">
              <a:latin typeface="Trebuchet MS"/>
              <a:cs typeface="Trebuchet MS"/>
            </a:endParaRPr>
          </a:p>
          <a:p>
            <a:pPr marL="355600">
              <a:lnSpc>
                <a:spcPts val="2160"/>
              </a:lnSpc>
            </a:pPr>
            <a:r>
              <a:rPr sz="2000" b="1" spc="-95" dirty="0">
                <a:solidFill>
                  <a:srgbClr val="FFFFFF"/>
                </a:solidFill>
                <a:latin typeface="Trebuchet MS"/>
                <a:cs typeface="Trebuchet MS"/>
              </a:rPr>
              <a:t>Functions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4968" y="2716760"/>
            <a:ext cx="6047740" cy="788670"/>
          </a:xfrm>
          <a:prstGeom prst="rect">
            <a:avLst/>
          </a:prstGeom>
        </p:spPr>
        <p:txBody>
          <a:bodyPr vert="horz" wrap="square" lIns="0" tIns="127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So</a:t>
            </a:r>
            <a:r>
              <a:rPr sz="1750" spc="-229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what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do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do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about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functions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which 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are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not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linearly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separable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?</a:t>
            </a:r>
            <a:endParaRPr sz="17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Let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us</a:t>
            </a:r>
            <a:r>
              <a:rPr sz="1750" spc="-1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see</a:t>
            </a:r>
            <a:r>
              <a:rPr sz="1750" spc="-2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one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such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simple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boolean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function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first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?</a:t>
            </a:r>
            <a:endParaRPr sz="175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50101" y="1072857"/>
            <a:ext cx="8644255" cy="5248275"/>
            <a:chOff x="250101" y="1072857"/>
            <a:chExt cx="8644255" cy="52482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0101" y="1072857"/>
              <a:ext cx="8643747" cy="524827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86400" y="1072895"/>
              <a:ext cx="3117088" cy="3733800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93521" y="1631530"/>
            <a:ext cx="1226185" cy="1200785"/>
            <a:chOff x="693521" y="1631530"/>
            <a:chExt cx="1226185" cy="120078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79762" y="2722635"/>
              <a:ext cx="85324" cy="8532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3521" y="1631530"/>
              <a:ext cx="1225918" cy="1200188"/>
            </a:xfrm>
            <a:prstGeom prst="rect">
              <a:avLst/>
            </a:prstGeom>
          </p:spPr>
        </p:pic>
      </p:grpSp>
      <p:grpSp>
        <p:nvGrpSpPr>
          <p:cNvPr id="5" name="object 5"/>
          <p:cNvGrpSpPr/>
          <p:nvPr/>
        </p:nvGrpSpPr>
        <p:grpSpPr>
          <a:xfrm>
            <a:off x="383552" y="850900"/>
            <a:ext cx="2348865" cy="2319655"/>
            <a:chOff x="383552" y="850900"/>
            <a:chExt cx="2348865" cy="2319655"/>
          </a:xfrm>
        </p:grpSpPr>
        <p:sp>
          <p:nvSpPr>
            <p:cNvPr id="6" name="object 6"/>
            <p:cNvSpPr/>
            <p:nvPr/>
          </p:nvSpPr>
          <p:spPr>
            <a:xfrm>
              <a:off x="451294" y="3040126"/>
              <a:ext cx="2275840" cy="125730"/>
            </a:xfrm>
            <a:custGeom>
              <a:avLst/>
              <a:gdLst/>
              <a:ahLst/>
              <a:cxnLst/>
              <a:rect l="l" t="t" r="r" b="b"/>
              <a:pathLst>
                <a:path w="2275840" h="125730">
                  <a:moveTo>
                    <a:pt x="0" y="62737"/>
                  </a:moveTo>
                  <a:lnTo>
                    <a:pt x="2267648" y="62737"/>
                  </a:lnTo>
                </a:path>
                <a:path w="2275840" h="125730">
                  <a:moveTo>
                    <a:pt x="2224341" y="0"/>
                  </a:moveTo>
                  <a:lnTo>
                    <a:pt x="2233358" y="24637"/>
                  </a:lnTo>
                  <a:lnTo>
                    <a:pt x="2245677" y="42672"/>
                  </a:lnTo>
                  <a:lnTo>
                    <a:pt x="2260155" y="55118"/>
                  </a:lnTo>
                  <a:lnTo>
                    <a:pt x="2275649" y="62737"/>
                  </a:lnTo>
                  <a:lnTo>
                    <a:pt x="2260155" y="70231"/>
                  </a:lnTo>
                  <a:lnTo>
                    <a:pt x="2245677" y="82676"/>
                  </a:lnTo>
                  <a:lnTo>
                    <a:pt x="2233358" y="100711"/>
                  </a:lnTo>
                  <a:lnTo>
                    <a:pt x="2224341" y="125349"/>
                  </a:lnTo>
                </a:path>
              </a:pathLst>
            </a:custGeom>
            <a:ln w="10122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3268" y="855980"/>
              <a:ext cx="16510" cy="2247265"/>
            </a:xfrm>
            <a:custGeom>
              <a:avLst/>
              <a:gdLst/>
              <a:ahLst/>
              <a:cxnLst/>
              <a:rect l="l" t="t" r="r" b="b"/>
              <a:pathLst>
                <a:path w="16509" h="2247265">
                  <a:moveTo>
                    <a:pt x="16052" y="0"/>
                  </a:moveTo>
                  <a:lnTo>
                    <a:pt x="0" y="0"/>
                  </a:lnTo>
                  <a:lnTo>
                    <a:pt x="0" y="2246884"/>
                  </a:lnTo>
                  <a:lnTo>
                    <a:pt x="16052" y="2246884"/>
                  </a:lnTo>
                  <a:lnTo>
                    <a:pt x="16052" y="0"/>
                  </a:lnTo>
                  <a:close/>
                </a:path>
              </a:pathLst>
            </a:custGeom>
            <a:solidFill>
              <a:srgbClr val="2137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88632" y="855980"/>
              <a:ext cx="125730" cy="22860"/>
            </a:xfrm>
            <a:custGeom>
              <a:avLst/>
              <a:gdLst/>
              <a:ahLst/>
              <a:cxnLst/>
              <a:rect l="l" t="t" r="r" b="b"/>
              <a:pathLst>
                <a:path w="125729" h="22859">
                  <a:moveTo>
                    <a:pt x="0" y="22479"/>
                  </a:moveTo>
                  <a:lnTo>
                    <a:pt x="24625" y="13462"/>
                  </a:lnTo>
                  <a:lnTo>
                    <a:pt x="42684" y="1270"/>
                  </a:lnTo>
                  <a:lnTo>
                    <a:pt x="43713" y="0"/>
                  </a:lnTo>
                </a:path>
                <a:path w="125729" h="22859">
                  <a:moveTo>
                    <a:pt x="81597" y="0"/>
                  </a:moveTo>
                  <a:lnTo>
                    <a:pt x="82626" y="1270"/>
                  </a:lnTo>
                  <a:lnTo>
                    <a:pt x="100685" y="13462"/>
                  </a:lnTo>
                  <a:lnTo>
                    <a:pt x="125310" y="22479"/>
                  </a:lnTo>
                </a:path>
              </a:pathLst>
            </a:custGeom>
            <a:ln w="10122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829157" y="4069841"/>
            <a:ext cx="101028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887094" algn="l"/>
              </a:tabLst>
            </a:pPr>
            <a:r>
              <a:rPr sz="1750" spc="-50" dirty="0">
                <a:solidFill>
                  <a:srgbClr val="0000FF"/>
                </a:solidFill>
                <a:latin typeface="Calibri"/>
                <a:cs typeface="Calibri"/>
              </a:rPr>
              <a:t>+</a:t>
            </a:r>
            <a:r>
              <a:rPr sz="1750" dirty="0">
                <a:solidFill>
                  <a:srgbClr val="0000FF"/>
                </a:solidFill>
                <a:latin typeface="Calibri"/>
                <a:cs typeface="Calibri"/>
              </a:rPr>
              <a:t>	</a:t>
            </a:r>
            <a:r>
              <a:rPr sz="1750" spc="-50" dirty="0">
                <a:solidFill>
                  <a:srgbClr val="0000FF"/>
                </a:solidFill>
                <a:latin typeface="Calibri"/>
                <a:cs typeface="Calibri"/>
              </a:rPr>
              <a:t>+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29157" y="4803775"/>
            <a:ext cx="13589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spc="-50" dirty="0">
                <a:solidFill>
                  <a:srgbClr val="0000FF"/>
                </a:solidFill>
                <a:latin typeface="Calibri"/>
                <a:cs typeface="Calibri"/>
              </a:rPr>
              <a:t>+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67485" y="4999101"/>
            <a:ext cx="31432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dirty="0">
                <a:solidFill>
                  <a:srgbClr val="0000FF"/>
                </a:solidFill>
                <a:latin typeface="Calibri"/>
                <a:cs typeface="Calibri"/>
              </a:rPr>
              <a:t>+</a:t>
            </a:r>
            <a:r>
              <a:rPr sz="1750" spc="1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750" spc="-50" dirty="0">
                <a:solidFill>
                  <a:srgbClr val="0000FF"/>
                </a:solidFill>
                <a:latin typeface="Calibri"/>
                <a:cs typeface="Calibri"/>
              </a:rPr>
              <a:t>+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80947" y="4930850"/>
            <a:ext cx="706120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82295" algn="l"/>
              </a:tabLst>
            </a:pPr>
            <a:r>
              <a:rPr sz="1750" spc="-50" dirty="0">
                <a:solidFill>
                  <a:srgbClr val="0000FF"/>
                </a:solidFill>
                <a:latin typeface="Calibri"/>
                <a:cs typeface="Calibri"/>
              </a:rPr>
              <a:t>+</a:t>
            </a:r>
            <a:r>
              <a:rPr sz="1750" dirty="0">
                <a:solidFill>
                  <a:srgbClr val="0000FF"/>
                </a:solidFill>
                <a:latin typeface="Calibri"/>
                <a:cs typeface="Calibri"/>
              </a:rPr>
              <a:t>	</a:t>
            </a:r>
            <a:r>
              <a:rPr sz="1750" spc="-50" dirty="0">
                <a:solidFill>
                  <a:srgbClr val="0000FF"/>
                </a:solidFill>
                <a:latin typeface="Calibri"/>
                <a:cs typeface="Calibri"/>
              </a:rPr>
              <a:t>+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703958" y="4803775"/>
            <a:ext cx="13589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spc="-50" dirty="0">
                <a:solidFill>
                  <a:srgbClr val="0000FF"/>
                </a:solidFill>
                <a:latin typeface="Calibri"/>
                <a:cs typeface="Calibri"/>
              </a:rPr>
              <a:t>+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03019" y="4632197"/>
            <a:ext cx="13589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spc="-50" dirty="0">
                <a:solidFill>
                  <a:srgbClr val="0000FF"/>
                </a:solidFill>
                <a:latin typeface="Calibri"/>
                <a:cs typeface="Calibri"/>
              </a:rPr>
              <a:t>+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142235" y="4280408"/>
            <a:ext cx="13906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i="1" spc="-50" dirty="0">
                <a:solidFill>
                  <a:srgbClr val="FF0000"/>
                </a:solidFill>
                <a:latin typeface="Calibri"/>
                <a:cs typeface="Calibri"/>
              </a:rPr>
              <a:t>o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803907" y="4218559"/>
            <a:ext cx="13589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spc="-50" dirty="0">
                <a:solidFill>
                  <a:srgbClr val="0000FF"/>
                </a:solidFill>
                <a:latin typeface="Calibri"/>
                <a:cs typeface="Calibri"/>
              </a:rPr>
              <a:t>+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104135" y="4136263"/>
            <a:ext cx="13906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i="1" spc="-50" dirty="0">
                <a:solidFill>
                  <a:srgbClr val="FF0000"/>
                </a:solidFill>
                <a:latin typeface="Calibri"/>
                <a:cs typeface="Calibri"/>
              </a:rPr>
              <a:t>o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040382" y="4000880"/>
            <a:ext cx="13906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i="1" spc="-50" dirty="0">
                <a:solidFill>
                  <a:srgbClr val="FF0000"/>
                </a:solidFill>
                <a:latin typeface="Calibri"/>
                <a:cs typeface="Calibri"/>
              </a:rPr>
              <a:t>o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23595" y="3585159"/>
            <a:ext cx="1247775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2625" i="1" baseline="-39682" dirty="0">
                <a:solidFill>
                  <a:srgbClr val="FF0000"/>
                </a:solidFill>
                <a:latin typeface="Calibri"/>
                <a:cs typeface="Calibri"/>
              </a:rPr>
              <a:t>o</a:t>
            </a:r>
            <a:r>
              <a:rPr sz="2625" i="1" baseline="-20634" dirty="0">
                <a:solidFill>
                  <a:srgbClr val="FF0000"/>
                </a:solidFill>
                <a:latin typeface="Calibri"/>
                <a:cs typeface="Calibri"/>
              </a:rPr>
              <a:t>o</a:t>
            </a:r>
            <a:r>
              <a:rPr sz="2625" i="1" baseline="-7936" dirty="0">
                <a:solidFill>
                  <a:srgbClr val="FF0000"/>
                </a:solidFill>
                <a:latin typeface="Calibri"/>
                <a:cs typeface="Calibri"/>
              </a:rPr>
              <a:t>o</a:t>
            </a:r>
            <a:r>
              <a:rPr sz="2625" i="1" spc="-120" baseline="-7936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FF0000"/>
                </a:solidFill>
                <a:latin typeface="Calibri"/>
                <a:cs typeface="Calibri"/>
              </a:rPr>
              <a:t>o</a:t>
            </a:r>
            <a:r>
              <a:rPr sz="1750" i="1" spc="-8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25" i="1" baseline="3174" dirty="0">
                <a:solidFill>
                  <a:srgbClr val="FF0000"/>
                </a:solidFill>
                <a:latin typeface="Calibri"/>
                <a:cs typeface="Calibri"/>
              </a:rPr>
              <a:t>o</a:t>
            </a:r>
            <a:r>
              <a:rPr sz="2625" i="1" spc="-142" baseline="317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750" i="1" spc="-10" dirty="0">
                <a:solidFill>
                  <a:srgbClr val="FF0000"/>
                </a:solidFill>
                <a:latin typeface="Calibri"/>
                <a:cs typeface="Calibri"/>
              </a:rPr>
              <a:t>o</a:t>
            </a:r>
            <a:r>
              <a:rPr sz="1750" i="1" spc="-1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25" i="1" spc="-37" baseline="-7936" dirty="0">
                <a:solidFill>
                  <a:srgbClr val="FF0000"/>
                </a:solidFill>
                <a:latin typeface="Calibri"/>
                <a:cs typeface="Calibri"/>
              </a:rPr>
              <a:t>o</a:t>
            </a:r>
            <a:r>
              <a:rPr sz="2625" i="1" spc="-37" baseline="-20634" dirty="0">
                <a:solidFill>
                  <a:srgbClr val="FF0000"/>
                </a:solidFill>
                <a:latin typeface="Calibri"/>
                <a:cs typeface="Calibri"/>
              </a:rPr>
              <a:t>o</a:t>
            </a:r>
            <a:r>
              <a:rPr sz="2625" i="1" spc="-37" baseline="-39682" dirty="0">
                <a:solidFill>
                  <a:srgbClr val="FF0000"/>
                </a:solidFill>
                <a:latin typeface="Calibri"/>
                <a:cs typeface="Calibri"/>
              </a:rPr>
              <a:t>o</a:t>
            </a:r>
            <a:endParaRPr sz="2625" baseline="-39682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05434" y="3878021"/>
            <a:ext cx="1513205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387350" algn="l"/>
                <a:tab pos="1360805" algn="l"/>
              </a:tabLst>
            </a:pPr>
            <a:r>
              <a:rPr sz="1750" i="1" spc="-50" dirty="0">
                <a:solidFill>
                  <a:srgbClr val="FF0000"/>
                </a:solidFill>
                <a:latin typeface="Calibri"/>
                <a:cs typeface="Calibri"/>
              </a:rPr>
              <a:t>o</a:t>
            </a:r>
            <a:r>
              <a:rPr sz="1750" i="1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2625" baseline="-12698" dirty="0">
                <a:solidFill>
                  <a:srgbClr val="0000FF"/>
                </a:solidFill>
                <a:latin typeface="Calibri"/>
                <a:cs typeface="Calibri"/>
              </a:rPr>
              <a:t>+</a:t>
            </a:r>
            <a:r>
              <a:rPr sz="2625" spc="195" baseline="-12698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0000FF"/>
                </a:solidFill>
                <a:latin typeface="Calibri"/>
                <a:cs typeface="Calibri"/>
              </a:rPr>
              <a:t>+</a:t>
            </a:r>
            <a:r>
              <a:rPr sz="1750" spc="1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0000FF"/>
                </a:solidFill>
                <a:latin typeface="Calibri"/>
                <a:cs typeface="Calibri"/>
              </a:rPr>
              <a:t>+</a:t>
            </a:r>
            <a:r>
              <a:rPr sz="1750" spc="1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625" spc="-75" baseline="-12698" dirty="0">
                <a:solidFill>
                  <a:srgbClr val="0000FF"/>
                </a:solidFill>
                <a:latin typeface="Calibri"/>
                <a:cs typeface="Calibri"/>
              </a:rPr>
              <a:t>+</a:t>
            </a:r>
            <a:r>
              <a:rPr sz="2625" baseline="-12698" dirty="0">
                <a:solidFill>
                  <a:srgbClr val="0000FF"/>
                </a:solidFill>
                <a:latin typeface="Calibri"/>
                <a:cs typeface="Calibri"/>
              </a:rPr>
              <a:t>	</a:t>
            </a:r>
            <a:r>
              <a:rPr sz="1750" i="1" spc="-50" dirty="0">
                <a:solidFill>
                  <a:srgbClr val="FF0000"/>
                </a:solidFill>
                <a:latin typeface="Calibri"/>
                <a:cs typeface="Calibri"/>
              </a:rPr>
              <a:t>o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56971" y="4000880"/>
            <a:ext cx="13906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i="1" spc="-50" dirty="0">
                <a:solidFill>
                  <a:srgbClr val="FF0000"/>
                </a:solidFill>
                <a:latin typeface="Calibri"/>
                <a:cs typeface="Calibri"/>
              </a:rPr>
              <a:t>o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69391" y="4136263"/>
            <a:ext cx="422909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dirty="0">
                <a:solidFill>
                  <a:srgbClr val="FF0000"/>
                </a:solidFill>
                <a:latin typeface="Calibri"/>
                <a:cs typeface="Calibri"/>
              </a:rPr>
              <a:t>o</a:t>
            </a:r>
            <a:r>
              <a:rPr sz="1750" i="1" spc="80" dirty="0">
                <a:solidFill>
                  <a:srgbClr val="FF0000"/>
                </a:solidFill>
                <a:latin typeface="Calibri"/>
                <a:cs typeface="Calibri"/>
              </a:rPr>
              <a:t>  </a:t>
            </a:r>
            <a:r>
              <a:rPr sz="2625" spc="-75" baseline="-20634" dirty="0">
                <a:solidFill>
                  <a:srgbClr val="0000FF"/>
                </a:solidFill>
                <a:latin typeface="Calibri"/>
                <a:cs typeface="Calibri"/>
              </a:rPr>
              <a:t>+</a:t>
            </a:r>
            <a:endParaRPr sz="2625" baseline="-20634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55168" y="4280408"/>
            <a:ext cx="13906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i="1" spc="-50" dirty="0">
                <a:solidFill>
                  <a:srgbClr val="FF0000"/>
                </a:solidFill>
                <a:latin typeface="Calibri"/>
                <a:cs typeface="Calibri"/>
              </a:rPr>
              <a:t>o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42061" y="4426077"/>
            <a:ext cx="13906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i="1" spc="-50" dirty="0">
                <a:solidFill>
                  <a:srgbClr val="FF0000"/>
                </a:solidFill>
                <a:latin typeface="Calibri"/>
                <a:cs typeface="Calibri"/>
              </a:rPr>
              <a:t>o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95350" y="4436745"/>
            <a:ext cx="170180" cy="48640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1820"/>
              </a:lnSpc>
              <a:spcBef>
                <a:spcPts val="90"/>
              </a:spcBef>
            </a:pPr>
            <a:r>
              <a:rPr sz="1750" spc="-50" dirty="0">
                <a:solidFill>
                  <a:srgbClr val="0000FF"/>
                </a:solidFill>
                <a:latin typeface="Calibri"/>
                <a:cs typeface="Calibri"/>
              </a:rPr>
              <a:t>+</a:t>
            </a:r>
            <a:endParaRPr sz="1750">
              <a:latin typeface="Calibri"/>
              <a:cs typeface="Calibri"/>
            </a:endParaRPr>
          </a:p>
          <a:p>
            <a:pPr marL="46990">
              <a:lnSpc>
                <a:spcPts val="1820"/>
              </a:lnSpc>
            </a:pPr>
            <a:r>
              <a:rPr sz="1750" spc="-50" dirty="0">
                <a:solidFill>
                  <a:srgbClr val="0000FF"/>
                </a:solidFill>
                <a:latin typeface="Calibri"/>
                <a:cs typeface="Calibri"/>
              </a:rPr>
              <a:t>+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55168" y="4577841"/>
            <a:ext cx="13906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i="1" spc="-50" dirty="0">
                <a:solidFill>
                  <a:srgbClr val="FF0000"/>
                </a:solidFill>
                <a:latin typeface="Calibri"/>
                <a:cs typeface="Calibri"/>
              </a:rPr>
              <a:t>o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93877" y="4722114"/>
            <a:ext cx="13906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i="1" spc="-50" dirty="0">
                <a:solidFill>
                  <a:srgbClr val="FF0000"/>
                </a:solidFill>
                <a:latin typeface="Calibri"/>
                <a:cs typeface="Calibri"/>
              </a:rPr>
              <a:t>o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56971" y="4857369"/>
            <a:ext cx="13906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i="1" spc="-50" dirty="0">
                <a:solidFill>
                  <a:srgbClr val="FF0000"/>
                </a:solidFill>
                <a:latin typeface="Calibri"/>
                <a:cs typeface="Calibri"/>
              </a:rPr>
              <a:t>o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18134" y="4979365"/>
            <a:ext cx="406400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-25" dirty="0">
                <a:solidFill>
                  <a:srgbClr val="FF0000"/>
                </a:solidFill>
                <a:latin typeface="Calibri"/>
                <a:cs typeface="Calibri"/>
              </a:rPr>
              <a:t>o</a:t>
            </a:r>
            <a:r>
              <a:rPr sz="2625" i="1" spc="-37" baseline="-20634" dirty="0">
                <a:solidFill>
                  <a:srgbClr val="FF0000"/>
                </a:solidFill>
                <a:latin typeface="Calibri"/>
                <a:cs typeface="Calibri"/>
              </a:rPr>
              <a:t>o</a:t>
            </a:r>
            <a:r>
              <a:rPr sz="2625" i="1" spc="-37" baseline="-39682" dirty="0">
                <a:solidFill>
                  <a:srgbClr val="FF0000"/>
                </a:solidFill>
                <a:latin typeface="Calibri"/>
                <a:cs typeface="Calibri"/>
              </a:rPr>
              <a:t>o</a:t>
            </a:r>
            <a:endParaRPr sz="2625" baseline="-39682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81151" y="5285613"/>
            <a:ext cx="77724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2625" i="1" spc="157" baseline="11111" dirty="0">
                <a:solidFill>
                  <a:srgbClr val="FF0000"/>
                </a:solidFill>
                <a:latin typeface="Calibri"/>
                <a:cs typeface="Calibri"/>
              </a:rPr>
              <a:t>o</a:t>
            </a:r>
            <a:r>
              <a:rPr sz="2625" i="1" spc="157" baseline="3174" dirty="0">
                <a:solidFill>
                  <a:srgbClr val="FF0000"/>
                </a:solidFill>
                <a:latin typeface="Calibri"/>
                <a:cs typeface="Calibri"/>
              </a:rPr>
              <a:t>o</a:t>
            </a:r>
            <a:r>
              <a:rPr sz="2625" i="1" spc="-172" baseline="317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750" i="1" spc="-10" dirty="0">
                <a:solidFill>
                  <a:srgbClr val="FF0000"/>
                </a:solidFill>
                <a:latin typeface="Calibri"/>
                <a:cs typeface="Calibri"/>
              </a:rPr>
              <a:t>o</a:t>
            </a:r>
            <a:r>
              <a:rPr sz="1750" i="1" spc="-1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25" i="1" spc="127" baseline="3174" dirty="0">
                <a:solidFill>
                  <a:srgbClr val="FF0000"/>
                </a:solidFill>
                <a:latin typeface="Calibri"/>
                <a:cs typeface="Calibri"/>
              </a:rPr>
              <a:t>o</a:t>
            </a:r>
            <a:r>
              <a:rPr sz="2625" i="1" spc="127" baseline="11111" dirty="0">
                <a:solidFill>
                  <a:srgbClr val="FF0000"/>
                </a:solidFill>
                <a:latin typeface="Calibri"/>
                <a:cs typeface="Calibri"/>
              </a:rPr>
              <a:t>o</a:t>
            </a:r>
            <a:endParaRPr sz="2625" baseline="11111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702307" y="4979365"/>
            <a:ext cx="407034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2625" i="1" spc="-37" baseline="-39682" dirty="0">
                <a:solidFill>
                  <a:srgbClr val="FF0000"/>
                </a:solidFill>
                <a:latin typeface="Calibri"/>
                <a:cs typeface="Calibri"/>
              </a:rPr>
              <a:t>o</a:t>
            </a:r>
            <a:r>
              <a:rPr sz="2625" i="1" spc="-37" baseline="-20634" dirty="0">
                <a:solidFill>
                  <a:srgbClr val="FF0000"/>
                </a:solidFill>
                <a:latin typeface="Calibri"/>
                <a:cs typeface="Calibri"/>
              </a:rPr>
              <a:t>o</a:t>
            </a:r>
            <a:r>
              <a:rPr sz="1750" i="1" spc="-25" dirty="0">
                <a:solidFill>
                  <a:srgbClr val="FF0000"/>
                </a:solidFill>
                <a:latin typeface="Calibri"/>
                <a:cs typeface="Calibri"/>
              </a:rPr>
              <a:t>o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040382" y="4857369"/>
            <a:ext cx="13906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i="1" spc="-50" dirty="0">
                <a:solidFill>
                  <a:srgbClr val="FF0000"/>
                </a:solidFill>
                <a:latin typeface="Calibri"/>
                <a:cs typeface="Calibri"/>
              </a:rPr>
              <a:t>o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103501" y="4722114"/>
            <a:ext cx="13906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i="1" spc="-50" dirty="0">
                <a:solidFill>
                  <a:srgbClr val="FF0000"/>
                </a:solidFill>
                <a:latin typeface="Calibri"/>
                <a:cs typeface="Calibri"/>
              </a:rPr>
              <a:t>o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142235" y="4577841"/>
            <a:ext cx="13906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i="1" spc="-50" dirty="0">
                <a:solidFill>
                  <a:srgbClr val="FF0000"/>
                </a:solidFill>
                <a:latin typeface="Calibri"/>
                <a:cs typeface="Calibri"/>
              </a:rPr>
              <a:t>o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837435" y="4436745"/>
            <a:ext cx="13589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spc="-50" dirty="0">
                <a:solidFill>
                  <a:srgbClr val="0000FF"/>
                </a:solidFill>
                <a:latin typeface="Calibri"/>
                <a:cs typeface="Calibri"/>
              </a:rPr>
              <a:t>+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154682" y="4426077"/>
            <a:ext cx="13906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i="1" spc="-50" dirty="0">
                <a:solidFill>
                  <a:srgbClr val="FF0000"/>
                </a:solidFill>
                <a:latin typeface="Calibri"/>
                <a:cs typeface="Calibri"/>
              </a:rPr>
              <a:t>o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388645" y="3209544"/>
            <a:ext cx="2395855" cy="2395855"/>
          </a:xfrm>
          <a:custGeom>
            <a:avLst/>
            <a:gdLst/>
            <a:ahLst/>
            <a:cxnLst/>
            <a:rect l="l" t="t" r="r" b="b"/>
            <a:pathLst>
              <a:path w="2395855" h="2395854">
                <a:moveTo>
                  <a:pt x="62649" y="2332862"/>
                </a:moveTo>
                <a:lnTo>
                  <a:pt x="2387447" y="2332862"/>
                </a:lnTo>
              </a:path>
              <a:path w="2395855" h="2395854">
                <a:moveTo>
                  <a:pt x="2344140" y="2270252"/>
                </a:moveTo>
                <a:lnTo>
                  <a:pt x="2353157" y="2294762"/>
                </a:lnTo>
                <a:lnTo>
                  <a:pt x="2365349" y="2312923"/>
                </a:lnTo>
                <a:lnTo>
                  <a:pt x="2379827" y="2325242"/>
                </a:lnTo>
                <a:lnTo>
                  <a:pt x="2395448" y="2332862"/>
                </a:lnTo>
                <a:lnTo>
                  <a:pt x="2379827" y="2340482"/>
                </a:lnTo>
                <a:lnTo>
                  <a:pt x="2365349" y="2352802"/>
                </a:lnTo>
                <a:lnTo>
                  <a:pt x="2353157" y="2370835"/>
                </a:lnTo>
                <a:lnTo>
                  <a:pt x="2344140" y="2395499"/>
                </a:lnTo>
              </a:path>
              <a:path w="2395855" h="2395854">
                <a:moveTo>
                  <a:pt x="62649" y="2332862"/>
                </a:moveTo>
                <a:lnTo>
                  <a:pt x="62649" y="8127"/>
                </a:lnTo>
              </a:path>
              <a:path w="2395855" h="2395854">
                <a:moveTo>
                  <a:pt x="0" y="51434"/>
                </a:moveTo>
                <a:lnTo>
                  <a:pt x="24612" y="42417"/>
                </a:lnTo>
                <a:lnTo>
                  <a:pt x="42684" y="30098"/>
                </a:lnTo>
                <a:lnTo>
                  <a:pt x="55067" y="15620"/>
                </a:lnTo>
                <a:lnTo>
                  <a:pt x="62649" y="0"/>
                </a:lnTo>
                <a:lnTo>
                  <a:pt x="70243" y="15620"/>
                </a:lnTo>
                <a:lnTo>
                  <a:pt x="82626" y="30098"/>
                </a:lnTo>
                <a:lnTo>
                  <a:pt x="100685" y="42417"/>
                </a:lnTo>
                <a:lnTo>
                  <a:pt x="125310" y="51434"/>
                </a:lnTo>
              </a:path>
            </a:pathLst>
          </a:custGeom>
          <a:ln w="10122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4381246" y="875537"/>
            <a:ext cx="4417695" cy="16579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 marR="24130" indent="-5080" algn="just">
              <a:lnSpc>
                <a:spcPct val="117700"/>
              </a:lnSpc>
              <a:spcBef>
                <a:spcPts val="100"/>
              </a:spcBef>
            </a:pP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Most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real</a:t>
            </a:r>
            <a:r>
              <a:rPr sz="1750" spc="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world</a:t>
            </a:r>
            <a:r>
              <a:rPr sz="1750" spc="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data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60" dirty="0">
                <a:solidFill>
                  <a:srgbClr val="213739"/>
                </a:solidFill>
                <a:latin typeface="Arial MT"/>
                <a:cs typeface="Arial MT"/>
              </a:rPr>
              <a:t>is</a:t>
            </a:r>
            <a:r>
              <a:rPr sz="1750" spc="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not</a:t>
            </a:r>
            <a:r>
              <a:rPr sz="1750" spc="11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linearly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separable</a:t>
            </a:r>
            <a:r>
              <a:rPr sz="1750" spc="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and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will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always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contain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some</a:t>
            </a:r>
            <a:r>
              <a:rPr sz="1750" spc="-1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outliers</a:t>
            </a:r>
            <a:endParaRPr sz="1750">
              <a:latin typeface="Arial MT"/>
              <a:cs typeface="Arial MT"/>
            </a:endParaRPr>
          </a:p>
          <a:p>
            <a:pPr marL="12700" marR="5080" algn="just">
              <a:lnSpc>
                <a:spcPct val="117500"/>
              </a:lnSpc>
              <a:spcBef>
                <a:spcPts val="509"/>
              </a:spcBef>
            </a:pP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In</a:t>
            </a:r>
            <a:r>
              <a:rPr sz="1750" spc="15" dirty="0">
                <a:solidFill>
                  <a:srgbClr val="213739"/>
                </a:solidFill>
                <a:latin typeface="Arial MT"/>
                <a:cs typeface="Arial MT"/>
              </a:rPr>
              <a:t> 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fact,</a:t>
            </a:r>
            <a:r>
              <a:rPr sz="1750" spc="40" dirty="0">
                <a:solidFill>
                  <a:srgbClr val="213739"/>
                </a:solidFill>
                <a:latin typeface="Arial MT"/>
                <a:cs typeface="Arial MT"/>
              </a:rPr>
              <a:t> 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sometimes</a:t>
            </a:r>
            <a:r>
              <a:rPr sz="1750" spc="48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there</a:t>
            </a:r>
            <a:r>
              <a:rPr sz="1750" spc="20" dirty="0">
                <a:solidFill>
                  <a:srgbClr val="213739"/>
                </a:solidFill>
                <a:latin typeface="Arial MT"/>
                <a:cs typeface="Arial MT"/>
              </a:rPr>
              <a:t> 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may</a:t>
            </a:r>
            <a:r>
              <a:rPr sz="1750" spc="4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not</a:t>
            </a:r>
            <a:r>
              <a:rPr sz="1750" spc="35" dirty="0">
                <a:solidFill>
                  <a:srgbClr val="213739"/>
                </a:solidFill>
                <a:latin typeface="Arial MT"/>
                <a:cs typeface="Arial MT"/>
              </a:rPr>
              <a:t> 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be</a:t>
            </a:r>
            <a:r>
              <a:rPr sz="1750" spc="4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any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outliers</a:t>
            </a:r>
            <a:r>
              <a:rPr sz="1750" spc="20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but</a:t>
            </a:r>
            <a:r>
              <a:rPr sz="1750" spc="2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still</a:t>
            </a:r>
            <a:r>
              <a:rPr sz="1750" spc="20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1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data</a:t>
            </a:r>
            <a:r>
              <a:rPr sz="1750" spc="1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may</a:t>
            </a:r>
            <a:r>
              <a:rPr sz="1750" spc="11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not</a:t>
            </a:r>
            <a:r>
              <a:rPr sz="1750" spc="2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be</a:t>
            </a:r>
            <a:r>
              <a:rPr sz="1750" spc="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linearly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separable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381246" y="2947866"/>
            <a:ext cx="4411980" cy="9683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145" marR="5080" indent="-5080" algn="just">
              <a:lnSpc>
                <a:spcPct val="117800"/>
              </a:lnSpc>
              <a:spcBef>
                <a:spcPts val="105"/>
              </a:spcBef>
            </a:pP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While</a:t>
            </a:r>
            <a:r>
              <a:rPr sz="1750" spc="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a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single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perceptron</a:t>
            </a:r>
            <a:r>
              <a:rPr sz="1750" spc="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cannot</a:t>
            </a:r>
            <a:r>
              <a:rPr sz="1750" spc="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deal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with</a:t>
            </a:r>
            <a:r>
              <a:rPr sz="1750" spc="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such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data,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will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show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that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a</a:t>
            </a:r>
            <a:r>
              <a:rPr sz="1750" spc="-1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network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perceptrons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can</a:t>
            </a:r>
            <a:r>
              <a:rPr sz="1750" spc="-2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indeed</a:t>
            </a:r>
            <a:r>
              <a:rPr sz="1750" spc="-1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deal</a:t>
            </a:r>
            <a:r>
              <a:rPr sz="1750" spc="-1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with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such</a:t>
            </a:r>
            <a:r>
              <a:rPr sz="1750" spc="-2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data</a:t>
            </a:r>
            <a:endParaRPr sz="175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3444" y="2813802"/>
            <a:ext cx="7582534" cy="65341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Before</a:t>
            </a:r>
            <a:r>
              <a:rPr sz="1750" spc="-1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seeing</a:t>
            </a:r>
            <a:r>
              <a:rPr sz="1750" spc="-1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how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anetwork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perceptrons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can</a:t>
            </a:r>
            <a:r>
              <a:rPr sz="1750" spc="-2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deal</a:t>
            </a:r>
            <a:r>
              <a:rPr sz="1750" spc="-1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with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linearly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inseparable</a:t>
            </a:r>
            <a:r>
              <a:rPr sz="1750" spc="-1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data,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endParaRPr sz="1750">
              <a:latin typeface="Arial MT"/>
              <a:cs typeface="Arial MT"/>
            </a:endParaRPr>
          </a:p>
          <a:p>
            <a:pPr marL="17145">
              <a:lnSpc>
                <a:spcPct val="100000"/>
              </a:lnSpc>
              <a:spcBef>
                <a:spcPts val="370"/>
              </a:spcBef>
            </a:pP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will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discuss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boolean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functions</a:t>
            </a:r>
            <a:r>
              <a:rPr sz="1750" spc="-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in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some</a:t>
            </a:r>
            <a:r>
              <a:rPr sz="1750" spc="-1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more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detail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...</a:t>
            </a:r>
            <a:endParaRPr sz="175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4968" y="1053846"/>
            <a:ext cx="537845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How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many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boolean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functions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can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you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design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from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2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inputs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?</a:t>
            </a:r>
            <a:endParaRPr sz="175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4968" y="1002030"/>
            <a:ext cx="5378450" cy="6597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900"/>
              </a:lnSpc>
              <a:spcBef>
                <a:spcPts val="100"/>
              </a:spcBef>
            </a:pP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How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many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boolean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functions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can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you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design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from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2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inputs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?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Let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us</a:t>
            </a:r>
            <a:r>
              <a:rPr sz="1750" spc="-1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begin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with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some</a:t>
            </a:r>
            <a:r>
              <a:rPr sz="1750" spc="-1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easy</a:t>
            </a:r>
            <a:r>
              <a:rPr sz="1750" spc="-1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ones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which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you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already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know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..</a:t>
            </a:r>
            <a:endParaRPr sz="1750">
              <a:latin typeface="Arial MT"/>
              <a:cs typeface="Arial MT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10373" y="1943621"/>
          <a:ext cx="8006713" cy="12833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92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10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56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1620">
                <a:tc>
                  <a:txBody>
                    <a:bodyPr/>
                    <a:lstStyle/>
                    <a:p>
                      <a:pPr marL="3810" algn="ctr">
                        <a:lnSpc>
                          <a:spcPts val="1645"/>
                        </a:lnSpc>
                      </a:pPr>
                      <a:r>
                        <a:rPr sz="1400" i="1" spc="-25" dirty="0">
                          <a:solidFill>
                            <a:srgbClr val="213739"/>
                          </a:solidFill>
                          <a:latin typeface="Comic Sans MS"/>
                          <a:cs typeface="Comic Sans MS"/>
                        </a:rPr>
                        <a:t>x</a:t>
                      </a:r>
                      <a:r>
                        <a:rPr sz="1500" spc="-37" baseline="-8333" dirty="0">
                          <a:solidFill>
                            <a:srgbClr val="213739"/>
                          </a:solidFill>
                          <a:latin typeface="Lucida Console"/>
                          <a:cs typeface="Lucida Console"/>
                        </a:rPr>
                        <a:t>1</a:t>
                      </a:r>
                      <a:endParaRPr sz="1500" baseline="-8333">
                        <a:latin typeface="Lucida Console"/>
                        <a:cs typeface="Lucida Console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645"/>
                        </a:lnSpc>
                      </a:pPr>
                      <a:r>
                        <a:rPr sz="1400" i="1" spc="-25" dirty="0">
                          <a:solidFill>
                            <a:srgbClr val="213739"/>
                          </a:solidFill>
                          <a:latin typeface="Comic Sans MS"/>
                          <a:cs typeface="Comic Sans MS"/>
                        </a:rPr>
                        <a:t>x</a:t>
                      </a:r>
                      <a:r>
                        <a:rPr sz="1500" spc="-37" baseline="-8333" dirty="0">
                          <a:solidFill>
                            <a:srgbClr val="213739"/>
                          </a:solidFill>
                          <a:latin typeface="Lucida Console"/>
                          <a:cs typeface="Lucida Console"/>
                        </a:rPr>
                        <a:t>2</a:t>
                      </a:r>
                      <a:endParaRPr sz="1500" baseline="-8333">
                        <a:latin typeface="Lucida Console"/>
                        <a:cs typeface="Lucida Console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745">
                        <a:lnSpc>
                          <a:spcPts val="1645"/>
                        </a:lnSpc>
                      </a:pPr>
                      <a:r>
                        <a:rPr sz="1400" i="1" spc="-25" dirty="0">
                          <a:solidFill>
                            <a:srgbClr val="213739"/>
                          </a:solidFill>
                          <a:latin typeface="Comic Sans MS"/>
                          <a:cs typeface="Comic Sans MS"/>
                        </a:rPr>
                        <a:t>f</a:t>
                      </a:r>
                      <a:r>
                        <a:rPr sz="1500" spc="-37" baseline="-8333" dirty="0">
                          <a:solidFill>
                            <a:srgbClr val="213739"/>
                          </a:solidFill>
                          <a:latin typeface="Lucida Console"/>
                          <a:cs typeface="Lucida Console"/>
                        </a:rPr>
                        <a:t>1</a:t>
                      </a:r>
                      <a:endParaRPr sz="1500" baseline="-8333">
                        <a:latin typeface="Lucida Console"/>
                        <a:cs typeface="Lucida Console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490">
                <a:tc>
                  <a:txBody>
                    <a:bodyPr/>
                    <a:lstStyle/>
                    <a:p>
                      <a:pPr marL="6985" algn="ctr">
                        <a:lnSpc>
                          <a:spcPts val="1639"/>
                        </a:lnSpc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ts val="1639"/>
                        </a:lnSpc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ts val="1639"/>
                        </a:lnSpc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3365"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3365"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7495"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4968" y="1002030"/>
            <a:ext cx="5378450" cy="6597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900"/>
              </a:lnSpc>
              <a:spcBef>
                <a:spcPts val="100"/>
              </a:spcBef>
            </a:pP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How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many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boolean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functions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can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you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design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from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2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inputs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?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Let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us</a:t>
            </a:r>
            <a:r>
              <a:rPr sz="1750" spc="-1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begin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with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some</a:t>
            </a:r>
            <a:r>
              <a:rPr sz="1750" spc="-1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easy</a:t>
            </a:r>
            <a:r>
              <a:rPr sz="1750" spc="-1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ones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which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you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already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know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..</a:t>
            </a:r>
            <a:endParaRPr sz="1750">
              <a:latin typeface="Arial MT"/>
              <a:cs typeface="Arial MT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10373" y="1942973"/>
          <a:ext cx="8006715" cy="12820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73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5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80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1620">
                <a:tc>
                  <a:txBody>
                    <a:bodyPr/>
                    <a:lstStyle/>
                    <a:p>
                      <a:pPr algn="ctr">
                        <a:lnSpc>
                          <a:spcPts val="1645"/>
                        </a:lnSpc>
                      </a:pPr>
                      <a:r>
                        <a:rPr sz="1400" i="1" spc="-25" dirty="0">
                          <a:solidFill>
                            <a:srgbClr val="213739"/>
                          </a:solidFill>
                          <a:latin typeface="Comic Sans MS"/>
                          <a:cs typeface="Comic Sans MS"/>
                        </a:rPr>
                        <a:t>x</a:t>
                      </a:r>
                      <a:r>
                        <a:rPr sz="1500" spc="-37" baseline="-8333" dirty="0">
                          <a:solidFill>
                            <a:srgbClr val="213739"/>
                          </a:solidFill>
                          <a:latin typeface="Lucida Console"/>
                          <a:cs typeface="Lucida Console"/>
                        </a:rPr>
                        <a:t>1</a:t>
                      </a:r>
                      <a:endParaRPr sz="1500" baseline="-8333">
                        <a:latin typeface="Lucida Console"/>
                        <a:cs typeface="Lucida Console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860" algn="ctr">
                        <a:lnSpc>
                          <a:spcPts val="1645"/>
                        </a:lnSpc>
                      </a:pPr>
                      <a:r>
                        <a:rPr sz="1400" i="1" spc="-25" dirty="0">
                          <a:solidFill>
                            <a:srgbClr val="213739"/>
                          </a:solidFill>
                          <a:latin typeface="Comic Sans MS"/>
                          <a:cs typeface="Comic Sans MS"/>
                        </a:rPr>
                        <a:t>x</a:t>
                      </a:r>
                      <a:r>
                        <a:rPr sz="1500" spc="-37" baseline="-8333" dirty="0">
                          <a:solidFill>
                            <a:srgbClr val="213739"/>
                          </a:solidFill>
                          <a:latin typeface="Lucida Console"/>
                          <a:cs typeface="Lucida Console"/>
                        </a:rPr>
                        <a:t>2</a:t>
                      </a:r>
                      <a:endParaRPr sz="1500" baseline="-8333">
                        <a:latin typeface="Lucida Console"/>
                        <a:cs typeface="Lucida Console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ts val="1645"/>
                        </a:lnSpc>
                      </a:pPr>
                      <a:r>
                        <a:rPr sz="1400" i="1" spc="-25" dirty="0">
                          <a:solidFill>
                            <a:srgbClr val="213739"/>
                          </a:solidFill>
                          <a:latin typeface="Comic Sans MS"/>
                          <a:cs typeface="Comic Sans MS"/>
                        </a:rPr>
                        <a:t>f</a:t>
                      </a:r>
                      <a:r>
                        <a:rPr sz="1500" spc="-37" baseline="-8333" dirty="0">
                          <a:solidFill>
                            <a:srgbClr val="213739"/>
                          </a:solidFill>
                          <a:latin typeface="Lucida Console"/>
                          <a:cs typeface="Lucida Console"/>
                        </a:rPr>
                        <a:t>1</a:t>
                      </a:r>
                      <a:endParaRPr sz="1500" baseline="-8333">
                        <a:latin typeface="Lucida Console"/>
                        <a:cs typeface="Lucida Console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6040" algn="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2100" i="1" spc="-37" baseline="5952" dirty="0">
                          <a:solidFill>
                            <a:srgbClr val="213739"/>
                          </a:solidFill>
                          <a:latin typeface="Comic Sans MS"/>
                          <a:cs typeface="Comic Sans MS"/>
                        </a:rPr>
                        <a:t>f</a:t>
                      </a:r>
                      <a:r>
                        <a:rPr sz="1000" spc="-25" dirty="0">
                          <a:solidFill>
                            <a:srgbClr val="213739"/>
                          </a:solidFill>
                          <a:latin typeface="Lucida Console"/>
                          <a:cs typeface="Lucida Console"/>
                        </a:rPr>
                        <a:t>16</a:t>
                      </a:r>
                      <a:endParaRPr sz="1000">
                        <a:latin typeface="Lucida Console"/>
                        <a:cs typeface="Lucida Console"/>
                      </a:endParaRPr>
                    </a:p>
                  </a:txBody>
                  <a:tcPr marL="0" marR="0" marT="12065" marB="0">
                    <a:lnT w="6350">
                      <a:solidFill>
                        <a:srgbClr val="213739"/>
                      </a:solidFill>
                      <a:prstDash val="solid"/>
                    </a:lnT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490">
                <a:tc>
                  <a:txBody>
                    <a:bodyPr/>
                    <a:lstStyle/>
                    <a:p>
                      <a:pPr marL="5080" algn="ctr">
                        <a:lnSpc>
                          <a:spcPts val="1639"/>
                        </a:lnSpc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1750" algn="ctr">
                        <a:lnSpc>
                          <a:spcPts val="1639"/>
                        </a:lnSpc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ts val="1639"/>
                        </a:lnSpc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00965" algn="r">
                        <a:lnSpc>
                          <a:spcPts val="1639"/>
                        </a:lnSpc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3365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3175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R="100965" algn="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3365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3175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R="100965" algn="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0965" algn="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4968" y="1002030"/>
            <a:ext cx="5378450" cy="6597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900"/>
              </a:lnSpc>
              <a:spcBef>
                <a:spcPts val="100"/>
              </a:spcBef>
            </a:pP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How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many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boolean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functions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can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you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design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from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2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inputs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?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Let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us</a:t>
            </a:r>
            <a:r>
              <a:rPr sz="1750" spc="-1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begin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with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some</a:t>
            </a:r>
            <a:r>
              <a:rPr sz="1750" spc="-1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easy</a:t>
            </a:r>
            <a:r>
              <a:rPr sz="1750" spc="-1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ones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which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you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already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know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..</a:t>
            </a:r>
            <a:endParaRPr sz="1750">
              <a:latin typeface="Arial MT"/>
              <a:cs typeface="Arial MT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10373" y="1942973"/>
          <a:ext cx="8008618" cy="12820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73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2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11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597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010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1620">
                <a:tc>
                  <a:txBody>
                    <a:bodyPr/>
                    <a:lstStyle/>
                    <a:p>
                      <a:pPr algn="ctr">
                        <a:lnSpc>
                          <a:spcPts val="1645"/>
                        </a:lnSpc>
                      </a:pPr>
                      <a:r>
                        <a:rPr sz="1400" i="1" spc="-25" dirty="0">
                          <a:solidFill>
                            <a:srgbClr val="213739"/>
                          </a:solidFill>
                          <a:latin typeface="Comic Sans MS"/>
                          <a:cs typeface="Comic Sans MS"/>
                        </a:rPr>
                        <a:t>x</a:t>
                      </a:r>
                      <a:r>
                        <a:rPr sz="1500" spc="-37" baseline="-8333" dirty="0">
                          <a:solidFill>
                            <a:srgbClr val="213739"/>
                          </a:solidFill>
                          <a:latin typeface="Lucida Console"/>
                          <a:cs typeface="Lucida Console"/>
                        </a:rPr>
                        <a:t>1</a:t>
                      </a:r>
                      <a:endParaRPr sz="1500" baseline="-8333">
                        <a:latin typeface="Lucida Console"/>
                        <a:cs typeface="Lucida Console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5"/>
                        </a:lnSpc>
                      </a:pPr>
                      <a:r>
                        <a:rPr sz="1400" i="1" spc="-25" dirty="0">
                          <a:solidFill>
                            <a:srgbClr val="213739"/>
                          </a:solidFill>
                          <a:latin typeface="Comic Sans MS"/>
                          <a:cs typeface="Comic Sans MS"/>
                        </a:rPr>
                        <a:t>x</a:t>
                      </a:r>
                      <a:r>
                        <a:rPr sz="1500" spc="-37" baseline="-8333" dirty="0">
                          <a:solidFill>
                            <a:srgbClr val="213739"/>
                          </a:solidFill>
                          <a:latin typeface="Lucida Console"/>
                          <a:cs typeface="Lucida Console"/>
                        </a:rPr>
                        <a:t>2</a:t>
                      </a:r>
                      <a:endParaRPr sz="1500" baseline="-8333">
                        <a:latin typeface="Lucida Console"/>
                        <a:cs typeface="Lucida Console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495" algn="ctr">
                        <a:lnSpc>
                          <a:spcPts val="1645"/>
                        </a:lnSpc>
                      </a:pPr>
                      <a:r>
                        <a:rPr sz="1400" i="1" spc="-25" dirty="0">
                          <a:solidFill>
                            <a:srgbClr val="213739"/>
                          </a:solidFill>
                          <a:latin typeface="Comic Sans MS"/>
                          <a:cs typeface="Comic Sans MS"/>
                        </a:rPr>
                        <a:t>f</a:t>
                      </a:r>
                      <a:r>
                        <a:rPr sz="1500" spc="-37" baseline="-8333" dirty="0">
                          <a:solidFill>
                            <a:srgbClr val="213739"/>
                          </a:solidFill>
                          <a:latin typeface="Lucida Console"/>
                          <a:cs typeface="Lucida Console"/>
                        </a:rPr>
                        <a:t>1</a:t>
                      </a:r>
                      <a:endParaRPr sz="1500" baseline="-8333">
                        <a:latin typeface="Lucida Console"/>
                        <a:cs typeface="Lucida Console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ts val="1645"/>
                        </a:lnSpc>
                      </a:pPr>
                      <a:r>
                        <a:rPr sz="1400" i="1" spc="-25" dirty="0">
                          <a:solidFill>
                            <a:srgbClr val="213739"/>
                          </a:solidFill>
                          <a:latin typeface="Comic Sans MS"/>
                          <a:cs typeface="Comic Sans MS"/>
                        </a:rPr>
                        <a:t>f</a:t>
                      </a:r>
                      <a:r>
                        <a:rPr sz="1500" spc="-37" baseline="-8333" dirty="0">
                          <a:solidFill>
                            <a:srgbClr val="213739"/>
                          </a:solidFill>
                          <a:latin typeface="Lucida Console"/>
                          <a:cs typeface="Lucida Console"/>
                        </a:rPr>
                        <a:t>2</a:t>
                      </a:r>
                      <a:endParaRPr sz="1500" baseline="-8333">
                        <a:latin typeface="Lucida Console"/>
                        <a:cs typeface="Lucida Console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5405" algn="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2100" i="1" spc="-37" baseline="5952" dirty="0">
                          <a:solidFill>
                            <a:srgbClr val="213739"/>
                          </a:solidFill>
                          <a:latin typeface="Comic Sans MS"/>
                          <a:cs typeface="Comic Sans MS"/>
                        </a:rPr>
                        <a:t>f</a:t>
                      </a:r>
                      <a:r>
                        <a:rPr sz="1000" spc="-25" dirty="0">
                          <a:solidFill>
                            <a:srgbClr val="213739"/>
                          </a:solidFill>
                          <a:latin typeface="Lucida Console"/>
                          <a:cs typeface="Lucida Console"/>
                        </a:rPr>
                        <a:t>16</a:t>
                      </a:r>
                      <a:endParaRPr sz="1000">
                        <a:latin typeface="Lucida Console"/>
                        <a:cs typeface="Lucida Console"/>
                      </a:endParaRPr>
                    </a:p>
                  </a:txBody>
                  <a:tcPr marL="0" marR="0" marT="12065" marB="0">
                    <a:lnT w="6350">
                      <a:solidFill>
                        <a:srgbClr val="213739"/>
                      </a:solidFill>
                      <a:prstDash val="solid"/>
                    </a:lnT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490">
                <a:tc>
                  <a:txBody>
                    <a:bodyPr/>
                    <a:lstStyle/>
                    <a:p>
                      <a:pPr marL="5080" algn="ctr">
                        <a:lnSpc>
                          <a:spcPts val="1639"/>
                        </a:lnSpc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ts val="1639"/>
                        </a:lnSpc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ts val="1639"/>
                        </a:lnSpc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639"/>
                        </a:lnSpc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00330" algn="r">
                        <a:lnSpc>
                          <a:spcPts val="1639"/>
                        </a:lnSpc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3365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R="100330" algn="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3365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R="100330" algn="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0330" algn="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4968" y="1002030"/>
            <a:ext cx="5378450" cy="6597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900"/>
              </a:lnSpc>
              <a:spcBef>
                <a:spcPts val="100"/>
              </a:spcBef>
            </a:pP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How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many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boolean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functions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can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you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design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from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2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inputs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?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Let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us</a:t>
            </a:r>
            <a:r>
              <a:rPr sz="1750" spc="-1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begin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with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some</a:t>
            </a:r>
            <a:r>
              <a:rPr sz="1750" spc="-1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easy</a:t>
            </a:r>
            <a:r>
              <a:rPr sz="1750" spc="-1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ones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which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you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already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know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..</a:t>
            </a:r>
            <a:endParaRPr sz="1750">
              <a:latin typeface="Arial MT"/>
              <a:cs typeface="Arial MT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10373" y="1942973"/>
          <a:ext cx="8014958" cy="12820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73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2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52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52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52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52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52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528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1528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1528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1528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8704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8831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88314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88314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8831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89584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490854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</a:tblGrid>
              <a:tr h="261620">
                <a:tc>
                  <a:txBody>
                    <a:bodyPr/>
                    <a:lstStyle/>
                    <a:p>
                      <a:pPr algn="ctr">
                        <a:lnSpc>
                          <a:spcPts val="1645"/>
                        </a:lnSpc>
                      </a:pPr>
                      <a:r>
                        <a:rPr sz="1400" i="1" spc="-25" dirty="0">
                          <a:solidFill>
                            <a:srgbClr val="213739"/>
                          </a:solidFill>
                          <a:latin typeface="Comic Sans MS"/>
                          <a:cs typeface="Comic Sans MS"/>
                        </a:rPr>
                        <a:t>x</a:t>
                      </a:r>
                      <a:r>
                        <a:rPr sz="1500" spc="-37" baseline="-8333" dirty="0">
                          <a:solidFill>
                            <a:srgbClr val="213739"/>
                          </a:solidFill>
                          <a:latin typeface="Lucida Console"/>
                          <a:cs typeface="Lucida Console"/>
                        </a:rPr>
                        <a:t>1</a:t>
                      </a:r>
                      <a:endParaRPr sz="1500" baseline="-8333">
                        <a:latin typeface="Lucida Console"/>
                        <a:cs typeface="Lucida Console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5"/>
                        </a:lnSpc>
                      </a:pPr>
                      <a:r>
                        <a:rPr sz="1400" i="1" spc="-25" dirty="0">
                          <a:solidFill>
                            <a:srgbClr val="213739"/>
                          </a:solidFill>
                          <a:latin typeface="Comic Sans MS"/>
                          <a:cs typeface="Comic Sans MS"/>
                        </a:rPr>
                        <a:t>x</a:t>
                      </a:r>
                      <a:r>
                        <a:rPr sz="1500" spc="-37" baseline="-8333" dirty="0">
                          <a:solidFill>
                            <a:srgbClr val="213739"/>
                          </a:solidFill>
                          <a:latin typeface="Lucida Console"/>
                          <a:cs typeface="Lucida Console"/>
                        </a:rPr>
                        <a:t>2</a:t>
                      </a:r>
                      <a:endParaRPr sz="1500" baseline="-8333">
                        <a:latin typeface="Lucida Console"/>
                        <a:cs typeface="Lucida Console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5"/>
                        </a:lnSpc>
                      </a:pPr>
                      <a:r>
                        <a:rPr sz="1400" i="1" spc="-25" dirty="0">
                          <a:solidFill>
                            <a:srgbClr val="213739"/>
                          </a:solidFill>
                          <a:latin typeface="Comic Sans MS"/>
                          <a:cs typeface="Comic Sans MS"/>
                        </a:rPr>
                        <a:t>f</a:t>
                      </a:r>
                      <a:r>
                        <a:rPr sz="1500" spc="-37" baseline="-8333" dirty="0">
                          <a:solidFill>
                            <a:srgbClr val="213739"/>
                          </a:solidFill>
                          <a:latin typeface="Lucida Console"/>
                          <a:cs typeface="Lucida Console"/>
                        </a:rPr>
                        <a:t>1</a:t>
                      </a:r>
                      <a:endParaRPr sz="1500" baseline="-8333">
                        <a:latin typeface="Lucida Console"/>
                        <a:cs typeface="Lucida Console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5"/>
                        </a:lnSpc>
                      </a:pPr>
                      <a:r>
                        <a:rPr sz="1400" i="1" spc="-25" dirty="0">
                          <a:solidFill>
                            <a:srgbClr val="213739"/>
                          </a:solidFill>
                          <a:latin typeface="Comic Sans MS"/>
                          <a:cs typeface="Comic Sans MS"/>
                        </a:rPr>
                        <a:t>f</a:t>
                      </a:r>
                      <a:r>
                        <a:rPr sz="1500" spc="-37" baseline="-8333" dirty="0">
                          <a:solidFill>
                            <a:srgbClr val="213739"/>
                          </a:solidFill>
                          <a:latin typeface="Lucida Console"/>
                          <a:cs typeface="Lucida Console"/>
                        </a:rPr>
                        <a:t>2</a:t>
                      </a:r>
                      <a:endParaRPr sz="1500" baseline="-8333">
                        <a:latin typeface="Lucida Console"/>
                        <a:cs typeface="Lucida Console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5"/>
                        </a:lnSpc>
                      </a:pPr>
                      <a:r>
                        <a:rPr sz="1400" i="1" spc="-25" dirty="0">
                          <a:solidFill>
                            <a:srgbClr val="213739"/>
                          </a:solidFill>
                          <a:latin typeface="Comic Sans MS"/>
                          <a:cs typeface="Comic Sans MS"/>
                        </a:rPr>
                        <a:t>f</a:t>
                      </a:r>
                      <a:r>
                        <a:rPr sz="1500" spc="-37" baseline="-8333" dirty="0">
                          <a:solidFill>
                            <a:srgbClr val="213739"/>
                          </a:solidFill>
                          <a:latin typeface="Lucida Console"/>
                          <a:cs typeface="Lucida Console"/>
                        </a:rPr>
                        <a:t>3</a:t>
                      </a:r>
                      <a:endParaRPr sz="1500" baseline="-8333">
                        <a:latin typeface="Lucida Console"/>
                        <a:cs typeface="Lucida Console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5"/>
                        </a:lnSpc>
                      </a:pPr>
                      <a:r>
                        <a:rPr sz="1400" i="1" spc="-25" dirty="0">
                          <a:solidFill>
                            <a:srgbClr val="213739"/>
                          </a:solidFill>
                          <a:latin typeface="Comic Sans MS"/>
                          <a:cs typeface="Comic Sans MS"/>
                        </a:rPr>
                        <a:t>f</a:t>
                      </a:r>
                      <a:r>
                        <a:rPr sz="1500" spc="-37" baseline="-8333" dirty="0">
                          <a:solidFill>
                            <a:srgbClr val="213739"/>
                          </a:solidFill>
                          <a:latin typeface="Lucida Console"/>
                          <a:cs typeface="Lucida Console"/>
                        </a:rPr>
                        <a:t>4</a:t>
                      </a:r>
                      <a:endParaRPr sz="1500" baseline="-8333">
                        <a:latin typeface="Lucida Console"/>
                        <a:cs typeface="Lucida Console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5"/>
                        </a:lnSpc>
                      </a:pPr>
                      <a:r>
                        <a:rPr sz="1400" i="1" spc="-25" dirty="0">
                          <a:solidFill>
                            <a:srgbClr val="213739"/>
                          </a:solidFill>
                          <a:latin typeface="Comic Sans MS"/>
                          <a:cs typeface="Comic Sans MS"/>
                        </a:rPr>
                        <a:t>f</a:t>
                      </a:r>
                      <a:r>
                        <a:rPr sz="1500" spc="-37" baseline="-8333" dirty="0">
                          <a:solidFill>
                            <a:srgbClr val="213739"/>
                          </a:solidFill>
                          <a:latin typeface="Lucida Console"/>
                          <a:cs typeface="Lucida Console"/>
                        </a:rPr>
                        <a:t>5</a:t>
                      </a:r>
                      <a:endParaRPr sz="1500" baseline="-8333">
                        <a:latin typeface="Lucida Console"/>
                        <a:cs typeface="Lucida Console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5"/>
                        </a:lnSpc>
                      </a:pPr>
                      <a:r>
                        <a:rPr sz="1400" i="1" spc="-25" dirty="0">
                          <a:solidFill>
                            <a:srgbClr val="213739"/>
                          </a:solidFill>
                          <a:latin typeface="Comic Sans MS"/>
                          <a:cs typeface="Comic Sans MS"/>
                        </a:rPr>
                        <a:t>f</a:t>
                      </a:r>
                      <a:r>
                        <a:rPr sz="1500" spc="-37" baseline="-8333" dirty="0">
                          <a:solidFill>
                            <a:srgbClr val="213739"/>
                          </a:solidFill>
                          <a:latin typeface="Lucida Console"/>
                          <a:cs typeface="Lucida Console"/>
                        </a:rPr>
                        <a:t>6</a:t>
                      </a:r>
                      <a:endParaRPr sz="1500" baseline="-8333">
                        <a:latin typeface="Lucida Console"/>
                        <a:cs typeface="Lucida Console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5"/>
                        </a:lnSpc>
                      </a:pPr>
                      <a:r>
                        <a:rPr sz="1400" i="1" spc="-25" dirty="0">
                          <a:solidFill>
                            <a:srgbClr val="213739"/>
                          </a:solidFill>
                          <a:latin typeface="Comic Sans MS"/>
                          <a:cs typeface="Comic Sans MS"/>
                        </a:rPr>
                        <a:t>f</a:t>
                      </a:r>
                      <a:r>
                        <a:rPr sz="1500" spc="-37" baseline="-8333" dirty="0">
                          <a:solidFill>
                            <a:srgbClr val="213739"/>
                          </a:solidFill>
                          <a:latin typeface="Lucida Console"/>
                          <a:cs typeface="Lucida Console"/>
                        </a:rPr>
                        <a:t>7</a:t>
                      </a:r>
                      <a:endParaRPr sz="1500" baseline="-8333">
                        <a:latin typeface="Lucida Console"/>
                        <a:cs typeface="Lucida Console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5"/>
                        </a:lnSpc>
                      </a:pPr>
                      <a:r>
                        <a:rPr sz="1400" i="1" spc="-25" dirty="0">
                          <a:solidFill>
                            <a:srgbClr val="213739"/>
                          </a:solidFill>
                          <a:latin typeface="Comic Sans MS"/>
                          <a:cs typeface="Comic Sans MS"/>
                        </a:rPr>
                        <a:t>f</a:t>
                      </a:r>
                      <a:r>
                        <a:rPr sz="1500" spc="-37" baseline="-8333" dirty="0">
                          <a:solidFill>
                            <a:srgbClr val="213739"/>
                          </a:solidFill>
                          <a:latin typeface="Lucida Console"/>
                          <a:cs typeface="Lucida Console"/>
                        </a:rPr>
                        <a:t>8</a:t>
                      </a:r>
                      <a:endParaRPr sz="1500" baseline="-8333">
                        <a:latin typeface="Lucida Console"/>
                        <a:cs typeface="Lucida Console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5"/>
                        </a:lnSpc>
                      </a:pPr>
                      <a:r>
                        <a:rPr sz="1400" i="1" spc="-25" dirty="0">
                          <a:solidFill>
                            <a:srgbClr val="213739"/>
                          </a:solidFill>
                          <a:latin typeface="Comic Sans MS"/>
                          <a:cs typeface="Comic Sans MS"/>
                        </a:rPr>
                        <a:t>f</a:t>
                      </a:r>
                      <a:r>
                        <a:rPr sz="1500" spc="-37" baseline="-8333" dirty="0">
                          <a:solidFill>
                            <a:srgbClr val="213739"/>
                          </a:solidFill>
                          <a:latin typeface="Lucida Console"/>
                          <a:cs typeface="Lucida Console"/>
                        </a:rPr>
                        <a:t>9</a:t>
                      </a:r>
                      <a:endParaRPr sz="1500" baseline="-8333">
                        <a:latin typeface="Lucida Console"/>
                        <a:cs typeface="Lucida Console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2100" i="1" spc="-37" baseline="5952" dirty="0">
                          <a:solidFill>
                            <a:srgbClr val="213739"/>
                          </a:solidFill>
                          <a:latin typeface="Comic Sans MS"/>
                          <a:cs typeface="Comic Sans MS"/>
                        </a:rPr>
                        <a:t>f</a:t>
                      </a:r>
                      <a:r>
                        <a:rPr sz="1000" spc="-25" dirty="0">
                          <a:solidFill>
                            <a:srgbClr val="213739"/>
                          </a:solidFill>
                          <a:latin typeface="Lucida Console"/>
                          <a:cs typeface="Lucida Console"/>
                        </a:rPr>
                        <a:t>10</a:t>
                      </a:r>
                      <a:endParaRPr sz="1000">
                        <a:latin typeface="Lucida Console"/>
                        <a:cs typeface="Lucida Console"/>
                      </a:endParaRPr>
                    </a:p>
                  </a:txBody>
                  <a:tcPr marL="0" marR="0" marT="12065" marB="0">
                    <a:lnT w="6350">
                      <a:solidFill>
                        <a:srgbClr val="213739"/>
                      </a:solidFill>
                      <a:prstDash val="solid"/>
                    </a:lnT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2100" i="1" spc="-37" baseline="5952" dirty="0">
                          <a:solidFill>
                            <a:srgbClr val="213739"/>
                          </a:solidFill>
                          <a:latin typeface="Comic Sans MS"/>
                          <a:cs typeface="Comic Sans MS"/>
                        </a:rPr>
                        <a:t>f</a:t>
                      </a:r>
                      <a:r>
                        <a:rPr sz="1000" spc="-25" dirty="0">
                          <a:solidFill>
                            <a:srgbClr val="213739"/>
                          </a:solidFill>
                          <a:latin typeface="Lucida Console"/>
                          <a:cs typeface="Lucida Console"/>
                        </a:rPr>
                        <a:t>11</a:t>
                      </a:r>
                      <a:endParaRPr sz="1000">
                        <a:latin typeface="Lucida Console"/>
                        <a:cs typeface="Lucida Console"/>
                      </a:endParaRPr>
                    </a:p>
                  </a:txBody>
                  <a:tcPr marL="0" marR="0" marT="12065" marB="0">
                    <a:lnT w="6350">
                      <a:solidFill>
                        <a:srgbClr val="213739"/>
                      </a:solidFill>
                      <a:prstDash val="solid"/>
                    </a:lnT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2100" i="1" spc="-37" baseline="5952" dirty="0">
                          <a:solidFill>
                            <a:srgbClr val="213739"/>
                          </a:solidFill>
                          <a:latin typeface="Comic Sans MS"/>
                          <a:cs typeface="Comic Sans MS"/>
                        </a:rPr>
                        <a:t>f</a:t>
                      </a:r>
                      <a:r>
                        <a:rPr sz="1000" spc="-25" dirty="0">
                          <a:solidFill>
                            <a:srgbClr val="213739"/>
                          </a:solidFill>
                          <a:latin typeface="Lucida Console"/>
                          <a:cs typeface="Lucida Console"/>
                        </a:rPr>
                        <a:t>12</a:t>
                      </a:r>
                      <a:endParaRPr sz="1000">
                        <a:latin typeface="Lucida Console"/>
                        <a:cs typeface="Lucida Console"/>
                      </a:endParaRPr>
                    </a:p>
                  </a:txBody>
                  <a:tcPr marL="0" marR="0" marT="12065" marB="0">
                    <a:lnT w="6350">
                      <a:solidFill>
                        <a:srgbClr val="213739"/>
                      </a:solidFill>
                      <a:prstDash val="solid"/>
                    </a:lnT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2100" i="1" spc="-37" baseline="5952" dirty="0">
                          <a:solidFill>
                            <a:srgbClr val="213739"/>
                          </a:solidFill>
                          <a:latin typeface="Comic Sans MS"/>
                          <a:cs typeface="Comic Sans MS"/>
                        </a:rPr>
                        <a:t>f</a:t>
                      </a:r>
                      <a:r>
                        <a:rPr sz="1000" spc="-25" dirty="0">
                          <a:solidFill>
                            <a:srgbClr val="213739"/>
                          </a:solidFill>
                          <a:latin typeface="Lucida Console"/>
                          <a:cs typeface="Lucida Console"/>
                        </a:rPr>
                        <a:t>13</a:t>
                      </a:r>
                      <a:endParaRPr sz="1000">
                        <a:latin typeface="Lucida Console"/>
                        <a:cs typeface="Lucida Console"/>
                      </a:endParaRPr>
                    </a:p>
                  </a:txBody>
                  <a:tcPr marL="0" marR="0" marT="12065" marB="0">
                    <a:lnT w="6350">
                      <a:solidFill>
                        <a:srgbClr val="213739"/>
                      </a:solidFill>
                      <a:prstDash val="solid"/>
                    </a:lnT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2100" i="1" spc="-37" baseline="5952" dirty="0">
                          <a:solidFill>
                            <a:srgbClr val="213739"/>
                          </a:solidFill>
                          <a:latin typeface="Comic Sans MS"/>
                          <a:cs typeface="Comic Sans MS"/>
                        </a:rPr>
                        <a:t>f</a:t>
                      </a:r>
                      <a:r>
                        <a:rPr sz="1000" spc="-25" dirty="0">
                          <a:solidFill>
                            <a:srgbClr val="213739"/>
                          </a:solidFill>
                          <a:latin typeface="Lucida Console"/>
                          <a:cs typeface="Lucida Console"/>
                        </a:rPr>
                        <a:t>14</a:t>
                      </a:r>
                      <a:endParaRPr sz="1000">
                        <a:latin typeface="Lucida Console"/>
                        <a:cs typeface="Lucida Console"/>
                      </a:endParaRPr>
                    </a:p>
                  </a:txBody>
                  <a:tcPr marL="0" marR="0" marT="12065" marB="0">
                    <a:lnT w="6350">
                      <a:solidFill>
                        <a:srgbClr val="213739"/>
                      </a:solidFill>
                      <a:prstDash val="solid"/>
                    </a:lnT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2100" i="1" spc="-37" baseline="5952" dirty="0">
                          <a:solidFill>
                            <a:srgbClr val="213739"/>
                          </a:solidFill>
                          <a:latin typeface="Comic Sans MS"/>
                          <a:cs typeface="Comic Sans MS"/>
                        </a:rPr>
                        <a:t>f</a:t>
                      </a:r>
                      <a:r>
                        <a:rPr sz="1000" spc="-25" dirty="0">
                          <a:solidFill>
                            <a:srgbClr val="213739"/>
                          </a:solidFill>
                          <a:latin typeface="Lucida Console"/>
                          <a:cs typeface="Lucida Console"/>
                        </a:rPr>
                        <a:t>15</a:t>
                      </a:r>
                      <a:endParaRPr sz="1000">
                        <a:latin typeface="Lucida Console"/>
                        <a:cs typeface="Lucida Console"/>
                      </a:endParaRPr>
                    </a:p>
                  </a:txBody>
                  <a:tcPr marL="0" marR="0" marT="12065" marB="0">
                    <a:lnT w="6350">
                      <a:solidFill>
                        <a:srgbClr val="213739"/>
                      </a:solidFill>
                      <a:prstDash val="solid"/>
                    </a:lnT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2100" i="1" spc="-37" baseline="5952" dirty="0">
                          <a:solidFill>
                            <a:srgbClr val="213739"/>
                          </a:solidFill>
                          <a:latin typeface="Comic Sans MS"/>
                          <a:cs typeface="Comic Sans MS"/>
                        </a:rPr>
                        <a:t>f</a:t>
                      </a:r>
                      <a:r>
                        <a:rPr sz="1000" spc="-25" dirty="0">
                          <a:solidFill>
                            <a:srgbClr val="213739"/>
                          </a:solidFill>
                          <a:latin typeface="Lucida Console"/>
                          <a:cs typeface="Lucida Console"/>
                        </a:rPr>
                        <a:t>16</a:t>
                      </a:r>
                      <a:endParaRPr sz="1000">
                        <a:latin typeface="Lucida Console"/>
                        <a:cs typeface="Lucida Console"/>
                      </a:endParaRPr>
                    </a:p>
                  </a:txBody>
                  <a:tcPr marL="0" marR="0" marT="12065" marB="0">
                    <a:lnT w="6350">
                      <a:solidFill>
                        <a:srgbClr val="213739"/>
                      </a:solidFill>
                      <a:prstDash val="solid"/>
                    </a:lnT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490">
                <a:tc>
                  <a:txBody>
                    <a:bodyPr/>
                    <a:lstStyle/>
                    <a:p>
                      <a:pPr marL="5080" algn="ctr">
                        <a:lnSpc>
                          <a:spcPts val="1639"/>
                        </a:lnSpc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ts val="1639"/>
                        </a:lnSpc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ts val="1639"/>
                        </a:lnSpc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ts val="1639"/>
                        </a:lnSpc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ts val="1639"/>
                        </a:lnSpc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ts val="1639"/>
                        </a:lnSpc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ts val="1639"/>
                        </a:lnSpc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ts val="1639"/>
                        </a:lnSpc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ts val="1639"/>
                        </a:lnSpc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ts val="1639"/>
                        </a:lnSpc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ts val="1639"/>
                        </a:lnSpc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ts val="1639"/>
                        </a:lnSpc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639"/>
                        </a:lnSpc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ts val="1639"/>
                        </a:lnSpc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639"/>
                        </a:lnSpc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639"/>
                        </a:lnSpc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ts val="1639"/>
                        </a:lnSpc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ts val="1639"/>
                        </a:lnSpc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3365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3365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4968" y="1002030"/>
            <a:ext cx="5378450" cy="6597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900"/>
              </a:lnSpc>
              <a:spcBef>
                <a:spcPts val="100"/>
              </a:spcBef>
            </a:pP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How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many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boolean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functions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can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you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design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from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2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inputs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?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Let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us</a:t>
            </a:r>
            <a:r>
              <a:rPr sz="1750" spc="-1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begin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with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some</a:t>
            </a:r>
            <a:r>
              <a:rPr sz="1750" spc="-1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easy</a:t>
            </a:r>
            <a:r>
              <a:rPr sz="1750" spc="-1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ones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which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you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already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know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..</a:t>
            </a:r>
            <a:endParaRPr sz="1750">
              <a:latin typeface="Arial MT"/>
              <a:cs typeface="Arial MT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10373" y="1942973"/>
          <a:ext cx="8014958" cy="12820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73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2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52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52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52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52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52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528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1528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1528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1528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8704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8831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88314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88314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8831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89584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490854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</a:tblGrid>
              <a:tr h="261620">
                <a:tc>
                  <a:txBody>
                    <a:bodyPr/>
                    <a:lstStyle/>
                    <a:p>
                      <a:pPr algn="ctr">
                        <a:lnSpc>
                          <a:spcPts val="1645"/>
                        </a:lnSpc>
                      </a:pPr>
                      <a:r>
                        <a:rPr sz="1400" i="1" spc="-25" dirty="0">
                          <a:solidFill>
                            <a:srgbClr val="213739"/>
                          </a:solidFill>
                          <a:latin typeface="Comic Sans MS"/>
                          <a:cs typeface="Comic Sans MS"/>
                        </a:rPr>
                        <a:t>x</a:t>
                      </a:r>
                      <a:r>
                        <a:rPr sz="1500" spc="-37" baseline="-8333" dirty="0">
                          <a:solidFill>
                            <a:srgbClr val="213739"/>
                          </a:solidFill>
                          <a:latin typeface="Lucida Console"/>
                          <a:cs typeface="Lucida Console"/>
                        </a:rPr>
                        <a:t>1</a:t>
                      </a:r>
                      <a:endParaRPr sz="1500" baseline="-8333">
                        <a:latin typeface="Lucida Console"/>
                        <a:cs typeface="Lucida Console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5"/>
                        </a:lnSpc>
                      </a:pPr>
                      <a:r>
                        <a:rPr sz="1400" i="1" spc="-25" dirty="0">
                          <a:solidFill>
                            <a:srgbClr val="213739"/>
                          </a:solidFill>
                          <a:latin typeface="Comic Sans MS"/>
                          <a:cs typeface="Comic Sans MS"/>
                        </a:rPr>
                        <a:t>x</a:t>
                      </a:r>
                      <a:r>
                        <a:rPr sz="1500" spc="-37" baseline="-8333" dirty="0">
                          <a:solidFill>
                            <a:srgbClr val="213739"/>
                          </a:solidFill>
                          <a:latin typeface="Lucida Console"/>
                          <a:cs typeface="Lucida Console"/>
                        </a:rPr>
                        <a:t>2</a:t>
                      </a:r>
                      <a:endParaRPr sz="1500" baseline="-8333">
                        <a:latin typeface="Lucida Console"/>
                        <a:cs typeface="Lucida Console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5"/>
                        </a:lnSpc>
                      </a:pPr>
                      <a:r>
                        <a:rPr sz="1400" i="1" spc="-25" dirty="0">
                          <a:solidFill>
                            <a:srgbClr val="213739"/>
                          </a:solidFill>
                          <a:latin typeface="Comic Sans MS"/>
                          <a:cs typeface="Comic Sans MS"/>
                        </a:rPr>
                        <a:t>f</a:t>
                      </a:r>
                      <a:r>
                        <a:rPr sz="1500" spc="-37" baseline="-8333" dirty="0">
                          <a:solidFill>
                            <a:srgbClr val="213739"/>
                          </a:solidFill>
                          <a:latin typeface="Lucida Console"/>
                          <a:cs typeface="Lucida Console"/>
                        </a:rPr>
                        <a:t>1</a:t>
                      </a:r>
                      <a:endParaRPr sz="1500" baseline="-8333">
                        <a:latin typeface="Lucida Console"/>
                        <a:cs typeface="Lucida Console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5"/>
                        </a:lnSpc>
                      </a:pPr>
                      <a:r>
                        <a:rPr sz="1400" i="1" spc="-25" dirty="0">
                          <a:solidFill>
                            <a:srgbClr val="213739"/>
                          </a:solidFill>
                          <a:latin typeface="Comic Sans MS"/>
                          <a:cs typeface="Comic Sans MS"/>
                        </a:rPr>
                        <a:t>f</a:t>
                      </a:r>
                      <a:r>
                        <a:rPr sz="1500" spc="-37" baseline="-8333" dirty="0">
                          <a:solidFill>
                            <a:srgbClr val="213739"/>
                          </a:solidFill>
                          <a:latin typeface="Lucida Console"/>
                          <a:cs typeface="Lucida Console"/>
                        </a:rPr>
                        <a:t>2</a:t>
                      </a:r>
                      <a:endParaRPr sz="1500" baseline="-8333">
                        <a:latin typeface="Lucida Console"/>
                        <a:cs typeface="Lucida Console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5"/>
                        </a:lnSpc>
                      </a:pPr>
                      <a:r>
                        <a:rPr sz="1400" i="1" spc="-25" dirty="0">
                          <a:solidFill>
                            <a:srgbClr val="213739"/>
                          </a:solidFill>
                          <a:latin typeface="Comic Sans MS"/>
                          <a:cs typeface="Comic Sans MS"/>
                        </a:rPr>
                        <a:t>f</a:t>
                      </a:r>
                      <a:r>
                        <a:rPr sz="1500" spc="-37" baseline="-8333" dirty="0">
                          <a:solidFill>
                            <a:srgbClr val="213739"/>
                          </a:solidFill>
                          <a:latin typeface="Lucida Console"/>
                          <a:cs typeface="Lucida Console"/>
                        </a:rPr>
                        <a:t>3</a:t>
                      </a:r>
                      <a:endParaRPr sz="1500" baseline="-8333">
                        <a:latin typeface="Lucida Console"/>
                        <a:cs typeface="Lucida Console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5"/>
                        </a:lnSpc>
                      </a:pPr>
                      <a:r>
                        <a:rPr sz="1400" i="1" spc="-25" dirty="0">
                          <a:solidFill>
                            <a:srgbClr val="213739"/>
                          </a:solidFill>
                          <a:latin typeface="Comic Sans MS"/>
                          <a:cs typeface="Comic Sans MS"/>
                        </a:rPr>
                        <a:t>f</a:t>
                      </a:r>
                      <a:r>
                        <a:rPr sz="1500" spc="-37" baseline="-8333" dirty="0">
                          <a:solidFill>
                            <a:srgbClr val="213739"/>
                          </a:solidFill>
                          <a:latin typeface="Lucida Console"/>
                          <a:cs typeface="Lucida Console"/>
                        </a:rPr>
                        <a:t>4</a:t>
                      </a:r>
                      <a:endParaRPr sz="1500" baseline="-8333">
                        <a:latin typeface="Lucida Console"/>
                        <a:cs typeface="Lucida Console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5"/>
                        </a:lnSpc>
                      </a:pPr>
                      <a:r>
                        <a:rPr sz="1400" i="1" spc="-25" dirty="0">
                          <a:solidFill>
                            <a:srgbClr val="213739"/>
                          </a:solidFill>
                          <a:latin typeface="Comic Sans MS"/>
                          <a:cs typeface="Comic Sans MS"/>
                        </a:rPr>
                        <a:t>f</a:t>
                      </a:r>
                      <a:r>
                        <a:rPr sz="1500" spc="-37" baseline="-8333" dirty="0">
                          <a:solidFill>
                            <a:srgbClr val="213739"/>
                          </a:solidFill>
                          <a:latin typeface="Lucida Console"/>
                          <a:cs typeface="Lucida Console"/>
                        </a:rPr>
                        <a:t>5</a:t>
                      </a:r>
                      <a:endParaRPr sz="1500" baseline="-8333">
                        <a:latin typeface="Lucida Console"/>
                        <a:cs typeface="Lucida Console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5"/>
                        </a:lnSpc>
                      </a:pPr>
                      <a:r>
                        <a:rPr sz="1400" i="1" spc="-25" dirty="0">
                          <a:solidFill>
                            <a:srgbClr val="213739"/>
                          </a:solidFill>
                          <a:latin typeface="Comic Sans MS"/>
                          <a:cs typeface="Comic Sans MS"/>
                        </a:rPr>
                        <a:t>f</a:t>
                      </a:r>
                      <a:r>
                        <a:rPr sz="1500" spc="-37" baseline="-8333" dirty="0">
                          <a:solidFill>
                            <a:srgbClr val="213739"/>
                          </a:solidFill>
                          <a:latin typeface="Lucida Console"/>
                          <a:cs typeface="Lucida Console"/>
                        </a:rPr>
                        <a:t>6</a:t>
                      </a:r>
                      <a:endParaRPr sz="1500" baseline="-8333">
                        <a:latin typeface="Lucida Console"/>
                        <a:cs typeface="Lucida Console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5"/>
                        </a:lnSpc>
                      </a:pPr>
                      <a:r>
                        <a:rPr sz="1400" i="1" spc="-25" dirty="0">
                          <a:solidFill>
                            <a:srgbClr val="213739"/>
                          </a:solidFill>
                          <a:latin typeface="Comic Sans MS"/>
                          <a:cs typeface="Comic Sans MS"/>
                        </a:rPr>
                        <a:t>f</a:t>
                      </a:r>
                      <a:r>
                        <a:rPr sz="1500" spc="-37" baseline="-8333" dirty="0">
                          <a:solidFill>
                            <a:srgbClr val="213739"/>
                          </a:solidFill>
                          <a:latin typeface="Lucida Console"/>
                          <a:cs typeface="Lucida Console"/>
                        </a:rPr>
                        <a:t>7</a:t>
                      </a:r>
                      <a:endParaRPr sz="1500" baseline="-8333">
                        <a:latin typeface="Lucida Console"/>
                        <a:cs typeface="Lucida Console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5"/>
                        </a:lnSpc>
                      </a:pPr>
                      <a:r>
                        <a:rPr sz="1400" i="1" spc="-25" dirty="0">
                          <a:solidFill>
                            <a:srgbClr val="213739"/>
                          </a:solidFill>
                          <a:latin typeface="Comic Sans MS"/>
                          <a:cs typeface="Comic Sans MS"/>
                        </a:rPr>
                        <a:t>f</a:t>
                      </a:r>
                      <a:r>
                        <a:rPr sz="1500" spc="-37" baseline="-8333" dirty="0">
                          <a:solidFill>
                            <a:srgbClr val="213739"/>
                          </a:solidFill>
                          <a:latin typeface="Lucida Console"/>
                          <a:cs typeface="Lucida Console"/>
                        </a:rPr>
                        <a:t>8</a:t>
                      </a:r>
                      <a:endParaRPr sz="1500" baseline="-8333">
                        <a:latin typeface="Lucida Console"/>
                        <a:cs typeface="Lucida Console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5"/>
                        </a:lnSpc>
                      </a:pPr>
                      <a:r>
                        <a:rPr sz="1400" i="1" spc="-25" dirty="0">
                          <a:solidFill>
                            <a:srgbClr val="213739"/>
                          </a:solidFill>
                          <a:latin typeface="Comic Sans MS"/>
                          <a:cs typeface="Comic Sans MS"/>
                        </a:rPr>
                        <a:t>f</a:t>
                      </a:r>
                      <a:r>
                        <a:rPr sz="1500" spc="-37" baseline="-8333" dirty="0">
                          <a:solidFill>
                            <a:srgbClr val="213739"/>
                          </a:solidFill>
                          <a:latin typeface="Lucida Console"/>
                          <a:cs typeface="Lucida Console"/>
                        </a:rPr>
                        <a:t>9</a:t>
                      </a:r>
                      <a:endParaRPr sz="1500" baseline="-8333">
                        <a:latin typeface="Lucida Console"/>
                        <a:cs typeface="Lucida Console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2100" i="1" spc="-37" baseline="5952" dirty="0">
                          <a:solidFill>
                            <a:srgbClr val="213739"/>
                          </a:solidFill>
                          <a:latin typeface="Comic Sans MS"/>
                          <a:cs typeface="Comic Sans MS"/>
                        </a:rPr>
                        <a:t>f</a:t>
                      </a:r>
                      <a:r>
                        <a:rPr sz="1000" spc="-25" dirty="0">
                          <a:solidFill>
                            <a:srgbClr val="213739"/>
                          </a:solidFill>
                          <a:latin typeface="Lucida Console"/>
                          <a:cs typeface="Lucida Console"/>
                        </a:rPr>
                        <a:t>10</a:t>
                      </a:r>
                      <a:endParaRPr sz="1000">
                        <a:latin typeface="Lucida Console"/>
                        <a:cs typeface="Lucida Console"/>
                      </a:endParaRPr>
                    </a:p>
                  </a:txBody>
                  <a:tcPr marL="0" marR="0" marT="12065" marB="0">
                    <a:lnT w="6350">
                      <a:solidFill>
                        <a:srgbClr val="213739"/>
                      </a:solidFill>
                      <a:prstDash val="solid"/>
                    </a:lnT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2100" i="1" spc="-37" baseline="5952" dirty="0">
                          <a:solidFill>
                            <a:srgbClr val="213739"/>
                          </a:solidFill>
                          <a:latin typeface="Comic Sans MS"/>
                          <a:cs typeface="Comic Sans MS"/>
                        </a:rPr>
                        <a:t>f</a:t>
                      </a:r>
                      <a:r>
                        <a:rPr sz="1000" spc="-25" dirty="0">
                          <a:solidFill>
                            <a:srgbClr val="213739"/>
                          </a:solidFill>
                          <a:latin typeface="Lucida Console"/>
                          <a:cs typeface="Lucida Console"/>
                        </a:rPr>
                        <a:t>11</a:t>
                      </a:r>
                      <a:endParaRPr sz="1000">
                        <a:latin typeface="Lucida Console"/>
                        <a:cs typeface="Lucida Console"/>
                      </a:endParaRPr>
                    </a:p>
                  </a:txBody>
                  <a:tcPr marL="0" marR="0" marT="12065" marB="0">
                    <a:lnT w="6350">
                      <a:solidFill>
                        <a:srgbClr val="213739"/>
                      </a:solidFill>
                      <a:prstDash val="solid"/>
                    </a:lnT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2100" i="1" spc="-37" baseline="5952" dirty="0">
                          <a:solidFill>
                            <a:srgbClr val="213739"/>
                          </a:solidFill>
                          <a:latin typeface="Comic Sans MS"/>
                          <a:cs typeface="Comic Sans MS"/>
                        </a:rPr>
                        <a:t>f</a:t>
                      </a:r>
                      <a:r>
                        <a:rPr sz="1000" spc="-25" dirty="0">
                          <a:solidFill>
                            <a:srgbClr val="213739"/>
                          </a:solidFill>
                          <a:latin typeface="Lucida Console"/>
                          <a:cs typeface="Lucida Console"/>
                        </a:rPr>
                        <a:t>12</a:t>
                      </a:r>
                      <a:endParaRPr sz="1000">
                        <a:latin typeface="Lucida Console"/>
                        <a:cs typeface="Lucida Console"/>
                      </a:endParaRPr>
                    </a:p>
                  </a:txBody>
                  <a:tcPr marL="0" marR="0" marT="12065" marB="0">
                    <a:lnT w="6350">
                      <a:solidFill>
                        <a:srgbClr val="213739"/>
                      </a:solidFill>
                      <a:prstDash val="solid"/>
                    </a:lnT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2100" i="1" spc="-37" baseline="5952" dirty="0">
                          <a:solidFill>
                            <a:srgbClr val="213739"/>
                          </a:solidFill>
                          <a:latin typeface="Comic Sans MS"/>
                          <a:cs typeface="Comic Sans MS"/>
                        </a:rPr>
                        <a:t>f</a:t>
                      </a:r>
                      <a:r>
                        <a:rPr sz="1000" spc="-25" dirty="0">
                          <a:solidFill>
                            <a:srgbClr val="213739"/>
                          </a:solidFill>
                          <a:latin typeface="Lucida Console"/>
                          <a:cs typeface="Lucida Console"/>
                        </a:rPr>
                        <a:t>13</a:t>
                      </a:r>
                      <a:endParaRPr sz="1000">
                        <a:latin typeface="Lucida Console"/>
                        <a:cs typeface="Lucida Console"/>
                      </a:endParaRPr>
                    </a:p>
                  </a:txBody>
                  <a:tcPr marL="0" marR="0" marT="12065" marB="0">
                    <a:lnT w="6350">
                      <a:solidFill>
                        <a:srgbClr val="213739"/>
                      </a:solidFill>
                      <a:prstDash val="solid"/>
                    </a:lnT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2100" i="1" spc="-37" baseline="5952" dirty="0">
                          <a:solidFill>
                            <a:srgbClr val="213739"/>
                          </a:solidFill>
                          <a:latin typeface="Comic Sans MS"/>
                          <a:cs typeface="Comic Sans MS"/>
                        </a:rPr>
                        <a:t>f</a:t>
                      </a:r>
                      <a:r>
                        <a:rPr sz="1000" spc="-25" dirty="0">
                          <a:solidFill>
                            <a:srgbClr val="213739"/>
                          </a:solidFill>
                          <a:latin typeface="Lucida Console"/>
                          <a:cs typeface="Lucida Console"/>
                        </a:rPr>
                        <a:t>14</a:t>
                      </a:r>
                      <a:endParaRPr sz="1000">
                        <a:latin typeface="Lucida Console"/>
                        <a:cs typeface="Lucida Console"/>
                      </a:endParaRPr>
                    </a:p>
                  </a:txBody>
                  <a:tcPr marL="0" marR="0" marT="12065" marB="0">
                    <a:lnT w="6350">
                      <a:solidFill>
                        <a:srgbClr val="213739"/>
                      </a:solidFill>
                      <a:prstDash val="solid"/>
                    </a:lnT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2100" i="1" spc="-37" baseline="5952" dirty="0">
                          <a:solidFill>
                            <a:srgbClr val="213739"/>
                          </a:solidFill>
                          <a:latin typeface="Comic Sans MS"/>
                          <a:cs typeface="Comic Sans MS"/>
                        </a:rPr>
                        <a:t>f</a:t>
                      </a:r>
                      <a:r>
                        <a:rPr sz="1000" spc="-25" dirty="0">
                          <a:solidFill>
                            <a:srgbClr val="213739"/>
                          </a:solidFill>
                          <a:latin typeface="Lucida Console"/>
                          <a:cs typeface="Lucida Console"/>
                        </a:rPr>
                        <a:t>15</a:t>
                      </a:r>
                      <a:endParaRPr sz="1000">
                        <a:latin typeface="Lucida Console"/>
                        <a:cs typeface="Lucida Console"/>
                      </a:endParaRPr>
                    </a:p>
                  </a:txBody>
                  <a:tcPr marL="0" marR="0" marT="12065" marB="0">
                    <a:lnT w="6350">
                      <a:solidFill>
                        <a:srgbClr val="213739"/>
                      </a:solidFill>
                      <a:prstDash val="solid"/>
                    </a:lnT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2100" i="1" spc="-37" baseline="5952" dirty="0">
                          <a:solidFill>
                            <a:srgbClr val="213739"/>
                          </a:solidFill>
                          <a:latin typeface="Comic Sans MS"/>
                          <a:cs typeface="Comic Sans MS"/>
                        </a:rPr>
                        <a:t>f</a:t>
                      </a:r>
                      <a:r>
                        <a:rPr sz="1000" spc="-25" dirty="0">
                          <a:solidFill>
                            <a:srgbClr val="213739"/>
                          </a:solidFill>
                          <a:latin typeface="Lucida Console"/>
                          <a:cs typeface="Lucida Console"/>
                        </a:rPr>
                        <a:t>16</a:t>
                      </a:r>
                      <a:endParaRPr sz="1000">
                        <a:latin typeface="Lucida Console"/>
                        <a:cs typeface="Lucida Console"/>
                      </a:endParaRPr>
                    </a:p>
                  </a:txBody>
                  <a:tcPr marL="0" marR="0" marT="12065" marB="0">
                    <a:lnT w="6350">
                      <a:solidFill>
                        <a:srgbClr val="213739"/>
                      </a:solidFill>
                      <a:prstDash val="solid"/>
                    </a:lnT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490">
                <a:tc>
                  <a:txBody>
                    <a:bodyPr/>
                    <a:lstStyle/>
                    <a:p>
                      <a:pPr marL="5080" algn="ctr">
                        <a:lnSpc>
                          <a:spcPts val="1639"/>
                        </a:lnSpc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ts val="1639"/>
                        </a:lnSpc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ts val="1639"/>
                        </a:lnSpc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ts val="1639"/>
                        </a:lnSpc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ts val="1639"/>
                        </a:lnSpc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ts val="1639"/>
                        </a:lnSpc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ts val="1639"/>
                        </a:lnSpc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ts val="1639"/>
                        </a:lnSpc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ts val="1639"/>
                        </a:lnSpc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ts val="1639"/>
                        </a:lnSpc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ts val="1639"/>
                        </a:lnSpc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ts val="1639"/>
                        </a:lnSpc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639"/>
                        </a:lnSpc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ts val="1639"/>
                        </a:lnSpc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639"/>
                        </a:lnSpc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639"/>
                        </a:lnSpc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ts val="1639"/>
                        </a:lnSpc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ts val="1639"/>
                        </a:lnSpc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3365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3365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994968" y="3297758"/>
            <a:ext cx="3890645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these,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how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many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are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linearly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separable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?</a:t>
            </a:r>
            <a:endParaRPr sz="175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4968" y="1002030"/>
            <a:ext cx="5378450" cy="6597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900"/>
              </a:lnSpc>
              <a:spcBef>
                <a:spcPts val="100"/>
              </a:spcBef>
            </a:pP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How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many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boolean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functions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can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you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design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from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2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inputs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?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Let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us</a:t>
            </a:r>
            <a:r>
              <a:rPr sz="1750" spc="-1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begin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with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some</a:t>
            </a:r>
            <a:r>
              <a:rPr sz="1750" spc="-1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easy</a:t>
            </a:r>
            <a:r>
              <a:rPr sz="1750" spc="-1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ones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which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you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already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know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..</a:t>
            </a:r>
            <a:endParaRPr sz="1750">
              <a:latin typeface="Arial MT"/>
              <a:cs typeface="Arial MT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10373" y="1942973"/>
          <a:ext cx="8014958" cy="12820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73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2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52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52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52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52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52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528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1528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1528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1528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8704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8831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88314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88314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8831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89584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490854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</a:tblGrid>
              <a:tr h="261620">
                <a:tc>
                  <a:txBody>
                    <a:bodyPr/>
                    <a:lstStyle/>
                    <a:p>
                      <a:pPr algn="ctr">
                        <a:lnSpc>
                          <a:spcPts val="1645"/>
                        </a:lnSpc>
                      </a:pPr>
                      <a:r>
                        <a:rPr sz="1400" i="1" spc="-25" dirty="0">
                          <a:solidFill>
                            <a:srgbClr val="213739"/>
                          </a:solidFill>
                          <a:latin typeface="Comic Sans MS"/>
                          <a:cs typeface="Comic Sans MS"/>
                        </a:rPr>
                        <a:t>x</a:t>
                      </a:r>
                      <a:r>
                        <a:rPr sz="1500" spc="-37" baseline="-8333" dirty="0">
                          <a:solidFill>
                            <a:srgbClr val="213739"/>
                          </a:solidFill>
                          <a:latin typeface="Lucida Console"/>
                          <a:cs typeface="Lucida Console"/>
                        </a:rPr>
                        <a:t>1</a:t>
                      </a:r>
                      <a:endParaRPr sz="1500" baseline="-8333">
                        <a:latin typeface="Lucida Console"/>
                        <a:cs typeface="Lucida Console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5"/>
                        </a:lnSpc>
                      </a:pPr>
                      <a:r>
                        <a:rPr sz="1400" i="1" spc="-25" dirty="0">
                          <a:solidFill>
                            <a:srgbClr val="213739"/>
                          </a:solidFill>
                          <a:latin typeface="Comic Sans MS"/>
                          <a:cs typeface="Comic Sans MS"/>
                        </a:rPr>
                        <a:t>x</a:t>
                      </a:r>
                      <a:r>
                        <a:rPr sz="1500" spc="-37" baseline="-8333" dirty="0">
                          <a:solidFill>
                            <a:srgbClr val="213739"/>
                          </a:solidFill>
                          <a:latin typeface="Lucida Console"/>
                          <a:cs typeface="Lucida Console"/>
                        </a:rPr>
                        <a:t>2</a:t>
                      </a:r>
                      <a:endParaRPr sz="1500" baseline="-8333">
                        <a:latin typeface="Lucida Console"/>
                        <a:cs typeface="Lucida Console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5"/>
                        </a:lnSpc>
                      </a:pPr>
                      <a:r>
                        <a:rPr sz="1400" i="1" spc="-25" dirty="0">
                          <a:solidFill>
                            <a:srgbClr val="213739"/>
                          </a:solidFill>
                          <a:latin typeface="Comic Sans MS"/>
                          <a:cs typeface="Comic Sans MS"/>
                        </a:rPr>
                        <a:t>f</a:t>
                      </a:r>
                      <a:r>
                        <a:rPr sz="1500" spc="-37" baseline="-8333" dirty="0">
                          <a:solidFill>
                            <a:srgbClr val="213739"/>
                          </a:solidFill>
                          <a:latin typeface="Lucida Console"/>
                          <a:cs typeface="Lucida Console"/>
                        </a:rPr>
                        <a:t>1</a:t>
                      </a:r>
                      <a:endParaRPr sz="1500" baseline="-8333">
                        <a:latin typeface="Lucida Console"/>
                        <a:cs typeface="Lucida Console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5"/>
                        </a:lnSpc>
                      </a:pPr>
                      <a:r>
                        <a:rPr sz="1400" i="1" spc="-25" dirty="0">
                          <a:solidFill>
                            <a:srgbClr val="213739"/>
                          </a:solidFill>
                          <a:latin typeface="Comic Sans MS"/>
                          <a:cs typeface="Comic Sans MS"/>
                        </a:rPr>
                        <a:t>f</a:t>
                      </a:r>
                      <a:r>
                        <a:rPr sz="1500" spc="-37" baseline="-8333" dirty="0">
                          <a:solidFill>
                            <a:srgbClr val="213739"/>
                          </a:solidFill>
                          <a:latin typeface="Lucida Console"/>
                          <a:cs typeface="Lucida Console"/>
                        </a:rPr>
                        <a:t>2</a:t>
                      </a:r>
                      <a:endParaRPr sz="1500" baseline="-8333">
                        <a:latin typeface="Lucida Console"/>
                        <a:cs typeface="Lucida Console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5"/>
                        </a:lnSpc>
                      </a:pPr>
                      <a:r>
                        <a:rPr sz="1400" i="1" spc="-25" dirty="0">
                          <a:solidFill>
                            <a:srgbClr val="213739"/>
                          </a:solidFill>
                          <a:latin typeface="Comic Sans MS"/>
                          <a:cs typeface="Comic Sans MS"/>
                        </a:rPr>
                        <a:t>f</a:t>
                      </a:r>
                      <a:r>
                        <a:rPr sz="1500" spc="-37" baseline="-8333" dirty="0">
                          <a:solidFill>
                            <a:srgbClr val="213739"/>
                          </a:solidFill>
                          <a:latin typeface="Lucida Console"/>
                          <a:cs typeface="Lucida Console"/>
                        </a:rPr>
                        <a:t>3</a:t>
                      </a:r>
                      <a:endParaRPr sz="1500" baseline="-8333">
                        <a:latin typeface="Lucida Console"/>
                        <a:cs typeface="Lucida Console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5"/>
                        </a:lnSpc>
                      </a:pPr>
                      <a:r>
                        <a:rPr sz="1400" i="1" spc="-25" dirty="0">
                          <a:solidFill>
                            <a:srgbClr val="213739"/>
                          </a:solidFill>
                          <a:latin typeface="Comic Sans MS"/>
                          <a:cs typeface="Comic Sans MS"/>
                        </a:rPr>
                        <a:t>f</a:t>
                      </a:r>
                      <a:r>
                        <a:rPr sz="1500" spc="-37" baseline="-8333" dirty="0">
                          <a:solidFill>
                            <a:srgbClr val="213739"/>
                          </a:solidFill>
                          <a:latin typeface="Lucida Console"/>
                          <a:cs typeface="Lucida Console"/>
                        </a:rPr>
                        <a:t>4</a:t>
                      </a:r>
                      <a:endParaRPr sz="1500" baseline="-8333">
                        <a:latin typeface="Lucida Console"/>
                        <a:cs typeface="Lucida Console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5"/>
                        </a:lnSpc>
                      </a:pPr>
                      <a:r>
                        <a:rPr sz="1400" i="1" spc="-25" dirty="0">
                          <a:solidFill>
                            <a:srgbClr val="213739"/>
                          </a:solidFill>
                          <a:latin typeface="Comic Sans MS"/>
                          <a:cs typeface="Comic Sans MS"/>
                        </a:rPr>
                        <a:t>f</a:t>
                      </a:r>
                      <a:r>
                        <a:rPr sz="1500" spc="-37" baseline="-8333" dirty="0">
                          <a:solidFill>
                            <a:srgbClr val="213739"/>
                          </a:solidFill>
                          <a:latin typeface="Lucida Console"/>
                          <a:cs typeface="Lucida Console"/>
                        </a:rPr>
                        <a:t>5</a:t>
                      </a:r>
                      <a:endParaRPr sz="1500" baseline="-8333">
                        <a:latin typeface="Lucida Console"/>
                        <a:cs typeface="Lucida Console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5"/>
                        </a:lnSpc>
                      </a:pPr>
                      <a:r>
                        <a:rPr sz="1400" i="1" spc="-25" dirty="0">
                          <a:solidFill>
                            <a:srgbClr val="213739"/>
                          </a:solidFill>
                          <a:latin typeface="Comic Sans MS"/>
                          <a:cs typeface="Comic Sans MS"/>
                        </a:rPr>
                        <a:t>f</a:t>
                      </a:r>
                      <a:r>
                        <a:rPr sz="1500" spc="-37" baseline="-8333" dirty="0">
                          <a:solidFill>
                            <a:srgbClr val="213739"/>
                          </a:solidFill>
                          <a:latin typeface="Lucida Console"/>
                          <a:cs typeface="Lucida Console"/>
                        </a:rPr>
                        <a:t>6</a:t>
                      </a:r>
                      <a:endParaRPr sz="1500" baseline="-8333">
                        <a:latin typeface="Lucida Console"/>
                        <a:cs typeface="Lucida Console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5"/>
                        </a:lnSpc>
                      </a:pPr>
                      <a:r>
                        <a:rPr sz="1400" i="1" spc="-25" dirty="0">
                          <a:solidFill>
                            <a:srgbClr val="213739"/>
                          </a:solidFill>
                          <a:latin typeface="Comic Sans MS"/>
                          <a:cs typeface="Comic Sans MS"/>
                        </a:rPr>
                        <a:t>f</a:t>
                      </a:r>
                      <a:r>
                        <a:rPr sz="1500" spc="-37" baseline="-8333" dirty="0">
                          <a:solidFill>
                            <a:srgbClr val="213739"/>
                          </a:solidFill>
                          <a:latin typeface="Lucida Console"/>
                          <a:cs typeface="Lucida Console"/>
                        </a:rPr>
                        <a:t>7</a:t>
                      </a:r>
                      <a:endParaRPr sz="1500" baseline="-8333">
                        <a:latin typeface="Lucida Console"/>
                        <a:cs typeface="Lucida Console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5"/>
                        </a:lnSpc>
                      </a:pPr>
                      <a:r>
                        <a:rPr sz="1400" i="1" spc="-25" dirty="0">
                          <a:solidFill>
                            <a:srgbClr val="213739"/>
                          </a:solidFill>
                          <a:latin typeface="Comic Sans MS"/>
                          <a:cs typeface="Comic Sans MS"/>
                        </a:rPr>
                        <a:t>f</a:t>
                      </a:r>
                      <a:r>
                        <a:rPr sz="1500" spc="-37" baseline="-8333" dirty="0">
                          <a:solidFill>
                            <a:srgbClr val="213739"/>
                          </a:solidFill>
                          <a:latin typeface="Lucida Console"/>
                          <a:cs typeface="Lucida Console"/>
                        </a:rPr>
                        <a:t>8</a:t>
                      </a:r>
                      <a:endParaRPr sz="1500" baseline="-8333">
                        <a:latin typeface="Lucida Console"/>
                        <a:cs typeface="Lucida Console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5"/>
                        </a:lnSpc>
                      </a:pPr>
                      <a:r>
                        <a:rPr sz="1400" i="1" spc="-25" dirty="0">
                          <a:solidFill>
                            <a:srgbClr val="213739"/>
                          </a:solidFill>
                          <a:latin typeface="Comic Sans MS"/>
                          <a:cs typeface="Comic Sans MS"/>
                        </a:rPr>
                        <a:t>f</a:t>
                      </a:r>
                      <a:r>
                        <a:rPr sz="1500" spc="-37" baseline="-8333" dirty="0">
                          <a:solidFill>
                            <a:srgbClr val="213739"/>
                          </a:solidFill>
                          <a:latin typeface="Lucida Console"/>
                          <a:cs typeface="Lucida Console"/>
                        </a:rPr>
                        <a:t>9</a:t>
                      </a:r>
                      <a:endParaRPr sz="1500" baseline="-8333">
                        <a:latin typeface="Lucida Console"/>
                        <a:cs typeface="Lucida Console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2100" i="1" spc="-37" baseline="5952" dirty="0">
                          <a:solidFill>
                            <a:srgbClr val="213739"/>
                          </a:solidFill>
                          <a:latin typeface="Comic Sans MS"/>
                          <a:cs typeface="Comic Sans MS"/>
                        </a:rPr>
                        <a:t>f</a:t>
                      </a:r>
                      <a:r>
                        <a:rPr sz="1000" spc="-25" dirty="0">
                          <a:solidFill>
                            <a:srgbClr val="213739"/>
                          </a:solidFill>
                          <a:latin typeface="Lucida Console"/>
                          <a:cs typeface="Lucida Console"/>
                        </a:rPr>
                        <a:t>10</a:t>
                      </a:r>
                      <a:endParaRPr sz="1000">
                        <a:latin typeface="Lucida Console"/>
                        <a:cs typeface="Lucida Console"/>
                      </a:endParaRPr>
                    </a:p>
                  </a:txBody>
                  <a:tcPr marL="0" marR="0" marT="12065" marB="0">
                    <a:lnT w="6350">
                      <a:solidFill>
                        <a:srgbClr val="213739"/>
                      </a:solidFill>
                      <a:prstDash val="solid"/>
                    </a:lnT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2100" i="1" spc="-37" baseline="5952" dirty="0">
                          <a:solidFill>
                            <a:srgbClr val="213739"/>
                          </a:solidFill>
                          <a:latin typeface="Comic Sans MS"/>
                          <a:cs typeface="Comic Sans MS"/>
                        </a:rPr>
                        <a:t>f</a:t>
                      </a:r>
                      <a:r>
                        <a:rPr sz="1000" spc="-25" dirty="0">
                          <a:solidFill>
                            <a:srgbClr val="213739"/>
                          </a:solidFill>
                          <a:latin typeface="Lucida Console"/>
                          <a:cs typeface="Lucida Console"/>
                        </a:rPr>
                        <a:t>11</a:t>
                      </a:r>
                      <a:endParaRPr sz="1000">
                        <a:latin typeface="Lucida Console"/>
                        <a:cs typeface="Lucida Console"/>
                      </a:endParaRPr>
                    </a:p>
                  </a:txBody>
                  <a:tcPr marL="0" marR="0" marT="12065" marB="0">
                    <a:lnT w="6350">
                      <a:solidFill>
                        <a:srgbClr val="213739"/>
                      </a:solidFill>
                      <a:prstDash val="solid"/>
                    </a:lnT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2100" i="1" spc="-37" baseline="5952" dirty="0">
                          <a:solidFill>
                            <a:srgbClr val="213739"/>
                          </a:solidFill>
                          <a:latin typeface="Comic Sans MS"/>
                          <a:cs typeface="Comic Sans MS"/>
                        </a:rPr>
                        <a:t>f</a:t>
                      </a:r>
                      <a:r>
                        <a:rPr sz="1000" spc="-25" dirty="0">
                          <a:solidFill>
                            <a:srgbClr val="213739"/>
                          </a:solidFill>
                          <a:latin typeface="Lucida Console"/>
                          <a:cs typeface="Lucida Console"/>
                        </a:rPr>
                        <a:t>12</a:t>
                      </a:r>
                      <a:endParaRPr sz="1000">
                        <a:latin typeface="Lucida Console"/>
                        <a:cs typeface="Lucida Console"/>
                      </a:endParaRPr>
                    </a:p>
                  </a:txBody>
                  <a:tcPr marL="0" marR="0" marT="12065" marB="0">
                    <a:lnT w="6350">
                      <a:solidFill>
                        <a:srgbClr val="213739"/>
                      </a:solidFill>
                      <a:prstDash val="solid"/>
                    </a:lnT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2100" i="1" spc="-37" baseline="5952" dirty="0">
                          <a:solidFill>
                            <a:srgbClr val="213739"/>
                          </a:solidFill>
                          <a:latin typeface="Comic Sans MS"/>
                          <a:cs typeface="Comic Sans MS"/>
                        </a:rPr>
                        <a:t>f</a:t>
                      </a:r>
                      <a:r>
                        <a:rPr sz="1000" spc="-25" dirty="0">
                          <a:solidFill>
                            <a:srgbClr val="213739"/>
                          </a:solidFill>
                          <a:latin typeface="Lucida Console"/>
                          <a:cs typeface="Lucida Console"/>
                        </a:rPr>
                        <a:t>13</a:t>
                      </a:r>
                      <a:endParaRPr sz="1000">
                        <a:latin typeface="Lucida Console"/>
                        <a:cs typeface="Lucida Console"/>
                      </a:endParaRPr>
                    </a:p>
                  </a:txBody>
                  <a:tcPr marL="0" marR="0" marT="12065" marB="0">
                    <a:lnT w="6350">
                      <a:solidFill>
                        <a:srgbClr val="213739"/>
                      </a:solidFill>
                      <a:prstDash val="solid"/>
                    </a:lnT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2100" i="1" spc="-37" baseline="5952" dirty="0">
                          <a:solidFill>
                            <a:srgbClr val="213739"/>
                          </a:solidFill>
                          <a:latin typeface="Comic Sans MS"/>
                          <a:cs typeface="Comic Sans MS"/>
                        </a:rPr>
                        <a:t>f</a:t>
                      </a:r>
                      <a:r>
                        <a:rPr sz="1000" spc="-25" dirty="0">
                          <a:solidFill>
                            <a:srgbClr val="213739"/>
                          </a:solidFill>
                          <a:latin typeface="Lucida Console"/>
                          <a:cs typeface="Lucida Console"/>
                        </a:rPr>
                        <a:t>14</a:t>
                      </a:r>
                      <a:endParaRPr sz="1000">
                        <a:latin typeface="Lucida Console"/>
                        <a:cs typeface="Lucida Console"/>
                      </a:endParaRPr>
                    </a:p>
                  </a:txBody>
                  <a:tcPr marL="0" marR="0" marT="12065" marB="0">
                    <a:lnT w="6350">
                      <a:solidFill>
                        <a:srgbClr val="213739"/>
                      </a:solidFill>
                      <a:prstDash val="solid"/>
                    </a:lnT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2100" i="1" spc="-37" baseline="5952" dirty="0">
                          <a:solidFill>
                            <a:srgbClr val="213739"/>
                          </a:solidFill>
                          <a:latin typeface="Comic Sans MS"/>
                          <a:cs typeface="Comic Sans MS"/>
                        </a:rPr>
                        <a:t>f</a:t>
                      </a:r>
                      <a:r>
                        <a:rPr sz="1000" spc="-25" dirty="0">
                          <a:solidFill>
                            <a:srgbClr val="213739"/>
                          </a:solidFill>
                          <a:latin typeface="Lucida Console"/>
                          <a:cs typeface="Lucida Console"/>
                        </a:rPr>
                        <a:t>15</a:t>
                      </a:r>
                      <a:endParaRPr sz="1000">
                        <a:latin typeface="Lucida Console"/>
                        <a:cs typeface="Lucida Console"/>
                      </a:endParaRPr>
                    </a:p>
                  </a:txBody>
                  <a:tcPr marL="0" marR="0" marT="12065" marB="0">
                    <a:lnT w="6350">
                      <a:solidFill>
                        <a:srgbClr val="213739"/>
                      </a:solidFill>
                      <a:prstDash val="solid"/>
                    </a:lnT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2100" i="1" spc="-37" baseline="5952" dirty="0">
                          <a:solidFill>
                            <a:srgbClr val="213739"/>
                          </a:solidFill>
                          <a:latin typeface="Comic Sans MS"/>
                          <a:cs typeface="Comic Sans MS"/>
                        </a:rPr>
                        <a:t>f</a:t>
                      </a:r>
                      <a:r>
                        <a:rPr sz="1000" spc="-25" dirty="0">
                          <a:solidFill>
                            <a:srgbClr val="213739"/>
                          </a:solidFill>
                          <a:latin typeface="Lucida Console"/>
                          <a:cs typeface="Lucida Console"/>
                        </a:rPr>
                        <a:t>16</a:t>
                      </a:r>
                      <a:endParaRPr sz="1000">
                        <a:latin typeface="Lucida Console"/>
                        <a:cs typeface="Lucida Console"/>
                      </a:endParaRPr>
                    </a:p>
                  </a:txBody>
                  <a:tcPr marL="0" marR="0" marT="12065" marB="0">
                    <a:lnT w="6350">
                      <a:solidFill>
                        <a:srgbClr val="213739"/>
                      </a:solidFill>
                      <a:prstDash val="solid"/>
                    </a:lnT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490">
                <a:tc>
                  <a:txBody>
                    <a:bodyPr/>
                    <a:lstStyle/>
                    <a:p>
                      <a:pPr marL="5080" algn="ctr">
                        <a:lnSpc>
                          <a:spcPts val="1639"/>
                        </a:lnSpc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ts val="1639"/>
                        </a:lnSpc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ts val="1639"/>
                        </a:lnSpc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ts val="1639"/>
                        </a:lnSpc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ts val="1639"/>
                        </a:lnSpc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ts val="1639"/>
                        </a:lnSpc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ts val="1639"/>
                        </a:lnSpc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ts val="1639"/>
                        </a:lnSpc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ts val="1639"/>
                        </a:lnSpc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ts val="1639"/>
                        </a:lnSpc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ts val="1639"/>
                        </a:lnSpc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ts val="1639"/>
                        </a:lnSpc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639"/>
                        </a:lnSpc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ts val="1639"/>
                        </a:lnSpc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639"/>
                        </a:lnSpc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639"/>
                        </a:lnSpc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ts val="1639"/>
                        </a:lnSpc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ts val="1639"/>
                        </a:lnSpc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3365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3365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993444" y="3269436"/>
            <a:ext cx="7153275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these,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how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many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are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linearly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separable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?</a:t>
            </a:r>
            <a:r>
              <a:rPr sz="1750" spc="-1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(turns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out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all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except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75" dirty="0">
                <a:solidFill>
                  <a:srgbClr val="213739"/>
                </a:solidFill>
                <a:latin typeface="Arial MT"/>
                <a:cs typeface="Arial MT"/>
              </a:rPr>
              <a:t>XOR</a:t>
            </a:r>
            <a:r>
              <a:rPr sz="1750" spc="-2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!XOR)</a:t>
            </a:r>
            <a:endParaRPr sz="175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4968" y="1002030"/>
            <a:ext cx="5378450" cy="6597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900"/>
              </a:lnSpc>
              <a:spcBef>
                <a:spcPts val="100"/>
              </a:spcBef>
            </a:pP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How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many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boolean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functions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can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you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design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from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2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inputs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?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Let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us</a:t>
            </a:r>
            <a:r>
              <a:rPr sz="1750" spc="-1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begin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with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some</a:t>
            </a:r>
            <a:r>
              <a:rPr sz="1750" spc="-1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easy</a:t>
            </a:r>
            <a:r>
              <a:rPr sz="1750" spc="-1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ones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which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you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already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know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..</a:t>
            </a:r>
            <a:endParaRPr sz="1750">
              <a:latin typeface="Arial MT"/>
              <a:cs typeface="Arial MT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10373" y="1942973"/>
          <a:ext cx="8014958" cy="12820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73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2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52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52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52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52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52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528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1528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1528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1528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8704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8831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88314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88314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8831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89584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490854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</a:tblGrid>
              <a:tr h="261620">
                <a:tc>
                  <a:txBody>
                    <a:bodyPr/>
                    <a:lstStyle/>
                    <a:p>
                      <a:pPr algn="ctr">
                        <a:lnSpc>
                          <a:spcPts val="1645"/>
                        </a:lnSpc>
                      </a:pPr>
                      <a:r>
                        <a:rPr sz="1400" i="1" spc="-25" dirty="0">
                          <a:solidFill>
                            <a:srgbClr val="213739"/>
                          </a:solidFill>
                          <a:latin typeface="Comic Sans MS"/>
                          <a:cs typeface="Comic Sans MS"/>
                        </a:rPr>
                        <a:t>x</a:t>
                      </a:r>
                      <a:r>
                        <a:rPr sz="1500" spc="-37" baseline="-8333" dirty="0">
                          <a:solidFill>
                            <a:srgbClr val="213739"/>
                          </a:solidFill>
                          <a:latin typeface="Lucida Console"/>
                          <a:cs typeface="Lucida Console"/>
                        </a:rPr>
                        <a:t>1</a:t>
                      </a:r>
                      <a:endParaRPr sz="1500" baseline="-8333">
                        <a:latin typeface="Lucida Console"/>
                        <a:cs typeface="Lucida Console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5"/>
                        </a:lnSpc>
                      </a:pPr>
                      <a:r>
                        <a:rPr sz="1400" i="1" spc="-25" dirty="0">
                          <a:solidFill>
                            <a:srgbClr val="213739"/>
                          </a:solidFill>
                          <a:latin typeface="Comic Sans MS"/>
                          <a:cs typeface="Comic Sans MS"/>
                        </a:rPr>
                        <a:t>x</a:t>
                      </a:r>
                      <a:r>
                        <a:rPr sz="1500" spc="-37" baseline="-8333" dirty="0">
                          <a:solidFill>
                            <a:srgbClr val="213739"/>
                          </a:solidFill>
                          <a:latin typeface="Lucida Console"/>
                          <a:cs typeface="Lucida Console"/>
                        </a:rPr>
                        <a:t>2</a:t>
                      </a:r>
                      <a:endParaRPr sz="1500" baseline="-8333">
                        <a:latin typeface="Lucida Console"/>
                        <a:cs typeface="Lucida Console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5"/>
                        </a:lnSpc>
                      </a:pPr>
                      <a:r>
                        <a:rPr sz="1400" i="1" spc="-25" dirty="0">
                          <a:solidFill>
                            <a:srgbClr val="213739"/>
                          </a:solidFill>
                          <a:latin typeface="Comic Sans MS"/>
                          <a:cs typeface="Comic Sans MS"/>
                        </a:rPr>
                        <a:t>f</a:t>
                      </a:r>
                      <a:r>
                        <a:rPr sz="1500" spc="-37" baseline="-8333" dirty="0">
                          <a:solidFill>
                            <a:srgbClr val="213739"/>
                          </a:solidFill>
                          <a:latin typeface="Lucida Console"/>
                          <a:cs typeface="Lucida Console"/>
                        </a:rPr>
                        <a:t>1</a:t>
                      </a:r>
                      <a:endParaRPr sz="1500" baseline="-8333">
                        <a:latin typeface="Lucida Console"/>
                        <a:cs typeface="Lucida Console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5"/>
                        </a:lnSpc>
                      </a:pPr>
                      <a:r>
                        <a:rPr sz="1400" i="1" spc="-25" dirty="0">
                          <a:solidFill>
                            <a:srgbClr val="213739"/>
                          </a:solidFill>
                          <a:latin typeface="Comic Sans MS"/>
                          <a:cs typeface="Comic Sans MS"/>
                        </a:rPr>
                        <a:t>f</a:t>
                      </a:r>
                      <a:r>
                        <a:rPr sz="1500" spc="-37" baseline="-8333" dirty="0">
                          <a:solidFill>
                            <a:srgbClr val="213739"/>
                          </a:solidFill>
                          <a:latin typeface="Lucida Console"/>
                          <a:cs typeface="Lucida Console"/>
                        </a:rPr>
                        <a:t>2</a:t>
                      </a:r>
                      <a:endParaRPr sz="1500" baseline="-8333">
                        <a:latin typeface="Lucida Console"/>
                        <a:cs typeface="Lucida Console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5"/>
                        </a:lnSpc>
                      </a:pPr>
                      <a:r>
                        <a:rPr sz="1400" i="1" spc="-25" dirty="0">
                          <a:solidFill>
                            <a:srgbClr val="213739"/>
                          </a:solidFill>
                          <a:latin typeface="Comic Sans MS"/>
                          <a:cs typeface="Comic Sans MS"/>
                        </a:rPr>
                        <a:t>f</a:t>
                      </a:r>
                      <a:r>
                        <a:rPr sz="1500" spc="-37" baseline="-8333" dirty="0">
                          <a:solidFill>
                            <a:srgbClr val="213739"/>
                          </a:solidFill>
                          <a:latin typeface="Lucida Console"/>
                          <a:cs typeface="Lucida Console"/>
                        </a:rPr>
                        <a:t>3</a:t>
                      </a:r>
                      <a:endParaRPr sz="1500" baseline="-8333">
                        <a:latin typeface="Lucida Console"/>
                        <a:cs typeface="Lucida Console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5"/>
                        </a:lnSpc>
                      </a:pPr>
                      <a:r>
                        <a:rPr sz="1400" i="1" spc="-25" dirty="0">
                          <a:solidFill>
                            <a:srgbClr val="213739"/>
                          </a:solidFill>
                          <a:latin typeface="Comic Sans MS"/>
                          <a:cs typeface="Comic Sans MS"/>
                        </a:rPr>
                        <a:t>f</a:t>
                      </a:r>
                      <a:r>
                        <a:rPr sz="1500" spc="-37" baseline="-8333" dirty="0">
                          <a:solidFill>
                            <a:srgbClr val="213739"/>
                          </a:solidFill>
                          <a:latin typeface="Lucida Console"/>
                          <a:cs typeface="Lucida Console"/>
                        </a:rPr>
                        <a:t>4</a:t>
                      </a:r>
                      <a:endParaRPr sz="1500" baseline="-8333">
                        <a:latin typeface="Lucida Console"/>
                        <a:cs typeface="Lucida Console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5"/>
                        </a:lnSpc>
                      </a:pPr>
                      <a:r>
                        <a:rPr sz="1400" i="1" spc="-25" dirty="0">
                          <a:solidFill>
                            <a:srgbClr val="213739"/>
                          </a:solidFill>
                          <a:latin typeface="Comic Sans MS"/>
                          <a:cs typeface="Comic Sans MS"/>
                        </a:rPr>
                        <a:t>f</a:t>
                      </a:r>
                      <a:r>
                        <a:rPr sz="1500" spc="-37" baseline="-8333" dirty="0">
                          <a:solidFill>
                            <a:srgbClr val="213739"/>
                          </a:solidFill>
                          <a:latin typeface="Lucida Console"/>
                          <a:cs typeface="Lucida Console"/>
                        </a:rPr>
                        <a:t>5</a:t>
                      </a:r>
                      <a:endParaRPr sz="1500" baseline="-8333">
                        <a:latin typeface="Lucida Console"/>
                        <a:cs typeface="Lucida Console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5"/>
                        </a:lnSpc>
                      </a:pPr>
                      <a:r>
                        <a:rPr sz="1400" i="1" spc="-25" dirty="0">
                          <a:solidFill>
                            <a:srgbClr val="213739"/>
                          </a:solidFill>
                          <a:latin typeface="Comic Sans MS"/>
                          <a:cs typeface="Comic Sans MS"/>
                        </a:rPr>
                        <a:t>f</a:t>
                      </a:r>
                      <a:r>
                        <a:rPr sz="1500" spc="-37" baseline="-8333" dirty="0">
                          <a:solidFill>
                            <a:srgbClr val="213739"/>
                          </a:solidFill>
                          <a:latin typeface="Lucida Console"/>
                          <a:cs typeface="Lucida Console"/>
                        </a:rPr>
                        <a:t>6</a:t>
                      </a:r>
                      <a:endParaRPr sz="1500" baseline="-8333">
                        <a:latin typeface="Lucida Console"/>
                        <a:cs typeface="Lucida Console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5"/>
                        </a:lnSpc>
                      </a:pPr>
                      <a:r>
                        <a:rPr sz="1400" i="1" spc="-25" dirty="0">
                          <a:solidFill>
                            <a:srgbClr val="213739"/>
                          </a:solidFill>
                          <a:latin typeface="Comic Sans MS"/>
                          <a:cs typeface="Comic Sans MS"/>
                        </a:rPr>
                        <a:t>f</a:t>
                      </a:r>
                      <a:r>
                        <a:rPr sz="1500" spc="-37" baseline="-8333" dirty="0">
                          <a:solidFill>
                            <a:srgbClr val="213739"/>
                          </a:solidFill>
                          <a:latin typeface="Lucida Console"/>
                          <a:cs typeface="Lucida Console"/>
                        </a:rPr>
                        <a:t>7</a:t>
                      </a:r>
                      <a:endParaRPr sz="1500" baseline="-8333">
                        <a:latin typeface="Lucida Console"/>
                        <a:cs typeface="Lucida Console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5"/>
                        </a:lnSpc>
                      </a:pPr>
                      <a:r>
                        <a:rPr sz="1400" i="1" spc="-25" dirty="0">
                          <a:solidFill>
                            <a:srgbClr val="213739"/>
                          </a:solidFill>
                          <a:latin typeface="Comic Sans MS"/>
                          <a:cs typeface="Comic Sans MS"/>
                        </a:rPr>
                        <a:t>f</a:t>
                      </a:r>
                      <a:r>
                        <a:rPr sz="1500" spc="-37" baseline="-8333" dirty="0">
                          <a:solidFill>
                            <a:srgbClr val="213739"/>
                          </a:solidFill>
                          <a:latin typeface="Lucida Console"/>
                          <a:cs typeface="Lucida Console"/>
                        </a:rPr>
                        <a:t>8</a:t>
                      </a:r>
                      <a:endParaRPr sz="1500" baseline="-8333">
                        <a:latin typeface="Lucida Console"/>
                        <a:cs typeface="Lucida Console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5"/>
                        </a:lnSpc>
                      </a:pPr>
                      <a:r>
                        <a:rPr sz="1400" i="1" spc="-25" dirty="0">
                          <a:solidFill>
                            <a:srgbClr val="213739"/>
                          </a:solidFill>
                          <a:latin typeface="Comic Sans MS"/>
                          <a:cs typeface="Comic Sans MS"/>
                        </a:rPr>
                        <a:t>f</a:t>
                      </a:r>
                      <a:r>
                        <a:rPr sz="1500" spc="-37" baseline="-8333" dirty="0">
                          <a:solidFill>
                            <a:srgbClr val="213739"/>
                          </a:solidFill>
                          <a:latin typeface="Lucida Console"/>
                          <a:cs typeface="Lucida Console"/>
                        </a:rPr>
                        <a:t>9</a:t>
                      </a:r>
                      <a:endParaRPr sz="1500" baseline="-8333">
                        <a:latin typeface="Lucida Console"/>
                        <a:cs typeface="Lucida Console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2100" i="1" spc="-37" baseline="5952" dirty="0">
                          <a:solidFill>
                            <a:srgbClr val="213739"/>
                          </a:solidFill>
                          <a:latin typeface="Comic Sans MS"/>
                          <a:cs typeface="Comic Sans MS"/>
                        </a:rPr>
                        <a:t>f</a:t>
                      </a:r>
                      <a:r>
                        <a:rPr sz="1000" spc="-25" dirty="0">
                          <a:solidFill>
                            <a:srgbClr val="213739"/>
                          </a:solidFill>
                          <a:latin typeface="Lucida Console"/>
                          <a:cs typeface="Lucida Console"/>
                        </a:rPr>
                        <a:t>10</a:t>
                      </a:r>
                      <a:endParaRPr sz="1000">
                        <a:latin typeface="Lucida Console"/>
                        <a:cs typeface="Lucida Console"/>
                      </a:endParaRPr>
                    </a:p>
                  </a:txBody>
                  <a:tcPr marL="0" marR="0" marT="12065" marB="0">
                    <a:lnT w="6350">
                      <a:solidFill>
                        <a:srgbClr val="213739"/>
                      </a:solidFill>
                      <a:prstDash val="solid"/>
                    </a:lnT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2100" i="1" spc="-37" baseline="5952" dirty="0">
                          <a:solidFill>
                            <a:srgbClr val="213739"/>
                          </a:solidFill>
                          <a:latin typeface="Comic Sans MS"/>
                          <a:cs typeface="Comic Sans MS"/>
                        </a:rPr>
                        <a:t>f</a:t>
                      </a:r>
                      <a:r>
                        <a:rPr sz="1000" spc="-25" dirty="0">
                          <a:solidFill>
                            <a:srgbClr val="213739"/>
                          </a:solidFill>
                          <a:latin typeface="Lucida Console"/>
                          <a:cs typeface="Lucida Console"/>
                        </a:rPr>
                        <a:t>11</a:t>
                      </a:r>
                      <a:endParaRPr sz="1000">
                        <a:latin typeface="Lucida Console"/>
                        <a:cs typeface="Lucida Console"/>
                      </a:endParaRPr>
                    </a:p>
                  </a:txBody>
                  <a:tcPr marL="0" marR="0" marT="12065" marB="0">
                    <a:lnT w="6350">
                      <a:solidFill>
                        <a:srgbClr val="213739"/>
                      </a:solidFill>
                      <a:prstDash val="solid"/>
                    </a:lnT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2100" i="1" spc="-37" baseline="5952" dirty="0">
                          <a:solidFill>
                            <a:srgbClr val="213739"/>
                          </a:solidFill>
                          <a:latin typeface="Comic Sans MS"/>
                          <a:cs typeface="Comic Sans MS"/>
                        </a:rPr>
                        <a:t>f</a:t>
                      </a:r>
                      <a:r>
                        <a:rPr sz="1000" spc="-25" dirty="0">
                          <a:solidFill>
                            <a:srgbClr val="213739"/>
                          </a:solidFill>
                          <a:latin typeface="Lucida Console"/>
                          <a:cs typeface="Lucida Console"/>
                        </a:rPr>
                        <a:t>12</a:t>
                      </a:r>
                      <a:endParaRPr sz="1000">
                        <a:latin typeface="Lucida Console"/>
                        <a:cs typeface="Lucida Console"/>
                      </a:endParaRPr>
                    </a:p>
                  </a:txBody>
                  <a:tcPr marL="0" marR="0" marT="12065" marB="0">
                    <a:lnT w="6350">
                      <a:solidFill>
                        <a:srgbClr val="213739"/>
                      </a:solidFill>
                      <a:prstDash val="solid"/>
                    </a:lnT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2100" i="1" spc="-37" baseline="5952" dirty="0">
                          <a:solidFill>
                            <a:srgbClr val="213739"/>
                          </a:solidFill>
                          <a:latin typeface="Comic Sans MS"/>
                          <a:cs typeface="Comic Sans MS"/>
                        </a:rPr>
                        <a:t>f</a:t>
                      </a:r>
                      <a:r>
                        <a:rPr sz="1000" spc="-25" dirty="0">
                          <a:solidFill>
                            <a:srgbClr val="213739"/>
                          </a:solidFill>
                          <a:latin typeface="Lucida Console"/>
                          <a:cs typeface="Lucida Console"/>
                        </a:rPr>
                        <a:t>13</a:t>
                      </a:r>
                      <a:endParaRPr sz="1000">
                        <a:latin typeface="Lucida Console"/>
                        <a:cs typeface="Lucida Console"/>
                      </a:endParaRPr>
                    </a:p>
                  </a:txBody>
                  <a:tcPr marL="0" marR="0" marT="12065" marB="0">
                    <a:lnT w="6350">
                      <a:solidFill>
                        <a:srgbClr val="213739"/>
                      </a:solidFill>
                      <a:prstDash val="solid"/>
                    </a:lnT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2100" i="1" spc="-37" baseline="5952" dirty="0">
                          <a:solidFill>
                            <a:srgbClr val="213739"/>
                          </a:solidFill>
                          <a:latin typeface="Comic Sans MS"/>
                          <a:cs typeface="Comic Sans MS"/>
                        </a:rPr>
                        <a:t>f</a:t>
                      </a:r>
                      <a:r>
                        <a:rPr sz="1000" spc="-25" dirty="0">
                          <a:solidFill>
                            <a:srgbClr val="213739"/>
                          </a:solidFill>
                          <a:latin typeface="Lucida Console"/>
                          <a:cs typeface="Lucida Console"/>
                        </a:rPr>
                        <a:t>14</a:t>
                      </a:r>
                      <a:endParaRPr sz="1000">
                        <a:latin typeface="Lucida Console"/>
                        <a:cs typeface="Lucida Console"/>
                      </a:endParaRPr>
                    </a:p>
                  </a:txBody>
                  <a:tcPr marL="0" marR="0" marT="12065" marB="0">
                    <a:lnT w="6350">
                      <a:solidFill>
                        <a:srgbClr val="213739"/>
                      </a:solidFill>
                      <a:prstDash val="solid"/>
                    </a:lnT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2100" i="1" spc="-37" baseline="5952" dirty="0">
                          <a:solidFill>
                            <a:srgbClr val="213739"/>
                          </a:solidFill>
                          <a:latin typeface="Comic Sans MS"/>
                          <a:cs typeface="Comic Sans MS"/>
                        </a:rPr>
                        <a:t>f</a:t>
                      </a:r>
                      <a:r>
                        <a:rPr sz="1000" spc="-25" dirty="0">
                          <a:solidFill>
                            <a:srgbClr val="213739"/>
                          </a:solidFill>
                          <a:latin typeface="Lucida Console"/>
                          <a:cs typeface="Lucida Console"/>
                        </a:rPr>
                        <a:t>15</a:t>
                      </a:r>
                      <a:endParaRPr sz="1000">
                        <a:latin typeface="Lucida Console"/>
                        <a:cs typeface="Lucida Console"/>
                      </a:endParaRPr>
                    </a:p>
                  </a:txBody>
                  <a:tcPr marL="0" marR="0" marT="12065" marB="0">
                    <a:lnT w="6350">
                      <a:solidFill>
                        <a:srgbClr val="213739"/>
                      </a:solidFill>
                      <a:prstDash val="solid"/>
                    </a:lnT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2100" i="1" spc="-37" baseline="5952" dirty="0">
                          <a:solidFill>
                            <a:srgbClr val="213739"/>
                          </a:solidFill>
                          <a:latin typeface="Comic Sans MS"/>
                          <a:cs typeface="Comic Sans MS"/>
                        </a:rPr>
                        <a:t>f</a:t>
                      </a:r>
                      <a:r>
                        <a:rPr sz="1000" spc="-25" dirty="0">
                          <a:solidFill>
                            <a:srgbClr val="213739"/>
                          </a:solidFill>
                          <a:latin typeface="Lucida Console"/>
                          <a:cs typeface="Lucida Console"/>
                        </a:rPr>
                        <a:t>16</a:t>
                      </a:r>
                      <a:endParaRPr sz="1000">
                        <a:latin typeface="Lucida Console"/>
                        <a:cs typeface="Lucida Console"/>
                      </a:endParaRPr>
                    </a:p>
                  </a:txBody>
                  <a:tcPr marL="0" marR="0" marT="12065" marB="0">
                    <a:lnT w="6350">
                      <a:solidFill>
                        <a:srgbClr val="213739"/>
                      </a:solidFill>
                      <a:prstDash val="solid"/>
                    </a:lnT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490">
                <a:tc>
                  <a:txBody>
                    <a:bodyPr/>
                    <a:lstStyle/>
                    <a:p>
                      <a:pPr marL="5080" algn="ctr">
                        <a:lnSpc>
                          <a:spcPts val="1639"/>
                        </a:lnSpc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ts val="1639"/>
                        </a:lnSpc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ts val="1639"/>
                        </a:lnSpc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ts val="1639"/>
                        </a:lnSpc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ts val="1639"/>
                        </a:lnSpc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ts val="1639"/>
                        </a:lnSpc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ts val="1639"/>
                        </a:lnSpc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ts val="1639"/>
                        </a:lnSpc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ts val="1639"/>
                        </a:lnSpc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ts val="1639"/>
                        </a:lnSpc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ts val="1639"/>
                        </a:lnSpc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ts val="1639"/>
                        </a:lnSpc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639"/>
                        </a:lnSpc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ts val="1639"/>
                        </a:lnSpc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639"/>
                        </a:lnSpc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639"/>
                        </a:lnSpc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ts val="1639"/>
                        </a:lnSpc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ts val="1639"/>
                        </a:lnSpc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3365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3365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968959" y="3131894"/>
            <a:ext cx="7204075" cy="831215"/>
          </a:xfrm>
          <a:prstGeom prst="rect">
            <a:avLst/>
          </a:prstGeom>
        </p:spPr>
        <p:txBody>
          <a:bodyPr vert="horz" wrap="square" lIns="0" tIns="1492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75"/>
              </a:spcBef>
            </a:pP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these,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how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many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are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linearly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separable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?</a:t>
            </a:r>
            <a:r>
              <a:rPr sz="1750" spc="-1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(turns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out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all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except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75" dirty="0">
                <a:solidFill>
                  <a:srgbClr val="213739"/>
                </a:solidFill>
                <a:latin typeface="Arial MT"/>
                <a:cs typeface="Arial MT"/>
              </a:rPr>
              <a:t>XOR</a:t>
            </a:r>
            <a:r>
              <a:rPr sz="1750" spc="-2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!XOR)</a:t>
            </a:r>
            <a:endParaRPr sz="175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1070"/>
              </a:spcBef>
            </a:pP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In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general,</a:t>
            </a:r>
            <a:r>
              <a:rPr sz="1750" spc="-1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how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many</a:t>
            </a:r>
            <a:r>
              <a:rPr sz="1750" spc="-1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boolean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functions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can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you 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have</a:t>
            </a:r>
            <a:r>
              <a:rPr sz="1750" spc="-1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for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750" i="1" spc="22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inputs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?</a:t>
            </a:r>
            <a:r>
              <a:rPr sz="1750" spc="-3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875" spc="-37" baseline="24444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425" i="1" spc="-37" baseline="52631" dirty="0">
                <a:solidFill>
                  <a:srgbClr val="213739"/>
                </a:solidFill>
                <a:latin typeface="Georgia"/>
                <a:cs typeface="Georgia"/>
              </a:rPr>
              <a:t>n</a:t>
            </a:r>
            <a:endParaRPr sz="1425" baseline="52631">
              <a:latin typeface="Georgia"/>
              <a:cs typeface="Georg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4968" y="1002030"/>
            <a:ext cx="5378450" cy="6597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900"/>
              </a:lnSpc>
              <a:spcBef>
                <a:spcPts val="100"/>
              </a:spcBef>
            </a:pP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How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many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boolean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functions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can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you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design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from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2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inputs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?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Let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us</a:t>
            </a:r>
            <a:r>
              <a:rPr sz="1750" spc="-1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begin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with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some</a:t>
            </a:r>
            <a:r>
              <a:rPr sz="1750" spc="-1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easy</a:t>
            </a:r>
            <a:r>
              <a:rPr sz="1750" spc="-1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ones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which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you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already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know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..</a:t>
            </a:r>
            <a:endParaRPr sz="1750">
              <a:latin typeface="Arial MT"/>
              <a:cs typeface="Arial MT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10373" y="1942973"/>
          <a:ext cx="8014958" cy="12820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73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2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52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52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52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52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52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528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1528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1528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1528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8704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8831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88314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88314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8831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89584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490854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</a:tblGrid>
              <a:tr h="261620">
                <a:tc>
                  <a:txBody>
                    <a:bodyPr/>
                    <a:lstStyle/>
                    <a:p>
                      <a:pPr algn="ctr">
                        <a:lnSpc>
                          <a:spcPts val="1645"/>
                        </a:lnSpc>
                      </a:pPr>
                      <a:r>
                        <a:rPr sz="1400" i="1" spc="-25" dirty="0">
                          <a:solidFill>
                            <a:srgbClr val="213739"/>
                          </a:solidFill>
                          <a:latin typeface="Comic Sans MS"/>
                          <a:cs typeface="Comic Sans MS"/>
                        </a:rPr>
                        <a:t>x</a:t>
                      </a:r>
                      <a:r>
                        <a:rPr sz="1500" spc="-37" baseline="-8333" dirty="0">
                          <a:solidFill>
                            <a:srgbClr val="213739"/>
                          </a:solidFill>
                          <a:latin typeface="Lucida Console"/>
                          <a:cs typeface="Lucida Console"/>
                        </a:rPr>
                        <a:t>1</a:t>
                      </a:r>
                      <a:endParaRPr sz="1500" baseline="-8333">
                        <a:latin typeface="Lucida Console"/>
                        <a:cs typeface="Lucida Console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5"/>
                        </a:lnSpc>
                      </a:pPr>
                      <a:r>
                        <a:rPr sz="1400" i="1" spc="-25" dirty="0">
                          <a:solidFill>
                            <a:srgbClr val="213739"/>
                          </a:solidFill>
                          <a:latin typeface="Comic Sans MS"/>
                          <a:cs typeface="Comic Sans MS"/>
                        </a:rPr>
                        <a:t>x</a:t>
                      </a:r>
                      <a:r>
                        <a:rPr sz="1500" spc="-37" baseline="-8333" dirty="0">
                          <a:solidFill>
                            <a:srgbClr val="213739"/>
                          </a:solidFill>
                          <a:latin typeface="Lucida Console"/>
                          <a:cs typeface="Lucida Console"/>
                        </a:rPr>
                        <a:t>2</a:t>
                      </a:r>
                      <a:endParaRPr sz="1500" baseline="-8333">
                        <a:latin typeface="Lucida Console"/>
                        <a:cs typeface="Lucida Console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5"/>
                        </a:lnSpc>
                      </a:pPr>
                      <a:r>
                        <a:rPr sz="1400" i="1" spc="-25" dirty="0">
                          <a:solidFill>
                            <a:srgbClr val="213739"/>
                          </a:solidFill>
                          <a:latin typeface="Comic Sans MS"/>
                          <a:cs typeface="Comic Sans MS"/>
                        </a:rPr>
                        <a:t>f</a:t>
                      </a:r>
                      <a:r>
                        <a:rPr sz="1500" spc="-37" baseline="-8333" dirty="0">
                          <a:solidFill>
                            <a:srgbClr val="213739"/>
                          </a:solidFill>
                          <a:latin typeface="Lucida Console"/>
                          <a:cs typeface="Lucida Console"/>
                        </a:rPr>
                        <a:t>1</a:t>
                      </a:r>
                      <a:endParaRPr sz="1500" baseline="-8333">
                        <a:latin typeface="Lucida Console"/>
                        <a:cs typeface="Lucida Console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5"/>
                        </a:lnSpc>
                      </a:pPr>
                      <a:r>
                        <a:rPr sz="1400" i="1" spc="-25" dirty="0">
                          <a:solidFill>
                            <a:srgbClr val="213739"/>
                          </a:solidFill>
                          <a:latin typeface="Comic Sans MS"/>
                          <a:cs typeface="Comic Sans MS"/>
                        </a:rPr>
                        <a:t>f</a:t>
                      </a:r>
                      <a:r>
                        <a:rPr sz="1500" spc="-37" baseline="-8333" dirty="0">
                          <a:solidFill>
                            <a:srgbClr val="213739"/>
                          </a:solidFill>
                          <a:latin typeface="Lucida Console"/>
                          <a:cs typeface="Lucida Console"/>
                        </a:rPr>
                        <a:t>2</a:t>
                      </a:r>
                      <a:endParaRPr sz="1500" baseline="-8333">
                        <a:latin typeface="Lucida Console"/>
                        <a:cs typeface="Lucida Console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5"/>
                        </a:lnSpc>
                      </a:pPr>
                      <a:r>
                        <a:rPr sz="1400" i="1" spc="-25" dirty="0">
                          <a:solidFill>
                            <a:srgbClr val="213739"/>
                          </a:solidFill>
                          <a:latin typeface="Comic Sans MS"/>
                          <a:cs typeface="Comic Sans MS"/>
                        </a:rPr>
                        <a:t>f</a:t>
                      </a:r>
                      <a:r>
                        <a:rPr sz="1500" spc="-37" baseline="-8333" dirty="0">
                          <a:solidFill>
                            <a:srgbClr val="213739"/>
                          </a:solidFill>
                          <a:latin typeface="Lucida Console"/>
                          <a:cs typeface="Lucida Console"/>
                        </a:rPr>
                        <a:t>3</a:t>
                      </a:r>
                      <a:endParaRPr sz="1500" baseline="-8333">
                        <a:latin typeface="Lucida Console"/>
                        <a:cs typeface="Lucida Console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5"/>
                        </a:lnSpc>
                      </a:pPr>
                      <a:r>
                        <a:rPr sz="1400" i="1" spc="-25" dirty="0">
                          <a:solidFill>
                            <a:srgbClr val="213739"/>
                          </a:solidFill>
                          <a:latin typeface="Comic Sans MS"/>
                          <a:cs typeface="Comic Sans MS"/>
                        </a:rPr>
                        <a:t>f</a:t>
                      </a:r>
                      <a:r>
                        <a:rPr sz="1500" spc="-37" baseline="-8333" dirty="0">
                          <a:solidFill>
                            <a:srgbClr val="213739"/>
                          </a:solidFill>
                          <a:latin typeface="Lucida Console"/>
                          <a:cs typeface="Lucida Console"/>
                        </a:rPr>
                        <a:t>4</a:t>
                      </a:r>
                      <a:endParaRPr sz="1500" baseline="-8333">
                        <a:latin typeface="Lucida Console"/>
                        <a:cs typeface="Lucida Console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5"/>
                        </a:lnSpc>
                      </a:pPr>
                      <a:r>
                        <a:rPr sz="1400" i="1" spc="-25" dirty="0">
                          <a:solidFill>
                            <a:srgbClr val="213739"/>
                          </a:solidFill>
                          <a:latin typeface="Comic Sans MS"/>
                          <a:cs typeface="Comic Sans MS"/>
                        </a:rPr>
                        <a:t>f</a:t>
                      </a:r>
                      <a:r>
                        <a:rPr sz="1500" spc="-37" baseline="-8333" dirty="0">
                          <a:solidFill>
                            <a:srgbClr val="213739"/>
                          </a:solidFill>
                          <a:latin typeface="Lucida Console"/>
                          <a:cs typeface="Lucida Console"/>
                        </a:rPr>
                        <a:t>5</a:t>
                      </a:r>
                      <a:endParaRPr sz="1500" baseline="-8333">
                        <a:latin typeface="Lucida Console"/>
                        <a:cs typeface="Lucida Console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5"/>
                        </a:lnSpc>
                      </a:pPr>
                      <a:r>
                        <a:rPr sz="1400" i="1" spc="-25" dirty="0">
                          <a:solidFill>
                            <a:srgbClr val="213739"/>
                          </a:solidFill>
                          <a:latin typeface="Comic Sans MS"/>
                          <a:cs typeface="Comic Sans MS"/>
                        </a:rPr>
                        <a:t>f</a:t>
                      </a:r>
                      <a:r>
                        <a:rPr sz="1500" spc="-37" baseline="-8333" dirty="0">
                          <a:solidFill>
                            <a:srgbClr val="213739"/>
                          </a:solidFill>
                          <a:latin typeface="Lucida Console"/>
                          <a:cs typeface="Lucida Console"/>
                        </a:rPr>
                        <a:t>6</a:t>
                      </a:r>
                      <a:endParaRPr sz="1500" baseline="-8333">
                        <a:latin typeface="Lucida Console"/>
                        <a:cs typeface="Lucida Console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5"/>
                        </a:lnSpc>
                      </a:pPr>
                      <a:r>
                        <a:rPr sz="1400" i="1" spc="-25" dirty="0">
                          <a:solidFill>
                            <a:srgbClr val="213739"/>
                          </a:solidFill>
                          <a:latin typeface="Comic Sans MS"/>
                          <a:cs typeface="Comic Sans MS"/>
                        </a:rPr>
                        <a:t>f</a:t>
                      </a:r>
                      <a:r>
                        <a:rPr sz="1500" spc="-37" baseline="-8333" dirty="0">
                          <a:solidFill>
                            <a:srgbClr val="213739"/>
                          </a:solidFill>
                          <a:latin typeface="Lucida Console"/>
                          <a:cs typeface="Lucida Console"/>
                        </a:rPr>
                        <a:t>7</a:t>
                      </a:r>
                      <a:endParaRPr sz="1500" baseline="-8333">
                        <a:latin typeface="Lucida Console"/>
                        <a:cs typeface="Lucida Console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5"/>
                        </a:lnSpc>
                      </a:pPr>
                      <a:r>
                        <a:rPr sz="1400" i="1" spc="-25" dirty="0">
                          <a:solidFill>
                            <a:srgbClr val="213739"/>
                          </a:solidFill>
                          <a:latin typeface="Comic Sans MS"/>
                          <a:cs typeface="Comic Sans MS"/>
                        </a:rPr>
                        <a:t>f</a:t>
                      </a:r>
                      <a:r>
                        <a:rPr sz="1500" spc="-37" baseline="-8333" dirty="0">
                          <a:solidFill>
                            <a:srgbClr val="213739"/>
                          </a:solidFill>
                          <a:latin typeface="Lucida Console"/>
                          <a:cs typeface="Lucida Console"/>
                        </a:rPr>
                        <a:t>8</a:t>
                      </a:r>
                      <a:endParaRPr sz="1500" baseline="-8333">
                        <a:latin typeface="Lucida Console"/>
                        <a:cs typeface="Lucida Console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5"/>
                        </a:lnSpc>
                      </a:pPr>
                      <a:r>
                        <a:rPr sz="1400" i="1" spc="-25" dirty="0">
                          <a:solidFill>
                            <a:srgbClr val="213739"/>
                          </a:solidFill>
                          <a:latin typeface="Comic Sans MS"/>
                          <a:cs typeface="Comic Sans MS"/>
                        </a:rPr>
                        <a:t>f</a:t>
                      </a:r>
                      <a:r>
                        <a:rPr sz="1500" spc="-37" baseline="-8333" dirty="0">
                          <a:solidFill>
                            <a:srgbClr val="213739"/>
                          </a:solidFill>
                          <a:latin typeface="Lucida Console"/>
                          <a:cs typeface="Lucida Console"/>
                        </a:rPr>
                        <a:t>9</a:t>
                      </a:r>
                      <a:endParaRPr sz="1500" baseline="-8333">
                        <a:latin typeface="Lucida Console"/>
                        <a:cs typeface="Lucida Console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2100" i="1" spc="-37" baseline="5952" dirty="0">
                          <a:solidFill>
                            <a:srgbClr val="213739"/>
                          </a:solidFill>
                          <a:latin typeface="Comic Sans MS"/>
                          <a:cs typeface="Comic Sans MS"/>
                        </a:rPr>
                        <a:t>f</a:t>
                      </a:r>
                      <a:r>
                        <a:rPr sz="1000" spc="-25" dirty="0">
                          <a:solidFill>
                            <a:srgbClr val="213739"/>
                          </a:solidFill>
                          <a:latin typeface="Lucida Console"/>
                          <a:cs typeface="Lucida Console"/>
                        </a:rPr>
                        <a:t>10</a:t>
                      </a:r>
                      <a:endParaRPr sz="1000">
                        <a:latin typeface="Lucida Console"/>
                        <a:cs typeface="Lucida Console"/>
                      </a:endParaRPr>
                    </a:p>
                  </a:txBody>
                  <a:tcPr marL="0" marR="0" marT="12065" marB="0">
                    <a:lnT w="6350">
                      <a:solidFill>
                        <a:srgbClr val="213739"/>
                      </a:solidFill>
                      <a:prstDash val="solid"/>
                    </a:lnT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2100" i="1" spc="-37" baseline="5952" dirty="0">
                          <a:solidFill>
                            <a:srgbClr val="213739"/>
                          </a:solidFill>
                          <a:latin typeface="Comic Sans MS"/>
                          <a:cs typeface="Comic Sans MS"/>
                        </a:rPr>
                        <a:t>f</a:t>
                      </a:r>
                      <a:r>
                        <a:rPr sz="1000" spc="-25" dirty="0">
                          <a:solidFill>
                            <a:srgbClr val="213739"/>
                          </a:solidFill>
                          <a:latin typeface="Lucida Console"/>
                          <a:cs typeface="Lucida Console"/>
                        </a:rPr>
                        <a:t>11</a:t>
                      </a:r>
                      <a:endParaRPr sz="1000">
                        <a:latin typeface="Lucida Console"/>
                        <a:cs typeface="Lucida Console"/>
                      </a:endParaRPr>
                    </a:p>
                  </a:txBody>
                  <a:tcPr marL="0" marR="0" marT="12065" marB="0">
                    <a:lnT w="6350">
                      <a:solidFill>
                        <a:srgbClr val="213739"/>
                      </a:solidFill>
                      <a:prstDash val="solid"/>
                    </a:lnT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2100" i="1" spc="-37" baseline="5952" dirty="0">
                          <a:solidFill>
                            <a:srgbClr val="213739"/>
                          </a:solidFill>
                          <a:latin typeface="Comic Sans MS"/>
                          <a:cs typeface="Comic Sans MS"/>
                        </a:rPr>
                        <a:t>f</a:t>
                      </a:r>
                      <a:r>
                        <a:rPr sz="1000" spc="-25" dirty="0">
                          <a:solidFill>
                            <a:srgbClr val="213739"/>
                          </a:solidFill>
                          <a:latin typeface="Lucida Console"/>
                          <a:cs typeface="Lucida Console"/>
                        </a:rPr>
                        <a:t>12</a:t>
                      </a:r>
                      <a:endParaRPr sz="1000">
                        <a:latin typeface="Lucida Console"/>
                        <a:cs typeface="Lucida Console"/>
                      </a:endParaRPr>
                    </a:p>
                  </a:txBody>
                  <a:tcPr marL="0" marR="0" marT="12065" marB="0">
                    <a:lnT w="6350">
                      <a:solidFill>
                        <a:srgbClr val="213739"/>
                      </a:solidFill>
                      <a:prstDash val="solid"/>
                    </a:lnT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2100" i="1" spc="-37" baseline="5952" dirty="0">
                          <a:solidFill>
                            <a:srgbClr val="213739"/>
                          </a:solidFill>
                          <a:latin typeface="Comic Sans MS"/>
                          <a:cs typeface="Comic Sans MS"/>
                        </a:rPr>
                        <a:t>f</a:t>
                      </a:r>
                      <a:r>
                        <a:rPr sz="1000" spc="-25" dirty="0">
                          <a:solidFill>
                            <a:srgbClr val="213739"/>
                          </a:solidFill>
                          <a:latin typeface="Lucida Console"/>
                          <a:cs typeface="Lucida Console"/>
                        </a:rPr>
                        <a:t>13</a:t>
                      </a:r>
                      <a:endParaRPr sz="1000">
                        <a:latin typeface="Lucida Console"/>
                        <a:cs typeface="Lucida Console"/>
                      </a:endParaRPr>
                    </a:p>
                  </a:txBody>
                  <a:tcPr marL="0" marR="0" marT="12065" marB="0">
                    <a:lnT w="6350">
                      <a:solidFill>
                        <a:srgbClr val="213739"/>
                      </a:solidFill>
                      <a:prstDash val="solid"/>
                    </a:lnT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2100" i="1" spc="-37" baseline="5952" dirty="0">
                          <a:solidFill>
                            <a:srgbClr val="213739"/>
                          </a:solidFill>
                          <a:latin typeface="Comic Sans MS"/>
                          <a:cs typeface="Comic Sans MS"/>
                        </a:rPr>
                        <a:t>f</a:t>
                      </a:r>
                      <a:r>
                        <a:rPr sz="1000" spc="-25" dirty="0">
                          <a:solidFill>
                            <a:srgbClr val="213739"/>
                          </a:solidFill>
                          <a:latin typeface="Lucida Console"/>
                          <a:cs typeface="Lucida Console"/>
                        </a:rPr>
                        <a:t>14</a:t>
                      </a:r>
                      <a:endParaRPr sz="1000">
                        <a:latin typeface="Lucida Console"/>
                        <a:cs typeface="Lucida Console"/>
                      </a:endParaRPr>
                    </a:p>
                  </a:txBody>
                  <a:tcPr marL="0" marR="0" marT="12065" marB="0">
                    <a:lnT w="6350">
                      <a:solidFill>
                        <a:srgbClr val="213739"/>
                      </a:solidFill>
                      <a:prstDash val="solid"/>
                    </a:lnT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2100" i="1" spc="-37" baseline="5952" dirty="0">
                          <a:solidFill>
                            <a:srgbClr val="213739"/>
                          </a:solidFill>
                          <a:latin typeface="Comic Sans MS"/>
                          <a:cs typeface="Comic Sans MS"/>
                        </a:rPr>
                        <a:t>f</a:t>
                      </a:r>
                      <a:r>
                        <a:rPr sz="1000" spc="-25" dirty="0">
                          <a:solidFill>
                            <a:srgbClr val="213739"/>
                          </a:solidFill>
                          <a:latin typeface="Lucida Console"/>
                          <a:cs typeface="Lucida Console"/>
                        </a:rPr>
                        <a:t>15</a:t>
                      </a:r>
                      <a:endParaRPr sz="1000">
                        <a:latin typeface="Lucida Console"/>
                        <a:cs typeface="Lucida Console"/>
                      </a:endParaRPr>
                    </a:p>
                  </a:txBody>
                  <a:tcPr marL="0" marR="0" marT="12065" marB="0">
                    <a:lnT w="6350">
                      <a:solidFill>
                        <a:srgbClr val="213739"/>
                      </a:solidFill>
                      <a:prstDash val="solid"/>
                    </a:lnT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2100" i="1" spc="-37" baseline="5952" dirty="0">
                          <a:solidFill>
                            <a:srgbClr val="213739"/>
                          </a:solidFill>
                          <a:latin typeface="Comic Sans MS"/>
                          <a:cs typeface="Comic Sans MS"/>
                        </a:rPr>
                        <a:t>f</a:t>
                      </a:r>
                      <a:r>
                        <a:rPr sz="1000" spc="-25" dirty="0">
                          <a:solidFill>
                            <a:srgbClr val="213739"/>
                          </a:solidFill>
                          <a:latin typeface="Lucida Console"/>
                          <a:cs typeface="Lucida Console"/>
                        </a:rPr>
                        <a:t>16</a:t>
                      </a:r>
                      <a:endParaRPr sz="1000">
                        <a:latin typeface="Lucida Console"/>
                        <a:cs typeface="Lucida Console"/>
                      </a:endParaRPr>
                    </a:p>
                  </a:txBody>
                  <a:tcPr marL="0" marR="0" marT="12065" marB="0">
                    <a:lnT w="6350">
                      <a:solidFill>
                        <a:srgbClr val="213739"/>
                      </a:solidFill>
                      <a:prstDash val="solid"/>
                    </a:lnT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490">
                <a:tc>
                  <a:txBody>
                    <a:bodyPr/>
                    <a:lstStyle/>
                    <a:p>
                      <a:pPr marL="5080" algn="ctr">
                        <a:lnSpc>
                          <a:spcPts val="1639"/>
                        </a:lnSpc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ts val="1639"/>
                        </a:lnSpc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ts val="1639"/>
                        </a:lnSpc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ts val="1639"/>
                        </a:lnSpc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ts val="1639"/>
                        </a:lnSpc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ts val="1639"/>
                        </a:lnSpc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ts val="1639"/>
                        </a:lnSpc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ts val="1639"/>
                        </a:lnSpc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ts val="1639"/>
                        </a:lnSpc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ts val="1639"/>
                        </a:lnSpc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ts val="1639"/>
                        </a:lnSpc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ts val="1639"/>
                        </a:lnSpc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639"/>
                        </a:lnSpc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ts val="1639"/>
                        </a:lnSpc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639"/>
                        </a:lnSpc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639"/>
                        </a:lnSpc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ts val="1639"/>
                        </a:lnSpc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ts val="1639"/>
                        </a:lnSpc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213739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3365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3365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B w="6350">
                      <a:solidFill>
                        <a:srgbClr val="21373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956259" y="3131894"/>
            <a:ext cx="7690484" cy="2254885"/>
          </a:xfrm>
          <a:prstGeom prst="rect">
            <a:avLst/>
          </a:prstGeom>
        </p:spPr>
        <p:txBody>
          <a:bodyPr vert="horz" wrap="square" lIns="0" tIns="14922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175"/>
              </a:spcBef>
            </a:pP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these,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how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many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are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linearly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separable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?</a:t>
            </a:r>
            <a:r>
              <a:rPr sz="1750" spc="-2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(turns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out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all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except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65" dirty="0">
                <a:solidFill>
                  <a:srgbClr val="213739"/>
                </a:solidFill>
                <a:latin typeface="Arial MT"/>
                <a:cs typeface="Arial MT"/>
              </a:rPr>
              <a:t>XOR</a:t>
            </a:r>
            <a:r>
              <a:rPr sz="1750" spc="-2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!XOR)</a:t>
            </a:r>
            <a:endParaRPr sz="1750">
              <a:latin typeface="Arial MT"/>
              <a:cs typeface="Arial MT"/>
            </a:endParaRPr>
          </a:p>
          <a:p>
            <a:pPr marL="50800">
              <a:lnSpc>
                <a:spcPct val="100000"/>
              </a:lnSpc>
              <a:spcBef>
                <a:spcPts val="1070"/>
              </a:spcBef>
            </a:pP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In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general,</a:t>
            </a:r>
            <a:r>
              <a:rPr sz="1750" spc="-1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how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many</a:t>
            </a:r>
            <a:r>
              <a:rPr sz="1750" spc="-1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boolean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functions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can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you 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have</a:t>
            </a:r>
            <a:r>
              <a:rPr sz="1750" spc="-1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for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750" i="1" spc="22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inputs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?</a:t>
            </a:r>
            <a:r>
              <a:rPr sz="1750" spc="-3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875" spc="-37" baseline="24444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425" i="1" spc="-37" baseline="52631" dirty="0">
                <a:solidFill>
                  <a:srgbClr val="213739"/>
                </a:solidFill>
                <a:latin typeface="Georgia"/>
                <a:cs typeface="Georgia"/>
              </a:rPr>
              <a:t>n</a:t>
            </a:r>
            <a:endParaRPr sz="1425" baseline="52631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680"/>
              </a:spcBef>
            </a:pPr>
            <a:endParaRPr sz="1750">
              <a:latin typeface="Georgia"/>
              <a:cs typeface="Georgia"/>
            </a:endParaRPr>
          </a:p>
          <a:p>
            <a:pPr marL="50800">
              <a:lnSpc>
                <a:spcPct val="100000"/>
              </a:lnSpc>
              <a:spcBef>
                <a:spcPts val="5"/>
              </a:spcBef>
            </a:pP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How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many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these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875" baseline="24444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425" i="1" baseline="52631" dirty="0">
                <a:solidFill>
                  <a:srgbClr val="213739"/>
                </a:solidFill>
                <a:latin typeface="Georgia"/>
                <a:cs typeface="Georgia"/>
              </a:rPr>
              <a:t>n</a:t>
            </a:r>
            <a:r>
              <a:rPr sz="1425" i="1" spc="644" baseline="52631" dirty="0">
                <a:solidFill>
                  <a:srgbClr val="213739"/>
                </a:solidFill>
                <a:latin typeface="Georgia"/>
                <a:cs typeface="Georgia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functions</a:t>
            </a:r>
            <a:r>
              <a:rPr sz="1750" spc="-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are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not</a:t>
            </a:r>
            <a:r>
              <a:rPr sz="1750" spc="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linearly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separable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?</a:t>
            </a:r>
            <a:endParaRPr sz="1750">
              <a:latin typeface="Arial MT"/>
              <a:cs typeface="Arial MT"/>
            </a:endParaRPr>
          </a:p>
          <a:p>
            <a:pPr marL="50800" marR="43180">
              <a:lnSpc>
                <a:spcPct val="117700"/>
              </a:lnSpc>
              <a:spcBef>
                <a:spcPts val="490"/>
              </a:spcBef>
            </a:pP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For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time</a:t>
            </a:r>
            <a:r>
              <a:rPr sz="1750" spc="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being,</a:t>
            </a:r>
            <a:r>
              <a:rPr sz="1750" spc="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it</a:t>
            </a:r>
            <a:r>
              <a:rPr sz="1750" spc="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suffices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1750" spc="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know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that</a:t>
            </a:r>
            <a:r>
              <a:rPr sz="1750" spc="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at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least</a:t>
            </a:r>
            <a:r>
              <a:rPr sz="1750" spc="-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70" dirty="0">
                <a:solidFill>
                  <a:srgbClr val="213739"/>
                </a:solidFill>
                <a:latin typeface="Arial MT"/>
                <a:cs typeface="Arial MT"/>
              </a:rPr>
              <a:t>some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these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85" dirty="0">
                <a:solidFill>
                  <a:srgbClr val="213739"/>
                </a:solidFill>
                <a:latin typeface="Arial MT"/>
                <a:cs typeface="Arial MT"/>
              </a:rPr>
              <a:t>may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not</a:t>
            </a:r>
            <a:r>
              <a:rPr sz="1750" spc="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95" dirty="0">
                <a:solidFill>
                  <a:srgbClr val="213739"/>
                </a:solidFill>
                <a:latin typeface="Arial MT"/>
                <a:cs typeface="Arial MT"/>
              </a:rPr>
              <a:t>be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linearly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inseparable</a:t>
            </a:r>
            <a:endParaRPr sz="175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57885" y="3041395"/>
            <a:ext cx="7498715" cy="3638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200" b="1" spc="-60" dirty="0">
                <a:solidFill>
                  <a:srgbClr val="213739"/>
                </a:solidFill>
                <a:latin typeface="Trebuchet MS"/>
                <a:cs typeface="Trebuchet MS"/>
              </a:rPr>
              <a:t>Module</a:t>
            </a:r>
            <a:r>
              <a:rPr sz="2200" b="1" spc="-150" dirty="0">
                <a:solidFill>
                  <a:srgbClr val="213739"/>
                </a:solidFill>
                <a:latin typeface="Trebuchet MS"/>
                <a:cs typeface="Trebuchet MS"/>
              </a:rPr>
              <a:t> </a:t>
            </a:r>
            <a:r>
              <a:rPr sz="2200" b="1" spc="-155" dirty="0">
                <a:solidFill>
                  <a:srgbClr val="213739"/>
                </a:solidFill>
                <a:latin typeface="Trebuchet MS"/>
                <a:cs typeface="Trebuchet MS"/>
              </a:rPr>
              <a:t>2.8:</a:t>
            </a:r>
            <a:r>
              <a:rPr sz="2200" b="1" spc="-215" dirty="0">
                <a:solidFill>
                  <a:srgbClr val="213739"/>
                </a:solidFill>
                <a:latin typeface="Trebuchet MS"/>
                <a:cs typeface="Trebuchet MS"/>
              </a:rPr>
              <a:t> </a:t>
            </a:r>
            <a:r>
              <a:rPr sz="2200" b="1" spc="-175" dirty="0">
                <a:solidFill>
                  <a:srgbClr val="213739"/>
                </a:solidFill>
                <a:latin typeface="Trebuchet MS"/>
                <a:cs typeface="Trebuchet MS"/>
              </a:rPr>
              <a:t>Representation</a:t>
            </a:r>
            <a:r>
              <a:rPr sz="2200" b="1" spc="-290" dirty="0">
                <a:solidFill>
                  <a:srgbClr val="213739"/>
                </a:solidFill>
                <a:latin typeface="Trebuchet MS"/>
                <a:cs typeface="Trebuchet MS"/>
              </a:rPr>
              <a:t> </a:t>
            </a:r>
            <a:r>
              <a:rPr sz="2200" b="1" spc="-110" dirty="0">
                <a:solidFill>
                  <a:srgbClr val="213739"/>
                </a:solidFill>
                <a:latin typeface="Trebuchet MS"/>
                <a:cs typeface="Trebuchet MS"/>
              </a:rPr>
              <a:t>Power</a:t>
            </a:r>
            <a:r>
              <a:rPr sz="2200" b="1" spc="-215" dirty="0">
                <a:solidFill>
                  <a:srgbClr val="213739"/>
                </a:solidFill>
                <a:latin typeface="Trebuchet MS"/>
                <a:cs typeface="Trebuchet MS"/>
              </a:rPr>
              <a:t> </a:t>
            </a:r>
            <a:r>
              <a:rPr sz="2200" b="1" dirty="0">
                <a:solidFill>
                  <a:srgbClr val="213739"/>
                </a:solidFill>
                <a:latin typeface="Trebuchet MS"/>
                <a:cs typeface="Trebuchet MS"/>
              </a:rPr>
              <a:t>of</a:t>
            </a:r>
            <a:r>
              <a:rPr sz="2200" b="1" spc="-100" dirty="0">
                <a:solidFill>
                  <a:srgbClr val="213739"/>
                </a:solidFill>
                <a:latin typeface="Trebuchet MS"/>
                <a:cs typeface="Trebuchet MS"/>
              </a:rPr>
              <a:t> </a:t>
            </a:r>
            <a:r>
              <a:rPr sz="2200" b="1" dirty="0">
                <a:solidFill>
                  <a:srgbClr val="213739"/>
                </a:solidFill>
                <a:latin typeface="Trebuchet MS"/>
                <a:cs typeface="Trebuchet MS"/>
              </a:rPr>
              <a:t>a</a:t>
            </a:r>
            <a:r>
              <a:rPr sz="2200" b="1" spc="-210" dirty="0">
                <a:solidFill>
                  <a:srgbClr val="213739"/>
                </a:solidFill>
                <a:latin typeface="Trebuchet MS"/>
                <a:cs typeface="Trebuchet MS"/>
              </a:rPr>
              <a:t> </a:t>
            </a:r>
            <a:r>
              <a:rPr sz="2200" b="1" spc="-75" dirty="0">
                <a:solidFill>
                  <a:srgbClr val="213739"/>
                </a:solidFill>
                <a:latin typeface="Trebuchet MS"/>
                <a:cs typeface="Trebuchet MS"/>
              </a:rPr>
              <a:t>Network</a:t>
            </a:r>
            <a:r>
              <a:rPr sz="2200" b="1" spc="-175" dirty="0">
                <a:solidFill>
                  <a:srgbClr val="213739"/>
                </a:solidFill>
                <a:latin typeface="Trebuchet MS"/>
                <a:cs typeface="Trebuchet MS"/>
              </a:rPr>
              <a:t> </a:t>
            </a:r>
            <a:r>
              <a:rPr sz="2200" b="1" dirty="0">
                <a:solidFill>
                  <a:srgbClr val="213739"/>
                </a:solidFill>
                <a:latin typeface="Trebuchet MS"/>
                <a:cs typeface="Trebuchet MS"/>
              </a:rPr>
              <a:t>of</a:t>
            </a:r>
            <a:r>
              <a:rPr sz="2200" b="1" spc="-100" dirty="0">
                <a:solidFill>
                  <a:srgbClr val="213739"/>
                </a:solidFill>
                <a:latin typeface="Trebuchet MS"/>
                <a:cs typeface="Trebuchet MS"/>
              </a:rPr>
              <a:t> </a:t>
            </a:r>
            <a:r>
              <a:rPr sz="2200" b="1" spc="-75" dirty="0">
                <a:solidFill>
                  <a:srgbClr val="213739"/>
                </a:solidFill>
                <a:latin typeface="Trebuchet MS"/>
                <a:cs typeface="Trebuchet MS"/>
              </a:rPr>
              <a:t>Perceptrons</a:t>
            </a:r>
            <a:endParaRPr sz="220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92529" y="4110608"/>
            <a:ext cx="244475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500" i="1" spc="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650" spc="37" baseline="-10101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650" baseline="-10101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720339" y="4110608"/>
            <a:ext cx="244475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500" i="1" spc="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650" spc="37" baseline="-10101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650" baseline="-10101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39616" y="3008902"/>
            <a:ext cx="524510" cy="523875"/>
            <a:chOff x="539616" y="3008902"/>
            <a:chExt cx="524510" cy="523875"/>
          </a:xfrm>
        </p:grpSpPr>
        <p:sp>
          <p:nvSpPr>
            <p:cNvPr id="5" name="object 5"/>
            <p:cNvSpPr/>
            <p:nvPr/>
          </p:nvSpPr>
          <p:spPr>
            <a:xfrm>
              <a:off x="544677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256921" y="0"/>
                  </a:moveTo>
                  <a:lnTo>
                    <a:pt x="188620" y="9144"/>
                  </a:lnTo>
                  <a:lnTo>
                    <a:pt x="127241" y="35051"/>
                  </a:lnTo>
                  <a:lnTo>
                    <a:pt x="75247" y="75184"/>
                  </a:lnTo>
                  <a:lnTo>
                    <a:pt x="35077" y="127126"/>
                  </a:lnTo>
                  <a:lnTo>
                    <a:pt x="9182" y="188595"/>
                  </a:lnTo>
                  <a:lnTo>
                    <a:pt x="0" y="256794"/>
                  </a:lnTo>
                  <a:lnTo>
                    <a:pt x="9182" y="325120"/>
                  </a:lnTo>
                  <a:lnTo>
                    <a:pt x="35077" y="386588"/>
                  </a:lnTo>
                  <a:lnTo>
                    <a:pt x="75247" y="438531"/>
                  </a:lnTo>
                  <a:lnTo>
                    <a:pt x="127241" y="478663"/>
                  </a:lnTo>
                  <a:lnTo>
                    <a:pt x="188620" y="504571"/>
                  </a:lnTo>
                  <a:lnTo>
                    <a:pt x="256921" y="513714"/>
                  </a:lnTo>
                  <a:lnTo>
                    <a:pt x="325221" y="504571"/>
                  </a:lnTo>
                  <a:lnTo>
                    <a:pt x="386588" y="478663"/>
                  </a:lnTo>
                  <a:lnTo>
                    <a:pt x="438581" y="438531"/>
                  </a:lnTo>
                  <a:lnTo>
                    <a:pt x="478764" y="386588"/>
                  </a:lnTo>
                  <a:lnTo>
                    <a:pt x="504659" y="325120"/>
                  </a:lnTo>
                  <a:lnTo>
                    <a:pt x="513842" y="256794"/>
                  </a:lnTo>
                  <a:lnTo>
                    <a:pt x="504659" y="188595"/>
                  </a:lnTo>
                  <a:lnTo>
                    <a:pt x="478764" y="127126"/>
                  </a:lnTo>
                  <a:lnTo>
                    <a:pt x="438581" y="75184"/>
                  </a:lnTo>
                  <a:lnTo>
                    <a:pt x="386588" y="35051"/>
                  </a:lnTo>
                  <a:lnTo>
                    <a:pt x="325221" y="9144"/>
                  </a:lnTo>
                  <a:lnTo>
                    <a:pt x="256921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44677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513842" y="256794"/>
                  </a:moveTo>
                  <a:lnTo>
                    <a:pt x="504659" y="188595"/>
                  </a:lnTo>
                  <a:lnTo>
                    <a:pt x="478764" y="127126"/>
                  </a:lnTo>
                  <a:lnTo>
                    <a:pt x="438581" y="75184"/>
                  </a:lnTo>
                  <a:lnTo>
                    <a:pt x="386588" y="35051"/>
                  </a:lnTo>
                  <a:lnTo>
                    <a:pt x="325221" y="9144"/>
                  </a:lnTo>
                  <a:lnTo>
                    <a:pt x="256921" y="0"/>
                  </a:lnTo>
                  <a:lnTo>
                    <a:pt x="188620" y="9144"/>
                  </a:lnTo>
                  <a:lnTo>
                    <a:pt x="127241" y="35051"/>
                  </a:lnTo>
                  <a:lnTo>
                    <a:pt x="75247" y="75184"/>
                  </a:lnTo>
                  <a:lnTo>
                    <a:pt x="35077" y="127126"/>
                  </a:lnTo>
                  <a:lnTo>
                    <a:pt x="9182" y="188595"/>
                  </a:lnTo>
                  <a:lnTo>
                    <a:pt x="0" y="256794"/>
                  </a:lnTo>
                  <a:lnTo>
                    <a:pt x="9182" y="325120"/>
                  </a:lnTo>
                  <a:lnTo>
                    <a:pt x="35077" y="386588"/>
                  </a:lnTo>
                  <a:lnTo>
                    <a:pt x="75247" y="438531"/>
                  </a:lnTo>
                  <a:lnTo>
                    <a:pt x="127241" y="478663"/>
                  </a:lnTo>
                  <a:lnTo>
                    <a:pt x="188620" y="504571"/>
                  </a:lnTo>
                  <a:lnTo>
                    <a:pt x="256921" y="513714"/>
                  </a:lnTo>
                  <a:lnTo>
                    <a:pt x="325221" y="504571"/>
                  </a:lnTo>
                  <a:lnTo>
                    <a:pt x="386588" y="478663"/>
                  </a:lnTo>
                  <a:lnTo>
                    <a:pt x="438581" y="438531"/>
                  </a:lnTo>
                  <a:lnTo>
                    <a:pt x="478764" y="386588"/>
                  </a:lnTo>
                  <a:lnTo>
                    <a:pt x="504659" y="325120"/>
                  </a:lnTo>
                  <a:lnTo>
                    <a:pt x="513842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1567325" y="3008902"/>
            <a:ext cx="524510" cy="523875"/>
            <a:chOff x="1567325" y="3008902"/>
            <a:chExt cx="524510" cy="523875"/>
          </a:xfrm>
        </p:grpSpPr>
        <p:sp>
          <p:nvSpPr>
            <p:cNvPr id="8" name="object 8"/>
            <p:cNvSpPr/>
            <p:nvPr/>
          </p:nvSpPr>
          <p:spPr>
            <a:xfrm>
              <a:off x="1572386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256920" y="0"/>
                  </a:moveTo>
                  <a:lnTo>
                    <a:pt x="188594" y="9144"/>
                  </a:lnTo>
                  <a:lnTo>
                    <a:pt x="127254" y="35051"/>
                  </a:lnTo>
                  <a:lnTo>
                    <a:pt x="75183" y="75184"/>
                  </a:lnTo>
                  <a:lnTo>
                    <a:pt x="35051" y="127126"/>
                  </a:lnTo>
                  <a:lnTo>
                    <a:pt x="9143" y="188595"/>
                  </a:lnTo>
                  <a:lnTo>
                    <a:pt x="0" y="256794"/>
                  </a:lnTo>
                  <a:lnTo>
                    <a:pt x="9143" y="325120"/>
                  </a:lnTo>
                  <a:lnTo>
                    <a:pt x="35051" y="386588"/>
                  </a:lnTo>
                  <a:lnTo>
                    <a:pt x="75183" y="438531"/>
                  </a:lnTo>
                  <a:lnTo>
                    <a:pt x="127254" y="478663"/>
                  </a:lnTo>
                  <a:lnTo>
                    <a:pt x="188594" y="504571"/>
                  </a:lnTo>
                  <a:lnTo>
                    <a:pt x="256920" y="513714"/>
                  </a:lnTo>
                  <a:lnTo>
                    <a:pt x="325119" y="504571"/>
                  </a:lnTo>
                  <a:lnTo>
                    <a:pt x="386588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0" y="325120"/>
                  </a:lnTo>
                  <a:lnTo>
                    <a:pt x="513842" y="256794"/>
                  </a:lnTo>
                  <a:lnTo>
                    <a:pt x="504570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588" y="35051"/>
                  </a:lnTo>
                  <a:lnTo>
                    <a:pt x="325119" y="9144"/>
                  </a:lnTo>
                  <a:lnTo>
                    <a:pt x="256920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72386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513842" y="256794"/>
                  </a:moveTo>
                  <a:lnTo>
                    <a:pt x="504570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588" y="35051"/>
                  </a:lnTo>
                  <a:lnTo>
                    <a:pt x="325119" y="9144"/>
                  </a:lnTo>
                  <a:lnTo>
                    <a:pt x="256920" y="0"/>
                  </a:lnTo>
                  <a:lnTo>
                    <a:pt x="188594" y="9144"/>
                  </a:lnTo>
                  <a:lnTo>
                    <a:pt x="127254" y="35051"/>
                  </a:lnTo>
                  <a:lnTo>
                    <a:pt x="75183" y="75184"/>
                  </a:lnTo>
                  <a:lnTo>
                    <a:pt x="35051" y="127126"/>
                  </a:lnTo>
                  <a:lnTo>
                    <a:pt x="9143" y="188595"/>
                  </a:lnTo>
                  <a:lnTo>
                    <a:pt x="0" y="256794"/>
                  </a:lnTo>
                  <a:lnTo>
                    <a:pt x="9143" y="325120"/>
                  </a:lnTo>
                  <a:lnTo>
                    <a:pt x="35051" y="386588"/>
                  </a:lnTo>
                  <a:lnTo>
                    <a:pt x="75183" y="438531"/>
                  </a:lnTo>
                  <a:lnTo>
                    <a:pt x="127254" y="478663"/>
                  </a:lnTo>
                  <a:lnTo>
                    <a:pt x="188594" y="504571"/>
                  </a:lnTo>
                  <a:lnTo>
                    <a:pt x="256920" y="513714"/>
                  </a:lnTo>
                  <a:lnTo>
                    <a:pt x="325119" y="504571"/>
                  </a:lnTo>
                  <a:lnTo>
                    <a:pt x="386588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0" y="325120"/>
                  </a:lnTo>
                  <a:lnTo>
                    <a:pt x="513842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2595010" y="3008902"/>
            <a:ext cx="524510" cy="523875"/>
            <a:chOff x="2595010" y="3008902"/>
            <a:chExt cx="524510" cy="523875"/>
          </a:xfrm>
        </p:grpSpPr>
        <p:sp>
          <p:nvSpPr>
            <p:cNvPr id="11" name="object 11"/>
            <p:cNvSpPr/>
            <p:nvPr/>
          </p:nvSpPr>
          <p:spPr>
            <a:xfrm>
              <a:off x="2600071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256921" y="0"/>
                  </a:moveTo>
                  <a:lnTo>
                    <a:pt x="188595" y="9144"/>
                  </a:lnTo>
                  <a:lnTo>
                    <a:pt x="127254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3" y="188595"/>
                  </a:lnTo>
                  <a:lnTo>
                    <a:pt x="0" y="256794"/>
                  </a:lnTo>
                  <a:lnTo>
                    <a:pt x="9143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254" y="478663"/>
                  </a:lnTo>
                  <a:lnTo>
                    <a:pt x="188595" y="504571"/>
                  </a:lnTo>
                  <a:lnTo>
                    <a:pt x="256921" y="513714"/>
                  </a:lnTo>
                  <a:lnTo>
                    <a:pt x="325120" y="504571"/>
                  </a:lnTo>
                  <a:lnTo>
                    <a:pt x="386588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842" y="256794"/>
                  </a:ln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588" y="35051"/>
                  </a:lnTo>
                  <a:lnTo>
                    <a:pt x="325120" y="9144"/>
                  </a:lnTo>
                  <a:lnTo>
                    <a:pt x="256921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600071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513842" y="256794"/>
                  </a:move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588" y="35051"/>
                  </a:lnTo>
                  <a:lnTo>
                    <a:pt x="325120" y="9144"/>
                  </a:lnTo>
                  <a:lnTo>
                    <a:pt x="256921" y="0"/>
                  </a:lnTo>
                  <a:lnTo>
                    <a:pt x="188595" y="9144"/>
                  </a:lnTo>
                  <a:lnTo>
                    <a:pt x="127254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3" y="188595"/>
                  </a:lnTo>
                  <a:lnTo>
                    <a:pt x="0" y="256794"/>
                  </a:lnTo>
                  <a:lnTo>
                    <a:pt x="9143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254" y="478663"/>
                  </a:lnTo>
                  <a:lnTo>
                    <a:pt x="188595" y="504571"/>
                  </a:lnTo>
                  <a:lnTo>
                    <a:pt x="256921" y="513714"/>
                  </a:lnTo>
                  <a:lnTo>
                    <a:pt x="325120" y="504571"/>
                  </a:lnTo>
                  <a:lnTo>
                    <a:pt x="386588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842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3622693" y="3008902"/>
            <a:ext cx="523875" cy="523875"/>
            <a:chOff x="3622693" y="3008902"/>
            <a:chExt cx="523875" cy="523875"/>
          </a:xfrm>
        </p:grpSpPr>
        <p:sp>
          <p:nvSpPr>
            <p:cNvPr id="14" name="object 14"/>
            <p:cNvSpPr/>
            <p:nvPr/>
          </p:nvSpPr>
          <p:spPr>
            <a:xfrm>
              <a:off x="3627755" y="3013963"/>
              <a:ext cx="513715" cy="513715"/>
            </a:xfrm>
            <a:custGeom>
              <a:avLst/>
              <a:gdLst/>
              <a:ahLst/>
              <a:cxnLst/>
              <a:rect l="l" t="t" r="r" b="b"/>
              <a:pathLst>
                <a:path w="513714" h="513714">
                  <a:moveTo>
                    <a:pt x="256794" y="0"/>
                  </a:moveTo>
                  <a:lnTo>
                    <a:pt x="188595" y="9144"/>
                  </a:lnTo>
                  <a:lnTo>
                    <a:pt x="127127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4" y="188595"/>
                  </a:lnTo>
                  <a:lnTo>
                    <a:pt x="0" y="256794"/>
                  </a:lnTo>
                  <a:lnTo>
                    <a:pt x="9144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127" y="478663"/>
                  </a:lnTo>
                  <a:lnTo>
                    <a:pt x="188595" y="504571"/>
                  </a:lnTo>
                  <a:lnTo>
                    <a:pt x="256794" y="513714"/>
                  </a:lnTo>
                  <a:lnTo>
                    <a:pt x="325120" y="504571"/>
                  </a:lnTo>
                  <a:lnTo>
                    <a:pt x="386461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715" y="256794"/>
                  </a:ln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461" y="35051"/>
                  </a:lnTo>
                  <a:lnTo>
                    <a:pt x="325120" y="9144"/>
                  </a:lnTo>
                  <a:lnTo>
                    <a:pt x="256794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627755" y="3013963"/>
              <a:ext cx="513715" cy="513715"/>
            </a:xfrm>
            <a:custGeom>
              <a:avLst/>
              <a:gdLst/>
              <a:ahLst/>
              <a:cxnLst/>
              <a:rect l="l" t="t" r="r" b="b"/>
              <a:pathLst>
                <a:path w="513714" h="513714">
                  <a:moveTo>
                    <a:pt x="513715" y="256794"/>
                  </a:move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461" y="35051"/>
                  </a:lnTo>
                  <a:lnTo>
                    <a:pt x="325120" y="9144"/>
                  </a:lnTo>
                  <a:lnTo>
                    <a:pt x="256794" y="0"/>
                  </a:lnTo>
                  <a:lnTo>
                    <a:pt x="188595" y="9144"/>
                  </a:lnTo>
                  <a:lnTo>
                    <a:pt x="127127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4" y="188595"/>
                  </a:lnTo>
                  <a:lnTo>
                    <a:pt x="0" y="256794"/>
                  </a:lnTo>
                  <a:lnTo>
                    <a:pt x="9144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127" y="478663"/>
                  </a:lnTo>
                  <a:lnTo>
                    <a:pt x="188595" y="504571"/>
                  </a:lnTo>
                  <a:lnTo>
                    <a:pt x="256794" y="513714"/>
                  </a:lnTo>
                  <a:lnTo>
                    <a:pt x="325120" y="504571"/>
                  </a:lnTo>
                  <a:lnTo>
                    <a:pt x="386461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715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 descr="$PPTXTitle"/>
          <p:cNvSpPr txBox="1">
            <a:spLocks noGrp="1"/>
          </p:cNvSpPr>
          <p:nvPr>
            <p:ph type="title"/>
          </p:nvPr>
        </p:nvSpPr>
        <p:spPr>
          <a:xfrm>
            <a:off x="4781169" y="875537"/>
            <a:ext cx="3961129" cy="653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 marR="5080" indent="-5080">
              <a:lnSpc>
                <a:spcPct val="117700"/>
              </a:lnSpc>
              <a:spcBef>
                <a:spcPts val="100"/>
              </a:spcBef>
            </a:pP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For</a:t>
            </a:r>
            <a:r>
              <a:rPr sz="1750" spc="-229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this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discussion,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will 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assume</a:t>
            </a:r>
            <a:r>
              <a:rPr sz="1750" spc="-1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True</a:t>
            </a:r>
            <a:r>
              <a:rPr sz="1750" spc="-1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=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+1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750" spc="-1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60" dirty="0">
                <a:solidFill>
                  <a:srgbClr val="213739"/>
                </a:solidFill>
                <a:latin typeface="Arial MT"/>
                <a:cs typeface="Arial MT"/>
              </a:rPr>
              <a:t>False</a:t>
            </a:r>
            <a:r>
              <a:rPr sz="1750" spc="-229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=</a:t>
            </a:r>
            <a:r>
              <a:rPr sz="1750" spc="-1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-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1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782692" y="1646377"/>
            <a:ext cx="3654425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consider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2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inputs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4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perceptrons</a:t>
            </a:r>
            <a:endParaRPr sz="175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20339" y="4110608"/>
            <a:ext cx="244475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500" i="1" spc="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650" spc="37" baseline="-10101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650" baseline="-10101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39616" y="3008902"/>
            <a:ext cx="3607435" cy="1210310"/>
            <a:chOff x="539616" y="3008902"/>
            <a:chExt cx="3607435" cy="1210310"/>
          </a:xfrm>
        </p:grpSpPr>
        <p:sp>
          <p:nvSpPr>
            <p:cNvPr id="4" name="object 4"/>
            <p:cNvSpPr/>
            <p:nvPr/>
          </p:nvSpPr>
          <p:spPr>
            <a:xfrm>
              <a:off x="544677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256921" y="0"/>
                  </a:moveTo>
                  <a:lnTo>
                    <a:pt x="188620" y="9144"/>
                  </a:lnTo>
                  <a:lnTo>
                    <a:pt x="127241" y="35051"/>
                  </a:lnTo>
                  <a:lnTo>
                    <a:pt x="75247" y="75184"/>
                  </a:lnTo>
                  <a:lnTo>
                    <a:pt x="35077" y="127126"/>
                  </a:lnTo>
                  <a:lnTo>
                    <a:pt x="9182" y="188595"/>
                  </a:lnTo>
                  <a:lnTo>
                    <a:pt x="0" y="256794"/>
                  </a:lnTo>
                  <a:lnTo>
                    <a:pt x="9182" y="325120"/>
                  </a:lnTo>
                  <a:lnTo>
                    <a:pt x="35077" y="386588"/>
                  </a:lnTo>
                  <a:lnTo>
                    <a:pt x="75247" y="438531"/>
                  </a:lnTo>
                  <a:lnTo>
                    <a:pt x="127241" y="478663"/>
                  </a:lnTo>
                  <a:lnTo>
                    <a:pt x="188620" y="504571"/>
                  </a:lnTo>
                  <a:lnTo>
                    <a:pt x="256921" y="513714"/>
                  </a:lnTo>
                  <a:lnTo>
                    <a:pt x="325221" y="504571"/>
                  </a:lnTo>
                  <a:lnTo>
                    <a:pt x="386588" y="478663"/>
                  </a:lnTo>
                  <a:lnTo>
                    <a:pt x="438581" y="438531"/>
                  </a:lnTo>
                  <a:lnTo>
                    <a:pt x="478764" y="386588"/>
                  </a:lnTo>
                  <a:lnTo>
                    <a:pt x="504659" y="325120"/>
                  </a:lnTo>
                  <a:lnTo>
                    <a:pt x="513842" y="256794"/>
                  </a:lnTo>
                  <a:lnTo>
                    <a:pt x="504659" y="188595"/>
                  </a:lnTo>
                  <a:lnTo>
                    <a:pt x="478764" y="127126"/>
                  </a:lnTo>
                  <a:lnTo>
                    <a:pt x="438581" y="75184"/>
                  </a:lnTo>
                  <a:lnTo>
                    <a:pt x="386588" y="35051"/>
                  </a:lnTo>
                  <a:lnTo>
                    <a:pt x="325221" y="9144"/>
                  </a:lnTo>
                  <a:lnTo>
                    <a:pt x="256921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4677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513842" y="256794"/>
                  </a:moveTo>
                  <a:lnTo>
                    <a:pt x="504659" y="188595"/>
                  </a:lnTo>
                  <a:lnTo>
                    <a:pt x="478764" y="127126"/>
                  </a:lnTo>
                  <a:lnTo>
                    <a:pt x="438581" y="75184"/>
                  </a:lnTo>
                  <a:lnTo>
                    <a:pt x="386588" y="35051"/>
                  </a:lnTo>
                  <a:lnTo>
                    <a:pt x="325221" y="9144"/>
                  </a:lnTo>
                  <a:lnTo>
                    <a:pt x="256921" y="0"/>
                  </a:lnTo>
                  <a:lnTo>
                    <a:pt x="188620" y="9144"/>
                  </a:lnTo>
                  <a:lnTo>
                    <a:pt x="127241" y="35051"/>
                  </a:lnTo>
                  <a:lnTo>
                    <a:pt x="75247" y="75184"/>
                  </a:lnTo>
                  <a:lnTo>
                    <a:pt x="35077" y="127126"/>
                  </a:lnTo>
                  <a:lnTo>
                    <a:pt x="9182" y="188595"/>
                  </a:lnTo>
                  <a:lnTo>
                    <a:pt x="0" y="256794"/>
                  </a:lnTo>
                  <a:lnTo>
                    <a:pt x="9182" y="325120"/>
                  </a:lnTo>
                  <a:lnTo>
                    <a:pt x="35077" y="386588"/>
                  </a:lnTo>
                  <a:lnTo>
                    <a:pt x="75247" y="438531"/>
                  </a:lnTo>
                  <a:lnTo>
                    <a:pt x="127241" y="478663"/>
                  </a:lnTo>
                  <a:lnTo>
                    <a:pt x="188620" y="504571"/>
                  </a:lnTo>
                  <a:lnTo>
                    <a:pt x="256921" y="513714"/>
                  </a:lnTo>
                  <a:lnTo>
                    <a:pt x="325221" y="504571"/>
                  </a:lnTo>
                  <a:lnTo>
                    <a:pt x="386588" y="478663"/>
                  </a:lnTo>
                  <a:lnTo>
                    <a:pt x="438581" y="438531"/>
                  </a:lnTo>
                  <a:lnTo>
                    <a:pt x="478764" y="386588"/>
                  </a:lnTo>
                  <a:lnTo>
                    <a:pt x="504659" y="325120"/>
                  </a:lnTo>
                  <a:lnTo>
                    <a:pt x="513842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72386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256920" y="0"/>
                  </a:moveTo>
                  <a:lnTo>
                    <a:pt x="188594" y="9144"/>
                  </a:lnTo>
                  <a:lnTo>
                    <a:pt x="127254" y="35051"/>
                  </a:lnTo>
                  <a:lnTo>
                    <a:pt x="75183" y="75184"/>
                  </a:lnTo>
                  <a:lnTo>
                    <a:pt x="35051" y="127126"/>
                  </a:lnTo>
                  <a:lnTo>
                    <a:pt x="9143" y="188595"/>
                  </a:lnTo>
                  <a:lnTo>
                    <a:pt x="0" y="256794"/>
                  </a:lnTo>
                  <a:lnTo>
                    <a:pt x="9143" y="325120"/>
                  </a:lnTo>
                  <a:lnTo>
                    <a:pt x="35051" y="386588"/>
                  </a:lnTo>
                  <a:lnTo>
                    <a:pt x="75183" y="438531"/>
                  </a:lnTo>
                  <a:lnTo>
                    <a:pt x="127254" y="478663"/>
                  </a:lnTo>
                  <a:lnTo>
                    <a:pt x="188594" y="504571"/>
                  </a:lnTo>
                  <a:lnTo>
                    <a:pt x="256920" y="513714"/>
                  </a:lnTo>
                  <a:lnTo>
                    <a:pt x="325119" y="504571"/>
                  </a:lnTo>
                  <a:lnTo>
                    <a:pt x="386588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0" y="325120"/>
                  </a:lnTo>
                  <a:lnTo>
                    <a:pt x="513842" y="256794"/>
                  </a:lnTo>
                  <a:lnTo>
                    <a:pt x="504570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588" y="35051"/>
                  </a:lnTo>
                  <a:lnTo>
                    <a:pt x="325119" y="9144"/>
                  </a:lnTo>
                  <a:lnTo>
                    <a:pt x="256920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72386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513842" y="256794"/>
                  </a:moveTo>
                  <a:lnTo>
                    <a:pt x="504570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588" y="35051"/>
                  </a:lnTo>
                  <a:lnTo>
                    <a:pt x="325119" y="9144"/>
                  </a:lnTo>
                  <a:lnTo>
                    <a:pt x="256920" y="0"/>
                  </a:lnTo>
                  <a:lnTo>
                    <a:pt x="188594" y="9144"/>
                  </a:lnTo>
                  <a:lnTo>
                    <a:pt x="127254" y="35051"/>
                  </a:lnTo>
                  <a:lnTo>
                    <a:pt x="75183" y="75184"/>
                  </a:lnTo>
                  <a:lnTo>
                    <a:pt x="35051" y="127126"/>
                  </a:lnTo>
                  <a:lnTo>
                    <a:pt x="9143" y="188595"/>
                  </a:lnTo>
                  <a:lnTo>
                    <a:pt x="0" y="256794"/>
                  </a:lnTo>
                  <a:lnTo>
                    <a:pt x="9143" y="325120"/>
                  </a:lnTo>
                  <a:lnTo>
                    <a:pt x="35051" y="386588"/>
                  </a:lnTo>
                  <a:lnTo>
                    <a:pt x="75183" y="438531"/>
                  </a:lnTo>
                  <a:lnTo>
                    <a:pt x="127254" y="478663"/>
                  </a:lnTo>
                  <a:lnTo>
                    <a:pt x="188594" y="504571"/>
                  </a:lnTo>
                  <a:lnTo>
                    <a:pt x="256920" y="513714"/>
                  </a:lnTo>
                  <a:lnTo>
                    <a:pt x="325119" y="504571"/>
                  </a:lnTo>
                  <a:lnTo>
                    <a:pt x="386588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0" y="325120"/>
                  </a:lnTo>
                  <a:lnTo>
                    <a:pt x="513842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600071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256921" y="0"/>
                  </a:moveTo>
                  <a:lnTo>
                    <a:pt x="188595" y="9144"/>
                  </a:lnTo>
                  <a:lnTo>
                    <a:pt x="127254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3" y="188595"/>
                  </a:lnTo>
                  <a:lnTo>
                    <a:pt x="0" y="256794"/>
                  </a:lnTo>
                  <a:lnTo>
                    <a:pt x="9143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254" y="478663"/>
                  </a:lnTo>
                  <a:lnTo>
                    <a:pt x="188595" y="504571"/>
                  </a:lnTo>
                  <a:lnTo>
                    <a:pt x="256921" y="513714"/>
                  </a:lnTo>
                  <a:lnTo>
                    <a:pt x="325120" y="504571"/>
                  </a:lnTo>
                  <a:lnTo>
                    <a:pt x="386588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842" y="256794"/>
                  </a:ln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588" y="35051"/>
                  </a:lnTo>
                  <a:lnTo>
                    <a:pt x="325120" y="9144"/>
                  </a:lnTo>
                  <a:lnTo>
                    <a:pt x="256921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600071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513842" y="256794"/>
                  </a:move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588" y="35051"/>
                  </a:lnTo>
                  <a:lnTo>
                    <a:pt x="325120" y="9144"/>
                  </a:lnTo>
                  <a:lnTo>
                    <a:pt x="256921" y="0"/>
                  </a:lnTo>
                  <a:lnTo>
                    <a:pt x="188595" y="9144"/>
                  </a:lnTo>
                  <a:lnTo>
                    <a:pt x="127254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3" y="188595"/>
                  </a:lnTo>
                  <a:lnTo>
                    <a:pt x="0" y="256794"/>
                  </a:lnTo>
                  <a:lnTo>
                    <a:pt x="9143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254" y="478663"/>
                  </a:lnTo>
                  <a:lnTo>
                    <a:pt x="188595" y="504571"/>
                  </a:lnTo>
                  <a:lnTo>
                    <a:pt x="256921" y="513714"/>
                  </a:lnTo>
                  <a:lnTo>
                    <a:pt x="325120" y="504571"/>
                  </a:lnTo>
                  <a:lnTo>
                    <a:pt x="386588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842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627627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256921" y="0"/>
                  </a:moveTo>
                  <a:lnTo>
                    <a:pt x="188722" y="9144"/>
                  </a:lnTo>
                  <a:lnTo>
                    <a:pt x="127254" y="35051"/>
                  </a:lnTo>
                  <a:lnTo>
                    <a:pt x="75311" y="75184"/>
                  </a:lnTo>
                  <a:lnTo>
                    <a:pt x="35179" y="127126"/>
                  </a:lnTo>
                  <a:lnTo>
                    <a:pt x="9271" y="188595"/>
                  </a:lnTo>
                  <a:lnTo>
                    <a:pt x="0" y="256794"/>
                  </a:lnTo>
                  <a:lnTo>
                    <a:pt x="9271" y="325120"/>
                  </a:lnTo>
                  <a:lnTo>
                    <a:pt x="35179" y="386588"/>
                  </a:lnTo>
                  <a:lnTo>
                    <a:pt x="75311" y="438531"/>
                  </a:lnTo>
                  <a:lnTo>
                    <a:pt x="127254" y="478663"/>
                  </a:lnTo>
                  <a:lnTo>
                    <a:pt x="188722" y="504571"/>
                  </a:lnTo>
                  <a:lnTo>
                    <a:pt x="256921" y="513714"/>
                  </a:lnTo>
                  <a:lnTo>
                    <a:pt x="325247" y="504571"/>
                  </a:lnTo>
                  <a:lnTo>
                    <a:pt x="386588" y="478663"/>
                  </a:lnTo>
                  <a:lnTo>
                    <a:pt x="438658" y="438531"/>
                  </a:lnTo>
                  <a:lnTo>
                    <a:pt x="478789" y="386588"/>
                  </a:lnTo>
                  <a:lnTo>
                    <a:pt x="504698" y="325120"/>
                  </a:lnTo>
                  <a:lnTo>
                    <a:pt x="513842" y="256794"/>
                  </a:lnTo>
                  <a:lnTo>
                    <a:pt x="504698" y="188595"/>
                  </a:lnTo>
                  <a:lnTo>
                    <a:pt x="478789" y="127126"/>
                  </a:lnTo>
                  <a:lnTo>
                    <a:pt x="438658" y="75184"/>
                  </a:lnTo>
                  <a:lnTo>
                    <a:pt x="386588" y="35051"/>
                  </a:lnTo>
                  <a:lnTo>
                    <a:pt x="325247" y="9144"/>
                  </a:lnTo>
                  <a:lnTo>
                    <a:pt x="256921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627627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513842" y="256794"/>
                  </a:moveTo>
                  <a:lnTo>
                    <a:pt x="504698" y="188595"/>
                  </a:lnTo>
                  <a:lnTo>
                    <a:pt x="478789" y="127126"/>
                  </a:lnTo>
                  <a:lnTo>
                    <a:pt x="438658" y="75184"/>
                  </a:lnTo>
                  <a:lnTo>
                    <a:pt x="386588" y="35051"/>
                  </a:lnTo>
                  <a:lnTo>
                    <a:pt x="325247" y="9144"/>
                  </a:lnTo>
                  <a:lnTo>
                    <a:pt x="256921" y="0"/>
                  </a:lnTo>
                  <a:lnTo>
                    <a:pt x="188722" y="9144"/>
                  </a:lnTo>
                  <a:lnTo>
                    <a:pt x="127254" y="35051"/>
                  </a:lnTo>
                  <a:lnTo>
                    <a:pt x="75311" y="75184"/>
                  </a:lnTo>
                  <a:lnTo>
                    <a:pt x="35179" y="127126"/>
                  </a:lnTo>
                  <a:lnTo>
                    <a:pt x="9271" y="188595"/>
                  </a:lnTo>
                  <a:lnTo>
                    <a:pt x="0" y="256794"/>
                  </a:lnTo>
                  <a:lnTo>
                    <a:pt x="9271" y="325120"/>
                  </a:lnTo>
                  <a:lnTo>
                    <a:pt x="35179" y="386588"/>
                  </a:lnTo>
                  <a:lnTo>
                    <a:pt x="75311" y="438531"/>
                  </a:lnTo>
                  <a:lnTo>
                    <a:pt x="127254" y="478663"/>
                  </a:lnTo>
                  <a:lnTo>
                    <a:pt x="188722" y="504571"/>
                  </a:lnTo>
                  <a:lnTo>
                    <a:pt x="256921" y="513714"/>
                  </a:lnTo>
                  <a:lnTo>
                    <a:pt x="325247" y="504571"/>
                  </a:lnTo>
                  <a:lnTo>
                    <a:pt x="386588" y="478663"/>
                  </a:lnTo>
                  <a:lnTo>
                    <a:pt x="438658" y="438531"/>
                  </a:lnTo>
                  <a:lnTo>
                    <a:pt x="478789" y="386588"/>
                  </a:lnTo>
                  <a:lnTo>
                    <a:pt x="504698" y="325120"/>
                  </a:lnTo>
                  <a:lnTo>
                    <a:pt x="513842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99731" y="3469004"/>
              <a:ext cx="702945" cy="702945"/>
            </a:xfrm>
            <a:custGeom>
              <a:avLst/>
              <a:gdLst/>
              <a:ahLst/>
              <a:cxnLst/>
              <a:rect l="l" t="t" r="r" b="b"/>
              <a:pathLst>
                <a:path w="702944" h="702945">
                  <a:moveTo>
                    <a:pt x="702703" y="702564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8052" y="3447274"/>
              <a:ext cx="104659" cy="104661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052220" y="3396106"/>
              <a:ext cx="1636395" cy="818515"/>
            </a:xfrm>
            <a:custGeom>
              <a:avLst/>
              <a:gdLst/>
              <a:ahLst/>
              <a:cxnLst/>
              <a:rect l="l" t="t" r="r" b="b"/>
              <a:pathLst>
                <a:path w="1636395" h="818514">
                  <a:moveTo>
                    <a:pt x="1635861" y="818006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39983" y="3354469"/>
              <a:ext cx="84086" cy="122136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766569" y="3543045"/>
              <a:ext cx="125730" cy="628650"/>
            </a:xfrm>
            <a:custGeom>
              <a:avLst/>
              <a:gdLst/>
              <a:ahLst/>
              <a:cxnLst/>
              <a:rect l="l" t="t" r="r" b="b"/>
              <a:pathLst>
                <a:path w="125730" h="628650">
                  <a:moveTo>
                    <a:pt x="62737" y="628522"/>
                  </a:moveTo>
                  <a:lnTo>
                    <a:pt x="62737" y="8000"/>
                  </a:lnTo>
                </a:path>
                <a:path w="125730" h="628650">
                  <a:moveTo>
                    <a:pt x="0" y="51307"/>
                  </a:moveTo>
                  <a:lnTo>
                    <a:pt x="24637" y="42290"/>
                  </a:lnTo>
                  <a:lnTo>
                    <a:pt x="42672" y="29971"/>
                  </a:lnTo>
                  <a:lnTo>
                    <a:pt x="55118" y="15493"/>
                  </a:lnTo>
                  <a:lnTo>
                    <a:pt x="62737" y="0"/>
                  </a:lnTo>
                  <a:lnTo>
                    <a:pt x="70231" y="15493"/>
                  </a:lnTo>
                  <a:lnTo>
                    <a:pt x="82677" y="29971"/>
                  </a:lnTo>
                  <a:lnTo>
                    <a:pt x="100711" y="42290"/>
                  </a:lnTo>
                  <a:lnTo>
                    <a:pt x="125349" y="51307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027427" y="3469004"/>
              <a:ext cx="702945" cy="702945"/>
            </a:xfrm>
            <a:custGeom>
              <a:avLst/>
              <a:gdLst/>
              <a:ahLst/>
              <a:cxnLst/>
              <a:rect l="l" t="t" r="r" b="b"/>
              <a:pathLst>
                <a:path w="702944" h="702945">
                  <a:moveTo>
                    <a:pt x="702691" y="702564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05711" y="3447274"/>
              <a:ext cx="104659" cy="104661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956180" y="3469004"/>
              <a:ext cx="702945" cy="702945"/>
            </a:xfrm>
            <a:custGeom>
              <a:avLst/>
              <a:gdLst/>
              <a:ahLst/>
              <a:cxnLst/>
              <a:rect l="l" t="t" r="r" b="b"/>
              <a:pathLst>
                <a:path w="702944" h="702945">
                  <a:moveTo>
                    <a:pt x="0" y="702564"/>
                  </a:moveTo>
                  <a:lnTo>
                    <a:pt x="702691" y="0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75813" y="3447274"/>
              <a:ext cx="104659" cy="104661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2794253" y="3543045"/>
              <a:ext cx="125730" cy="628650"/>
            </a:xfrm>
            <a:custGeom>
              <a:avLst/>
              <a:gdLst/>
              <a:ahLst/>
              <a:cxnLst/>
              <a:rect l="l" t="t" r="r" b="b"/>
              <a:pathLst>
                <a:path w="125730" h="628650">
                  <a:moveTo>
                    <a:pt x="62737" y="628522"/>
                  </a:moveTo>
                  <a:lnTo>
                    <a:pt x="62737" y="8000"/>
                  </a:lnTo>
                </a:path>
                <a:path w="125730" h="628650">
                  <a:moveTo>
                    <a:pt x="0" y="51307"/>
                  </a:moveTo>
                  <a:lnTo>
                    <a:pt x="24637" y="42290"/>
                  </a:lnTo>
                  <a:lnTo>
                    <a:pt x="42671" y="29971"/>
                  </a:lnTo>
                  <a:lnTo>
                    <a:pt x="55118" y="15493"/>
                  </a:lnTo>
                  <a:lnTo>
                    <a:pt x="62737" y="0"/>
                  </a:lnTo>
                  <a:lnTo>
                    <a:pt x="70231" y="15493"/>
                  </a:lnTo>
                  <a:lnTo>
                    <a:pt x="82676" y="29971"/>
                  </a:lnTo>
                  <a:lnTo>
                    <a:pt x="100710" y="42290"/>
                  </a:lnTo>
                  <a:lnTo>
                    <a:pt x="125348" y="51307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998217" y="3396106"/>
              <a:ext cx="1635760" cy="818515"/>
            </a:xfrm>
            <a:custGeom>
              <a:avLst/>
              <a:gdLst/>
              <a:ahLst/>
              <a:cxnLst/>
              <a:rect l="l" t="t" r="r" b="b"/>
              <a:pathLst>
                <a:path w="1635760" h="818514">
                  <a:moveTo>
                    <a:pt x="0" y="818006"/>
                  </a:moveTo>
                  <a:lnTo>
                    <a:pt x="1635759" y="0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62115" y="3354469"/>
              <a:ext cx="84163" cy="122136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2983865" y="3469004"/>
              <a:ext cx="702945" cy="702945"/>
            </a:xfrm>
            <a:custGeom>
              <a:avLst/>
              <a:gdLst/>
              <a:ahLst/>
              <a:cxnLst/>
              <a:rect l="l" t="t" r="r" b="b"/>
              <a:pathLst>
                <a:path w="702945" h="702945">
                  <a:moveTo>
                    <a:pt x="0" y="702564"/>
                  </a:moveTo>
                  <a:lnTo>
                    <a:pt x="702563" y="0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603497" y="3447274"/>
              <a:ext cx="104659" cy="104661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343204" y="3999632"/>
            <a:ext cx="2451100" cy="1073785"/>
          </a:xfrm>
          <a:prstGeom prst="rect">
            <a:avLst/>
          </a:prstGeom>
        </p:spPr>
        <p:txBody>
          <a:bodyPr vert="horz" wrap="square" lIns="0" tIns="125095" rIns="0" bIns="0" rtlCol="0">
            <a:spAutoFit/>
          </a:bodyPr>
          <a:lstStyle/>
          <a:p>
            <a:pPr marL="496570" algn="ctr">
              <a:lnSpc>
                <a:spcPct val="100000"/>
              </a:lnSpc>
              <a:spcBef>
                <a:spcPts val="985"/>
              </a:spcBef>
            </a:pPr>
            <a:r>
              <a:rPr sz="1500" i="1" spc="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650" spc="37" baseline="-10101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650" baseline="-10101">
              <a:latin typeface="Calibri"/>
              <a:cs typeface="Calibri"/>
            </a:endParaRPr>
          </a:p>
          <a:p>
            <a:pPr marL="38100" marR="30480" indent="50165">
              <a:lnSpc>
                <a:spcPct val="117700"/>
              </a:lnSpc>
              <a:spcBef>
                <a:spcPts val="625"/>
              </a:spcBef>
            </a:pP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red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edge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indicates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i="1" spc="10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=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-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1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blue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edge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indicates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i="1" spc="12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=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+1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781169" y="875537"/>
            <a:ext cx="4001135" cy="1725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 marR="45085" indent="-5080">
              <a:lnSpc>
                <a:spcPct val="117700"/>
              </a:lnSpc>
              <a:spcBef>
                <a:spcPts val="100"/>
              </a:spcBef>
            </a:pP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For</a:t>
            </a:r>
            <a:r>
              <a:rPr sz="1750" spc="-229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this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discussion,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will 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assume</a:t>
            </a:r>
            <a:r>
              <a:rPr sz="1750" spc="-1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True</a:t>
            </a:r>
            <a:r>
              <a:rPr sz="1750" spc="-1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=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+1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750" spc="-1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60" dirty="0">
                <a:solidFill>
                  <a:srgbClr val="213739"/>
                </a:solidFill>
                <a:latin typeface="Arial MT"/>
                <a:cs typeface="Arial MT"/>
              </a:rPr>
              <a:t>False</a:t>
            </a:r>
            <a:r>
              <a:rPr sz="1750" spc="-229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=</a:t>
            </a:r>
            <a:r>
              <a:rPr sz="1750" spc="-1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-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1</a:t>
            </a:r>
            <a:endParaRPr sz="1750">
              <a:latin typeface="Arial MT"/>
              <a:cs typeface="Arial MT"/>
            </a:endParaRPr>
          </a:p>
          <a:p>
            <a:pPr marL="12700" marR="5080" indent="1270">
              <a:lnSpc>
                <a:spcPct val="124300"/>
              </a:lnSpc>
              <a:spcBef>
                <a:spcPts val="605"/>
              </a:spcBef>
            </a:pP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consider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2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inputs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4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perceptrons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Each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 input</a:t>
            </a:r>
            <a:r>
              <a:rPr sz="1750" spc="1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is</a:t>
            </a:r>
            <a:r>
              <a:rPr sz="1750" spc="1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connected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 to</a:t>
            </a:r>
            <a:r>
              <a:rPr sz="1750" spc="1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all</a:t>
            </a:r>
            <a:r>
              <a:rPr sz="1750" spc="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1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4</a:t>
            </a:r>
            <a:r>
              <a:rPr sz="1750" spc="1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per-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ceptrons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with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specific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weights</a:t>
            </a:r>
            <a:endParaRPr sz="175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20339" y="4110608"/>
            <a:ext cx="244475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500" i="1" spc="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650" spc="37" baseline="-10101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650" baseline="-10101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39597" y="3008883"/>
            <a:ext cx="3607435" cy="523875"/>
            <a:chOff x="539597" y="3008883"/>
            <a:chExt cx="3607435" cy="523875"/>
          </a:xfrm>
        </p:grpSpPr>
        <p:sp>
          <p:nvSpPr>
            <p:cNvPr id="4" name="object 4"/>
            <p:cNvSpPr/>
            <p:nvPr/>
          </p:nvSpPr>
          <p:spPr>
            <a:xfrm>
              <a:off x="544677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256921" y="0"/>
                  </a:moveTo>
                  <a:lnTo>
                    <a:pt x="188620" y="9144"/>
                  </a:lnTo>
                  <a:lnTo>
                    <a:pt x="127241" y="35051"/>
                  </a:lnTo>
                  <a:lnTo>
                    <a:pt x="75247" y="75184"/>
                  </a:lnTo>
                  <a:lnTo>
                    <a:pt x="35077" y="127126"/>
                  </a:lnTo>
                  <a:lnTo>
                    <a:pt x="9182" y="188595"/>
                  </a:lnTo>
                  <a:lnTo>
                    <a:pt x="0" y="256794"/>
                  </a:lnTo>
                  <a:lnTo>
                    <a:pt x="9182" y="325120"/>
                  </a:lnTo>
                  <a:lnTo>
                    <a:pt x="35077" y="386588"/>
                  </a:lnTo>
                  <a:lnTo>
                    <a:pt x="75247" y="438531"/>
                  </a:lnTo>
                  <a:lnTo>
                    <a:pt x="127241" y="478663"/>
                  </a:lnTo>
                  <a:lnTo>
                    <a:pt x="188620" y="504571"/>
                  </a:lnTo>
                  <a:lnTo>
                    <a:pt x="256921" y="513714"/>
                  </a:lnTo>
                  <a:lnTo>
                    <a:pt x="325221" y="504571"/>
                  </a:lnTo>
                  <a:lnTo>
                    <a:pt x="386588" y="478663"/>
                  </a:lnTo>
                  <a:lnTo>
                    <a:pt x="438581" y="438531"/>
                  </a:lnTo>
                  <a:lnTo>
                    <a:pt x="478764" y="386588"/>
                  </a:lnTo>
                  <a:lnTo>
                    <a:pt x="504659" y="325120"/>
                  </a:lnTo>
                  <a:lnTo>
                    <a:pt x="513842" y="256794"/>
                  </a:lnTo>
                  <a:lnTo>
                    <a:pt x="504659" y="188595"/>
                  </a:lnTo>
                  <a:lnTo>
                    <a:pt x="478764" y="127126"/>
                  </a:lnTo>
                  <a:lnTo>
                    <a:pt x="438581" y="75184"/>
                  </a:lnTo>
                  <a:lnTo>
                    <a:pt x="386588" y="35051"/>
                  </a:lnTo>
                  <a:lnTo>
                    <a:pt x="325221" y="9144"/>
                  </a:lnTo>
                  <a:lnTo>
                    <a:pt x="256921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4677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513842" y="256794"/>
                  </a:moveTo>
                  <a:lnTo>
                    <a:pt x="504659" y="188595"/>
                  </a:lnTo>
                  <a:lnTo>
                    <a:pt x="478764" y="127126"/>
                  </a:lnTo>
                  <a:lnTo>
                    <a:pt x="438581" y="75184"/>
                  </a:lnTo>
                  <a:lnTo>
                    <a:pt x="386588" y="35051"/>
                  </a:lnTo>
                  <a:lnTo>
                    <a:pt x="325221" y="9144"/>
                  </a:lnTo>
                  <a:lnTo>
                    <a:pt x="256921" y="0"/>
                  </a:lnTo>
                  <a:lnTo>
                    <a:pt x="188620" y="9144"/>
                  </a:lnTo>
                  <a:lnTo>
                    <a:pt x="127241" y="35051"/>
                  </a:lnTo>
                  <a:lnTo>
                    <a:pt x="75247" y="75184"/>
                  </a:lnTo>
                  <a:lnTo>
                    <a:pt x="35077" y="127126"/>
                  </a:lnTo>
                  <a:lnTo>
                    <a:pt x="9182" y="188595"/>
                  </a:lnTo>
                  <a:lnTo>
                    <a:pt x="0" y="256794"/>
                  </a:lnTo>
                  <a:lnTo>
                    <a:pt x="9182" y="325120"/>
                  </a:lnTo>
                  <a:lnTo>
                    <a:pt x="35077" y="386588"/>
                  </a:lnTo>
                  <a:lnTo>
                    <a:pt x="75247" y="438531"/>
                  </a:lnTo>
                  <a:lnTo>
                    <a:pt x="127241" y="478663"/>
                  </a:lnTo>
                  <a:lnTo>
                    <a:pt x="188620" y="504571"/>
                  </a:lnTo>
                  <a:lnTo>
                    <a:pt x="256921" y="513714"/>
                  </a:lnTo>
                  <a:lnTo>
                    <a:pt x="325221" y="504571"/>
                  </a:lnTo>
                  <a:lnTo>
                    <a:pt x="386588" y="478663"/>
                  </a:lnTo>
                  <a:lnTo>
                    <a:pt x="438581" y="438531"/>
                  </a:lnTo>
                  <a:lnTo>
                    <a:pt x="478764" y="386588"/>
                  </a:lnTo>
                  <a:lnTo>
                    <a:pt x="504659" y="325120"/>
                  </a:lnTo>
                  <a:lnTo>
                    <a:pt x="513842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72386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256920" y="0"/>
                  </a:moveTo>
                  <a:lnTo>
                    <a:pt x="188594" y="9144"/>
                  </a:lnTo>
                  <a:lnTo>
                    <a:pt x="127254" y="35051"/>
                  </a:lnTo>
                  <a:lnTo>
                    <a:pt x="75183" y="75184"/>
                  </a:lnTo>
                  <a:lnTo>
                    <a:pt x="35051" y="127126"/>
                  </a:lnTo>
                  <a:lnTo>
                    <a:pt x="9143" y="188595"/>
                  </a:lnTo>
                  <a:lnTo>
                    <a:pt x="0" y="256794"/>
                  </a:lnTo>
                  <a:lnTo>
                    <a:pt x="9143" y="325120"/>
                  </a:lnTo>
                  <a:lnTo>
                    <a:pt x="35051" y="386588"/>
                  </a:lnTo>
                  <a:lnTo>
                    <a:pt x="75183" y="438531"/>
                  </a:lnTo>
                  <a:lnTo>
                    <a:pt x="127254" y="478663"/>
                  </a:lnTo>
                  <a:lnTo>
                    <a:pt x="188594" y="504571"/>
                  </a:lnTo>
                  <a:lnTo>
                    <a:pt x="256920" y="513714"/>
                  </a:lnTo>
                  <a:lnTo>
                    <a:pt x="325119" y="504571"/>
                  </a:lnTo>
                  <a:lnTo>
                    <a:pt x="386588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0" y="325120"/>
                  </a:lnTo>
                  <a:lnTo>
                    <a:pt x="513842" y="256794"/>
                  </a:lnTo>
                  <a:lnTo>
                    <a:pt x="504570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588" y="35051"/>
                  </a:lnTo>
                  <a:lnTo>
                    <a:pt x="325119" y="9144"/>
                  </a:lnTo>
                  <a:lnTo>
                    <a:pt x="256920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72386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513842" y="256794"/>
                  </a:moveTo>
                  <a:lnTo>
                    <a:pt x="504570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588" y="35051"/>
                  </a:lnTo>
                  <a:lnTo>
                    <a:pt x="325119" y="9144"/>
                  </a:lnTo>
                  <a:lnTo>
                    <a:pt x="256920" y="0"/>
                  </a:lnTo>
                  <a:lnTo>
                    <a:pt x="188594" y="9144"/>
                  </a:lnTo>
                  <a:lnTo>
                    <a:pt x="127254" y="35051"/>
                  </a:lnTo>
                  <a:lnTo>
                    <a:pt x="75183" y="75184"/>
                  </a:lnTo>
                  <a:lnTo>
                    <a:pt x="35051" y="127126"/>
                  </a:lnTo>
                  <a:lnTo>
                    <a:pt x="9143" y="188595"/>
                  </a:lnTo>
                  <a:lnTo>
                    <a:pt x="0" y="256794"/>
                  </a:lnTo>
                  <a:lnTo>
                    <a:pt x="9143" y="325120"/>
                  </a:lnTo>
                  <a:lnTo>
                    <a:pt x="35051" y="386588"/>
                  </a:lnTo>
                  <a:lnTo>
                    <a:pt x="75183" y="438531"/>
                  </a:lnTo>
                  <a:lnTo>
                    <a:pt x="127254" y="478663"/>
                  </a:lnTo>
                  <a:lnTo>
                    <a:pt x="188594" y="504571"/>
                  </a:lnTo>
                  <a:lnTo>
                    <a:pt x="256920" y="513714"/>
                  </a:lnTo>
                  <a:lnTo>
                    <a:pt x="325119" y="504571"/>
                  </a:lnTo>
                  <a:lnTo>
                    <a:pt x="386588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0" y="325120"/>
                  </a:lnTo>
                  <a:lnTo>
                    <a:pt x="513842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600071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256921" y="0"/>
                  </a:moveTo>
                  <a:lnTo>
                    <a:pt x="188595" y="9144"/>
                  </a:lnTo>
                  <a:lnTo>
                    <a:pt x="127254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3" y="188595"/>
                  </a:lnTo>
                  <a:lnTo>
                    <a:pt x="0" y="256794"/>
                  </a:lnTo>
                  <a:lnTo>
                    <a:pt x="9143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254" y="478663"/>
                  </a:lnTo>
                  <a:lnTo>
                    <a:pt x="188595" y="504571"/>
                  </a:lnTo>
                  <a:lnTo>
                    <a:pt x="256921" y="513714"/>
                  </a:lnTo>
                  <a:lnTo>
                    <a:pt x="325120" y="504571"/>
                  </a:lnTo>
                  <a:lnTo>
                    <a:pt x="386588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842" y="256794"/>
                  </a:ln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588" y="35051"/>
                  </a:lnTo>
                  <a:lnTo>
                    <a:pt x="325120" y="9144"/>
                  </a:lnTo>
                  <a:lnTo>
                    <a:pt x="256921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600071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513842" y="256794"/>
                  </a:move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588" y="35051"/>
                  </a:lnTo>
                  <a:lnTo>
                    <a:pt x="325120" y="9144"/>
                  </a:lnTo>
                  <a:lnTo>
                    <a:pt x="256921" y="0"/>
                  </a:lnTo>
                  <a:lnTo>
                    <a:pt x="188595" y="9144"/>
                  </a:lnTo>
                  <a:lnTo>
                    <a:pt x="127254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3" y="188595"/>
                  </a:lnTo>
                  <a:lnTo>
                    <a:pt x="0" y="256794"/>
                  </a:lnTo>
                  <a:lnTo>
                    <a:pt x="9143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254" y="478663"/>
                  </a:lnTo>
                  <a:lnTo>
                    <a:pt x="188595" y="504571"/>
                  </a:lnTo>
                  <a:lnTo>
                    <a:pt x="256921" y="513714"/>
                  </a:lnTo>
                  <a:lnTo>
                    <a:pt x="325120" y="504571"/>
                  </a:lnTo>
                  <a:lnTo>
                    <a:pt x="386588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842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627755" y="3013963"/>
              <a:ext cx="513715" cy="513715"/>
            </a:xfrm>
            <a:custGeom>
              <a:avLst/>
              <a:gdLst/>
              <a:ahLst/>
              <a:cxnLst/>
              <a:rect l="l" t="t" r="r" b="b"/>
              <a:pathLst>
                <a:path w="513714" h="513714">
                  <a:moveTo>
                    <a:pt x="256794" y="0"/>
                  </a:moveTo>
                  <a:lnTo>
                    <a:pt x="188595" y="9144"/>
                  </a:lnTo>
                  <a:lnTo>
                    <a:pt x="127127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4" y="188595"/>
                  </a:lnTo>
                  <a:lnTo>
                    <a:pt x="0" y="256794"/>
                  </a:lnTo>
                  <a:lnTo>
                    <a:pt x="9144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127" y="478663"/>
                  </a:lnTo>
                  <a:lnTo>
                    <a:pt x="188595" y="504571"/>
                  </a:lnTo>
                  <a:lnTo>
                    <a:pt x="256794" y="513714"/>
                  </a:lnTo>
                  <a:lnTo>
                    <a:pt x="325120" y="504571"/>
                  </a:lnTo>
                  <a:lnTo>
                    <a:pt x="386461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715" y="256794"/>
                  </a:ln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461" y="35051"/>
                  </a:lnTo>
                  <a:lnTo>
                    <a:pt x="325120" y="9144"/>
                  </a:lnTo>
                  <a:lnTo>
                    <a:pt x="256794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627755" y="3013963"/>
              <a:ext cx="513715" cy="513715"/>
            </a:xfrm>
            <a:custGeom>
              <a:avLst/>
              <a:gdLst/>
              <a:ahLst/>
              <a:cxnLst/>
              <a:rect l="l" t="t" r="r" b="b"/>
              <a:pathLst>
                <a:path w="513714" h="513714">
                  <a:moveTo>
                    <a:pt x="513715" y="256794"/>
                  </a:move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461" y="35051"/>
                  </a:lnTo>
                  <a:lnTo>
                    <a:pt x="325120" y="9144"/>
                  </a:lnTo>
                  <a:lnTo>
                    <a:pt x="256794" y="0"/>
                  </a:lnTo>
                  <a:lnTo>
                    <a:pt x="188595" y="9144"/>
                  </a:lnTo>
                  <a:lnTo>
                    <a:pt x="127127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4" y="188595"/>
                  </a:lnTo>
                  <a:lnTo>
                    <a:pt x="0" y="256794"/>
                  </a:lnTo>
                  <a:lnTo>
                    <a:pt x="9144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127" y="478663"/>
                  </a:lnTo>
                  <a:lnTo>
                    <a:pt x="188595" y="504571"/>
                  </a:lnTo>
                  <a:lnTo>
                    <a:pt x="256794" y="513714"/>
                  </a:lnTo>
                  <a:lnTo>
                    <a:pt x="325120" y="504571"/>
                  </a:lnTo>
                  <a:lnTo>
                    <a:pt x="386461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715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33527" y="3638803"/>
            <a:ext cx="748030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i="1" dirty="0">
                <a:solidFill>
                  <a:srgbClr val="213739"/>
                </a:solidFill>
                <a:latin typeface="Calibri"/>
                <a:cs typeface="Calibri"/>
              </a:rPr>
              <a:t>bias</a:t>
            </a:r>
            <a:r>
              <a:rPr sz="1500" i="1" spc="33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500" spc="-13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13739"/>
                </a:solidFill>
                <a:latin typeface="Arial MT"/>
                <a:cs typeface="Arial MT"/>
              </a:rPr>
              <a:t>-</a:t>
            </a:r>
            <a:r>
              <a:rPr sz="1500" spc="-2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00" spc="-50" dirty="0">
                <a:solidFill>
                  <a:srgbClr val="213739"/>
                </a:solidFill>
                <a:latin typeface="Arial MT"/>
                <a:cs typeface="Arial MT"/>
              </a:rPr>
              <a:t>2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978052" y="3354470"/>
            <a:ext cx="2730500" cy="864869"/>
            <a:chOff x="978052" y="3354470"/>
            <a:chExt cx="2730500" cy="864869"/>
          </a:xfrm>
        </p:grpSpPr>
        <p:sp>
          <p:nvSpPr>
            <p:cNvPr id="14" name="object 14"/>
            <p:cNvSpPr/>
            <p:nvPr/>
          </p:nvSpPr>
          <p:spPr>
            <a:xfrm>
              <a:off x="999744" y="3469005"/>
              <a:ext cx="702945" cy="702945"/>
            </a:xfrm>
            <a:custGeom>
              <a:avLst/>
              <a:gdLst/>
              <a:ahLst/>
              <a:cxnLst/>
              <a:rect l="l" t="t" r="r" b="b"/>
              <a:pathLst>
                <a:path w="702944" h="702945">
                  <a:moveTo>
                    <a:pt x="702691" y="702564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8052" y="3447274"/>
              <a:ext cx="104659" cy="104661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052220" y="3396107"/>
              <a:ext cx="1636395" cy="818515"/>
            </a:xfrm>
            <a:custGeom>
              <a:avLst/>
              <a:gdLst/>
              <a:ahLst/>
              <a:cxnLst/>
              <a:rect l="l" t="t" r="r" b="b"/>
              <a:pathLst>
                <a:path w="1636395" h="818514">
                  <a:moveTo>
                    <a:pt x="1635861" y="818006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39983" y="3354470"/>
              <a:ext cx="84086" cy="122136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766570" y="3543046"/>
              <a:ext cx="125730" cy="628650"/>
            </a:xfrm>
            <a:custGeom>
              <a:avLst/>
              <a:gdLst/>
              <a:ahLst/>
              <a:cxnLst/>
              <a:rect l="l" t="t" r="r" b="b"/>
              <a:pathLst>
                <a:path w="125730" h="628650">
                  <a:moveTo>
                    <a:pt x="62737" y="628522"/>
                  </a:moveTo>
                  <a:lnTo>
                    <a:pt x="62737" y="8000"/>
                  </a:lnTo>
                </a:path>
                <a:path w="125730" h="628650">
                  <a:moveTo>
                    <a:pt x="0" y="51307"/>
                  </a:moveTo>
                  <a:lnTo>
                    <a:pt x="24637" y="42290"/>
                  </a:lnTo>
                  <a:lnTo>
                    <a:pt x="42672" y="29971"/>
                  </a:lnTo>
                  <a:lnTo>
                    <a:pt x="55118" y="15493"/>
                  </a:lnTo>
                  <a:lnTo>
                    <a:pt x="62737" y="0"/>
                  </a:lnTo>
                  <a:lnTo>
                    <a:pt x="70231" y="15493"/>
                  </a:lnTo>
                  <a:lnTo>
                    <a:pt x="82677" y="29971"/>
                  </a:lnTo>
                  <a:lnTo>
                    <a:pt x="100711" y="42290"/>
                  </a:lnTo>
                  <a:lnTo>
                    <a:pt x="125349" y="51307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027427" y="3469005"/>
              <a:ext cx="702945" cy="702945"/>
            </a:xfrm>
            <a:custGeom>
              <a:avLst/>
              <a:gdLst/>
              <a:ahLst/>
              <a:cxnLst/>
              <a:rect l="l" t="t" r="r" b="b"/>
              <a:pathLst>
                <a:path w="702944" h="702945">
                  <a:moveTo>
                    <a:pt x="702691" y="702564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05711" y="3447274"/>
              <a:ext cx="104659" cy="104661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956180" y="3469005"/>
              <a:ext cx="702945" cy="702945"/>
            </a:xfrm>
            <a:custGeom>
              <a:avLst/>
              <a:gdLst/>
              <a:ahLst/>
              <a:cxnLst/>
              <a:rect l="l" t="t" r="r" b="b"/>
              <a:pathLst>
                <a:path w="702944" h="702945">
                  <a:moveTo>
                    <a:pt x="0" y="702564"/>
                  </a:moveTo>
                  <a:lnTo>
                    <a:pt x="702691" y="0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75813" y="3447274"/>
              <a:ext cx="104659" cy="104661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2794253" y="3543046"/>
              <a:ext cx="125730" cy="628650"/>
            </a:xfrm>
            <a:custGeom>
              <a:avLst/>
              <a:gdLst/>
              <a:ahLst/>
              <a:cxnLst/>
              <a:rect l="l" t="t" r="r" b="b"/>
              <a:pathLst>
                <a:path w="125730" h="628650">
                  <a:moveTo>
                    <a:pt x="62737" y="628522"/>
                  </a:moveTo>
                  <a:lnTo>
                    <a:pt x="62737" y="8000"/>
                  </a:lnTo>
                </a:path>
                <a:path w="125730" h="628650">
                  <a:moveTo>
                    <a:pt x="0" y="51307"/>
                  </a:moveTo>
                  <a:lnTo>
                    <a:pt x="24637" y="42290"/>
                  </a:lnTo>
                  <a:lnTo>
                    <a:pt x="42671" y="29971"/>
                  </a:lnTo>
                  <a:lnTo>
                    <a:pt x="55118" y="15493"/>
                  </a:lnTo>
                  <a:lnTo>
                    <a:pt x="62737" y="0"/>
                  </a:lnTo>
                  <a:lnTo>
                    <a:pt x="70231" y="15493"/>
                  </a:lnTo>
                  <a:lnTo>
                    <a:pt x="82676" y="29971"/>
                  </a:lnTo>
                  <a:lnTo>
                    <a:pt x="100710" y="42290"/>
                  </a:lnTo>
                  <a:lnTo>
                    <a:pt x="125348" y="51307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998218" y="3396107"/>
              <a:ext cx="1635760" cy="818515"/>
            </a:xfrm>
            <a:custGeom>
              <a:avLst/>
              <a:gdLst/>
              <a:ahLst/>
              <a:cxnLst/>
              <a:rect l="l" t="t" r="r" b="b"/>
              <a:pathLst>
                <a:path w="1635760" h="818514">
                  <a:moveTo>
                    <a:pt x="0" y="818006"/>
                  </a:moveTo>
                  <a:lnTo>
                    <a:pt x="1635759" y="0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62115" y="3354470"/>
              <a:ext cx="84163" cy="122136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983865" y="3469005"/>
              <a:ext cx="702945" cy="702945"/>
            </a:xfrm>
            <a:custGeom>
              <a:avLst/>
              <a:gdLst/>
              <a:ahLst/>
              <a:cxnLst/>
              <a:rect l="l" t="t" r="r" b="b"/>
              <a:pathLst>
                <a:path w="702945" h="702945">
                  <a:moveTo>
                    <a:pt x="0" y="702564"/>
                  </a:moveTo>
                  <a:lnTo>
                    <a:pt x="702563" y="0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603497" y="3447274"/>
              <a:ext cx="104659" cy="104661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343204" y="3999632"/>
            <a:ext cx="2451100" cy="1073785"/>
          </a:xfrm>
          <a:prstGeom prst="rect">
            <a:avLst/>
          </a:prstGeom>
        </p:spPr>
        <p:txBody>
          <a:bodyPr vert="horz" wrap="square" lIns="0" tIns="125095" rIns="0" bIns="0" rtlCol="0">
            <a:spAutoFit/>
          </a:bodyPr>
          <a:lstStyle/>
          <a:p>
            <a:pPr marL="496570" algn="ctr">
              <a:lnSpc>
                <a:spcPct val="100000"/>
              </a:lnSpc>
              <a:spcBef>
                <a:spcPts val="985"/>
              </a:spcBef>
            </a:pPr>
            <a:r>
              <a:rPr sz="1500" i="1" spc="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650" spc="37" baseline="-10101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650" baseline="-10101">
              <a:latin typeface="Calibri"/>
              <a:cs typeface="Calibri"/>
            </a:endParaRPr>
          </a:p>
          <a:p>
            <a:pPr marL="38100" marR="30480" indent="50165">
              <a:lnSpc>
                <a:spcPct val="117700"/>
              </a:lnSpc>
              <a:spcBef>
                <a:spcPts val="625"/>
              </a:spcBef>
            </a:pP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red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edge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indicates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i="1" spc="10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=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-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1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blue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edge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indicates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i="1" spc="12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=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+1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754626" y="875537"/>
            <a:ext cx="4060190" cy="2726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545" marR="78105" indent="-5080">
              <a:lnSpc>
                <a:spcPct val="117700"/>
              </a:lnSpc>
              <a:spcBef>
                <a:spcPts val="100"/>
              </a:spcBef>
            </a:pP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For</a:t>
            </a:r>
            <a:r>
              <a:rPr sz="1750" spc="-2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this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discussion,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will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assume</a:t>
            </a:r>
            <a:r>
              <a:rPr sz="1750" spc="-1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True</a:t>
            </a:r>
            <a:r>
              <a:rPr sz="1750" spc="-1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=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+1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750" spc="-1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60" dirty="0">
                <a:solidFill>
                  <a:srgbClr val="213739"/>
                </a:solidFill>
                <a:latin typeface="Arial MT"/>
                <a:cs typeface="Arial MT"/>
              </a:rPr>
              <a:t>False</a:t>
            </a:r>
            <a:r>
              <a:rPr sz="1750" spc="-229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=</a:t>
            </a:r>
            <a:r>
              <a:rPr sz="1750" spc="-1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-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1</a:t>
            </a:r>
            <a:endParaRPr sz="1750">
              <a:latin typeface="Arial MT"/>
              <a:cs typeface="Arial MT"/>
            </a:endParaRPr>
          </a:p>
          <a:p>
            <a:pPr marL="38100" marR="38100" indent="1270">
              <a:lnSpc>
                <a:spcPct val="124300"/>
              </a:lnSpc>
              <a:spcBef>
                <a:spcPts val="605"/>
              </a:spcBef>
            </a:pP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consider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2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inputs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4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perceptrons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Each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 input</a:t>
            </a:r>
            <a:r>
              <a:rPr sz="1750" spc="1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is</a:t>
            </a:r>
            <a:r>
              <a:rPr sz="1750" spc="1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connected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 to</a:t>
            </a:r>
            <a:r>
              <a:rPr sz="1750" spc="1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all</a:t>
            </a:r>
            <a:r>
              <a:rPr sz="1750" spc="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1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4</a:t>
            </a:r>
            <a:r>
              <a:rPr sz="1750" spc="1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per-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ceptrons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with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specific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weights</a:t>
            </a:r>
            <a:endParaRPr sz="1750">
              <a:latin typeface="Arial MT"/>
              <a:cs typeface="Arial MT"/>
            </a:endParaRPr>
          </a:p>
          <a:p>
            <a:pPr marL="42545" marR="30480" indent="-5080" algn="just">
              <a:lnSpc>
                <a:spcPct val="117200"/>
              </a:lnSpc>
              <a:spcBef>
                <a:spcPts val="505"/>
              </a:spcBef>
            </a:pPr>
            <a:r>
              <a:rPr sz="1750" spc="-17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bias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)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each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perceptron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is</a:t>
            </a:r>
            <a:r>
              <a:rPr sz="1750" spc="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-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2</a:t>
            </a:r>
            <a:r>
              <a:rPr sz="1750" spc="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(i.e., </a:t>
            </a:r>
            <a:r>
              <a:rPr sz="1750" spc="-170" dirty="0">
                <a:solidFill>
                  <a:srgbClr val="213739"/>
                </a:solidFill>
                <a:latin typeface="Arial MT"/>
                <a:cs typeface="Arial MT"/>
              </a:rPr>
              <a:t>each</a:t>
            </a:r>
            <a:r>
              <a:rPr sz="1750" spc="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perceptron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will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fire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only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if</a:t>
            </a:r>
            <a:r>
              <a:rPr sz="1750" spc="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weighted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sum</a:t>
            </a:r>
            <a:r>
              <a:rPr sz="1750" spc="-2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its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input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is</a:t>
            </a:r>
            <a:r>
              <a:rPr sz="1750" spc="-1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≥</a:t>
            </a:r>
            <a:r>
              <a:rPr sz="1750" spc="-19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2)</a:t>
            </a:r>
            <a:endParaRPr sz="175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32279" y="2132355"/>
            <a:ext cx="221589" cy="22158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720339" y="4110608"/>
            <a:ext cx="244475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500" i="1" spc="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650" spc="37" baseline="-10101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650" baseline="-10101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39597" y="3008883"/>
            <a:ext cx="3607435" cy="523875"/>
            <a:chOff x="539597" y="3008883"/>
            <a:chExt cx="3607435" cy="523875"/>
          </a:xfrm>
        </p:grpSpPr>
        <p:sp>
          <p:nvSpPr>
            <p:cNvPr id="5" name="object 5"/>
            <p:cNvSpPr/>
            <p:nvPr/>
          </p:nvSpPr>
          <p:spPr>
            <a:xfrm>
              <a:off x="544677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256921" y="0"/>
                  </a:moveTo>
                  <a:lnTo>
                    <a:pt x="188620" y="9144"/>
                  </a:lnTo>
                  <a:lnTo>
                    <a:pt x="127241" y="35051"/>
                  </a:lnTo>
                  <a:lnTo>
                    <a:pt x="75247" y="75184"/>
                  </a:lnTo>
                  <a:lnTo>
                    <a:pt x="35077" y="127126"/>
                  </a:lnTo>
                  <a:lnTo>
                    <a:pt x="9182" y="188595"/>
                  </a:lnTo>
                  <a:lnTo>
                    <a:pt x="0" y="256794"/>
                  </a:lnTo>
                  <a:lnTo>
                    <a:pt x="9182" y="325120"/>
                  </a:lnTo>
                  <a:lnTo>
                    <a:pt x="35077" y="386588"/>
                  </a:lnTo>
                  <a:lnTo>
                    <a:pt x="75247" y="438531"/>
                  </a:lnTo>
                  <a:lnTo>
                    <a:pt x="127241" y="478663"/>
                  </a:lnTo>
                  <a:lnTo>
                    <a:pt x="188620" y="504571"/>
                  </a:lnTo>
                  <a:lnTo>
                    <a:pt x="256921" y="513714"/>
                  </a:lnTo>
                  <a:lnTo>
                    <a:pt x="325221" y="504571"/>
                  </a:lnTo>
                  <a:lnTo>
                    <a:pt x="386588" y="478663"/>
                  </a:lnTo>
                  <a:lnTo>
                    <a:pt x="438581" y="438531"/>
                  </a:lnTo>
                  <a:lnTo>
                    <a:pt x="478764" y="386588"/>
                  </a:lnTo>
                  <a:lnTo>
                    <a:pt x="504659" y="325120"/>
                  </a:lnTo>
                  <a:lnTo>
                    <a:pt x="513842" y="256794"/>
                  </a:lnTo>
                  <a:lnTo>
                    <a:pt x="504659" y="188595"/>
                  </a:lnTo>
                  <a:lnTo>
                    <a:pt x="478764" y="127126"/>
                  </a:lnTo>
                  <a:lnTo>
                    <a:pt x="438581" y="75184"/>
                  </a:lnTo>
                  <a:lnTo>
                    <a:pt x="386588" y="35051"/>
                  </a:lnTo>
                  <a:lnTo>
                    <a:pt x="325221" y="9144"/>
                  </a:lnTo>
                  <a:lnTo>
                    <a:pt x="256921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44677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513842" y="256794"/>
                  </a:moveTo>
                  <a:lnTo>
                    <a:pt x="504659" y="188595"/>
                  </a:lnTo>
                  <a:lnTo>
                    <a:pt x="478764" y="127126"/>
                  </a:lnTo>
                  <a:lnTo>
                    <a:pt x="438581" y="75184"/>
                  </a:lnTo>
                  <a:lnTo>
                    <a:pt x="386588" y="35051"/>
                  </a:lnTo>
                  <a:lnTo>
                    <a:pt x="325221" y="9144"/>
                  </a:lnTo>
                  <a:lnTo>
                    <a:pt x="256921" y="0"/>
                  </a:lnTo>
                  <a:lnTo>
                    <a:pt x="188620" y="9144"/>
                  </a:lnTo>
                  <a:lnTo>
                    <a:pt x="127241" y="35051"/>
                  </a:lnTo>
                  <a:lnTo>
                    <a:pt x="75247" y="75184"/>
                  </a:lnTo>
                  <a:lnTo>
                    <a:pt x="35077" y="127126"/>
                  </a:lnTo>
                  <a:lnTo>
                    <a:pt x="9182" y="188595"/>
                  </a:lnTo>
                  <a:lnTo>
                    <a:pt x="0" y="256794"/>
                  </a:lnTo>
                  <a:lnTo>
                    <a:pt x="9182" y="325120"/>
                  </a:lnTo>
                  <a:lnTo>
                    <a:pt x="35077" y="386588"/>
                  </a:lnTo>
                  <a:lnTo>
                    <a:pt x="75247" y="438531"/>
                  </a:lnTo>
                  <a:lnTo>
                    <a:pt x="127241" y="478663"/>
                  </a:lnTo>
                  <a:lnTo>
                    <a:pt x="188620" y="504571"/>
                  </a:lnTo>
                  <a:lnTo>
                    <a:pt x="256921" y="513714"/>
                  </a:lnTo>
                  <a:lnTo>
                    <a:pt x="325221" y="504571"/>
                  </a:lnTo>
                  <a:lnTo>
                    <a:pt x="386588" y="478663"/>
                  </a:lnTo>
                  <a:lnTo>
                    <a:pt x="438581" y="438531"/>
                  </a:lnTo>
                  <a:lnTo>
                    <a:pt x="478764" y="386588"/>
                  </a:lnTo>
                  <a:lnTo>
                    <a:pt x="504659" y="325120"/>
                  </a:lnTo>
                  <a:lnTo>
                    <a:pt x="513842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72386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256920" y="0"/>
                  </a:moveTo>
                  <a:lnTo>
                    <a:pt x="188594" y="9144"/>
                  </a:lnTo>
                  <a:lnTo>
                    <a:pt x="127254" y="35051"/>
                  </a:lnTo>
                  <a:lnTo>
                    <a:pt x="75183" y="75184"/>
                  </a:lnTo>
                  <a:lnTo>
                    <a:pt x="35051" y="127126"/>
                  </a:lnTo>
                  <a:lnTo>
                    <a:pt x="9143" y="188595"/>
                  </a:lnTo>
                  <a:lnTo>
                    <a:pt x="0" y="256794"/>
                  </a:lnTo>
                  <a:lnTo>
                    <a:pt x="9143" y="325120"/>
                  </a:lnTo>
                  <a:lnTo>
                    <a:pt x="35051" y="386588"/>
                  </a:lnTo>
                  <a:lnTo>
                    <a:pt x="75183" y="438531"/>
                  </a:lnTo>
                  <a:lnTo>
                    <a:pt x="127254" y="478663"/>
                  </a:lnTo>
                  <a:lnTo>
                    <a:pt x="188594" y="504571"/>
                  </a:lnTo>
                  <a:lnTo>
                    <a:pt x="256920" y="513714"/>
                  </a:lnTo>
                  <a:lnTo>
                    <a:pt x="325119" y="504571"/>
                  </a:lnTo>
                  <a:lnTo>
                    <a:pt x="386588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0" y="325120"/>
                  </a:lnTo>
                  <a:lnTo>
                    <a:pt x="513842" y="256794"/>
                  </a:lnTo>
                  <a:lnTo>
                    <a:pt x="504570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588" y="35051"/>
                  </a:lnTo>
                  <a:lnTo>
                    <a:pt x="325119" y="9144"/>
                  </a:lnTo>
                  <a:lnTo>
                    <a:pt x="256920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72386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513842" y="256794"/>
                  </a:moveTo>
                  <a:lnTo>
                    <a:pt x="504570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588" y="35051"/>
                  </a:lnTo>
                  <a:lnTo>
                    <a:pt x="325119" y="9144"/>
                  </a:lnTo>
                  <a:lnTo>
                    <a:pt x="256920" y="0"/>
                  </a:lnTo>
                  <a:lnTo>
                    <a:pt x="188594" y="9144"/>
                  </a:lnTo>
                  <a:lnTo>
                    <a:pt x="127254" y="35051"/>
                  </a:lnTo>
                  <a:lnTo>
                    <a:pt x="75183" y="75184"/>
                  </a:lnTo>
                  <a:lnTo>
                    <a:pt x="35051" y="127126"/>
                  </a:lnTo>
                  <a:lnTo>
                    <a:pt x="9143" y="188595"/>
                  </a:lnTo>
                  <a:lnTo>
                    <a:pt x="0" y="256794"/>
                  </a:lnTo>
                  <a:lnTo>
                    <a:pt x="9143" y="325120"/>
                  </a:lnTo>
                  <a:lnTo>
                    <a:pt x="35051" y="386588"/>
                  </a:lnTo>
                  <a:lnTo>
                    <a:pt x="75183" y="438531"/>
                  </a:lnTo>
                  <a:lnTo>
                    <a:pt x="127254" y="478663"/>
                  </a:lnTo>
                  <a:lnTo>
                    <a:pt x="188594" y="504571"/>
                  </a:lnTo>
                  <a:lnTo>
                    <a:pt x="256920" y="513714"/>
                  </a:lnTo>
                  <a:lnTo>
                    <a:pt x="325119" y="504571"/>
                  </a:lnTo>
                  <a:lnTo>
                    <a:pt x="386588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0" y="325120"/>
                  </a:lnTo>
                  <a:lnTo>
                    <a:pt x="513842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600071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256921" y="0"/>
                  </a:moveTo>
                  <a:lnTo>
                    <a:pt x="188595" y="9144"/>
                  </a:lnTo>
                  <a:lnTo>
                    <a:pt x="127254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3" y="188595"/>
                  </a:lnTo>
                  <a:lnTo>
                    <a:pt x="0" y="256794"/>
                  </a:lnTo>
                  <a:lnTo>
                    <a:pt x="9143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254" y="478663"/>
                  </a:lnTo>
                  <a:lnTo>
                    <a:pt x="188595" y="504571"/>
                  </a:lnTo>
                  <a:lnTo>
                    <a:pt x="256921" y="513714"/>
                  </a:lnTo>
                  <a:lnTo>
                    <a:pt x="325120" y="504571"/>
                  </a:lnTo>
                  <a:lnTo>
                    <a:pt x="386588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842" y="256794"/>
                  </a:ln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588" y="35051"/>
                  </a:lnTo>
                  <a:lnTo>
                    <a:pt x="325120" y="9144"/>
                  </a:lnTo>
                  <a:lnTo>
                    <a:pt x="256921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600071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513842" y="256794"/>
                  </a:move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588" y="35051"/>
                  </a:lnTo>
                  <a:lnTo>
                    <a:pt x="325120" y="9144"/>
                  </a:lnTo>
                  <a:lnTo>
                    <a:pt x="256921" y="0"/>
                  </a:lnTo>
                  <a:lnTo>
                    <a:pt x="188595" y="9144"/>
                  </a:lnTo>
                  <a:lnTo>
                    <a:pt x="127254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3" y="188595"/>
                  </a:lnTo>
                  <a:lnTo>
                    <a:pt x="0" y="256794"/>
                  </a:lnTo>
                  <a:lnTo>
                    <a:pt x="9143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254" y="478663"/>
                  </a:lnTo>
                  <a:lnTo>
                    <a:pt x="188595" y="504571"/>
                  </a:lnTo>
                  <a:lnTo>
                    <a:pt x="256921" y="513714"/>
                  </a:lnTo>
                  <a:lnTo>
                    <a:pt x="325120" y="504571"/>
                  </a:lnTo>
                  <a:lnTo>
                    <a:pt x="386588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842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627755" y="3013963"/>
              <a:ext cx="513715" cy="513715"/>
            </a:xfrm>
            <a:custGeom>
              <a:avLst/>
              <a:gdLst/>
              <a:ahLst/>
              <a:cxnLst/>
              <a:rect l="l" t="t" r="r" b="b"/>
              <a:pathLst>
                <a:path w="513714" h="513714">
                  <a:moveTo>
                    <a:pt x="256794" y="0"/>
                  </a:moveTo>
                  <a:lnTo>
                    <a:pt x="188595" y="9144"/>
                  </a:lnTo>
                  <a:lnTo>
                    <a:pt x="127127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4" y="188595"/>
                  </a:lnTo>
                  <a:lnTo>
                    <a:pt x="0" y="256794"/>
                  </a:lnTo>
                  <a:lnTo>
                    <a:pt x="9144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127" y="478663"/>
                  </a:lnTo>
                  <a:lnTo>
                    <a:pt x="188595" y="504571"/>
                  </a:lnTo>
                  <a:lnTo>
                    <a:pt x="256794" y="513714"/>
                  </a:lnTo>
                  <a:lnTo>
                    <a:pt x="325120" y="504571"/>
                  </a:lnTo>
                  <a:lnTo>
                    <a:pt x="386461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715" y="256794"/>
                  </a:ln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461" y="35051"/>
                  </a:lnTo>
                  <a:lnTo>
                    <a:pt x="325120" y="9144"/>
                  </a:lnTo>
                  <a:lnTo>
                    <a:pt x="256794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627755" y="3013963"/>
              <a:ext cx="513715" cy="513715"/>
            </a:xfrm>
            <a:custGeom>
              <a:avLst/>
              <a:gdLst/>
              <a:ahLst/>
              <a:cxnLst/>
              <a:rect l="l" t="t" r="r" b="b"/>
              <a:pathLst>
                <a:path w="513714" h="513714">
                  <a:moveTo>
                    <a:pt x="513715" y="256794"/>
                  </a:move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461" y="35051"/>
                  </a:lnTo>
                  <a:lnTo>
                    <a:pt x="325120" y="9144"/>
                  </a:lnTo>
                  <a:lnTo>
                    <a:pt x="256794" y="0"/>
                  </a:lnTo>
                  <a:lnTo>
                    <a:pt x="188595" y="9144"/>
                  </a:lnTo>
                  <a:lnTo>
                    <a:pt x="127127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4" y="188595"/>
                  </a:lnTo>
                  <a:lnTo>
                    <a:pt x="0" y="256794"/>
                  </a:lnTo>
                  <a:lnTo>
                    <a:pt x="9144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127" y="478663"/>
                  </a:lnTo>
                  <a:lnTo>
                    <a:pt x="188595" y="504571"/>
                  </a:lnTo>
                  <a:lnTo>
                    <a:pt x="256794" y="513714"/>
                  </a:lnTo>
                  <a:lnTo>
                    <a:pt x="325120" y="504571"/>
                  </a:lnTo>
                  <a:lnTo>
                    <a:pt x="386461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715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33527" y="3638803"/>
            <a:ext cx="748030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i="1" dirty="0">
                <a:solidFill>
                  <a:srgbClr val="213739"/>
                </a:solidFill>
                <a:latin typeface="Calibri"/>
                <a:cs typeface="Calibri"/>
              </a:rPr>
              <a:t>bias</a:t>
            </a:r>
            <a:r>
              <a:rPr sz="1500" i="1" spc="33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500" spc="-13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13739"/>
                </a:solidFill>
                <a:latin typeface="Arial MT"/>
                <a:cs typeface="Arial MT"/>
              </a:rPr>
              <a:t>-</a:t>
            </a:r>
            <a:r>
              <a:rPr sz="1500" spc="-2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00" spc="-50" dirty="0">
                <a:solidFill>
                  <a:srgbClr val="213739"/>
                </a:solidFill>
                <a:latin typeface="Arial MT"/>
                <a:cs typeface="Arial MT"/>
              </a:rPr>
              <a:t>2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64336" y="2568955"/>
            <a:ext cx="280670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650" baseline="-10101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68220" y="2568955"/>
            <a:ext cx="1320165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10"/>
              </a:spcBef>
              <a:tabLst>
                <a:tab pos="563880" algn="l"/>
                <a:tab pos="1051560" algn="l"/>
              </a:tabLst>
            </a:pP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650" baseline="-1010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r>
              <a:rPr sz="1650" baseline="-1010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4</a:t>
            </a:r>
            <a:endParaRPr sz="1650" baseline="-10101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978052" y="2287144"/>
            <a:ext cx="2730500" cy="1932305"/>
            <a:chOff x="978052" y="2287144"/>
            <a:chExt cx="2730500" cy="1932305"/>
          </a:xfrm>
        </p:grpSpPr>
        <p:sp>
          <p:nvSpPr>
            <p:cNvPr id="17" name="object 17"/>
            <p:cNvSpPr/>
            <p:nvPr/>
          </p:nvSpPr>
          <p:spPr>
            <a:xfrm>
              <a:off x="999744" y="3469004"/>
              <a:ext cx="702945" cy="702945"/>
            </a:xfrm>
            <a:custGeom>
              <a:avLst/>
              <a:gdLst/>
              <a:ahLst/>
              <a:cxnLst/>
              <a:rect l="l" t="t" r="r" b="b"/>
              <a:pathLst>
                <a:path w="702944" h="702945">
                  <a:moveTo>
                    <a:pt x="702691" y="702564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8052" y="3447273"/>
              <a:ext cx="104659" cy="104661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052220" y="3396106"/>
              <a:ext cx="1636395" cy="818515"/>
            </a:xfrm>
            <a:custGeom>
              <a:avLst/>
              <a:gdLst/>
              <a:ahLst/>
              <a:cxnLst/>
              <a:rect l="l" t="t" r="r" b="b"/>
              <a:pathLst>
                <a:path w="1636395" h="818514">
                  <a:moveTo>
                    <a:pt x="1635861" y="818006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39983" y="3354469"/>
              <a:ext cx="84086" cy="122136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766570" y="3543045"/>
              <a:ext cx="125730" cy="628650"/>
            </a:xfrm>
            <a:custGeom>
              <a:avLst/>
              <a:gdLst/>
              <a:ahLst/>
              <a:cxnLst/>
              <a:rect l="l" t="t" r="r" b="b"/>
              <a:pathLst>
                <a:path w="125730" h="628650">
                  <a:moveTo>
                    <a:pt x="62737" y="628522"/>
                  </a:moveTo>
                  <a:lnTo>
                    <a:pt x="62737" y="8000"/>
                  </a:lnTo>
                </a:path>
                <a:path w="125730" h="628650">
                  <a:moveTo>
                    <a:pt x="0" y="51307"/>
                  </a:moveTo>
                  <a:lnTo>
                    <a:pt x="24637" y="42290"/>
                  </a:lnTo>
                  <a:lnTo>
                    <a:pt x="42672" y="29971"/>
                  </a:lnTo>
                  <a:lnTo>
                    <a:pt x="55118" y="15493"/>
                  </a:lnTo>
                  <a:lnTo>
                    <a:pt x="62737" y="0"/>
                  </a:lnTo>
                  <a:lnTo>
                    <a:pt x="70231" y="15493"/>
                  </a:lnTo>
                  <a:lnTo>
                    <a:pt x="82677" y="29971"/>
                  </a:lnTo>
                  <a:lnTo>
                    <a:pt x="100711" y="42290"/>
                  </a:lnTo>
                  <a:lnTo>
                    <a:pt x="125349" y="51307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027427" y="3469004"/>
              <a:ext cx="702945" cy="702945"/>
            </a:xfrm>
            <a:custGeom>
              <a:avLst/>
              <a:gdLst/>
              <a:ahLst/>
              <a:cxnLst/>
              <a:rect l="l" t="t" r="r" b="b"/>
              <a:pathLst>
                <a:path w="702944" h="702945">
                  <a:moveTo>
                    <a:pt x="702691" y="702564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05711" y="3447273"/>
              <a:ext cx="104659" cy="104661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956180" y="3469004"/>
              <a:ext cx="702945" cy="702945"/>
            </a:xfrm>
            <a:custGeom>
              <a:avLst/>
              <a:gdLst/>
              <a:ahLst/>
              <a:cxnLst/>
              <a:rect l="l" t="t" r="r" b="b"/>
              <a:pathLst>
                <a:path w="702944" h="702945">
                  <a:moveTo>
                    <a:pt x="0" y="702564"/>
                  </a:moveTo>
                  <a:lnTo>
                    <a:pt x="702691" y="0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75813" y="3447273"/>
              <a:ext cx="104659" cy="104661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794253" y="3543045"/>
              <a:ext cx="125730" cy="628650"/>
            </a:xfrm>
            <a:custGeom>
              <a:avLst/>
              <a:gdLst/>
              <a:ahLst/>
              <a:cxnLst/>
              <a:rect l="l" t="t" r="r" b="b"/>
              <a:pathLst>
                <a:path w="125730" h="628650">
                  <a:moveTo>
                    <a:pt x="62737" y="628522"/>
                  </a:moveTo>
                  <a:lnTo>
                    <a:pt x="62737" y="8000"/>
                  </a:lnTo>
                </a:path>
                <a:path w="125730" h="628650">
                  <a:moveTo>
                    <a:pt x="0" y="51307"/>
                  </a:moveTo>
                  <a:lnTo>
                    <a:pt x="24637" y="42290"/>
                  </a:lnTo>
                  <a:lnTo>
                    <a:pt x="42671" y="29971"/>
                  </a:lnTo>
                  <a:lnTo>
                    <a:pt x="55118" y="15493"/>
                  </a:lnTo>
                  <a:lnTo>
                    <a:pt x="62737" y="0"/>
                  </a:lnTo>
                  <a:lnTo>
                    <a:pt x="70231" y="15493"/>
                  </a:lnTo>
                  <a:lnTo>
                    <a:pt x="82676" y="29971"/>
                  </a:lnTo>
                  <a:lnTo>
                    <a:pt x="100710" y="42290"/>
                  </a:lnTo>
                  <a:lnTo>
                    <a:pt x="125348" y="51307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998218" y="3396106"/>
              <a:ext cx="1635760" cy="818515"/>
            </a:xfrm>
            <a:custGeom>
              <a:avLst/>
              <a:gdLst/>
              <a:ahLst/>
              <a:cxnLst/>
              <a:rect l="l" t="t" r="r" b="b"/>
              <a:pathLst>
                <a:path w="1635760" h="818514">
                  <a:moveTo>
                    <a:pt x="0" y="818006"/>
                  </a:moveTo>
                  <a:lnTo>
                    <a:pt x="1635759" y="0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62115" y="3354469"/>
              <a:ext cx="84163" cy="122136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2983865" y="3469004"/>
              <a:ext cx="702945" cy="702945"/>
            </a:xfrm>
            <a:custGeom>
              <a:avLst/>
              <a:gdLst/>
              <a:ahLst/>
              <a:cxnLst/>
              <a:rect l="l" t="t" r="r" b="b"/>
              <a:pathLst>
                <a:path w="702945" h="702945">
                  <a:moveTo>
                    <a:pt x="0" y="702564"/>
                  </a:moveTo>
                  <a:lnTo>
                    <a:pt x="702563" y="0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603497" y="3447273"/>
              <a:ext cx="104659" cy="104661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1022057" y="2308859"/>
              <a:ext cx="1223010" cy="815340"/>
            </a:xfrm>
            <a:custGeom>
              <a:avLst/>
              <a:gdLst/>
              <a:ahLst/>
              <a:cxnLst/>
              <a:rect l="l" t="t" r="r" b="b"/>
              <a:pathLst>
                <a:path w="1223010" h="815339">
                  <a:moveTo>
                    <a:pt x="0" y="814959"/>
                  </a:moveTo>
                  <a:lnTo>
                    <a:pt x="1222540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83766" y="2287144"/>
              <a:ext cx="66671" cy="85467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1947925" y="2348737"/>
              <a:ext cx="342900" cy="685165"/>
            </a:xfrm>
            <a:custGeom>
              <a:avLst/>
              <a:gdLst/>
              <a:ahLst/>
              <a:cxnLst/>
              <a:rect l="l" t="t" r="r" b="b"/>
              <a:pathLst>
                <a:path w="342900" h="685164">
                  <a:moveTo>
                    <a:pt x="0" y="684911"/>
                  </a:moveTo>
                  <a:lnTo>
                    <a:pt x="342392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227843" y="2342651"/>
              <a:ext cx="91166" cy="63861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2395855" y="2348737"/>
              <a:ext cx="342900" cy="685165"/>
            </a:xfrm>
            <a:custGeom>
              <a:avLst/>
              <a:gdLst/>
              <a:ahLst/>
              <a:cxnLst/>
              <a:rect l="l" t="t" r="r" b="b"/>
              <a:pathLst>
                <a:path w="342900" h="685164">
                  <a:moveTo>
                    <a:pt x="342519" y="684911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67162" y="2342651"/>
              <a:ext cx="91166" cy="63861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2441575" y="2308859"/>
              <a:ext cx="1223010" cy="815340"/>
            </a:xfrm>
            <a:custGeom>
              <a:avLst/>
              <a:gdLst/>
              <a:ahLst/>
              <a:cxnLst/>
              <a:rect l="l" t="t" r="r" b="b"/>
              <a:pathLst>
                <a:path w="1223010" h="815339">
                  <a:moveTo>
                    <a:pt x="1222628" y="814959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435734" y="2287144"/>
              <a:ext cx="66671" cy="85467"/>
            </a:xfrm>
            <a:prstGeom prst="rect">
              <a:avLst/>
            </a:prstGeom>
          </p:spPr>
        </p:pic>
      </p:grpSp>
      <p:sp>
        <p:nvSpPr>
          <p:cNvPr id="39" name="object 39"/>
          <p:cNvSpPr txBox="1"/>
          <p:nvPr/>
        </p:nvSpPr>
        <p:spPr>
          <a:xfrm>
            <a:off x="343204" y="3999632"/>
            <a:ext cx="2451100" cy="1073785"/>
          </a:xfrm>
          <a:prstGeom prst="rect">
            <a:avLst/>
          </a:prstGeom>
        </p:spPr>
        <p:txBody>
          <a:bodyPr vert="horz" wrap="square" lIns="0" tIns="125095" rIns="0" bIns="0" rtlCol="0">
            <a:spAutoFit/>
          </a:bodyPr>
          <a:lstStyle/>
          <a:p>
            <a:pPr marL="496570" algn="ctr">
              <a:lnSpc>
                <a:spcPct val="100000"/>
              </a:lnSpc>
              <a:spcBef>
                <a:spcPts val="985"/>
              </a:spcBef>
            </a:pPr>
            <a:r>
              <a:rPr sz="1500" i="1" spc="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650" spc="37" baseline="-10101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650" baseline="-10101">
              <a:latin typeface="Calibri"/>
              <a:cs typeface="Calibri"/>
            </a:endParaRPr>
          </a:p>
          <a:p>
            <a:pPr marL="38100" marR="30480" indent="50165">
              <a:lnSpc>
                <a:spcPct val="117700"/>
              </a:lnSpc>
              <a:spcBef>
                <a:spcPts val="625"/>
              </a:spcBef>
            </a:pP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red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edge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indicates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i="1" spc="10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=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-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1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blue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edge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indicates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i="1" spc="12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=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+1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731003" y="875537"/>
            <a:ext cx="4109720" cy="3734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6040" marR="101600" indent="-3175">
              <a:lnSpc>
                <a:spcPct val="117700"/>
              </a:lnSpc>
              <a:spcBef>
                <a:spcPts val="100"/>
              </a:spcBef>
            </a:pP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For</a:t>
            </a:r>
            <a:r>
              <a:rPr sz="1750" spc="-2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this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discussion,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will 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assume</a:t>
            </a:r>
            <a:r>
              <a:rPr sz="1750" spc="-1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True</a:t>
            </a:r>
            <a:r>
              <a:rPr sz="1750" spc="-1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=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+1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750" spc="-160" dirty="0">
                <a:solidFill>
                  <a:srgbClr val="213739"/>
                </a:solidFill>
                <a:latin typeface="Arial MT"/>
                <a:cs typeface="Arial MT"/>
              </a:rPr>
              <a:t> False</a:t>
            </a:r>
            <a:r>
              <a:rPr sz="1750" spc="-2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=</a:t>
            </a:r>
            <a:r>
              <a:rPr sz="1750" spc="-1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-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1</a:t>
            </a:r>
            <a:endParaRPr sz="1750">
              <a:latin typeface="Arial MT"/>
              <a:cs typeface="Arial MT"/>
            </a:endParaRPr>
          </a:p>
          <a:p>
            <a:pPr marL="63500" marR="62230">
              <a:lnSpc>
                <a:spcPct val="124300"/>
              </a:lnSpc>
              <a:spcBef>
                <a:spcPts val="605"/>
              </a:spcBef>
            </a:pP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consider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2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inputs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4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perceptrons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Each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 input</a:t>
            </a:r>
            <a:r>
              <a:rPr sz="1750" spc="1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is</a:t>
            </a:r>
            <a:r>
              <a:rPr sz="1750" spc="1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connected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 to</a:t>
            </a:r>
            <a:r>
              <a:rPr sz="1750" spc="1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all</a:t>
            </a:r>
            <a:r>
              <a:rPr sz="1750" spc="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1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4</a:t>
            </a:r>
            <a:r>
              <a:rPr sz="1750" spc="1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per-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ceptrons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with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specific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weights</a:t>
            </a:r>
            <a:endParaRPr sz="1750">
              <a:latin typeface="Arial MT"/>
              <a:cs typeface="Arial MT"/>
            </a:endParaRPr>
          </a:p>
          <a:p>
            <a:pPr marL="66040" marR="55880" indent="-3175" algn="just">
              <a:lnSpc>
                <a:spcPct val="117200"/>
              </a:lnSpc>
              <a:spcBef>
                <a:spcPts val="505"/>
              </a:spcBef>
            </a:pPr>
            <a:r>
              <a:rPr sz="1750" spc="-17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bias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)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each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perceptron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 is</a:t>
            </a:r>
            <a:r>
              <a:rPr sz="1750" spc="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-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2</a:t>
            </a:r>
            <a:r>
              <a:rPr sz="1750" spc="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(i.e., </a:t>
            </a:r>
            <a:r>
              <a:rPr sz="1750" spc="-170" dirty="0">
                <a:solidFill>
                  <a:srgbClr val="213739"/>
                </a:solidFill>
                <a:latin typeface="Arial MT"/>
                <a:cs typeface="Arial MT"/>
              </a:rPr>
              <a:t>each</a:t>
            </a:r>
            <a:r>
              <a:rPr sz="1750" spc="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perceptron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will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fire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 only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if</a:t>
            </a:r>
            <a:r>
              <a:rPr sz="1750" spc="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weighted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sum</a:t>
            </a:r>
            <a:r>
              <a:rPr sz="1750" spc="-2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its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input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is</a:t>
            </a:r>
            <a:r>
              <a:rPr sz="1750" spc="-1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≥</a:t>
            </a:r>
            <a:r>
              <a:rPr sz="1750" spc="-19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2)</a:t>
            </a:r>
            <a:endParaRPr sz="1750">
              <a:latin typeface="Arial MT"/>
              <a:cs typeface="Arial MT"/>
            </a:endParaRPr>
          </a:p>
          <a:p>
            <a:pPr marL="63500" marR="50800" algn="just">
              <a:lnSpc>
                <a:spcPct val="117700"/>
              </a:lnSpc>
              <a:spcBef>
                <a:spcPts val="515"/>
              </a:spcBef>
            </a:pPr>
            <a:r>
              <a:rPr sz="1750" spc="-180" dirty="0">
                <a:solidFill>
                  <a:srgbClr val="213739"/>
                </a:solidFill>
                <a:latin typeface="Arial MT"/>
                <a:cs typeface="Arial MT"/>
              </a:rPr>
              <a:t>Each</a:t>
            </a:r>
            <a:r>
              <a:rPr sz="1750" spc="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these</a:t>
            </a:r>
            <a:r>
              <a:rPr sz="1750" spc="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perceptrons</a:t>
            </a:r>
            <a:r>
              <a:rPr sz="1750" spc="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is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connected</a:t>
            </a:r>
            <a:r>
              <a:rPr sz="1750" spc="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to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an</a:t>
            </a:r>
            <a:r>
              <a:rPr sz="1750" spc="3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output</a:t>
            </a:r>
            <a:r>
              <a:rPr sz="1750" spc="3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perceptron</a:t>
            </a:r>
            <a:r>
              <a:rPr sz="1750" spc="3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by</a:t>
            </a:r>
            <a:r>
              <a:rPr sz="1750" spc="1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weights</a:t>
            </a:r>
            <a:r>
              <a:rPr sz="1750" spc="3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(which 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need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be</a:t>
            </a:r>
            <a:r>
              <a:rPr sz="1750" spc="-1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learned)</a:t>
            </a:r>
            <a:endParaRPr sz="175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32279" y="2132355"/>
            <a:ext cx="221589" cy="22158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720339" y="4110608"/>
            <a:ext cx="244475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500" i="1" spc="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650" spc="37" baseline="-10101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650" baseline="-10101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39597" y="3008883"/>
            <a:ext cx="3607435" cy="523875"/>
            <a:chOff x="539597" y="3008883"/>
            <a:chExt cx="3607435" cy="523875"/>
          </a:xfrm>
        </p:grpSpPr>
        <p:sp>
          <p:nvSpPr>
            <p:cNvPr id="5" name="object 5"/>
            <p:cNvSpPr/>
            <p:nvPr/>
          </p:nvSpPr>
          <p:spPr>
            <a:xfrm>
              <a:off x="544677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256921" y="0"/>
                  </a:moveTo>
                  <a:lnTo>
                    <a:pt x="188620" y="9144"/>
                  </a:lnTo>
                  <a:lnTo>
                    <a:pt x="127241" y="35051"/>
                  </a:lnTo>
                  <a:lnTo>
                    <a:pt x="75247" y="75184"/>
                  </a:lnTo>
                  <a:lnTo>
                    <a:pt x="35077" y="127126"/>
                  </a:lnTo>
                  <a:lnTo>
                    <a:pt x="9182" y="188595"/>
                  </a:lnTo>
                  <a:lnTo>
                    <a:pt x="0" y="256794"/>
                  </a:lnTo>
                  <a:lnTo>
                    <a:pt x="9182" y="325120"/>
                  </a:lnTo>
                  <a:lnTo>
                    <a:pt x="35077" y="386588"/>
                  </a:lnTo>
                  <a:lnTo>
                    <a:pt x="75247" y="438531"/>
                  </a:lnTo>
                  <a:lnTo>
                    <a:pt x="127241" y="478663"/>
                  </a:lnTo>
                  <a:lnTo>
                    <a:pt x="188620" y="504571"/>
                  </a:lnTo>
                  <a:lnTo>
                    <a:pt x="256921" y="513714"/>
                  </a:lnTo>
                  <a:lnTo>
                    <a:pt x="325221" y="504571"/>
                  </a:lnTo>
                  <a:lnTo>
                    <a:pt x="386588" y="478663"/>
                  </a:lnTo>
                  <a:lnTo>
                    <a:pt x="438581" y="438531"/>
                  </a:lnTo>
                  <a:lnTo>
                    <a:pt x="478764" y="386588"/>
                  </a:lnTo>
                  <a:lnTo>
                    <a:pt x="504659" y="325120"/>
                  </a:lnTo>
                  <a:lnTo>
                    <a:pt x="513842" y="256794"/>
                  </a:lnTo>
                  <a:lnTo>
                    <a:pt x="504659" y="188595"/>
                  </a:lnTo>
                  <a:lnTo>
                    <a:pt x="478764" y="127126"/>
                  </a:lnTo>
                  <a:lnTo>
                    <a:pt x="438581" y="75184"/>
                  </a:lnTo>
                  <a:lnTo>
                    <a:pt x="386588" y="35051"/>
                  </a:lnTo>
                  <a:lnTo>
                    <a:pt x="325221" y="9144"/>
                  </a:lnTo>
                  <a:lnTo>
                    <a:pt x="256921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44677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513842" y="256794"/>
                  </a:moveTo>
                  <a:lnTo>
                    <a:pt x="504659" y="188595"/>
                  </a:lnTo>
                  <a:lnTo>
                    <a:pt x="478764" y="127126"/>
                  </a:lnTo>
                  <a:lnTo>
                    <a:pt x="438581" y="75184"/>
                  </a:lnTo>
                  <a:lnTo>
                    <a:pt x="386588" y="35051"/>
                  </a:lnTo>
                  <a:lnTo>
                    <a:pt x="325221" y="9144"/>
                  </a:lnTo>
                  <a:lnTo>
                    <a:pt x="256921" y="0"/>
                  </a:lnTo>
                  <a:lnTo>
                    <a:pt x="188620" y="9144"/>
                  </a:lnTo>
                  <a:lnTo>
                    <a:pt x="127241" y="35051"/>
                  </a:lnTo>
                  <a:lnTo>
                    <a:pt x="75247" y="75184"/>
                  </a:lnTo>
                  <a:lnTo>
                    <a:pt x="35077" y="127126"/>
                  </a:lnTo>
                  <a:lnTo>
                    <a:pt x="9182" y="188595"/>
                  </a:lnTo>
                  <a:lnTo>
                    <a:pt x="0" y="256794"/>
                  </a:lnTo>
                  <a:lnTo>
                    <a:pt x="9182" y="325120"/>
                  </a:lnTo>
                  <a:lnTo>
                    <a:pt x="35077" y="386588"/>
                  </a:lnTo>
                  <a:lnTo>
                    <a:pt x="75247" y="438531"/>
                  </a:lnTo>
                  <a:lnTo>
                    <a:pt x="127241" y="478663"/>
                  </a:lnTo>
                  <a:lnTo>
                    <a:pt x="188620" y="504571"/>
                  </a:lnTo>
                  <a:lnTo>
                    <a:pt x="256921" y="513714"/>
                  </a:lnTo>
                  <a:lnTo>
                    <a:pt x="325221" y="504571"/>
                  </a:lnTo>
                  <a:lnTo>
                    <a:pt x="386588" y="478663"/>
                  </a:lnTo>
                  <a:lnTo>
                    <a:pt x="438581" y="438531"/>
                  </a:lnTo>
                  <a:lnTo>
                    <a:pt x="478764" y="386588"/>
                  </a:lnTo>
                  <a:lnTo>
                    <a:pt x="504659" y="325120"/>
                  </a:lnTo>
                  <a:lnTo>
                    <a:pt x="513842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72386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256920" y="0"/>
                  </a:moveTo>
                  <a:lnTo>
                    <a:pt x="188594" y="9144"/>
                  </a:lnTo>
                  <a:lnTo>
                    <a:pt x="127254" y="35051"/>
                  </a:lnTo>
                  <a:lnTo>
                    <a:pt x="75183" y="75184"/>
                  </a:lnTo>
                  <a:lnTo>
                    <a:pt x="35051" y="127126"/>
                  </a:lnTo>
                  <a:lnTo>
                    <a:pt x="9143" y="188595"/>
                  </a:lnTo>
                  <a:lnTo>
                    <a:pt x="0" y="256794"/>
                  </a:lnTo>
                  <a:lnTo>
                    <a:pt x="9143" y="325120"/>
                  </a:lnTo>
                  <a:lnTo>
                    <a:pt x="35051" y="386588"/>
                  </a:lnTo>
                  <a:lnTo>
                    <a:pt x="75183" y="438531"/>
                  </a:lnTo>
                  <a:lnTo>
                    <a:pt x="127254" y="478663"/>
                  </a:lnTo>
                  <a:lnTo>
                    <a:pt x="188594" y="504571"/>
                  </a:lnTo>
                  <a:lnTo>
                    <a:pt x="256920" y="513714"/>
                  </a:lnTo>
                  <a:lnTo>
                    <a:pt x="325119" y="504571"/>
                  </a:lnTo>
                  <a:lnTo>
                    <a:pt x="386588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0" y="325120"/>
                  </a:lnTo>
                  <a:lnTo>
                    <a:pt x="513842" y="256794"/>
                  </a:lnTo>
                  <a:lnTo>
                    <a:pt x="504570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588" y="35051"/>
                  </a:lnTo>
                  <a:lnTo>
                    <a:pt x="325119" y="9144"/>
                  </a:lnTo>
                  <a:lnTo>
                    <a:pt x="256920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72386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513842" y="256794"/>
                  </a:moveTo>
                  <a:lnTo>
                    <a:pt x="504570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588" y="35051"/>
                  </a:lnTo>
                  <a:lnTo>
                    <a:pt x="325119" y="9144"/>
                  </a:lnTo>
                  <a:lnTo>
                    <a:pt x="256920" y="0"/>
                  </a:lnTo>
                  <a:lnTo>
                    <a:pt x="188594" y="9144"/>
                  </a:lnTo>
                  <a:lnTo>
                    <a:pt x="127254" y="35051"/>
                  </a:lnTo>
                  <a:lnTo>
                    <a:pt x="75183" y="75184"/>
                  </a:lnTo>
                  <a:lnTo>
                    <a:pt x="35051" y="127126"/>
                  </a:lnTo>
                  <a:lnTo>
                    <a:pt x="9143" y="188595"/>
                  </a:lnTo>
                  <a:lnTo>
                    <a:pt x="0" y="256794"/>
                  </a:lnTo>
                  <a:lnTo>
                    <a:pt x="9143" y="325120"/>
                  </a:lnTo>
                  <a:lnTo>
                    <a:pt x="35051" y="386588"/>
                  </a:lnTo>
                  <a:lnTo>
                    <a:pt x="75183" y="438531"/>
                  </a:lnTo>
                  <a:lnTo>
                    <a:pt x="127254" y="478663"/>
                  </a:lnTo>
                  <a:lnTo>
                    <a:pt x="188594" y="504571"/>
                  </a:lnTo>
                  <a:lnTo>
                    <a:pt x="256920" y="513714"/>
                  </a:lnTo>
                  <a:lnTo>
                    <a:pt x="325119" y="504571"/>
                  </a:lnTo>
                  <a:lnTo>
                    <a:pt x="386588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0" y="325120"/>
                  </a:lnTo>
                  <a:lnTo>
                    <a:pt x="513842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600071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256921" y="0"/>
                  </a:moveTo>
                  <a:lnTo>
                    <a:pt x="188595" y="9144"/>
                  </a:lnTo>
                  <a:lnTo>
                    <a:pt x="127254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3" y="188595"/>
                  </a:lnTo>
                  <a:lnTo>
                    <a:pt x="0" y="256794"/>
                  </a:lnTo>
                  <a:lnTo>
                    <a:pt x="9143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254" y="478663"/>
                  </a:lnTo>
                  <a:lnTo>
                    <a:pt x="188595" y="504571"/>
                  </a:lnTo>
                  <a:lnTo>
                    <a:pt x="256921" y="513714"/>
                  </a:lnTo>
                  <a:lnTo>
                    <a:pt x="325120" y="504571"/>
                  </a:lnTo>
                  <a:lnTo>
                    <a:pt x="386588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842" y="256794"/>
                  </a:ln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588" y="35051"/>
                  </a:lnTo>
                  <a:lnTo>
                    <a:pt x="325120" y="9144"/>
                  </a:lnTo>
                  <a:lnTo>
                    <a:pt x="256921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600071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513842" y="256794"/>
                  </a:move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588" y="35051"/>
                  </a:lnTo>
                  <a:lnTo>
                    <a:pt x="325120" y="9144"/>
                  </a:lnTo>
                  <a:lnTo>
                    <a:pt x="256921" y="0"/>
                  </a:lnTo>
                  <a:lnTo>
                    <a:pt x="188595" y="9144"/>
                  </a:lnTo>
                  <a:lnTo>
                    <a:pt x="127254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3" y="188595"/>
                  </a:lnTo>
                  <a:lnTo>
                    <a:pt x="0" y="256794"/>
                  </a:lnTo>
                  <a:lnTo>
                    <a:pt x="9143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254" y="478663"/>
                  </a:lnTo>
                  <a:lnTo>
                    <a:pt x="188595" y="504571"/>
                  </a:lnTo>
                  <a:lnTo>
                    <a:pt x="256921" y="513714"/>
                  </a:lnTo>
                  <a:lnTo>
                    <a:pt x="325120" y="504571"/>
                  </a:lnTo>
                  <a:lnTo>
                    <a:pt x="386588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842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627755" y="3013963"/>
              <a:ext cx="513715" cy="513715"/>
            </a:xfrm>
            <a:custGeom>
              <a:avLst/>
              <a:gdLst/>
              <a:ahLst/>
              <a:cxnLst/>
              <a:rect l="l" t="t" r="r" b="b"/>
              <a:pathLst>
                <a:path w="513714" h="513714">
                  <a:moveTo>
                    <a:pt x="256794" y="0"/>
                  </a:moveTo>
                  <a:lnTo>
                    <a:pt x="188595" y="9144"/>
                  </a:lnTo>
                  <a:lnTo>
                    <a:pt x="127127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4" y="188595"/>
                  </a:lnTo>
                  <a:lnTo>
                    <a:pt x="0" y="256794"/>
                  </a:lnTo>
                  <a:lnTo>
                    <a:pt x="9144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127" y="478663"/>
                  </a:lnTo>
                  <a:lnTo>
                    <a:pt x="188595" y="504571"/>
                  </a:lnTo>
                  <a:lnTo>
                    <a:pt x="256794" y="513714"/>
                  </a:lnTo>
                  <a:lnTo>
                    <a:pt x="325120" y="504571"/>
                  </a:lnTo>
                  <a:lnTo>
                    <a:pt x="386461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715" y="256794"/>
                  </a:ln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461" y="35051"/>
                  </a:lnTo>
                  <a:lnTo>
                    <a:pt x="325120" y="9144"/>
                  </a:lnTo>
                  <a:lnTo>
                    <a:pt x="256794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627755" y="3013963"/>
              <a:ext cx="513715" cy="513715"/>
            </a:xfrm>
            <a:custGeom>
              <a:avLst/>
              <a:gdLst/>
              <a:ahLst/>
              <a:cxnLst/>
              <a:rect l="l" t="t" r="r" b="b"/>
              <a:pathLst>
                <a:path w="513714" h="513714">
                  <a:moveTo>
                    <a:pt x="513715" y="256794"/>
                  </a:move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461" y="35051"/>
                  </a:lnTo>
                  <a:lnTo>
                    <a:pt x="325120" y="9144"/>
                  </a:lnTo>
                  <a:lnTo>
                    <a:pt x="256794" y="0"/>
                  </a:lnTo>
                  <a:lnTo>
                    <a:pt x="188595" y="9144"/>
                  </a:lnTo>
                  <a:lnTo>
                    <a:pt x="127127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4" y="188595"/>
                  </a:lnTo>
                  <a:lnTo>
                    <a:pt x="0" y="256794"/>
                  </a:lnTo>
                  <a:lnTo>
                    <a:pt x="9144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127" y="478663"/>
                  </a:lnTo>
                  <a:lnTo>
                    <a:pt x="188595" y="504571"/>
                  </a:lnTo>
                  <a:lnTo>
                    <a:pt x="256794" y="513714"/>
                  </a:lnTo>
                  <a:lnTo>
                    <a:pt x="325120" y="504571"/>
                  </a:lnTo>
                  <a:lnTo>
                    <a:pt x="386461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715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33527" y="3638803"/>
            <a:ext cx="748030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i="1" dirty="0">
                <a:solidFill>
                  <a:srgbClr val="213739"/>
                </a:solidFill>
                <a:latin typeface="Calibri"/>
                <a:cs typeface="Calibri"/>
              </a:rPr>
              <a:t>bias</a:t>
            </a:r>
            <a:r>
              <a:rPr sz="1500" i="1" spc="33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500" spc="-13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13739"/>
                </a:solidFill>
                <a:latin typeface="Arial MT"/>
                <a:cs typeface="Arial MT"/>
              </a:rPr>
              <a:t>-</a:t>
            </a:r>
            <a:r>
              <a:rPr sz="1500" spc="-2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00" spc="-50" dirty="0">
                <a:solidFill>
                  <a:srgbClr val="213739"/>
                </a:solidFill>
                <a:latin typeface="Arial MT"/>
                <a:cs typeface="Arial MT"/>
              </a:rPr>
              <a:t>2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278507" y="1536572"/>
            <a:ext cx="111760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i="1" spc="-50" dirty="0">
                <a:solidFill>
                  <a:srgbClr val="213739"/>
                </a:solidFill>
                <a:latin typeface="Calibri"/>
                <a:cs typeface="Calibri"/>
              </a:rPr>
              <a:t>y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64336" y="2568955"/>
            <a:ext cx="280670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650" baseline="-10101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768220" y="2568955"/>
            <a:ext cx="1320165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10"/>
              </a:spcBef>
              <a:tabLst>
                <a:tab pos="563880" algn="l"/>
                <a:tab pos="1051560" algn="l"/>
              </a:tabLst>
            </a:pP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650" baseline="-1010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r>
              <a:rPr sz="1650" baseline="-1010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4</a:t>
            </a:r>
            <a:endParaRPr sz="1650" baseline="-10101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978052" y="1862084"/>
            <a:ext cx="2730500" cy="2357120"/>
            <a:chOff x="978052" y="1862084"/>
            <a:chExt cx="2730500" cy="2357120"/>
          </a:xfrm>
        </p:grpSpPr>
        <p:sp>
          <p:nvSpPr>
            <p:cNvPr id="18" name="object 18"/>
            <p:cNvSpPr/>
            <p:nvPr/>
          </p:nvSpPr>
          <p:spPr>
            <a:xfrm>
              <a:off x="999744" y="3469005"/>
              <a:ext cx="702945" cy="702945"/>
            </a:xfrm>
            <a:custGeom>
              <a:avLst/>
              <a:gdLst/>
              <a:ahLst/>
              <a:cxnLst/>
              <a:rect l="l" t="t" r="r" b="b"/>
              <a:pathLst>
                <a:path w="702944" h="702945">
                  <a:moveTo>
                    <a:pt x="702691" y="702564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8052" y="3447274"/>
              <a:ext cx="104659" cy="104661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052220" y="3396107"/>
              <a:ext cx="1636395" cy="818515"/>
            </a:xfrm>
            <a:custGeom>
              <a:avLst/>
              <a:gdLst/>
              <a:ahLst/>
              <a:cxnLst/>
              <a:rect l="l" t="t" r="r" b="b"/>
              <a:pathLst>
                <a:path w="1636395" h="818514">
                  <a:moveTo>
                    <a:pt x="1635861" y="818006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39983" y="3354470"/>
              <a:ext cx="84086" cy="122136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766570" y="3543046"/>
              <a:ext cx="125730" cy="628650"/>
            </a:xfrm>
            <a:custGeom>
              <a:avLst/>
              <a:gdLst/>
              <a:ahLst/>
              <a:cxnLst/>
              <a:rect l="l" t="t" r="r" b="b"/>
              <a:pathLst>
                <a:path w="125730" h="628650">
                  <a:moveTo>
                    <a:pt x="62737" y="628522"/>
                  </a:moveTo>
                  <a:lnTo>
                    <a:pt x="62737" y="8000"/>
                  </a:lnTo>
                </a:path>
                <a:path w="125730" h="628650">
                  <a:moveTo>
                    <a:pt x="0" y="51307"/>
                  </a:moveTo>
                  <a:lnTo>
                    <a:pt x="24637" y="42290"/>
                  </a:lnTo>
                  <a:lnTo>
                    <a:pt x="42672" y="29971"/>
                  </a:lnTo>
                  <a:lnTo>
                    <a:pt x="55118" y="15493"/>
                  </a:lnTo>
                  <a:lnTo>
                    <a:pt x="62737" y="0"/>
                  </a:lnTo>
                  <a:lnTo>
                    <a:pt x="70231" y="15493"/>
                  </a:lnTo>
                  <a:lnTo>
                    <a:pt x="82677" y="29971"/>
                  </a:lnTo>
                  <a:lnTo>
                    <a:pt x="100711" y="42290"/>
                  </a:lnTo>
                  <a:lnTo>
                    <a:pt x="125349" y="51307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027427" y="3469005"/>
              <a:ext cx="702945" cy="702945"/>
            </a:xfrm>
            <a:custGeom>
              <a:avLst/>
              <a:gdLst/>
              <a:ahLst/>
              <a:cxnLst/>
              <a:rect l="l" t="t" r="r" b="b"/>
              <a:pathLst>
                <a:path w="702944" h="702945">
                  <a:moveTo>
                    <a:pt x="702691" y="702564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05711" y="3447274"/>
              <a:ext cx="104659" cy="104661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1956180" y="3469005"/>
              <a:ext cx="702945" cy="702945"/>
            </a:xfrm>
            <a:custGeom>
              <a:avLst/>
              <a:gdLst/>
              <a:ahLst/>
              <a:cxnLst/>
              <a:rect l="l" t="t" r="r" b="b"/>
              <a:pathLst>
                <a:path w="702944" h="702945">
                  <a:moveTo>
                    <a:pt x="0" y="702564"/>
                  </a:moveTo>
                  <a:lnTo>
                    <a:pt x="702691" y="0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75813" y="3447274"/>
              <a:ext cx="104659" cy="104661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2794253" y="3543046"/>
              <a:ext cx="125730" cy="628650"/>
            </a:xfrm>
            <a:custGeom>
              <a:avLst/>
              <a:gdLst/>
              <a:ahLst/>
              <a:cxnLst/>
              <a:rect l="l" t="t" r="r" b="b"/>
              <a:pathLst>
                <a:path w="125730" h="628650">
                  <a:moveTo>
                    <a:pt x="62737" y="628522"/>
                  </a:moveTo>
                  <a:lnTo>
                    <a:pt x="62737" y="8000"/>
                  </a:lnTo>
                </a:path>
                <a:path w="125730" h="628650">
                  <a:moveTo>
                    <a:pt x="0" y="51307"/>
                  </a:moveTo>
                  <a:lnTo>
                    <a:pt x="24637" y="42290"/>
                  </a:lnTo>
                  <a:lnTo>
                    <a:pt x="42671" y="29971"/>
                  </a:lnTo>
                  <a:lnTo>
                    <a:pt x="55118" y="15493"/>
                  </a:lnTo>
                  <a:lnTo>
                    <a:pt x="62737" y="0"/>
                  </a:lnTo>
                  <a:lnTo>
                    <a:pt x="70231" y="15493"/>
                  </a:lnTo>
                  <a:lnTo>
                    <a:pt x="82676" y="29971"/>
                  </a:lnTo>
                  <a:lnTo>
                    <a:pt x="100710" y="42290"/>
                  </a:lnTo>
                  <a:lnTo>
                    <a:pt x="125348" y="51307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998218" y="3396107"/>
              <a:ext cx="1635760" cy="818515"/>
            </a:xfrm>
            <a:custGeom>
              <a:avLst/>
              <a:gdLst/>
              <a:ahLst/>
              <a:cxnLst/>
              <a:rect l="l" t="t" r="r" b="b"/>
              <a:pathLst>
                <a:path w="1635760" h="818514">
                  <a:moveTo>
                    <a:pt x="0" y="818006"/>
                  </a:moveTo>
                  <a:lnTo>
                    <a:pt x="1635759" y="0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62115" y="3354470"/>
              <a:ext cx="84163" cy="122136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2983865" y="3469005"/>
              <a:ext cx="702945" cy="702945"/>
            </a:xfrm>
            <a:custGeom>
              <a:avLst/>
              <a:gdLst/>
              <a:ahLst/>
              <a:cxnLst/>
              <a:rect l="l" t="t" r="r" b="b"/>
              <a:pathLst>
                <a:path w="702945" h="702945">
                  <a:moveTo>
                    <a:pt x="0" y="702564"/>
                  </a:moveTo>
                  <a:lnTo>
                    <a:pt x="702563" y="0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603497" y="3447274"/>
              <a:ext cx="104659" cy="104661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022057" y="2308860"/>
              <a:ext cx="1223010" cy="815340"/>
            </a:xfrm>
            <a:custGeom>
              <a:avLst/>
              <a:gdLst/>
              <a:ahLst/>
              <a:cxnLst/>
              <a:rect l="l" t="t" r="r" b="b"/>
              <a:pathLst>
                <a:path w="1223010" h="815339">
                  <a:moveTo>
                    <a:pt x="0" y="814959"/>
                  </a:moveTo>
                  <a:lnTo>
                    <a:pt x="1222540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83766" y="2287145"/>
              <a:ext cx="66671" cy="85467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1947925" y="2348738"/>
              <a:ext cx="342900" cy="685165"/>
            </a:xfrm>
            <a:custGeom>
              <a:avLst/>
              <a:gdLst/>
              <a:ahLst/>
              <a:cxnLst/>
              <a:rect l="l" t="t" r="r" b="b"/>
              <a:pathLst>
                <a:path w="342900" h="685164">
                  <a:moveTo>
                    <a:pt x="0" y="684911"/>
                  </a:moveTo>
                  <a:lnTo>
                    <a:pt x="342392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227843" y="2342652"/>
              <a:ext cx="91166" cy="63861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2395855" y="2348738"/>
              <a:ext cx="342900" cy="685165"/>
            </a:xfrm>
            <a:custGeom>
              <a:avLst/>
              <a:gdLst/>
              <a:ahLst/>
              <a:cxnLst/>
              <a:rect l="l" t="t" r="r" b="b"/>
              <a:pathLst>
                <a:path w="342900" h="685164">
                  <a:moveTo>
                    <a:pt x="342519" y="684911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67162" y="2342652"/>
              <a:ext cx="91166" cy="63861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2441575" y="2308860"/>
              <a:ext cx="1223010" cy="815340"/>
            </a:xfrm>
            <a:custGeom>
              <a:avLst/>
              <a:gdLst/>
              <a:ahLst/>
              <a:cxnLst/>
              <a:rect l="l" t="t" r="r" b="b"/>
              <a:pathLst>
                <a:path w="1223010" h="815339">
                  <a:moveTo>
                    <a:pt x="1222628" y="814959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435734" y="2287145"/>
              <a:ext cx="66671" cy="85467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2294890" y="1864614"/>
              <a:ext cx="96520" cy="268605"/>
            </a:xfrm>
            <a:custGeom>
              <a:avLst/>
              <a:gdLst/>
              <a:ahLst/>
              <a:cxnLst/>
              <a:rect l="l" t="t" r="r" b="b"/>
              <a:pathLst>
                <a:path w="96519" h="268605">
                  <a:moveTo>
                    <a:pt x="48260" y="268605"/>
                  </a:moveTo>
                  <a:lnTo>
                    <a:pt x="48260" y="4063"/>
                  </a:lnTo>
                </a:path>
                <a:path w="96519" h="268605">
                  <a:moveTo>
                    <a:pt x="0" y="41783"/>
                  </a:moveTo>
                  <a:lnTo>
                    <a:pt x="18923" y="34416"/>
                  </a:lnTo>
                  <a:lnTo>
                    <a:pt x="32893" y="24511"/>
                  </a:lnTo>
                  <a:lnTo>
                    <a:pt x="42418" y="12700"/>
                  </a:lnTo>
                  <a:lnTo>
                    <a:pt x="48260" y="0"/>
                  </a:lnTo>
                  <a:lnTo>
                    <a:pt x="54102" y="12700"/>
                  </a:lnTo>
                  <a:lnTo>
                    <a:pt x="63627" y="24511"/>
                  </a:lnTo>
                  <a:lnTo>
                    <a:pt x="77470" y="34416"/>
                  </a:lnTo>
                  <a:lnTo>
                    <a:pt x="96393" y="41783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343204" y="3999632"/>
            <a:ext cx="2451100" cy="1073785"/>
          </a:xfrm>
          <a:prstGeom prst="rect">
            <a:avLst/>
          </a:prstGeom>
        </p:spPr>
        <p:txBody>
          <a:bodyPr vert="horz" wrap="square" lIns="0" tIns="125095" rIns="0" bIns="0" rtlCol="0">
            <a:spAutoFit/>
          </a:bodyPr>
          <a:lstStyle/>
          <a:p>
            <a:pPr marL="496570" algn="ctr">
              <a:lnSpc>
                <a:spcPct val="100000"/>
              </a:lnSpc>
              <a:spcBef>
                <a:spcPts val="985"/>
              </a:spcBef>
            </a:pPr>
            <a:r>
              <a:rPr sz="1500" i="1" spc="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650" spc="37" baseline="-10101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650" baseline="-10101">
              <a:latin typeface="Calibri"/>
              <a:cs typeface="Calibri"/>
            </a:endParaRPr>
          </a:p>
          <a:p>
            <a:pPr marL="38100" marR="30480" indent="50165">
              <a:lnSpc>
                <a:spcPct val="117700"/>
              </a:lnSpc>
              <a:spcBef>
                <a:spcPts val="625"/>
              </a:spcBef>
            </a:pP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red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edge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indicates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i="1" spc="10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=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-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1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blue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edge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indicates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i="1" spc="12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=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+1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756403" y="875537"/>
            <a:ext cx="4058920" cy="310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640" marR="76200" indent="-3175">
              <a:lnSpc>
                <a:spcPct val="117700"/>
              </a:lnSpc>
              <a:spcBef>
                <a:spcPts val="100"/>
              </a:spcBef>
            </a:pP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For</a:t>
            </a:r>
            <a:r>
              <a:rPr sz="1750" spc="-2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this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discussion,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will 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assume</a:t>
            </a:r>
            <a:r>
              <a:rPr sz="1750" spc="-1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True</a:t>
            </a:r>
            <a:r>
              <a:rPr sz="1750" spc="-1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=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+1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750" spc="-160" dirty="0">
                <a:solidFill>
                  <a:srgbClr val="213739"/>
                </a:solidFill>
                <a:latin typeface="Arial MT"/>
                <a:cs typeface="Arial MT"/>
              </a:rPr>
              <a:t> False</a:t>
            </a:r>
            <a:r>
              <a:rPr sz="1750" spc="-2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=</a:t>
            </a:r>
            <a:r>
              <a:rPr sz="1750" spc="-1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-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1</a:t>
            </a:r>
            <a:endParaRPr sz="1750">
              <a:latin typeface="Arial MT"/>
              <a:cs typeface="Arial MT"/>
            </a:endParaRPr>
          </a:p>
          <a:p>
            <a:pPr marL="38100" marR="36830">
              <a:lnSpc>
                <a:spcPct val="124300"/>
              </a:lnSpc>
              <a:spcBef>
                <a:spcPts val="605"/>
              </a:spcBef>
            </a:pP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consider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2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inputs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4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perceptrons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Each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 input</a:t>
            </a:r>
            <a:r>
              <a:rPr sz="1750" spc="1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is</a:t>
            </a:r>
            <a:r>
              <a:rPr sz="1750" spc="1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connected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 to</a:t>
            </a:r>
            <a:r>
              <a:rPr sz="1750" spc="1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all</a:t>
            </a:r>
            <a:r>
              <a:rPr sz="1750" spc="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1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4</a:t>
            </a:r>
            <a:r>
              <a:rPr sz="1750" spc="1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per-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ceptrons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with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specific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weights</a:t>
            </a:r>
            <a:endParaRPr sz="1750">
              <a:latin typeface="Arial MT"/>
              <a:cs typeface="Arial MT"/>
            </a:endParaRPr>
          </a:p>
          <a:p>
            <a:pPr marL="40640" marR="30480" indent="-3175" algn="just">
              <a:lnSpc>
                <a:spcPct val="117200"/>
              </a:lnSpc>
              <a:spcBef>
                <a:spcPts val="505"/>
              </a:spcBef>
            </a:pPr>
            <a:r>
              <a:rPr sz="1750" spc="-17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bias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)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each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perceptron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 is</a:t>
            </a:r>
            <a:r>
              <a:rPr sz="1750" spc="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-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2</a:t>
            </a:r>
            <a:r>
              <a:rPr sz="1750" spc="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(i.e., </a:t>
            </a:r>
            <a:r>
              <a:rPr sz="1750" spc="-170" dirty="0">
                <a:solidFill>
                  <a:srgbClr val="213739"/>
                </a:solidFill>
                <a:latin typeface="Arial MT"/>
                <a:cs typeface="Arial MT"/>
              </a:rPr>
              <a:t>each</a:t>
            </a:r>
            <a:r>
              <a:rPr sz="1750" spc="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perceptron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will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fire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 only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if</a:t>
            </a:r>
            <a:r>
              <a:rPr sz="1750" spc="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weighted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sum</a:t>
            </a:r>
            <a:r>
              <a:rPr sz="1750" spc="-2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its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input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is</a:t>
            </a:r>
            <a:r>
              <a:rPr sz="1750" spc="-1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Lucida Sans Unicode"/>
                <a:cs typeface="Lucida Sans Unicode"/>
              </a:rPr>
              <a:t>≥</a:t>
            </a:r>
            <a:r>
              <a:rPr sz="1750" spc="-19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2)</a:t>
            </a:r>
            <a:endParaRPr sz="1750">
              <a:latin typeface="Arial MT"/>
              <a:cs typeface="Arial MT"/>
            </a:endParaRPr>
          </a:p>
          <a:p>
            <a:pPr marL="38100" algn="just">
              <a:lnSpc>
                <a:spcPct val="100000"/>
              </a:lnSpc>
              <a:spcBef>
                <a:spcPts val="885"/>
              </a:spcBef>
            </a:pPr>
            <a:r>
              <a:rPr sz="1750" spc="-180" dirty="0">
                <a:solidFill>
                  <a:srgbClr val="213739"/>
                </a:solidFill>
                <a:latin typeface="Arial MT"/>
                <a:cs typeface="Arial MT"/>
              </a:rPr>
              <a:t>Each</a:t>
            </a:r>
            <a:r>
              <a:rPr sz="1750" spc="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1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these</a:t>
            </a:r>
            <a:r>
              <a:rPr sz="1750" spc="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perceptrons</a:t>
            </a:r>
            <a:r>
              <a:rPr sz="1750" spc="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is</a:t>
            </a:r>
            <a:r>
              <a:rPr sz="1750" spc="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connected</a:t>
            </a:r>
            <a:r>
              <a:rPr sz="1750" spc="1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781803" y="3956421"/>
            <a:ext cx="4012565" cy="134429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an</a:t>
            </a:r>
            <a:r>
              <a:rPr sz="1750" spc="4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output</a:t>
            </a:r>
            <a:r>
              <a:rPr sz="1750" spc="459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perceptron</a:t>
            </a:r>
            <a:r>
              <a:rPr sz="1750" spc="4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by</a:t>
            </a:r>
            <a:r>
              <a:rPr sz="1750" spc="2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weights</a:t>
            </a:r>
            <a:r>
              <a:rPr sz="1750" spc="4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(which</a:t>
            </a:r>
            <a:endParaRPr sz="17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need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be</a:t>
            </a:r>
            <a:r>
              <a:rPr sz="1750" spc="-1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learned)</a:t>
            </a:r>
            <a:endParaRPr sz="1750">
              <a:latin typeface="Arial MT"/>
              <a:cs typeface="Arial MT"/>
            </a:endParaRPr>
          </a:p>
          <a:p>
            <a:pPr marL="15240" marR="12700" indent="-3175">
              <a:lnSpc>
                <a:spcPct val="117700"/>
              </a:lnSpc>
              <a:spcBef>
                <a:spcPts val="495"/>
              </a:spcBef>
            </a:pPr>
            <a:r>
              <a:rPr sz="1750" spc="-16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output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this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perceptron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y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)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is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out-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put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this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network</a:t>
            </a:r>
            <a:endParaRPr sz="175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32279" y="2132355"/>
            <a:ext cx="221589" cy="22158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720339" y="4110608"/>
            <a:ext cx="244475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500" i="1" spc="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650" spc="37" baseline="-10101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650" baseline="-10101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39597" y="3008883"/>
            <a:ext cx="3607435" cy="523875"/>
            <a:chOff x="539597" y="3008883"/>
            <a:chExt cx="3607435" cy="523875"/>
          </a:xfrm>
        </p:grpSpPr>
        <p:sp>
          <p:nvSpPr>
            <p:cNvPr id="5" name="object 5"/>
            <p:cNvSpPr/>
            <p:nvPr/>
          </p:nvSpPr>
          <p:spPr>
            <a:xfrm>
              <a:off x="544677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256921" y="0"/>
                  </a:moveTo>
                  <a:lnTo>
                    <a:pt x="188620" y="9144"/>
                  </a:lnTo>
                  <a:lnTo>
                    <a:pt x="127241" y="35051"/>
                  </a:lnTo>
                  <a:lnTo>
                    <a:pt x="75247" y="75184"/>
                  </a:lnTo>
                  <a:lnTo>
                    <a:pt x="35077" y="127126"/>
                  </a:lnTo>
                  <a:lnTo>
                    <a:pt x="9182" y="188595"/>
                  </a:lnTo>
                  <a:lnTo>
                    <a:pt x="0" y="256794"/>
                  </a:lnTo>
                  <a:lnTo>
                    <a:pt x="9182" y="325120"/>
                  </a:lnTo>
                  <a:lnTo>
                    <a:pt x="35077" y="386588"/>
                  </a:lnTo>
                  <a:lnTo>
                    <a:pt x="75247" y="438531"/>
                  </a:lnTo>
                  <a:lnTo>
                    <a:pt x="127241" y="478663"/>
                  </a:lnTo>
                  <a:lnTo>
                    <a:pt x="188620" y="504571"/>
                  </a:lnTo>
                  <a:lnTo>
                    <a:pt x="256921" y="513714"/>
                  </a:lnTo>
                  <a:lnTo>
                    <a:pt x="325221" y="504571"/>
                  </a:lnTo>
                  <a:lnTo>
                    <a:pt x="386588" y="478663"/>
                  </a:lnTo>
                  <a:lnTo>
                    <a:pt x="438581" y="438531"/>
                  </a:lnTo>
                  <a:lnTo>
                    <a:pt x="478764" y="386588"/>
                  </a:lnTo>
                  <a:lnTo>
                    <a:pt x="504659" y="325120"/>
                  </a:lnTo>
                  <a:lnTo>
                    <a:pt x="513842" y="256794"/>
                  </a:lnTo>
                  <a:lnTo>
                    <a:pt x="504659" y="188595"/>
                  </a:lnTo>
                  <a:lnTo>
                    <a:pt x="478764" y="127126"/>
                  </a:lnTo>
                  <a:lnTo>
                    <a:pt x="438581" y="75184"/>
                  </a:lnTo>
                  <a:lnTo>
                    <a:pt x="386588" y="35051"/>
                  </a:lnTo>
                  <a:lnTo>
                    <a:pt x="325221" y="9144"/>
                  </a:lnTo>
                  <a:lnTo>
                    <a:pt x="256921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44677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513842" y="256794"/>
                  </a:moveTo>
                  <a:lnTo>
                    <a:pt x="504659" y="188595"/>
                  </a:lnTo>
                  <a:lnTo>
                    <a:pt x="478764" y="127126"/>
                  </a:lnTo>
                  <a:lnTo>
                    <a:pt x="438581" y="75184"/>
                  </a:lnTo>
                  <a:lnTo>
                    <a:pt x="386588" y="35051"/>
                  </a:lnTo>
                  <a:lnTo>
                    <a:pt x="325221" y="9144"/>
                  </a:lnTo>
                  <a:lnTo>
                    <a:pt x="256921" y="0"/>
                  </a:lnTo>
                  <a:lnTo>
                    <a:pt x="188620" y="9144"/>
                  </a:lnTo>
                  <a:lnTo>
                    <a:pt x="127241" y="35051"/>
                  </a:lnTo>
                  <a:lnTo>
                    <a:pt x="75247" y="75184"/>
                  </a:lnTo>
                  <a:lnTo>
                    <a:pt x="35077" y="127126"/>
                  </a:lnTo>
                  <a:lnTo>
                    <a:pt x="9182" y="188595"/>
                  </a:lnTo>
                  <a:lnTo>
                    <a:pt x="0" y="256794"/>
                  </a:lnTo>
                  <a:lnTo>
                    <a:pt x="9182" y="325120"/>
                  </a:lnTo>
                  <a:lnTo>
                    <a:pt x="35077" y="386588"/>
                  </a:lnTo>
                  <a:lnTo>
                    <a:pt x="75247" y="438531"/>
                  </a:lnTo>
                  <a:lnTo>
                    <a:pt x="127241" y="478663"/>
                  </a:lnTo>
                  <a:lnTo>
                    <a:pt x="188620" y="504571"/>
                  </a:lnTo>
                  <a:lnTo>
                    <a:pt x="256921" y="513714"/>
                  </a:lnTo>
                  <a:lnTo>
                    <a:pt x="325221" y="504571"/>
                  </a:lnTo>
                  <a:lnTo>
                    <a:pt x="386588" y="478663"/>
                  </a:lnTo>
                  <a:lnTo>
                    <a:pt x="438581" y="438531"/>
                  </a:lnTo>
                  <a:lnTo>
                    <a:pt x="478764" y="386588"/>
                  </a:lnTo>
                  <a:lnTo>
                    <a:pt x="504659" y="325120"/>
                  </a:lnTo>
                  <a:lnTo>
                    <a:pt x="513842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72386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256920" y="0"/>
                  </a:moveTo>
                  <a:lnTo>
                    <a:pt x="188594" y="9144"/>
                  </a:lnTo>
                  <a:lnTo>
                    <a:pt x="127254" y="35051"/>
                  </a:lnTo>
                  <a:lnTo>
                    <a:pt x="75183" y="75184"/>
                  </a:lnTo>
                  <a:lnTo>
                    <a:pt x="35051" y="127126"/>
                  </a:lnTo>
                  <a:lnTo>
                    <a:pt x="9143" y="188595"/>
                  </a:lnTo>
                  <a:lnTo>
                    <a:pt x="0" y="256794"/>
                  </a:lnTo>
                  <a:lnTo>
                    <a:pt x="9143" y="325120"/>
                  </a:lnTo>
                  <a:lnTo>
                    <a:pt x="35051" y="386588"/>
                  </a:lnTo>
                  <a:lnTo>
                    <a:pt x="75183" y="438531"/>
                  </a:lnTo>
                  <a:lnTo>
                    <a:pt x="127254" y="478663"/>
                  </a:lnTo>
                  <a:lnTo>
                    <a:pt x="188594" y="504571"/>
                  </a:lnTo>
                  <a:lnTo>
                    <a:pt x="256920" y="513714"/>
                  </a:lnTo>
                  <a:lnTo>
                    <a:pt x="325119" y="504571"/>
                  </a:lnTo>
                  <a:lnTo>
                    <a:pt x="386588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0" y="325120"/>
                  </a:lnTo>
                  <a:lnTo>
                    <a:pt x="513842" y="256794"/>
                  </a:lnTo>
                  <a:lnTo>
                    <a:pt x="504570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588" y="35051"/>
                  </a:lnTo>
                  <a:lnTo>
                    <a:pt x="325119" y="9144"/>
                  </a:lnTo>
                  <a:lnTo>
                    <a:pt x="256920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72386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513842" y="256794"/>
                  </a:moveTo>
                  <a:lnTo>
                    <a:pt x="504570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588" y="35051"/>
                  </a:lnTo>
                  <a:lnTo>
                    <a:pt x="325119" y="9144"/>
                  </a:lnTo>
                  <a:lnTo>
                    <a:pt x="256920" y="0"/>
                  </a:lnTo>
                  <a:lnTo>
                    <a:pt x="188594" y="9144"/>
                  </a:lnTo>
                  <a:lnTo>
                    <a:pt x="127254" y="35051"/>
                  </a:lnTo>
                  <a:lnTo>
                    <a:pt x="75183" y="75184"/>
                  </a:lnTo>
                  <a:lnTo>
                    <a:pt x="35051" y="127126"/>
                  </a:lnTo>
                  <a:lnTo>
                    <a:pt x="9143" y="188595"/>
                  </a:lnTo>
                  <a:lnTo>
                    <a:pt x="0" y="256794"/>
                  </a:lnTo>
                  <a:lnTo>
                    <a:pt x="9143" y="325120"/>
                  </a:lnTo>
                  <a:lnTo>
                    <a:pt x="35051" y="386588"/>
                  </a:lnTo>
                  <a:lnTo>
                    <a:pt x="75183" y="438531"/>
                  </a:lnTo>
                  <a:lnTo>
                    <a:pt x="127254" y="478663"/>
                  </a:lnTo>
                  <a:lnTo>
                    <a:pt x="188594" y="504571"/>
                  </a:lnTo>
                  <a:lnTo>
                    <a:pt x="256920" y="513714"/>
                  </a:lnTo>
                  <a:lnTo>
                    <a:pt x="325119" y="504571"/>
                  </a:lnTo>
                  <a:lnTo>
                    <a:pt x="386588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0" y="325120"/>
                  </a:lnTo>
                  <a:lnTo>
                    <a:pt x="513842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600071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256921" y="0"/>
                  </a:moveTo>
                  <a:lnTo>
                    <a:pt x="188595" y="9144"/>
                  </a:lnTo>
                  <a:lnTo>
                    <a:pt x="127254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3" y="188595"/>
                  </a:lnTo>
                  <a:lnTo>
                    <a:pt x="0" y="256794"/>
                  </a:lnTo>
                  <a:lnTo>
                    <a:pt x="9143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254" y="478663"/>
                  </a:lnTo>
                  <a:lnTo>
                    <a:pt x="188595" y="504571"/>
                  </a:lnTo>
                  <a:lnTo>
                    <a:pt x="256921" y="513714"/>
                  </a:lnTo>
                  <a:lnTo>
                    <a:pt x="325120" y="504571"/>
                  </a:lnTo>
                  <a:lnTo>
                    <a:pt x="386588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842" y="256794"/>
                  </a:ln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588" y="35051"/>
                  </a:lnTo>
                  <a:lnTo>
                    <a:pt x="325120" y="9144"/>
                  </a:lnTo>
                  <a:lnTo>
                    <a:pt x="256921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600071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513842" y="256794"/>
                  </a:move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588" y="35051"/>
                  </a:lnTo>
                  <a:lnTo>
                    <a:pt x="325120" y="9144"/>
                  </a:lnTo>
                  <a:lnTo>
                    <a:pt x="256921" y="0"/>
                  </a:lnTo>
                  <a:lnTo>
                    <a:pt x="188595" y="9144"/>
                  </a:lnTo>
                  <a:lnTo>
                    <a:pt x="127254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3" y="188595"/>
                  </a:lnTo>
                  <a:lnTo>
                    <a:pt x="0" y="256794"/>
                  </a:lnTo>
                  <a:lnTo>
                    <a:pt x="9143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254" y="478663"/>
                  </a:lnTo>
                  <a:lnTo>
                    <a:pt x="188595" y="504571"/>
                  </a:lnTo>
                  <a:lnTo>
                    <a:pt x="256921" y="513714"/>
                  </a:lnTo>
                  <a:lnTo>
                    <a:pt x="325120" y="504571"/>
                  </a:lnTo>
                  <a:lnTo>
                    <a:pt x="386588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842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627755" y="3013963"/>
              <a:ext cx="513715" cy="513715"/>
            </a:xfrm>
            <a:custGeom>
              <a:avLst/>
              <a:gdLst/>
              <a:ahLst/>
              <a:cxnLst/>
              <a:rect l="l" t="t" r="r" b="b"/>
              <a:pathLst>
                <a:path w="513714" h="513714">
                  <a:moveTo>
                    <a:pt x="256794" y="0"/>
                  </a:moveTo>
                  <a:lnTo>
                    <a:pt x="188595" y="9144"/>
                  </a:lnTo>
                  <a:lnTo>
                    <a:pt x="127127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4" y="188595"/>
                  </a:lnTo>
                  <a:lnTo>
                    <a:pt x="0" y="256794"/>
                  </a:lnTo>
                  <a:lnTo>
                    <a:pt x="9144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127" y="478663"/>
                  </a:lnTo>
                  <a:lnTo>
                    <a:pt x="188595" y="504571"/>
                  </a:lnTo>
                  <a:lnTo>
                    <a:pt x="256794" y="513714"/>
                  </a:lnTo>
                  <a:lnTo>
                    <a:pt x="325120" y="504571"/>
                  </a:lnTo>
                  <a:lnTo>
                    <a:pt x="386461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715" y="256794"/>
                  </a:ln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461" y="35051"/>
                  </a:lnTo>
                  <a:lnTo>
                    <a:pt x="325120" y="9144"/>
                  </a:lnTo>
                  <a:lnTo>
                    <a:pt x="256794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627755" y="3013963"/>
              <a:ext cx="513715" cy="513715"/>
            </a:xfrm>
            <a:custGeom>
              <a:avLst/>
              <a:gdLst/>
              <a:ahLst/>
              <a:cxnLst/>
              <a:rect l="l" t="t" r="r" b="b"/>
              <a:pathLst>
                <a:path w="513714" h="513714">
                  <a:moveTo>
                    <a:pt x="513715" y="256794"/>
                  </a:move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461" y="35051"/>
                  </a:lnTo>
                  <a:lnTo>
                    <a:pt x="325120" y="9144"/>
                  </a:lnTo>
                  <a:lnTo>
                    <a:pt x="256794" y="0"/>
                  </a:lnTo>
                  <a:lnTo>
                    <a:pt x="188595" y="9144"/>
                  </a:lnTo>
                  <a:lnTo>
                    <a:pt x="127127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4" y="188595"/>
                  </a:lnTo>
                  <a:lnTo>
                    <a:pt x="0" y="256794"/>
                  </a:lnTo>
                  <a:lnTo>
                    <a:pt x="9144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127" y="478663"/>
                  </a:lnTo>
                  <a:lnTo>
                    <a:pt x="188595" y="504571"/>
                  </a:lnTo>
                  <a:lnTo>
                    <a:pt x="256794" y="513714"/>
                  </a:lnTo>
                  <a:lnTo>
                    <a:pt x="325120" y="504571"/>
                  </a:lnTo>
                  <a:lnTo>
                    <a:pt x="386461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715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33527" y="3638803"/>
            <a:ext cx="748030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i="1" dirty="0">
                <a:solidFill>
                  <a:srgbClr val="213739"/>
                </a:solidFill>
                <a:latin typeface="Calibri"/>
                <a:cs typeface="Calibri"/>
              </a:rPr>
              <a:t>bias</a:t>
            </a:r>
            <a:r>
              <a:rPr sz="1500" i="1" spc="33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500" spc="-13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13739"/>
                </a:solidFill>
                <a:latin typeface="Arial MT"/>
                <a:cs typeface="Arial MT"/>
              </a:rPr>
              <a:t>-</a:t>
            </a:r>
            <a:r>
              <a:rPr sz="1500" spc="-2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00" spc="-50" dirty="0">
                <a:solidFill>
                  <a:srgbClr val="213739"/>
                </a:solidFill>
                <a:latin typeface="Arial MT"/>
                <a:cs typeface="Arial MT"/>
              </a:rPr>
              <a:t>2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278507" y="1536572"/>
            <a:ext cx="111760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i="1" spc="-50" dirty="0">
                <a:solidFill>
                  <a:srgbClr val="213739"/>
                </a:solidFill>
                <a:latin typeface="Calibri"/>
                <a:cs typeface="Calibri"/>
              </a:rPr>
              <a:t>y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64336" y="2568955"/>
            <a:ext cx="280670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650" baseline="-10101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768220" y="2568955"/>
            <a:ext cx="1320165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10"/>
              </a:spcBef>
              <a:tabLst>
                <a:tab pos="563880" algn="l"/>
                <a:tab pos="1051560" algn="l"/>
              </a:tabLst>
            </a:pP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650" baseline="-1010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r>
              <a:rPr sz="1650" baseline="-1010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4</a:t>
            </a:r>
            <a:endParaRPr sz="1650" baseline="-10101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978052" y="1862084"/>
            <a:ext cx="2730500" cy="2357120"/>
            <a:chOff x="978052" y="1862084"/>
            <a:chExt cx="2730500" cy="2357120"/>
          </a:xfrm>
        </p:grpSpPr>
        <p:sp>
          <p:nvSpPr>
            <p:cNvPr id="18" name="object 18"/>
            <p:cNvSpPr/>
            <p:nvPr/>
          </p:nvSpPr>
          <p:spPr>
            <a:xfrm>
              <a:off x="999744" y="3469005"/>
              <a:ext cx="702945" cy="702945"/>
            </a:xfrm>
            <a:custGeom>
              <a:avLst/>
              <a:gdLst/>
              <a:ahLst/>
              <a:cxnLst/>
              <a:rect l="l" t="t" r="r" b="b"/>
              <a:pathLst>
                <a:path w="702944" h="702945">
                  <a:moveTo>
                    <a:pt x="702691" y="702564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8052" y="3447274"/>
              <a:ext cx="104659" cy="104661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052220" y="3396107"/>
              <a:ext cx="1636395" cy="818515"/>
            </a:xfrm>
            <a:custGeom>
              <a:avLst/>
              <a:gdLst/>
              <a:ahLst/>
              <a:cxnLst/>
              <a:rect l="l" t="t" r="r" b="b"/>
              <a:pathLst>
                <a:path w="1636395" h="818514">
                  <a:moveTo>
                    <a:pt x="1635861" y="818006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39983" y="3354470"/>
              <a:ext cx="84086" cy="122136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766570" y="3543046"/>
              <a:ext cx="125730" cy="628650"/>
            </a:xfrm>
            <a:custGeom>
              <a:avLst/>
              <a:gdLst/>
              <a:ahLst/>
              <a:cxnLst/>
              <a:rect l="l" t="t" r="r" b="b"/>
              <a:pathLst>
                <a:path w="125730" h="628650">
                  <a:moveTo>
                    <a:pt x="62737" y="628522"/>
                  </a:moveTo>
                  <a:lnTo>
                    <a:pt x="62737" y="8000"/>
                  </a:lnTo>
                </a:path>
                <a:path w="125730" h="628650">
                  <a:moveTo>
                    <a:pt x="0" y="51307"/>
                  </a:moveTo>
                  <a:lnTo>
                    <a:pt x="24637" y="42290"/>
                  </a:lnTo>
                  <a:lnTo>
                    <a:pt x="42672" y="29971"/>
                  </a:lnTo>
                  <a:lnTo>
                    <a:pt x="55118" y="15493"/>
                  </a:lnTo>
                  <a:lnTo>
                    <a:pt x="62737" y="0"/>
                  </a:lnTo>
                  <a:lnTo>
                    <a:pt x="70231" y="15493"/>
                  </a:lnTo>
                  <a:lnTo>
                    <a:pt x="82677" y="29971"/>
                  </a:lnTo>
                  <a:lnTo>
                    <a:pt x="100711" y="42290"/>
                  </a:lnTo>
                  <a:lnTo>
                    <a:pt x="125349" y="51307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027427" y="3469005"/>
              <a:ext cx="702945" cy="702945"/>
            </a:xfrm>
            <a:custGeom>
              <a:avLst/>
              <a:gdLst/>
              <a:ahLst/>
              <a:cxnLst/>
              <a:rect l="l" t="t" r="r" b="b"/>
              <a:pathLst>
                <a:path w="702944" h="702945">
                  <a:moveTo>
                    <a:pt x="702691" y="702564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05711" y="3447274"/>
              <a:ext cx="104659" cy="104661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1956180" y="3469005"/>
              <a:ext cx="702945" cy="702945"/>
            </a:xfrm>
            <a:custGeom>
              <a:avLst/>
              <a:gdLst/>
              <a:ahLst/>
              <a:cxnLst/>
              <a:rect l="l" t="t" r="r" b="b"/>
              <a:pathLst>
                <a:path w="702944" h="702945">
                  <a:moveTo>
                    <a:pt x="0" y="702564"/>
                  </a:moveTo>
                  <a:lnTo>
                    <a:pt x="702691" y="0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75813" y="3447274"/>
              <a:ext cx="104659" cy="104661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2794253" y="3543046"/>
              <a:ext cx="125730" cy="628650"/>
            </a:xfrm>
            <a:custGeom>
              <a:avLst/>
              <a:gdLst/>
              <a:ahLst/>
              <a:cxnLst/>
              <a:rect l="l" t="t" r="r" b="b"/>
              <a:pathLst>
                <a:path w="125730" h="628650">
                  <a:moveTo>
                    <a:pt x="62737" y="628522"/>
                  </a:moveTo>
                  <a:lnTo>
                    <a:pt x="62737" y="8000"/>
                  </a:lnTo>
                </a:path>
                <a:path w="125730" h="628650">
                  <a:moveTo>
                    <a:pt x="0" y="51307"/>
                  </a:moveTo>
                  <a:lnTo>
                    <a:pt x="24637" y="42290"/>
                  </a:lnTo>
                  <a:lnTo>
                    <a:pt x="42671" y="29971"/>
                  </a:lnTo>
                  <a:lnTo>
                    <a:pt x="55118" y="15493"/>
                  </a:lnTo>
                  <a:lnTo>
                    <a:pt x="62737" y="0"/>
                  </a:lnTo>
                  <a:lnTo>
                    <a:pt x="70231" y="15493"/>
                  </a:lnTo>
                  <a:lnTo>
                    <a:pt x="82676" y="29971"/>
                  </a:lnTo>
                  <a:lnTo>
                    <a:pt x="100710" y="42290"/>
                  </a:lnTo>
                  <a:lnTo>
                    <a:pt x="125348" y="51307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998218" y="3396107"/>
              <a:ext cx="1635760" cy="818515"/>
            </a:xfrm>
            <a:custGeom>
              <a:avLst/>
              <a:gdLst/>
              <a:ahLst/>
              <a:cxnLst/>
              <a:rect l="l" t="t" r="r" b="b"/>
              <a:pathLst>
                <a:path w="1635760" h="818514">
                  <a:moveTo>
                    <a:pt x="0" y="818006"/>
                  </a:moveTo>
                  <a:lnTo>
                    <a:pt x="1635759" y="0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62115" y="3354470"/>
              <a:ext cx="84163" cy="122136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2983865" y="3469005"/>
              <a:ext cx="702945" cy="702945"/>
            </a:xfrm>
            <a:custGeom>
              <a:avLst/>
              <a:gdLst/>
              <a:ahLst/>
              <a:cxnLst/>
              <a:rect l="l" t="t" r="r" b="b"/>
              <a:pathLst>
                <a:path w="702945" h="702945">
                  <a:moveTo>
                    <a:pt x="0" y="702564"/>
                  </a:moveTo>
                  <a:lnTo>
                    <a:pt x="702563" y="0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603497" y="3447274"/>
              <a:ext cx="104659" cy="104661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022057" y="2308860"/>
              <a:ext cx="1223010" cy="815340"/>
            </a:xfrm>
            <a:custGeom>
              <a:avLst/>
              <a:gdLst/>
              <a:ahLst/>
              <a:cxnLst/>
              <a:rect l="l" t="t" r="r" b="b"/>
              <a:pathLst>
                <a:path w="1223010" h="815339">
                  <a:moveTo>
                    <a:pt x="0" y="814959"/>
                  </a:moveTo>
                  <a:lnTo>
                    <a:pt x="1222540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83766" y="2287145"/>
              <a:ext cx="66671" cy="85467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1947925" y="2348738"/>
              <a:ext cx="342900" cy="685165"/>
            </a:xfrm>
            <a:custGeom>
              <a:avLst/>
              <a:gdLst/>
              <a:ahLst/>
              <a:cxnLst/>
              <a:rect l="l" t="t" r="r" b="b"/>
              <a:pathLst>
                <a:path w="342900" h="685164">
                  <a:moveTo>
                    <a:pt x="0" y="684911"/>
                  </a:moveTo>
                  <a:lnTo>
                    <a:pt x="342392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227843" y="2342652"/>
              <a:ext cx="91166" cy="63861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2395855" y="2348738"/>
              <a:ext cx="342900" cy="685165"/>
            </a:xfrm>
            <a:custGeom>
              <a:avLst/>
              <a:gdLst/>
              <a:ahLst/>
              <a:cxnLst/>
              <a:rect l="l" t="t" r="r" b="b"/>
              <a:pathLst>
                <a:path w="342900" h="685164">
                  <a:moveTo>
                    <a:pt x="342519" y="684911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67162" y="2342652"/>
              <a:ext cx="91166" cy="63861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2441575" y="2308860"/>
              <a:ext cx="1223010" cy="815340"/>
            </a:xfrm>
            <a:custGeom>
              <a:avLst/>
              <a:gdLst/>
              <a:ahLst/>
              <a:cxnLst/>
              <a:rect l="l" t="t" r="r" b="b"/>
              <a:pathLst>
                <a:path w="1223010" h="815339">
                  <a:moveTo>
                    <a:pt x="1222628" y="814959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435734" y="2287145"/>
              <a:ext cx="66671" cy="85467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2294890" y="1864614"/>
              <a:ext cx="96520" cy="268605"/>
            </a:xfrm>
            <a:custGeom>
              <a:avLst/>
              <a:gdLst/>
              <a:ahLst/>
              <a:cxnLst/>
              <a:rect l="l" t="t" r="r" b="b"/>
              <a:pathLst>
                <a:path w="96519" h="268605">
                  <a:moveTo>
                    <a:pt x="48260" y="268605"/>
                  </a:moveTo>
                  <a:lnTo>
                    <a:pt x="48260" y="4063"/>
                  </a:lnTo>
                </a:path>
                <a:path w="96519" h="268605">
                  <a:moveTo>
                    <a:pt x="0" y="41783"/>
                  </a:moveTo>
                  <a:lnTo>
                    <a:pt x="18923" y="34416"/>
                  </a:lnTo>
                  <a:lnTo>
                    <a:pt x="32893" y="24511"/>
                  </a:lnTo>
                  <a:lnTo>
                    <a:pt x="42418" y="12700"/>
                  </a:lnTo>
                  <a:lnTo>
                    <a:pt x="48260" y="0"/>
                  </a:lnTo>
                  <a:lnTo>
                    <a:pt x="54102" y="12700"/>
                  </a:lnTo>
                  <a:lnTo>
                    <a:pt x="63627" y="24511"/>
                  </a:lnTo>
                  <a:lnTo>
                    <a:pt x="77470" y="34416"/>
                  </a:lnTo>
                  <a:lnTo>
                    <a:pt x="96393" y="41783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343204" y="3999632"/>
            <a:ext cx="2451100" cy="1073785"/>
          </a:xfrm>
          <a:prstGeom prst="rect">
            <a:avLst/>
          </a:prstGeom>
        </p:spPr>
        <p:txBody>
          <a:bodyPr vert="horz" wrap="square" lIns="0" tIns="125095" rIns="0" bIns="0" rtlCol="0">
            <a:spAutoFit/>
          </a:bodyPr>
          <a:lstStyle/>
          <a:p>
            <a:pPr marL="496570" algn="ctr">
              <a:lnSpc>
                <a:spcPct val="100000"/>
              </a:lnSpc>
              <a:spcBef>
                <a:spcPts val="985"/>
              </a:spcBef>
            </a:pPr>
            <a:r>
              <a:rPr sz="1500" i="1" spc="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650" spc="37" baseline="-10101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650" baseline="-10101">
              <a:latin typeface="Calibri"/>
              <a:cs typeface="Calibri"/>
            </a:endParaRPr>
          </a:p>
          <a:p>
            <a:pPr marL="38100" marR="30480">
              <a:lnSpc>
                <a:spcPct val="117700"/>
              </a:lnSpc>
              <a:spcBef>
                <a:spcPts val="625"/>
              </a:spcBef>
            </a:pP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red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edge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indicates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i="1" spc="10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=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-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1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blue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edge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indicates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i="1" spc="12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=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+1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768215" y="1080261"/>
            <a:ext cx="4022090" cy="2419985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26670">
              <a:lnSpc>
                <a:spcPct val="100000"/>
              </a:lnSpc>
              <a:spcBef>
                <a:spcPts val="750"/>
              </a:spcBef>
            </a:pP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This</a:t>
            </a:r>
            <a:r>
              <a:rPr sz="1750" spc="-1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network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contains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3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layers</a:t>
            </a:r>
            <a:endParaRPr sz="1750">
              <a:latin typeface="Arial MT"/>
              <a:cs typeface="Arial MT"/>
            </a:endParaRPr>
          </a:p>
          <a:p>
            <a:pPr marL="29845" marR="33655" indent="-5080">
              <a:lnSpc>
                <a:spcPct val="117700"/>
              </a:lnSpc>
              <a:spcBef>
                <a:spcPts val="275"/>
              </a:spcBef>
            </a:pP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layer</a:t>
            </a:r>
            <a:r>
              <a:rPr sz="1750" spc="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containing</a:t>
            </a:r>
            <a:r>
              <a:rPr sz="1750" spc="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inputs</a:t>
            </a:r>
            <a:r>
              <a:rPr sz="1750" spc="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60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i="1" spc="60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89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i="1" spc="60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-7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spc="6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875" spc="97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750" spc="65" dirty="0">
                <a:solidFill>
                  <a:srgbClr val="213739"/>
                </a:solidFill>
                <a:latin typeface="Arial MT"/>
                <a:cs typeface="Arial MT"/>
              </a:rPr>
              <a:t>)</a:t>
            </a:r>
            <a:r>
              <a:rPr sz="1750" spc="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is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ca</a:t>
            </a:r>
            <a:r>
              <a:rPr sz="1750" spc="-3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led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spc="-175" dirty="0">
                <a:solidFill>
                  <a:srgbClr val="213739"/>
                </a:solidFill>
                <a:latin typeface="Trebuchet MS"/>
                <a:cs typeface="Trebuchet MS"/>
              </a:rPr>
              <a:t>input</a:t>
            </a:r>
            <a:r>
              <a:rPr sz="1750" b="1" spc="-305" dirty="0">
                <a:solidFill>
                  <a:srgbClr val="213739"/>
                </a:solidFill>
                <a:latin typeface="Trebuchet MS"/>
                <a:cs typeface="Trebuchet MS"/>
              </a:rPr>
              <a:t> </a:t>
            </a:r>
            <a:r>
              <a:rPr sz="1750" b="1" spc="-10" dirty="0">
                <a:solidFill>
                  <a:srgbClr val="213739"/>
                </a:solidFill>
                <a:latin typeface="Trebuchet MS"/>
                <a:cs typeface="Trebuchet MS"/>
              </a:rPr>
              <a:t>layer</a:t>
            </a:r>
            <a:endParaRPr sz="1750">
              <a:latin typeface="Trebuchet MS"/>
              <a:cs typeface="Trebuchet MS"/>
            </a:endParaRPr>
          </a:p>
          <a:p>
            <a:pPr marL="25400">
              <a:lnSpc>
                <a:spcPct val="100000"/>
              </a:lnSpc>
              <a:spcBef>
                <a:spcPts val="875"/>
              </a:spcBef>
            </a:pP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Themiddle</a:t>
            </a:r>
            <a:r>
              <a:rPr sz="1750" spc="-1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layer</a:t>
            </a:r>
            <a:r>
              <a:rPr sz="1750" spc="-1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containing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1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4</a:t>
            </a:r>
            <a:r>
              <a:rPr sz="1750" spc="-1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perceptrons</a:t>
            </a:r>
            <a:endParaRPr sz="1750">
              <a:latin typeface="Arial MT"/>
              <a:cs typeface="Arial MT"/>
            </a:endParaRPr>
          </a:p>
          <a:p>
            <a:pPr marL="29845">
              <a:lnSpc>
                <a:spcPct val="100000"/>
              </a:lnSpc>
              <a:spcBef>
                <a:spcPts val="375"/>
              </a:spcBef>
            </a:pP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is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ca</a:t>
            </a:r>
            <a:r>
              <a:rPr sz="1750" spc="-3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led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spc="-190" dirty="0">
                <a:solidFill>
                  <a:srgbClr val="213739"/>
                </a:solidFill>
                <a:latin typeface="Trebuchet MS"/>
                <a:cs typeface="Trebuchet MS"/>
              </a:rPr>
              <a:t>hidden</a:t>
            </a:r>
            <a:r>
              <a:rPr sz="1750" b="1" spc="-300" dirty="0">
                <a:solidFill>
                  <a:srgbClr val="213739"/>
                </a:solidFill>
                <a:latin typeface="Trebuchet MS"/>
                <a:cs typeface="Trebuchet MS"/>
              </a:rPr>
              <a:t> </a:t>
            </a:r>
            <a:r>
              <a:rPr sz="1750" b="1" spc="-20" dirty="0">
                <a:solidFill>
                  <a:srgbClr val="213739"/>
                </a:solidFill>
                <a:latin typeface="Trebuchet MS"/>
                <a:cs typeface="Trebuchet MS"/>
              </a:rPr>
              <a:t>layer</a:t>
            </a:r>
            <a:endParaRPr sz="1750">
              <a:latin typeface="Trebuchet MS"/>
              <a:cs typeface="Trebuchet MS"/>
            </a:endParaRPr>
          </a:p>
          <a:p>
            <a:pPr marL="29845" marR="17780" indent="-5080">
              <a:lnSpc>
                <a:spcPct val="117700"/>
              </a:lnSpc>
              <a:spcBef>
                <a:spcPts val="495"/>
              </a:spcBef>
            </a:pP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2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final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layer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containing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one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output</a:t>
            </a:r>
            <a:r>
              <a:rPr sz="1750" spc="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neuron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is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ca</a:t>
            </a:r>
            <a:r>
              <a:rPr sz="1750" spc="-3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led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b="1" spc="-105" dirty="0">
                <a:solidFill>
                  <a:srgbClr val="213739"/>
                </a:solidFill>
                <a:latin typeface="Trebuchet MS"/>
                <a:cs typeface="Trebuchet MS"/>
              </a:rPr>
              <a:t>output</a:t>
            </a:r>
            <a:r>
              <a:rPr sz="1750" b="1" spc="-190" dirty="0">
                <a:solidFill>
                  <a:srgbClr val="213739"/>
                </a:solidFill>
                <a:latin typeface="Trebuchet MS"/>
                <a:cs typeface="Trebuchet MS"/>
              </a:rPr>
              <a:t> </a:t>
            </a:r>
            <a:r>
              <a:rPr sz="1750" b="1" spc="-20" dirty="0">
                <a:solidFill>
                  <a:srgbClr val="213739"/>
                </a:solidFill>
                <a:latin typeface="Trebuchet MS"/>
                <a:cs typeface="Trebuchet MS"/>
              </a:rPr>
              <a:t>layer</a:t>
            </a:r>
            <a:endParaRPr sz="1750">
              <a:latin typeface="Trebuchet MS"/>
              <a:cs typeface="Trebuchet MS"/>
            </a:endParaRPr>
          </a:p>
        </p:txBody>
      </p:sp>
      <p:sp>
        <p:nvSpPr>
          <p:cNvPr id="43" name="object 43" descr="$PPTXTitle"/>
          <p:cNvSpPr txBox="1">
            <a:spLocks noGrp="1"/>
          </p:cNvSpPr>
          <p:nvPr>
            <p:ph type="title"/>
          </p:nvPr>
        </p:nvSpPr>
        <p:spPr>
          <a:xfrm>
            <a:off x="4331334" y="789178"/>
            <a:ext cx="13976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30" dirty="0">
                <a:solidFill>
                  <a:srgbClr val="213739"/>
                </a:solidFill>
                <a:latin typeface="Trebuchet MS"/>
                <a:cs typeface="Trebuchet MS"/>
              </a:rPr>
              <a:t>Terminology: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32279" y="2132355"/>
            <a:ext cx="221589" cy="22158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720339" y="4110608"/>
            <a:ext cx="244475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500" i="1" spc="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650" spc="37" baseline="-10101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650" baseline="-10101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39597" y="3008883"/>
            <a:ext cx="3607435" cy="523875"/>
            <a:chOff x="539597" y="3008883"/>
            <a:chExt cx="3607435" cy="523875"/>
          </a:xfrm>
        </p:grpSpPr>
        <p:sp>
          <p:nvSpPr>
            <p:cNvPr id="5" name="object 5"/>
            <p:cNvSpPr/>
            <p:nvPr/>
          </p:nvSpPr>
          <p:spPr>
            <a:xfrm>
              <a:off x="544677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256921" y="0"/>
                  </a:moveTo>
                  <a:lnTo>
                    <a:pt x="188620" y="9144"/>
                  </a:lnTo>
                  <a:lnTo>
                    <a:pt x="127241" y="35051"/>
                  </a:lnTo>
                  <a:lnTo>
                    <a:pt x="75247" y="75184"/>
                  </a:lnTo>
                  <a:lnTo>
                    <a:pt x="35077" y="127126"/>
                  </a:lnTo>
                  <a:lnTo>
                    <a:pt x="9182" y="188595"/>
                  </a:lnTo>
                  <a:lnTo>
                    <a:pt x="0" y="256794"/>
                  </a:lnTo>
                  <a:lnTo>
                    <a:pt x="9182" y="325120"/>
                  </a:lnTo>
                  <a:lnTo>
                    <a:pt x="35077" y="386588"/>
                  </a:lnTo>
                  <a:lnTo>
                    <a:pt x="75247" y="438531"/>
                  </a:lnTo>
                  <a:lnTo>
                    <a:pt x="127241" y="478663"/>
                  </a:lnTo>
                  <a:lnTo>
                    <a:pt x="188620" y="504571"/>
                  </a:lnTo>
                  <a:lnTo>
                    <a:pt x="256921" y="513714"/>
                  </a:lnTo>
                  <a:lnTo>
                    <a:pt x="325221" y="504571"/>
                  </a:lnTo>
                  <a:lnTo>
                    <a:pt x="386588" y="478663"/>
                  </a:lnTo>
                  <a:lnTo>
                    <a:pt x="438581" y="438531"/>
                  </a:lnTo>
                  <a:lnTo>
                    <a:pt x="478764" y="386588"/>
                  </a:lnTo>
                  <a:lnTo>
                    <a:pt x="504659" y="325120"/>
                  </a:lnTo>
                  <a:lnTo>
                    <a:pt x="513842" y="256794"/>
                  </a:lnTo>
                  <a:lnTo>
                    <a:pt x="504659" y="188595"/>
                  </a:lnTo>
                  <a:lnTo>
                    <a:pt x="478764" y="127126"/>
                  </a:lnTo>
                  <a:lnTo>
                    <a:pt x="438581" y="75184"/>
                  </a:lnTo>
                  <a:lnTo>
                    <a:pt x="386588" y="35051"/>
                  </a:lnTo>
                  <a:lnTo>
                    <a:pt x="325221" y="9144"/>
                  </a:lnTo>
                  <a:lnTo>
                    <a:pt x="256921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44677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513842" y="256794"/>
                  </a:moveTo>
                  <a:lnTo>
                    <a:pt x="504659" y="188595"/>
                  </a:lnTo>
                  <a:lnTo>
                    <a:pt x="478764" y="127126"/>
                  </a:lnTo>
                  <a:lnTo>
                    <a:pt x="438581" y="75184"/>
                  </a:lnTo>
                  <a:lnTo>
                    <a:pt x="386588" y="35051"/>
                  </a:lnTo>
                  <a:lnTo>
                    <a:pt x="325221" y="9144"/>
                  </a:lnTo>
                  <a:lnTo>
                    <a:pt x="256921" y="0"/>
                  </a:lnTo>
                  <a:lnTo>
                    <a:pt x="188620" y="9144"/>
                  </a:lnTo>
                  <a:lnTo>
                    <a:pt x="127241" y="35051"/>
                  </a:lnTo>
                  <a:lnTo>
                    <a:pt x="75247" y="75184"/>
                  </a:lnTo>
                  <a:lnTo>
                    <a:pt x="35077" y="127126"/>
                  </a:lnTo>
                  <a:lnTo>
                    <a:pt x="9182" y="188595"/>
                  </a:lnTo>
                  <a:lnTo>
                    <a:pt x="0" y="256794"/>
                  </a:lnTo>
                  <a:lnTo>
                    <a:pt x="9182" y="325120"/>
                  </a:lnTo>
                  <a:lnTo>
                    <a:pt x="35077" y="386588"/>
                  </a:lnTo>
                  <a:lnTo>
                    <a:pt x="75247" y="438531"/>
                  </a:lnTo>
                  <a:lnTo>
                    <a:pt x="127241" y="478663"/>
                  </a:lnTo>
                  <a:lnTo>
                    <a:pt x="188620" y="504571"/>
                  </a:lnTo>
                  <a:lnTo>
                    <a:pt x="256921" y="513714"/>
                  </a:lnTo>
                  <a:lnTo>
                    <a:pt x="325221" y="504571"/>
                  </a:lnTo>
                  <a:lnTo>
                    <a:pt x="386588" y="478663"/>
                  </a:lnTo>
                  <a:lnTo>
                    <a:pt x="438581" y="438531"/>
                  </a:lnTo>
                  <a:lnTo>
                    <a:pt x="478764" y="386588"/>
                  </a:lnTo>
                  <a:lnTo>
                    <a:pt x="504659" y="325120"/>
                  </a:lnTo>
                  <a:lnTo>
                    <a:pt x="513842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72386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256920" y="0"/>
                  </a:moveTo>
                  <a:lnTo>
                    <a:pt x="188594" y="9144"/>
                  </a:lnTo>
                  <a:lnTo>
                    <a:pt x="127254" y="35051"/>
                  </a:lnTo>
                  <a:lnTo>
                    <a:pt x="75183" y="75184"/>
                  </a:lnTo>
                  <a:lnTo>
                    <a:pt x="35051" y="127126"/>
                  </a:lnTo>
                  <a:lnTo>
                    <a:pt x="9143" y="188595"/>
                  </a:lnTo>
                  <a:lnTo>
                    <a:pt x="0" y="256794"/>
                  </a:lnTo>
                  <a:lnTo>
                    <a:pt x="9143" y="325120"/>
                  </a:lnTo>
                  <a:lnTo>
                    <a:pt x="35051" y="386588"/>
                  </a:lnTo>
                  <a:lnTo>
                    <a:pt x="75183" y="438531"/>
                  </a:lnTo>
                  <a:lnTo>
                    <a:pt x="127254" y="478663"/>
                  </a:lnTo>
                  <a:lnTo>
                    <a:pt x="188594" y="504571"/>
                  </a:lnTo>
                  <a:lnTo>
                    <a:pt x="256920" y="513714"/>
                  </a:lnTo>
                  <a:lnTo>
                    <a:pt x="325119" y="504571"/>
                  </a:lnTo>
                  <a:lnTo>
                    <a:pt x="386588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0" y="325120"/>
                  </a:lnTo>
                  <a:lnTo>
                    <a:pt x="513842" y="256794"/>
                  </a:lnTo>
                  <a:lnTo>
                    <a:pt x="504570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588" y="35051"/>
                  </a:lnTo>
                  <a:lnTo>
                    <a:pt x="325119" y="9144"/>
                  </a:lnTo>
                  <a:lnTo>
                    <a:pt x="256920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72386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513842" y="256794"/>
                  </a:moveTo>
                  <a:lnTo>
                    <a:pt x="504570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588" y="35051"/>
                  </a:lnTo>
                  <a:lnTo>
                    <a:pt x="325119" y="9144"/>
                  </a:lnTo>
                  <a:lnTo>
                    <a:pt x="256920" y="0"/>
                  </a:lnTo>
                  <a:lnTo>
                    <a:pt x="188594" y="9144"/>
                  </a:lnTo>
                  <a:lnTo>
                    <a:pt x="127254" y="35051"/>
                  </a:lnTo>
                  <a:lnTo>
                    <a:pt x="75183" y="75184"/>
                  </a:lnTo>
                  <a:lnTo>
                    <a:pt x="35051" y="127126"/>
                  </a:lnTo>
                  <a:lnTo>
                    <a:pt x="9143" y="188595"/>
                  </a:lnTo>
                  <a:lnTo>
                    <a:pt x="0" y="256794"/>
                  </a:lnTo>
                  <a:lnTo>
                    <a:pt x="9143" y="325120"/>
                  </a:lnTo>
                  <a:lnTo>
                    <a:pt x="35051" y="386588"/>
                  </a:lnTo>
                  <a:lnTo>
                    <a:pt x="75183" y="438531"/>
                  </a:lnTo>
                  <a:lnTo>
                    <a:pt x="127254" y="478663"/>
                  </a:lnTo>
                  <a:lnTo>
                    <a:pt x="188594" y="504571"/>
                  </a:lnTo>
                  <a:lnTo>
                    <a:pt x="256920" y="513714"/>
                  </a:lnTo>
                  <a:lnTo>
                    <a:pt x="325119" y="504571"/>
                  </a:lnTo>
                  <a:lnTo>
                    <a:pt x="386588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0" y="325120"/>
                  </a:lnTo>
                  <a:lnTo>
                    <a:pt x="513842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600071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256921" y="0"/>
                  </a:moveTo>
                  <a:lnTo>
                    <a:pt x="188595" y="9144"/>
                  </a:lnTo>
                  <a:lnTo>
                    <a:pt x="127254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3" y="188595"/>
                  </a:lnTo>
                  <a:lnTo>
                    <a:pt x="0" y="256794"/>
                  </a:lnTo>
                  <a:lnTo>
                    <a:pt x="9143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254" y="478663"/>
                  </a:lnTo>
                  <a:lnTo>
                    <a:pt x="188595" y="504571"/>
                  </a:lnTo>
                  <a:lnTo>
                    <a:pt x="256921" y="513714"/>
                  </a:lnTo>
                  <a:lnTo>
                    <a:pt x="325120" y="504571"/>
                  </a:lnTo>
                  <a:lnTo>
                    <a:pt x="386588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842" y="256794"/>
                  </a:ln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588" y="35051"/>
                  </a:lnTo>
                  <a:lnTo>
                    <a:pt x="325120" y="9144"/>
                  </a:lnTo>
                  <a:lnTo>
                    <a:pt x="256921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600071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513842" y="256794"/>
                  </a:move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588" y="35051"/>
                  </a:lnTo>
                  <a:lnTo>
                    <a:pt x="325120" y="9144"/>
                  </a:lnTo>
                  <a:lnTo>
                    <a:pt x="256921" y="0"/>
                  </a:lnTo>
                  <a:lnTo>
                    <a:pt x="188595" y="9144"/>
                  </a:lnTo>
                  <a:lnTo>
                    <a:pt x="127254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3" y="188595"/>
                  </a:lnTo>
                  <a:lnTo>
                    <a:pt x="0" y="256794"/>
                  </a:lnTo>
                  <a:lnTo>
                    <a:pt x="9143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254" y="478663"/>
                  </a:lnTo>
                  <a:lnTo>
                    <a:pt x="188595" y="504571"/>
                  </a:lnTo>
                  <a:lnTo>
                    <a:pt x="256921" y="513714"/>
                  </a:lnTo>
                  <a:lnTo>
                    <a:pt x="325120" y="504571"/>
                  </a:lnTo>
                  <a:lnTo>
                    <a:pt x="386588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842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627755" y="3013963"/>
              <a:ext cx="513715" cy="513715"/>
            </a:xfrm>
            <a:custGeom>
              <a:avLst/>
              <a:gdLst/>
              <a:ahLst/>
              <a:cxnLst/>
              <a:rect l="l" t="t" r="r" b="b"/>
              <a:pathLst>
                <a:path w="513714" h="513714">
                  <a:moveTo>
                    <a:pt x="256794" y="0"/>
                  </a:moveTo>
                  <a:lnTo>
                    <a:pt x="188595" y="9144"/>
                  </a:lnTo>
                  <a:lnTo>
                    <a:pt x="127127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4" y="188595"/>
                  </a:lnTo>
                  <a:lnTo>
                    <a:pt x="0" y="256794"/>
                  </a:lnTo>
                  <a:lnTo>
                    <a:pt x="9144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127" y="478663"/>
                  </a:lnTo>
                  <a:lnTo>
                    <a:pt x="188595" y="504571"/>
                  </a:lnTo>
                  <a:lnTo>
                    <a:pt x="256794" y="513714"/>
                  </a:lnTo>
                  <a:lnTo>
                    <a:pt x="325120" y="504571"/>
                  </a:lnTo>
                  <a:lnTo>
                    <a:pt x="386461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715" y="256794"/>
                  </a:ln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461" y="35051"/>
                  </a:lnTo>
                  <a:lnTo>
                    <a:pt x="325120" y="9144"/>
                  </a:lnTo>
                  <a:lnTo>
                    <a:pt x="256794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627755" y="3013963"/>
              <a:ext cx="513715" cy="513715"/>
            </a:xfrm>
            <a:custGeom>
              <a:avLst/>
              <a:gdLst/>
              <a:ahLst/>
              <a:cxnLst/>
              <a:rect l="l" t="t" r="r" b="b"/>
              <a:pathLst>
                <a:path w="513714" h="513714">
                  <a:moveTo>
                    <a:pt x="513715" y="256794"/>
                  </a:move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461" y="35051"/>
                  </a:lnTo>
                  <a:lnTo>
                    <a:pt x="325120" y="9144"/>
                  </a:lnTo>
                  <a:lnTo>
                    <a:pt x="256794" y="0"/>
                  </a:lnTo>
                  <a:lnTo>
                    <a:pt x="188595" y="9144"/>
                  </a:lnTo>
                  <a:lnTo>
                    <a:pt x="127127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4" y="188595"/>
                  </a:lnTo>
                  <a:lnTo>
                    <a:pt x="0" y="256794"/>
                  </a:lnTo>
                  <a:lnTo>
                    <a:pt x="9144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127" y="478663"/>
                  </a:lnTo>
                  <a:lnTo>
                    <a:pt x="188595" y="504571"/>
                  </a:lnTo>
                  <a:lnTo>
                    <a:pt x="256794" y="513714"/>
                  </a:lnTo>
                  <a:lnTo>
                    <a:pt x="325120" y="504571"/>
                  </a:lnTo>
                  <a:lnTo>
                    <a:pt x="386461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715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64463" y="2723515"/>
            <a:ext cx="252095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h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650" baseline="-10101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747770" y="2723515"/>
            <a:ext cx="252095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h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4</a:t>
            </a:r>
            <a:endParaRPr sz="1650" baseline="-10101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33527" y="3638803"/>
            <a:ext cx="748030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i="1" dirty="0">
                <a:solidFill>
                  <a:srgbClr val="213739"/>
                </a:solidFill>
                <a:latin typeface="Calibri"/>
                <a:cs typeface="Calibri"/>
              </a:rPr>
              <a:t>bias</a:t>
            </a:r>
            <a:r>
              <a:rPr sz="1500" i="1" spc="33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500" spc="-13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13739"/>
                </a:solidFill>
                <a:latin typeface="Arial MT"/>
                <a:cs typeface="Arial MT"/>
              </a:rPr>
              <a:t>-</a:t>
            </a:r>
            <a:r>
              <a:rPr sz="1500" spc="-2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00" spc="-50" dirty="0">
                <a:solidFill>
                  <a:srgbClr val="213739"/>
                </a:solidFill>
                <a:latin typeface="Arial MT"/>
                <a:cs typeface="Arial MT"/>
              </a:rPr>
              <a:t>2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278507" y="1536572"/>
            <a:ext cx="111760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i="1" spc="-50" dirty="0">
                <a:solidFill>
                  <a:srgbClr val="213739"/>
                </a:solidFill>
                <a:latin typeface="Calibri"/>
                <a:cs typeface="Calibri"/>
              </a:rPr>
              <a:t>y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64336" y="2568955"/>
            <a:ext cx="280670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650" baseline="-10101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679194" y="2532379"/>
            <a:ext cx="1408430" cy="4464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39065">
              <a:lnSpc>
                <a:spcPts val="1650"/>
              </a:lnSpc>
              <a:spcBef>
                <a:spcPts val="110"/>
              </a:spcBef>
              <a:tabLst>
                <a:tab pos="652145" algn="l"/>
                <a:tab pos="1139825" algn="l"/>
              </a:tabLst>
            </a:pP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650" baseline="-1010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r>
              <a:rPr sz="1650" baseline="-1010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4</a:t>
            </a:r>
            <a:endParaRPr sz="1650" baseline="-10101">
              <a:latin typeface="Calibri"/>
              <a:cs typeface="Calibri"/>
            </a:endParaRPr>
          </a:p>
          <a:p>
            <a:pPr marL="50800">
              <a:lnSpc>
                <a:spcPts val="1650"/>
              </a:lnSpc>
              <a:tabLst>
                <a:tab pos="1077595" algn="l"/>
              </a:tabLst>
            </a:pP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h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650" baseline="-1010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h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650" baseline="-10101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978052" y="1862084"/>
            <a:ext cx="2730500" cy="2357120"/>
            <a:chOff x="978052" y="1862084"/>
            <a:chExt cx="2730500" cy="2357120"/>
          </a:xfrm>
        </p:grpSpPr>
        <p:sp>
          <p:nvSpPr>
            <p:cNvPr id="20" name="object 20"/>
            <p:cNvSpPr/>
            <p:nvPr/>
          </p:nvSpPr>
          <p:spPr>
            <a:xfrm>
              <a:off x="999744" y="3469005"/>
              <a:ext cx="702945" cy="702945"/>
            </a:xfrm>
            <a:custGeom>
              <a:avLst/>
              <a:gdLst/>
              <a:ahLst/>
              <a:cxnLst/>
              <a:rect l="l" t="t" r="r" b="b"/>
              <a:pathLst>
                <a:path w="702944" h="702945">
                  <a:moveTo>
                    <a:pt x="702691" y="702564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8052" y="3447274"/>
              <a:ext cx="104659" cy="104661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052220" y="3396107"/>
              <a:ext cx="1636395" cy="818515"/>
            </a:xfrm>
            <a:custGeom>
              <a:avLst/>
              <a:gdLst/>
              <a:ahLst/>
              <a:cxnLst/>
              <a:rect l="l" t="t" r="r" b="b"/>
              <a:pathLst>
                <a:path w="1636395" h="818514">
                  <a:moveTo>
                    <a:pt x="1635861" y="818006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39983" y="3354470"/>
              <a:ext cx="84086" cy="122136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766570" y="3543046"/>
              <a:ext cx="125730" cy="628650"/>
            </a:xfrm>
            <a:custGeom>
              <a:avLst/>
              <a:gdLst/>
              <a:ahLst/>
              <a:cxnLst/>
              <a:rect l="l" t="t" r="r" b="b"/>
              <a:pathLst>
                <a:path w="125730" h="628650">
                  <a:moveTo>
                    <a:pt x="62737" y="628522"/>
                  </a:moveTo>
                  <a:lnTo>
                    <a:pt x="62737" y="8000"/>
                  </a:lnTo>
                </a:path>
                <a:path w="125730" h="628650">
                  <a:moveTo>
                    <a:pt x="0" y="51307"/>
                  </a:moveTo>
                  <a:lnTo>
                    <a:pt x="24637" y="42290"/>
                  </a:lnTo>
                  <a:lnTo>
                    <a:pt x="42672" y="29971"/>
                  </a:lnTo>
                  <a:lnTo>
                    <a:pt x="55118" y="15493"/>
                  </a:lnTo>
                  <a:lnTo>
                    <a:pt x="62737" y="0"/>
                  </a:lnTo>
                  <a:lnTo>
                    <a:pt x="70231" y="15493"/>
                  </a:lnTo>
                  <a:lnTo>
                    <a:pt x="82677" y="29971"/>
                  </a:lnTo>
                  <a:lnTo>
                    <a:pt x="100711" y="42290"/>
                  </a:lnTo>
                  <a:lnTo>
                    <a:pt x="125349" y="51307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027427" y="3469005"/>
              <a:ext cx="702945" cy="702945"/>
            </a:xfrm>
            <a:custGeom>
              <a:avLst/>
              <a:gdLst/>
              <a:ahLst/>
              <a:cxnLst/>
              <a:rect l="l" t="t" r="r" b="b"/>
              <a:pathLst>
                <a:path w="702944" h="702945">
                  <a:moveTo>
                    <a:pt x="702691" y="702564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05711" y="3447274"/>
              <a:ext cx="104659" cy="104661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1956180" y="3469005"/>
              <a:ext cx="702945" cy="702945"/>
            </a:xfrm>
            <a:custGeom>
              <a:avLst/>
              <a:gdLst/>
              <a:ahLst/>
              <a:cxnLst/>
              <a:rect l="l" t="t" r="r" b="b"/>
              <a:pathLst>
                <a:path w="702944" h="702945">
                  <a:moveTo>
                    <a:pt x="0" y="702564"/>
                  </a:moveTo>
                  <a:lnTo>
                    <a:pt x="702691" y="0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75813" y="3447274"/>
              <a:ext cx="104659" cy="104661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2794253" y="3543046"/>
              <a:ext cx="125730" cy="628650"/>
            </a:xfrm>
            <a:custGeom>
              <a:avLst/>
              <a:gdLst/>
              <a:ahLst/>
              <a:cxnLst/>
              <a:rect l="l" t="t" r="r" b="b"/>
              <a:pathLst>
                <a:path w="125730" h="628650">
                  <a:moveTo>
                    <a:pt x="62737" y="628522"/>
                  </a:moveTo>
                  <a:lnTo>
                    <a:pt x="62737" y="8000"/>
                  </a:lnTo>
                </a:path>
                <a:path w="125730" h="628650">
                  <a:moveTo>
                    <a:pt x="0" y="51307"/>
                  </a:moveTo>
                  <a:lnTo>
                    <a:pt x="24637" y="42290"/>
                  </a:lnTo>
                  <a:lnTo>
                    <a:pt x="42671" y="29971"/>
                  </a:lnTo>
                  <a:lnTo>
                    <a:pt x="55118" y="15493"/>
                  </a:lnTo>
                  <a:lnTo>
                    <a:pt x="62737" y="0"/>
                  </a:lnTo>
                  <a:lnTo>
                    <a:pt x="70231" y="15493"/>
                  </a:lnTo>
                  <a:lnTo>
                    <a:pt x="82676" y="29971"/>
                  </a:lnTo>
                  <a:lnTo>
                    <a:pt x="100710" y="42290"/>
                  </a:lnTo>
                  <a:lnTo>
                    <a:pt x="125348" y="51307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998218" y="3396107"/>
              <a:ext cx="1635760" cy="818515"/>
            </a:xfrm>
            <a:custGeom>
              <a:avLst/>
              <a:gdLst/>
              <a:ahLst/>
              <a:cxnLst/>
              <a:rect l="l" t="t" r="r" b="b"/>
              <a:pathLst>
                <a:path w="1635760" h="818514">
                  <a:moveTo>
                    <a:pt x="0" y="818006"/>
                  </a:moveTo>
                  <a:lnTo>
                    <a:pt x="1635759" y="0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62115" y="3354470"/>
              <a:ext cx="84163" cy="122136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2983865" y="3469005"/>
              <a:ext cx="702945" cy="702945"/>
            </a:xfrm>
            <a:custGeom>
              <a:avLst/>
              <a:gdLst/>
              <a:ahLst/>
              <a:cxnLst/>
              <a:rect l="l" t="t" r="r" b="b"/>
              <a:pathLst>
                <a:path w="702945" h="702945">
                  <a:moveTo>
                    <a:pt x="0" y="702564"/>
                  </a:moveTo>
                  <a:lnTo>
                    <a:pt x="702563" y="0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603497" y="3447274"/>
              <a:ext cx="104659" cy="104661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1022057" y="2308860"/>
              <a:ext cx="1223010" cy="815340"/>
            </a:xfrm>
            <a:custGeom>
              <a:avLst/>
              <a:gdLst/>
              <a:ahLst/>
              <a:cxnLst/>
              <a:rect l="l" t="t" r="r" b="b"/>
              <a:pathLst>
                <a:path w="1223010" h="815339">
                  <a:moveTo>
                    <a:pt x="0" y="814959"/>
                  </a:moveTo>
                  <a:lnTo>
                    <a:pt x="1222540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83766" y="2287145"/>
              <a:ext cx="66671" cy="85467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1947925" y="2348738"/>
              <a:ext cx="342900" cy="685165"/>
            </a:xfrm>
            <a:custGeom>
              <a:avLst/>
              <a:gdLst/>
              <a:ahLst/>
              <a:cxnLst/>
              <a:rect l="l" t="t" r="r" b="b"/>
              <a:pathLst>
                <a:path w="342900" h="685164">
                  <a:moveTo>
                    <a:pt x="0" y="684911"/>
                  </a:moveTo>
                  <a:lnTo>
                    <a:pt x="342392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227843" y="2342652"/>
              <a:ext cx="91166" cy="63861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2395855" y="2348738"/>
              <a:ext cx="342900" cy="685165"/>
            </a:xfrm>
            <a:custGeom>
              <a:avLst/>
              <a:gdLst/>
              <a:ahLst/>
              <a:cxnLst/>
              <a:rect l="l" t="t" r="r" b="b"/>
              <a:pathLst>
                <a:path w="342900" h="685164">
                  <a:moveTo>
                    <a:pt x="342519" y="684911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67162" y="2342652"/>
              <a:ext cx="91166" cy="63861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2441575" y="2308860"/>
              <a:ext cx="1223010" cy="815340"/>
            </a:xfrm>
            <a:custGeom>
              <a:avLst/>
              <a:gdLst/>
              <a:ahLst/>
              <a:cxnLst/>
              <a:rect l="l" t="t" r="r" b="b"/>
              <a:pathLst>
                <a:path w="1223010" h="815339">
                  <a:moveTo>
                    <a:pt x="1222628" y="814959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435734" y="2287145"/>
              <a:ext cx="66671" cy="85467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2294890" y="1864614"/>
              <a:ext cx="96520" cy="268605"/>
            </a:xfrm>
            <a:custGeom>
              <a:avLst/>
              <a:gdLst/>
              <a:ahLst/>
              <a:cxnLst/>
              <a:rect l="l" t="t" r="r" b="b"/>
              <a:pathLst>
                <a:path w="96519" h="268605">
                  <a:moveTo>
                    <a:pt x="48260" y="268605"/>
                  </a:moveTo>
                  <a:lnTo>
                    <a:pt x="48260" y="4063"/>
                  </a:lnTo>
                </a:path>
                <a:path w="96519" h="268605">
                  <a:moveTo>
                    <a:pt x="0" y="41783"/>
                  </a:moveTo>
                  <a:lnTo>
                    <a:pt x="18923" y="34416"/>
                  </a:lnTo>
                  <a:lnTo>
                    <a:pt x="32893" y="24511"/>
                  </a:lnTo>
                  <a:lnTo>
                    <a:pt x="42418" y="12700"/>
                  </a:lnTo>
                  <a:lnTo>
                    <a:pt x="48260" y="0"/>
                  </a:lnTo>
                  <a:lnTo>
                    <a:pt x="54102" y="12700"/>
                  </a:lnTo>
                  <a:lnTo>
                    <a:pt x="63627" y="24511"/>
                  </a:lnTo>
                  <a:lnTo>
                    <a:pt x="77470" y="34416"/>
                  </a:lnTo>
                  <a:lnTo>
                    <a:pt x="96393" y="41783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343204" y="3999632"/>
            <a:ext cx="2451100" cy="1073785"/>
          </a:xfrm>
          <a:prstGeom prst="rect">
            <a:avLst/>
          </a:prstGeom>
        </p:spPr>
        <p:txBody>
          <a:bodyPr vert="horz" wrap="square" lIns="0" tIns="125095" rIns="0" bIns="0" rtlCol="0">
            <a:spAutoFit/>
          </a:bodyPr>
          <a:lstStyle/>
          <a:p>
            <a:pPr marL="496570" algn="ctr">
              <a:lnSpc>
                <a:spcPct val="100000"/>
              </a:lnSpc>
              <a:spcBef>
                <a:spcPts val="985"/>
              </a:spcBef>
            </a:pPr>
            <a:r>
              <a:rPr sz="1500" i="1" spc="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650" spc="37" baseline="-10101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650" baseline="-10101">
              <a:latin typeface="Calibri"/>
              <a:cs typeface="Calibri"/>
            </a:endParaRPr>
          </a:p>
          <a:p>
            <a:pPr marL="38100" marR="30480">
              <a:lnSpc>
                <a:spcPct val="117700"/>
              </a:lnSpc>
              <a:spcBef>
                <a:spcPts val="625"/>
              </a:spcBef>
            </a:pP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red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edge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indicates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i="1" spc="10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=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-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1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blue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edge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indicates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i="1" spc="12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=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+1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44" name="object 44" descr="$PPTXTitle"/>
          <p:cNvSpPr txBox="1">
            <a:spLocks noGrp="1"/>
          </p:cNvSpPr>
          <p:nvPr>
            <p:ph type="title"/>
          </p:nvPr>
        </p:nvSpPr>
        <p:spPr>
          <a:xfrm>
            <a:off x="4346575" y="789812"/>
            <a:ext cx="135382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b="1" spc="-35" dirty="0">
                <a:solidFill>
                  <a:srgbClr val="213739"/>
                </a:solidFill>
                <a:latin typeface="Trebuchet MS"/>
                <a:cs typeface="Trebuchet MS"/>
              </a:rPr>
              <a:t>Terminology:</a:t>
            </a:r>
            <a:endParaRPr sz="1750">
              <a:latin typeface="Trebuchet MS"/>
              <a:cs typeface="Trebuchet MS"/>
            </a:endParaRPr>
          </a:p>
        </p:txBody>
      </p:sp>
      <p:sp>
        <p:nvSpPr>
          <p:cNvPr id="45" name="object 4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755"/>
              </a:spcBef>
            </a:pPr>
            <a:r>
              <a:rPr spc="-120" dirty="0"/>
              <a:t>This</a:t>
            </a:r>
            <a:r>
              <a:rPr spc="-190" dirty="0"/>
              <a:t> </a:t>
            </a:r>
            <a:r>
              <a:rPr spc="-75" dirty="0"/>
              <a:t>network</a:t>
            </a:r>
            <a:r>
              <a:rPr spc="-50" dirty="0"/>
              <a:t> </a:t>
            </a:r>
            <a:r>
              <a:rPr spc="-85" dirty="0"/>
              <a:t>contains</a:t>
            </a:r>
            <a:r>
              <a:rPr spc="-55" dirty="0"/>
              <a:t> </a:t>
            </a:r>
            <a:r>
              <a:rPr dirty="0"/>
              <a:t>3</a:t>
            </a:r>
            <a:r>
              <a:rPr spc="-90" dirty="0"/>
              <a:t> </a:t>
            </a:r>
            <a:r>
              <a:rPr spc="-10" dirty="0"/>
              <a:t>layers</a:t>
            </a:r>
          </a:p>
          <a:p>
            <a:pPr marL="29845" marR="34290" indent="-5080">
              <a:lnSpc>
                <a:spcPct val="117700"/>
              </a:lnSpc>
              <a:spcBef>
                <a:spcPts val="280"/>
              </a:spcBef>
            </a:pPr>
            <a:r>
              <a:rPr spc="-70" dirty="0"/>
              <a:t>The</a:t>
            </a:r>
            <a:r>
              <a:rPr spc="-55" dirty="0"/>
              <a:t> </a:t>
            </a:r>
            <a:r>
              <a:rPr spc="-30" dirty="0"/>
              <a:t>layer</a:t>
            </a:r>
            <a:r>
              <a:rPr spc="50" dirty="0"/>
              <a:t> </a:t>
            </a:r>
            <a:r>
              <a:rPr spc="-25" dirty="0"/>
              <a:t>containing</a:t>
            </a:r>
            <a:r>
              <a:rPr spc="40" dirty="0"/>
              <a:t> </a:t>
            </a:r>
            <a:r>
              <a:rPr dirty="0"/>
              <a:t>the</a:t>
            </a:r>
            <a:r>
              <a:rPr spc="100" dirty="0"/>
              <a:t> </a:t>
            </a:r>
            <a:r>
              <a:rPr dirty="0"/>
              <a:t>inputs</a:t>
            </a:r>
            <a:r>
              <a:rPr spc="50" dirty="0"/>
              <a:t> </a:t>
            </a:r>
            <a:r>
              <a:rPr spc="60" dirty="0"/>
              <a:t>(</a:t>
            </a:r>
            <a:r>
              <a:rPr i="1" spc="60" dirty="0">
                <a:latin typeface="Calibri"/>
                <a:cs typeface="Calibri"/>
              </a:rPr>
              <a:t>x</a:t>
            </a:r>
            <a:r>
              <a:rPr sz="1875" spc="89" baseline="-8888" dirty="0">
                <a:latin typeface="Calibri"/>
                <a:cs typeface="Calibri"/>
              </a:rPr>
              <a:t>1</a:t>
            </a:r>
            <a:r>
              <a:rPr sz="1750" i="1" spc="60" dirty="0">
                <a:latin typeface="Calibri"/>
                <a:cs typeface="Calibri"/>
              </a:rPr>
              <a:t>,</a:t>
            </a:r>
            <a:r>
              <a:rPr sz="1750" i="1" spc="-75" dirty="0">
                <a:latin typeface="Calibri"/>
                <a:cs typeface="Calibri"/>
              </a:rPr>
              <a:t> </a:t>
            </a:r>
            <a:r>
              <a:rPr sz="1750" i="1" spc="65" dirty="0">
                <a:latin typeface="Calibri"/>
                <a:cs typeface="Calibri"/>
              </a:rPr>
              <a:t>x</a:t>
            </a:r>
            <a:r>
              <a:rPr sz="1875" spc="97" baseline="-8888" dirty="0">
                <a:latin typeface="Calibri"/>
                <a:cs typeface="Calibri"/>
              </a:rPr>
              <a:t>2</a:t>
            </a:r>
            <a:r>
              <a:rPr sz="1750" spc="65" dirty="0"/>
              <a:t>)</a:t>
            </a:r>
            <a:r>
              <a:rPr sz="1750" spc="140" dirty="0"/>
              <a:t> </a:t>
            </a:r>
            <a:r>
              <a:rPr sz="1750" spc="-25" dirty="0"/>
              <a:t>is </a:t>
            </a:r>
            <a:r>
              <a:rPr sz="1750" spc="-70" dirty="0"/>
              <a:t>ca</a:t>
            </a:r>
            <a:r>
              <a:rPr sz="1750" spc="-305" dirty="0"/>
              <a:t> </a:t>
            </a:r>
            <a:r>
              <a:rPr sz="1750" spc="-85" dirty="0"/>
              <a:t>led</a:t>
            </a:r>
            <a:r>
              <a:rPr sz="1750" spc="-110" dirty="0"/>
              <a:t> </a:t>
            </a:r>
            <a:r>
              <a:rPr sz="1750" spc="-55" dirty="0"/>
              <a:t>the</a:t>
            </a:r>
            <a:r>
              <a:rPr sz="1750" spc="-85" dirty="0"/>
              <a:t> </a:t>
            </a:r>
            <a:r>
              <a:rPr sz="1750" b="1" spc="-175" dirty="0">
                <a:latin typeface="Trebuchet MS"/>
                <a:cs typeface="Trebuchet MS"/>
              </a:rPr>
              <a:t>input</a:t>
            </a:r>
            <a:r>
              <a:rPr sz="1750" b="1" spc="-305" dirty="0">
                <a:latin typeface="Trebuchet MS"/>
                <a:cs typeface="Trebuchet MS"/>
              </a:rPr>
              <a:t> </a:t>
            </a:r>
            <a:r>
              <a:rPr sz="1750" b="1" spc="-20" dirty="0">
                <a:latin typeface="Trebuchet MS"/>
                <a:cs typeface="Trebuchet MS"/>
              </a:rPr>
              <a:t>layer</a:t>
            </a:r>
            <a:endParaRPr sz="1750">
              <a:latin typeface="Trebuchet MS"/>
              <a:cs typeface="Trebuchet MS"/>
            </a:endParaRPr>
          </a:p>
          <a:p>
            <a:pPr marL="25400">
              <a:lnSpc>
                <a:spcPct val="100000"/>
              </a:lnSpc>
              <a:spcBef>
                <a:spcPts val="865"/>
              </a:spcBef>
            </a:pPr>
            <a:r>
              <a:rPr spc="-95" dirty="0"/>
              <a:t>Themiddle</a:t>
            </a:r>
            <a:r>
              <a:rPr spc="-195" dirty="0"/>
              <a:t> </a:t>
            </a:r>
            <a:r>
              <a:rPr spc="-120" dirty="0"/>
              <a:t>layer</a:t>
            </a:r>
            <a:r>
              <a:rPr spc="-190" dirty="0"/>
              <a:t> </a:t>
            </a:r>
            <a:r>
              <a:rPr spc="-80" dirty="0"/>
              <a:t>containing</a:t>
            </a:r>
            <a:r>
              <a:rPr spc="-125" dirty="0"/>
              <a:t> </a:t>
            </a:r>
            <a:r>
              <a:rPr spc="-55" dirty="0"/>
              <a:t>the</a:t>
            </a:r>
            <a:r>
              <a:rPr spc="-165" dirty="0"/>
              <a:t> </a:t>
            </a:r>
            <a:r>
              <a:rPr spc="-10" dirty="0"/>
              <a:t>4</a:t>
            </a:r>
            <a:r>
              <a:rPr spc="-180" dirty="0"/>
              <a:t> </a:t>
            </a:r>
            <a:r>
              <a:rPr spc="-40" dirty="0"/>
              <a:t>perceptrons</a:t>
            </a:r>
          </a:p>
          <a:p>
            <a:pPr marL="29845">
              <a:lnSpc>
                <a:spcPct val="100000"/>
              </a:lnSpc>
              <a:spcBef>
                <a:spcPts val="370"/>
              </a:spcBef>
            </a:pPr>
            <a:r>
              <a:rPr spc="-70" dirty="0"/>
              <a:t>is</a:t>
            </a:r>
            <a:r>
              <a:rPr spc="-145" dirty="0"/>
              <a:t> </a:t>
            </a:r>
            <a:r>
              <a:rPr spc="-70" dirty="0"/>
              <a:t>ca</a:t>
            </a:r>
            <a:r>
              <a:rPr spc="-305" dirty="0"/>
              <a:t> </a:t>
            </a:r>
            <a:r>
              <a:rPr spc="-85" dirty="0"/>
              <a:t>led</a:t>
            </a:r>
            <a:r>
              <a:rPr spc="-80" dirty="0"/>
              <a:t> </a:t>
            </a:r>
            <a:r>
              <a:rPr spc="-50" dirty="0"/>
              <a:t>the</a:t>
            </a:r>
            <a:r>
              <a:rPr spc="-80" dirty="0"/>
              <a:t> </a:t>
            </a:r>
            <a:r>
              <a:rPr b="1" spc="-190" dirty="0">
                <a:latin typeface="Trebuchet MS"/>
                <a:cs typeface="Trebuchet MS"/>
              </a:rPr>
              <a:t>hidden</a:t>
            </a:r>
            <a:r>
              <a:rPr b="1" spc="-300" dirty="0">
                <a:latin typeface="Trebuchet MS"/>
                <a:cs typeface="Trebuchet MS"/>
              </a:rPr>
              <a:t> </a:t>
            </a:r>
            <a:r>
              <a:rPr b="1" spc="-20" dirty="0">
                <a:latin typeface="Trebuchet MS"/>
                <a:cs typeface="Trebuchet MS"/>
              </a:rPr>
              <a:t>layer</a:t>
            </a:r>
          </a:p>
          <a:p>
            <a:pPr marL="29845" marR="17780" indent="-5080">
              <a:lnSpc>
                <a:spcPct val="117700"/>
              </a:lnSpc>
              <a:spcBef>
                <a:spcPts val="495"/>
              </a:spcBef>
            </a:pPr>
            <a:r>
              <a:rPr spc="-145" dirty="0"/>
              <a:t>The</a:t>
            </a:r>
            <a:r>
              <a:rPr spc="-200" dirty="0"/>
              <a:t> </a:t>
            </a:r>
            <a:r>
              <a:rPr spc="-60" dirty="0"/>
              <a:t>final</a:t>
            </a:r>
            <a:r>
              <a:rPr spc="-35" dirty="0"/>
              <a:t> </a:t>
            </a:r>
            <a:r>
              <a:rPr spc="-120" dirty="0"/>
              <a:t>layer</a:t>
            </a:r>
            <a:r>
              <a:rPr spc="-75" dirty="0"/>
              <a:t> </a:t>
            </a:r>
            <a:r>
              <a:rPr spc="-65" dirty="0"/>
              <a:t>containing</a:t>
            </a:r>
            <a:r>
              <a:rPr spc="-60" dirty="0"/>
              <a:t> </a:t>
            </a:r>
            <a:r>
              <a:rPr spc="-95" dirty="0"/>
              <a:t>one</a:t>
            </a:r>
            <a:r>
              <a:rPr spc="-105" dirty="0"/>
              <a:t> </a:t>
            </a:r>
            <a:r>
              <a:rPr dirty="0"/>
              <a:t>output</a:t>
            </a:r>
            <a:r>
              <a:rPr spc="20" dirty="0"/>
              <a:t> </a:t>
            </a:r>
            <a:r>
              <a:rPr spc="-50" dirty="0"/>
              <a:t>neuron </a:t>
            </a:r>
            <a:r>
              <a:rPr spc="-70" dirty="0"/>
              <a:t>is</a:t>
            </a:r>
            <a:r>
              <a:rPr spc="-140" dirty="0"/>
              <a:t> </a:t>
            </a:r>
            <a:r>
              <a:rPr spc="-65" dirty="0"/>
              <a:t>ca</a:t>
            </a:r>
            <a:r>
              <a:rPr spc="-305" dirty="0"/>
              <a:t> </a:t>
            </a:r>
            <a:r>
              <a:rPr spc="-85" dirty="0"/>
              <a:t>led</a:t>
            </a:r>
            <a:r>
              <a:rPr spc="-90" dirty="0"/>
              <a:t> </a:t>
            </a:r>
            <a:r>
              <a:rPr spc="-50" dirty="0"/>
              <a:t>the</a:t>
            </a:r>
            <a:r>
              <a:rPr spc="-75" dirty="0"/>
              <a:t> </a:t>
            </a:r>
            <a:r>
              <a:rPr b="1" spc="-105" dirty="0">
                <a:latin typeface="Trebuchet MS"/>
                <a:cs typeface="Trebuchet MS"/>
              </a:rPr>
              <a:t>output</a:t>
            </a:r>
            <a:r>
              <a:rPr b="1" spc="-190" dirty="0">
                <a:latin typeface="Trebuchet MS"/>
                <a:cs typeface="Trebuchet MS"/>
              </a:rPr>
              <a:t> </a:t>
            </a:r>
            <a:r>
              <a:rPr b="1" spc="-20" dirty="0">
                <a:latin typeface="Trebuchet MS"/>
                <a:cs typeface="Trebuchet MS"/>
              </a:rPr>
              <a:t>layer</a:t>
            </a:r>
          </a:p>
          <a:p>
            <a:pPr marL="25400" marR="341630">
              <a:lnSpc>
                <a:spcPct val="117200"/>
              </a:lnSpc>
              <a:spcBef>
                <a:spcPts val="515"/>
              </a:spcBef>
            </a:pPr>
            <a:r>
              <a:rPr spc="-145" dirty="0"/>
              <a:t>The</a:t>
            </a:r>
            <a:r>
              <a:rPr spc="-180" dirty="0"/>
              <a:t> </a:t>
            </a:r>
            <a:r>
              <a:rPr spc="-35" dirty="0"/>
              <a:t>outputs</a:t>
            </a:r>
            <a:r>
              <a:rPr spc="-55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4</a:t>
            </a:r>
            <a:r>
              <a:rPr spc="-15" dirty="0"/>
              <a:t> </a:t>
            </a:r>
            <a:r>
              <a:rPr spc="-95" dirty="0"/>
              <a:t>perceptrons</a:t>
            </a:r>
            <a:r>
              <a:rPr spc="-45" dirty="0"/>
              <a:t> </a:t>
            </a:r>
            <a:r>
              <a:rPr dirty="0"/>
              <a:t>in</a:t>
            </a:r>
            <a:r>
              <a:rPr spc="-20" dirty="0"/>
              <a:t> </a:t>
            </a:r>
            <a:r>
              <a:rPr spc="-25" dirty="0"/>
              <a:t>the </a:t>
            </a:r>
            <a:r>
              <a:rPr spc="-75" dirty="0"/>
              <a:t>hidden</a:t>
            </a:r>
            <a:r>
              <a:rPr spc="-155" dirty="0"/>
              <a:t> </a:t>
            </a:r>
            <a:r>
              <a:rPr spc="-110" dirty="0"/>
              <a:t>layer</a:t>
            </a:r>
            <a:r>
              <a:rPr spc="-114" dirty="0"/>
              <a:t> </a:t>
            </a:r>
            <a:r>
              <a:rPr spc="-110" dirty="0"/>
              <a:t>are</a:t>
            </a:r>
            <a:r>
              <a:rPr spc="-165" dirty="0"/>
              <a:t> </a:t>
            </a:r>
            <a:r>
              <a:rPr spc="-85" dirty="0"/>
              <a:t>denoted</a:t>
            </a:r>
            <a:r>
              <a:rPr spc="-60" dirty="0"/>
              <a:t> </a:t>
            </a:r>
            <a:r>
              <a:rPr spc="-70" dirty="0"/>
              <a:t>by</a:t>
            </a:r>
            <a:r>
              <a:rPr spc="-150" dirty="0"/>
              <a:t> </a:t>
            </a:r>
            <a:r>
              <a:rPr i="1" spc="50" dirty="0">
                <a:latin typeface="Calibri"/>
                <a:cs typeface="Calibri"/>
              </a:rPr>
              <a:t>h</a:t>
            </a:r>
            <a:r>
              <a:rPr sz="1875" spc="75" baseline="-8888" dirty="0">
                <a:latin typeface="Calibri"/>
                <a:cs typeface="Calibri"/>
              </a:rPr>
              <a:t>1</a:t>
            </a:r>
            <a:r>
              <a:rPr sz="1750" i="1" spc="50" dirty="0">
                <a:latin typeface="Calibri"/>
                <a:cs typeface="Calibri"/>
              </a:rPr>
              <a:t>,</a:t>
            </a:r>
            <a:r>
              <a:rPr sz="1750" i="1" spc="-15" dirty="0">
                <a:latin typeface="Calibri"/>
                <a:cs typeface="Calibri"/>
              </a:rPr>
              <a:t> </a:t>
            </a:r>
            <a:r>
              <a:rPr sz="1750" i="1" spc="50" dirty="0">
                <a:latin typeface="Calibri"/>
                <a:cs typeface="Calibri"/>
              </a:rPr>
              <a:t>h</a:t>
            </a:r>
            <a:r>
              <a:rPr sz="1875" spc="75" baseline="-8888" dirty="0">
                <a:latin typeface="Calibri"/>
                <a:cs typeface="Calibri"/>
              </a:rPr>
              <a:t>2</a:t>
            </a:r>
            <a:r>
              <a:rPr sz="1750" i="1" spc="50" dirty="0">
                <a:latin typeface="Calibri"/>
                <a:cs typeface="Calibri"/>
              </a:rPr>
              <a:t>,</a:t>
            </a:r>
            <a:r>
              <a:rPr sz="1750" i="1" spc="-5" dirty="0">
                <a:latin typeface="Calibri"/>
                <a:cs typeface="Calibri"/>
              </a:rPr>
              <a:t> </a:t>
            </a:r>
            <a:r>
              <a:rPr sz="1750" i="1" spc="50" dirty="0">
                <a:latin typeface="Calibri"/>
                <a:cs typeface="Calibri"/>
              </a:rPr>
              <a:t>h</a:t>
            </a:r>
            <a:r>
              <a:rPr sz="1875" spc="75" baseline="-8888" dirty="0">
                <a:latin typeface="Calibri"/>
                <a:cs typeface="Calibri"/>
              </a:rPr>
              <a:t>3</a:t>
            </a:r>
            <a:r>
              <a:rPr sz="1750" i="1" spc="50" dirty="0">
                <a:latin typeface="Calibri"/>
                <a:cs typeface="Calibri"/>
              </a:rPr>
              <a:t>,</a:t>
            </a:r>
            <a:r>
              <a:rPr sz="1750" i="1" spc="-20" dirty="0">
                <a:latin typeface="Calibri"/>
                <a:cs typeface="Calibri"/>
              </a:rPr>
              <a:t> </a:t>
            </a:r>
            <a:r>
              <a:rPr sz="1750" i="1" spc="-25" dirty="0">
                <a:latin typeface="Calibri"/>
                <a:cs typeface="Calibri"/>
              </a:rPr>
              <a:t>h</a:t>
            </a:r>
            <a:r>
              <a:rPr sz="1875" spc="-37" baseline="-8888" dirty="0">
                <a:latin typeface="Calibri"/>
                <a:cs typeface="Calibri"/>
              </a:rPr>
              <a:t>4</a:t>
            </a:r>
            <a:endParaRPr sz="1875" baseline="-8888">
              <a:latin typeface="Calibri"/>
              <a:cs typeface="Calibri"/>
            </a:endParaRPr>
          </a:p>
          <a:p>
            <a:pPr marL="29845" marR="58419" indent="-5080">
              <a:lnSpc>
                <a:spcPct val="117700"/>
              </a:lnSpc>
              <a:spcBef>
                <a:spcPts val="505"/>
              </a:spcBef>
            </a:pPr>
            <a:r>
              <a:rPr spc="-85" dirty="0"/>
              <a:t>The</a:t>
            </a:r>
            <a:r>
              <a:rPr spc="-40" dirty="0"/>
              <a:t> </a:t>
            </a:r>
            <a:r>
              <a:rPr dirty="0"/>
              <a:t>red</a:t>
            </a:r>
            <a:r>
              <a:rPr spc="-110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blue</a:t>
            </a:r>
            <a:r>
              <a:rPr spc="-10" dirty="0"/>
              <a:t> </a:t>
            </a:r>
            <a:r>
              <a:rPr spc="-85" dirty="0"/>
              <a:t>edges</a:t>
            </a:r>
            <a:r>
              <a:rPr spc="-35" dirty="0"/>
              <a:t> </a:t>
            </a:r>
            <a:r>
              <a:rPr dirty="0"/>
              <a:t>are</a:t>
            </a:r>
            <a:r>
              <a:rPr spc="-35" dirty="0"/>
              <a:t> </a:t>
            </a:r>
            <a:r>
              <a:rPr spc="-55" dirty="0"/>
              <a:t>called</a:t>
            </a:r>
            <a:r>
              <a:rPr spc="-60" dirty="0"/>
              <a:t> </a:t>
            </a:r>
            <a:r>
              <a:rPr spc="-50" dirty="0"/>
              <a:t>layer</a:t>
            </a:r>
            <a:r>
              <a:rPr spc="-15" dirty="0"/>
              <a:t> </a:t>
            </a:r>
            <a:r>
              <a:rPr spc="-50" dirty="0"/>
              <a:t>1 </a:t>
            </a:r>
            <a:r>
              <a:rPr spc="-10" dirty="0"/>
              <a:t>weights</a:t>
            </a:r>
          </a:p>
          <a:p>
            <a:pPr marL="26670">
              <a:lnSpc>
                <a:spcPct val="100000"/>
              </a:lnSpc>
              <a:spcBef>
                <a:spcPts val="850"/>
              </a:spcBef>
            </a:pPr>
            <a:r>
              <a:rPr i="1" dirty="0">
                <a:latin typeface="Calibri"/>
                <a:cs typeface="Calibri"/>
              </a:rPr>
              <a:t>w</a:t>
            </a:r>
            <a:r>
              <a:rPr sz="1875" baseline="-13333" dirty="0">
                <a:latin typeface="Calibri"/>
                <a:cs typeface="Calibri"/>
              </a:rPr>
              <a:t>1</a:t>
            </a:r>
            <a:r>
              <a:rPr sz="1875" spc="-232" baseline="-13333" dirty="0">
                <a:latin typeface="Calibri"/>
                <a:cs typeface="Calibri"/>
              </a:rPr>
              <a:t> </a:t>
            </a:r>
            <a:r>
              <a:rPr sz="1750" i="1" spc="-10" dirty="0">
                <a:latin typeface="Calibri"/>
                <a:cs typeface="Calibri"/>
              </a:rPr>
              <a:t>,</a:t>
            </a:r>
            <a:r>
              <a:rPr sz="1750" i="1" spc="-90" dirty="0">
                <a:latin typeface="Calibri"/>
                <a:cs typeface="Calibri"/>
              </a:rPr>
              <a:t> </a:t>
            </a:r>
            <a:r>
              <a:rPr sz="1750" i="1" dirty="0">
                <a:latin typeface="Calibri"/>
                <a:cs typeface="Calibri"/>
              </a:rPr>
              <a:t>w</a:t>
            </a:r>
            <a:r>
              <a:rPr sz="1875" baseline="-13333" dirty="0">
                <a:latin typeface="Calibri"/>
                <a:cs typeface="Calibri"/>
              </a:rPr>
              <a:t>2</a:t>
            </a:r>
            <a:r>
              <a:rPr sz="1875" spc="-254" baseline="-13333" dirty="0">
                <a:latin typeface="Calibri"/>
                <a:cs typeface="Calibri"/>
              </a:rPr>
              <a:t> </a:t>
            </a:r>
            <a:r>
              <a:rPr sz="1750" i="1" dirty="0">
                <a:latin typeface="Calibri"/>
                <a:cs typeface="Calibri"/>
              </a:rPr>
              <a:t>,</a:t>
            </a:r>
            <a:r>
              <a:rPr sz="1750" i="1" spc="-75" dirty="0">
                <a:latin typeface="Calibri"/>
                <a:cs typeface="Calibri"/>
              </a:rPr>
              <a:t> </a:t>
            </a:r>
            <a:r>
              <a:rPr sz="1750" i="1" dirty="0">
                <a:latin typeface="Calibri"/>
                <a:cs typeface="Calibri"/>
              </a:rPr>
              <a:t>w</a:t>
            </a:r>
            <a:r>
              <a:rPr sz="1875" baseline="-13333" dirty="0">
                <a:latin typeface="Calibri"/>
                <a:cs typeface="Calibri"/>
              </a:rPr>
              <a:t>3</a:t>
            </a:r>
            <a:r>
              <a:rPr sz="1875" spc="-254" baseline="-13333" dirty="0">
                <a:latin typeface="Calibri"/>
                <a:cs typeface="Calibri"/>
              </a:rPr>
              <a:t> </a:t>
            </a:r>
            <a:r>
              <a:rPr sz="1750" i="1" spc="-10" dirty="0">
                <a:latin typeface="Calibri"/>
                <a:cs typeface="Calibri"/>
              </a:rPr>
              <a:t>,</a:t>
            </a:r>
            <a:r>
              <a:rPr sz="1750" i="1" spc="-85" dirty="0">
                <a:latin typeface="Calibri"/>
                <a:cs typeface="Calibri"/>
              </a:rPr>
              <a:t> </a:t>
            </a:r>
            <a:r>
              <a:rPr sz="1750" i="1" dirty="0">
                <a:latin typeface="Calibri"/>
                <a:cs typeface="Calibri"/>
              </a:rPr>
              <a:t>w</a:t>
            </a:r>
            <a:r>
              <a:rPr sz="1875" baseline="-13333" dirty="0">
                <a:latin typeface="Calibri"/>
                <a:cs typeface="Calibri"/>
              </a:rPr>
              <a:t>4</a:t>
            </a:r>
            <a:r>
              <a:rPr sz="1875" spc="382" baseline="-13333" dirty="0">
                <a:latin typeface="Calibri"/>
                <a:cs typeface="Calibri"/>
              </a:rPr>
              <a:t> </a:t>
            </a:r>
            <a:r>
              <a:rPr sz="1750" spc="-110" dirty="0"/>
              <a:t>are</a:t>
            </a:r>
            <a:r>
              <a:rPr sz="1750" spc="-180" dirty="0"/>
              <a:t> </a:t>
            </a:r>
            <a:r>
              <a:rPr sz="1750" spc="-70" dirty="0"/>
              <a:t>ca</a:t>
            </a:r>
            <a:r>
              <a:rPr sz="1750" spc="-310" dirty="0"/>
              <a:t> </a:t>
            </a:r>
            <a:r>
              <a:rPr sz="1750" spc="-85" dirty="0"/>
              <a:t>led</a:t>
            </a:r>
            <a:r>
              <a:rPr sz="1750" spc="-125" dirty="0"/>
              <a:t> </a:t>
            </a:r>
            <a:r>
              <a:rPr sz="1750" spc="-110" dirty="0"/>
              <a:t>layer</a:t>
            </a:r>
            <a:r>
              <a:rPr sz="1750" spc="-125" dirty="0"/>
              <a:t> </a:t>
            </a:r>
            <a:r>
              <a:rPr sz="1750" spc="-10" dirty="0"/>
              <a:t>2</a:t>
            </a:r>
            <a:r>
              <a:rPr sz="1750" spc="-120" dirty="0"/>
              <a:t> </a:t>
            </a:r>
            <a:r>
              <a:rPr sz="1750" spc="-10" dirty="0"/>
              <a:t>weights</a:t>
            </a:r>
            <a:endParaRPr sz="175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32279" y="2132355"/>
            <a:ext cx="221589" cy="22158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720339" y="4110608"/>
            <a:ext cx="244475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500" i="1" spc="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650" spc="37" baseline="-10101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650" baseline="-10101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39597" y="3008883"/>
            <a:ext cx="3607435" cy="523875"/>
            <a:chOff x="539597" y="3008883"/>
            <a:chExt cx="3607435" cy="523875"/>
          </a:xfrm>
        </p:grpSpPr>
        <p:sp>
          <p:nvSpPr>
            <p:cNvPr id="5" name="object 5"/>
            <p:cNvSpPr/>
            <p:nvPr/>
          </p:nvSpPr>
          <p:spPr>
            <a:xfrm>
              <a:off x="544677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256921" y="0"/>
                  </a:moveTo>
                  <a:lnTo>
                    <a:pt x="188620" y="9144"/>
                  </a:lnTo>
                  <a:lnTo>
                    <a:pt x="127241" y="35051"/>
                  </a:lnTo>
                  <a:lnTo>
                    <a:pt x="75247" y="75184"/>
                  </a:lnTo>
                  <a:lnTo>
                    <a:pt x="35077" y="127126"/>
                  </a:lnTo>
                  <a:lnTo>
                    <a:pt x="9182" y="188595"/>
                  </a:lnTo>
                  <a:lnTo>
                    <a:pt x="0" y="256794"/>
                  </a:lnTo>
                  <a:lnTo>
                    <a:pt x="9182" y="325120"/>
                  </a:lnTo>
                  <a:lnTo>
                    <a:pt x="35077" y="386588"/>
                  </a:lnTo>
                  <a:lnTo>
                    <a:pt x="75247" y="438531"/>
                  </a:lnTo>
                  <a:lnTo>
                    <a:pt x="127241" y="478663"/>
                  </a:lnTo>
                  <a:lnTo>
                    <a:pt x="188620" y="504571"/>
                  </a:lnTo>
                  <a:lnTo>
                    <a:pt x="256921" y="513714"/>
                  </a:lnTo>
                  <a:lnTo>
                    <a:pt x="325221" y="504571"/>
                  </a:lnTo>
                  <a:lnTo>
                    <a:pt x="386588" y="478663"/>
                  </a:lnTo>
                  <a:lnTo>
                    <a:pt x="438581" y="438531"/>
                  </a:lnTo>
                  <a:lnTo>
                    <a:pt x="478764" y="386588"/>
                  </a:lnTo>
                  <a:lnTo>
                    <a:pt x="504659" y="325120"/>
                  </a:lnTo>
                  <a:lnTo>
                    <a:pt x="513842" y="256794"/>
                  </a:lnTo>
                  <a:lnTo>
                    <a:pt x="504659" y="188595"/>
                  </a:lnTo>
                  <a:lnTo>
                    <a:pt x="478764" y="127126"/>
                  </a:lnTo>
                  <a:lnTo>
                    <a:pt x="438581" y="75184"/>
                  </a:lnTo>
                  <a:lnTo>
                    <a:pt x="386588" y="35051"/>
                  </a:lnTo>
                  <a:lnTo>
                    <a:pt x="325221" y="9144"/>
                  </a:lnTo>
                  <a:lnTo>
                    <a:pt x="256921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44677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513842" y="256794"/>
                  </a:moveTo>
                  <a:lnTo>
                    <a:pt x="504659" y="188595"/>
                  </a:lnTo>
                  <a:lnTo>
                    <a:pt x="478764" y="127126"/>
                  </a:lnTo>
                  <a:lnTo>
                    <a:pt x="438581" y="75184"/>
                  </a:lnTo>
                  <a:lnTo>
                    <a:pt x="386588" y="35051"/>
                  </a:lnTo>
                  <a:lnTo>
                    <a:pt x="325221" y="9144"/>
                  </a:lnTo>
                  <a:lnTo>
                    <a:pt x="256921" y="0"/>
                  </a:lnTo>
                  <a:lnTo>
                    <a:pt x="188620" y="9144"/>
                  </a:lnTo>
                  <a:lnTo>
                    <a:pt x="127241" y="35051"/>
                  </a:lnTo>
                  <a:lnTo>
                    <a:pt x="75247" y="75184"/>
                  </a:lnTo>
                  <a:lnTo>
                    <a:pt x="35077" y="127126"/>
                  </a:lnTo>
                  <a:lnTo>
                    <a:pt x="9182" y="188595"/>
                  </a:lnTo>
                  <a:lnTo>
                    <a:pt x="0" y="256794"/>
                  </a:lnTo>
                  <a:lnTo>
                    <a:pt x="9182" y="325120"/>
                  </a:lnTo>
                  <a:lnTo>
                    <a:pt x="35077" y="386588"/>
                  </a:lnTo>
                  <a:lnTo>
                    <a:pt x="75247" y="438531"/>
                  </a:lnTo>
                  <a:lnTo>
                    <a:pt x="127241" y="478663"/>
                  </a:lnTo>
                  <a:lnTo>
                    <a:pt x="188620" y="504571"/>
                  </a:lnTo>
                  <a:lnTo>
                    <a:pt x="256921" y="513714"/>
                  </a:lnTo>
                  <a:lnTo>
                    <a:pt x="325221" y="504571"/>
                  </a:lnTo>
                  <a:lnTo>
                    <a:pt x="386588" y="478663"/>
                  </a:lnTo>
                  <a:lnTo>
                    <a:pt x="438581" y="438531"/>
                  </a:lnTo>
                  <a:lnTo>
                    <a:pt x="478764" y="386588"/>
                  </a:lnTo>
                  <a:lnTo>
                    <a:pt x="504659" y="325120"/>
                  </a:lnTo>
                  <a:lnTo>
                    <a:pt x="513842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72386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256920" y="0"/>
                  </a:moveTo>
                  <a:lnTo>
                    <a:pt x="188594" y="9144"/>
                  </a:lnTo>
                  <a:lnTo>
                    <a:pt x="127254" y="35051"/>
                  </a:lnTo>
                  <a:lnTo>
                    <a:pt x="75183" y="75184"/>
                  </a:lnTo>
                  <a:lnTo>
                    <a:pt x="35051" y="127126"/>
                  </a:lnTo>
                  <a:lnTo>
                    <a:pt x="9143" y="188595"/>
                  </a:lnTo>
                  <a:lnTo>
                    <a:pt x="0" y="256794"/>
                  </a:lnTo>
                  <a:lnTo>
                    <a:pt x="9143" y="325120"/>
                  </a:lnTo>
                  <a:lnTo>
                    <a:pt x="35051" y="386588"/>
                  </a:lnTo>
                  <a:lnTo>
                    <a:pt x="75183" y="438531"/>
                  </a:lnTo>
                  <a:lnTo>
                    <a:pt x="127254" y="478663"/>
                  </a:lnTo>
                  <a:lnTo>
                    <a:pt x="188594" y="504571"/>
                  </a:lnTo>
                  <a:lnTo>
                    <a:pt x="256920" y="513714"/>
                  </a:lnTo>
                  <a:lnTo>
                    <a:pt x="325119" y="504571"/>
                  </a:lnTo>
                  <a:lnTo>
                    <a:pt x="386588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0" y="325120"/>
                  </a:lnTo>
                  <a:lnTo>
                    <a:pt x="513842" y="256794"/>
                  </a:lnTo>
                  <a:lnTo>
                    <a:pt x="504570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588" y="35051"/>
                  </a:lnTo>
                  <a:lnTo>
                    <a:pt x="325119" y="9144"/>
                  </a:lnTo>
                  <a:lnTo>
                    <a:pt x="256920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72386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513842" y="256794"/>
                  </a:moveTo>
                  <a:lnTo>
                    <a:pt x="504570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588" y="35051"/>
                  </a:lnTo>
                  <a:lnTo>
                    <a:pt x="325119" y="9144"/>
                  </a:lnTo>
                  <a:lnTo>
                    <a:pt x="256920" y="0"/>
                  </a:lnTo>
                  <a:lnTo>
                    <a:pt x="188594" y="9144"/>
                  </a:lnTo>
                  <a:lnTo>
                    <a:pt x="127254" y="35051"/>
                  </a:lnTo>
                  <a:lnTo>
                    <a:pt x="75183" y="75184"/>
                  </a:lnTo>
                  <a:lnTo>
                    <a:pt x="35051" y="127126"/>
                  </a:lnTo>
                  <a:lnTo>
                    <a:pt x="9143" y="188595"/>
                  </a:lnTo>
                  <a:lnTo>
                    <a:pt x="0" y="256794"/>
                  </a:lnTo>
                  <a:lnTo>
                    <a:pt x="9143" y="325120"/>
                  </a:lnTo>
                  <a:lnTo>
                    <a:pt x="35051" y="386588"/>
                  </a:lnTo>
                  <a:lnTo>
                    <a:pt x="75183" y="438531"/>
                  </a:lnTo>
                  <a:lnTo>
                    <a:pt x="127254" y="478663"/>
                  </a:lnTo>
                  <a:lnTo>
                    <a:pt x="188594" y="504571"/>
                  </a:lnTo>
                  <a:lnTo>
                    <a:pt x="256920" y="513714"/>
                  </a:lnTo>
                  <a:lnTo>
                    <a:pt x="325119" y="504571"/>
                  </a:lnTo>
                  <a:lnTo>
                    <a:pt x="386588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0" y="325120"/>
                  </a:lnTo>
                  <a:lnTo>
                    <a:pt x="513842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600071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256921" y="0"/>
                  </a:moveTo>
                  <a:lnTo>
                    <a:pt x="188595" y="9144"/>
                  </a:lnTo>
                  <a:lnTo>
                    <a:pt x="127254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3" y="188595"/>
                  </a:lnTo>
                  <a:lnTo>
                    <a:pt x="0" y="256794"/>
                  </a:lnTo>
                  <a:lnTo>
                    <a:pt x="9143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254" y="478663"/>
                  </a:lnTo>
                  <a:lnTo>
                    <a:pt x="188595" y="504571"/>
                  </a:lnTo>
                  <a:lnTo>
                    <a:pt x="256921" y="513714"/>
                  </a:lnTo>
                  <a:lnTo>
                    <a:pt x="325120" y="504571"/>
                  </a:lnTo>
                  <a:lnTo>
                    <a:pt x="386588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842" y="256794"/>
                  </a:ln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588" y="35051"/>
                  </a:lnTo>
                  <a:lnTo>
                    <a:pt x="325120" y="9144"/>
                  </a:lnTo>
                  <a:lnTo>
                    <a:pt x="256921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600071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513842" y="256794"/>
                  </a:move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588" y="35051"/>
                  </a:lnTo>
                  <a:lnTo>
                    <a:pt x="325120" y="9144"/>
                  </a:lnTo>
                  <a:lnTo>
                    <a:pt x="256921" y="0"/>
                  </a:lnTo>
                  <a:lnTo>
                    <a:pt x="188595" y="9144"/>
                  </a:lnTo>
                  <a:lnTo>
                    <a:pt x="127254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3" y="188595"/>
                  </a:lnTo>
                  <a:lnTo>
                    <a:pt x="0" y="256794"/>
                  </a:lnTo>
                  <a:lnTo>
                    <a:pt x="9143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254" y="478663"/>
                  </a:lnTo>
                  <a:lnTo>
                    <a:pt x="188595" y="504571"/>
                  </a:lnTo>
                  <a:lnTo>
                    <a:pt x="256921" y="513714"/>
                  </a:lnTo>
                  <a:lnTo>
                    <a:pt x="325120" y="504571"/>
                  </a:lnTo>
                  <a:lnTo>
                    <a:pt x="386588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842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627755" y="3013963"/>
              <a:ext cx="513715" cy="513715"/>
            </a:xfrm>
            <a:custGeom>
              <a:avLst/>
              <a:gdLst/>
              <a:ahLst/>
              <a:cxnLst/>
              <a:rect l="l" t="t" r="r" b="b"/>
              <a:pathLst>
                <a:path w="513714" h="513714">
                  <a:moveTo>
                    <a:pt x="256794" y="0"/>
                  </a:moveTo>
                  <a:lnTo>
                    <a:pt x="188595" y="9144"/>
                  </a:lnTo>
                  <a:lnTo>
                    <a:pt x="127127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4" y="188595"/>
                  </a:lnTo>
                  <a:lnTo>
                    <a:pt x="0" y="256794"/>
                  </a:lnTo>
                  <a:lnTo>
                    <a:pt x="9144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127" y="478663"/>
                  </a:lnTo>
                  <a:lnTo>
                    <a:pt x="188595" y="504571"/>
                  </a:lnTo>
                  <a:lnTo>
                    <a:pt x="256794" y="513714"/>
                  </a:lnTo>
                  <a:lnTo>
                    <a:pt x="325120" y="504571"/>
                  </a:lnTo>
                  <a:lnTo>
                    <a:pt x="386461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715" y="256794"/>
                  </a:ln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461" y="35051"/>
                  </a:lnTo>
                  <a:lnTo>
                    <a:pt x="325120" y="9144"/>
                  </a:lnTo>
                  <a:lnTo>
                    <a:pt x="256794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627755" y="3013963"/>
              <a:ext cx="513715" cy="513715"/>
            </a:xfrm>
            <a:custGeom>
              <a:avLst/>
              <a:gdLst/>
              <a:ahLst/>
              <a:cxnLst/>
              <a:rect l="l" t="t" r="r" b="b"/>
              <a:pathLst>
                <a:path w="513714" h="513714">
                  <a:moveTo>
                    <a:pt x="513715" y="256794"/>
                  </a:move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461" y="35051"/>
                  </a:lnTo>
                  <a:lnTo>
                    <a:pt x="325120" y="9144"/>
                  </a:lnTo>
                  <a:lnTo>
                    <a:pt x="256794" y="0"/>
                  </a:lnTo>
                  <a:lnTo>
                    <a:pt x="188595" y="9144"/>
                  </a:lnTo>
                  <a:lnTo>
                    <a:pt x="127127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4" y="188595"/>
                  </a:lnTo>
                  <a:lnTo>
                    <a:pt x="0" y="256794"/>
                  </a:lnTo>
                  <a:lnTo>
                    <a:pt x="9144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127" y="478663"/>
                  </a:lnTo>
                  <a:lnTo>
                    <a:pt x="188595" y="504571"/>
                  </a:lnTo>
                  <a:lnTo>
                    <a:pt x="256794" y="513714"/>
                  </a:lnTo>
                  <a:lnTo>
                    <a:pt x="325120" y="504571"/>
                  </a:lnTo>
                  <a:lnTo>
                    <a:pt x="386461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715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64463" y="2723515"/>
            <a:ext cx="252095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h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650" baseline="-10101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747770" y="2723515"/>
            <a:ext cx="252095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h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4</a:t>
            </a:r>
            <a:endParaRPr sz="1650" baseline="-10101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33527" y="3638803"/>
            <a:ext cx="748030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i="1" dirty="0">
                <a:solidFill>
                  <a:srgbClr val="213739"/>
                </a:solidFill>
                <a:latin typeface="Calibri"/>
                <a:cs typeface="Calibri"/>
              </a:rPr>
              <a:t>bias</a:t>
            </a:r>
            <a:r>
              <a:rPr sz="1500" i="1" spc="33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500" spc="-13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13739"/>
                </a:solidFill>
                <a:latin typeface="Arial MT"/>
                <a:cs typeface="Arial MT"/>
              </a:rPr>
              <a:t>-</a:t>
            </a:r>
            <a:r>
              <a:rPr sz="1500" spc="-2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00" spc="-50" dirty="0">
                <a:solidFill>
                  <a:srgbClr val="213739"/>
                </a:solidFill>
                <a:latin typeface="Arial MT"/>
                <a:cs typeface="Arial MT"/>
              </a:rPr>
              <a:t>2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278507" y="1536572"/>
            <a:ext cx="111760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i="1" spc="-50" dirty="0">
                <a:solidFill>
                  <a:srgbClr val="213739"/>
                </a:solidFill>
                <a:latin typeface="Calibri"/>
                <a:cs typeface="Calibri"/>
              </a:rPr>
              <a:t>y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64336" y="2568955"/>
            <a:ext cx="280670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650" baseline="-10101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679194" y="2532379"/>
            <a:ext cx="1408430" cy="4464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39065">
              <a:lnSpc>
                <a:spcPts val="1650"/>
              </a:lnSpc>
              <a:spcBef>
                <a:spcPts val="110"/>
              </a:spcBef>
              <a:tabLst>
                <a:tab pos="652145" algn="l"/>
                <a:tab pos="1139825" algn="l"/>
              </a:tabLst>
            </a:pP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650" baseline="-1010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r>
              <a:rPr sz="1650" baseline="-1010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4</a:t>
            </a:r>
            <a:endParaRPr sz="1650" baseline="-10101">
              <a:latin typeface="Calibri"/>
              <a:cs typeface="Calibri"/>
            </a:endParaRPr>
          </a:p>
          <a:p>
            <a:pPr marL="50800">
              <a:lnSpc>
                <a:spcPts val="1650"/>
              </a:lnSpc>
              <a:tabLst>
                <a:tab pos="1077595" algn="l"/>
              </a:tabLst>
            </a:pP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h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650" baseline="-1010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h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650" baseline="-10101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994460" y="1862084"/>
            <a:ext cx="2713990" cy="2357120"/>
            <a:chOff x="994460" y="1862084"/>
            <a:chExt cx="2713990" cy="2357120"/>
          </a:xfrm>
        </p:grpSpPr>
        <p:sp>
          <p:nvSpPr>
            <p:cNvPr id="20" name="object 20"/>
            <p:cNvSpPr/>
            <p:nvPr/>
          </p:nvSpPr>
          <p:spPr>
            <a:xfrm>
              <a:off x="1016139" y="3485388"/>
              <a:ext cx="686435" cy="686435"/>
            </a:xfrm>
            <a:custGeom>
              <a:avLst/>
              <a:gdLst/>
              <a:ahLst/>
              <a:cxnLst/>
              <a:rect l="l" t="t" r="r" b="b"/>
              <a:pathLst>
                <a:path w="686435" h="686435">
                  <a:moveTo>
                    <a:pt x="686295" y="686181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4460" y="3463657"/>
              <a:ext cx="104659" cy="104661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072959" y="3406521"/>
              <a:ext cx="1615440" cy="807720"/>
            </a:xfrm>
            <a:custGeom>
              <a:avLst/>
              <a:gdLst/>
              <a:ahLst/>
              <a:cxnLst/>
              <a:rect l="l" t="t" r="r" b="b"/>
              <a:pathLst>
                <a:path w="1615439" h="807720">
                  <a:moveTo>
                    <a:pt x="1615122" y="807592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60723" y="3364757"/>
              <a:ext cx="84085" cy="122262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766570" y="3546729"/>
              <a:ext cx="125730" cy="624840"/>
            </a:xfrm>
            <a:custGeom>
              <a:avLst/>
              <a:gdLst/>
              <a:ahLst/>
              <a:cxnLst/>
              <a:rect l="l" t="t" r="r" b="b"/>
              <a:pathLst>
                <a:path w="125730" h="624839">
                  <a:moveTo>
                    <a:pt x="62737" y="624840"/>
                  </a:moveTo>
                  <a:lnTo>
                    <a:pt x="62737" y="8000"/>
                  </a:lnTo>
                </a:path>
                <a:path w="125730" h="624839">
                  <a:moveTo>
                    <a:pt x="0" y="51435"/>
                  </a:moveTo>
                  <a:lnTo>
                    <a:pt x="24637" y="42418"/>
                  </a:lnTo>
                  <a:lnTo>
                    <a:pt x="42672" y="30099"/>
                  </a:lnTo>
                  <a:lnTo>
                    <a:pt x="55118" y="15621"/>
                  </a:lnTo>
                  <a:lnTo>
                    <a:pt x="62737" y="0"/>
                  </a:lnTo>
                  <a:lnTo>
                    <a:pt x="70231" y="15621"/>
                  </a:lnTo>
                  <a:lnTo>
                    <a:pt x="82677" y="30099"/>
                  </a:lnTo>
                  <a:lnTo>
                    <a:pt x="100711" y="42418"/>
                  </a:lnTo>
                  <a:lnTo>
                    <a:pt x="125349" y="51435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030094" y="3471672"/>
              <a:ext cx="700405" cy="700405"/>
            </a:xfrm>
            <a:custGeom>
              <a:avLst/>
              <a:gdLst/>
              <a:ahLst/>
              <a:cxnLst/>
              <a:rect l="l" t="t" r="r" b="b"/>
              <a:pathLst>
                <a:path w="700405" h="700404">
                  <a:moveTo>
                    <a:pt x="700024" y="699896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08377" y="3449924"/>
              <a:ext cx="105171" cy="105186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1956054" y="3471672"/>
              <a:ext cx="700405" cy="700405"/>
            </a:xfrm>
            <a:custGeom>
              <a:avLst/>
              <a:gdLst/>
              <a:ahLst/>
              <a:cxnLst/>
              <a:rect l="l" t="t" r="r" b="b"/>
              <a:pathLst>
                <a:path w="700405" h="700404">
                  <a:moveTo>
                    <a:pt x="0" y="699896"/>
                  </a:moveTo>
                  <a:lnTo>
                    <a:pt x="700023" y="0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72766" y="3449924"/>
              <a:ext cx="105171" cy="105186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2794254" y="3546729"/>
              <a:ext cx="125730" cy="624840"/>
            </a:xfrm>
            <a:custGeom>
              <a:avLst/>
              <a:gdLst/>
              <a:ahLst/>
              <a:cxnLst/>
              <a:rect l="l" t="t" r="r" b="b"/>
              <a:pathLst>
                <a:path w="125730" h="624839">
                  <a:moveTo>
                    <a:pt x="62737" y="624840"/>
                  </a:moveTo>
                  <a:lnTo>
                    <a:pt x="62737" y="8000"/>
                  </a:lnTo>
                </a:path>
                <a:path w="125730" h="624839">
                  <a:moveTo>
                    <a:pt x="0" y="51435"/>
                  </a:moveTo>
                  <a:lnTo>
                    <a:pt x="24637" y="42418"/>
                  </a:lnTo>
                  <a:lnTo>
                    <a:pt x="42671" y="30099"/>
                  </a:lnTo>
                  <a:lnTo>
                    <a:pt x="55118" y="15621"/>
                  </a:lnTo>
                  <a:lnTo>
                    <a:pt x="62737" y="0"/>
                  </a:lnTo>
                  <a:lnTo>
                    <a:pt x="70231" y="15621"/>
                  </a:lnTo>
                  <a:lnTo>
                    <a:pt x="82676" y="30099"/>
                  </a:lnTo>
                  <a:lnTo>
                    <a:pt x="100710" y="42418"/>
                  </a:lnTo>
                  <a:lnTo>
                    <a:pt x="125348" y="51435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998218" y="3396107"/>
              <a:ext cx="1635760" cy="818515"/>
            </a:xfrm>
            <a:custGeom>
              <a:avLst/>
              <a:gdLst/>
              <a:ahLst/>
              <a:cxnLst/>
              <a:rect l="l" t="t" r="r" b="b"/>
              <a:pathLst>
                <a:path w="1635760" h="818514">
                  <a:moveTo>
                    <a:pt x="0" y="818006"/>
                  </a:moveTo>
                  <a:lnTo>
                    <a:pt x="1635759" y="0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62114" y="3354470"/>
              <a:ext cx="84163" cy="122136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2983864" y="3469005"/>
              <a:ext cx="702945" cy="702945"/>
            </a:xfrm>
            <a:custGeom>
              <a:avLst/>
              <a:gdLst/>
              <a:ahLst/>
              <a:cxnLst/>
              <a:rect l="l" t="t" r="r" b="b"/>
              <a:pathLst>
                <a:path w="702945" h="702945">
                  <a:moveTo>
                    <a:pt x="0" y="702564"/>
                  </a:moveTo>
                  <a:lnTo>
                    <a:pt x="702563" y="0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603498" y="3447274"/>
              <a:ext cx="104659" cy="104661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1041425" y="2308860"/>
              <a:ext cx="1203325" cy="802640"/>
            </a:xfrm>
            <a:custGeom>
              <a:avLst/>
              <a:gdLst/>
              <a:ahLst/>
              <a:cxnLst/>
              <a:rect l="l" t="t" r="r" b="b"/>
              <a:pathLst>
                <a:path w="1203325" h="802639">
                  <a:moveTo>
                    <a:pt x="0" y="802131"/>
                  </a:moveTo>
                  <a:lnTo>
                    <a:pt x="1203172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83766" y="2287145"/>
              <a:ext cx="66671" cy="85467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1949577" y="2348738"/>
              <a:ext cx="340995" cy="681990"/>
            </a:xfrm>
            <a:custGeom>
              <a:avLst/>
              <a:gdLst/>
              <a:ahLst/>
              <a:cxnLst/>
              <a:rect l="l" t="t" r="r" b="b"/>
              <a:pathLst>
                <a:path w="340994" h="681989">
                  <a:moveTo>
                    <a:pt x="0" y="681482"/>
                  </a:moveTo>
                  <a:lnTo>
                    <a:pt x="340741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227579" y="2342641"/>
              <a:ext cx="91568" cy="64136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2395855" y="2348738"/>
              <a:ext cx="340995" cy="681990"/>
            </a:xfrm>
            <a:custGeom>
              <a:avLst/>
              <a:gdLst/>
              <a:ahLst/>
              <a:cxnLst/>
              <a:rect l="l" t="t" r="r" b="b"/>
              <a:pathLst>
                <a:path w="340994" h="681989">
                  <a:moveTo>
                    <a:pt x="340868" y="681482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67025" y="2342641"/>
              <a:ext cx="91568" cy="64136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2441575" y="2308860"/>
              <a:ext cx="1223010" cy="815340"/>
            </a:xfrm>
            <a:custGeom>
              <a:avLst/>
              <a:gdLst/>
              <a:ahLst/>
              <a:cxnLst/>
              <a:rect l="l" t="t" r="r" b="b"/>
              <a:pathLst>
                <a:path w="1223010" h="815339">
                  <a:moveTo>
                    <a:pt x="1222628" y="814959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435734" y="2287145"/>
              <a:ext cx="66671" cy="85467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2294890" y="1864614"/>
              <a:ext cx="96520" cy="268605"/>
            </a:xfrm>
            <a:custGeom>
              <a:avLst/>
              <a:gdLst/>
              <a:ahLst/>
              <a:cxnLst/>
              <a:rect l="l" t="t" r="r" b="b"/>
              <a:pathLst>
                <a:path w="96519" h="268605">
                  <a:moveTo>
                    <a:pt x="48260" y="268605"/>
                  </a:moveTo>
                  <a:lnTo>
                    <a:pt x="48260" y="4063"/>
                  </a:lnTo>
                </a:path>
                <a:path w="96519" h="268605">
                  <a:moveTo>
                    <a:pt x="0" y="41783"/>
                  </a:moveTo>
                  <a:lnTo>
                    <a:pt x="18923" y="34416"/>
                  </a:lnTo>
                  <a:lnTo>
                    <a:pt x="32893" y="24511"/>
                  </a:lnTo>
                  <a:lnTo>
                    <a:pt x="42418" y="12700"/>
                  </a:lnTo>
                  <a:lnTo>
                    <a:pt x="48260" y="0"/>
                  </a:lnTo>
                  <a:lnTo>
                    <a:pt x="54102" y="12700"/>
                  </a:lnTo>
                  <a:lnTo>
                    <a:pt x="63627" y="24511"/>
                  </a:lnTo>
                  <a:lnTo>
                    <a:pt x="77470" y="34416"/>
                  </a:lnTo>
                  <a:lnTo>
                    <a:pt x="96393" y="41783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343204" y="3999632"/>
            <a:ext cx="2451100" cy="1073785"/>
          </a:xfrm>
          <a:prstGeom prst="rect">
            <a:avLst/>
          </a:prstGeom>
        </p:spPr>
        <p:txBody>
          <a:bodyPr vert="horz" wrap="square" lIns="0" tIns="125095" rIns="0" bIns="0" rtlCol="0">
            <a:spAutoFit/>
          </a:bodyPr>
          <a:lstStyle/>
          <a:p>
            <a:pPr marL="496570" algn="ctr">
              <a:lnSpc>
                <a:spcPct val="100000"/>
              </a:lnSpc>
              <a:spcBef>
                <a:spcPts val="985"/>
              </a:spcBef>
            </a:pPr>
            <a:r>
              <a:rPr sz="1500" i="1" spc="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650" spc="37" baseline="-10101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650" baseline="-10101">
              <a:latin typeface="Calibri"/>
              <a:cs typeface="Calibri"/>
            </a:endParaRPr>
          </a:p>
          <a:p>
            <a:pPr marL="38100" marR="30480">
              <a:lnSpc>
                <a:spcPct val="117700"/>
              </a:lnSpc>
              <a:spcBef>
                <a:spcPts val="625"/>
              </a:spcBef>
            </a:pP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red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edge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indicates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i="1" spc="10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=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-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1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blue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edge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indicates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i="1" spc="12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=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+1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44" name="object 44" descr="$PPTXTitle"/>
          <p:cNvSpPr txBox="1">
            <a:spLocks noGrp="1"/>
          </p:cNvSpPr>
          <p:nvPr>
            <p:ph type="title"/>
          </p:nvPr>
        </p:nvSpPr>
        <p:spPr>
          <a:xfrm>
            <a:off x="4781169" y="875537"/>
            <a:ext cx="4013200" cy="967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7700"/>
              </a:lnSpc>
              <a:spcBef>
                <a:spcPts val="100"/>
              </a:spcBef>
            </a:pPr>
            <a:r>
              <a:rPr sz="1750" spc="-320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1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claim</a:t>
            </a:r>
            <a:r>
              <a:rPr sz="1750" spc="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that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this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network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4" dirty="0">
                <a:solidFill>
                  <a:srgbClr val="213739"/>
                </a:solidFill>
                <a:latin typeface="Arial MT"/>
                <a:cs typeface="Arial MT"/>
              </a:rPr>
              <a:t>can</a:t>
            </a:r>
            <a:r>
              <a:rPr sz="1750" spc="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55" dirty="0">
                <a:solidFill>
                  <a:srgbClr val="213739"/>
                </a:solidFill>
                <a:latin typeface="Arial MT"/>
                <a:cs typeface="Arial MT"/>
              </a:rPr>
              <a:t>be</a:t>
            </a:r>
            <a:r>
              <a:rPr sz="1750" spc="2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25" dirty="0">
                <a:solidFill>
                  <a:srgbClr val="213739"/>
                </a:solidFill>
                <a:latin typeface="Arial MT"/>
                <a:cs typeface="Arial MT"/>
              </a:rPr>
              <a:t>used</a:t>
            </a:r>
            <a:r>
              <a:rPr sz="1750" spc="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1750" spc="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im-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plement</a:t>
            </a:r>
            <a:r>
              <a:rPr sz="1750" spc="30" dirty="0">
                <a:solidFill>
                  <a:srgbClr val="213739"/>
                </a:solidFill>
                <a:latin typeface="Arial MT"/>
                <a:cs typeface="Arial MT"/>
              </a:rPr>
              <a:t>  </a:t>
            </a:r>
            <a:r>
              <a:rPr sz="1750" b="1" dirty="0">
                <a:solidFill>
                  <a:srgbClr val="213739"/>
                </a:solidFill>
                <a:latin typeface="Arial"/>
                <a:cs typeface="Arial"/>
              </a:rPr>
              <a:t>any</a:t>
            </a:r>
            <a:r>
              <a:rPr sz="1750" b="1" spc="55" dirty="0">
                <a:solidFill>
                  <a:srgbClr val="213739"/>
                </a:solidFill>
                <a:latin typeface="Arial"/>
                <a:cs typeface="Arial"/>
              </a:rPr>
              <a:t> 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boolean</a:t>
            </a:r>
            <a:r>
              <a:rPr sz="1750" spc="25" dirty="0">
                <a:solidFill>
                  <a:srgbClr val="213739"/>
                </a:solidFill>
                <a:latin typeface="Arial MT"/>
                <a:cs typeface="Arial MT"/>
              </a:rPr>
              <a:t> 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function</a:t>
            </a:r>
            <a:r>
              <a:rPr sz="1750" spc="45" dirty="0">
                <a:solidFill>
                  <a:srgbClr val="213739"/>
                </a:solidFill>
                <a:latin typeface="Arial MT"/>
                <a:cs typeface="Arial MT"/>
              </a:rPr>
              <a:t> 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(linearly 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separable</a:t>
            </a:r>
            <a:r>
              <a:rPr sz="1750" spc="-1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or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not)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!</a:t>
            </a:r>
            <a:endParaRPr sz="175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32279" y="2132355"/>
            <a:ext cx="221589" cy="22158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720339" y="4110608"/>
            <a:ext cx="244475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500" i="1" spc="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650" spc="37" baseline="-10101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650" baseline="-10101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39597" y="3008883"/>
            <a:ext cx="3607435" cy="523875"/>
            <a:chOff x="539597" y="3008883"/>
            <a:chExt cx="3607435" cy="523875"/>
          </a:xfrm>
        </p:grpSpPr>
        <p:sp>
          <p:nvSpPr>
            <p:cNvPr id="5" name="object 5"/>
            <p:cNvSpPr/>
            <p:nvPr/>
          </p:nvSpPr>
          <p:spPr>
            <a:xfrm>
              <a:off x="544677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256921" y="0"/>
                  </a:moveTo>
                  <a:lnTo>
                    <a:pt x="188620" y="9144"/>
                  </a:lnTo>
                  <a:lnTo>
                    <a:pt x="127241" y="35051"/>
                  </a:lnTo>
                  <a:lnTo>
                    <a:pt x="75247" y="75184"/>
                  </a:lnTo>
                  <a:lnTo>
                    <a:pt x="35077" y="127126"/>
                  </a:lnTo>
                  <a:lnTo>
                    <a:pt x="9182" y="188595"/>
                  </a:lnTo>
                  <a:lnTo>
                    <a:pt x="0" y="256794"/>
                  </a:lnTo>
                  <a:lnTo>
                    <a:pt x="9182" y="325120"/>
                  </a:lnTo>
                  <a:lnTo>
                    <a:pt x="35077" y="386588"/>
                  </a:lnTo>
                  <a:lnTo>
                    <a:pt x="75247" y="438531"/>
                  </a:lnTo>
                  <a:lnTo>
                    <a:pt x="127241" y="478663"/>
                  </a:lnTo>
                  <a:lnTo>
                    <a:pt x="188620" y="504571"/>
                  </a:lnTo>
                  <a:lnTo>
                    <a:pt x="256921" y="513714"/>
                  </a:lnTo>
                  <a:lnTo>
                    <a:pt x="325221" y="504571"/>
                  </a:lnTo>
                  <a:lnTo>
                    <a:pt x="386588" y="478663"/>
                  </a:lnTo>
                  <a:lnTo>
                    <a:pt x="438581" y="438531"/>
                  </a:lnTo>
                  <a:lnTo>
                    <a:pt x="478764" y="386588"/>
                  </a:lnTo>
                  <a:lnTo>
                    <a:pt x="504659" y="325120"/>
                  </a:lnTo>
                  <a:lnTo>
                    <a:pt x="513842" y="256794"/>
                  </a:lnTo>
                  <a:lnTo>
                    <a:pt x="504659" y="188595"/>
                  </a:lnTo>
                  <a:lnTo>
                    <a:pt x="478764" y="127126"/>
                  </a:lnTo>
                  <a:lnTo>
                    <a:pt x="438581" y="75184"/>
                  </a:lnTo>
                  <a:lnTo>
                    <a:pt x="386588" y="35051"/>
                  </a:lnTo>
                  <a:lnTo>
                    <a:pt x="325221" y="9144"/>
                  </a:lnTo>
                  <a:lnTo>
                    <a:pt x="256921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44677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513842" y="256794"/>
                  </a:moveTo>
                  <a:lnTo>
                    <a:pt x="504659" y="188595"/>
                  </a:lnTo>
                  <a:lnTo>
                    <a:pt x="478764" y="127126"/>
                  </a:lnTo>
                  <a:lnTo>
                    <a:pt x="438581" y="75184"/>
                  </a:lnTo>
                  <a:lnTo>
                    <a:pt x="386588" y="35051"/>
                  </a:lnTo>
                  <a:lnTo>
                    <a:pt x="325221" y="9144"/>
                  </a:lnTo>
                  <a:lnTo>
                    <a:pt x="256921" y="0"/>
                  </a:lnTo>
                  <a:lnTo>
                    <a:pt x="188620" y="9144"/>
                  </a:lnTo>
                  <a:lnTo>
                    <a:pt x="127241" y="35051"/>
                  </a:lnTo>
                  <a:lnTo>
                    <a:pt x="75247" y="75184"/>
                  </a:lnTo>
                  <a:lnTo>
                    <a:pt x="35077" y="127126"/>
                  </a:lnTo>
                  <a:lnTo>
                    <a:pt x="9182" y="188595"/>
                  </a:lnTo>
                  <a:lnTo>
                    <a:pt x="0" y="256794"/>
                  </a:lnTo>
                  <a:lnTo>
                    <a:pt x="9182" y="325120"/>
                  </a:lnTo>
                  <a:lnTo>
                    <a:pt x="35077" y="386588"/>
                  </a:lnTo>
                  <a:lnTo>
                    <a:pt x="75247" y="438531"/>
                  </a:lnTo>
                  <a:lnTo>
                    <a:pt x="127241" y="478663"/>
                  </a:lnTo>
                  <a:lnTo>
                    <a:pt x="188620" y="504571"/>
                  </a:lnTo>
                  <a:lnTo>
                    <a:pt x="256921" y="513714"/>
                  </a:lnTo>
                  <a:lnTo>
                    <a:pt x="325221" y="504571"/>
                  </a:lnTo>
                  <a:lnTo>
                    <a:pt x="386588" y="478663"/>
                  </a:lnTo>
                  <a:lnTo>
                    <a:pt x="438581" y="438531"/>
                  </a:lnTo>
                  <a:lnTo>
                    <a:pt x="478764" y="386588"/>
                  </a:lnTo>
                  <a:lnTo>
                    <a:pt x="504659" y="325120"/>
                  </a:lnTo>
                  <a:lnTo>
                    <a:pt x="513842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72386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256920" y="0"/>
                  </a:moveTo>
                  <a:lnTo>
                    <a:pt x="188594" y="9144"/>
                  </a:lnTo>
                  <a:lnTo>
                    <a:pt x="127254" y="35051"/>
                  </a:lnTo>
                  <a:lnTo>
                    <a:pt x="75183" y="75184"/>
                  </a:lnTo>
                  <a:lnTo>
                    <a:pt x="35051" y="127126"/>
                  </a:lnTo>
                  <a:lnTo>
                    <a:pt x="9143" y="188595"/>
                  </a:lnTo>
                  <a:lnTo>
                    <a:pt x="0" y="256794"/>
                  </a:lnTo>
                  <a:lnTo>
                    <a:pt x="9143" y="325120"/>
                  </a:lnTo>
                  <a:lnTo>
                    <a:pt x="35051" y="386588"/>
                  </a:lnTo>
                  <a:lnTo>
                    <a:pt x="75183" y="438531"/>
                  </a:lnTo>
                  <a:lnTo>
                    <a:pt x="127254" y="478663"/>
                  </a:lnTo>
                  <a:lnTo>
                    <a:pt x="188594" y="504571"/>
                  </a:lnTo>
                  <a:lnTo>
                    <a:pt x="256920" y="513714"/>
                  </a:lnTo>
                  <a:lnTo>
                    <a:pt x="325119" y="504571"/>
                  </a:lnTo>
                  <a:lnTo>
                    <a:pt x="386588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0" y="325120"/>
                  </a:lnTo>
                  <a:lnTo>
                    <a:pt x="513842" y="256794"/>
                  </a:lnTo>
                  <a:lnTo>
                    <a:pt x="504570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588" y="35051"/>
                  </a:lnTo>
                  <a:lnTo>
                    <a:pt x="325119" y="9144"/>
                  </a:lnTo>
                  <a:lnTo>
                    <a:pt x="256920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72386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513842" y="256794"/>
                  </a:moveTo>
                  <a:lnTo>
                    <a:pt x="504570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588" y="35051"/>
                  </a:lnTo>
                  <a:lnTo>
                    <a:pt x="325119" y="9144"/>
                  </a:lnTo>
                  <a:lnTo>
                    <a:pt x="256920" y="0"/>
                  </a:lnTo>
                  <a:lnTo>
                    <a:pt x="188594" y="9144"/>
                  </a:lnTo>
                  <a:lnTo>
                    <a:pt x="127254" y="35051"/>
                  </a:lnTo>
                  <a:lnTo>
                    <a:pt x="75183" y="75184"/>
                  </a:lnTo>
                  <a:lnTo>
                    <a:pt x="35051" y="127126"/>
                  </a:lnTo>
                  <a:lnTo>
                    <a:pt x="9143" y="188595"/>
                  </a:lnTo>
                  <a:lnTo>
                    <a:pt x="0" y="256794"/>
                  </a:lnTo>
                  <a:lnTo>
                    <a:pt x="9143" y="325120"/>
                  </a:lnTo>
                  <a:lnTo>
                    <a:pt x="35051" y="386588"/>
                  </a:lnTo>
                  <a:lnTo>
                    <a:pt x="75183" y="438531"/>
                  </a:lnTo>
                  <a:lnTo>
                    <a:pt x="127254" y="478663"/>
                  </a:lnTo>
                  <a:lnTo>
                    <a:pt x="188594" y="504571"/>
                  </a:lnTo>
                  <a:lnTo>
                    <a:pt x="256920" y="513714"/>
                  </a:lnTo>
                  <a:lnTo>
                    <a:pt x="325119" y="504571"/>
                  </a:lnTo>
                  <a:lnTo>
                    <a:pt x="386588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0" y="325120"/>
                  </a:lnTo>
                  <a:lnTo>
                    <a:pt x="513842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600071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256921" y="0"/>
                  </a:moveTo>
                  <a:lnTo>
                    <a:pt x="188595" y="9144"/>
                  </a:lnTo>
                  <a:lnTo>
                    <a:pt x="127254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3" y="188595"/>
                  </a:lnTo>
                  <a:lnTo>
                    <a:pt x="0" y="256794"/>
                  </a:lnTo>
                  <a:lnTo>
                    <a:pt x="9143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254" y="478663"/>
                  </a:lnTo>
                  <a:lnTo>
                    <a:pt x="188595" y="504571"/>
                  </a:lnTo>
                  <a:lnTo>
                    <a:pt x="256921" y="513714"/>
                  </a:lnTo>
                  <a:lnTo>
                    <a:pt x="325120" y="504571"/>
                  </a:lnTo>
                  <a:lnTo>
                    <a:pt x="386588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842" y="256794"/>
                  </a:ln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588" y="35051"/>
                  </a:lnTo>
                  <a:lnTo>
                    <a:pt x="325120" y="9144"/>
                  </a:lnTo>
                  <a:lnTo>
                    <a:pt x="256921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600071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513842" y="256794"/>
                  </a:move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588" y="35051"/>
                  </a:lnTo>
                  <a:lnTo>
                    <a:pt x="325120" y="9144"/>
                  </a:lnTo>
                  <a:lnTo>
                    <a:pt x="256921" y="0"/>
                  </a:lnTo>
                  <a:lnTo>
                    <a:pt x="188595" y="9144"/>
                  </a:lnTo>
                  <a:lnTo>
                    <a:pt x="127254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3" y="188595"/>
                  </a:lnTo>
                  <a:lnTo>
                    <a:pt x="0" y="256794"/>
                  </a:lnTo>
                  <a:lnTo>
                    <a:pt x="9143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254" y="478663"/>
                  </a:lnTo>
                  <a:lnTo>
                    <a:pt x="188595" y="504571"/>
                  </a:lnTo>
                  <a:lnTo>
                    <a:pt x="256921" y="513714"/>
                  </a:lnTo>
                  <a:lnTo>
                    <a:pt x="325120" y="504571"/>
                  </a:lnTo>
                  <a:lnTo>
                    <a:pt x="386588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842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627755" y="3013963"/>
              <a:ext cx="513715" cy="513715"/>
            </a:xfrm>
            <a:custGeom>
              <a:avLst/>
              <a:gdLst/>
              <a:ahLst/>
              <a:cxnLst/>
              <a:rect l="l" t="t" r="r" b="b"/>
              <a:pathLst>
                <a:path w="513714" h="513714">
                  <a:moveTo>
                    <a:pt x="256794" y="0"/>
                  </a:moveTo>
                  <a:lnTo>
                    <a:pt x="188595" y="9144"/>
                  </a:lnTo>
                  <a:lnTo>
                    <a:pt x="127127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4" y="188595"/>
                  </a:lnTo>
                  <a:lnTo>
                    <a:pt x="0" y="256794"/>
                  </a:lnTo>
                  <a:lnTo>
                    <a:pt x="9144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127" y="478663"/>
                  </a:lnTo>
                  <a:lnTo>
                    <a:pt x="188595" y="504571"/>
                  </a:lnTo>
                  <a:lnTo>
                    <a:pt x="256794" y="513714"/>
                  </a:lnTo>
                  <a:lnTo>
                    <a:pt x="325120" y="504571"/>
                  </a:lnTo>
                  <a:lnTo>
                    <a:pt x="386461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715" y="256794"/>
                  </a:ln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461" y="35051"/>
                  </a:lnTo>
                  <a:lnTo>
                    <a:pt x="325120" y="9144"/>
                  </a:lnTo>
                  <a:lnTo>
                    <a:pt x="256794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627755" y="3013963"/>
              <a:ext cx="513715" cy="513715"/>
            </a:xfrm>
            <a:custGeom>
              <a:avLst/>
              <a:gdLst/>
              <a:ahLst/>
              <a:cxnLst/>
              <a:rect l="l" t="t" r="r" b="b"/>
              <a:pathLst>
                <a:path w="513714" h="513714">
                  <a:moveTo>
                    <a:pt x="513715" y="256794"/>
                  </a:move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461" y="35051"/>
                  </a:lnTo>
                  <a:lnTo>
                    <a:pt x="325120" y="9144"/>
                  </a:lnTo>
                  <a:lnTo>
                    <a:pt x="256794" y="0"/>
                  </a:lnTo>
                  <a:lnTo>
                    <a:pt x="188595" y="9144"/>
                  </a:lnTo>
                  <a:lnTo>
                    <a:pt x="127127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4" y="188595"/>
                  </a:lnTo>
                  <a:lnTo>
                    <a:pt x="0" y="256794"/>
                  </a:lnTo>
                  <a:lnTo>
                    <a:pt x="9144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127" y="478663"/>
                  </a:lnTo>
                  <a:lnTo>
                    <a:pt x="188595" y="504571"/>
                  </a:lnTo>
                  <a:lnTo>
                    <a:pt x="256794" y="513714"/>
                  </a:lnTo>
                  <a:lnTo>
                    <a:pt x="325120" y="504571"/>
                  </a:lnTo>
                  <a:lnTo>
                    <a:pt x="386461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715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63549" y="2723515"/>
            <a:ext cx="262255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500" i="1" spc="35" dirty="0">
                <a:solidFill>
                  <a:srgbClr val="213739"/>
                </a:solidFill>
                <a:latin typeface="Calibri"/>
                <a:cs typeface="Calibri"/>
              </a:rPr>
              <a:t>h</a:t>
            </a:r>
            <a:r>
              <a:rPr sz="1650" spc="52" baseline="-12626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650" baseline="-12626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747770" y="2723515"/>
            <a:ext cx="252095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h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4</a:t>
            </a:r>
            <a:endParaRPr sz="1650" baseline="-10101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33527" y="3638803"/>
            <a:ext cx="748030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i="1" dirty="0">
                <a:solidFill>
                  <a:srgbClr val="213739"/>
                </a:solidFill>
                <a:latin typeface="Calibri"/>
                <a:cs typeface="Calibri"/>
              </a:rPr>
              <a:t>bias</a:t>
            </a:r>
            <a:r>
              <a:rPr sz="1500" i="1" spc="33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500" spc="-13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13739"/>
                </a:solidFill>
                <a:latin typeface="Arial MT"/>
                <a:cs typeface="Arial MT"/>
              </a:rPr>
              <a:t>-</a:t>
            </a:r>
            <a:r>
              <a:rPr sz="1500" spc="-2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00" spc="-50" dirty="0">
                <a:solidFill>
                  <a:srgbClr val="213739"/>
                </a:solidFill>
                <a:latin typeface="Arial MT"/>
                <a:cs typeface="Arial MT"/>
              </a:rPr>
              <a:t>2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278507" y="1536572"/>
            <a:ext cx="111760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i="1" spc="-50" dirty="0">
                <a:solidFill>
                  <a:srgbClr val="213739"/>
                </a:solidFill>
                <a:latin typeface="Calibri"/>
                <a:cs typeface="Calibri"/>
              </a:rPr>
              <a:t>y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64336" y="2568955"/>
            <a:ext cx="280670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650" baseline="-10101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679194" y="2532379"/>
            <a:ext cx="1408430" cy="4464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39065">
              <a:lnSpc>
                <a:spcPts val="1650"/>
              </a:lnSpc>
              <a:spcBef>
                <a:spcPts val="110"/>
              </a:spcBef>
              <a:tabLst>
                <a:tab pos="652145" algn="l"/>
                <a:tab pos="1139825" algn="l"/>
              </a:tabLst>
            </a:pP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650" baseline="-1010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r>
              <a:rPr sz="1650" baseline="-1010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4</a:t>
            </a:r>
            <a:endParaRPr sz="1650" baseline="-10101">
              <a:latin typeface="Calibri"/>
              <a:cs typeface="Calibri"/>
            </a:endParaRPr>
          </a:p>
          <a:p>
            <a:pPr marL="50800">
              <a:lnSpc>
                <a:spcPts val="1650"/>
              </a:lnSpc>
              <a:tabLst>
                <a:tab pos="1077595" algn="l"/>
              </a:tabLst>
            </a:pP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h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650" baseline="-1010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h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650" baseline="-10101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994460" y="1862084"/>
            <a:ext cx="2713990" cy="2357120"/>
            <a:chOff x="994460" y="1862084"/>
            <a:chExt cx="2713990" cy="2357120"/>
          </a:xfrm>
        </p:grpSpPr>
        <p:sp>
          <p:nvSpPr>
            <p:cNvPr id="20" name="object 20"/>
            <p:cNvSpPr/>
            <p:nvPr/>
          </p:nvSpPr>
          <p:spPr>
            <a:xfrm>
              <a:off x="1016139" y="3485388"/>
              <a:ext cx="686435" cy="686435"/>
            </a:xfrm>
            <a:custGeom>
              <a:avLst/>
              <a:gdLst/>
              <a:ahLst/>
              <a:cxnLst/>
              <a:rect l="l" t="t" r="r" b="b"/>
              <a:pathLst>
                <a:path w="686435" h="686435">
                  <a:moveTo>
                    <a:pt x="686295" y="686181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4460" y="3463657"/>
              <a:ext cx="104659" cy="104661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072959" y="3406521"/>
              <a:ext cx="1615440" cy="807720"/>
            </a:xfrm>
            <a:custGeom>
              <a:avLst/>
              <a:gdLst/>
              <a:ahLst/>
              <a:cxnLst/>
              <a:rect l="l" t="t" r="r" b="b"/>
              <a:pathLst>
                <a:path w="1615439" h="807720">
                  <a:moveTo>
                    <a:pt x="1615122" y="807592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60723" y="3364757"/>
              <a:ext cx="84085" cy="122262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766570" y="3546729"/>
              <a:ext cx="125730" cy="624840"/>
            </a:xfrm>
            <a:custGeom>
              <a:avLst/>
              <a:gdLst/>
              <a:ahLst/>
              <a:cxnLst/>
              <a:rect l="l" t="t" r="r" b="b"/>
              <a:pathLst>
                <a:path w="125730" h="624839">
                  <a:moveTo>
                    <a:pt x="62737" y="624840"/>
                  </a:moveTo>
                  <a:lnTo>
                    <a:pt x="62737" y="8000"/>
                  </a:lnTo>
                </a:path>
                <a:path w="125730" h="624839">
                  <a:moveTo>
                    <a:pt x="0" y="51435"/>
                  </a:moveTo>
                  <a:lnTo>
                    <a:pt x="24637" y="42418"/>
                  </a:lnTo>
                  <a:lnTo>
                    <a:pt x="42672" y="30099"/>
                  </a:lnTo>
                  <a:lnTo>
                    <a:pt x="55118" y="15621"/>
                  </a:lnTo>
                  <a:lnTo>
                    <a:pt x="62737" y="0"/>
                  </a:lnTo>
                  <a:lnTo>
                    <a:pt x="70231" y="15621"/>
                  </a:lnTo>
                  <a:lnTo>
                    <a:pt x="82677" y="30099"/>
                  </a:lnTo>
                  <a:lnTo>
                    <a:pt x="100711" y="42418"/>
                  </a:lnTo>
                  <a:lnTo>
                    <a:pt x="125349" y="51435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030094" y="3471672"/>
              <a:ext cx="700405" cy="700405"/>
            </a:xfrm>
            <a:custGeom>
              <a:avLst/>
              <a:gdLst/>
              <a:ahLst/>
              <a:cxnLst/>
              <a:rect l="l" t="t" r="r" b="b"/>
              <a:pathLst>
                <a:path w="700405" h="700404">
                  <a:moveTo>
                    <a:pt x="700024" y="699896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08377" y="3449924"/>
              <a:ext cx="105171" cy="105186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1956054" y="3471672"/>
              <a:ext cx="700405" cy="700405"/>
            </a:xfrm>
            <a:custGeom>
              <a:avLst/>
              <a:gdLst/>
              <a:ahLst/>
              <a:cxnLst/>
              <a:rect l="l" t="t" r="r" b="b"/>
              <a:pathLst>
                <a:path w="700405" h="700404">
                  <a:moveTo>
                    <a:pt x="0" y="699896"/>
                  </a:moveTo>
                  <a:lnTo>
                    <a:pt x="700023" y="0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72766" y="3449924"/>
              <a:ext cx="105171" cy="105186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2794254" y="3546729"/>
              <a:ext cx="125730" cy="624840"/>
            </a:xfrm>
            <a:custGeom>
              <a:avLst/>
              <a:gdLst/>
              <a:ahLst/>
              <a:cxnLst/>
              <a:rect l="l" t="t" r="r" b="b"/>
              <a:pathLst>
                <a:path w="125730" h="624839">
                  <a:moveTo>
                    <a:pt x="62737" y="624840"/>
                  </a:moveTo>
                  <a:lnTo>
                    <a:pt x="62737" y="8000"/>
                  </a:lnTo>
                </a:path>
                <a:path w="125730" h="624839">
                  <a:moveTo>
                    <a:pt x="0" y="51435"/>
                  </a:moveTo>
                  <a:lnTo>
                    <a:pt x="24637" y="42418"/>
                  </a:lnTo>
                  <a:lnTo>
                    <a:pt x="42671" y="30099"/>
                  </a:lnTo>
                  <a:lnTo>
                    <a:pt x="55118" y="15621"/>
                  </a:lnTo>
                  <a:lnTo>
                    <a:pt x="62737" y="0"/>
                  </a:lnTo>
                  <a:lnTo>
                    <a:pt x="70231" y="15621"/>
                  </a:lnTo>
                  <a:lnTo>
                    <a:pt x="82676" y="30099"/>
                  </a:lnTo>
                  <a:lnTo>
                    <a:pt x="100710" y="42418"/>
                  </a:lnTo>
                  <a:lnTo>
                    <a:pt x="125348" y="51435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998218" y="3396107"/>
              <a:ext cx="1635760" cy="818515"/>
            </a:xfrm>
            <a:custGeom>
              <a:avLst/>
              <a:gdLst/>
              <a:ahLst/>
              <a:cxnLst/>
              <a:rect l="l" t="t" r="r" b="b"/>
              <a:pathLst>
                <a:path w="1635760" h="818514">
                  <a:moveTo>
                    <a:pt x="0" y="818006"/>
                  </a:moveTo>
                  <a:lnTo>
                    <a:pt x="1635759" y="0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62114" y="3354470"/>
              <a:ext cx="84163" cy="122136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2983864" y="3469005"/>
              <a:ext cx="702945" cy="702945"/>
            </a:xfrm>
            <a:custGeom>
              <a:avLst/>
              <a:gdLst/>
              <a:ahLst/>
              <a:cxnLst/>
              <a:rect l="l" t="t" r="r" b="b"/>
              <a:pathLst>
                <a:path w="702945" h="702945">
                  <a:moveTo>
                    <a:pt x="0" y="702564"/>
                  </a:moveTo>
                  <a:lnTo>
                    <a:pt x="702563" y="0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603498" y="3447274"/>
              <a:ext cx="104659" cy="104661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1041425" y="2308860"/>
              <a:ext cx="1203325" cy="802640"/>
            </a:xfrm>
            <a:custGeom>
              <a:avLst/>
              <a:gdLst/>
              <a:ahLst/>
              <a:cxnLst/>
              <a:rect l="l" t="t" r="r" b="b"/>
              <a:pathLst>
                <a:path w="1203325" h="802639">
                  <a:moveTo>
                    <a:pt x="0" y="802131"/>
                  </a:moveTo>
                  <a:lnTo>
                    <a:pt x="1203172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83766" y="2287145"/>
              <a:ext cx="66671" cy="85467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1949577" y="2348738"/>
              <a:ext cx="340995" cy="681990"/>
            </a:xfrm>
            <a:custGeom>
              <a:avLst/>
              <a:gdLst/>
              <a:ahLst/>
              <a:cxnLst/>
              <a:rect l="l" t="t" r="r" b="b"/>
              <a:pathLst>
                <a:path w="340994" h="681989">
                  <a:moveTo>
                    <a:pt x="0" y="681482"/>
                  </a:moveTo>
                  <a:lnTo>
                    <a:pt x="340741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227579" y="2342641"/>
              <a:ext cx="91568" cy="64136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2395855" y="2348738"/>
              <a:ext cx="340995" cy="681990"/>
            </a:xfrm>
            <a:custGeom>
              <a:avLst/>
              <a:gdLst/>
              <a:ahLst/>
              <a:cxnLst/>
              <a:rect l="l" t="t" r="r" b="b"/>
              <a:pathLst>
                <a:path w="340994" h="681989">
                  <a:moveTo>
                    <a:pt x="340868" y="681482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67025" y="2342641"/>
              <a:ext cx="91568" cy="64136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2441575" y="2308860"/>
              <a:ext cx="1223010" cy="815340"/>
            </a:xfrm>
            <a:custGeom>
              <a:avLst/>
              <a:gdLst/>
              <a:ahLst/>
              <a:cxnLst/>
              <a:rect l="l" t="t" r="r" b="b"/>
              <a:pathLst>
                <a:path w="1223010" h="815339">
                  <a:moveTo>
                    <a:pt x="1222628" y="814959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435734" y="2287145"/>
              <a:ext cx="66671" cy="85467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2294890" y="1864614"/>
              <a:ext cx="96520" cy="268605"/>
            </a:xfrm>
            <a:custGeom>
              <a:avLst/>
              <a:gdLst/>
              <a:ahLst/>
              <a:cxnLst/>
              <a:rect l="l" t="t" r="r" b="b"/>
              <a:pathLst>
                <a:path w="96519" h="268605">
                  <a:moveTo>
                    <a:pt x="48260" y="268605"/>
                  </a:moveTo>
                  <a:lnTo>
                    <a:pt x="48260" y="4063"/>
                  </a:lnTo>
                </a:path>
                <a:path w="96519" h="268605">
                  <a:moveTo>
                    <a:pt x="0" y="41783"/>
                  </a:moveTo>
                  <a:lnTo>
                    <a:pt x="18923" y="34416"/>
                  </a:lnTo>
                  <a:lnTo>
                    <a:pt x="32893" y="24511"/>
                  </a:lnTo>
                  <a:lnTo>
                    <a:pt x="42418" y="12700"/>
                  </a:lnTo>
                  <a:lnTo>
                    <a:pt x="48260" y="0"/>
                  </a:lnTo>
                  <a:lnTo>
                    <a:pt x="54102" y="12700"/>
                  </a:lnTo>
                  <a:lnTo>
                    <a:pt x="63627" y="24511"/>
                  </a:lnTo>
                  <a:lnTo>
                    <a:pt x="77470" y="34416"/>
                  </a:lnTo>
                  <a:lnTo>
                    <a:pt x="96393" y="41783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343204" y="3999632"/>
            <a:ext cx="2451100" cy="1073785"/>
          </a:xfrm>
          <a:prstGeom prst="rect">
            <a:avLst/>
          </a:prstGeom>
        </p:spPr>
        <p:txBody>
          <a:bodyPr vert="horz" wrap="square" lIns="0" tIns="125095" rIns="0" bIns="0" rtlCol="0">
            <a:spAutoFit/>
          </a:bodyPr>
          <a:lstStyle/>
          <a:p>
            <a:pPr marL="496570" algn="ctr">
              <a:lnSpc>
                <a:spcPct val="100000"/>
              </a:lnSpc>
              <a:spcBef>
                <a:spcPts val="985"/>
              </a:spcBef>
            </a:pPr>
            <a:r>
              <a:rPr sz="1500" i="1" spc="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650" spc="37" baseline="-10101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650" baseline="-10101">
              <a:latin typeface="Calibri"/>
              <a:cs typeface="Calibri"/>
            </a:endParaRPr>
          </a:p>
          <a:p>
            <a:pPr marL="38100" marR="30480">
              <a:lnSpc>
                <a:spcPct val="117700"/>
              </a:lnSpc>
              <a:spcBef>
                <a:spcPts val="625"/>
              </a:spcBef>
            </a:pP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red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edge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indicates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i="1" spc="10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=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-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1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blue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edge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indicates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i="1" spc="12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=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+1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44" name="object 44" descr="$PPTXTitle"/>
          <p:cNvSpPr txBox="1">
            <a:spLocks noGrp="1"/>
          </p:cNvSpPr>
          <p:nvPr>
            <p:ph type="title"/>
          </p:nvPr>
        </p:nvSpPr>
        <p:spPr>
          <a:xfrm>
            <a:off x="4781803" y="924305"/>
            <a:ext cx="400748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spc="-16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claim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that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this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network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65" dirty="0">
                <a:solidFill>
                  <a:srgbClr val="213739"/>
                </a:solidFill>
                <a:latin typeface="Arial MT"/>
                <a:cs typeface="Arial MT"/>
              </a:rPr>
              <a:t>can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75" dirty="0">
                <a:solidFill>
                  <a:srgbClr val="213739"/>
                </a:solidFill>
                <a:latin typeface="Arial MT"/>
                <a:cs typeface="Arial MT"/>
              </a:rPr>
              <a:t>be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70" dirty="0">
                <a:solidFill>
                  <a:srgbClr val="213739"/>
                </a:solidFill>
                <a:latin typeface="Arial MT"/>
                <a:cs typeface="Arial MT"/>
              </a:rPr>
              <a:t>used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to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im-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743703" y="1189481"/>
            <a:ext cx="4104004" cy="1377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 marR="56515" indent="2540">
              <a:lnSpc>
                <a:spcPct val="117700"/>
              </a:lnSpc>
              <a:spcBef>
                <a:spcPts val="100"/>
              </a:spcBef>
              <a:tabLst>
                <a:tab pos="968375" algn="l"/>
                <a:tab pos="1541145" algn="l"/>
                <a:tab pos="2422525" algn="l"/>
                <a:tab pos="3355340" algn="l"/>
              </a:tabLst>
            </a:pP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plement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	</a:t>
            </a:r>
            <a:r>
              <a:rPr sz="1750" b="1" spc="-25" dirty="0">
                <a:solidFill>
                  <a:srgbClr val="213739"/>
                </a:solidFill>
                <a:latin typeface="Arial"/>
                <a:cs typeface="Arial"/>
              </a:rPr>
              <a:t>any</a:t>
            </a:r>
            <a:r>
              <a:rPr sz="1750" b="1" dirty="0">
                <a:solidFill>
                  <a:srgbClr val="213739"/>
                </a:solidFill>
                <a:latin typeface="Arial"/>
                <a:cs typeface="Arial"/>
              </a:rPr>
              <a:t>	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boolean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	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function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	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(linearly 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separable</a:t>
            </a:r>
            <a:r>
              <a:rPr sz="1750" spc="-1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or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not)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!</a:t>
            </a:r>
            <a:endParaRPr sz="1750">
              <a:latin typeface="Arial MT"/>
              <a:cs typeface="Arial MT"/>
            </a:endParaRPr>
          </a:p>
          <a:p>
            <a:pPr marL="50800">
              <a:lnSpc>
                <a:spcPct val="100000"/>
              </a:lnSpc>
              <a:spcBef>
                <a:spcPts val="1070"/>
              </a:spcBef>
            </a:pP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In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other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words,</a:t>
            </a:r>
            <a:r>
              <a:rPr sz="1750" spc="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can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find</a:t>
            </a:r>
            <a:r>
              <a:rPr sz="1750" spc="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spc="-15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-11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spc="-15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-11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spc="-15" baseline="-8888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-11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4</a:t>
            </a:r>
            <a:endParaRPr sz="1875" baseline="-8888">
              <a:latin typeface="Calibri"/>
              <a:cs typeface="Calibri"/>
            </a:endParaRPr>
          </a:p>
          <a:p>
            <a:pPr marL="53340">
              <a:lnSpc>
                <a:spcPct val="100000"/>
              </a:lnSpc>
              <a:spcBef>
                <a:spcPts val="434"/>
              </a:spcBef>
            </a:pP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such</a:t>
            </a:r>
            <a:r>
              <a:rPr sz="1750" spc="-229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that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truth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table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any</a:t>
            </a:r>
            <a:r>
              <a:rPr sz="1750" spc="-2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boolean</a:t>
            </a:r>
            <a:r>
              <a:rPr sz="1750" spc="-2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func-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785105" y="2582417"/>
            <a:ext cx="2748915" cy="5575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0"/>
              </a:spcBef>
            </a:pP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tion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can</a:t>
            </a:r>
            <a:r>
              <a:rPr sz="1750" spc="-1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be</a:t>
            </a:r>
            <a:r>
              <a:rPr sz="1750" spc="-1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represented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by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this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network</a:t>
            </a:r>
            <a:endParaRPr sz="175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32279" y="2132355"/>
            <a:ext cx="221589" cy="22158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720339" y="4110608"/>
            <a:ext cx="244475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500" i="1" spc="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650" spc="37" baseline="-10101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650" baseline="-10101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39597" y="3008883"/>
            <a:ext cx="3607435" cy="523875"/>
            <a:chOff x="539597" y="3008883"/>
            <a:chExt cx="3607435" cy="523875"/>
          </a:xfrm>
        </p:grpSpPr>
        <p:sp>
          <p:nvSpPr>
            <p:cNvPr id="5" name="object 5"/>
            <p:cNvSpPr/>
            <p:nvPr/>
          </p:nvSpPr>
          <p:spPr>
            <a:xfrm>
              <a:off x="544677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256921" y="0"/>
                  </a:moveTo>
                  <a:lnTo>
                    <a:pt x="188620" y="9144"/>
                  </a:lnTo>
                  <a:lnTo>
                    <a:pt x="127241" y="35051"/>
                  </a:lnTo>
                  <a:lnTo>
                    <a:pt x="75247" y="75184"/>
                  </a:lnTo>
                  <a:lnTo>
                    <a:pt x="35077" y="127126"/>
                  </a:lnTo>
                  <a:lnTo>
                    <a:pt x="9182" y="188595"/>
                  </a:lnTo>
                  <a:lnTo>
                    <a:pt x="0" y="256794"/>
                  </a:lnTo>
                  <a:lnTo>
                    <a:pt x="9182" y="325120"/>
                  </a:lnTo>
                  <a:lnTo>
                    <a:pt x="35077" y="386588"/>
                  </a:lnTo>
                  <a:lnTo>
                    <a:pt x="75247" y="438531"/>
                  </a:lnTo>
                  <a:lnTo>
                    <a:pt x="127241" y="478663"/>
                  </a:lnTo>
                  <a:lnTo>
                    <a:pt x="188620" y="504571"/>
                  </a:lnTo>
                  <a:lnTo>
                    <a:pt x="256921" y="513714"/>
                  </a:lnTo>
                  <a:lnTo>
                    <a:pt x="325221" y="504571"/>
                  </a:lnTo>
                  <a:lnTo>
                    <a:pt x="386588" y="478663"/>
                  </a:lnTo>
                  <a:lnTo>
                    <a:pt x="438581" y="438531"/>
                  </a:lnTo>
                  <a:lnTo>
                    <a:pt x="478764" y="386588"/>
                  </a:lnTo>
                  <a:lnTo>
                    <a:pt x="504659" y="325120"/>
                  </a:lnTo>
                  <a:lnTo>
                    <a:pt x="513842" y="256794"/>
                  </a:lnTo>
                  <a:lnTo>
                    <a:pt x="504659" y="188595"/>
                  </a:lnTo>
                  <a:lnTo>
                    <a:pt x="478764" y="127126"/>
                  </a:lnTo>
                  <a:lnTo>
                    <a:pt x="438581" y="75184"/>
                  </a:lnTo>
                  <a:lnTo>
                    <a:pt x="386588" y="35051"/>
                  </a:lnTo>
                  <a:lnTo>
                    <a:pt x="325221" y="9144"/>
                  </a:lnTo>
                  <a:lnTo>
                    <a:pt x="256921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44677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513842" y="256794"/>
                  </a:moveTo>
                  <a:lnTo>
                    <a:pt x="504659" y="188595"/>
                  </a:lnTo>
                  <a:lnTo>
                    <a:pt x="478764" y="127126"/>
                  </a:lnTo>
                  <a:lnTo>
                    <a:pt x="438581" y="75184"/>
                  </a:lnTo>
                  <a:lnTo>
                    <a:pt x="386588" y="35051"/>
                  </a:lnTo>
                  <a:lnTo>
                    <a:pt x="325221" y="9144"/>
                  </a:lnTo>
                  <a:lnTo>
                    <a:pt x="256921" y="0"/>
                  </a:lnTo>
                  <a:lnTo>
                    <a:pt x="188620" y="9144"/>
                  </a:lnTo>
                  <a:lnTo>
                    <a:pt x="127241" y="35051"/>
                  </a:lnTo>
                  <a:lnTo>
                    <a:pt x="75247" y="75184"/>
                  </a:lnTo>
                  <a:lnTo>
                    <a:pt x="35077" y="127126"/>
                  </a:lnTo>
                  <a:lnTo>
                    <a:pt x="9182" y="188595"/>
                  </a:lnTo>
                  <a:lnTo>
                    <a:pt x="0" y="256794"/>
                  </a:lnTo>
                  <a:lnTo>
                    <a:pt x="9182" y="325120"/>
                  </a:lnTo>
                  <a:lnTo>
                    <a:pt x="35077" y="386588"/>
                  </a:lnTo>
                  <a:lnTo>
                    <a:pt x="75247" y="438531"/>
                  </a:lnTo>
                  <a:lnTo>
                    <a:pt x="127241" y="478663"/>
                  </a:lnTo>
                  <a:lnTo>
                    <a:pt x="188620" y="504571"/>
                  </a:lnTo>
                  <a:lnTo>
                    <a:pt x="256921" y="513714"/>
                  </a:lnTo>
                  <a:lnTo>
                    <a:pt x="325221" y="504571"/>
                  </a:lnTo>
                  <a:lnTo>
                    <a:pt x="386588" y="478663"/>
                  </a:lnTo>
                  <a:lnTo>
                    <a:pt x="438581" y="438531"/>
                  </a:lnTo>
                  <a:lnTo>
                    <a:pt x="478764" y="386588"/>
                  </a:lnTo>
                  <a:lnTo>
                    <a:pt x="504659" y="325120"/>
                  </a:lnTo>
                  <a:lnTo>
                    <a:pt x="513842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72386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256920" y="0"/>
                  </a:moveTo>
                  <a:lnTo>
                    <a:pt x="188594" y="9144"/>
                  </a:lnTo>
                  <a:lnTo>
                    <a:pt x="127254" y="35051"/>
                  </a:lnTo>
                  <a:lnTo>
                    <a:pt x="75183" y="75184"/>
                  </a:lnTo>
                  <a:lnTo>
                    <a:pt x="35051" y="127126"/>
                  </a:lnTo>
                  <a:lnTo>
                    <a:pt x="9143" y="188595"/>
                  </a:lnTo>
                  <a:lnTo>
                    <a:pt x="0" y="256794"/>
                  </a:lnTo>
                  <a:lnTo>
                    <a:pt x="9143" y="325120"/>
                  </a:lnTo>
                  <a:lnTo>
                    <a:pt x="35051" y="386588"/>
                  </a:lnTo>
                  <a:lnTo>
                    <a:pt x="75183" y="438531"/>
                  </a:lnTo>
                  <a:lnTo>
                    <a:pt x="127254" y="478663"/>
                  </a:lnTo>
                  <a:lnTo>
                    <a:pt x="188594" y="504571"/>
                  </a:lnTo>
                  <a:lnTo>
                    <a:pt x="256920" y="513714"/>
                  </a:lnTo>
                  <a:lnTo>
                    <a:pt x="325119" y="504571"/>
                  </a:lnTo>
                  <a:lnTo>
                    <a:pt x="386588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0" y="325120"/>
                  </a:lnTo>
                  <a:lnTo>
                    <a:pt x="513842" y="256794"/>
                  </a:lnTo>
                  <a:lnTo>
                    <a:pt x="504570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588" y="35051"/>
                  </a:lnTo>
                  <a:lnTo>
                    <a:pt x="325119" y="9144"/>
                  </a:lnTo>
                  <a:lnTo>
                    <a:pt x="256920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72386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513842" y="256794"/>
                  </a:moveTo>
                  <a:lnTo>
                    <a:pt x="504570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588" y="35051"/>
                  </a:lnTo>
                  <a:lnTo>
                    <a:pt x="325119" y="9144"/>
                  </a:lnTo>
                  <a:lnTo>
                    <a:pt x="256920" y="0"/>
                  </a:lnTo>
                  <a:lnTo>
                    <a:pt x="188594" y="9144"/>
                  </a:lnTo>
                  <a:lnTo>
                    <a:pt x="127254" y="35051"/>
                  </a:lnTo>
                  <a:lnTo>
                    <a:pt x="75183" y="75184"/>
                  </a:lnTo>
                  <a:lnTo>
                    <a:pt x="35051" y="127126"/>
                  </a:lnTo>
                  <a:lnTo>
                    <a:pt x="9143" y="188595"/>
                  </a:lnTo>
                  <a:lnTo>
                    <a:pt x="0" y="256794"/>
                  </a:lnTo>
                  <a:lnTo>
                    <a:pt x="9143" y="325120"/>
                  </a:lnTo>
                  <a:lnTo>
                    <a:pt x="35051" y="386588"/>
                  </a:lnTo>
                  <a:lnTo>
                    <a:pt x="75183" y="438531"/>
                  </a:lnTo>
                  <a:lnTo>
                    <a:pt x="127254" y="478663"/>
                  </a:lnTo>
                  <a:lnTo>
                    <a:pt x="188594" y="504571"/>
                  </a:lnTo>
                  <a:lnTo>
                    <a:pt x="256920" y="513714"/>
                  </a:lnTo>
                  <a:lnTo>
                    <a:pt x="325119" y="504571"/>
                  </a:lnTo>
                  <a:lnTo>
                    <a:pt x="386588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0" y="325120"/>
                  </a:lnTo>
                  <a:lnTo>
                    <a:pt x="513842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600071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256921" y="0"/>
                  </a:moveTo>
                  <a:lnTo>
                    <a:pt x="188595" y="9144"/>
                  </a:lnTo>
                  <a:lnTo>
                    <a:pt x="127254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3" y="188595"/>
                  </a:lnTo>
                  <a:lnTo>
                    <a:pt x="0" y="256794"/>
                  </a:lnTo>
                  <a:lnTo>
                    <a:pt x="9143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254" y="478663"/>
                  </a:lnTo>
                  <a:lnTo>
                    <a:pt x="188595" y="504571"/>
                  </a:lnTo>
                  <a:lnTo>
                    <a:pt x="256921" y="513714"/>
                  </a:lnTo>
                  <a:lnTo>
                    <a:pt x="325120" y="504571"/>
                  </a:lnTo>
                  <a:lnTo>
                    <a:pt x="386588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842" y="256794"/>
                  </a:ln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588" y="35051"/>
                  </a:lnTo>
                  <a:lnTo>
                    <a:pt x="325120" y="9144"/>
                  </a:lnTo>
                  <a:lnTo>
                    <a:pt x="256921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600071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513842" y="256794"/>
                  </a:move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588" y="35051"/>
                  </a:lnTo>
                  <a:lnTo>
                    <a:pt x="325120" y="9144"/>
                  </a:lnTo>
                  <a:lnTo>
                    <a:pt x="256921" y="0"/>
                  </a:lnTo>
                  <a:lnTo>
                    <a:pt x="188595" y="9144"/>
                  </a:lnTo>
                  <a:lnTo>
                    <a:pt x="127254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3" y="188595"/>
                  </a:lnTo>
                  <a:lnTo>
                    <a:pt x="0" y="256794"/>
                  </a:lnTo>
                  <a:lnTo>
                    <a:pt x="9143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254" y="478663"/>
                  </a:lnTo>
                  <a:lnTo>
                    <a:pt x="188595" y="504571"/>
                  </a:lnTo>
                  <a:lnTo>
                    <a:pt x="256921" y="513714"/>
                  </a:lnTo>
                  <a:lnTo>
                    <a:pt x="325120" y="504571"/>
                  </a:lnTo>
                  <a:lnTo>
                    <a:pt x="386588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842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627755" y="3013963"/>
              <a:ext cx="513715" cy="513715"/>
            </a:xfrm>
            <a:custGeom>
              <a:avLst/>
              <a:gdLst/>
              <a:ahLst/>
              <a:cxnLst/>
              <a:rect l="l" t="t" r="r" b="b"/>
              <a:pathLst>
                <a:path w="513714" h="513714">
                  <a:moveTo>
                    <a:pt x="256794" y="0"/>
                  </a:moveTo>
                  <a:lnTo>
                    <a:pt x="188595" y="9144"/>
                  </a:lnTo>
                  <a:lnTo>
                    <a:pt x="127127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4" y="188595"/>
                  </a:lnTo>
                  <a:lnTo>
                    <a:pt x="0" y="256794"/>
                  </a:lnTo>
                  <a:lnTo>
                    <a:pt x="9144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127" y="478663"/>
                  </a:lnTo>
                  <a:lnTo>
                    <a:pt x="188595" y="504571"/>
                  </a:lnTo>
                  <a:lnTo>
                    <a:pt x="256794" y="513714"/>
                  </a:lnTo>
                  <a:lnTo>
                    <a:pt x="325120" y="504571"/>
                  </a:lnTo>
                  <a:lnTo>
                    <a:pt x="386461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715" y="256794"/>
                  </a:ln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461" y="35051"/>
                  </a:lnTo>
                  <a:lnTo>
                    <a:pt x="325120" y="9144"/>
                  </a:lnTo>
                  <a:lnTo>
                    <a:pt x="256794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627755" y="3013963"/>
              <a:ext cx="513715" cy="513715"/>
            </a:xfrm>
            <a:custGeom>
              <a:avLst/>
              <a:gdLst/>
              <a:ahLst/>
              <a:cxnLst/>
              <a:rect l="l" t="t" r="r" b="b"/>
              <a:pathLst>
                <a:path w="513714" h="513714">
                  <a:moveTo>
                    <a:pt x="513715" y="256794"/>
                  </a:move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461" y="35051"/>
                  </a:lnTo>
                  <a:lnTo>
                    <a:pt x="325120" y="9144"/>
                  </a:lnTo>
                  <a:lnTo>
                    <a:pt x="256794" y="0"/>
                  </a:lnTo>
                  <a:lnTo>
                    <a:pt x="188595" y="9144"/>
                  </a:lnTo>
                  <a:lnTo>
                    <a:pt x="127127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4" y="188595"/>
                  </a:lnTo>
                  <a:lnTo>
                    <a:pt x="0" y="256794"/>
                  </a:lnTo>
                  <a:lnTo>
                    <a:pt x="9144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127" y="478663"/>
                  </a:lnTo>
                  <a:lnTo>
                    <a:pt x="188595" y="504571"/>
                  </a:lnTo>
                  <a:lnTo>
                    <a:pt x="256794" y="513714"/>
                  </a:lnTo>
                  <a:lnTo>
                    <a:pt x="325120" y="504571"/>
                  </a:lnTo>
                  <a:lnTo>
                    <a:pt x="386461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715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63549" y="2723515"/>
            <a:ext cx="262255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500" i="1" spc="35" dirty="0">
                <a:solidFill>
                  <a:srgbClr val="213739"/>
                </a:solidFill>
                <a:latin typeface="Calibri"/>
                <a:cs typeface="Calibri"/>
              </a:rPr>
              <a:t>h</a:t>
            </a:r>
            <a:r>
              <a:rPr sz="1650" spc="52" baseline="-12626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650" baseline="-12626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747770" y="2723515"/>
            <a:ext cx="252095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h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4</a:t>
            </a:r>
            <a:endParaRPr sz="1650" baseline="-10101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33527" y="3638803"/>
            <a:ext cx="748030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i="1" dirty="0">
                <a:solidFill>
                  <a:srgbClr val="213739"/>
                </a:solidFill>
                <a:latin typeface="Calibri"/>
                <a:cs typeface="Calibri"/>
              </a:rPr>
              <a:t>bias</a:t>
            </a:r>
            <a:r>
              <a:rPr sz="1500" i="1" spc="33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500" spc="-13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13739"/>
                </a:solidFill>
                <a:latin typeface="Arial MT"/>
                <a:cs typeface="Arial MT"/>
              </a:rPr>
              <a:t>-</a:t>
            </a:r>
            <a:r>
              <a:rPr sz="1500" spc="-2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00" spc="-50" dirty="0">
                <a:solidFill>
                  <a:srgbClr val="213739"/>
                </a:solidFill>
                <a:latin typeface="Arial MT"/>
                <a:cs typeface="Arial MT"/>
              </a:rPr>
              <a:t>2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278507" y="1536572"/>
            <a:ext cx="111760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i="1" spc="-50" dirty="0">
                <a:solidFill>
                  <a:srgbClr val="213739"/>
                </a:solidFill>
                <a:latin typeface="Calibri"/>
                <a:cs typeface="Calibri"/>
              </a:rPr>
              <a:t>y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64336" y="2568955"/>
            <a:ext cx="280670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650" baseline="-10101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679194" y="2532379"/>
            <a:ext cx="1408430" cy="4464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39065">
              <a:lnSpc>
                <a:spcPts val="1650"/>
              </a:lnSpc>
              <a:spcBef>
                <a:spcPts val="110"/>
              </a:spcBef>
              <a:tabLst>
                <a:tab pos="652145" algn="l"/>
                <a:tab pos="1139825" algn="l"/>
              </a:tabLst>
            </a:pP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650" baseline="-1010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r>
              <a:rPr sz="1650" baseline="-1010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4</a:t>
            </a:r>
            <a:endParaRPr sz="1650" baseline="-10101">
              <a:latin typeface="Calibri"/>
              <a:cs typeface="Calibri"/>
            </a:endParaRPr>
          </a:p>
          <a:p>
            <a:pPr marL="50800">
              <a:lnSpc>
                <a:spcPts val="1650"/>
              </a:lnSpc>
              <a:tabLst>
                <a:tab pos="1077595" algn="l"/>
              </a:tabLst>
            </a:pP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h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650" baseline="-1010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h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650" baseline="-10101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994460" y="1862084"/>
            <a:ext cx="2713990" cy="2357120"/>
            <a:chOff x="994460" y="1862084"/>
            <a:chExt cx="2713990" cy="2357120"/>
          </a:xfrm>
        </p:grpSpPr>
        <p:sp>
          <p:nvSpPr>
            <p:cNvPr id="20" name="object 20"/>
            <p:cNvSpPr/>
            <p:nvPr/>
          </p:nvSpPr>
          <p:spPr>
            <a:xfrm>
              <a:off x="1016139" y="3485388"/>
              <a:ext cx="686435" cy="686435"/>
            </a:xfrm>
            <a:custGeom>
              <a:avLst/>
              <a:gdLst/>
              <a:ahLst/>
              <a:cxnLst/>
              <a:rect l="l" t="t" r="r" b="b"/>
              <a:pathLst>
                <a:path w="686435" h="686435">
                  <a:moveTo>
                    <a:pt x="686295" y="686181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4460" y="3463657"/>
              <a:ext cx="104659" cy="104661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072959" y="3406521"/>
              <a:ext cx="1615440" cy="807720"/>
            </a:xfrm>
            <a:custGeom>
              <a:avLst/>
              <a:gdLst/>
              <a:ahLst/>
              <a:cxnLst/>
              <a:rect l="l" t="t" r="r" b="b"/>
              <a:pathLst>
                <a:path w="1615439" h="807720">
                  <a:moveTo>
                    <a:pt x="1615122" y="807592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60723" y="3364757"/>
              <a:ext cx="84085" cy="122262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766570" y="3546729"/>
              <a:ext cx="125730" cy="624840"/>
            </a:xfrm>
            <a:custGeom>
              <a:avLst/>
              <a:gdLst/>
              <a:ahLst/>
              <a:cxnLst/>
              <a:rect l="l" t="t" r="r" b="b"/>
              <a:pathLst>
                <a:path w="125730" h="624839">
                  <a:moveTo>
                    <a:pt x="62737" y="624840"/>
                  </a:moveTo>
                  <a:lnTo>
                    <a:pt x="62737" y="8000"/>
                  </a:lnTo>
                </a:path>
                <a:path w="125730" h="624839">
                  <a:moveTo>
                    <a:pt x="0" y="51435"/>
                  </a:moveTo>
                  <a:lnTo>
                    <a:pt x="24637" y="42418"/>
                  </a:lnTo>
                  <a:lnTo>
                    <a:pt x="42672" y="30099"/>
                  </a:lnTo>
                  <a:lnTo>
                    <a:pt x="55118" y="15621"/>
                  </a:lnTo>
                  <a:lnTo>
                    <a:pt x="62737" y="0"/>
                  </a:lnTo>
                  <a:lnTo>
                    <a:pt x="70231" y="15621"/>
                  </a:lnTo>
                  <a:lnTo>
                    <a:pt x="82677" y="30099"/>
                  </a:lnTo>
                  <a:lnTo>
                    <a:pt x="100711" y="42418"/>
                  </a:lnTo>
                  <a:lnTo>
                    <a:pt x="125349" y="51435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030094" y="3471672"/>
              <a:ext cx="700405" cy="700405"/>
            </a:xfrm>
            <a:custGeom>
              <a:avLst/>
              <a:gdLst/>
              <a:ahLst/>
              <a:cxnLst/>
              <a:rect l="l" t="t" r="r" b="b"/>
              <a:pathLst>
                <a:path w="700405" h="700404">
                  <a:moveTo>
                    <a:pt x="700024" y="699896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08377" y="3449924"/>
              <a:ext cx="105171" cy="105186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1956054" y="3471672"/>
              <a:ext cx="700405" cy="700405"/>
            </a:xfrm>
            <a:custGeom>
              <a:avLst/>
              <a:gdLst/>
              <a:ahLst/>
              <a:cxnLst/>
              <a:rect l="l" t="t" r="r" b="b"/>
              <a:pathLst>
                <a:path w="700405" h="700404">
                  <a:moveTo>
                    <a:pt x="0" y="699896"/>
                  </a:moveTo>
                  <a:lnTo>
                    <a:pt x="700023" y="0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72766" y="3449924"/>
              <a:ext cx="105171" cy="105186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2794254" y="3546729"/>
              <a:ext cx="125730" cy="624840"/>
            </a:xfrm>
            <a:custGeom>
              <a:avLst/>
              <a:gdLst/>
              <a:ahLst/>
              <a:cxnLst/>
              <a:rect l="l" t="t" r="r" b="b"/>
              <a:pathLst>
                <a:path w="125730" h="624839">
                  <a:moveTo>
                    <a:pt x="62737" y="624840"/>
                  </a:moveTo>
                  <a:lnTo>
                    <a:pt x="62737" y="8000"/>
                  </a:lnTo>
                </a:path>
                <a:path w="125730" h="624839">
                  <a:moveTo>
                    <a:pt x="0" y="51435"/>
                  </a:moveTo>
                  <a:lnTo>
                    <a:pt x="24637" y="42418"/>
                  </a:lnTo>
                  <a:lnTo>
                    <a:pt x="42671" y="30099"/>
                  </a:lnTo>
                  <a:lnTo>
                    <a:pt x="55118" y="15621"/>
                  </a:lnTo>
                  <a:lnTo>
                    <a:pt x="62737" y="0"/>
                  </a:lnTo>
                  <a:lnTo>
                    <a:pt x="70231" y="15621"/>
                  </a:lnTo>
                  <a:lnTo>
                    <a:pt x="82676" y="30099"/>
                  </a:lnTo>
                  <a:lnTo>
                    <a:pt x="100710" y="42418"/>
                  </a:lnTo>
                  <a:lnTo>
                    <a:pt x="125348" y="51435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998218" y="3396107"/>
              <a:ext cx="1635760" cy="818515"/>
            </a:xfrm>
            <a:custGeom>
              <a:avLst/>
              <a:gdLst/>
              <a:ahLst/>
              <a:cxnLst/>
              <a:rect l="l" t="t" r="r" b="b"/>
              <a:pathLst>
                <a:path w="1635760" h="818514">
                  <a:moveTo>
                    <a:pt x="0" y="818006"/>
                  </a:moveTo>
                  <a:lnTo>
                    <a:pt x="1635759" y="0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62114" y="3354470"/>
              <a:ext cx="84163" cy="122136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2983864" y="3469005"/>
              <a:ext cx="702945" cy="702945"/>
            </a:xfrm>
            <a:custGeom>
              <a:avLst/>
              <a:gdLst/>
              <a:ahLst/>
              <a:cxnLst/>
              <a:rect l="l" t="t" r="r" b="b"/>
              <a:pathLst>
                <a:path w="702945" h="702945">
                  <a:moveTo>
                    <a:pt x="0" y="702564"/>
                  </a:moveTo>
                  <a:lnTo>
                    <a:pt x="702563" y="0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603498" y="3447274"/>
              <a:ext cx="104659" cy="104661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1041425" y="2308860"/>
              <a:ext cx="1203325" cy="802640"/>
            </a:xfrm>
            <a:custGeom>
              <a:avLst/>
              <a:gdLst/>
              <a:ahLst/>
              <a:cxnLst/>
              <a:rect l="l" t="t" r="r" b="b"/>
              <a:pathLst>
                <a:path w="1203325" h="802639">
                  <a:moveTo>
                    <a:pt x="0" y="802131"/>
                  </a:moveTo>
                  <a:lnTo>
                    <a:pt x="1203172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83766" y="2287145"/>
              <a:ext cx="66671" cy="85467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1949577" y="2348738"/>
              <a:ext cx="340995" cy="681990"/>
            </a:xfrm>
            <a:custGeom>
              <a:avLst/>
              <a:gdLst/>
              <a:ahLst/>
              <a:cxnLst/>
              <a:rect l="l" t="t" r="r" b="b"/>
              <a:pathLst>
                <a:path w="340994" h="681989">
                  <a:moveTo>
                    <a:pt x="0" y="681482"/>
                  </a:moveTo>
                  <a:lnTo>
                    <a:pt x="340741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227579" y="2342641"/>
              <a:ext cx="91568" cy="64136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2395855" y="2348738"/>
              <a:ext cx="340995" cy="681990"/>
            </a:xfrm>
            <a:custGeom>
              <a:avLst/>
              <a:gdLst/>
              <a:ahLst/>
              <a:cxnLst/>
              <a:rect l="l" t="t" r="r" b="b"/>
              <a:pathLst>
                <a:path w="340994" h="681989">
                  <a:moveTo>
                    <a:pt x="340868" y="681482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67025" y="2342641"/>
              <a:ext cx="91568" cy="64136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2441575" y="2308860"/>
              <a:ext cx="1223010" cy="815340"/>
            </a:xfrm>
            <a:custGeom>
              <a:avLst/>
              <a:gdLst/>
              <a:ahLst/>
              <a:cxnLst/>
              <a:rect l="l" t="t" r="r" b="b"/>
              <a:pathLst>
                <a:path w="1223010" h="815339">
                  <a:moveTo>
                    <a:pt x="1222628" y="814959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435734" y="2287145"/>
              <a:ext cx="66671" cy="85467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2294890" y="1864614"/>
              <a:ext cx="96520" cy="268605"/>
            </a:xfrm>
            <a:custGeom>
              <a:avLst/>
              <a:gdLst/>
              <a:ahLst/>
              <a:cxnLst/>
              <a:rect l="l" t="t" r="r" b="b"/>
              <a:pathLst>
                <a:path w="96519" h="268605">
                  <a:moveTo>
                    <a:pt x="48260" y="268605"/>
                  </a:moveTo>
                  <a:lnTo>
                    <a:pt x="48260" y="4063"/>
                  </a:lnTo>
                </a:path>
                <a:path w="96519" h="268605">
                  <a:moveTo>
                    <a:pt x="0" y="41783"/>
                  </a:moveTo>
                  <a:lnTo>
                    <a:pt x="18923" y="34416"/>
                  </a:lnTo>
                  <a:lnTo>
                    <a:pt x="32893" y="24511"/>
                  </a:lnTo>
                  <a:lnTo>
                    <a:pt x="42418" y="12700"/>
                  </a:lnTo>
                  <a:lnTo>
                    <a:pt x="48260" y="0"/>
                  </a:lnTo>
                  <a:lnTo>
                    <a:pt x="54102" y="12700"/>
                  </a:lnTo>
                  <a:lnTo>
                    <a:pt x="63627" y="24511"/>
                  </a:lnTo>
                  <a:lnTo>
                    <a:pt x="77470" y="34416"/>
                  </a:lnTo>
                  <a:lnTo>
                    <a:pt x="96393" y="41783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343204" y="3999632"/>
            <a:ext cx="2451100" cy="1073785"/>
          </a:xfrm>
          <a:prstGeom prst="rect">
            <a:avLst/>
          </a:prstGeom>
        </p:spPr>
        <p:txBody>
          <a:bodyPr vert="horz" wrap="square" lIns="0" tIns="125095" rIns="0" bIns="0" rtlCol="0">
            <a:spAutoFit/>
          </a:bodyPr>
          <a:lstStyle/>
          <a:p>
            <a:pPr marL="496570" algn="ctr">
              <a:lnSpc>
                <a:spcPct val="100000"/>
              </a:lnSpc>
              <a:spcBef>
                <a:spcPts val="985"/>
              </a:spcBef>
            </a:pPr>
            <a:r>
              <a:rPr sz="1500" i="1" spc="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650" spc="37" baseline="-10101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650" baseline="-10101">
              <a:latin typeface="Calibri"/>
              <a:cs typeface="Calibri"/>
            </a:endParaRPr>
          </a:p>
          <a:p>
            <a:pPr marL="38100" marR="30480">
              <a:lnSpc>
                <a:spcPct val="117700"/>
              </a:lnSpc>
              <a:spcBef>
                <a:spcPts val="625"/>
              </a:spcBef>
            </a:pP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red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edge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indicates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i="1" spc="10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=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-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1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blue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edge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indicates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i="1" spc="12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=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+1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44" name="object 44" descr="$PPTXTitle"/>
          <p:cNvSpPr txBox="1">
            <a:spLocks noGrp="1"/>
          </p:cNvSpPr>
          <p:nvPr>
            <p:ph type="title"/>
          </p:nvPr>
        </p:nvSpPr>
        <p:spPr>
          <a:xfrm>
            <a:off x="4781803" y="924305"/>
            <a:ext cx="400748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spc="-16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claim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that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this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network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65" dirty="0">
                <a:solidFill>
                  <a:srgbClr val="213739"/>
                </a:solidFill>
                <a:latin typeface="Arial MT"/>
                <a:cs typeface="Arial MT"/>
              </a:rPr>
              <a:t>can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75" dirty="0">
                <a:solidFill>
                  <a:srgbClr val="213739"/>
                </a:solidFill>
                <a:latin typeface="Arial MT"/>
                <a:cs typeface="Arial MT"/>
              </a:rPr>
              <a:t>be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70" dirty="0">
                <a:solidFill>
                  <a:srgbClr val="213739"/>
                </a:solidFill>
                <a:latin typeface="Arial MT"/>
                <a:cs typeface="Arial MT"/>
              </a:rPr>
              <a:t>used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to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im-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784852" y="1238249"/>
            <a:ext cx="401066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32815" algn="l"/>
                <a:tab pos="1487805" algn="l"/>
                <a:tab pos="2374900" algn="l"/>
                <a:tab pos="3312160" algn="l"/>
              </a:tabLst>
            </a:pP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plement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	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any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	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boolean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	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function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	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(linearly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756403" y="1414779"/>
            <a:ext cx="4078604" cy="1152525"/>
          </a:xfrm>
          <a:prstGeom prst="rect">
            <a:avLst/>
          </a:prstGeom>
        </p:spPr>
        <p:txBody>
          <a:bodyPr vert="horz" wrap="square" lIns="0" tIns="148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70"/>
              </a:spcBef>
            </a:pP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separable</a:t>
            </a:r>
            <a:r>
              <a:rPr sz="1750" spc="-1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or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not)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!</a:t>
            </a:r>
            <a:endParaRPr sz="175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1070"/>
              </a:spcBef>
            </a:pP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In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other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words,</a:t>
            </a:r>
            <a:r>
              <a:rPr sz="1750" spc="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can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find</a:t>
            </a:r>
            <a:r>
              <a:rPr sz="1750" spc="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spc="-15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-11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spc="-15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-11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spc="-15" baseline="-8888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-11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4</a:t>
            </a:r>
            <a:endParaRPr sz="1875" baseline="-8888">
              <a:latin typeface="Calibri"/>
              <a:cs typeface="Calibri"/>
            </a:endParaRPr>
          </a:p>
          <a:p>
            <a:pPr marL="40640">
              <a:lnSpc>
                <a:spcPct val="100000"/>
              </a:lnSpc>
              <a:spcBef>
                <a:spcPts val="434"/>
              </a:spcBef>
            </a:pP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such</a:t>
            </a:r>
            <a:r>
              <a:rPr sz="1750" spc="-229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that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truth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table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any</a:t>
            </a:r>
            <a:r>
              <a:rPr sz="1750" spc="-2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boolean</a:t>
            </a:r>
            <a:r>
              <a:rPr sz="1750" spc="-2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func-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781169" y="2497962"/>
            <a:ext cx="3977004" cy="103759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 marR="5080" indent="4445">
              <a:lnSpc>
                <a:spcPct val="124300"/>
              </a:lnSpc>
              <a:spcBef>
                <a:spcPts val="240"/>
              </a:spcBef>
            </a:pP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tion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can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be</a:t>
            </a:r>
            <a:r>
              <a:rPr sz="1750" spc="-1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represented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by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this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network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Astonishing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claim!</a:t>
            </a:r>
            <a:r>
              <a:rPr sz="1750" spc="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Well,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not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really,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if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you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un-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derstand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what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is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going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on</a:t>
            </a:r>
            <a:endParaRPr sz="175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32279" y="2132355"/>
            <a:ext cx="221589" cy="22158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720339" y="4110608"/>
            <a:ext cx="244475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500" i="1" spc="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650" spc="37" baseline="-10101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650" baseline="-10101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39597" y="3008883"/>
            <a:ext cx="3607435" cy="523875"/>
            <a:chOff x="539597" y="3008883"/>
            <a:chExt cx="3607435" cy="523875"/>
          </a:xfrm>
        </p:grpSpPr>
        <p:sp>
          <p:nvSpPr>
            <p:cNvPr id="5" name="object 5"/>
            <p:cNvSpPr/>
            <p:nvPr/>
          </p:nvSpPr>
          <p:spPr>
            <a:xfrm>
              <a:off x="544677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256921" y="0"/>
                  </a:moveTo>
                  <a:lnTo>
                    <a:pt x="188620" y="9144"/>
                  </a:lnTo>
                  <a:lnTo>
                    <a:pt x="127241" y="35051"/>
                  </a:lnTo>
                  <a:lnTo>
                    <a:pt x="75247" y="75184"/>
                  </a:lnTo>
                  <a:lnTo>
                    <a:pt x="35077" y="127126"/>
                  </a:lnTo>
                  <a:lnTo>
                    <a:pt x="9182" y="188595"/>
                  </a:lnTo>
                  <a:lnTo>
                    <a:pt x="0" y="256794"/>
                  </a:lnTo>
                  <a:lnTo>
                    <a:pt x="9182" y="325120"/>
                  </a:lnTo>
                  <a:lnTo>
                    <a:pt x="35077" y="386588"/>
                  </a:lnTo>
                  <a:lnTo>
                    <a:pt x="75247" y="438531"/>
                  </a:lnTo>
                  <a:lnTo>
                    <a:pt x="127241" y="478663"/>
                  </a:lnTo>
                  <a:lnTo>
                    <a:pt x="188620" y="504571"/>
                  </a:lnTo>
                  <a:lnTo>
                    <a:pt x="256921" y="513714"/>
                  </a:lnTo>
                  <a:lnTo>
                    <a:pt x="325221" y="504571"/>
                  </a:lnTo>
                  <a:lnTo>
                    <a:pt x="386588" y="478663"/>
                  </a:lnTo>
                  <a:lnTo>
                    <a:pt x="438581" y="438531"/>
                  </a:lnTo>
                  <a:lnTo>
                    <a:pt x="478764" y="386588"/>
                  </a:lnTo>
                  <a:lnTo>
                    <a:pt x="504659" y="325120"/>
                  </a:lnTo>
                  <a:lnTo>
                    <a:pt x="513842" y="256794"/>
                  </a:lnTo>
                  <a:lnTo>
                    <a:pt x="504659" y="188595"/>
                  </a:lnTo>
                  <a:lnTo>
                    <a:pt x="478764" y="127126"/>
                  </a:lnTo>
                  <a:lnTo>
                    <a:pt x="438581" y="75184"/>
                  </a:lnTo>
                  <a:lnTo>
                    <a:pt x="386588" y="35051"/>
                  </a:lnTo>
                  <a:lnTo>
                    <a:pt x="325221" y="9144"/>
                  </a:lnTo>
                  <a:lnTo>
                    <a:pt x="256921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44677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513842" y="256794"/>
                  </a:moveTo>
                  <a:lnTo>
                    <a:pt x="504659" y="188595"/>
                  </a:lnTo>
                  <a:lnTo>
                    <a:pt x="478764" y="127126"/>
                  </a:lnTo>
                  <a:lnTo>
                    <a:pt x="438581" y="75184"/>
                  </a:lnTo>
                  <a:lnTo>
                    <a:pt x="386588" y="35051"/>
                  </a:lnTo>
                  <a:lnTo>
                    <a:pt x="325221" y="9144"/>
                  </a:lnTo>
                  <a:lnTo>
                    <a:pt x="256921" y="0"/>
                  </a:lnTo>
                  <a:lnTo>
                    <a:pt x="188620" y="9144"/>
                  </a:lnTo>
                  <a:lnTo>
                    <a:pt x="127241" y="35051"/>
                  </a:lnTo>
                  <a:lnTo>
                    <a:pt x="75247" y="75184"/>
                  </a:lnTo>
                  <a:lnTo>
                    <a:pt x="35077" y="127126"/>
                  </a:lnTo>
                  <a:lnTo>
                    <a:pt x="9182" y="188595"/>
                  </a:lnTo>
                  <a:lnTo>
                    <a:pt x="0" y="256794"/>
                  </a:lnTo>
                  <a:lnTo>
                    <a:pt x="9182" y="325120"/>
                  </a:lnTo>
                  <a:lnTo>
                    <a:pt x="35077" y="386588"/>
                  </a:lnTo>
                  <a:lnTo>
                    <a:pt x="75247" y="438531"/>
                  </a:lnTo>
                  <a:lnTo>
                    <a:pt x="127241" y="478663"/>
                  </a:lnTo>
                  <a:lnTo>
                    <a:pt x="188620" y="504571"/>
                  </a:lnTo>
                  <a:lnTo>
                    <a:pt x="256921" y="513714"/>
                  </a:lnTo>
                  <a:lnTo>
                    <a:pt x="325221" y="504571"/>
                  </a:lnTo>
                  <a:lnTo>
                    <a:pt x="386588" y="478663"/>
                  </a:lnTo>
                  <a:lnTo>
                    <a:pt x="438581" y="438531"/>
                  </a:lnTo>
                  <a:lnTo>
                    <a:pt x="478764" y="386588"/>
                  </a:lnTo>
                  <a:lnTo>
                    <a:pt x="504659" y="325120"/>
                  </a:lnTo>
                  <a:lnTo>
                    <a:pt x="513842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72386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256920" y="0"/>
                  </a:moveTo>
                  <a:lnTo>
                    <a:pt x="188594" y="9144"/>
                  </a:lnTo>
                  <a:lnTo>
                    <a:pt x="127254" y="35051"/>
                  </a:lnTo>
                  <a:lnTo>
                    <a:pt x="75183" y="75184"/>
                  </a:lnTo>
                  <a:lnTo>
                    <a:pt x="35051" y="127126"/>
                  </a:lnTo>
                  <a:lnTo>
                    <a:pt x="9143" y="188595"/>
                  </a:lnTo>
                  <a:lnTo>
                    <a:pt x="0" y="256794"/>
                  </a:lnTo>
                  <a:lnTo>
                    <a:pt x="9143" y="325120"/>
                  </a:lnTo>
                  <a:lnTo>
                    <a:pt x="35051" y="386588"/>
                  </a:lnTo>
                  <a:lnTo>
                    <a:pt x="75183" y="438531"/>
                  </a:lnTo>
                  <a:lnTo>
                    <a:pt x="127254" y="478663"/>
                  </a:lnTo>
                  <a:lnTo>
                    <a:pt x="188594" y="504571"/>
                  </a:lnTo>
                  <a:lnTo>
                    <a:pt x="256920" y="513714"/>
                  </a:lnTo>
                  <a:lnTo>
                    <a:pt x="325119" y="504571"/>
                  </a:lnTo>
                  <a:lnTo>
                    <a:pt x="386588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0" y="325120"/>
                  </a:lnTo>
                  <a:lnTo>
                    <a:pt x="513842" y="256794"/>
                  </a:lnTo>
                  <a:lnTo>
                    <a:pt x="504570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588" y="35051"/>
                  </a:lnTo>
                  <a:lnTo>
                    <a:pt x="325119" y="9144"/>
                  </a:lnTo>
                  <a:lnTo>
                    <a:pt x="256920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72386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513842" y="256794"/>
                  </a:moveTo>
                  <a:lnTo>
                    <a:pt x="504570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588" y="35051"/>
                  </a:lnTo>
                  <a:lnTo>
                    <a:pt x="325119" y="9144"/>
                  </a:lnTo>
                  <a:lnTo>
                    <a:pt x="256920" y="0"/>
                  </a:lnTo>
                  <a:lnTo>
                    <a:pt x="188594" y="9144"/>
                  </a:lnTo>
                  <a:lnTo>
                    <a:pt x="127254" y="35051"/>
                  </a:lnTo>
                  <a:lnTo>
                    <a:pt x="75183" y="75184"/>
                  </a:lnTo>
                  <a:lnTo>
                    <a:pt x="35051" y="127126"/>
                  </a:lnTo>
                  <a:lnTo>
                    <a:pt x="9143" y="188595"/>
                  </a:lnTo>
                  <a:lnTo>
                    <a:pt x="0" y="256794"/>
                  </a:lnTo>
                  <a:lnTo>
                    <a:pt x="9143" y="325120"/>
                  </a:lnTo>
                  <a:lnTo>
                    <a:pt x="35051" y="386588"/>
                  </a:lnTo>
                  <a:lnTo>
                    <a:pt x="75183" y="438531"/>
                  </a:lnTo>
                  <a:lnTo>
                    <a:pt x="127254" y="478663"/>
                  </a:lnTo>
                  <a:lnTo>
                    <a:pt x="188594" y="504571"/>
                  </a:lnTo>
                  <a:lnTo>
                    <a:pt x="256920" y="513714"/>
                  </a:lnTo>
                  <a:lnTo>
                    <a:pt x="325119" y="504571"/>
                  </a:lnTo>
                  <a:lnTo>
                    <a:pt x="386588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0" y="325120"/>
                  </a:lnTo>
                  <a:lnTo>
                    <a:pt x="513842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600071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256921" y="0"/>
                  </a:moveTo>
                  <a:lnTo>
                    <a:pt x="188595" y="9144"/>
                  </a:lnTo>
                  <a:lnTo>
                    <a:pt x="127254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3" y="188595"/>
                  </a:lnTo>
                  <a:lnTo>
                    <a:pt x="0" y="256794"/>
                  </a:lnTo>
                  <a:lnTo>
                    <a:pt x="9143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254" y="478663"/>
                  </a:lnTo>
                  <a:lnTo>
                    <a:pt x="188595" y="504571"/>
                  </a:lnTo>
                  <a:lnTo>
                    <a:pt x="256921" y="513714"/>
                  </a:lnTo>
                  <a:lnTo>
                    <a:pt x="325120" y="504571"/>
                  </a:lnTo>
                  <a:lnTo>
                    <a:pt x="386588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842" y="256794"/>
                  </a:ln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588" y="35051"/>
                  </a:lnTo>
                  <a:lnTo>
                    <a:pt x="325120" y="9144"/>
                  </a:lnTo>
                  <a:lnTo>
                    <a:pt x="256921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600071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513842" y="256794"/>
                  </a:move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588" y="35051"/>
                  </a:lnTo>
                  <a:lnTo>
                    <a:pt x="325120" y="9144"/>
                  </a:lnTo>
                  <a:lnTo>
                    <a:pt x="256921" y="0"/>
                  </a:lnTo>
                  <a:lnTo>
                    <a:pt x="188595" y="9144"/>
                  </a:lnTo>
                  <a:lnTo>
                    <a:pt x="127254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3" y="188595"/>
                  </a:lnTo>
                  <a:lnTo>
                    <a:pt x="0" y="256794"/>
                  </a:lnTo>
                  <a:lnTo>
                    <a:pt x="9143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254" y="478663"/>
                  </a:lnTo>
                  <a:lnTo>
                    <a:pt x="188595" y="504571"/>
                  </a:lnTo>
                  <a:lnTo>
                    <a:pt x="256921" y="513714"/>
                  </a:lnTo>
                  <a:lnTo>
                    <a:pt x="325120" y="504571"/>
                  </a:lnTo>
                  <a:lnTo>
                    <a:pt x="386588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842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627755" y="3013963"/>
              <a:ext cx="513715" cy="513715"/>
            </a:xfrm>
            <a:custGeom>
              <a:avLst/>
              <a:gdLst/>
              <a:ahLst/>
              <a:cxnLst/>
              <a:rect l="l" t="t" r="r" b="b"/>
              <a:pathLst>
                <a:path w="513714" h="513714">
                  <a:moveTo>
                    <a:pt x="256794" y="0"/>
                  </a:moveTo>
                  <a:lnTo>
                    <a:pt x="188595" y="9144"/>
                  </a:lnTo>
                  <a:lnTo>
                    <a:pt x="127127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4" y="188595"/>
                  </a:lnTo>
                  <a:lnTo>
                    <a:pt x="0" y="256794"/>
                  </a:lnTo>
                  <a:lnTo>
                    <a:pt x="9144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127" y="478663"/>
                  </a:lnTo>
                  <a:lnTo>
                    <a:pt x="188595" y="504571"/>
                  </a:lnTo>
                  <a:lnTo>
                    <a:pt x="256794" y="513714"/>
                  </a:lnTo>
                  <a:lnTo>
                    <a:pt x="325120" y="504571"/>
                  </a:lnTo>
                  <a:lnTo>
                    <a:pt x="386461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715" y="256794"/>
                  </a:ln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461" y="35051"/>
                  </a:lnTo>
                  <a:lnTo>
                    <a:pt x="325120" y="9144"/>
                  </a:lnTo>
                  <a:lnTo>
                    <a:pt x="256794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627755" y="3013963"/>
              <a:ext cx="513715" cy="513715"/>
            </a:xfrm>
            <a:custGeom>
              <a:avLst/>
              <a:gdLst/>
              <a:ahLst/>
              <a:cxnLst/>
              <a:rect l="l" t="t" r="r" b="b"/>
              <a:pathLst>
                <a:path w="513714" h="513714">
                  <a:moveTo>
                    <a:pt x="513715" y="256794"/>
                  </a:move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461" y="35051"/>
                  </a:lnTo>
                  <a:lnTo>
                    <a:pt x="325120" y="9144"/>
                  </a:lnTo>
                  <a:lnTo>
                    <a:pt x="256794" y="0"/>
                  </a:lnTo>
                  <a:lnTo>
                    <a:pt x="188595" y="9144"/>
                  </a:lnTo>
                  <a:lnTo>
                    <a:pt x="127127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4" y="188595"/>
                  </a:lnTo>
                  <a:lnTo>
                    <a:pt x="0" y="256794"/>
                  </a:lnTo>
                  <a:lnTo>
                    <a:pt x="9144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127" y="478663"/>
                  </a:lnTo>
                  <a:lnTo>
                    <a:pt x="188595" y="504571"/>
                  </a:lnTo>
                  <a:lnTo>
                    <a:pt x="256794" y="513714"/>
                  </a:lnTo>
                  <a:lnTo>
                    <a:pt x="325120" y="504571"/>
                  </a:lnTo>
                  <a:lnTo>
                    <a:pt x="386461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715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747770" y="2723515"/>
            <a:ext cx="252095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h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4</a:t>
            </a:r>
            <a:endParaRPr sz="1650" baseline="-10101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16407" y="2985642"/>
            <a:ext cx="570865" cy="570865"/>
            <a:chOff x="516407" y="2985642"/>
            <a:chExt cx="570865" cy="570865"/>
          </a:xfrm>
        </p:grpSpPr>
        <p:sp>
          <p:nvSpPr>
            <p:cNvPr id="15" name="object 15"/>
            <p:cNvSpPr/>
            <p:nvPr/>
          </p:nvSpPr>
          <p:spPr>
            <a:xfrm>
              <a:off x="521487" y="2990722"/>
              <a:ext cx="560705" cy="560705"/>
            </a:xfrm>
            <a:custGeom>
              <a:avLst/>
              <a:gdLst/>
              <a:ahLst/>
              <a:cxnLst/>
              <a:rect l="l" t="t" r="r" b="b"/>
              <a:pathLst>
                <a:path w="560705" h="560704">
                  <a:moveTo>
                    <a:pt x="280111" y="0"/>
                  </a:moveTo>
                  <a:lnTo>
                    <a:pt x="205638" y="10032"/>
                  </a:lnTo>
                  <a:lnTo>
                    <a:pt x="138734" y="38226"/>
                  </a:lnTo>
                  <a:lnTo>
                    <a:pt x="82042" y="82041"/>
                  </a:lnTo>
                  <a:lnTo>
                    <a:pt x="38239" y="138684"/>
                  </a:lnTo>
                  <a:lnTo>
                    <a:pt x="9994" y="205612"/>
                  </a:lnTo>
                  <a:lnTo>
                    <a:pt x="0" y="280035"/>
                  </a:lnTo>
                  <a:lnTo>
                    <a:pt x="9994" y="354584"/>
                  </a:lnTo>
                  <a:lnTo>
                    <a:pt x="38239" y="421513"/>
                  </a:lnTo>
                  <a:lnTo>
                    <a:pt x="82042" y="478154"/>
                  </a:lnTo>
                  <a:lnTo>
                    <a:pt x="138734" y="521969"/>
                  </a:lnTo>
                  <a:lnTo>
                    <a:pt x="205638" y="550163"/>
                  </a:lnTo>
                  <a:lnTo>
                    <a:pt x="280111" y="560197"/>
                  </a:lnTo>
                  <a:lnTo>
                    <a:pt x="354571" y="550163"/>
                  </a:lnTo>
                  <a:lnTo>
                    <a:pt x="421487" y="521969"/>
                  </a:lnTo>
                  <a:lnTo>
                    <a:pt x="478180" y="478154"/>
                  </a:lnTo>
                  <a:lnTo>
                    <a:pt x="521982" y="421513"/>
                  </a:lnTo>
                  <a:lnTo>
                    <a:pt x="550214" y="354584"/>
                  </a:lnTo>
                  <a:lnTo>
                    <a:pt x="560222" y="280035"/>
                  </a:lnTo>
                  <a:lnTo>
                    <a:pt x="550214" y="205612"/>
                  </a:lnTo>
                  <a:lnTo>
                    <a:pt x="521982" y="138684"/>
                  </a:lnTo>
                  <a:lnTo>
                    <a:pt x="478180" y="82041"/>
                  </a:lnTo>
                  <a:lnTo>
                    <a:pt x="421487" y="38226"/>
                  </a:lnTo>
                  <a:lnTo>
                    <a:pt x="354571" y="10032"/>
                  </a:lnTo>
                  <a:lnTo>
                    <a:pt x="280111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21487" y="2990722"/>
              <a:ext cx="560705" cy="560705"/>
            </a:xfrm>
            <a:custGeom>
              <a:avLst/>
              <a:gdLst/>
              <a:ahLst/>
              <a:cxnLst/>
              <a:rect l="l" t="t" r="r" b="b"/>
              <a:pathLst>
                <a:path w="560705" h="560704">
                  <a:moveTo>
                    <a:pt x="560222" y="280035"/>
                  </a:moveTo>
                  <a:lnTo>
                    <a:pt x="550214" y="205612"/>
                  </a:lnTo>
                  <a:lnTo>
                    <a:pt x="521982" y="138684"/>
                  </a:lnTo>
                  <a:lnTo>
                    <a:pt x="478180" y="82041"/>
                  </a:lnTo>
                  <a:lnTo>
                    <a:pt x="421487" y="38226"/>
                  </a:lnTo>
                  <a:lnTo>
                    <a:pt x="354571" y="10032"/>
                  </a:lnTo>
                  <a:lnTo>
                    <a:pt x="280111" y="0"/>
                  </a:lnTo>
                  <a:lnTo>
                    <a:pt x="205638" y="10032"/>
                  </a:lnTo>
                  <a:lnTo>
                    <a:pt x="138734" y="38226"/>
                  </a:lnTo>
                  <a:lnTo>
                    <a:pt x="82042" y="82041"/>
                  </a:lnTo>
                  <a:lnTo>
                    <a:pt x="38239" y="138684"/>
                  </a:lnTo>
                  <a:lnTo>
                    <a:pt x="9994" y="205612"/>
                  </a:lnTo>
                  <a:lnTo>
                    <a:pt x="0" y="280035"/>
                  </a:lnTo>
                  <a:lnTo>
                    <a:pt x="9994" y="354584"/>
                  </a:lnTo>
                  <a:lnTo>
                    <a:pt x="38239" y="421513"/>
                  </a:lnTo>
                  <a:lnTo>
                    <a:pt x="82042" y="478154"/>
                  </a:lnTo>
                  <a:lnTo>
                    <a:pt x="138734" y="521969"/>
                  </a:lnTo>
                  <a:lnTo>
                    <a:pt x="205638" y="550163"/>
                  </a:lnTo>
                  <a:lnTo>
                    <a:pt x="280111" y="560197"/>
                  </a:lnTo>
                  <a:lnTo>
                    <a:pt x="354571" y="550163"/>
                  </a:lnTo>
                  <a:lnTo>
                    <a:pt x="421487" y="521969"/>
                  </a:lnTo>
                  <a:lnTo>
                    <a:pt x="478180" y="478154"/>
                  </a:lnTo>
                  <a:lnTo>
                    <a:pt x="521982" y="421513"/>
                  </a:lnTo>
                  <a:lnTo>
                    <a:pt x="550214" y="354584"/>
                  </a:lnTo>
                  <a:lnTo>
                    <a:pt x="560222" y="280035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89483" y="2723515"/>
            <a:ext cx="431800" cy="64643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11760">
              <a:lnSpc>
                <a:spcPct val="100000"/>
              </a:lnSpc>
              <a:spcBef>
                <a:spcPts val="110"/>
              </a:spcBef>
            </a:pPr>
            <a:r>
              <a:rPr sz="1500" i="1" spc="35" dirty="0">
                <a:solidFill>
                  <a:srgbClr val="213739"/>
                </a:solidFill>
                <a:latin typeface="Calibri"/>
                <a:cs typeface="Calibri"/>
              </a:rPr>
              <a:t>h</a:t>
            </a:r>
            <a:r>
              <a:rPr sz="1650" spc="52" baseline="-12626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650" baseline="-12626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1275"/>
              </a:spcBef>
            </a:pPr>
            <a:r>
              <a:rPr sz="1500" spc="-60" dirty="0">
                <a:solidFill>
                  <a:srgbClr val="213739"/>
                </a:solidFill>
                <a:latin typeface="Arial MT"/>
                <a:cs typeface="Arial MT"/>
              </a:rPr>
              <a:t>-</a:t>
            </a:r>
            <a:r>
              <a:rPr sz="1500" spc="-85" dirty="0">
                <a:solidFill>
                  <a:srgbClr val="213739"/>
                </a:solidFill>
                <a:latin typeface="Arial MT"/>
                <a:cs typeface="Arial MT"/>
              </a:rPr>
              <a:t>1,-</a:t>
            </a:r>
            <a:r>
              <a:rPr sz="1500" spc="-50" dirty="0">
                <a:solidFill>
                  <a:srgbClr val="213739"/>
                </a:solidFill>
                <a:latin typeface="Arial MT"/>
                <a:cs typeface="Arial MT"/>
              </a:rPr>
              <a:t>1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33527" y="3638803"/>
            <a:ext cx="748030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i="1" dirty="0">
                <a:solidFill>
                  <a:srgbClr val="213739"/>
                </a:solidFill>
                <a:latin typeface="Calibri"/>
                <a:cs typeface="Calibri"/>
              </a:rPr>
              <a:t>bias</a:t>
            </a:r>
            <a:r>
              <a:rPr sz="1500" i="1" spc="33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500" spc="-13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13739"/>
                </a:solidFill>
                <a:latin typeface="Arial MT"/>
                <a:cs typeface="Arial MT"/>
              </a:rPr>
              <a:t>-</a:t>
            </a:r>
            <a:r>
              <a:rPr sz="1500" spc="-2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00" spc="-50" dirty="0">
                <a:solidFill>
                  <a:srgbClr val="213739"/>
                </a:solidFill>
                <a:latin typeface="Arial MT"/>
                <a:cs typeface="Arial MT"/>
              </a:rPr>
              <a:t>2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278507" y="1536572"/>
            <a:ext cx="111760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i="1" spc="-50" dirty="0">
                <a:solidFill>
                  <a:srgbClr val="213739"/>
                </a:solidFill>
                <a:latin typeface="Calibri"/>
                <a:cs typeface="Calibri"/>
              </a:rPr>
              <a:t>y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164336" y="2568955"/>
            <a:ext cx="280670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650" baseline="-10101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679194" y="2532379"/>
            <a:ext cx="1408430" cy="4464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39065">
              <a:lnSpc>
                <a:spcPts val="1650"/>
              </a:lnSpc>
              <a:spcBef>
                <a:spcPts val="110"/>
              </a:spcBef>
              <a:tabLst>
                <a:tab pos="652145" algn="l"/>
                <a:tab pos="1139825" algn="l"/>
              </a:tabLst>
            </a:pP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650" baseline="-1010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r>
              <a:rPr sz="1650" baseline="-1010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4</a:t>
            </a:r>
            <a:endParaRPr sz="1650" baseline="-10101">
              <a:latin typeface="Calibri"/>
              <a:cs typeface="Calibri"/>
            </a:endParaRPr>
          </a:p>
          <a:p>
            <a:pPr marL="50800">
              <a:lnSpc>
                <a:spcPts val="1650"/>
              </a:lnSpc>
              <a:tabLst>
                <a:tab pos="1077595" algn="l"/>
              </a:tabLst>
            </a:pP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h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650" baseline="-1010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h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650" baseline="-10101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994460" y="1862084"/>
            <a:ext cx="2713990" cy="2357120"/>
            <a:chOff x="994460" y="1862084"/>
            <a:chExt cx="2713990" cy="2357120"/>
          </a:xfrm>
        </p:grpSpPr>
        <p:sp>
          <p:nvSpPr>
            <p:cNvPr id="23" name="object 23"/>
            <p:cNvSpPr/>
            <p:nvPr/>
          </p:nvSpPr>
          <p:spPr>
            <a:xfrm>
              <a:off x="1016139" y="3485388"/>
              <a:ext cx="686435" cy="686435"/>
            </a:xfrm>
            <a:custGeom>
              <a:avLst/>
              <a:gdLst/>
              <a:ahLst/>
              <a:cxnLst/>
              <a:rect l="l" t="t" r="r" b="b"/>
              <a:pathLst>
                <a:path w="686435" h="686435">
                  <a:moveTo>
                    <a:pt x="686295" y="686181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4460" y="3463657"/>
              <a:ext cx="104659" cy="104661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1072959" y="3406521"/>
              <a:ext cx="1615440" cy="807720"/>
            </a:xfrm>
            <a:custGeom>
              <a:avLst/>
              <a:gdLst/>
              <a:ahLst/>
              <a:cxnLst/>
              <a:rect l="l" t="t" r="r" b="b"/>
              <a:pathLst>
                <a:path w="1615439" h="807720">
                  <a:moveTo>
                    <a:pt x="1615122" y="807592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60723" y="3364757"/>
              <a:ext cx="84085" cy="122262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1766570" y="3546729"/>
              <a:ext cx="125730" cy="624840"/>
            </a:xfrm>
            <a:custGeom>
              <a:avLst/>
              <a:gdLst/>
              <a:ahLst/>
              <a:cxnLst/>
              <a:rect l="l" t="t" r="r" b="b"/>
              <a:pathLst>
                <a:path w="125730" h="624839">
                  <a:moveTo>
                    <a:pt x="62737" y="624840"/>
                  </a:moveTo>
                  <a:lnTo>
                    <a:pt x="62737" y="8000"/>
                  </a:lnTo>
                </a:path>
                <a:path w="125730" h="624839">
                  <a:moveTo>
                    <a:pt x="0" y="51435"/>
                  </a:moveTo>
                  <a:lnTo>
                    <a:pt x="24637" y="42418"/>
                  </a:lnTo>
                  <a:lnTo>
                    <a:pt x="42672" y="30099"/>
                  </a:lnTo>
                  <a:lnTo>
                    <a:pt x="55118" y="15621"/>
                  </a:lnTo>
                  <a:lnTo>
                    <a:pt x="62737" y="0"/>
                  </a:lnTo>
                  <a:lnTo>
                    <a:pt x="70231" y="15621"/>
                  </a:lnTo>
                  <a:lnTo>
                    <a:pt x="82677" y="30099"/>
                  </a:lnTo>
                  <a:lnTo>
                    <a:pt x="100711" y="42418"/>
                  </a:lnTo>
                  <a:lnTo>
                    <a:pt x="125349" y="51435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030094" y="3471672"/>
              <a:ext cx="700405" cy="700405"/>
            </a:xfrm>
            <a:custGeom>
              <a:avLst/>
              <a:gdLst/>
              <a:ahLst/>
              <a:cxnLst/>
              <a:rect l="l" t="t" r="r" b="b"/>
              <a:pathLst>
                <a:path w="700405" h="700404">
                  <a:moveTo>
                    <a:pt x="700024" y="699896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08377" y="3449924"/>
              <a:ext cx="105171" cy="105186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956054" y="3471672"/>
              <a:ext cx="700405" cy="700405"/>
            </a:xfrm>
            <a:custGeom>
              <a:avLst/>
              <a:gdLst/>
              <a:ahLst/>
              <a:cxnLst/>
              <a:rect l="l" t="t" r="r" b="b"/>
              <a:pathLst>
                <a:path w="700405" h="700404">
                  <a:moveTo>
                    <a:pt x="0" y="699896"/>
                  </a:moveTo>
                  <a:lnTo>
                    <a:pt x="700023" y="0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72766" y="3449924"/>
              <a:ext cx="105171" cy="105186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2794254" y="3546729"/>
              <a:ext cx="125730" cy="624840"/>
            </a:xfrm>
            <a:custGeom>
              <a:avLst/>
              <a:gdLst/>
              <a:ahLst/>
              <a:cxnLst/>
              <a:rect l="l" t="t" r="r" b="b"/>
              <a:pathLst>
                <a:path w="125730" h="624839">
                  <a:moveTo>
                    <a:pt x="62737" y="624840"/>
                  </a:moveTo>
                  <a:lnTo>
                    <a:pt x="62737" y="8000"/>
                  </a:lnTo>
                </a:path>
                <a:path w="125730" h="624839">
                  <a:moveTo>
                    <a:pt x="0" y="51435"/>
                  </a:moveTo>
                  <a:lnTo>
                    <a:pt x="24637" y="42418"/>
                  </a:lnTo>
                  <a:lnTo>
                    <a:pt x="42671" y="30099"/>
                  </a:lnTo>
                  <a:lnTo>
                    <a:pt x="55118" y="15621"/>
                  </a:lnTo>
                  <a:lnTo>
                    <a:pt x="62737" y="0"/>
                  </a:lnTo>
                  <a:lnTo>
                    <a:pt x="70231" y="15621"/>
                  </a:lnTo>
                  <a:lnTo>
                    <a:pt x="82676" y="30099"/>
                  </a:lnTo>
                  <a:lnTo>
                    <a:pt x="100710" y="42418"/>
                  </a:lnTo>
                  <a:lnTo>
                    <a:pt x="125348" y="51435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998218" y="3396107"/>
              <a:ext cx="1635760" cy="818515"/>
            </a:xfrm>
            <a:custGeom>
              <a:avLst/>
              <a:gdLst/>
              <a:ahLst/>
              <a:cxnLst/>
              <a:rect l="l" t="t" r="r" b="b"/>
              <a:pathLst>
                <a:path w="1635760" h="818514">
                  <a:moveTo>
                    <a:pt x="0" y="818006"/>
                  </a:moveTo>
                  <a:lnTo>
                    <a:pt x="1635759" y="0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62114" y="3354470"/>
              <a:ext cx="84163" cy="122136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2983864" y="3469005"/>
              <a:ext cx="702945" cy="702945"/>
            </a:xfrm>
            <a:custGeom>
              <a:avLst/>
              <a:gdLst/>
              <a:ahLst/>
              <a:cxnLst/>
              <a:rect l="l" t="t" r="r" b="b"/>
              <a:pathLst>
                <a:path w="702945" h="702945">
                  <a:moveTo>
                    <a:pt x="0" y="702564"/>
                  </a:moveTo>
                  <a:lnTo>
                    <a:pt x="702563" y="0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603498" y="3447274"/>
              <a:ext cx="104659" cy="104661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1041425" y="2308860"/>
              <a:ext cx="1203325" cy="802640"/>
            </a:xfrm>
            <a:custGeom>
              <a:avLst/>
              <a:gdLst/>
              <a:ahLst/>
              <a:cxnLst/>
              <a:rect l="l" t="t" r="r" b="b"/>
              <a:pathLst>
                <a:path w="1203325" h="802639">
                  <a:moveTo>
                    <a:pt x="0" y="802131"/>
                  </a:moveTo>
                  <a:lnTo>
                    <a:pt x="1203172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83766" y="2287145"/>
              <a:ext cx="66671" cy="85467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1949577" y="2348738"/>
              <a:ext cx="340995" cy="681990"/>
            </a:xfrm>
            <a:custGeom>
              <a:avLst/>
              <a:gdLst/>
              <a:ahLst/>
              <a:cxnLst/>
              <a:rect l="l" t="t" r="r" b="b"/>
              <a:pathLst>
                <a:path w="340994" h="681989">
                  <a:moveTo>
                    <a:pt x="0" y="681482"/>
                  </a:moveTo>
                  <a:lnTo>
                    <a:pt x="340741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227579" y="2342641"/>
              <a:ext cx="91568" cy="64136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2395855" y="2348738"/>
              <a:ext cx="340995" cy="681990"/>
            </a:xfrm>
            <a:custGeom>
              <a:avLst/>
              <a:gdLst/>
              <a:ahLst/>
              <a:cxnLst/>
              <a:rect l="l" t="t" r="r" b="b"/>
              <a:pathLst>
                <a:path w="340994" h="681989">
                  <a:moveTo>
                    <a:pt x="340868" y="681482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67025" y="2342641"/>
              <a:ext cx="91568" cy="64136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2441575" y="2308860"/>
              <a:ext cx="1223010" cy="815340"/>
            </a:xfrm>
            <a:custGeom>
              <a:avLst/>
              <a:gdLst/>
              <a:ahLst/>
              <a:cxnLst/>
              <a:rect l="l" t="t" r="r" b="b"/>
              <a:pathLst>
                <a:path w="1223010" h="815339">
                  <a:moveTo>
                    <a:pt x="1222628" y="814959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435734" y="2287145"/>
              <a:ext cx="66671" cy="85467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2294890" y="1864614"/>
              <a:ext cx="96520" cy="268605"/>
            </a:xfrm>
            <a:custGeom>
              <a:avLst/>
              <a:gdLst/>
              <a:ahLst/>
              <a:cxnLst/>
              <a:rect l="l" t="t" r="r" b="b"/>
              <a:pathLst>
                <a:path w="96519" h="268605">
                  <a:moveTo>
                    <a:pt x="48260" y="268605"/>
                  </a:moveTo>
                  <a:lnTo>
                    <a:pt x="48260" y="4063"/>
                  </a:lnTo>
                </a:path>
                <a:path w="96519" h="268605">
                  <a:moveTo>
                    <a:pt x="0" y="41783"/>
                  </a:moveTo>
                  <a:lnTo>
                    <a:pt x="18923" y="34416"/>
                  </a:lnTo>
                  <a:lnTo>
                    <a:pt x="32893" y="24511"/>
                  </a:lnTo>
                  <a:lnTo>
                    <a:pt x="42418" y="12700"/>
                  </a:lnTo>
                  <a:lnTo>
                    <a:pt x="48260" y="0"/>
                  </a:lnTo>
                  <a:lnTo>
                    <a:pt x="54102" y="12700"/>
                  </a:lnTo>
                  <a:lnTo>
                    <a:pt x="63627" y="24511"/>
                  </a:lnTo>
                  <a:lnTo>
                    <a:pt x="77470" y="34416"/>
                  </a:lnTo>
                  <a:lnTo>
                    <a:pt x="96393" y="41783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343204" y="3999632"/>
            <a:ext cx="2451100" cy="1073785"/>
          </a:xfrm>
          <a:prstGeom prst="rect">
            <a:avLst/>
          </a:prstGeom>
        </p:spPr>
        <p:txBody>
          <a:bodyPr vert="horz" wrap="square" lIns="0" tIns="125095" rIns="0" bIns="0" rtlCol="0">
            <a:spAutoFit/>
          </a:bodyPr>
          <a:lstStyle/>
          <a:p>
            <a:pPr marL="496570" algn="ctr">
              <a:lnSpc>
                <a:spcPct val="100000"/>
              </a:lnSpc>
              <a:spcBef>
                <a:spcPts val="985"/>
              </a:spcBef>
            </a:pPr>
            <a:r>
              <a:rPr sz="1500" i="1" spc="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650" spc="37" baseline="-10101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650" baseline="-10101">
              <a:latin typeface="Calibri"/>
              <a:cs typeface="Calibri"/>
            </a:endParaRPr>
          </a:p>
          <a:p>
            <a:pPr marL="38100" marR="30480">
              <a:lnSpc>
                <a:spcPct val="117700"/>
              </a:lnSpc>
              <a:spcBef>
                <a:spcPts val="625"/>
              </a:spcBef>
            </a:pP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red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edge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indicates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i="1" spc="10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=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-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1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blue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edge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indicates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i="1" spc="12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=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+1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47" name="object 47" descr="$PPTXTitle"/>
          <p:cNvSpPr txBox="1">
            <a:spLocks noGrp="1"/>
          </p:cNvSpPr>
          <p:nvPr>
            <p:ph type="title"/>
          </p:nvPr>
        </p:nvSpPr>
        <p:spPr>
          <a:xfrm>
            <a:off x="4781803" y="924305"/>
            <a:ext cx="400748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spc="-16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claim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that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this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network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65" dirty="0">
                <a:solidFill>
                  <a:srgbClr val="213739"/>
                </a:solidFill>
                <a:latin typeface="Arial MT"/>
                <a:cs typeface="Arial MT"/>
              </a:rPr>
              <a:t>can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75" dirty="0">
                <a:solidFill>
                  <a:srgbClr val="213739"/>
                </a:solidFill>
                <a:latin typeface="Arial MT"/>
                <a:cs typeface="Arial MT"/>
              </a:rPr>
              <a:t>be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70" dirty="0">
                <a:solidFill>
                  <a:srgbClr val="213739"/>
                </a:solidFill>
                <a:latin typeface="Arial MT"/>
                <a:cs typeface="Arial MT"/>
              </a:rPr>
              <a:t>used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to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im-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784852" y="1238249"/>
            <a:ext cx="401066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32815" algn="l"/>
                <a:tab pos="1487805" algn="l"/>
                <a:tab pos="2374900" algn="l"/>
                <a:tab pos="3312160" algn="l"/>
              </a:tabLst>
            </a:pP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plement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	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any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	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boolean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	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function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	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(linearly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756403" y="1414779"/>
            <a:ext cx="4078604" cy="1152525"/>
          </a:xfrm>
          <a:prstGeom prst="rect">
            <a:avLst/>
          </a:prstGeom>
        </p:spPr>
        <p:txBody>
          <a:bodyPr vert="horz" wrap="square" lIns="0" tIns="148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70"/>
              </a:spcBef>
            </a:pP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separable</a:t>
            </a:r>
            <a:r>
              <a:rPr sz="1750" spc="-1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or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not)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!</a:t>
            </a:r>
            <a:endParaRPr sz="175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1070"/>
              </a:spcBef>
            </a:pP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In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other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words,</a:t>
            </a:r>
            <a:r>
              <a:rPr sz="1750" spc="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can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find</a:t>
            </a:r>
            <a:r>
              <a:rPr sz="1750" spc="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spc="-15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-11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spc="-15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-11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spc="-15" baseline="-8888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-11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4</a:t>
            </a:r>
            <a:endParaRPr sz="1875" baseline="-8888">
              <a:latin typeface="Calibri"/>
              <a:cs typeface="Calibri"/>
            </a:endParaRPr>
          </a:p>
          <a:p>
            <a:pPr marL="40640">
              <a:lnSpc>
                <a:spcPct val="100000"/>
              </a:lnSpc>
              <a:spcBef>
                <a:spcPts val="434"/>
              </a:spcBef>
            </a:pP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such</a:t>
            </a:r>
            <a:r>
              <a:rPr sz="1750" spc="-229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that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truth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table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any</a:t>
            </a:r>
            <a:r>
              <a:rPr sz="1750" spc="-2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boolean</a:t>
            </a:r>
            <a:r>
              <a:rPr sz="1750" spc="-2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func-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781169" y="2497962"/>
            <a:ext cx="4010660" cy="245046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 marR="9525" indent="4445">
              <a:lnSpc>
                <a:spcPct val="124300"/>
              </a:lnSpc>
              <a:spcBef>
                <a:spcPts val="240"/>
              </a:spcBef>
            </a:pP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tion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can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be</a:t>
            </a:r>
            <a:r>
              <a:rPr sz="1750" spc="-1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represented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by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this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network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Astonishing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claim!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Well,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not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rea</a:t>
            </a:r>
            <a:r>
              <a:rPr sz="1750" spc="-3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ly,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if 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you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un-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derstand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what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is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going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on</a:t>
            </a:r>
            <a:endParaRPr sz="1750">
              <a:latin typeface="Arial MT"/>
              <a:cs typeface="Arial MT"/>
            </a:endParaRPr>
          </a:p>
          <a:p>
            <a:pPr marL="17145" marR="5080" indent="-5080" algn="just">
              <a:lnSpc>
                <a:spcPct val="117400"/>
              </a:lnSpc>
              <a:spcBef>
                <a:spcPts val="509"/>
              </a:spcBef>
            </a:pP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Each</a:t>
            </a:r>
            <a:r>
              <a:rPr sz="1750" spc="-2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perceptron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in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middle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layer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fires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only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for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a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specific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 input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(and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no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5" dirty="0">
                <a:solidFill>
                  <a:srgbClr val="213739"/>
                </a:solidFill>
                <a:latin typeface="Arial MT"/>
                <a:cs typeface="Arial MT"/>
              </a:rPr>
              <a:t>two</a:t>
            </a:r>
            <a:r>
              <a:rPr sz="1750" spc="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perceptrons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fire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for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same</a:t>
            </a:r>
            <a:r>
              <a:rPr sz="1750" spc="-2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input)</a:t>
            </a:r>
            <a:endParaRPr sz="1750">
              <a:latin typeface="Arial MT"/>
              <a:cs typeface="Arial MT"/>
            </a:endParaRPr>
          </a:p>
          <a:p>
            <a:pPr marL="13970" algn="just">
              <a:lnSpc>
                <a:spcPct val="100000"/>
              </a:lnSpc>
              <a:spcBef>
                <a:spcPts val="1115"/>
              </a:spcBef>
            </a:pP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first</a:t>
            </a:r>
            <a:r>
              <a:rPr sz="1750" spc="-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perceptron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fires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for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{-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1,-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1}</a:t>
            </a:r>
            <a:endParaRPr sz="175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32279" y="2132355"/>
            <a:ext cx="221589" cy="22158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720339" y="4110608"/>
            <a:ext cx="244475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500" i="1" spc="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650" spc="37" baseline="-10101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650" baseline="-10101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39597" y="3008883"/>
            <a:ext cx="3607435" cy="523875"/>
            <a:chOff x="539597" y="3008883"/>
            <a:chExt cx="3607435" cy="523875"/>
          </a:xfrm>
        </p:grpSpPr>
        <p:sp>
          <p:nvSpPr>
            <p:cNvPr id="5" name="object 5"/>
            <p:cNvSpPr/>
            <p:nvPr/>
          </p:nvSpPr>
          <p:spPr>
            <a:xfrm>
              <a:off x="544677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256921" y="0"/>
                  </a:moveTo>
                  <a:lnTo>
                    <a:pt x="188620" y="9144"/>
                  </a:lnTo>
                  <a:lnTo>
                    <a:pt x="127241" y="35051"/>
                  </a:lnTo>
                  <a:lnTo>
                    <a:pt x="75247" y="75184"/>
                  </a:lnTo>
                  <a:lnTo>
                    <a:pt x="35077" y="127126"/>
                  </a:lnTo>
                  <a:lnTo>
                    <a:pt x="9182" y="188595"/>
                  </a:lnTo>
                  <a:lnTo>
                    <a:pt x="0" y="256794"/>
                  </a:lnTo>
                  <a:lnTo>
                    <a:pt x="9182" y="325120"/>
                  </a:lnTo>
                  <a:lnTo>
                    <a:pt x="35077" y="386588"/>
                  </a:lnTo>
                  <a:lnTo>
                    <a:pt x="75247" y="438531"/>
                  </a:lnTo>
                  <a:lnTo>
                    <a:pt x="127241" y="478663"/>
                  </a:lnTo>
                  <a:lnTo>
                    <a:pt x="188620" y="504571"/>
                  </a:lnTo>
                  <a:lnTo>
                    <a:pt x="256921" y="513714"/>
                  </a:lnTo>
                  <a:lnTo>
                    <a:pt x="325221" y="504571"/>
                  </a:lnTo>
                  <a:lnTo>
                    <a:pt x="386588" y="478663"/>
                  </a:lnTo>
                  <a:lnTo>
                    <a:pt x="438581" y="438531"/>
                  </a:lnTo>
                  <a:lnTo>
                    <a:pt x="478764" y="386588"/>
                  </a:lnTo>
                  <a:lnTo>
                    <a:pt x="504659" y="325120"/>
                  </a:lnTo>
                  <a:lnTo>
                    <a:pt x="513842" y="256794"/>
                  </a:lnTo>
                  <a:lnTo>
                    <a:pt x="504659" y="188595"/>
                  </a:lnTo>
                  <a:lnTo>
                    <a:pt x="478764" y="127126"/>
                  </a:lnTo>
                  <a:lnTo>
                    <a:pt x="438581" y="75184"/>
                  </a:lnTo>
                  <a:lnTo>
                    <a:pt x="386588" y="35051"/>
                  </a:lnTo>
                  <a:lnTo>
                    <a:pt x="325221" y="9144"/>
                  </a:lnTo>
                  <a:lnTo>
                    <a:pt x="256921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44677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513842" y="256794"/>
                  </a:moveTo>
                  <a:lnTo>
                    <a:pt x="504659" y="188595"/>
                  </a:lnTo>
                  <a:lnTo>
                    <a:pt x="478764" y="127126"/>
                  </a:lnTo>
                  <a:lnTo>
                    <a:pt x="438581" y="75184"/>
                  </a:lnTo>
                  <a:lnTo>
                    <a:pt x="386588" y="35051"/>
                  </a:lnTo>
                  <a:lnTo>
                    <a:pt x="325221" y="9144"/>
                  </a:lnTo>
                  <a:lnTo>
                    <a:pt x="256921" y="0"/>
                  </a:lnTo>
                  <a:lnTo>
                    <a:pt x="188620" y="9144"/>
                  </a:lnTo>
                  <a:lnTo>
                    <a:pt x="127241" y="35051"/>
                  </a:lnTo>
                  <a:lnTo>
                    <a:pt x="75247" y="75184"/>
                  </a:lnTo>
                  <a:lnTo>
                    <a:pt x="35077" y="127126"/>
                  </a:lnTo>
                  <a:lnTo>
                    <a:pt x="9182" y="188595"/>
                  </a:lnTo>
                  <a:lnTo>
                    <a:pt x="0" y="256794"/>
                  </a:lnTo>
                  <a:lnTo>
                    <a:pt x="9182" y="325120"/>
                  </a:lnTo>
                  <a:lnTo>
                    <a:pt x="35077" y="386588"/>
                  </a:lnTo>
                  <a:lnTo>
                    <a:pt x="75247" y="438531"/>
                  </a:lnTo>
                  <a:lnTo>
                    <a:pt x="127241" y="478663"/>
                  </a:lnTo>
                  <a:lnTo>
                    <a:pt x="188620" y="504571"/>
                  </a:lnTo>
                  <a:lnTo>
                    <a:pt x="256921" y="513714"/>
                  </a:lnTo>
                  <a:lnTo>
                    <a:pt x="325221" y="504571"/>
                  </a:lnTo>
                  <a:lnTo>
                    <a:pt x="386588" y="478663"/>
                  </a:lnTo>
                  <a:lnTo>
                    <a:pt x="438581" y="438531"/>
                  </a:lnTo>
                  <a:lnTo>
                    <a:pt x="478764" y="386588"/>
                  </a:lnTo>
                  <a:lnTo>
                    <a:pt x="504659" y="325120"/>
                  </a:lnTo>
                  <a:lnTo>
                    <a:pt x="513842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72386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256920" y="0"/>
                  </a:moveTo>
                  <a:lnTo>
                    <a:pt x="188594" y="9144"/>
                  </a:lnTo>
                  <a:lnTo>
                    <a:pt x="127254" y="35051"/>
                  </a:lnTo>
                  <a:lnTo>
                    <a:pt x="75183" y="75184"/>
                  </a:lnTo>
                  <a:lnTo>
                    <a:pt x="35051" y="127126"/>
                  </a:lnTo>
                  <a:lnTo>
                    <a:pt x="9143" y="188595"/>
                  </a:lnTo>
                  <a:lnTo>
                    <a:pt x="0" y="256794"/>
                  </a:lnTo>
                  <a:lnTo>
                    <a:pt x="9143" y="325120"/>
                  </a:lnTo>
                  <a:lnTo>
                    <a:pt x="35051" y="386588"/>
                  </a:lnTo>
                  <a:lnTo>
                    <a:pt x="75183" y="438531"/>
                  </a:lnTo>
                  <a:lnTo>
                    <a:pt x="127254" y="478663"/>
                  </a:lnTo>
                  <a:lnTo>
                    <a:pt x="188594" y="504571"/>
                  </a:lnTo>
                  <a:lnTo>
                    <a:pt x="256920" y="513714"/>
                  </a:lnTo>
                  <a:lnTo>
                    <a:pt x="325119" y="504571"/>
                  </a:lnTo>
                  <a:lnTo>
                    <a:pt x="386588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0" y="325120"/>
                  </a:lnTo>
                  <a:lnTo>
                    <a:pt x="513842" y="256794"/>
                  </a:lnTo>
                  <a:lnTo>
                    <a:pt x="504570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588" y="35051"/>
                  </a:lnTo>
                  <a:lnTo>
                    <a:pt x="325119" y="9144"/>
                  </a:lnTo>
                  <a:lnTo>
                    <a:pt x="256920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72386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513842" y="256794"/>
                  </a:moveTo>
                  <a:lnTo>
                    <a:pt x="504570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588" y="35051"/>
                  </a:lnTo>
                  <a:lnTo>
                    <a:pt x="325119" y="9144"/>
                  </a:lnTo>
                  <a:lnTo>
                    <a:pt x="256920" y="0"/>
                  </a:lnTo>
                  <a:lnTo>
                    <a:pt x="188594" y="9144"/>
                  </a:lnTo>
                  <a:lnTo>
                    <a:pt x="127254" y="35051"/>
                  </a:lnTo>
                  <a:lnTo>
                    <a:pt x="75183" y="75184"/>
                  </a:lnTo>
                  <a:lnTo>
                    <a:pt x="35051" y="127126"/>
                  </a:lnTo>
                  <a:lnTo>
                    <a:pt x="9143" y="188595"/>
                  </a:lnTo>
                  <a:lnTo>
                    <a:pt x="0" y="256794"/>
                  </a:lnTo>
                  <a:lnTo>
                    <a:pt x="9143" y="325120"/>
                  </a:lnTo>
                  <a:lnTo>
                    <a:pt x="35051" y="386588"/>
                  </a:lnTo>
                  <a:lnTo>
                    <a:pt x="75183" y="438531"/>
                  </a:lnTo>
                  <a:lnTo>
                    <a:pt x="127254" y="478663"/>
                  </a:lnTo>
                  <a:lnTo>
                    <a:pt x="188594" y="504571"/>
                  </a:lnTo>
                  <a:lnTo>
                    <a:pt x="256920" y="513714"/>
                  </a:lnTo>
                  <a:lnTo>
                    <a:pt x="325119" y="504571"/>
                  </a:lnTo>
                  <a:lnTo>
                    <a:pt x="386588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0" y="325120"/>
                  </a:lnTo>
                  <a:lnTo>
                    <a:pt x="513842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600071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256921" y="0"/>
                  </a:moveTo>
                  <a:lnTo>
                    <a:pt x="188595" y="9144"/>
                  </a:lnTo>
                  <a:lnTo>
                    <a:pt x="127254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3" y="188595"/>
                  </a:lnTo>
                  <a:lnTo>
                    <a:pt x="0" y="256794"/>
                  </a:lnTo>
                  <a:lnTo>
                    <a:pt x="9143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254" y="478663"/>
                  </a:lnTo>
                  <a:lnTo>
                    <a:pt x="188595" y="504571"/>
                  </a:lnTo>
                  <a:lnTo>
                    <a:pt x="256921" y="513714"/>
                  </a:lnTo>
                  <a:lnTo>
                    <a:pt x="325120" y="504571"/>
                  </a:lnTo>
                  <a:lnTo>
                    <a:pt x="386588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842" y="256794"/>
                  </a:ln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588" y="35051"/>
                  </a:lnTo>
                  <a:lnTo>
                    <a:pt x="325120" y="9144"/>
                  </a:lnTo>
                  <a:lnTo>
                    <a:pt x="256921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600071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513842" y="256794"/>
                  </a:move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588" y="35051"/>
                  </a:lnTo>
                  <a:lnTo>
                    <a:pt x="325120" y="9144"/>
                  </a:lnTo>
                  <a:lnTo>
                    <a:pt x="256921" y="0"/>
                  </a:lnTo>
                  <a:lnTo>
                    <a:pt x="188595" y="9144"/>
                  </a:lnTo>
                  <a:lnTo>
                    <a:pt x="127254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3" y="188595"/>
                  </a:lnTo>
                  <a:lnTo>
                    <a:pt x="0" y="256794"/>
                  </a:lnTo>
                  <a:lnTo>
                    <a:pt x="9143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254" y="478663"/>
                  </a:lnTo>
                  <a:lnTo>
                    <a:pt x="188595" y="504571"/>
                  </a:lnTo>
                  <a:lnTo>
                    <a:pt x="256921" y="513714"/>
                  </a:lnTo>
                  <a:lnTo>
                    <a:pt x="325120" y="504571"/>
                  </a:lnTo>
                  <a:lnTo>
                    <a:pt x="386588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842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627755" y="3013963"/>
              <a:ext cx="513715" cy="513715"/>
            </a:xfrm>
            <a:custGeom>
              <a:avLst/>
              <a:gdLst/>
              <a:ahLst/>
              <a:cxnLst/>
              <a:rect l="l" t="t" r="r" b="b"/>
              <a:pathLst>
                <a:path w="513714" h="513714">
                  <a:moveTo>
                    <a:pt x="256794" y="0"/>
                  </a:moveTo>
                  <a:lnTo>
                    <a:pt x="188595" y="9144"/>
                  </a:lnTo>
                  <a:lnTo>
                    <a:pt x="127127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4" y="188595"/>
                  </a:lnTo>
                  <a:lnTo>
                    <a:pt x="0" y="256794"/>
                  </a:lnTo>
                  <a:lnTo>
                    <a:pt x="9144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127" y="478663"/>
                  </a:lnTo>
                  <a:lnTo>
                    <a:pt x="188595" y="504571"/>
                  </a:lnTo>
                  <a:lnTo>
                    <a:pt x="256794" y="513714"/>
                  </a:lnTo>
                  <a:lnTo>
                    <a:pt x="325120" y="504571"/>
                  </a:lnTo>
                  <a:lnTo>
                    <a:pt x="386461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715" y="256794"/>
                  </a:ln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461" y="35051"/>
                  </a:lnTo>
                  <a:lnTo>
                    <a:pt x="325120" y="9144"/>
                  </a:lnTo>
                  <a:lnTo>
                    <a:pt x="256794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627755" y="3013963"/>
              <a:ext cx="513715" cy="513715"/>
            </a:xfrm>
            <a:custGeom>
              <a:avLst/>
              <a:gdLst/>
              <a:ahLst/>
              <a:cxnLst/>
              <a:rect l="l" t="t" r="r" b="b"/>
              <a:pathLst>
                <a:path w="513714" h="513714">
                  <a:moveTo>
                    <a:pt x="513715" y="256794"/>
                  </a:move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461" y="35051"/>
                  </a:lnTo>
                  <a:lnTo>
                    <a:pt x="325120" y="9144"/>
                  </a:lnTo>
                  <a:lnTo>
                    <a:pt x="256794" y="0"/>
                  </a:lnTo>
                  <a:lnTo>
                    <a:pt x="188595" y="9144"/>
                  </a:lnTo>
                  <a:lnTo>
                    <a:pt x="127127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4" y="188595"/>
                  </a:lnTo>
                  <a:lnTo>
                    <a:pt x="0" y="256794"/>
                  </a:lnTo>
                  <a:lnTo>
                    <a:pt x="9144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127" y="478663"/>
                  </a:lnTo>
                  <a:lnTo>
                    <a:pt x="188595" y="504571"/>
                  </a:lnTo>
                  <a:lnTo>
                    <a:pt x="256794" y="513714"/>
                  </a:lnTo>
                  <a:lnTo>
                    <a:pt x="325120" y="504571"/>
                  </a:lnTo>
                  <a:lnTo>
                    <a:pt x="386461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715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747770" y="2723515"/>
            <a:ext cx="252095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h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4</a:t>
            </a:r>
            <a:endParaRPr sz="1650" baseline="-10101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16407" y="2985642"/>
            <a:ext cx="570865" cy="570865"/>
            <a:chOff x="516407" y="2985642"/>
            <a:chExt cx="570865" cy="570865"/>
          </a:xfrm>
        </p:grpSpPr>
        <p:sp>
          <p:nvSpPr>
            <p:cNvPr id="15" name="object 15"/>
            <p:cNvSpPr/>
            <p:nvPr/>
          </p:nvSpPr>
          <p:spPr>
            <a:xfrm>
              <a:off x="521487" y="2990722"/>
              <a:ext cx="560705" cy="560705"/>
            </a:xfrm>
            <a:custGeom>
              <a:avLst/>
              <a:gdLst/>
              <a:ahLst/>
              <a:cxnLst/>
              <a:rect l="l" t="t" r="r" b="b"/>
              <a:pathLst>
                <a:path w="560705" h="560704">
                  <a:moveTo>
                    <a:pt x="280111" y="0"/>
                  </a:moveTo>
                  <a:lnTo>
                    <a:pt x="205638" y="10032"/>
                  </a:lnTo>
                  <a:lnTo>
                    <a:pt x="138734" y="38226"/>
                  </a:lnTo>
                  <a:lnTo>
                    <a:pt x="82042" y="82041"/>
                  </a:lnTo>
                  <a:lnTo>
                    <a:pt x="38239" y="138684"/>
                  </a:lnTo>
                  <a:lnTo>
                    <a:pt x="9994" y="205612"/>
                  </a:lnTo>
                  <a:lnTo>
                    <a:pt x="0" y="280035"/>
                  </a:lnTo>
                  <a:lnTo>
                    <a:pt x="9994" y="354584"/>
                  </a:lnTo>
                  <a:lnTo>
                    <a:pt x="38239" y="421513"/>
                  </a:lnTo>
                  <a:lnTo>
                    <a:pt x="82042" y="478154"/>
                  </a:lnTo>
                  <a:lnTo>
                    <a:pt x="138734" y="521969"/>
                  </a:lnTo>
                  <a:lnTo>
                    <a:pt x="205638" y="550163"/>
                  </a:lnTo>
                  <a:lnTo>
                    <a:pt x="280111" y="560197"/>
                  </a:lnTo>
                  <a:lnTo>
                    <a:pt x="354571" y="550163"/>
                  </a:lnTo>
                  <a:lnTo>
                    <a:pt x="421487" y="521969"/>
                  </a:lnTo>
                  <a:lnTo>
                    <a:pt x="478180" y="478154"/>
                  </a:lnTo>
                  <a:lnTo>
                    <a:pt x="521982" y="421513"/>
                  </a:lnTo>
                  <a:lnTo>
                    <a:pt x="550214" y="354584"/>
                  </a:lnTo>
                  <a:lnTo>
                    <a:pt x="560222" y="280035"/>
                  </a:lnTo>
                  <a:lnTo>
                    <a:pt x="550214" y="205612"/>
                  </a:lnTo>
                  <a:lnTo>
                    <a:pt x="521982" y="138684"/>
                  </a:lnTo>
                  <a:lnTo>
                    <a:pt x="478180" y="82041"/>
                  </a:lnTo>
                  <a:lnTo>
                    <a:pt x="421487" y="38226"/>
                  </a:lnTo>
                  <a:lnTo>
                    <a:pt x="354571" y="10032"/>
                  </a:lnTo>
                  <a:lnTo>
                    <a:pt x="280111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21487" y="2990722"/>
              <a:ext cx="560705" cy="560705"/>
            </a:xfrm>
            <a:custGeom>
              <a:avLst/>
              <a:gdLst/>
              <a:ahLst/>
              <a:cxnLst/>
              <a:rect l="l" t="t" r="r" b="b"/>
              <a:pathLst>
                <a:path w="560705" h="560704">
                  <a:moveTo>
                    <a:pt x="560222" y="280035"/>
                  </a:moveTo>
                  <a:lnTo>
                    <a:pt x="550214" y="205612"/>
                  </a:lnTo>
                  <a:lnTo>
                    <a:pt x="521982" y="138684"/>
                  </a:lnTo>
                  <a:lnTo>
                    <a:pt x="478180" y="82041"/>
                  </a:lnTo>
                  <a:lnTo>
                    <a:pt x="421487" y="38226"/>
                  </a:lnTo>
                  <a:lnTo>
                    <a:pt x="354571" y="10032"/>
                  </a:lnTo>
                  <a:lnTo>
                    <a:pt x="280111" y="0"/>
                  </a:lnTo>
                  <a:lnTo>
                    <a:pt x="205638" y="10032"/>
                  </a:lnTo>
                  <a:lnTo>
                    <a:pt x="138734" y="38226"/>
                  </a:lnTo>
                  <a:lnTo>
                    <a:pt x="82042" y="82041"/>
                  </a:lnTo>
                  <a:lnTo>
                    <a:pt x="38239" y="138684"/>
                  </a:lnTo>
                  <a:lnTo>
                    <a:pt x="9994" y="205612"/>
                  </a:lnTo>
                  <a:lnTo>
                    <a:pt x="0" y="280035"/>
                  </a:lnTo>
                  <a:lnTo>
                    <a:pt x="9994" y="354584"/>
                  </a:lnTo>
                  <a:lnTo>
                    <a:pt x="38239" y="421513"/>
                  </a:lnTo>
                  <a:lnTo>
                    <a:pt x="82042" y="478154"/>
                  </a:lnTo>
                  <a:lnTo>
                    <a:pt x="138734" y="521969"/>
                  </a:lnTo>
                  <a:lnTo>
                    <a:pt x="205638" y="550163"/>
                  </a:lnTo>
                  <a:lnTo>
                    <a:pt x="280111" y="560197"/>
                  </a:lnTo>
                  <a:lnTo>
                    <a:pt x="354571" y="550163"/>
                  </a:lnTo>
                  <a:lnTo>
                    <a:pt x="421487" y="521969"/>
                  </a:lnTo>
                  <a:lnTo>
                    <a:pt x="478180" y="478154"/>
                  </a:lnTo>
                  <a:lnTo>
                    <a:pt x="521982" y="421513"/>
                  </a:lnTo>
                  <a:lnTo>
                    <a:pt x="550214" y="354584"/>
                  </a:lnTo>
                  <a:lnTo>
                    <a:pt x="560222" y="280035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89483" y="2723515"/>
            <a:ext cx="431800" cy="64643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11760">
              <a:lnSpc>
                <a:spcPct val="100000"/>
              </a:lnSpc>
              <a:spcBef>
                <a:spcPts val="110"/>
              </a:spcBef>
            </a:pPr>
            <a:r>
              <a:rPr sz="1500" i="1" spc="35" dirty="0">
                <a:solidFill>
                  <a:srgbClr val="213739"/>
                </a:solidFill>
                <a:latin typeface="Calibri"/>
                <a:cs typeface="Calibri"/>
              </a:rPr>
              <a:t>h</a:t>
            </a:r>
            <a:r>
              <a:rPr sz="1650" spc="52" baseline="-12626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650" baseline="-12626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1275"/>
              </a:spcBef>
            </a:pPr>
            <a:r>
              <a:rPr sz="1500" spc="-60" dirty="0">
                <a:solidFill>
                  <a:srgbClr val="213739"/>
                </a:solidFill>
                <a:latin typeface="Arial MT"/>
                <a:cs typeface="Arial MT"/>
              </a:rPr>
              <a:t>-</a:t>
            </a:r>
            <a:r>
              <a:rPr sz="1500" spc="-85" dirty="0">
                <a:solidFill>
                  <a:srgbClr val="213739"/>
                </a:solidFill>
                <a:latin typeface="Arial MT"/>
                <a:cs typeface="Arial MT"/>
              </a:rPr>
              <a:t>1,-</a:t>
            </a:r>
            <a:r>
              <a:rPr sz="1500" spc="-50" dirty="0">
                <a:solidFill>
                  <a:srgbClr val="213739"/>
                </a:solidFill>
                <a:latin typeface="Arial MT"/>
                <a:cs typeface="Arial MT"/>
              </a:rPr>
              <a:t>1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563497" y="3005073"/>
            <a:ext cx="531495" cy="531495"/>
            <a:chOff x="1563497" y="3005073"/>
            <a:chExt cx="531495" cy="531495"/>
          </a:xfrm>
        </p:grpSpPr>
        <p:sp>
          <p:nvSpPr>
            <p:cNvPr id="19" name="object 19"/>
            <p:cNvSpPr/>
            <p:nvPr/>
          </p:nvSpPr>
          <p:spPr>
            <a:xfrm>
              <a:off x="1568577" y="3010153"/>
              <a:ext cx="521334" cy="521334"/>
            </a:xfrm>
            <a:custGeom>
              <a:avLst/>
              <a:gdLst/>
              <a:ahLst/>
              <a:cxnLst/>
              <a:rect l="l" t="t" r="r" b="b"/>
              <a:pathLst>
                <a:path w="521335" h="521335">
                  <a:moveTo>
                    <a:pt x="260730" y="0"/>
                  </a:moveTo>
                  <a:lnTo>
                    <a:pt x="191389" y="9271"/>
                  </a:lnTo>
                  <a:lnTo>
                    <a:pt x="129159" y="35560"/>
                  </a:lnTo>
                  <a:lnTo>
                    <a:pt x="76327" y="76326"/>
                  </a:lnTo>
                  <a:lnTo>
                    <a:pt x="35559" y="129159"/>
                  </a:lnTo>
                  <a:lnTo>
                    <a:pt x="9270" y="191388"/>
                  </a:lnTo>
                  <a:lnTo>
                    <a:pt x="0" y="260604"/>
                  </a:lnTo>
                  <a:lnTo>
                    <a:pt x="9270" y="329946"/>
                  </a:lnTo>
                  <a:lnTo>
                    <a:pt x="35559" y="392175"/>
                  </a:lnTo>
                  <a:lnTo>
                    <a:pt x="76327" y="445008"/>
                  </a:lnTo>
                  <a:lnTo>
                    <a:pt x="129159" y="485775"/>
                  </a:lnTo>
                  <a:lnTo>
                    <a:pt x="191389" y="512063"/>
                  </a:lnTo>
                  <a:lnTo>
                    <a:pt x="260730" y="521335"/>
                  </a:lnTo>
                  <a:lnTo>
                    <a:pt x="329946" y="512063"/>
                  </a:lnTo>
                  <a:lnTo>
                    <a:pt x="392303" y="485775"/>
                  </a:lnTo>
                  <a:lnTo>
                    <a:pt x="445008" y="445008"/>
                  </a:lnTo>
                  <a:lnTo>
                    <a:pt x="485774" y="392175"/>
                  </a:lnTo>
                  <a:lnTo>
                    <a:pt x="512064" y="329946"/>
                  </a:lnTo>
                  <a:lnTo>
                    <a:pt x="521334" y="260604"/>
                  </a:lnTo>
                  <a:lnTo>
                    <a:pt x="512064" y="191388"/>
                  </a:lnTo>
                  <a:lnTo>
                    <a:pt x="485774" y="129159"/>
                  </a:lnTo>
                  <a:lnTo>
                    <a:pt x="445008" y="76326"/>
                  </a:lnTo>
                  <a:lnTo>
                    <a:pt x="392303" y="35560"/>
                  </a:lnTo>
                  <a:lnTo>
                    <a:pt x="329946" y="9271"/>
                  </a:lnTo>
                  <a:lnTo>
                    <a:pt x="260730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568577" y="3010153"/>
              <a:ext cx="521334" cy="521334"/>
            </a:xfrm>
            <a:custGeom>
              <a:avLst/>
              <a:gdLst/>
              <a:ahLst/>
              <a:cxnLst/>
              <a:rect l="l" t="t" r="r" b="b"/>
              <a:pathLst>
                <a:path w="521335" h="521335">
                  <a:moveTo>
                    <a:pt x="521334" y="260604"/>
                  </a:moveTo>
                  <a:lnTo>
                    <a:pt x="512064" y="191388"/>
                  </a:lnTo>
                  <a:lnTo>
                    <a:pt x="485774" y="129159"/>
                  </a:lnTo>
                  <a:lnTo>
                    <a:pt x="445008" y="76326"/>
                  </a:lnTo>
                  <a:lnTo>
                    <a:pt x="392303" y="35560"/>
                  </a:lnTo>
                  <a:lnTo>
                    <a:pt x="329946" y="9271"/>
                  </a:lnTo>
                  <a:lnTo>
                    <a:pt x="260730" y="0"/>
                  </a:lnTo>
                  <a:lnTo>
                    <a:pt x="191389" y="9271"/>
                  </a:lnTo>
                  <a:lnTo>
                    <a:pt x="129159" y="35560"/>
                  </a:lnTo>
                  <a:lnTo>
                    <a:pt x="76327" y="76326"/>
                  </a:lnTo>
                  <a:lnTo>
                    <a:pt x="35559" y="129159"/>
                  </a:lnTo>
                  <a:lnTo>
                    <a:pt x="9270" y="191388"/>
                  </a:lnTo>
                  <a:lnTo>
                    <a:pt x="0" y="260604"/>
                  </a:lnTo>
                  <a:lnTo>
                    <a:pt x="9270" y="329946"/>
                  </a:lnTo>
                  <a:lnTo>
                    <a:pt x="35559" y="392175"/>
                  </a:lnTo>
                  <a:lnTo>
                    <a:pt x="76327" y="445008"/>
                  </a:lnTo>
                  <a:lnTo>
                    <a:pt x="129159" y="485775"/>
                  </a:lnTo>
                  <a:lnTo>
                    <a:pt x="191389" y="512063"/>
                  </a:lnTo>
                  <a:lnTo>
                    <a:pt x="260730" y="521335"/>
                  </a:lnTo>
                  <a:lnTo>
                    <a:pt x="329946" y="512063"/>
                  </a:lnTo>
                  <a:lnTo>
                    <a:pt x="392303" y="485775"/>
                  </a:lnTo>
                  <a:lnTo>
                    <a:pt x="445008" y="445008"/>
                  </a:lnTo>
                  <a:lnTo>
                    <a:pt x="485774" y="392175"/>
                  </a:lnTo>
                  <a:lnTo>
                    <a:pt x="512064" y="329946"/>
                  </a:lnTo>
                  <a:lnTo>
                    <a:pt x="521334" y="26060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433527" y="3638803"/>
            <a:ext cx="748030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i="1" dirty="0">
                <a:solidFill>
                  <a:srgbClr val="213739"/>
                </a:solidFill>
                <a:latin typeface="Calibri"/>
                <a:cs typeface="Calibri"/>
              </a:rPr>
              <a:t>bias</a:t>
            </a:r>
            <a:r>
              <a:rPr sz="1500" i="1" spc="33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500" spc="-13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13739"/>
                </a:solidFill>
                <a:latin typeface="Arial MT"/>
                <a:cs typeface="Arial MT"/>
              </a:rPr>
              <a:t>-</a:t>
            </a:r>
            <a:r>
              <a:rPr sz="1500" spc="-2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00" spc="-50" dirty="0">
                <a:solidFill>
                  <a:srgbClr val="213739"/>
                </a:solidFill>
                <a:latin typeface="Arial MT"/>
                <a:cs typeface="Arial MT"/>
              </a:rPr>
              <a:t>2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278507" y="1536572"/>
            <a:ext cx="111760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i="1" spc="-50" dirty="0">
                <a:solidFill>
                  <a:srgbClr val="213739"/>
                </a:solidFill>
                <a:latin typeface="Calibri"/>
                <a:cs typeface="Calibri"/>
              </a:rPr>
              <a:t>y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164336" y="2568955"/>
            <a:ext cx="280670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650" baseline="-10101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628013" y="2532379"/>
            <a:ext cx="1461135" cy="8324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90500">
              <a:lnSpc>
                <a:spcPts val="1650"/>
              </a:lnSpc>
              <a:spcBef>
                <a:spcPts val="110"/>
              </a:spcBef>
              <a:tabLst>
                <a:tab pos="704215" algn="l"/>
                <a:tab pos="1191895" algn="l"/>
              </a:tabLst>
            </a:pP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650" baseline="-1010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r>
              <a:rPr sz="1650" baseline="-1010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4</a:t>
            </a:r>
            <a:endParaRPr sz="1650" baseline="-10101">
              <a:latin typeface="Calibri"/>
              <a:cs typeface="Calibri"/>
            </a:endParaRPr>
          </a:p>
          <a:p>
            <a:pPr marL="100965">
              <a:lnSpc>
                <a:spcPts val="1650"/>
              </a:lnSpc>
              <a:tabLst>
                <a:tab pos="1127760" algn="l"/>
              </a:tabLst>
            </a:pP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h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650" baseline="-1010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h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650" baseline="-10101">
              <a:latin typeface="Calibri"/>
              <a:cs typeface="Calibri"/>
            </a:endParaRPr>
          </a:p>
          <a:p>
            <a:pPr marL="50800">
              <a:lnSpc>
                <a:spcPct val="100000"/>
              </a:lnSpc>
              <a:spcBef>
                <a:spcPts val="1235"/>
              </a:spcBef>
            </a:pPr>
            <a:r>
              <a:rPr sz="1500" spc="-40" dirty="0">
                <a:solidFill>
                  <a:srgbClr val="213739"/>
                </a:solidFill>
                <a:latin typeface="Arial MT"/>
                <a:cs typeface="Arial MT"/>
              </a:rPr>
              <a:t>-</a:t>
            </a:r>
            <a:r>
              <a:rPr sz="1500" spc="-25" dirty="0">
                <a:solidFill>
                  <a:srgbClr val="213739"/>
                </a:solidFill>
                <a:latin typeface="Arial MT"/>
                <a:cs typeface="Arial MT"/>
              </a:rPr>
              <a:t>1,1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994460" y="1862084"/>
            <a:ext cx="2713990" cy="2357120"/>
            <a:chOff x="994460" y="1862084"/>
            <a:chExt cx="2713990" cy="2357120"/>
          </a:xfrm>
        </p:grpSpPr>
        <p:sp>
          <p:nvSpPr>
            <p:cNvPr id="26" name="object 26"/>
            <p:cNvSpPr/>
            <p:nvPr/>
          </p:nvSpPr>
          <p:spPr>
            <a:xfrm>
              <a:off x="1016139" y="3485388"/>
              <a:ext cx="686435" cy="686435"/>
            </a:xfrm>
            <a:custGeom>
              <a:avLst/>
              <a:gdLst/>
              <a:ahLst/>
              <a:cxnLst/>
              <a:rect l="l" t="t" r="r" b="b"/>
              <a:pathLst>
                <a:path w="686435" h="686435">
                  <a:moveTo>
                    <a:pt x="686295" y="686181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4460" y="3463657"/>
              <a:ext cx="104659" cy="104661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1072959" y="3406521"/>
              <a:ext cx="1615440" cy="807720"/>
            </a:xfrm>
            <a:custGeom>
              <a:avLst/>
              <a:gdLst/>
              <a:ahLst/>
              <a:cxnLst/>
              <a:rect l="l" t="t" r="r" b="b"/>
              <a:pathLst>
                <a:path w="1615439" h="807720">
                  <a:moveTo>
                    <a:pt x="1615122" y="807592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60723" y="3364757"/>
              <a:ext cx="84085" cy="122262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766570" y="3546729"/>
              <a:ext cx="125730" cy="624840"/>
            </a:xfrm>
            <a:custGeom>
              <a:avLst/>
              <a:gdLst/>
              <a:ahLst/>
              <a:cxnLst/>
              <a:rect l="l" t="t" r="r" b="b"/>
              <a:pathLst>
                <a:path w="125730" h="624839">
                  <a:moveTo>
                    <a:pt x="62737" y="624840"/>
                  </a:moveTo>
                  <a:lnTo>
                    <a:pt x="62737" y="8000"/>
                  </a:lnTo>
                </a:path>
                <a:path w="125730" h="624839">
                  <a:moveTo>
                    <a:pt x="0" y="51435"/>
                  </a:moveTo>
                  <a:lnTo>
                    <a:pt x="24637" y="42418"/>
                  </a:lnTo>
                  <a:lnTo>
                    <a:pt x="42672" y="30099"/>
                  </a:lnTo>
                  <a:lnTo>
                    <a:pt x="55118" y="15621"/>
                  </a:lnTo>
                  <a:lnTo>
                    <a:pt x="62737" y="0"/>
                  </a:lnTo>
                  <a:lnTo>
                    <a:pt x="70231" y="15621"/>
                  </a:lnTo>
                  <a:lnTo>
                    <a:pt x="82677" y="30099"/>
                  </a:lnTo>
                  <a:lnTo>
                    <a:pt x="100711" y="42418"/>
                  </a:lnTo>
                  <a:lnTo>
                    <a:pt x="125349" y="51435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030094" y="3471672"/>
              <a:ext cx="700405" cy="700405"/>
            </a:xfrm>
            <a:custGeom>
              <a:avLst/>
              <a:gdLst/>
              <a:ahLst/>
              <a:cxnLst/>
              <a:rect l="l" t="t" r="r" b="b"/>
              <a:pathLst>
                <a:path w="700405" h="700404">
                  <a:moveTo>
                    <a:pt x="700024" y="699896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08377" y="3449924"/>
              <a:ext cx="105171" cy="105186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1956054" y="3471672"/>
              <a:ext cx="700405" cy="700405"/>
            </a:xfrm>
            <a:custGeom>
              <a:avLst/>
              <a:gdLst/>
              <a:ahLst/>
              <a:cxnLst/>
              <a:rect l="l" t="t" r="r" b="b"/>
              <a:pathLst>
                <a:path w="700405" h="700404">
                  <a:moveTo>
                    <a:pt x="0" y="699896"/>
                  </a:moveTo>
                  <a:lnTo>
                    <a:pt x="700023" y="0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72766" y="3449924"/>
              <a:ext cx="105171" cy="105186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2794254" y="3546729"/>
              <a:ext cx="125730" cy="624840"/>
            </a:xfrm>
            <a:custGeom>
              <a:avLst/>
              <a:gdLst/>
              <a:ahLst/>
              <a:cxnLst/>
              <a:rect l="l" t="t" r="r" b="b"/>
              <a:pathLst>
                <a:path w="125730" h="624839">
                  <a:moveTo>
                    <a:pt x="62737" y="624840"/>
                  </a:moveTo>
                  <a:lnTo>
                    <a:pt x="62737" y="8000"/>
                  </a:lnTo>
                </a:path>
                <a:path w="125730" h="624839">
                  <a:moveTo>
                    <a:pt x="0" y="51435"/>
                  </a:moveTo>
                  <a:lnTo>
                    <a:pt x="24637" y="42418"/>
                  </a:lnTo>
                  <a:lnTo>
                    <a:pt x="42671" y="30099"/>
                  </a:lnTo>
                  <a:lnTo>
                    <a:pt x="55118" y="15621"/>
                  </a:lnTo>
                  <a:lnTo>
                    <a:pt x="62737" y="0"/>
                  </a:lnTo>
                  <a:lnTo>
                    <a:pt x="70231" y="15621"/>
                  </a:lnTo>
                  <a:lnTo>
                    <a:pt x="82676" y="30099"/>
                  </a:lnTo>
                  <a:lnTo>
                    <a:pt x="100710" y="42418"/>
                  </a:lnTo>
                  <a:lnTo>
                    <a:pt x="125348" y="51435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998218" y="3396107"/>
              <a:ext cx="1635760" cy="818515"/>
            </a:xfrm>
            <a:custGeom>
              <a:avLst/>
              <a:gdLst/>
              <a:ahLst/>
              <a:cxnLst/>
              <a:rect l="l" t="t" r="r" b="b"/>
              <a:pathLst>
                <a:path w="1635760" h="818514">
                  <a:moveTo>
                    <a:pt x="0" y="818006"/>
                  </a:moveTo>
                  <a:lnTo>
                    <a:pt x="1635759" y="0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62114" y="3354470"/>
              <a:ext cx="84163" cy="122136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2983864" y="3469005"/>
              <a:ext cx="702945" cy="702945"/>
            </a:xfrm>
            <a:custGeom>
              <a:avLst/>
              <a:gdLst/>
              <a:ahLst/>
              <a:cxnLst/>
              <a:rect l="l" t="t" r="r" b="b"/>
              <a:pathLst>
                <a:path w="702945" h="702945">
                  <a:moveTo>
                    <a:pt x="0" y="702564"/>
                  </a:moveTo>
                  <a:lnTo>
                    <a:pt x="702563" y="0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603498" y="3447274"/>
              <a:ext cx="104659" cy="104661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1041425" y="2308860"/>
              <a:ext cx="1203325" cy="802640"/>
            </a:xfrm>
            <a:custGeom>
              <a:avLst/>
              <a:gdLst/>
              <a:ahLst/>
              <a:cxnLst/>
              <a:rect l="l" t="t" r="r" b="b"/>
              <a:pathLst>
                <a:path w="1203325" h="802639">
                  <a:moveTo>
                    <a:pt x="0" y="802131"/>
                  </a:moveTo>
                  <a:lnTo>
                    <a:pt x="1203172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83766" y="2287145"/>
              <a:ext cx="66671" cy="85467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1949577" y="2348738"/>
              <a:ext cx="340995" cy="681990"/>
            </a:xfrm>
            <a:custGeom>
              <a:avLst/>
              <a:gdLst/>
              <a:ahLst/>
              <a:cxnLst/>
              <a:rect l="l" t="t" r="r" b="b"/>
              <a:pathLst>
                <a:path w="340994" h="681989">
                  <a:moveTo>
                    <a:pt x="0" y="681482"/>
                  </a:moveTo>
                  <a:lnTo>
                    <a:pt x="340741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227579" y="2342641"/>
              <a:ext cx="91568" cy="64136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2395855" y="2348738"/>
              <a:ext cx="340995" cy="681990"/>
            </a:xfrm>
            <a:custGeom>
              <a:avLst/>
              <a:gdLst/>
              <a:ahLst/>
              <a:cxnLst/>
              <a:rect l="l" t="t" r="r" b="b"/>
              <a:pathLst>
                <a:path w="340994" h="681989">
                  <a:moveTo>
                    <a:pt x="340868" y="681482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67025" y="2342641"/>
              <a:ext cx="91568" cy="64136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2441575" y="2308860"/>
              <a:ext cx="1223010" cy="815340"/>
            </a:xfrm>
            <a:custGeom>
              <a:avLst/>
              <a:gdLst/>
              <a:ahLst/>
              <a:cxnLst/>
              <a:rect l="l" t="t" r="r" b="b"/>
              <a:pathLst>
                <a:path w="1223010" h="815339">
                  <a:moveTo>
                    <a:pt x="1222628" y="814959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435734" y="2287145"/>
              <a:ext cx="66671" cy="85467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2294890" y="1864614"/>
              <a:ext cx="96520" cy="268605"/>
            </a:xfrm>
            <a:custGeom>
              <a:avLst/>
              <a:gdLst/>
              <a:ahLst/>
              <a:cxnLst/>
              <a:rect l="l" t="t" r="r" b="b"/>
              <a:pathLst>
                <a:path w="96519" h="268605">
                  <a:moveTo>
                    <a:pt x="48260" y="268605"/>
                  </a:moveTo>
                  <a:lnTo>
                    <a:pt x="48260" y="4063"/>
                  </a:lnTo>
                </a:path>
                <a:path w="96519" h="268605">
                  <a:moveTo>
                    <a:pt x="0" y="41783"/>
                  </a:moveTo>
                  <a:lnTo>
                    <a:pt x="18923" y="34416"/>
                  </a:lnTo>
                  <a:lnTo>
                    <a:pt x="32893" y="24511"/>
                  </a:lnTo>
                  <a:lnTo>
                    <a:pt x="42418" y="12700"/>
                  </a:lnTo>
                  <a:lnTo>
                    <a:pt x="48260" y="0"/>
                  </a:lnTo>
                  <a:lnTo>
                    <a:pt x="54102" y="12700"/>
                  </a:lnTo>
                  <a:lnTo>
                    <a:pt x="63627" y="24511"/>
                  </a:lnTo>
                  <a:lnTo>
                    <a:pt x="77470" y="34416"/>
                  </a:lnTo>
                  <a:lnTo>
                    <a:pt x="96393" y="41783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343204" y="3999632"/>
            <a:ext cx="2451100" cy="1073785"/>
          </a:xfrm>
          <a:prstGeom prst="rect">
            <a:avLst/>
          </a:prstGeom>
        </p:spPr>
        <p:txBody>
          <a:bodyPr vert="horz" wrap="square" lIns="0" tIns="125095" rIns="0" bIns="0" rtlCol="0">
            <a:spAutoFit/>
          </a:bodyPr>
          <a:lstStyle/>
          <a:p>
            <a:pPr marL="496570" algn="ctr">
              <a:lnSpc>
                <a:spcPct val="100000"/>
              </a:lnSpc>
              <a:spcBef>
                <a:spcPts val="985"/>
              </a:spcBef>
            </a:pPr>
            <a:r>
              <a:rPr sz="1500" i="1" spc="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650" spc="37" baseline="-10101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650" baseline="-10101">
              <a:latin typeface="Calibri"/>
              <a:cs typeface="Calibri"/>
            </a:endParaRPr>
          </a:p>
          <a:p>
            <a:pPr marL="38100" marR="30480">
              <a:lnSpc>
                <a:spcPct val="117700"/>
              </a:lnSpc>
              <a:spcBef>
                <a:spcPts val="625"/>
              </a:spcBef>
            </a:pP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red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edge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indicates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i="1" spc="10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=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-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1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blue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edge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indicates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i="1" spc="12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=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+1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50" name="object 50" descr="$PPTXTitle"/>
          <p:cNvSpPr txBox="1">
            <a:spLocks noGrp="1"/>
          </p:cNvSpPr>
          <p:nvPr>
            <p:ph type="title"/>
          </p:nvPr>
        </p:nvSpPr>
        <p:spPr>
          <a:xfrm>
            <a:off x="4781803" y="924305"/>
            <a:ext cx="400748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spc="-16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claim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that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this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network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65" dirty="0">
                <a:solidFill>
                  <a:srgbClr val="213739"/>
                </a:solidFill>
                <a:latin typeface="Arial MT"/>
                <a:cs typeface="Arial MT"/>
              </a:rPr>
              <a:t>can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75" dirty="0">
                <a:solidFill>
                  <a:srgbClr val="213739"/>
                </a:solidFill>
                <a:latin typeface="Arial MT"/>
                <a:cs typeface="Arial MT"/>
              </a:rPr>
              <a:t>be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70" dirty="0">
                <a:solidFill>
                  <a:srgbClr val="213739"/>
                </a:solidFill>
                <a:latin typeface="Arial MT"/>
                <a:cs typeface="Arial MT"/>
              </a:rPr>
              <a:t>used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to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im-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4784852" y="1238249"/>
            <a:ext cx="401066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32815" algn="l"/>
                <a:tab pos="1487805" algn="l"/>
                <a:tab pos="2374900" algn="l"/>
                <a:tab pos="3312160" algn="l"/>
              </a:tabLst>
            </a:pP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plement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	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any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	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boolean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	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function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	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(linearly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4756403" y="1414779"/>
            <a:ext cx="4078604" cy="1152525"/>
          </a:xfrm>
          <a:prstGeom prst="rect">
            <a:avLst/>
          </a:prstGeom>
        </p:spPr>
        <p:txBody>
          <a:bodyPr vert="horz" wrap="square" lIns="0" tIns="148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70"/>
              </a:spcBef>
            </a:pP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separable</a:t>
            </a:r>
            <a:r>
              <a:rPr sz="1750" spc="-1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or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not)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!</a:t>
            </a:r>
            <a:endParaRPr sz="175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1070"/>
              </a:spcBef>
            </a:pP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In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other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words,</a:t>
            </a:r>
            <a:r>
              <a:rPr sz="1750" spc="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can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find</a:t>
            </a:r>
            <a:r>
              <a:rPr sz="1750" spc="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spc="-15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-11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spc="-15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-11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spc="-15" baseline="-8888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-11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4</a:t>
            </a:r>
            <a:endParaRPr sz="1875" baseline="-8888">
              <a:latin typeface="Calibri"/>
              <a:cs typeface="Calibri"/>
            </a:endParaRPr>
          </a:p>
          <a:p>
            <a:pPr marL="40640">
              <a:lnSpc>
                <a:spcPct val="100000"/>
              </a:lnSpc>
              <a:spcBef>
                <a:spcPts val="434"/>
              </a:spcBef>
            </a:pP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such</a:t>
            </a:r>
            <a:r>
              <a:rPr sz="1750" spc="-229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that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truth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table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any</a:t>
            </a:r>
            <a:r>
              <a:rPr sz="1750" spc="-2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boolean</a:t>
            </a:r>
            <a:r>
              <a:rPr sz="1750" spc="-2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func-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4781169" y="2497962"/>
            <a:ext cx="4010660" cy="245046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 marR="9525" indent="4445">
              <a:lnSpc>
                <a:spcPct val="124300"/>
              </a:lnSpc>
              <a:spcBef>
                <a:spcPts val="240"/>
              </a:spcBef>
            </a:pP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tion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can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be</a:t>
            </a:r>
            <a:r>
              <a:rPr sz="1750" spc="-1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represented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by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this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network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Astonishing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claim!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Well,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not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rea</a:t>
            </a:r>
            <a:r>
              <a:rPr sz="1750" spc="-3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ly,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if 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you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un-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derstand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what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is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going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on</a:t>
            </a:r>
            <a:endParaRPr sz="1750">
              <a:latin typeface="Arial MT"/>
              <a:cs typeface="Arial MT"/>
            </a:endParaRPr>
          </a:p>
          <a:p>
            <a:pPr marL="17145" marR="5080" indent="-5080" algn="just">
              <a:lnSpc>
                <a:spcPct val="117400"/>
              </a:lnSpc>
              <a:spcBef>
                <a:spcPts val="509"/>
              </a:spcBef>
            </a:pP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Each</a:t>
            </a:r>
            <a:r>
              <a:rPr sz="1750" spc="-2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perceptron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in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middle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layer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fires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only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for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a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specific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 input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(and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no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5" dirty="0">
                <a:solidFill>
                  <a:srgbClr val="213739"/>
                </a:solidFill>
                <a:latin typeface="Arial MT"/>
                <a:cs typeface="Arial MT"/>
              </a:rPr>
              <a:t>two</a:t>
            </a:r>
            <a:r>
              <a:rPr sz="1750" spc="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perceptrons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fire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for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same</a:t>
            </a:r>
            <a:r>
              <a:rPr sz="1750" spc="-2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input)</a:t>
            </a:r>
            <a:endParaRPr sz="1750">
              <a:latin typeface="Arial MT"/>
              <a:cs typeface="Arial MT"/>
            </a:endParaRPr>
          </a:p>
          <a:p>
            <a:pPr marL="13970" algn="just">
              <a:lnSpc>
                <a:spcPct val="100000"/>
              </a:lnSpc>
              <a:spcBef>
                <a:spcPts val="1115"/>
              </a:spcBef>
            </a:pP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second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perceptron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fires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for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{-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1,1}</a:t>
            </a:r>
            <a:endParaRPr sz="175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32279" y="2132355"/>
            <a:ext cx="221589" cy="22158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720339" y="4110608"/>
            <a:ext cx="244475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500" i="1" spc="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650" spc="37" baseline="-10101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650" baseline="-10101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39597" y="3008883"/>
            <a:ext cx="3607435" cy="523875"/>
            <a:chOff x="539597" y="3008883"/>
            <a:chExt cx="3607435" cy="523875"/>
          </a:xfrm>
        </p:grpSpPr>
        <p:sp>
          <p:nvSpPr>
            <p:cNvPr id="5" name="object 5"/>
            <p:cNvSpPr/>
            <p:nvPr/>
          </p:nvSpPr>
          <p:spPr>
            <a:xfrm>
              <a:off x="544677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256921" y="0"/>
                  </a:moveTo>
                  <a:lnTo>
                    <a:pt x="188620" y="9144"/>
                  </a:lnTo>
                  <a:lnTo>
                    <a:pt x="127241" y="35051"/>
                  </a:lnTo>
                  <a:lnTo>
                    <a:pt x="75247" y="75184"/>
                  </a:lnTo>
                  <a:lnTo>
                    <a:pt x="35077" y="127126"/>
                  </a:lnTo>
                  <a:lnTo>
                    <a:pt x="9182" y="188595"/>
                  </a:lnTo>
                  <a:lnTo>
                    <a:pt x="0" y="256794"/>
                  </a:lnTo>
                  <a:lnTo>
                    <a:pt x="9182" y="325120"/>
                  </a:lnTo>
                  <a:lnTo>
                    <a:pt x="35077" y="386588"/>
                  </a:lnTo>
                  <a:lnTo>
                    <a:pt x="75247" y="438531"/>
                  </a:lnTo>
                  <a:lnTo>
                    <a:pt x="127241" y="478663"/>
                  </a:lnTo>
                  <a:lnTo>
                    <a:pt x="188620" y="504571"/>
                  </a:lnTo>
                  <a:lnTo>
                    <a:pt x="256921" y="513714"/>
                  </a:lnTo>
                  <a:lnTo>
                    <a:pt x="325221" y="504571"/>
                  </a:lnTo>
                  <a:lnTo>
                    <a:pt x="386588" y="478663"/>
                  </a:lnTo>
                  <a:lnTo>
                    <a:pt x="438581" y="438531"/>
                  </a:lnTo>
                  <a:lnTo>
                    <a:pt x="478764" y="386588"/>
                  </a:lnTo>
                  <a:lnTo>
                    <a:pt x="504659" y="325120"/>
                  </a:lnTo>
                  <a:lnTo>
                    <a:pt x="513842" y="256794"/>
                  </a:lnTo>
                  <a:lnTo>
                    <a:pt x="504659" y="188595"/>
                  </a:lnTo>
                  <a:lnTo>
                    <a:pt x="478764" y="127126"/>
                  </a:lnTo>
                  <a:lnTo>
                    <a:pt x="438581" y="75184"/>
                  </a:lnTo>
                  <a:lnTo>
                    <a:pt x="386588" y="35051"/>
                  </a:lnTo>
                  <a:lnTo>
                    <a:pt x="325221" y="9144"/>
                  </a:lnTo>
                  <a:lnTo>
                    <a:pt x="256921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44677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513842" y="256794"/>
                  </a:moveTo>
                  <a:lnTo>
                    <a:pt x="504659" y="188595"/>
                  </a:lnTo>
                  <a:lnTo>
                    <a:pt x="478764" y="127126"/>
                  </a:lnTo>
                  <a:lnTo>
                    <a:pt x="438581" y="75184"/>
                  </a:lnTo>
                  <a:lnTo>
                    <a:pt x="386588" y="35051"/>
                  </a:lnTo>
                  <a:lnTo>
                    <a:pt x="325221" y="9144"/>
                  </a:lnTo>
                  <a:lnTo>
                    <a:pt x="256921" y="0"/>
                  </a:lnTo>
                  <a:lnTo>
                    <a:pt x="188620" y="9144"/>
                  </a:lnTo>
                  <a:lnTo>
                    <a:pt x="127241" y="35051"/>
                  </a:lnTo>
                  <a:lnTo>
                    <a:pt x="75247" y="75184"/>
                  </a:lnTo>
                  <a:lnTo>
                    <a:pt x="35077" y="127126"/>
                  </a:lnTo>
                  <a:lnTo>
                    <a:pt x="9182" y="188595"/>
                  </a:lnTo>
                  <a:lnTo>
                    <a:pt x="0" y="256794"/>
                  </a:lnTo>
                  <a:lnTo>
                    <a:pt x="9182" y="325120"/>
                  </a:lnTo>
                  <a:lnTo>
                    <a:pt x="35077" y="386588"/>
                  </a:lnTo>
                  <a:lnTo>
                    <a:pt x="75247" y="438531"/>
                  </a:lnTo>
                  <a:lnTo>
                    <a:pt x="127241" y="478663"/>
                  </a:lnTo>
                  <a:lnTo>
                    <a:pt x="188620" y="504571"/>
                  </a:lnTo>
                  <a:lnTo>
                    <a:pt x="256921" y="513714"/>
                  </a:lnTo>
                  <a:lnTo>
                    <a:pt x="325221" y="504571"/>
                  </a:lnTo>
                  <a:lnTo>
                    <a:pt x="386588" y="478663"/>
                  </a:lnTo>
                  <a:lnTo>
                    <a:pt x="438581" y="438531"/>
                  </a:lnTo>
                  <a:lnTo>
                    <a:pt x="478764" y="386588"/>
                  </a:lnTo>
                  <a:lnTo>
                    <a:pt x="504659" y="325120"/>
                  </a:lnTo>
                  <a:lnTo>
                    <a:pt x="513842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72386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256920" y="0"/>
                  </a:moveTo>
                  <a:lnTo>
                    <a:pt x="188594" y="9144"/>
                  </a:lnTo>
                  <a:lnTo>
                    <a:pt x="127254" y="35051"/>
                  </a:lnTo>
                  <a:lnTo>
                    <a:pt x="75183" y="75184"/>
                  </a:lnTo>
                  <a:lnTo>
                    <a:pt x="35051" y="127126"/>
                  </a:lnTo>
                  <a:lnTo>
                    <a:pt x="9143" y="188595"/>
                  </a:lnTo>
                  <a:lnTo>
                    <a:pt x="0" y="256794"/>
                  </a:lnTo>
                  <a:lnTo>
                    <a:pt x="9143" y="325120"/>
                  </a:lnTo>
                  <a:lnTo>
                    <a:pt x="35051" y="386588"/>
                  </a:lnTo>
                  <a:lnTo>
                    <a:pt x="75183" y="438531"/>
                  </a:lnTo>
                  <a:lnTo>
                    <a:pt x="127254" y="478663"/>
                  </a:lnTo>
                  <a:lnTo>
                    <a:pt x="188594" y="504571"/>
                  </a:lnTo>
                  <a:lnTo>
                    <a:pt x="256920" y="513714"/>
                  </a:lnTo>
                  <a:lnTo>
                    <a:pt x="325119" y="504571"/>
                  </a:lnTo>
                  <a:lnTo>
                    <a:pt x="386588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0" y="325120"/>
                  </a:lnTo>
                  <a:lnTo>
                    <a:pt x="513842" y="256794"/>
                  </a:lnTo>
                  <a:lnTo>
                    <a:pt x="504570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588" y="35051"/>
                  </a:lnTo>
                  <a:lnTo>
                    <a:pt x="325119" y="9144"/>
                  </a:lnTo>
                  <a:lnTo>
                    <a:pt x="256920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72386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513842" y="256794"/>
                  </a:moveTo>
                  <a:lnTo>
                    <a:pt x="504570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588" y="35051"/>
                  </a:lnTo>
                  <a:lnTo>
                    <a:pt x="325119" y="9144"/>
                  </a:lnTo>
                  <a:lnTo>
                    <a:pt x="256920" y="0"/>
                  </a:lnTo>
                  <a:lnTo>
                    <a:pt x="188594" y="9144"/>
                  </a:lnTo>
                  <a:lnTo>
                    <a:pt x="127254" y="35051"/>
                  </a:lnTo>
                  <a:lnTo>
                    <a:pt x="75183" y="75184"/>
                  </a:lnTo>
                  <a:lnTo>
                    <a:pt x="35051" y="127126"/>
                  </a:lnTo>
                  <a:lnTo>
                    <a:pt x="9143" y="188595"/>
                  </a:lnTo>
                  <a:lnTo>
                    <a:pt x="0" y="256794"/>
                  </a:lnTo>
                  <a:lnTo>
                    <a:pt x="9143" y="325120"/>
                  </a:lnTo>
                  <a:lnTo>
                    <a:pt x="35051" y="386588"/>
                  </a:lnTo>
                  <a:lnTo>
                    <a:pt x="75183" y="438531"/>
                  </a:lnTo>
                  <a:lnTo>
                    <a:pt x="127254" y="478663"/>
                  </a:lnTo>
                  <a:lnTo>
                    <a:pt x="188594" y="504571"/>
                  </a:lnTo>
                  <a:lnTo>
                    <a:pt x="256920" y="513714"/>
                  </a:lnTo>
                  <a:lnTo>
                    <a:pt x="325119" y="504571"/>
                  </a:lnTo>
                  <a:lnTo>
                    <a:pt x="386588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0" y="325120"/>
                  </a:lnTo>
                  <a:lnTo>
                    <a:pt x="513842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600071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256921" y="0"/>
                  </a:moveTo>
                  <a:lnTo>
                    <a:pt x="188595" y="9144"/>
                  </a:lnTo>
                  <a:lnTo>
                    <a:pt x="127254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3" y="188595"/>
                  </a:lnTo>
                  <a:lnTo>
                    <a:pt x="0" y="256794"/>
                  </a:lnTo>
                  <a:lnTo>
                    <a:pt x="9143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254" y="478663"/>
                  </a:lnTo>
                  <a:lnTo>
                    <a:pt x="188595" y="504571"/>
                  </a:lnTo>
                  <a:lnTo>
                    <a:pt x="256921" y="513714"/>
                  </a:lnTo>
                  <a:lnTo>
                    <a:pt x="325120" y="504571"/>
                  </a:lnTo>
                  <a:lnTo>
                    <a:pt x="386588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842" y="256794"/>
                  </a:ln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588" y="35051"/>
                  </a:lnTo>
                  <a:lnTo>
                    <a:pt x="325120" y="9144"/>
                  </a:lnTo>
                  <a:lnTo>
                    <a:pt x="256921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600071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513842" y="256794"/>
                  </a:move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588" y="35051"/>
                  </a:lnTo>
                  <a:lnTo>
                    <a:pt x="325120" y="9144"/>
                  </a:lnTo>
                  <a:lnTo>
                    <a:pt x="256921" y="0"/>
                  </a:lnTo>
                  <a:lnTo>
                    <a:pt x="188595" y="9144"/>
                  </a:lnTo>
                  <a:lnTo>
                    <a:pt x="127254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3" y="188595"/>
                  </a:lnTo>
                  <a:lnTo>
                    <a:pt x="0" y="256794"/>
                  </a:lnTo>
                  <a:lnTo>
                    <a:pt x="9143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254" y="478663"/>
                  </a:lnTo>
                  <a:lnTo>
                    <a:pt x="188595" y="504571"/>
                  </a:lnTo>
                  <a:lnTo>
                    <a:pt x="256921" y="513714"/>
                  </a:lnTo>
                  <a:lnTo>
                    <a:pt x="325120" y="504571"/>
                  </a:lnTo>
                  <a:lnTo>
                    <a:pt x="386588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842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627755" y="3013963"/>
              <a:ext cx="513715" cy="513715"/>
            </a:xfrm>
            <a:custGeom>
              <a:avLst/>
              <a:gdLst/>
              <a:ahLst/>
              <a:cxnLst/>
              <a:rect l="l" t="t" r="r" b="b"/>
              <a:pathLst>
                <a:path w="513714" h="513714">
                  <a:moveTo>
                    <a:pt x="256794" y="0"/>
                  </a:moveTo>
                  <a:lnTo>
                    <a:pt x="188595" y="9144"/>
                  </a:lnTo>
                  <a:lnTo>
                    <a:pt x="127127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4" y="188595"/>
                  </a:lnTo>
                  <a:lnTo>
                    <a:pt x="0" y="256794"/>
                  </a:lnTo>
                  <a:lnTo>
                    <a:pt x="9144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127" y="478663"/>
                  </a:lnTo>
                  <a:lnTo>
                    <a:pt x="188595" y="504571"/>
                  </a:lnTo>
                  <a:lnTo>
                    <a:pt x="256794" y="513714"/>
                  </a:lnTo>
                  <a:lnTo>
                    <a:pt x="325120" y="504571"/>
                  </a:lnTo>
                  <a:lnTo>
                    <a:pt x="386461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715" y="256794"/>
                  </a:ln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461" y="35051"/>
                  </a:lnTo>
                  <a:lnTo>
                    <a:pt x="325120" y="9144"/>
                  </a:lnTo>
                  <a:lnTo>
                    <a:pt x="256794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627755" y="3013963"/>
              <a:ext cx="513715" cy="513715"/>
            </a:xfrm>
            <a:custGeom>
              <a:avLst/>
              <a:gdLst/>
              <a:ahLst/>
              <a:cxnLst/>
              <a:rect l="l" t="t" r="r" b="b"/>
              <a:pathLst>
                <a:path w="513714" h="513714">
                  <a:moveTo>
                    <a:pt x="513715" y="256794"/>
                  </a:move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461" y="35051"/>
                  </a:lnTo>
                  <a:lnTo>
                    <a:pt x="325120" y="9144"/>
                  </a:lnTo>
                  <a:lnTo>
                    <a:pt x="256794" y="0"/>
                  </a:lnTo>
                  <a:lnTo>
                    <a:pt x="188595" y="9144"/>
                  </a:lnTo>
                  <a:lnTo>
                    <a:pt x="127127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4" y="188595"/>
                  </a:lnTo>
                  <a:lnTo>
                    <a:pt x="0" y="256794"/>
                  </a:lnTo>
                  <a:lnTo>
                    <a:pt x="9144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127" y="478663"/>
                  </a:lnTo>
                  <a:lnTo>
                    <a:pt x="188595" y="504571"/>
                  </a:lnTo>
                  <a:lnTo>
                    <a:pt x="256794" y="513714"/>
                  </a:lnTo>
                  <a:lnTo>
                    <a:pt x="325120" y="504571"/>
                  </a:lnTo>
                  <a:lnTo>
                    <a:pt x="386461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715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747770" y="2723515"/>
            <a:ext cx="252095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h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4</a:t>
            </a:r>
            <a:endParaRPr sz="1650" baseline="-10101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16407" y="2985642"/>
            <a:ext cx="570865" cy="570865"/>
            <a:chOff x="516407" y="2985642"/>
            <a:chExt cx="570865" cy="570865"/>
          </a:xfrm>
        </p:grpSpPr>
        <p:sp>
          <p:nvSpPr>
            <p:cNvPr id="15" name="object 15"/>
            <p:cNvSpPr/>
            <p:nvPr/>
          </p:nvSpPr>
          <p:spPr>
            <a:xfrm>
              <a:off x="521487" y="2990722"/>
              <a:ext cx="560705" cy="560705"/>
            </a:xfrm>
            <a:custGeom>
              <a:avLst/>
              <a:gdLst/>
              <a:ahLst/>
              <a:cxnLst/>
              <a:rect l="l" t="t" r="r" b="b"/>
              <a:pathLst>
                <a:path w="560705" h="560704">
                  <a:moveTo>
                    <a:pt x="280111" y="0"/>
                  </a:moveTo>
                  <a:lnTo>
                    <a:pt x="205638" y="10032"/>
                  </a:lnTo>
                  <a:lnTo>
                    <a:pt x="138734" y="38226"/>
                  </a:lnTo>
                  <a:lnTo>
                    <a:pt x="82042" y="82041"/>
                  </a:lnTo>
                  <a:lnTo>
                    <a:pt x="38239" y="138684"/>
                  </a:lnTo>
                  <a:lnTo>
                    <a:pt x="9994" y="205612"/>
                  </a:lnTo>
                  <a:lnTo>
                    <a:pt x="0" y="280035"/>
                  </a:lnTo>
                  <a:lnTo>
                    <a:pt x="9994" y="354584"/>
                  </a:lnTo>
                  <a:lnTo>
                    <a:pt x="38239" y="421513"/>
                  </a:lnTo>
                  <a:lnTo>
                    <a:pt x="82042" y="478154"/>
                  </a:lnTo>
                  <a:lnTo>
                    <a:pt x="138734" y="521969"/>
                  </a:lnTo>
                  <a:lnTo>
                    <a:pt x="205638" y="550163"/>
                  </a:lnTo>
                  <a:lnTo>
                    <a:pt x="280111" y="560197"/>
                  </a:lnTo>
                  <a:lnTo>
                    <a:pt x="354571" y="550163"/>
                  </a:lnTo>
                  <a:lnTo>
                    <a:pt x="421487" y="521969"/>
                  </a:lnTo>
                  <a:lnTo>
                    <a:pt x="478180" y="478154"/>
                  </a:lnTo>
                  <a:lnTo>
                    <a:pt x="521982" y="421513"/>
                  </a:lnTo>
                  <a:lnTo>
                    <a:pt x="550214" y="354584"/>
                  </a:lnTo>
                  <a:lnTo>
                    <a:pt x="560222" y="280035"/>
                  </a:lnTo>
                  <a:lnTo>
                    <a:pt x="550214" y="205612"/>
                  </a:lnTo>
                  <a:lnTo>
                    <a:pt x="521982" y="138684"/>
                  </a:lnTo>
                  <a:lnTo>
                    <a:pt x="478180" y="82041"/>
                  </a:lnTo>
                  <a:lnTo>
                    <a:pt x="421487" y="38226"/>
                  </a:lnTo>
                  <a:lnTo>
                    <a:pt x="354571" y="10032"/>
                  </a:lnTo>
                  <a:lnTo>
                    <a:pt x="280111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21487" y="2990722"/>
              <a:ext cx="560705" cy="560705"/>
            </a:xfrm>
            <a:custGeom>
              <a:avLst/>
              <a:gdLst/>
              <a:ahLst/>
              <a:cxnLst/>
              <a:rect l="l" t="t" r="r" b="b"/>
              <a:pathLst>
                <a:path w="560705" h="560704">
                  <a:moveTo>
                    <a:pt x="560222" y="280035"/>
                  </a:moveTo>
                  <a:lnTo>
                    <a:pt x="550214" y="205612"/>
                  </a:lnTo>
                  <a:lnTo>
                    <a:pt x="521982" y="138684"/>
                  </a:lnTo>
                  <a:lnTo>
                    <a:pt x="478180" y="82041"/>
                  </a:lnTo>
                  <a:lnTo>
                    <a:pt x="421487" y="38226"/>
                  </a:lnTo>
                  <a:lnTo>
                    <a:pt x="354571" y="10032"/>
                  </a:lnTo>
                  <a:lnTo>
                    <a:pt x="280111" y="0"/>
                  </a:lnTo>
                  <a:lnTo>
                    <a:pt x="205638" y="10032"/>
                  </a:lnTo>
                  <a:lnTo>
                    <a:pt x="138734" y="38226"/>
                  </a:lnTo>
                  <a:lnTo>
                    <a:pt x="82042" y="82041"/>
                  </a:lnTo>
                  <a:lnTo>
                    <a:pt x="38239" y="138684"/>
                  </a:lnTo>
                  <a:lnTo>
                    <a:pt x="9994" y="205612"/>
                  </a:lnTo>
                  <a:lnTo>
                    <a:pt x="0" y="280035"/>
                  </a:lnTo>
                  <a:lnTo>
                    <a:pt x="9994" y="354584"/>
                  </a:lnTo>
                  <a:lnTo>
                    <a:pt x="38239" y="421513"/>
                  </a:lnTo>
                  <a:lnTo>
                    <a:pt x="82042" y="478154"/>
                  </a:lnTo>
                  <a:lnTo>
                    <a:pt x="138734" y="521969"/>
                  </a:lnTo>
                  <a:lnTo>
                    <a:pt x="205638" y="550163"/>
                  </a:lnTo>
                  <a:lnTo>
                    <a:pt x="280111" y="560197"/>
                  </a:lnTo>
                  <a:lnTo>
                    <a:pt x="354571" y="550163"/>
                  </a:lnTo>
                  <a:lnTo>
                    <a:pt x="421487" y="521969"/>
                  </a:lnTo>
                  <a:lnTo>
                    <a:pt x="478180" y="478154"/>
                  </a:lnTo>
                  <a:lnTo>
                    <a:pt x="521982" y="421513"/>
                  </a:lnTo>
                  <a:lnTo>
                    <a:pt x="550214" y="354584"/>
                  </a:lnTo>
                  <a:lnTo>
                    <a:pt x="560222" y="280035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89483" y="2723515"/>
            <a:ext cx="431800" cy="64643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11760">
              <a:lnSpc>
                <a:spcPct val="100000"/>
              </a:lnSpc>
              <a:spcBef>
                <a:spcPts val="110"/>
              </a:spcBef>
            </a:pPr>
            <a:r>
              <a:rPr sz="1500" i="1" spc="35" dirty="0">
                <a:solidFill>
                  <a:srgbClr val="213739"/>
                </a:solidFill>
                <a:latin typeface="Calibri"/>
                <a:cs typeface="Calibri"/>
              </a:rPr>
              <a:t>h</a:t>
            </a:r>
            <a:r>
              <a:rPr sz="1650" spc="52" baseline="-12626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650" baseline="-12626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1275"/>
              </a:spcBef>
            </a:pPr>
            <a:r>
              <a:rPr sz="1500" spc="-60" dirty="0">
                <a:solidFill>
                  <a:srgbClr val="213739"/>
                </a:solidFill>
                <a:latin typeface="Arial MT"/>
                <a:cs typeface="Arial MT"/>
              </a:rPr>
              <a:t>-</a:t>
            </a:r>
            <a:r>
              <a:rPr sz="1500" spc="-85" dirty="0">
                <a:solidFill>
                  <a:srgbClr val="213739"/>
                </a:solidFill>
                <a:latin typeface="Arial MT"/>
                <a:cs typeface="Arial MT"/>
              </a:rPr>
              <a:t>1,-</a:t>
            </a:r>
            <a:r>
              <a:rPr sz="1500" spc="-50" dirty="0">
                <a:solidFill>
                  <a:srgbClr val="213739"/>
                </a:solidFill>
                <a:latin typeface="Arial MT"/>
                <a:cs typeface="Arial MT"/>
              </a:rPr>
              <a:t>1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563497" y="3005073"/>
            <a:ext cx="1559560" cy="531495"/>
            <a:chOff x="1563497" y="3005073"/>
            <a:chExt cx="1559560" cy="531495"/>
          </a:xfrm>
        </p:grpSpPr>
        <p:sp>
          <p:nvSpPr>
            <p:cNvPr id="19" name="object 19"/>
            <p:cNvSpPr/>
            <p:nvPr/>
          </p:nvSpPr>
          <p:spPr>
            <a:xfrm>
              <a:off x="1568577" y="3010153"/>
              <a:ext cx="521334" cy="521334"/>
            </a:xfrm>
            <a:custGeom>
              <a:avLst/>
              <a:gdLst/>
              <a:ahLst/>
              <a:cxnLst/>
              <a:rect l="l" t="t" r="r" b="b"/>
              <a:pathLst>
                <a:path w="521335" h="521335">
                  <a:moveTo>
                    <a:pt x="260730" y="0"/>
                  </a:moveTo>
                  <a:lnTo>
                    <a:pt x="191389" y="9271"/>
                  </a:lnTo>
                  <a:lnTo>
                    <a:pt x="129159" y="35560"/>
                  </a:lnTo>
                  <a:lnTo>
                    <a:pt x="76327" y="76326"/>
                  </a:lnTo>
                  <a:lnTo>
                    <a:pt x="35559" y="129159"/>
                  </a:lnTo>
                  <a:lnTo>
                    <a:pt x="9270" y="191388"/>
                  </a:lnTo>
                  <a:lnTo>
                    <a:pt x="0" y="260604"/>
                  </a:lnTo>
                  <a:lnTo>
                    <a:pt x="9270" y="329946"/>
                  </a:lnTo>
                  <a:lnTo>
                    <a:pt x="35559" y="392175"/>
                  </a:lnTo>
                  <a:lnTo>
                    <a:pt x="76327" y="445008"/>
                  </a:lnTo>
                  <a:lnTo>
                    <a:pt x="129159" y="485775"/>
                  </a:lnTo>
                  <a:lnTo>
                    <a:pt x="191389" y="512063"/>
                  </a:lnTo>
                  <a:lnTo>
                    <a:pt x="260730" y="521335"/>
                  </a:lnTo>
                  <a:lnTo>
                    <a:pt x="329946" y="512063"/>
                  </a:lnTo>
                  <a:lnTo>
                    <a:pt x="392303" y="485775"/>
                  </a:lnTo>
                  <a:lnTo>
                    <a:pt x="445008" y="445008"/>
                  </a:lnTo>
                  <a:lnTo>
                    <a:pt x="485774" y="392175"/>
                  </a:lnTo>
                  <a:lnTo>
                    <a:pt x="512064" y="329946"/>
                  </a:lnTo>
                  <a:lnTo>
                    <a:pt x="521334" y="260604"/>
                  </a:lnTo>
                  <a:lnTo>
                    <a:pt x="512064" y="191388"/>
                  </a:lnTo>
                  <a:lnTo>
                    <a:pt x="485774" y="129159"/>
                  </a:lnTo>
                  <a:lnTo>
                    <a:pt x="445008" y="76326"/>
                  </a:lnTo>
                  <a:lnTo>
                    <a:pt x="392303" y="35560"/>
                  </a:lnTo>
                  <a:lnTo>
                    <a:pt x="329946" y="9271"/>
                  </a:lnTo>
                  <a:lnTo>
                    <a:pt x="260730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568577" y="3010153"/>
              <a:ext cx="521334" cy="521334"/>
            </a:xfrm>
            <a:custGeom>
              <a:avLst/>
              <a:gdLst/>
              <a:ahLst/>
              <a:cxnLst/>
              <a:rect l="l" t="t" r="r" b="b"/>
              <a:pathLst>
                <a:path w="521335" h="521335">
                  <a:moveTo>
                    <a:pt x="521334" y="260604"/>
                  </a:moveTo>
                  <a:lnTo>
                    <a:pt x="512064" y="191388"/>
                  </a:lnTo>
                  <a:lnTo>
                    <a:pt x="485774" y="129159"/>
                  </a:lnTo>
                  <a:lnTo>
                    <a:pt x="445008" y="76326"/>
                  </a:lnTo>
                  <a:lnTo>
                    <a:pt x="392303" y="35560"/>
                  </a:lnTo>
                  <a:lnTo>
                    <a:pt x="329946" y="9271"/>
                  </a:lnTo>
                  <a:lnTo>
                    <a:pt x="260730" y="0"/>
                  </a:lnTo>
                  <a:lnTo>
                    <a:pt x="191389" y="9271"/>
                  </a:lnTo>
                  <a:lnTo>
                    <a:pt x="129159" y="35560"/>
                  </a:lnTo>
                  <a:lnTo>
                    <a:pt x="76327" y="76326"/>
                  </a:lnTo>
                  <a:lnTo>
                    <a:pt x="35559" y="129159"/>
                  </a:lnTo>
                  <a:lnTo>
                    <a:pt x="9270" y="191388"/>
                  </a:lnTo>
                  <a:lnTo>
                    <a:pt x="0" y="260604"/>
                  </a:lnTo>
                  <a:lnTo>
                    <a:pt x="9270" y="329946"/>
                  </a:lnTo>
                  <a:lnTo>
                    <a:pt x="35559" y="392175"/>
                  </a:lnTo>
                  <a:lnTo>
                    <a:pt x="76327" y="445008"/>
                  </a:lnTo>
                  <a:lnTo>
                    <a:pt x="129159" y="485775"/>
                  </a:lnTo>
                  <a:lnTo>
                    <a:pt x="191389" y="512063"/>
                  </a:lnTo>
                  <a:lnTo>
                    <a:pt x="260730" y="521335"/>
                  </a:lnTo>
                  <a:lnTo>
                    <a:pt x="329946" y="512063"/>
                  </a:lnTo>
                  <a:lnTo>
                    <a:pt x="392303" y="485775"/>
                  </a:lnTo>
                  <a:lnTo>
                    <a:pt x="445008" y="445008"/>
                  </a:lnTo>
                  <a:lnTo>
                    <a:pt x="485774" y="392175"/>
                  </a:lnTo>
                  <a:lnTo>
                    <a:pt x="512064" y="329946"/>
                  </a:lnTo>
                  <a:lnTo>
                    <a:pt x="521334" y="26060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596261" y="3010153"/>
              <a:ext cx="521334" cy="521334"/>
            </a:xfrm>
            <a:custGeom>
              <a:avLst/>
              <a:gdLst/>
              <a:ahLst/>
              <a:cxnLst/>
              <a:rect l="l" t="t" r="r" b="b"/>
              <a:pathLst>
                <a:path w="521335" h="521335">
                  <a:moveTo>
                    <a:pt x="260731" y="0"/>
                  </a:moveTo>
                  <a:lnTo>
                    <a:pt x="191388" y="9271"/>
                  </a:lnTo>
                  <a:lnTo>
                    <a:pt x="129158" y="35560"/>
                  </a:lnTo>
                  <a:lnTo>
                    <a:pt x="76326" y="76326"/>
                  </a:lnTo>
                  <a:lnTo>
                    <a:pt x="35559" y="129159"/>
                  </a:lnTo>
                  <a:lnTo>
                    <a:pt x="9270" y="191388"/>
                  </a:lnTo>
                  <a:lnTo>
                    <a:pt x="0" y="260604"/>
                  </a:lnTo>
                  <a:lnTo>
                    <a:pt x="9270" y="329946"/>
                  </a:lnTo>
                  <a:lnTo>
                    <a:pt x="35559" y="392175"/>
                  </a:lnTo>
                  <a:lnTo>
                    <a:pt x="76326" y="445008"/>
                  </a:lnTo>
                  <a:lnTo>
                    <a:pt x="129158" y="485775"/>
                  </a:lnTo>
                  <a:lnTo>
                    <a:pt x="191388" y="512063"/>
                  </a:lnTo>
                  <a:lnTo>
                    <a:pt x="260731" y="521335"/>
                  </a:lnTo>
                  <a:lnTo>
                    <a:pt x="329945" y="512063"/>
                  </a:lnTo>
                  <a:lnTo>
                    <a:pt x="392302" y="485775"/>
                  </a:lnTo>
                  <a:lnTo>
                    <a:pt x="445007" y="445008"/>
                  </a:lnTo>
                  <a:lnTo>
                    <a:pt x="485775" y="392175"/>
                  </a:lnTo>
                  <a:lnTo>
                    <a:pt x="512063" y="329946"/>
                  </a:lnTo>
                  <a:lnTo>
                    <a:pt x="521334" y="260604"/>
                  </a:lnTo>
                  <a:lnTo>
                    <a:pt x="512063" y="191388"/>
                  </a:lnTo>
                  <a:lnTo>
                    <a:pt x="485775" y="129159"/>
                  </a:lnTo>
                  <a:lnTo>
                    <a:pt x="445007" y="76326"/>
                  </a:lnTo>
                  <a:lnTo>
                    <a:pt x="392302" y="35560"/>
                  </a:lnTo>
                  <a:lnTo>
                    <a:pt x="329945" y="9271"/>
                  </a:lnTo>
                  <a:lnTo>
                    <a:pt x="260731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596261" y="3010153"/>
              <a:ext cx="521334" cy="521334"/>
            </a:xfrm>
            <a:custGeom>
              <a:avLst/>
              <a:gdLst/>
              <a:ahLst/>
              <a:cxnLst/>
              <a:rect l="l" t="t" r="r" b="b"/>
              <a:pathLst>
                <a:path w="521335" h="521335">
                  <a:moveTo>
                    <a:pt x="521334" y="260604"/>
                  </a:moveTo>
                  <a:lnTo>
                    <a:pt x="512063" y="191388"/>
                  </a:lnTo>
                  <a:lnTo>
                    <a:pt x="485775" y="129159"/>
                  </a:lnTo>
                  <a:lnTo>
                    <a:pt x="445007" y="76326"/>
                  </a:lnTo>
                  <a:lnTo>
                    <a:pt x="392302" y="35560"/>
                  </a:lnTo>
                  <a:lnTo>
                    <a:pt x="329945" y="9271"/>
                  </a:lnTo>
                  <a:lnTo>
                    <a:pt x="260731" y="0"/>
                  </a:lnTo>
                  <a:lnTo>
                    <a:pt x="191388" y="9271"/>
                  </a:lnTo>
                  <a:lnTo>
                    <a:pt x="129158" y="35560"/>
                  </a:lnTo>
                  <a:lnTo>
                    <a:pt x="76326" y="76326"/>
                  </a:lnTo>
                  <a:lnTo>
                    <a:pt x="35559" y="129159"/>
                  </a:lnTo>
                  <a:lnTo>
                    <a:pt x="9270" y="191388"/>
                  </a:lnTo>
                  <a:lnTo>
                    <a:pt x="0" y="260604"/>
                  </a:lnTo>
                  <a:lnTo>
                    <a:pt x="9270" y="329946"/>
                  </a:lnTo>
                  <a:lnTo>
                    <a:pt x="35559" y="392175"/>
                  </a:lnTo>
                  <a:lnTo>
                    <a:pt x="76326" y="445008"/>
                  </a:lnTo>
                  <a:lnTo>
                    <a:pt x="129158" y="485775"/>
                  </a:lnTo>
                  <a:lnTo>
                    <a:pt x="191388" y="512063"/>
                  </a:lnTo>
                  <a:lnTo>
                    <a:pt x="260731" y="521335"/>
                  </a:lnTo>
                  <a:lnTo>
                    <a:pt x="329945" y="512063"/>
                  </a:lnTo>
                  <a:lnTo>
                    <a:pt x="392302" y="485775"/>
                  </a:lnTo>
                  <a:lnTo>
                    <a:pt x="445007" y="445008"/>
                  </a:lnTo>
                  <a:lnTo>
                    <a:pt x="485775" y="392175"/>
                  </a:lnTo>
                  <a:lnTo>
                    <a:pt x="512063" y="329946"/>
                  </a:lnTo>
                  <a:lnTo>
                    <a:pt x="521334" y="26060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433527" y="3638803"/>
            <a:ext cx="748030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i="1" dirty="0">
                <a:solidFill>
                  <a:srgbClr val="213739"/>
                </a:solidFill>
                <a:latin typeface="Calibri"/>
                <a:cs typeface="Calibri"/>
              </a:rPr>
              <a:t>bias</a:t>
            </a:r>
            <a:r>
              <a:rPr sz="1500" i="1" spc="33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500" spc="-13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13739"/>
                </a:solidFill>
                <a:latin typeface="Arial MT"/>
                <a:cs typeface="Arial MT"/>
              </a:rPr>
              <a:t>-</a:t>
            </a:r>
            <a:r>
              <a:rPr sz="1500" spc="-2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00" spc="-50" dirty="0">
                <a:solidFill>
                  <a:srgbClr val="213739"/>
                </a:solidFill>
                <a:latin typeface="Arial MT"/>
                <a:cs typeface="Arial MT"/>
              </a:rPr>
              <a:t>2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278507" y="1536572"/>
            <a:ext cx="111760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i="1" spc="-50" dirty="0">
                <a:solidFill>
                  <a:srgbClr val="213739"/>
                </a:solidFill>
                <a:latin typeface="Calibri"/>
                <a:cs typeface="Calibri"/>
              </a:rPr>
              <a:t>y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164336" y="2568955"/>
            <a:ext cx="280670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650" baseline="-10101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628013" y="2532379"/>
            <a:ext cx="1461135" cy="8324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90500">
              <a:lnSpc>
                <a:spcPts val="1650"/>
              </a:lnSpc>
              <a:spcBef>
                <a:spcPts val="110"/>
              </a:spcBef>
              <a:tabLst>
                <a:tab pos="704215" algn="l"/>
                <a:tab pos="1191895" algn="l"/>
              </a:tabLst>
            </a:pP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650" baseline="-1010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r>
              <a:rPr sz="1650" baseline="-1010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4</a:t>
            </a:r>
            <a:endParaRPr sz="1650" baseline="-10101">
              <a:latin typeface="Calibri"/>
              <a:cs typeface="Calibri"/>
            </a:endParaRPr>
          </a:p>
          <a:p>
            <a:pPr marL="100965">
              <a:lnSpc>
                <a:spcPts val="1650"/>
              </a:lnSpc>
              <a:tabLst>
                <a:tab pos="1127760" algn="l"/>
              </a:tabLst>
            </a:pP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h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650" baseline="-1010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h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650" baseline="-10101">
              <a:latin typeface="Calibri"/>
              <a:cs typeface="Calibri"/>
            </a:endParaRPr>
          </a:p>
          <a:p>
            <a:pPr marL="50800">
              <a:lnSpc>
                <a:spcPct val="100000"/>
              </a:lnSpc>
              <a:spcBef>
                <a:spcPts val="1235"/>
              </a:spcBef>
              <a:tabLst>
                <a:tab pos="1077595" algn="l"/>
              </a:tabLst>
            </a:pPr>
            <a:r>
              <a:rPr sz="1500" spc="-40" dirty="0">
                <a:solidFill>
                  <a:srgbClr val="213739"/>
                </a:solidFill>
                <a:latin typeface="Arial MT"/>
                <a:cs typeface="Arial MT"/>
              </a:rPr>
              <a:t>-</a:t>
            </a:r>
            <a:r>
              <a:rPr sz="1500" spc="-25" dirty="0">
                <a:solidFill>
                  <a:srgbClr val="213739"/>
                </a:solidFill>
                <a:latin typeface="Arial MT"/>
                <a:cs typeface="Arial MT"/>
              </a:rPr>
              <a:t>1,1</a:t>
            </a:r>
            <a:r>
              <a:rPr sz="1500" dirty="0">
                <a:solidFill>
                  <a:srgbClr val="213739"/>
                </a:solidFill>
                <a:latin typeface="Arial MT"/>
                <a:cs typeface="Arial MT"/>
              </a:rPr>
              <a:t>	</a:t>
            </a:r>
            <a:r>
              <a:rPr sz="1500" spc="-70" dirty="0">
                <a:solidFill>
                  <a:srgbClr val="213739"/>
                </a:solidFill>
                <a:latin typeface="Arial MT"/>
                <a:cs typeface="Arial MT"/>
              </a:rPr>
              <a:t>1,-</a:t>
            </a:r>
            <a:r>
              <a:rPr sz="1500" spc="-50" dirty="0">
                <a:solidFill>
                  <a:srgbClr val="213739"/>
                </a:solidFill>
                <a:latin typeface="Arial MT"/>
                <a:cs typeface="Arial MT"/>
              </a:rPr>
              <a:t>1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994460" y="1862084"/>
            <a:ext cx="2713990" cy="2357120"/>
            <a:chOff x="994460" y="1862084"/>
            <a:chExt cx="2713990" cy="2357120"/>
          </a:xfrm>
        </p:grpSpPr>
        <p:sp>
          <p:nvSpPr>
            <p:cNvPr id="28" name="object 28"/>
            <p:cNvSpPr/>
            <p:nvPr/>
          </p:nvSpPr>
          <p:spPr>
            <a:xfrm>
              <a:off x="1016139" y="3485388"/>
              <a:ext cx="686435" cy="686435"/>
            </a:xfrm>
            <a:custGeom>
              <a:avLst/>
              <a:gdLst/>
              <a:ahLst/>
              <a:cxnLst/>
              <a:rect l="l" t="t" r="r" b="b"/>
              <a:pathLst>
                <a:path w="686435" h="686435">
                  <a:moveTo>
                    <a:pt x="686295" y="686181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4460" y="3463657"/>
              <a:ext cx="104659" cy="104661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072959" y="3406521"/>
              <a:ext cx="1615440" cy="807720"/>
            </a:xfrm>
            <a:custGeom>
              <a:avLst/>
              <a:gdLst/>
              <a:ahLst/>
              <a:cxnLst/>
              <a:rect l="l" t="t" r="r" b="b"/>
              <a:pathLst>
                <a:path w="1615439" h="807720">
                  <a:moveTo>
                    <a:pt x="1615122" y="807592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60723" y="3364757"/>
              <a:ext cx="84085" cy="122262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766570" y="3546729"/>
              <a:ext cx="125730" cy="624840"/>
            </a:xfrm>
            <a:custGeom>
              <a:avLst/>
              <a:gdLst/>
              <a:ahLst/>
              <a:cxnLst/>
              <a:rect l="l" t="t" r="r" b="b"/>
              <a:pathLst>
                <a:path w="125730" h="624839">
                  <a:moveTo>
                    <a:pt x="62737" y="624840"/>
                  </a:moveTo>
                  <a:lnTo>
                    <a:pt x="62737" y="8000"/>
                  </a:lnTo>
                </a:path>
                <a:path w="125730" h="624839">
                  <a:moveTo>
                    <a:pt x="0" y="51435"/>
                  </a:moveTo>
                  <a:lnTo>
                    <a:pt x="24637" y="42418"/>
                  </a:lnTo>
                  <a:lnTo>
                    <a:pt x="42672" y="30099"/>
                  </a:lnTo>
                  <a:lnTo>
                    <a:pt x="55118" y="15621"/>
                  </a:lnTo>
                  <a:lnTo>
                    <a:pt x="62737" y="0"/>
                  </a:lnTo>
                  <a:lnTo>
                    <a:pt x="70231" y="15621"/>
                  </a:lnTo>
                  <a:lnTo>
                    <a:pt x="82677" y="30099"/>
                  </a:lnTo>
                  <a:lnTo>
                    <a:pt x="100711" y="42418"/>
                  </a:lnTo>
                  <a:lnTo>
                    <a:pt x="125349" y="51435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030094" y="3471672"/>
              <a:ext cx="700405" cy="700405"/>
            </a:xfrm>
            <a:custGeom>
              <a:avLst/>
              <a:gdLst/>
              <a:ahLst/>
              <a:cxnLst/>
              <a:rect l="l" t="t" r="r" b="b"/>
              <a:pathLst>
                <a:path w="700405" h="700404">
                  <a:moveTo>
                    <a:pt x="700024" y="699896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08377" y="3449924"/>
              <a:ext cx="105171" cy="105186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1956054" y="3471672"/>
              <a:ext cx="700405" cy="700405"/>
            </a:xfrm>
            <a:custGeom>
              <a:avLst/>
              <a:gdLst/>
              <a:ahLst/>
              <a:cxnLst/>
              <a:rect l="l" t="t" r="r" b="b"/>
              <a:pathLst>
                <a:path w="700405" h="700404">
                  <a:moveTo>
                    <a:pt x="0" y="699896"/>
                  </a:moveTo>
                  <a:lnTo>
                    <a:pt x="700023" y="0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72766" y="3449924"/>
              <a:ext cx="105171" cy="105186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2794254" y="3546729"/>
              <a:ext cx="125730" cy="624840"/>
            </a:xfrm>
            <a:custGeom>
              <a:avLst/>
              <a:gdLst/>
              <a:ahLst/>
              <a:cxnLst/>
              <a:rect l="l" t="t" r="r" b="b"/>
              <a:pathLst>
                <a:path w="125730" h="624839">
                  <a:moveTo>
                    <a:pt x="62737" y="624840"/>
                  </a:moveTo>
                  <a:lnTo>
                    <a:pt x="62737" y="8000"/>
                  </a:lnTo>
                </a:path>
                <a:path w="125730" h="624839">
                  <a:moveTo>
                    <a:pt x="0" y="51435"/>
                  </a:moveTo>
                  <a:lnTo>
                    <a:pt x="24637" y="42418"/>
                  </a:lnTo>
                  <a:lnTo>
                    <a:pt x="42671" y="30099"/>
                  </a:lnTo>
                  <a:lnTo>
                    <a:pt x="55118" y="15621"/>
                  </a:lnTo>
                  <a:lnTo>
                    <a:pt x="62737" y="0"/>
                  </a:lnTo>
                  <a:lnTo>
                    <a:pt x="70231" y="15621"/>
                  </a:lnTo>
                  <a:lnTo>
                    <a:pt x="82676" y="30099"/>
                  </a:lnTo>
                  <a:lnTo>
                    <a:pt x="100710" y="42418"/>
                  </a:lnTo>
                  <a:lnTo>
                    <a:pt x="125348" y="51435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998218" y="3396107"/>
              <a:ext cx="1635760" cy="818515"/>
            </a:xfrm>
            <a:custGeom>
              <a:avLst/>
              <a:gdLst/>
              <a:ahLst/>
              <a:cxnLst/>
              <a:rect l="l" t="t" r="r" b="b"/>
              <a:pathLst>
                <a:path w="1635760" h="818514">
                  <a:moveTo>
                    <a:pt x="0" y="818006"/>
                  </a:moveTo>
                  <a:lnTo>
                    <a:pt x="1635759" y="0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62114" y="3354470"/>
              <a:ext cx="84163" cy="122136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2983864" y="3469005"/>
              <a:ext cx="702945" cy="702945"/>
            </a:xfrm>
            <a:custGeom>
              <a:avLst/>
              <a:gdLst/>
              <a:ahLst/>
              <a:cxnLst/>
              <a:rect l="l" t="t" r="r" b="b"/>
              <a:pathLst>
                <a:path w="702945" h="702945">
                  <a:moveTo>
                    <a:pt x="0" y="702564"/>
                  </a:moveTo>
                  <a:lnTo>
                    <a:pt x="702563" y="0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603498" y="3447274"/>
              <a:ext cx="104659" cy="104661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1041425" y="2308860"/>
              <a:ext cx="1203325" cy="802640"/>
            </a:xfrm>
            <a:custGeom>
              <a:avLst/>
              <a:gdLst/>
              <a:ahLst/>
              <a:cxnLst/>
              <a:rect l="l" t="t" r="r" b="b"/>
              <a:pathLst>
                <a:path w="1203325" h="802639">
                  <a:moveTo>
                    <a:pt x="0" y="802131"/>
                  </a:moveTo>
                  <a:lnTo>
                    <a:pt x="1203172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83766" y="2287145"/>
              <a:ext cx="66671" cy="85467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1949577" y="2348738"/>
              <a:ext cx="340995" cy="681990"/>
            </a:xfrm>
            <a:custGeom>
              <a:avLst/>
              <a:gdLst/>
              <a:ahLst/>
              <a:cxnLst/>
              <a:rect l="l" t="t" r="r" b="b"/>
              <a:pathLst>
                <a:path w="340994" h="681989">
                  <a:moveTo>
                    <a:pt x="0" y="681482"/>
                  </a:moveTo>
                  <a:lnTo>
                    <a:pt x="340741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227579" y="2342641"/>
              <a:ext cx="91568" cy="64136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2395855" y="2348738"/>
              <a:ext cx="340995" cy="681990"/>
            </a:xfrm>
            <a:custGeom>
              <a:avLst/>
              <a:gdLst/>
              <a:ahLst/>
              <a:cxnLst/>
              <a:rect l="l" t="t" r="r" b="b"/>
              <a:pathLst>
                <a:path w="340994" h="681989">
                  <a:moveTo>
                    <a:pt x="340868" y="681482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67025" y="2342641"/>
              <a:ext cx="91568" cy="64136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2441575" y="2308860"/>
              <a:ext cx="1223010" cy="815340"/>
            </a:xfrm>
            <a:custGeom>
              <a:avLst/>
              <a:gdLst/>
              <a:ahLst/>
              <a:cxnLst/>
              <a:rect l="l" t="t" r="r" b="b"/>
              <a:pathLst>
                <a:path w="1223010" h="815339">
                  <a:moveTo>
                    <a:pt x="1222628" y="814959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435734" y="2287145"/>
              <a:ext cx="66671" cy="85467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2294890" y="1864614"/>
              <a:ext cx="96520" cy="268605"/>
            </a:xfrm>
            <a:custGeom>
              <a:avLst/>
              <a:gdLst/>
              <a:ahLst/>
              <a:cxnLst/>
              <a:rect l="l" t="t" r="r" b="b"/>
              <a:pathLst>
                <a:path w="96519" h="268605">
                  <a:moveTo>
                    <a:pt x="48260" y="268605"/>
                  </a:moveTo>
                  <a:lnTo>
                    <a:pt x="48260" y="4063"/>
                  </a:lnTo>
                </a:path>
                <a:path w="96519" h="268605">
                  <a:moveTo>
                    <a:pt x="0" y="41783"/>
                  </a:moveTo>
                  <a:lnTo>
                    <a:pt x="18923" y="34416"/>
                  </a:lnTo>
                  <a:lnTo>
                    <a:pt x="32893" y="24511"/>
                  </a:lnTo>
                  <a:lnTo>
                    <a:pt x="42418" y="12700"/>
                  </a:lnTo>
                  <a:lnTo>
                    <a:pt x="48260" y="0"/>
                  </a:lnTo>
                  <a:lnTo>
                    <a:pt x="54102" y="12700"/>
                  </a:lnTo>
                  <a:lnTo>
                    <a:pt x="63627" y="24511"/>
                  </a:lnTo>
                  <a:lnTo>
                    <a:pt x="77470" y="34416"/>
                  </a:lnTo>
                  <a:lnTo>
                    <a:pt x="96393" y="41783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343204" y="3999632"/>
            <a:ext cx="2451100" cy="1073785"/>
          </a:xfrm>
          <a:prstGeom prst="rect">
            <a:avLst/>
          </a:prstGeom>
        </p:spPr>
        <p:txBody>
          <a:bodyPr vert="horz" wrap="square" lIns="0" tIns="125095" rIns="0" bIns="0" rtlCol="0">
            <a:spAutoFit/>
          </a:bodyPr>
          <a:lstStyle/>
          <a:p>
            <a:pPr marL="496570" algn="ctr">
              <a:lnSpc>
                <a:spcPct val="100000"/>
              </a:lnSpc>
              <a:spcBef>
                <a:spcPts val="985"/>
              </a:spcBef>
            </a:pPr>
            <a:r>
              <a:rPr sz="1500" i="1" spc="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650" spc="37" baseline="-10101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650" baseline="-10101">
              <a:latin typeface="Calibri"/>
              <a:cs typeface="Calibri"/>
            </a:endParaRPr>
          </a:p>
          <a:p>
            <a:pPr marL="38100" marR="30480">
              <a:lnSpc>
                <a:spcPct val="117700"/>
              </a:lnSpc>
              <a:spcBef>
                <a:spcPts val="625"/>
              </a:spcBef>
            </a:pP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red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edge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indicates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i="1" spc="10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=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-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1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blue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edge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indicates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i="1" spc="12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=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+1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52" name="object 52" descr="$PPTXTitle"/>
          <p:cNvSpPr txBox="1">
            <a:spLocks noGrp="1"/>
          </p:cNvSpPr>
          <p:nvPr>
            <p:ph type="title"/>
          </p:nvPr>
        </p:nvSpPr>
        <p:spPr>
          <a:xfrm>
            <a:off x="4781803" y="924305"/>
            <a:ext cx="400748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spc="-16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claim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that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this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network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65" dirty="0">
                <a:solidFill>
                  <a:srgbClr val="213739"/>
                </a:solidFill>
                <a:latin typeface="Arial MT"/>
                <a:cs typeface="Arial MT"/>
              </a:rPr>
              <a:t>can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75" dirty="0">
                <a:solidFill>
                  <a:srgbClr val="213739"/>
                </a:solidFill>
                <a:latin typeface="Arial MT"/>
                <a:cs typeface="Arial MT"/>
              </a:rPr>
              <a:t>be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70" dirty="0">
                <a:solidFill>
                  <a:srgbClr val="213739"/>
                </a:solidFill>
                <a:latin typeface="Arial MT"/>
                <a:cs typeface="Arial MT"/>
              </a:rPr>
              <a:t>used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to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im-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4784852" y="1238249"/>
            <a:ext cx="401066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32815" algn="l"/>
                <a:tab pos="1487805" algn="l"/>
                <a:tab pos="2374900" algn="l"/>
                <a:tab pos="3312160" algn="l"/>
              </a:tabLst>
            </a:pP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plement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	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any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	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boolean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	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function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	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(linearly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4756403" y="1414779"/>
            <a:ext cx="4078604" cy="1152525"/>
          </a:xfrm>
          <a:prstGeom prst="rect">
            <a:avLst/>
          </a:prstGeom>
        </p:spPr>
        <p:txBody>
          <a:bodyPr vert="horz" wrap="square" lIns="0" tIns="148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70"/>
              </a:spcBef>
            </a:pP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separable</a:t>
            </a:r>
            <a:r>
              <a:rPr sz="1750" spc="-1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or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not)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!</a:t>
            </a:r>
            <a:endParaRPr sz="175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1070"/>
              </a:spcBef>
            </a:pP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In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other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words,</a:t>
            </a:r>
            <a:r>
              <a:rPr sz="1750" spc="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can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find</a:t>
            </a:r>
            <a:r>
              <a:rPr sz="1750" spc="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spc="-15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-11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spc="-15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-11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spc="-15" baseline="-8888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-11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4</a:t>
            </a:r>
            <a:endParaRPr sz="1875" baseline="-8888">
              <a:latin typeface="Calibri"/>
              <a:cs typeface="Calibri"/>
            </a:endParaRPr>
          </a:p>
          <a:p>
            <a:pPr marL="40640">
              <a:lnSpc>
                <a:spcPct val="100000"/>
              </a:lnSpc>
              <a:spcBef>
                <a:spcPts val="434"/>
              </a:spcBef>
            </a:pP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such</a:t>
            </a:r>
            <a:r>
              <a:rPr sz="1750" spc="-229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that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truth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table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any</a:t>
            </a:r>
            <a:r>
              <a:rPr sz="1750" spc="-2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boolean</a:t>
            </a:r>
            <a:r>
              <a:rPr sz="1750" spc="-2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func-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4781169" y="2497962"/>
            <a:ext cx="4010660" cy="245046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 marR="9525" indent="4445">
              <a:lnSpc>
                <a:spcPct val="124300"/>
              </a:lnSpc>
              <a:spcBef>
                <a:spcPts val="240"/>
              </a:spcBef>
            </a:pP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tion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can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be</a:t>
            </a:r>
            <a:r>
              <a:rPr sz="1750" spc="-1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represented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by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this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network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Astonishing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claim!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Well,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not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rea</a:t>
            </a:r>
            <a:r>
              <a:rPr sz="1750" spc="-3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ly,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if 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you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un-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derstand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what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is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going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on</a:t>
            </a:r>
            <a:endParaRPr sz="1750">
              <a:latin typeface="Arial MT"/>
              <a:cs typeface="Arial MT"/>
            </a:endParaRPr>
          </a:p>
          <a:p>
            <a:pPr marL="17145" marR="5080" indent="-5080" algn="just">
              <a:lnSpc>
                <a:spcPct val="117400"/>
              </a:lnSpc>
              <a:spcBef>
                <a:spcPts val="509"/>
              </a:spcBef>
            </a:pP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Each</a:t>
            </a:r>
            <a:r>
              <a:rPr sz="1750" spc="-2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perceptron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in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middle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layer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fires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only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for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a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specific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 input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(and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no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5" dirty="0">
                <a:solidFill>
                  <a:srgbClr val="213739"/>
                </a:solidFill>
                <a:latin typeface="Arial MT"/>
                <a:cs typeface="Arial MT"/>
              </a:rPr>
              <a:t>two</a:t>
            </a:r>
            <a:r>
              <a:rPr sz="1750" spc="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perceptrons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fire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for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same</a:t>
            </a:r>
            <a:r>
              <a:rPr sz="1750" spc="-2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input)</a:t>
            </a:r>
            <a:endParaRPr sz="1750">
              <a:latin typeface="Arial MT"/>
              <a:cs typeface="Arial MT"/>
            </a:endParaRPr>
          </a:p>
          <a:p>
            <a:pPr marL="13970" algn="just">
              <a:lnSpc>
                <a:spcPct val="100000"/>
              </a:lnSpc>
              <a:spcBef>
                <a:spcPts val="1115"/>
              </a:spcBef>
            </a:pP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third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perceptron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fires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for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{1,-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1}</a:t>
            </a:r>
            <a:endParaRPr sz="175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32279" y="2132355"/>
            <a:ext cx="221589" cy="22158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720339" y="4110608"/>
            <a:ext cx="244475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500" i="1" spc="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650" spc="37" baseline="-10101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650" baseline="-10101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16407" y="2985642"/>
            <a:ext cx="3630295" cy="570865"/>
            <a:chOff x="516407" y="2985642"/>
            <a:chExt cx="3630295" cy="570865"/>
          </a:xfrm>
        </p:grpSpPr>
        <p:sp>
          <p:nvSpPr>
            <p:cNvPr id="5" name="object 5"/>
            <p:cNvSpPr/>
            <p:nvPr/>
          </p:nvSpPr>
          <p:spPr>
            <a:xfrm>
              <a:off x="544677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256921" y="0"/>
                  </a:moveTo>
                  <a:lnTo>
                    <a:pt x="188620" y="9144"/>
                  </a:lnTo>
                  <a:lnTo>
                    <a:pt x="127241" y="35051"/>
                  </a:lnTo>
                  <a:lnTo>
                    <a:pt x="75247" y="75184"/>
                  </a:lnTo>
                  <a:lnTo>
                    <a:pt x="35077" y="127126"/>
                  </a:lnTo>
                  <a:lnTo>
                    <a:pt x="9182" y="188595"/>
                  </a:lnTo>
                  <a:lnTo>
                    <a:pt x="0" y="256794"/>
                  </a:lnTo>
                  <a:lnTo>
                    <a:pt x="9182" y="325120"/>
                  </a:lnTo>
                  <a:lnTo>
                    <a:pt x="35077" y="386588"/>
                  </a:lnTo>
                  <a:lnTo>
                    <a:pt x="75247" y="438531"/>
                  </a:lnTo>
                  <a:lnTo>
                    <a:pt x="127241" y="478663"/>
                  </a:lnTo>
                  <a:lnTo>
                    <a:pt x="188620" y="504571"/>
                  </a:lnTo>
                  <a:lnTo>
                    <a:pt x="256921" y="513714"/>
                  </a:lnTo>
                  <a:lnTo>
                    <a:pt x="325221" y="504571"/>
                  </a:lnTo>
                  <a:lnTo>
                    <a:pt x="386588" y="478663"/>
                  </a:lnTo>
                  <a:lnTo>
                    <a:pt x="438581" y="438531"/>
                  </a:lnTo>
                  <a:lnTo>
                    <a:pt x="478764" y="386588"/>
                  </a:lnTo>
                  <a:lnTo>
                    <a:pt x="504659" y="325120"/>
                  </a:lnTo>
                  <a:lnTo>
                    <a:pt x="513842" y="256794"/>
                  </a:lnTo>
                  <a:lnTo>
                    <a:pt x="504659" y="188595"/>
                  </a:lnTo>
                  <a:lnTo>
                    <a:pt x="478764" y="127126"/>
                  </a:lnTo>
                  <a:lnTo>
                    <a:pt x="438581" y="75184"/>
                  </a:lnTo>
                  <a:lnTo>
                    <a:pt x="386588" y="35051"/>
                  </a:lnTo>
                  <a:lnTo>
                    <a:pt x="325221" y="9144"/>
                  </a:lnTo>
                  <a:lnTo>
                    <a:pt x="256921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44677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513842" y="256794"/>
                  </a:moveTo>
                  <a:lnTo>
                    <a:pt x="504659" y="188595"/>
                  </a:lnTo>
                  <a:lnTo>
                    <a:pt x="478764" y="127126"/>
                  </a:lnTo>
                  <a:lnTo>
                    <a:pt x="438581" y="75184"/>
                  </a:lnTo>
                  <a:lnTo>
                    <a:pt x="386588" y="35051"/>
                  </a:lnTo>
                  <a:lnTo>
                    <a:pt x="325221" y="9144"/>
                  </a:lnTo>
                  <a:lnTo>
                    <a:pt x="256921" y="0"/>
                  </a:lnTo>
                  <a:lnTo>
                    <a:pt x="188620" y="9144"/>
                  </a:lnTo>
                  <a:lnTo>
                    <a:pt x="127241" y="35051"/>
                  </a:lnTo>
                  <a:lnTo>
                    <a:pt x="75247" y="75184"/>
                  </a:lnTo>
                  <a:lnTo>
                    <a:pt x="35077" y="127126"/>
                  </a:lnTo>
                  <a:lnTo>
                    <a:pt x="9182" y="188595"/>
                  </a:lnTo>
                  <a:lnTo>
                    <a:pt x="0" y="256794"/>
                  </a:lnTo>
                  <a:lnTo>
                    <a:pt x="9182" y="325120"/>
                  </a:lnTo>
                  <a:lnTo>
                    <a:pt x="35077" y="386588"/>
                  </a:lnTo>
                  <a:lnTo>
                    <a:pt x="75247" y="438531"/>
                  </a:lnTo>
                  <a:lnTo>
                    <a:pt x="127241" y="478663"/>
                  </a:lnTo>
                  <a:lnTo>
                    <a:pt x="188620" y="504571"/>
                  </a:lnTo>
                  <a:lnTo>
                    <a:pt x="256921" y="513714"/>
                  </a:lnTo>
                  <a:lnTo>
                    <a:pt x="325221" y="504571"/>
                  </a:lnTo>
                  <a:lnTo>
                    <a:pt x="386588" y="478663"/>
                  </a:lnTo>
                  <a:lnTo>
                    <a:pt x="438581" y="438531"/>
                  </a:lnTo>
                  <a:lnTo>
                    <a:pt x="478764" y="386588"/>
                  </a:lnTo>
                  <a:lnTo>
                    <a:pt x="504659" y="325120"/>
                  </a:lnTo>
                  <a:lnTo>
                    <a:pt x="513842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72387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256920" y="0"/>
                  </a:moveTo>
                  <a:lnTo>
                    <a:pt x="188594" y="9144"/>
                  </a:lnTo>
                  <a:lnTo>
                    <a:pt x="127254" y="35051"/>
                  </a:lnTo>
                  <a:lnTo>
                    <a:pt x="75183" y="75184"/>
                  </a:lnTo>
                  <a:lnTo>
                    <a:pt x="35051" y="127126"/>
                  </a:lnTo>
                  <a:lnTo>
                    <a:pt x="9143" y="188595"/>
                  </a:lnTo>
                  <a:lnTo>
                    <a:pt x="0" y="256794"/>
                  </a:lnTo>
                  <a:lnTo>
                    <a:pt x="9143" y="325120"/>
                  </a:lnTo>
                  <a:lnTo>
                    <a:pt x="35051" y="386588"/>
                  </a:lnTo>
                  <a:lnTo>
                    <a:pt x="75183" y="438531"/>
                  </a:lnTo>
                  <a:lnTo>
                    <a:pt x="127254" y="478663"/>
                  </a:lnTo>
                  <a:lnTo>
                    <a:pt x="188594" y="504571"/>
                  </a:lnTo>
                  <a:lnTo>
                    <a:pt x="256920" y="513714"/>
                  </a:lnTo>
                  <a:lnTo>
                    <a:pt x="325119" y="504571"/>
                  </a:lnTo>
                  <a:lnTo>
                    <a:pt x="386588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0" y="325120"/>
                  </a:lnTo>
                  <a:lnTo>
                    <a:pt x="513842" y="256794"/>
                  </a:lnTo>
                  <a:lnTo>
                    <a:pt x="504570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588" y="35051"/>
                  </a:lnTo>
                  <a:lnTo>
                    <a:pt x="325119" y="9144"/>
                  </a:lnTo>
                  <a:lnTo>
                    <a:pt x="256920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72387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513842" y="256794"/>
                  </a:moveTo>
                  <a:lnTo>
                    <a:pt x="504570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588" y="35051"/>
                  </a:lnTo>
                  <a:lnTo>
                    <a:pt x="325119" y="9144"/>
                  </a:lnTo>
                  <a:lnTo>
                    <a:pt x="256920" y="0"/>
                  </a:lnTo>
                  <a:lnTo>
                    <a:pt x="188594" y="9144"/>
                  </a:lnTo>
                  <a:lnTo>
                    <a:pt x="127254" y="35051"/>
                  </a:lnTo>
                  <a:lnTo>
                    <a:pt x="75183" y="75184"/>
                  </a:lnTo>
                  <a:lnTo>
                    <a:pt x="35051" y="127126"/>
                  </a:lnTo>
                  <a:lnTo>
                    <a:pt x="9143" y="188595"/>
                  </a:lnTo>
                  <a:lnTo>
                    <a:pt x="0" y="256794"/>
                  </a:lnTo>
                  <a:lnTo>
                    <a:pt x="9143" y="325120"/>
                  </a:lnTo>
                  <a:lnTo>
                    <a:pt x="35051" y="386588"/>
                  </a:lnTo>
                  <a:lnTo>
                    <a:pt x="75183" y="438531"/>
                  </a:lnTo>
                  <a:lnTo>
                    <a:pt x="127254" y="478663"/>
                  </a:lnTo>
                  <a:lnTo>
                    <a:pt x="188594" y="504571"/>
                  </a:lnTo>
                  <a:lnTo>
                    <a:pt x="256920" y="513714"/>
                  </a:lnTo>
                  <a:lnTo>
                    <a:pt x="325119" y="504571"/>
                  </a:lnTo>
                  <a:lnTo>
                    <a:pt x="386588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0" y="325120"/>
                  </a:lnTo>
                  <a:lnTo>
                    <a:pt x="513842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600070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256921" y="0"/>
                  </a:moveTo>
                  <a:lnTo>
                    <a:pt x="188595" y="9144"/>
                  </a:lnTo>
                  <a:lnTo>
                    <a:pt x="127254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3" y="188595"/>
                  </a:lnTo>
                  <a:lnTo>
                    <a:pt x="0" y="256794"/>
                  </a:lnTo>
                  <a:lnTo>
                    <a:pt x="9143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254" y="478663"/>
                  </a:lnTo>
                  <a:lnTo>
                    <a:pt x="188595" y="504571"/>
                  </a:lnTo>
                  <a:lnTo>
                    <a:pt x="256921" y="513714"/>
                  </a:lnTo>
                  <a:lnTo>
                    <a:pt x="325120" y="504571"/>
                  </a:lnTo>
                  <a:lnTo>
                    <a:pt x="386588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842" y="256794"/>
                  </a:ln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588" y="35051"/>
                  </a:lnTo>
                  <a:lnTo>
                    <a:pt x="325120" y="9144"/>
                  </a:lnTo>
                  <a:lnTo>
                    <a:pt x="256921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600070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513842" y="256794"/>
                  </a:move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588" y="35051"/>
                  </a:lnTo>
                  <a:lnTo>
                    <a:pt x="325120" y="9144"/>
                  </a:lnTo>
                  <a:lnTo>
                    <a:pt x="256921" y="0"/>
                  </a:lnTo>
                  <a:lnTo>
                    <a:pt x="188595" y="9144"/>
                  </a:lnTo>
                  <a:lnTo>
                    <a:pt x="127254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3" y="188595"/>
                  </a:lnTo>
                  <a:lnTo>
                    <a:pt x="0" y="256794"/>
                  </a:lnTo>
                  <a:lnTo>
                    <a:pt x="9143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254" y="478663"/>
                  </a:lnTo>
                  <a:lnTo>
                    <a:pt x="188595" y="504571"/>
                  </a:lnTo>
                  <a:lnTo>
                    <a:pt x="256921" y="513714"/>
                  </a:lnTo>
                  <a:lnTo>
                    <a:pt x="325120" y="504571"/>
                  </a:lnTo>
                  <a:lnTo>
                    <a:pt x="386588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842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627755" y="3013963"/>
              <a:ext cx="513715" cy="513715"/>
            </a:xfrm>
            <a:custGeom>
              <a:avLst/>
              <a:gdLst/>
              <a:ahLst/>
              <a:cxnLst/>
              <a:rect l="l" t="t" r="r" b="b"/>
              <a:pathLst>
                <a:path w="513714" h="513714">
                  <a:moveTo>
                    <a:pt x="256794" y="0"/>
                  </a:moveTo>
                  <a:lnTo>
                    <a:pt x="188595" y="9144"/>
                  </a:lnTo>
                  <a:lnTo>
                    <a:pt x="127127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4" y="188595"/>
                  </a:lnTo>
                  <a:lnTo>
                    <a:pt x="0" y="256794"/>
                  </a:lnTo>
                  <a:lnTo>
                    <a:pt x="9144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127" y="478663"/>
                  </a:lnTo>
                  <a:lnTo>
                    <a:pt x="188595" y="504571"/>
                  </a:lnTo>
                  <a:lnTo>
                    <a:pt x="256794" y="513714"/>
                  </a:lnTo>
                  <a:lnTo>
                    <a:pt x="325120" y="504571"/>
                  </a:lnTo>
                  <a:lnTo>
                    <a:pt x="386461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715" y="256794"/>
                  </a:ln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461" y="35051"/>
                  </a:lnTo>
                  <a:lnTo>
                    <a:pt x="325120" y="9144"/>
                  </a:lnTo>
                  <a:lnTo>
                    <a:pt x="256794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627755" y="3013963"/>
              <a:ext cx="513715" cy="513715"/>
            </a:xfrm>
            <a:custGeom>
              <a:avLst/>
              <a:gdLst/>
              <a:ahLst/>
              <a:cxnLst/>
              <a:rect l="l" t="t" r="r" b="b"/>
              <a:pathLst>
                <a:path w="513714" h="513714">
                  <a:moveTo>
                    <a:pt x="513715" y="256794"/>
                  </a:move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461" y="35051"/>
                  </a:lnTo>
                  <a:lnTo>
                    <a:pt x="325120" y="9144"/>
                  </a:lnTo>
                  <a:lnTo>
                    <a:pt x="256794" y="0"/>
                  </a:lnTo>
                  <a:lnTo>
                    <a:pt x="188595" y="9144"/>
                  </a:lnTo>
                  <a:lnTo>
                    <a:pt x="127127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4" y="188595"/>
                  </a:lnTo>
                  <a:lnTo>
                    <a:pt x="0" y="256794"/>
                  </a:lnTo>
                  <a:lnTo>
                    <a:pt x="9144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127" y="478663"/>
                  </a:lnTo>
                  <a:lnTo>
                    <a:pt x="188595" y="504571"/>
                  </a:lnTo>
                  <a:lnTo>
                    <a:pt x="256794" y="513714"/>
                  </a:lnTo>
                  <a:lnTo>
                    <a:pt x="325120" y="504571"/>
                  </a:lnTo>
                  <a:lnTo>
                    <a:pt x="386461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715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21487" y="2990722"/>
              <a:ext cx="560705" cy="560705"/>
            </a:xfrm>
            <a:custGeom>
              <a:avLst/>
              <a:gdLst/>
              <a:ahLst/>
              <a:cxnLst/>
              <a:rect l="l" t="t" r="r" b="b"/>
              <a:pathLst>
                <a:path w="560705" h="560704">
                  <a:moveTo>
                    <a:pt x="280111" y="0"/>
                  </a:moveTo>
                  <a:lnTo>
                    <a:pt x="205638" y="10032"/>
                  </a:lnTo>
                  <a:lnTo>
                    <a:pt x="138734" y="38226"/>
                  </a:lnTo>
                  <a:lnTo>
                    <a:pt x="82042" y="82041"/>
                  </a:lnTo>
                  <a:lnTo>
                    <a:pt x="38239" y="138684"/>
                  </a:lnTo>
                  <a:lnTo>
                    <a:pt x="9994" y="205612"/>
                  </a:lnTo>
                  <a:lnTo>
                    <a:pt x="0" y="280035"/>
                  </a:lnTo>
                  <a:lnTo>
                    <a:pt x="9994" y="354584"/>
                  </a:lnTo>
                  <a:lnTo>
                    <a:pt x="38239" y="421513"/>
                  </a:lnTo>
                  <a:lnTo>
                    <a:pt x="82042" y="478154"/>
                  </a:lnTo>
                  <a:lnTo>
                    <a:pt x="138734" y="521969"/>
                  </a:lnTo>
                  <a:lnTo>
                    <a:pt x="205638" y="550163"/>
                  </a:lnTo>
                  <a:lnTo>
                    <a:pt x="280111" y="560197"/>
                  </a:lnTo>
                  <a:lnTo>
                    <a:pt x="354571" y="550163"/>
                  </a:lnTo>
                  <a:lnTo>
                    <a:pt x="421487" y="521969"/>
                  </a:lnTo>
                  <a:lnTo>
                    <a:pt x="478180" y="478154"/>
                  </a:lnTo>
                  <a:lnTo>
                    <a:pt x="521982" y="421513"/>
                  </a:lnTo>
                  <a:lnTo>
                    <a:pt x="550214" y="354584"/>
                  </a:lnTo>
                  <a:lnTo>
                    <a:pt x="560222" y="280035"/>
                  </a:lnTo>
                  <a:lnTo>
                    <a:pt x="550214" y="205612"/>
                  </a:lnTo>
                  <a:lnTo>
                    <a:pt x="521982" y="138684"/>
                  </a:lnTo>
                  <a:lnTo>
                    <a:pt x="478180" y="82041"/>
                  </a:lnTo>
                  <a:lnTo>
                    <a:pt x="421487" y="38226"/>
                  </a:lnTo>
                  <a:lnTo>
                    <a:pt x="354571" y="10032"/>
                  </a:lnTo>
                  <a:lnTo>
                    <a:pt x="280111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21487" y="2990722"/>
              <a:ext cx="560705" cy="560705"/>
            </a:xfrm>
            <a:custGeom>
              <a:avLst/>
              <a:gdLst/>
              <a:ahLst/>
              <a:cxnLst/>
              <a:rect l="l" t="t" r="r" b="b"/>
              <a:pathLst>
                <a:path w="560705" h="560704">
                  <a:moveTo>
                    <a:pt x="560222" y="280035"/>
                  </a:moveTo>
                  <a:lnTo>
                    <a:pt x="550214" y="205612"/>
                  </a:lnTo>
                  <a:lnTo>
                    <a:pt x="521982" y="138684"/>
                  </a:lnTo>
                  <a:lnTo>
                    <a:pt x="478180" y="82041"/>
                  </a:lnTo>
                  <a:lnTo>
                    <a:pt x="421487" y="38226"/>
                  </a:lnTo>
                  <a:lnTo>
                    <a:pt x="354571" y="10032"/>
                  </a:lnTo>
                  <a:lnTo>
                    <a:pt x="280111" y="0"/>
                  </a:lnTo>
                  <a:lnTo>
                    <a:pt x="205638" y="10032"/>
                  </a:lnTo>
                  <a:lnTo>
                    <a:pt x="138734" y="38226"/>
                  </a:lnTo>
                  <a:lnTo>
                    <a:pt x="82042" y="82041"/>
                  </a:lnTo>
                  <a:lnTo>
                    <a:pt x="38239" y="138684"/>
                  </a:lnTo>
                  <a:lnTo>
                    <a:pt x="9994" y="205612"/>
                  </a:lnTo>
                  <a:lnTo>
                    <a:pt x="0" y="280035"/>
                  </a:lnTo>
                  <a:lnTo>
                    <a:pt x="9994" y="354584"/>
                  </a:lnTo>
                  <a:lnTo>
                    <a:pt x="38239" y="421513"/>
                  </a:lnTo>
                  <a:lnTo>
                    <a:pt x="82042" y="478154"/>
                  </a:lnTo>
                  <a:lnTo>
                    <a:pt x="138734" y="521969"/>
                  </a:lnTo>
                  <a:lnTo>
                    <a:pt x="205638" y="550163"/>
                  </a:lnTo>
                  <a:lnTo>
                    <a:pt x="280111" y="560197"/>
                  </a:lnTo>
                  <a:lnTo>
                    <a:pt x="354571" y="550163"/>
                  </a:lnTo>
                  <a:lnTo>
                    <a:pt x="421487" y="521969"/>
                  </a:lnTo>
                  <a:lnTo>
                    <a:pt x="478180" y="478154"/>
                  </a:lnTo>
                  <a:lnTo>
                    <a:pt x="521982" y="421513"/>
                  </a:lnTo>
                  <a:lnTo>
                    <a:pt x="550214" y="354584"/>
                  </a:lnTo>
                  <a:lnTo>
                    <a:pt x="560222" y="280035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89483" y="2723515"/>
            <a:ext cx="431800" cy="64643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11760">
              <a:lnSpc>
                <a:spcPct val="100000"/>
              </a:lnSpc>
              <a:spcBef>
                <a:spcPts val="110"/>
              </a:spcBef>
            </a:pPr>
            <a:r>
              <a:rPr sz="1500" i="1" spc="35" dirty="0">
                <a:solidFill>
                  <a:srgbClr val="213739"/>
                </a:solidFill>
                <a:latin typeface="Calibri"/>
                <a:cs typeface="Calibri"/>
              </a:rPr>
              <a:t>h</a:t>
            </a:r>
            <a:r>
              <a:rPr sz="1650" spc="52" baseline="-12626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650" baseline="-12626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1275"/>
              </a:spcBef>
            </a:pPr>
            <a:r>
              <a:rPr sz="1500" spc="-60" dirty="0">
                <a:solidFill>
                  <a:srgbClr val="213739"/>
                </a:solidFill>
                <a:latin typeface="Arial MT"/>
                <a:cs typeface="Arial MT"/>
              </a:rPr>
              <a:t>-</a:t>
            </a:r>
            <a:r>
              <a:rPr sz="1500" spc="-85" dirty="0">
                <a:solidFill>
                  <a:srgbClr val="213739"/>
                </a:solidFill>
                <a:latin typeface="Arial MT"/>
                <a:cs typeface="Arial MT"/>
              </a:rPr>
              <a:t>1,-</a:t>
            </a:r>
            <a:r>
              <a:rPr sz="1500" spc="-50" dirty="0">
                <a:solidFill>
                  <a:srgbClr val="213739"/>
                </a:solidFill>
                <a:latin typeface="Arial MT"/>
                <a:cs typeface="Arial MT"/>
              </a:rPr>
              <a:t>1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563497" y="3005073"/>
            <a:ext cx="2583180" cy="531495"/>
            <a:chOff x="1563497" y="3005073"/>
            <a:chExt cx="2583180" cy="531495"/>
          </a:xfrm>
        </p:grpSpPr>
        <p:sp>
          <p:nvSpPr>
            <p:cNvPr id="17" name="object 17"/>
            <p:cNvSpPr/>
            <p:nvPr/>
          </p:nvSpPr>
          <p:spPr>
            <a:xfrm>
              <a:off x="1568577" y="3010153"/>
              <a:ext cx="521334" cy="521334"/>
            </a:xfrm>
            <a:custGeom>
              <a:avLst/>
              <a:gdLst/>
              <a:ahLst/>
              <a:cxnLst/>
              <a:rect l="l" t="t" r="r" b="b"/>
              <a:pathLst>
                <a:path w="521335" h="521335">
                  <a:moveTo>
                    <a:pt x="260730" y="0"/>
                  </a:moveTo>
                  <a:lnTo>
                    <a:pt x="191389" y="9271"/>
                  </a:lnTo>
                  <a:lnTo>
                    <a:pt x="129159" y="35560"/>
                  </a:lnTo>
                  <a:lnTo>
                    <a:pt x="76327" y="76326"/>
                  </a:lnTo>
                  <a:lnTo>
                    <a:pt x="35559" y="129159"/>
                  </a:lnTo>
                  <a:lnTo>
                    <a:pt x="9270" y="191388"/>
                  </a:lnTo>
                  <a:lnTo>
                    <a:pt x="0" y="260604"/>
                  </a:lnTo>
                  <a:lnTo>
                    <a:pt x="9270" y="329946"/>
                  </a:lnTo>
                  <a:lnTo>
                    <a:pt x="35559" y="392175"/>
                  </a:lnTo>
                  <a:lnTo>
                    <a:pt x="76327" y="445008"/>
                  </a:lnTo>
                  <a:lnTo>
                    <a:pt x="129159" y="485775"/>
                  </a:lnTo>
                  <a:lnTo>
                    <a:pt x="191389" y="512063"/>
                  </a:lnTo>
                  <a:lnTo>
                    <a:pt x="260730" y="521335"/>
                  </a:lnTo>
                  <a:lnTo>
                    <a:pt x="329946" y="512063"/>
                  </a:lnTo>
                  <a:lnTo>
                    <a:pt x="392303" y="485775"/>
                  </a:lnTo>
                  <a:lnTo>
                    <a:pt x="445008" y="445008"/>
                  </a:lnTo>
                  <a:lnTo>
                    <a:pt x="485774" y="392175"/>
                  </a:lnTo>
                  <a:lnTo>
                    <a:pt x="512064" y="329946"/>
                  </a:lnTo>
                  <a:lnTo>
                    <a:pt x="521334" y="260604"/>
                  </a:lnTo>
                  <a:lnTo>
                    <a:pt x="512064" y="191388"/>
                  </a:lnTo>
                  <a:lnTo>
                    <a:pt x="485774" y="129159"/>
                  </a:lnTo>
                  <a:lnTo>
                    <a:pt x="445008" y="76326"/>
                  </a:lnTo>
                  <a:lnTo>
                    <a:pt x="392303" y="35560"/>
                  </a:lnTo>
                  <a:lnTo>
                    <a:pt x="329946" y="9271"/>
                  </a:lnTo>
                  <a:lnTo>
                    <a:pt x="260730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568577" y="3010153"/>
              <a:ext cx="521334" cy="521334"/>
            </a:xfrm>
            <a:custGeom>
              <a:avLst/>
              <a:gdLst/>
              <a:ahLst/>
              <a:cxnLst/>
              <a:rect l="l" t="t" r="r" b="b"/>
              <a:pathLst>
                <a:path w="521335" h="521335">
                  <a:moveTo>
                    <a:pt x="521334" y="260604"/>
                  </a:moveTo>
                  <a:lnTo>
                    <a:pt x="512064" y="191388"/>
                  </a:lnTo>
                  <a:lnTo>
                    <a:pt x="485774" y="129159"/>
                  </a:lnTo>
                  <a:lnTo>
                    <a:pt x="445008" y="76326"/>
                  </a:lnTo>
                  <a:lnTo>
                    <a:pt x="392303" y="35560"/>
                  </a:lnTo>
                  <a:lnTo>
                    <a:pt x="329946" y="9271"/>
                  </a:lnTo>
                  <a:lnTo>
                    <a:pt x="260730" y="0"/>
                  </a:lnTo>
                  <a:lnTo>
                    <a:pt x="191389" y="9271"/>
                  </a:lnTo>
                  <a:lnTo>
                    <a:pt x="129159" y="35560"/>
                  </a:lnTo>
                  <a:lnTo>
                    <a:pt x="76327" y="76326"/>
                  </a:lnTo>
                  <a:lnTo>
                    <a:pt x="35559" y="129159"/>
                  </a:lnTo>
                  <a:lnTo>
                    <a:pt x="9270" y="191388"/>
                  </a:lnTo>
                  <a:lnTo>
                    <a:pt x="0" y="260604"/>
                  </a:lnTo>
                  <a:lnTo>
                    <a:pt x="9270" y="329946"/>
                  </a:lnTo>
                  <a:lnTo>
                    <a:pt x="35559" y="392175"/>
                  </a:lnTo>
                  <a:lnTo>
                    <a:pt x="76327" y="445008"/>
                  </a:lnTo>
                  <a:lnTo>
                    <a:pt x="129159" y="485775"/>
                  </a:lnTo>
                  <a:lnTo>
                    <a:pt x="191389" y="512063"/>
                  </a:lnTo>
                  <a:lnTo>
                    <a:pt x="260730" y="521335"/>
                  </a:lnTo>
                  <a:lnTo>
                    <a:pt x="329946" y="512063"/>
                  </a:lnTo>
                  <a:lnTo>
                    <a:pt x="392303" y="485775"/>
                  </a:lnTo>
                  <a:lnTo>
                    <a:pt x="445008" y="445008"/>
                  </a:lnTo>
                  <a:lnTo>
                    <a:pt x="485774" y="392175"/>
                  </a:lnTo>
                  <a:lnTo>
                    <a:pt x="512064" y="329946"/>
                  </a:lnTo>
                  <a:lnTo>
                    <a:pt x="521334" y="26060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596261" y="3010153"/>
              <a:ext cx="521334" cy="521334"/>
            </a:xfrm>
            <a:custGeom>
              <a:avLst/>
              <a:gdLst/>
              <a:ahLst/>
              <a:cxnLst/>
              <a:rect l="l" t="t" r="r" b="b"/>
              <a:pathLst>
                <a:path w="521335" h="521335">
                  <a:moveTo>
                    <a:pt x="260731" y="0"/>
                  </a:moveTo>
                  <a:lnTo>
                    <a:pt x="191388" y="9271"/>
                  </a:lnTo>
                  <a:lnTo>
                    <a:pt x="129158" y="35560"/>
                  </a:lnTo>
                  <a:lnTo>
                    <a:pt x="76326" y="76326"/>
                  </a:lnTo>
                  <a:lnTo>
                    <a:pt x="35559" y="129159"/>
                  </a:lnTo>
                  <a:lnTo>
                    <a:pt x="9270" y="191388"/>
                  </a:lnTo>
                  <a:lnTo>
                    <a:pt x="0" y="260604"/>
                  </a:lnTo>
                  <a:lnTo>
                    <a:pt x="9270" y="329946"/>
                  </a:lnTo>
                  <a:lnTo>
                    <a:pt x="35559" y="392175"/>
                  </a:lnTo>
                  <a:lnTo>
                    <a:pt x="76326" y="445008"/>
                  </a:lnTo>
                  <a:lnTo>
                    <a:pt x="129158" y="485775"/>
                  </a:lnTo>
                  <a:lnTo>
                    <a:pt x="191388" y="512063"/>
                  </a:lnTo>
                  <a:lnTo>
                    <a:pt x="260731" y="521335"/>
                  </a:lnTo>
                  <a:lnTo>
                    <a:pt x="329945" y="512063"/>
                  </a:lnTo>
                  <a:lnTo>
                    <a:pt x="392302" y="485775"/>
                  </a:lnTo>
                  <a:lnTo>
                    <a:pt x="445007" y="445008"/>
                  </a:lnTo>
                  <a:lnTo>
                    <a:pt x="485775" y="392175"/>
                  </a:lnTo>
                  <a:lnTo>
                    <a:pt x="512063" y="329946"/>
                  </a:lnTo>
                  <a:lnTo>
                    <a:pt x="521334" y="260604"/>
                  </a:lnTo>
                  <a:lnTo>
                    <a:pt x="512063" y="191388"/>
                  </a:lnTo>
                  <a:lnTo>
                    <a:pt x="485775" y="129159"/>
                  </a:lnTo>
                  <a:lnTo>
                    <a:pt x="445007" y="76326"/>
                  </a:lnTo>
                  <a:lnTo>
                    <a:pt x="392302" y="35560"/>
                  </a:lnTo>
                  <a:lnTo>
                    <a:pt x="329945" y="9271"/>
                  </a:lnTo>
                  <a:lnTo>
                    <a:pt x="260731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596261" y="3010153"/>
              <a:ext cx="521334" cy="521334"/>
            </a:xfrm>
            <a:custGeom>
              <a:avLst/>
              <a:gdLst/>
              <a:ahLst/>
              <a:cxnLst/>
              <a:rect l="l" t="t" r="r" b="b"/>
              <a:pathLst>
                <a:path w="521335" h="521335">
                  <a:moveTo>
                    <a:pt x="521334" y="260604"/>
                  </a:moveTo>
                  <a:lnTo>
                    <a:pt x="512063" y="191388"/>
                  </a:lnTo>
                  <a:lnTo>
                    <a:pt x="485775" y="129159"/>
                  </a:lnTo>
                  <a:lnTo>
                    <a:pt x="445007" y="76326"/>
                  </a:lnTo>
                  <a:lnTo>
                    <a:pt x="392302" y="35560"/>
                  </a:lnTo>
                  <a:lnTo>
                    <a:pt x="329945" y="9271"/>
                  </a:lnTo>
                  <a:lnTo>
                    <a:pt x="260731" y="0"/>
                  </a:lnTo>
                  <a:lnTo>
                    <a:pt x="191388" y="9271"/>
                  </a:lnTo>
                  <a:lnTo>
                    <a:pt x="129158" y="35560"/>
                  </a:lnTo>
                  <a:lnTo>
                    <a:pt x="76326" y="76326"/>
                  </a:lnTo>
                  <a:lnTo>
                    <a:pt x="35559" y="129159"/>
                  </a:lnTo>
                  <a:lnTo>
                    <a:pt x="9270" y="191388"/>
                  </a:lnTo>
                  <a:lnTo>
                    <a:pt x="0" y="260604"/>
                  </a:lnTo>
                  <a:lnTo>
                    <a:pt x="9270" y="329946"/>
                  </a:lnTo>
                  <a:lnTo>
                    <a:pt x="35559" y="392175"/>
                  </a:lnTo>
                  <a:lnTo>
                    <a:pt x="76326" y="445008"/>
                  </a:lnTo>
                  <a:lnTo>
                    <a:pt x="129158" y="485775"/>
                  </a:lnTo>
                  <a:lnTo>
                    <a:pt x="191388" y="512063"/>
                  </a:lnTo>
                  <a:lnTo>
                    <a:pt x="260731" y="521335"/>
                  </a:lnTo>
                  <a:lnTo>
                    <a:pt x="329945" y="512063"/>
                  </a:lnTo>
                  <a:lnTo>
                    <a:pt x="392302" y="485775"/>
                  </a:lnTo>
                  <a:lnTo>
                    <a:pt x="445007" y="445008"/>
                  </a:lnTo>
                  <a:lnTo>
                    <a:pt x="485775" y="392175"/>
                  </a:lnTo>
                  <a:lnTo>
                    <a:pt x="512063" y="329946"/>
                  </a:lnTo>
                  <a:lnTo>
                    <a:pt x="521334" y="26060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627754" y="3013963"/>
              <a:ext cx="513715" cy="513715"/>
            </a:xfrm>
            <a:custGeom>
              <a:avLst/>
              <a:gdLst/>
              <a:ahLst/>
              <a:cxnLst/>
              <a:rect l="l" t="t" r="r" b="b"/>
              <a:pathLst>
                <a:path w="513714" h="513714">
                  <a:moveTo>
                    <a:pt x="256794" y="0"/>
                  </a:moveTo>
                  <a:lnTo>
                    <a:pt x="188595" y="9144"/>
                  </a:lnTo>
                  <a:lnTo>
                    <a:pt x="127127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4" y="188595"/>
                  </a:lnTo>
                  <a:lnTo>
                    <a:pt x="0" y="256794"/>
                  </a:lnTo>
                  <a:lnTo>
                    <a:pt x="9144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127" y="478663"/>
                  </a:lnTo>
                  <a:lnTo>
                    <a:pt x="188595" y="504571"/>
                  </a:lnTo>
                  <a:lnTo>
                    <a:pt x="256794" y="513714"/>
                  </a:lnTo>
                  <a:lnTo>
                    <a:pt x="325120" y="504571"/>
                  </a:lnTo>
                  <a:lnTo>
                    <a:pt x="386461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715" y="256794"/>
                  </a:ln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461" y="35051"/>
                  </a:lnTo>
                  <a:lnTo>
                    <a:pt x="325120" y="9144"/>
                  </a:lnTo>
                  <a:lnTo>
                    <a:pt x="256794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627754" y="3013963"/>
              <a:ext cx="513715" cy="513715"/>
            </a:xfrm>
            <a:custGeom>
              <a:avLst/>
              <a:gdLst/>
              <a:ahLst/>
              <a:cxnLst/>
              <a:rect l="l" t="t" r="r" b="b"/>
              <a:pathLst>
                <a:path w="513714" h="513714">
                  <a:moveTo>
                    <a:pt x="513715" y="256794"/>
                  </a:move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461" y="35051"/>
                  </a:lnTo>
                  <a:lnTo>
                    <a:pt x="325120" y="9144"/>
                  </a:lnTo>
                  <a:lnTo>
                    <a:pt x="256794" y="0"/>
                  </a:lnTo>
                  <a:lnTo>
                    <a:pt x="188595" y="9144"/>
                  </a:lnTo>
                  <a:lnTo>
                    <a:pt x="127127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4" y="188595"/>
                  </a:lnTo>
                  <a:lnTo>
                    <a:pt x="0" y="256794"/>
                  </a:lnTo>
                  <a:lnTo>
                    <a:pt x="9144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127" y="478663"/>
                  </a:lnTo>
                  <a:lnTo>
                    <a:pt x="188595" y="504571"/>
                  </a:lnTo>
                  <a:lnTo>
                    <a:pt x="256794" y="513714"/>
                  </a:lnTo>
                  <a:lnTo>
                    <a:pt x="325120" y="504571"/>
                  </a:lnTo>
                  <a:lnTo>
                    <a:pt x="386461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715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3719448" y="2723515"/>
            <a:ext cx="329565" cy="644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65405">
              <a:lnSpc>
                <a:spcPct val="100000"/>
              </a:lnSpc>
              <a:spcBef>
                <a:spcPts val="110"/>
              </a:spcBef>
            </a:pP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h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4</a:t>
            </a:r>
            <a:endParaRPr sz="1650" baseline="-10101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1260"/>
              </a:spcBef>
            </a:pPr>
            <a:r>
              <a:rPr sz="1500" spc="-25" dirty="0">
                <a:solidFill>
                  <a:srgbClr val="213739"/>
                </a:solidFill>
                <a:latin typeface="Arial MT"/>
                <a:cs typeface="Arial MT"/>
              </a:rPr>
              <a:t>1,1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33527" y="3638803"/>
            <a:ext cx="748030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i="1" dirty="0">
                <a:solidFill>
                  <a:srgbClr val="213739"/>
                </a:solidFill>
                <a:latin typeface="Calibri"/>
                <a:cs typeface="Calibri"/>
              </a:rPr>
              <a:t>bias</a:t>
            </a:r>
            <a:r>
              <a:rPr sz="1500" i="1" spc="33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500" spc="-13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13739"/>
                </a:solidFill>
                <a:latin typeface="Arial MT"/>
                <a:cs typeface="Arial MT"/>
              </a:rPr>
              <a:t>-</a:t>
            </a:r>
            <a:r>
              <a:rPr sz="1500" spc="-2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00" spc="-50" dirty="0">
                <a:solidFill>
                  <a:srgbClr val="213739"/>
                </a:solidFill>
                <a:latin typeface="Arial MT"/>
                <a:cs typeface="Arial MT"/>
              </a:rPr>
              <a:t>2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278507" y="1536572"/>
            <a:ext cx="111760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i="1" spc="-50" dirty="0">
                <a:solidFill>
                  <a:srgbClr val="213739"/>
                </a:solidFill>
                <a:latin typeface="Calibri"/>
                <a:cs typeface="Calibri"/>
              </a:rPr>
              <a:t>y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164336" y="2568955"/>
            <a:ext cx="280670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650" baseline="-10101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628013" y="2532379"/>
            <a:ext cx="1461135" cy="8324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90500">
              <a:lnSpc>
                <a:spcPts val="1650"/>
              </a:lnSpc>
              <a:spcBef>
                <a:spcPts val="110"/>
              </a:spcBef>
              <a:tabLst>
                <a:tab pos="704215" algn="l"/>
                <a:tab pos="1191895" algn="l"/>
              </a:tabLst>
            </a:pP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650" baseline="-1010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r>
              <a:rPr sz="1650" baseline="-1010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4</a:t>
            </a:r>
            <a:endParaRPr sz="1650" baseline="-10101">
              <a:latin typeface="Calibri"/>
              <a:cs typeface="Calibri"/>
            </a:endParaRPr>
          </a:p>
          <a:p>
            <a:pPr marL="100965">
              <a:lnSpc>
                <a:spcPts val="1650"/>
              </a:lnSpc>
              <a:tabLst>
                <a:tab pos="1127760" algn="l"/>
              </a:tabLst>
            </a:pP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h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650" baseline="-1010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h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650" baseline="-10101">
              <a:latin typeface="Calibri"/>
              <a:cs typeface="Calibri"/>
            </a:endParaRPr>
          </a:p>
          <a:p>
            <a:pPr marL="50800">
              <a:lnSpc>
                <a:spcPct val="100000"/>
              </a:lnSpc>
              <a:spcBef>
                <a:spcPts val="1235"/>
              </a:spcBef>
              <a:tabLst>
                <a:tab pos="1077595" algn="l"/>
              </a:tabLst>
            </a:pPr>
            <a:r>
              <a:rPr sz="1500" spc="-40" dirty="0">
                <a:solidFill>
                  <a:srgbClr val="213739"/>
                </a:solidFill>
                <a:latin typeface="Arial MT"/>
                <a:cs typeface="Arial MT"/>
              </a:rPr>
              <a:t>-</a:t>
            </a:r>
            <a:r>
              <a:rPr sz="1500" spc="-25" dirty="0">
                <a:solidFill>
                  <a:srgbClr val="213739"/>
                </a:solidFill>
                <a:latin typeface="Arial MT"/>
                <a:cs typeface="Arial MT"/>
              </a:rPr>
              <a:t>1,1</a:t>
            </a:r>
            <a:r>
              <a:rPr sz="1500" dirty="0">
                <a:solidFill>
                  <a:srgbClr val="213739"/>
                </a:solidFill>
                <a:latin typeface="Arial MT"/>
                <a:cs typeface="Arial MT"/>
              </a:rPr>
              <a:t>	</a:t>
            </a:r>
            <a:r>
              <a:rPr sz="1500" spc="-70" dirty="0">
                <a:solidFill>
                  <a:srgbClr val="213739"/>
                </a:solidFill>
                <a:latin typeface="Arial MT"/>
                <a:cs typeface="Arial MT"/>
              </a:rPr>
              <a:t>1,-</a:t>
            </a:r>
            <a:r>
              <a:rPr sz="1500" spc="-50" dirty="0">
                <a:solidFill>
                  <a:srgbClr val="213739"/>
                </a:solidFill>
                <a:latin typeface="Arial MT"/>
                <a:cs typeface="Arial MT"/>
              </a:rPr>
              <a:t>1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994460" y="1862084"/>
            <a:ext cx="2713990" cy="2357120"/>
            <a:chOff x="994460" y="1862084"/>
            <a:chExt cx="2713990" cy="2357120"/>
          </a:xfrm>
        </p:grpSpPr>
        <p:sp>
          <p:nvSpPr>
            <p:cNvPr id="29" name="object 29"/>
            <p:cNvSpPr/>
            <p:nvPr/>
          </p:nvSpPr>
          <p:spPr>
            <a:xfrm>
              <a:off x="1016139" y="3485388"/>
              <a:ext cx="686435" cy="686435"/>
            </a:xfrm>
            <a:custGeom>
              <a:avLst/>
              <a:gdLst/>
              <a:ahLst/>
              <a:cxnLst/>
              <a:rect l="l" t="t" r="r" b="b"/>
              <a:pathLst>
                <a:path w="686435" h="686435">
                  <a:moveTo>
                    <a:pt x="686295" y="686181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4460" y="3463657"/>
              <a:ext cx="104659" cy="104661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1072959" y="3406521"/>
              <a:ext cx="1615440" cy="807720"/>
            </a:xfrm>
            <a:custGeom>
              <a:avLst/>
              <a:gdLst/>
              <a:ahLst/>
              <a:cxnLst/>
              <a:rect l="l" t="t" r="r" b="b"/>
              <a:pathLst>
                <a:path w="1615439" h="807720">
                  <a:moveTo>
                    <a:pt x="1615122" y="807592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60723" y="3364757"/>
              <a:ext cx="84085" cy="122262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1766570" y="3546729"/>
              <a:ext cx="125730" cy="624840"/>
            </a:xfrm>
            <a:custGeom>
              <a:avLst/>
              <a:gdLst/>
              <a:ahLst/>
              <a:cxnLst/>
              <a:rect l="l" t="t" r="r" b="b"/>
              <a:pathLst>
                <a:path w="125730" h="624839">
                  <a:moveTo>
                    <a:pt x="62737" y="624840"/>
                  </a:moveTo>
                  <a:lnTo>
                    <a:pt x="62737" y="8000"/>
                  </a:lnTo>
                </a:path>
                <a:path w="125730" h="624839">
                  <a:moveTo>
                    <a:pt x="0" y="51435"/>
                  </a:moveTo>
                  <a:lnTo>
                    <a:pt x="24637" y="42418"/>
                  </a:lnTo>
                  <a:lnTo>
                    <a:pt x="42672" y="30099"/>
                  </a:lnTo>
                  <a:lnTo>
                    <a:pt x="55118" y="15621"/>
                  </a:lnTo>
                  <a:lnTo>
                    <a:pt x="62737" y="0"/>
                  </a:lnTo>
                  <a:lnTo>
                    <a:pt x="70231" y="15621"/>
                  </a:lnTo>
                  <a:lnTo>
                    <a:pt x="82677" y="30099"/>
                  </a:lnTo>
                  <a:lnTo>
                    <a:pt x="100711" y="42418"/>
                  </a:lnTo>
                  <a:lnTo>
                    <a:pt x="125349" y="51435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030094" y="3471672"/>
              <a:ext cx="700405" cy="700405"/>
            </a:xfrm>
            <a:custGeom>
              <a:avLst/>
              <a:gdLst/>
              <a:ahLst/>
              <a:cxnLst/>
              <a:rect l="l" t="t" r="r" b="b"/>
              <a:pathLst>
                <a:path w="700405" h="700404">
                  <a:moveTo>
                    <a:pt x="700024" y="699896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08377" y="3449924"/>
              <a:ext cx="105171" cy="105186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1956054" y="3471672"/>
              <a:ext cx="700405" cy="700405"/>
            </a:xfrm>
            <a:custGeom>
              <a:avLst/>
              <a:gdLst/>
              <a:ahLst/>
              <a:cxnLst/>
              <a:rect l="l" t="t" r="r" b="b"/>
              <a:pathLst>
                <a:path w="700405" h="700404">
                  <a:moveTo>
                    <a:pt x="0" y="699896"/>
                  </a:moveTo>
                  <a:lnTo>
                    <a:pt x="700023" y="0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72766" y="3449924"/>
              <a:ext cx="105171" cy="105186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2794254" y="3546729"/>
              <a:ext cx="125730" cy="624840"/>
            </a:xfrm>
            <a:custGeom>
              <a:avLst/>
              <a:gdLst/>
              <a:ahLst/>
              <a:cxnLst/>
              <a:rect l="l" t="t" r="r" b="b"/>
              <a:pathLst>
                <a:path w="125730" h="624839">
                  <a:moveTo>
                    <a:pt x="62737" y="624840"/>
                  </a:moveTo>
                  <a:lnTo>
                    <a:pt x="62737" y="8000"/>
                  </a:lnTo>
                </a:path>
                <a:path w="125730" h="624839">
                  <a:moveTo>
                    <a:pt x="0" y="51435"/>
                  </a:moveTo>
                  <a:lnTo>
                    <a:pt x="24637" y="42418"/>
                  </a:lnTo>
                  <a:lnTo>
                    <a:pt x="42671" y="30099"/>
                  </a:lnTo>
                  <a:lnTo>
                    <a:pt x="55118" y="15621"/>
                  </a:lnTo>
                  <a:lnTo>
                    <a:pt x="62737" y="0"/>
                  </a:lnTo>
                  <a:lnTo>
                    <a:pt x="70231" y="15621"/>
                  </a:lnTo>
                  <a:lnTo>
                    <a:pt x="82676" y="30099"/>
                  </a:lnTo>
                  <a:lnTo>
                    <a:pt x="100710" y="42418"/>
                  </a:lnTo>
                  <a:lnTo>
                    <a:pt x="125348" y="51435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998218" y="3396107"/>
              <a:ext cx="1635760" cy="818515"/>
            </a:xfrm>
            <a:custGeom>
              <a:avLst/>
              <a:gdLst/>
              <a:ahLst/>
              <a:cxnLst/>
              <a:rect l="l" t="t" r="r" b="b"/>
              <a:pathLst>
                <a:path w="1635760" h="818514">
                  <a:moveTo>
                    <a:pt x="0" y="818006"/>
                  </a:moveTo>
                  <a:lnTo>
                    <a:pt x="1635759" y="0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62114" y="3354470"/>
              <a:ext cx="84163" cy="122136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2983864" y="3469005"/>
              <a:ext cx="702945" cy="702945"/>
            </a:xfrm>
            <a:custGeom>
              <a:avLst/>
              <a:gdLst/>
              <a:ahLst/>
              <a:cxnLst/>
              <a:rect l="l" t="t" r="r" b="b"/>
              <a:pathLst>
                <a:path w="702945" h="702945">
                  <a:moveTo>
                    <a:pt x="0" y="702564"/>
                  </a:moveTo>
                  <a:lnTo>
                    <a:pt x="702563" y="0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603498" y="3447274"/>
              <a:ext cx="104659" cy="104661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1041425" y="2308860"/>
              <a:ext cx="1203325" cy="802640"/>
            </a:xfrm>
            <a:custGeom>
              <a:avLst/>
              <a:gdLst/>
              <a:ahLst/>
              <a:cxnLst/>
              <a:rect l="l" t="t" r="r" b="b"/>
              <a:pathLst>
                <a:path w="1203325" h="802639">
                  <a:moveTo>
                    <a:pt x="0" y="802131"/>
                  </a:moveTo>
                  <a:lnTo>
                    <a:pt x="1203172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83766" y="2287145"/>
              <a:ext cx="66671" cy="85467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1949577" y="2348738"/>
              <a:ext cx="340995" cy="681990"/>
            </a:xfrm>
            <a:custGeom>
              <a:avLst/>
              <a:gdLst/>
              <a:ahLst/>
              <a:cxnLst/>
              <a:rect l="l" t="t" r="r" b="b"/>
              <a:pathLst>
                <a:path w="340994" h="681989">
                  <a:moveTo>
                    <a:pt x="0" y="681482"/>
                  </a:moveTo>
                  <a:lnTo>
                    <a:pt x="340741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227579" y="2342641"/>
              <a:ext cx="91568" cy="64136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2395855" y="2348738"/>
              <a:ext cx="340995" cy="681990"/>
            </a:xfrm>
            <a:custGeom>
              <a:avLst/>
              <a:gdLst/>
              <a:ahLst/>
              <a:cxnLst/>
              <a:rect l="l" t="t" r="r" b="b"/>
              <a:pathLst>
                <a:path w="340994" h="681989">
                  <a:moveTo>
                    <a:pt x="340868" y="681482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67025" y="2342641"/>
              <a:ext cx="91568" cy="64136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2441575" y="2308860"/>
              <a:ext cx="1223010" cy="815340"/>
            </a:xfrm>
            <a:custGeom>
              <a:avLst/>
              <a:gdLst/>
              <a:ahLst/>
              <a:cxnLst/>
              <a:rect l="l" t="t" r="r" b="b"/>
              <a:pathLst>
                <a:path w="1223010" h="815339">
                  <a:moveTo>
                    <a:pt x="1222628" y="814959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435734" y="2287145"/>
              <a:ext cx="66671" cy="85467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2294890" y="1864614"/>
              <a:ext cx="96520" cy="268605"/>
            </a:xfrm>
            <a:custGeom>
              <a:avLst/>
              <a:gdLst/>
              <a:ahLst/>
              <a:cxnLst/>
              <a:rect l="l" t="t" r="r" b="b"/>
              <a:pathLst>
                <a:path w="96519" h="268605">
                  <a:moveTo>
                    <a:pt x="48260" y="268605"/>
                  </a:moveTo>
                  <a:lnTo>
                    <a:pt x="48260" y="4063"/>
                  </a:lnTo>
                </a:path>
                <a:path w="96519" h="268605">
                  <a:moveTo>
                    <a:pt x="0" y="41783"/>
                  </a:moveTo>
                  <a:lnTo>
                    <a:pt x="18923" y="34416"/>
                  </a:lnTo>
                  <a:lnTo>
                    <a:pt x="32893" y="24511"/>
                  </a:lnTo>
                  <a:lnTo>
                    <a:pt x="42418" y="12700"/>
                  </a:lnTo>
                  <a:lnTo>
                    <a:pt x="48260" y="0"/>
                  </a:lnTo>
                  <a:lnTo>
                    <a:pt x="54102" y="12700"/>
                  </a:lnTo>
                  <a:lnTo>
                    <a:pt x="63627" y="24511"/>
                  </a:lnTo>
                  <a:lnTo>
                    <a:pt x="77470" y="34416"/>
                  </a:lnTo>
                  <a:lnTo>
                    <a:pt x="96393" y="41783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343204" y="3999632"/>
            <a:ext cx="2451100" cy="1073785"/>
          </a:xfrm>
          <a:prstGeom prst="rect">
            <a:avLst/>
          </a:prstGeom>
        </p:spPr>
        <p:txBody>
          <a:bodyPr vert="horz" wrap="square" lIns="0" tIns="125095" rIns="0" bIns="0" rtlCol="0">
            <a:spAutoFit/>
          </a:bodyPr>
          <a:lstStyle/>
          <a:p>
            <a:pPr marL="496570" algn="ctr">
              <a:lnSpc>
                <a:spcPct val="100000"/>
              </a:lnSpc>
              <a:spcBef>
                <a:spcPts val="985"/>
              </a:spcBef>
            </a:pPr>
            <a:r>
              <a:rPr sz="1500" i="1" spc="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650" spc="37" baseline="-10101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650" baseline="-10101">
              <a:latin typeface="Calibri"/>
              <a:cs typeface="Calibri"/>
            </a:endParaRPr>
          </a:p>
          <a:p>
            <a:pPr marL="38100" marR="30480">
              <a:lnSpc>
                <a:spcPct val="117700"/>
              </a:lnSpc>
              <a:spcBef>
                <a:spcPts val="625"/>
              </a:spcBef>
            </a:pP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red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edge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indicates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i="1" spc="10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=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-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1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blue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edge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indicates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i="1" spc="12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=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+1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53" name="object 53" descr="$PPTXTitle"/>
          <p:cNvSpPr txBox="1">
            <a:spLocks noGrp="1"/>
          </p:cNvSpPr>
          <p:nvPr>
            <p:ph type="title"/>
          </p:nvPr>
        </p:nvSpPr>
        <p:spPr>
          <a:xfrm>
            <a:off x="4781803" y="924305"/>
            <a:ext cx="400748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spc="-16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claim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that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this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network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65" dirty="0">
                <a:solidFill>
                  <a:srgbClr val="213739"/>
                </a:solidFill>
                <a:latin typeface="Arial MT"/>
                <a:cs typeface="Arial MT"/>
              </a:rPr>
              <a:t>can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75" dirty="0">
                <a:solidFill>
                  <a:srgbClr val="213739"/>
                </a:solidFill>
                <a:latin typeface="Arial MT"/>
                <a:cs typeface="Arial MT"/>
              </a:rPr>
              <a:t>be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70" dirty="0">
                <a:solidFill>
                  <a:srgbClr val="213739"/>
                </a:solidFill>
                <a:latin typeface="Arial MT"/>
                <a:cs typeface="Arial MT"/>
              </a:rPr>
              <a:t>used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to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im-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4784852" y="1238249"/>
            <a:ext cx="401066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32815" algn="l"/>
                <a:tab pos="1487805" algn="l"/>
                <a:tab pos="2374900" algn="l"/>
                <a:tab pos="3312160" algn="l"/>
              </a:tabLst>
            </a:pP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plement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	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any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	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boolean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	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function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	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(linearly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4756403" y="1414779"/>
            <a:ext cx="4078604" cy="1152525"/>
          </a:xfrm>
          <a:prstGeom prst="rect">
            <a:avLst/>
          </a:prstGeom>
        </p:spPr>
        <p:txBody>
          <a:bodyPr vert="horz" wrap="square" lIns="0" tIns="148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70"/>
              </a:spcBef>
            </a:pP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separable</a:t>
            </a:r>
            <a:r>
              <a:rPr sz="1750" spc="-1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or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not)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!</a:t>
            </a:r>
            <a:endParaRPr sz="175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1070"/>
              </a:spcBef>
            </a:pP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In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other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words,</a:t>
            </a:r>
            <a:r>
              <a:rPr sz="1750" spc="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can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find</a:t>
            </a:r>
            <a:r>
              <a:rPr sz="1750" spc="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spc="-15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-11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spc="-15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-11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spc="-15" baseline="-8888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-11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4</a:t>
            </a:r>
            <a:endParaRPr sz="1875" baseline="-8888">
              <a:latin typeface="Calibri"/>
              <a:cs typeface="Calibri"/>
            </a:endParaRPr>
          </a:p>
          <a:p>
            <a:pPr marL="40640">
              <a:lnSpc>
                <a:spcPct val="100000"/>
              </a:lnSpc>
              <a:spcBef>
                <a:spcPts val="434"/>
              </a:spcBef>
            </a:pP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such</a:t>
            </a:r>
            <a:r>
              <a:rPr sz="1750" spc="-229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that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truth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table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any</a:t>
            </a:r>
            <a:r>
              <a:rPr sz="1750" spc="-2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boolean</a:t>
            </a:r>
            <a:r>
              <a:rPr sz="1750" spc="-2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func-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4781169" y="2497962"/>
            <a:ext cx="4010660" cy="245046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 marR="9525" indent="4445">
              <a:lnSpc>
                <a:spcPct val="124300"/>
              </a:lnSpc>
              <a:spcBef>
                <a:spcPts val="240"/>
              </a:spcBef>
            </a:pP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tion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can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be</a:t>
            </a:r>
            <a:r>
              <a:rPr sz="1750" spc="-1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represented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by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this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network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Astonishing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claim!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Well,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not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rea</a:t>
            </a:r>
            <a:r>
              <a:rPr sz="1750" spc="-3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ly,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if 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you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un-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derstand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what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is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going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on</a:t>
            </a:r>
            <a:endParaRPr sz="1750">
              <a:latin typeface="Arial MT"/>
              <a:cs typeface="Arial MT"/>
            </a:endParaRPr>
          </a:p>
          <a:p>
            <a:pPr marL="17145" marR="5080" indent="-5080" algn="just">
              <a:lnSpc>
                <a:spcPct val="117400"/>
              </a:lnSpc>
              <a:spcBef>
                <a:spcPts val="509"/>
              </a:spcBef>
            </a:pP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Each</a:t>
            </a:r>
            <a:r>
              <a:rPr sz="1750" spc="-2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perceptron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in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middle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layer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fires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only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for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a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specific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 input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(and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no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5" dirty="0">
                <a:solidFill>
                  <a:srgbClr val="213739"/>
                </a:solidFill>
                <a:latin typeface="Arial MT"/>
                <a:cs typeface="Arial MT"/>
              </a:rPr>
              <a:t>two</a:t>
            </a:r>
            <a:r>
              <a:rPr sz="1750" spc="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perceptrons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fire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for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same</a:t>
            </a:r>
            <a:r>
              <a:rPr sz="1750" spc="-2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input)</a:t>
            </a:r>
            <a:endParaRPr sz="1750">
              <a:latin typeface="Arial MT"/>
              <a:cs typeface="Arial MT"/>
            </a:endParaRPr>
          </a:p>
          <a:p>
            <a:pPr marL="13970" algn="just">
              <a:lnSpc>
                <a:spcPct val="100000"/>
              </a:lnSpc>
              <a:spcBef>
                <a:spcPts val="1115"/>
              </a:spcBef>
            </a:pP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fourth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perceptron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fires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for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{1,1}</a:t>
            </a:r>
            <a:endParaRPr sz="175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32279" y="2132355"/>
            <a:ext cx="221589" cy="22158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720339" y="4110608"/>
            <a:ext cx="244475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500" i="1" spc="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650" spc="37" baseline="-10101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650" baseline="-10101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16407" y="2985642"/>
            <a:ext cx="3630295" cy="570865"/>
            <a:chOff x="516407" y="2985642"/>
            <a:chExt cx="3630295" cy="570865"/>
          </a:xfrm>
        </p:grpSpPr>
        <p:sp>
          <p:nvSpPr>
            <p:cNvPr id="5" name="object 5"/>
            <p:cNvSpPr/>
            <p:nvPr/>
          </p:nvSpPr>
          <p:spPr>
            <a:xfrm>
              <a:off x="544677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256921" y="0"/>
                  </a:moveTo>
                  <a:lnTo>
                    <a:pt x="188620" y="9144"/>
                  </a:lnTo>
                  <a:lnTo>
                    <a:pt x="127241" y="35051"/>
                  </a:lnTo>
                  <a:lnTo>
                    <a:pt x="75247" y="75184"/>
                  </a:lnTo>
                  <a:lnTo>
                    <a:pt x="35077" y="127126"/>
                  </a:lnTo>
                  <a:lnTo>
                    <a:pt x="9182" y="188595"/>
                  </a:lnTo>
                  <a:lnTo>
                    <a:pt x="0" y="256794"/>
                  </a:lnTo>
                  <a:lnTo>
                    <a:pt x="9182" y="325120"/>
                  </a:lnTo>
                  <a:lnTo>
                    <a:pt x="35077" y="386588"/>
                  </a:lnTo>
                  <a:lnTo>
                    <a:pt x="75247" y="438531"/>
                  </a:lnTo>
                  <a:lnTo>
                    <a:pt x="127241" y="478663"/>
                  </a:lnTo>
                  <a:lnTo>
                    <a:pt x="188620" y="504571"/>
                  </a:lnTo>
                  <a:lnTo>
                    <a:pt x="256921" y="513714"/>
                  </a:lnTo>
                  <a:lnTo>
                    <a:pt x="325221" y="504571"/>
                  </a:lnTo>
                  <a:lnTo>
                    <a:pt x="386588" y="478663"/>
                  </a:lnTo>
                  <a:lnTo>
                    <a:pt x="438581" y="438531"/>
                  </a:lnTo>
                  <a:lnTo>
                    <a:pt x="478764" y="386588"/>
                  </a:lnTo>
                  <a:lnTo>
                    <a:pt x="504659" y="325120"/>
                  </a:lnTo>
                  <a:lnTo>
                    <a:pt x="513842" y="256794"/>
                  </a:lnTo>
                  <a:lnTo>
                    <a:pt x="504659" y="188595"/>
                  </a:lnTo>
                  <a:lnTo>
                    <a:pt x="478764" y="127126"/>
                  </a:lnTo>
                  <a:lnTo>
                    <a:pt x="438581" y="75184"/>
                  </a:lnTo>
                  <a:lnTo>
                    <a:pt x="386588" y="35051"/>
                  </a:lnTo>
                  <a:lnTo>
                    <a:pt x="325221" y="9144"/>
                  </a:lnTo>
                  <a:lnTo>
                    <a:pt x="256921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44677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513842" y="256794"/>
                  </a:moveTo>
                  <a:lnTo>
                    <a:pt x="504659" y="188595"/>
                  </a:lnTo>
                  <a:lnTo>
                    <a:pt x="478764" y="127126"/>
                  </a:lnTo>
                  <a:lnTo>
                    <a:pt x="438581" y="75184"/>
                  </a:lnTo>
                  <a:lnTo>
                    <a:pt x="386588" y="35051"/>
                  </a:lnTo>
                  <a:lnTo>
                    <a:pt x="325221" y="9144"/>
                  </a:lnTo>
                  <a:lnTo>
                    <a:pt x="256921" y="0"/>
                  </a:lnTo>
                  <a:lnTo>
                    <a:pt x="188620" y="9144"/>
                  </a:lnTo>
                  <a:lnTo>
                    <a:pt x="127241" y="35051"/>
                  </a:lnTo>
                  <a:lnTo>
                    <a:pt x="75247" y="75184"/>
                  </a:lnTo>
                  <a:lnTo>
                    <a:pt x="35077" y="127126"/>
                  </a:lnTo>
                  <a:lnTo>
                    <a:pt x="9182" y="188595"/>
                  </a:lnTo>
                  <a:lnTo>
                    <a:pt x="0" y="256794"/>
                  </a:lnTo>
                  <a:lnTo>
                    <a:pt x="9182" y="325120"/>
                  </a:lnTo>
                  <a:lnTo>
                    <a:pt x="35077" y="386588"/>
                  </a:lnTo>
                  <a:lnTo>
                    <a:pt x="75247" y="438531"/>
                  </a:lnTo>
                  <a:lnTo>
                    <a:pt x="127241" y="478663"/>
                  </a:lnTo>
                  <a:lnTo>
                    <a:pt x="188620" y="504571"/>
                  </a:lnTo>
                  <a:lnTo>
                    <a:pt x="256921" y="513714"/>
                  </a:lnTo>
                  <a:lnTo>
                    <a:pt x="325221" y="504571"/>
                  </a:lnTo>
                  <a:lnTo>
                    <a:pt x="386588" y="478663"/>
                  </a:lnTo>
                  <a:lnTo>
                    <a:pt x="438581" y="438531"/>
                  </a:lnTo>
                  <a:lnTo>
                    <a:pt x="478764" y="386588"/>
                  </a:lnTo>
                  <a:lnTo>
                    <a:pt x="504659" y="325120"/>
                  </a:lnTo>
                  <a:lnTo>
                    <a:pt x="513842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72387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256920" y="0"/>
                  </a:moveTo>
                  <a:lnTo>
                    <a:pt x="188594" y="9144"/>
                  </a:lnTo>
                  <a:lnTo>
                    <a:pt x="127254" y="35051"/>
                  </a:lnTo>
                  <a:lnTo>
                    <a:pt x="75183" y="75184"/>
                  </a:lnTo>
                  <a:lnTo>
                    <a:pt x="35051" y="127126"/>
                  </a:lnTo>
                  <a:lnTo>
                    <a:pt x="9143" y="188595"/>
                  </a:lnTo>
                  <a:lnTo>
                    <a:pt x="0" y="256794"/>
                  </a:lnTo>
                  <a:lnTo>
                    <a:pt x="9143" y="325120"/>
                  </a:lnTo>
                  <a:lnTo>
                    <a:pt x="35051" y="386588"/>
                  </a:lnTo>
                  <a:lnTo>
                    <a:pt x="75183" y="438531"/>
                  </a:lnTo>
                  <a:lnTo>
                    <a:pt x="127254" y="478663"/>
                  </a:lnTo>
                  <a:lnTo>
                    <a:pt x="188594" y="504571"/>
                  </a:lnTo>
                  <a:lnTo>
                    <a:pt x="256920" y="513714"/>
                  </a:lnTo>
                  <a:lnTo>
                    <a:pt x="325119" y="504571"/>
                  </a:lnTo>
                  <a:lnTo>
                    <a:pt x="386588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0" y="325120"/>
                  </a:lnTo>
                  <a:lnTo>
                    <a:pt x="513842" y="256794"/>
                  </a:lnTo>
                  <a:lnTo>
                    <a:pt x="504570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588" y="35051"/>
                  </a:lnTo>
                  <a:lnTo>
                    <a:pt x="325119" y="9144"/>
                  </a:lnTo>
                  <a:lnTo>
                    <a:pt x="256920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72387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513842" y="256794"/>
                  </a:moveTo>
                  <a:lnTo>
                    <a:pt x="504570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588" y="35051"/>
                  </a:lnTo>
                  <a:lnTo>
                    <a:pt x="325119" y="9144"/>
                  </a:lnTo>
                  <a:lnTo>
                    <a:pt x="256920" y="0"/>
                  </a:lnTo>
                  <a:lnTo>
                    <a:pt x="188594" y="9144"/>
                  </a:lnTo>
                  <a:lnTo>
                    <a:pt x="127254" y="35051"/>
                  </a:lnTo>
                  <a:lnTo>
                    <a:pt x="75183" y="75184"/>
                  </a:lnTo>
                  <a:lnTo>
                    <a:pt x="35051" y="127126"/>
                  </a:lnTo>
                  <a:lnTo>
                    <a:pt x="9143" y="188595"/>
                  </a:lnTo>
                  <a:lnTo>
                    <a:pt x="0" y="256794"/>
                  </a:lnTo>
                  <a:lnTo>
                    <a:pt x="9143" y="325120"/>
                  </a:lnTo>
                  <a:lnTo>
                    <a:pt x="35051" y="386588"/>
                  </a:lnTo>
                  <a:lnTo>
                    <a:pt x="75183" y="438531"/>
                  </a:lnTo>
                  <a:lnTo>
                    <a:pt x="127254" y="478663"/>
                  </a:lnTo>
                  <a:lnTo>
                    <a:pt x="188594" y="504571"/>
                  </a:lnTo>
                  <a:lnTo>
                    <a:pt x="256920" y="513714"/>
                  </a:lnTo>
                  <a:lnTo>
                    <a:pt x="325119" y="504571"/>
                  </a:lnTo>
                  <a:lnTo>
                    <a:pt x="386588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0" y="325120"/>
                  </a:lnTo>
                  <a:lnTo>
                    <a:pt x="513842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600070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256921" y="0"/>
                  </a:moveTo>
                  <a:lnTo>
                    <a:pt x="188595" y="9144"/>
                  </a:lnTo>
                  <a:lnTo>
                    <a:pt x="127254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3" y="188595"/>
                  </a:lnTo>
                  <a:lnTo>
                    <a:pt x="0" y="256794"/>
                  </a:lnTo>
                  <a:lnTo>
                    <a:pt x="9143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254" y="478663"/>
                  </a:lnTo>
                  <a:lnTo>
                    <a:pt x="188595" y="504571"/>
                  </a:lnTo>
                  <a:lnTo>
                    <a:pt x="256921" y="513714"/>
                  </a:lnTo>
                  <a:lnTo>
                    <a:pt x="325120" y="504571"/>
                  </a:lnTo>
                  <a:lnTo>
                    <a:pt x="386588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842" y="256794"/>
                  </a:ln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588" y="35051"/>
                  </a:lnTo>
                  <a:lnTo>
                    <a:pt x="325120" y="9144"/>
                  </a:lnTo>
                  <a:lnTo>
                    <a:pt x="256921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600070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513842" y="256794"/>
                  </a:move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588" y="35051"/>
                  </a:lnTo>
                  <a:lnTo>
                    <a:pt x="325120" y="9144"/>
                  </a:lnTo>
                  <a:lnTo>
                    <a:pt x="256921" y="0"/>
                  </a:lnTo>
                  <a:lnTo>
                    <a:pt x="188595" y="9144"/>
                  </a:lnTo>
                  <a:lnTo>
                    <a:pt x="127254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3" y="188595"/>
                  </a:lnTo>
                  <a:lnTo>
                    <a:pt x="0" y="256794"/>
                  </a:lnTo>
                  <a:lnTo>
                    <a:pt x="9143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254" y="478663"/>
                  </a:lnTo>
                  <a:lnTo>
                    <a:pt x="188595" y="504571"/>
                  </a:lnTo>
                  <a:lnTo>
                    <a:pt x="256921" y="513714"/>
                  </a:lnTo>
                  <a:lnTo>
                    <a:pt x="325120" y="504571"/>
                  </a:lnTo>
                  <a:lnTo>
                    <a:pt x="386588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842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627755" y="3013963"/>
              <a:ext cx="513715" cy="513715"/>
            </a:xfrm>
            <a:custGeom>
              <a:avLst/>
              <a:gdLst/>
              <a:ahLst/>
              <a:cxnLst/>
              <a:rect l="l" t="t" r="r" b="b"/>
              <a:pathLst>
                <a:path w="513714" h="513714">
                  <a:moveTo>
                    <a:pt x="256794" y="0"/>
                  </a:moveTo>
                  <a:lnTo>
                    <a:pt x="188595" y="9144"/>
                  </a:lnTo>
                  <a:lnTo>
                    <a:pt x="127127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4" y="188595"/>
                  </a:lnTo>
                  <a:lnTo>
                    <a:pt x="0" y="256794"/>
                  </a:lnTo>
                  <a:lnTo>
                    <a:pt x="9144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127" y="478663"/>
                  </a:lnTo>
                  <a:lnTo>
                    <a:pt x="188595" y="504571"/>
                  </a:lnTo>
                  <a:lnTo>
                    <a:pt x="256794" y="513714"/>
                  </a:lnTo>
                  <a:lnTo>
                    <a:pt x="325120" y="504571"/>
                  </a:lnTo>
                  <a:lnTo>
                    <a:pt x="386461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715" y="256794"/>
                  </a:ln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461" y="35051"/>
                  </a:lnTo>
                  <a:lnTo>
                    <a:pt x="325120" y="9144"/>
                  </a:lnTo>
                  <a:lnTo>
                    <a:pt x="256794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627755" y="3013963"/>
              <a:ext cx="513715" cy="513715"/>
            </a:xfrm>
            <a:custGeom>
              <a:avLst/>
              <a:gdLst/>
              <a:ahLst/>
              <a:cxnLst/>
              <a:rect l="l" t="t" r="r" b="b"/>
              <a:pathLst>
                <a:path w="513714" h="513714">
                  <a:moveTo>
                    <a:pt x="513715" y="256794"/>
                  </a:move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461" y="35051"/>
                  </a:lnTo>
                  <a:lnTo>
                    <a:pt x="325120" y="9144"/>
                  </a:lnTo>
                  <a:lnTo>
                    <a:pt x="256794" y="0"/>
                  </a:lnTo>
                  <a:lnTo>
                    <a:pt x="188595" y="9144"/>
                  </a:lnTo>
                  <a:lnTo>
                    <a:pt x="127127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4" y="188595"/>
                  </a:lnTo>
                  <a:lnTo>
                    <a:pt x="0" y="256794"/>
                  </a:lnTo>
                  <a:lnTo>
                    <a:pt x="9144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127" y="478663"/>
                  </a:lnTo>
                  <a:lnTo>
                    <a:pt x="188595" y="504571"/>
                  </a:lnTo>
                  <a:lnTo>
                    <a:pt x="256794" y="513714"/>
                  </a:lnTo>
                  <a:lnTo>
                    <a:pt x="325120" y="504571"/>
                  </a:lnTo>
                  <a:lnTo>
                    <a:pt x="386461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715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21487" y="2990722"/>
              <a:ext cx="560705" cy="560705"/>
            </a:xfrm>
            <a:custGeom>
              <a:avLst/>
              <a:gdLst/>
              <a:ahLst/>
              <a:cxnLst/>
              <a:rect l="l" t="t" r="r" b="b"/>
              <a:pathLst>
                <a:path w="560705" h="560704">
                  <a:moveTo>
                    <a:pt x="280111" y="0"/>
                  </a:moveTo>
                  <a:lnTo>
                    <a:pt x="205638" y="10032"/>
                  </a:lnTo>
                  <a:lnTo>
                    <a:pt x="138734" y="38226"/>
                  </a:lnTo>
                  <a:lnTo>
                    <a:pt x="82042" y="82041"/>
                  </a:lnTo>
                  <a:lnTo>
                    <a:pt x="38239" y="138684"/>
                  </a:lnTo>
                  <a:lnTo>
                    <a:pt x="9994" y="205612"/>
                  </a:lnTo>
                  <a:lnTo>
                    <a:pt x="0" y="280035"/>
                  </a:lnTo>
                  <a:lnTo>
                    <a:pt x="9994" y="354584"/>
                  </a:lnTo>
                  <a:lnTo>
                    <a:pt x="38239" y="421513"/>
                  </a:lnTo>
                  <a:lnTo>
                    <a:pt x="82042" y="478154"/>
                  </a:lnTo>
                  <a:lnTo>
                    <a:pt x="138734" y="521969"/>
                  </a:lnTo>
                  <a:lnTo>
                    <a:pt x="205638" y="550163"/>
                  </a:lnTo>
                  <a:lnTo>
                    <a:pt x="280111" y="560197"/>
                  </a:lnTo>
                  <a:lnTo>
                    <a:pt x="354571" y="550163"/>
                  </a:lnTo>
                  <a:lnTo>
                    <a:pt x="421487" y="521969"/>
                  </a:lnTo>
                  <a:lnTo>
                    <a:pt x="478180" y="478154"/>
                  </a:lnTo>
                  <a:lnTo>
                    <a:pt x="521982" y="421513"/>
                  </a:lnTo>
                  <a:lnTo>
                    <a:pt x="550214" y="354584"/>
                  </a:lnTo>
                  <a:lnTo>
                    <a:pt x="560222" y="280035"/>
                  </a:lnTo>
                  <a:lnTo>
                    <a:pt x="550214" y="205612"/>
                  </a:lnTo>
                  <a:lnTo>
                    <a:pt x="521982" y="138684"/>
                  </a:lnTo>
                  <a:lnTo>
                    <a:pt x="478180" y="82041"/>
                  </a:lnTo>
                  <a:lnTo>
                    <a:pt x="421487" y="38226"/>
                  </a:lnTo>
                  <a:lnTo>
                    <a:pt x="354571" y="10032"/>
                  </a:lnTo>
                  <a:lnTo>
                    <a:pt x="280111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21487" y="2990722"/>
              <a:ext cx="560705" cy="560705"/>
            </a:xfrm>
            <a:custGeom>
              <a:avLst/>
              <a:gdLst/>
              <a:ahLst/>
              <a:cxnLst/>
              <a:rect l="l" t="t" r="r" b="b"/>
              <a:pathLst>
                <a:path w="560705" h="560704">
                  <a:moveTo>
                    <a:pt x="560222" y="280035"/>
                  </a:moveTo>
                  <a:lnTo>
                    <a:pt x="550214" y="205612"/>
                  </a:lnTo>
                  <a:lnTo>
                    <a:pt x="521982" y="138684"/>
                  </a:lnTo>
                  <a:lnTo>
                    <a:pt x="478180" y="82041"/>
                  </a:lnTo>
                  <a:lnTo>
                    <a:pt x="421487" y="38226"/>
                  </a:lnTo>
                  <a:lnTo>
                    <a:pt x="354571" y="10032"/>
                  </a:lnTo>
                  <a:lnTo>
                    <a:pt x="280111" y="0"/>
                  </a:lnTo>
                  <a:lnTo>
                    <a:pt x="205638" y="10032"/>
                  </a:lnTo>
                  <a:lnTo>
                    <a:pt x="138734" y="38226"/>
                  </a:lnTo>
                  <a:lnTo>
                    <a:pt x="82042" y="82041"/>
                  </a:lnTo>
                  <a:lnTo>
                    <a:pt x="38239" y="138684"/>
                  </a:lnTo>
                  <a:lnTo>
                    <a:pt x="9994" y="205612"/>
                  </a:lnTo>
                  <a:lnTo>
                    <a:pt x="0" y="280035"/>
                  </a:lnTo>
                  <a:lnTo>
                    <a:pt x="9994" y="354584"/>
                  </a:lnTo>
                  <a:lnTo>
                    <a:pt x="38239" y="421513"/>
                  </a:lnTo>
                  <a:lnTo>
                    <a:pt x="82042" y="478154"/>
                  </a:lnTo>
                  <a:lnTo>
                    <a:pt x="138734" y="521969"/>
                  </a:lnTo>
                  <a:lnTo>
                    <a:pt x="205638" y="550163"/>
                  </a:lnTo>
                  <a:lnTo>
                    <a:pt x="280111" y="560197"/>
                  </a:lnTo>
                  <a:lnTo>
                    <a:pt x="354571" y="550163"/>
                  </a:lnTo>
                  <a:lnTo>
                    <a:pt x="421487" y="521969"/>
                  </a:lnTo>
                  <a:lnTo>
                    <a:pt x="478180" y="478154"/>
                  </a:lnTo>
                  <a:lnTo>
                    <a:pt x="521982" y="421513"/>
                  </a:lnTo>
                  <a:lnTo>
                    <a:pt x="550214" y="354584"/>
                  </a:lnTo>
                  <a:lnTo>
                    <a:pt x="560222" y="280035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89483" y="2723515"/>
            <a:ext cx="431800" cy="64643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11760">
              <a:lnSpc>
                <a:spcPct val="100000"/>
              </a:lnSpc>
              <a:spcBef>
                <a:spcPts val="110"/>
              </a:spcBef>
            </a:pPr>
            <a:r>
              <a:rPr sz="1500" i="1" spc="35" dirty="0">
                <a:solidFill>
                  <a:srgbClr val="213739"/>
                </a:solidFill>
                <a:latin typeface="Calibri"/>
                <a:cs typeface="Calibri"/>
              </a:rPr>
              <a:t>h</a:t>
            </a:r>
            <a:r>
              <a:rPr sz="1650" spc="52" baseline="-12626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650" baseline="-12626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1275"/>
              </a:spcBef>
            </a:pPr>
            <a:r>
              <a:rPr sz="1500" spc="-60" dirty="0">
                <a:solidFill>
                  <a:srgbClr val="213739"/>
                </a:solidFill>
                <a:latin typeface="Arial MT"/>
                <a:cs typeface="Arial MT"/>
              </a:rPr>
              <a:t>-</a:t>
            </a:r>
            <a:r>
              <a:rPr sz="1500" spc="-85" dirty="0">
                <a:solidFill>
                  <a:srgbClr val="213739"/>
                </a:solidFill>
                <a:latin typeface="Arial MT"/>
                <a:cs typeface="Arial MT"/>
              </a:rPr>
              <a:t>1,-</a:t>
            </a:r>
            <a:r>
              <a:rPr sz="1500" spc="-50" dirty="0">
                <a:solidFill>
                  <a:srgbClr val="213739"/>
                </a:solidFill>
                <a:latin typeface="Arial MT"/>
                <a:cs typeface="Arial MT"/>
              </a:rPr>
              <a:t>1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563497" y="3005073"/>
            <a:ext cx="2583180" cy="531495"/>
            <a:chOff x="1563497" y="3005073"/>
            <a:chExt cx="2583180" cy="531495"/>
          </a:xfrm>
        </p:grpSpPr>
        <p:sp>
          <p:nvSpPr>
            <p:cNvPr id="17" name="object 17"/>
            <p:cNvSpPr/>
            <p:nvPr/>
          </p:nvSpPr>
          <p:spPr>
            <a:xfrm>
              <a:off x="1568577" y="3010153"/>
              <a:ext cx="521334" cy="521334"/>
            </a:xfrm>
            <a:custGeom>
              <a:avLst/>
              <a:gdLst/>
              <a:ahLst/>
              <a:cxnLst/>
              <a:rect l="l" t="t" r="r" b="b"/>
              <a:pathLst>
                <a:path w="521335" h="521335">
                  <a:moveTo>
                    <a:pt x="260730" y="0"/>
                  </a:moveTo>
                  <a:lnTo>
                    <a:pt x="191389" y="9271"/>
                  </a:lnTo>
                  <a:lnTo>
                    <a:pt x="129159" y="35560"/>
                  </a:lnTo>
                  <a:lnTo>
                    <a:pt x="76327" y="76326"/>
                  </a:lnTo>
                  <a:lnTo>
                    <a:pt x="35559" y="129159"/>
                  </a:lnTo>
                  <a:lnTo>
                    <a:pt x="9270" y="191388"/>
                  </a:lnTo>
                  <a:lnTo>
                    <a:pt x="0" y="260604"/>
                  </a:lnTo>
                  <a:lnTo>
                    <a:pt x="9270" y="329946"/>
                  </a:lnTo>
                  <a:lnTo>
                    <a:pt x="35559" y="392175"/>
                  </a:lnTo>
                  <a:lnTo>
                    <a:pt x="76327" y="445008"/>
                  </a:lnTo>
                  <a:lnTo>
                    <a:pt x="129159" y="485775"/>
                  </a:lnTo>
                  <a:lnTo>
                    <a:pt x="191389" y="512063"/>
                  </a:lnTo>
                  <a:lnTo>
                    <a:pt x="260730" y="521335"/>
                  </a:lnTo>
                  <a:lnTo>
                    <a:pt x="329946" y="512063"/>
                  </a:lnTo>
                  <a:lnTo>
                    <a:pt x="392303" y="485775"/>
                  </a:lnTo>
                  <a:lnTo>
                    <a:pt x="445008" y="445008"/>
                  </a:lnTo>
                  <a:lnTo>
                    <a:pt x="485774" y="392175"/>
                  </a:lnTo>
                  <a:lnTo>
                    <a:pt x="512064" y="329946"/>
                  </a:lnTo>
                  <a:lnTo>
                    <a:pt x="521334" y="260604"/>
                  </a:lnTo>
                  <a:lnTo>
                    <a:pt x="512064" y="191388"/>
                  </a:lnTo>
                  <a:lnTo>
                    <a:pt x="485774" y="129159"/>
                  </a:lnTo>
                  <a:lnTo>
                    <a:pt x="445008" y="76326"/>
                  </a:lnTo>
                  <a:lnTo>
                    <a:pt x="392303" y="35560"/>
                  </a:lnTo>
                  <a:lnTo>
                    <a:pt x="329946" y="9271"/>
                  </a:lnTo>
                  <a:lnTo>
                    <a:pt x="260730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568577" y="3010153"/>
              <a:ext cx="521334" cy="521334"/>
            </a:xfrm>
            <a:custGeom>
              <a:avLst/>
              <a:gdLst/>
              <a:ahLst/>
              <a:cxnLst/>
              <a:rect l="l" t="t" r="r" b="b"/>
              <a:pathLst>
                <a:path w="521335" h="521335">
                  <a:moveTo>
                    <a:pt x="521334" y="260604"/>
                  </a:moveTo>
                  <a:lnTo>
                    <a:pt x="512064" y="191388"/>
                  </a:lnTo>
                  <a:lnTo>
                    <a:pt x="485774" y="129159"/>
                  </a:lnTo>
                  <a:lnTo>
                    <a:pt x="445008" y="76326"/>
                  </a:lnTo>
                  <a:lnTo>
                    <a:pt x="392303" y="35560"/>
                  </a:lnTo>
                  <a:lnTo>
                    <a:pt x="329946" y="9271"/>
                  </a:lnTo>
                  <a:lnTo>
                    <a:pt x="260730" y="0"/>
                  </a:lnTo>
                  <a:lnTo>
                    <a:pt x="191389" y="9271"/>
                  </a:lnTo>
                  <a:lnTo>
                    <a:pt x="129159" y="35560"/>
                  </a:lnTo>
                  <a:lnTo>
                    <a:pt x="76327" y="76326"/>
                  </a:lnTo>
                  <a:lnTo>
                    <a:pt x="35559" y="129159"/>
                  </a:lnTo>
                  <a:lnTo>
                    <a:pt x="9270" y="191388"/>
                  </a:lnTo>
                  <a:lnTo>
                    <a:pt x="0" y="260604"/>
                  </a:lnTo>
                  <a:lnTo>
                    <a:pt x="9270" y="329946"/>
                  </a:lnTo>
                  <a:lnTo>
                    <a:pt x="35559" y="392175"/>
                  </a:lnTo>
                  <a:lnTo>
                    <a:pt x="76327" y="445008"/>
                  </a:lnTo>
                  <a:lnTo>
                    <a:pt x="129159" y="485775"/>
                  </a:lnTo>
                  <a:lnTo>
                    <a:pt x="191389" y="512063"/>
                  </a:lnTo>
                  <a:lnTo>
                    <a:pt x="260730" y="521335"/>
                  </a:lnTo>
                  <a:lnTo>
                    <a:pt x="329946" y="512063"/>
                  </a:lnTo>
                  <a:lnTo>
                    <a:pt x="392303" y="485775"/>
                  </a:lnTo>
                  <a:lnTo>
                    <a:pt x="445008" y="445008"/>
                  </a:lnTo>
                  <a:lnTo>
                    <a:pt x="485774" y="392175"/>
                  </a:lnTo>
                  <a:lnTo>
                    <a:pt x="512064" y="329946"/>
                  </a:lnTo>
                  <a:lnTo>
                    <a:pt x="521334" y="26060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596261" y="3010153"/>
              <a:ext cx="521334" cy="521334"/>
            </a:xfrm>
            <a:custGeom>
              <a:avLst/>
              <a:gdLst/>
              <a:ahLst/>
              <a:cxnLst/>
              <a:rect l="l" t="t" r="r" b="b"/>
              <a:pathLst>
                <a:path w="521335" h="521335">
                  <a:moveTo>
                    <a:pt x="260731" y="0"/>
                  </a:moveTo>
                  <a:lnTo>
                    <a:pt x="191388" y="9271"/>
                  </a:lnTo>
                  <a:lnTo>
                    <a:pt x="129158" y="35560"/>
                  </a:lnTo>
                  <a:lnTo>
                    <a:pt x="76326" y="76326"/>
                  </a:lnTo>
                  <a:lnTo>
                    <a:pt x="35559" y="129159"/>
                  </a:lnTo>
                  <a:lnTo>
                    <a:pt x="9270" y="191388"/>
                  </a:lnTo>
                  <a:lnTo>
                    <a:pt x="0" y="260604"/>
                  </a:lnTo>
                  <a:lnTo>
                    <a:pt x="9270" y="329946"/>
                  </a:lnTo>
                  <a:lnTo>
                    <a:pt x="35559" y="392175"/>
                  </a:lnTo>
                  <a:lnTo>
                    <a:pt x="76326" y="445008"/>
                  </a:lnTo>
                  <a:lnTo>
                    <a:pt x="129158" y="485775"/>
                  </a:lnTo>
                  <a:lnTo>
                    <a:pt x="191388" y="512063"/>
                  </a:lnTo>
                  <a:lnTo>
                    <a:pt x="260731" y="521335"/>
                  </a:lnTo>
                  <a:lnTo>
                    <a:pt x="329945" y="512063"/>
                  </a:lnTo>
                  <a:lnTo>
                    <a:pt x="392302" y="485775"/>
                  </a:lnTo>
                  <a:lnTo>
                    <a:pt x="445007" y="445008"/>
                  </a:lnTo>
                  <a:lnTo>
                    <a:pt x="485775" y="392175"/>
                  </a:lnTo>
                  <a:lnTo>
                    <a:pt x="512063" y="329946"/>
                  </a:lnTo>
                  <a:lnTo>
                    <a:pt x="521334" y="260604"/>
                  </a:lnTo>
                  <a:lnTo>
                    <a:pt x="512063" y="191388"/>
                  </a:lnTo>
                  <a:lnTo>
                    <a:pt x="485775" y="129159"/>
                  </a:lnTo>
                  <a:lnTo>
                    <a:pt x="445007" y="76326"/>
                  </a:lnTo>
                  <a:lnTo>
                    <a:pt x="392302" y="35560"/>
                  </a:lnTo>
                  <a:lnTo>
                    <a:pt x="329945" y="9271"/>
                  </a:lnTo>
                  <a:lnTo>
                    <a:pt x="260731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596261" y="3010153"/>
              <a:ext cx="521334" cy="521334"/>
            </a:xfrm>
            <a:custGeom>
              <a:avLst/>
              <a:gdLst/>
              <a:ahLst/>
              <a:cxnLst/>
              <a:rect l="l" t="t" r="r" b="b"/>
              <a:pathLst>
                <a:path w="521335" h="521335">
                  <a:moveTo>
                    <a:pt x="521334" y="260604"/>
                  </a:moveTo>
                  <a:lnTo>
                    <a:pt x="512063" y="191388"/>
                  </a:lnTo>
                  <a:lnTo>
                    <a:pt x="485775" y="129159"/>
                  </a:lnTo>
                  <a:lnTo>
                    <a:pt x="445007" y="76326"/>
                  </a:lnTo>
                  <a:lnTo>
                    <a:pt x="392302" y="35560"/>
                  </a:lnTo>
                  <a:lnTo>
                    <a:pt x="329945" y="9271"/>
                  </a:lnTo>
                  <a:lnTo>
                    <a:pt x="260731" y="0"/>
                  </a:lnTo>
                  <a:lnTo>
                    <a:pt x="191388" y="9271"/>
                  </a:lnTo>
                  <a:lnTo>
                    <a:pt x="129158" y="35560"/>
                  </a:lnTo>
                  <a:lnTo>
                    <a:pt x="76326" y="76326"/>
                  </a:lnTo>
                  <a:lnTo>
                    <a:pt x="35559" y="129159"/>
                  </a:lnTo>
                  <a:lnTo>
                    <a:pt x="9270" y="191388"/>
                  </a:lnTo>
                  <a:lnTo>
                    <a:pt x="0" y="260604"/>
                  </a:lnTo>
                  <a:lnTo>
                    <a:pt x="9270" y="329946"/>
                  </a:lnTo>
                  <a:lnTo>
                    <a:pt x="35559" y="392175"/>
                  </a:lnTo>
                  <a:lnTo>
                    <a:pt x="76326" y="445008"/>
                  </a:lnTo>
                  <a:lnTo>
                    <a:pt x="129158" y="485775"/>
                  </a:lnTo>
                  <a:lnTo>
                    <a:pt x="191388" y="512063"/>
                  </a:lnTo>
                  <a:lnTo>
                    <a:pt x="260731" y="521335"/>
                  </a:lnTo>
                  <a:lnTo>
                    <a:pt x="329945" y="512063"/>
                  </a:lnTo>
                  <a:lnTo>
                    <a:pt x="392302" y="485775"/>
                  </a:lnTo>
                  <a:lnTo>
                    <a:pt x="445007" y="445008"/>
                  </a:lnTo>
                  <a:lnTo>
                    <a:pt x="485775" y="392175"/>
                  </a:lnTo>
                  <a:lnTo>
                    <a:pt x="512063" y="329946"/>
                  </a:lnTo>
                  <a:lnTo>
                    <a:pt x="521334" y="26060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627754" y="3013963"/>
              <a:ext cx="513715" cy="513715"/>
            </a:xfrm>
            <a:custGeom>
              <a:avLst/>
              <a:gdLst/>
              <a:ahLst/>
              <a:cxnLst/>
              <a:rect l="l" t="t" r="r" b="b"/>
              <a:pathLst>
                <a:path w="513714" h="513714">
                  <a:moveTo>
                    <a:pt x="256794" y="0"/>
                  </a:moveTo>
                  <a:lnTo>
                    <a:pt x="188595" y="9144"/>
                  </a:lnTo>
                  <a:lnTo>
                    <a:pt x="127127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4" y="188595"/>
                  </a:lnTo>
                  <a:lnTo>
                    <a:pt x="0" y="256794"/>
                  </a:lnTo>
                  <a:lnTo>
                    <a:pt x="9144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127" y="478663"/>
                  </a:lnTo>
                  <a:lnTo>
                    <a:pt x="188595" y="504571"/>
                  </a:lnTo>
                  <a:lnTo>
                    <a:pt x="256794" y="513714"/>
                  </a:lnTo>
                  <a:lnTo>
                    <a:pt x="325120" y="504571"/>
                  </a:lnTo>
                  <a:lnTo>
                    <a:pt x="386461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715" y="256794"/>
                  </a:ln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461" y="35051"/>
                  </a:lnTo>
                  <a:lnTo>
                    <a:pt x="325120" y="9144"/>
                  </a:lnTo>
                  <a:lnTo>
                    <a:pt x="256794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627754" y="3013963"/>
              <a:ext cx="513715" cy="513715"/>
            </a:xfrm>
            <a:custGeom>
              <a:avLst/>
              <a:gdLst/>
              <a:ahLst/>
              <a:cxnLst/>
              <a:rect l="l" t="t" r="r" b="b"/>
              <a:pathLst>
                <a:path w="513714" h="513714">
                  <a:moveTo>
                    <a:pt x="513715" y="256794"/>
                  </a:move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461" y="35051"/>
                  </a:lnTo>
                  <a:lnTo>
                    <a:pt x="325120" y="9144"/>
                  </a:lnTo>
                  <a:lnTo>
                    <a:pt x="256794" y="0"/>
                  </a:lnTo>
                  <a:lnTo>
                    <a:pt x="188595" y="9144"/>
                  </a:lnTo>
                  <a:lnTo>
                    <a:pt x="127127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4" y="188595"/>
                  </a:lnTo>
                  <a:lnTo>
                    <a:pt x="0" y="256794"/>
                  </a:lnTo>
                  <a:lnTo>
                    <a:pt x="9144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127" y="478663"/>
                  </a:lnTo>
                  <a:lnTo>
                    <a:pt x="188595" y="504571"/>
                  </a:lnTo>
                  <a:lnTo>
                    <a:pt x="256794" y="513714"/>
                  </a:lnTo>
                  <a:lnTo>
                    <a:pt x="325120" y="504571"/>
                  </a:lnTo>
                  <a:lnTo>
                    <a:pt x="386461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715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3719448" y="2723515"/>
            <a:ext cx="329565" cy="644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65405">
              <a:lnSpc>
                <a:spcPct val="100000"/>
              </a:lnSpc>
              <a:spcBef>
                <a:spcPts val="110"/>
              </a:spcBef>
            </a:pP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h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4</a:t>
            </a:r>
            <a:endParaRPr sz="1650" baseline="-10101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1260"/>
              </a:spcBef>
            </a:pPr>
            <a:r>
              <a:rPr sz="1500" spc="-25" dirty="0">
                <a:solidFill>
                  <a:srgbClr val="213739"/>
                </a:solidFill>
                <a:latin typeface="Arial MT"/>
                <a:cs typeface="Arial MT"/>
              </a:rPr>
              <a:t>1,1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33527" y="3638803"/>
            <a:ext cx="748030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i="1" dirty="0">
                <a:solidFill>
                  <a:srgbClr val="213739"/>
                </a:solidFill>
                <a:latin typeface="Calibri"/>
                <a:cs typeface="Calibri"/>
              </a:rPr>
              <a:t>bias</a:t>
            </a:r>
            <a:r>
              <a:rPr sz="1500" i="1" spc="33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500" spc="-13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13739"/>
                </a:solidFill>
                <a:latin typeface="Arial MT"/>
                <a:cs typeface="Arial MT"/>
              </a:rPr>
              <a:t>-</a:t>
            </a:r>
            <a:r>
              <a:rPr sz="1500" spc="-2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00" spc="-50" dirty="0">
                <a:solidFill>
                  <a:srgbClr val="213739"/>
                </a:solidFill>
                <a:latin typeface="Arial MT"/>
                <a:cs typeface="Arial MT"/>
              </a:rPr>
              <a:t>2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278507" y="1536572"/>
            <a:ext cx="111760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i="1" spc="-50" dirty="0">
                <a:solidFill>
                  <a:srgbClr val="213739"/>
                </a:solidFill>
                <a:latin typeface="Calibri"/>
                <a:cs typeface="Calibri"/>
              </a:rPr>
              <a:t>y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164336" y="2568955"/>
            <a:ext cx="280670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650" baseline="-10101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628013" y="2532379"/>
            <a:ext cx="1461135" cy="8324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90500">
              <a:lnSpc>
                <a:spcPts val="1650"/>
              </a:lnSpc>
              <a:spcBef>
                <a:spcPts val="110"/>
              </a:spcBef>
              <a:tabLst>
                <a:tab pos="704215" algn="l"/>
                <a:tab pos="1191895" algn="l"/>
              </a:tabLst>
            </a:pP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650" baseline="-1010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r>
              <a:rPr sz="1650" baseline="-1010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4</a:t>
            </a:r>
            <a:endParaRPr sz="1650" baseline="-10101">
              <a:latin typeface="Calibri"/>
              <a:cs typeface="Calibri"/>
            </a:endParaRPr>
          </a:p>
          <a:p>
            <a:pPr marL="100965">
              <a:lnSpc>
                <a:spcPts val="1650"/>
              </a:lnSpc>
              <a:tabLst>
                <a:tab pos="1127760" algn="l"/>
              </a:tabLst>
            </a:pP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h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650" baseline="-1010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h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650" baseline="-10101">
              <a:latin typeface="Calibri"/>
              <a:cs typeface="Calibri"/>
            </a:endParaRPr>
          </a:p>
          <a:p>
            <a:pPr marL="50800">
              <a:lnSpc>
                <a:spcPct val="100000"/>
              </a:lnSpc>
              <a:spcBef>
                <a:spcPts val="1235"/>
              </a:spcBef>
              <a:tabLst>
                <a:tab pos="1077595" algn="l"/>
              </a:tabLst>
            </a:pPr>
            <a:r>
              <a:rPr sz="1500" spc="-40" dirty="0">
                <a:solidFill>
                  <a:srgbClr val="213739"/>
                </a:solidFill>
                <a:latin typeface="Arial MT"/>
                <a:cs typeface="Arial MT"/>
              </a:rPr>
              <a:t>-</a:t>
            </a:r>
            <a:r>
              <a:rPr sz="1500" spc="-25" dirty="0">
                <a:solidFill>
                  <a:srgbClr val="213739"/>
                </a:solidFill>
                <a:latin typeface="Arial MT"/>
                <a:cs typeface="Arial MT"/>
              </a:rPr>
              <a:t>1,1</a:t>
            </a:r>
            <a:r>
              <a:rPr sz="1500" dirty="0">
                <a:solidFill>
                  <a:srgbClr val="213739"/>
                </a:solidFill>
                <a:latin typeface="Arial MT"/>
                <a:cs typeface="Arial MT"/>
              </a:rPr>
              <a:t>	</a:t>
            </a:r>
            <a:r>
              <a:rPr sz="1500" spc="-70" dirty="0">
                <a:solidFill>
                  <a:srgbClr val="213739"/>
                </a:solidFill>
                <a:latin typeface="Arial MT"/>
                <a:cs typeface="Arial MT"/>
              </a:rPr>
              <a:t>1,-</a:t>
            </a:r>
            <a:r>
              <a:rPr sz="1500" spc="-50" dirty="0">
                <a:solidFill>
                  <a:srgbClr val="213739"/>
                </a:solidFill>
                <a:latin typeface="Arial MT"/>
                <a:cs typeface="Arial MT"/>
              </a:rPr>
              <a:t>1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994460" y="1862084"/>
            <a:ext cx="2713990" cy="2357120"/>
            <a:chOff x="994460" y="1862084"/>
            <a:chExt cx="2713990" cy="2357120"/>
          </a:xfrm>
        </p:grpSpPr>
        <p:sp>
          <p:nvSpPr>
            <p:cNvPr id="29" name="object 29"/>
            <p:cNvSpPr/>
            <p:nvPr/>
          </p:nvSpPr>
          <p:spPr>
            <a:xfrm>
              <a:off x="1016139" y="3485388"/>
              <a:ext cx="686435" cy="686435"/>
            </a:xfrm>
            <a:custGeom>
              <a:avLst/>
              <a:gdLst/>
              <a:ahLst/>
              <a:cxnLst/>
              <a:rect l="l" t="t" r="r" b="b"/>
              <a:pathLst>
                <a:path w="686435" h="686435">
                  <a:moveTo>
                    <a:pt x="686295" y="686181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4460" y="3463657"/>
              <a:ext cx="104659" cy="104661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1072959" y="3406521"/>
              <a:ext cx="1615440" cy="807720"/>
            </a:xfrm>
            <a:custGeom>
              <a:avLst/>
              <a:gdLst/>
              <a:ahLst/>
              <a:cxnLst/>
              <a:rect l="l" t="t" r="r" b="b"/>
              <a:pathLst>
                <a:path w="1615439" h="807720">
                  <a:moveTo>
                    <a:pt x="1615122" y="807592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60723" y="3364757"/>
              <a:ext cx="84085" cy="122262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1766570" y="3546729"/>
              <a:ext cx="125730" cy="624840"/>
            </a:xfrm>
            <a:custGeom>
              <a:avLst/>
              <a:gdLst/>
              <a:ahLst/>
              <a:cxnLst/>
              <a:rect l="l" t="t" r="r" b="b"/>
              <a:pathLst>
                <a:path w="125730" h="624839">
                  <a:moveTo>
                    <a:pt x="62737" y="624840"/>
                  </a:moveTo>
                  <a:lnTo>
                    <a:pt x="62737" y="8000"/>
                  </a:lnTo>
                </a:path>
                <a:path w="125730" h="624839">
                  <a:moveTo>
                    <a:pt x="0" y="51435"/>
                  </a:moveTo>
                  <a:lnTo>
                    <a:pt x="24637" y="42418"/>
                  </a:lnTo>
                  <a:lnTo>
                    <a:pt x="42672" y="30099"/>
                  </a:lnTo>
                  <a:lnTo>
                    <a:pt x="55118" y="15621"/>
                  </a:lnTo>
                  <a:lnTo>
                    <a:pt x="62737" y="0"/>
                  </a:lnTo>
                  <a:lnTo>
                    <a:pt x="70231" y="15621"/>
                  </a:lnTo>
                  <a:lnTo>
                    <a:pt x="82677" y="30099"/>
                  </a:lnTo>
                  <a:lnTo>
                    <a:pt x="100711" y="42418"/>
                  </a:lnTo>
                  <a:lnTo>
                    <a:pt x="125349" y="51435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030094" y="3471672"/>
              <a:ext cx="700405" cy="700405"/>
            </a:xfrm>
            <a:custGeom>
              <a:avLst/>
              <a:gdLst/>
              <a:ahLst/>
              <a:cxnLst/>
              <a:rect l="l" t="t" r="r" b="b"/>
              <a:pathLst>
                <a:path w="700405" h="700404">
                  <a:moveTo>
                    <a:pt x="700024" y="699896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08377" y="3449924"/>
              <a:ext cx="105171" cy="105186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1956054" y="3471672"/>
              <a:ext cx="700405" cy="700405"/>
            </a:xfrm>
            <a:custGeom>
              <a:avLst/>
              <a:gdLst/>
              <a:ahLst/>
              <a:cxnLst/>
              <a:rect l="l" t="t" r="r" b="b"/>
              <a:pathLst>
                <a:path w="700405" h="700404">
                  <a:moveTo>
                    <a:pt x="0" y="699896"/>
                  </a:moveTo>
                  <a:lnTo>
                    <a:pt x="700023" y="0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72766" y="3449924"/>
              <a:ext cx="105171" cy="105186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2794254" y="3546729"/>
              <a:ext cx="125730" cy="624840"/>
            </a:xfrm>
            <a:custGeom>
              <a:avLst/>
              <a:gdLst/>
              <a:ahLst/>
              <a:cxnLst/>
              <a:rect l="l" t="t" r="r" b="b"/>
              <a:pathLst>
                <a:path w="125730" h="624839">
                  <a:moveTo>
                    <a:pt x="62737" y="624840"/>
                  </a:moveTo>
                  <a:lnTo>
                    <a:pt x="62737" y="8000"/>
                  </a:lnTo>
                </a:path>
                <a:path w="125730" h="624839">
                  <a:moveTo>
                    <a:pt x="0" y="51435"/>
                  </a:moveTo>
                  <a:lnTo>
                    <a:pt x="24637" y="42418"/>
                  </a:lnTo>
                  <a:lnTo>
                    <a:pt x="42671" y="30099"/>
                  </a:lnTo>
                  <a:lnTo>
                    <a:pt x="55118" y="15621"/>
                  </a:lnTo>
                  <a:lnTo>
                    <a:pt x="62737" y="0"/>
                  </a:lnTo>
                  <a:lnTo>
                    <a:pt x="70231" y="15621"/>
                  </a:lnTo>
                  <a:lnTo>
                    <a:pt x="82676" y="30099"/>
                  </a:lnTo>
                  <a:lnTo>
                    <a:pt x="100710" y="42418"/>
                  </a:lnTo>
                  <a:lnTo>
                    <a:pt x="125348" y="51435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998218" y="3396107"/>
              <a:ext cx="1635760" cy="818515"/>
            </a:xfrm>
            <a:custGeom>
              <a:avLst/>
              <a:gdLst/>
              <a:ahLst/>
              <a:cxnLst/>
              <a:rect l="l" t="t" r="r" b="b"/>
              <a:pathLst>
                <a:path w="1635760" h="818514">
                  <a:moveTo>
                    <a:pt x="0" y="818006"/>
                  </a:moveTo>
                  <a:lnTo>
                    <a:pt x="1635759" y="0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62114" y="3354470"/>
              <a:ext cx="84163" cy="122136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2983864" y="3469005"/>
              <a:ext cx="702945" cy="702945"/>
            </a:xfrm>
            <a:custGeom>
              <a:avLst/>
              <a:gdLst/>
              <a:ahLst/>
              <a:cxnLst/>
              <a:rect l="l" t="t" r="r" b="b"/>
              <a:pathLst>
                <a:path w="702945" h="702945">
                  <a:moveTo>
                    <a:pt x="0" y="702564"/>
                  </a:moveTo>
                  <a:lnTo>
                    <a:pt x="702563" y="0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603498" y="3447274"/>
              <a:ext cx="104659" cy="104661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1041425" y="2308860"/>
              <a:ext cx="1203325" cy="802640"/>
            </a:xfrm>
            <a:custGeom>
              <a:avLst/>
              <a:gdLst/>
              <a:ahLst/>
              <a:cxnLst/>
              <a:rect l="l" t="t" r="r" b="b"/>
              <a:pathLst>
                <a:path w="1203325" h="802639">
                  <a:moveTo>
                    <a:pt x="0" y="802131"/>
                  </a:moveTo>
                  <a:lnTo>
                    <a:pt x="1203172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83766" y="2287145"/>
              <a:ext cx="66671" cy="85467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1949577" y="2348738"/>
              <a:ext cx="340995" cy="681990"/>
            </a:xfrm>
            <a:custGeom>
              <a:avLst/>
              <a:gdLst/>
              <a:ahLst/>
              <a:cxnLst/>
              <a:rect l="l" t="t" r="r" b="b"/>
              <a:pathLst>
                <a:path w="340994" h="681989">
                  <a:moveTo>
                    <a:pt x="0" y="681482"/>
                  </a:moveTo>
                  <a:lnTo>
                    <a:pt x="340741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227579" y="2342641"/>
              <a:ext cx="91568" cy="64136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2395855" y="2348738"/>
              <a:ext cx="340995" cy="681990"/>
            </a:xfrm>
            <a:custGeom>
              <a:avLst/>
              <a:gdLst/>
              <a:ahLst/>
              <a:cxnLst/>
              <a:rect l="l" t="t" r="r" b="b"/>
              <a:pathLst>
                <a:path w="340994" h="681989">
                  <a:moveTo>
                    <a:pt x="340868" y="681482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67025" y="2342641"/>
              <a:ext cx="91568" cy="64136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2441575" y="2308860"/>
              <a:ext cx="1223010" cy="815340"/>
            </a:xfrm>
            <a:custGeom>
              <a:avLst/>
              <a:gdLst/>
              <a:ahLst/>
              <a:cxnLst/>
              <a:rect l="l" t="t" r="r" b="b"/>
              <a:pathLst>
                <a:path w="1223010" h="815339">
                  <a:moveTo>
                    <a:pt x="1222628" y="814959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435734" y="2287145"/>
              <a:ext cx="66671" cy="85467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2294890" y="1864614"/>
              <a:ext cx="96520" cy="268605"/>
            </a:xfrm>
            <a:custGeom>
              <a:avLst/>
              <a:gdLst/>
              <a:ahLst/>
              <a:cxnLst/>
              <a:rect l="l" t="t" r="r" b="b"/>
              <a:pathLst>
                <a:path w="96519" h="268605">
                  <a:moveTo>
                    <a:pt x="48260" y="268605"/>
                  </a:moveTo>
                  <a:lnTo>
                    <a:pt x="48260" y="4063"/>
                  </a:lnTo>
                </a:path>
                <a:path w="96519" h="268605">
                  <a:moveTo>
                    <a:pt x="0" y="41783"/>
                  </a:moveTo>
                  <a:lnTo>
                    <a:pt x="18923" y="34416"/>
                  </a:lnTo>
                  <a:lnTo>
                    <a:pt x="32893" y="24511"/>
                  </a:lnTo>
                  <a:lnTo>
                    <a:pt x="42418" y="12700"/>
                  </a:lnTo>
                  <a:lnTo>
                    <a:pt x="48260" y="0"/>
                  </a:lnTo>
                  <a:lnTo>
                    <a:pt x="54102" y="12700"/>
                  </a:lnTo>
                  <a:lnTo>
                    <a:pt x="63627" y="24511"/>
                  </a:lnTo>
                  <a:lnTo>
                    <a:pt x="77470" y="34416"/>
                  </a:lnTo>
                  <a:lnTo>
                    <a:pt x="96393" y="41783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343204" y="3999632"/>
            <a:ext cx="2451100" cy="1073785"/>
          </a:xfrm>
          <a:prstGeom prst="rect">
            <a:avLst/>
          </a:prstGeom>
        </p:spPr>
        <p:txBody>
          <a:bodyPr vert="horz" wrap="square" lIns="0" tIns="125095" rIns="0" bIns="0" rtlCol="0">
            <a:spAutoFit/>
          </a:bodyPr>
          <a:lstStyle/>
          <a:p>
            <a:pPr marL="496570" algn="ctr">
              <a:lnSpc>
                <a:spcPct val="100000"/>
              </a:lnSpc>
              <a:spcBef>
                <a:spcPts val="985"/>
              </a:spcBef>
            </a:pPr>
            <a:r>
              <a:rPr sz="1500" i="1" spc="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650" spc="37" baseline="-10101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650" baseline="-10101">
              <a:latin typeface="Calibri"/>
              <a:cs typeface="Calibri"/>
            </a:endParaRPr>
          </a:p>
          <a:p>
            <a:pPr marL="38100" marR="30480">
              <a:lnSpc>
                <a:spcPct val="117700"/>
              </a:lnSpc>
              <a:spcBef>
                <a:spcPts val="625"/>
              </a:spcBef>
            </a:pP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red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edge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indicates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i="1" spc="10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=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-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1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blue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edge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indicates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i="1" spc="12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=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+1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53" name="object 53" descr="$PPTXTitle"/>
          <p:cNvSpPr txBox="1">
            <a:spLocks noGrp="1"/>
          </p:cNvSpPr>
          <p:nvPr>
            <p:ph type="title"/>
          </p:nvPr>
        </p:nvSpPr>
        <p:spPr>
          <a:xfrm>
            <a:off x="4781803" y="924305"/>
            <a:ext cx="400748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spc="-16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claim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that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this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network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65" dirty="0">
                <a:solidFill>
                  <a:srgbClr val="213739"/>
                </a:solidFill>
                <a:latin typeface="Arial MT"/>
                <a:cs typeface="Arial MT"/>
              </a:rPr>
              <a:t>can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75" dirty="0">
                <a:solidFill>
                  <a:srgbClr val="213739"/>
                </a:solidFill>
                <a:latin typeface="Arial MT"/>
                <a:cs typeface="Arial MT"/>
              </a:rPr>
              <a:t>be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70" dirty="0">
                <a:solidFill>
                  <a:srgbClr val="213739"/>
                </a:solidFill>
                <a:latin typeface="Arial MT"/>
                <a:cs typeface="Arial MT"/>
              </a:rPr>
              <a:t>used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to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im-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4784852" y="1238249"/>
            <a:ext cx="401066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32815" algn="l"/>
                <a:tab pos="1487805" algn="l"/>
                <a:tab pos="2374900" algn="l"/>
                <a:tab pos="3312160" algn="l"/>
              </a:tabLst>
            </a:pP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plement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	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any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	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boolean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	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function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	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(linearly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4756403" y="1414779"/>
            <a:ext cx="4078604" cy="1152525"/>
          </a:xfrm>
          <a:prstGeom prst="rect">
            <a:avLst/>
          </a:prstGeom>
        </p:spPr>
        <p:txBody>
          <a:bodyPr vert="horz" wrap="square" lIns="0" tIns="1485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70"/>
              </a:spcBef>
            </a:pP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separable</a:t>
            </a:r>
            <a:r>
              <a:rPr sz="1750" spc="-1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or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not)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!</a:t>
            </a:r>
            <a:endParaRPr sz="175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1070"/>
              </a:spcBef>
            </a:pP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In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other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words,</a:t>
            </a:r>
            <a:r>
              <a:rPr sz="1750" spc="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can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find</a:t>
            </a:r>
            <a:r>
              <a:rPr sz="1750" spc="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spc="-15" baseline="-8888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-11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spc="-15" baseline="-8888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-11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spc="-15" baseline="-8888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r>
              <a:rPr sz="1750" i="1" spc="-10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-11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4</a:t>
            </a:r>
            <a:endParaRPr sz="1875" baseline="-8888">
              <a:latin typeface="Calibri"/>
              <a:cs typeface="Calibri"/>
            </a:endParaRPr>
          </a:p>
          <a:p>
            <a:pPr marL="40640">
              <a:lnSpc>
                <a:spcPct val="100000"/>
              </a:lnSpc>
              <a:spcBef>
                <a:spcPts val="434"/>
              </a:spcBef>
            </a:pP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such</a:t>
            </a:r>
            <a:r>
              <a:rPr sz="1750" spc="-229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that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truth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table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any</a:t>
            </a:r>
            <a:r>
              <a:rPr sz="1750" spc="-2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boolean</a:t>
            </a:r>
            <a:r>
              <a:rPr sz="1750" spc="-2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func-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4781169" y="2497962"/>
            <a:ext cx="4010660" cy="273431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 marR="9525" indent="4445">
              <a:lnSpc>
                <a:spcPct val="124300"/>
              </a:lnSpc>
              <a:spcBef>
                <a:spcPts val="240"/>
              </a:spcBef>
            </a:pP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tion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can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be</a:t>
            </a:r>
            <a:r>
              <a:rPr sz="1750" spc="-1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represented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by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this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network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Astonishing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claim!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Well,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not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rea</a:t>
            </a:r>
            <a:r>
              <a:rPr sz="1750" spc="-3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ly,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if 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you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un-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derstand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what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is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going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on</a:t>
            </a:r>
            <a:endParaRPr sz="1750">
              <a:latin typeface="Arial MT"/>
              <a:cs typeface="Arial MT"/>
            </a:endParaRPr>
          </a:p>
          <a:p>
            <a:pPr marL="17145" marR="5080" indent="-5080" algn="just">
              <a:lnSpc>
                <a:spcPct val="117400"/>
              </a:lnSpc>
              <a:spcBef>
                <a:spcPts val="509"/>
              </a:spcBef>
            </a:pP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Each</a:t>
            </a:r>
            <a:r>
              <a:rPr sz="1750" spc="-2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perceptron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in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middle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layer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fires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only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for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a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specific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 input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(and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no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5" dirty="0">
                <a:solidFill>
                  <a:srgbClr val="213739"/>
                </a:solidFill>
                <a:latin typeface="Arial MT"/>
                <a:cs typeface="Arial MT"/>
              </a:rPr>
              <a:t>two</a:t>
            </a:r>
            <a:r>
              <a:rPr sz="1750" spc="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perceptrons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fire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for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same</a:t>
            </a:r>
            <a:r>
              <a:rPr sz="1750" spc="-2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input)</a:t>
            </a:r>
            <a:endParaRPr sz="1750">
              <a:latin typeface="Arial MT"/>
              <a:cs typeface="Arial MT"/>
            </a:endParaRPr>
          </a:p>
          <a:p>
            <a:pPr marL="17145" marR="12700" indent="-5080" algn="just">
              <a:lnSpc>
                <a:spcPct val="117900"/>
              </a:lnSpc>
              <a:spcBef>
                <a:spcPts val="500"/>
              </a:spcBef>
            </a:pP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Let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75" dirty="0">
                <a:solidFill>
                  <a:srgbClr val="213739"/>
                </a:solidFill>
                <a:latin typeface="Arial MT"/>
                <a:cs typeface="Arial MT"/>
              </a:rPr>
              <a:t>us</a:t>
            </a:r>
            <a:r>
              <a:rPr sz="1750" spc="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25" dirty="0">
                <a:solidFill>
                  <a:srgbClr val="213739"/>
                </a:solidFill>
                <a:latin typeface="Arial MT"/>
                <a:cs typeface="Arial MT"/>
              </a:rPr>
              <a:t>see</a:t>
            </a:r>
            <a:r>
              <a:rPr sz="1750" spc="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why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this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network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works</a:t>
            </a:r>
            <a:r>
              <a:rPr sz="1750" spc="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70" dirty="0">
                <a:solidFill>
                  <a:srgbClr val="213739"/>
                </a:solidFill>
                <a:latin typeface="Arial MT"/>
                <a:cs typeface="Arial MT"/>
              </a:rPr>
              <a:t>by</a:t>
            </a:r>
            <a:r>
              <a:rPr sz="1750" spc="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taking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an</a:t>
            </a:r>
            <a:r>
              <a:rPr sz="1750" spc="-1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example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70" dirty="0">
                <a:solidFill>
                  <a:srgbClr val="213739"/>
                </a:solidFill>
                <a:latin typeface="Arial MT"/>
                <a:cs typeface="Arial MT"/>
              </a:rPr>
              <a:t>XOR</a:t>
            </a:r>
            <a:r>
              <a:rPr sz="1750" spc="-2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function</a:t>
            </a:r>
            <a:endParaRPr sz="175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32279" y="2132355"/>
            <a:ext cx="221589" cy="22158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720339" y="4110608"/>
            <a:ext cx="244475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500" i="1" spc="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650" spc="37" baseline="-10101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650" baseline="-10101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16407" y="2985642"/>
            <a:ext cx="3630295" cy="570865"/>
            <a:chOff x="516407" y="2985642"/>
            <a:chExt cx="3630295" cy="570865"/>
          </a:xfrm>
        </p:grpSpPr>
        <p:sp>
          <p:nvSpPr>
            <p:cNvPr id="5" name="object 5"/>
            <p:cNvSpPr/>
            <p:nvPr/>
          </p:nvSpPr>
          <p:spPr>
            <a:xfrm>
              <a:off x="544677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256921" y="0"/>
                  </a:moveTo>
                  <a:lnTo>
                    <a:pt x="188620" y="9144"/>
                  </a:lnTo>
                  <a:lnTo>
                    <a:pt x="127241" y="35051"/>
                  </a:lnTo>
                  <a:lnTo>
                    <a:pt x="75247" y="75184"/>
                  </a:lnTo>
                  <a:lnTo>
                    <a:pt x="35077" y="127126"/>
                  </a:lnTo>
                  <a:lnTo>
                    <a:pt x="9182" y="188595"/>
                  </a:lnTo>
                  <a:lnTo>
                    <a:pt x="0" y="256794"/>
                  </a:lnTo>
                  <a:lnTo>
                    <a:pt x="9182" y="325120"/>
                  </a:lnTo>
                  <a:lnTo>
                    <a:pt x="35077" y="386588"/>
                  </a:lnTo>
                  <a:lnTo>
                    <a:pt x="75247" y="438531"/>
                  </a:lnTo>
                  <a:lnTo>
                    <a:pt x="127241" y="478663"/>
                  </a:lnTo>
                  <a:lnTo>
                    <a:pt x="188620" y="504571"/>
                  </a:lnTo>
                  <a:lnTo>
                    <a:pt x="256921" y="513714"/>
                  </a:lnTo>
                  <a:lnTo>
                    <a:pt x="325221" y="504571"/>
                  </a:lnTo>
                  <a:lnTo>
                    <a:pt x="386588" y="478663"/>
                  </a:lnTo>
                  <a:lnTo>
                    <a:pt x="438581" y="438531"/>
                  </a:lnTo>
                  <a:lnTo>
                    <a:pt x="478764" y="386588"/>
                  </a:lnTo>
                  <a:lnTo>
                    <a:pt x="504659" y="325120"/>
                  </a:lnTo>
                  <a:lnTo>
                    <a:pt x="513842" y="256794"/>
                  </a:lnTo>
                  <a:lnTo>
                    <a:pt x="504659" y="188595"/>
                  </a:lnTo>
                  <a:lnTo>
                    <a:pt x="478764" y="127126"/>
                  </a:lnTo>
                  <a:lnTo>
                    <a:pt x="438581" y="75184"/>
                  </a:lnTo>
                  <a:lnTo>
                    <a:pt x="386588" y="35051"/>
                  </a:lnTo>
                  <a:lnTo>
                    <a:pt x="325221" y="9144"/>
                  </a:lnTo>
                  <a:lnTo>
                    <a:pt x="256921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44677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513842" y="256794"/>
                  </a:moveTo>
                  <a:lnTo>
                    <a:pt x="504659" y="188595"/>
                  </a:lnTo>
                  <a:lnTo>
                    <a:pt x="478764" y="127126"/>
                  </a:lnTo>
                  <a:lnTo>
                    <a:pt x="438581" y="75184"/>
                  </a:lnTo>
                  <a:lnTo>
                    <a:pt x="386588" y="35051"/>
                  </a:lnTo>
                  <a:lnTo>
                    <a:pt x="325221" y="9144"/>
                  </a:lnTo>
                  <a:lnTo>
                    <a:pt x="256921" y="0"/>
                  </a:lnTo>
                  <a:lnTo>
                    <a:pt x="188620" y="9144"/>
                  </a:lnTo>
                  <a:lnTo>
                    <a:pt x="127241" y="35051"/>
                  </a:lnTo>
                  <a:lnTo>
                    <a:pt x="75247" y="75184"/>
                  </a:lnTo>
                  <a:lnTo>
                    <a:pt x="35077" y="127126"/>
                  </a:lnTo>
                  <a:lnTo>
                    <a:pt x="9182" y="188595"/>
                  </a:lnTo>
                  <a:lnTo>
                    <a:pt x="0" y="256794"/>
                  </a:lnTo>
                  <a:lnTo>
                    <a:pt x="9182" y="325120"/>
                  </a:lnTo>
                  <a:lnTo>
                    <a:pt x="35077" y="386588"/>
                  </a:lnTo>
                  <a:lnTo>
                    <a:pt x="75247" y="438531"/>
                  </a:lnTo>
                  <a:lnTo>
                    <a:pt x="127241" y="478663"/>
                  </a:lnTo>
                  <a:lnTo>
                    <a:pt x="188620" y="504571"/>
                  </a:lnTo>
                  <a:lnTo>
                    <a:pt x="256921" y="513714"/>
                  </a:lnTo>
                  <a:lnTo>
                    <a:pt x="325221" y="504571"/>
                  </a:lnTo>
                  <a:lnTo>
                    <a:pt x="386588" y="478663"/>
                  </a:lnTo>
                  <a:lnTo>
                    <a:pt x="438581" y="438531"/>
                  </a:lnTo>
                  <a:lnTo>
                    <a:pt x="478764" y="386588"/>
                  </a:lnTo>
                  <a:lnTo>
                    <a:pt x="504659" y="325120"/>
                  </a:lnTo>
                  <a:lnTo>
                    <a:pt x="513842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72387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256920" y="0"/>
                  </a:moveTo>
                  <a:lnTo>
                    <a:pt x="188594" y="9144"/>
                  </a:lnTo>
                  <a:lnTo>
                    <a:pt x="127254" y="35051"/>
                  </a:lnTo>
                  <a:lnTo>
                    <a:pt x="75183" y="75184"/>
                  </a:lnTo>
                  <a:lnTo>
                    <a:pt x="35051" y="127126"/>
                  </a:lnTo>
                  <a:lnTo>
                    <a:pt x="9143" y="188595"/>
                  </a:lnTo>
                  <a:lnTo>
                    <a:pt x="0" y="256794"/>
                  </a:lnTo>
                  <a:lnTo>
                    <a:pt x="9143" y="325120"/>
                  </a:lnTo>
                  <a:lnTo>
                    <a:pt x="35051" y="386588"/>
                  </a:lnTo>
                  <a:lnTo>
                    <a:pt x="75183" y="438531"/>
                  </a:lnTo>
                  <a:lnTo>
                    <a:pt x="127254" y="478663"/>
                  </a:lnTo>
                  <a:lnTo>
                    <a:pt x="188594" y="504571"/>
                  </a:lnTo>
                  <a:lnTo>
                    <a:pt x="256920" y="513714"/>
                  </a:lnTo>
                  <a:lnTo>
                    <a:pt x="325119" y="504571"/>
                  </a:lnTo>
                  <a:lnTo>
                    <a:pt x="386588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0" y="325120"/>
                  </a:lnTo>
                  <a:lnTo>
                    <a:pt x="513842" y="256794"/>
                  </a:lnTo>
                  <a:lnTo>
                    <a:pt x="504570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588" y="35051"/>
                  </a:lnTo>
                  <a:lnTo>
                    <a:pt x="325119" y="9144"/>
                  </a:lnTo>
                  <a:lnTo>
                    <a:pt x="256920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72387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513842" y="256794"/>
                  </a:moveTo>
                  <a:lnTo>
                    <a:pt x="504570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588" y="35051"/>
                  </a:lnTo>
                  <a:lnTo>
                    <a:pt x="325119" y="9144"/>
                  </a:lnTo>
                  <a:lnTo>
                    <a:pt x="256920" y="0"/>
                  </a:lnTo>
                  <a:lnTo>
                    <a:pt x="188594" y="9144"/>
                  </a:lnTo>
                  <a:lnTo>
                    <a:pt x="127254" y="35051"/>
                  </a:lnTo>
                  <a:lnTo>
                    <a:pt x="75183" y="75184"/>
                  </a:lnTo>
                  <a:lnTo>
                    <a:pt x="35051" y="127126"/>
                  </a:lnTo>
                  <a:lnTo>
                    <a:pt x="9143" y="188595"/>
                  </a:lnTo>
                  <a:lnTo>
                    <a:pt x="0" y="256794"/>
                  </a:lnTo>
                  <a:lnTo>
                    <a:pt x="9143" y="325120"/>
                  </a:lnTo>
                  <a:lnTo>
                    <a:pt x="35051" y="386588"/>
                  </a:lnTo>
                  <a:lnTo>
                    <a:pt x="75183" y="438531"/>
                  </a:lnTo>
                  <a:lnTo>
                    <a:pt x="127254" y="478663"/>
                  </a:lnTo>
                  <a:lnTo>
                    <a:pt x="188594" y="504571"/>
                  </a:lnTo>
                  <a:lnTo>
                    <a:pt x="256920" y="513714"/>
                  </a:lnTo>
                  <a:lnTo>
                    <a:pt x="325119" y="504571"/>
                  </a:lnTo>
                  <a:lnTo>
                    <a:pt x="386588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0" y="325120"/>
                  </a:lnTo>
                  <a:lnTo>
                    <a:pt x="513842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600070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256921" y="0"/>
                  </a:moveTo>
                  <a:lnTo>
                    <a:pt x="188595" y="9144"/>
                  </a:lnTo>
                  <a:lnTo>
                    <a:pt x="127254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3" y="188595"/>
                  </a:lnTo>
                  <a:lnTo>
                    <a:pt x="0" y="256794"/>
                  </a:lnTo>
                  <a:lnTo>
                    <a:pt x="9143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254" y="478663"/>
                  </a:lnTo>
                  <a:lnTo>
                    <a:pt x="188595" y="504571"/>
                  </a:lnTo>
                  <a:lnTo>
                    <a:pt x="256921" y="513714"/>
                  </a:lnTo>
                  <a:lnTo>
                    <a:pt x="325120" y="504571"/>
                  </a:lnTo>
                  <a:lnTo>
                    <a:pt x="386588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842" y="256794"/>
                  </a:ln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588" y="35051"/>
                  </a:lnTo>
                  <a:lnTo>
                    <a:pt x="325120" y="9144"/>
                  </a:lnTo>
                  <a:lnTo>
                    <a:pt x="256921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600070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513842" y="256794"/>
                  </a:move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588" y="35051"/>
                  </a:lnTo>
                  <a:lnTo>
                    <a:pt x="325120" y="9144"/>
                  </a:lnTo>
                  <a:lnTo>
                    <a:pt x="256921" y="0"/>
                  </a:lnTo>
                  <a:lnTo>
                    <a:pt x="188595" y="9144"/>
                  </a:lnTo>
                  <a:lnTo>
                    <a:pt x="127254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3" y="188595"/>
                  </a:lnTo>
                  <a:lnTo>
                    <a:pt x="0" y="256794"/>
                  </a:lnTo>
                  <a:lnTo>
                    <a:pt x="9143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254" y="478663"/>
                  </a:lnTo>
                  <a:lnTo>
                    <a:pt x="188595" y="504571"/>
                  </a:lnTo>
                  <a:lnTo>
                    <a:pt x="256921" y="513714"/>
                  </a:lnTo>
                  <a:lnTo>
                    <a:pt x="325120" y="504571"/>
                  </a:lnTo>
                  <a:lnTo>
                    <a:pt x="386588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842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627755" y="3013963"/>
              <a:ext cx="513715" cy="513715"/>
            </a:xfrm>
            <a:custGeom>
              <a:avLst/>
              <a:gdLst/>
              <a:ahLst/>
              <a:cxnLst/>
              <a:rect l="l" t="t" r="r" b="b"/>
              <a:pathLst>
                <a:path w="513714" h="513714">
                  <a:moveTo>
                    <a:pt x="256794" y="0"/>
                  </a:moveTo>
                  <a:lnTo>
                    <a:pt x="188595" y="9144"/>
                  </a:lnTo>
                  <a:lnTo>
                    <a:pt x="127127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4" y="188595"/>
                  </a:lnTo>
                  <a:lnTo>
                    <a:pt x="0" y="256794"/>
                  </a:lnTo>
                  <a:lnTo>
                    <a:pt x="9144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127" y="478663"/>
                  </a:lnTo>
                  <a:lnTo>
                    <a:pt x="188595" y="504571"/>
                  </a:lnTo>
                  <a:lnTo>
                    <a:pt x="256794" y="513714"/>
                  </a:lnTo>
                  <a:lnTo>
                    <a:pt x="325120" y="504571"/>
                  </a:lnTo>
                  <a:lnTo>
                    <a:pt x="386461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715" y="256794"/>
                  </a:ln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461" y="35051"/>
                  </a:lnTo>
                  <a:lnTo>
                    <a:pt x="325120" y="9144"/>
                  </a:lnTo>
                  <a:lnTo>
                    <a:pt x="256794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627755" y="3013963"/>
              <a:ext cx="513715" cy="513715"/>
            </a:xfrm>
            <a:custGeom>
              <a:avLst/>
              <a:gdLst/>
              <a:ahLst/>
              <a:cxnLst/>
              <a:rect l="l" t="t" r="r" b="b"/>
              <a:pathLst>
                <a:path w="513714" h="513714">
                  <a:moveTo>
                    <a:pt x="513715" y="256794"/>
                  </a:move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461" y="35051"/>
                  </a:lnTo>
                  <a:lnTo>
                    <a:pt x="325120" y="9144"/>
                  </a:lnTo>
                  <a:lnTo>
                    <a:pt x="256794" y="0"/>
                  </a:lnTo>
                  <a:lnTo>
                    <a:pt x="188595" y="9144"/>
                  </a:lnTo>
                  <a:lnTo>
                    <a:pt x="127127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4" y="188595"/>
                  </a:lnTo>
                  <a:lnTo>
                    <a:pt x="0" y="256794"/>
                  </a:lnTo>
                  <a:lnTo>
                    <a:pt x="9144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127" y="478663"/>
                  </a:lnTo>
                  <a:lnTo>
                    <a:pt x="188595" y="504571"/>
                  </a:lnTo>
                  <a:lnTo>
                    <a:pt x="256794" y="513714"/>
                  </a:lnTo>
                  <a:lnTo>
                    <a:pt x="325120" y="504571"/>
                  </a:lnTo>
                  <a:lnTo>
                    <a:pt x="386461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715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21487" y="2990722"/>
              <a:ext cx="560705" cy="560705"/>
            </a:xfrm>
            <a:custGeom>
              <a:avLst/>
              <a:gdLst/>
              <a:ahLst/>
              <a:cxnLst/>
              <a:rect l="l" t="t" r="r" b="b"/>
              <a:pathLst>
                <a:path w="560705" h="560704">
                  <a:moveTo>
                    <a:pt x="280111" y="0"/>
                  </a:moveTo>
                  <a:lnTo>
                    <a:pt x="205638" y="10032"/>
                  </a:lnTo>
                  <a:lnTo>
                    <a:pt x="138734" y="38226"/>
                  </a:lnTo>
                  <a:lnTo>
                    <a:pt x="82042" y="82041"/>
                  </a:lnTo>
                  <a:lnTo>
                    <a:pt x="38239" y="138684"/>
                  </a:lnTo>
                  <a:lnTo>
                    <a:pt x="9994" y="205612"/>
                  </a:lnTo>
                  <a:lnTo>
                    <a:pt x="0" y="280035"/>
                  </a:lnTo>
                  <a:lnTo>
                    <a:pt x="9994" y="354584"/>
                  </a:lnTo>
                  <a:lnTo>
                    <a:pt x="38239" y="421513"/>
                  </a:lnTo>
                  <a:lnTo>
                    <a:pt x="82042" y="478154"/>
                  </a:lnTo>
                  <a:lnTo>
                    <a:pt x="138734" y="521969"/>
                  </a:lnTo>
                  <a:lnTo>
                    <a:pt x="205638" y="550163"/>
                  </a:lnTo>
                  <a:lnTo>
                    <a:pt x="280111" y="560197"/>
                  </a:lnTo>
                  <a:lnTo>
                    <a:pt x="354571" y="550163"/>
                  </a:lnTo>
                  <a:lnTo>
                    <a:pt x="421487" y="521969"/>
                  </a:lnTo>
                  <a:lnTo>
                    <a:pt x="478180" y="478154"/>
                  </a:lnTo>
                  <a:lnTo>
                    <a:pt x="521982" y="421513"/>
                  </a:lnTo>
                  <a:lnTo>
                    <a:pt x="550214" y="354584"/>
                  </a:lnTo>
                  <a:lnTo>
                    <a:pt x="560222" y="280035"/>
                  </a:lnTo>
                  <a:lnTo>
                    <a:pt x="550214" y="205612"/>
                  </a:lnTo>
                  <a:lnTo>
                    <a:pt x="521982" y="138684"/>
                  </a:lnTo>
                  <a:lnTo>
                    <a:pt x="478180" y="82041"/>
                  </a:lnTo>
                  <a:lnTo>
                    <a:pt x="421487" y="38226"/>
                  </a:lnTo>
                  <a:lnTo>
                    <a:pt x="354571" y="10032"/>
                  </a:lnTo>
                  <a:lnTo>
                    <a:pt x="280111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21487" y="2990722"/>
              <a:ext cx="560705" cy="560705"/>
            </a:xfrm>
            <a:custGeom>
              <a:avLst/>
              <a:gdLst/>
              <a:ahLst/>
              <a:cxnLst/>
              <a:rect l="l" t="t" r="r" b="b"/>
              <a:pathLst>
                <a:path w="560705" h="560704">
                  <a:moveTo>
                    <a:pt x="560222" y="280035"/>
                  </a:moveTo>
                  <a:lnTo>
                    <a:pt x="550214" y="205612"/>
                  </a:lnTo>
                  <a:lnTo>
                    <a:pt x="521982" y="138684"/>
                  </a:lnTo>
                  <a:lnTo>
                    <a:pt x="478180" y="82041"/>
                  </a:lnTo>
                  <a:lnTo>
                    <a:pt x="421487" y="38226"/>
                  </a:lnTo>
                  <a:lnTo>
                    <a:pt x="354571" y="10032"/>
                  </a:lnTo>
                  <a:lnTo>
                    <a:pt x="280111" y="0"/>
                  </a:lnTo>
                  <a:lnTo>
                    <a:pt x="205638" y="10032"/>
                  </a:lnTo>
                  <a:lnTo>
                    <a:pt x="138734" y="38226"/>
                  </a:lnTo>
                  <a:lnTo>
                    <a:pt x="82042" y="82041"/>
                  </a:lnTo>
                  <a:lnTo>
                    <a:pt x="38239" y="138684"/>
                  </a:lnTo>
                  <a:lnTo>
                    <a:pt x="9994" y="205612"/>
                  </a:lnTo>
                  <a:lnTo>
                    <a:pt x="0" y="280035"/>
                  </a:lnTo>
                  <a:lnTo>
                    <a:pt x="9994" y="354584"/>
                  </a:lnTo>
                  <a:lnTo>
                    <a:pt x="38239" y="421513"/>
                  </a:lnTo>
                  <a:lnTo>
                    <a:pt x="82042" y="478154"/>
                  </a:lnTo>
                  <a:lnTo>
                    <a:pt x="138734" y="521969"/>
                  </a:lnTo>
                  <a:lnTo>
                    <a:pt x="205638" y="550163"/>
                  </a:lnTo>
                  <a:lnTo>
                    <a:pt x="280111" y="560197"/>
                  </a:lnTo>
                  <a:lnTo>
                    <a:pt x="354571" y="550163"/>
                  </a:lnTo>
                  <a:lnTo>
                    <a:pt x="421487" y="521969"/>
                  </a:lnTo>
                  <a:lnTo>
                    <a:pt x="478180" y="478154"/>
                  </a:lnTo>
                  <a:lnTo>
                    <a:pt x="521982" y="421513"/>
                  </a:lnTo>
                  <a:lnTo>
                    <a:pt x="550214" y="354584"/>
                  </a:lnTo>
                  <a:lnTo>
                    <a:pt x="560222" y="280035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90397" y="2723515"/>
            <a:ext cx="431800" cy="644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11125">
              <a:lnSpc>
                <a:spcPct val="100000"/>
              </a:lnSpc>
              <a:spcBef>
                <a:spcPts val="110"/>
              </a:spcBef>
            </a:pP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h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650" baseline="-10101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1260"/>
              </a:spcBef>
            </a:pPr>
            <a:r>
              <a:rPr sz="1500" spc="-60" dirty="0">
                <a:solidFill>
                  <a:srgbClr val="213739"/>
                </a:solidFill>
                <a:latin typeface="Arial MT"/>
                <a:cs typeface="Arial MT"/>
              </a:rPr>
              <a:t>-</a:t>
            </a:r>
            <a:r>
              <a:rPr sz="1500" spc="-85" dirty="0">
                <a:solidFill>
                  <a:srgbClr val="213739"/>
                </a:solidFill>
                <a:latin typeface="Arial MT"/>
                <a:cs typeface="Arial MT"/>
              </a:rPr>
              <a:t>1,-</a:t>
            </a:r>
            <a:r>
              <a:rPr sz="1500" spc="-50" dirty="0">
                <a:solidFill>
                  <a:srgbClr val="213739"/>
                </a:solidFill>
                <a:latin typeface="Arial MT"/>
                <a:cs typeface="Arial MT"/>
              </a:rPr>
              <a:t>1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563497" y="3005073"/>
            <a:ext cx="2583180" cy="531495"/>
            <a:chOff x="1563497" y="3005073"/>
            <a:chExt cx="2583180" cy="531495"/>
          </a:xfrm>
        </p:grpSpPr>
        <p:sp>
          <p:nvSpPr>
            <p:cNvPr id="17" name="object 17"/>
            <p:cNvSpPr/>
            <p:nvPr/>
          </p:nvSpPr>
          <p:spPr>
            <a:xfrm>
              <a:off x="1568577" y="3010153"/>
              <a:ext cx="521334" cy="521334"/>
            </a:xfrm>
            <a:custGeom>
              <a:avLst/>
              <a:gdLst/>
              <a:ahLst/>
              <a:cxnLst/>
              <a:rect l="l" t="t" r="r" b="b"/>
              <a:pathLst>
                <a:path w="521335" h="521335">
                  <a:moveTo>
                    <a:pt x="260730" y="0"/>
                  </a:moveTo>
                  <a:lnTo>
                    <a:pt x="191389" y="9271"/>
                  </a:lnTo>
                  <a:lnTo>
                    <a:pt x="129159" y="35560"/>
                  </a:lnTo>
                  <a:lnTo>
                    <a:pt x="76327" y="76326"/>
                  </a:lnTo>
                  <a:lnTo>
                    <a:pt x="35559" y="129159"/>
                  </a:lnTo>
                  <a:lnTo>
                    <a:pt x="9270" y="191388"/>
                  </a:lnTo>
                  <a:lnTo>
                    <a:pt x="0" y="260604"/>
                  </a:lnTo>
                  <a:lnTo>
                    <a:pt x="9270" y="329946"/>
                  </a:lnTo>
                  <a:lnTo>
                    <a:pt x="35559" y="392175"/>
                  </a:lnTo>
                  <a:lnTo>
                    <a:pt x="76327" y="445008"/>
                  </a:lnTo>
                  <a:lnTo>
                    <a:pt x="129159" y="485775"/>
                  </a:lnTo>
                  <a:lnTo>
                    <a:pt x="191389" y="512063"/>
                  </a:lnTo>
                  <a:lnTo>
                    <a:pt x="260730" y="521335"/>
                  </a:lnTo>
                  <a:lnTo>
                    <a:pt x="329946" y="512063"/>
                  </a:lnTo>
                  <a:lnTo>
                    <a:pt x="392303" y="485775"/>
                  </a:lnTo>
                  <a:lnTo>
                    <a:pt x="445008" y="445008"/>
                  </a:lnTo>
                  <a:lnTo>
                    <a:pt x="485774" y="392175"/>
                  </a:lnTo>
                  <a:lnTo>
                    <a:pt x="512064" y="329946"/>
                  </a:lnTo>
                  <a:lnTo>
                    <a:pt x="521334" y="260604"/>
                  </a:lnTo>
                  <a:lnTo>
                    <a:pt x="512064" y="191388"/>
                  </a:lnTo>
                  <a:lnTo>
                    <a:pt x="485774" y="129159"/>
                  </a:lnTo>
                  <a:lnTo>
                    <a:pt x="445008" y="76326"/>
                  </a:lnTo>
                  <a:lnTo>
                    <a:pt x="392303" y="35560"/>
                  </a:lnTo>
                  <a:lnTo>
                    <a:pt x="329946" y="9271"/>
                  </a:lnTo>
                  <a:lnTo>
                    <a:pt x="260730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568577" y="3010153"/>
              <a:ext cx="521334" cy="521334"/>
            </a:xfrm>
            <a:custGeom>
              <a:avLst/>
              <a:gdLst/>
              <a:ahLst/>
              <a:cxnLst/>
              <a:rect l="l" t="t" r="r" b="b"/>
              <a:pathLst>
                <a:path w="521335" h="521335">
                  <a:moveTo>
                    <a:pt x="521334" y="260604"/>
                  </a:moveTo>
                  <a:lnTo>
                    <a:pt x="512064" y="191388"/>
                  </a:lnTo>
                  <a:lnTo>
                    <a:pt x="485774" y="129159"/>
                  </a:lnTo>
                  <a:lnTo>
                    <a:pt x="445008" y="76326"/>
                  </a:lnTo>
                  <a:lnTo>
                    <a:pt x="392303" y="35560"/>
                  </a:lnTo>
                  <a:lnTo>
                    <a:pt x="329946" y="9271"/>
                  </a:lnTo>
                  <a:lnTo>
                    <a:pt x="260730" y="0"/>
                  </a:lnTo>
                  <a:lnTo>
                    <a:pt x="191389" y="9271"/>
                  </a:lnTo>
                  <a:lnTo>
                    <a:pt x="129159" y="35560"/>
                  </a:lnTo>
                  <a:lnTo>
                    <a:pt x="76327" y="76326"/>
                  </a:lnTo>
                  <a:lnTo>
                    <a:pt x="35559" y="129159"/>
                  </a:lnTo>
                  <a:lnTo>
                    <a:pt x="9270" y="191388"/>
                  </a:lnTo>
                  <a:lnTo>
                    <a:pt x="0" y="260604"/>
                  </a:lnTo>
                  <a:lnTo>
                    <a:pt x="9270" y="329946"/>
                  </a:lnTo>
                  <a:lnTo>
                    <a:pt x="35559" y="392175"/>
                  </a:lnTo>
                  <a:lnTo>
                    <a:pt x="76327" y="445008"/>
                  </a:lnTo>
                  <a:lnTo>
                    <a:pt x="129159" y="485775"/>
                  </a:lnTo>
                  <a:lnTo>
                    <a:pt x="191389" y="512063"/>
                  </a:lnTo>
                  <a:lnTo>
                    <a:pt x="260730" y="521335"/>
                  </a:lnTo>
                  <a:lnTo>
                    <a:pt x="329946" y="512063"/>
                  </a:lnTo>
                  <a:lnTo>
                    <a:pt x="392303" y="485775"/>
                  </a:lnTo>
                  <a:lnTo>
                    <a:pt x="445008" y="445008"/>
                  </a:lnTo>
                  <a:lnTo>
                    <a:pt x="485774" y="392175"/>
                  </a:lnTo>
                  <a:lnTo>
                    <a:pt x="512064" y="329946"/>
                  </a:lnTo>
                  <a:lnTo>
                    <a:pt x="521334" y="26060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596261" y="3010153"/>
              <a:ext cx="521334" cy="521334"/>
            </a:xfrm>
            <a:custGeom>
              <a:avLst/>
              <a:gdLst/>
              <a:ahLst/>
              <a:cxnLst/>
              <a:rect l="l" t="t" r="r" b="b"/>
              <a:pathLst>
                <a:path w="521335" h="521335">
                  <a:moveTo>
                    <a:pt x="260731" y="0"/>
                  </a:moveTo>
                  <a:lnTo>
                    <a:pt x="191388" y="9271"/>
                  </a:lnTo>
                  <a:lnTo>
                    <a:pt x="129158" y="35560"/>
                  </a:lnTo>
                  <a:lnTo>
                    <a:pt x="76326" y="76326"/>
                  </a:lnTo>
                  <a:lnTo>
                    <a:pt x="35559" y="129159"/>
                  </a:lnTo>
                  <a:lnTo>
                    <a:pt x="9270" y="191388"/>
                  </a:lnTo>
                  <a:lnTo>
                    <a:pt x="0" y="260604"/>
                  </a:lnTo>
                  <a:lnTo>
                    <a:pt x="9270" y="329946"/>
                  </a:lnTo>
                  <a:lnTo>
                    <a:pt x="35559" y="392175"/>
                  </a:lnTo>
                  <a:lnTo>
                    <a:pt x="76326" y="445008"/>
                  </a:lnTo>
                  <a:lnTo>
                    <a:pt x="129158" y="485775"/>
                  </a:lnTo>
                  <a:lnTo>
                    <a:pt x="191388" y="512063"/>
                  </a:lnTo>
                  <a:lnTo>
                    <a:pt x="260731" y="521335"/>
                  </a:lnTo>
                  <a:lnTo>
                    <a:pt x="329945" y="512063"/>
                  </a:lnTo>
                  <a:lnTo>
                    <a:pt x="392302" y="485775"/>
                  </a:lnTo>
                  <a:lnTo>
                    <a:pt x="445007" y="445008"/>
                  </a:lnTo>
                  <a:lnTo>
                    <a:pt x="485775" y="392175"/>
                  </a:lnTo>
                  <a:lnTo>
                    <a:pt x="512063" y="329946"/>
                  </a:lnTo>
                  <a:lnTo>
                    <a:pt x="521334" y="260604"/>
                  </a:lnTo>
                  <a:lnTo>
                    <a:pt x="512063" y="191388"/>
                  </a:lnTo>
                  <a:lnTo>
                    <a:pt x="485775" y="129159"/>
                  </a:lnTo>
                  <a:lnTo>
                    <a:pt x="445007" y="76326"/>
                  </a:lnTo>
                  <a:lnTo>
                    <a:pt x="392302" y="35560"/>
                  </a:lnTo>
                  <a:lnTo>
                    <a:pt x="329945" y="9271"/>
                  </a:lnTo>
                  <a:lnTo>
                    <a:pt x="260731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596261" y="3010153"/>
              <a:ext cx="521334" cy="521334"/>
            </a:xfrm>
            <a:custGeom>
              <a:avLst/>
              <a:gdLst/>
              <a:ahLst/>
              <a:cxnLst/>
              <a:rect l="l" t="t" r="r" b="b"/>
              <a:pathLst>
                <a:path w="521335" h="521335">
                  <a:moveTo>
                    <a:pt x="521334" y="260604"/>
                  </a:moveTo>
                  <a:lnTo>
                    <a:pt x="512063" y="191388"/>
                  </a:lnTo>
                  <a:lnTo>
                    <a:pt x="485775" y="129159"/>
                  </a:lnTo>
                  <a:lnTo>
                    <a:pt x="445007" y="76326"/>
                  </a:lnTo>
                  <a:lnTo>
                    <a:pt x="392302" y="35560"/>
                  </a:lnTo>
                  <a:lnTo>
                    <a:pt x="329945" y="9271"/>
                  </a:lnTo>
                  <a:lnTo>
                    <a:pt x="260731" y="0"/>
                  </a:lnTo>
                  <a:lnTo>
                    <a:pt x="191388" y="9271"/>
                  </a:lnTo>
                  <a:lnTo>
                    <a:pt x="129158" y="35560"/>
                  </a:lnTo>
                  <a:lnTo>
                    <a:pt x="76326" y="76326"/>
                  </a:lnTo>
                  <a:lnTo>
                    <a:pt x="35559" y="129159"/>
                  </a:lnTo>
                  <a:lnTo>
                    <a:pt x="9270" y="191388"/>
                  </a:lnTo>
                  <a:lnTo>
                    <a:pt x="0" y="260604"/>
                  </a:lnTo>
                  <a:lnTo>
                    <a:pt x="9270" y="329946"/>
                  </a:lnTo>
                  <a:lnTo>
                    <a:pt x="35559" y="392175"/>
                  </a:lnTo>
                  <a:lnTo>
                    <a:pt x="76326" y="445008"/>
                  </a:lnTo>
                  <a:lnTo>
                    <a:pt x="129158" y="485775"/>
                  </a:lnTo>
                  <a:lnTo>
                    <a:pt x="191388" y="512063"/>
                  </a:lnTo>
                  <a:lnTo>
                    <a:pt x="260731" y="521335"/>
                  </a:lnTo>
                  <a:lnTo>
                    <a:pt x="329945" y="512063"/>
                  </a:lnTo>
                  <a:lnTo>
                    <a:pt x="392302" y="485775"/>
                  </a:lnTo>
                  <a:lnTo>
                    <a:pt x="445007" y="445008"/>
                  </a:lnTo>
                  <a:lnTo>
                    <a:pt x="485775" y="392175"/>
                  </a:lnTo>
                  <a:lnTo>
                    <a:pt x="512063" y="329946"/>
                  </a:lnTo>
                  <a:lnTo>
                    <a:pt x="521334" y="26060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627754" y="3013963"/>
              <a:ext cx="513715" cy="513715"/>
            </a:xfrm>
            <a:custGeom>
              <a:avLst/>
              <a:gdLst/>
              <a:ahLst/>
              <a:cxnLst/>
              <a:rect l="l" t="t" r="r" b="b"/>
              <a:pathLst>
                <a:path w="513714" h="513714">
                  <a:moveTo>
                    <a:pt x="256794" y="0"/>
                  </a:moveTo>
                  <a:lnTo>
                    <a:pt x="188595" y="9144"/>
                  </a:lnTo>
                  <a:lnTo>
                    <a:pt x="127127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4" y="188595"/>
                  </a:lnTo>
                  <a:lnTo>
                    <a:pt x="0" y="256794"/>
                  </a:lnTo>
                  <a:lnTo>
                    <a:pt x="9144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127" y="478663"/>
                  </a:lnTo>
                  <a:lnTo>
                    <a:pt x="188595" y="504571"/>
                  </a:lnTo>
                  <a:lnTo>
                    <a:pt x="256794" y="513714"/>
                  </a:lnTo>
                  <a:lnTo>
                    <a:pt x="325120" y="504571"/>
                  </a:lnTo>
                  <a:lnTo>
                    <a:pt x="386461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715" y="256794"/>
                  </a:ln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461" y="35051"/>
                  </a:lnTo>
                  <a:lnTo>
                    <a:pt x="325120" y="9144"/>
                  </a:lnTo>
                  <a:lnTo>
                    <a:pt x="256794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627754" y="3013963"/>
              <a:ext cx="513715" cy="513715"/>
            </a:xfrm>
            <a:custGeom>
              <a:avLst/>
              <a:gdLst/>
              <a:ahLst/>
              <a:cxnLst/>
              <a:rect l="l" t="t" r="r" b="b"/>
              <a:pathLst>
                <a:path w="513714" h="513714">
                  <a:moveTo>
                    <a:pt x="513715" y="256794"/>
                  </a:move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461" y="35051"/>
                  </a:lnTo>
                  <a:lnTo>
                    <a:pt x="325120" y="9144"/>
                  </a:lnTo>
                  <a:lnTo>
                    <a:pt x="256794" y="0"/>
                  </a:lnTo>
                  <a:lnTo>
                    <a:pt x="188595" y="9144"/>
                  </a:lnTo>
                  <a:lnTo>
                    <a:pt x="127127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4" y="188595"/>
                  </a:lnTo>
                  <a:lnTo>
                    <a:pt x="0" y="256794"/>
                  </a:lnTo>
                  <a:lnTo>
                    <a:pt x="9144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127" y="478663"/>
                  </a:lnTo>
                  <a:lnTo>
                    <a:pt x="188595" y="504571"/>
                  </a:lnTo>
                  <a:lnTo>
                    <a:pt x="256794" y="513714"/>
                  </a:lnTo>
                  <a:lnTo>
                    <a:pt x="325120" y="504571"/>
                  </a:lnTo>
                  <a:lnTo>
                    <a:pt x="386461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715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3719448" y="2723515"/>
            <a:ext cx="329565" cy="644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65405">
              <a:lnSpc>
                <a:spcPct val="100000"/>
              </a:lnSpc>
              <a:spcBef>
                <a:spcPts val="110"/>
              </a:spcBef>
            </a:pP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h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4</a:t>
            </a:r>
            <a:endParaRPr sz="1650" baseline="-10101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1260"/>
              </a:spcBef>
            </a:pPr>
            <a:r>
              <a:rPr sz="1500" spc="-25" dirty="0">
                <a:solidFill>
                  <a:srgbClr val="213739"/>
                </a:solidFill>
                <a:latin typeface="Arial MT"/>
                <a:cs typeface="Arial MT"/>
              </a:rPr>
              <a:t>1,1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33527" y="3638803"/>
            <a:ext cx="748030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i="1" dirty="0">
                <a:solidFill>
                  <a:srgbClr val="213739"/>
                </a:solidFill>
                <a:latin typeface="Calibri"/>
                <a:cs typeface="Calibri"/>
              </a:rPr>
              <a:t>bias</a:t>
            </a:r>
            <a:r>
              <a:rPr sz="1500" i="1" spc="33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500" spc="-13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13739"/>
                </a:solidFill>
                <a:latin typeface="Arial MT"/>
                <a:cs typeface="Arial MT"/>
              </a:rPr>
              <a:t>-</a:t>
            </a:r>
            <a:r>
              <a:rPr sz="1500" spc="-2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00" spc="-50" dirty="0">
                <a:solidFill>
                  <a:srgbClr val="213739"/>
                </a:solidFill>
                <a:latin typeface="Arial MT"/>
                <a:cs typeface="Arial MT"/>
              </a:rPr>
              <a:t>2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278507" y="1536572"/>
            <a:ext cx="111760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i="1" spc="-50" dirty="0">
                <a:solidFill>
                  <a:srgbClr val="213739"/>
                </a:solidFill>
                <a:latin typeface="Calibri"/>
                <a:cs typeface="Calibri"/>
              </a:rPr>
              <a:t>y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164336" y="2568955"/>
            <a:ext cx="280670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650" baseline="-10101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628013" y="2532379"/>
            <a:ext cx="1461135" cy="8324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90500">
              <a:lnSpc>
                <a:spcPts val="1650"/>
              </a:lnSpc>
              <a:spcBef>
                <a:spcPts val="110"/>
              </a:spcBef>
              <a:tabLst>
                <a:tab pos="704215" algn="l"/>
                <a:tab pos="1191895" algn="l"/>
              </a:tabLst>
            </a:pP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650" baseline="-1010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r>
              <a:rPr sz="1650" baseline="-1010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4</a:t>
            </a:r>
            <a:endParaRPr sz="1650" baseline="-10101">
              <a:latin typeface="Calibri"/>
              <a:cs typeface="Calibri"/>
            </a:endParaRPr>
          </a:p>
          <a:p>
            <a:pPr marL="100965">
              <a:lnSpc>
                <a:spcPts val="1650"/>
              </a:lnSpc>
              <a:tabLst>
                <a:tab pos="1127760" algn="l"/>
              </a:tabLst>
            </a:pP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h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650" baseline="-1010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h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650" baseline="-10101">
              <a:latin typeface="Calibri"/>
              <a:cs typeface="Calibri"/>
            </a:endParaRPr>
          </a:p>
          <a:p>
            <a:pPr marL="50800">
              <a:lnSpc>
                <a:spcPct val="100000"/>
              </a:lnSpc>
              <a:spcBef>
                <a:spcPts val="1235"/>
              </a:spcBef>
              <a:tabLst>
                <a:tab pos="1077595" algn="l"/>
              </a:tabLst>
            </a:pPr>
            <a:r>
              <a:rPr sz="1500" spc="-40" dirty="0">
                <a:solidFill>
                  <a:srgbClr val="213739"/>
                </a:solidFill>
                <a:latin typeface="Arial MT"/>
                <a:cs typeface="Arial MT"/>
              </a:rPr>
              <a:t>-</a:t>
            </a:r>
            <a:r>
              <a:rPr sz="1500" spc="-25" dirty="0">
                <a:solidFill>
                  <a:srgbClr val="213739"/>
                </a:solidFill>
                <a:latin typeface="Arial MT"/>
                <a:cs typeface="Arial MT"/>
              </a:rPr>
              <a:t>1,1</a:t>
            </a:r>
            <a:r>
              <a:rPr sz="1500" dirty="0">
                <a:solidFill>
                  <a:srgbClr val="213739"/>
                </a:solidFill>
                <a:latin typeface="Arial MT"/>
                <a:cs typeface="Arial MT"/>
              </a:rPr>
              <a:t>	</a:t>
            </a:r>
            <a:r>
              <a:rPr sz="1500" spc="-70" dirty="0">
                <a:solidFill>
                  <a:srgbClr val="213739"/>
                </a:solidFill>
                <a:latin typeface="Arial MT"/>
                <a:cs typeface="Arial MT"/>
              </a:rPr>
              <a:t>1,-</a:t>
            </a:r>
            <a:r>
              <a:rPr sz="1500" spc="-50" dirty="0">
                <a:solidFill>
                  <a:srgbClr val="213739"/>
                </a:solidFill>
                <a:latin typeface="Arial MT"/>
                <a:cs typeface="Arial MT"/>
              </a:rPr>
              <a:t>1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994460" y="1862084"/>
            <a:ext cx="2713990" cy="2357120"/>
            <a:chOff x="994460" y="1862084"/>
            <a:chExt cx="2713990" cy="2357120"/>
          </a:xfrm>
        </p:grpSpPr>
        <p:sp>
          <p:nvSpPr>
            <p:cNvPr id="29" name="object 29"/>
            <p:cNvSpPr/>
            <p:nvPr/>
          </p:nvSpPr>
          <p:spPr>
            <a:xfrm>
              <a:off x="1016139" y="3485388"/>
              <a:ext cx="686435" cy="686435"/>
            </a:xfrm>
            <a:custGeom>
              <a:avLst/>
              <a:gdLst/>
              <a:ahLst/>
              <a:cxnLst/>
              <a:rect l="l" t="t" r="r" b="b"/>
              <a:pathLst>
                <a:path w="686435" h="686435">
                  <a:moveTo>
                    <a:pt x="686295" y="686181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4460" y="3463657"/>
              <a:ext cx="104659" cy="104661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1072959" y="3406521"/>
              <a:ext cx="1615440" cy="807720"/>
            </a:xfrm>
            <a:custGeom>
              <a:avLst/>
              <a:gdLst/>
              <a:ahLst/>
              <a:cxnLst/>
              <a:rect l="l" t="t" r="r" b="b"/>
              <a:pathLst>
                <a:path w="1615439" h="807720">
                  <a:moveTo>
                    <a:pt x="1615122" y="807592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60723" y="3364757"/>
              <a:ext cx="84085" cy="122262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1766570" y="3546729"/>
              <a:ext cx="125730" cy="624840"/>
            </a:xfrm>
            <a:custGeom>
              <a:avLst/>
              <a:gdLst/>
              <a:ahLst/>
              <a:cxnLst/>
              <a:rect l="l" t="t" r="r" b="b"/>
              <a:pathLst>
                <a:path w="125730" h="624839">
                  <a:moveTo>
                    <a:pt x="62737" y="624840"/>
                  </a:moveTo>
                  <a:lnTo>
                    <a:pt x="62737" y="8000"/>
                  </a:lnTo>
                </a:path>
                <a:path w="125730" h="624839">
                  <a:moveTo>
                    <a:pt x="0" y="51435"/>
                  </a:moveTo>
                  <a:lnTo>
                    <a:pt x="24637" y="42418"/>
                  </a:lnTo>
                  <a:lnTo>
                    <a:pt x="42672" y="30099"/>
                  </a:lnTo>
                  <a:lnTo>
                    <a:pt x="55118" y="15621"/>
                  </a:lnTo>
                  <a:lnTo>
                    <a:pt x="62737" y="0"/>
                  </a:lnTo>
                  <a:lnTo>
                    <a:pt x="70231" y="15621"/>
                  </a:lnTo>
                  <a:lnTo>
                    <a:pt x="82677" y="30099"/>
                  </a:lnTo>
                  <a:lnTo>
                    <a:pt x="100711" y="42418"/>
                  </a:lnTo>
                  <a:lnTo>
                    <a:pt x="125349" y="51435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030094" y="3471672"/>
              <a:ext cx="700405" cy="700405"/>
            </a:xfrm>
            <a:custGeom>
              <a:avLst/>
              <a:gdLst/>
              <a:ahLst/>
              <a:cxnLst/>
              <a:rect l="l" t="t" r="r" b="b"/>
              <a:pathLst>
                <a:path w="700405" h="700404">
                  <a:moveTo>
                    <a:pt x="700024" y="699896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08377" y="3449924"/>
              <a:ext cx="105171" cy="105186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1956054" y="3471672"/>
              <a:ext cx="700405" cy="700405"/>
            </a:xfrm>
            <a:custGeom>
              <a:avLst/>
              <a:gdLst/>
              <a:ahLst/>
              <a:cxnLst/>
              <a:rect l="l" t="t" r="r" b="b"/>
              <a:pathLst>
                <a:path w="700405" h="700404">
                  <a:moveTo>
                    <a:pt x="0" y="699896"/>
                  </a:moveTo>
                  <a:lnTo>
                    <a:pt x="700023" y="0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72766" y="3449924"/>
              <a:ext cx="105171" cy="105186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2794254" y="3546729"/>
              <a:ext cx="125730" cy="624840"/>
            </a:xfrm>
            <a:custGeom>
              <a:avLst/>
              <a:gdLst/>
              <a:ahLst/>
              <a:cxnLst/>
              <a:rect l="l" t="t" r="r" b="b"/>
              <a:pathLst>
                <a:path w="125730" h="624839">
                  <a:moveTo>
                    <a:pt x="62737" y="624840"/>
                  </a:moveTo>
                  <a:lnTo>
                    <a:pt x="62737" y="8000"/>
                  </a:lnTo>
                </a:path>
                <a:path w="125730" h="624839">
                  <a:moveTo>
                    <a:pt x="0" y="51435"/>
                  </a:moveTo>
                  <a:lnTo>
                    <a:pt x="24637" y="42418"/>
                  </a:lnTo>
                  <a:lnTo>
                    <a:pt x="42671" y="30099"/>
                  </a:lnTo>
                  <a:lnTo>
                    <a:pt x="55118" y="15621"/>
                  </a:lnTo>
                  <a:lnTo>
                    <a:pt x="62737" y="0"/>
                  </a:lnTo>
                  <a:lnTo>
                    <a:pt x="70231" y="15621"/>
                  </a:lnTo>
                  <a:lnTo>
                    <a:pt x="82676" y="30099"/>
                  </a:lnTo>
                  <a:lnTo>
                    <a:pt x="100710" y="42418"/>
                  </a:lnTo>
                  <a:lnTo>
                    <a:pt x="125348" y="51435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998218" y="3396107"/>
              <a:ext cx="1635760" cy="818515"/>
            </a:xfrm>
            <a:custGeom>
              <a:avLst/>
              <a:gdLst/>
              <a:ahLst/>
              <a:cxnLst/>
              <a:rect l="l" t="t" r="r" b="b"/>
              <a:pathLst>
                <a:path w="1635760" h="818514">
                  <a:moveTo>
                    <a:pt x="0" y="818006"/>
                  </a:moveTo>
                  <a:lnTo>
                    <a:pt x="1635759" y="0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62114" y="3354470"/>
              <a:ext cx="84163" cy="122136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2983864" y="3469005"/>
              <a:ext cx="702945" cy="702945"/>
            </a:xfrm>
            <a:custGeom>
              <a:avLst/>
              <a:gdLst/>
              <a:ahLst/>
              <a:cxnLst/>
              <a:rect l="l" t="t" r="r" b="b"/>
              <a:pathLst>
                <a:path w="702945" h="702945">
                  <a:moveTo>
                    <a:pt x="0" y="702564"/>
                  </a:moveTo>
                  <a:lnTo>
                    <a:pt x="702563" y="0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603498" y="3447274"/>
              <a:ext cx="104659" cy="104661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1041425" y="2308860"/>
              <a:ext cx="1203325" cy="802640"/>
            </a:xfrm>
            <a:custGeom>
              <a:avLst/>
              <a:gdLst/>
              <a:ahLst/>
              <a:cxnLst/>
              <a:rect l="l" t="t" r="r" b="b"/>
              <a:pathLst>
                <a:path w="1203325" h="802639">
                  <a:moveTo>
                    <a:pt x="0" y="802131"/>
                  </a:moveTo>
                  <a:lnTo>
                    <a:pt x="1203172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83766" y="2287145"/>
              <a:ext cx="66671" cy="85467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1949577" y="2348738"/>
              <a:ext cx="340995" cy="681990"/>
            </a:xfrm>
            <a:custGeom>
              <a:avLst/>
              <a:gdLst/>
              <a:ahLst/>
              <a:cxnLst/>
              <a:rect l="l" t="t" r="r" b="b"/>
              <a:pathLst>
                <a:path w="340994" h="681989">
                  <a:moveTo>
                    <a:pt x="0" y="681482"/>
                  </a:moveTo>
                  <a:lnTo>
                    <a:pt x="340741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227579" y="2342641"/>
              <a:ext cx="91568" cy="64136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2395855" y="2348738"/>
              <a:ext cx="340995" cy="681990"/>
            </a:xfrm>
            <a:custGeom>
              <a:avLst/>
              <a:gdLst/>
              <a:ahLst/>
              <a:cxnLst/>
              <a:rect l="l" t="t" r="r" b="b"/>
              <a:pathLst>
                <a:path w="340994" h="681989">
                  <a:moveTo>
                    <a:pt x="340868" y="681482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67025" y="2342641"/>
              <a:ext cx="91568" cy="64136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2441575" y="2308860"/>
              <a:ext cx="1223010" cy="815340"/>
            </a:xfrm>
            <a:custGeom>
              <a:avLst/>
              <a:gdLst/>
              <a:ahLst/>
              <a:cxnLst/>
              <a:rect l="l" t="t" r="r" b="b"/>
              <a:pathLst>
                <a:path w="1223010" h="815339">
                  <a:moveTo>
                    <a:pt x="1222628" y="814959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435734" y="2287145"/>
              <a:ext cx="66671" cy="85467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2294890" y="1864614"/>
              <a:ext cx="96520" cy="268605"/>
            </a:xfrm>
            <a:custGeom>
              <a:avLst/>
              <a:gdLst/>
              <a:ahLst/>
              <a:cxnLst/>
              <a:rect l="l" t="t" r="r" b="b"/>
              <a:pathLst>
                <a:path w="96519" h="268605">
                  <a:moveTo>
                    <a:pt x="48260" y="268605"/>
                  </a:moveTo>
                  <a:lnTo>
                    <a:pt x="48260" y="4063"/>
                  </a:lnTo>
                </a:path>
                <a:path w="96519" h="268605">
                  <a:moveTo>
                    <a:pt x="0" y="41783"/>
                  </a:moveTo>
                  <a:lnTo>
                    <a:pt x="18923" y="34416"/>
                  </a:lnTo>
                  <a:lnTo>
                    <a:pt x="32893" y="24511"/>
                  </a:lnTo>
                  <a:lnTo>
                    <a:pt x="42418" y="12700"/>
                  </a:lnTo>
                  <a:lnTo>
                    <a:pt x="48260" y="0"/>
                  </a:lnTo>
                  <a:lnTo>
                    <a:pt x="54102" y="12700"/>
                  </a:lnTo>
                  <a:lnTo>
                    <a:pt x="63627" y="24511"/>
                  </a:lnTo>
                  <a:lnTo>
                    <a:pt x="77470" y="34416"/>
                  </a:lnTo>
                  <a:lnTo>
                    <a:pt x="96393" y="41783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343204" y="3999632"/>
            <a:ext cx="2451100" cy="1073785"/>
          </a:xfrm>
          <a:prstGeom prst="rect">
            <a:avLst/>
          </a:prstGeom>
        </p:spPr>
        <p:txBody>
          <a:bodyPr vert="horz" wrap="square" lIns="0" tIns="125095" rIns="0" bIns="0" rtlCol="0">
            <a:spAutoFit/>
          </a:bodyPr>
          <a:lstStyle/>
          <a:p>
            <a:pPr marL="496570" algn="ctr">
              <a:lnSpc>
                <a:spcPct val="100000"/>
              </a:lnSpc>
              <a:spcBef>
                <a:spcPts val="985"/>
              </a:spcBef>
            </a:pPr>
            <a:r>
              <a:rPr sz="1500" i="1" spc="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650" spc="37" baseline="-10101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650" baseline="-10101">
              <a:latin typeface="Calibri"/>
              <a:cs typeface="Calibri"/>
            </a:endParaRPr>
          </a:p>
          <a:p>
            <a:pPr marL="38100" marR="30480">
              <a:lnSpc>
                <a:spcPct val="117700"/>
              </a:lnSpc>
              <a:spcBef>
                <a:spcPts val="625"/>
              </a:spcBef>
            </a:pP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red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edge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indicates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i="1" spc="10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=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-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1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blue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edge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indicates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i="1" spc="12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=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+1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53" name="object 53" descr="$PPTXTitle"/>
          <p:cNvSpPr txBox="1">
            <a:spLocks noGrp="1"/>
          </p:cNvSpPr>
          <p:nvPr>
            <p:ph type="title"/>
          </p:nvPr>
        </p:nvSpPr>
        <p:spPr>
          <a:xfrm>
            <a:off x="4756403" y="946530"/>
            <a:ext cx="406781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Let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875" spc="345" baseline="-8888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be</a:t>
            </a:r>
            <a:r>
              <a:rPr sz="1750" spc="-1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bias</a:t>
            </a:r>
            <a:r>
              <a:rPr sz="1750" spc="-1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output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 the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neuron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i="1" spc="-10" dirty="0">
                <a:solidFill>
                  <a:srgbClr val="213739"/>
                </a:solidFill>
                <a:latin typeface="Times New Roman"/>
                <a:cs typeface="Times New Roman"/>
              </a:rPr>
              <a:t>i.e.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,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4785105" y="1266571"/>
            <a:ext cx="972819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it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will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fire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if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035802" y="1205610"/>
            <a:ext cx="107314" cy="2197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50" spc="-50" dirty="0">
                <a:solidFill>
                  <a:srgbClr val="213739"/>
                </a:solidFill>
                <a:latin typeface="Calibri"/>
                <a:cs typeface="Calibri"/>
              </a:rPr>
              <a:t>4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5882004" y="1322959"/>
            <a:ext cx="464184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2625" spc="-37" baseline="9523" dirty="0">
                <a:solidFill>
                  <a:srgbClr val="213739"/>
                </a:solidFill>
                <a:latin typeface="Lucida Sans Unicode"/>
                <a:cs typeface="Lucida Sans Unicode"/>
              </a:rPr>
              <a:t>Σ</a:t>
            </a:r>
            <a:r>
              <a:rPr sz="1250" i="1" spc="-25" dirty="0">
                <a:solidFill>
                  <a:srgbClr val="213739"/>
                </a:solidFill>
                <a:latin typeface="Calibri"/>
                <a:cs typeface="Calibri"/>
              </a:rPr>
              <a:t>i</a:t>
            </a:r>
            <a:r>
              <a:rPr sz="1250" i="1" spc="-12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250" spc="55" dirty="0">
                <a:solidFill>
                  <a:srgbClr val="213739"/>
                </a:solidFill>
                <a:latin typeface="Calibri"/>
                <a:cs typeface="Calibri"/>
              </a:rPr>
              <a:t>=1 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6333997" y="1248283"/>
            <a:ext cx="108712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8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i="1" spc="127" baseline="-8888" dirty="0">
                <a:solidFill>
                  <a:srgbClr val="213739"/>
                </a:solidFill>
                <a:latin typeface="Calibri"/>
                <a:cs typeface="Calibri"/>
              </a:rPr>
              <a:t>i</a:t>
            </a:r>
            <a:r>
              <a:rPr sz="1750" i="1" spc="85" dirty="0">
                <a:solidFill>
                  <a:srgbClr val="213739"/>
                </a:solidFill>
                <a:latin typeface="Calibri"/>
                <a:cs typeface="Calibri"/>
              </a:rPr>
              <a:t>h</a:t>
            </a:r>
            <a:r>
              <a:rPr sz="1875" i="1" spc="127" baseline="-8888" dirty="0">
                <a:solidFill>
                  <a:srgbClr val="213739"/>
                </a:solidFill>
                <a:latin typeface="Calibri"/>
                <a:cs typeface="Calibri"/>
              </a:rPr>
              <a:t>i</a:t>
            </a:r>
            <a:r>
              <a:rPr sz="1875" i="1" spc="509" baseline="-8888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≥</a:t>
            </a:r>
            <a:r>
              <a:rPr sz="1750" spc="-10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)</a:t>
            </a:r>
            <a:endParaRPr sz="175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32279" y="2132355"/>
            <a:ext cx="221589" cy="22158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720339" y="4110608"/>
            <a:ext cx="244475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500" i="1" spc="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650" spc="37" baseline="-10101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650" baseline="-10101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16407" y="2985642"/>
            <a:ext cx="3630295" cy="570865"/>
            <a:chOff x="516407" y="2985642"/>
            <a:chExt cx="3630295" cy="570865"/>
          </a:xfrm>
        </p:grpSpPr>
        <p:sp>
          <p:nvSpPr>
            <p:cNvPr id="5" name="object 5"/>
            <p:cNvSpPr/>
            <p:nvPr/>
          </p:nvSpPr>
          <p:spPr>
            <a:xfrm>
              <a:off x="544677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256921" y="0"/>
                  </a:moveTo>
                  <a:lnTo>
                    <a:pt x="188620" y="9144"/>
                  </a:lnTo>
                  <a:lnTo>
                    <a:pt x="127241" y="35051"/>
                  </a:lnTo>
                  <a:lnTo>
                    <a:pt x="75247" y="75184"/>
                  </a:lnTo>
                  <a:lnTo>
                    <a:pt x="35077" y="127126"/>
                  </a:lnTo>
                  <a:lnTo>
                    <a:pt x="9182" y="188595"/>
                  </a:lnTo>
                  <a:lnTo>
                    <a:pt x="0" y="256794"/>
                  </a:lnTo>
                  <a:lnTo>
                    <a:pt x="9182" y="325120"/>
                  </a:lnTo>
                  <a:lnTo>
                    <a:pt x="35077" y="386588"/>
                  </a:lnTo>
                  <a:lnTo>
                    <a:pt x="75247" y="438531"/>
                  </a:lnTo>
                  <a:lnTo>
                    <a:pt x="127241" y="478663"/>
                  </a:lnTo>
                  <a:lnTo>
                    <a:pt x="188620" y="504571"/>
                  </a:lnTo>
                  <a:lnTo>
                    <a:pt x="256921" y="513714"/>
                  </a:lnTo>
                  <a:lnTo>
                    <a:pt x="325221" y="504571"/>
                  </a:lnTo>
                  <a:lnTo>
                    <a:pt x="386588" y="478663"/>
                  </a:lnTo>
                  <a:lnTo>
                    <a:pt x="438581" y="438531"/>
                  </a:lnTo>
                  <a:lnTo>
                    <a:pt x="478764" y="386588"/>
                  </a:lnTo>
                  <a:lnTo>
                    <a:pt x="504659" y="325120"/>
                  </a:lnTo>
                  <a:lnTo>
                    <a:pt x="513842" y="256794"/>
                  </a:lnTo>
                  <a:lnTo>
                    <a:pt x="504659" y="188595"/>
                  </a:lnTo>
                  <a:lnTo>
                    <a:pt x="478764" y="127126"/>
                  </a:lnTo>
                  <a:lnTo>
                    <a:pt x="438581" y="75184"/>
                  </a:lnTo>
                  <a:lnTo>
                    <a:pt x="386588" y="35051"/>
                  </a:lnTo>
                  <a:lnTo>
                    <a:pt x="325221" y="9144"/>
                  </a:lnTo>
                  <a:lnTo>
                    <a:pt x="256921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44677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513842" y="256794"/>
                  </a:moveTo>
                  <a:lnTo>
                    <a:pt x="504659" y="188595"/>
                  </a:lnTo>
                  <a:lnTo>
                    <a:pt x="478764" y="127126"/>
                  </a:lnTo>
                  <a:lnTo>
                    <a:pt x="438581" y="75184"/>
                  </a:lnTo>
                  <a:lnTo>
                    <a:pt x="386588" y="35051"/>
                  </a:lnTo>
                  <a:lnTo>
                    <a:pt x="325221" y="9144"/>
                  </a:lnTo>
                  <a:lnTo>
                    <a:pt x="256921" y="0"/>
                  </a:lnTo>
                  <a:lnTo>
                    <a:pt x="188620" y="9144"/>
                  </a:lnTo>
                  <a:lnTo>
                    <a:pt x="127241" y="35051"/>
                  </a:lnTo>
                  <a:lnTo>
                    <a:pt x="75247" y="75184"/>
                  </a:lnTo>
                  <a:lnTo>
                    <a:pt x="35077" y="127126"/>
                  </a:lnTo>
                  <a:lnTo>
                    <a:pt x="9182" y="188595"/>
                  </a:lnTo>
                  <a:lnTo>
                    <a:pt x="0" y="256794"/>
                  </a:lnTo>
                  <a:lnTo>
                    <a:pt x="9182" y="325120"/>
                  </a:lnTo>
                  <a:lnTo>
                    <a:pt x="35077" y="386588"/>
                  </a:lnTo>
                  <a:lnTo>
                    <a:pt x="75247" y="438531"/>
                  </a:lnTo>
                  <a:lnTo>
                    <a:pt x="127241" y="478663"/>
                  </a:lnTo>
                  <a:lnTo>
                    <a:pt x="188620" y="504571"/>
                  </a:lnTo>
                  <a:lnTo>
                    <a:pt x="256921" y="513714"/>
                  </a:lnTo>
                  <a:lnTo>
                    <a:pt x="325221" y="504571"/>
                  </a:lnTo>
                  <a:lnTo>
                    <a:pt x="386588" y="478663"/>
                  </a:lnTo>
                  <a:lnTo>
                    <a:pt x="438581" y="438531"/>
                  </a:lnTo>
                  <a:lnTo>
                    <a:pt x="478764" y="386588"/>
                  </a:lnTo>
                  <a:lnTo>
                    <a:pt x="504659" y="325120"/>
                  </a:lnTo>
                  <a:lnTo>
                    <a:pt x="513842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72387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256920" y="0"/>
                  </a:moveTo>
                  <a:lnTo>
                    <a:pt x="188594" y="9144"/>
                  </a:lnTo>
                  <a:lnTo>
                    <a:pt x="127254" y="35051"/>
                  </a:lnTo>
                  <a:lnTo>
                    <a:pt x="75183" y="75184"/>
                  </a:lnTo>
                  <a:lnTo>
                    <a:pt x="35051" y="127126"/>
                  </a:lnTo>
                  <a:lnTo>
                    <a:pt x="9143" y="188595"/>
                  </a:lnTo>
                  <a:lnTo>
                    <a:pt x="0" y="256794"/>
                  </a:lnTo>
                  <a:lnTo>
                    <a:pt x="9143" y="325120"/>
                  </a:lnTo>
                  <a:lnTo>
                    <a:pt x="35051" y="386588"/>
                  </a:lnTo>
                  <a:lnTo>
                    <a:pt x="75183" y="438531"/>
                  </a:lnTo>
                  <a:lnTo>
                    <a:pt x="127254" y="478663"/>
                  </a:lnTo>
                  <a:lnTo>
                    <a:pt x="188594" y="504571"/>
                  </a:lnTo>
                  <a:lnTo>
                    <a:pt x="256920" y="513714"/>
                  </a:lnTo>
                  <a:lnTo>
                    <a:pt x="325119" y="504571"/>
                  </a:lnTo>
                  <a:lnTo>
                    <a:pt x="386588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0" y="325120"/>
                  </a:lnTo>
                  <a:lnTo>
                    <a:pt x="513842" y="256794"/>
                  </a:lnTo>
                  <a:lnTo>
                    <a:pt x="504570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588" y="35051"/>
                  </a:lnTo>
                  <a:lnTo>
                    <a:pt x="325119" y="9144"/>
                  </a:lnTo>
                  <a:lnTo>
                    <a:pt x="256920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72387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513842" y="256794"/>
                  </a:moveTo>
                  <a:lnTo>
                    <a:pt x="504570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588" y="35051"/>
                  </a:lnTo>
                  <a:lnTo>
                    <a:pt x="325119" y="9144"/>
                  </a:lnTo>
                  <a:lnTo>
                    <a:pt x="256920" y="0"/>
                  </a:lnTo>
                  <a:lnTo>
                    <a:pt x="188594" y="9144"/>
                  </a:lnTo>
                  <a:lnTo>
                    <a:pt x="127254" y="35051"/>
                  </a:lnTo>
                  <a:lnTo>
                    <a:pt x="75183" y="75184"/>
                  </a:lnTo>
                  <a:lnTo>
                    <a:pt x="35051" y="127126"/>
                  </a:lnTo>
                  <a:lnTo>
                    <a:pt x="9143" y="188595"/>
                  </a:lnTo>
                  <a:lnTo>
                    <a:pt x="0" y="256794"/>
                  </a:lnTo>
                  <a:lnTo>
                    <a:pt x="9143" y="325120"/>
                  </a:lnTo>
                  <a:lnTo>
                    <a:pt x="35051" y="386588"/>
                  </a:lnTo>
                  <a:lnTo>
                    <a:pt x="75183" y="438531"/>
                  </a:lnTo>
                  <a:lnTo>
                    <a:pt x="127254" y="478663"/>
                  </a:lnTo>
                  <a:lnTo>
                    <a:pt x="188594" y="504571"/>
                  </a:lnTo>
                  <a:lnTo>
                    <a:pt x="256920" y="513714"/>
                  </a:lnTo>
                  <a:lnTo>
                    <a:pt x="325119" y="504571"/>
                  </a:lnTo>
                  <a:lnTo>
                    <a:pt x="386588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0" y="325120"/>
                  </a:lnTo>
                  <a:lnTo>
                    <a:pt x="513842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600070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256921" y="0"/>
                  </a:moveTo>
                  <a:lnTo>
                    <a:pt x="188595" y="9144"/>
                  </a:lnTo>
                  <a:lnTo>
                    <a:pt x="127254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3" y="188595"/>
                  </a:lnTo>
                  <a:lnTo>
                    <a:pt x="0" y="256794"/>
                  </a:lnTo>
                  <a:lnTo>
                    <a:pt x="9143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254" y="478663"/>
                  </a:lnTo>
                  <a:lnTo>
                    <a:pt x="188595" y="504571"/>
                  </a:lnTo>
                  <a:lnTo>
                    <a:pt x="256921" y="513714"/>
                  </a:lnTo>
                  <a:lnTo>
                    <a:pt x="325120" y="504571"/>
                  </a:lnTo>
                  <a:lnTo>
                    <a:pt x="386588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842" y="256794"/>
                  </a:ln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588" y="35051"/>
                  </a:lnTo>
                  <a:lnTo>
                    <a:pt x="325120" y="9144"/>
                  </a:lnTo>
                  <a:lnTo>
                    <a:pt x="256921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600070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513842" y="256794"/>
                  </a:move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588" y="35051"/>
                  </a:lnTo>
                  <a:lnTo>
                    <a:pt x="325120" y="9144"/>
                  </a:lnTo>
                  <a:lnTo>
                    <a:pt x="256921" y="0"/>
                  </a:lnTo>
                  <a:lnTo>
                    <a:pt x="188595" y="9144"/>
                  </a:lnTo>
                  <a:lnTo>
                    <a:pt x="127254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3" y="188595"/>
                  </a:lnTo>
                  <a:lnTo>
                    <a:pt x="0" y="256794"/>
                  </a:lnTo>
                  <a:lnTo>
                    <a:pt x="9143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254" y="478663"/>
                  </a:lnTo>
                  <a:lnTo>
                    <a:pt x="188595" y="504571"/>
                  </a:lnTo>
                  <a:lnTo>
                    <a:pt x="256921" y="513714"/>
                  </a:lnTo>
                  <a:lnTo>
                    <a:pt x="325120" y="504571"/>
                  </a:lnTo>
                  <a:lnTo>
                    <a:pt x="386588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842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627755" y="3013963"/>
              <a:ext cx="513715" cy="513715"/>
            </a:xfrm>
            <a:custGeom>
              <a:avLst/>
              <a:gdLst/>
              <a:ahLst/>
              <a:cxnLst/>
              <a:rect l="l" t="t" r="r" b="b"/>
              <a:pathLst>
                <a:path w="513714" h="513714">
                  <a:moveTo>
                    <a:pt x="256794" y="0"/>
                  </a:moveTo>
                  <a:lnTo>
                    <a:pt x="188595" y="9144"/>
                  </a:lnTo>
                  <a:lnTo>
                    <a:pt x="127127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4" y="188595"/>
                  </a:lnTo>
                  <a:lnTo>
                    <a:pt x="0" y="256794"/>
                  </a:lnTo>
                  <a:lnTo>
                    <a:pt x="9144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127" y="478663"/>
                  </a:lnTo>
                  <a:lnTo>
                    <a:pt x="188595" y="504571"/>
                  </a:lnTo>
                  <a:lnTo>
                    <a:pt x="256794" y="513714"/>
                  </a:lnTo>
                  <a:lnTo>
                    <a:pt x="325120" y="504571"/>
                  </a:lnTo>
                  <a:lnTo>
                    <a:pt x="386461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715" y="256794"/>
                  </a:ln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461" y="35051"/>
                  </a:lnTo>
                  <a:lnTo>
                    <a:pt x="325120" y="9144"/>
                  </a:lnTo>
                  <a:lnTo>
                    <a:pt x="256794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627755" y="3013963"/>
              <a:ext cx="513715" cy="513715"/>
            </a:xfrm>
            <a:custGeom>
              <a:avLst/>
              <a:gdLst/>
              <a:ahLst/>
              <a:cxnLst/>
              <a:rect l="l" t="t" r="r" b="b"/>
              <a:pathLst>
                <a:path w="513714" h="513714">
                  <a:moveTo>
                    <a:pt x="513715" y="256794"/>
                  </a:move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461" y="35051"/>
                  </a:lnTo>
                  <a:lnTo>
                    <a:pt x="325120" y="9144"/>
                  </a:lnTo>
                  <a:lnTo>
                    <a:pt x="256794" y="0"/>
                  </a:lnTo>
                  <a:lnTo>
                    <a:pt x="188595" y="9144"/>
                  </a:lnTo>
                  <a:lnTo>
                    <a:pt x="127127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4" y="188595"/>
                  </a:lnTo>
                  <a:lnTo>
                    <a:pt x="0" y="256794"/>
                  </a:lnTo>
                  <a:lnTo>
                    <a:pt x="9144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127" y="478663"/>
                  </a:lnTo>
                  <a:lnTo>
                    <a:pt x="188595" y="504571"/>
                  </a:lnTo>
                  <a:lnTo>
                    <a:pt x="256794" y="513714"/>
                  </a:lnTo>
                  <a:lnTo>
                    <a:pt x="325120" y="504571"/>
                  </a:lnTo>
                  <a:lnTo>
                    <a:pt x="386461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715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21487" y="2990722"/>
              <a:ext cx="560705" cy="560705"/>
            </a:xfrm>
            <a:custGeom>
              <a:avLst/>
              <a:gdLst/>
              <a:ahLst/>
              <a:cxnLst/>
              <a:rect l="l" t="t" r="r" b="b"/>
              <a:pathLst>
                <a:path w="560705" h="560704">
                  <a:moveTo>
                    <a:pt x="280111" y="0"/>
                  </a:moveTo>
                  <a:lnTo>
                    <a:pt x="205638" y="10032"/>
                  </a:lnTo>
                  <a:lnTo>
                    <a:pt x="138734" y="38226"/>
                  </a:lnTo>
                  <a:lnTo>
                    <a:pt x="82042" y="82041"/>
                  </a:lnTo>
                  <a:lnTo>
                    <a:pt x="38239" y="138684"/>
                  </a:lnTo>
                  <a:lnTo>
                    <a:pt x="9994" y="205612"/>
                  </a:lnTo>
                  <a:lnTo>
                    <a:pt x="0" y="280035"/>
                  </a:lnTo>
                  <a:lnTo>
                    <a:pt x="9994" y="354584"/>
                  </a:lnTo>
                  <a:lnTo>
                    <a:pt x="38239" y="421513"/>
                  </a:lnTo>
                  <a:lnTo>
                    <a:pt x="82042" y="478154"/>
                  </a:lnTo>
                  <a:lnTo>
                    <a:pt x="138734" y="521969"/>
                  </a:lnTo>
                  <a:lnTo>
                    <a:pt x="205638" y="550163"/>
                  </a:lnTo>
                  <a:lnTo>
                    <a:pt x="280111" y="560197"/>
                  </a:lnTo>
                  <a:lnTo>
                    <a:pt x="354571" y="550163"/>
                  </a:lnTo>
                  <a:lnTo>
                    <a:pt x="421487" y="521969"/>
                  </a:lnTo>
                  <a:lnTo>
                    <a:pt x="478180" y="478154"/>
                  </a:lnTo>
                  <a:lnTo>
                    <a:pt x="521982" y="421513"/>
                  </a:lnTo>
                  <a:lnTo>
                    <a:pt x="550214" y="354584"/>
                  </a:lnTo>
                  <a:lnTo>
                    <a:pt x="560222" y="280035"/>
                  </a:lnTo>
                  <a:lnTo>
                    <a:pt x="550214" y="205612"/>
                  </a:lnTo>
                  <a:lnTo>
                    <a:pt x="521982" y="138684"/>
                  </a:lnTo>
                  <a:lnTo>
                    <a:pt x="478180" y="82041"/>
                  </a:lnTo>
                  <a:lnTo>
                    <a:pt x="421487" y="38226"/>
                  </a:lnTo>
                  <a:lnTo>
                    <a:pt x="354571" y="10032"/>
                  </a:lnTo>
                  <a:lnTo>
                    <a:pt x="280111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21487" y="2990722"/>
              <a:ext cx="560705" cy="560705"/>
            </a:xfrm>
            <a:custGeom>
              <a:avLst/>
              <a:gdLst/>
              <a:ahLst/>
              <a:cxnLst/>
              <a:rect l="l" t="t" r="r" b="b"/>
              <a:pathLst>
                <a:path w="560705" h="560704">
                  <a:moveTo>
                    <a:pt x="560222" y="280035"/>
                  </a:moveTo>
                  <a:lnTo>
                    <a:pt x="550214" y="205612"/>
                  </a:lnTo>
                  <a:lnTo>
                    <a:pt x="521982" y="138684"/>
                  </a:lnTo>
                  <a:lnTo>
                    <a:pt x="478180" y="82041"/>
                  </a:lnTo>
                  <a:lnTo>
                    <a:pt x="421487" y="38226"/>
                  </a:lnTo>
                  <a:lnTo>
                    <a:pt x="354571" y="10032"/>
                  </a:lnTo>
                  <a:lnTo>
                    <a:pt x="280111" y="0"/>
                  </a:lnTo>
                  <a:lnTo>
                    <a:pt x="205638" y="10032"/>
                  </a:lnTo>
                  <a:lnTo>
                    <a:pt x="138734" y="38226"/>
                  </a:lnTo>
                  <a:lnTo>
                    <a:pt x="82042" y="82041"/>
                  </a:lnTo>
                  <a:lnTo>
                    <a:pt x="38239" y="138684"/>
                  </a:lnTo>
                  <a:lnTo>
                    <a:pt x="9994" y="205612"/>
                  </a:lnTo>
                  <a:lnTo>
                    <a:pt x="0" y="280035"/>
                  </a:lnTo>
                  <a:lnTo>
                    <a:pt x="9994" y="354584"/>
                  </a:lnTo>
                  <a:lnTo>
                    <a:pt x="38239" y="421513"/>
                  </a:lnTo>
                  <a:lnTo>
                    <a:pt x="82042" y="478154"/>
                  </a:lnTo>
                  <a:lnTo>
                    <a:pt x="138734" y="521969"/>
                  </a:lnTo>
                  <a:lnTo>
                    <a:pt x="205638" y="550163"/>
                  </a:lnTo>
                  <a:lnTo>
                    <a:pt x="280111" y="560197"/>
                  </a:lnTo>
                  <a:lnTo>
                    <a:pt x="354571" y="550163"/>
                  </a:lnTo>
                  <a:lnTo>
                    <a:pt x="421487" y="521969"/>
                  </a:lnTo>
                  <a:lnTo>
                    <a:pt x="478180" y="478154"/>
                  </a:lnTo>
                  <a:lnTo>
                    <a:pt x="521982" y="421513"/>
                  </a:lnTo>
                  <a:lnTo>
                    <a:pt x="550214" y="354584"/>
                  </a:lnTo>
                  <a:lnTo>
                    <a:pt x="560222" y="280035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90397" y="2723515"/>
            <a:ext cx="431800" cy="644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11125">
              <a:lnSpc>
                <a:spcPct val="100000"/>
              </a:lnSpc>
              <a:spcBef>
                <a:spcPts val="110"/>
              </a:spcBef>
            </a:pP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h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650" baseline="-10101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1260"/>
              </a:spcBef>
            </a:pPr>
            <a:r>
              <a:rPr sz="1500" spc="-60" dirty="0">
                <a:solidFill>
                  <a:srgbClr val="213739"/>
                </a:solidFill>
                <a:latin typeface="Arial MT"/>
                <a:cs typeface="Arial MT"/>
              </a:rPr>
              <a:t>-</a:t>
            </a:r>
            <a:r>
              <a:rPr sz="1500" spc="-85" dirty="0">
                <a:solidFill>
                  <a:srgbClr val="213739"/>
                </a:solidFill>
                <a:latin typeface="Arial MT"/>
                <a:cs typeface="Arial MT"/>
              </a:rPr>
              <a:t>1,-</a:t>
            </a:r>
            <a:r>
              <a:rPr sz="1500" spc="-50" dirty="0">
                <a:solidFill>
                  <a:srgbClr val="213739"/>
                </a:solidFill>
                <a:latin typeface="Arial MT"/>
                <a:cs typeface="Arial MT"/>
              </a:rPr>
              <a:t>1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563497" y="3005073"/>
            <a:ext cx="2583180" cy="531495"/>
            <a:chOff x="1563497" y="3005073"/>
            <a:chExt cx="2583180" cy="531495"/>
          </a:xfrm>
        </p:grpSpPr>
        <p:sp>
          <p:nvSpPr>
            <p:cNvPr id="17" name="object 17"/>
            <p:cNvSpPr/>
            <p:nvPr/>
          </p:nvSpPr>
          <p:spPr>
            <a:xfrm>
              <a:off x="1568577" y="3010153"/>
              <a:ext cx="521334" cy="521334"/>
            </a:xfrm>
            <a:custGeom>
              <a:avLst/>
              <a:gdLst/>
              <a:ahLst/>
              <a:cxnLst/>
              <a:rect l="l" t="t" r="r" b="b"/>
              <a:pathLst>
                <a:path w="521335" h="521335">
                  <a:moveTo>
                    <a:pt x="260730" y="0"/>
                  </a:moveTo>
                  <a:lnTo>
                    <a:pt x="191389" y="9271"/>
                  </a:lnTo>
                  <a:lnTo>
                    <a:pt x="129159" y="35560"/>
                  </a:lnTo>
                  <a:lnTo>
                    <a:pt x="76327" y="76326"/>
                  </a:lnTo>
                  <a:lnTo>
                    <a:pt x="35559" y="129159"/>
                  </a:lnTo>
                  <a:lnTo>
                    <a:pt x="9270" y="191388"/>
                  </a:lnTo>
                  <a:lnTo>
                    <a:pt x="0" y="260604"/>
                  </a:lnTo>
                  <a:lnTo>
                    <a:pt x="9270" y="329946"/>
                  </a:lnTo>
                  <a:lnTo>
                    <a:pt x="35559" y="392175"/>
                  </a:lnTo>
                  <a:lnTo>
                    <a:pt x="76327" y="445008"/>
                  </a:lnTo>
                  <a:lnTo>
                    <a:pt x="129159" y="485775"/>
                  </a:lnTo>
                  <a:lnTo>
                    <a:pt x="191389" y="512063"/>
                  </a:lnTo>
                  <a:lnTo>
                    <a:pt x="260730" y="521335"/>
                  </a:lnTo>
                  <a:lnTo>
                    <a:pt x="329946" y="512063"/>
                  </a:lnTo>
                  <a:lnTo>
                    <a:pt x="392303" y="485775"/>
                  </a:lnTo>
                  <a:lnTo>
                    <a:pt x="445008" y="445008"/>
                  </a:lnTo>
                  <a:lnTo>
                    <a:pt x="485774" y="392175"/>
                  </a:lnTo>
                  <a:lnTo>
                    <a:pt x="512064" y="329946"/>
                  </a:lnTo>
                  <a:lnTo>
                    <a:pt x="521334" y="260604"/>
                  </a:lnTo>
                  <a:lnTo>
                    <a:pt x="512064" y="191388"/>
                  </a:lnTo>
                  <a:lnTo>
                    <a:pt x="485774" y="129159"/>
                  </a:lnTo>
                  <a:lnTo>
                    <a:pt x="445008" y="76326"/>
                  </a:lnTo>
                  <a:lnTo>
                    <a:pt x="392303" y="35560"/>
                  </a:lnTo>
                  <a:lnTo>
                    <a:pt x="329946" y="9271"/>
                  </a:lnTo>
                  <a:lnTo>
                    <a:pt x="260730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568577" y="3010153"/>
              <a:ext cx="521334" cy="521334"/>
            </a:xfrm>
            <a:custGeom>
              <a:avLst/>
              <a:gdLst/>
              <a:ahLst/>
              <a:cxnLst/>
              <a:rect l="l" t="t" r="r" b="b"/>
              <a:pathLst>
                <a:path w="521335" h="521335">
                  <a:moveTo>
                    <a:pt x="521334" y="260604"/>
                  </a:moveTo>
                  <a:lnTo>
                    <a:pt x="512064" y="191388"/>
                  </a:lnTo>
                  <a:lnTo>
                    <a:pt x="485774" y="129159"/>
                  </a:lnTo>
                  <a:lnTo>
                    <a:pt x="445008" y="76326"/>
                  </a:lnTo>
                  <a:lnTo>
                    <a:pt x="392303" y="35560"/>
                  </a:lnTo>
                  <a:lnTo>
                    <a:pt x="329946" y="9271"/>
                  </a:lnTo>
                  <a:lnTo>
                    <a:pt x="260730" y="0"/>
                  </a:lnTo>
                  <a:lnTo>
                    <a:pt x="191389" y="9271"/>
                  </a:lnTo>
                  <a:lnTo>
                    <a:pt x="129159" y="35560"/>
                  </a:lnTo>
                  <a:lnTo>
                    <a:pt x="76327" y="76326"/>
                  </a:lnTo>
                  <a:lnTo>
                    <a:pt x="35559" y="129159"/>
                  </a:lnTo>
                  <a:lnTo>
                    <a:pt x="9270" y="191388"/>
                  </a:lnTo>
                  <a:lnTo>
                    <a:pt x="0" y="260604"/>
                  </a:lnTo>
                  <a:lnTo>
                    <a:pt x="9270" y="329946"/>
                  </a:lnTo>
                  <a:lnTo>
                    <a:pt x="35559" y="392175"/>
                  </a:lnTo>
                  <a:lnTo>
                    <a:pt x="76327" y="445008"/>
                  </a:lnTo>
                  <a:lnTo>
                    <a:pt x="129159" y="485775"/>
                  </a:lnTo>
                  <a:lnTo>
                    <a:pt x="191389" y="512063"/>
                  </a:lnTo>
                  <a:lnTo>
                    <a:pt x="260730" y="521335"/>
                  </a:lnTo>
                  <a:lnTo>
                    <a:pt x="329946" y="512063"/>
                  </a:lnTo>
                  <a:lnTo>
                    <a:pt x="392303" y="485775"/>
                  </a:lnTo>
                  <a:lnTo>
                    <a:pt x="445008" y="445008"/>
                  </a:lnTo>
                  <a:lnTo>
                    <a:pt x="485774" y="392175"/>
                  </a:lnTo>
                  <a:lnTo>
                    <a:pt x="512064" y="329946"/>
                  </a:lnTo>
                  <a:lnTo>
                    <a:pt x="521334" y="26060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596261" y="3010153"/>
              <a:ext cx="521334" cy="521334"/>
            </a:xfrm>
            <a:custGeom>
              <a:avLst/>
              <a:gdLst/>
              <a:ahLst/>
              <a:cxnLst/>
              <a:rect l="l" t="t" r="r" b="b"/>
              <a:pathLst>
                <a:path w="521335" h="521335">
                  <a:moveTo>
                    <a:pt x="260731" y="0"/>
                  </a:moveTo>
                  <a:lnTo>
                    <a:pt x="191388" y="9271"/>
                  </a:lnTo>
                  <a:lnTo>
                    <a:pt x="129158" y="35560"/>
                  </a:lnTo>
                  <a:lnTo>
                    <a:pt x="76326" y="76326"/>
                  </a:lnTo>
                  <a:lnTo>
                    <a:pt x="35559" y="129159"/>
                  </a:lnTo>
                  <a:lnTo>
                    <a:pt x="9270" y="191388"/>
                  </a:lnTo>
                  <a:lnTo>
                    <a:pt x="0" y="260604"/>
                  </a:lnTo>
                  <a:lnTo>
                    <a:pt x="9270" y="329946"/>
                  </a:lnTo>
                  <a:lnTo>
                    <a:pt x="35559" y="392175"/>
                  </a:lnTo>
                  <a:lnTo>
                    <a:pt x="76326" y="445008"/>
                  </a:lnTo>
                  <a:lnTo>
                    <a:pt x="129158" y="485775"/>
                  </a:lnTo>
                  <a:lnTo>
                    <a:pt x="191388" y="512063"/>
                  </a:lnTo>
                  <a:lnTo>
                    <a:pt x="260731" y="521335"/>
                  </a:lnTo>
                  <a:lnTo>
                    <a:pt x="329945" y="512063"/>
                  </a:lnTo>
                  <a:lnTo>
                    <a:pt x="392302" y="485775"/>
                  </a:lnTo>
                  <a:lnTo>
                    <a:pt x="445007" y="445008"/>
                  </a:lnTo>
                  <a:lnTo>
                    <a:pt x="485775" y="392175"/>
                  </a:lnTo>
                  <a:lnTo>
                    <a:pt x="512063" y="329946"/>
                  </a:lnTo>
                  <a:lnTo>
                    <a:pt x="521334" y="260604"/>
                  </a:lnTo>
                  <a:lnTo>
                    <a:pt x="512063" y="191388"/>
                  </a:lnTo>
                  <a:lnTo>
                    <a:pt x="485775" y="129159"/>
                  </a:lnTo>
                  <a:lnTo>
                    <a:pt x="445007" y="76326"/>
                  </a:lnTo>
                  <a:lnTo>
                    <a:pt x="392302" y="35560"/>
                  </a:lnTo>
                  <a:lnTo>
                    <a:pt x="329945" y="9271"/>
                  </a:lnTo>
                  <a:lnTo>
                    <a:pt x="260731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596261" y="3010153"/>
              <a:ext cx="521334" cy="521334"/>
            </a:xfrm>
            <a:custGeom>
              <a:avLst/>
              <a:gdLst/>
              <a:ahLst/>
              <a:cxnLst/>
              <a:rect l="l" t="t" r="r" b="b"/>
              <a:pathLst>
                <a:path w="521335" h="521335">
                  <a:moveTo>
                    <a:pt x="521334" y="260604"/>
                  </a:moveTo>
                  <a:lnTo>
                    <a:pt x="512063" y="191388"/>
                  </a:lnTo>
                  <a:lnTo>
                    <a:pt x="485775" y="129159"/>
                  </a:lnTo>
                  <a:lnTo>
                    <a:pt x="445007" y="76326"/>
                  </a:lnTo>
                  <a:lnTo>
                    <a:pt x="392302" y="35560"/>
                  </a:lnTo>
                  <a:lnTo>
                    <a:pt x="329945" y="9271"/>
                  </a:lnTo>
                  <a:lnTo>
                    <a:pt x="260731" y="0"/>
                  </a:lnTo>
                  <a:lnTo>
                    <a:pt x="191388" y="9271"/>
                  </a:lnTo>
                  <a:lnTo>
                    <a:pt x="129158" y="35560"/>
                  </a:lnTo>
                  <a:lnTo>
                    <a:pt x="76326" y="76326"/>
                  </a:lnTo>
                  <a:lnTo>
                    <a:pt x="35559" y="129159"/>
                  </a:lnTo>
                  <a:lnTo>
                    <a:pt x="9270" y="191388"/>
                  </a:lnTo>
                  <a:lnTo>
                    <a:pt x="0" y="260604"/>
                  </a:lnTo>
                  <a:lnTo>
                    <a:pt x="9270" y="329946"/>
                  </a:lnTo>
                  <a:lnTo>
                    <a:pt x="35559" y="392175"/>
                  </a:lnTo>
                  <a:lnTo>
                    <a:pt x="76326" y="445008"/>
                  </a:lnTo>
                  <a:lnTo>
                    <a:pt x="129158" y="485775"/>
                  </a:lnTo>
                  <a:lnTo>
                    <a:pt x="191388" y="512063"/>
                  </a:lnTo>
                  <a:lnTo>
                    <a:pt x="260731" y="521335"/>
                  </a:lnTo>
                  <a:lnTo>
                    <a:pt x="329945" y="512063"/>
                  </a:lnTo>
                  <a:lnTo>
                    <a:pt x="392302" y="485775"/>
                  </a:lnTo>
                  <a:lnTo>
                    <a:pt x="445007" y="445008"/>
                  </a:lnTo>
                  <a:lnTo>
                    <a:pt x="485775" y="392175"/>
                  </a:lnTo>
                  <a:lnTo>
                    <a:pt x="512063" y="329946"/>
                  </a:lnTo>
                  <a:lnTo>
                    <a:pt x="521334" y="26060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627754" y="3013963"/>
              <a:ext cx="513715" cy="513715"/>
            </a:xfrm>
            <a:custGeom>
              <a:avLst/>
              <a:gdLst/>
              <a:ahLst/>
              <a:cxnLst/>
              <a:rect l="l" t="t" r="r" b="b"/>
              <a:pathLst>
                <a:path w="513714" h="513714">
                  <a:moveTo>
                    <a:pt x="256794" y="0"/>
                  </a:moveTo>
                  <a:lnTo>
                    <a:pt x="188595" y="9144"/>
                  </a:lnTo>
                  <a:lnTo>
                    <a:pt x="127127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4" y="188595"/>
                  </a:lnTo>
                  <a:lnTo>
                    <a:pt x="0" y="256794"/>
                  </a:lnTo>
                  <a:lnTo>
                    <a:pt x="9144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127" y="478663"/>
                  </a:lnTo>
                  <a:lnTo>
                    <a:pt x="188595" y="504571"/>
                  </a:lnTo>
                  <a:lnTo>
                    <a:pt x="256794" y="513714"/>
                  </a:lnTo>
                  <a:lnTo>
                    <a:pt x="325120" y="504571"/>
                  </a:lnTo>
                  <a:lnTo>
                    <a:pt x="386461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715" y="256794"/>
                  </a:ln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461" y="35051"/>
                  </a:lnTo>
                  <a:lnTo>
                    <a:pt x="325120" y="9144"/>
                  </a:lnTo>
                  <a:lnTo>
                    <a:pt x="256794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627754" y="3013963"/>
              <a:ext cx="513715" cy="513715"/>
            </a:xfrm>
            <a:custGeom>
              <a:avLst/>
              <a:gdLst/>
              <a:ahLst/>
              <a:cxnLst/>
              <a:rect l="l" t="t" r="r" b="b"/>
              <a:pathLst>
                <a:path w="513714" h="513714">
                  <a:moveTo>
                    <a:pt x="513715" y="256794"/>
                  </a:move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461" y="35051"/>
                  </a:lnTo>
                  <a:lnTo>
                    <a:pt x="325120" y="9144"/>
                  </a:lnTo>
                  <a:lnTo>
                    <a:pt x="256794" y="0"/>
                  </a:lnTo>
                  <a:lnTo>
                    <a:pt x="188595" y="9144"/>
                  </a:lnTo>
                  <a:lnTo>
                    <a:pt x="127127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4" y="188595"/>
                  </a:lnTo>
                  <a:lnTo>
                    <a:pt x="0" y="256794"/>
                  </a:lnTo>
                  <a:lnTo>
                    <a:pt x="9144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127" y="478663"/>
                  </a:lnTo>
                  <a:lnTo>
                    <a:pt x="188595" y="504571"/>
                  </a:lnTo>
                  <a:lnTo>
                    <a:pt x="256794" y="513714"/>
                  </a:lnTo>
                  <a:lnTo>
                    <a:pt x="325120" y="504571"/>
                  </a:lnTo>
                  <a:lnTo>
                    <a:pt x="386461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715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3719448" y="2723515"/>
            <a:ext cx="329565" cy="644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65405">
              <a:lnSpc>
                <a:spcPct val="100000"/>
              </a:lnSpc>
              <a:spcBef>
                <a:spcPts val="110"/>
              </a:spcBef>
            </a:pP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h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4</a:t>
            </a:r>
            <a:endParaRPr sz="1650" baseline="-10101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1260"/>
              </a:spcBef>
            </a:pPr>
            <a:r>
              <a:rPr sz="1500" spc="-25" dirty="0">
                <a:solidFill>
                  <a:srgbClr val="213739"/>
                </a:solidFill>
                <a:latin typeface="Arial MT"/>
                <a:cs typeface="Arial MT"/>
              </a:rPr>
              <a:t>1,1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33527" y="3638803"/>
            <a:ext cx="748030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i="1" dirty="0">
                <a:solidFill>
                  <a:srgbClr val="213739"/>
                </a:solidFill>
                <a:latin typeface="Calibri"/>
                <a:cs typeface="Calibri"/>
              </a:rPr>
              <a:t>bias</a:t>
            </a:r>
            <a:r>
              <a:rPr sz="1500" i="1" spc="33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500" spc="-13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13739"/>
                </a:solidFill>
                <a:latin typeface="Arial MT"/>
                <a:cs typeface="Arial MT"/>
              </a:rPr>
              <a:t>-</a:t>
            </a:r>
            <a:r>
              <a:rPr sz="1500" spc="-2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00" spc="-50" dirty="0">
                <a:solidFill>
                  <a:srgbClr val="213739"/>
                </a:solidFill>
                <a:latin typeface="Arial MT"/>
                <a:cs typeface="Arial MT"/>
              </a:rPr>
              <a:t>2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278507" y="1536572"/>
            <a:ext cx="111760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i="1" spc="-50" dirty="0">
                <a:solidFill>
                  <a:srgbClr val="213739"/>
                </a:solidFill>
                <a:latin typeface="Calibri"/>
                <a:cs typeface="Calibri"/>
              </a:rPr>
              <a:t>y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164336" y="2568955"/>
            <a:ext cx="280670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650" baseline="-10101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628013" y="2532379"/>
            <a:ext cx="1461135" cy="8324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90500">
              <a:lnSpc>
                <a:spcPts val="1650"/>
              </a:lnSpc>
              <a:spcBef>
                <a:spcPts val="110"/>
              </a:spcBef>
              <a:tabLst>
                <a:tab pos="704215" algn="l"/>
                <a:tab pos="1191895" algn="l"/>
              </a:tabLst>
            </a:pP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650" baseline="-1010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r>
              <a:rPr sz="1650" baseline="-1010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4</a:t>
            </a:r>
            <a:endParaRPr sz="1650" baseline="-10101">
              <a:latin typeface="Calibri"/>
              <a:cs typeface="Calibri"/>
            </a:endParaRPr>
          </a:p>
          <a:p>
            <a:pPr marL="100965">
              <a:lnSpc>
                <a:spcPts val="1650"/>
              </a:lnSpc>
              <a:tabLst>
                <a:tab pos="1127760" algn="l"/>
              </a:tabLst>
            </a:pP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h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650" baseline="-1010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h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650" baseline="-10101">
              <a:latin typeface="Calibri"/>
              <a:cs typeface="Calibri"/>
            </a:endParaRPr>
          </a:p>
          <a:p>
            <a:pPr marL="50800">
              <a:lnSpc>
                <a:spcPct val="100000"/>
              </a:lnSpc>
              <a:spcBef>
                <a:spcPts val="1235"/>
              </a:spcBef>
              <a:tabLst>
                <a:tab pos="1077595" algn="l"/>
              </a:tabLst>
            </a:pPr>
            <a:r>
              <a:rPr sz="1500" spc="-40" dirty="0">
                <a:solidFill>
                  <a:srgbClr val="213739"/>
                </a:solidFill>
                <a:latin typeface="Arial MT"/>
                <a:cs typeface="Arial MT"/>
              </a:rPr>
              <a:t>-</a:t>
            </a:r>
            <a:r>
              <a:rPr sz="1500" spc="-25" dirty="0">
                <a:solidFill>
                  <a:srgbClr val="213739"/>
                </a:solidFill>
                <a:latin typeface="Arial MT"/>
                <a:cs typeface="Arial MT"/>
              </a:rPr>
              <a:t>1,1</a:t>
            </a:r>
            <a:r>
              <a:rPr sz="1500" dirty="0">
                <a:solidFill>
                  <a:srgbClr val="213739"/>
                </a:solidFill>
                <a:latin typeface="Arial MT"/>
                <a:cs typeface="Arial MT"/>
              </a:rPr>
              <a:t>	</a:t>
            </a:r>
            <a:r>
              <a:rPr sz="1500" spc="-70" dirty="0">
                <a:solidFill>
                  <a:srgbClr val="213739"/>
                </a:solidFill>
                <a:latin typeface="Arial MT"/>
                <a:cs typeface="Arial MT"/>
              </a:rPr>
              <a:t>1,-</a:t>
            </a:r>
            <a:r>
              <a:rPr sz="1500" spc="-50" dirty="0">
                <a:solidFill>
                  <a:srgbClr val="213739"/>
                </a:solidFill>
                <a:latin typeface="Arial MT"/>
                <a:cs typeface="Arial MT"/>
              </a:rPr>
              <a:t>1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994460" y="1862084"/>
            <a:ext cx="2713990" cy="2357120"/>
            <a:chOff x="994460" y="1862084"/>
            <a:chExt cx="2713990" cy="2357120"/>
          </a:xfrm>
        </p:grpSpPr>
        <p:sp>
          <p:nvSpPr>
            <p:cNvPr id="29" name="object 29"/>
            <p:cNvSpPr/>
            <p:nvPr/>
          </p:nvSpPr>
          <p:spPr>
            <a:xfrm>
              <a:off x="1016139" y="3485388"/>
              <a:ext cx="686435" cy="686435"/>
            </a:xfrm>
            <a:custGeom>
              <a:avLst/>
              <a:gdLst/>
              <a:ahLst/>
              <a:cxnLst/>
              <a:rect l="l" t="t" r="r" b="b"/>
              <a:pathLst>
                <a:path w="686435" h="686435">
                  <a:moveTo>
                    <a:pt x="686295" y="686181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4460" y="3463657"/>
              <a:ext cx="104659" cy="104661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1072959" y="3406521"/>
              <a:ext cx="1615440" cy="807720"/>
            </a:xfrm>
            <a:custGeom>
              <a:avLst/>
              <a:gdLst/>
              <a:ahLst/>
              <a:cxnLst/>
              <a:rect l="l" t="t" r="r" b="b"/>
              <a:pathLst>
                <a:path w="1615439" h="807720">
                  <a:moveTo>
                    <a:pt x="1615122" y="807592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60723" y="3364757"/>
              <a:ext cx="84085" cy="122262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1766570" y="3546729"/>
              <a:ext cx="125730" cy="624840"/>
            </a:xfrm>
            <a:custGeom>
              <a:avLst/>
              <a:gdLst/>
              <a:ahLst/>
              <a:cxnLst/>
              <a:rect l="l" t="t" r="r" b="b"/>
              <a:pathLst>
                <a:path w="125730" h="624839">
                  <a:moveTo>
                    <a:pt x="62737" y="624840"/>
                  </a:moveTo>
                  <a:lnTo>
                    <a:pt x="62737" y="8000"/>
                  </a:lnTo>
                </a:path>
                <a:path w="125730" h="624839">
                  <a:moveTo>
                    <a:pt x="0" y="51435"/>
                  </a:moveTo>
                  <a:lnTo>
                    <a:pt x="24637" y="42418"/>
                  </a:lnTo>
                  <a:lnTo>
                    <a:pt x="42672" y="30099"/>
                  </a:lnTo>
                  <a:lnTo>
                    <a:pt x="55118" y="15621"/>
                  </a:lnTo>
                  <a:lnTo>
                    <a:pt x="62737" y="0"/>
                  </a:lnTo>
                  <a:lnTo>
                    <a:pt x="70231" y="15621"/>
                  </a:lnTo>
                  <a:lnTo>
                    <a:pt x="82677" y="30099"/>
                  </a:lnTo>
                  <a:lnTo>
                    <a:pt x="100711" y="42418"/>
                  </a:lnTo>
                  <a:lnTo>
                    <a:pt x="125349" y="51435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030094" y="3471672"/>
              <a:ext cx="700405" cy="700405"/>
            </a:xfrm>
            <a:custGeom>
              <a:avLst/>
              <a:gdLst/>
              <a:ahLst/>
              <a:cxnLst/>
              <a:rect l="l" t="t" r="r" b="b"/>
              <a:pathLst>
                <a:path w="700405" h="700404">
                  <a:moveTo>
                    <a:pt x="700024" y="699896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08377" y="3449924"/>
              <a:ext cx="105171" cy="105186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1956054" y="3471672"/>
              <a:ext cx="700405" cy="700405"/>
            </a:xfrm>
            <a:custGeom>
              <a:avLst/>
              <a:gdLst/>
              <a:ahLst/>
              <a:cxnLst/>
              <a:rect l="l" t="t" r="r" b="b"/>
              <a:pathLst>
                <a:path w="700405" h="700404">
                  <a:moveTo>
                    <a:pt x="0" y="699896"/>
                  </a:moveTo>
                  <a:lnTo>
                    <a:pt x="700023" y="0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72766" y="3449924"/>
              <a:ext cx="105171" cy="105186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2794254" y="3546729"/>
              <a:ext cx="125730" cy="624840"/>
            </a:xfrm>
            <a:custGeom>
              <a:avLst/>
              <a:gdLst/>
              <a:ahLst/>
              <a:cxnLst/>
              <a:rect l="l" t="t" r="r" b="b"/>
              <a:pathLst>
                <a:path w="125730" h="624839">
                  <a:moveTo>
                    <a:pt x="62737" y="624840"/>
                  </a:moveTo>
                  <a:lnTo>
                    <a:pt x="62737" y="8000"/>
                  </a:lnTo>
                </a:path>
                <a:path w="125730" h="624839">
                  <a:moveTo>
                    <a:pt x="0" y="51435"/>
                  </a:moveTo>
                  <a:lnTo>
                    <a:pt x="24637" y="42418"/>
                  </a:lnTo>
                  <a:lnTo>
                    <a:pt x="42671" y="30099"/>
                  </a:lnTo>
                  <a:lnTo>
                    <a:pt x="55118" y="15621"/>
                  </a:lnTo>
                  <a:lnTo>
                    <a:pt x="62737" y="0"/>
                  </a:lnTo>
                  <a:lnTo>
                    <a:pt x="70231" y="15621"/>
                  </a:lnTo>
                  <a:lnTo>
                    <a:pt x="82676" y="30099"/>
                  </a:lnTo>
                  <a:lnTo>
                    <a:pt x="100710" y="42418"/>
                  </a:lnTo>
                  <a:lnTo>
                    <a:pt x="125348" y="51435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998218" y="3396107"/>
              <a:ext cx="1635760" cy="818515"/>
            </a:xfrm>
            <a:custGeom>
              <a:avLst/>
              <a:gdLst/>
              <a:ahLst/>
              <a:cxnLst/>
              <a:rect l="l" t="t" r="r" b="b"/>
              <a:pathLst>
                <a:path w="1635760" h="818514">
                  <a:moveTo>
                    <a:pt x="0" y="818006"/>
                  </a:moveTo>
                  <a:lnTo>
                    <a:pt x="1635759" y="0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62114" y="3354470"/>
              <a:ext cx="84163" cy="122136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2983864" y="3469005"/>
              <a:ext cx="702945" cy="702945"/>
            </a:xfrm>
            <a:custGeom>
              <a:avLst/>
              <a:gdLst/>
              <a:ahLst/>
              <a:cxnLst/>
              <a:rect l="l" t="t" r="r" b="b"/>
              <a:pathLst>
                <a:path w="702945" h="702945">
                  <a:moveTo>
                    <a:pt x="0" y="702564"/>
                  </a:moveTo>
                  <a:lnTo>
                    <a:pt x="702563" y="0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603498" y="3447274"/>
              <a:ext cx="104659" cy="104661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1041425" y="2308860"/>
              <a:ext cx="1203325" cy="802640"/>
            </a:xfrm>
            <a:custGeom>
              <a:avLst/>
              <a:gdLst/>
              <a:ahLst/>
              <a:cxnLst/>
              <a:rect l="l" t="t" r="r" b="b"/>
              <a:pathLst>
                <a:path w="1203325" h="802639">
                  <a:moveTo>
                    <a:pt x="0" y="802131"/>
                  </a:moveTo>
                  <a:lnTo>
                    <a:pt x="1203172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83766" y="2287145"/>
              <a:ext cx="66671" cy="85467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1949577" y="2348738"/>
              <a:ext cx="340995" cy="681990"/>
            </a:xfrm>
            <a:custGeom>
              <a:avLst/>
              <a:gdLst/>
              <a:ahLst/>
              <a:cxnLst/>
              <a:rect l="l" t="t" r="r" b="b"/>
              <a:pathLst>
                <a:path w="340994" h="681989">
                  <a:moveTo>
                    <a:pt x="0" y="681482"/>
                  </a:moveTo>
                  <a:lnTo>
                    <a:pt x="340741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227579" y="2342641"/>
              <a:ext cx="91568" cy="64136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2395855" y="2348738"/>
              <a:ext cx="340995" cy="681990"/>
            </a:xfrm>
            <a:custGeom>
              <a:avLst/>
              <a:gdLst/>
              <a:ahLst/>
              <a:cxnLst/>
              <a:rect l="l" t="t" r="r" b="b"/>
              <a:pathLst>
                <a:path w="340994" h="681989">
                  <a:moveTo>
                    <a:pt x="340868" y="681482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67025" y="2342641"/>
              <a:ext cx="91568" cy="64136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2441575" y="2308860"/>
              <a:ext cx="1223010" cy="815340"/>
            </a:xfrm>
            <a:custGeom>
              <a:avLst/>
              <a:gdLst/>
              <a:ahLst/>
              <a:cxnLst/>
              <a:rect l="l" t="t" r="r" b="b"/>
              <a:pathLst>
                <a:path w="1223010" h="815339">
                  <a:moveTo>
                    <a:pt x="1222628" y="814959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435734" y="2287145"/>
              <a:ext cx="66671" cy="85467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2294890" y="1864614"/>
              <a:ext cx="96520" cy="268605"/>
            </a:xfrm>
            <a:custGeom>
              <a:avLst/>
              <a:gdLst/>
              <a:ahLst/>
              <a:cxnLst/>
              <a:rect l="l" t="t" r="r" b="b"/>
              <a:pathLst>
                <a:path w="96519" h="268605">
                  <a:moveTo>
                    <a:pt x="48260" y="268605"/>
                  </a:moveTo>
                  <a:lnTo>
                    <a:pt x="48260" y="4063"/>
                  </a:lnTo>
                </a:path>
                <a:path w="96519" h="268605">
                  <a:moveTo>
                    <a:pt x="0" y="41783"/>
                  </a:moveTo>
                  <a:lnTo>
                    <a:pt x="18923" y="34416"/>
                  </a:lnTo>
                  <a:lnTo>
                    <a:pt x="32893" y="24511"/>
                  </a:lnTo>
                  <a:lnTo>
                    <a:pt x="42418" y="12700"/>
                  </a:lnTo>
                  <a:lnTo>
                    <a:pt x="48260" y="0"/>
                  </a:lnTo>
                  <a:lnTo>
                    <a:pt x="54102" y="12700"/>
                  </a:lnTo>
                  <a:lnTo>
                    <a:pt x="63627" y="24511"/>
                  </a:lnTo>
                  <a:lnTo>
                    <a:pt x="77470" y="34416"/>
                  </a:lnTo>
                  <a:lnTo>
                    <a:pt x="96393" y="41783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343204" y="3999632"/>
            <a:ext cx="2451100" cy="1073785"/>
          </a:xfrm>
          <a:prstGeom prst="rect">
            <a:avLst/>
          </a:prstGeom>
        </p:spPr>
        <p:txBody>
          <a:bodyPr vert="horz" wrap="square" lIns="0" tIns="125095" rIns="0" bIns="0" rtlCol="0">
            <a:spAutoFit/>
          </a:bodyPr>
          <a:lstStyle/>
          <a:p>
            <a:pPr marL="496570" algn="ctr">
              <a:lnSpc>
                <a:spcPct val="100000"/>
              </a:lnSpc>
              <a:spcBef>
                <a:spcPts val="985"/>
              </a:spcBef>
            </a:pPr>
            <a:r>
              <a:rPr sz="1500" i="1" spc="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650" spc="37" baseline="-10101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650" baseline="-10101">
              <a:latin typeface="Calibri"/>
              <a:cs typeface="Calibri"/>
            </a:endParaRPr>
          </a:p>
          <a:p>
            <a:pPr marL="38100" marR="30480">
              <a:lnSpc>
                <a:spcPct val="117700"/>
              </a:lnSpc>
              <a:spcBef>
                <a:spcPts val="625"/>
              </a:spcBef>
            </a:pP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red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edge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indicates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i="1" spc="10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=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-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1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blue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edge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indicates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i="1" spc="12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=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+1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53" name="object 53" descr="$PPTXTitle"/>
          <p:cNvSpPr txBox="1">
            <a:spLocks noGrp="1"/>
          </p:cNvSpPr>
          <p:nvPr>
            <p:ph type="title"/>
          </p:nvPr>
        </p:nvSpPr>
        <p:spPr>
          <a:xfrm>
            <a:off x="4756403" y="946530"/>
            <a:ext cx="406781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Let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875" spc="345" baseline="-8888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be</a:t>
            </a:r>
            <a:r>
              <a:rPr sz="1750" spc="-1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bias</a:t>
            </a:r>
            <a:r>
              <a:rPr sz="1750" spc="-1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output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 the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neuron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i="1" spc="-10" dirty="0">
                <a:solidFill>
                  <a:srgbClr val="213739"/>
                </a:solidFill>
                <a:latin typeface="Times New Roman"/>
                <a:cs typeface="Times New Roman"/>
              </a:rPr>
              <a:t>i.e.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,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4785105" y="1266571"/>
            <a:ext cx="972819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it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will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fire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if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5854572" y="1146174"/>
            <a:ext cx="31432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2625" spc="-30" baseline="-30158" dirty="0">
                <a:solidFill>
                  <a:srgbClr val="213739"/>
                </a:solidFill>
                <a:latin typeface="Lucida Sans Unicode"/>
                <a:cs typeface="Lucida Sans Unicode"/>
              </a:rPr>
              <a:t>Σ</a:t>
            </a:r>
            <a:r>
              <a:rPr sz="2625" spc="-532" baseline="-30158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250" spc="-50" dirty="0">
                <a:solidFill>
                  <a:srgbClr val="213739"/>
                </a:solidFill>
                <a:latin typeface="Calibri"/>
                <a:cs typeface="Calibri"/>
              </a:rPr>
              <a:t>4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6035802" y="1382395"/>
            <a:ext cx="285115" cy="2197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50" i="1" dirty="0">
                <a:solidFill>
                  <a:srgbClr val="213739"/>
                </a:solidFill>
                <a:latin typeface="Calibri"/>
                <a:cs typeface="Calibri"/>
              </a:rPr>
              <a:t>i</a:t>
            </a:r>
            <a:r>
              <a:rPr sz="1250" i="1" spc="-13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250" spc="55" dirty="0">
                <a:solidFill>
                  <a:srgbClr val="213739"/>
                </a:solidFill>
                <a:latin typeface="Calibri"/>
                <a:cs typeface="Calibri"/>
              </a:rPr>
              <a:t>=1 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6333997" y="1248283"/>
            <a:ext cx="108712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8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i="1" spc="127" baseline="-8888" dirty="0">
                <a:solidFill>
                  <a:srgbClr val="213739"/>
                </a:solidFill>
                <a:latin typeface="Calibri"/>
                <a:cs typeface="Calibri"/>
              </a:rPr>
              <a:t>i</a:t>
            </a:r>
            <a:r>
              <a:rPr sz="1750" i="1" spc="85" dirty="0">
                <a:solidFill>
                  <a:srgbClr val="213739"/>
                </a:solidFill>
                <a:latin typeface="Calibri"/>
                <a:cs typeface="Calibri"/>
              </a:rPr>
              <a:t>h</a:t>
            </a:r>
            <a:r>
              <a:rPr sz="1875" i="1" spc="127" baseline="-8888" dirty="0">
                <a:solidFill>
                  <a:srgbClr val="213739"/>
                </a:solidFill>
                <a:latin typeface="Calibri"/>
                <a:cs typeface="Calibri"/>
              </a:rPr>
              <a:t>i</a:t>
            </a:r>
            <a:r>
              <a:rPr sz="1875" i="1" spc="509" baseline="-8888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≥</a:t>
            </a:r>
            <a:r>
              <a:rPr sz="1750" spc="-10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)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4358004" y="2048382"/>
            <a:ext cx="4561205" cy="0"/>
          </a:xfrm>
          <a:custGeom>
            <a:avLst/>
            <a:gdLst/>
            <a:ahLst/>
            <a:cxnLst/>
            <a:rect l="l" t="t" r="r" b="b"/>
            <a:pathLst>
              <a:path w="4561205">
                <a:moveTo>
                  <a:pt x="0" y="0"/>
                </a:moveTo>
                <a:lnTo>
                  <a:pt x="4560824" y="0"/>
                </a:lnTo>
              </a:path>
            </a:pathLst>
          </a:custGeom>
          <a:ln w="5053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 txBox="1"/>
          <p:nvPr/>
        </p:nvSpPr>
        <p:spPr>
          <a:xfrm>
            <a:off x="7877556" y="1923034"/>
            <a:ext cx="335915" cy="2673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2325" baseline="-35842" dirty="0">
                <a:solidFill>
                  <a:srgbClr val="213739"/>
                </a:solidFill>
                <a:latin typeface="Lucida Sans Unicode"/>
                <a:cs typeface="Lucida Sans Unicode"/>
              </a:rPr>
              <a:t>Σ</a:t>
            </a:r>
            <a:r>
              <a:rPr sz="2325" spc="75" baseline="-35842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100" spc="-50" dirty="0">
                <a:solidFill>
                  <a:srgbClr val="213739"/>
                </a:solidFill>
                <a:latin typeface="Calibri"/>
                <a:cs typeface="Calibri"/>
              </a:rPr>
              <a:t>4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4357751" y="2312797"/>
            <a:ext cx="4559935" cy="7620"/>
          </a:xfrm>
          <a:custGeom>
            <a:avLst/>
            <a:gdLst/>
            <a:ahLst/>
            <a:cxnLst/>
            <a:rect l="l" t="t" r="r" b="b"/>
            <a:pathLst>
              <a:path w="4559934" h="7619">
                <a:moveTo>
                  <a:pt x="4559808" y="0"/>
                </a:moveTo>
                <a:lnTo>
                  <a:pt x="0" y="0"/>
                </a:lnTo>
                <a:lnTo>
                  <a:pt x="0" y="7619"/>
                </a:lnTo>
                <a:lnTo>
                  <a:pt x="4559808" y="7619"/>
                </a:lnTo>
                <a:lnTo>
                  <a:pt x="4559808" y="0"/>
                </a:lnTo>
                <a:close/>
              </a:path>
            </a:pathLst>
          </a:custGeom>
          <a:solidFill>
            <a:srgbClr val="2137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 txBox="1"/>
          <p:nvPr/>
        </p:nvSpPr>
        <p:spPr>
          <a:xfrm>
            <a:off x="8090661" y="2143759"/>
            <a:ext cx="267970" cy="1955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i="1" dirty="0">
                <a:solidFill>
                  <a:srgbClr val="213739"/>
                </a:solidFill>
                <a:latin typeface="Calibri"/>
                <a:cs typeface="Calibri"/>
              </a:rPr>
              <a:t>i</a:t>
            </a:r>
            <a:r>
              <a:rPr sz="1100" i="1" spc="-7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100" spc="60" dirty="0">
                <a:solidFill>
                  <a:srgbClr val="213739"/>
                </a:solidFill>
                <a:latin typeface="Calibri"/>
                <a:cs typeface="Calibri"/>
              </a:rPr>
              <a:t>=1 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4428490" y="2020316"/>
            <a:ext cx="3310254" cy="2673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30"/>
              </a:spcBef>
              <a:tabLst>
                <a:tab pos="495300" algn="l"/>
                <a:tab pos="941069" algn="l"/>
                <a:tab pos="1677035" algn="l"/>
                <a:tab pos="2123440" algn="l"/>
                <a:tab pos="2568575" algn="l"/>
                <a:tab pos="3014980" algn="l"/>
              </a:tabLst>
            </a:pPr>
            <a:r>
              <a:rPr sz="15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650" baseline="-1010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550" i="1" spc="-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650" baseline="-1010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550" i="1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550" i="1" spc="-4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550" i="1" dirty="0">
                <a:solidFill>
                  <a:srgbClr val="213739"/>
                </a:solidFill>
                <a:latin typeface="Calibri"/>
                <a:cs typeface="Calibri"/>
              </a:rPr>
              <a:t>O </a:t>
            </a:r>
            <a:r>
              <a:rPr sz="1550" i="1" spc="-50" dirty="0">
                <a:solidFill>
                  <a:srgbClr val="213739"/>
                </a:solidFill>
                <a:latin typeface="Calibri"/>
                <a:cs typeface="Calibri"/>
              </a:rPr>
              <a:t>R</a:t>
            </a:r>
            <a:r>
              <a:rPr sz="1550" i="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550" i="1" spc="-25" dirty="0">
                <a:solidFill>
                  <a:srgbClr val="213739"/>
                </a:solidFill>
                <a:latin typeface="Calibri"/>
                <a:cs typeface="Calibri"/>
              </a:rPr>
              <a:t>h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650" baseline="-1010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550" i="1" spc="-25" dirty="0">
                <a:solidFill>
                  <a:srgbClr val="213739"/>
                </a:solidFill>
                <a:latin typeface="Calibri"/>
                <a:cs typeface="Calibri"/>
              </a:rPr>
              <a:t>h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650" baseline="-1010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550" i="1" spc="-25" dirty="0">
                <a:solidFill>
                  <a:srgbClr val="213739"/>
                </a:solidFill>
                <a:latin typeface="Calibri"/>
                <a:cs typeface="Calibri"/>
              </a:rPr>
              <a:t>h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r>
              <a:rPr sz="1650" baseline="-1010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550" i="1" spc="-25" dirty="0">
                <a:solidFill>
                  <a:srgbClr val="213739"/>
                </a:solidFill>
                <a:latin typeface="Calibri"/>
                <a:cs typeface="Calibri"/>
              </a:rPr>
              <a:t>h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4</a:t>
            </a:r>
            <a:endParaRPr sz="1650" baseline="-10101">
              <a:latin typeface="Calibri"/>
              <a:cs typeface="Calibri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8367648" y="2020316"/>
            <a:ext cx="424815" cy="2673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550" i="1" spc="5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i="1" spc="82" baseline="-10101" dirty="0">
                <a:solidFill>
                  <a:srgbClr val="213739"/>
                </a:solidFill>
                <a:latin typeface="Calibri"/>
                <a:cs typeface="Calibri"/>
              </a:rPr>
              <a:t>i</a:t>
            </a:r>
            <a:r>
              <a:rPr sz="1550" i="1" spc="55" dirty="0">
                <a:solidFill>
                  <a:srgbClr val="213739"/>
                </a:solidFill>
                <a:latin typeface="Calibri"/>
                <a:cs typeface="Calibri"/>
              </a:rPr>
              <a:t>h</a:t>
            </a:r>
            <a:r>
              <a:rPr sz="1650" i="1" spc="82" baseline="-10101" dirty="0">
                <a:solidFill>
                  <a:srgbClr val="213739"/>
                </a:solidFill>
                <a:latin typeface="Calibri"/>
                <a:cs typeface="Calibri"/>
              </a:rPr>
              <a:t>i</a:t>
            </a:r>
            <a:endParaRPr sz="1650" baseline="-10101">
              <a:latin typeface="Calibri"/>
              <a:cs typeface="Calibri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4514850" y="2312923"/>
            <a:ext cx="582295" cy="2673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457200" algn="l"/>
              </a:tabLst>
            </a:pPr>
            <a:r>
              <a:rPr sz="1550" spc="-50" dirty="0">
                <a:solidFill>
                  <a:srgbClr val="213739"/>
                </a:solidFill>
                <a:latin typeface="Arial MT"/>
                <a:cs typeface="Arial MT"/>
              </a:rPr>
              <a:t>0</a:t>
            </a:r>
            <a:r>
              <a:rPr sz="1550" dirty="0">
                <a:solidFill>
                  <a:srgbClr val="213739"/>
                </a:solidFill>
                <a:latin typeface="Arial MT"/>
                <a:cs typeface="Arial MT"/>
              </a:rPr>
              <a:t>	</a:t>
            </a:r>
            <a:r>
              <a:rPr sz="1550" spc="-50" dirty="0">
                <a:solidFill>
                  <a:srgbClr val="213739"/>
                </a:solidFill>
                <a:latin typeface="Arial MT"/>
                <a:cs typeface="Arial MT"/>
              </a:rPr>
              <a:t>0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5550789" y="2312923"/>
            <a:ext cx="137795" cy="2673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spc="-50" dirty="0">
                <a:solidFill>
                  <a:srgbClr val="213739"/>
                </a:solidFill>
                <a:latin typeface="Arial MT"/>
                <a:cs typeface="Arial MT"/>
              </a:rPr>
              <a:t>0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6141846" y="2312923"/>
            <a:ext cx="1475740" cy="2673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459105" algn="l"/>
                <a:tab pos="905510" algn="l"/>
                <a:tab pos="1350645" algn="l"/>
              </a:tabLst>
            </a:pPr>
            <a:r>
              <a:rPr sz="1550" spc="-50" dirty="0">
                <a:solidFill>
                  <a:srgbClr val="213739"/>
                </a:solidFill>
                <a:latin typeface="Arial MT"/>
                <a:cs typeface="Arial MT"/>
              </a:rPr>
              <a:t>1</a:t>
            </a:r>
            <a:r>
              <a:rPr sz="1550" dirty="0">
                <a:solidFill>
                  <a:srgbClr val="213739"/>
                </a:solidFill>
                <a:latin typeface="Arial MT"/>
                <a:cs typeface="Arial MT"/>
              </a:rPr>
              <a:t>	</a:t>
            </a:r>
            <a:r>
              <a:rPr sz="1550" spc="-50" dirty="0">
                <a:solidFill>
                  <a:srgbClr val="213739"/>
                </a:solidFill>
                <a:latin typeface="Arial MT"/>
                <a:cs typeface="Arial MT"/>
              </a:rPr>
              <a:t>0</a:t>
            </a:r>
            <a:r>
              <a:rPr sz="1550" dirty="0">
                <a:solidFill>
                  <a:srgbClr val="213739"/>
                </a:solidFill>
                <a:latin typeface="Arial MT"/>
                <a:cs typeface="Arial MT"/>
              </a:rPr>
              <a:t>	</a:t>
            </a:r>
            <a:r>
              <a:rPr sz="1550" spc="-50" dirty="0">
                <a:solidFill>
                  <a:srgbClr val="213739"/>
                </a:solidFill>
                <a:latin typeface="Arial MT"/>
                <a:cs typeface="Arial MT"/>
              </a:rPr>
              <a:t>0</a:t>
            </a:r>
            <a:r>
              <a:rPr sz="1550" dirty="0">
                <a:solidFill>
                  <a:srgbClr val="213739"/>
                </a:solidFill>
                <a:latin typeface="Arial MT"/>
                <a:cs typeface="Arial MT"/>
              </a:rPr>
              <a:t>	</a:t>
            </a:r>
            <a:r>
              <a:rPr sz="1550" spc="-50" dirty="0">
                <a:solidFill>
                  <a:srgbClr val="213739"/>
                </a:solidFill>
                <a:latin typeface="Arial MT"/>
                <a:cs typeface="Arial MT"/>
              </a:rPr>
              <a:t>0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8191500" y="2305303"/>
            <a:ext cx="287020" cy="2673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55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650" baseline="-10101">
              <a:latin typeface="Calibri"/>
              <a:cs typeface="Calibri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4358004" y="3448939"/>
            <a:ext cx="4561205" cy="0"/>
          </a:xfrm>
          <a:custGeom>
            <a:avLst/>
            <a:gdLst/>
            <a:ahLst/>
            <a:cxnLst/>
            <a:rect l="l" t="t" r="r" b="b"/>
            <a:pathLst>
              <a:path w="4561205">
                <a:moveTo>
                  <a:pt x="0" y="0"/>
                </a:moveTo>
                <a:lnTo>
                  <a:pt x="4560824" y="0"/>
                </a:lnTo>
              </a:path>
            </a:pathLst>
          </a:custGeom>
          <a:ln w="5053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32279" y="2132355"/>
            <a:ext cx="221589" cy="22158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720339" y="4110608"/>
            <a:ext cx="244475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500" i="1" spc="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650" spc="37" baseline="-10101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650" baseline="-10101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16407" y="2985642"/>
            <a:ext cx="3630295" cy="570865"/>
            <a:chOff x="516407" y="2985642"/>
            <a:chExt cx="3630295" cy="570865"/>
          </a:xfrm>
        </p:grpSpPr>
        <p:sp>
          <p:nvSpPr>
            <p:cNvPr id="5" name="object 5"/>
            <p:cNvSpPr/>
            <p:nvPr/>
          </p:nvSpPr>
          <p:spPr>
            <a:xfrm>
              <a:off x="544677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256921" y="0"/>
                  </a:moveTo>
                  <a:lnTo>
                    <a:pt x="188620" y="9144"/>
                  </a:lnTo>
                  <a:lnTo>
                    <a:pt x="127241" y="35051"/>
                  </a:lnTo>
                  <a:lnTo>
                    <a:pt x="75247" y="75184"/>
                  </a:lnTo>
                  <a:lnTo>
                    <a:pt x="35077" y="127126"/>
                  </a:lnTo>
                  <a:lnTo>
                    <a:pt x="9182" y="188595"/>
                  </a:lnTo>
                  <a:lnTo>
                    <a:pt x="0" y="256794"/>
                  </a:lnTo>
                  <a:lnTo>
                    <a:pt x="9182" y="325120"/>
                  </a:lnTo>
                  <a:lnTo>
                    <a:pt x="35077" y="386588"/>
                  </a:lnTo>
                  <a:lnTo>
                    <a:pt x="75247" y="438531"/>
                  </a:lnTo>
                  <a:lnTo>
                    <a:pt x="127241" y="478663"/>
                  </a:lnTo>
                  <a:lnTo>
                    <a:pt x="188620" y="504571"/>
                  </a:lnTo>
                  <a:lnTo>
                    <a:pt x="256921" y="513714"/>
                  </a:lnTo>
                  <a:lnTo>
                    <a:pt x="325221" y="504571"/>
                  </a:lnTo>
                  <a:lnTo>
                    <a:pt x="386588" y="478663"/>
                  </a:lnTo>
                  <a:lnTo>
                    <a:pt x="438581" y="438531"/>
                  </a:lnTo>
                  <a:lnTo>
                    <a:pt x="478764" y="386588"/>
                  </a:lnTo>
                  <a:lnTo>
                    <a:pt x="504659" y="325120"/>
                  </a:lnTo>
                  <a:lnTo>
                    <a:pt x="513842" y="256794"/>
                  </a:lnTo>
                  <a:lnTo>
                    <a:pt x="504659" y="188595"/>
                  </a:lnTo>
                  <a:lnTo>
                    <a:pt x="478764" y="127126"/>
                  </a:lnTo>
                  <a:lnTo>
                    <a:pt x="438581" y="75184"/>
                  </a:lnTo>
                  <a:lnTo>
                    <a:pt x="386588" y="35051"/>
                  </a:lnTo>
                  <a:lnTo>
                    <a:pt x="325221" y="9144"/>
                  </a:lnTo>
                  <a:lnTo>
                    <a:pt x="256921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44677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513842" y="256794"/>
                  </a:moveTo>
                  <a:lnTo>
                    <a:pt x="504659" y="188595"/>
                  </a:lnTo>
                  <a:lnTo>
                    <a:pt x="478764" y="127126"/>
                  </a:lnTo>
                  <a:lnTo>
                    <a:pt x="438581" y="75184"/>
                  </a:lnTo>
                  <a:lnTo>
                    <a:pt x="386588" y="35051"/>
                  </a:lnTo>
                  <a:lnTo>
                    <a:pt x="325221" y="9144"/>
                  </a:lnTo>
                  <a:lnTo>
                    <a:pt x="256921" y="0"/>
                  </a:lnTo>
                  <a:lnTo>
                    <a:pt x="188620" y="9144"/>
                  </a:lnTo>
                  <a:lnTo>
                    <a:pt x="127241" y="35051"/>
                  </a:lnTo>
                  <a:lnTo>
                    <a:pt x="75247" y="75184"/>
                  </a:lnTo>
                  <a:lnTo>
                    <a:pt x="35077" y="127126"/>
                  </a:lnTo>
                  <a:lnTo>
                    <a:pt x="9182" y="188595"/>
                  </a:lnTo>
                  <a:lnTo>
                    <a:pt x="0" y="256794"/>
                  </a:lnTo>
                  <a:lnTo>
                    <a:pt x="9182" y="325120"/>
                  </a:lnTo>
                  <a:lnTo>
                    <a:pt x="35077" y="386588"/>
                  </a:lnTo>
                  <a:lnTo>
                    <a:pt x="75247" y="438531"/>
                  </a:lnTo>
                  <a:lnTo>
                    <a:pt x="127241" y="478663"/>
                  </a:lnTo>
                  <a:lnTo>
                    <a:pt x="188620" y="504571"/>
                  </a:lnTo>
                  <a:lnTo>
                    <a:pt x="256921" y="513714"/>
                  </a:lnTo>
                  <a:lnTo>
                    <a:pt x="325221" y="504571"/>
                  </a:lnTo>
                  <a:lnTo>
                    <a:pt x="386588" y="478663"/>
                  </a:lnTo>
                  <a:lnTo>
                    <a:pt x="438581" y="438531"/>
                  </a:lnTo>
                  <a:lnTo>
                    <a:pt x="478764" y="386588"/>
                  </a:lnTo>
                  <a:lnTo>
                    <a:pt x="504659" y="325120"/>
                  </a:lnTo>
                  <a:lnTo>
                    <a:pt x="513842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72387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256920" y="0"/>
                  </a:moveTo>
                  <a:lnTo>
                    <a:pt x="188594" y="9144"/>
                  </a:lnTo>
                  <a:lnTo>
                    <a:pt x="127254" y="35051"/>
                  </a:lnTo>
                  <a:lnTo>
                    <a:pt x="75183" y="75184"/>
                  </a:lnTo>
                  <a:lnTo>
                    <a:pt x="35051" y="127126"/>
                  </a:lnTo>
                  <a:lnTo>
                    <a:pt x="9143" y="188595"/>
                  </a:lnTo>
                  <a:lnTo>
                    <a:pt x="0" y="256794"/>
                  </a:lnTo>
                  <a:lnTo>
                    <a:pt x="9143" y="325120"/>
                  </a:lnTo>
                  <a:lnTo>
                    <a:pt x="35051" y="386588"/>
                  </a:lnTo>
                  <a:lnTo>
                    <a:pt x="75183" y="438531"/>
                  </a:lnTo>
                  <a:lnTo>
                    <a:pt x="127254" y="478663"/>
                  </a:lnTo>
                  <a:lnTo>
                    <a:pt x="188594" y="504571"/>
                  </a:lnTo>
                  <a:lnTo>
                    <a:pt x="256920" y="513714"/>
                  </a:lnTo>
                  <a:lnTo>
                    <a:pt x="325119" y="504571"/>
                  </a:lnTo>
                  <a:lnTo>
                    <a:pt x="386588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0" y="325120"/>
                  </a:lnTo>
                  <a:lnTo>
                    <a:pt x="513842" y="256794"/>
                  </a:lnTo>
                  <a:lnTo>
                    <a:pt x="504570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588" y="35051"/>
                  </a:lnTo>
                  <a:lnTo>
                    <a:pt x="325119" y="9144"/>
                  </a:lnTo>
                  <a:lnTo>
                    <a:pt x="256920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72387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513842" y="256794"/>
                  </a:moveTo>
                  <a:lnTo>
                    <a:pt x="504570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588" y="35051"/>
                  </a:lnTo>
                  <a:lnTo>
                    <a:pt x="325119" y="9144"/>
                  </a:lnTo>
                  <a:lnTo>
                    <a:pt x="256920" y="0"/>
                  </a:lnTo>
                  <a:lnTo>
                    <a:pt x="188594" y="9144"/>
                  </a:lnTo>
                  <a:lnTo>
                    <a:pt x="127254" y="35051"/>
                  </a:lnTo>
                  <a:lnTo>
                    <a:pt x="75183" y="75184"/>
                  </a:lnTo>
                  <a:lnTo>
                    <a:pt x="35051" y="127126"/>
                  </a:lnTo>
                  <a:lnTo>
                    <a:pt x="9143" y="188595"/>
                  </a:lnTo>
                  <a:lnTo>
                    <a:pt x="0" y="256794"/>
                  </a:lnTo>
                  <a:lnTo>
                    <a:pt x="9143" y="325120"/>
                  </a:lnTo>
                  <a:lnTo>
                    <a:pt x="35051" y="386588"/>
                  </a:lnTo>
                  <a:lnTo>
                    <a:pt x="75183" y="438531"/>
                  </a:lnTo>
                  <a:lnTo>
                    <a:pt x="127254" y="478663"/>
                  </a:lnTo>
                  <a:lnTo>
                    <a:pt x="188594" y="504571"/>
                  </a:lnTo>
                  <a:lnTo>
                    <a:pt x="256920" y="513714"/>
                  </a:lnTo>
                  <a:lnTo>
                    <a:pt x="325119" y="504571"/>
                  </a:lnTo>
                  <a:lnTo>
                    <a:pt x="386588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0" y="325120"/>
                  </a:lnTo>
                  <a:lnTo>
                    <a:pt x="513842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600070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256921" y="0"/>
                  </a:moveTo>
                  <a:lnTo>
                    <a:pt x="188595" y="9144"/>
                  </a:lnTo>
                  <a:lnTo>
                    <a:pt x="127254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3" y="188595"/>
                  </a:lnTo>
                  <a:lnTo>
                    <a:pt x="0" y="256794"/>
                  </a:lnTo>
                  <a:lnTo>
                    <a:pt x="9143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254" y="478663"/>
                  </a:lnTo>
                  <a:lnTo>
                    <a:pt x="188595" y="504571"/>
                  </a:lnTo>
                  <a:lnTo>
                    <a:pt x="256921" y="513714"/>
                  </a:lnTo>
                  <a:lnTo>
                    <a:pt x="325120" y="504571"/>
                  </a:lnTo>
                  <a:lnTo>
                    <a:pt x="386588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842" y="256794"/>
                  </a:ln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588" y="35051"/>
                  </a:lnTo>
                  <a:lnTo>
                    <a:pt x="325120" y="9144"/>
                  </a:lnTo>
                  <a:lnTo>
                    <a:pt x="256921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600070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513842" y="256794"/>
                  </a:move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588" y="35051"/>
                  </a:lnTo>
                  <a:lnTo>
                    <a:pt x="325120" y="9144"/>
                  </a:lnTo>
                  <a:lnTo>
                    <a:pt x="256921" y="0"/>
                  </a:lnTo>
                  <a:lnTo>
                    <a:pt x="188595" y="9144"/>
                  </a:lnTo>
                  <a:lnTo>
                    <a:pt x="127254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3" y="188595"/>
                  </a:lnTo>
                  <a:lnTo>
                    <a:pt x="0" y="256794"/>
                  </a:lnTo>
                  <a:lnTo>
                    <a:pt x="9143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254" y="478663"/>
                  </a:lnTo>
                  <a:lnTo>
                    <a:pt x="188595" y="504571"/>
                  </a:lnTo>
                  <a:lnTo>
                    <a:pt x="256921" y="513714"/>
                  </a:lnTo>
                  <a:lnTo>
                    <a:pt x="325120" y="504571"/>
                  </a:lnTo>
                  <a:lnTo>
                    <a:pt x="386588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842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627755" y="3013963"/>
              <a:ext cx="513715" cy="513715"/>
            </a:xfrm>
            <a:custGeom>
              <a:avLst/>
              <a:gdLst/>
              <a:ahLst/>
              <a:cxnLst/>
              <a:rect l="l" t="t" r="r" b="b"/>
              <a:pathLst>
                <a:path w="513714" h="513714">
                  <a:moveTo>
                    <a:pt x="256794" y="0"/>
                  </a:moveTo>
                  <a:lnTo>
                    <a:pt x="188595" y="9144"/>
                  </a:lnTo>
                  <a:lnTo>
                    <a:pt x="127127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4" y="188595"/>
                  </a:lnTo>
                  <a:lnTo>
                    <a:pt x="0" y="256794"/>
                  </a:lnTo>
                  <a:lnTo>
                    <a:pt x="9144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127" y="478663"/>
                  </a:lnTo>
                  <a:lnTo>
                    <a:pt x="188595" y="504571"/>
                  </a:lnTo>
                  <a:lnTo>
                    <a:pt x="256794" y="513714"/>
                  </a:lnTo>
                  <a:lnTo>
                    <a:pt x="325120" y="504571"/>
                  </a:lnTo>
                  <a:lnTo>
                    <a:pt x="386461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715" y="256794"/>
                  </a:ln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461" y="35051"/>
                  </a:lnTo>
                  <a:lnTo>
                    <a:pt x="325120" y="9144"/>
                  </a:lnTo>
                  <a:lnTo>
                    <a:pt x="256794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627755" y="3013963"/>
              <a:ext cx="513715" cy="513715"/>
            </a:xfrm>
            <a:custGeom>
              <a:avLst/>
              <a:gdLst/>
              <a:ahLst/>
              <a:cxnLst/>
              <a:rect l="l" t="t" r="r" b="b"/>
              <a:pathLst>
                <a:path w="513714" h="513714">
                  <a:moveTo>
                    <a:pt x="513715" y="256794"/>
                  </a:move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461" y="35051"/>
                  </a:lnTo>
                  <a:lnTo>
                    <a:pt x="325120" y="9144"/>
                  </a:lnTo>
                  <a:lnTo>
                    <a:pt x="256794" y="0"/>
                  </a:lnTo>
                  <a:lnTo>
                    <a:pt x="188595" y="9144"/>
                  </a:lnTo>
                  <a:lnTo>
                    <a:pt x="127127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4" y="188595"/>
                  </a:lnTo>
                  <a:lnTo>
                    <a:pt x="0" y="256794"/>
                  </a:lnTo>
                  <a:lnTo>
                    <a:pt x="9144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127" y="478663"/>
                  </a:lnTo>
                  <a:lnTo>
                    <a:pt x="188595" y="504571"/>
                  </a:lnTo>
                  <a:lnTo>
                    <a:pt x="256794" y="513714"/>
                  </a:lnTo>
                  <a:lnTo>
                    <a:pt x="325120" y="504571"/>
                  </a:lnTo>
                  <a:lnTo>
                    <a:pt x="386461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715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21487" y="2990722"/>
              <a:ext cx="560705" cy="560705"/>
            </a:xfrm>
            <a:custGeom>
              <a:avLst/>
              <a:gdLst/>
              <a:ahLst/>
              <a:cxnLst/>
              <a:rect l="l" t="t" r="r" b="b"/>
              <a:pathLst>
                <a:path w="560705" h="560704">
                  <a:moveTo>
                    <a:pt x="280111" y="0"/>
                  </a:moveTo>
                  <a:lnTo>
                    <a:pt x="205638" y="10032"/>
                  </a:lnTo>
                  <a:lnTo>
                    <a:pt x="138734" y="38226"/>
                  </a:lnTo>
                  <a:lnTo>
                    <a:pt x="82042" y="82041"/>
                  </a:lnTo>
                  <a:lnTo>
                    <a:pt x="38239" y="138684"/>
                  </a:lnTo>
                  <a:lnTo>
                    <a:pt x="9994" y="205612"/>
                  </a:lnTo>
                  <a:lnTo>
                    <a:pt x="0" y="280035"/>
                  </a:lnTo>
                  <a:lnTo>
                    <a:pt x="9994" y="354584"/>
                  </a:lnTo>
                  <a:lnTo>
                    <a:pt x="38239" y="421513"/>
                  </a:lnTo>
                  <a:lnTo>
                    <a:pt x="82042" y="478154"/>
                  </a:lnTo>
                  <a:lnTo>
                    <a:pt x="138734" y="521969"/>
                  </a:lnTo>
                  <a:lnTo>
                    <a:pt x="205638" y="550163"/>
                  </a:lnTo>
                  <a:lnTo>
                    <a:pt x="280111" y="560197"/>
                  </a:lnTo>
                  <a:lnTo>
                    <a:pt x="354571" y="550163"/>
                  </a:lnTo>
                  <a:lnTo>
                    <a:pt x="421487" y="521969"/>
                  </a:lnTo>
                  <a:lnTo>
                    <a:pt x="478180" y="478154"/>
                  </a:lnTo>
                  <a:lnTo>
                    <a:pt x="521982" y="421513"/>
                  </a:lnTo>
                  <a:lnTo>
                    <a:pt x="550214" y="354584"/>
                  </a:lnTo>
                  <a:lnTo>
                    <a:pt x="560222" y="280035"/>
                  </a:lnTo>
                  <a:lnTo>
                    <a:pt x="550214" y="205612"/>
                  </a:lnTo>
                  <a:lnTo>
                    <a:pt x="521982" y="138684"/>
                  </a:lnTo>
                  <a:lnTo>
                    <a:pt x="478180" y="82041"/>
                  </a:lnTo>
                  <a:lnTo>
                    <a:pt x="421487" y="38226"/>
                  </a:lnTo>
                  <a:lnTo>
                    <a:pt x="354571" y="10032"/>
                  </a:lnTo>
                  <a:lnTo>
                    <a:pt x="280111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21487" y="2990722"/>
              <a:ext cx="560705" cy="560705"/>
            </a:xfrm>
            <a:custGeom>
              <a:avLst/>
              <a:gdLst/>
              <a:ahLst/>
              <a:cxnLst/>
              <a:rect l="l" t="t" r="r" b="b"/>
              <a:pathLst>
                <a:path w="560705" h="560704">
                  <a:moveTo>
                    <a:pt x="560222" y="280035"/>
                  </a:moveTo>
                  <a:lnTo>
                    <a:pt x="550214" y="205612"/>
                  </a:lnTo>
                  <a:lnTo>
                    <a:pt x="521982" y="138684"/>
                  </a:lnTo>
                  <a:lnTo>
                    <a:pt x="478180" y="82041"/>
                  </a:lnTo>
                  <a:lnTo>
                    <a:pt x="421487" y="38226"/>
                  </a:lnTo>
                  <a:lnTo>
                    <a:pt x="354571" y="10032"/>
                  </a:lnTo>
                  <a:lnTo>
                    <a:pt x="280111" y="0"/>
                  </a:lnTo>
                  <a:lnTo>
                    <a:pt x="205638" y="10032"/>
                  </a:lnTo>
                  <a:lnTo>
                    <a:pt x="138734" y="38226"/>
                  </a:lnTo>
                  <a:lnTo>
                    <a:pt x="82042" y="82041"/>
                  </a:lnTo>
                  <a:lnTo>
                    <a:pt x="38239" y="138684"/>
                  </a:lnTo>
                  <a:lnTo>
                    <a:pt x="9994" y="205612"/>
                  </a:lnTo>
                  <a:lnTo>
                    <a:pt x="0" y="280035"/>
                  </a:lnTo>
                  <a:lnTo>
                    <a:pt x="9994" y="354584"/>
                  </a:lnTo>
                  <a:lnTo>
                    <a:pt x="38239" y="421513"/>
                  </a:lnTo>
                  <a:lnTo>
                    <a:pt x="82042" y="478154"/>
                  </a:lnTo>
                  <a:lnTo>
                    <a:pt x="138734" y="521969"/>
                  </a:lnTo>
                  <a:lnTo>
                    <a:pt x="205638" y="550163"/>
                  </a:lnTo>
                  <a:lnTo>
                    <a:pt x="280111" y="560197"/>
                  </a:lnTo>
                  <a:lnTo>
                    <a:pt x="354571" y="550163"/>
                  </a:lnTo>
                  <a:lnTo>
                    <a:pt x="421487" y="521969"/>
                  </a:lnTo>
                  <a:lnTo>
                    <a:pt x="478180" y="478154"/>
                  </a:lnTo>
                  <a:lnTo>
                    <a:pt x="521982" y="421513"/>
                  </a:lnTo>
                  <a:lnTo>
                    <a:pt x="550214" y="354584"/>
                  </a:lnTo>
                  <a:lnTo>
                    <a:pt x="560222" y="280035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89483" y="2723515"/>
            <a:ext cx="431800" cy="64643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11760">
              <a:lnSpc>
                <a:spcPct val="100000"/>
              </a:lnSpc>
              <a:spcBef>
                <a:spcPts val="110"/>
              </a:spcBef>
            </a:pPr>
            <a:r>
              <a:rPr sz="1500" i="1" spc="35" dirty="0">
                <a:solidFill>
                  <a:srgbClr val="213739"/>
                </a:solidFill>
                <a:latin typeface="Calibri"/>
                <a:cs typeface="Calibri"/>
              </a:rPr>
              <a:t>h</a:t>
            </a:r>
            <a:r>
              <a:rPr sz="1650" spc="52" baseline="-12626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650" baseline="-12626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1275"/>
              </a:spcBef>
            </a:pPr>
            <a:r>
              <a:rPr sz="1500" spc="-60" dirty="0">
                <a:solidFill>
                  <a:srgbClr val="213739"/>
                </a:solidFill>
                <a:latin typeface="Arial MT"/>
                <a:cs typeface="Arial MT"/>
              </a:rPr>
              <a:t>-</a:t>
            </a:r>
            <a:r>
              <a:rPr sz="1500" spc="-85" dirty="0">
                <a:solidFill>
                  <a:srgbClr val="213739"/>
                </a:solidFill>
                <a:latin typeface="Arial MT"/>
                <a:cs typeface="Arial MT"/>
              </a:rPr>
              <a:t>1,-</a:t>
            </a:r>
            <a:r>
              <a:rPr sz="1500" spc="-50" dirty="0">
                <a:solidFill>
                  <a:srgbClr val="213739"/>
                </a:solidFill>
                <a:latin typeface="Arial MT"/>
                <a:cs typeface="Arial MT"/>
              </a:rPr>
              <a:t>1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563497" y="3005073"/>
            <a:ext cx="2583180" cy="531495"/>
            <a:chOff x="1563497" y="3005073"/>
            <a:chExt cx="2583180" cy="531495"/>
          </a:xfrm>
        </p:grpSpPr>
        <p:sp>
          <p:nvSpPr>
            <p:cNvPr id="17" name="object 17"/>
            <p:cNvSpPr/>
            <p:nvPr/>
          </p:nvSpPr>
          <p:spPr>
            <a:xfrm>
              <a:off x="1568577" y="3010153"/>
              <a:ext cx="521334" cy="521334"/>
            </a:xfrm>
            <a:custGeom>
              <a:avLst/>
              <a:gdLst/>
              <a:ahLst/>
              <a:cxnLst/>
              <a:rect l="l" t="t" r="r" b="b"/>
              <a:pathLst>
                <a:path w="521335" h="521335">
                  <a:moveTo>
                    <a:pt x="260730" y="0"/>
                  </a:moveTo>
                  <a:lnTo>
                    <a:pt x="191389" y="9271"/>
                  </a:lnTo>
                  <a:lnTo>
                    <a:pt x="129159" y="35560"/>
                  </a:lnTo>
                  <a:lnTo>
                    <a:pt x="76327" y="76326"/>
                  </a:lnTo>
                  <a:lnTo>
                    <a:pt x="35559" y="129159"/>
                  </a:lnTo>
                  <a:lnTo>
                    <a:pt x="9270" y="191388"/>
                  </a:lnTo>
                  <a:lnTo>
                    <a:pt x="0" y="260604"/>
                  </a:lnTo>
                  <a:lnTo>
                    <a:pt x="9270" y="329946"/>
                  </a:lnTo>
                  <a:lnTo>
                    <a:pt x="35559" y="392175"/>
                  </a:lnTo>
                  <a:lnTo>
                    <a:pt x="76327" y="445008"/>
                  </a:lnTo>
                  <a:lnTo>
                    <a:pt x="129159" y="485775"/>
                  </a:lnTo>
                  <a:lnTo>
                    <a:pt x="191389" y="512063"/>
                  </a:lnTo>
                  <a:lnTo>
                    <a:pt x="260730" y="521335"/>
                  </a:lnTo>
                  <a:lnTo>
                    <a:pt x="329946" y="512063"/>
                  </a:lnTo>
                  <a:lnTo>
                    <a:pt x="392303" y="485775"/>
                  </a:lnTo>
                  <a:lnTo>
                    <a:pt x="445008" y="445008"/>
                  </a:lnTo>
                  <a:lnTo>
                    <a:pt x="485774" y="392175"/>
                  </a:lnTo>
                  <a:lnTo>
                    <a:pt x="512064" y="329946"/>
                  </a:lnTo>
                  <a:lnTo>
                    <a:pt x="521334" y="260604"/>
                  </a:lnTo>
                  <a:lnTo>
                    <a:pt x="512064" y="191388"/>
                  </a:lnTo>
                  <a:lnTo>
                    <a:pt x="485774" y="129159"/>
                  </a:lnTo>
                  <a:lnTo>
                    <a:pt x="445008" y="76326"/>
                  </a:lnTo>
                  <a:lnTo>
                    <a:pt x="392303" y="35560"/>
                  </a:lnTo>
                  <a:lnTo>
                    <a:pt x="329946" y="9271"/>
                  </a:lnTo>
                  <a:lnTo>
                    <a:pt x="260730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568577" y="3010153"/>
              <a:ext cx="521334" cy="521334"/>
            </a:xfrm>
            <a:custGeom>
              <a:avLst/>
              <a:gdLst/>
              <a:ahLst/>
              <a:cxnLst/>
              <a:rect l="l" t="t" r="r" b="b"/>
              <a:pathLst>
                <a:path w="521335" h="521335">
                  <a:moveTo>
                    <a:pt x="521334" y="260604"/>
                  </a:moveTo>
                  <a:lnTo>
                    <a:pt x="512064" y="191388"/>
                  </a:lnTo>
                  <a:lnTo>
                    <a:pt x="485774" y="129159"/>
                  </a:lnTo>
                  <a:lnTo>
                    <a:pt x="445008" y="76326"/>
                  </a:lnTo>
                  <a:lnTo>
                    <a:pt x="392303" y="35560"/>
                  </a:lnTo>
                  <a:lnTo>
                    <a:pt x="329946" y="9271"/>
                  </a:lnTo>
                  <a:lnTo>
                    <a:pt x="260730" y="0"/>
                  </a:lnTo>
                  <a:lnTo>
                    <a:pt x="191389" y="9271"/>
                  </a:lnTo>
                  <a:lnTo>
                    <a:pt x="129159" y="35560"/>
                  </a:lnTo>
                  <a:lnTo>
                    <a:pt x="76327" y="76326"/>
                  </a:lnTo>
                  <a:lnTo>
                    <a:pt x="35559" y="129159"/>
                  </a:lnTo>
                  <a:lnTo>
                    <a:pt x="9270" y="191388"/>
                  </a:lnTo>
                  <a:lnTo>
                    <a:pt x="0" y="260604"/>
                  </a:lnTo>
                  <a:lnTo>
                    <a:pt x="9270" y="329946"/>
                  </a:lnTo>
                  <a:lnTo>
                    <a:pt x="35559" y="392175"/>
                  </a:lnTo>
                  <a:lnTo>
                    <a:pt x="76327" y="445008"/>
                  </a:lnTo>
                  <a:lnTo>
                    <a:pt x="129159" y="485775"/>
                  </a:lnTo>
                  <a:lnTo>
                    <a:pt x="191389" y="512063"/>
                  </a:lnTo>
                  <a:lnTo>
                    <a:pt x="260730" y="521335"/>
                  </a:lnTo>
                  <a:lnTo>
                    <a:pt x="329946" y="512063"/>
                  </a:lnTo>
                  <a:lnTo>
                    <a:pt x="392303" y="485775"/>
                  </a:lnTo>
                  <a:lnTo>
                    <a:pt x="445008" y="445008"/>
                  </a:lnTo>
                  <a:lnTo>
                    <a:pt x="485774" y="392175"/>
                  </a:lnTo>
                  <a:lnTo>
                    <a:pt x="512064" y="329946"/>
                  </a:lnTo>
                  <a:lnTo>
                    <a:pt x="521334" y="26060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596261" y="3010153"/>
              <a:ext cx="521334" cy="521334"/>
            </a:xfrm>
            <a:custGeom>
              <a:avLst/>
              <a:gdLst/>
              <a:ahLst/>
              <a:cxnLst/>
              <a:rect l="l" t="t" r="r" b="b"/>
              <a:pathLst>
                <a:path w="521335" h="521335">
                  <a:moveTo>
                    <a:pt x="260731" y="0"/>
                  </a:moveTo>
                  <a:lnTo>
                    <a:pt x="191388" y="9271"/>
                  </a:lnTo>
                  <a:lnTo>
                    <a:pt x="129158" y="35560"/>
                  </a:lnTo>
                  <a:lnTo>
                    <a:pt x="76326" y="76326"/>
                  </a:lnTo>
                  <a:lnTo>
                    <a:pt x="35559" y="129159"/>
                  </a:lnTo>
                  <a:lnTo>
                    <a:pt x="9270" y="191388"/>
                  </a:lnTo>
                  <a:lnTo>
                    <a:pt x="0" y="260604"/>
                  </a:lnTo>
                  <a:lnTo>
                    <a:pt x="9270" y="329946"/>
                  </a:lnTo>
                  <a:lnTo>
                    <a:pt x="35559" y="392175"/>
                  </a:lnTo>
                  <a:lnTo>
                    <a:pt x="76326" y="445008"/>
                  </a:lnTo>
                  <a:lnTo>
                    <a:pt x="129158" y="485775"/>
                  </a:lnTo>
                  <a:lnTo>
                    <a:pt x="191388" y="512063"/>
                  </a:lnTo>
                  <a:lnTo>
                    <a:pt x="260731" y="521335"/>
                  </a:lnTo>
                  <a:lnTo>
                    <a:pt x="329945" y="512063"/>
                  </a:lnTo>
                  <a:lnTo>
                    <a:pt x="392302" y="485775"/>
                  </a:lnTo>
                  <a:lnTo>
                    <a:pt x="445007" y="445008"/>
                  </a:lnTo>
                  <a:lnTo>
                    <a:pt x="485775" y="392175"/>
                  </a:lnTo>
                  <a:lnTo>
                    <a:pt x="512063" y="329946"/>
                  </a:lnTo>
                  <a:lnTo>
                    <a:pt x="521334" y="260604"/>
                  </a:lnTo>
                  <a:lnTo>
                    <a:pt x="512063" y="191388"/>
                  </a:lnTo>
                  <a:lnTo>
                    <a:pt x="485775" y="129159"/>
                  </a:lnTo>
                  <a:lnTo>
                    <a:pt x="445007" y="76326"/>
                  </a:lnTo>
                  <a:lnTo>
                    <a:pt x="392302" y="35560"/>
                  </a:lnTo>
                  <a:lnTo>
                    <a:pt x="329945" y="9271"/>
                  </a:lnTo>
                  <a:lnTo>
                    <a:pt x="260731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596261" y="3010153"/>
              <a:ext cx="521334" cy="521334"/>
            </a:xfrm>
            <a:custGeom>
              <a:avLst/>
              <a:gdLst/>
              <a:ahLst/>
              <a:cxnLst/>
              <a:rect l="l" t="t" r="r" b="b"/>
              <a:pathLst>
                <a:path w="521335" h="521335">
                  <a:moveTo>
                    <a:pt x="521334" y="260604"/>
                  </a:moveTo>
                  <a:lnTo>
                    <a:pt x="512063" y="191388"/>
                  </a:lnTo>
                  <a:lnTo>
                    <a:pt x="485775" y="129159"/>
                  </a:lnTo>
                  <a:lnTo>
                    <a:pt x="445007" y="76326"/>
                  </a:lnTo>
                  <a:lnTo>
                    <a:pt x="392302" y="35560"/>
                  </a:lnTo>
                  <a:lnTo>
                    <a:pt x="329945" y="9271"/>
                  </a:lnTo>
                  <a:lnTo>
                    <a:pt x="260731" y="0"/>
                  </a:lnTo>
                  <a:lnTo>
                    <a:pt x="191388" y="9271"/>
                  </a:lnTo>
                  <a:lnTo>
                    <a:pt x="129158" y="35560"/>
                  </a:lnTo>
                  <a:lnTo>
                    <a:pt x="76326" y="76326"/>
                  </a:lnTo>
                  <a:lnTo>
                    <a:pt x="35559" y="129159"/>
                  </a:lnTo>
                  <a:lnTo>
                    <a:pt x="9270" y="191388"/>
                  </a:lnTo>
                  <a:lnTo>
                    <a:pt x="0" y="260604"/>
                  </a:lnTo>
                  <a:lnTo>
                    <a:pt x="9270" y="329946"/>
                  </a:lnTo>
                  <a:lnTo>
                    <a:pt x="35559" y="392175"/>
                  </a:lnTo>
                  <a:lnTo>
                    <a:pt x="76326" y="445008"/>
                  </a:lnTo>
                  <a:lnTo>
                    <a:pt x="129158" y="485775"/>
                  </a:lnTo>
                  <a:lnTo>
                    <a:pt x="191388" y="512063"/>
                  </a:lnTo>
                  <a:lnTo>
                    <a:pt x="260731" y="521335"/>
                  </a:lnTo>
                  <a:lnTo>
                    <a:pt x="329945" y="512063"/>
                  </a:lnTo>
                  <a:lnTo>
                    <a:pt x="392302" y="485775"/>
                  </a:lnTo>
                  <a:lnTo>
                    <a:pt x="445007" y="445008"/>
                  </a:lnTo>
                  <a:lnTo>
                    <a:pt x="485775" y="392175"/>
                  </a:lnTo>
                  <a:lnTo>
                    <a:pt x="512063" y="329946"/>
                  </a:lnTo>
                  <a:lnTo>
                    <a:pt x="521334" y="26060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627754" y="3013963"/>
              <a:ext cx="513715" cy="513715"/>
            </a:xfrm>
            <a:custGeom>
              <a:avLst/>
              <a:gdLst/>
              <a:ahLst/>
              <a:cxnLst/>
              <a:rect l="l" t="t" r="r" b="b"/>
              <a:pathLst>
                <a:path w="513714" h="513714">
                  <a:moveTo>
                    <a:pt x="256794" y="0"/>
                  </a:moveTo>
                  <a:lnTo>
                    <a:pt x="188595" y="9144"/>
                  </a:lnTo>
                  <a:lnTo>
                    <a:pt x="127127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4" y="188595"/>
                  </a:lnTo>
                  <a:lnTo>
                    <a:pt x="0" y="256794"/>
                  </a:lnTo>
                  <a:lnTo>
                    <a:pt x="9144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127" y="478663"/>
                  </a:lnTo>
                  <a:lnTo>
                    <a:pt x="188595" y="504571"/>
                  </a:lnTo>
                  <a:lnTo>
                    <a:pt x="256794" y="513714"/>
                  </a:lnTo>
                  <a:lnTo>
                    <a:pt x="325120" y="504571"/>
                  </a:lnTo>
                  <a:lnTo>
                    <a:pt x="386461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715" y="256794"/>
                  </a:ln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461" y="35051"/>
                  </a:lnTo>
                  <a:lnTo>
                    <a:pt x="325120" y="9144"/>
                  </a:lnTo>
                  <a:lnTo>
                    <a:pt x="256794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627754" y="3013963"/>
              <a:ext cx="513715" cy="513715"/>
            </a:xfrm>
            <a:custGeom>
              <a:avLst/>
              <a:gdLst/>
              <a:ahLst/>
              <a:cxnLst/>
              <a:rect l="l" t="t" r="r" b="b"/>
              <a:pathLst>
                <a:path w="513714" h="513714">
                  <a:moveTo>
                    <a:pt x="513715" y="256794"/>
                  </a:move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461" y="35051"/>
                  </a:lnTo>
                  <a:lnTo>
                    <a:pt x="325120" y="9144"/>
                  </a:lnTo>
                  <a:lnTo>
                    <a:pt x="256794" y="0"/>
                  </a:lnTo>
                  <a:lnTo>
                    <a:pt x="188595" y="9144"/>
                  </a:lnTo>
                  <a:lnTo>
                    <a:pt x="127127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4" y="188595"/>
                  </a:lnTo>
                  <a:lnTo>
                    <a:pt x="0" y="256794"/>
                  </a:lnTo>
                  <a:lnTo>
                    <a:pt x="9144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127" y="478663"/>
                  </a:lnTo>
                  <a:lnTo>
                    <a:pt x="188595" y="504571"/>
                  </a:lnTo>
                  <a:lnTo>
                    <a:pt x="256794" y="513714"/>
                  </a:lnTo>
                  <a:lnTo>
                    <a:pt x="325120" y="504571"/>
                  </a:lnTo>
                  <a:lnTo>
                    <a:pt x="386461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715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3719448" y="2723515"/>
            <a:ext cx="329565" cy="644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65405">
              <a:lnSpc>
                <a:spcPct val="100000"/>
              </a:lnSpc>
              <a:spcBef>
                <a:spcPts val="110"/>
              </a:spcBef>
            </a:pP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h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4</a:t>
            </a:r>
            <a:endParaRPr sz="1650" baseline="-10101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1260"/>
              </a:spcBef>
            </a:pPr>
            <a:r>
              <a:rPr sz="1500" spc="-25" dirty="0">
                <a:solidFill>
                  <a:srgbClr val="213739"/>
                </a:solidFill>
                <a:latin typeface="Arial MT"/>
                <a:cs typeface="Arial MT"/>
              </a:rPr>
              <a:t>1,1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33527" y="3638803"/>
            <a:ext cx="748030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i="1" dirty="0">
                <a:solidFill>
                  <a:srgbClr val="213739"/>
                </a:solidFill>
                <a:latin typeface="Calibri"/>
                <a:cs typeface="Calibri"/>
              </a:rPr>
              <a:t>bias</a:t>
            </a:r>
            <a:r>
              <a:rPr sz="1500" i="1" spc="33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500" spc="-13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13739"/>
                </a:solidFill>
                <a:latin typeface="Arial MT"/>
                <a:cs typeface="Arial MT"/>
              </a:rPr>
              <a:t>-</a:t>
            </a:r>
            <a:r>
              <a:rPr sz="1500" spc="-2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00" spc="-50" dirty="0">
                <a:solidFill>
                  <a:srgbClr val="213739"/>
                </a:solidFill>
                <a:latin typeface="Arial MT"/>
                <a:cs typeface="Arial MT"/>
              </a:rPr>
              <a:t>2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278507" y="1536572"/>
            <a:ext cx="111760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i="1" spc="-50" dirty="0">
                <a:solidFill>
                  <a:srgbClr val="213739"/>
                </a:solidFill>
                <a:latin typeface="Calibri"/>
                <a:cs typeface="Calibri"/>
              </a:rPr>
              <a:t>y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164336" y="2568955"/>
            <a:ext cx="280670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650" baseline="-10101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628013" y="2532379"/>
            <a:ext cx="1461135" cy="8324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90500">
              <a:lnSpc>
                <a:spcPts val="1650"/>
              </a:lnSpc>
              <a:spcBef>
                <a:spcPts val="110"/>
              </a:spcBef>
              <a:tabLst>
                <a:tab pos="704215" algn="l"/>
                <a:tab pos="1191895" algn="l"/>
              </a:tabLst>
            </a:pP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650" baseline="-1010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r>
              <a:rPr sz="1650" baseline="-1010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4</a:t>
            </a:r>
            <a:endParaRPr sz="1650" baseline="-10101">
              <a:latin typeface="Calibri"/>
              <a:cs typeface="Calibri"/>
            </a:endParaRPr>
          </a:p>
          <a:p>
            <a:pPr marL="100965">
              <a:lnSpc>
                <a:spcPts val="1650"/>
              </a:lnSpc>
              <a:tabLst>
                <a:tab pos="1127760" algn="l"/>
              </a:tabLst>
            </a:pP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h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650" baseline="-1010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h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650" baseline="-10101">
              <a:latin typeface="Calibri"/>
              <a:cs typeface="Calibri"/>
            </a:endParaRPr>
          </a:p>
          <a:p>
            <a:pPr marL="50800">
              <a:lnSpc>
                <a:spcPct val="100000"/>
              </a:lnSpc>
              <a:spcBef>
                <a:spcPts val="1235"/>
              </a:spcBef>
              <a:tabLst>
                <a:tab pos="1077595" algn="l"/>
              </a:tabLst>
            </a:pPr>
            <a:r>
              <a:rPr sz="1500" spc="-40" dirty="0">
                <a:solidFill>
                  <a:srgbClr val="213739"/>
                </a:solidFill>
                <a:latin typeface="Arial MT"/>
                <a:cs typeface="Arial MT"/>
              </a:rPr>
              <a:t>-</a:t>
            </a:r>
            <a:r>
              <a:rPr sz="1500" spc="-25" dirty="0">
                <a:solidFill>
                  <a:srgbClr val="213739"/>
                </a:solidFill>
                <a:latin typeface="Arial MT"/>
                <a:cs typeface="Arial MT"/>
              </a:rPr>
              <a:t>1,1</a:t>
            </a:r>
            <a:r>
              <a:rPr sz="1500" dirty="0">
                <a:solidFill>
                  <a:srgbClr val="213739"/>
                </a:solidFill>
                <a:latin typeface="Arial MT"/>
                <a:cs typeface="Arial MT"/>
              </a:rPr>
              <a:t>	</a:t>
            </a:r>
            <a:r>
              <a:rPr sz="1500" spc="-70" dirty="0">
                <a:solidFill>
                  <a:srgbClr val="213739"/>
                </a:solidFill>
                <a:latin typeface="Arial MT"/>
                <a:cs typeface="Arial MT"/>
              </a:rPr>
              <a:t>1,-</a:t>
            </a:r>
            <a:r>
              <a:rPr sz="1500" spc="-50" dirty="0">
                <a:solidFill>
                  <a:srgbClr val="213739"/>
                </a:solidFill>
                <a:latin typeface="Arial MT"/>
                <a:cs typeface="Arial MT"/>
              </a:rPr>
              <a:t>1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994460" y="1862084"/>
            <a:ext cx="2713990" cy="2357120"/>
            <a:chOff x="994460" y="1862084"/>
            <a:chExt cx="2713990" cy="2357120"/>
          </a:xfrm>
        </p:grpSpPr>
        <p:sp>
          <p:nvSpPr>
            <p:cNvPr id="29" name="object 29"/>
            <p:cNvSpPr/>
            <p:nvPr/>
          </p:nvSpPr>
          <p:spPr>
            <a:xfrm>
              <a:off x="1016139" y="3485388"/>
              <a:ext cx="686435" cy="686435"/>
            </a:xfrm>
            <a:custGeom>
              <a:avLst/>
              <a:gdLst/>
              <a:ahLst/>
              <a:cxnLst/>
              <a:rect l="l" t="t" r="r" b="b"/>
              <a:pathLst>
                <a:path w="686435" h="686435">
                  <a:moveTo>
                    <a:pt x="686295" y="686181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4460" y="3463657"/>
              <a:ext cx="104659" cy="104661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1072959" y="3406521"/>
              <a:ext cx="1615440" cy="807720"/>
            </a:xfrm>
            <a:custGeom>
              <a:avLst/>
              <a:gdLst/>
              <a:ahLst/>
              <a:cxnLst/>
              <a:rect l="l" t="t" r="r" b="b"/>
              <a:pathLst>
                <a:path w="1615439" h="807720">
                  <a:moveTo>
                    <a:pt x="1615122" y="807592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60723" y="3364757"/>
              <a:ext cx="84085" cy="122262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1766570" y="3546729"/>
              <a:ext cx="125730" cy="624840"/>
            </a:xfrm>
            <a:custGeom>
              <a:avLst/>
              <a:gdLst/>
              <a:ahLst/>
              <a:cxnLst/>
              <a:rect l="l" t="t" r="r" b="b"/>
              <a:pathLst>
                <a:path w="125730" h="624839">
                  <a:moveTo>
                    <a:pt x="62737" y="624840"/>
                  </a:moveTo>
                  <a:lnTo>
                    <a:pt x="62737" y="8000"/>
                  </a:lnTo>
                </a:path>
                <a:path w="125730" h="624839">
                  <a:moveTo>
                    <a:pt x="0" y="51435"/>
                  </a:moveTo>
                  <a:lnTo>
                    <a:pt x="24637" y="42418"/>
                  </a:lnTo>
                  <a:lnTo>
                    <a:pt x="42672" y="30099"/>
                  </a:lnTo>
                  <a:lnTo>
                    <a:pt x="55118" y="15621"/>
                  </a:lnTo>
                  <a:lnTo>
                    <a:pt x="62737" y="0"/>
                  </a:lnTo>
                  <a:lnTo>
                    <a:pt x="70231" y="15621"/>
                  </a:lnTo>
                  <a:lnTo>
                    <a:pt x="82677" y="30099"/>
                  </a:lnTo>
                  <a:lnTo>
                    <a:pt x="100711" y="42418"/>
                  </a:lnTo>
                  <a:lnTo>
                    <a:pt x="125349" y="51435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030094" y="3471672"/>
              <a:ext cx="700405" cy="700405"/>
            </a:xfrm>
            <a:custGeom>
              <a:avLst/>
              <a:gdLst/>
              <a:ahLst/>
              <a:cxnLst/>
              <a:rect l="l" t="t" r="r" b="b"/>
              <a:pathLst>
                <a:path w="700405" h="700404">
                  <a:moveTo>
                    <a:pt x="700024" y="699896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08377" y="3449924"/>
              <a:ext cx="105171" cy="105186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1956054" y="3471672"/>
              <a:ext cx="700405" cy="700405"/>
            </a:xfrm>
            <a:custGeom>
              <a:avLst/>
              <a:gdLst/>
              <a:ahLst/>
              <a:cxnLst/>
              <a:rect l="l" t="t" r="r" b="b"/>
              <a:pathLst>
                <a:path w="700405" h="700404">
                  <a:moveTo>
                    <a:pt x="0" y="699896"/>
                  </a:moveTo>
                  <a:lnTo>
                    <a:pt x="700023" y="0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72766" y="3449924"/>
              <a:ext cx="105171" cy="105186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2794254" y="3546729"/>
              <a:ext cx="125730" cy="624840"/>
            </a:xfrm>
            <a:custGeom>
              <a:avLst/>
              <a:gdLst/>
              <a:ahLst/>
              <a:cxnLst/>
              <a:rect l="l" t="t" r="r" b="b"/>
              <a:pathLst>
                <a:path w="125730" h="624839">
                  <a:moveTo>
                    <a:pt x="62737" y="624840"/>
                  </a:moveTo>
                  <a:lnTo>
                    <a:pt x="62737" y="8000"/>
                  </a:lnTo>
                </a:path>
                <a:path w="125730" h="624839">
                  <a:moveTo>
                    <a:pt x="0" y="51435"/>
                  </a:moveTo>
                  <a:lnTo>
                    <a:pt x="24637" y="42418"/>
                  </a:lnTo>
                  <a:lnTo>
                    <a:pt x="42671" y="30099"/>
                  </a:lnTo>
                  <a:lnTo>
                    <a:pt x="55118" y="15621"/>
                  </a:lnTo>
                  <a:lnTo>
                    <a:pt x="62737" y="0"/>
                  </a:lnTo>
                  <a:lnTo>
                    <a:pt x="70231" y="15621"/>
                  </a:lnTo>
                  <a:lnTo>
                    <a:pt x="82676" y="30099"/>
                  </a:lnTo>
                  <a:lnTo>
                    <a:pt x="100710" y="42418"/>
                  </a:lnTo>
                  <a:lnTo>
                    <a:pt x="125348" y="51435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998218" y="3396107"/>
              <a:ext cx="1635760" cy="818515"/>
            </a:xfrm>
            <a:custGeom>
              <a:avLst/>
              <a:gdLst/>
              <a:ahLst/>
              <a:cxnLst/>
              <a:rect l="l" t="t" r="r" b="b"/>
              <a:pathLst>
                <a:path w="1635760" h="818514">
                  <a:moveTo>
                    <a:pt x="0" y="818006"/>
                  </a:moveTo>
                  <a:lnTo>
                    <a:pt x="1635759" y="0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62114" y="3354470"/>
              <a:ext cx="84163" cy="122136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2983864" y="3469005"/>
              <a:ext cx="702945" cy="702945"/>
            </a:xfrm>
            <a:custGeom>
              <a:avLst/>
              <a:gdLst/>
              <a:ahLst/>
              <a:cxnLst/>
              <a:rect l="l" t="t" r="r" b="b"/>
              <a:pathLst>
                <a:path w="702945" h="702945">
                  <a:moveTo>
                    <a:pt x="0" y="702564"/>
                  </a:moveTo>
                  <a:lnTo>
                    <a:pt x="702563" y="0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603498" y="3447274"/>
              <a:ext cx="104659" cy="104661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1041425" y="2308860"/>
              <a:ext cx="1203325" cy="802640"/>
            </a:xfrm>
            <a:custGeom>
              <a:avLst/>
              <a:gdLst/>
              <a:ahLst/>
              <a:cxnLst/>
              <a:rect l="l" t="t" r="r" b="b"/>
              <a:pathLst>
                <a:path w="1203325" h="802639">
                  <a:moveTo>
                    <a:pt x="0" y="802131"/>
                  </a:moveTo>
                  <a:lnTo>
                    <a:pt x="1203172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83766" y="2287145"/>
              <a:ext cx="66671" cy="85467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1949577" y="2348738"/>
              <a:ext cx="340995" cy="681990"/>
            </a:xfrm>
            <a:custGeom>
              <a:avLst/>
              <a:gdLst/>
              <a:ahLst/>
              <a:cxnLst/>
              <a:rect l="l" t="t" r="r" b="b"/>
              <a:pathLst>
                <a:path w="340994" h="681989">
                  <a:moveTo>
                    <a:pt x="0" y="681482"/>
                  </a:moveTo>
                  <a:lnTo>
                    <a:pt x="340741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227579" y="2342641"/>
              <a:ext cx="91568" cy="64136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2395855" y="2348738"/>
              <a:ext cx="340995" cy="681990"/>
            </a:xfrm>
            <a:custGeom>
              <a:avLst/>
              <a:gdLst/>
              <a:ahLst/>
              <a:cxnLst/>
              <a:rect l="l" t="t" r="r" b="b"/>
              <a:pathLst>
                <a:path w="340994" h="681989">
                  <a:moveTo>
                    <a:pt x="340868" y="681482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67025" y="2342641"/>
              <a:ext cx="91568" cy="64136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2441575" y="2308860"/>
              <a:ext cx="1223010" cy="815340"/>
            </a:xfrm>
            <a:custGeom>
              <a:avLst/>
              <a:gdLst/>
              <a:ahLst/>
              <a:cxnLst/>
              <a:rect l="l" t="t" r="r" b="b"/>
              <a:pathLst>
                <a:path w="1223010" h="815339">
                  <a:moveTo>
                    <a:pt x="1222628" y="814959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435734" y="2287145"/>
              <a:ext cx="66671" cy="85467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2294890" y="1864614"/>
              <a:ext cx="96520" cy="268605"/>
            </a:xfrm>
            <a:custGeom>
              <a:avLst/>
              <a:gdLst/>
              <a:ahLst/>
              <a:cxnLst/>
              <a:rect l="l" t="t" r="r" b="b"/>
              <a:pathLst>
                <a:path w="96519" h="268605">
                  <a:moveTo>
                    <a:pt x="48260" y="268605"/>
                  </a:moveTo>
                  <a:lnTo>
                    <a:pt x="48260" y="4063"/>
                  </a:lnTo>
                </a:path>
                <a:path w="96519" h="268605">
                  <a:moveTo>
                    <a:pt x="0" y="41783"/>
                  </a:moveTo>
                  <a:lnTo>
                    <a:pt x="18923" y="34416"/>
                  </a:lnTo>
                  <a:lnTo>
                    <a:pt x="32893" y="24511"/>
                  </a:lnTo>
                  <a:lnTo>
                    <a:pt x="42418" y="12700"/>
                  </a:lnTo>
                  <a:lnTo>
                    <a:pt x="48260" y="0"/>
                  </a:lnTo>
                  <a:lnTo>
                    <a:pt x="54102" y="12700"/>
                  </a:lnTo>
                  <a:lnTo>
                    <a:pt x="63627" y="24511"/>
                  </a:lnTo>
                  <a:lnTo>
                    <a:pt x="77470" y="34416"/>
                  </a:lnTo>
                  <a:lnTo>
                    <a:pt x="96393" y="41783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343204" y="3999632"/>
            <a:ext cx="2451100" cy="1073785"/>
          </a:xfrm>
          <a:prstGeom prst="rect">
            <a:avLst/>
          </a:prstGeom>
        </p:spPr>
        <p:txBody>
          <a:bodyPr vert="horz" wrap="square" lIns="0" tIns="125095" rIns="0" bIns="0" rtlCol="0">
            <a:spAutoFit/>
          </a:bodyPr>
          <a:lstStyle/>
          <a:p>
            <a:pPr marL="496570" algn="ctr">
              <a:lnSpc>
                <a:spcPct val="100000"/>
              </a:lnSpc>
              <a:spcBef>
                <a:spcPts val="985"/>
              </a:spcBef>
            </a:pPr>
            <a:r>
              <a:rPr sz="1500" i="1" spc="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650" spc="37" baseline="-10101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650" baseline="-10101">
              <a:latin typeface="Calibri"/>
              <a:cs typeface="Calibri"/>
            </a:endParaRPr>
          </a:p>
          <a:p>
            <a:pPr marL="38100" marR="30480">
              <a:lnSpc>
                <a:spcPct val="117700"/>
              </a:lnSpc>
              <a:spcBef>
                <a:spcPts val="625"/>
              </a:spcBef>
            </a:pP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red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edge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indicates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i="1" spc="10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=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-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1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blue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edge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indicates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i="1" spc="12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=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+1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53" name="object 53" descr="$PPTXTitle"/>
          <p:cNvSpPr txBox="1">
            <a:spLocks noGrp="1"/>
          </p:cNvSpPr>
          <p:nvPr>
            <p:ph type="title"/>
          </p:nvPr>
        </p:nvSpPr>
        <p:spPr>
          <a:xfrm>
            <a:off x="4756403" y="946530"/>
            <a:ext cx="406781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Let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875" spc="345" baseline="-8888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be</a:t>
            </a:r>
            <a:r>
              <a:rPr sz="1750" spc="-1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bias</a:t>
            </a:r>
            <a:r>
              <a:rPr sz="1750" spc="-1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output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 the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neuron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i="1" spc="-10" dirty="0">
                <a:solidFill>
                  <a:srgbClr val="213739"/>
                </a:solidFill>
                <a:latin typeface="Times New Roman"/>
                <a:cs typeface="Times New Roman"/>
              </a:rPr>
              <a:t>i.e.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,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4785105" y="1266571"/>
            <a:ext cx="972819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it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will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fire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if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5850001" y="1146174"/>
            <a:ext cx="31877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2625" spc="-30" baseline="-31746" dirty="0">
                <a:solidFill>
                  <a:srgbClr val="213739"/>
                </a:solidFill>
                <a:latin typeface="Lucida Sans Unicode"/>
                <a:cs typeface="Lucida Sans Unicode"/>
              </a:rPr>
              <a:t>Σ</a:t>
            </a:r>
            <a:r>
              <a:rPr sz="2625" spc="-480" baseline="-31746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250" spc="-50" dirty="0">
                <a:solidFill>
                  <a:srgbClr val="213739"/>
                </a:solidFill>
                <a:latin typeface="Calibri"/>
                <a:cs typeface="Calibri"/>
              </a:rPr>
              <a:t>4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6035802" y="1382395"/>
            <a:ext cx="285115" cy="2197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50" i="1" dirty="0">
                <a:solidFill>
                  <a:srgbClr val="213739"/>
                </a:solidFill>
                <a:latin typeface="Calibri"/>
                <a:cs typeface="Calibri"/>
              </a:rPr>
              <a:t>i</a:t>
            </a:r>
            <a:r>
              <a:rPr sz="1250" i="1" spc="-13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250" spc="55" dirty="0">
                <a:solidFill>
                  <a:srgbClr val="213739"/>
                </a:solidFill>
                <a:latin typeface="Calibri"/>
                <a:cs typeface="Calibri"/>
              </a:rPr>
              <a:t>=1 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6333997" y="1248283"/>
            <a:ext cx="108712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8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i="1" spc="127" baseline="-8888" dirty="0">
                <a:solidFill>
                  <a:srgbClr val="213739"/>
                </a:solidFill>
                <a:latin typeface="Calibri"/>
                <a:cs typeface="Calibri"/>
              </a:rPr>
              <a:t>i</a:t>
            </a:r>
            <a:r>
              <a:rPr sz="1750" i="1" spc="85" dirty="0">
                <a:solidFill>
                  <a:srgbClr val="213739"/>
                </a:solidFill>
                <a:latin typeface="Calibri"/>
                <a:cs typeface="Calibri"/>
              </a:rPr>
              <a:t>h</a:t>
            </a:r>
            <a:r>
              <a:rPr sz="1875" i="1" spc="127" baseline="-8888" dirty="0">
                <a:solidFill>
                  <a:srgbClr val="213739"/>
                </a:solidFill>
                <a:latin typeface="Calibri"/>
                <a:cs typeface="Calibri"/>
              </a:rPr>
              <a:t>i</a:t>
            </a:r>
            <a:r>
              <a:rPr sz="1875" i="1" spc="509" baseline="-8888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≥</a:t>
            </a:r>
            <a:r>
              <a:rPr sz="1750" spc="-10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)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4358004" y="2048382"/>
            <a:ext cx="4561205" cy="0"/>
          </a:xfrm>
          <a:custGeom>
            <a:avLst/>
            <a:gdLst/>
            <a:ahLst/>
            <a:cxnLst/>
            <a:rect l="l" t="t" r="r" b="b"/>
            <a:pathLst>
              <a:path w="4561205">
                <a:moveTo>
                  <a:pt x="0" y="0"/>
                </a:moveTo>
                <a:lnTo>
                  <a:pt x="4560824" y="0"/>
                </a:lnTo>
              </a:path>
            </a:pathLst>
          </a:custGeom>
          <a:ln w="5053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9" name="object 59"/>
          <p:cNvGraphicFramePr>
            <a:graphicFrameLocks noGrp="1"/>
          </p:cNvGraphicFramePr>
          <p:nvPr/>
        </p:nvGraphicFramePr>
        <p:xfrm>
          <a:off x="4393755" y="1837275"/>
          <a:ext cx="4435472" cy="10071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5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5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23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18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70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57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7909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283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7404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990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i="1" spc="-25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x</a:t>
                      </a:r>
                      <a:r>
                        <a:rPr sz="1650" spc="-37" baseline="-10101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650" baseline="-10101">
                        <a:latin typeface="Calibri"/>
                        <a:cs typeface="Calibri"/>
                      </a:endParaRPr>
                    </a:p>
                    <a:p>
                      <a:pPr marL="13398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6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R="571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i="1" spc="-25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x</a:t>
                      </a:r>
                      <a:r>
                        <a:rPr sz="1650" spc="-37" baseline="-10101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650" baseline="-10101">
                        <a:latin typeface="Calibri"/>
                        <a:cs typeface="Calibri"/>
                      </a:endParaRPr>
                    </a:p>
                    <a:p>
                      <a:pPr marL="317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6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40"/>
                        </a:spcBef>
                      </a:pPr>
                      <a:r>
                        <a:rPr sz="1600" i="1" spc="85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XOR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2476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6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9558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2413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i="1" spc="-25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h</a:t>
                      </a:r>
                      <a:r>
                        <a:rPr sz="1650" spc="-37" baseline="-10101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650" baseline="-10101">
                        <a:latin typeface="Calibri"/>
                        <a:cs typeface="Calibri"/>
                      </a:endParaRPr>
                    </a:p>
                    <a:p>
                      <a:pPr marL="3429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6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i="1" spc="-25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h</a:t>
                      </a:r>
                      <a:r>
                        <a:rPr sz="1650" spc="-37" baseline="-10101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650" baseline="-10101">
                        <a:latin typeface="Calibri"/>
                        <a:cs typeface="Calibri"/>
                      </a:endParaRPr>
                    </a:p>
                    <a:p>
                      <a:pPr marL="952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6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i="1" spc="-25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h</a:t>
                      </a:r>
                      <a:r>
                        <a:rPr sz="1650" spc="-37" baseline="-10101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650" baseline="-10101">
                        <a:latin typeface="Calibri"/>
                        <a:cs typeface="Calibri"/>
                      </a:endParaRPr>
                    </a:p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6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3208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i="1" spc="-25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h</a:t>
                      </a:r>
                      <a:r>
                        <a:rPr sz="1650" spc="-37" baseline="-10101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650" baseline="-10101">
                        <a:latin typeface="Calibri"/>
                        <a:cs typeface="Calibri"/>
                      </a:endParaRPr>
                    </a:p>
                    <a:p>
                      <a:pPr marL="17145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6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 marL="109855" algn="ctr">
                        <a:lnSpc>
                          <a:spcPts val="1305"/>
                        </a:lnSpc>
                        <a:spcBef>
                          <a:spcPts val="675"/>
                        </a:spcBef>
                      </a:pPr>
                      <a:r>
                        <a:rPr sz="2400" spc="-15" baseline="34722" dirty="0">
                          <a:solidFill>
                            <a:srgbClr val="213739"/>
                          </a:solidFill>
                          <a:latin typeface="Lucida Sans Unicode"/>
                          <a:cs typeface="Lucida Sans Unicode"/>
                        </a:rPr>
                        <a:t>Σ</a:t>
                      </a:r>
                      <a:r>
                        <a:rPr sz="2400" spc="-419" baseline="34722" dirty="0">
                          <a:solidFill>
                            <a:srgbClr val="213739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650" baseline="35353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4</a:t>
                      </a:r>
                      <a:r>
                        <a:rPr sz="1650" spc="225" baseline="35353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  </a:t>
                      </a:r>
                      <a:r>
                        <a:rPr sz="1600" i="1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w</a:t>
                      </a:r>
                      <a:r>
                        <a:rPr sz="1600" i="1" spc="20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i="1" spc="-50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h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784225">
                        <a:lnSpc>
                          <a:spcPts val="520"/>
                        </a:lnSpc>
                      </a:pPr>
                      <a:r>
                        <a:rPr sz="1100" i="1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sz="1100" i="1" spc="225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  </a:t>
                      </a:r>
                      <a:r>
                        <a:rPr sz="1100" i="1" spc="-50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i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66040">
                        <a:lnSpc>
                          <a:spcPts val="735"/>
                        </a:lnSpc>
                        <a:tabLst>
                          <a:tab pos="784225" algn="l"/>
                        </a:tabLst>
                      </a:pPr>
                      <a:r>
                        <a:rPr sz="1100" i="1" u="sng" dirty="0">
                          <a:solidFill>
                            <a:srgbClr val="213739"/>
                          </a:solidFill>
                          <a:uFill>
                            <a:solidFill>
                              <a:srgbClr val="213739"/>
                            </a:solidFill>
                          </a:uFill>
                          <a:latin typeface="Calibri"/>
                          <a:cs typeface="Calibri"/>
                        </a:rPr>
                        <a:t>i</a:t>
                      </a:r>
                      <a:r>
                        <a:rPr sz="1100" i="1" u="sng" spc="-130" dirty="0">
                          <a:solidFill>
                            <a:srgbClr val="213739"/>
                          </a:solidFill>
                          <a:uFill>
                            <a:solidFill>
                              <a:srgbClr val="213739"/>
                            </a:solidFill>
                          </a:u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u="sng" spc="-10" dirty="0">
                          <a:solidFill>
                            <a:srgbClr val="213739"/>
                          </a:solidFill>
                          <a:uFill>
                            <a:solidFill>
                              <a:srgbClr val="213739"/>
                            </a:solidFill>
                          </a:uFill>
                          <a:latin typeface="Calibri"/>
                          <a:cs typeface="Calibri"/>
                        </a:rPr>
                        <a:t>=</a:t>
                      </a:r>
                      <a:r>
                        <a:rPr sz="1100" u="sng" spc="-125" dirty="0">
                          <a:solidFill>
                            <a:srgbClr val="213739"/>
                          </a:solidFill>
                          <a:uFill>
                            <a:solidFill>
                              <a:srgbClr val="213739"/>
                            </a:solidFill>
                          </a:u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u="sng" spc="-50" dirty="0">
                          <a:solidFill>
                            <a:srgbClr val="213739"/>
                          </a:solidFill>
                          <a:uFill>
                            <a:solidFill>
                              <a:srgbClr val="213739"/>
                            </a:solidFill>
                          </a:uFill>
                          <a:latin typeface="Calibri"/>
                          <a:cs typeface="Calibri"/>
                        </a:rPr>
                        <a:t>1</a:t>
                      </a:r>
                      <a:r>
                        <a:rPr sz="1100" u="sng" dirty="0">
                          <a:solidFill>
                            <a:srgbClr val="213739"/>
                          </a:solidFill>
                          <a:uFill>
                            <a:solidFill>
                              <a:srgbClr val="213739"/>
                            </a:solidFill>
                          </a:uFill>
                          <a:latin typeface="Calibri"/>
                          <a:cs typeface="Calibri"/>
                        </a:rPr>
                        <a:t>	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158750" algn="ctr">
                        <a:lnSpc>
                          <a:spcPts val="1520"/>
                        </a:lnSpc>
                      </a:pPr>
                      <a:r>
                        <a:rPr sz="1600" i="1" spc="-25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w</a:t>
                      </a:r>
                      <a:r>
                        <a:rPr sz="1650" spc="-37" baseline="-10101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650" baseline="-10101">
                        <a:latin typeface="Calibri"/>
                        <a:cs typeface="Calibri"/>
                      </a:endParaRPr>
                    </a:p>
                  </a:txBody>
                  <a:tcPr marL="0" marR="0" marT="85725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24765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160655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00" i="1" spc="-25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w</a:t>
                      </a:r>
                      <a:r>
                        <a:rPr sz="1650" spc="-37" baseline="-10101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650" baseline="-10101">
                        <a:latin typeface="Calibri"/>
                        <a:cs typeface="Calibri"/>
                      </a:endParaRPr>
                    </a:p>
                  </a:txBody>
                  <a:tcPr marL="0" marR="0" marT="317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0" name="object 60"/>
          <p:cNvSpPr/>
          <p:nvPr/>
        </p:nvSpPr>
        <p:spPr>
          <a:xfrm>
            <a:off x="4358004" y="3448939"/>
            <a:ext cx="4561205" cy="0"/>
          </a:xfrm>
          <a:custGeom>
            <a:avLst/>
            <a:gdLst/>
            <a:ahLst/>
            <a:cxnLst/>
            <a:rect l="l" t="t" r="r" b="b"/>
            <a:pathLst>
              <a:path w="4561205">
                <a:moveTo>
                  <a:pt x="0" y="0"/>
                </a:moveTo>
                <a:lnTo>
                  <a:pt x="4560824" y="0"/>
                </a:lnTo>
              </a:path>
            </a:pathLst>
          </a:custGeom>
          <a:ln w="5053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32279" y="2132355"/>
            <a:ext cx="221589" cy="22158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720339" y="4110608"/>
            <a:ext cx="244475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500" i="1" spc="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650" spc="37" baseline="-10101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650" baseline="-10101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16407" y="2985642"/>
            <a:ext cx="3630295" cy="570865"/>
            <a:chOff x="516407" y="2985642"/>
            <a:chExt cx="3630295" cy="570865"/>
          </a:xfrm>
        </p:grpSpPr>
        <p:sp>
          <p:nvSpPr>
            <p:cNvPr id="5" name="object 5"/>
            <p:cNvSpPr/>
            <p:nvPr/>
          </p:nvSpPr>
          <p:spPr>
            <a:xfrm>
              <a:off x="544677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256921" y="0"/>
                  </a:moveTo>
                  <a:lnTo>
                    <a:pt x="188620" y="9144"/>
                  </a:lnTo>
                  <a:lnTo>
                    <a:pt x="127241" y="35051"/>
                  </a:lnTo>
                  <a:lnTo>
                    <a:pt x="75247" y="75184"/>
                  </a:lnTo>
                  <a:lnTo>
                    <a:pt x="35077" y="127126"/>
                  </a:lnTo>
                  <a:lnTo>
                    <a:pt x="9182" y="188595"/>
                  </a:lnTo>
                  <a:lnTo>
                    <a:pt x="0" y="256794"/>
                  </a:lnTo>
                  <a:lnTo>
                    <a:pt x="9182" y="325120"/>
                  </a:lnTo>
                  <a:lnTo>
                    <a:pt x="35077" y="386588"/>
                  </a:lnTo>
                  <a:lnTo>
                    <a:pt x="75247" y="438531"/>
                  </a:lnTo>
                  <a:lnTo>
                    <a:pt x="127241" y="478663"/>
                  </a:lnTo>
                  <a:lnTo>
                    <a:pt x="188620" y="504571"/>
                  </a:lnTo>
                  <a:lnTo>
                    <a:pt x="256921" y="513714"/>
                  </a:lnTo>
                  <a:lnTo>
                    <a:pt x="325221" y="504571"/>
                  </a:lnTo>
                  <a:lnTo>
                    <a:pt x="386588" y="478663"/>
                  </a:lnTo>
                  <a:lnTo>
                    <a:pt x="438581" y="438531"/>
                  </a:lnTo>
                  <a:lnTo>
                    <a:pt x="478764" y="386588"/>
                  </a:lnTo>
                  <a:lnTo>
                    <a:pt x="504659" y="325120"/>
                  </a:lnTo>
                  <a:lnTo>
                    <a:pt x="513842" y="256794"/>
                  </a:lnTo>
                  <a:lnTo>
                    <a:pt x="504659" y="188595"/>
                  </a:lnTo>
                  <a:lnTo>
                    <a:pt x="478764" y="127126"/>
                  </a:lnTo>
                  <a:lnTo>
                    <a:pt x="438581" y="75184"/>
                  </a:lnTo>
                  <a:lnTo>
                    <a:pt x="386588" y="35051"/>
                  </a:lnTo>
                  <a:lnTo>
                    <a:pt x="325221" y="9144"/>
                  </a:lnTo>
                  <a:lnTo>
                    <a:pt x="256921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44677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513842" y="256794"/>
                  </a:moveTo>
                  <a:lnTo>
                    <a:pt x="504659" y="188595"/>
                  </a:lnTo>
                  <a:lnTo>
                    <a:pt x="478764" y="127126"/>
                  </a:lnTo>
                  <a:lnTo>
                    <a:pt x="438581" y="75184"/>
                  </a:lnTo>
                  <a:lnTo>
                    <a:pt x="386588" y="35051"/>
                  </a:lnTo>
                  <a:lnTo>
                    <a:pt x="325221" y="9144"/>
                  </a:lnTo>
                  <a:lnTo>
                    <a:pt x="256921" y="0"/>
                  </a:lnTo>
                  <a:lnTo>
                    <a:pt x="188620" y="9144"/>
                  </a:lnTo>
                  <a:lnTo>
                    <a:pt x="127241" y="35051"/>
                  </a:lnTo>
                  <a:lnTo>
                    <a:pt x="75247" y="75184"/>
                  </a:lnTo>
                  <a:lnTo>
                    <a:pt x="35077" y="127126"/>
                  </a:lnTo>
                  <a:lnTo>
                    <a:pt x="9182" y="188595"/>
                  </a:lnTo>
                  <a:lnTo>
                    <a:pt x="0" y="256794"/>
                  </a:lnTo>
                  <a:lnTo>
                    <a:pt x="9182" y="325120"/>
                  </a:lnTo>
                  <a:lnTo>
                    <a:pt x="35077" y="386588"/>
                  </a:lnTo>
                  <a:lnTo>
                    <a:pt x="75247" y="438531"/>
                  </a:lnTo>
                  <a:lnTo>
                    <a:pt x="127241" y="478663"/>
                  </a:lnTo>
                  <a:lnTo>
                    <a:pt x="188620" y="504571"/>
                  </a:lnTo>
                  <a:lnTo>
                    <a:pt x="256921" y="513714"/>
                  </a:lnTo>
                  <a:lnTo>
                    <a:pt x="325221" y="504571"/>
                  </a:lnTo>
                  <a:lnTo>
                    <a:pt x="386588" y="478663"/>
                  </a:lnTo>
                  <a:lnTo>
                    <a:pt x="438581" y="438531"/>
                  </a:lnTo>
                  <a:lnTo>
                    <a:pt x="478764" y="386588"/>
                  </a:lnTo>
                  <a:lnTo>
                    <a:pt x="504659" y="325120"/>
                  </a:lnTo>
                  <a:lnTo>
                    <a:pt x="513842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72387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256920" y="0"/>
                  </a:moveTo>
                  <a:lnTo>
                    <a:pt x="188594" y="9144"/>
                  </a:lnTo>
                  <a:lnTo>
                    <a:pt x="127254" y="35051"/>
                  </a:lnTo>
                  <a:lnTo>
                    <a:pt x="75183" y="75184"/>
                  </a:lnTo>
                  <a:lnTo>
                    <a:pt x="35051" y="127126"/>
                  </a:lnTo>
                  <a:lnTo>
                    <a:pt x="9143" y="188595"/>
                  </a:lnTo>
                  <a:lnTo>
                    <a:pt x="0" y="256794"/>
                  </a:lnTo>
                  <a:lnTo>
                    <a:pt x="9143" y="325120"/>
                  </a:lnTo>
                  <a:lnTo>
                    <a:pt x="35051" y="386588"/>
                  </a:lnTo>
                  <a:lnTo>
                    <a:pt x="75183" y="438531"/>
                  </a:lnTo>
                  <a:lnTo>
                    <a:pt x="127254" y="478663"/>
                  </a:lnTo>
                  <a:lnTo>
                    <a:pt x="188594" y="504571"/>
                  </a:lnTo>
                  <a:lnTo>
                    <a:pt x="256920" y="513714"/>
                  </a:lnTo>
                  <a:lnTo>
                    <a:pt x="325119" y="504571"/>
                  </a:lnTo>
                  <a:lnTo>
                    <a:pt x="386588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0" y="325120"/>
                  </a:lnTo>
                  <a:lnTo>
                    <a:pt x="513842" y="256794"/>
                  </a:lnTo>
                  <a:lnTo>
                    <a:pt x="504570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588" y="35051"/>
                  </a:lnTo>
                  <a:lnTo>
                    <a:pt x="325119" y="9144"/>
                  </a:lnTo>
                  <a:lnTo>
                    <a:pt x="256920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72387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513842" y="256794"/>
                  </a:moveTo>
                  <a:lnTo>
                    <a:pt x="504570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588" y="35051"/>
                  </a:lnTo>
                  <a:lnTo>
                    <a:pt x="325119" y="9144"/>
                  </a:lnTo>
                  <a:lnTo>
                    <a:pt x="256920" y="0"/>
                  </a:lnTo>
                  <a:lnTo>
                    <a:pt x="188594" y="9144"/>
                  </a:lnTo>
                  <a:lnTo>
                    <a:pt x="127254" y="35051"/>
                  </a:lnTo>
                  <a:lnTo>
                    <a:pt x="75183" y="75184"/>
                  </a:lnTo>
                  <a:lnTo>
                    <a:pt x="35051" y="127126"/>
                  </a:lnTo>
                  <a:lnTo>
                    <a:pt x="9143" y="188595"/>
                  </a:lnTo>
                  <a:lnTo>
                    <a:pt x="0" y="256794"/>
                  </a:lnTo>
                  <a:lnTo>
                    <a:pt x="9143" y="325120"/>
                  </a:lnTo>
                  <a:lnTo>
                    <a:pt x="35051" y="386588"/>
                  </a:lnTo>
                  <a:lnTo>
                    <a:pt x="75183" y="438531"/>
                  </a:lnTo>
                  <a:lnTo>
                    <a:pt x="127254" y="478663"/>
                  </a:lnTo>
                  <a:lnTo>
                    <a:pt x="188594" y="504571"/>
                  </a:lnTo>
                  <a:lnTo>
                    <a:pt x="256920" y="513714"/>
                  </a:lnTo>
                  <a:lnTo>
                    <a:pt x="325119" y="504571"/>
                  </a:lnTo>
                  <a:lnTo>
                    <a:pt x="386588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0" y="325120"/>
                  </a:lnTo>
                  <a:lnTo>
                    <a:pt x="513842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600070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256921" y="0"/>
                  </a:moveTo>
                  <a:lnTo>
                    <a:pt x="188595" y="9144"/>
                  </a:lnTo>
                  <a:lnTo>
                    <a:pt x="127254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3" y="188595"/>
                  </a:lnTo>
                  <a:lnTo>
                    <a:pt x="0" y="256794"/>
                  </a:lnTo>
                  <a:lnTo>
                    <a:pt x="9143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254" y="478663"/>
                  </a:lnTo>
                  <a:lnTo>
                    <a:pt x="188595" y="504571"/>
                  </a:lnTo>
                  <a:lnTo>
                    <a:pt x="256921" y="513714"/>
                  </a:lnTo>
                  <a:lnTo>
                    <a:pt x="325120" y="504571"/>
                  </a:lnTo>
                  <a:lnTo>
                    <a:pt x="386588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842" y="256794"/>
                  </a:ln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588" y="35051"/>
                  </a:lnTo>
                  <a:lnTo>
                    <a:pt x="325120" y="9144"/>
                  </a:lnTo>
                  <a:lnTo>
                    <a:pt x="256921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600070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513842" y="256794"/>
                  </a:move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588" y="35051"/>
                  </a:lnTo>
                  <a:lnTo>
                    <a:pt x="325120" y="9144"/>
                  </a:lnTo>
                  <a:lnTo>
                    <a:pt x="256921" y="0"/>
                  </a:lnTo>
                  <a:lnTo>
                    <a:pt x="188595" y="9144"/>
                  </a:lnTo>
                  <a:lnTo>
                    <a:pt x="127254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3" y="188595"/>
                  </a:lnTo>
                  <a:lnTo>
                    <a:pt x="0" y="256794"/>
                  </a:lnTo>
                  <a:lnTo>
                    <a:pt x="9143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254" y="478663"/>
                  </a:lnTo>
                  <a:lnTo>
                    <a:pt x="188595" y="504571"/>
                  </a:lnTo>
                  <a:lnTo>
                    <a:pt x="256921" y="513714"/>
                  </a:lnTo>
                  <a:lnTo>
                    <a:pt x="325120" y="504571"/>
                  </a:lnTo>
                  <a:lnTo>
                    <a:pt x="386588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842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627755" y="3013963"/>
              <a:ext cx="513715" cy="513715"/>
            </a:xfrm>
            <a:custGeom>
              <a:avLst/>
              <a:gdLst/>
              <a:ahLst/>
              <a:cxnLst/>
              <a:rect l="l" t="t" r="r" b="b"/>
              <a:pathLst>
                <a:path w="513714" h="513714">
                  <a:moveTo>
                    <a:pt x="256794" y="0"/>
                  </a:moveTo>
                  <a:lnTo>
                    <a:pt x="188595" y="9144"/>
                  </a:lnTo>
                  <a:lnTo>
                    <a:pt x="127127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4" y="188595"/>
                  </a:lnTo>
                  <a:lnTo>
                    <a:pt x="0" y="256794"/>
                  </a:lnTo>
                  <a:lnTo>
                    <a:pt x="9144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127" y="478663"/>
                  </a:lnTo>
                  <a:lnTo>
                    <a:pt x="188595" y="504571"/>
                  </a:lnTo>
                  <a:lnTo>
                    <a:pt x="256794" y="513714"/>
                  </a:lnTo>
                  <a:lnTo>
                    <a:pt x="325120" y="504571"/>
                  </a:lnTo>
                  <a:lnTo>
                    <a:pt x="386461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715" y="256794"/>
                  </a:ln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461" y="35051"/>
                  </a:lnTo>
                  <a:lnTo>
                    <a:pt x="325120" y="9144"/>
                  </a:lnTo>
                  <a:lnTo>
                    <a:pt x="256794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627755" y="3013963"/>
              <a:ext cx="513715" cy="513715"/>
            </a:xfrm>
            <a:custGeom>
              <a:avLst/>
              <a:gdLst/>
              <a:ahLst/>
              <a:cxnLst/>
              <a:rect l="l" t="t" r="r" b="b"/>
              <a:pathLst>
                <a:path w="513714" h="513714">
                  <a:moveTo>
                    <a:pt x="513715" y="256794"/>
                  </a:move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461" y="35051"/>
                  </a:lnTo>
                  <a:lnTo>
                    <a:pt x="325120" y="9144"/>
                  </a:lnTo>
                  <a:lnTo>
                    <a:pt x="256794" y="0"/>
                  </a:lnTo>
                  <a:lnTo>
                    <a:pt x="188595" y="9144"/>
                  </a:lnTo>
                  <a:lnTo>
                    <a:pt x="127127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4" y="188595"/>
                  </a:lnTo>
                  <a:lnTo>
                    <a:pt x="0" y="256794"/>
                  </a:lnTo>
                  <a:lnTo>
                    <a:pt x="9144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127" y="478663"/>
                  </a:lnTo>
                  <a:lnTo>
                    <a:pt x="188595" y="504571"/>
                  </a:lnTo>
                  <a:lnTo>
                    <a:pt x="256794" y="513714"/>
                  </a:lnTo>
                  <a:lnTo>
                    <a:pt x="325120" y="504571"/>
                  </a:lnTo>
                  <a:lnTo>
                    <a:pt x="386461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715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21487" y="2990722"/>
              <a:ext cx="560705" cy="560705"/>
            </a:xfrm>
            <a:custGeom>
              <a:avLst/>
              <a:gdLst/>
              <a:ahLst/>
              <a:cxnLst/>
              <a:rect l="l" t="t" r="r" b="b"/>
              <a:pathLst>
                <a:path w="560705" h="560704">
                  <a:moveTo>
                    <a:pt x="280111" y="0"/>
                  </a:moveTo>
                  <a:lnTo>
                    <a:pt x="205638" y="10032"/>
                  </a:lnTo>
                  <a:lnTo>
                    <a:pt x="138734" y="38226"/>
                  </a:lnTo>
                  <a:lnTo>
                    <a:pt x="82042" y="82041"/>
                  </a:lnTo>
                  <a:lnTo>
                    <a:pt x="38239" y="138684"/>
                  </a:lnTo>
                  <a:lnTo>
                    <a:pt x="9994" y="205612"/>
                  </a:lnTo>
                  <a:lnTo>
                    <a:pt x="0" y="280035"/>
                  </a:lnTo>
                  <a:lnTo>
                    <a:pt x="9994" y="354584"/>
                  </a:lnTo>
                  <a:lnTo>
                    <a:pt x="38239" y="421513"/>
                  </a:lnTo>
                  <a:lnTo>
                    <a:pt x="82042" y="478154"/>
                  </a:lnTo>
                  <a:lnTo>
                    <a:pt x="138734" y="521969"/>
                  </a:lnTo>
                  <a:lnTo>
                    <a:pt x="205638" y="550163"/>
                  </a:lnTo>
                  <a:lnTo>
                    <a:pt x="280111" y="560197"/>
                  </a:lnTo>
                  <a:lnTo>
                    <a:pt x="354571" y="550163"/>
                  </a:lnTo>
                  <a:lnTo>
                    <a:pt x="421487" y="521969"/>
                  </a:lnTo>
                  <a:lnTo>
                    <a:pt x="478180" y="478154"/>
                  </a:lnTo>
                  <a:lnTo>
                    <a:pt x="521982" y="421513"/>
                  </a:lnTo>
                  <a:lnTo>
                    <a:pt x="550214" y="354584"/>
                  </a:lnTo>
                  <a:lnTo>
                    <a:pt x="560222" y="280035"/>
                  </a:lnTo>
                  <a:lnTo>
                    <a:pt x="550214" y="205612"/>
                  </a:lnTo>
                  <a:lnTo>
                    <a:pt x="521982" y="138684"/>
                  </a:lnTo>
                  <a:lnTo>
                    <a:pt x="478180" y="82041"/>
                  </a:lnTo>
                  <a:lnTo>
                    <a:pt x="421487" y="38226"/>
                  </a:lnTo>
                  <a:lnTo>
                    <a:pt x="354571" y="10032"/>
                  </a:lnTo>
                  <a:lnTo>
                    <a:pt x="280111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21487" y="2990722"/>
              <a:ext cx="560705" cy="560705"/>
            </a:xfrm>
            <a:custGeom>
              <a:avLst/>
              <a:gdLst/>
              <a:ahLst/>
              <a:cxnLst/>
              <a:rect l="l" t="t" r="r" b="b"/>
              <a:pathLst>
                <a:path w="560705" h="560704">
                  <a:moveTo>
                    <a:pt x="560222" y="280035"/>
                  </a:moveTo>
                  <a:lnTo>
                    <a:pt x="550214" y="205612"/>
                  </a:lnTo>
                  <a:lnTo>
                    <a:pt x="521982" y="138684"/>
                  </a:lnTo>
                  <a:lnTo>
                    <a:pt x="478180" y="82041"/>
                  </a:lnTo>
                  <a:lnTo>
                    <a:pt x="421487" y="38226"/>
                  </a:lnTo>
                  <a:lnTo>
                    <a:pt x="354571" y="10032"/>
                  </a:lnTo>
                  <a:lnTo>
                    <a:pt x="280111" y="0"/>
                  </a:lnTo>
                  <a:lnTo>
                    <a:pt x="205638" y="10032"/>
                  </a:lnTo>
                  <a:lnTo>
                    <a:pt x="138734" y="38226"/>
                  </a:lnTo>
                  <a:lnTo>
                    <a:pt x="82042" y="82041"/>
                  </a:lnTo>
                  <a:lnTo>
                    <a:pt x="38239" y="138684"/>
                  </a:lnTo>
                  <a:lnTo>
                    <a:pt x="9994" y="205612"/>
                  </a:lnTo>
                  <a:lnTo>
                    <a:pt x="0" y="280035"/>
                  </a:lnTo>
                  <a:lnTo>
                    <a:pt x="9994" y="354584"/>
                  </a:lnTo>
                  <a:lnTo>
                    <a:pt x="38239" y="421513"/>
                  </a:lnTo>
                  <a:lnTo>
                    <a:pt x="82042" y="478154"/>
                  </a:lnTo>
                  <a:lnTo>
                    <a:pt x="138734" y="521969"/>
                  </a:lnTo>
                  <a:lnTo>
                    <a:pt x="205638" y="550163"/>
                  </a:lnTo>
                  <a:lnTo>
                    <a:pt x="280111" y="560197"/>
                  </a:lnTo>
                  <a:lnTo>
                    <a:pt x="354571" y="550163"/>
                  </a:lnTo>
                  <a:lnTo>
                    <a:pt x="421487" y="521969"/>
                  </a:lnTo>
                  <a:lnTo>
                    <a:pt x="478180" y="478154"/>
                  </a:lnTo>
                  <a:lnTo>
                    <a:pt x="521982" y="421513"/>
                  </a:lnTo>
                  <a:lnTo>
                    <a:pt x="550214" y="354584"/>
                  </a:lnTo>
                  <a:lnTo>
                    <a:pt x="560222" y="280035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89483" y="2723515"/>
            <a:ext cx="431800" cy="64643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11760">
              <a:lnSpc>
                <a:spcPct val="100000"/>
              </a:lnSpc>
              <a:spcBef>
                <a:spcPts val="110"/>
              </a:spcBef>
            </a:pPr>
            <a:r>
              <a:rPr sz="1500" i="1" spc="35" dirty="0">
                <a:solidFill>
                  <a:srgbClr val="213739"/>
                </a:solidFill>
                <a:latin typeface="Calibri"/>
                <a:cs typeface="Calibri"/>
              </a:rPr>
              <a:t>h</a:t>
            </a:r>
            <a:r>
              <a:rPr sz="1650" spc="52" baseline="-12626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650" baseline="-12626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1275"/>
              </a:spcBef>
            </a:pPr>
            <a:r>
              <a:rPr sz="1500" spc="-60" dirty="0">
                <a:solidFill>
                  <a:srgbClr val="213739"/>
                </a:solidFill>
                <a:latin typeface="Arial MT"/>
                <a:cs typeface="Arial MT"/>
              </a:rPr>
              <a:t>-</a:t>
            </a:r>
            <a:r>
              <a:rPr sz="1500" spc="-85" dirty="0">
                <a:solidFill>
                  <a:srgbClr val="213739"/>
                </a:solidFill>
                <a:latin typeface="Arial MT"/>
                <a:cs typeface="Arial MT"/>
              </a:rPr>
              <a:t>1,-</a:t>
            </a:r>
            <a:r>
              <a:rPr sz="1500" spc="-50" dirty="0">
                <a:solidFill>
                  <a:srgbClr val="213739"/>
                </a:solidFill>
                <a:latin typeface="Arial MT"/>
                <a:cs typeface="Arial MT"/>
              </a:rPr>
              <a:t>1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563497" y="3005073"/>
            <a:ext cx="2583180" cy="531495"/>
            <a:chOff x="1563497" y="3005073"/>
            <a:chExt cx="2583180" cy="531495"/>
          </a:xfrm>
        </p:grpSpPr>
        <p:sp>
          <p:nvSpPr>
            <p:cNvPr id="17" name="object 17"/>
            <p:cNvSpPr/>
            <p:nvPr/>
          </p:nvSpPr>
          <p:spPr>
            <a:xfrm>
              <a:off x="1568577" y="3010153"/>
              <a:ext cx="521334" cy="521334"/>
            </a:xfrm>
            <a:custGeom>
              <a:avLst/>
              <a:gdLst/>
              <a:ahLst/>
              <a:cxnLst/>
              <a:rect l="l" t="t" r="r" b="b"/>
              <a:pathLst>
                <a:path w="521335" h="521335">
                  <a:moveTo>
                    <a:pt x="260730" y="0"/>
                  </a:moveTo>
                  <a:lnTo>
                    <a:pt x="191389" y="9271"/>
                  </a:lnTo>
                  <a:lnTo>
                    <a:pt x="129159" y="35560"/>
                  </a:lnTo>
                  <a:lnTo>
                    <a:pt x="76327" y="76326"/>
                  </a:lnTo>
                  <a:lnTo>
                    <a:pt x="35559" y="129159"/>
                  </a:lnTo>
                  <a:lnTo>
                    <a:pt x="9270" y="191388"/>
                  </a:lnTo>
                  <a:lnTo>
                    <a:pt x="0" y="260604"/>
                  </a:lnTo>
                  <a:lnTo>
                    <a:pt x="9270" y="329946"/>
                  </a:lnTo>
                  <a:lnTo>
                    <a:pt x="35559" y="392175"/>
                  </a:lnTo>
                  <a:lnTo>
                    <a:pt x="76327" y="445008"/>
                  </a:lnTo>
                  <a:lnTo>
                    <a:pt x="129159" y="485775"/>
                  </a:lnTo>
                  <a:lnTo>
                    <a:pt x="191389" y="512063"/>
                  </a:lnTo>
                  <a:lnTo>
                    <a:pt x="260730" y="521335"/>
                  </a:lnTo>
                  <a:lnTo>
                    <a:pt x="329946" y="512063"/>
                  </a:lnTo>
                  <a:lnTo>
                    <a:pt x="392303" y="485775"/>
                  </a:lnTo>
                  <a:lnTo>
                    <a:pt x="445008" y="445008"/>
                  </a:lnTo>
                  <a:lnTo>
                    <a:pt x="485774" y="392175"/>
                  </a:lnTo>
                  <a:lnTo>
                    <a:pt x="512064" y="329946"/>
                  </a:lnTo>
                  <a:lnTo>
                    <a:pt x="521334" y="260604"/>
                  </a:lnTo>
                  <a:lnTo>
                    <a:pt x="512064" y="191388"/>
                  </a:lnTo>
                  <a:lnTo>
                    <a:pt x="485774" y="129159"/>
                  </a:lnTo>
                  <a:lnTo>
                    <a:pt x="445008" y="76326"/>
                  </a:lnTo>
                  <a:lnTo>
                    <a:pt x="392303" y="35560"/>
                  </a:lnTo>
                  <a:lnTo>
                    <a:pt x="329946" y="9271"/>
                  </a:lnTo>
                  <a:lnTo>
                    <a:pt x="260730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568577" y="3010153"/>
              <a:ext cx="521334" cy="521334"/>
            </a:xfrm>
            <a:custGeom>
              <a:avLst/>
              <a:gdLst/>
              <a:ahLst/>
              <a:cxnLst/>
              <a:rect l="l" t="t" r="r" b="b"/>
              <a:pathLst>
                <a:path w="521335" h="521335">
                  <a:moveTo>
                    <a:pt x="521334" y="260604"/>
                  </a:moveTo>
                  <a:lnTo>
                    <a:pt x="512064" y="191388"/>
                  </a:lnTo>
                  <a:lnTo>
                    <a:pt x="485774" y="129159"/>
                  </a:lnTo>
                  <a:lnTo>
                    <a:pt x="445008" y="76326"/>
                  </a:lnTo>
                  <a:lnTo>
                    <a:pt x="392303" y="35560"/>
                  </a:lnTo>
                  <a:lnTo>
                    <a:pt x="329946" y="9271"/>
                  </a:lnTo>
                  <a:lnTo>
                    <a:pt x="260730" y="0"/>
                  </a:lnTo>
                  <a:lnTo>
                    <a:pt x="191389" y="9271"/>
                  </a:lnTo>
                  <a:lnTo>
                    <a:pt x="129159" y="35560"/>
                  </a:lnTo>
                  <a:lnTo>
                    <a:pt x="76327" y="76326"/>
                  </a:lnTo>
                  <a:lnTo>
                    <a:pt x="35559" y="129159"/>
                  </a:lnTo>
                  <a:lnTo>
                    <a:pt x="9270" y="191388"/>
                  </a:lnTo>
                  <a:lnTo>
                    <a:pt x="0" y="260604"/>
                  </a:lnTo>
                  <a:lnTo>
                    <a:pt x="9270" y="329946"/>
                  </a:lnTo>
                  <a:lnTo>
                    <a:pt x="35559" y="392175"/>
                  </a:lnTo>
                  <a:lnTo>
                    <a:pt x="76327" y="445008"/>
                  </a:lnTo>
                  <a:lnTo>
                    <a:pt x="129159" y="485775"/>
                  </a:lnTo>
                  <a:lnTo>
                    <a:pt x="191389" y="512063"/>
                  </a:lnTo>
                  <a:lnTo>
                    <a:pt x="260730" y="521335"/>
                  </a:lnTo>
                  <a:lnTo>
                    <a:pt x="329946" y="512063"/>
                  </a:lnTo>
                  <a:lnTo>
                    <a:pt x="392303" y="485775"/>
                  </a:lnTo>
                  <a:lnTo>
                    <a:pt x="445008" y="445008"/>
                  </a:lnTo>
                  <a:lnTo>
                    <a:pt x="485774" y="392175"/>
                  </a:lnTo>
                  <a:lnTo>
                    <a:pt x="512064" y="329946"/>
                  </a:lnTo>
                  <a:lnTo>
                    <a:pt x="521334" y="26060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596261" y="3010153"/>
              <a:ext cx="521334" cy="521334"/>
            </a:xfrm>
            <a:custGeom>
              <a:avLst/>
              <a:gdLst/>
              <a:ahLst/>
              <a:cxnLst/>
              <a:rect l="l" t="t" r="r" b="b"/>
              <a:pathLst>
                <a:path w="521335" h="521335">
                  <a:moveTo>
                    <a:pt x="260731" y="0"/>
                  </a:moveTo>
                  <a:lnTo>
                    <a:pt x="191388" y="9271"/>
                  </a:lnTo>
                  <a:lnTo>
                    <a:pt x="129158" y="35560"/>
                  </a:lnTo>
                  <a:lnTo>
                    <a:pt x="76326" y="76326"/>
                  </a:lnTo>
                  <a:lnTo>
                    <a:pt x="35559" y="129159"/>
                  </a:lnTo>
                  <a:lnTo>
                    <a:pt x="9270" y="191388"/>
                  </a:lnTo>
                  <a:lnTo>
                    <a:pt x="0" y="260604"/>
                  </a:lnTo>
                  <a:lnTo>
                    <a:pt x="9270" y="329946"/>
                  </a:lnTo>
                  <a:lnTo>
                    <a:pt x="35559" y="392175"/>
                  </a:lnTo>
                  <a:lnTo>
                    <a:pt x="76326" y="445008"/>
                  </a:lnTo>
                  <a:lnTo>
                    <a:pt x="129158" y="485775"/>
                  </a:lnTo>
                  <a:lnTo>
                    <a:pt x="191388" y="512063"/>
                  </a:lnTo>
                  <a:lnTo>
                    <a:pt x="260731" y="521335"/>
                  </a:lnTo>
                  <a:lnTo>
                    <a:pt x="329945" y="512063"/>
                  </a:lnTo>
                  <a:lnTo>
                    <a:pt x="392302" y="485775"/>
                  </a:lnTo>
                  <a:lnTo>
                    <a:pt x="445007" y="445008"/>
                  </a:lnTo>
                  <a:lnTo>
                    <a:pt x="485775" y="392175"/>
                  </a:lnTo>
                  <a:lnTo>
                    <a:pt x="512063" y="329946"/>
                  </a:lnTo>
                  <a:lnTo>
                    <a:pt x="521334" y="260604"/>
                  </a:lnTo>
                  <a:lnTo>
                    <a:pt x="512063" y="191388"/>
                  </a:lnTo>
                  <a:lnTo>
                    <a:pt x="485775" y="129159"/>
                  </a:lnTo>
                  <a:lnTo>
                    <a:pt x="445007" y="76326"/>
                  </a:lnTo>
                  <a:lnTo>
                    <a:pt x="392302" y="35560"/>
                  </a:lnTo>
                  <a:lnTo>
                    <a:pt x="329945" y="9271"/>
                  </a:lnTo>
                  <a:lnTo>
                    <a:pt x="260731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596261" y="3010153"/>
              <a:ext cx="521334" cy="521334"/>
            </a:xfrm>
            <a:custGeom>
              <a:avLst/>
              <a:gdLst/>
              <a:ahLst/>
              <a:cxnLst/>
              <a:rect l="l" t="t" r="r" b="b"/>
              <a:pathLst>
                <a:path w="521335" h="521335">
                  <a:moveTo>
                    <a:pt x="521334" y="260604"/>
                  </a:moveTo>
                  <a:lnTo>
                    <a:pt x="512063" y="191388"/>
                  </a:lnTo>
                  <a:lnTo>
                    <a:pt x="485775" y="129159"/>
                  </a:lnTo>
                  <a:lnTo>
                    <a:pt x="445007" y="76326"/>
                  </a:lnTo>
                  <a:lnTo>
                    <a:pt x="392302" y="35560"/>
                  </a:lnTo>
                  <a:lnTo>
                    <a:pt x="329945" y="9271"/>
                  </a:lnTo>
                  <a:lnTo>
                    <a:pt x="260731" y="0"/>
                  </a:lnTo>
                  <a:lnTo>
                    <a:pt x="191388" y="9271"/>
                  </a:lnTo>
                  <a:lnTo>
                    <a:pt x="129158" y="35560"/>
                  </a:lnTo>
                  <a:lnTo>
                    <a:pt x="76326" y="76326"/>
                  </a:lnTo>
                  <a:lnTo>
                    <a:pt x="35559" y="129159"/>
                  </a:lnTo>
                  <a:lnTo>
                    <a:pt x="9270" y="191388"/>
                  </a:lnTo>
                  <a:lnTo>
                    <a:pt x="0" y="260604"/>
                  </a:lnTo>
                  <a:lnTo>
                    <a:pt x="9270" y="329946"/>
                  </a:lnTo>
                  <a:lnTo>
                    <a:pt x="35559" y="392175"/>
                  </a:lnTo>
                  <a:lnTo>
                    <a:pt x="76326" y="445008"/>
                  </a:lnTo>
                  <a:lnTo>
                    <a:pt x="129158" y="485775"/>
                  </a:lnTo>
                  <a:lnTo>
                    <a:pt x="191388" y="512063"/>
                  </a:lnTo>
                  <a:lnTo>
                    <a:pt x="260731" y="521335"/>
                  </a:lnTo>
                  <a:lnTo>
                    <a:pt x="329945" y="512063"/>
                  </a:lnTo>
                  <a:lnTo>
                    <a:pt x="392302" y="485775"/>
                  </a:lnTo>
                  <a:lnTo>
                    <a:pt x="445007" y="445008"/>
                  </a:lnTo>
                  <a:lnTo>
                    <a:pt x="485775" y="392175"/>
                  </a:lnTo>
                  <a:lnTo>
                    <a:pt x="512063" y="329946"/>
                  </a:lnTo>
                  <a:lnTo>
                    <a:pt x="521334" y="26060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627754" y="3013963"/>
              <a:ext cx="513715" cy="513715"/>
            </a:xfrm>
            <a:custGeom>
              <a:avLst/>
              <a:gdLst/>
              <a:ahLst/>
              <a:cxnLst/>
              <a:rect l="l" t="t" r="r" b="b"/>
              <a:pathLst>
                <a:path w="513714" h="513714">
                  <a:moveTo>
                    <a:pt x="256794" y="0"/>
                  </a:moveTo>
                  <a:lnTo>
                    <a:pt x="188595" y="9144"/>
                  </a:lnTo>
                  <a:lnTo>
                    <a:pt x="127127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4" y="188595"/>
                  </a:lnTo>
                  <a:lnTo>
                    <a:pt x="0" y="256794"/>
                  </a:lnTo>
                  <a:lnTo>
                    <a:pt x="9144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127" y="478663"/>
                  </a:lnTo>
                  <a:lnTo>
                    <a:pt x="188595" y="504571"/>
                  </a:lnTo>
                  <a:lnTo>
                    <a:pt x="256794" y="513714"/>
                  </a:lnTo>
                  <a:lnTo>
                    <a:pt x="325120" y="504571"/>
                  </a:lnTo>
                  <a:lnTo>
                    <a:pt x="386461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715" y="256794"/>
                  </a:ln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461" y="35051"/>
                  </a:lnTo>
                  <a:lnTo>
                    <a:pt x="325120" y="9144"/>
                  </a:lnTo>
                  <a:lnTo>
                    <a:pt x="256794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627754" y="3013963"/>
              <a:ext cx="513715" cy="513715"/>
            </a:xfrm>
            <a:custGeom>
              <a:avLst/>
              <a:gdLst/>
              <a:ahLst/>
              <a:cxnLst/>
              <a:rect l="l" t="t" r="r" b="b"/>
              <a:pathLst>
                <a:path w="513714" h="513714">
                  <a:moveTo>
                    <a:pt x="513715" y="256794"/>
                  </a:move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461" y="35051"/>
                  </a:lnTo>
                  <a:lnTo>
                    <a:pt x="325120" y="9144"/>
                  </a:lnTo>
                  <a:lnTo>
                    <a:pt x="256794" y="0"/>
                  </a:lnTo>
                  <a:lnTo>
                    <a:pt x="188595" y="9144"/>
                  </a:lnTo>
                  <a:lnTo>
                    <a:pt x="127127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4" y="188595"/>
                  </a:lnTo>
                  <a:lnTo>
                    <a:pt x="0" y="256794"/>
                  </a:lnTo>
                  <a:lnTo>
                    <a:pt x="9144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127" y="478663"/>
                  </a:lnTo>
                  <a:lnTo>
                    <a:pt x="188595" y="504571"/>
                  </a:lnTo>
                  <a:lnTo>
                    <a:pt x="256794" y="513714"/>
                  </a:lnTo>
                  <a:lnTo>
                    <a:pt x="325120" y="504571"/>
                  </a:lnTo>
                  <a:lnTo>
                    <a:pt x="386461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715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3719448" y="2723515"/>
            <a:ext cx="329565" cy="644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65405">
              <a:lnSpc>
                <a:spcPct val="100000"/>
              </a:lnSpc>
              <a:spcBef>
                <a:spcPts val="110"/>
              </a:spcBef>
            </a:pP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h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4</a:t>
            </a:r>
            <a:endParaRPr sz="1650" baseline="-10101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1260"/>
              </a:spcBef>
            </a:pPr>
            <a:r>
              <a:rPr sz="1500" spc="-25" dirty="0">
                <a:solidFill>
                  <a:srgbClr val="213739"/>
                </a:solidFill>
                <a:latin typeface="Arial MT"/>
                <a:cs typeface="Arial MT"/>
              </a:rPr>
              <a:t>1,1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33527" y="3638803"/>
            <a:ext cx="748030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i="1" dirty="0">
                <a:solidFill>
                  <a:srgbClr val="213739"/>
                </a:solidFill>
                <a:latin typeface="Calibri"/>
                <a:cs typeface="Calibri"/>
              </a:rPr>
              <a:t>bias</a:t>
            </a:r>
            <a:r>
              <a:rPr sz="1500" i="1" spc="33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500" spc="-13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13739"/>
                </a:solidFill>
                <a:latin typeface="Arial MT"/>
                <a:cs typeface="Arial MT"/>
              </a:rPr>
              <a:t>-</a:t>
            </a:r>
            <a:r>
              <a:rPr sz="1500" spc="-2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00" spc="-50" dirty="0">
                <a:solidFill>
                  <a:srgbClr val="213739"/>
                </a:solidFill>
                <a:latin typeface="Arial MT"/>
                <a:cs typeface="Arial MT"/>
              </a:rPr>
              <a:t>2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278507" y="1536572"/>
            <a:ext cx="111760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i="1" spc="-50" dirty="0">
                <a:solidFill>
                  <a:srgbClr val="213739"/>
                </a:solidFill>
                <a:latin typeface="Calibri"/>
                <a:cs typeface="Calibri"/>
              </a:rPr>
              <a:t>y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164336" y="2568955"/>
            <a:ext cx="280670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650" baseline="-10101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628013" y="2532379"/>
            <a:ext cx="1461135" cy="8324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90500">
              <a:lnSpc>
                <a:spcPts val="1650"/>
              </a:lnSpc>
              <a:spcBef>
                <a:spcPts val="110"/>
              </a:spcBef>
              <a:tabLst>
                <a:tab pos="704215" algn="l"/>
                <a:tab pos="1191895" algn="l"/>
              </a:tabLst>
            </a:pP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650" baseline="-1010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r>
              <a:rPr sz="1650" baseline="-1010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4</a:t>
            </a:r>
            <a:endParaRPr sz="1650" baseline="-10101">
              <a:latin typeface="Calibri"/>
              <a:cs typeface="Calibri"/>
            </a:endParaRPr>
          </a:p>
          <a:p>
            <a:pPr marL="100965">
              <a:lnSpc>
                <a:spcPts val="1650"/>
              </a:lnSpc>
              <a:tabLst>
                <a:tab pos="1127760" algn="l"/>
              </a:tabLst>
            </a:pP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h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650" baseline="-1010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h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650" baseline="-10101">
              <a:latin typeface="Calibri"/>
              <a:cs typeface="Calibri"/>
            </a:endParaRPr>
          </a:p>
          <a:p>
            <a:pPr marL="50800">
              <a:lnSpc>
                <a:spcPct val="100000"/>
              </a:lnSpc>
              <a:spcBef>
                <a:spcPts val="1235"/>
              </a:spcBef>
              <a:tabLst>
                <a:tab pos="1077595" algn="l"/>
              </a:tabLst>
            </a:pPr>
            <a:r>
              <a:rPr sz="1500" spc="-40" dirty="0">
                <a:solidFill>
                  <a:srgbClr val="213739"/>
                </a:solidFill>
                <a:latin typeface="Arial MT"/>
                <a:cs typeface="Arial MT"/>
              </a:rPr>
              <a:t>-</a:t>
            </a:r>
            <a:r>
              <a:rPr sz="1500" spc="-25" dirty="0">
                <a:solidFill>
                  <a:srgbClr val="213739"/>
                </a:solidFill>
                <a:latin typeface="Arial MT"/>
                <a:cs typeface="Arial MT"/>
              </a:rPr>
              <a:t>1,1</a:t>
            </a:r>
            <a:r>
              <a:rPr sz="1500" dirty="0">
                <a:solidFill>
                  <a:srgbClr val="213739"/>
                </a:solidFill>
                <a:latin typeface="Arial MT"/>
                <a:cs typeface="Arial MT"/>
              </a:rPr>
              <a:t>	</a:t>
            </a:r>
            <a:r>
              <a:rPr sz="1500" spc="-70" dirty="0">
                <a:solidFill>
                  <a:srgbClr val="213739"/>
                </a:solidFill>
                <a:latin typeface="Arial MT"/>
                <a:cs typeface="Arial MT"/>
              </a:rPr>
              <a:t>1,-</a:t>
            </a:r>
            <a:r>
              <a:rPr sz="1500" spc="-50" dirty="0">
                <a:solidFill>
                  <a:srgbClr val="213739"/>
                </a:solidFill>
                <a:latin typeface="Arial MT"/>
                <a:cs typeface="Arial MT"/>
              </a:rPr>
              <a:t>1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994460" y="1862084"/>
            <a:ext cx="2713990" cy="2357120"/>
            <a:chOff x="994460" y="1862084"/>
            <a:chExt cx="2713990" cy="2357120"/>
          </a:xfrm>
        </p:grpSpPr>
        <p:sp>
          <p:nvSpPr>
            <p:cNvPr id="29" name="object 29"/>
            <p:cNvSpPr/>
            <p:nvPr/>
          </p:nvSpPr>
          <p:spPr>
            <a:xfrm>
              <a:off x="1016139" y="3485388"/>
              <a:ext cx="686435" cy="686435"/>
            </a:xfrm>
            <a:custGeom>
              <a:avLst/>
              <a:gdLst/>
              <a:ahLst/>
              <a:cxnLst/>
              <a:rect l="l" t="t" r="r" b="b"/>
              <a:pathLst>
                <a:path w="686435" h="686435">
                  <a:moveTo>
                    <a:pt x="686295" y="686181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4460" y="3463657"/>
              <a:ext cx="104659" cy="104661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1072959" y="3406521"/>
              <a:ext cx="1615440" cy="807720"/>
            </a:xfrm>
            <a:custGeom>
              <a:avLst/>
              <a:gdLst/>
              <a:ahLst/>
              <a:cxnLst/>
              <a:rect l="l" t="t" r="r" b="b"/>
              <a:pathLst>
                <a:path w="1615439" h="807720">
                  <a:moveTo>
                    <a:pt x="1615122" y="807592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60723" y="3364757"/>
              <a:ext cx="84085" cy="122262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1766570" y="3546729"/>
              <a:ext cx="125730" cy="624840"/>
            </a:xfrm>
            <a:custGeom>
              <a:avLst/>
              <a:gdLst/>
              <a:ahLst/>
              <a:cxnLst/>
              <a:rect l="l" t="t" r="r" b="b"/>
              <a:pathLst>
                <a:path w="125730" h="624839">
                  <a:moveTo>
                    <a:pt x="62737" y="624840"/>
                  </a:moveTo>
                  <a:lnTo>
                    <a:pt x="62737" y="8000"/>
                  </a:lnTo>
                </a:path>
                <a:path w="125730" h="624839">
                  <a:moveTo>
                    <a:pt x="0" y="51435"/>
                  </a:moveTo>
                  <a:lnTo>
                    <a:pt x="24637" y="42418"/>
                  </a:lnTo>
                  <a:lnTo>
                    <a:pt x="42672" y="30099"/>
                  </a:lnTo>
                  <a:lnTo>
                    <a:pt x="55118" y="15621"/>
                  </a:lnTo>
                  <a:lnTo>
                    <a:pt x="62737" y="0"/>
                  </a:lnTo>
                  <a:lnTo>
                    <a:pt x="70231" y="15621"/>
                  </a:lnTo>
                  <a:lnTo>
                    <a:pt x="82677" y="30099"/>
                  </a:lnTo>
                  <a:lnTo>
                    <a:pt x="100711" y="42418"/>
                  </a:lnTo>
                  <a:lnTo>
                    <a:pt x="125349" y="51435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030094" y="3471672"/>
              <a:ext cx="700405" cy="700405"/>
            </a:xfrm>
            <a:custGeom>
              <a:avLst/>
              <a:gdLst/>
              <a:ahLst/>
              <a:cxnLst/>
              <a:rect l="l" t="t" r="r" b="b"/>
              <a:pathLst>
                <a:path w="700405" h="700404">
                  <a:moveTo>
                    <a:pt x="700024" y="699896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08377" y="3449924"/>
              <a:ext cx="105171" cy="105186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1956054" y="3471672"/>
              <a:ext cx="700405" cy="700405"/>
            </a:xfrm>
            <a:custGeom>
              <a:avLst/>
              <a:gdLst/>
              <a:ahLst/>
              <a:cxnLst/>
              <a:rect l="l" t="t" r="r" b="b"/>
              <a:pathLst>
                <a:path w="700405" h="700404">
                  <a:moveTo>
                    <a:pt x="0" y="699896"/>
                  </a:moveTo>
                  <a:lnTo>
                    <a:pt x="700023" y="0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72766" y="3449924"/>
              <a:ext cx="105171" cy="105186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2794254" y="3546729"/>
              <a:ext cx="125730" cy="624840"/>
            </a:xfrm>
            <a:custGeom>
              <a:avLst/>
              <a:gdLst/>
              <a:ahLst/>
              <a:cxnLst/>
              <a:rect l="l" t="t" r="r" b="b"/>
              <a:pathLst>
                <a:path w="125730" h="624839">
                  <a:moveTo>
                    <a:pt x="62737" y="624840"/>
                  </a:moveTo>
                  <a:lnTo>
                    <a:pt x="62737" y="8000"/>
                  </a:lnTo>
                </a:path>
                <a:path w="125730" h="624839">
                  <a:moveTo>
                    <a:pt x="0" y="51435"/>
                  </a:moveTo>
                  <a:lnTo>
                    <a:pt x="24637" y="42418"/>
                  </a:lnTo>
                  <a:lnTo>
                    <a:pt x="42671" y="30099"/>
                  </a:lnTo>
                  <a:lnTo>
                    <a:pt x="55118" y="15621"/>
                  </a:lnTo>
                  <a:lnTo>
                    <a:pt x="62737" y="0"/>
                  </a:lnTo>
                  <a:lnTo>
                    <a:pt x="70231" y="15621"/>
                  </a:lnTo>
                  <a:lnTo>
                    <a:pt x="82676" y="30099"/>
                  </a:lnTo>
                  <a:lnTo>
                    <a:pt x="100710" y="42418"/>
                  </a:lnTo>
                  <a:lnTo>
                    <a:pt x="125348" y="51435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998218" y="3396107"/>
              <a:ext cx="1635760" cy="818515"/>
            </a:xfrm>
            <a:custGeom>
              <a:avLst/>
              <a:gdLst/>
              <a:ahLst/>
              <a:cxnLst/>
              <a:rect l="l" t="t" r="r" b="b"/>
              <a:pathLst>
                <a:path w="1635760" h="818514">
                  <a:moveTo>
                    <a:pt x="0" y="818006"/>
                  </a:moveTo>
                  <a:lnTo>
                    <a:pt x="1635759" y="0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62114" y="3354470"/>
              <a:ext cx="84163" cy="122136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2983864" y="3469005"/>
              <a:ext cx="702945" cy="702945"/>
            </a:xfrm>
            <a:custGeom>
              <a:avLst/>
              <a:gdLst/>
              <a:ahLst/>
              <a:cxnLst/>
              <a:rect l="l" t="t" r="r" b="b"/>
              <a:pathLst>
                <a:path w="702945" h="702945">
                  <a:moveTo>
                    <a:pt x="0" y="702564"/>
                  </a:moveTo>
                  <a:lnTo>
                    <a:pt x="702563" y="0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603498" y="3447274"/>
              <a:ext cx="104659" cy="104661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1041425" y="2308860"/>
              <a:ext cx="1203325" cy="802640"/>
            </a:xfrm>
            <a:custGeom>
              <a:avLst/>
              <a:gdLst/>
              <a:ahLst/>
              <a:cxnLst/>
              <a:rect l="l" t="t" r="r" b="b"/>
              <a:pathLst>
                <a:path w="1203325" h="802639">
                  <a:moveTo>
                    <a:pt x="0" y="802131"/>
                  </a:moveTo>
                  <a:lnTo>
                    <a:pt x="1203172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83766" y="2287145"/>
              <a:ext cx="66671" cy="85467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1949577" y="2348738"/>
              <a:ext cx="340995" cy="681990"/>
            </a:xfrm>
            <a:custGeom>
              <a:avLst/>
              <a:gdLst/>
              <a:ahLst/>
              <a:cxnLst/>
              <a:rect l="l" t="t" r="r" b="b"/>
              <a:pathLst>
                <a:path w="340994" h="681989">
                  <a:moveTo>
                    <a:pt x="0" y="681482"/>
                  </a:moveTo>
                  <a:lnTo>
                    <a:pt x="340741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227579" y="2342641"/>
              <a:ext cx="91568" cy="64136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2395855" y="2348738"/>
              <a:ext cx="340995" cy="681990"/>
            </a:xfrm>
            <a:custGeom>
              <a:avLst/>
              <a:gdLst/>
              <a:ahLst/>
              <a:cxnLst/>
              <a:rect l="l" t="t" r="r" b="b"/>
              <a:pathLst>
                <a:path w="340994" h="681989">
                  <a:moveTo>
                    <a:pt x="340868" y="681482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67025" y="2342641"/>
              <a:ext cx="91568" cy="64136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2441575" y="2308860"/>
              <a:ext cx="1223010" cy="815340"/>
            </a:xfrm>
            <a:custGeom>
              <a:avLst/>
              <a:gdLst/>
              <a:ahLst/>
              <a:cxnLst/>
              <a:rect l="l" t="t" r="r" b="b"/>
              <a:pathLst>
                <a:path w="1223010" h="815339">
                  <a:moveTo>
                    <a:pt x="1222628" y="814959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435734" y="2287145"/>
              <a:ext cx="66671" cy="85467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2294890" y="1864614"/>
              <a:ext cx="96520" cy="268605"/>
            </a:xfrm>
            <a:custGeom>
              <a:avLst/>
              <a:gdLst/>
              <a:ahLst/>
              <a:cxnLst/>
              <a:rect l="l" t="t" r="r" b="b"/>
              <a:pathLst>
                <a:path w="96519" h="268605">
                  <a:moveTo>
                    <a:pt x="48260" y="268605"/>
                  </a:moveTo>
                  <a:lnTo>
                    <a:pt x="48260" y="4063"/>
                  </a:lnTo>
                </a:path>
                <a:path w="96519" h="268605">
                  <a:moveTo>
                    <a:pt x="0" y="41783"/>
                  </a:moveTo>
                  <a:lnTo>
                    <a:pt x="18923" y="34416"/>
                  </a:lnTo>
                  <a:lnTo>
                    <a:pt x="32893" y="24511"/>
                  </a:lnTo>
                  <a:lnTo>
                    <a:pt x="42418" y="12700"/>
                  </a:lnTo>
                  <a:lnTo>
                    <a:pt x="48260" y="0"/>
                  </a:lnTo>
                  <a:lnTo>
                    <a:pt x="54102" y="12700"/>
                  </a:lnTo>
                  <a:lnTo>
                    <a:pt x="63627" y="24511"/>
                  </a:lnTo>
                  <a:lnTo>
                    <a:pt x="77470" y="34416"/>
                  </a:lnTo>
                  <a:lnTo>
                    <a:pt x="96393" y="41783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343204" y="3999632"/>
            <a:ext cx="2451100" cy="1073785"/>
          </a:xfrm>
          <a:prstGeom prst="rect">
            <a:avLst/>
          </a:prstGeom>
        </p:spPr>
        <p:txBody>
          <a:bodyPr vert="horz" wrap="square" lIns="0" tIns="125095" rIns="0" bIns="0" rtlCol="0">
            <a:spAutoFit/>
          </a:bodyPr>
          <a:lstStyle/>
          <a:p>
            <a:pPr marL="496570" algn="ctr">
              <a:lnSpc>
                <a:spcPct val="100000"/>
              </a:lnSpc>
              <a:spcBef>
                <a:spcPts val="985"/>
              </a:spcBef>
            </a:pPr>
            <a:r>
              <a:rPr sz="1500" i="1" spc="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650" spc="37" baseline="-10101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650" baseline="-10101">
              <a:latin typeface="Calibri"/>
              <a:cs typeface="Calibri"/>
            </a:endParaRPr>
          </a:p>
          <a:p>
            <a:pPr marL="38100" marR="30480">
              <a:lnSpc>
                <a:spcPct val="117700"/>
              </a:lnSpc>
              <a:spcBef>
                <a:spcPts val="625"/>
              </a:spcBef>
            </a:pP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red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edge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indicates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i="1" spc="10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=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-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1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blue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edge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indicates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i="1" spc="12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=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+1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53" name="object 53" descr="$PPTXTitle"/>
          <p:cNvSpPr txBox="1">
            <a:spLocks noGrp="1"/>
          </p:cNvSpPr>
          <p:nvPr>
            <p:ph type="title"/>
          </p:nvPr>
        </p:nvSpPr>
        <p:spPr>
          <a:xfrm>
            <a:off x="4756403" y="946530"/>
            <a:ext cx="406781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Let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875" spc="345" baseline="-8888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be</a:t>
            </a:r>
            <a:r>
              <a:rPr sz="1750" spc="-1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bias</a:t>
            </a:r>
            <a:r>
              <a:rPr sz="1750" spc="-1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output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 the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neuron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i="1" spc="-10" dirty="0">
                <a:solidFill>
                  <a:srgbClr val="213739"/>
                </a:solidFill>
                <a:latin typeface="Times New Roman"/>
                <a:cs typeface="Times New Roman"/>
              </a:rPr>
              <a:t>i.e.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,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4785105" y="1266571"/>
            <a:ext cx="972819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it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will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fire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if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5854572" y="1145870"/>
            <a:ext cx="314325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2625" spc="-30" baseline="-28571" dirty="0">
                <a:solidFill>
                  <a:srgbClr val="213739"/>
                </a:solidFill>
                <a:latin typeface="Lucida Sans Unicode"/>
                <a:cs typeface="Lucida Sans Unicode"/>
              </a:rPr>
              <a:t>Σ</a:t>
            </a:r>
            <a:r>
              <a:rPr sz="2625" spc="-540" baseline="-28571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250" spc="-50" dirty="0">
                <a:solidFill>
                  <a:srgbClr val="213739"/>
                </a:solidFill>
                <a:latin typeface="Calibri"/>
                <a:cs typeface="Calibri"/>
              </a:rPr>
              <a:t>4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6035802" y="1382395"/>
            <a:ext cx="285115" cy="2197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50" i="1" dirty="0">
                <a:solidFill>
                  <a:srgbClr val="213739"/>
                </a:solidFill>
                <a:latin typeface="Calibri"/>
                <a:cs typeface="Calibri"/>
              </a:rPr>
              <a:t>i</a:t>
            </a:r>
            <a:r>
              <a:rPr sz="1250" i="1" spc="-13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250" spc="55" dirty="0">
                <a:solidFill>
                  <a:srgbClr val="213739"/>
                </a:solidFill>
                <a:latin typeface="Calibri"/>
                <a:cs typeface="Calibri"/>
              </a:rPr>
              <a:t>=1 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6333997" y="1248283"/>
            <a:ext cx="108712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8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i="1" spc="127" baseline="-8888" dirty="0">
                <a:solidFill>
                  <a:srgbClr val="213739"/>
                </a:solidFill>
                <a:latin typeface="Calibri"/>
                <a:cs typeface="Calibri"/>
              </a:rPr>
              <a:t>i</a:t>
            </a:r>
            <a:r>
              <a:rPr sz="1750" i="1" spc="85" dirty="0">
                <a:solidFill>
                  <a:srgbClr val="213739"/>
                </a:solidFill>
                <a:latin typeface="Calibri"/>
                <a:cs typeface="Calibri"/>
              </a:rPr>
              <a:t>h</a:t>
            </a:r>
            <a:r>
              <a:rPr sz="1875" i="1" spc="127" baseline="-8888" dirty="0">
                <a:solidFill>
                  <a:srgbClr val="213739"/>
                </a:solidFill>
                <a:latin typeface="Calibri"/>
                <a:cs typeface="Calibri"/>
              </a:rPr>
              <a:t>i</a:t>
            </a:r>
            <a:r>
              <a:rPr sz="1875" i="1" spc="509" baseline="-8888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≥</a:t>
            </a:r>
            <a:r>
              <a:rPr sz="1750" spc="-10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)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4358004" y="2048382"/>
            <a:ext cx="4561205" cy="0"/>
          </a:xfrm>
          <a:custGeom>
            <a:avLst/>
            <a:gdLst/>
            <a:ahLst/>
            <a:cxnLst/>
            <a:rect l="l" t="t" r="r" b="b"/>
            <a:pathLst>
              <a:path w="4561205">
                <a:moveTo>
                  <a:pt x="0" y="0"/>
                </a:moveTo>
                <a:lnTo>
                  <a:pt x="4560824" y="0"/>
                </a:lnTo>
              </a:path>
            </a:pathLst>
          </a:custGeom>
          <a:ln w="5053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9" name="object 59"/>
          <p:cNvGraphicFramePr>
            <a:graphicFrameLocks noGrp="1"/>
          </p:cNvGraphicFramePr>
          <p:nvPr/>
        </p:nvGraphicFramePr>
        <p:xfrm>
          <a:off x="4393755" y="1837275"/>
          <a:ext cx="4435472" cy="10071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5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5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23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18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70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57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7909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283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7404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990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i="1" spc="-25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x</a:t>
                      </a:r>
                      <a:r>
                        <a:rPr sz="1650" spc="-37" baseline="-10101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650" baseline="-10101">
                        <a:latin typeface="Calibri"/>
                        <a:cs typeface="Calibri"/>
                      </a:endParaRPr>
                    </a:p>
                    <a:p>
                      <a:pPr marL="13398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6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R="571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i="1" spc="-25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x</a:t>
                      </a:r>
                      <a:r>
                        <a:rPr sz="1650" spc="-37" baseline="-10101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650" baseline="-10101">
                        <a:latin typeface="Calibri"/>
                        <a:cs typeface="Calibri"/>
                      </a:endParaRPr>
                    </a:p>
                    <a:p>
                      <a:pPr marL="317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6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40"/>
                        </a:spcBef>
                      </a:pPr>
                      <a:r>
                        <a:rPr sz="1600" i="1" spc="85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XOR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2476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6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9558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2413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i="1" spc="-25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h</a:t>
                      </a:r>
                      <a:r>
                        <a:rPr sz="1650" spc="-37" baseline="-10101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650" baseline="-10101">
                        <a:latin typeface="Calibri"/>
                        <a:cs typeface="Calibri"/>
                      </a:endParaRPr>
                    </a:p>
                    <a:p>
                      <a:pPr marL="3429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6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i="1" spc="-25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h</a:t>
                      </a:r>
                      <a:r>
                        <a:rPr sz="1650" spc="-37" baseline="-10101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650" baseline="-10101">
                        <a:latin typeface="Calibri"/>
                        <a:cs typeface="Calibri"/>
                      </a:endParaRPr>
                    </a:p>
                    <a:p>
                      <a:pPr marL="952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6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i="1" spc="-25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h</a:t>
                      </a:r>
                      <a:r>
                        <a:rPr sz="1650" spc="-37" baseline="-10101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650" baseline="-10101">
                        <a:latin typeface="Calibri"/>
                        <a:cs typeface="Calibri"/>
                      </a:endParaRPr>
                    </a:p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6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3208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i="1" spc="-25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h</a:t>
                      </a:r>
                      <a:r>
                        <a:rPr sz="1650" spc="-37" baseline="-10101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650" baseline="-10101">
                        <a:latin typeface="Calibri"/>
                        <a:cs typeface="Calibri"/>
                      </a:endParaRPr>
                    </a:p>
                    <a:p>
                      <a:pPr marL="17145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6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 marL="109855" algn="ctr">
                        <a:lnSpc>
                          <a:spcPts val="1305"/>
                        </a:lnSpc>
                        <a:spcBef>
                          <a:spcPts val="675"/>
                        </a:spcBef>
                      </a:pPr>
                      <a:r>
                        <a:rPr sz="2400" spc="-15" baseline="34722" dirty="0">
                          <a:solidFill>
                            <a:srgbClr val="213739"/>
                          </a:solidFill>
                          <a:latin typeface="Lucida Sans Unicode"/>
                          <a:cs typeface="Lucida Sans Unicode"/>
                        </a:rPr>
                        <a:t>Σ</a:t>
                      </a:r>
                      <a:r>
                        <a:rPr sz="2400" spc="-419" baseline="34722" dirty="0">
                          <a:solidFill>
                            <a:srgbClr val="213739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650" baseline="35353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4</a:t>
                      </a:r>
                      <a:r>
                        <a:rPr sz="1650" spc="225" baseline="35353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  </a:t>
                      </a:r>
                      <a:r>
                        <a:rPr sz="1600" i="1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w</a:t>
                      </a:r>
                      <a:r>
                        <a:rPr sz="1600" i="1" spc="20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i="1" spc="-50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h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784225">
                        <a:lnSpc>
                          <a:spcPts val="520"/>
                        </a:lnSpc>
                      </a:pPr>
                      <a:r>
                        <a:rPr sz="1100" i="1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sz="1100" i="1" spc="225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  </a:t>
                      </a:r>
                      <a:r>
                        <a:rPr sz="1100" i="1" spc="-50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i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66040">
                        <a:lnSpc>
                          <a:spcPts val="735"/>
                        </a:lnSpc>
                        <a:tabLst>
                          <a:tab pos="784225" algn="l"/>
                        </a:tabLst>
                      </a:pPr>
                      <a:r>
                        <a:rPr sz="1100" i="1" u="sng" dirty="0">
                          <a:solidFill>
                            <a:srgbClr val="213739"/>
                          </a:solidFill>
                          <a:uFill>
                            <a:solidFill>
                              <a:srgbClr val="213739"/>
                            </a:solidFill>
                          </a:uFill>
                          <a:latin typeface="Calibri"/>
                          <a:cs typeface="Calibri"/>
                        </a:rPr>
                        <a:t>i</a:t>
                      </a:r>
                      <a:r>
                        <a:rPr sz="1100" i="1" u="sng" spc="-130" dirty="0">
                          <a:solidFill>
                            <a:srgbClr val="213739"/>
                          </a:solidFill>
                          <a:uFill>
                            <a:solidFill>
                              <a:srgbClr val="213739"/>
                            </a:solidFill>
                          </a:u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u="sng" spc="-10" dirty="0">
                          <a:solidFill>
                            <a:srgbClr val="213739"/>
                          </a:solidFill>
                          <a:uFill>
                            <a:solidFill>
                              <a:srgbClr val="213739"/>
                            </a:solidFill>
                          </a:uFill>
                          <a:latin typeface="Calibri"/>
                          <a:cs typeface="Calibri"/>
                        </a:rPr>
                        <a:t>=</a:t>
                      </a:r>
                      <a:r>
                        <a:rPr sz="1100" u="sng" spc="-125" dirty="0">
                          <a:solidFill>
                            <a:srgbClr val="213739"/>
                          </a:solidFill>
                          <a:uFill>
                            <a:solidFill>
                              <a:srgbClr val="213739"/>
                            </a:solidFill>
                          </a:u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u="sng" spc="-50" dirty="0">
                          <a:solidFill>
                            <a:srgbClr val="213739"/>
                          </a:solidFill>
                          <a:uFill>
                            <a:solidFill>
                              <a:srgbClr val="213739"/>
                            </a:solidFill>
                          </a:uFill>
                          <a:latin typeface="Calibri"/>
                          <a:cs typeface="Calibri"/>
                        </a:rPr>
                        <a:t>1</a:t>
                      </a:r>
                      <a:r>
                        <a:rPr sz="1100" u="sng" dirty="0">
                          <a:solidFill>
                            <a:srgbClr val="213739"/>
                          </a:solidFill>
                          <a:uFill>
                            <a:solidFill>
                              <a:srgbClr val="213739"/>
                            </a:solidFill>
                          </a:uFill>
                          <a:latin typeface="Calibri"/>
                          <a:cs typeface="Calibri"/>
                        </a:rPr>
                        <a:t>	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158750" algn="ctr">
                        <a:lnSpc>
                          <a:spcPts val="1520"/>
                        </a:lnSpc>
                      </a:pPr>
                      <a:r>
                        <a:rPr sz="1600" i="1" spc="-25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w</a:t>
                      </a:r>
                      <a:r>
                        <a:rPr sz="1650" spc="-37" baseline="-10101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650" baseline="-10101">
                        <a:latin typeface="Calibri"/>
                        <a:cs typeface="Calibri"/>
                      </a:endParaRPr>
                    </a:p>
                  </a:txBody>
                  <a:tcPr marL="0" marR="0" marT="85725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24765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160655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00" i="1" spc="-25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w</a:t>
                      </a:r>
                      <a:r>
                        <a:rPr sz="1650" spc="-37" baseline="-10101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650" baseline="-10101">
                        <a:latin typeface="Calibri"/>
                        <a:cs typeface="Calibri"/>
                      </a:endParaRPr>
                    </a:p>
                  </a:txBody>
                  <a:tcPr marL="0" marR="0" marT="317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0" name="object 60"/>
          <p:cNvSpPr txBox="1"/>
          <p:nvPr/>
        </p:nvSpPr>
        <p:spPr>
          <a:xfrm>
            <a:off x="4514850" y="2866771"/>
            <a:ext cx="582295" cy="2673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457200" algn="l"/>
              </a:tabLst>
            </a:pPr>
            <a:r>
              <a:rPr sz="1550" spc="-50" dirty="0">
                <a:solidFill>
                  <a:srgbClr val="213739"/>
                </a:solidFill>
                <a:latin typeface="Arial MT"/>
                <a:cs typeface="Arial MT"/>
              </a:rPr>
              <a:t>1</a:t>
            </a:r>
            <a:r>
              <a:rPr sz="1550" dirty="0">
                <a:solidFill>
                  <a:srgbClr val="213739"/>
                </a:solidFill>
                <a:latin typeface="Arial MT"/>
                <a:cs typeface="Arial MT"/>
              </a:rPr>
              <a:t>	</a:t>
            </a:r>
            <a:r>
              <a:rPr sz="1550" spc="-50" dirty="0">
                <a:solidFill>
                  <a:srgbClr val="213739"/>
                </a:solidFill>
                <a:latin typeface="Arial MT"/>
                <a:cs typeface="Arial MT"/>
              </a:rPr>
              <a:t>0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5550789" y="2866771"/>
            <a:ext cx="137795" cy="2673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spc="-50" dirty="0">
                <a:solidFill>
                  <a:srgbClr val="213739"/>
                </a:solidFill>
                <a:latin typeface="Arial MT"/>
                <a:cs typeface="Arial MT"/>
              </a:rPr>
              <a:t>1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6141846" y="2866771"/>
            <a:ext cx="1475740" cy="2673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459105" algn="l"/>
                <a:tab pos="905510" algn="l"/>
                <a:tab pos="1350645" algn="l"/>
              </a:tabLst>
            </a:pPr>
            <a:r>
              <a:rPr sz="1550" spc="-50" dirty="0">
                <a:solidFill>
                  <a:srgbClr val="213739"/>
                </a:solidFill>
                <a:latin typeface="Arial MT"/>
                <a:cs typeface="Arial MT"/>
              </a:rPr>
              <a:t>0</a:t>
            </a:r>
            <a:r>
              <a:rPr sz="1550" dirty="0">
                <a:solidFill>
                  <a:srgbClr val="213739"/>
                </a:solidFill>
                <a:latin typeface="Arial MT"/>
                <a:cs typeface="Arial MT"/>
              </a:rPr>
              <a:t>	</a:t>
            </a:r>
            <a:r>
              <a:rPr sz="1550" spc="-50" dirty="0">
                <a:solidFill>
                  <a:srgbClr val="213739"/>
                </a:solidFill>
                <a:latin typeface="Arial MT"/>
                <a:cs typeface="Arial MT"/>
              </a:rPr>
              <a:t>0</a:t>
            </a:r>
            <a:r>
              <a:rPr sz="1550" dirty="0">
                <a:solidFill>
                  <a:srgbClr val="213739"/>
                </a:solidFill>
                <a:latin typeface="Arial MT"/>
                <a:cs typeface="Arial MT"/>
              </a:rPr>
              <a:t>	</a:t>
            </a:r>
            <a:r>
              <a:rPr sz="1550" spc="-50" dirty="0">
                <a:solidFill>
                  <a:srgbClr val="213739"/>
                </a:solidFill>
                <a:latin typeface="Arial MT"/>
                <a:cs typeface="Arial MT"/>
              </a:rPr>
              <a:t>1</a:t>
            </a:r>
            <a:r>
              <a:rPr sz="1550" dirty="0">
                <a:solidFill>
                  <a:srgbClr val="213739"/>
                </a:solidFill>
                <a:latin typeface="Arial MT"/>
                <a:cs typeface="Arial MT"/>
              </a:rPr>
              <a:t>	</a:t>
            </a:r>
            <a:r>
              <a:rPr sz="1550" spc="-50" dirty="0">
                <a:solidFill>
                  <a:srgbClr val="213739"/>
                </a:solidFill>
                <a:latin typeface="Arial MT"/>
                <a:cs typeface="Arial MT"/>
              </a:rPr>
              <a:t>0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8216010" y="2859151"/>
            <a:ext cx="169545" cy="2673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i="1" spc="-5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8359520" y="2952369"/>
            <a:ext cx="97790" cy="1955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spc="-50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4358004" y="3448939"/>
            <a:ext cx="4561205" cy="0"/>
          </a:xfrm>
          <a:custGeom>
            <a:avLst/>
            <a:gdLst/>
            <a:ahLst/>
            <a:cxnLst/>
            <a:rect l="l" t="t" r="r" b="b"/>
            <a:pathLst>
              <a:path w="4561205">
                <a:moveTo>
                  <a:pt x="0" y="0"/>
                </a:moveTo>
                <a:lnTo>
                  <a:pt x="4560824" y="0"/>
                </a:lnTo>
              </a:path>
            </a:pathLst>
          </a:custGeom>
          <a:ln w="5053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32279" y="2132355"/>
            <a:ext cx="221589" cy="22158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720339" y="4110608"/>
            <a:ext cx="244475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500" i="1" spc="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650" spc="37" baseline="-10101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650" baseline="-10101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16407" y="2985642"/>
            <a:ext cx="3630295" cy="570865"/>
            <a:chOff x="516407" y="2985642"/>
            <a:chExt cx="3630295" cy="570865"/>
          </a:xfrm>
        </p:grpSpPr>
        <p:sp>
          <p:nvSpPr>
            <p:cNvPr id="5" name="object 5"/>
            <p:cNvSpPr/>
            <p:nvPr/>
          </p:nvSpPr>
          <p:spPr>
            <a:xfrm>
              <a:off x="544677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256921" y="0"/>
                  </a:moveTo>
                  <a:lnTo>
                    <a:pt x="188620" y="9144"/>
                  </a:lnTo>
                  <a:lnTo>
                    <a:pt x="127241" y="35051"/>
                  </a:lnTo>
                  <a:lnTo>
                    <a:pt x="75247" y="75184"/>
                  </a:lnTo>
                  <a:lnTo>
                    <a:pt x="35077" y="127126"/>
                  </a:lnTo>
                  <a:lnTo>
                    <a:pt x="9182" y="188595"/>
                  </a:lnTo>
                  <a:lnTo>
                    <a:pt x="0" y="256794"/>
                  </a:lnTo>
                  <a:lnTo>
                    <a:pt x="9182" y="325120"/>
                  </a:lnTo>
                  <a:lnTo>
                    <a:pt x="35077" y="386588"/>
                  </a:lnTo>
                  <a:lnTo>
                    <a:pt x="75247" y="438531"/>
                  </a:lnTo>
                  <a:lnTo>
                    <a:pt x="127241" y="478663"/>
                  </a:lnTo>
                  <a:lnTo>
                    <a:pt x="188620" y="504571"/>
                  </a:lnTo>
                  <a:lnTo>
                    <a:pt x="256921" y="513714"/>
                  </a:lnTo>
                  <a:lnTo>
                    <a:pt x="325221" y="504571"/>
                  </a:lnTo>
                  <a:lnTo>
                    <a:pt x="386588" y="478663"/>
                  </a:lnTo>
                  <a:lnTo>
                    <a:pt x="438581" y="438531"/>
                  </a:lnTo>
                  <a:lnTo>
                    <a:pt x="478764" y="386588"/>
                  </a:lnTo>
                  <a:lnTo>
                    <a:pt x="504659" y="325120"/>
                  </a:lnTo>
                  <a:lnTo>
                    <a:pt x="513842" y="256794"/>
                  </a:lnTo>
                  <a:lnTo>
                    <a:pt x="504659" y="188595"/>
                  </a:lnTo>
                  <a:lnTo>
                    <a:pt x="478764" y="127126"/>
                  </a:lnTo>
                  <a:lnTo>
                    <a:pt x="438581" y="75184"/>
                  </a:lnTo>
                  <a:lnTo>
                    <a:pt x="386588" y="35051"/>
                  </a:lnTo>
                  <a:lnTo>
                    <a:pt x="325221" y="9144"/>
                  </a:lnTo>
                  <a:lnTo>
                    <a:pt x="256921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44677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513842" y="256794"/>
                  </a:moveTo>
                  <a:lnTo>
                    <a:pt x="504659" y="188595"/>
                  </a:lnTo>
                  <a:lnTo>
                    <a:pt x="478764" y="127126"/>
                  </a:lnTo>
                  <a:lnTo>
                    <a:pt x="438581" y="75184"/>
                  </a:lnTo>
                  <a:lnTo>
                    <a:pt x="386588" y="35051"/>
                  </a:lnTo>
                  <a:lnTo>
                    <a:pt x="325221" y="9144"/>
                  </a:lnTo>
                  <a:lnTo>
                    <a:pt x="256921" y="0"/>
                  </a:lnTo>
                  <a:lnTo>
                    <a:pt x="188620" y="9144"/>
                  </a:lnTo>
                  <a:lnTo>
                    <a:pt x="127241" y="35051"/>
                  </a:lnTo>
                  <a:lnTo>
                    <a:pt x="75247" y="75184"/>
                  </a:lnTo>
                  <a:lnTo>
                    <a:pt x="35077" y="127126"/>
                  </a:lnTo>
                  <a:lnTo>
                    <a:pt x="9182" y="188595"/>
                  </a:lnTo>
                  <a:lnTo>
                    <a:pt x="0" y="256794"/>
                  </a:lnTo>
                  <a:lnTo>
                    <a:pt x="9182" y="325120"/>
                  </a:lnTo>
                  <a:lnTo>
                    <a:pt x="35077" y="386588"/>
                  </a:lnTo>
                  <a:lnTo>
                    <a:pt x="75247" y="438531"/>
                  </a:lnTo>
                  <a:lnTo>
                    <a:pt x="127241" y="478663"/>
                  </a:lnTo>
                  <a:lnTo>
                    <a:pt x="188620" y="504571"/>
                  </a:lnTo>
                  <a:lnTo>
                    <a:pt x="256921" y="513714"/>
                  </a:lnTo>
                  <a:lnTo>
                    <a:pt x="325221" y="504571"/>
                  </a:lnTo>
                  <a:lnTo>
                    <a:pt x="386588" y="478663"/>
                  </a:lnTo>
                  <a:lnTo>
                    <a:pt x="438581" y="438531"/>
                  </a:lnTo>
                  <a:lnTo>
                    <a:pt x="478764" y="386588"/>
                  </a:lnTo>
                  <a:lnTo>
                    <a:pt x="504659" y="325120"/>
                  </a:lnTo>
                  <a:lnTo>
                    <a:pt x="513842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72387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256920" y="0"/>
                  </a:moveTo>
                  <a:lnTo>
                    <a:pt x="188594" y="9144"/>
                  </a:lnTo>
                  <a:lnTo>
                    <a:pt x="127254" y="35051"/>
                  </a:lnTo>
                  <a:lnTo>
                    <a:pt x="75183" y="75184"/>
                  </a:lnTo>
                  <a:lnTo>
                    <a:pt x="35051" y="127126"/>
                  </a:lnTo>
                  <a:lnTo>
                    <a:pt x="9143" y="188595"/>
                  </a:lnTo>
                  <a:lnTo>
                    <a:pt x="0" y="256794"/>
                  </a:lnTo>
                  <a:lnTo>
                    <a:pt x="9143" y="325120"/>
                  </a:lnTo>
                  <a:lnTo>
                    <a:pt x="35051" y="386588"/>
                  </a:lnTo>
                  <a:lnTo>
                    <a:pt x="75183" y="438531"/>
                  </a:lnTo>
                  <a:lnTo>
                    <a:pt x="127254" y="478663"/>
                  </a:lnTo>
                  <a:lnTo>
                    <a:pt x="188594" y="504571"/>
                  </a:lnTo>
                  <a:lnTo>
                    <a:pt x="256920" y="513714"/>
                  </a:lnTo>
                  <a:lnTo>
                    <a:pt x="325119" y="504571"/>
                  </a:lnTo>
                  <a:lnTo>
                    <a:pt x="386588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0" y="325120"/>
                  </a:lnTo>
                  <a:lnTo>
                    <a:pt x="513842" y="256794"/>
                  </a:lnTo>
                  <a:lnTo>
                    <a:pt x="504570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588" y="35051"/>
                  </a:lnTo>
                  <a:lnTo>
                    <a:pt x="325119" y="9144"/>
                  </a:lnTo>
                  <a:lnTo>
                    <a:pt x="256920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72387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513842" y="256794"/>
                  </a:moveTo>
                  <a:lnTo>
                    <a:pt x="504570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588" y="35051"/>
                  </a:lnTo>
                  <a:lnTo>
                    <a:pt x="325119" y="9144"/>
                  </a:lnTo>
                  <a:lnTo>
                    <a:pt x="256920" y="0"/>
                  </a:lnTo>
                  <a:lnTo>
                    <a:pt x="188594" y="9144"/>
                  </a:lnTo>
                  <a:lnTo>
                    <a:pt x="127254" y="35051"/>
                  </a:lnTo>
                  <a:lnTo>
                    <a:pt x="75183" y="75184"/>
                  </a:lnTo>
                  <a:lnTo>
                    <a:pt x="35051" y="127126"/>
                  </a:lnTo>
                  <a:lnTo>
                    <a:pt x="9143" y="188595"/>
                  </a:lnTo>
                  <a:lnTo>
                    <a:pt x="0" y="256794"/>
                  </a:lnTo>
                  <a:lnTo>
                    <a:pt x="9143" y="325120"/>
                  </a:lnTo>
                  <a:lnTo>
                    <a:pt x="35051" y="386588"/>
                  </a:lnTo>
                  <a:lnTo>
                    <a:pt x="75183" y="438531"/>
                  </a:lnTo>
                  <a:lnTo>
                    <a:pt x="127254" y="478663"/>
                  </a:lnTo>
                  <a:lnTo>
                    <a:pt x="188594" y="504571"/>
                  </a:lnTo>
                  <a:lnTo>
                    <a:pt x="256920" y="513714"/>
                  </a:lnTo>
                  <a:lnTo>
                    <a:pt x="325119" y="504571"/>
                  </a:lnTo>
                  <a:lnTo>
                    <a:pt x="386588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0" y="325120"/>
                  </a:lnTo>
                  <a:lnTo>
                    <a:pt x="513842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600070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256921" y="0"/>
                  </a:moveTo>
                  <a:lnTo>
                    <a:pt x="188595" y="9144"/>
                  </a:lnTo>
                  <a:lnTo>
                    <a:pt x="127254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3" y="188595"/>
                  </a:lnTo>
                  <a:lnTo>
                    <a:pt x="0" y="256794"/>
                  </a:lnTo>
                  <a:lnTo>
                    <a:pt x="9143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254" y="478663"/>
                  </a:lnTo>
                  <a:lnTo>
                    <a:pt x="188595" y="504571"/>
                  </a:lnTo>
                  <a:lnTo>
                    <a:pt x="256921" y="513714"/>
                  </a:lnTo>
                  <a:lnTo>
                    <a:pt x="325120" y="504571"/>
                  </a:lnTo>
                  <a:lnTo>
                    <a:pt x="386588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842" y="256794"/>
                  </a:ln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588" y="35051"/>
                  </a:lnTo>
                  <a:lnTo>
                    <a:pt x="325120" y="9144"/>
                  </a:lnTo>
                  <a:lnTo>
                    <a:pt x="256921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600070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513842" y="256794"/>
                  </a:move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588" y="35051"/>
                  </a:lnTo>
                  <a:lnTo>
                    <a:pt x="325120" y="9144"/>
                  </a:lnTo>
                  <a:lnTo>
                    <a:pt x="256921" y="0"/>
                  </a:lnTo>
                  <a:lnTo>
                    <a:pt x="188595" y="9144"/>
                  </a:lnTo>
                  <a:lnTo>
                    <a:pt x="127254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3" y="188595"/>
                  </a:lnTo>
                  <a:lnTo>
                    <a:pt x="0" y="256794"/>
                  </a:lnTo>
                  <a:lnTo>
                    <a:pt x="9143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254" y="478663"/>
                  </a:lnTo>
                  <a:lnTo>
                    <a:pt x="188595" y="504571"/>
                  </a:lnTo>
                  <a:lnTo>
                    <a:pt x="256921" y="513714"/>
                  </a:lnTo>
                  <a:lnTo>
                    <a:pt x="325120" y="504571"/>
                  </a:lnTo>
                  <a:lnTo>
                    <a:pt x="386588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842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627755" y="3013963"/>
              <a:ext cx="513715" cy="513715"/>
            </a:xfrm>
            <a:custGeom>
              <a:avLst/>
              <a:gdLst/>
              <a:ahLst/>
              <a:cxnLst/>
              <a:rect l="l" t="t" r="r" b="b"/>
              <a:pathLst>
                <a:path w="513714" h="513714">
                  <a:moveTo>
                    <a:pt x="256794" y="0"/>
                  </a:moveTo>
                  <a:lnTo>
                    <a:pt x="188595" y="9144"/>
                  </a:lnTo>
                  <a:lnTo>
                    <a:pt x="127127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4" y="188595"/>
                  </a:lnTo>
                  <a:lnTo>
                    <a:pt x="0" y="256794"/>
                  </a:lnTo>
                  <a:lnTo>
                    <a:pt x="9144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127" y="478663"/>
                  </a:lnTo>
                  <a:lnTo>
                    <a:pt x="188595" y="504571"/>
                  </a:lnTo>
                  <a:lnTo>
                    <a:pt x="256794" y="513714"/>
                  </a:lnTo>
                  <a:lnTo>
                    <a:pt x="325120" y="504571"/>
                  </a:lnTo>
                  <a:lnTo>
                    <a:pt x="386461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715" y="256794"/>
                  </a:ln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461" y="35051"/>
                  </a:lnTo>
                  <a:lnTo>
                    <a:pt x="325120" y="9144"/>
                  </a:lnTo>
                  <a:lnTo>
                    <a:pt x="256794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627755" y="3013963"/>
              <a:ext cx="513715" cy="513715"/>
            </a:xfrm>
            <a:custGeom>
              <a:avLst/>
              <a:gdLst/>
              <a:ahLst/>
              <a:cxnLst/>
              <a:rect l="l" t="t" r="r" b="b"/>
              <a:pathLst>
                <a:path w="513714" h="513714">
                  <a:moveTo>
                    <a:pt x="513715" y="256794"/>
                  </a:move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461" y="35051"/>
                  </a:lnTo>
                  <a:lnTo>
                    <a:pt x="325120" y="9144"/>
                  </a:lnTo>
                  <a:lnTo>
                    <a:pt x="256794" y="0"/>
                  </a:lnTo>
                  <a:lnTo>
                    <a:pt x="188595" y="9144"/>
                  </a:lnTo>
                  <a:lnTo>
                    <a:pt x="127127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4" y="188595"/>
                  </a:lnTo>
                  <a:lnTo>
                    <a:pt x="0" y="256794"/>
                  </a:lnTo>
                  <a:lnTo>
                    <a:pt x="9144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127" y="478663"/>
                  </a:lnTo>
                  <a:lnTo>
                    <a:pt x="188595" y="504571"/>
                  </a:lnTo>
                  <a:lnTo>
                    <a:pt x="256794" y="513714"/>
                  </a:lnTo>
                  <a:lnTo>
                    <a:pt x="325120" y="504571"/>
                  </a:lnTo>
                  <a:lnTo>
                    <a:pt x="386461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715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21487" y="2990722"/>
              <a:ext cx="560705" cy="560705"/>
            </a:xfrm>
            <a:custGeom>
              <a:avLst/>
              <a:gdLst/>
              <a:ahLst/>
              <a:cxnLst/>
              <a:rect l="l" t="t" r="r" b="b"/>
              <a:pathLst>
                <a:path w="560705" h="560704">
                  <a:moveTo>
                    <a:pt x="280111" y="0"/>
                  </a:moveTo>
                  <a:lnTo>
                    <a:pt x="205638" y="10032"/>
                  </a:lnTo>
                  <a:lnTo>
                    <a:pt x="138734" y="38226"/>
                  </a:lnTo>
                  <a:lnTo>
                    <a:pt x="82042" y="82041"/>
                  </a:lnTo>
                  <a:lnTo>
                    <a:pt x="38239" y="138684"/>
                  </a:lnTo>
                  <a:lnTo>
                    <a:pt x="9994" y="205612"/>
                  </a:lnTo>
                  <a:lnTo>
                    <a:pt x="0" y="280035"/>
                  </a:lnTo>
                  <a:lnTo>
                    <a:pt x="9994" y="354584"/>
                  </a:lnTo>
                  <a:lnTo>
                    <a:pt x="38239" y="421513"/>
                  </a:lnTo>
                  <a:lnTo>
                    <a:pt x="82042" y="478154"/>
                  </a:lnTo>
                  <a:lnTo>
                    <a:pt x="138734" y="521969"/>
                  </a:lnTo>
                  <a:lnTo>
                    <a:pt x="205638" y="550163"/>
                  </a:lnTo>
                  <a:lnTo>
                    <a:pt x="280111" y="560197"/>
                  </a:lnTo>
                  <a:lnTo>
                    <a:pt x="354571" y="550163"/>
                  </a:lnTo>
                  <a:lnTo>
                    <a:pt x="421487" y="521969"/>
                  </a:lnTo>
                  <a:lnTo>
                    <a:pt x="478180" y="478154"/>
                  </a:lnTo>
                  <a:lnTo>
                    <a:pt x="521982" y="421513"/>
                  </a:lnTo>
                  <a:lnTo>
                    <a:pt x="550214" y="354584"/>
                  </a:lnTo>
                  <a:lnTo>
                    <a:pt x="560222" y="280035"/>
                  </a:lnTo>
                  <a:lnTo>
                    <a:pt x="550214" y="205612"/>
                  </a:lnTo>
                  <a:lnTo>
                    <a:pt x="521982" y="138684"/>
                  </a:lnTo>
                  <a:lnTo>
                    <a:pt x="478180" y="82041"/>
                  </a:lnTo>
                  <a:lnTo>
                    <a:pt x="421487" y="38226"/>
                  </a:lnTo>
                  <a:lnTo>
                    <a:pt x="354571" y="10032"/>
                  </a:lnTo>
                  <a:lnTo>
                    <a:pt x="280111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21487" y="2990722"/>
              <a:ext cx="560705" cy="560705"/>
            </a:xfrm>
            <a:custGeom>
              <a:avLst/>
              <a:gdLst/>
              <a:ahLst/>
              <a:cxnLst/>
              <a:rect l="l" t="t" r="r" b="b"/>
              <a:pathLst>
                <a:path w="560705" h="560704">
                  <a:moveTo>
                    <a:pt x="560222" y="280035"/>
                  </a:moveTo>
                  <a:lnTo>
                    <a:pt x="550214" y="205612"/>
                  </a:lnTo>
                  <a:lnTo>
                    <a:pt x="521982" y="138684"/>
                  </a:lnTo>
                  <a:lnTo>
                    <a:pt x="478180" y="82041"/>
                  </a:lnTo>
                  <a:lnTo>
                    <a:pt x="421487" y="38226"/>
                  </a:lnTo>
                  <a:lnTo>
                    <a:pt x="354571" y="10032"/>
                  </a:lnTo>
                  <a:lnTo>
                    <a:pt x="280111" y="0"/>
                  </a:lnTo>
                  <a:lnTo>
                    <a:pt x="205638" y="10032"/>
                  </a:lnTo>
                  <a:lnTo>
                    <a:pt x="138734" y="38226"/>
                  </a:lnTo>
                  <a:lnTo>
                    <a:pt x="82042" y="82041"/>
                  </a:lnTo>
                  <a:lnTo>
                    <a:pt x="38239" y="138684"/>
                  </a:lnTo>
                  <a:lnTo>
                    <a:pt x="9994" y="205612"/>
                  </a:lnTo>
                  <a:lnTo>
                    <a:pt x="0" y="280035"/>
                  </a:lnTo>
                  <a:lnTo>
                    <a:pt x="9994" y="354584"/>
                  </a:lnTo>
                  <a:lnTo>
                    <a:pt x="38239" y="421513"/>
                  </a:lnTo>
                  <a:lnTo>
                    <a:pt x="82042" y="478154"/>
                  </a:lnTo>
                  <a:lnTo>
                    <a:pt x="138734" y="521969"/>
                  </a:lnTo>
                  <a:lnTo>
                    <a:pt x="205638" y="550163"/>
                  </a:lnTo>
                  <a:lnTo>
                    <a:pt x="280111" y="560197"/>
                  </a:lnTo>
                  <a:lnTo>
                    <a:pt x="354571" y="550163"/>
                  </a:lnTo>
                  <a:lnTo>
                    <a:pt x="421487" y="521969"/>
                  </a:lnTo>
                  <a:lnTo>
                    <a:pt x="478180" y="478154"/>
                  </a:lnTo>
                  <a:lnTo>
                    <a:pt x="521982" y="421513"/>
                  </a:lnTo>
                  <a:lnTo>
                    <a:pt x="550214" y="354584"/>
                  </a:lnTo>
                  <a:lnTo>
                    <a:pt x="560222" y="280035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89483" y="2723515"/>
            <a:ext cx="431800" cy="64643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11760">
              <a:lnSpc>
                <a:spcPct val="100000"/>
              </a:lnSpc>
              <a:spcBef>
                <a:spcPts val="110"/>
              </a:spcBef>
            </a:pPr>
            <a:r>
              <a:rPr sz="1500" i="1" spc="35" dirty="0">
                <a:solidFill>
                  <a:srgbClr val="213739"/>
                </a:solidFill>
                <a:latin typeface="Calibri"/>
                <a:cs typeface="Calibri"/>
              </a:rPr>
              <a:t>h</a:t>
            </a:r>
            <a:r>
              <a:rPr sz="1650" spc="52" baseline="-12626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650" baseline="-12626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1275"/>
              </a:spcBef>
            </a:pPr>
            <a:r>
              <a:rPr sz="1500" spc="-60" dirty="0">
                <a:solidFill>
                  <a:srgbClr val="213739"/>
                </a:solidFill>
                <a:latin typeface="Arial MT"/>
                <a:cs typeface="Arial MT"/>
              </a:rPr>
              <a:t>-</a:t>
            </a:r>
            <a:r>
              <a:rPr sz="1500" spc="-85" dirty="0">
                <a:solidFill>
                  <a:srgbClr val="213739"/>
                </a:solidFill>
                <a:latin typeface="Arial MT"/>
                <a:cs typeface="Arial MT"/>
              </a:rPr>
              <a:t>1,-</a:t>
            </a:r>
            <a:r>
              <a:rPr sz="1500" spc="-50" dirty="0">
                <a:solidFill>
                  <a:srgbClr val="213739"/>
                </a:solidFill>
                <a:latin typeface="Arial MT"/>
                <a:cs typeface="Arial MT"/>
              </a:rPr>
              <a:t>1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563497" y="3005073"/>
            <a:ext cx="2583180" cy="531495"/>
            <a:chOff x="1563497" y="3005073"/>
            <a:chExt cx="2583180" cy="531495"/>
          </a:xfrm>
        </p:grpSpPr>
        <p:sp>
          <p:nvSpPr>
            <p:cNvPr id="17" name="object 17"/>
            <p:cNvSpPr/>
            <p:nvPr/>
          </p:nvSpPr>
          <p:spPr>
            <a:xfrm>
              <a:off x="1568577" y="3010153"/>
              <a:ext cx="521334" cy="521334"/>
            </a:xfrm>
            <a:custGeom>
              <a:avLst/>
              <a:gdLst/>
              <a:ahLst/>
              <a:cxnLst/>
              <a:rect l="l" t="t" r="r" b="b"/>
              <a:pathLst>
                <a:path w="521335" h="521335">
                  <a:moveTo>
                    <a:pt x="260730" y="0"/>
                  </a:moveTo>
                  <a:lnTo>
                    <a:pt x="191389" y="9271"/>
                  </a:lnTo>
                  <a:lnTo>
                    <a:pt x="129159" y="35560"/>
                  </a:lnTo>
                  <a:lnTo>
                    <a:pt x="76327" y="76326"/>
                  </a:lnTo>
                  <a:lnTo>
                    <a:pt x="35559" y="129159"/>
                  </a:lnTo>
                  <a:lnTo>
                    <a:pt x="9270" y="191388"/>
                  </a:lnTo>
                  <a:lnTo>
                    <a:pt x="0" y="260604"/>
                  </a:lnTo>
                  <a:lnTo>
                    <a:pt x="9270" y="329946"/>
                  </a:lnTo>
                  <a:lnTo>
                    <a:pt x="35559" y="392175"/>
                  </a:lnTo>
                  <a:lnTo>
                    <a:pt x="76327" y="445008"/>
                  </a:lnTo>
                  <a:lnTo>
                    <a:pt x="129159" y="485775"/>
                  </a:lnTo>
                  <a:lnTo>
                    <a:pt x="191389" y="512063"/>
                  </a:lnTo>
                  <a:lnTo>
                    <a:pt x="260730" y="521335"/>
                  </a:lnTo>
                  <a:lnTo>
                    <a:pt x="329946" y="512063"/>
                  </a:lnTo>
                  <a:lnTo>
                    <a:pt x="392303" y="485775"/>
                  </a:lnTo>
                  <a:lnTo>
                    <a:pt x="445008" y="445008"/>
                  </a:lnTo>
                  <a:lnTo>
                    <a:pt x="485774" y="392175"/>
                  </a:lnTo>
                  <a:lnTo>
                    <a:pt x="512064" y="329946"/>
                  </a:lnTo>
                  <a:lnTo>
                    <a:pt x="521334" y="260604"/>
                  </a:lnTo>
                  <a:lnTo>
                    <a:pt x="512064" y="191388"/>
                  </a:lnTo>
                  <a:lnTo>
                    <a:pt x="485774" y="129159"/>
                  </a:lnTo>
                  <a:lnTo>
                    <a:pt x="445008" y="76326"/>
                  </a:lnTo>
                  <a:lnTo>
                    <a:pt x="392303" y="35560"/>
                  </a:lnTo>
                  <a:lnTo>
                    <a:pt x="329946" y="9271"/>
                  </a:lnTo>
                  <a:lnTo>
                    <a:pt x="260730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568577" y="3010153"/>
              <a:ext cx="521334" cy="521334"/>
            </a:xfrm>
            <a:custGeom>
              <a:avLst/>
              <a:gdLst/>
              <a:ahLst/>
              <a:cxnLst/>
              <a:rect l="l" t="t" r="r" b="b"/>
              <a:pathLst>
                <a:path w="521335" h="521335">
                  <a:moveTo>
                    <a:pt x="521334" y="260604"/>
                  </a:moveTo>
                  <a:lnTo>
                    <a:pt x="512064" y="191388"/>
                  </a:lnTo>
                  <a:lnTo>
                    <a:pt x="485774" y="129159"/>
                  </a:lnTo>
                  <a:lnTo>
                    <a:pt x="445008" y="76326"/>
                  </a:lnTo>
                  <a:lnTo>
                    <a:pt x="392303" y="35560"/>
                  </a:lnTo>
                  <a:lnTo>
                    <a:pt x="329946" y="9271"/>
                  </a:lnTo>
                  <a:lnTo>
                    <a:pt x="260730" y="0"/>
                  </a:lnTo>
                  <a:lnTo>
                    <a:pt x="191389" y="9271"/>
                  </a:lnTo>
                  <a:lnTo>
                    <a:pt x="129159" y="35560"/>
                  </a:lnTo>
                  <a:lnTo>
                    <a:pt x="76327" y="76326"/>
                  </a:lnTo>
                  <a:lnTo>
                    <a:pt x="35559" y="129159"/>
                  </a:lnTo>
                  <a:lnTo>
                    <a:pt x="9270" y="191388"/>
                  </a:lnTo>
                  <a:lnTo>
                    <a:pt x="0" y="260604"/>
                  </a:lnTo>
                  <a:lnTo>
                    <a:pt x="9270" y="329946"/>
                  </a:lnTo>
                  <a:lnTo>
                    <a:pt x="35559" y="392175"/>
                  </a:lnTo>
                  <a:lnTo>
                    <a:pt x="76327" y="445008"/>
                  </a:lnTo>
                  <a:lnTo>
                    <a:pt x="129159" y="485775"/>
                  </a:lnTo>
                  <a:lnTo>
                    <a:pt x="191389" y="512063"/>
                  </a:lnTo>
                  <a:lnTo>
                    <a:pt x="260730" y="521335"/>
                  </a:lnTo>
                  <a:lnTo>
                    <a:pt x="329946" y="512063"/>
                  </a:lnTo>
                  <a:lnTo>
                    <a:pt x="392303" y="485775"/>
                  </a:lnTo>
                  <a:lnTo>
                    <a:pt x="445008" y="445008"/>
                  </a:lnTo>
                  <a:lnTo>
                    <a:pt x="485774" y="392175"/>
                  </a:lnTo>
                  <a:lnTo>
                    <a:pt x="512064" y="329946"/>
                  </a:lnTo>
                  <a:lnTo>
                    <a:pt x="521334" y="26060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596261" y="3010153"/>
              <a:ext cx="521334" cy="521334"/>
            </a:xfrm>
            <a:custGeom>
              <a:avLst/>
              <a:gdLst/>
              <a:ahLst/>
              <a:cxnLst/>
              <a:rect l="l" t="t" r="r" b="b"/>
              <a:pathLst>
                <a:path w="521335" h="521335">
                  <a:moveTo>
                    <a:pt x="260731" y="0"/>
                  </a:moveTo>
                  <a:lnTo>
                    <a:pt x="191388" y="9271"/>
                  </a:lnTo>
                  <a:lnTo>
                    <a:pt x="129158" y="35560"/>
                  </a:lnTo>
                  <a:lnTo>
                    <a:pt x="76326" y="76326"/>
                  </a:lnTo>
                  <a:lnTo>
                    <a:pt x="35559" y="129159"/>
                  </a:lnTo>
                  <a:lnTo>
                    <a:pt x="9270" y="191388"/>
                  </a:lnTo>
                  <a:lnTo>
                    <a:pt x="0" y="260604"/>
                  </a:lnTo>
                  <a:lnTo>
                    <a:pt x="9270" y="329946"/>
                  </a:lnTo>
                  <a:lnTo>
                    <a:pt x="35559" y="392175"/>
                  </a:lnTo>
                  <a:lnTo>
                    <a:pt x="76326" y="445008"/>
                  </a:lnTo>
                  <a:lnTo>
                    <a:pt x="129158" y="485775"/>
                  </a:lnTo>
                  <a:lnTo>
                    <a:pt x="191388" y="512063"/>
                  </a:lnTo>
                  <a:lnTo>
                    <a:pt x="260731" y="521335"/>
                  </a:lnTo>
                  <a:lnTo>
                    <a:pt x="329945" y="512063"/>
                  </a:lnTo>
                  <a:lnTo>
                    <a:pt x="392302" y="485775"/>
                  </a:lnTo>
                  <a:lnTo>
                    <a:pt x="445007" y="445008"/>
                  </a:lnTo>
                  <a:lnTo>
                    <a:pt x="485775" y="392175"/>
                  </a:lnTo>
                  <a:lnTo>
                    <a:pt x="512063" y="329946"/>
                  </a:lnTo>
                  <a:lnTo>
                    <a:pt x="521334" y="260604"/>
                  </a:lnTo>
                  <a:lnTo>
                    <a:pt x="512063" y="191388"/>
                  </a:lnTo>
                  <a:lnTo>
                    <a:pt x="485775" y="129159"/>
                  </a:lnTo>
                  <a:lnTo>
                    <a:pt x="445007" y="76326"/>
                  </a:lnTo>
                  <a:lnTo>
                    <a:pt x="392302" y="35560"/>
                  </a:lnTo>
                  <a:lnTo>
                    <a:pt x="329945" y="9271"/>
                  </a:lnTo>
                  <a:lnTo>
                    <a:pt x="260731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596261" y="3010153"/>
              <a:ext cx="521334" cy="521334"/>
            </a:xfrm>
            <a:custGeom>
              <a:avLst/>
              <a:gdLst/>
              <a:ahLst/>
              <a:cxnLst/>
              <a:rect l="l" t="t" r="r" b="b"/>
              <a:pathLst>
                <a:path w="521335" h="521335">
                  <a:moveTo>
                    <a:pt x="521334" y="260604"/>
                  </a:moveTo>
                  <a:lnTo>
                    <a:pt x="512063" y="191388"/>
                  </a:lnTo>
                  <a:lnTo>
                    <a:pt x="485775" y="129159"/>
                  </a:lnTo>
                  <a:lnTo>
                    <a:pt x="445007" y="76326"/>
                  </a:lnTo>
                  <a:lnTo>
                    <a:pt x="392302" y="35560"/>
                  </a:lnTo>
                  <a:lnTo>
                    <a:pt x="329945" y="9271"/>
                  </a:lnTo>
                  <a:lnTo>
                    <a:pt x="260731" y="0"/>
                  </a:lnTo>
                  <a:lnTo>
                    <a:pt x="191388" y="9271"/>
                  </a:lnTo>
                  <a:lnTo>
                    <a:pt x="129158" y="35560"/>
                  </a:lnTo>
                  <a:lnTo>
                    <a:pt x="76326" y="76326"/>
                  </a:lnTo>
                  <a:lnTo>
                    <a:pt x="35559" y="129159"/>
                  </a:lnTo>
                  <a:lnTo>
                    <a:pt x="9270" y="191388"/>
                  </a:lnTo>
                  <a:lnTo>
                    <a:pt x="0" y="260604"/>
                  </a:lnTo>
                  <a:lnTo>
                    <a:pt x="9270" y="329946"/>
                  </a:lnTo>
                  <a:lnTo>
                    <a:pt x="35559" y="392175"/>
                  </a:lnTo>
                  <a:lnTo>
                    <a:pt x="76326" y="445008"/>
                  </a:lnTo>
                  <a:lnTo>
                    <a:pt x="129158" y="485775"/>
                  </a:lnTo>
                  <a:lnTo>
                    <a:pt x="191388" y="512063"/>
                  </a:lnTo>
                  <a:lnTo>
                    <a:pt x="260731" y="521335"/>
                  </a:lnTo>
                  <a:lnTo>
                    <a:pt x="329945" y="512063"/>
                  </a:lnTo>
                  <a:lnTo>
                    <a:pt x="392302" y="485775"/>
                  </a:lnTo>
                  <a:lnTo>
                    <a:pt x="445007" y="445008"/>
                  </a:lnTo>
                  <a:lnTo>
                    <a:pt x="485775" y="392175"/>
                  </a:lnTo>
                  <a:lnTo>
                    <a:pt x="512063" y="329946"/>
                  </a:lnTo>
                  <a:lnTo>
                    <a:pt x="521334" y="26060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627754" y="3013963"/>
              <a:ext cx="513715" cy="513715"/>
            </a:xfrm>
            <a:custGeom>
              <a:avLst/>
              <a:gdLst/>
              <a:ahLst/>
              <a:cxnLst/>
              <a:rect l="l" t="t" r="r" b="b"/>
              <a:pathLst>
                <a:path w="513714" h="513714">
                  <a:moveTo>
                    <a:pt x="256794" y="0"/>
                  </a:moveTo>
                  <a:lnTo>
                    <a:pt x="188595" y="9144"/>
                  </a:lnTo>
                  <a:lnTo>
                    <a:pt x="127127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4" y="188595"/>
                  </a:lnTo>
                  <a:lnTo>
                    <a:pt x="0" y="256794"/>
                  </a:lnTo>
                  <a:lnTo>
                    <a:pt x="9144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127" y="478663"/>
                  </a:lnTo>
                  <a:lnTo>
                    <a:pt x="188595" y="504571"/>
                  </a:lnTo>
                  <a:lnTo>
                    <a:pt x="256794" y="513714"/>
                  </a:lnTo>
                  <a:lnTo>
                    <a:pt x="325120" y="504571"/>
                  </a:lnTo>
                  <a:lnTo>
                    <a:pt x="386461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715" y="256794"/>
                  </a:ln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461" y="35051"/>
                  </a:lnTo>
                  <a:lnTo>
                    <a:pt x="325120" y="9144"/>
                  </a:lnTo>
                  <a:lnTo>
                    <a:pt x="256794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627754" y="3013963"/>
              <a:ext cx="513715" cy="513715"/>
            </a:xfrm>
            <a:custGeom>
              <a:avLst/>
              <a:gdLst/>
              <a:ahLst/>
              <a:cxnLst/>
              <a:rect l="l" t="t" r="r" b="b"/>
              <a:pathLst>
                <a:path w="513714" h="513714">
                  <a:moveTo>
                    <a:pt x="513715" y="256794"/>
                  </a:move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461" y="35051"/>
                  </a:lnTo>
                  <a:lnTo>
                    <a:pt x="325120" y="9144"/>
                  </a:lnTo>
                  <a:lnTo>
                    <a:pt x="256794" y="0"/>
                  </a:lnTo>
                  <a:lnTo>
                    <a:pt x="188595" y="9144"/>
                  </a:lnTo>
                  <a:lnTo>
                    <a:pt x="127127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4" y="188595"/>
                  </a:lnTo>
                  <a:lnTo>
                    <a:pt x="0" y="256794"/>
                  </a:lnTo>
                  <a:lnTo>
                    <a:pt x="9144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127" y="478663"/>
                  </a:lnTo>
                  <a:lnTo>
                    <a:pt x="188595" y="504571"/>
                  </a:lnTo>
                  <a:lnTo>
                    <a:pt x="256794" y="513714"/>
                  </a:lnTo>
                  <a:lnTo>
                    <a:pt x="325120" y="504571"/>
                  </a:lnTo>
                  <a:lnTo>
                    <a:pt x="386461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715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3719448" y="2723515"/>
            <a:ext cx="329565" cy="644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65405">
              <a:lnSpc>
                <a:spcPct val="100000"/>
              </a:lnSpc>
              <a:spcBef>
                <a:spcPts val="110"/>
              </a:spcBef>
            </a:pP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h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4</a:t>
            </a:r>
            <a:endParaRPr sz="1650" baseline="-10101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1260"/>
              </a:spcBef>
            </a:pPr>
            <a:r>
              <a:rPr sz="1500" spc="-25" dirty="0">
                <a:solidFill>
                  <a:srgbClr val="213739"/>
                </a:solidFill>
                <a:latin typeface="Arial MT"/>
                <a:cs typeface="Arial MT"/>
              </a:rPr>
              <a:t>1,1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33527" y="3638803"/>
            <a:ext cx="748030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i="1" dirty="0">
                <a:solidFill>
                  <a:srgbClr val="213739"/>
                </a:solidFill>
                <a:latin typeface="Calibri"/>
                <a:cs typeface="Calibri"/>
              </a:rPr>
              <a:t>bias</a:t>
            </a:r>
            <a:r>
              <a:rPr sz="1500" i="1" spc="33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500" spc="-13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13739"/>
                </a:solidFill>
                <a:latin typeface="Arial MT"/>
                <a:cs typeface="Arial MT"/>
              </a:rPr>
              <a:t>-</a:t>
            </a:r>
            <a:r>
              <a:rPr sz="1500" spc="-2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00" spc="-50" dirty="0">
                <a:solidFill>
                  <a:srgbClr val="213739"/>
                </a:solidFill>
                <a:latin typeface="Arial MT"/>
                <a:cs typeface="Arial MT"/>
              </a:rPr>
              <a:t>2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278507" y="1536572"/>
            <a:ext cx="111760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i="1" spc="-50" dirty="0">
                <a:solidFill>
                  <a:srgbClr val="213739"/>
                </a:solidFill>
                <a:latin typeface="Calibri"/>
                <a:cs typeface="Calibri"/>
              </a:rPr>
              <a:t>y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164336" y="2568955"/>
            <a:ext cx="280670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650" baseline="-10101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628013" y="2532379"/>
            <a:ext cx="1461135" cy="8324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90500">
              <a:lnSpc>
                <a:spcPts val="1650"/>
              </a:lnSpc>
              <a:spcBef>
                <a:spcPts val="110"/>
              </a:spcBef>
              <a:tabLst>
                <a:tab pos="704215" algn="l"/>
                <a:tab pos="1191895" algn="l"/>
              </a:tabLst>
            </a:pP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650" baseline="-1010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r>
              <a:rPr sz="1650" baseline="-1010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4</a:t>
            </a:r>
            <a:endParaRPr sz="1650" baseline="-10101">
              <a:latin typeface="Calibri"/>
              <a:cs typeface="Calibri"/>
            </a:endParaRPr>
          </a:p>
          <a:p>
            <a:pPr marL="100965">
              <a:lnSpc>
                <a:spcPts val="1650"/>
              </a:lnSpc>
              <a:tabLst>
                <a:tab pos="1127760" algn="l"/>
              </a:tabLst>
            </a:pP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h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650" baseline="-1010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h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650" baseline="-10101">
              <a:latin typeface="Calibri"/>
              <a:cs typeface="Calibri"/>
            </a:endParaRPr>
          </a:p>
          <a:p>
            <a:pPr marL="50800">
              <a:lnSpc>
                <a:spcPct val="100000"/>
              </a:lnSpc>
              <a:spcBef>
                <a:spcPts val="1235"/>
              </a:spcBef>
              <a:tabLst>
                <a:tab pos="1077595" algn="l"/>
              </a:tabLst>
            </a:pPr>
            <a:r>
              <a:rPr sz="1500" spc="-40" dirty="0">
                <a:solidFill>
                  <a:srgbClr val="213739"/>
                </a:solidFill>
                <a:latin typeface="Arial MT"/>
                <a:cs typeface="Arial MT"/>
              </a:rPr>
              <a:t>-</a:t>
            </a:r>
            <a:r>
              <a:rPr sz="1500" spc="-25" dirty="0">
                <a:solidFill>
                  <a:srgbClr val="213739"/>
                </a:solidFill>
                <a:latin typeface="Arial MT"/>
                <a:cs typeface="Arial MT"/>
              </a:rPr>
              <a:t>1,1</a:t>
            </a:r>
            <a:r>
              <a:rPr sz="1500" dirty="0">
                <a:solidFill>
                  <a:srgbClr val="213739"/>
                </a:solidFill>
                <a:latin typeface="Arial MT"/>
                <a:cs typeface="Arial MT"/>
              </a:rPr>
              <a:t>	</a:t>
            </a:r>
            <a:r>
              <a:rPr sz="1500" spc="-70" dirty="0">
                <a:solidFill>
                  <a:srgbClr val="213739"/>
                </a:solidFill>
                <a:latin typeface="Arial MT"/>
                <a:cs typeface="Arial MT"/>
              </a:rPr>
              <a:t>1,-</a:t>
            </a:r>
            <a:r>
              <a:rPr sz="1500" spc="-50" dirty="0">
                <a:solidFill>
                  <a:srgbClr val="213739"/>
                </a:solidFill>
                <a:latin typeface="Arial MT"/>
                <a:cs typeface="Arial MT"/>
              </a:rPr>
              <a:t>1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994460" y="1862084"/>
            <a:ext cx="2713990" cy="2357120"/>
            <a:chOff x="994460" y="1862084"/>
            <a:chExt cx="2713990" cy="2357120"/>
          </a:xfrm>
        </p:grpSpPr>
        <p:sp>
          <p:nvSpPr>
            <p:cNvPr id="29" name="object 29"/>
            <p:cNvSpPr/>
            <p:nvPr/>
          </p:nvSpPr>
          <p:spPr>
            <a:xfrm>
              <a:off x="1016139" y="3485388"/>
              <a:ext cx="686435" cy="686435"/>
            </a:xfrm>
            <a:custGeom>
              <a:avLst/>
              <a:gdLst/>
              <a:ahLst/>
              <a:cxnLst/>
              <a:rect l="l" t="t" r="r" b="b"/>
              <a:pathLst>
                <a:path w="686435" h="686435">
                  <a:moveTo>
                    <a:pt x="686295" y="686181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4460" y="3463657"/>
              <a:ext cx="104659" cy="104661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1072959" y="3406521"/>
              <a:ext cx="1615440" cy="807720"/>
            </a:xfrm>
            <a:custGeom>
              <a:avLst/>
              <a:gdLst/>
              <a:ahLst/>
              <a:cxnLst/>
              <a:rect l="l" t="t" r="r" b="b"/>
              <a:pathLst>
                <a:path w="1615439" h="807720">
                  <a:moveTo>
                    <a:pt x="1615122" y="807592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60723" y="3364757"/>
              <a:ext cx="84085" cy="122262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1766570" y="3546729"/>
              <a:ext cx="125730" cy="624840"/>
            </a:xfrm>
            <a:custGeom>
              <a:avLst/>
              <a:gdLst/>
              <a:ahLst/>
              <a:cxnLst/>
              <a:rect l="l" t="t" r="r" b="b"/>
              <a:pathLst>
                <a:path w="125730" h="624839">
                  <a:moveTo>
                    <a:pt x="62737" y="624840"/>
                  </a:moveTo>
                  <a:lnTo>
                    <a:pt x="62737" y="8000"/>
                  </a:lnTo>
                </a:path>
                <a:path w="125730" h="624839">
                  <a:moveTo>
                    <a:pt x="0" y="51435"/>
                  </a:moveTo>
                  <a:lnTo>
                    <a:pt x="24637" y="42418"/>
                  </a:lnTo>
                  <a:lnTo>
                    <a:pt x="42672" y="30099"/>
                  </a:lnTo>
                  <a:lnTo>
                    <a:pt x="55118" y="15621"/>
                  </a:lnTo>
                  <a:lnTo>
                    <a:pt x="62737" y="0"/>
                  </a:lnTo>
                  <a:lnTo>
                    <a:pt x="70231" y="15621"/>
                  </a:lnTo>
                  <a:lnTo>
                    <a:pt x="82677" y="30099"/>
                  </a:lnTo>
                  <a:lnTo>
                    <a:pt x="100711" y="42418"/>
                  </a:lnTo>
                  <a:lnTo>
                    <a:pt x="125349" y="51435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030094" y="3471672"/>
              <a:ext cx="700405" cy="700405"/>
            </a:xfrm>
            <a:custGeom>
              <a:avLst/>
              <a:gdLst/>
              <a:ahLst/>
              <a:cxnLst/>
              <a:rect l="l" t="t" r="r" b="b"/>
              <a:pathLst>
                <a:path w="700405" h="700404">
                  <a:moveTo>
                    <a:pt x="700024" y="699896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08377" y="3449924"/>
              <a:ext cx="105171" cy="105186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1956054" y="3471672"/>
              <a:ext cx="700405" cy="700405"/>
            </a:xfrm>
            <a:custGeom>
              <a:avLst/>
              <a:gdLst/>
              <a:ahLst/>
              <a:cxnLst/>
              <a:rect l="l" t="t" r="r" b="b"/>
              <a:pathLst>
                <a:path w="700405" h="700404">
                  <a:moveTo>
                    <a:pt x="0" y="699896"/>
                  </a:moveTo>
                  <a:lnTo>
                    <a:pt x="700023" y="0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72766" y="3449924"/>
              <a:ext cx="105171" cy="105186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2794254" y="3546729"/>
              <a:ext cx="125730" cy="624840"/>
            </a:xfrm>
            <a:custGeom>
              <a:avLst/>
              <a:gdLst/>
              <a:ahLst/>
              <a:cxnLst/>
              <a:rect l="l" t="t" r="r" b="b"/>
              <a:pathLst>
                <a:path w="125730" h="624839">
                  <a:moveTo>
                    <a:pt x="62737" y="624840"/>
                  </a:moveTo>
                  <a:lnTo>
                    <a:pt x="62737" y="8000"/>
                  </a:lnTo>
                </a:path>
                <a:path w="125730" h="624839">
                  <a:moveTo>
                    <a:pt x="0" y="51435"/>
                  </a:moveTo>
                  <a:lnTo>
                    <a:pt x="24637" y="42418"/>
                  </a:lnTo>
                  <a:lnTo>
                    <a:pt x="42671" y="30099"/>
                  </a:lnTo>
                  <a:lnTo>
                    <a:pt x="55118" y="15621"/>
                  </a:lnTo>
                  <a:lnTo>
                    <a:pt x="62737" y="0"/>
                  </a:lnTo>
                  <a:lnTo>
                    <a:pt x="70231" y="15621"/>
                  </a:lnTo>
                  <a:lnTo>
                    <a:pt x="82676" y="30099"/>
                  </a:lnTo>
                  <a:lnTo>
                    <a:pt x="100710" y="42418"/>
                  </a:lnTo>
                  <a:lnTo>
                    <a:pt x="125348" y="51435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998218" y="3396107"/>
              <a:ext cx="1635760" cy="818515"/>
            </a:xfrm>
            <a:custGeom>
              <a:avLst/>
              <a:gdLst/>
              <a:ahLst/>
              <a:cxnLst/>
              <a:rect l="l" t="t" r="r" b="b"/>
              <a:pathLst>
                <a:path w="1635760" h="818514">
                  <a:moveTo>
                    <a:pt x="0" y="818006"/>
                  </a:moveTo>
                  <a:lnTo>
                    <a:pt x="1635759" y="0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62114" y="3354470"/>
              <a:ext cx="84163" cy="122136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2983864" y="3469005"/>
              <a:ext cx="702945" cy="702945"/>
            </a:xfrm>
            <a:custGeom>
              <a:avLst/>
              <a:gdLst/>
              <a:ahLst/>
              <a:cxnLst/>
              <a:rect l="l" t="t" r="r" b="b"/>
              <a:pathLst>
                <a:path w="702945" h="702945">
                  <a:moveTo>
                    <a:pt x="0" y="702564"/>
                  </a:moveTo>
                  <a:lnTo>
                    <a:pt x="702563" y="0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603498" y="3447274"/>
              <a:ext cx="104659" cy="104661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1041425" y="2308860"/>
              <a:ext cx="1203325" cy="802640"/>
            </a:xfrm>
            <a:custGeom>
              <a:avLst/>
              <a:gdLst/>
              <a:ahLst/>
              <a:cxnLst/>
              <a:rect l="l" t="t" r="r" b="b"/>
              <a:pathLst>
                <a:path w="1203325" h="802639">
                  <a:moveTo>
                    <a:pt x="0" y="802131"/>
                  </a:moveTo>
                  <a:lnTo>
                    <a:pt x="1203172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83766" y="2287145"/>
              <a:ext cx="66671" cy="85467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1949577" y="2348738"/>
              <a:ext cx="340995" cy="681990"/>
            </a:xfrm>
            <a:custGeom>
              <a:avLst/>
              <a:gdLst/>
              <a:ahLst/>
              <a:cxnLst/>
              <a:rect l="l" t="t" r="r" b="b"/>
              <a:pathLst>
                <a:path w="340994" h="681989">
                  <a:moveTo>
                    <a:pt x="0" y="681482"/>
                  </a:moveTo>
                  <a:lnTo>
                    <a:pt x="340741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227579" y="2342641"/>
              <a:ext cx="91568" cy="64136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2395855" y="2348738"/>
              <a:ext cx="340995" cy="681990"/>
            </a:xfrm>
            <a:custGeom>
              <a:avLst/>
              <a:gdLst/>
              <a:ahLst/>
              <a:cxnLst/>
              <a:rect l="l" t="t" r="r" b="b"/>
              <a:pathLst>
                <a:path w="340994" h="681989">
                  <a:moveTo>
                    <a:pt x="340868" y="681482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67025" y="2342641"/>
              <a:ext cx="91568" cy="64136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2441575" y="2308860"/>
              <a:ext cx="1223010" cy="815340"/>
            </a:xfrm>
            <a:custGeom>
              <a:avLst/>
              <a:gdLst/>
              <a:ahLst/>
              <a:cxnLst/>
              <a:rect l="l" t="t" r="r" b="b"/>
              <a:pathLst>
                <a:path w="1223010" h="815339">
                  <a:moveTo>
                    <a:pt x="1222628" y="814959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435734" y="2287145"/>
              <a:ext cx="66671" cy="85467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2294890" y="1864614"/>
              <a:ext cx="96520" cy="268605"/>
            </a:xfrm>
            <a:custGeom>
              <a:avLst/>
              <a:gdLst/>
              <a:ahLst/>
              <a:cxnLst/>
              <a:rect l="l" t="t" r="r" b="b"/>
              <a:pathLst>
                <a:path w="96519" h="268605">
                  <a:moveTo>
                    <a:pt x="48260" y="268605"/>
                  </a:moveTo>
                  <a:lnTo>
                    <a:pt x="48260" y="4063"/>
                  </a:lnTo>
                </a:path>
                <a:path w="96519" h="268605">
                  <a:moveTo>
                    <a:pt x="0" y="41783"/>
                  </a:moveTo>
                  <a:lnTo>
                    <a:pt x="18923" y="34416"/>
                  </a:lnTo>
                  <a:lnTo>
                    <a:pt x="32893" y="24511"/>
                  </a:lnTo>
                  <a:lnTo>
                    <a:pt x="42418" y="12700"/>
                  </a:lnTo>
                  <a:lnTo>
                    <a:pt x="48260" y="0"/>
                  </a:lnTo>
                  <a:lnTo>
                    <a:pt x="54102" y="12700"/>
                  </a:lnTo>
                  <a:lnTo>
                    <a:pt x="63627" y="24511"/>
                  </a:lnTo>
                  <a:lnTo>
                    <a:pt x="77470" y="34416"/>
                  </a:lnTo>
                  <a:lnTo>
                    <a:pt x="96393" y="41783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343204" y="3999632"/>
            <a:ext cx="2451100" cy="1073785"/>
          </a:xfrm>
          <a:prstGeom prst="rect">
            <a:avLst/>
          </a:prstGeom>
        </p:spPr>
        <p:txBody>
          <a:bodyPr vert="horz" wrap="square" lIns="0" tIns="125095" rIns="0" bIns="0" rtlCol="0">
            <a:spAutoFit/>
          </a:bodyPr>
          <a:lstStyle/>
          <a:p>
            <a:pPr marL="496570" algn="ctr">
              <a:lnSpc>
                <a:spcPct val="100000"/>
              </a:lnSpc>
              <a:spcBef>
                <a:spcPts val="985"/>
              </a:spcBef>
            </a:pPr>
            <a:r>
              <a:rPr sz="1500" i="1" spc="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650" spc="37" baseline="-10101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650" baseline="-10101">
              <a:latin typeface="Calibri"/>
              <a:cs typeface="Calibri"/>
            </a:endParaRPr>
          </a:p>
          <a:p>
            <a:pPr marL="38100" marR="30480">
              <a:lnSpc>
                <a:spcPct val="117700"/>
              </a:lnSpc>
              <a:spcBef>
                <a:spcPts val="625"/>
              </a:spcBef>
            </a:pP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red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edge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indicates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i="1" spc="10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=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-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1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blue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edge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indicates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i="1" spc="12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=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+1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53" name="object 53" descr="$PPTXTitle"/>
          <p:cNvSpPr txBox="1">
            <a:spLocks noGrp="1"/>
          </p:cNvSpPr>
          <p:nvPr>
            <p:ph type="title"/>
          </p:nvPr>
        </p:nvSpPr>
        <p:spPr>
          <a:xfrm>
            <a:off x="4756403" y="946530"/>
            <a:ext cx="406781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Let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875" spc="345" baseline="-8888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be</a:t>
            </a:r>
            <a:r>
              <a:rPr sz="1750" spc="-1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bias</a:t>
            </a:r>
            <a:r>
              <a:rPr sz="1750" spc="-1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output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 the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neuron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i="1" spc="-10" dirty="0">
                <a:solidFill>
                  <a:srgbClr val="213739"/>
                </a:solidFill>
                <a:latin typeface="Times New Roman"/>
                <a:cs typeface="Times New Roman"/>
              </a:rPr>
              <a:t>i.e.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,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4785105" y="1266571"/>
            <a:ext cx="972819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it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will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fire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if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5854572" y="1146174"/>
            <a:ext cx="31432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2625" spc="-30" baseline="-25396" dirty="0">
                <a:solidFill>
                  <a:srgbClr val="213739"/>
                </a:solidFill>
                <a:latin typeface="Lucida Sans Unicode"/>
                <a:cs typeface="Lucida Sans Unicode"/>
              </a:rPr>
              <a:t>Σ</a:t>
            </a:r>
            <a:r>
              <a:rPr sz="2625" spc="-532" baseline="-25396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250" spc="-50" dirty="0">
                <a:solidFill>
                  <a:srgbClr val="213739"/>
                </a:solidFill>
                <a:latin typeface="Calibri"/>
                <a:cs typeface="Calibri"/>
              </a:rPr>
              <a:t>4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6035802" y="1382395"/>
            <a:ext cx="285115" cy="2197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50" i="1" dirty="0">
                <a:solidFill>
                  <a:srgbClr val="213739"/>
                </a:solidFill>
                <a:latin typeface="Calibri"/>
                <a:cs typeface="Calibri"/>
              </a:rPr>
              <a:t>i</a:t>
            </a:r>
            <a:r>
              <a:rPr sz="1250" i="1" spc="-13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250" spc="55" dirty="0">
                <a:solidFill>
                  <a:srgbClr val="213739"/>
                </a:solidFill>
                <a:latin typeface="Calibri"/>
                <a:cs typeface="Calibri"/>
              </a:rPr>
              <a:t>=1 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6333997" y="1248283"/>
            <a:ext cx="108712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8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i="1" spc="127" baseline="-8888" dirty="0">
                <a:solidFill>
                  <a:srgbClr val="213739"/>
                </a:solidFill>
                <a:latin typeface="Calibri"/>
                <a:cs typeface="Calibri"/>
              </a:rPr>
              <a:t>i</a:t>
            </a:r>
            <a:r>
              <a:rPr sz="1750" i="1" spc="85" dirty="0">
                <a:solidFill>
                  <a:srgbClr val="213739"/>
                </a:solidFill>
                <a:latin typeface="Calibri"/>
                <a:cs typeface="Calibri"/>
              </a:rPr>
              <a:t>h</a:t>
            </a:r>
            <a:r>
              <a:rPr sz="1875" i="1" spc="127" baseline="-8888" dirty="0">
                <a:solidFill>
                  <a:srgbClr val="213739"/>
                </a:solidFill>
                <a:latin typeface="Calibri"/>
                <a:cs typeface="Calibri"/>
              </a:rPr>
              <a:t>i</a:t>
            </a:r>
            <a:r>
              <a:rPr sz="1875" i="1" spc="509" baseline="-8888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≥</a:t>
            </a:r>
            <a:r>
              <a:rPr sz="1750" spc="-10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)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4358004" y="2048382"/>
            <a:ext cx="4561205" cy="0"/>
          </a:xfrm>
          <a:custGeom>
            <a:avLst/>
            <a:gdLst/>
            <a:ahLst/>
            <a:cxnLst/>
            <a:rect l="l" t="t" r="r" b="b"/>
            <a:pathLst>
              <a:path w="4561205">
                <a:moveTo>
                  <a:pt x="0" y="0"/>
                </a:moveTo>
                <a:lnTo>
                  <a:pt x="4560824" y="0"/>
                </a:lnTo>
              </a:path>
            </a:pathLst>
          </a:custGeom>
          <a:ln w="5053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9" name="object 59"/>
          <p:cNvGraphicFramePr>
            <a:graphicFrameLocks noGrp="1"/>
          </p:cNvGraphicFramePr>
          <p:nvPr/>
        </p:nvGraphicFramePr>
        <p:xfrm>
          <a:off x="4393755" y="1837275"/>
          <a:ext cx="4435472" cy="10071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5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5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23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18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70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57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7909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283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7404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990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i="1" spc="-25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x</a:t>
                      </a:r>
                      <a:r>
                        <a:rPr sz="1650" spc="-37" baseline="-10101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650" baseline="-10101">
                        <a:latin typeface="Calibri"/>
                        <a:cs typeface="Calibri"/>
                      </a:endParaRPr>
                    </a:p>
                    <a:p>
                      <a:pPr marL="13398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6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R="571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i="1" spc="-25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x</a:t>
                      </a:r>
                      <a:r>
                        <a:rPr sz="1650" spc="-37" baseline="-10101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650" baseline="-10101">
                        <a:latin typeface="Calibri"/>
                        <a:cs typeface="Calibri"/>
                      </a:endParaRPr>
                    </a:p>
                    <a:p>
                      <a:pPr marL="317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6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40"/>
                        </a:spcBef>
                      </a:pPr>
                      <a:r>
                        <a:rPr sz="1600" i="1" spc="85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XOR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2476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6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9558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2413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i="1" spc="-25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h</a:t>
                      </a:r>
                      <a:r>
                        <a:rPr sz="1650" spc="-37" baseline="-10101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650" baseline="-10101">
                        <a:latin typeface="Calibri"/>
                        <a:cs typeface="Calibri"/>
                      </a:endParaRPr>
                    </a:p>
                    <a:p>
                      <a:pPr marL="3429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6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i="1" spc="-25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h</a:t>
                      </a:r>
                      <a:r>
                        <a:rPr sz="1650" spc="-37" baseline="-10101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650" baseline="-10101">
                        <a:latin typeface="Calibri"/>
                        <a:cs typeface="Calibri"/>
                      </a:endParaRPr>
                    </a:p>
                    <a:p>
                      <a:pPr marL="952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6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i="1" spc="-25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h</a:t>
                      </a:r>
                      <a:r>
                        <a:rPr sz="1650" spc="-37" baseline="-10101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650" baseline="-10101">
                        <a:latin typeface="Calibri"/>
                        <a:cs typeface="Calibri"/>
                      </a:endParaRPr>
                    </a:p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6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3208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i="1" spc="-25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h</a:t>
                      </a:r>
                      <a:r>
                        <a:rPr sz="1650" spc="-37" baseline="-10101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650" baseline="-10101">
                        <a:latin typeface="Calibri"/>
                        <a:cs typeface="Calibri"/>
                      </a:endParaRPr>
                    </a:p>
                    <a:p>
                      <a:pPr marL="17145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6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 marL="109855" algn="ctr">
                        <a:lnSpc>
                          <a:spcPts val="1305"/>
                        </a:lnSpc>
                        <a:spcBef>
                          <a:spcPts val="675"/>
                        </a:spcBef>
                      </a:pPr>
                      <a:r>
                        <a:rPr sz="2400" spc="-15" baseline="34722" dirty="0">
                          <a:solidFill>
                            <a:srgbClr val="213739"/>
                          </a:solidFill>
                          <a:latin typeface="Lucida Sans Unicode"/>
                          <a:cs typeface="Lucida Sans Unicode"/>
                        </a:rPr>
                        <a:t>Σ</a:t>
                      </a:r>
                      <a:r>
                        <a:rPr sz="2400" spc="-419" baseline="34722" dirty="0">
                          <a:solidFill>
                            <a:srgbClr val="213739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650" baseline="35353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4</a:t>
                      </a:r>
                      <a:r>
                        <a:rPr sz="1650" spc="225" baseline="35353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  </a:t>
                      </a:r>
                      <a:r>
                        <a:rPr sz="1600" i="1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w</a:t>
                      </a:r>
                      <a:r>
                        <a:rPr sz="1600" i="1" spc="20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i="1" spc="-50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h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784225">
                        <a:lnSpc>
                          <a:spcPts val="520"/>
                        </a:lnSpc>
                      </a:pPr>
                      <a:r>
                        <a:rPr sz="1100" i="1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sz="1100" i="1" spc="225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  </a:t>
                      </a:r>
                      <a:r>
                        <a:rPr sz="1100" i="1" spc="-50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i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66040">
                        <a:lnSpc>
                          <a:spcPts val="735"/>
                        </a:lnSpc>
                        <a:tabLst>
                          <a:tab pos="784225" algn="l"/>
                        </a:tabLst>
                      </a:pPr>
                      <a:r>
                        <a:rPr sz="1100" i="1" u="sng" dirty="0">
                          <a:solidFill>
                            <a:srgbClr val="213739"/>
                          </a:solidFill>
                          <a:uFill>
                            <a:solidFill>
                              <a:srgbClr val="213739"/>
                            </a:solidFill>
                          </a:uFill>
                          <a:latin typeface="Calibri"/>
                          <a:cs typeface="Calibri"/>
                        </a:rPr>
                        <a:t>i</a:t>
                      </a:r>
                      <a:r>
                        <a:rPr sz="1100" i="1" u="sng" spc="-130" dirty="0">
                          <a:solidFill>
                            <a:srgbClr val="213739"/>
                          </a:solidFill>
                          <a:uFill>
                            <a:solidFill>
                              <a:srgbClr val="213739"/>
                            </a:solidFill>
                          </a:u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u="sng" spc="-10" dirty="0">
                          <a:solidFill>
                            <a:srgbClr val="213739"/>
                          </a:solidFill>
                          <a:uFill>
                            <a:solidFill>
                              <a:srgbClr val="213739"/>
                            </a:solidFill>
                          </a:uFill>
                          <a:latin typeface="Calibri"/>
                          <a:cs typeface="Calibri"/>
                        </a:rPr>
                        <a:t>=</a:t>
                      </a:r>
                      <a:r>
                        <a:rPr sz="1100" u="sng" spc="-125" dirty="0">
                          <a:solidFill>
                            <a:srgbClr val="213739"/>
                          </a:solidFill>
                          <a:uFill>
                            <a:solidFill>
                              <a:srgbClr val="213739"/>
                            </a:solidFill>
                          </a:u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u="sng" spc="-50" dirty="0">
                          <a:solidFill>
                            <a:srgbClr val="213739"/>
                          </a:solidFill>
                          <a:uFill>
                            <a:solidFill>
                              <a:srgbClr val="213739"/>
                            </a:solidFill>
                          </a:uFill>
                          <a:latin typeface="Calibri"/>
                          <a:cs typeface="Calibri"/>
                        </a:rPr>
                        <a:t>1</a:t>
                      </a:r>
                      <a:r>
                        <a:rPr sz="1100" u="sng" dirty="0">
                          <a:solidFill>
                            <a:srgbClr val="213739"/>
                          </a:solidFill>
                          <a:uFill>
                            <a:solidFill>
                              <a:srgbClr val="213739"/>
                            </a:solidFill>
                          </a:uFill>
                          <a:latin typeface="Calibri"/>
                          <a:cs typeface="Calibri"/>
                        </a:rPr>
                        <a:t>	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158750" algn="ctr">
                        <a:lnSpc>
                          <a:spcPts val="1520"/>
                        </a:lnSpc>
                      </a:pPr>
                      <a:r>
                        <a:rPr sz="1600" i="1" spc="-25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w</a:t>
                      </a:r>
                      <a:r>
                        <a:rPr sz="1650" spc="-37" baseline="-10101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650" baseline="-10101">
                        <a:latin typeface="Calibri"/>
                        <a:cs typeface="Calibri"/>
                      </a:endParaRPr>
                    </a:p>
                  </a:txBody>
                  <a:tcPr marL="0" marR="0" marT="85725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24765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160655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00" i="1" spc="-25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w</a:t>
                      </a:r>
                      <a:r>
                        <a:rPr sz="1650" spc="-37" baseline="-10101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650" baseline="-10101">
                        <a:latin typeface="Calibri"/>
                        <a:cs typeface="Calibri"/>
                      </a:endParaRPr>
                    </a:p>
                  </a:txBody>
                  <a:tcPr marL="0" marR="0" marT="317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0" name="object 60"/>
          <p:cNvSpPr txBox="1"/>
          <p:nvPr/>
        </p:nvSpPr>
        <p:spPr>
          <a:xfrm>
            <a:off x="4514850" y="2860675"/>
            <a:ext cx="3870325" cy="2673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457200" algn="l"/>
                <a:tab pos="1049020" algn="l"/>
                <a:tab pos="1638935" algn="l"/>
                <a:tab pos="2085339" algn="l"/>
                <a:tab pos="2531745" algn="l"/>
                <a:tab pos="2978785" algn="l"/>
                <a:tab pos="3712845" algn="l"/>
              </a:tabLst>
            </a:pPr>
            <a:r>
              <a:rPr sz="1550" spc="-50" dirty="0">
                <a:solidFill>
                  <a:srgbClr val="213739"/>
                </a:solidFill>
                <a:latin typeface="Arial MT"/>
                <a:cs typeface="Arial MT"/>
              </a:rPr>
              <a:t>1</a:t>
            </a:r>
            <a:r>
              <a:rPr sz="1550" dirty="0">
                <a:solidFill>
                  <a:srgbClr val="213739"/>
                </a:solidFill>
                <a:latin typeface="Arial MT"/>
                <a:cs typeface="Arial MT"/>
              </a:rPr>
              <a:t>	</a:t>
            </a:r>
            <a:r>
              <a:rPr sz="1550" spc="-50" dirty="0">
                <a:solidFill>
                  <a:srgbClr val="213739"/>
                </a:solidFill>
                <a:latin typeface="Arial MT"/>
                <a:cs typeface="Arial MT"/>
              </a:rPr>
              <a:t>0</a:t>
            </a:r>
            <a:r>
              <a:rPr sz="1550" dirty="0">
                <a:solidFill>
                  <a:srgbClr val="213739"/>
                </a:solidFill>
                <a:latin typeface="Arial MT"/>
                <a:cs typeface="Arial MT"/>
              </a:rPr>
              <a:t>	</a:t>
            </a:r>
            <a:r>
              <a:rPr sz="1550" spc="-50" dirty="0">
                <a:solidFill>
                  <a:srgbClr val="213739"/>
                </a:solidFill>
                <a:latin typeface="Arial MT"/>
                <a:cs typeface="Arial MT"/>
              </a:rPr>
              <a:t>1</a:t>
            </a:r>
            <a:r>
              <a:rPr sz="1550" dirty="0">
                <a:solidFill>
                  <a:srgbClr val="213739"/>
                </a:solidFill>
                <a:latin typeface="Arial MT"/>
                <a:cs typeface="Arial MT"/>
              </a:rPr>
              <a:t>	</a:t>
            </a:r>
            <a:r>
              <a:rPr sz="1550" spc="-50" dirty="0">
                <a:solidFill>
                  <a:srgbClr val="213739"/>
                </a:solidFill>
                <a:latin typeface="Arial MT"/>
                <a:cs typeface="Arial MT"/>
              </a:rPr>
              <a:t>0</a:t>
            </a:r>
            <a:r>
              <a:rPr sz="1550" dirty="0">
                <a:solidFill>
                  <a:srgbClr val="213739"/>
                </a:solidFill>
                <a:latin typeface="Arial MT"/>
                <a:cs typeface="Arial MT"/>
              </a:rPr>
              <a:t>	</a:t>
            </a:r>
            <a:r>
              <a:rPr sz="1550" spc="-50" dirty="0">
                <a:solidFill>
                  <a:srgbClr val="213739"/>
                </a:solidFill>
                <a:latin typeface="Arial MT"/>
                <a:cs typeface="Arial MT"/>
              </a:rPr>
              <a:t>0</a:t>
            </a:r>
            <a:r>
              <a:rPr sz="1550" dirty="0">
                <a:solidFill>
                  <a:srgbClr val="213739"/>
                </a:solidFill>
                <a:latin typeface="Arial MT"/>
                <a:cs typeface="Arial MT"/>
              </a:rPr>
              <a:t>	</a:t>
            </a:r>
            <a:r>
              <a:rPr sz="1550" spc="-50" dirty="0">
                <a:solidFill>
                  <a:srgbClr val="213739"/>
                </a:solidFill>
                <a:latin typeface="Arial MT"/>
                <a:cs typeface="Arial MT"/>
              </a:rPr>
              <a:t>1</a:t>
            </a:r>
            <a:r>
              <a:rPr sz="1550" dirty="0">
                <a:solidFill>
                  <a:srgbClr val="213739"/>
                </a:solidFill>
                <a:latin typeface="Arial MT"/>
                <a:cs typeface="Arial MT"/>
              </a:rPr>
              <a:t>	</a:t>
            </a:r>
            <a:r>
              <a:rPr sz="1550" spc="-50" dirty="0">
                <a:solidFill>
                  <a:srgbClr val="213739"/>
                </a:solidFill>
                <a:latin typeface="Arial MT"/>
                <a:cs typeface="Arial MT"/>
              </a:rPr>
              <a:t>0</a:t>
            </a:r>
            <a:r>
              <a:rPr sz="1550" dirty="0">
                <a:solidFill>
                  <a:srgbClr val="213739"/>
                </a:solidFill>
                <a:latin typeface="Arial MT"/>
                <a:cs typeface="Arial MT"/>
              </a:rPr>
              <a:t>	</a:t>
            </a:r>
            <a:r>
              <a:rPr sz="1550" i="1" spc="-5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8359520" y="2952369"/>
            <a:ext cx="97790" cy="1955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spc="-50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4320540" y="3137661"/>
            <a:ext cx="4636135" cy="2673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  <a:tabLst>
                <a:tab pos="652780" algn="l"/>
                <a:tab pos="1242695" algn="l"/>
                <a:tab pos="1833880" algn="l"/>
                <a:tab pos="2279015" algn="l"/>
                <a:tab pos="2726055" algn="l"/>
                <a:tab pos="3173730" algn="l"/>
                <a:tab pos="3907154" algn="l"/>
                <a:tab pos="4597400" algn="l"/>
              </a:tabLst>
            </a:pPr>
            <a:r>
              <a:rPr sz="1550" u="sng" spc="225" dirty="0">
                <a:solidFill>
                  <a:srgbClr val="213739"/>
                </a:solidFill>
                <a:uFill>
                  <a:solidFill>
                    <a:srgbClr val="213739"/>
                  </a:solidFill>
                </a:uFill>
                <a:latin typeface="Arial MT"/>
                <a:cs typeface="Arial MT"/>
              </a:rPr>
              <a:t>  </a:t>
            </a:r>
            <a:r>
              <a:rPr sz="1550" u="sng" spc="-60" dirty="0">
                <a:solidFill>
                  <a:srgbClr val="213739"/>
                </a:solidFill>
                <a:uFill>
                  <a:solidFill>
                    <a:srgbClr val="213739"/>
                  </a:solidFill>
                </a:uFill>
                <a:latin typeface="Arial MT"/>
                <a:cs typeface="Arial MT"/>
              </a:rPr>
              <a:t>1</a:t>
            </a:r>
            <a:r>
              <a:rPr sz="1550" u="sng" dirty="0">
                <a:solidFill>
                  <a:srgbClr val="213739"/>
                </a:solidFill>
                <a:uFill>
                  <a:solidFill>
                    <a:srgbClr val="213739"/>
                  </a:solidFill>
                </a:uFill>
                <a:latin typeface="Arial MT"/>
                <a:cs typeface="Arial MT"/>
              </a:rPr>
              <a:t>	</a:t>
            </a:r>
            <a:r>
              <a:rPr sz="1550" u="sng" spc="-50" dirty="0">
                <a:solidFill>
                  <a:srgbClr val="213739"/>
                </a:solidFill>
                <a:uFill>
                  <a:solidFill>
                    <a:srgbClr val="213739"/>
                  </a:solidFill>
                </a:uFill>
                <a:latin typeface="Arial MT"/>
                <a:cs typeface="Arial MT"/>
              </a:rPr>
              <a:t>1</a:t>
            </a:r>
            <a:r>
              <a:rPr sz="1550" u="sng" dirty="0">
                <a:solidFill>
                  <a:srgbClr val="213739"/>
                </a:solidFill>
                <a:uFill>
                  <a:solidFill>
                    <a:srgbClr val="213739"/>
                  </a:solidFill>
                </a:uFill>
                <a:latin typeface="Arial MT"/>
                <a:cs typeface="Arial MT"/>
              </a:rPr>
              <a:t>	</a:t>
            </a:r>
            <a:r>
              <a:rPr sz="1550" u="sng" spc="-50" dirty="0">
                <a:solidFill>
                  <a:srgbClr val="213739"/>
                </a:solidFill>
                <a:uFill>
                  <a:solidFill>
                    <a:srgbClr val="213739"/>
                  </a:solidFill>
                </a:uFill>
                <a:latin typeface="Arial MT"/>
                <a:cs typeface="Arial MT"/>
              </a:rPr>
              <a:t>0</a:t>
            </a:r>
            <a:r>
              <a:rPr sz="1550" u="sng" dirty="0">
                <a:solidFill>
                  <a:srgbClr val="213739"/>
                </a:solidFill>
                <a:uFill>
                  <a:solidFill>
                    <a:srgbClr val="213739"/>
                  </a:solidFill>
                </a:uFill>
                <a:latin typeface="Arial MT"/>
                <a:cs typeface="Arial MT"/>
              </a:rPr>
              <a:t>	</a:t>
            </a:r>
            <a:r>
              <a:rPr sz="1550" u="sng" spc="-50" dirty="0">
                <a:solidFill>
                  <a:srgbClr val="213739"/>
                </a:solidFill>
                <a:uFill>
                  <a:solidFill>
                    <a:srgbClr val="213739"/>
                  </a:solidFill>
                </a:uFill>
                <a:latin typeface="Arial MT"/>
                <a:cs typeface="Arial MT"/>
              </a:rPr>
              <a:t>0</a:t>
            </a:r>
            <a:r>
              <a:rPr sz="1550" u="sng" dirty="0">
                <a:solidFill>
                  <a:srgbClr val="213739"/>
                </a:solidFill>
                <a:uFill>
                  <a:solidFill>
                    <a:srgbClr val="213739"/>
                  </a:solidFill>
                </a:uFill>
                <a:latin typeface="Arial MT"/>
                <a:cs typeface="Arial MT"/>
              </a:rPr>
              <a:t>	</a:t>
            </a:r>
            <a:r>
              <a:rPr sz="1550" u="sng" spc="-50" dirty="0">
                <a:solidFill>
                  <a:srgbClr val="213739"/>
                </a:solidFill>
                <a:uFill>
                  <a:solidFill>
                    <a:srgbClr val="213739"/>
                  </a:solidFill>
                </a:uFill>
                <a:latin typeface="Arial MT"/>
                <a:cs typeface="Arial MT"/>
              </a:rPr>
              <a:t>0</a:t>
            </a:r>
            <a:r>
              <a:rPr sz="1550" u="sng" dirty="0">
                <a:solidFill>
                  <a:srgbClr val="213739"/>
                </a:solidFill>
                <a:uFill>
                  <a:solidFill>
                    <a:srgbClr val="213739"/>
                  </a:solidFill>
                </a:uFill>
                <a:latin typeface="Arial MT"/>
                <a:cs typeface="Arial MT"/>
              </a:rPr>
              <a:t>	</a:t>
            </a:r>
            <a:r>
              <a:rPr sz="1550" u="sng" spc="-50" dirty="0">
                <a:solidFill>
                  <a:srgbClr val="213739"/>
                </a:solidFill>
                <a:uFill>
                  <a:solidFill>
                    <a:srgbClr val="213739"/>
                  </a:solidFill>
                </a:uFill>
                <a:latin typeface="Arial MT"/>
                <a:cs typeface="Arial MT"/>
              </a:rPr>
              <a:t>0</a:t>
            </a:r>
            <a:r>
              <a:rPr sz="1550" u="sng" dirty="0">
                <a:solidFill>
                  <a:srgbClr val="213739"/>
                </a:solidFill>
                <a:uFill>
                  <a:solidFill>
                    <a:srgbClr val="213739"/>
                  </a:solidFill>
                </a:uFill>
                <a:latin typeface="Arial MT"/>
                <a:cs typeface="Arial MT"/>
              </a:rPr>
              <a:t>	</a:t>
            </a:r>
            <a:r>
              <a:rPr sz="1550" u="sng" spc="-50" dirty="0">
                <a:solidFill>
                  <a:srgbClr val="213739"/>
                </a:solidFill>
                <a:uFill>
                  <a:solidFill>
                    <a:srgbClr val="213739"/>
                  </a:solidFill>
                </a:uFill>
                <a:latin typeface="Arial MT"/>
                <a:cs typeface="Arial MT"/>
              </a:rPr>
              <a:t>1</a:t>
            </a:r>
            <a:r>
              <a:rPr sz="1550" u="sng" dirty="0">
                <a:solidFill>
                  <a:srgbClr val="213739"/>
                </a:solidFill>
                <a:uFill>
                  <a:solidFill>
                    <a:srgbClr val="213739"/>
                  </a:solidFill>
                </a:uFill>
                <a:latin typeface="Arial MT"/>
                <a:cs typeface="Arial MT"/>
              </a:rPr>
              <a:t>	</a:t>
            </a:r>
            <a:r>
              <a:rPr sz="1550" i="1" u="sng" spc="-25" dirty="0">
                <a:solidFill>
                  <a:srgbClr val="213739"/>
                </a:solidFill>
                <a:uFill>
                  <a:solidFill>
                    <a:srgbClr val="213739"/>
                  </a:solidFill>
                </a:uFill>
                <a:latin typeface="Calibri"/>
                <a:cs typeface="Calibri"/>
              </a:rPr>
              <a:t>w</a:t>
            </a:r>
            <a:r>
              <a:rPr sz="1650" u="sng" spc="-37" baseline="-10101" dirty="0">
                <a:solidFill>
                  <a:srgbClr val="213739"/>
                </a:solidFill>
                <a:uFill>
                  <a:solidFill>
                    <a:srgbClr val="213739"/>
                  </a:solidFill>
                </a:uFill>
                <a:latin typeface="Calibri"/>
                <a:cs typeface="Calibri"/>
              </a:rPr>
              <a:t>4</a:t>
            </a:r>
            <a:r>
              <a:rPr sz="1650" u="sng" baseline="-10101" dirty="0">
                <a:solidFill>
                  <a:srgbClr val="213739"/>
                </a:solidFill>
                <a:uFill>
                  <a:solidFill>
                    <a:srgbClr val="213739"/>
                  </a:solidFill>
                </a:uFill>
                <a:latin typeface="Calibri"/>
                <a:cs typeface="Calibri"/>
              </a:rPr>
              <a:t>	</a:t>
            </a:r>
            <a:endParaRPr sz="1650" baseline="-10101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32279" y="2132355"/>
            <a:ext cx="221589" cy="22158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720339" y="4110608"/>
            <a:ext cx="244475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500" i="1" spc="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650" spc="37" baseline="-10101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650" baseline="-10101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16407" y="2985642"/>
            <a:ext cx="3630295" cy="570865"/>
            <a:chOff x="516407" y="2985642"/>
            <a:chExt cx="3630295" cy="570865"/>
          </a:xfrm>
        </p:grpSpPr>
        <p:sp>
          <p:nvSpPr>
            <p:cNvPr id="5" name="object 5"/>
            <p:cNvSpPr/>
            <p:nvPr/>
          </p:nvSpPr>
          <p:spPr>
            <a:xfrm>
              <a:off x="544677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256921" y="0"/>
                  </a:moveTo>
                  <a:lnTo>
                    <a:pt x="188620" y="9144"/>
                  </a:lnTo>
                  <a:lnTo>
                    <a:pt x="127241" y="35051"/>
                  </a:lnTo>
                  <a:lnTo>
                    <a:pt x="75247" y="75184"/>
                  </a:lnTo>
                  <a:lnTo>
                    <a:pt x="35077" y="127126"/>
                  </a:lnTo>
                  <a:lnTo>
                    <a:pt x="9182" y="188595"/>
                  </a:lnTo>
                  <a:lnTo>
                    <a:pt x="0" y="256794"/>
                  </a:lnTo>
                  <a:lnTo>
                    <a:pt x="9182" y="325120"/>
                  </a:lnTo>
                  <a:lnTo>
                    <a:pt x="35077" y="386588"/>
                  </a:lnTo>
                  <a:lnTo>
                    <a:pt x="75247" y="438531"/>
                  </a:lnTo>
                  <a:lnTo>
                    <a:pt x="127241" y="478663"/>
                  </a:lnTo>
                  <a:lnTo>
                    <a:pt x="188620" y="504571"/>
                  </a:lnTo>
                  <a:lnTo>
                    <a:pt x="256921" y="513714"/>
                  </a:lnTo>
                  <a:lnTo>
                    <a:pt x="325221" y="504571"/>
                  </a:lnTo>
                  <a:lnTo>
                    <a:pt x="386588" y="478663"/>
                  </a:lnTo>
                  <a:lnTo>
                    <a:pt x="438581" y="438531"/>
                  </a:lnTo>
                  <a:lnTo>
                    <a:pt x="478764" y="386588"/>
                  </a:lnTo>
                  <a:lnTo>
                    <a:pt x="504659" y="325120"/>
                  </a:lnTo>
                  <a:lnTo>
                    <a:pt x="513842" y="256794"/>
                  </a:lnTo>
                  <a:lnTo>
                    <a:pt x="504659" y="188595"/>
                  </a:lnTo>
                  <a:lnTo>
                    <a:pt x="478764" y="127126"/>
                  </a:lnTo>
                  <a:lnTo>
                    <a:pt x="438581" y="75184"/>
                  </a:lnTo>
                  <a:lnTo>
                    <a:pt x="386588" y="35051"/>
                  </a:lnTo>
                  <a:lnTo>
                    <a:pt x="325221" y="9144"/>
                  </a:lnTo>
                  <a:lnTo>
                    <a:pt x="256921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44677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513842" y="256794"/>
                  </a:moveTo>
                  <a:lnTo>
                    <a:pt x="504659" y="188595"/>
                  </a:lnTo>
                  <a:lnTo>
                    <a:pt x="478764" y="127126"/>
                  </a:lnTo>
                  <a:lnTo>
                    <a:pt x="438581" y="75184"/>
                  </a:lnTo>
                  <a:lnTo>
                    <a:pt x="386588" y="35051"/>
                  </a:lnTo>
                  <a:lnTo>
                    <a:pt x="325221" y="9144"/>
                  </a:lnTo>
                  <a:lnTo>
                    <a:pt x="256921" y="0"/>
                  </a:lnTo>
                  <a:lnTo>
                    <a:pt x="188620" y="9144"/>
                  </a:lnTo>
                  <a:lnTo>
                    <a:pt x="127241" y="35051"/>
                  </a:lnTo>
                  <a:lnTo>
                    <a:pt x="75247" y="75184"/>
                  </a:lnTo>
                  <a:lnTo>
                    <a:pt x="35077" y="127126"/>
                  </a:lnTo>
                  <a:lnTo>
                    <a:pt x="9182" y="188595"/>
                  </a:lnTo>
                  <a:lnTo>
                    <a:pt x="0" y="256794"/>
                  </a:lnTo>
                  <a:lnTo>
                    <a:pt x="9182" y="325120"/>
                  </a:lnTo>
                  <a:lnTo>
                    <a:pt x="35077" y="386588"/>
                  </a:lnTo>
                  <a:lnTo>
                    <a:pt x="75247" y="438531"/>
                  </a:lnTo>
                  <a:lnTo>
                    <a:pt x="127241" y="478663"/>
                  </a:lnTo>
                  <a:lnTo>
                    <a:pt x="188620" y="504571"/>
                  </a:lnTo>
                  <a:lnTo>
                    <a:pt x="256921" y="513714"/>
                  </a:lnTo>
                  <a:lnTo>
                    <a:pt x="325221" y="504571"/>
                  </a:lnTo>
                  <a:lnTo>
                    <a:pt x="386588" y="478663"/>
                  </a:lnTo>
                  <a:lnTo>
                    <a:pt x="438581" y="438531"/>
                  </a:lnTo>
                  <a:lnTo>
                    <a:pt x="478764" y="386588"/>
                  </a:lnTo>
                  <a:lnTo>
                    <a:pt x="504659" y="325120"/>
                  </a:lnTo>
                  <a:lnTo>
                    <a:pt x="513842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72387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256920" y="0"/>
                  </a:moveTo>
                  <a:lnTo>
                    <a:pt x="188594" y="9144"/>
                  </a:lnTo>
                  <a:lnTo>
                    <a:pt x="127254" y="35051"/>
                  </a:lnTo>
                  <a:lnTo>
                    <a:pt x="75183" y="75184"/>
                  </a:lnTo>
                  <a:lnTo>
                    <a:pt x="35051" y="127126"/>
                  </a:lnTo>
                  <a:lnTo>
                    <a:pt x="9143" y="188595"/>
                  </a:lnTo>
                  <a:lnTo>
                    <a:pt x="0" y="256794"/>
                  </a:lnTo>
                  <a:lnTo>
                    <a:pt x="9143" y="325120"/>
                  </a:lnTo>
                  <a:lnTo>
                    <a:pt x="35051" y="386588"/>
                  </a:lnTo>
                  <a:lnTo>
                    <a:pt x="75183" y="438531"/>
                  </a:lnTo>
                  <a:lnTo>
                    <a:pt x="127254" y="478663"/>
                  </a:lnTo>
                  <a:lnTo>
                    <a:pt x="188594" y="504571"/>
                  </a:lnTo>
                  <a:lnTo>
                    <a:pt x="256920" y="513714"/>
                  </a:lnTo>
                  <a:lnTo>
                    <a:pt x="325119" y="504571"/>
                  </a:lnTo>
                  <a:lnTo>
                    <a:pt x="386588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0" y="325120"/>
                  </a:lnTo>
                  <a:lnTo>
                    <a:pt x="513842" y="256794"/>
                  </a:lnTo>
                  <a:lnTo>
                    <a:pt x="504570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588" y="35051"/>
                  </a:lnTo>
                  <a:lnTo>
                    <a:pt x="325119" y="9144"/>
                  </a:lnTo>
                  <a:lnTo>
                    <a:pt x="256920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72387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513842" y="256794"/>
                  </a:moveTo>
                  <a:lnTo>
                    <a:pt x="504570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588" y="35051"/>
                  </a:lnTo>
                  <a:lnTo>
                    <a:pt x="325119" y="9144"/>
                  </a:lnTo>
                  <a:lnTo>
                    <a:pt x="256920" y="0"/>
                  </a:lnTo>
                  <a:lnTo>
                    <a:pt x="188594" y="9144"/>
                  </a:lnTo>
                  <a:lnTo>
                    <a:pt x="127254" y="35051"/>
                  </a:lnTo>
                  <a:lnTo>
                    <a:pt x="75183" y="75184"/>
                  </a:lnTo>
                  <a:lnTo>
                    <a:pt x="35051" y="127126"/>
                  </a:lnTo>
                  <a:lnTo>
                    <a:pt x="9143" y="188595"/>
                  </a:lnTo>
                  <a:lnTo>
                    <a:pt x="0" y="256794"/>
                  </a:lnTo>
                  <a:lnTo>
                    <a:pt x="9143" y="325120"/>
                  </a:lnTo>
                  <a:lnTo>
                    <a:pt x="35051" y="386588"/>
                  </a:lnTo>
                  <a:lnTo>
                    <a:pt x="75183" y="438531"/>
                  </a:lnTo>
                  <a:lnTo>
                    <a:pt x="127254" y="478663"/>
                  </a:lnTo>
                  <a:lnTo>
                    <a:pt x="188594" y="504571"/>
                  </a:lnTo>
                  <a:lnTo>
                    <a:pt x="256920" y="513714"/>
                  </a:lnTo>
                  <a:lnTo>
                    <a:pt x="325119" y="504571"/>
                  </a:lnTo>
                  <a:lnTo>
                    <a:pt x="386588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0" y="325120"/>
                  </a:lnTo>
                  <a:lnTo>
                    <a:pt x="513842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600070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256921" y="0"/>
                  </a:moveTo>
                  <a:lnTo>
                    <a:pt x="188595" y="9144"/>
                  </a:lnTo>
                  <a:lnTo>
                    <a:pt x="127254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3" y="188595"/>
                  </a:lnTo>
                  <a:lnTo>
                    <a:pt x="0" y="256794"/>
                  </a:lnTo>
                  <a:lnTo>
                    <a:pt x="9143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254" y="478663"/>
                  </a:lnTo>
                  <a:lnTo>
                    <a:pt x="188595" y="504571"/>
                  </a:lnTo>
                  <a:lnTo>
                    <a:pt x="256921" y="513714"/>
                  </a:lnTo>
                  <a:lnTo>
                    <a:pt x="325120" y="504571"/>
                  </a:lnTo>
                  <a:lnTo>
                    <a:pt x="386588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842" y="256794"/>
                  </a:ln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588" y="35051"/>
                  </a:lnTo>
                  <a:lnTo>
                    <a:pt x="325120" y="9144"/>
                  </a:lnTo>
                  <a:lnTo>
                    <a:pt x="256921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600070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513842" y="256794"/>
                  </a:move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588" y="35051"/>
                  </a:lnTo>
                  <a:lnTo>
                    <a:pt x="325120" y="9144"/>
                  </a:lnTo>
                  <a:lnTo>
                    <a:pt x="256921" y="0"/>
                  </a:lnTo>
                  <a:lnTo>
                    <a:pt x="188595" y="9144"/>
                  </a:lnTo>
                  <a:lnTo>
                    <a:pt x="127254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3" y="188595"/>
                  </a:lnTo>
                  <a:lnTo>
                    <a:pt x="0" y="256794"/>
                  </a:lnTo>
                  <a:lnTo>
                    <a:pt x="9143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254" y="478663"/>
                  </a:lnTo>
                  <a:lnTo>
                    <a:pt x="188595" y="504571"/>
                  </a:lnTo>
                  <a:lnTo>
                    <a:pt x="256921" y="513714"/>
                  </a:lnTo>
                  <a:lnTo>
                    <a:pt x="325120" y="504571"/>
                  </a:lnTo>
                  <a:lnTo>
                    <a:pt x="386588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842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627755" y="3013963"/>
              <a:ext cx="513715" cy="513715"/>
            </a:xfrm>
            <a:custGeom>
              <a:avLst/>
              <a:gdLst/>
              <a:ahLst/>
              <a:cxnLst/>
              <a:rect l="l" t="t" r="r" b="b"/>
              <a:pathLst>
                <a:path w="513714" h="513714">
                  <a:moveTo>
                    <a:pt x="256794" y="0"/>
                  </a:moveTo>
                  <a:lnTo>
                    <a:pt x="188595" y="9144"/>
                  </a:lnTo>
                  <a:lnTo>
                    <a:pt x="127127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4" y="188595"/>
                  </a:lnTo>
                  <a:lnTo>
                    <a:pt x="0" y="256794"/>
                  </a:lnTo>
                  <a:lnTo>
                    <a:pt x="9144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127" y="478663"/>
                  </a:lnTo>
                  <a:lnTo>
                    <a:pt x="188595" y="504571"/>
                  </a:lnTo>
                  <a:lnTo>
                    <a:pt x="256794" y="513714"/>
                  </a:lnTo>
                  <a:lnTo>
                    <a:pt x="325120" y="504571"/>
                  </a:lnTo>
                  <a:lnTo>
                    <a:pt x="386461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715" y="256794"/>
                  </a:ln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461" y="35051"/>
                  </a:lnTo>
                  <a:lnTo>
                    <a:pt x="325120" y="9144"/>
                  </a:lnTo>
                  <a:lnTo>
                    <a:pt x="256794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627755" y="3013963"/>
              <a:ext cx="513715" cy="513715"/>
            </a:xfrm>
            <a:custGeom>
              <a:avLst/>
              <a:gdLst/>
              <a:ahLst/>
              <a:cxnLst/>
              <a:rect l="l" t="t" r="r" b="b"/>
              <a:pathLst>
                <a:path w="513714" h="513714">
                  <a:moveTo>
                    <a:pt x="513715" y="256794"/>
                  </a:move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461" y="35051"/>
                  </a:lnTo>
                  <a:lnTo>
                    <a:pt x="325120" y="9144"/>
                  </a:lnTo>
                  <a:lnTo>
                    <a:pt x="256794" y="0"/>
                  </a:lnTo>
                  <a:lnTo>
                    <a:pt x="188595" y="9144"/>
                  </a:lnTo>
                  <a:lnTo>
                    <a:pt x="127127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4" y="188595"/>
                  </a:lnTo>
                  <a:lnTo>
                    <a:pt x="0" y="256794"/>
                  </a:lnTo>
                  <a:lnTo>
                    <a:pt x="9144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127" y="478663"/>
                  </a:lnTo>
                  <a:lnTo>
                    <a:pt x="188595" y="504571"/>
                  </a:lnTo>
                  <a:lnTo>
                    <a:pt x="256794" y="513714"/>
                  </a:lnTo>
                  <a:lnTo>
                    <a:pt x="325120" y="504571"/>
                  </a:lnTo>
                  <a:lnTo>
                    <a:pt x="386461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715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21487" y="2990722"/>
              <a:ext cx="560705" cy="560705"/>
            </a:xfrm>
            <a:custGeom>
              <a:avLst/>
              <a:gdLst/>
              <a:ahLst/>
              <a:cxnLst/>
              <a:rect l="l" t="t" r="r" b="b"/>
              <a:pathLst>
                <a:path w="560705" h="560704">
                  <a:moveTo>
                    <a:pt x="280111" y="0"/>
                  </a:moveTo>
                  <a:lnTo>
                    <a:pt x="205638" y="10032"/>
                  </a:lnTo>
                  <a:lnTo>
                    <a:pt x="138734" y="38226"/>
                  </a:lnTo>
                  <a:lnTo>
                    <a:pt x="82042" y="82041"/>
                  </a:lnTo>
                  <a:lnTo>
                    <a:pt x="38239" y="138684"/>
                  </a:lnTo>
                  <a:lnTo>
                    <a:pt x="9994" y="205612"/>
                  </a:lnTo>
                  <a:lnTo>
                    <a:pt x="0" y="280035"/>
                  </a:lnTo>
                  <a:lnTo>
                    <a:pt x="9994" y="354584"/>
                  </a:lnTo>
                  <a:lnTo>
                    <a:pt x="38239" y="421513"/>
                  </a:lnTo>
                  <a:lnTo>
                    <a:pt x="82042" y="478154"/>
                  </a:lnTo>
                  <a:lnTo>
                    <a:pt x="138734" y="521969"/>
                  </a:lnTo>
                  <a:lnTo>
                    <a:pt x="205638" y="550163"/>
                  </a:lnTo>
                  <a:lnTo>
                    <a:pt x="280111" y="560197"/>
                  </a:lnTo>
                  <a:lnTo>
                    <a:pt x="354571" y="550163"/>
                  </a:lnTo>
                  <a:lnTo>
                    <a:pt x="421487" y="521969"/>
                  </a:lnTo>
                  <a:lnTo>
                    <a:pt x="478180" y="478154"/>
                  </a:lnTo>
                  <a:lnTo>
                    <a:pt x="521982" y="421513"/>
                  </a:lnTo>
                  <a:lnTo>
                    <a:pt x="550214" y="354584"/>
                  </a:lnTo>
                  <a:lnTo>
                    <a:pt x="560222" y="280035"/>
                  </a:lnTo>
                  <a:lnTo>
                    <a:pt x="550214" y="205612"/>
                  </a:lnTo>
                  <a:lnTo>
                    <a:pt x="521982" y="138684"/>
                  </a:lnTo>
                  <a:lnTo>
                    <a:pt x="478180" y="82041"/>
                  </a:lnTo>
                  <a:lnTo>
                    <a:pt x="421487" y="38226"/>
                  </a:lnTo>
                  <a:lnTo>
                    <a:pt x="354571" y="10032"/>
                  </a:lnTo>
                  <a:lnTo>
                    <a:pt x="280111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21487" y="2990722"/>
              <a:ext cx="560705" cy="560705"/>
            </a:xfrm>
            <a:custGeom>
              <a:avLst/>
              <a:gdLst/>
              <a:ahLst/>
              <a:cxnLst/>
              <a:rect l="l" t="t" r="r" b="b"/>
              <a:pathLst>
                <a:path w="560705" h="560704">
                  <a:moveTo>
                    <a:pt x="560222" y="280035"/>
                  </a:moveTo>
                  <a:lnTo>
                    <a:pt x="550214" y="205612"/>
                  </a:lnTo>
                  <a:lnTo>
                    <a:pt x="521982" y="138684"/>
                  </a:lnTo>
                  <a:lnTo>
                    <a:pt x="478180" y="82041"/>
                  </a:lnTo>
                  <a:lnTo>
                    <a:pt x="421487" y="38226"/>
                  </a:lnTo>
                  <a:lnTo>
                    <a:pt x="354571" y="10032"/>
                  </a:lnTo>
                  <a:lnTo>
                    <a:pt x="280111" y="0"/>
                  </a:lnTo>
                  <a:lnTo>
                    <a:pt x="205638" y="10032"/>
                  </a:lnTo>
                  <a:lnTo>
                    <a:pt x="138734" y="38226"/>
                  </a:lnTo>
                  <a:lnTo>
                    <a:pt x="82042" y="82041"/>
                  </a:lnTo>
                  <a:lnTo>
                    <a:pt x="38239" y="138684"/>
                  </a:lnTo>
                  <a:lnTo>
                    <a:pt x="9994" y="205612"/>
                  </a:lnTo>
                  <a:lnTo>
                    <a:pt x="0" y="280035"/>
                  </a:lnTo>
                  <a:lnTo>
                    <a:pt x="9994" y="354584"/>
                  </a:lnTo>
                  <a:lnTo>
                    <a:pt x="38239" y="421513"/>
                  </a:lnTo>
                  <a:lnTo>
                    <a:pt x="82042" y="478154"/>
                  </a:lnTo>
                  <a:lnTo>
                    <a:pt x="138734" y="521969"/>
                  </a:lnTo>
                  <a:lnTo>
                    <a:pt x="205638" y="550163"/>
                  </a:lnTo>
                  <a:lnTo>
                    <a:pt x="280111" y="560197"/>
                  </a:lnTo>
                  <a:lnTo>
                    <a:pt x="354571" y="550163"/>
                  </a:lnTo>
                  <a:lnTo>
                    <a:pt x="421487" y="521969"/>
                  </a:lnTo>
                  <a:lnTo>
                    <a:pt x="478180" y="478154"/>
                  </a:lnTo>
                  <a:lnTo>
                    <a:pt x="521982" y="421513"/>
                  </a:lnTo>
                  <a:lnTo>
                    <a:pt x="550214" y="354584"/>
                  </a:lnTo>
                  <a:lnTo>
                    <a:pt x="560222" y="280035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89483" y="2723515"/>
            <a:ext cx="431800" cy="64643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11760">
              <a:lnSpc>
                <a:spcPct val="100000"/>
              </a:lnSpc>
              <a:spcBef>
                <a:spcPts val="110"/>
              </a:spcBef>
            </a:pPr>
            <a:r>
              <a:rPr sz="1500" i="1" spc="35" dirty="0">
                <a:solidFill>
                  <a:srgbClr val="213739"/>
                </a:solidFill>
                <a:latin typeface="Calibri"/>
                <a:cs typeface="Calibri"/>
              </a:rPr>
              <a:t>h</a:t>
            </a:r>
            <a:r>
              <a:rPr sz="1650" spc="52" baseline="-12626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650" baseline="-12626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1275"/>
              </a:spcBef>
            </a:pPr>
            <a:r>
              <a:rPr sz="1500" spc="-60" dirty="0">
                <a:solidFill>
                  <a:srgbClr val="213739"/>
                </a:solidFill>
                <a:latin typeface="Arial MT"/>
                <a:cs typeface="Arial MT"/>
              </a:rPr>
              <a:t>-</a:t>
            </a:r>
            <a:r>
              <a:rPr sz="1500" spc="-85" dirty="0">
                <a:solidFill>
                  <a:srgbClr val="213739"/>
                </a:solidFill>
                <a:latin typeface="Arial MT"/>
                <a:cs typeface="Arial MT"/>
              </a:rPr>
              <a:t>1,-</a:t>
            </a:r>
            <a:r>
              <a:rPr sz="1500" spc="-50" dirty="0">
                <a:solidFill>
                  <a:srgbClr val="213739"/>
                </a:solidFill>
                <a:latin typeface="Arial MT"/>
                <a:cs typeface="Arial MT"/>
              </a:rPr>
              <a:t>1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563497" y="3005073"/>
            <a:ext cx="2583180" cy="531495"/>
            <a:chOff x="1563497" y="3005073"/>
            <a:chExt cx="2583180" cy="531495"/>
          </a:xfrm>
        </p:grpSpPr>
        <p:sp>
          <p:nvSpPr>
            <p:cNvPr id="17" name="object 17"/>
            <p:cNvSpPr/>
            <p:nvPr/>
          </p:nvSpPr>
          <p:spPr>
            <a:xfrm>
              <a:off x="1568577" y="3010153"/>
              <a:ext cx="521334" cy="521334"/>
            </a:xfrm>
            <a:custGeom>
              <a:avLst/>
              <a:gdLst/>
              <a:ahLst/>
              <a:cxnLst/>
              <a:rect l="l" t="t" r="r" b="b"/>
              <a:pathLst>
                <a:path w="521335" h="521335">
                  <a:moveTo>
                    <a:pt x="260730" y="0"/>
                  </a:moveTo>
                  <a:lnTo>
                    <a:pt x="191389" y="9271"/>
                  </a:lnTo>
                  <a:lnTo>
                    <a:pt x="129159" y="35560"/>
                  </a:lnTo>
                  <a:lnTo>
                    <a:pt x="76327" y="76326"/>
                  </a:lnTo>
                  <a:lnTo>
                    <a:pt x="35559" y="129159"/>
                  </a:lnTo>
                  <a:lnTo>
                    <a:pt x="9270" y="191388"/>
                  </a:lnTo>
                  <a:lnTo>
                    <a:pt x="0" y="260604"/>
                  </a:lnTo>
                  <a:lnTo>
                    <a:pt x="9270" y="329946"/>
                  </a:lnTo>
                  <a:lnTo>
                    <a:pt x="35559" y="392175"/>
                  </a:lnTo>
                  <a:lnTo>
                    <a:pt x="76327" y="445008"/>
                  </a:lnTo>
                  <a:lnTo>
                    <a:pt x="129159" y="485775"/>
                  </a:lnTo>
                  <a:lnTo>
                    <a:pt x="191389" y="512063"/>
                  </a:lnTo>
                  <a:lnTo>
                    <a:pt x="260730" y="521335"/>
                  </a:lnTo>
                  <a:lnTo>
                    <a:pt x="329946" y="512063"/>
                  </a:lnTo>
                  <a:lnTo>
                    <a:pt x="392303" y="485775"/>
                  </a:lnTo>
                  <a:lnTo>
                    <a:pt x="445008" y="445008"/>
                  </a:lnTo>
                  <a:lnTo>
                    <a:pt x="485774" y="392175"/>
                  </a:lnTo>
                  <a:lnTo>
                    <a:pt x="512064" y="329946"/>
                  </a:lnTo>
                  <a:lnTo>
                    <a:pt x="521334" y="260604"/>
                  </a:lnTo>
                  <a:lnTo>
                    <a:pt x="512064" y="191388"/>
                  </a:lnTo>
                  <a:lnTo>
                    <a:pt x="485774" y="129159"/>
                  </a:lnTo>
                  <a:lnTo>
                    <a:pt x="445008" y="76326"/>
                  </a:lnTo>
                  <a:lnTo>
                    <a:pt x="392303" y="35560"/>
                  </a:lnTo>
                  <a:lnTo>
                    <a:pt x="329946" y="9271"/>
                  </a:lnTo>
                  <a:lnTo>
                    <a:pt x="260730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568577" y="3010153"/>
              <a:ext cx="521334" cy="521334"/>
            </a:xfrm>
            <a:custGeom>
              <a:avLst/>
              <a:gdLst/>
              <a:ahLst/>
              <a:cxnLst/>
              <a:rect l="l" t="t" r="r" b="b"/>
              <a:pathLst>
                <a:path w="521335" h="521335">
                  <a:moveTo>
                    <a:pt x="521334" y="260604"/>
                  </a:moveTo>
                  <a:lnTo>
                    <a:pt x="512064" y="191388"/>
                  </a:lnTo>
                  <a:lnTo>
                    <a:pt x="485774" y="129159"/>
                  </a:lnTo>
                  <a:lnTo>
                    <a:pt x="445008" y="76326"/>
                  </a:lnTo>
                  <a:lnTo>
                    <a:pt x="392303" y="35560"/>
                  </a:lnTo>
                  <a:lnTo>
                    <a:pt x="329946" y="9271"/>
                  </a:lnTo>
                  <a:lnTo>
                    <a:pt x="260730" y="0"/>
                  </a:lnTo>
                  <a:lnTo>
                    <a:pt x="191389" y="9271"/>
                  </a:lnTo>
                  <a:lnTo>
                    <a:pt x="129159" y="35560"/>
                  </a:lnTo>
                  <a:lnTo>
                    <a:pt x="76327" y="76326"/>
                  </a:lnTo>
                  <a:lnTo>
                    <a:pt x="35559" y="129159"/>
                  </a:lnTo>
                  <a:lnTo>
                    <a:pt x="9270" y="191388"/>
                  </a:lnTo>
                  <a:lnTo>
                    <a:pt x="0" y="260604"/>
                  </a:lnTo>
                  <a:lnTo>
                    <a:pt x="9270" y="329946"/>
                  </a:lnTo>
                  <a:lnTo>
                    <a:pt x="35559" y="392175"/>
                  </a:lnTo>
                  <a:lnTo>
                    <a:pt x="76327" y="445008"/>
                  </a:lnTo>
                  <a:lnTo>
                    <a:pt x="129159" y="485775"/>
                  </a:lnTo>
                  <a:lnTo>
                    <a:pt x="191389" y="512063"/>
                  </a:lnTo>
                  <a:lnTo>
                    <a:pt x="260730" y="521335"/>
                  </a:lnTo>
                  <a:lnTo>
                    <a:pt x="329946" y="512063"/>
                  </a:lnTo>
                  <a:lnTo>
                    <a:pt x="392303" y="485775"/>
                  </a:lnTo>
                  <a:lnTo>
                    <a:pt x="445008" y="445008"/>
                  </a:lnTo>
                  <a:lnTo>
                    <a:pt x="485774" y="392175"/>
                  </a:lnTo>
                  <a:lnTo>
                    <a:pt x="512064" y="329946"/>
                  </a:lnTo>
                  <a:lnTo>
                    <a:pt x="521334" y="26060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596261" y="3010153"/>
              <a:ext cx="521334" cy="521334"/>
            </a:xfrm>
            <a:custGeom>
              <a:avLst/>
              <a:gdLst/>
              <a:ahLst/>
              <a:cxnLst/>
              <a:rect l="l" t="t" r="r" b="b"/>
              <a:pathLst>
                <a:path w="521335" h="521335">
                  <a:moveTo>
                    <a:pt x="260731" y="0"/>
                  </a:moveTo>
                  <a:lnTo>
                    <a:pt x="191388" y="9271"/>
                  </a:lnTo>
                  <a:lnTo>
                    <a:pt x="129158" y="35560"/>
                  </a:lnTo>
                  <a:lnTo>
                    <a:pt x="76326" y="76326"/>
                  </a:lnTo>
                  <a:lnTo>
                    <a:pt x="35559" y="129159"/>
                  </a:lnTo>
                  <a:lnTo>
                    <a:pt x="9270" y="191388"/>
                  </a:lnTo>
                  <a:lnTo>
                    <a:pt x="0" y="260604"/>
                  </a:lnTo>
                  <a:lnTo>
                    <a:pt x="9270" y="329946"/>
                  </a:lnTo>
                  <a:lnTo>
                    <a:pt x="35559" y="392175"/>
                  </a:lnTo>
                  <a:lnTo>
                    <a:pt x="76326" y="445008"/>
                  </a:lnTo>
                  <a:lnTo>
                    <a:pt x="129158" y="485775"/>
                  </a:lnTo>
                  <a:lnTo>
                    <a:pt x="191388" y="512063"/>
                  </a:lnTo>
                  <a:lnTo>
                    <a:pt x="260731" y="521335"/>
                  </a:lnTo>
                  <a:lnTo>
                    <a:pt x="329945" y="512063"/>
                  </a:lnTo>
                  <a:lnTo>
                    <a:pt x="392302" y="485775"/>
                  </a:lnTo>
                  <a:lnTo>
                    <a:pt x="445007" y="445008"/>
                  </a:lnTo>
                  <a:lnTo>
                    <a:pt x="485775" y="392175"/>
                  </a:lnTo>
                  <a:lnTo>
                    <a:pt x="512063" y="329946"/>
                  </a:lnTo>
                  <a:lnTo>
                    <a:pt x="521334" y="260604"/>
                  </a:lnTo>
                  <a:lnTo>
                    <a:pt x="512063" y="191388"/>
                  </a:lnTo>
                  <a:lnTo>
                    <a:pt x="485775" y="129159"/>
                  </a:lnTo>
                  <a:lnTo>
                    <a:pt x="445007" y="76326"/>
                  </a:lnTo>
                  <a:lnTo>
                    <a:pt x="392302" y="35560"/>
                  </a:lnTo>
                  <a:lnTo>
                    <a:pt x="329945" y="9271"/>
                  </a:lnTo>
                  <a:lnTo>
                    <a:pt x="260731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596261" y="3010153"/>
              <a:ext cx="521334" cy="521334"/>
            </a:xfrm>
            <a:custGeom>
              <a:avLst/>
              <a:gdLst/>
              <a:ahLst/>
              <a:cxnLst/>
              <a:rect l="l" t="t" r="r" b="b"/>
              <a:pathLst>
                <a:path w="521335" h="521335">
                  <a:moveTo>
                    <a:pt x="521334" y="260604"/>
                  </a:moveTo>
                  <a:lnTo>
                    <a:pt x="512063" y="191388"/>
                  </a:lnTo>
                  <a:lnTo>
                    <a:pt x="485775" y="129159"/>
                  </a:lnTo>
                  <a:lnTo>
                    <a:pt x="445007" y="76326"/>
                  </a:lnTo>
                  <a:lnTo>
                    <a:pt x="392302" y="35560"/>
                  </a:lnTo>
                  <a:lnTo>
                    <a:pt x="329945" y="9271"/>
                  </a:lnTo>
                  <a:lnTo>
                    <a:pt x="260731" y="0"/>
                  </a:lnTo>
                  <a:lnTo>
                    <a:pt x="191388" y="9271"/>
                  </a:lnTo>
                  <a:lnTo>
                    <a:pt x="129158" y="35560"/>
                  </a:lnTo>
                  <a:lnTo>
                    <a:pt x="76326" y="76326"/>
                  </a:lnTo>
                  <a:lnTo>
                    <a:pt x="35559" y="129159"/>
                  </a:lnTo>
                  <a:lnTo>
                    <a:pt x="9270" y="191388"/>
                  </a:lnTo>
                  <a:lnTo>
                    <a:pt x="0" y="260604"/>
                  </a:lnTo>
                  <a:lnTo>
                    <a:pt x="9270" y="329946"/>
                  </a:lnTo>
                  <a:lnTo>
                    <a:pt x="35559" y="392175"/>
                  </a:lnTo>
                  <a:lnTo>
                    <a:pt x="76326" y="445008"/>
                  </a:lnTo>
                  <a:lnTo>
                    <a:pt x="129158" y="485775"/>
                  </a:lnTo>
                  <a:lnTo>
                    <a:pt x="191388" y="512063"/>
                  </a:lnTo>
                  <a:lnTo>
                    <a:pt x="260731" y="521335"/>
                  </a:lnTo>
                  <a:lnTo>
                    <a:pt x="329945" y="512063"/>
                  </a:lnTo>
                  <a:lnTo>
                    <a:pt x="392302" y="485775"/>
                  </a:lnTo>
                  <a:lnTo>
                    <a:pt x="445007" y="445008"/>
                  </a:lnTo>
                  <a:lnTo>
                    <a:pt x="485775" y="392175"/>
                  </a:lnTo>
                  <a:lnTo>
                    <a:pt x="512063" y="329946"/>
                  </a:lnTo>
                  <a:lnTo>
                    <a:pt x="521334" y="26060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627754" y="3013963"/>
              <a:ext cx="513715" cy="513715"/>
            </a:xfrm>
            <a:custGeom>
              <a:avLst/>
              <a:gdLst/>
              <a:ahLst/>
              <a:cxnLst/>
              <a:rect l="l" t="t" r="r" b="b"/>
              <a:pathLst>
                <a:path w="513714" h="513714">
                  <a:moveTo>
                    <a:pt x="256794" y="0"/>
                  </a:moveTo>
                  <a:lnTo>
                    <a:pt x="188595" y="9144"/>
                  </a:lnTo>
                  <a:lnTo>
                    <a:pt x="127127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4" y="188595"/>
                  </a:lnTo>
                  <a:lnTo>
                    <a:pt x="0" y="256794"/>
                  </a:lnTo>
                  <a:lnTo>
                    <a:pt x="9144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127" y="478663"/>
                  </a:lnTo>
                  <a:lnTo>
                    <a:pt x="188595" y="504571"/>
                  </a:lnTo>
                  <a:lnTo>
                    <a:pt x="256794" y="513714"/>
                  </a:lnTo>
                  <a:lnTo>
                    <a:pt x="325120" y="504571"/>
                  </a:lnTo>
                  <a:lnTo>
                    <a:pt x="386461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715" y="256794"/>
                  </a:ln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461" y="35051"/>
                  </a:lnTo>
                  <a:lnTo>
                    <a:pt x="325120" y="9144"/>
                  </a:lnTo>
                  <a:lnTo>
                    <a:pt x="256794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627754" y="3013963"/>
              <a:ext cx="513715" cy="513715"/>
            </a:xfrm>
            <a:custGeom>
              <a:avLst/>
              <a:gdLst/>
              <a:ahLst/>
              <a:cxnLst/>
              <a:rect l="l" t="t" r="r" b="b"/>
              <a:pathLst>
                <a:path w="513714" h="513714">
                  <a:moveTo>
                    <a:pt x="513715" y="256794"/>
                  </a:move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461" y="35051"/>
                  </a:lnTo>
                  <a:lnTo>
                    <a:pt x="325120" y="9144"/>
                  </a:lnTo>
                  <a:lnTo>
                    <a:pt x="256794" y="0"/>
                  </a:lnTo>
                  <a:lnTo>
                    <a:pt x="188595" y="9144"/>
                  </a:lnTo>
                  <a:lnTo>
                    <a:pt x="127127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4" y="188595"/>
                  </a:lnTo>
                  <a:lnTo>
                    <a:pt x="0" y="256794"/>
                  </a:lnTo>
                  <a:lnTo>
                    <a:pt x="9144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127" y="478663"/>
                  </a:lnTo>
                  <a:lnTo>
                    <a:pt x="188595" y="504571"/>
                  </a:lnTo>
                  <a:lnTo>
                    <a:pt x="256794" y="513714"/>
                  </a:lnTo>
                  <a:lnTo>
                    <a:pt x="325120" y="504571"/>
                  </a:lnTo>
                  <a:lnTo>
                    <a:pt x="386461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715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3719448" y="2723515"/>
            <a:ext cx="329565" cy="644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65405">
              <a:lnSpc>
                <a:spcPct val="100000"/>
              </a:lnSpc>
              <a:spcBef>
                <a:spcPts val="110"/>
              </a:spcBef>
            </a:pP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h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4</a:t>
            </a:r>
            <a:endParaRPr sz="1650" baseline="-10101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1260"/>
              </a:spcBef>
            </a:pPr>
            <a:r>
              <a:rPr sz="1500" spc="-25" dirty="0">
                <a:solidFill>
                  <a:srgbClr val="213739"/>
                </a:solidFill>
                <a:latin typeface="Arial MT"/>
                <a:cs typeface="Arial MT"/>
              </a:rPr>
              <a:t>1,1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33527" y="3638803"/>
            <a:ext cx="748030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i="1" dirty="0">
                <a:solidFill>
                  <a:srgbClr val="213739"/>
                </a:solidFill>
                <a:latin typeface="Calibri"/>
                <a:cs typeface="Calibri"/>
              </a:rPr>
              <a:t>bias</a:t>
            </a:r>
            <a:r>
              <a:rPr sz="1500" i="1" spc="33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500" spc="-13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13739"/>
                </a:solidFill>
                <a:latin typeface="Arial MT"/>
                <a:cs typeface="Arial MT"/>
              </a:rPr>
              <a:t>-</a:t>
            </a:r>
            <a:r>
              <a:rPr sz="1500" spc="-2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00" spc="-50" dirty="0">
                <a:solidFill>
                  <a:srgbClr val="213739"/>
                </a:solidFill>
                <a:latin typeface="Arial MT"/>
                <a:cs typeface="Arial MT"/>
              </a:rPr>
              <a:t>2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278507" y="1536572"/>
            <a:ext cx="111760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i="1" spc="-50" dirty="0">
                <a:solidFill>
                  <a:srgbClr val="213739"/>
                </a:solidFill>
                <a:latin typeface="Calibri"/>
                <a:cs typeface="Calibri"/>
              </a:rPr>
              <a:t>y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164336" y="2568955"/>
            <a:ext cx="280670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650" baseline="-10101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628013" y="2532379"/>
            <a:ext cx="1461135" cy="8324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90500">
              <a:lnSpc>
                <a:spcPts val="1650"/>
              </a:lnSpc>
              <a:spcBef>
                <a:spcPts val="110"/>
              </a:spcBef>
              <a:tabLst>
                <a:tab pos="704215" algn="l"/>
                <a:tab pos="1191895" algn="l"/>
              </a:tabLst>
            </a:pP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650" baseline="-1010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r>
              <a:rPr sz="1650" baseline="-1010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4</a:t>
            </a:r>
            <a:endParaRPr sz="1650" baseline="-10101">
              <a:latin typeface="Calibri"/>
              <a:cs typeface="Calibri"/>
            </a:endParaRPr>
          </a:p>
          <a:p>
            <a:pPr marL="100965">
              <a:lnSpc>
                <a:spcPts val="1650"/>
              </a:lnSpc>
              <a:tabLst>
                <a:tab pos="1127760" algn="l"/>
              </a:tabLst>
            </a:pP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h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650" baseline="-1010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h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650" baseline="-10101">
              <a:latin typeface="Calibri"/>
              <a:cs typeface="Calibri"/>
            </a:endParaRPr>
          </a:p>
          <a:p>
            <a:pPr marL="50800">
              <a:lnSpc>
                <a:spcPct val="100000"/>
              </a:lnSpc>
              <a:spcBef>
                <a:spcPts val="1235"/>
              </a:spcBef>
              <a:tabLst>
                <a:tab pos="1077595" algn="l"/>
              </a:tabLst>
            </a:pPr>
            <a:r>
              <a:rPr sz="1500" spc="-40" dirty="0">
                <a:solidFill>
                  <a:srgbClr val="213739"/>
                </a:solidFill>
                <a:latin typeface="Arial MT"/>
                <a:cs typeface="Arial MT"/>
              </a:rPr>
              <a:t>-</a:t>
            </a:r>
            <a:r>
              <a:rPr sz="1500" spc="-25" dirty="0">
                <a:solidFill>
                  <a:srgbClr val="213739"/>
                </a:solidFill>
                <a:latin typeface="Arial MT"/>
                <a:cs typeface="Arial MT"/>
              </a:rPr>
              <a:t>1,1</a:t>
            </a:r>
            <a:r>
              <a:rPr sz="1500" dirty="0">
                <a:solidFill>
                  <a:srgbClr val="213739"/>
                </a:solidFill>
                <a:latin typeface="Arial MT"/>
                <a:cs typeface="Arial MT"/>
              </a:rPr>
              <a:t>	</a:t>
            </a:r>
            <a:r>
              <a:rPr sz="1500" spc="-70" dirty="0">
                <a:solidFill>
                  <a:srgbClr val="213739"/>
                </a:solidFill>
                <a:latin typeface="Arial MT"/>
                <a:cs typeface="Arial MT"/>
              </a:rPr>
              <a:t>1,-</a:t>
            </a:r>
            <a:r>
              <a:rPr sz="1500" spc="-50" dirty="0">
                <a:solidFill>
                  <a:srgbClr val="213739"/>
                </a:solidFill>
                <a:latin typeface="Arial MT"/>
                <a:cs typeface="Arial MT"/>
              </a:rPr>
              <a:t>1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994460" y="1862084"/>
            <a:ext cx="2713990" cy="2357120"/>
            <a:chOff x="994460" y="1862084"/>
            <a:chExt cx="2713990" cy="2357120"/>
          </a:xfrm>
        </p:grpSpPr>
        <p:sp>
          <p:nvSpPr>
            <p:cNvPr id="29" name="object 29"/>
            <p:cNvSpPr/>
            <p:nvPr/>
          </p:nvSpPr>
          <p:spPr>
            <a:xfrm>
              <a:off x="1016139" y="3485388"/>
              <a:ext cx="686435" cy="686435"/>
            </a:xfrm>
            <a:custGeom>
              <a:avLst/>
              <a:gdLst/>
              <a:ahLst/>
              <a:cxnLst/>
              <a:rect l="l" t="t" r="r" b="b"/>
              <a:pathLst>
                <a:path w="686435" h="686435">
                  <a:moveTo>
                    <a:pt x="686295" y="686181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4460" y="3463657"/>
              <a:ext cx="104659" cy="104661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1072959" y="3406521"/>
              <a:ext cx="1615440" cy="807720"/>
            </a:xfrm>
            <a:custGeom>
              <a:avLst/>
              <a:gdLst/>
              <a:ahLst/>
              <a:cxnLst/>
              <a:rect l="l" t="t" r="r" b="b"/>
              <a:pathLst>
                <a:path w="1615439" h="807720">
                  <a:moveTo>
                    <a:pt x="1615122" y="807592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60723" y="3364757"/>
              <a:ext cx="84085" cy="122262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1766570" y="3546729"/>
              <a:ext cx="125730" cy="624840"/>
            </a:xfrm>
            <a:custGeom>
              <a:avLst/>
              <a:gdLst/>
              <a:ahLst/>
              <a:cxnLst/>
              <a:rect l="l" t="t" r="r" b="b"/>
              <a:pathLst>
                <a:path w="125730" h="624839">
                  <a:moveTo>
                    <a:pt x="62737" y="624840"/>
                  </a:moveTo>
                  <a:lnTo>
                    <a:pt x="62737" y="8000"/>
                  </a:lnTo>
                </a:path>
                <a:path w="125730" h="624839">
                  <a:moveTo>
                    <a:pt x="0" y="51435"/>
                  </a:moveTo>
                  <a:lnTo>
                    <a:pt x="24637" y="42418"/>
                  </a:lnTo>
                  <a:lnTo>
                    <a:pt x="42672" y="30099"/>
                  </a:lnTo>
                  <a:lnTo>
                    <a:pt x="55118" y="15621"/>
                  </a:lnTo>
                  <a:lnTo>
                    <a:pt x="62737" y="0"/>
                  </a:lnTo>
                  <a:lnTo>
                    <a:pt x="70231" y="15621"/>
                  </a:lnTo>
                  <a:lnTo>
                    <a:pt x="82677" y="30099"/>
                  </a:lnTo>
                  <a:lnTo>
                    <a:pt x="100711" y="42418"/>
                  </a:lnTo>
                  <a:lnTo>
                    <a:pt x="125349" y="51435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030094" y="3471672"/>
              <a:ext cx="700405" cy="700405"/>
            </a:xfrm>
            <a:custGeom>
              <a:avLst/>
              <a:gdLst/>
              <a:ahLst/>
              <a:cxnLst/>
              <a:rect l="l" t="t" r="r" b="b"/>
              <a:pathLst>
                <a:path w="700405" h="700404">
                  <a:moveTo>
                    <a:pt x="700024" y="699896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08377" y="3449924"/>
              <a:ext cx="105171" cy="105186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1956054" y="3471672"/>
              <a:ext cx="700405" cy="700405"/>
            </a:xfrm>
            <a:custGeom>
              <a:avLst/>
              <a:gdLst/>
              <a:ahLst/>
              <a:cxnLst/>
              <a:rect l="l" t="t" r="r" b="b"/>
              <a:pathLst>
                <a:path w="700405" h="700404">
                  <a:moveTo>
                    <a:pt x="0" y="699896"/>
                  </a:moveTo>
                  <a:lnTo>
                    <a:pt x="700023" y="0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72766" y="3449924"/>
              <a:ext cx="105171" cy="105186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2794254" y="3546729"/>
              <a:ext cx="125730" cy="624840"/>
            </a:xfrm>
            <a:custGeom>
              <a:avLst/>
              <a:gdLst/>
              <a:ahLst/>
              <a:cxnLst/>
              <a:rect l="l" t="t" r="r" b="b"/>
              <a:pathLst>
                <a:path w="125730" h="624839">
                  <a:moveTo>
                    <a:pt x="62737" y="624840"/>
                  </a:moveTo>
                  <a:lnTo>
                    <a:pt x="62737" y="8000"/>
                  </a:lnTo>
                </a:path>
                <a:path w="125730" h="624839">
                  <a:moveTo>
                    <a:pt x="0" y="51435"/>
                  </a:moveTo>
                  <a:lnTo>
                    <a:pt x="24637" y="42418"/>
                  </a:lnTo>
                  <a:lnTo>
                    <a:pt x="42671" y="30099"/>
                  </a:lnTo>
                  <a:lnTo>
                    <a:pt x="55118" y="15621"/>
                  </a:lnTo>
                  <a:lnTo>
                    <a:pt x="62737" y="0"/>
                  </a:lnTo>
                  <a:lnTo>
                    <a:pt x="70231" y="15621"/>
                  </a:lnTo>
                  <a:lnTo>
                    <a:pt x="82676" y="30099"/>
                  </a:lnTo>
                  <a:lnTo>
                    <a:pt x="100710" y="42418"/>
                  </a:lnTo>
                  <a:lnTo>
                    <a:pt x="125348" y="51435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998218" y="3396107"/>
              <a:ext cx="1635760" cy="818515"/>
            </a:xfrm>
            <a:custGeom>
              <a:avLst/>
              <a:gdLst/>
              <a:ahLst/>
              <a:cxnLst/>
              <a:rect l="l" t="t" r="r" b="b"/>
              <a:pathLst>
                <a:path w="1635760" h="818514">
                  <a:moveTo>
                    <a:pt x="0" y="818006"/>
                  </a:moveTo>
                  <a:lnTo>
                    <a:pt x="1635759" y="0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62114" y="3354470"/>
              <a:ext cx="84163" cy="122136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2983864" y="3469005"/>
              <a:ext cx="702945" cy="702945"/>
            </a:xfrm>
            <a:custGeom>
              <a:avLst/>
              <a:gdLst/>
              <a:ahLst/>
              <a:cxnLst/>
              <a:rect l="l" t="t" r="r" b="b"/>
              <a:pathLst>
                <a:path w="702945" h="702945">
                  <a:moveTo>
                    <a:pt x="0" y="702564"/>
                  </a:moveTo>
                  <a:lnTo>
                    <a:pt x="702563" y="0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603498" y="3447274"/>
              <a:ext cx="104659" cy="104661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1041425" y="2308860"/>
              <a:ext cx="1203325" cy="802640"/>
            </a:xfrm>
            <a:custGeom>
              <a:avLst/>
              <a:gdLst/>
              <a:ahLst/>
              <a:cxnLst/>
              <a:rect l="l" t="t" r="r" b="b"/>
              <a:pathLst>
                <a:path w="1203325" h="802639">
                  <a:moveTo>
                    <a:pt x="0" y="802131"/>
                  </a:moveTo>
                  <a:lnTo>
                    <a:pt x="1203172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83766" y="2287145"/>
              <a:ext cx="66671" cy="85467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1949577" y="2348738"/>
              <a:ext cx="340995" cy="681990"/>
            </a:xfrm>
            <a:custGeom>
              <a:avLst/>
              <a:gdLst/>
              <a:ahLst/>
              <a:cxnLst/>
              <a:rect l="l" t="t" r="r" b="b"/>
              <a:pathLst>
                <a:path w="340994" h="681989">
                  <a:moveTo>
                    <a:pt x="0" y="681482"/>
                  </a:moveTo>
                  <a:lnTo>
                    <a:pt x="340741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227579" y="2342641"/>
              <a:ext cx="91568" cy="64136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2395855" y="2348738"/>
              <a:ext cx="340995" cy="681990"/>
            </a:xfrm>
            <a:custGeom>
              <a:avLst/>
              <a:gdLst/>
              <a:ahLst/>
              <a:cxnLst/>
              <a:rect l="l" t="t" r="r" b="b"/>
              <a:pathLst>
                <a:path w="340994" h="681989">
                  <a:moveTo>
                    <a:pt x="340868" y="681482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67025" y="2342641"/>
              <a:ext cx="91568" cy="64136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2441575" y="2308860"/>
              <a:ext cx="1223010" cy="815340"/>
            </a:xfrm>
            <a:custGeom>
              <a:avLst/>
              <a:gdLst/>
              <a:ahLst/>
              <a:cxnLst/>
              <a:rect l="l" t="t" r="r" b="b"/>
              <a:pathLst>
                <a:path w="1223010" h="815339">
                  <a:moveTo>
                    <a:pt x="1222628" y="814959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435734" y="2287145"/>
              <a:ext cx="66671" cy="85467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2294890" y="1864614"/>
              <a:ext cx="96520" cy="268605"/>
            </a:xfrm>
            <a:custGeom>
              <a:avLst/>
              <a:gdLst/>
              <a:ahLst/>
              <a:cxnLst/>
              <a:rect l="l" t="t" r="r" b="b"/>
              <a:pathLst>
                <a:path w="96519" h="268605">
                  <a:moveTo>
                    <a:pt x="48260" y="268605"/>
                  </a:moveTo>
                  <a:lnTo>
                    <a:pt x="48260" y="4063"/>
                  </a:lnTo>
                </a:path>
                <a:path w="96519" h="268605">
                  <a:moveTo>
                    <a:pt x="0" y="41783"/>
                  </a:moveTo>
                  <a:lnTo>
                    <a:pt x="18923" y="34416"/>
                  </a:lnTo>
                  <a:lnTo>
                    <a:pt x="32893" y="24511"/>
                  </a:lnTo>
                  <a:lnTo>
                    <a:pt x="42418" y="12700"/>
                  </a:lnTo>
                  <a:lnTo>
                    <a:pt x="48260" y="0"/>
                  </a:lnTo>
                  <a:lnTo>
                    <a:pt x="54102" y="12700"/>
                  </a:lnTo>
                  <a:lnTo>
                    <a:pt x="63627" y="24511"/>
                  </a:lnTo>
                  <a:lnTo>
                    <a:pt x="77470" y="34416"/>
                  </a:lnTo>
                  <a:lnTo>
                    <a:pt x="96393" y="41783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343204" y="3999632"/>
            <a:ext cx="2451100" cy="1073785"/>
          </a:xfrm>
          <a:prstGeom prst="rect">
            <a:avLst/>
          </a:prstGeom>
        </p:spPr>
        <p:txBody>
          <a:bodyPr vert="horz" wrap="square" lIns="0" tIns="125095" rIns="0" bIns="0" rtlCol="0">
            <a:spAutoFit/>
          </a:bodyPr>
          <a:lstStyle/>
          <a:p>
            <a:pPr marL="496570" algn="ctr">
              <a:lnSpc>
                <a:spcPct val="100000"/>
              </a:lnSpc>
              <a:spcBef>
                <a:spcPts val="985"/>
              </a:spcBef>
            </a:pPr>
            <a:r>
              <a:rPr sz="1500" i="1" spc="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650" spc="37" baseline="-10101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650" baseline="-10101">
              <a:latin typeface="Calibri"/>
              <a:cs typeface="Calibri"/>
            </a:endParaRPr>
          </a:p>
          <a:p>
            <a:pPr marL="38100" marR="30480">
              <a:lnSpc>
                <a:spcPct val="117700"/>
              </a:lnSpc>
              <a:spcBef>
                <a:spcPts val="625"/>
              </a:spcBef>
            </a:pP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red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edge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indicates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i="1" spc="10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=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-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1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blue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edge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indicates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i="1" spc="12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=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+1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53" name="object 53" descr="$PPTXTitle"/>
          <p:cNvSpPr txBox="1">
            <a:spLocks noGrp="1"/>
          </p:cNvSpPr>
          <p:nvPr>
            <p:ph type="title"/>
          </p:nvPr>
        </p:nvSpPr>
        <p:spPr>
          <a:xfrm>
            <a:off x="4756403" y="946530"/>
            <a:ext cx="406781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Let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875" spc="345" baseline="-8888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be</a:t>
            </a:r>
            <a:r>
              <a:rPr sz="1750" spc="-1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bias</a:t>
            </a:r>
            <a:r>
              <a:rPr sz="1750" spc="-1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output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 the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neuron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i="1" spc="-10" dirty="0">
                <a:solidFill>
                  <a:srgbClr val="213739"/>
                </a:solidFill>
                <a:latin typeface="Times New Roman"/>
                <a:cs typeface="Times New Roman"/>
              </a:rPr>
              <a:t>i.e.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,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4785105" y="1266571"/>
            <a:ext cx="972819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it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will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fire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if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5850001" y="1145870"/>
            <a:ext cx="318770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2625" spc="-30" baseline="-28571" dirty="0">
                <a:solidFill>
                  <a:srgbClr val="213739"/>
                </a:solidFill>
                <a:latin typeface="Lucida Sans Unicode"/>
                <a:cs typeface="Lucida Sans Unicode"/>
              </a:rPr>
              <a:t>Σ</a:t>
            </a:r>
            <a:r>
              <a:rPr sz="2625" spc="-480" baseline="-28571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250" spc="-50" dirty="0">
                <a:solidFill>
                  <a:srgbClr val="213739"/>
                </a:solidFill>
                <a:latin typeface="Calibri"/>
                <a:cs typeface="Calibri"/>
              </a:rPr>
              <a:t>4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6035802" y="1382395"/>
            <a:ext cx="285115" cy="2197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50" i="1" dirty="0">
                <a:solidFill>
                  <a:srgbClr val="213739"/>
                </a:solidFill>
                <a:latin typeface="Calibri"/>
                <a:cs typeface="Calibri"/>
              </a:rPr>
              <a:t>i</a:t>
            </a:r>
            <a:r>
              <a:rPr sz="1250" i="1" spc="-13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250" spc="55" dirty="0">
                <a:solidFill>
                  <a:srgbClr val="213739"/>
                </a:solidFill>
                <a:latin typeface="Calibri"/>
                <a:cs typeface="Calibri"/>
              </a:rPr>
              <a:t>=1 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6333997" y="1248283"/>
            <a:ext cx="108712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8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i="1" spc="127" baseline="-8888" dirty="0">
                <a:solidFill>
                  <a:srgbClr val="213739"/>
                </a:solidFill>
                <a:latin typeface="Calibri"/>
                <a:cs typeface="Calibri"/>
              </a:rPr>
              <a:t>i</a:t>
            </a:r>
            <a:r>
              <a:rPr sz="1750" i="1" spc="85" dirty="0">
                <a:solidFill>
                  <a:srgbClr val="213739"/>
                </a:solidFill>
                <a:latin typeface="Calibri"/>
                <a:cs typeface="Calibri"/>
              </a:rPr>
              <a:t>h</a:t>
            </a:r>
            <a:r>
              <a:rPr sz="1875" i="1" spc="127" baseline="-8888" dirty="0">
                <a:solidFill>
                  <a:srgbClr val="213739"/>
                </a:solidFill>
                <a:latin typeface="Calibri"/>
                <a:cs typeface="Calibri"/>
              </a:rPr>
              <a:t>i</a:t>
            </a:r>
            <a:r>
              <a:rPr sz="1875" i="1" spc="509" baseline="-8888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≥</a:t>
            </a:r>
            <a:r>
              <a:rPr sz="1750" spc="-10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)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4358004" y="2048382"/>
            <a:ext cx="4561205" cy="0"/>
          </a:xfrm>
          <a:custGeom>
            <a:avLst/>
            <a:gdLst/>
            <a:ahLst/>
            <a:cxnLst/>
            <a:rect l="l" t="t" r="r" b="b"/>
            <a:pathLst>
              <a:path w="4561205">
                <a:moveTo>
                  <a:pt x="0" y="0"/>
                </a:moveTo>
                <a:lnTo>
                  <a:pt x="4560824" y="0"/>
                </a:lnTo>
              </a:path>
            </a:pathLst>
          </a:custGeom>
          <a:ln w="5053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9" name="object 59"/>
          <p:cNvGraphicFramePr>
            <a:graphicFrameLocks noGrp="1"/>
          </p:cNvGraphicFramePr>
          <p:nvPr/>
        </p:nvGraphicFramePr>
        <p:xfrm>
          <a:off x="4393755" y="1837275"/>
          <a:ext cx="4435472" cy="10071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5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5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23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18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70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57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7909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283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7404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990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i="1" spc="-25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x</a:t>
                      </a:r>
                      <a:r>
                        <a:rPr sz="1650" spc="-37" baseline="-10101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650" baseline="-10101">
                        <a:latin typeface="Calibri"/>
                        <a:cs typeface="Calibri"/>
                      </a:endParaRPr>
                    </a:p>
                    <a:p>
                      <a:pPr marL="13398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6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R="571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i="1" spc="-25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x</a:t>
                      </a:r>
                      <a:r>
                        <a:rPr sz="1650" spc="-37" baseline="-10101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650" baseline="-10101">
                        <a:latin typeface="Calibri"/>
                        <a:cs typeface="Calibri"/>
                      </a:endParaRPr>
                    </a:p>
                    <a:p>
                      <a:pPr marL="317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6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40"/>
                        </a:spcBef>
                      </a:pPr>
                      <a:r>
                        <a:rPr sz="1600" i="1" spc="85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XOR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2476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6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9558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2413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i="1" spc="-25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h</a:t>
                      </a:r>
                      <a:r>
                        <a:rPr sz="1650" spc="-37" baseline="-10101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650" baseline="-10101">
                        <a:latin typeface="Calibri"/>
                        <a:cs typeface="Calibri"/>
                      </a:endParaRPr>
                    </a:p>
                    <a:p>
                      <a:pPr marL="3429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6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i="1" spc="-25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h</a:t>
                      </a:r>
                      <a:r>
                        <a:rPr sz="1650" spc="-37" baseline="-10101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650" baseline="-10101">
                        <a:latin typeface="Calibri"/>
                        <a:cs typeface="Calibri"/>
                      </a:endParaRPr>
                    </a:p>
                    <a:p>
                      <a:pPr marL="952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6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i="1" spc="-25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h</a:t>
                      </a:r>
                      <a:r>
                        <a:rPr sz="1650" spc="-37" baseline="-10101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650" baseline="-10101">
                        <a:latin typeface="Calibri"/>
                        <a:cs typeface="Calibri"/>
                      </a:endParaRPr>
                    </a:p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6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3208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i="1" spc="-25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h</a:t>
                      </a:r>
                      <a:r>
                        <a:rPr sz="1650" spc="-37" baseline="-10101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650" baseline="-10101">
                        <a:latin typeface="Calibri"/>
                        <a:cs typeface="Calibri"/>
                      </a:endParaRPr>
                    </a:p>
                    <a:p>
                      <a:pPr marL="17145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6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 marL="109855" algn="ctr">
                        <a:lnSpc>
                          <a:spcPts val="1305"/>
                        </a:lnSpc>
                        <a:spcBef>
                          <a:spcPts val="675"/>
                        </a:spcBef>
                      </a:pPr>
                      <a:r>
                        <a:rPr sz="2400" spc="-15" baseline="34722" dirty="0">
                          <a:solidFill>
                            <a:srgbClr val="213739"/>
                          </a:solidFill>
                          <a:latin typeface="Lucida Sans Unicode"/>
                          <a:cs typeface="Lucida Sans Unicode"/>
                        </a:rPr>
                        <a:t>Σ</a:t>
                      </a:r>
                      <a:r>
                        <a:rPr sz="2400" spc="-419" baseline="34722" dirty="0">
                          <a:solidFill>
                            <a:srgbClr val="213739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650" baseline="35353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4</a:t>
                      </a:r>
                      <a:r>
                        <a:rPr sz="1650" spc="225" baseline="35353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  </a:t>
                      </a:r>
                      <a:r>
                        <a:rPr sz="1600" i="1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w</a:t>
                      </a:r>
                      <a:r>
                        <a:rPr sz="1600" i="1" spc="20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i="1" spc="-50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h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784225">
                        <a:lnSpc>
                          <a:spcPts val="520"/>
                        </a:lnSpc>
                      </a:pPr>
                      <a:r>
                        <a:rPr sz="1100" i="1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sz="1100" i="1" spc="225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  </a:t>
                      </a:r>
                      <a:r>
                        <a:rPr sz="1100" i="1" spc="-50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i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66040">
                        <a:lnSpc>
                          <a:spcPts val="735"/>
                        </a:lnSpc>
                        <a:tabLst>
                          <a:tab pos="784225" algn="l"/>
                        </a:tabLst>
                      </a:pPr>
                      <a:r>
                        <a:rPr sz="1100" i="1" u="sng" dirty="0">
                          <a:solidFill>
                            <a:srgbClr val="213739"/>
                          </a:solidFill>
                          <a:uFill>
                            <a:solidFill>
                              <a:srgbClr val="213739"/>
                            </a:solidFill>
                          </a:uFill>
                          <a:latin typeface="Calibri"/>
                          <a:cs typeface="Calibri"/>
                        </a:rPr>
                        <a:t>i</a:t>
                      </a:r>
                      <a:r>
                        <a:rPr sz="1100" i="1" u="sng" spc="-130" dirty="0">
                          <a:solidFill>
                            <a:srgbClr val="213739"/>
                          </a:solidFill>
                          <a:uFill>
                            <a:solidFill>
                              <a:srgbClr val="213739"/>
                            </a:solidFill>
                          </a:u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u="sng" spc="-10" dirty="0">
                          <a:solidFill>
                            <a:srgbClr val="213739"/>
                          </a:solidFill>
                          <a:uFill>
                            <a:solidFill>
                              <a:srgbClr val="213739"/>
                            </a:solidFill>
                          </a:uFill>
                          <a:latin typeface="Calibri"/>
                          <a:cs typeface="Calibri"/>
                        </a:rPr>
                        <a:t>=</a:t>
                      </a:r>
                      <a:r>
                        <a:rPr sz="1100" u="sng" spc="-125" dirty="0">
                          <a:solidFill>
                            <a:srgbClr val="213739"/>
                          </a:solidFill>
                          <a:uFill>
                            <a:solidFill>
                              <a:srgbClr val="213739"/>
                            </a:solidFill>
                          </a:u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u="sng" spc="-50" dirty="0">
                          <a:solidFill>
                            <a:srgbClr val="213739"/>
                          </a:solidFill>
                          <a:uFill>
                            <a:solidFill>
                              <a:srgbClr val="213739"/>
                            </a:solidFill>
                          </a:uFill>
                          <a:latin typeface="Calibri"/>
                          <a:cs typeface="Calibri"/>
                        </a:rPr>
                        <a:t>1</a:t>
                      </a:r>
                      <a:r>
                        <a:rPr sz="1100" u="sng" dirty="0">
                          <a:solidFill>
                            <a:srgbClr val="213739"/>
                          </a:solidFill>
                          <a:uFill>
                            <a:solidFill>
                              <a:srgbClr val="213739"/>
                            </a:solidFill>
                          </a:uFill>
                          <a:latin typeface="Calibri"/>
                          <a:cs typeface="Calibri"/>
                        </a:rPr>
                        <a:t>	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158750" algn="ctr">
                        <a:lnSpc>
                          <a:spcPts val="1520"/>
                        </a:lnSpc>
                      </a:pPr>
                      <a:r>
                        <a:rPr sz="1600" i="1" spc="-25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w</a:t>
                      </a:r>
                      <a:r>
                        <a:rPr sz="1650" spc="-37" baseline="-10101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650" baseline="-10101">
                        <a:latin typeface="Calibri"/>
                        <a:cs typeface="Calibri"/>
                      </a:endParaRPr>
                    </a:p>
                  </a:txBody>
                  <a:tcPr marL="0" marR="0" marT="85725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24765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160655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00" i="1" spc="-25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w</a:t>
                      </a:r>
                      <a:r>
                        <a:rPr sz="1650" spc="-37" baseline="-10101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650" baseline="-10101">
                        <a:latin typeface="Calibri"/>
                        <a:cs typeface="Calibri"/>
                      </a:endParaRPr>
                    </a:p>
                  </a:txBody>
                  <a:tcPr marL="0" marR="0" marT="317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0" name="object 60"/>
          <p:cNvSpPr txBox="1"/>
          <p:nvPr/>
        </p:nvSpPr>
        <p:spPr>
          <a:xfrm>
            <a:off x="4514850" y="2860675"/>
            <a:ext cx="3870325" cy="2673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457200" algn="l"/>
                <a:tab pos="1049020" algn="l"/>
                <a:tab pos="1638935" algn="l"/>
                <a:tab pos="2085339" algn="l"/>
                <a:tab pos="2531745" algn="l"/>
                <a:tab pos="2978785" algn="l"/>
                <a:tab pos="3712845" algn="l"/>
              </a:tabLst>
            </a:pPr>
            <a:r>
              <a:rPr sz="1550" spc="-50" dirty="0">
                <a:solidFill>
                  <a:srgbClr val="213739"/>
                </a:solidFill>
                <a:latin typeface="Arial MT"/>
                <a:cs typeface="Arial MT"/>
              </a:rPr>
              <a:t>1</a:t>
            </a:r>
            <a:r>
              <a:rPr sz="1550" dirty="0">
                <a:solidFill>
                  <a:srgbClr val="213739"/>
                </a:solidFill>
                <a:latin typeface="Arial MT"/>
                <a:cs typeface="Arial MT"/>
              </a:rPr>
              <a:t>	</a:t>
            </a:r>
            <a:r>
              <a:rPr sz="1550" spc="-50" dirty="0">
                <a:solidFill>
                  <a:srgbClr val="213739"/>
                </a:solidFill>
                <a:latin typeface="Arial MT"/>
                <a:cs typeface="Arial MT"/>
              </a:rPr>
              <a:t>0</a:t>
            </a:r>
            <a:r>
              <a:rPr sz="1550" dirty="0">
                <a:solidFill>
                  <a:srgbClr val="213739"/>
                </a:solidFill>
                <a:latin typeface="Arial MT"/>
                <a:cs typeface="Arial MT"/>
              </a:rPr>
              <a:t>	</a:t>
            </a:r>
            <a:r>
              <a:rPr sz="1550" spc="-50" dirty="0">
                <a:solidFill>
                  <a:srgbClr val="213739"/>
                </a:solidFill>
                <a:latin typeface="Arial MT"/>
                <a:cs typeface="Arial MT"/>
              </a:rPr>
              <a:t>1</a:t>
            </a:r>
            <a:r>
              <a:rPr sz="1550" dirty="0">
                <a:solidFill>
                  <a:srgbClr val="213739"/>
                </a:solidFill>
                <a:latin typeface="Arial MT"/>
                <a:cs typeface="Arial MT"/>
              </a:rPr>
              <a:t>	</a:t>
            </a:r>
            <a:r>
              <a:rPr sz="1550" spc="-50" dirty="0">
                <a:solidFill>
                  <a:srgbClr val="213739"/>
                </a:solidFill>
                <a:latin typeface="Arial MT"/>
                <a:cs typeface="Arial MT"/>
              </a:rPr>
              <a:t>0</a:t>
            </a:r>
            <a:r>
              <a:rPr sz="1550" dirty="0">
                <a:solidFill>
                  <a:srgbClr val="213739"/>
                </a:solidFill>
                <a:latin typeface="Arial MT"/>
                <a:cs typeface="Arial MT"/>
              </a:rPr>
              <a:t>	</a:t>
            </a:r>
            <a:r>
              <a:rPr sz="1550" spc="-50" dirty="0">
                <a:solidFill>
                  <a:srgbClr val="213739"/>
                </a:solidFill>
                <a:latin typeface="Arial MT"/>
                <a:cs typeface="Arial MT"/>
              </a:rPr>
              <a:t>0</a:t>
            </a:r>
            <a:r>
              <a:rPr sz="1550" dirty="0">
                <a:solidFill>
                  <a:srgbClr val="213739"/>
                </a:solidFill>
                <a:latin typeface="Arial MT"/>
                <a:cs typeface="Arial MT"/>
              </a:rPr>
              <a:t>	</a:t>
            </a:r>
            <a:r>
              <a:rPr sz="1550" spc="-50" dirty="0">
                <a:solidFill>
                  <a:srgbClr val="213739"/>
                </a:solidFill>
                <a:latin typeface="Arial MT"/>
                <a:cs typeface="Arial MT"/>
              </a:rPr>
              <a:t>1</a:t>
            </a:r>
            <a:r>
              <a:rPr sz="1550" dirty="0">
                <a:solidFill>
                  <a:srgbClr val="213739"/>
                </a:solidFill>
                <a:latin typeface="Arial MT"/>
                <a:cs typeface="Arial MT"/>
              </a:rPr>
              <a:t>	</a:t>
            </a:r>
            <a:r>
              <a:rPr sz="1550" spc="-50" dirty="0">
                <a:solidFill>
                  <a:srgbClr val="213739"/>
                </a:solidFill>
                <a:latin typeface="Arial MT"/>
                <a:cs typeface="Arial MT"/>
              </a:rPr>
              <a:t>0</a:t>
            </a:r>
            <a:r>
              <a:rPr sz="1550" dirty="0">
                <a:solidFill>
                  <a:srgbClr val="213739"/>
                </a:solidFill>
                <a:latin typeface="Arial MT"/>
                <a:cs typeface="Arial MT"/>
              </a:rPr>
              <a:t>	</a:t>
            </a:r>
            <a:r>
              <a:rPr sz="1550" i="1" spc="-5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8359520" y="2952369"/>
            <a:ext cx="97790" cy="1955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spc="-50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4307840" y="3137661"/>
            <a:ext cx="4661535" cy="121856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50800" algn="just">
              <a:lnSpc>
                <a:spcPct val="100000"/>
              </a:lnSpc>
              <a:spcBef>
                <a:spcPts val="130"/>
              </a:spcBef>
              <a:tabLst>
                <a:tab pos="3919854" algn="l"/>
                <a:tab pos="4610100" algn="l"/>
              </a:tabLst>
            </a:pPr>
            <a:r>
              <a:rPr sz="1550" u="sng" spc="229" dirty="0">
                <a:solidFill>
                  <a:srgbClr val="213739"/>
                </a:solidFill>
                <a:uFill>
                  <a:solidFill>
                    <a:srgbClr val="213739"/>
                  </a:solidFill>
                </a:uFill>
                <a:latin typeface="Arial MT"/>
                <a:cs typeface="Arial MT"/>
              </a:rPr>
              <a:t>  </a:t>
            </a:r>
            <a:r>
              <a:rPr sz="1550" u="sng" dirty="0">
                <a:solidFill>
                  <a:srgbClr val="213739"/>
                </a:solidFill>
                <a:uFill>
                  <a:solidFill>
                    <a:srgbClr val="213739"/>
                  </a:solidFill>
                </a:uFill>
                <a:latin typeface="Arial MT"/>
                <a:cs typeface="Arial MT"/>
              </a:rPr>
              <a:t>1</a:t>
            </a:r>
            <a:r>
              <a:rPr sz="1550" u="sng" spc="445" dirty="0">
                <a:solidFill>
                  <a:srgbClr val="213739"/>
                </a:solidFill>
                <a:uFill>
                  <a:solidFill>
                    <a:srgbClr val="213739"/>
                  </a:solidFill>
                </a:uFill>
                <a:latin typeface="Arial MT"/>
                <a:cs typeface="Arial MT"/>
              </a:rPr>
              <a:t>   </a:t>
            </a:r>
            <a:r>
              <a:rPr sz="1550" u="sng" dirty="0">
                <a:solidFill>
                  <a:srgbClr val="213739"/>
                </a:solidFill>
                <a:uFill>
                  <a:solidFill>
                    <a:srgbClr val="213739"/>
                  </a:solidFill>
                </a:uFill>
                <a:latin typeface="Arial MT"/>
                <a:cs typeface="Arial MT"/>
              </a:rPr>
              <a:t>1</a:t>
            </a:r>
            <a:r>
              <a:rPr sz="1550" u="sng" spc="320" dirty="0">
                <a:solidFill>
                  <a:srgbClr val="213739"/>
                </a:solidFill>
                <a:uFill>
                  <a:solidFill>
                    <a:srgbClr val="213739"/>
                  </a:solidFill>
                </a:uFill>
                <a:latin typeface="Arial MT"/>
                <a:cs typeface="Arial MT"/>
              </a:rPr>
              <a:t>     </a:t>
            </a:r>
            <a:r>
              <a:rPr sz="1550" u="sng" dirty="0">
                <a:solidFill>
                  <a:srgbClr val="213739"/>
                </a:solidFill>
                <a:uFill>
                  <a:solidFill>
                    <a:srgbClr val="213739"/>
                  </a:solidFill>
                </a:uFill>
                <a:latin typeface="Arial MT"/>
                <a:cs typeface="Arial MT"/>
              </a:rPr>
              <a:t>0</a:t>
            </a:r>
            <a:r>
              <a:rPr sz="1550" u="sng" spc="325" dirty="0">
                <a:solidFill>
                  <a:srgbClr val="213739"/>
                </a:solidFill>
                <a:uFill>
                  <a:solidFill>
                    <a:srgbClr val="213739"/>
                  </a:solidFill>
                </a:uFill>
                <a:latin typeface="Arial MT"/>
                <a:cs typeface="Arial MT"/>
              </a:rPr>
              <a:t>     </a:t>
            </a:r>
            <a:r>
              <a:rPr sz="1550" u="sng" dirty="0">
                <a:solidFill>
                  <a:srgbClr val="213739"/>
                </a:solidFill>
                <a:uFill>
                  <a:solidFill>
                    <a:srgbClr val="213739"/>
                  </a:solidFill>
                </a:uFill>
                <a:latin typeface="Arial MT"/>
                <a:cs typeface="Arial MT"/>
              </a:rPr>
              <a:t>0</a:t>
            </a:r>
            <a:r>
              <a:rPr sz="1550" u="sng" spc="440" dirty="0">
                <a:solidFill>
                  <a:srgbClr val="213739"/>
                </a:solidFill>
                <a:uFill>
                  <a:solidFill>
                    <a:srgbClr val="213739"/>
                  </a:solidFill>
                </a:uFill>
                <a:latin typeface="Arial MT"/>
                <a:cs typeface="Arial MT"/>
              </a:rPr>
              <a:t>   </a:t>
            </a:r>
            <a:r>
              <a:rPr sz="1550" u="sng" dirty="0">
                <a:solidFill>
                  <a:srgbClr val="213739"/>
                </a:solidFill>
                <a:uFill>
                  <a:solidFill>
                    <a:srgbClr val="213739"/>
                  </a:solidFill>
                </a:uFill>
                <a:latin typeface="Arial MT"/>
                <a:cs typeface="Arial MT"/>
              </a:rPr>
              <a:t>0</a:t>
            </a:r>
            <a:r>
              <a:rPr sz="1550" u="sng" spc="445" dirty="0">
                <a:solidFill>
                  <a:srgbClr val="213739"/>
                </a:solidFill>
                <a:uFill>
                  <a:solidFill>
                    <a:srgbClr val="213739"/>
                  </a:solidFill>
                </a:uFill>
                <a:latin typeface="Arial MT"/>
                <a:cs typeface="Arial MT"/>
              </a:rPr>
              <a:t>   </a:t>
            </a:r>
            <a:r>
              <a:rPr sz="1550" u="sng" dirty="0">
                <a:solidFill>
                  <a:srgbClr val="213739"/>
                </a:solidFill>
                <a:uFill>
                  <a:solidFill>
                    <a:srgbClr val="213739"/>
                  </a:solidFill>
                </a:uFill>
                <a:latin typeface="Arial MT"/>
                <a:cs typeface="Arial MT"/>
              </a:rPr>
              <a:t>0</a:t>
            </a:r>
            <a:r>
              <a:rPr sz="1550" u="sng" spc="450" dirty="0">
                <a:solidFill>
                  <a:srgbClr val="213739"/>
                </a:solidFill>
                <a:uFill>
                  <a:solidFill>
                    <a:srgbClr val="213739"/>
                  </a:solidFill>
                </a:uFill>
                <a:latin typeface="Arial MT"/>
                <a:cs typeface="Arial MT"/>
              </a:rPr>
              <a:t>   </a:t>
            </a:r>
            <a:r>
              <a:rPr sz="1550" u="sng" spc="-50" dirty="0">
                <a:solidFill>
                  <a:srgbClr val="213739"/>
                </a:solidFill>
                <a:uFill>
                  <a:solidFill>
                    <a:srgbClr val="213739"/>
                  </a:solidFill>
                </a:uFill>
                <a:latin typeface="Arial MT"/>
                <a:cs typeface="Arial MT"/>
              </a:rPr>
              <a:t>1</a:t>
            </a:r>
            <a:r>
              <a:rPr sz="1550" u="sng" dirty="0">
                <a:solidFill>
                  <a:srgbClr val="213739"/>
                </a:solidFill>
                <a:uFill>
                  <a:solidFill>
                    <a:srgbClr val="213739"/>
                  </a:solidFill>
                </a:uFill>
                <a:latin typeface="Arial MT"/>
                <a:cs typeface="Arial MT"/>
              </a:rPr>
              <a:t>	</a:t>
            </a:r>
            <a:r>
              <a:rPr sz="1550" i="1" u="sng" spc="-25" dirty="0">
                <a:solidFill>
                  <a:srgbClr val="213739"/>
                </a:solidFill>
                <a:uFill>
                  <a:solidFill>
                    <a:srgbClr val="213739"/>
                  </a:solidFill>
                </a:uFill>
                <a:latin typeface="Calibri"/>
                <a:cs typeface="Calibri"/>
              </a:rPr>
              <a:t>w</a:t>
            </a:r>
            <a:r>
              <a:rPr sz="1650" u="sng" spc="-37" baseline="-10101" dirty="0">
                <a:solidFill>
                  <a:srgbClr val="213739"/>
                </a:solidFill>
                <a:uFill>
                  <a:solidFill>
                    <a:srgbClr val="213739"/>
                  </a:solidFill>
                </a:uFill>
                <a:latin typeface="Calibri"/>
                <a:cs typeface="Calibri"/>
              </a:rPr>
              <a:t>4</a:t>
            </a:r>
            <a:r>
              <a:rPr sz="1650" u="sng" baseline="-10101" dirty="0">
                <a:solidFill>
                  <a:srgbClr val="213739"/>
                </a:solidFill>
                <a:uFill>
                  <a:solidFill>
                    <a:srgbClr val="213739"/>
                  </a:solidFill>
                </a:uFill>
                <a:latin typeface="Calibri"/>
                <a:cs typeface="Calibri"/>
              </a:rPr>
              <a:t>	</a:t>
            </a:r>
            <a:endParaRPr sz="1650" baseline="-10101">
              <a:latin typeface="Calibri"/>
              <a:cs typeface="Calibri"/>
            </a:endParaRPr>
          </a:p>
          <a:p>
            <a:pPr marL="490855" marR="201295" indent="-3810" algn="just">
              <a:lnSpc>
                <a:spcPct val="116900"/>
              </a:lnSpc>
              <a:spcBef>
                <a:spcPts val="969"/>
              </a:spcBef>
            </a:pPr>
            <a:r>
              <a:rPr sz="1550" spc="-20" dirty="0">
                <a:solidFill>
                  <a:srgbClr val="213739"/>
                </a:solidFill>
                <a:latin typeface="Arial MT"/>
                <a:cs typeface="Arial MT"/>
              </a:rPr>
              <a:t>This</a:t>
            </a:r>
            <a:r>
              <a:rPr sz="1550" spc="-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spc="-10" dirty="0">
                <a:solidFill>
                  <a:srgbClr val="213739"/>
                </a:solidFill>
                <a:latin typeface="Arial MT"/>
                <a:cs typeface="Arial MT"/>
              </a:rPr>
              <a:t>results</a:t>
            </a:r>
            <a:r>
              <a:rPr sz="15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213739"/>
                </a:solidFill>
                <a:latin typeface="Arial MT"/>
                <a:cs typeface="Arial MT"/>
              </a:rPr>
              <a:t>in</a:t>
            </a:r>
            <a:r>
              <a:rPr sz="1550" spc="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550" spc="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213739"/>
                </a:solidFill>
                <a:latin typeface="Arial MT"/>
                <a:cs typeface="Arial MT"/>
              </a:rPr>
              <a:t>following</a:t>
            </a:r>
            <a:r>
              <a:rPr sz="1550" spc="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213739"/>
                </a:solidFill>
                <a:latin typeface="Arial MT"/>
                <a:cs typeface="Arial MT"/>
              </a:rPr>
              <a:t>four</a:t>
            </a:r>
            <a:r>
              <a:rPr sz="1550" spc="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spc="-10" dirty="0">
                <a:solidFill>
                  <a:srgbClr val="213739"/>
                </a:solidFill>
                <a:latin typeface="Arial MT"/>
                <a:cs typeface="Arial MT"/>
              </a:rPr>
              <a:t>conditions</a:t>
            </a:r>
            <a:r>
              <a:rPr sz="1550" spc="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spc="-25" dirty="0">
                <a:solidFill>
                  <a:srgbClr val="213739"/>
                </a:solidFill>
                <a:latin typeface="Arial MT"/>
                <a:cs typeface="Arial MT"/>
              </a:rPr>
              <a:t>to </a:t>
            </a:r>
            <a:r>
              <a:rPr sz="1550" dirty="0">
                <a:solidFill>
                  <a:srgbClr val="213739"/>
                </a:solidFill>
                <a:latin typeface="Arial MT"/>
                <a:cs typeface="Arial MT"/>
              </a:rPr>
              <a:t>implement</a:t>
            </a:r>
            <a:r>
              <a:rPr sz="1550" spc="1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spc="-40" dirty="0">
                <a:solidFill>
                  <a:srgbClr val="213739"/>
                </a:solidFill>
                <a:latin typeface="Arial MT"/>
                <a:cs typeface="Arial MT"/>
              </a:rPr>
              <a:t>XOR:</a:t>
            </a:r>
            <a:r>
              <a:rPr sz="1550" spc="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baseline="-10101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650" spc="509" baseline="-10101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550" i="1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550" i="1" spc="400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5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baseline="-10101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550" i="1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550" i="1" spc="-8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5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baseline="-10101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650" spc="525" baseline="-10101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550" dirty="0">
                <a:solidFill>
                  <a:srgbClr val="213739"/>
                </a:solidFill>
                <a:latin typeface="Lucida Sans Unicode"/>
                <a:cs typeface="Lucida Sans Unicode"/>
              </a:rPr>
              <a:t>≥</a:t>
            </a:r>
            <a:r>
              <a:rPr sz="1550" spc="45" dirty="0">
                <a:solidFill>
                  <a:srgbClr val="213739"/>
                </a:solidFill>
                <a:latin typeface="Lucida Sans Unicode"/>
                <a:cs typeface="Lucida Sans Unicode"/>
              </a:rPr>
              <a:t>  </a:t>
            </a:r>
            <a:r>
              <a:rPr sz="15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baseline="-10101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550" i="1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550" i="1" spc="-7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5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baseline="-10101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r>
              <a:rPr sz="1650" spc="509" baseline="-10101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550" spc="-50" dirty="0">
                <a:solidFill>
                  <a:srgbClr val="213739"/>
                </a:solidFill>
                <a:latin typeface="Lucida Sans Unicode"/>
                <a:cs typeface="Lucida Sans Unicode"/>
              </a:rPr>
              <a:t>≥ </a:t>
            </a:r>
            <a:r>
              <a:rPr sz="15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baseline="-10101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550" i="1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550" i="1" spc="-3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5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baseline="-10101" dirty="0">
                <a:solidFill>
                  <a:srgbClr val="213739"/>
                </a:solidFill>
                <a:latin typeface="Calibri"/>
                <a:cs typeface="Calibri"/>
              </a:rPr>
              <a:t>4</a:t>
            </a:r>
            <a:r>
              <a:rPr sz="1650" spc="585" baseline="-10101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550" i="1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550" i="1" spc="130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55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endParaRPr sz="1650" baseline="-10101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32279" y="2132355"/>
            <a:ext cx="221589" cy="22158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720339" y="4110608"/>
            <a:ext cx="244475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500" i="1" spc="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650" spc="37" baseline="-10101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650" baseline="-10101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16407" y="2985642"/>
            <a:ext cx="3630295" cy="570865"/>
            <a:chOff x="516407" y="2985642"/>
            <a:chExt cx="3630295" cy="570865"/>
          </a:xfrm>
        </p:grpSpPr>
        <p:sp>
          <p:nvSpPr>
            <p:cNvPr id="5" name="object 5"/>
            <p:cNvSpPr/>
            <p:nvPr/>
          </p:nvSpPr>
          <p:spPr>
            <a:xfrm>
              <a:off x="544677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256921" y="0"/>
                  </a:moveTo>
                  <a:lnTo>
                    <a:pt x="188620" y="9144"/>
                  </a:lnTo>
                  <a:lnTo>
                    <a:pt x="127241" y="35051"/>
                  </a:lnTo>
                  <a:lnTo>
                    <a:pt x="75247" y="75184"/>
                  </a:lnTo>
                  <a:lnTo>
                    <a:pt x="35077" y="127126"/>
                  </a:lnTo>
                  <a:lnTo>
                    <a:pt x="9182" y="188595"/>
                  </a:lnTo>
                  <a:lnTo>
                    <a:pt x="0" y="256794"/>
                  </a:lnTo>
                  <a:lnTo>
                    <a:pt x="9182" y="325120"/>
                  </a:lnTo>
                  <a:lnTo>
                    <a:pt x="35077" y="386588"/>
                  </a:lnTo>
                  <a:lnTo>
                    <a:pt x="75247" y="438531"/>
                  </a:lnTo>
                  <a:lnTo>
                    <a:pt x="127241" y="478663"/>
                  </a:lnTo>
                  <a:lnTo>
                    <a:pt x="188620" y="504571"/>
                  </a:lnTo>
                  <a:lnTo>
                    <a:pt x="256921" y="513714"/>
                  </a:lnTo>
                  <a:lnTo>
                    <a:pt x="325221" y="504571"/>
                  </a:lnTo>
                  <a:lnTo>
                    <a:pt x="386588" y="478663"/>
                  </a:lnTo>
                  <a:lnTo>
                    <a:pt x="438581" y="438531"/>
                  </a:lnTo>
                  <a:lnTo>
                    <a:pt x="478764" y="386588"/>
                  </a:lnTo>
                  <a:lnTo>
                    <a:pt x="504659" y="325120"/>
                  </a:lnTo>
                  <a:lnTo>
                    <a:pt x="513842" y="256794"/>
                  </a:lnTo>
                  <a:lnTo>
                    <a:pt x="504659" y="188595"/>
                  </a:lnTo>
                  <a:lnTo>
                    <a:pt x="478764" y="127126"/>
                  </a:lnTo>
                  <a:lnTo>
                    <a:pt x="438581" y="75184"/>
                  </a:lnTo>
                  <a:lnTo>
                    <a:pt x="386588" y="35051"/>
                  </a:lnTo>
                  <a:lnTo>
                    <a:pt x="325221" y="9144"/>
                  </a:lnTo>
                  <a:lnTo>
                    <a:pt x="256921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44677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513842" y="256794"/>
                  </a:moveTo>
                  <a:lnTo>
                    <a:pt x="504659" y="188595"/>
                  </a:lnTo>
                  <a:lnTo>
                    <a:pt x="478764" y="127126"/>
                  </a:lnTo>
                  <a:lnTo>
                    <a:pt x="438581" y="75184"/>
                  </a:lnTo>
                  <a:lnTo>
                    <a:pt x="386588" y="35051"/>
                  </a:lnTo>
                  <a:lnTo>
                    <a:pt x="325221" y="9144"/>
                  </a:lnTo>
                  <a:lnTo>
                    <a:pt x="256921" y="0"/>
                  </a:lnTo>
                  <a:lnTo>
                    <a:pt x="188620" y="9144"/>
                  </a:lnTo>
                  <a:lnTo>
                    <a:pt x="127241" y="35051"/>
                  </a:lnTo>
                  <a:lnTo>
                    <a:pt x="75247" y="75184"/>
                  </a:lnTo>
                  <a:lnTo>
                    <a:pt x="35077" y="127126"/>
                  </a:lnTo>
                  <a:lnTo>
                    <a:pt x="9182" y="188595"/>
                  </a:lnTo>
                  <a:lnTo>
                    <a:pt x="0" y="256794"/>
                  </a:lnTo>
                  <a:lnTo>
                    <a:pt x="9182" y="325120"/>
                  </a:lnTo>
                  <a:lnTo>
                    <a:pt x="35077" y="386588"/>
                  </a:lnTo>
                  <a:lnTo>
                    <a:pt x="75247" y="438531"/>
                  </a:lnTo>
                  <a:lnTo>
                    <a:pt x="127241" y="478663"/>
                  </a:lnTo>
                  <a:lnTo>
                    <a:pt x="188620" y="504571"/>
                  </a:lnTo>
                  <a:lnTo>
                    <a:pt x="256921" y="513714"/>
                  </a:lnTo>
                  <a:lnTo>
                    <a:pt x="325221" y="504571"/>
                  </a:lnTo>
                  <a:lnTo>
                    <a:pt x="386588" y="478663"/>
                  </a:lnTo>
                  <a:lnTo>
                    <a:pt x="438581" y="438531"/>
                  </a:lnTo>
                  <a:lnTo>
                    <a:pt x="478764" y="386588"/>
                  </a:lnTo>
                  <a:lnTo>
                    <a:pt x="504659" y="325120"/>
                  </a:lnTo>
                  <a:lnTo>
                    <a:pt x="513842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72387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256920" y="0"/>
                  </a:moveTo>
                  <a:lnTo>
                    <a:pt x="188594" y="9144"/>
                  </a:lnTo>
                  <a:lnTo>
                    <a:pt x="127254" y="35051"/>
                  </a:lnTo>
                  <a:lnTo>
                    <a:pt x="75183" y="75184"/>
                  </a:lnTo>
                  <a:lnTo>
                    <a:pt x="35051" y="127126"/>
                  </a:lnTo>
                  <a:lnTo>
                    <a:pt x="9143" y="188595"/>
                  </a:lnTo>
                  <a:lnTo>
                    <a:pt x="0" y="256794"/>
                  </a:lnTo>
                  <a:lnTo>
                    <a:pt x="9143" y="325120"/>
                  </a:lnTo>
                  <a:lnTo>
                    <a:pt x="35051" y="386588"/>
                  </a:lnTo>
                  <a:lnTo>
                    <a:pt x="75183" y="438531"/>
                  </a:lnTo>
                  <a:lnTo>
                    <a:pt x="127254" y="478663"/>
                  </a:lnTo>
                  <a:lnTo>
                    <a:pt x="188594" y="504571"/>
                  </a:lnTo>
                  <a:lnTo>
                    <a:pt x="256920" y="513714"/>
                  </a:lnTo>
                  <a:lnTo>
                    <a:pt x="325119" y="504571"/>
                  </a:lnTo>
                  <a:lnTo>
                    <a:pt x="386588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0" y="325120"/>
                  </a:lnTo>
                  <a:lnTo>
                    <a:pt x="513842" y="256794"/>
                  </a:lnTo>
                  <a:lnTo>
                    <a:pt x="504570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588" y="35051"/>
                  </a:lnTo>
                  <a:lnTo>
                    <a:pt x="325119" y="9144"/>
                  </a:lnTo>
                  <a:lnTo>
                    <a:pt x="256920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72387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513842" y="256794"/>
                  </a:moveTo>
                  <a:lnTo>
                    <a:pt x="504570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588" y="35051"/>
                  </a:lnTo>
                  <a:lnTo>
                    <a:pt x="325119" y="9144"/>
                  </a:lnTo>
                  <a:lnTo>
                    <a:pt x="256920" y="0"/>
                  </a:lnTo>
                  <a:lnTo>
                    <a:pt x="188594" y="9144"/>
                  </a:lnTo>
                  <a:lnTo>
                    <a:pt x="127254" y="35051"/>
                  </a:lnTo>
                  <a:lnTo>
                    <a:pt x="75183" y="75184"/>
                  </a:lnTo>
                  <a:lnTo>
                    <a:pt x="35051" y="127126"/>
                  </a:lnTo>
                  <a:lnTo>
                    <a:pt x="9143" y="188595"/>
                  </a:lnTo>
                  <a:lnTo>
                    <a:pt x="0" y="256794"/>
                  </a:lnTo>
                  <a:lnTo>
                    <a:pt x="9143" y="325120"/>
                  </a:lnTo>
                  <a:lnTo>
                    <a:pt x="35051" y="386588"/>
                  </a:lnTo>
                  <a:lnTo>
                    <a:pt x="75183" y="438531"/>
                  </a:lnTo>
                  <a:lnTo>
                    <a:pt x="127254" y="478663"/>
                  </a:lnTo>
                  <a:lnTo>
                    <a:pt x="188594" y="504571"/>
                  </a:lnTo>
                  <a:lnTo>
                    <a:pt x="256920" y="513714"/>
                  </a:lnTo>
                  <a:lnTo>
                    <a:pt x="325119" y="504571"/>
                  </a:lnTo>
                  <a:lnTo>
                    <a:pt x="386588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0" y="325120"/>
                  </a:lnTo>
                  <a:lnTo>
                    <a:pt x="513842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600070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256921" y="0"/>
                  </a:moveTo>
                  <a:lnTo>
                    <a:pt x="188595" y="9144"/>
                  </a:lnTo>
                  <a:lnTo>
                    <a:pt x="127254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3" y="188595"/>
                  </a:lnTo>
                  <a:lnTo>
                    <a:pt x="0" y="256794"/>
                  </a:lnTo>
                  <a:lnTo>
                    <a:pt x="9143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254" y="478663"/>
                  </a:lnTo>
                  <a:lnTo>
                    <a:pt x="188595" y="504571"/>
                  </a:lnTo>
                  <a:lnTo>
                    <a:pt x="256921" y="513714"/>
                  </a:lnTo>
                  <a:lnTo>
                    <a:pt x="325120" y="504571"/>
                  </a:lnTo>
                  <a:lnTo>
                    <a:pt x="386588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842" y="256794"/>
                  </a:ln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588" y="35051"/>
                  </a:lnTo>
                  <a:lnTo>
                    <a:pt x="325120" y="9144"/>
                  </a:lnTo>
                  <a:lnTo>
                    <a:pt x="256921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600070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513842" y="256794"/>
                  </a:move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588" y="35051"/>
                  </a:lnTo>
                  <a:lnTo>
                    <a:pt x="325120" y="9144"/>
                  </a:lnTo>
                  <a:lnTo>
                    <a:pt x="256921" y="0"/>
                  </a:lnTo>
                  <a:lnTo>
                    <a:pt x="188595" y="9144"/>
                  </a:lnTo>
                  <a:lnTo>
                    <a:pt x="127254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3" y="188595"/>
                  </a:lnTo>
                  <a:lnTo>
                    <a:pt x="0" y="256794"/>
                  </a:lnTo>
                  <a:lnTo>
                    <a:pt x="9143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254" y="478663"/>
                  </a:lnTo>
                  <a:lnTo>
                    <a:pt x="188595" y="504571"/>
                  </a:lnTo>
                  <a:lnTo>
                    <a:pt x="256921" y="513714"/>
                  </a:lnTo>
                  <a:lnTo>
                    <a:pt x="325120" y="504571"/>
                  </a:lnTo>
                  <a:lnTo>
                    <a:pt x="386588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842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627755" y="3013963"/>
              <a:ext cx="513715" cy="513715"/>
            </a:xfrm>
            <a:custGeom>
              <a:avLst/>
              <a:gdLst/>
              <a:ahLst/>
              <a:cxnLst/>
              <a:rect l="l" t="t" r="r" b="b"/>
              <a:pathLst>
                <a:path w="513714" h="513714">
                  <a:moveTo>
                    <a:pt x="256794" y="0"/>
                  </a:moveTo>
                  <a:lnTo>
                    <a:pt x="188595" y="9144"/>
                  </a:lnTo>
                  <a:lnTo>
                    <a:pt x="127127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4" y="188595"/>
                  </a:lnTo>
                  <a:lnTo>
                    <a:pt x="0" y="256794"/>
                  </a:lnTo>
                  <a:lnTo>
                    <a:pt x="9144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127" y="478663"/>
                  </a:lnTo>
                  <a:lnTo>
                    <a:pt x="188595" y="504571"/>
                  </a:lnTo>
                  <a:lnTo>
                    <a:pt x="256794" y="513714"/>
                  </a:lnTo>
                  <a:lnTo>
                    <a:pt x="325120" y="504571"/>
                  </a:lnTo>
                  <a:lnTo>
                    <a:pt x="386461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715" y="256794"/>
                  </a:ln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461" y="35051"/>
                  </a:lnTo>
                  <a:lnTo>
                    <a:pt x="325120" y="9144"/>
                  </a:lnTo>
                  <a:lnTo>
                    <a:pt x="256794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627755" y="3013963"/>
              <a:ext cx="513715" cy="513715"/>
            </a:xfrm>
            <a:custGeom>
              <a:avLst/>
              <a:gdLst/>
              <a:ahLst/>
              <a:cxnLst/>
              <a:rect l="l" t="t" r="r" b="b"/>
              <a:pathLst>
                <a:path w="513714" h="513714">
                  <a:moveTo>
                    <a:pt x="513715" y="256794"/>
                  </a:move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461" y="35051"/>
                  </a:lnTo>
                  <a:lnTo>
                    <a:pt x="325120" y="9144"/>
                  </a:lnTo>
                  <a:lnTo>
                    <a:pt x="256794" y="0"/>
                  </a:lnTo>
                  <a:lnTo>
                    <a:pt x="188595" y="9144"/>
                  </a:lnTo>
                  <a:lnTo>
                    <a:pt x="127127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4" y="188595"/>
                  </a:lnTo>
                  <a:lnTo>
                    <a:pt x="0" y="256794"/>
                  </a:lnTo>
                  <a:lnTo>
                    <a:pt x="9144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127" y="478663"/>
                  </a:lnTo>
                  <a:lnTo>
                    <a:pt x="188595" y="504571"/>
                  </a:lnTo>
                  <a:lnTo>
                    <a:pt x="256794" y="513714"/>
                  </a:lnTo>
                  <a:lnTo>
                    <a:pt x="325120" y="504571"/>
                  </a:lnTo>
                  <a:lnTo>
                    <a:pt x="386461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715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21487" y="2990722"/>
              <a:ext cx="560705" cy="560705"/>
            </a:xfrm>
            <a:custGeom>
              <a:avLst/>
              <a:gdLst/>
              <a:ahLst/>
              <a:cxnLst/>
              <a:rect l="l" t="t" r="r" b="b"/>
              <a:pathLst>
                <a:path w="560705" h="560704">
                  <a:moveTo>
                    <a:pt x="280111" y="0"/>
                  </a:moveTo>
                  <a:lnTo>
                    <a:pt x="205638" y="10032"/>
                  </a:lnTo>
                  <a:lnTo>
                    <a:pt x="138734" y="38226"/>
                  </a:lnTo>
                  <a:lnTo>
                    <a:pt x="82042" y="82041"/>
                  </a:lnTo>
                  <a:lnTo>
                    <a:pt x="38239" y="138684"/>
                  </a:lnTo>
                  <a:lnTo>
                    <a:pt x="9994" y="205612"/>
                  </a:lnTo>
                  <a:lnTo>
                    <a:pt x="0" y="280035"/>
                  </a:lnTo>
                  <a:lnTo>
                    <a:pt x="9994" y="354584"/>
                  </a:lnTo>
                  <a:lnTo>
                    <a:pt x="38239" y="421513"/>
                  </a:lnTo>
                  <a:lnTo>
                    <a:pt x="82042" y="478154"/>
                  </a:lnTo>
                  <a:lnTo>
                    <a:pt x="138734" y="521969"/>
                  </a:lnTo>
                  <a:lnTo>
                    <a:pt x="205638" y="550163"/>
                  </a:lnTo>
                  <a:lnTo>
                    <a:pt x="280111" y="560197"/>
                  </a:lnTo>
                  <a:lnTo>
                    <a:pt x="354571" y="550163"/>
                  </a:lnTo>
                  <a:lnTo>
                    <a:pt x="421487" y="521969"/>
                  </a:lnTo>
                  <a:lnTo>
                    <a:pt x="478180" y="478154"/>
                  </a:lnTo>
                  <a:lnTo>
                    <a:pt x="521982" y="421513"/>
                  </a:lnTo>
                  <a:lnTo>
                    <a:pt x="550214" y="354584"/>
                  </a:lnTo>
                  <a:lnTo>
                    <a:pt x="560222" y="280035"/>
                  </a:lnTo>
                  <a:lnTo>
                    <a:pt x="550214" y="205612"/>
                  </a:lnTo>
                  <a:lnTo>
                    <a:pt x="521982" y="138684"/>
                  </a:lnTo>
                  <a:lnTo>
                    <a:pt x="478180" y="82041"/>
                  </a:lnTo>
                  <a:lnTo>
                    <a:pt x="421487" y="38226"/>
                  </a:lnTo>
                  <a:lnTo>
                    <a:pt x="354571" y="10032"/>
                  </a:lnTo>
                  <a:lnTo>
                    <a:pt x="280111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21487" y="2990722"/>
              <a:ext cx="560705" cy="560705"/>
            </a:xfrm>
            <a:custGeom>
              <a:avLst/>
              <a:gdLst/>
              <a:ahLst/>
              <a:cxnLst/>
              <a:rect l="l" t="t" r="r" b="b"/>
              <a:pathLst>
                <a:path w="560705" h="560704">
                  <a:moveTo>
                    <a:pt x="560222" y="280035"/>
                  </a:moveTo>
                  <a:lnTo>
                    <a:pt x="550214" y="205612"/>
                  </a:lnTo>
                  <a:lnTo>
                    <a:pt x="521982" y="138684"/>
                  </a:lnTo>
                  <a:lnTo>
                    <a:pt x="478180" y="82041"/>
                  </a:lnTo>
                  <a:lnTo>
                    <a:pt x="421487" y="38226"/>
                  </a:lnTo>
                  <a:lnTo>
                    <a:pt x="354571" y="10032"/>
                  </a:lnTo>
                  <a:lnTo>
                    <a:pt x="280111" y="0"/>
                  </a:lnTo>
                  <a:lnTo>
                    <a:pt x="205638" y="10032"/>
                  </a:lnTo>
                  <a:lnTo>
                    <a:pt x="138734" y="38226"/>
                  </a:lnTo>
                  <a:lnTo>
                    <a:pt x="82042" y="82041"/>
                  </a:lnTo>
                  <a:lnTo>
                    <a:pt x="38239" y="138684"/>
                  </a:lnTo>
                  <a:lnTo>
                    <a:pt x="9994" y="205612"/>
                  </a:lnTo>
                  <a:lnTo>
                    <a:pt x="0" y="280035"/>
                  </a:lnTo>
                  <a:lnTo>
                    <a:pt x="9994" y="354584"/>
                  </a:lnTo>
                  <a:lnTo>
                    <a:pt x="38239" y="421513"/>
                  </a:lnTo>
                  <a:lnTo>
                    <a:pt x="82042" y="478154"/>
                  </a:lnTo>
                  <a:lnTo>
                    <a:pt x="138734" y="521969"/>
                  </a:lnTo>
                  <a:lnTo>
                    <a:pt x="205638" y="550163"/>
                  </a:lnTo>
                  <a:lnTo>
                    <a:pt x="280111" y="560197"/>
                  </a:lnTo>
                  <a:lnTo>
                    <a:pt x="354571" y="550163"/>
                  </a:lnTo>
                  <a:lnTo>
                    <a:pt x="421487" y="521969"/>
                  </a:lnTo>
                  <a:lnTo>
                    <a:pt x="478180" y="478154"/>
                  </a:lnTo>
                  <a:lnTo>
                    <a:pt x="521982" y="421513"/>
                  </a:lnTo>
                  <a:lnTo>
                    <a:pt x="550214" y="354584"/>
                  </a:lnTo>
                  <a:lnTo>
                    <a:pt x="560222" y="280035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89483" y="2723515"/>
            <a:ext cx="431800" cy="64643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11760">
              <a:lnSpc>
                <a:spcPct val="100000"/>
              </a:lnSpc>
              <a:spcBef>
                <a:spcPts val="110"/>
              </a:spcBef>
            </a:pPr>
            <a:r>
              <a:rPr sz="1500" i="1" spc="35" dirty="0">
                <a:solidFill>
                  <a:srgbClr val="213739"/>
                </a:solidFill>
                <a:latin typeface="Calibri"/>
                <a:cs typeface="Calibri"/>
              </a:rPr>
              <a:t>h</a:t>
            </a:r>
            <a:r>
              <a:rPr sz="1650" spc="52" baseline="-12626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650" baseline="-12626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1275"/>
              </a:spcBef>
            </a:pPr>
            <a:r>
              <a:rPr sz="1500" spc="-60" dirty="0">
                <a:solidFill>
                  <a:srgbClr val="213739"/>
                </a:solidFill>
                <a:latin typeface="Arial MT"/>
                <a:cs typeface="Arial MT"/>
              </a:rPr>
              <a:t>-</a:t>
            </a:r>
            <a:r>
              <a:rPr sz="1500" spc="-85" dirty="0">
                <a:solidFill>
                  <a:srgbClr val="213739"/>
                </a:solidFill>
                <a:latin typeface="Arial MT"/>
                <a:cs typeface="Arial MT"/>
              </a:rPr>
              <a:t>1,-</a:t>
            </a:r>
            <a:r>
              <a:rPr sz="1500" spc="-50" dirty="0">
                <a:solidFill>
                  <a:srgbClr val="213739"/>
                </a:solidFill>
                <a:latin typeface="Arial MT"/>
                <a:cs typeface="Arial MT"/>
              </a:rPr>
              <a:t>1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563497" y="3005073"/>
            <a:ext cx="2583180" cy="531495"/>
            <a:chOff x="1563497" y="3005073"/>
            <a:chExt cx="2583180" cy="531495"/>
          </a:xfrm>
        </p:grpSpPr>
        <p:sp>
          <p:nvSpPr>
            <p:cNvPr id="17" name="object 17"/>
            <p:cNvSpPr/>
            <p:nvPr/>
          </p:nvSpPr>
          <p:spPr>
            <a:xfrm>
              <a:off x="1568577" y="3010153"/>
              <a:ext cx="521334" cy="521334"/>
            </a:xfrm>
            <a:custGeom>
              <a:avLst/>
              <a:gdLst/>
              <a:ahLst/>
              <a:cxnLst/>
              <a:rect l="l" t="t" r="r" b="b"/>
              <a:pathLst>
                <a:path w="521335" h="521335">
                  <a:moveTo>
                    <a:pt x="260730" y="0"/>
                  </a:moveTo>
                  <a:lnTo>
                    <a:pt x="191389" y="9271"/>
                  </a:lnTo>
                  <a:lnTo>
                    <a:pt x="129159" y="35560"/>
                  </a:lnTo>
                  <a:lnTo>
                    <a:pt x="76327" y="76326"/>
                  </a:lnTo>
                  <a:lnTo>
                    <a:pt x="35559" y="129159"/>
                  </a:lnTo>
                  <a:lnTo>
                    <a:pt x="9270" y="191388"/>
                  </a:lnTo>
                  <a:lnTo>
                    <a:pt x="0" y="260604"/>
                  </a:lnTo>
                  <a:lnTo>
                    <a:pt x="9270" y="329946"/>
                  </a:lnTo>
                  <a:lnTo>
                    <a:pt x="35559" y="392175"/>
                  </a:lnTo>
                  <a:lnTo>
                    <a:pt x="76327" y="445008"/>
                  </a:lnTo>
                  <a:lnTo>
                    <a:pt x="129159" y="485775"/>
                  </a:lnTo>
                  <a:lnTo>
                    <a:pt x="191389" y="512063"/>
                  </a:lnTo>
                  <a:lnTo>
                    <a:pt x="260730" y="521335"/>
                  </a:lnTo>
                  <a:lnTo>
                    <a:pt x="329946" y="512063"/>
                  </a:lnTo>
                  <a:lnTo>
                    <a:pt x="392303" y="485775"/>
                  </a:lnTo>
                  <a:lnTo>
                    <a:pt x="445008" y="445008"/>
                  </a:lnTo>
                  <a:lnTo>
                    <a:pt x="485774" y="392175"/>
                  </a:lnTo>
                  <a:lnTo>
                    <a:pt x="512064" y="329946"/>
                  </a:lnTo>
                  <a:lnTo>
                    <a:pt x="521334" y="260604"/>
                  </a:lnTo>
                  <a:lnTo>
                    <a:pt x="512064" y="191388"/>
                  </a:lnTo>
                  <a:lnTo>
                    <a:pt x="485774" y="129159"/>
                  </a:lnTo>
                  <a:lnTo>
                    <a:pt x="445008" y="76326"/>
                  </a:lnTo>
                  <a:lnTo>
                    <a:pt x="392303" y="35560"/>
                  </a:lnTo>
                  <a:lnTo>
                    <a:pt x="329946" y="9271"/>
                  </a:lnTo>
                  <a:lnTo>
                    <a:pt x="260730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568577" y="3010153"/>
              <a:ext cx="521334" cy="521334"/>
            </a:xfrm>
            <a:custGeom>
              <a:avLst/>
              <a:gdLst/>
              <a:ahLst/>
              <a:cxnLst/>
              <a:rect l="l" t="t" r="r" b="b"/>
              <a:pathLst>
                <a:path w="521335" h="521335">
                  <a:moveTo>
                    <a:pt x="521334" y="260604"/>
                  </a:moveTo>
                  <a:lnTo>
                    <a:pt x="512064" y="191388"/>
                  </a:lnTo>
                  <a:lnTo>
                    <a:pt x="485774" y="129159"/>
                  </a:lnTo>
                  <a:lnTo>
                    <a:pt x="445008" y="76326"/>
                  </a:lnTo>
                  <a:lnTo>
                    <a:pt x="392303" y="35560"/>
                  </a:lnTo>
                  <a:lnTo>
                    <a:pt x="329946" y="9271"/>
                  </a:lnTo>
                  <a:lnTo>
                    <a:pt x="260730" y="0"/>
                  </a:lnTo>
                  <a:lnTo>
                    <a:pt x="191389" y="9271"/>
                  </a:lnTo>
                  <a:lnTo>
                    <a:pt x="129159" y="35560"/>
                  </a:lnTo>
                  <a:lnTo>
                    <a:pt x="76327" y="76326"/>
                  </a:lnTo>
                  <a:lnTo>
                    <a:pt x="35559" y="129159"/>
                  </a:lnTo>
                  <a:lnTo>
                    <a:pt x="9270" y="191388"/>
                  </a:lnTo>
                  <a:lnTo>
                    <a:pt x="0" y="260604"/>
                  </a:lnTo>
                  <a:lnTo>
                    <a:pt x="9270" y="329946"/>
                  </a:lnTo>
                  <a:lnTo>
                    <a:pt x="35559" y="392175"/>
                  </a:lnTo>
                  <a:lnTo>
                    <a:pt x="76327" y="445008"/>
                  </a:lnTo>
                  <a:lnTo>
                    <a:pt x="129159" y="485775"/>
                  </a:lnTo>
                  <a:lnTo>
                    <a:pt x="191389" y="512063"/>
                  </a:lnTo>
                  <a:lnTo>
                    <a:pt x="260730" y="521335"/>
                  </a:lnTo>
                  <a:lnTo>
                    <a:pt x="329946" y="512063"/>
                  </a:lnTo>
                  <a:lnTo>
                    <a:pt x="392303" y="485775"/>
                  </a:lnTo>
                  <a:lnTo>
                    <a:pt x="445008" y="445008"/>
                  </a:lnTo>
                  <a:lnTo>
                    <a:pt x="485774" y="392175"/>
                  </a:lnTo>
                  <a:lnTo>
                    <a:pt x="512064" y="329946"/>
                  </a:lnTo>
                  <a:lnTo>
                    <a:pt x="521334" y="26060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596261" y="3010153"/>
              <a:ext cx="521334" cy="521334"/>
            </a:xfrm>
            <a:custGeom>
              <a:avLst/>
              <a:gdLst/>
              <a:ahLst/>
              <a:cxnLst/>
              <a:rect l="l" t="t" r="r" b="b"/>
              <a:pathLst>
                <a:path w="521335" h="521335">
                  <a:moveTo>
                    <a:pt x="260731" y="0"/>
                  </a:moveTo>
                  <a:lnTo>
                    <a:pt x="191388" y="9271"/>
                  </a:lnTo>
                  <a:lnTo>
                    <a:pt x="129158" y="35560"/>
                  </a:lnTo>
                  <a:lnTo>
                    <a:pt x="76326" y="76326"/>
                  </a:lnTo>
                  <a:lnTo>
                    <a:pt x="35559" y="129159"/>
                  </a:lnTo>
                  <a:lnTo>
                    <a:pt x="9270" y="191388"/>
                  </a:lnTo>
                  <a:lnTo>
                    <a:pt x="0" y="260604"/>
                  </a:lnTo>
                  <a:lnTo>
                    <a:pt x="9270" y="329946"/>
                  </a:lnTo>
                  <a:lnTo>
                    <a:pt x="35559" y="392175"/>
                  </a:lnTo>
                  <a:lnTo>
                    <a:pt x="76326" y="445008"/>
                  </a:lnTo>
                  <a:lnTo>
                    <a:pt x="129158" y="485775"/>
                  </a:lnTo>
                  <a:lnTo>
                    <a:pt x="191388" y="512063"/>
                  </a:lnTo>
                  <a:lnTo>
                    <a:pt x="260731" y="521335"/>
                  </a:lnTo>
                  <a:lnTo>
                    <a:pt x="329945" y="512063"/>
                  </a:lnTo>
                  <a:lnTo>
                    <a:pt x="392302" y="485775"/>
                  </a:lnTo>
                  <a:lnTo>
                    <a:pt x="445007" y="445008"/>
                  </a:lnTo>
                  <a:lnTo>
                    <a:pt x="485775" y="392175"/>
                  </a:lnTo>
                  <a:lnTo>
                    <a:pt x="512063" y="329946"/>
                  </a:lnTo>
                  <a:lnTo>
                    <a:pt x="521334" y="260604"/>
                  </a:lnTo>
                  <a:lnTo>
                    <a:pt x="512063" y="191388"/>
                  </a:lnTo>
                  <a:lnTo>
                    <a:pt x="485775" y="129159"/>
                  </a:lnTo>
                  <a:lnTo>
                    <a:pt x="445007" y="76326"/>
                  </a:lnTo>
                  <a:lnTo>
                    <a:pt x="392302" y="35560"/>
                  </a:lnTo>
                  <a:lnTo>
                    <a:pt x="329945" y="9271"/>
                  </a:lnTo>
                  <a:lnTo>
                    <a:pt x="260731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596261" y="3010153"/>
              <a:ext cx="521334" cy="521334"/>
            </a:xfrm>
            <a:custGeom>
              <a:avLst/>
              <a:gdLst/>
              <a:ahLst/>
              <a:cxnLst/>
              <a:rect l="l" t="t" r="r" b="b"/>
              <a:pathLst>
                <a:path w="521335" h="521335">
                  <a:moveTo>
                    <a:pt x="521334" y="260604"/>
                  </a:moveTo>
                  <a:lnTo>
                    <a:pt x="512063" y="191388"/>
                  </a:lnTo>
                  <a:lnTo>
                    <a:pt x="485775" y="129159"/>
                  </a:lnTo>
                  <a:lnTo>
                    <a:pt x="445007" y="76326"/>
                  </a:lnTo>
                  <a:lnTo>
                    <a:pt x="392302" y="35560"/>
                  </a:lnTo>
                  <a:lnTo>
                    <a:pt x="329945" y="9271"/>
                  </a:lnTo>
                  <a:lnTo>
                    <a:pt x="260731" y="0"/>
                  </a:lnTo>
                  <a:lnTo>
                    <a:pt x="191388" y="9271"/>
                  </a:lnTo>
                  <a:lnTo>
                    <a:pt x="129158" y="35560"/>
                  </a:lnTo>
                  <a:lnTo>
                    <a:pt x="76326" y="76326"/>
                  </a:lnTo>
                  <a:lnTo>
                    <a:pt x="35559" y="129159"/>
                  </a:lnTo>
                  <a:lnTo>
                    <a:pt x="9270" y="191388"/>
                  </a:lnTo>
                  <a:lnTo>
                    <a:pt x="0" y="260604"/>
                  </a:lnTo>
                  <a:lnTo>
                    <a:pt x="9270" y="329946"/>
                  </a:lnTo>
                  <a:lnTo>
                    <a:pt x="35559" y="392175"/>
                  </a:lnTo>
                  <a:lnTo>
                    <a:pt x="76326" y="445008"/>
                  </a:lnTo>
                  <a:lnTo>
                    <a:pt x="129158" y="485775"/>
                  </a:lnTo>
                  <a:lnTo>
                    <a:pt x="191388" y="512063"/>
                  </a:lnTo>
                  <a:lnTo>
                    <a:pt x="260731" y="521335"/>
                  </a:lnTo>
                  <a:lnTo>
                    <a:pt x="329945" y="512063"/>
                  </a:lnTo>
                  <a:lnTo>
                    <a:pt x="392302" y="485775"/>
                  </a:lnTo>
                  <a:lnTo>
                    <a:pt x="445007" y="445008"/>
                  </a:lnTo>
                  <a:lnTo>
                    <a:pt x="485775" y="392175"/>
                  </a:lnTo>
                  <a:lnTo>
                    <a:pt x="512063" y="329946"/>
                  </a:lnTo>
                  <a:lnTo>
                    <a:pt x="521334" y="26060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627754" y="3013963"/>
              <a:ext cx="513715" cy="513715"/>
            </a:xfrm>
            <a:custGeom>
              <a:avLst/>
              <a:gdLst/>
              <a:ahLst/>
              <a:cxnLst/>
              <a:rect l="l" t="t" r="r" b="b"/>
              <a:pathLst>
                <a:path w="513714" h="513714">
                  <a:moveTo>
                    <a:pt x="256794" y="0"/>
                  </a:moveTo>
                  <a:lnTo>
                    <a:pt x="188595" y="9144"/>
                  </a:lnTo>
                  <a:lnTo>
                    <a:pt x="127127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4" y="188595"/>
                  </a:lnTo>
                  <a:lnTo>
                    <a:pt x="0" y="256794"/>
                  </a:lnTo>
                  <a:lnTo>
                    <a:pt x="9144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127" y="478663"/>
                  </a:lnTo>
                  <a:lnTo>
                    <a:pt x="188595" y="504571"/>
                  </a:lnTo>
                  <a:lnTo>
                    <a:pt x="256794" y="513714"/>
                  </a:lnTo>
                  <a:lnTo>
                    <a:pt x="325120" y="504571"/>
                  </a:lnTo>
                  <a:lnTo>
                    <a:pt x="386461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715" y="256794"/>
                  </a:ln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461" y="35051"/>
                  </a:lnTo>
                  <a:lnTo>
                    <a:pt x="325120" y="9144"/>
                  </a:lnTo>
                  <a:lnTo>
                    <a:pt x="256794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627754" y="3013963"/>
              <a:ext cx="513715" cy="513715"/>
            </a:xfrm>
            <a:custGeom>
              <a:avLst/>
              <a:gdLst/>
              <a:ahLst/>
              <a:cxnLst/>
              <a:rect l="l" t="t" r="r" b="b"/>
              <a:pathLst>
                <a:path w="513714" h="513714">
                  <a:moveTo>
                    <a:pt x="513715" y="256794"/>
                  </a:move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461" y="35051"/>
                  </a:lnTo>
                  <a:lnTo>
                    <a:pt x="325120" y="9144"/>
                  </a:lnTo>
                  <a:lnTo>
                    <a:pt x="256794" y="0"/>
                  </a:lnTo>
                  <a:lnTo>
                    <a:pt x="188595" y="9144"/>
                  </a:lnTo>
                  <a:lnTo>
                    <a:pt x="127127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4" y="188595"/>
                  </a:lnTo>
                  <a:lnTo>
                    <a:pt x="0" y="256794"/>
                  </a:lnTo>
                  <a:lnTo>
                    <a:pt x="9144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127" y="478663"/>
                  </a:lnTo>
                  <a:lnTo>
                    <a:pt x="188595" y="504571"/>
                  </a:lnTo>
                  <a:lnTo>
                    <a:pt x="256794" y="513714"/>
                  </a:lnTo>
                  <a:lnTo>
                    <a:pt x="325120" y="504571"/>
                  </a:lnTo>
                  <a:lnTo>
                    <a:pt x="386461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715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3719448" y="2723515"/>
            <a:ext cx="329565" cy="644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65405">
              <a:lnSpc>
                <a:spcPct val="100000"/>
              </a:lnSpc>
              <a:spcBef>
                <a:spcPts val="110"/>
              </a:spcBef>
            </a:pP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h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4</a:t>
            </a:r>
            <a:endParaRPr sz="1650" baseline="-10101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1260"/>
              </a:spcBef>
            </a:pPr>
            <a:r>
              <a:rPr sz="1500" spc="-25" dirty="0">
                <a:solidFill>
                  <a:srgbClr val="213739"/>
                </a:solidFill>
                <a:latin typeface="Arial MT"/>
                <a:cs typeface="Arial MT"/>
              </a:rPr>
              <a:t>1,1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33527" y="3638803"/>
            <a:ext cx="748030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i="1" dirty="0">
                <a:solidFill>
                  <a:srgbClr val="213739"/>
                </a:solidFill>
                <a:latin typeface="Calibri"/>
                <a:cs typeface="Calibri"/>
              </a:rPr>
              <a:t>bias</a:t>
            </a:r>
            <a:r>
              <a:rPr sz="1500" i="1" spc="33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500" spc="-13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13739"/>
                </a:solidFill>
                <a:latin typeface="Arial MT"/>
                <a:cs typeface="Arial MT"/>
              </a:rPr>
              <a:t>-</a:t>
            </a:r>
            <a:r>
              <a:rPr sz="1500" spc="-2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00" spc="-50" dirty="0">
                <a:solidFill>
                  <a:srgbClr val="213739"/>
                </a:solidFill>
                <a:latin typeface="Arial MT"/>
                <a:cs typeface="Arial MT"/>
              </a:rPr>
              <a:t>2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278507" y="1536572"/>
            <a:ext cx="111760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i="1" spc="-50" dirty="0">
                <a:solidFill>
                  <a:srgbClr val="213739"/>
                </a:solidFill>
                <a:latin typeface="Calibri"/>
                <a:cs typeface="Calibri"/>
              </a:rPr>
              <a:t>y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164336" y="2568955"/>
            <a:ext cx="280670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650" baseline="-10101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628013" y="2532379"/>
            <a:ext cx="1461135" cy="8324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90500">
              <a:lnSpc>
                <a:spcPts val="1650"/>
              </a:lnSpc>
              <a:spcBef>
                <a:spcPts val="110"/>
              </a:spcBef>
              <a:tabLst>
                <a:tab pos="704215" algn="l"/>
                <a:tab pos="1191895" algn="l"/>
              </a:tabLst>
            </a:pP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650" baseline="-1010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r>
              <a:rPr sz="1650" baseline="-1010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4</a:t>
            </a:r>
            <a:endParaRPr sz="1650" baseline="-10101">
              <a:latin typeface="Calibri"/>
              <a:cs typeface="Calibri"/>
            </a:endParaRPr>
          </a:p>
          <a:p>
            <a:pPr marL="100965">
              <a:lnSpc>
                <a:spcPts val="1650"/>
              </a:lnSpc>
              <a:tabLst>
                <a:tab pos="1127760" algn="l"/>
              </a:tabLst>
            </a:pP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h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650" baseline="-1010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h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650" baseline="-10101">
              <a:latin typeface="Calibri"/>
              <a:cs typeface="Calibri"/>
            </a:endParaRPr>
          </a:p>
          <a:p>
            <a:pPr marL="50800">
              <a:lnSpc>
                <a:spcPct val="100000"/>
              </a:lnSpc>
              <a:spcBef>
                <a:spcPts val="1235"/>
              </a:spcBef>
              <a:tabLst>
                <a:tab pos="1077595" algn="l"/>
              </a:tabLst>
            </a:pPr>
            <a:r>
              <a:rPr sz="1500" spc="-40" dirty="0">
                <a:solidFill>
                  <a:srgbClr val="213739"/>
                </a:solidFill>
                <a:latin typeface="Arial MT"/>
                <a:cs typeface="Arial MT"/>
              </a:rPr>
              <a:t>-</a:t>
            </a:r>
            <a:r>
              <a:rPr sz="1500" spc="-25" dirty="0">
                <a:solidFill>
                  <a:srgbClr val="213739"/>
                </a:solidFill>
                <a:latin typeface="Arial MT"/>
                <a:cs typeface="Arial MT"/>
              </a:rPr>
              <a:t>1,1</a:t>
            </a:r>
            <a:r>
              <a:rPr sz="1500" dirty="0">
                <a:solidFill>
                  <a:srgbClr val="213739"/>
                </a:solidFill>
                <a:latin typeface="Arial MT"/>
                <a:cs typeface="Arial MT"/>
              </a:rPr>
              <a:t>	</a:t>
            </a:r>
            <a:r>
              <a:rPr sz="1500" spc="-70" dirty="0">
                <a:solidFill>
                  <a:srgbClr val="213739"/>
                </a:solidFill>
                <a:latin typeface="Arial MT"/>
                <a:cs typeface="Arial MT"/>
              </a:rPr>
              <a:t>1,-</a:t>
            </a:r>
            <a:r>
              <a:rPr sz="1500" spc="-50" dirty="0">
                <a:solidFill>
                  <a:srgbClr val="213739"/>
                </a:solidFill>
                <a:latin typeface="Arial MT"/>
                <a:cs typeface="Arial MT"/>
              </a:rPr>
              <a:t>1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994460" y="1862084"/>
            <a:ext cx="2713990" cy="2357120"/>
            <a:chOff x="994460" y="1862084"/>
            <a:chExt cx="2713990" cy="2357120"/>
          </a:xfrm>
        </p:grpSpPr>
        <p:sp>
          <p:nvSpPr>
            <p:cNvPr id="29" name="object 29"/>
            <p:cNvSpPr/>
            <p:nvPr/>
          </p:nvSpPr>
          <p:spPr>
            <a:xfrm>
              <a:off x="1016139" y="3485388"/>
              <a:ext cx="686435" cy="686435"/>
            </a:xfrm>
            <a:custGeom>
              <a:avLst/>
              <a:gdLst/>
              <a:ahLst/>
              <a:cxnLst/>
              <a:rect l="l" t="t" r="r" b="b"/>
              <a:pathLst>
                <a:path w="686435" h="686435">
                  <a:moveTo>
                    <a:pt x="686295" y="686181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4460" y="3463657"/>
              <a:ext cx="104659" cy="104661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1072959" y="3406521"/>
              <a:ext cx="1615440" cy="807720"/>
            </a:xfrm>
            <a:custGeom>
              <a:avLst/>
              <a:gdLst/>
              <a:ahLst/>
              <a:cxnLst/>
              <a:rect l="l" t="t" r="r" b="b"/>
              <a:pathLst>
                <a:path w="1615439" h="807720">
                  <a:moveTo>
                    <a:pt x="1615122" y="807592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60723" y="3364757"/>
              <a:ext cx="84085" cy="122262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1766570" y="3546729"/>
              <a:ext cx="125730" cy="624840"/>
            </a:xfrm>
            <a:custGeom>
              <a:avLst/>
              <a:gdLst/>
              <a:ahLst/>
              <a:cxnLst/>
              <a:rect l="l" t="t" r="r" b="b"/>
              <a:pathLst>
                <a:path w="125730" h="624839">
                  <a:moveTo>
                    <a:pt x="62737" y="624840"/>
                  </a:moveTo>
                  <a:lnTo>
                    <a:pt x="62737" y="8000"/>
                  </a:lnTo>
                </a:path>
                <a:path w="125730" h="624839">
                  <a:moveTo>
                    <a:pt x="0" y="51435"/>
                  </a:moveTo>
                  <a:lnTo>
                    <a:pt x="24637" y="42418"/>
                  </a:lnTo>
                  <a:lnTo>
                    <a:pt x="42672" y="30099"/>
                  </a:lnTo>
                  <a:lnTo>
                    <a:pt x="55118" y="15621"/>
                  </a:lnTo>
                  <a:lnTo>
                    <a:pt x="62737" y="0"/>
                  </a:lnTo>
                  <a:lnTo>
                    <a:pt x="70231" y="15621"/>
                  </a:lnTo>
                  <a:lnTo>
                    <a:pt x="82677" y="30099"/>
                  </a:lnTo>
                  <a:lnTo>
                    <a:pt x="100711" y="42418"/>
                  </a:lnTo>
                  <a:lnTo>
                    <a:pt x="125349" y="51435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030094" y="3471672"/>
              <a:ext cx="700405" cy="700405"/>
            </a:xfrm>
            <a:custGeom>
              <a:avLst/>
              <a:gdLst/>
              <a:ahLst/>
              <a:cxnLst/>
              <a:rect l="l" t="t" r="r" b="b"/>
              <a:pathLst>
                <a:path w="700405" h="700404">
                  <a:moveTo>
                    <a:pt x="700024" y="699896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08377" y="3449924"/>
              <a:ext cx="105171" cy="105186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1956054" y="3471672"/>
              <a:ext cx="700405" cy="700405"/>
            </a:xfrm>
            <a:custGeom>
              <a:avLst/>
              <a:gdLst/>
              <a:ahLst/>
              <a:cxnLst/>
              <a:rect l="l" t="t" r="r" b="b"/>
              <a:pathLst>
                <a:path w="700405" h="700404">
                  <a:moveTo>
                    <a:pt x="0" y="699896"/>
                  </a:moveTo>
                  <a:lnTo>
                    <a:pt x="700023" y="0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72766" y="3449924"/>
              <a:ext cx="105171" cy="105186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2794254" y="3546729"/>
              <a:ext cx="125730" cy="624840"/>
            </a:xfrm>
            <a:custGeom>
              <a:avLst/>
              <a:gdLst/>
              <a:ahLst/>
              <a:cxnLst/>
              <a:rect l="l" t="t" r="r" b="b"/>
              <a:pathLst>
                <a:path w="125730" h="624839">
                  <a:moveTo>
                    <a:pt x="62737" y="624840"/>
                  </a:moveTo>
                  <a:lnTo>
                    <a:pt x="62737" y="8000"/>
                  </a:lnTo>
                </a:path>
                <a:path w="125730" h="624839">
                  <a:moveTo>
                    <a:pt x="0" y="51435"/>
                  </a:moveTo>
                  <a:lnTo>
                    <a:pt x="24637" y="42418"/>
                  </a:lnTo>
                  <a:lnTo>
                    <a:pt x="42671" y="30099"/>
                  </a:lnTo>
                  <a:lnTo>
                    <a:pt x="55118" y="15621"/>
                  </a:lnTo>
                  <a:lnTo>
                    <a:pt x="62737" y="0"/>
                  </a:lnTo>
                  <a:lnTo>
                    <a:pt x="70231" y="15621"/>
                  </a:lnTo>
                  <a:lnTo>
                    <a:pt x="82676" y="30099"/>
                  </a:lnTo>
                  <a:lnTo>
                    <a:pt x="100710" y="42418"/>
                  </a:lnTo>
                  <a:lnTo>
                    <a:pt x="125348" y="51435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998218" y="3396107"/>
              <a:ext cx="1635760" cy="818515"/>
            </a:xfrm>
            <a:custGeom>
              <a:avLst/>
              <a:gdLst/>
              <a:ahLst/>
              <a:cxnLst/>
              <a:rect l="l" t="t" r="r" b="b"/>
              <a:pathLst>
                <a:path w="1635760" h="818514">
                  <a:moveTo>
                    <a:pt x="0" y="818006"/>
                  </a:moveTo>
                  <a:lnTo>
                    <a:pt x="1635759" y="0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62114" y="3354470"/>
              <a:ext cx="84163" cy="122136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2983864" y="3469005"/>
              <a:ext cx="702945" cy="702945"/>
            </a:xfrm>
            <a:custGeom>
              <a:avLst/>
              <a:gdLst/>
              <a:ahLst/>
              <a:cxnLst/>
              <a:rect l="l" t="t" r="r" b="b"/>
              <a:pathLst>
                <a:path w="702945" h="702945">
                  <a:moveTo>
                    <a:pt x="0" y="702564"/>
                  </a:moveTo>
                  <a:lnTo>
                    <a:pt x="702563" y="0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603498" y="3447274"/>
              <a:ext cx="104659" cy="104661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1041425" y="2308860"/>
              <a:ext cx="1203325" cy="802640"/>
            </a:xfrm>
            <a:custGeom>
              <a:avLst/>
              <a:gdLst/>
              <a:ahLst/>
              <a:cxnLst/>
              <a:rect l="l" t="t" r="r" b="b"/>
              <a:pathLst>
                <a:path w="1203325" h="802639">
                  <a:moveTo>
                    <a:pt x="0" y="802131"/>
                  </a:moveTo>
                  <a:lnTo>
                    <a:pt x="1203172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83766" y="2287145"/>
              <a:ext cx="66671" cy="85467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1949577" y="2348738"/>
              <a:ext cx="340995" cy="681990"/>
            </a:xfrm>
            <a:custGeom>
              <a:avLst/>
              <a:gdLst/>
              <a:ahLst/>
              <a:cxnLst/>
              <a:rect l="l" t="t" r="r" b="b"/>
              <a:pathLst>
                <a:path w="340994" h="681989">
                  <a:moveTo>
                    <a:pt x="0" y="681482"/>
                  </a:moveTo>
                  <a:lnTo>
                    <a:pt x="340741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227579" y="2342641"/>
              <a:ext cx="91568" cy="64136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2395855" y="2348738"/>
              <a:ext cx="340995" cy="681990"/>
            </a:xfrm>
            <a:custGeom>
              <a:avLst/>
              <a:gdLst/>
              <a:ahLst/>
              <a:cxnLst/>
              <a:rect l="l" t="t" r="r" b="b"/>
              <a:pathLst>
                <a:path w="340994" h="681989">
                  <a:moveTo>
                    <a:pt x="340868" y="681482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67025" y="2342641"/>
              <a:ext cx="91568" cy="64136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2441575" y="2308860"/>
              <a:ext cx="1223010" cy="815340"/>
            </a:xfrm>
            <a:custGeom>
              <a:avLst/>
              <a:gdLst/>
              <a:ahLst/>
              <a:cxnLst/>
              <a:rect l="l" t="t" r="r" b="b"/>
              <a:pathLst>
                <a:path w="1223010" h="815339">
                  <a:moveTo>
                    <a:pt x="1222628" y="814959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435734" y="2287145"/>
              <a:ext cx="66671" cy="85467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2294890" y="1864614"/>
              <a:ext cx="96520" cy="268605"/>
            </a:xfrm>
            <a:custGeom>
              <a:avLst/>
              <a:gdLst/>
              <a:ahLst/>
              <a:cxnLst/>
              <a:rect l="l" t="t" r="r" b="b"/>
              <a:pathLst>
                <a:path w="96519" h="268605">
                  <a:moveTo>
                    <a:pt x="48260" y="268605"/>
                  </a:moveTo>
                  <a:lnTo>
                    <a:pt x="48260" y="4063"/>
                  </a:lnTo>
                </a:path>
                <a:path w="96519" h="268605">
                  <a:moveTo>
                    <a:pt x="0" y="41783"/>
                  </a:moveTo>
                  <a:lnTo>
                    <a:pt x="18923" y="34416"/>
                  </a:lnTo>
                  <a:lnTo>
                    <a:pt x="32893" y="24511"/>
                  </a:lnTo>
                  <a:lnTo>
                    <a:pt x="42418" y="12700"/>
                  </a:lnTo>
                  <a:lnTo>
                    <a:pt x="48260" y="0"/>
                  </a:lnTo>
                  <a:lnTo>
                    <a:pt x="54102" y="12700"/>
                  </a:lnTo>
                  <a:lnTo>
                    <a:pt x="63627" y="24511"/>
                  </a:lnTo>
                  <a:lnTo>
                    <a:pt x="77470" y="34416"/>
                  </a:lnTo>
                  <a:lnTo>
                    <a:pt x="96393" y="41783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343204" y="3999632"/>
            <a:ext cx="2451100" cy="1073785"/>
          </a:xfrm>
          <a:prstGeom prst="rect">
            <a:avLst/>
          </a:prstGeom>
        </p:spPr>
        <p:txBody>
          <a:bodyPr vert="horz" wrap="square" lIns="0" tIns="125095" rIns="0" bIns="0" rtlCol="0">
            <a:spAutoFit/>
          </a:bodyPr>
          <a:lstStyle/>
          <a:p>
            <a:pPr marL="496570" algn="ctr">
              <a:lnSpc>
                <a:spcPct val="100000"/>
              </a:lnSpc>
              <a:spcBef>
                <a:spcPts val="985"/>
              </a:spcBef>
            </a:pPr>
            <a:r>
              <a:rPr sz="1500" i="1" spc="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650" spc="37" baseline="-10101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650" baseline="-10101">
              <a:latin typeface="Calibri"/>
              <a:cs typeface="Calibri"/>
            </a:endParaRPr>
          </a:p>
          <a:p>
            <a:pPr marL="38100" marR="30480">
              <a:lnSpc>
                <a:spcPct val="117700"/>
              </a:lnSpc>
              <a:spcBef>
                <a:spcPts val="625"/>
              </a:spcBef>
            </a:pP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red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edge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indicates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i="1" spc="10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=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-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1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blue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edge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indicates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i="1" spc="12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=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+1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53" name="object 53" descr="$PPTXTitle"/>
          <p:cNvSpPr txBox="1">
            <a:spLocks noGrp="1"/>
          </p:cNvSpPr>
          <p:nvPr>
            <p:ph type="title"/>
          </p:nvPr>
        </p:nvSpPr>
        <p:spPr>
          <a:xfrm>
            <a:off x="4756403" y="946530"/>
            <a:ext cx="406781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Let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875" spc="345" baseline="-8888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be</a:t>
            </a:r>
            <a:r>
              <a:rPr sz="1750" spc="-1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bias</a:t>
            </a:r>
            <a:r>
              <a:rPr sz="1750" spc="-1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output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 the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neuron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i="1" spc="-10" dirty="0">
                <a:solidFill>
                  <a:srgbClr val="213739"/>
                </a:solidFill>
                <a:latin typeface="Times New Roman"/>
                <a:cs typeface="Times New Roman"/>
              </a:rPr>
              <a:t>i.e.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,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4759705" y="1266266"/>
            <a:ext cx="1409065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it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will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fire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if</a:t>
            </a:r>
            <a:r>
              <a:rPr sz="1750" spc="4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2625" spc="-30" baseline="1587" dirty="0">
                <a:solidFill>
                  <a:srgbClr val="213739"/>
                </a:solidFill>
                <a:latin typeface="Lucida Sans Unicode"/>
                <a:cs typeface="Lucida Sans Unicode"/>
              </a:rPr>
              <a:t>Σ</a:t>
            </a:r>
            <a:r>
              <a:rPr sz="2625" spc="-292" baseline="1587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875" spc="-75" baseline="42222" dirty="0">
                <a:solidFill>
                  <a:srgbClr val="213739"/>
                </a:solidFill>
                <a:latin typeface="Calibri"/>
                <a:cs typeface="Calibri"/>
              </a:rPr>
              <a:t>4</a:t>
            </a:r>
            <a:endParaRPr sz="1875" baseline="42222">
              <a:latin typeface="Calibri"/>
              <a:cs typeface="Calibri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035802" y="1382395"/>
            <a:ext cx="285115" cy="2197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50" i="1" dirty="0">
                <a:solidFill>
                  <a:srgbClr val="213739"/>
                </a:solidFill>
                <a:latin typeface="Calibri"/>
                <a:cs typeface="Calibri"/>
              </a:rPr>
              <a:t>i</a:t>
            </a:r>
            <a:r>
              <a:rPr sz="1250" i="1" spc="-13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250" spc="55" dirty="0">
                <a:solidFill>
                  <a:srgbClr val="213739"/>
                </a:solidFill>
                <a:latin typeface="Calibri"/>
                <a:cs typeface="Calibri"/>
              </a:rPr>
              <a:t>=1 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6333997" y="1248283"/>
            <a:ext cx="108712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8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i="1" spc="127" baseline="-8888" dirty="0">
                <a:solidFill>
                  <a:srgbClr val="213739"/>
                </a:solidFill>
                <a:latin typeface="Calibri"/>
                <a:cs typeface="Calibri"/>
              </a:rPr>
              <a:t>i</a:t>
            </a:r>
            <a:r>
              <a:rPr sz="1750" i="1" spc="85" dirty="0">
                <a:solidFill>
                  <a:srgbClr val="213739"/>
                </a:solidFill>
                <a:latin typeface="Calibri"/>
                <a:cs typeface="Calibri"/>
              </a:rPr>
              <a:t>h</a:t>
            </a:r>
            <a:r>
              <a:rPr sz="1875" i="1" spc="127" baseline="-8888" dirty="0">
                <a:solidFill>
                  <a:srgbClr val="213739"/>
                </a:solidFill>
                <a:latin typeface="Calibri"/>
                <a:cs typeface="Calibri"/>
              </a:rPr>
              <a:t>i</a:t>
            </a:r>
            <a:r>
              <a:rPr sz="1875" i="1" spc="509" baseline="-8888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≥</a:t>
            </a:r>
            <a:r>
              <a:rPr sz="1750" spc="-10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)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4358004" y="2048382"/>
            <a:ext cx="4561205" cy="0"/>
          </a:xfrm>
          <a:custGeom>
            <a:avLst/>
            <a:gdLst/>
            <a:ahLst/>
            <a:cxnLst/>
            <a:rect l="l" t="t" r="r" b="b"/>
            <a:pathLst>
              <a:path w="4561205">
                <a:moveTo>
                  <a:pt x="0" y="0"/>
                </a:moveTo>
                <a:lnTo>
                  <a:pt x="4560824" y="0"/>
                </a:lnTo>
              </a:path>
            </a:pathLst>
          </a:custGeom>
          <a:ln w="5053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8" name="object 58"/>
          <p:cNvGraphicFramePr>
            <a:graphicFrameLocks noGrp="1"/>
          </p:cNvGraphicFramePr>
          <p:nvPr/>
        </p:nvGraphicFramePr>
        <p:xfrm>
          <a:off x="4393755" y="1837275"/>
          <a:ext cx="4435472" cy="10071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5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5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23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18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70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57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7909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283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7404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990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i="1" spc="-25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x</a:t>
                      </a:r>
                      <a:r>
                        <a:rPr sz="1650" spc="-37" baseline="-10101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650" baseline="-10101">
                        <a:latin typeface="Calibri"/>
                        <a:cs typeface="Calibri"/>
                      </a:endParaRPr>
                    </a:p>
                    <a:p>
                      <a:pPr marL="13398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6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R="571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i="1" spc="-25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x</a:t>
                      </a:r>
                      <a:r>
                        <a:rPr sz="1650" spc="-37" baseline="-10101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650" baseline="-10101">
                        <a:latin typeface="Calibri"/>
                        <a:cs typeface="Calibri"/>
                      </a:endParaRPr>
                    </a:p>
                    <a:p>
                      <a:pPr marL="317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6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40"/>
                        </a:spcBef>
                      </a:pPr>
                      <a:r>
                        <a:rPr sz="1600" i="1" spc="85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XOR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2476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6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9558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2413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i="1" spc="-25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h</a:t>
                      </a:r>
                      <a:r>
                        <a:rPr sz="1650" spc="-37" baseline="-10101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650" baseline="-10101">
                        <a:latin typeface="Calibri"/>
                        <a:cs typeface="Calibri"/>
                      </a:endParaRPr>
                    </a:p>
                    <a:p>
                      <a:pPr marL="3429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6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i="1" spc="-25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h</a:t>
                      </a:r>
                      <a:r>
                        <a:rPr sz="1650" spc="-37" baseline="-10101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650" baseline="-10101">
                        <a:latin typeface="Calibri"/>
                        <a:cs typeface="Calibri"/>
                      </a:endParaRPr>
                    </a:p>
                    <a:p>
                      <a:pPr marL="952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6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i="1" spc="-25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h</a:t>
                      </a:r>
                      <a:r>
                        <a:rPr sz="1650" spc="-37" baseline="-10101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650" baseline="-10101">
                        <a:latin typeface="Calibri"/>
                        <a:cs typeface="Calibri"/>
                      </a:endParaRPr>
                    </a:p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6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3208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i="1" spc="-25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h</a:t>
                      </a:r>
                      <a:r>
                        <a:rPr sz="1650" spc="-37" baseline="-10101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650" baseline="-10101">
                        <a:latin typeface="Calibri"/>
                        <a:cs typeface="Calibri"/>
                      </a:endParaRPr>
                    </a:p>
                    <a:p>
                      <a:pPr marL="17145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6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 marL="109855" algn="ctr">
                        <a:lnSpc>
                          <a:spcPts val="1305"/>
                        </a:lnSpc>
                        <a:spcBef>
                          <a:spcPts val="675"/>
                        </a:spcBef>
                      </a:pPr>
                      <a:r>
                        <a:rPr sz="2400" spc="-15" baseline="34722" dirty="0">
                          <a:solidFill>
                            <a:srgbClr val="213739"/>
                          </a:solidFill>
                          <a:latin typeface="Lucida Sans Unicode"/>
                          <a:cs typeface="Lucida Sans Unicode"/>
                        </a:rPr>
                        <a:t>Σ</a:t>
                      </a:r>
                      <a:r>
                        <a:rPr sz="2400" spc="-419" baseline="34722" dirty="0">
                          <a:solidFill>
                            <a:srgbClr val="213739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650" baseline="35353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4</a:t>
                      </a:r>
                      <a:r>
                        <a:rPr sz="1650" spc="225" baseline="35353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  </a:t>
                      </a:r>
                      <a:r>
                        <a:rPr sz="1600" i="1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w</a:t>
                      </a:r>
                      <a:r>
                        <a:rPr sz="1600" i="1" spc="20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i="1" spc="-50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h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784225">
                        <a:lnSpc>
                          <a:spcPts val="520"/>
                        </a:lnSpc>
                      </a:pPr>
                      <a:r>
                        <a:rPr sz="1100" i="1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sz="1100" i="1" spc="225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  </a:t>
                      </a:r>
                      <a:r>
                        <a:rPr sz="1100" i="1" spc="-50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i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66040">
                        <a:lnSpc>
                          <a:spcPts val="735"/>
                        </a:lnSpc>
                        <a:tabLst>
                          <a:tab pos="784225" algn="l"/>
                        </a:tabLst>
                      </a:pPr>
                      <a:r>
                        <a:rPr sz="1100" i="1" u="sng" dirty="0">
                          <a:solidFill>
                            <a:srgbClr val="213739"/>
                          </a:solidFill>
                          <a:uFill>
                            <a:solidFill>
                              <a:srgbClr val="213739"/>
                            </a:solidFill>
                          </a:uFill>
                          <a:latin typeface="Calibri"/>
                          <a:cs typeface="Calibri"/>
                        </a:rPr>
                        <a:t>i</a:t>
                      </a:r>
                      <a:r>
                        <a:rPr sz="1100" i="1" u="sng" spc="-130" dirty="0">
                          <a:solidFill>
                            <a:srgbClr val="213739"/>
                          </a:solidFill>
                          <a:uFill>
                            <a:solidFill>
                              <a:srgbClr val="213739"/>
                            </a:solidFill>
                          </a:u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u="sng" spc="-10" dirty="0">
                          <a:solidFill>
                            <a:srgbClr val="213739"/>
                          </a:solidFill>
                          <a:uFill>
                            <a:solidFill>
                              <a:srgbClr val="213739"/>
                            </a:solidFill>
                          </a:uFill>
                          <a:latin typeface="Calibri"/>
                          <a:cs typeface="Calibri"/>
                        </a:rPr>
                        <a:t>=</a:t>
                      </a:r>
                      <a:r>
                        <a:rPr sz="1100" u="sng" spc="-125" dirty="0">
                          <a:solidFill>
                            <a:srgbClr val="213739"/>
                          </a:solidFill>
                          <a:uFill>
                            <a:solidFill>
                              <a:srgbClr val="213739"/>
                            </a:solidFill>
                          </a:u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u="sng" spc="-50" dirty="0">
                          <a:solidFill>
                            <a:srgbClr val="213739"/>
                          </a:solidFill>
                          <a:uFill>
                            <a:solidFill>
                              <a:srgbClr val="213739"/>
                            </a:solidFill>
                          </a:uFill>
                          <a:latin typeface="Calibri"/>
                          <a:cs typeface="Calibri"/>
                        </a:rPr>
                        <a:t>1</a:t>
                      </a:r>
                      <a:r>
                        <a:rPr sz="1100" u="sng" dirty="0">
                          <a:solidFill>
                            <a:srgbClr val="213739"/>
                          </a:solidFill>
                          <a:uFill>
                            <a:solidFill>
                              <a:srgbClr val="213739"/>
                            </a:solidFill>
                          </a:uFill>
                          <a:latin typeface="Calibri"/>
                          <a:cs typeface="Calibri"/>
                        </a:rPr>
                        <a:t>	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158750" algn="ctr">
                        <a:lnSpc>
                          <a:spcPts val="1520"/>
                        </a:lnSpc>
                      </a:pPr>
                      <a:r>
                        <a:rPr sz="1600" i="1" spc="-25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w</a:t>
                      </a:r>
                      <a:r>
                        <a:rPr sz="1650" spc="-37" baseline="-10101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650" baseline="-10101">
                        <a:latin typeface="Calibri"/>
                        <a:cs typeface="Calibri"/>
                      </a:endParaRPr>
                    </a:p>
                  </a:txBody>
                  <a:tcPr marL="0" marR="0" marT="85725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24765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160655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00" i="1" spc="-25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w</a:t>
                      </a:r>
                      <a:r>
                        <a:rPr sz="1650" spc="-37" baseline="-10101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650" baseline="-10101">
                        <a:latin typeface="Calibri"/>
                        <a:cs typeface="Calibri"/>
                      </a:endParaRPr>
                    </a:p>
                  </a:txBody>
                  <a:tcPr marL="0" marR="0" marT="317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9" name="object 59"/>
          <p:cNvSpPr txBox="1"/>
          <p:nvPr/>
        </p:nvSpPr>
        <p:spPr>
          <a:xfrm>
            <a:off x="4514850" y="2860675"/>
            <a:ext cx="3870325" cy="2673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457200" algn="l"/>
                <a:tab pos="1049020" algn="l"/>
                <a:tab pos="1638935" algn="l"/>
                <a:tab pos="2085339" algn="l"/>
                <a:tab pos="2531745" algn="l"/>
                <a:tab pos="2978785" algn="l"/>
                <a:tab pos="3712845" algn="l"/>
              </a:tabLst>
            </a:pPr>
            <a:r>
              <a:rPr sz="1550" spc="-50" dirty="0">
                <a:solidFill>
                  <a:srgbClr val="213739"/>
                </a:solidFill>
                <a:latin typeface="Arial MT"/>
                <a:cs typeface="Arial MT"/>
              </a:rPr>
              <a:t>1</a:t>
            </a:r>
            <a:r>
              <a:rPr sz="1550" dirty="0">
                <a:solidFill>
                  <a:srgbClr val="213739"/>
                </a:solidFill>
                <a:latin typeface="Arial MT"/>
                <a:cs typeface="Arial MT"/>
              </a:rPr>
              <a:t>	</a:t>
            </a:r>
            <a:r>
              <a:rPr sz="1550" spc="-50" dirty="0">
                <a:solidFill>
                  <a:srgbClr val="213739"/>
                </a:solidFill>
                <a:latin typeface="Arial MT"/>
                <a:cs typeface="Arial MT"/>
              </a:rPr>
              <a:t>0</a:t>
            </a:r>
            <a:r>
              <a:rPr sz="1550" dirty="0">
                <a:solidFill>
                  <a:srgbClr val="213739"/>
                </a:solidFill>
                <a:latin typeface="Arial MT"/>
                <a:cs typeface="Arial MT"/>
              </a:rPr>
              <a:t>	</a:t>
            </a:r>
            <a:r>
              <a:rPr sz="1550" spc="-50" dirty="0">
                <a:solidFill>
                  <a:srgbClr val="213739"/>
                </a:solidFill>
                <a:latin typeface="Arial MT"/>
                <a:cs typeface="Arial MT"/>
              </a:rPr>
              <a:t>1</a:t>
            </a:r>
            <a:r>
              <a:rPr sz="1550" dirty="0">
                <a:solidFill>
                  <a:srgbClr val="213739"/>
                </a:solidFill>
                <a:latin typeface="Arial MT"/>
                <a:cs typeface="Arial MT"/>
              </a:rPr>
              <a:t>	</a:t>
            </a:r>
            <a:r>
              <a:rPr sz="1550" spc="-50" dirty="0">
                <a:solidFill>
                  <a:srgbClr val="213739"/>
                </a:solidFill>
                <a:latin typeface="Arial MT"/>
                <a:cs typeface="Arial MT"/>
              </a:rPr>
              <a:t>0</a:t>
            </a:r>
            <a:r>
              <a:rPr sz="1550" dirty="0">
                <a:solidFill>
                  <a:srgbClr val="213739"/>
                </a:solidFill>
                <a:latin typeface="Arial MT"/>
                <a:cs typeface="Arial MT"/>
              </a:rPr>
              <a:t>	</a:t>
            </a:r>
            <a:r>
              <a:rPr sz="1550" spc="-50" dirty="0">
                <a:solidFill>
                  <a:srgbClr val="213739"/>
                </a:solidFill>
                <a:latin typeface="Arial MT"/>
                <a:cs typeface="Arial MT"/>
              </a:rPr>
              <a:t>0</a:t>
            </a:r>
            <a:r>
              <a:rPr sz="1550" dirty="0">
                <a:solidFill>
                  <a:srgbClr val="213739"/>
                </a:solidFill>
                <a:latin typeface="Arial MT"/>
                <a:cs typeface="Arial MT"/>
              </a:rPr>
              <a:t>	</a:t>
            </a:r>
            <a:r>
              <a:rPr sz="1550" spc="-50" dirty="0">
                <a:solidFill>
                  <a:srgbClr val="213739"/>
                </a:solidFill>
                <a:latin typeface="Arial MT"/>
                <a:cs typeface="Arial MT"/>
              </a:rPr>
              <a:t>1</a:t>
            </a:r>
            <a:r>
              <a:rPr sz="1550" dirty="0">
                <a:solidFill>
                  <a:srgbClr val="213739"/>
                </a:solidFill>
                <a:latin typeface="Arial MT"/>
                <a:cs typeface="Arial MT"/>
              </a:rPr>
              <a:t>	</a:t>
            </a:r>
            <a:r>
              <a:rPr sz="1550" spc="-50" dirty="0">
                <a:solidFill>
                  <a:srgbClr val="213739"/>
                </a:solidFill>
                <a:latin typeface="Arial MT"/>
                <a:cs typeface="Arial MT"/>
              </a:rPr>
              <a:t>0</a:t>
            </a:r>
            <a:r>
              <a:rPr sz="1550" dirty="0">
                <a:solidFill>
                  <a:srgbClr val="213739"/>
                </a:solidFill>
                <a:latin typeface="Arial MT"/>
                <a:cs typeface="Arial MT"/>
              </a:rPr>
              <a:t>	</a:t>
            </a:r>
            <a:r>
              <a:rPr sz="1550" i="1" spc="-5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8359520" y="2952369"/>
            <a:ext cx="97790" cy="1955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spc="-50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4320540" y="3137661"/>
            <a:ext cx="4636135" cy="6661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  <a:tabLst>
                <a:tab pos="652780" algn="l"/>
                <a:tab pos="1242695" algn="l"/>
                <a:tab pos="1833880" algn="l"/>
                <a:tab pos="2279015" algn="l"/>
                <a:tab pos="2726055" algn="l"/>
                <a:tab pos="3173730" algn="l"/>
                <a:tab pos="3907154" algn="l"/>
                <a:tab pos="4597400" algn="l"/>
              </a:tabLst>
            </a:pPr>
            <a:r>
              <a:rPr sz="1550" u="sng" spc="225" dirty="0">
                <a:solidFill>
                  <a:srgbClr val="213739"/>
                </a:solidFill>
                <a:uFill>
                  <a:solidFill>
                    <a:srgbClr val="213739"/>
                  </a:solidFill>
                </a:uFill>
                <a:latin typeface="Arial MT"/>
                <a:cs typeface="Arial MT"/>
              </a:rPr>
              <a:t>  </a:t>
            </a:r>
            <a:r>
              <a:rPr sz="1550" u="sng" spc="-60" dirty="0">
                <a:solidFill>
                  <a:srgbClr val="213739"/>
                </a:solidFill>
                <a:uFill>
                  <a:solidFill>
                    <a:srgbClr val="213739"/>
                  </a:solidFill>
                </a:uFill>
                <a:latin typeface="Arial MT"/>
                <a:cs typeface="Arial MT"/>
              </a:rPr>
              <a:t>1</a:t>
            </a:r>
            <a:r>
              <a:rPr sz="1550" u="sng" dirty="0">
                <a:solidFill>
                  <a:srgbClr val="213739"/>
                </a:solidFill>
                <a:uFill>
                  <a:solidFill>
                    <a:srgbClr val="213739"/>
                  </a:solidFill>
                </a:uFill>
                <a:latin typeface="Arial MT"/>
                <a:cs typeface="Arial MT"/>
              </a:rPr>
              <a:t>	</a:t>
            </a:r>
            <a:r>
              <a:rPr sz="1550" u="sng" spc="-50" dirty="0">
                <a:solidFill>
                  <a:srgbClr val="213739"/>
                </a:solidFill>
                <a:uFill>
                  <a:solidFill>
                    <a:srgbClr val="213739"/>
                  </a:solidFill>
                </a:uFill>
                <a:latin typeface="Arial MT"/>
                <a:cs typeface="Arial MT"/>
              </a:rPr>
              <a:t>1</a:t>
            </a:r>
            <a:r>
              <a:rPr sz="1550" u="sng" dirty="0">
                <a:solidFill>
                  <a:srgbClr val="213739"/>
                </a:solidFill>
                <a:uFill>
                  <a:solidFill>
                    <a:srgbClr val="213739"/>
                  </a:solidFill>
                </a:uFill>
                <a:latin typeface="Arial MT"/>
                <a:cs typeface="Arial MT"/>
              </a:rPr>
              <a:t>	</a:t>
            </a:r>
            <a:r>
              <a:rPr sz="1550" u="sng" spc="-50" dirty="0">
                <a:solidFill>
                  <a:srgbClr val="213739"/>
                </a:solidFill>
                <a:uFill>
                  <a:solidFill>
                    <a:srgbClr val="213739"/>
                  </a:solidFill>
                </a:uFill>
                <a:latin typeface="Arial MT"/>
                <a:cs typeface="Arial MT"/>
              </a:rPr>
              <a:t>0</a:t>
            </a:r>
            <a:r>
              <a:rPr sz="1550" u="sng" dirty="0">
                <a:solidFill>
                  <a:srgbClr val="213739"/>
                </a:solidFill>
                <a:uFill>
                  <a:solidFill>
                    <a:srgbClr val="213739"/>
                  </a:solidFill>
                </a:uFill>
                <a:latin typeface="Arial MT"/>
                <a:cs typeface="Arial MT"/>
              </a:rPr>
              <a:t>	</a:t>
            </a:r>
            <a:r>
              <a:rPr sz="1550" u="sng" spc="-50" dirty="0">
                <a:solidFill>
                  <a:srgbClr val="213739"/>
                </a:solidFill>
                <a:uFill>
                  <a:solidFill>
                    <a:srgbClr val="213739"/>
                  </a:solidFill>
                </a:uFill>
                <a:latin typeface="Arial MT"/>
                <a:cs typeface="Arial MT"/>
              </a:rPr>
              <a:t>0</a:t>
            </a:r>
            <a:r>
              <a:rPr sz="1550" u="sng" dirty="0">
                <a:solidFill>
                  <a:srgbClr val="213739"/>
                </a:solidFill>
                <a:uFill>
                  <a:solidFill>
                    <a:srgbClr val="213739"/>
                  </a:solidFill>
                </a:uFill>
                <a:latin typeface="Arial MT"/>
                <a:cs typeface="Arial MT"/>
              </a:rPr>
              <a:t>	</a:t>
            </a:r>
            <a:r>
              <a:rPr sz="1550" u="sng" spc="-50" dirty="0">
                <a:solidFill>
                  <a:srgbClr val="213739"/>
                </a:solidFill>
                <a:uFill>
                  <a:solidFill>
                    <a:srgbClr val="213739"/>
                  </a:solidFill>
                </a:uFill>
                <a:latin typeface="Arial MT"/>
                <a:cs typeface="Arial MT"/>
              </a:rPr>
              <a:t>0</a:t>
            </a:r>
            <a:r>
              <a:rPr sz="1550" u="sng" dirty="0">
                <a:solidFill>
                  <a:srgbClr val="213739"/>
                </a:solidFill>
                <a:uFill>
                  <a:solidFill>
                    <a:srgbClr val="213739"/>
                  </a:solidFill>
                </a:uFill>
                <a:latin typeface="Arial MT"/>
                <a:cs typeface="Arial MT"/>
              </a:rPr>
              <a:t>	</a:t>
            </a:r>
            <a:r>
              <a:rPr sz="1550" u="sng" spc="-50" dirty="0">
                <a:solidFill>
                  <a:srgbClr val="213739"/>
                </a:solidFill>
                <a:uFill>
                  <a:solidFill>
                    <a:srgbClr val="213739"/>
                  </a:solidFill>
                </a:uFill>
                <a:latin typeface="Arial MT"/>
                <a:cs typeface="Arial MT"/>
              </a:rPr>
              <a:t>0</a:t>
            </a:r>
            <a:r>
              <a:rPr sz="1550" u="sng" dirty="0">
                <a:solidFill>
                  <a:srgbClr val="213739"/>
                </a:solidFill>
                <a:uFill>
                  <a:solidFill>
                    <a:srgbClr val="213739"/>
                  </a:solidFill>
                </a:uFill>
                <a:latin typeface="Arial MT"/>
                <a:cs typeface="Arial MT"/>
              </a:rPr>
              <a:t>	</a:t>
            </a:r>
            <a:r>
              <a:rPr sz="1550" u="sng" spc="-50" dirty="0">
                <a:solidFill>
                  <a:srgbClr val="213739"/>
                </a:solidFill>
                <a:uFill>
                  <a:solidFill>
                    <a:srgbClr val="213739"/>
                  </a:solidFill>
                </a:uFill>
                <a:latin typeface="Arial MT"/>
                <a:cs typeface="Arial MT"/>
              </a:rPr>
              <a:t>1</a:t>
            </a:r>
            <a:r>
              <a:rPr sz="1550" u="sng" dirty="0">
                <a:solidFill>
                  <a:srgbClr val="213739"/>
                </a:solidFill>
                <a:uFill>
                  <a:solidFill>
                    <a:srgbClr val="213739"/>
                  </a:solidFill>
                </a:uFill>
                <a:latin typeface="Arial MT"/>
                <a:cs typeface="Arial MT"/>
              </a:rPr>
              <a:t>	</a:t>
            </a:r>
            <a:r>
              <a:rPr sz="1550" i="1" u="sng" spc="-25" dirty="0">
                <a:solidFill>
                  <a:srgbClr val="213739"/>
                </a:solidFill>
                <a:uFill>
                  <a:solidFill>
                    <a:srgbClr val="213739"/>
                  </a:solidFill>
                </a:uFill>
                <a:latin typeface="Calibri"/>
                <a:cs typeface="Calibri"/>
              </a:rPr>
              <a:t>w</a:t>
            </a:r>
            <a:r>
              <a:rPr sz="1650" u="sng" spc="-37" baseline="-10101" dirty="0">
                <a:solidFill>
                  <a:srgbClr val="213739"/>
                </a:solidFill>
                <a:uFill>
                  <a:solidFill>
                    <a:srgbClr val="213739"/>
                  </a:solidFill>
                </a:uFill>
                <a:latin typeface="Calibri"/>
                <a:cs typeface="Calibri"/>
              </a:rPr>
              <a:t>4</a:t>
            </a:r>
            <a:r>
              <a:rPr sz="1650" u="sng" baseline="-10101" dirty="0">
                <a:solidFill>
                  <a:srgbClr val="213739"/>
                </a:solidFill>
                <a:uFill>
                  <a:solidFill>
                    <a:srgbClr val="213739"/>
                  </a:solidFill>
                </a:uFill>
                <a:latin typeface="Calibri"/>
                <a:cs typeface="Calibri"/>
              </a:rPr>
              <a:t>	</a:t>
            </a:r>
            <a:endParaRPr sz="1650" baseline="-10101">
              <a:latin typeface="Calibri"/>
              <a:cs typeface="Calibri"/>
            </a:endParaRPr>
          </a:p>
          <a:p>
            <a:pPr marL="474345">
              <a:lnSpc>
                <a:spcPct val="100000"/>
              </a:lnSpc>
              <a:spcBef>
                <a:spcPts val="1285"/>
              </a:spcBef>
            </a:pPr>
            <a:r>
              <a:rPr sz="1550" spc="-20" dirty="0">
                <a:solidFill>
                  <a:srgbClr val="213739"/>
                </a:solidFill>
                <a:latin typeface="Arial MT"/>
                <a:cs typeface="Arial MT"/>
              </a:rPr>
              <a:t>This</a:t>
            </a:r>
            <a:r>
              <a:rPr sz="1550" spc="-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spc="-10" dirty="0">
                <a:solidFill>
                  <a:srgbClr val="213739"/>
                </a:solidFill>
                <a:latin typeface="Arial MT"/>
                <a:cs typeface="Arial MT"/>
              </a:rPr>
              <a:t>results</a:t>
            </a:r>
            <a:r>
              <a:rPr sz="15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213739"/>
                </a:solidFill>
                <a:latin typeface="Arial MT"/>
                <a:cs typeface="Arial MT"/>
              </a:rPr>
              <a:t>in</a:t>
            </a:r>
            <a:r>
              <a:rPr sz="1550" spc="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550" spc="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213739"/>
                </a:solidFill>
                <a:latin typeface="Arial MT"/>
                <a:cs typeface="Arial MT"/>
              </a:rPr>
              <a:t>following</a:t>
            </a:r>
            <a:r>
              <a:rPr sz="1550" spc="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213739"/>
                </a:solidFill>
                <a:latin typeface="Arial MT"/>
                <a:cs typeface="Arial MT"/>
              </a:rPr>
              <a:t>four</a:t>
            </a:r>
            <a:r>
              <a:rPr sz="1550" spc="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spc="-10" dirty="0">
                <a:solidFill>
                  <a:srgbClr val="213739"/>
                </a:solidFill>
                <a:latin typeface="Arial MT"/>
                <a:cs typeface="Arial MT"/>
              </a:rPr>
              <a:t>conditions</a:t>
            </a:r>
            <a:r>
              <a:rPr sz="1550" spc="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spc="-25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6582664" y="3801617"/>
            <a:ext cx="2216150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35"/>
              </a:spcBef>
              <a:tabLst>
                <a:tab pos="363220" algn="l"/>
                <a:tab pos="1040130" algn="l"/>
                <a:tab pos="2017395" algn="l"/>
              </a:tabLst>
            </a:pPr>
            <a:r>
              <a:rPr sz="1550" i="1" spc="-50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550" i="1" dirty="0">
                <a:solidFill>
                  <a:srgbClr val="213739"/>
                </a:solidFill>
                <a:latin typeface="Calibri"/>
                <a:cs typeface="Calibri"/>
              </a:rPr>
              <a:t>	w</a:t>
            </a:r>
            <a:r>
              <a:rPr sz="1650" baseline="-10101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550" i="1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550" i="1" spc="-6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55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650" baseline="-1010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550" dirty="0">
                <a:solidFill>
                  <a:srgbClr val="213739"/>
                </a:solidFill>
                <a:latin typeface="Lucida Sans Unicode"/>
                <a:cs typeface="Lucida Sans Unicode"/>
              </a:rPr>
              <a:t>≥</a:t>
            </a:r>
            <a:r>
              <a:rPr sz="1550" spc="75" dirty="0">
                <a:solidFill>
                  <a:srgbClr val="213739"/>
                </a:solidFill>
                <a:latin typeface="Lucida Sans Unicode"/>
                <a:cs typeface="Lucida Sans Unicode"/>
              </a:rPr>
              <a:t>  </a:t>
            </a:r>
            <a:r>
              <a:rPr sz="15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baseline="-10101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550" i="1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550" i="1" spc="-6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55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r>
              <a:rPr sz="1650" baseline="-1010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550" spc="-50" dirty="0">
                <a:solidFill>
                  <a:srgbClr val="213739"/>
                </a:solidFill>
                <a:latin typeface="Lucida Sans Unicode"/>
                <a:cs typeface="Lucida Sans Unicode"/>
              </a:rPr>
              <a:t>≥</a:t>
            </a:r>
            <a:endParaRPr sz="1550">
              <a:latin typeface="Lucida Sans Unicode"/>
              <a:cs typeface="Lucida Sans Unicode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4757039" y="3755364"/>
            <a:ext cx="4047490" cy="12547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0640" marR="2306955" indent="635">
              <a:lnSpc>
                <a:spcPct val="121800"/>
              </a:lnSpc>
              <a:spcBef>
                <a:spcPts val="90"/>
              </a:spcBef>
            </a:pPr>
            <a:r>
              <a:rPr sz="1550" spc="-10" dirty="0">
                <a:solidFill>
                  <a:srgbClr val="213739"/>
                </a:solidFill>
                <a:latin typeface="Arial MT"/>
                <a:cs typeface="Arial MT"/>
              </a:rPr>
              <a:t>implement</a:t>
            </a:r>
            <a:r>
              <a:rPr sz="1550" spc="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spc="-35" dirty="0">
                <a:solidFill>
                  <a:srgbClr val="213739"/>
                </a:solidFill>
                <a:latin typeface="Arial MT"/>
                <a:cs typeface="Arial MT"/>
              </a:rPr>
              <a:t>XOR:</a:t>
            </a:r>
            <a:r>
              <a:rPr sz="15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i="1" spc="-3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spc="-52" baseline="-10101" dirty="0">
                <a:solidFill>
                  <a:srgbClr val="213739"/>
                </a:solidFill>
                <a:latin typeface="Calibri"/>
                <a:cs typeface="Calibri"/>
              </a:rPr>
              <a:t>1 </a:t>
            </a:r>
            <a:r>
              <a:rPr sz="15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baseline="-10101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550" i="1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550" i="1" spc="-3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5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baseline="-10101" dirty="0">
                <a:solidFill>
                  <a:srgbClr val="213739"/>
                </a:solidFill>
                <a:latin typeface="Calibri"/>
                <a:cs typeface="Calibri"/>
              </a:rPr>
              <a:t>4</a:t>
            </a:r>
            <a:r>
              <a:rPr sz="1650" spc="592" baseline="-10101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550" i="1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550" i="1" spc="12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55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endParaRPr sz="1650" baseline="-10101">
              <a:latin typeface="Calibri"/>
              <a:cs typeface="Calibri"/>
            </a:endParaRPr>
          </a:p>
          <a:p>
            <a:pPr marL="40640" marR="30480" indent="-3175">
              <a:lnSpc>
                <a:spcPct val="118100"/>
              </a:lnSpc>
              <a:spcBef>
                <a:spcPts val="755"/>
              </a:spcBef>
            </a:pPr>
            <a:r>
              <a:rPr sz="1550" spc="-10" dirty="0">
                <a:solidFill>
                  <a:srgbClr val="213739"/>
                </a:solidFill>
                <a:latin typeface="Arial MT"/>
                <a:cs typeface="Arial MT"/>
              </a:rPr>
              <a:t>Unlike</a:t>
            </a:r>
            <a:r>
              <a:rPr sz="1550" spc="-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spc="-10" dirty="0">
                <a:solidFill>
                  <a:srgbClr val="213739"/>
                </a:solidFill>
                <a:latin typeface="Arial MT"/>
                <a:cs typeface="Arial MT"/>
              </a:rPr>
              <a:t>before,</a:t>
            </a:r>
            <a:r>
              <a:rPr sz="1550" spc="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213739"/>
                </a:solidFill>
                <a:latin typeface="Arial MT"/>
                <a:cs typeface="Arial MT"/>
              </a:rPr>
              <a:t>there</a:t>
            </a:r>
            <a:r>
              <a:rPr sz="1550" spc="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213739"/>
                </a:solidFill>
                <a:latin typeface="Arial MT"/>
                <a:cs typeface="Arial MT"/>
              </a:rPr>
              <a:t>are</a:t>
            </a:r>
            <a:r>
              <a:rPr sz="1550" spc="-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213739"/>
                </a:solidFill>
                <a:latin typeface="Arial MT"/>
                <a:cs typeface="Arial MT"/>
              </a:rPr>
              <a:t>no</a:t>
            </a:r>
            <a:r>
              <a:rPr sz="1550" spc="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spc="-25" dirty="0">
                <a:solidFill>
                  <a:srgbClr val="213739"/>
                </a:solidFill>
                <a:latin typeface="Arial MT"/>
                <a:cs typeface="Arial MT"/>
              </a:rPr>
              <a:t>contradictions</a:t>
            </a:r>
            <a:r>
              <a:rPr sz="1550" spc="-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spc="-25" dirty="0">
                <a:solidFill>
                  <a:srgbClr val="213739"/>
                </a:solidFill>
                <a:latin typeface="Arial MT"/>
                <a:cs typeface="Arial MT"/>
              </a:rPr>
              <a:t>now </a:t>
            </a:r>
            <a:r>
              <a:rPr sz="1550" spc="-50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550" spc="-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550" spc="-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spc="-80" dirty="0">
                <a:solidFill>
                  <a:srgbClr val="213739"/>
                </a:solidFill>
                <a:latin typeface="Arial MT"/>
                <a:cs typeface="Arial MT"/>
              </a:rPr>
              <a:t>system</a:t>
            </a:r>
            <a:r>
              <a:rPr sz="1550" spc="-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5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spc="-65" dirty="0">
                <a:solidFill>
                  <a:srgbClr val="213739"/>
                </a:solidFill>
                <a:latin typeface="Arial MT"/>
                <a:cs typeface="Arial MT"/>
              </a:rPr>
              <a:t>inequalities</a:t>
            </a:r>
            <a:r>
              <a:rPr sz="1550" spc="-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spc="-60" dirty="0">
                <a:solidFill>
                  <a:srgbClr val="213739"/>
                </a:solidFill>
                <a:latin typeface="Arial MT"/>
                <a:cs typeface="Arial MT"/>
              </a:rPr>
              <a:t>can</a:t>
            </a:r>
            <a:r>
              <a:rPr sz="15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spc="-55" dirty="0">
                <a:solidFill>
                  <a:srgbClr val="213739"/>
                </a:solidFill>
                <a:latin typeface="Arial MT"/>
                <a:cs typeface="Arial MT"/>
              </a:rPr>
              <a:t>be</a:t>
            </a:r>
            <a:r>
              <a:rPr sz="15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spc="-10" dirty="0">
                <a:solidFill>
                  <a:srgbClr val="213739"/>
                </a:solidFill>
                <a:latin typeface="Arial MT"/>
                <a:cs typeface="Arial MT"/>
              </a:rPr>
              <a:t>satisfied</a:t>
            </a:r>
            <a:endParaRPr sz="155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32279" y="2132355"/>
            <a:ext cx="221589" cy="22158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720339" y="4110608"/>
            <a:ext cx="244475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500" i="1" spc="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650" spc="37" baseline="-10101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650" baseline="-10101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16407" y="2985642"/>
            <a:ext cx="3630295" cy="570865"/>
            <a:chOff x="516407" y="2985642"/>
            <a:chExt cx="3630295" cy="570865"/>
          </a:xfrm>
        </p:grpSpPr>
        <p:sp>
          <p:nvSpPr>
            <p:cNvPr id="5" name="object 5"/>
            <p:cNvSpPr/>
            <p:nvPr/>
          </p:nvSpPr>
          <p:spPr>
            <a:xfrm>
              <a:off x="544677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256921" y="0"/>
                  </a:moveTo>
                  <a:lnTo>
                    <a:pt x="188620" y="9144"/>
                  </a:lnTo>
                  <a:lnTo>
                    <a:pt x="127241" y="35051"/>
                  </a:lnTo>
                  <a:lnTo>
                    <a:pt x="75247" y="75184"/>
                  </a:lnTo>
                  <a:lnTo>
                    <a:pt x="35077" y="127126"/>
                  </a:lnTo>
                  <a:lnTo>
                    <a:pt x="9182" y="188595"/>
                  </a:lnTo>
                  <a:lnTo>
                    <a:pt x="0" y="256794"/>
                  </a:lnTo>
                  <a:lnTo>
                    <a:pt x="9182" y="325120"/>
                  </a:lnTo>
                  <a:lnTo>
                    <a:pt x="35077" y="386588"/>
                  </a:lnTo>
                  <a:lnTo>
                    <a:pt x="75247" y="438531"/>
                  </a:lnTo>
                  <a:lnTo>
                    <a:pt x="127241" y="478663"/>
                  </a:lnTo>
                  <a:lnTo>
                    <a:pt x="188620" y="504571"/>
                  </a:lnTo>
                  <a:lnTo>
                    <a:pt x="256921" y="513714"/>
                  </a:lnTo>
                  <a:lnTo>
                    <a:pt x="325221" y="504571"/>
                  </a:lnTo>
                  <a:lnTo>
                    <a:pt x="386588" y="478663"/>
                  </a:lnTo>
                  <a:lnTo>
                    <a:pt x="438581" y="438531"/>
                  </a:lnTo>
                  <a:lnTo>
                    <a:pt x="478764" y="386588"/>
                  </a:lnTo>
                  <a:lnTo>
                    <a:pt x="504659" y="325120"/>
                  </a:lnTo>
                  <a:lnTo>
                    <a:pt x="513842" y="256794"/>
                  </a:lnTo>
                  <a:lnTo>
                    <a:pt x="504659" y="188595"/>
                  </a:lnTo>
                  <a:lnTo>
                    <a:pt x="478764" y="127126"/>
                  </a:lnTo>
                  <a:lnTo>
                    <a:pt x="438581" y="75184"/>
                  </a:lnTo>
                  <a:lnTo>
                    <a:pt x="386588" y="35051"/>
                  </a:lnTo>
                  <a:lnTo>
                    <a:pt x="325221" y="9144"/>
                  </a:lnTo>
                  <a:lnTo>
                    <a:pt x="256921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44677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513842" y="256794"/>
                  </a:moveTo>
                  <a:lnTo>
                    <a:pt x="504659" y="188595"/>
                  </a:lnTo>
                  <a:lnTo>
                    <a:pt x="478764" y="127126"/>
                  </a:lnTo>
                  <a:lnTo>
                    <a:pt x="438581" y="75184"/>
                  </a:lnTo>
                  <a:lnTo>
                    <a:pt x="386588" y="35051"/>
                  </a:lnTo>
                  <a:lnTo>
                    <a:pt x="325221" y="9144"/>
                  </a:lnTo>
                  <a:lnTo>
                    <a:pt x="256921" y="0"/>
                  </a:lnTo>
                  <a:lnTo>
                    <a:pt x="188620" y="9144"/>
                  </a:lnTo>
                  <a:lnTo>
                    <a:pt x="127241" y="35051"/>
                  </a:lnTo>
                  <a:lnTo>
                    <a:pt x="75247" y="75184"/>
                  </a:lnTo>
                  <a:lnTo>
                    <a:pt x="35077" y="127126"/>
                  </a:lnTo>
                  <a:lnTo>
                    <a:pt x="9182" y="188595"/>
                  </a:lnTo>
                  <a:lnTo>
                    <a:pt x="0" y="256794"/>
                  </a:lnTo>
                  <a:lnTo>
                    <a:pt x="9182" y="325120"/>
                  </a:lnTo>
                  <a:lnTo>
                    <a:pt x="35077" y="386588"/>
                  </a:lnTo>
                  <a:lnTo>
                    <a:pt x="75247" y="438531"/>
                  </a:lnTo>
                  <a:lnTo>
                    <a:pt x="127241" y="478663"/>
                  </a:lnTo>
                  <a:lnTo>
                    <a:pt x="188620" y="504571"/>
                  </a:lnTo>
                  <a:lnTo>
                    <a:pt x="256921" y="513714"/>
                  </a:lnTo>
                  <a:lnTo>
                    <a:pt x="325221" y="504571"/>
                  </a:lnTo>
                  <a:lnTo>
                    <a:pt x="386588" y="478663"/>
                  </a:lnTo>
                  <a:lnTo>
                    <a:pt x="438581" y="438531"/>
                  </a:lnTo>
                  <a:lnTo>
                    <a:pt x="478764" y="386588"/>
                  </a:lnTo>
                  <a:lnTo>
                    <a:pt x="504659" y="325120"/>
                  </a:lnTo>
                  <a:lnTo>
                    <a:pt x="513842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72387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256920" y="0"/>
                  </a:moveTo>
                  <a:lnTo>
                    <a:pt x="188594" y="9144"/>
                  </a:lnTo>
                  <a:lnTo>
                    <a:pt x="127254" y="35051"/>
                  </a:lnTo>
                  <a:lnTo>
                    <a:pt x="75183" y="75184"/>
                  </a:lnTo>
                  <a:lnTo>
                    <a:pt x="35051" y="127126"/>
                  </a:lnTo>
                  <a:lnTo>
                    <a:pt x="9143" y="188595"/>
                  </a:lnTo>
                  <a:lnTo>
                    <a:pt x="0" y="256794"/>
                  </a:lnTo>
                  <a:lnTo>
                    <a:pt x="9143" y="325120"/>
                  </a:lnTo>
                  <a:lnTo>
                    <a:pt x="35051" y="386588"/>
                  </a:lnTo>
                  <a:lnTo>
                    <a:pt x="75183" y="438531"/>
                  </a:lnTo>
                  <a:lnTo>
                    <a:pt x="127254" y="478663"/>
                  </a:lnTo>
                  <a:lnTo>
                    <a:pt x="188594" y="504571"/>
                  </a:lnTo>
                  <a:lnTo>
                    <a:pt x="256920" y="513714"/>
                  </a:lnTo>
                  <a:lnTo>
                    <a:pt x="325119" y="504571"/>
                  </a:lnTo>
                  <a:lnTo>
                    <a:pt x="386588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0" y="325120"/>
                  </a:lnTo>
                  <a:lnTo>
                    <a:pt x="513842" y="256794"/>
                  </a:lnTo>
                  <a:lnTo>
                    <a:pt x="504570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588" y="35051"/>
                  </a:lnTo>
                  <a:lnTo>
                    <a:pt x="325119" y="9144"/>
                  </a:lnTo>
                  <a:lnTo>
                    <a:pt x="256920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72387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513842" y="256794"/>
                  </a:moveTo>
                  <a:lnTo>
                    <a:pt x="504570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588" y="35051"/>
                  </a:lnTo>
                  <a:lnTo>
                    <a:pt x="325119" y="9144"/>
                  </a:lnTo>
                  <a:lnTo>
                    <a:pt x="256920" y="0"/>
                  </a:lnTo>
                  <a:lnTo>
                    <a:pt x="188594" y="9144"/>
                  </a:lnTo>
                  <a:lnTo>
                    <a:pt x="127254" y="35051"/>
                  </a:lnTo>
                  <a:lnTo>
                    <a:pt x="75183" y="75184"/>
                  </a:lnTo>
                  <a:lnTo>
                    <a:pt x="35051" y="127126"/>
                  </a:lnTo>
                  <a:lnTo>
                    <a:pt x="9143" y="188595"/>
                  </a:lnTo>
                  <a:lnTo>
                    <a:pt x="0" y="256794"/>
                  </a:lnTo>
                  <a:lnTo>
                    <a:pt x="9143" y="325120"/>
                  </a:lnTo>
                  <a:lnTo>
                    <a:pt x="35051" y="386588"/>
                  </a:lnTo>
                  <a:lnTo>
                    <a:pt x="75183" y="438531"/>
                  </a:lnTo>
                  <a:lnTo>
                    <a:pt x="127254" y="478663"/>
                  </a:lnTo>
                  <a:lnTo>
                    <a:pt x="188594" y="504571"/>
                  </a:lnTo>
                  <a:lnTo>
                    <a:pt x="256920" y="513714"/>
                  </a:lnTo>
                  <a:lnTo>
                    <a:pt x="325119" y="504571"/>
                  </a:lnTo>
                  <a:lnTo>
                    <a:pt x="386588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0" y="325120"/>
                  </a:lnTo>
                  <a:lnTo>
                    <a:pt x="513842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600070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256921" y="0"/>
                  </a:moveTo>
                  <a:lnTo>
                    <a:pt x="188595" y="9144"/>
                  </a:lnTo>
                  <a:lnTo>
                    <a:pt x="127254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3" y="188595"/>
                  </a:lnTo>
                  <a:lnTo>
                    <a:pt x="0" y="256794"/>
                  </a:lnTo>
                  <a:lnTo>
                    <a:pt x="9143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254" y="478663"/>
                  </a:lnTo>
                  <a:lnTo>
                    <a:pt x="188595" y="504571"/>
                  </a:lnTo>
                  <a:lnTo>
                    <a:pt x="256921" y="513714"/>
                  </a:lnTo>
                  <a:lnTo>
                    <a:pt x="325120" y="504571"/>
                  </a:lnTo>
                  <a:lnTo>
                    <a:pt x="386588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842" y="256794"/>
                  </a:ln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588" y="35051"/>
                  </a:lnTo>
                  <a:lnTo>
                    <a:pt x="325120" y="9144"/>
                  </a:lnTo>
                  <a:lnTo>
                    <a:pt x="256921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600070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513842" y="256794"/>
                  </a:move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588" y="35051"/>
                  </a:lnTo>
                  <a:lnTo>
                    <a:pt x="325120" y="9144"/>
                  </a:lnTo>
                  <a:lnTo>
                    <a:pt x="256921" y="0"/>
                  </a:lnTo>
                  <a:lnTo>
                    <a:pt x="188595" y="9144"/>
                  </a:lnTo>
                  <a:lnTo>
                    <a:pt x="127254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3" y="188595"/>
                  </a:lnTo>
                  <a:lnTo>
                    <a:pt x="0" y="256794"/>
                  </a:lnTo>
                  <a:lnTo>
                    <a:pt x="9143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254" y="478663"/>
                  </a:lnTo>
                  <a:lnTo>
                    <a:pt x="188595" y="504571"/>
                  </a:lnTo>
                  <a:lnTo>
                    <a:pt x="256921" y="513714"/>
                  </a:lnTo>
                  <a:lnTo>
                    <a:pt x="325120" y="504571"/>
                  </a:lnTo>
                  <a:lnTo>
                    <a:pt x="386588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842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627755" y="3013963"/>
              <a:ext cx="513715" cy="513715"/>
            </a:xfrm>
            <a:custGeom>
              <a:avLst/>
              <a:gdLst/>
              <a:ahLst/>
              <a:cxnLst/>
              <a:rect l="l" t="t" r="r" b="b"/>
              <a:pathLst>
                <a:path w="513714" h="513714">
                  <a:moveTo>
                    <a:pt x="256794" y="0"/>
                  </a:moveTo>
                  <a:lnTo>
                    <a:pt x="188595" y="9144"/>
                  </a:lnTo>
                  <a:lnTo>
                    <a:pt x="127127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4" y="188595"/>
                  </a:lnTo>
                  <a:lnTo>
                    <a:pt x="0" y="256794"/>
                  </a:lnTo>
                  <a:lnTo>
                    <a:pt x="9144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127" y="478663"/>
                  </a:lnTo>
                  <a:lnTo>
                    <a:pt x="188595" y="504571"/>
                  </a:lnTo>
                  <a:lnTo>
                    <a:pt x="256794" y="513714"/>
                  </a:lnTo>
                  <a:lnTo>
                    <a:pt x="325120" y="504571"/>
                  </a:lnTo>
                  <a:lnTo>
                    <a:pt x="386461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715" y="256794"/>
                  </a:ln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461" y="35051"/>
                  </a:lnTo>
                  <a:lnTo>
                    <a:pt x="325120" y="9144"/>
                  </a:lnTo>
                  <a:lnTo>
                    <a:pt x="256794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627755" y="3013963"/>
              <a:ext cx="513715" cy="513715"/>
            </a:xfrm>
            <a:custGeom>
              <a:avLst/>
              <a:gdLst/>
              <a:ahLst/>
              <a:cxnLst/>
              <a:rect l="l" t="t" r="r" b="b"/>
              <a:pathLst>
                <a:path w="513714" h="513714">
                  <a:moveTo>
                    <a:pt x="513715" y="256794"/>
                  </a:move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461" y="35051"/>
                  </a:lnTo>
                  <a:lnTo>
                    <a:pt x="325120" y="9144"/>
                  </a:lnTo>
                  <a:lnTo>
                    <a:pt x="256794" y="0"/>
                  </a:lnTo>
                  <a:lnTo>
                    <a:pt x="188595" y="9144"/>
                  </a:lnTo>
                  <a:lnTo>
                    <a:pt x="127127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4" y="188595"/>
                  </a:lnTo>
                  <a:lnTo>
                    <a:pt x="0" y="256794"/>
                  </a:lnTo>
                  <a:lnTo>
                    <a:pt x="9144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127" y="478663"/>
                  </a:lnTo>
                  <a:lnTo>
                    <a:pt x="188595" y="504571"/>
                  </a:lnTo>
                  <a:lnTo>
                    <a:pt x="256794" y="513714"/>
                  </a:lnTo>
                  <a:lnTo>
                    <a:pt x="325120" y="504571"/>
                  </a:lnTo>
                  <a:lnTo>
                    <a:pt x="386461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715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21487" y="2990722"/>
              <a:ext cx="560705" cy="560705"/>
            </a:xfrm>
            <a:custGeom>
              <a:avLst/>
              <a:gdLst/>
              <a:ahLst/>
              <a:cxnLst/>
              <a:rect l="l" t="t" r="r" b="b"/>
              <a:pathLst>
                <a:path w="560705" h="560704">
                  <a:moveTo>
                    <a:pt x="280111" y="0"/>
                  </a:moveTo>
                  <a:lnTo>
                    <a:pt x="205638" y="10032"/>
                  </a:lnTo>
                  <a:lnTo>
                    <a:pt x="138734" y="38226"/>
                  </a:lnTo>
                  <a:lnTo>
                    <a:pt x="82042" y="82041"/>
                  </a:lnTo>
                  <a:lnTo>
                    <a:pt x="38239" y="138684"/>
                  </a:lnTo>
                  <a:lnTo>
                    <a:pt x="9994" y="205612"/>
                  </a:lnTo>
                  <a:lnTo>
                    <a:pt x="0" y="280035"/>
                  </a:lnTo>
                  <a:lnTo>
                    <a:pt x="9994" y="354584"/>
                  </a:lnTo>
                  <a:lnTo>
                    <a:pt x="38239" y="421513"/>
                  </a:lnTo>
                  <a:lnTo>
                    <a:pt x="82042" y="478154"/>
                  </a:lnTo>
                  <a:lnTo>
                    <a:pt x="138734" y="521969"/>
                  </a:lnTo>
                  <a:lnTo>
                    <a:pt x="205638" y="550163"/>
                  </a:lnTo>
                  <a:lnTo>
                    <a:pt x="280111" y="560197"/>
                  </a:lnTo>
                  <a:lnTo>
                    <a:pt x="354571" y="550163"/>
                  </a:lnTo>
                  <a:lnTo>
                    <a:pt x="421487" y="521969"/>
                  </a:lnTo>
                  <a:lnTo>
                    <a:pt x="478180" y="478154"/>
                  </a:lnTo>
                  <a:lnTo>
                    <a:pt x="521982" y="421513"/>
                  </a:lnTo>
                  <a:lnTo>
                    <a:pt x="550214" y="354584"/>
                  </a:lnTo>
                  <a:lnTo>
                    <a:pt x="560222" y="280035"/>
                  </a:lnTo>
                  <a:lnTo>
                    <a:pt x="550214" y="205612"/>
                  </a:lnTo>
                  <a:lnTo>
                    <a:pt x="521982" y="138684"/>
                  </a:lnTo>
                  <a:lnTo>
                    <a:pt x="478180" y="82041"/>
                  </a:lnTo>
                  <a:lnTo>
                    <a:pt x="421487" y="38226"/>
                  </a:lnTo>
                  <a:lnTo>
                    <a:pt x="354571" y="10032"/>
                  </a:lnTo>
                  <a:lnTo>
                    <a:pt x="280111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21487" y="2990722"/>
              <a:ext cx="560705" cy="560705"/>
            </a:xfrm>
            <a:custGeom>
              <a:avLst/>
              <a:gdLst/>
              <a:ahLst/>
              <a:cxnLst/>
              <a:rect l="l" t="t" r="r" b="b"/>
              <a:pathLst>
                <a:path w="560705" h="560704">
                  <a:moveTo>
                    <a:pt x="560222" y="280035"/>
                  </a:moveTo>
                  <a:lnTo>
                    <a:pt x="550214" y="205612"/>
                  </a:lnTo>
                  <a:lnTo>
                    <a:pt x="521982" y="138684"/>
                  </a:lnTo>
                  <a:lnTo>
                    <a:pt x="478180" y="82041"/>
                  </a:lnTo>
                  <a:lnTo>
                    <a:pt x="421487" y="38226"/>
                  </a:lnTo>
                  <a:lnTo>
                    <a:pt x="354571" y="10032"/>
                  </a:lnTo>
                  <a:lnTo>
                    <a:pt x="280111" y="0"/>
                  </a:lnTo>
                  <a:lnTo>
                    <a:pt x="205638" y="10032"/>
                  </a:lnTo>
                  <a:lnTo>
                    <a:pt x="138734" y="38226"/>
                  </a:lnTo>
                  <a:lnTo>
                    <a:pt x="82042" y="82041"/>
                  </a:lnTo>
                  <a:lnTo>
                    <a:pt x="38239" y="138684"/>
                  </a:lnTo>
                  <a:lnTo>
                    <a:pt x="9994" y="205612"/>
                  </a:lnTo>
                  <a:lnTo>
                    <a:pt x="0" y="280035"/>
                  </a:lnTo>
                  <a:lnTo>
                    <a:pt x="9994" y="354584"/>
                  </a:lnTo>
                  <a:lnTo>
                    <a:pt x="38239" y="421513"/>
                  </a:lnTo>
                  <a:lnTo>
                    <a:pt x="82042" y="478154"/>
                  </a:lnTo>
                  <a:lnTo>
                    <a:pt x="138734" y="521969"/>
                  </a:lnTo>
                  <a:lnTo>
                    <a:pt x="205638" y="550163"/>
                  </a:lnTo>
                  <a:lnTo>
                    <a:pt x="280111" y="560197"/>
                  </a:lnTo>
                  <a:lnTo>
                    <a:pt x="354571" y="550163"/>
                  </a:lnTo>
                  <a:lnTo>
                    <a:pt x="421487" y="521969"/>
                  </a:lnTo>
                  <a:lnTo>
                    <a:pt x="478180" y="478154"/>
                  </a:lnTo>
                  <a:lnTo>
                    <a:pt x="521982" y="421513"/>
                  </a:lnTo>
                  <a:lnTo>
                    <a:pt x="550214" y="354584"/>
                  </a:lnTo>
                  <a:lnTo>
                    <a:pt x="560222" y="280035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89483" y="2723515"/>
            <a:ext cx="431800" cy="64643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11760">
              <a:lnSpc>
                <a:spcPct val="100000"/>
              </a:lnSpc>
              <a:spcBef>
                <a:spcPts val="110"/>
              </a:spcBef>
            </a:pPr>
            <a:r>
              <a:rPr sz="1500" i="1" spc="35" dirty="0">
                <a:solidFill>
                  <a:srgbClr val="213739"/>
                </a:solidFill>
                <a:latin typeface="Calibri"/>
                <a:cs typeface="Calibri"/>
              </a:rPr>
              <a:t>h</a:t>
            </a:r>
            <a:r>
              <a:rPr sz="1650" spc="52" baseline="-12626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650" baseline="-12626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1275"/>
              </a:spcBef>
            </a:pPr>
            <a:r>
              <a:rPr sz="1500" spc="-60" dirty="0">
                <a:solidFill>
                  <a:srgbClr val="213739"/>
                </a:solidFill>
                <a:latin typeface="Arial MT"/>
                <a:cs typeface="Arial MT"/>
              </a:rPr>
              <a:t>-</a:t>
            </a:r>
            <a:r>
              <a:rPr sz="1500" spc="-85" dirty="0">
                <a:solidFill>
                  <a:srgbClr val="213739"/>
                </a:solidFill>
                <a:latin typeface="Arial MT"/>
                <a:cs typeface="Arial MT"/>
              </a:rPr>
              <a:t>1,-</a:t>
            </a:r>
            <a:r>
              <a:rPr sz="1500" spc="-50" dirty="0">
                <a:solidFill>
                  <a:srgbClr val="213739"/>
                </a:solidFill>
                <a:latin typeface="Arial MT"/>
                <a:cs typeface="Arial MT"/>
              </a:rPr>
              <a:t>1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563497" y="3005073"/>
            <a:ext cx="2583180" cy="531495"/>
            <a:chOff x="1563497" y="3005073"/>
            <a:chExt cx="2583180" cy="531495"/>
          </a:xfrm>
        </p:grpSpPr>
        <p:sp>
          <p:nvSpPr>
            <p:cNvPr id="17" name="object 17"/>
            <p:cNvSpPr/>
            <p:nvPr/>
          </p:nvSpPr>
          <p:spPr>
            <a:xfrm>
              <a:off x="1568577" y="3010153"/>
              <a:ext cx="521334" cy="521334"/>
            </a:xfrm>
            <a:custGeom>
              <a:avLst/>
              <a:gdLst/>
              <a:ahLst/>
              <a:cxnLst/>
              <a:rect l="l" t="t" r="r" b="b"/>
              <a:pathLst>
                <a:path w="521335" h="521335">
                  <a:moveTo>
                    <a:pt x="260730" y="0"/>
                  </a:moveTo>
                  <a:lnTo>
                    <a:pt x="191389" y="9271"/>
                  </a:lnTo>
                  <a:lnTo>
                    <a:pt x="129159" y="35560"/>
                  </a:lnTo>
                  <a:lnTo>
                    <a:pt x="76327" y="76326"/>
                  </a:lnTo>
                  <a:lnTo>
                    <a:pt x="35559" y="129159"/>
                  </a:lnTo>
                  <a:lnTo>
                    <a:pt x="9270" y="191388"/>
                  </a:lnTo>
                  <a:lnTo>
                    <a:pt x="0" y="260604"/>
                  </a:lnTo>
                  <a:lnTo>
                    <a:pt x="9270" y="329946"/>
                  </a:lnTo>
                  <a:lnTo>
                    <a:pt x="35559" y="392175"/>
                  </a:lnTo>
                  <a:lnTo>
                    <a:pt x="76327" y="445008"/>
                  </a:lnTo>
                  <a:lnTo>
                    <a:pt x="129159" y="485775"/>
                  </a:lnTo>
                  <a:lnTo>
                    <a:pt x="191389" y="512063"/>
                  </a:lnTo>
                  <a:lnTo>
                    <a:pt x="260730" y="521335"/>
                  </a:lnTo>
                  <a:lnTo>
                    <a:pt x="329946" y="512063"/>
                  </a:lnTo>
                  <a:lnTo>
                    <a:pt x="392303" y="485775"/>
                  </a:lnTo>
                  <a:lnTo>
                    <a:pt x="445008" y="445008"/>
                  </a:lnTo>
                  <a:lnTo>
                    <a:pt x="485774" y="392175"/>
                  </a:lnTo>
                  <a:lnTo>
                    <a:pt x="512064" y="329946"/>
                  </a:lnTo>
                  <a:lnTo>
                    <a:pt x="521334" y="260604"/>
                  </a:lnTo>
                  <a:lnTo>
                    <a:pt x="512064" y="191388"/>
                  </a:lnTo>
                  <a:lnTo>
                    <a:pt x="485774" y="129159"/>
                  </a:lnTo>
                  <a:lnTo>
                    <a:pt x="445008" y="76326"/>
                  </a:lnTo>
                  <a:lnTo>
                    <a:pt x="392303" y="35560"/>
                  </a:lnTo>
                  <a:lnTo>
                    <a:pt x="329946" y="9271"/>
                  </a:lnTo>
                  <a:lnTo>
                    <a:pt x="260730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568577" y="3010153"/>
              <a:ext cx="521334" cy="521334"/>
            </a:xfrm>
            <a:custGeom>
              <a:avLst/>
              <a:gdLst/>
              <a:ahLst/>
              <a:cxnLst/>
              <a:rect l="l" t="t" r="r" b="b"/>
              <a:pathLst>
                <a:path w="521335" h="521335">
                  <a:moveTo>
                    <a:pt x="521334" y="260604"/>
                  </a:moveTo>
                  <a:lnTo>
                    <a:pt x="512064" y="191388"/>
                  </a:lnTo>
                  <a:lnTo>
                    <a:pt x="485774" y="129159"/>
                  </a:lnTo>
                  <a:lnTo>
                    <a:pt x="445008" y="76326"/>
                  </a:lnTo>
                  <a:lnTo>
                    <a:pt x="392303" y="35560"/>
                  </a:lnTo>
                  <a:lnTo>
                    <a:pt x="329946" y="9271"/>
                  </a:lnTo>
                  <a:lnTo>
                    <a:pt x="260730" y="0"/>
                  </a:lnTo>
                  <a:lnTo>
                    <a:pt x="191389" y="9271"/>
                  </a:lnTo>
                  <a:lnTo>
                    <a:pt x="129159" y="35560"/>
                  </a:lnTo>
                  <a:lnTo>
                    <a:pt x="76327" y="76326"/>
                  </a:lnTo>
                  <a:lnTo>
                    <a:pt x="35559" y="129159"/>
                  </a:lnTo>
                  <a:lnTo>
                    <a:pt x="9270" y="191388"/>
                  </a:lnTo>
                  <a:lnTo>
                    <a:pt x="0" y="260604"/>
                  </a:lnTo>
                  <a:lnTo>
                    <a:pt x="9270" y="329946"/>
                  </a:lnTo>
                  <a:lnTo>
                    <a:pt x="35559" y="392175"/>
                  </a:lnTo>
                  <a:lnTo>
                    <a:pt x="76327" y="445008"/>
                  </a:lnTo>
                  <a:lnTo>
                    <a:pt x="129159" y="485775"/>
                  </a:lnTo>
                  <a:lnTo>
                    <a:pt x="191389" y="512063"/>
                  </a:lnTo>
                  <a:lnTo>
                    <a:pt x="260730" y="521335"/>
                  </a:lnTo>
                  <a:lnTo>
                    <a:pt x="329946" y="512063"/>
                  </a:lnTo>
                  <a:lnTo>
                    <a:pt x="392303" y="485775"/>
                  </a:lnTo>
                  <a:lnTo>
                    <a:pt x="445008" y="445008"/>
                  </a:lnTo>
                  <a:lnTo>
                    <a:pt x="485774" y="392175"/>
                  </a:lnTo>
                  <a:lnTo>
                    <a:pt x="512064" y="329946"/>
                  </a:lnTo>
                  <a:lnTo>
                    <a:pt x="521334" y="26060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596261" y="3010153"/>
              <a:ext cx="521334" cy="521334"/>
            </a:xfrm>
            <a:custGeom>
              <a:avLst/>
              <a:gdLst/>
              <a:ahLst/>
              <a:cxnLst/>
              <a:rect l="l" t="t" r="r" b="b"/>
              <a:pathLst>
                <a:path w="521335" h="521335">
                  <a:moveTo>
                    <a:pt x="260731" y="0"/>
                  </a:moveTo>
                  <a:lnTo>
                    <a:pt x="191388" y="9271"/>
                  </a:lnTo>
                  <a:lnTo>
                    <a:pt x="129158" y="35560"/>
                  </a:lnTo>
                  <a:lnTo>
                    <a:pt x="76326" y="76326"/>
                  </a:lnTo>
                  <a:lnTo>
                    <a:pt x="35559" y="129159"/>
                  </a:lnTo>
                  <a:lnTo>
                    <a:pt x="9270" y="191388"/>
                  </a:lnTo>
                  <a:lnTo>
                    <a:pt x="0" y="260604"/>
                  </a:lnTo>
                  <a:lnTo>
                    <a:pt x="9270" y="329946"/>
                  </a:lnTo>
                  <a:lnTo>
                    <a:pt x="35559" y="392175"/>
                  </a:lnTo>
                  <a:lnTo>
                    <a:pt x="76326" y="445008"/>
                  </a:lnTo>
                  <a:lnTo>
                    <a:pt x="129158" y="485775"/>
                  </a:lnTo>
                  <a:lnTo>
                    <a:pt x="191388" y="512063"/>
                  </a:lnTo>
                  <a:lnTo>
                    <a:pt x="260731" y="521335"/>
                  </a:lnTo>
                  <a:lnTo>
                    <a:pt x="329945" y="512063"/>
                  </a:lnTo>
                  <a:lnTo>
                    <a:pt x="392302" y="485775"/>
                  </a:lnTo>
                  <a:lnTo>
                    <a:pt x="445007" y="445008"/>
                  </a:lnTo>
                  <a:lnTo>
                    <a:pt x="485775" y="392175"/>
                  </a:lnTo>
                  <a:lnTo>
                    <a:pt x="512063" y="329946"/>
                  </a:lnTo>
                  <a:lnTo>
                    <a:pt x="521334" y="260604"/>
                  </a:lnTo>
                  <a:lnTo>
                    <a:pt x="512063" y="191388"/>
                  </a:lnTo>
                  <a:lnTo>
                    <a:pt x="485775" y="129159"/>
                  </a:lnTo>
                  <a:lnTo>
                    <a:pt x="445007" y="76326"/>
                  </a:lnTo>
                  <a:lnTo>
                    <a:pt x="392302" y="35560"/>
                  </a:lnTo>
                  <a:lnTo>
                    <a:pt x="329945" y="9271"/>
                  </a:lnTo>
                  <a:lnTo>
                    <a:pt x="260731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596261" y="3010153"/>
              <a:ext cx="521334" cy="521334"/>
            </a:xfrm>
            <a:custGeom>
              <a:avLst/>
              <a:gdLst/>
              <a:ahLst/>
              <a:cxnLst/>
              <a:rect l="l" t="t" r="r" b="b"/>
              <a:pathLst>
                <a:path w="521335" h="521335">
                  <a:moveTo>
                    <a:pt x="521334" y="260604"/>
                  </a:moveTo>
                  <a:lnTo>
                    <a:pt x="512063" y="191388"/>
                  </a:lnTo>
                  <a:lnTo>
                    <a:pt x="485775" y="129159"/>
                  </a:lnTo>
                  <a:lnTo>
                    <a:pt x="445007" y="76326"/>
                  </a:lnTo>
                  <a:lnTo>
                    <a:pt x="392302" y="35560"/>
                  </a:lnTo>
                  <a:lnTo>
                    <a:pt x="329945" y="9271"/>
                  </a:lnTo>
                  <a:lnTo>
                    <a:pt x="260731" y="0"/>
                  </a:lnTo>
                  <a:lnTo>
                    <a:pt x="191388" y="9271"/>
                  </a:lnTo>
                  <a:lnTo>
                    <a:pt x="129158" y="35560"/>
                  </a:lnTo>
                  <a:lnTo>
                    <a:pt x="76326" y="76326"/>
                  </a:lnTo>
                  <a:lnTo>
                    <a:pt x="35559" y="129159"/>
                  </a:lnTo>
                  <a:lnTo>
                    <a:pt x="9270" y="191388"/>
                  </a:lnTo>
                  <a:lnTo>
                    <a:pt x="0" y="260604"/>
                  </a:lnTo>
                  <a:lnTo>
                    <a:pt x="9270" y="329946"/>
                  </a:lnTo>
                  <a:lnTo>
                    <a:pt x="35559" y="392175"/>
                  </a:lnTo>
                  <a:lnTo>
                    <a:pt x="76326" y="445008"/>
                  </a:lnTo>
                  <a:lnTo>
                    <a:pt x="129158" y="485775"/>
                  </a:lnTo>
                  <a:lnTo>
                    <a:pt x="191388" y="512063"/>
                  </a:lnTo>
                  <a:lnTo>
                    <a:pt x="260731" y="521335"/>
                  </a:lnTo>
                  <a:lnTo>
                    <a:pt x="329945" y="512063"/>
                  </a:lnTo>
                  <a:lnTo>
                    <a:pt x="392302" y="485775"/>
                  </a:lnTo>
                  <a:lnTo>
                    <a:pt x="445007" y="445008"/>
                  </a:lnTo>
                  <a:lnTo>
                    <a:pt x="485775" y="392175"/>
                  </a:lnTo>
                  <a:lnTo>
                    <a:pt x="512063" y="329946"/>
                  </a:lnTo>
                  <a:lnTo>
                    <a:pt x="521334" y="26060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627754" y="3013963"/>
              <a:ext cx="513715" cy="513715"/>
            </a:xfrm>
            <a:custGeom>
              <a:avLst/>
              <a:gdLst/>
              <a:ahLst/>
              <a:cxnLst/>
              <a:rect l="l" t="t" r="r" b="b"/>
              <a:pathLst>
                <a:path w="513714" h="513714">
                  <a:moveTo>
                    <a:pt x="256794" y="0"/>
                  </a:moveTo>
                  <a:lnTo>
                    <a:pt x="188595" y="9144"/>
                  </a:lnTo>
                  <a:lnTo>
                    <a:pt x="127127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4" y="188595"/>
                  </a:lnTo>
                  <a:lnTo>
                    <a:pt x="0" y="256794"/>
                  </a:lnTo>
                  <a:lnTo>
                    <a:pt x="9144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127" y="478663"/>
                  </a:lnTo>
                  <a:lnTo>
                    <a:pt x="188595" y="504571"/>
                  </a:lnTo>
                  <a:lnTo>
                    <a:pt x="256794" y="513714"/>
                  </a:lnTo>
                  <a:lnTo>
                    <a:pt x="325120" y="504571"/>
                  </a:lnTo>
                  <a:lnTo>
                    <a:pt x="386461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715" y="256794"/>
                  </a:ln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461" y="35051"/>
                  </a:lnTo>
                  <a:lnTo>
                    <a:pt x="325120" y="9144"/>
                  </a:lnTo>
                  <a:lnTo>
                    <a:pt x="256794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627754" y="3013963"/>
              <a:ext cx="513715" cy="513715"/>
            </a:xfrm>
            <a:custGeom>
              <a:avLst/>
              <a:gdLst/>
              <a:ahLst/>
              <a:cxnLst/>
              <a:rect l="l" t="t" r="r" b="b"/>
              <a:pathLst>
                <a:path w="513714" h="513714">
                  <a:moveTo>
                    <a:pt x="513715" y="256794"/>
                  </a:move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461" y="35051"/>
                  </a:lnTo>
                  <a:lnTo>
                    <a:pt x="325120" y="9144"/>
                  </a:lnTo>
                  <a:lnTo>
                    <a:pt x="256794" y="0"/>
                  </a:lnTo>
                  <a:lnTo>
                    <a:pt x="188595" y="9144"/>
                  </a:lnTo>
                  <a:lnTo>
                    <a:pt x="127127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4" y="188595"/>
                  </a:lnTo>
                  <a:lnTo>
                    <a:pt x="0" y="256794"/>
                  </a:lnTo>
                  <a:lnTo>
                    <a:pt x="9144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127" y="478663"/>
                  </a:lnTo>
                  <a:lnTo>
                    <a:pt x="188595" y="504571"/>
                  </a:lnTo>
                  <a:lnTo>
                    <a:pt x="256794" y="513714"/>
                  </a:lnTo>
                  <a:lnTo>
                    <a:pt x="325120" y="504571"/>
                  </a:lnTo>
                  <a:lnTo>
                    <a:pt x="386461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715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3719448" y="2723515"/>
            <a:ext cx="329565" cy="644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65405">
              <a:lnSpc>
                <a:spcPct val="100000"/>
              </a:lnSpc>
              <a:spcBef>
                <a:spcPts val="110"/>
              </a:spcBef>
            </a:pP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h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4</a:t>
            </a:r>
            <a:endParaRPr sz="1650" baseline="-10101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1260"/>
              </a:spcBef>
            </a:pPr>
            <a:r>
              <a:rPr sz="1500" spc="-25" dirty="0">
                <a:solidFill>
                  <a:srgbClr val="213739"/>
                </a:solidFill>
                <a:latin typeface="Arial MT"/>
                <a:cs typeface="Arial MT"/>
              </a:rPr>
              <a:t>1,1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33527" y="3638803"/>
            <a:ext cx="748030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i="1" dirty="0">
                <a:solidFill>
                  <a:srgbClr val="213739"/>
                </a:solidFill>
                <a:latin typeface="Calibri"/>
                <a:cs typeface="Calibri"/>
              </a:rPr>
              <a:t>bias</a:t>
            </a:r>
            <a:r>
              <a:rPr sz="1500" i="1" spc="33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500" spc="-13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13739"/>
                </a:solidFill>
                <a:latin typeface="Arial MT"/>
                <a:cs typeface="Arial MT"/>
              </a:rPr>
              <a:t>-</a:t>
            </a:r>
            <a:r>
              <a:rPr sz="1500" spc="-2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00" spc="-50" dirty="0">
                <a:solidFill>
                  <a:srgbClr val="213739"/>
                </a:solidFill>
                <a:latin typeface="Arial MT"/>
                <a:cs typeface="Arial MT"/>
              </a:rPr>
              <a:t>2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278507" y="1536572"/>
            <a:ext cx="111760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i="1" spc="-50" dirty="0">
                <a:solidFill>
                  <a:srgbClr val="213739"/>
                </a:solidFill>
                <a:latin typeface="Calibri"/>
                <a:cs typeface="Calibri"/>
              </a:rPr>
              <a:t>y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164336" y="2568955"/>
            <a:ext cx="280670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650" baseline="-10101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628013" y="2532379"/>
            <a:ext cx="1461135" cy="8324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90500">
              <a:lnSpc>
                <a:spcPts val="1650"/>
              </a:lnSpc>
              <a:spcBef>
                <a:spcPts val="110"/>
              </a:spcBef>
              <a:tabLst>
                <a:tab pos="704215" algn="l"/>
                <a:tab pos="1191895" algn="l"/>
              </a:tabLst>
            </a:pP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650" baseline="-1010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r>
              <a:rPr sz="1650" baseline="-1010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4</a:t>
            </a:r>
            <a:endParaRPr sz="1650" baseline="-10101">
              <a:latin typeface="Calibri"/>
              <a:cs typeface="Calibri"/>
            </a:endParaRPr>
          </a:p>
          <a:p>
            <a:pPr marL="100965">
              <a:lnSpc>
                <a:spcPts val="1650"/>
              </a:lnSpc>
              <a:tabLst>
                <a:tab pos="1127760" algn="l"/>
              </a:tabLst>
            </a:pP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h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650" baseline="-1010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h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650" baseline="-10101">
              <a:latin typeface="Calibri"/>
              <a:cs typeface="Calibri"/>
            </a:endParaRPr>
          </a:p>
          <a:p>
            <a:pPr marL="50800">
              <a:lnSpc>
                <a:spcPct val="100000"/>
              </a:lnSpc>
              <a:spcBef>
                <a:spcPts val="1235"/>
              </a:spcBef>
              <a:tabLst>
                <a:tab pos="1077595" algn="l"/>
              </a:tabLst>
            </a:pPr>
            <a:r>
              <a:rPr sz="1500" spc="-40" dirty="0">
                <a:solidFill>
                  <a:srgbClr val="213739"/>
                </a:solidFill>
                <a:latin typeface="Arial MT"/>
                <a:cs typeface="Arial MT"/>
              </a:rPr>
              <a:t>-</a:t>
            </a:r>
            <a:r>
              <a:rPr sz="1500" spc="-25" dirty="0">
                <a:solidFill>
                  <a:srgbClr val="213739"/>
                </a:solidFill>
                <a:latin typeface="Arial MT"/>
                <a:cs typeface="Arial MT"/>
              </a:rPr>
              <a:t>1,1</a:t>
            </a:r>
            <a:r>
              <a:rPr sz="1500" dirty="0">
                <a:solidFill>
                  <a:srgbClr val="213739"/>
                </a:solidFill>
                <a:latin typeface="Arial MT"/>
                <a:cs typeface="Arial MT"/>
              </a:rPr>
              <a:t>	</a:t>
            </a:r>
            <a:r>
              <a:rPr sz="1500" spc="-70" dirty="0">
                <a:solidFill>
                  <a:srgbClr val="213739"/>
                </a:solidFill>
                <a:latin typeface="Arial MT"/>
                <a:cs typeface="Arial MT"/>
              </a:rPr>
              <a:t>1,-</a:t>
            </a:r>
            <a:r>
              <a:rPr sz="1500" spc="-50" dirty="0">
                <a:solidFill>
                  <a:srgbClr val="213739"/>
                </a:solidFill>
                <a:latin typeface="Arial MT"/>
                <a:cs typeface="Arial MT"/>
              </a:rPr>
              <a:t>1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994460" y="1862084"/>
            <a:ext cx="2713990" cy="2357120"/>
            <a:chOff x="994460" y="1862084"/>
            <a:chExt cx="2713990" cy="2357120"/>
          </a:xfrm>
        </p:grpSpPr>
        <p:sp>
          <p:nvSpPr>
            <p:cNvPr id="29" name="object 29"/>
            <p:cNvSpPr/>
            <p:nvPr/>
          </p:nvSpPr>
          <p:spPr>
            <a:xfrm>
              <a:off x="1016139" y="3485388"/>
              <a:ext cx="686435" cy="686435"/>
            </a:xfrm>
            <a:custGeom>
              <a:avLst/>
              <a:gdLst/>
              <a:ahLst/>
              <a:cxnLst/>
              <a:rect l="l" t="t" r="r" b="b"/>
              <a:pathLst>
                <a:path w="686435" h="686435">
                  <a:moveTo>
                    <a:pt x="686295" y="686181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4460" y="3463657"/>
              <a:ext cx="104659" cy="104661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1072959" y="3406521"/>
              <a:ext cx="1615440" cy="807720"/>
            </a:xfrm>
            <a:custGeom>
              <a:avLst/>
              <a:gdLst/>
              <a:ahLst/>
              <a:cxnLst/>
              <a:rect l="l" t="t" r="r" b="b"/>
              <a:pathLst>
                <a:path w="1615439" h="807720">
                  <a:moveTo>
                    <a:pt x="1615122" y="807592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60723" y="3364757"/>
              <a:ext cx="84085" cy="122262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1766570" y="3546729"/>
              <a:ext cx="125730" cy="624840"/>
            </a:xfrm>
            <a:custGeom>
              <a:avLst/>
              <a:gdLst/>
              <a:ahLst/>
              <a:cxnLst/>
              <a:rect l="l" t="t" r="r" b="b"/>
              <a:pathLst>
                <a:path w="125730" h="624839">
                  <a:moveTo>
                    <a:pt x="62737" y="624840"/>
                  </a:moveTo>
                  <a:lnTo>
                    <a:pt x="62737" y="8000"/>
                  </a:lnTo>
                </a:path>
                <a:path w="125730" h="624839">
                  <a:moveTo>
                    <a:pt x="0" y="51435"/>
                  </a:moveTo>
                  <a:lnTo>
                    <a:pt x="24637" y="42418"/>
                  </a:lnTo>
                  <a:lnTo>
                    <a:pt x="42672" y="30099"/>
                  </a:lnTo>
                  <a:lnTo>
                    <a:pt x="55118" y="15621"/>
                  </a:lnTo>
                  <a:lnTo>
                    <a:pt x="62737" y="0"/>
                  </a:lnTo>
                  <a:lnTo>
                    <a:pt x="70231" y="15621"/>
                  </a:lnTo>
                  <a:lnTo>
                    <a:pt x="82677" y="30099"/>
                  </a:lnTo>
                  <a:lnTo>
                    <a:pt x="100711" y="42418"/>
                  </a:lnTo>
                  <a:lnTo>
                    <a:pt x="125349" y="51435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030094" y="3471672"/>
              <a:ext cx="700405" cy="700405"/>
            </a:xfrm>
            <a:custGeom>
              <a:avLst/>
              <a:gdLst/>
              <a:ahLst/>
              <a:cxnLst/>
              <a:rect l="l" t="t" r="r" b="b"/>
              <a:pathLst>
                <a:path w="700405" h="700404">
                  <a:moveTo>
                    <a:pt x="700024" y="699896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08377" y="3449924"/>
              <a:ext cx="105171" cy="105186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1956054" y="3471672"/>
              <a:ext cx="700405" cy="700405"/>
            </a:xfrm>
            <a:custGeom>
              <a:avLst/>
              <a:gdLst/>
              <a:ahLst/>
              <a:cxnLst/>
              <a:rect l="l" t="t" r="r" b="b"/>
              <a:pathLst>
                <a:path w="700405" h="700404">
                  <a:moveTo>
                    <a:pt x="0" y="699896"/>
                  </a:moveTo>
                  <a:lnTo>
                    <a:pt x="700023" y="0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72766" y="3449924"/>
              <a:ext cx="105171" cy="105186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2794254" y="3546729"/>
              <a:ext cx="125730" cy="624840"/>
            </a:xfrm>
            <a:custGeom>
              <a:avLst/>
              <a:gdLst/>
              <a:ahLst/>
              <a:cxnLst/>
              <a:rect l="l" t="t" r="r" b="b"/>
              <a:pathLst>
                <a:path w="125730" h="624839">
                  <a:moveTo>
                    <a:pt x="62737" y="624840"/>
                  </a:moveTo>
                  <a:lnTo>
                    <a:pt x="62737" y="8000"/>
                  </a:lnTo>
                </a:path>
                <a:path w="125730" h="624839">
                  <a:moveTo>
                    <a:pt x="0" y="51435"/>
                  </a:moveTo>
                  <a:lnTo>
                    <a:pt x="24637" y="42418"/>
                  </a:lnTo>
                  <a:lnTo>
                    <a:pt x="42671" y="30099"/>
                  </a:lnTo>
                  <a:lnTo>
                    <a:pt x="55118" y="15621"/>
                  </a:lnTo>
                  <a:lnTo>
                    <a:pt x="62737" y="0"/>
                  </a:lnTo>
                  <a:lnTo>
                    <a:pt x="70231" y="15621"/>
                  </a:lnTo>
                  <a:lnTo>
                    <a:pt x="82676" y="30099"/>
                  </a:lnTo>
                  <a:lnTo>
                    <a:pt x="100710" y="42418"/>
                  </a:lnTo>
                  <a:lnTo>
                    <a:pt x="125348" y="51435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998218" y="3396107"/>
              <a:ext cx="1635760" cy="818515"/>
            </a:xfrm>
            <a:custGeom>
              <a:avLst/>
              <a:gdLst/>
              <a:ahLst/>
              <a:cxnLst/>
              <a:rect l="l" t="t" r="r" b="b"/>
              <a:pathLst>
                <a:path w="1635760" h="818514">
                  <a:moveTo>
                    <a:pt x="0" y="818006"/>
                  </a:moveTo>
                  <a:lnTo>
                    <a:pt x="1635759" y="0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62114" y="3354470"/>
              <a:ext cx="84163" cy="122136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2983864" y="3469005"/>
              <a:ext cx="702945" cy="702945"/>
            </a:xfrm>
            <a:custGeom>
              <a:avLst/>
              <a:gdLst/>
              <a:ahLst/>
              <a:cxnLst/>
              <a:rect l="l" t="t" r="r" b="b"/>
              <a:pathLst>
                <a:path w="702945" h="702945">
                  <a:moveTo>
                    <a:pt x="0" y="702564"/>
                  </a:moveTo>
                  <a:lnTo>
                    <a:pt x="702563" y="0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603498" y="3447274"/>
              <a:ext cx="104659" cy="104661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1041425" y="2308860"/>
              <a:ext cx="1203325" cy="802640"/>
            </a:xfrm>
            <a:custGeom>
              <a:avLst/>
              <a:gdLst/>
              <a:ahLst/>
              <a:cxnLst/>
              <a:rect l="l" t="t" r="r" b="b"/>
              <a:pathLst>
                <a:path w="1203325" h="802639">
                  <a:moveTo>
                    <a:pt x="0" y="802131"/>
                  </a:moveTo>
                  <a:lnTo>
                    <a:pt x="1203172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83766" y="2287145"/>
              <a:ext cx="66671" cy="85467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1949577" y="2348738"/>
              <a:ext cx="340995" cy="681990"/>
            </a:xfrm>
            <a:custGeom>
              <a:avLst/>
              <a:gdLst/>
              <a:ahLst/>
              <a:cxnLst/>
              <a:rect l="l" t="t" r="r" b="b"/>
              <a:pathLst>
                <a:path w="340994" h="681989">
                  <a:moveTo>
                    <a:pt x="0" y="681482"/>
                  </a:moveTo>
                  <a:lnTo>
                    <a:pt x="340741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227579" y="2342641"/>
              <a:ext cx="91568" cy="64136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2395855" y="2348738"/>
              <a:ext cx="340995" cy="681990"/>
            </a:xfrm>
            <a:custGeom>
              <a:avLst/>
              <a:gdLst/>
              <a:ahLst/>
              <a:cxnLst/>
              <a:rect l="l" t="t" r="r" b="b"/>
              <a:pathLst>
                <a:path w="340994" h="681989">
                  <a:moveTo>
                    <a:pt x="340868" y="681482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67025" y="2342641"/>
              <a:ext cx="91568" cy="64136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2441575" y="2308860"/>
              <a:ext cx="1223010" cy="815340"/>
            </a:xfrm>
            <a:custGeom>
              <a:avLst/>
              <a:gdLst/>
              <a:ahLst/>
              <a:cxnLst/>
              <a:rect l="l" t="t" r="r" b="b"/>
              <a:pathLst>
                <a:path w="1223010" h="815339">
                  <a:moveTo>
                    <a:pt x="1222628" y="814959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435734" y="2287145"/>
              <a:ext cx="66671" cy="85467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2294890" y="1864614"/>
              <a:ext cx="96520" cy="268605"/>
            </a:xfrm>
            <a:custGeom>
              <a:avLst/>
              <a:gdLst/>
              <a:ahLst/>
              <a:cxnLst/>
              <a:rect l="l" t="t" r="r" b="b"/>
              <a:pathLst>
                <a:path w="96519" h="268605">
                  <a:moveTo>
                    <a:pt x="48260" y="268605"/>
                  </a:moveTo>
                  <a:lnTo>
                    <a:pt x="48260" y="4063"/>
                  </a:lnTo>
                </a:path>
                <a:path w="96519" h="268605">
                  <a:moveTo>
                    <a:pt x="0" y="41783"/>
                  </a:moveTo>
                  <a:lnTo>
                    <a:pt x="18923" y="34416"/>
                  </a:lnTo>
                  <a:lnTo>
                    <a:pt x="32893" y="24511"/>
                  </a:lnTo>
                  <a:lnTo>
                    <a:pt x="42418" y="12700"/>
                  </a:lnTo>
                  <a:lnTo>
                    <a:pt x="48260" y="0"/>
                  </a:lnTo>
                  <a:lnTo>
                    <a:pt x="54102" y="12700"/>
                  </a:lnTo>
                  <a:lnTo>
                    <a:pt x="63627" y="24511"/>
                  </a:lnTo>
                  <a:lnTo>
                    <a:pt x="77470" y="34416"/>
                  </a:lnTo>
                  <a:lnTo>
                    <a:pt x="96393" y="41783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343204" y="3999632"/>
            <a:ext cx="2451100" cy="1073785"/>
          </a:xfrm>
          <a:prstGeom prst="rect">
            <a:avLst/>
          </a:prstGeom>
        </p:spPr>
        <p:txBody>
          <a:bodyPr vert="horz" wrap="square" lIns="0" tIns="125095" rIns="0" bIns="0" rtlCol="0">
            <a:spAutoFit/>
          </a:bodyPr>
          <a:lstStyle/>
          <a:p>
            <a:pPr marL="496570" algn="ctr">
              <a:lnSpc>
                <a:spcPct val="100000"/>
              </a:lnSpc>
              <a:spcBef>
                <a:spcPts val="985"/>
              </a:spcBef>
            </a:pPr>
            <a:r>
              <a:rPr sz="1500" i="1" spc="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650" spc="37" baseline="-10101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650" baseline="-10101">
              <a:latin typeface="Calibri"/>
              <a:cs typeface="Calibri"/>
            </a:endParaRPr>
          </a:p>
          <a:p>
            <a:pPr marL="38100" marR="30480">
              <a:lnSpc>
                <a:spcPct val="117700"/>
              </a:lnSpc>
              <a:spcBef>
                <a:spcPts val="625"/>
              </a:spcBef>
            </a:pP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red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edge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indicates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i="1" spc="10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=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-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1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blue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edge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indicates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i="1" spc="12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=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+1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53" name="object 53" descr="$PPTXTitle"/>
          <p:cNvSpPr txBox="1">
            <a:spLocks noGrp="1"/>
          </p:cNvSpPr>
          <p:nvPr>
            <p:ph type="title"/>
          </p:nvPr>
        </p:nvSpPr>
        <p:spPr>
          <a:xfrm>
            <a:off x="4756403" y="946530"/>
            <a:ext cx="406781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Let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baseline="-8888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875" spc="345" baseline="-8888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be</a:t>
            </a:r>
            <a:r>
              <a:rPr sz="1750" spc="-1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bias</a:t>
            </a:r>
            <a:r>
              <a:rPr sz="1750" spc="-1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output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 the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neuron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(</a:t>
            </a:r>
            <a:r>
              <a:rPr sz="1750" i="1" spc="-10" dirty="0">
                <a:solidFill>
                  <a:srgbClr val="213739"/>
                </a:solidFill>
                <a:latin typeface="Times New Roman"/>
                <a:cs typeface="Times New Roman"/>
              </a:rPr>
              <a:t>i.e.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,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4785105" y="1266571"/>
            <a:ext cx="972819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it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will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fire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if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5846698" y="1146174"/>
            <a:ext cx="32194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2625" spc="-30" baseline="-26984" dirty="0">
                <a:solidFill>
                  <a:srgbClr val="213739"/>
                </a:solidFill>
                <a:latin typeface="Lucida Sans Unicode"/>
                <a:cs typeface="Lucida Sans Unicode"/>
              </a:rPr>
              <a:t>Σ</a:t>
            </a:r>
            <a:r>
              <a:rPr sz="2625" spc="-442" baseline="-26984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250" spc="-50" dirty="0">
                <a:solidFill>
                  <a:srgbClr val="213739"/>
                </a:solidFill>
                <a:latin typeface="Calibri"/>
                <a:cs typeface="Calibri"/>
              </a:rPr>
              <a:t>4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6035802" y="1382395"/>
            <a:ext cx="285115" cy="2197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50" i="1" dirty="0">
                <a:solidFill>
                  <a:srgbClr val="213739"/>
                </a:solidFill>
                <a:latin typeface="Calibri"/>
                <a:cs typeface="Calibri"/>
              </a:rPr>
              <a:t>i</a:t>
            </a:r>
            <a:r>
              <a:rPr sz="1250" i="1" spc="-13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250" spc="55" dirty="0">
                <a:solidFill>
                  <a:srgbClr val="213739"/>
                </a:solidFill>
                <a:latin typeface="Calibri"/>
                <a:cs typeface="Calibri"/>
              </a:rPr>
              <a:t>=1 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6333997" y="1248283"/>
            <a:ext cx="1087120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50" i="1" spc="8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i="1" spc="127" baseline="-8888" dirty="0">
                <a:solidFill>
                  <a:srgbClr val="213739"/>
                </a:solidFill>
                <a:latin typeface="Calibri"/>
                <a:cs typeface="Calibri"/>
              </a:rPr>
              <a:t>i</a:t>
            </a:r>
            <a:r>
              <a:rPr sz="1750" i="1" spc="85" dirty="0">
                <a:solidFill>
                  <a:srgbClr val="213739"/>
                </a:solidFill>
                <a:latin typeface="Calibri"/>
                <a:cs typeface="Calibri"/>
              </a:rPr>
              <a:t>h</a:t>
            </a:r>
            <a:r>
              <a:rPr sz="1875" i="1" spc="127" baseline="-8888" dirty="0">
                <a:solidFill>
                  <a:srgbClr val="213739"/>
                </a:solidFill>
                <a:latin typeface="Calibri"/>
                <a:cs typeface="Calibri"/>
              </a:rPr>
              <a:t>i</a:t>
            </a:r>
            <a:r>
              <a:rPr sz="1875" i="1" spc="509" baseline="-8888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Lucida Sans Unicode"/>
                <a:cs typeface="Lucida Sans Unicode"/>
              </a:rPr>
              <a:t>≥</a:t>
            </a:r>
            <a:r>
              <a:rPr sz="1750" spc="-105" dirty="0">
                <a:solidFill>
                  <a:srgbClr val="213739"/>
                </a:solidFill>
                <a:latin typeface="Lucida Sans Unicode"/>
                <a:cs typeface="Lucida Sans Unicode"/>
              </a:rPr>
              <a:t> 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875" spc="-37" baseline="-8888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)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4358004" y="2048382"/>
            <a:ext cx="4561205" cy="0"/>
          </a:xfrm>
          <a:custGeom>
            <a:avLst/>
            <a:gdLst/>
            <a:ahLst/>
            <a:cxnLst/>
            <a:rect l="l" t="t" r="r" b="b"/>
            <a:pathLst>
              <a:path w="4561205">
                <a:moveTo>
                  <a:pt x="0" y="0"/>
                </a:moveTo>
                <a:lnTo>
                  <a:pt x="4560824" y="0"/>
                </a:lnTo>
              </a:path>
            </a:pathLst>
          </a:custGeom>
          <a:ln w="5053">
            <a:solidFill>
              <a:srgbClr val="2137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9" name="object 59"/>
          <p:cNvGraphicFramePr>
            <a:graphicFrameLocks noGrp="1"/>
          </p:cNvGraphicFramePr>
          <p:nvPr/>
        </p:nvGraphicFramePr>
        <p:xfrm>
          <a:off x="4393755" y="1837275"/>
          <a:ext cx="4435472" cy="10071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5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5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23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18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70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57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7909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283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7404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990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i="1" spc="-25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x</a:t>
                      </a:r>
                      <a:r>
                        <a:rPr sz="1650" spc="-37" baseline="-10101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650" baseline="-10101">
                        <a:latin typeface="Calibri"/>
                        <a:cs typeface="Calibri"/>
                      </a:endParaRPr>
                    </a:p>
                    <a:p>
                      <a:pPr marL="13398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6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R="571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i="1" spc="-25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x</a:t>
                      </a:r>
                      <a:r>
                        <a:rPr sz="1650" spc="-37" baseline="-10101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650" baseline="-10101">
                        <a:latin typeface="Calibri"/>
                        <a:cs typeface="Calibri"/>
                      </a:endParaRPr>
                    </a:p>
                    <a:p>
                      <a:pPr marL="317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6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40"/>
                        </a:spcBef>
                      </a:pPr>
                      <a:r>
                        <a:rPr sz="1600" i="1" spc="85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XOR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2476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6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9558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2413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i="1" spc="-25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h</a:t>
                      </a:r>
                      <a:r>
                        <a:rPr sz="1650" spc="-37" baseline="-10101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650" baseline="-10101">
                        <a:latin typeface="Calibri"/>
                        <a:cs typeface="Calibri"/>
                      </a:endParaRPr>
                    </a:p>
                    <a:p>
                      <a:pPr marL="3429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6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i="1" spc="-25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h</a:t>
                      </a:r>
                      <a:r>
                        <a:rPr sz="1650" spc="-37" baseline="-10101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650" baseline="-10101">
                        <a:latin typeface="Calibri"/>
                        <a:cs typeface="Calibri"/>
                      </a:endParaRPr>
                    </a:p>
                    <a:p>
                      <a:pPr marL="952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6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i="1" spc="-25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h</a:t>
                      </a:r>
                      <a:r>
                        <a:rPr sz="1650" spc="-37" baseline="-10101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650" baseline="-10101">
                        <a:latin typeface="Calibri"/>
                        <a:cs typeface="Calibri"/>
                      </a:endParaRPr>
                    </a:p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6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3208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i="1" spc="-25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h</a:t>
                      </a:r>
                      <a:r>
                        <a:rPr sz="1650" spc="-37" baseline="-10101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650" baseline="-10101">
                        <a:latin typeface="Calibri"/>
                        <a:cs typeface="Calibri"/>
                      </a:endParaRPr>
                    </a:p>
                    <a:p>
                      <a:pPr marL="17145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6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 marL="109855" algn="ctr">
                        <a:lnSpc>
                          <a:spcPts val="1305"/>
                        </a:lnSpc>
                        <a:spcBef>
                          <a:spcPts val="675"/>
                        </a:spcBef>
                      </a:pPr>
                      <a:r>
                        <a:rPr sz="2400" spc="-15" baseline="34722" dirty="0">
                          <a:solidFill>
                            <a:srgbClr val="213739"/>
                          </a:solidFill>
                          <a:latin typeface="Lucida Sans Unicode"/>
                          <a:cs typeface="Lucida Sans Unicode"/>
                        </a:rPr>
                        <a:t>Σ</a:t>
                      </a:r>
                      <a:r>
                        <a:rPr sz="2400" spc="-419" baseline="34722" dirty="0">
                          <a:solidFill>
                            <a:srgbClr val="213739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650" baseline="35353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4</a:t>
                      </a:r>
                      <a:r>
                        <a:rPr sz="1650" spc="225" baseline="35353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  </a:t>
                      </a:r>
                      <a:r>
                        <a:rPr sz="1600" i="1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w</a:t>
                      </a:r>
                      <a:r>
                        <a:rPr sz="1600" i="1" spc="20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i="1" spc="-50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h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784225">
                        <a:lnSpc>
                          <a:spcPts val="520"/>
                        </a:lnSpc>
                      </a:pPr>
                      <a:r>
                        <a:rPr sz="1100" i="1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sz="1100" i="1" spc="225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  </a:t>
                      </a:r>
                      <a:r>
                        <a:rPr sz="1100" i="1" spc="-50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i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66040">
                        <a:lnSpc>
                          <a:spcPts val="735"/>
                        </a:lnSpc>
                        <a:tabLst>
                          <a:tab pos="784225" algn="l"/>
                        </a:tabLst>
                      </a:pPr>
                      <a:r>
                        <a:rPr sz="1100" i="1" u="sng" dirty="0">
                          <a:solidFill>
                            <a:srgbClr val="213739"/>
                          </a:solidFill>
                          <a:uFill>
                            <a:solidFill>
                              <a:srgbClr val="213739"/>
                            </a:solidFill>
                          </a:uFill>
                          <a:latin typeface="Calibri"/>
                          <a:cs typeface="Calibri"/>
                        </a:rPr>
                        <a:t>i</a:t>
                      </a:r>
                      <a:r>
                        <a:rPr sz="1100" i="1" u="sng" spc="-130" dirty="0">
                          <a:solidFill>
                            <a:srgbClr val="213739"/>
                          </a:solidFill>
                          <a:uFill>
                            <a:solidFill>
                              <a:srgbClr val="213739"/>
                            </a:solidFill>
                          </a:u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u="sng" spc="-10" dirty="0">
                          <a:solidFill>
                            <a:srgbClr val="213739"/>
                          </a:solidFill>
                          <a:uFill>
                            <a:solidFill>
                              <a:srgbClr val="213739"/>
                            </a:solidFill>
                          </a:uFill>
                          <a:latin typeface="Calibri"/>
                          <a:cs typeface="Calibri"/>
                        </a:rPr>
                        <a:t>=</a:t>
                      </a:r>
                      <a:r>
                        <a:rPr sz="1100" u="sng" spc="-125" dirty="0">
                          <a:solidFill>
                            <a:srgbClr val="213739"/>
                          </a:solidFill>
                          <a:uFill>
                            <a:solidFill>
                              <a:srgbClr val="213739"/>
                            </a:solidFill>
                          </a:uFill>
                          <a:latin typeface="Calibri"/>
                          <a:cs typeface="Calibri"/>
                        </a:rPr>
                        <a:t> </a:t>
                      </a:r>
                      <a:r>
                        <a:rPr sz="1100" u="sng" spc="-50" dirty="0">
                          <a:solidFill>
                            <a:srgbClr val="213739"/>
                          </a:solidFill>
                          <a:uFill>
                            <a:solidFill>
                              <a:srgbClr val="213739"/>
                            </a:solidFill>
                          </a:uFill>
                          <a:latin typeface="Calibri"/>
                          <a:cs typeface="Calibri"/>
                        </a:rPr>
                        <a:t>1</a:t>
                      </a:r>
                      <a:r>
                        <a:rPr sz="1100" u="sng" dirty="0">
                          <a:solidFill>
                            <a:srgbClr val="213739"/>
                          </a:solidFill>
                          <a:uFill>
                            <a:solidFill>
                              <a:srgbClr val="213739"/>
                            </a:solidFill>
                          </a:uFill>
                          <a:latin typeface="Calibri"/>
                          <a:cs typeface="Calibri"/>
                        </a:rPr>
                        <a:t>	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158750" algn="ctr">
                        <a:lnSpc>
                          <a:spcPts val="1520"/>
                        </a:lnSpc>
                      </a:pPr>
                      <a:r>
                        <a:rPr sz="1600" i="1" spc="-25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w</a:t>
                      </a:r>
                      <a:r>
                        <a:rPr sz="1650" spc="-37" baseline="-10101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650" baseline="-10101">
                        <a:latin typeface="Calibri"/>
                        <a:cs typeface="Calibri"/>
                      </a:endParaRPr>
                    </a:p>
                  </a:txBody>
                  <a:tcPr marL="0" marR="0" marT="85725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24765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00" spc="-50" dirty="0">
                          <a:solidFill>
                            <a:srgbClr val="21373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160655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00" i="1" spc="-25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w</a:t>
                      </a:r>
                      <a:r>
                        <a:rPr sz="1650" spc="-37" baseline="-10101" dirty="0">
                          <a:solidFill>
                            <a:srgbClr val="213739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650" baseline="-10101">
                        <a:latin typeface="Calibri"/>
                        <a:cs typeface="Calibri"/>
                      </a:endParaRPr>
                    </a:p>
                  </a:txBody>
                  <a:tcPr marL="0" marR="0" marT="317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0" name="object 60"/>
          <p:cNvSpPr txBox="1"/>
          <p:nvPr/>
        </p:nvSpPr>
        <p:spPr>
          <a:xfrm>
            <a:off x="4514850" y="2860675"/>
            <a:ext cx="3870325" cy="2673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457200" algn="l"/>
                <a:tab pos="1049020" algn="l"/>
                <a:tab pos="1638935" algn="l"/>
                <a:tab pos="2085339" algn="l"/>
                <a:tab pos="2531745" algn="l"/>
                <a:tab pos="2978785" algn="l"/>
                <a:tab pos="3712845" algn="l"/>
              </a:tabLst>
            </a:pPr>
            <a:r>
              <a:rPr sz="1550" spc="-50" dirty="0">
                <a:solidFill>
                  <a:srgbClr val="213739"/>
                </a:solidFill>
                <a:latin typeface="Arial MT"/>
                <a:cs typeface="Arial MT"/>
              </a:rPr>
              <a:t>1</a:t>
            </a:r>
            <a:r>
              <a:rPr sz="1550" dirty="0">
                <a:solidFill>
                  <a:srgbClr val="213739"/>
                </a:solidFill>
                <a:latin typeface="Arial MT"/>
                <a:cs typeface="Arial MT"/>
              </a:rPr>
              <a:t>	</a:t>
            </a:r>
            <a:r>
              <a:rPr sz="1550" spc="-50" dirty="0">
                <a:solidFill>
                  <a:srgbClr val="213739"/>
                </a:solidFill>
                <a:latin typeface="Arial MT"/>
                <a:cs typeface="Arial MT"/>
              </a:rPr>
              <a:t>0</a:t>
            </a:r>
            <a:r>
              <a:rPr sz="1550" dirty="0">
                <a:solidFill>
                  <a:srgbClr val="213739"/>
                </a:solidFill>
                <a:latin typeface="Arial MT"/>
                <a:cs typeface="Arial MT"/>
              </a:rPr>
              <a:t>	</a:t>
            </a:r>
            <a:r>
              <a:rPr sz="1550" spc="-50" dirty="0">
                <a:solidFill>
                  <a:srgbClr val="213739"/>
                </a:solidFill>
                <a:latin typeface="Arial MT"/>
                <a:cs typeface="Arial MT"/>
              </a:rPr>
              <a:t>1</a:t>
            </a:r>
            <a:r>
              <a:rPr sz="1550" dirty="0">
                <a:solidFill>
                  <a:srgbClr val="213739"/>
                </a:solidFill>
                <a:latin typeface="Arial MT"/>
                <a:cs typeface="Arial MT"/>
              </a:rPr>
              <a:t>	</a:t>
            </a:r>
            <a:r>
              <a:rPr sz="1550" spc="-50" dirty="0">
                <a:solidFill>
                  <a:srgbClr val="213739"/>
                </a:solidFill>
                <a:latin typeface="Arial MT"/>
                <a:cs typeface="Arial MT"/>
              </a:rPr>
              <a:t>0</a:t>
            </a:r>
            <a:r>
              <a:rPr sz="1550" dirty="0">
                <a:solidFill>
                  <a:srgbClr val="213739"/>
                </a:solidFill>
                <a:latin typeface="Arial MT"/>
                <a:cs typeface="Arial MT"/>
              </a:rPr>
              <a:t>	</a:t>
            </a:r>
            <a:r>
              <a:rPr sz="1550" spc="-50" dirty="0">
                <a:solidFill>
                  <a:srgbClr val="213739"/>
                </a:solidFill>
                <a:latin typeface="Arial MT"/>
                <a:cs typeface="Arial MT"/>
              </a:rPr>
              <a:t>0</a:t>
            </a:r>
            <a:r>
              <a:rPr sz="1550" dirty="0">
                <a:solidFill>
                  <a:srgbClr val="213739"/>
                </a:solidFill>
                <a:latin typeface="Arial MT"/>
                <a:cs typeface="Arial MT"/>
              </a:rPr>
              <a:t>	</a:t>
            </a:r>
            <a:r>
              <a:rPr sz="1550" spc="-50" dirty="0">
                <a:solidFill>
                  <a:srgbClr val="213739"/>
                </a:solidFill>
                <a:latin typeface="Arial MT"/>
                <a:cs typeface="Arial MT"/>
              </a:rPr>
              <a:t>1</a:t>
            </a:r>
            <a:r>
              <a:rPr sz="1550" dirty="0">
                <a:solidFill>
                  <a:srgbClr val="213739"/>
                </a:solidFill>
                <a:latin typeface="Arial MT"/>
                <a:cs typeface="Arial MT"/>
              </a:rPr>
              <a:t>	</a:t>
            </a:r>
            <a:r>
              <a:rPr sz="1550" spc="-50" dirty="0">
                <a:solidFill>
                  <a:srgbClr val="213739"/>
                </a:solidFill>
                <a:latin typeface="Arial MT"/>
                <a:cs typeface="Arial MT"/>
              </a:rPr>
              <a:t>0</a:t>
            </a:r>
            <a:r>
              <a:rPr sz="1550" dirty="0">
                <a:solidFill>
                  <a:srgbClr val="213739"/>
                </a:solidFill>
                <a:latin typeface="Arial MT"/>
                <a:cs typeface="Arial MT"/>
              </a:rPr>
              <a:t>	</a:t>
            </a:r>
            <a:r>
              <a:rPr sz="1550" i="1" spc="-5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8359520" y="2952369"/>
            <a:ext cx="97790" cy="1955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spc="-50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4320540" y="3137661"/>
            <a:ext cx="4636135" cy="6661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  <a:tabLst>
                <a:tab pos="652780" algn="l"/>
                <a:tab pos="1242695" algn="l"/>
                <a:tab pos="1833880" algn="l"/>
                <a:tab pos="2279015" algn="l"/>
                <a:tab pos="2726055" algn="l"/>
                <a:tab pos="3173730" algn="l"/>
                <a:tab pos="3907154" algn="l"/>
                <a:tab pos="4597400" algn="l"/>
              </a:tabLst>
            </a:pPr>
            <a:r>
              <a:rPr sz="1550" u="sng" spc="225" dirty="0">
                <a:solidFill>
                  <a:srgbClr val="213739"/>
                </a:solidFill>
                <a:uFill>
                  <a:solidFill>
                    <a:srgbClr val="213739"/>
                  </a:solidFill>
                </a:uFill>
                <a:latin typeface="Arial MT"/>
                <a:cs typeface="Arial MT"/>
              </a:rPr>
              <a:t>  </a:t>
            </a:r>
            <a:r>
              <a:rPr sz="1550" u="sng" spc="-60" dirty="0">
                <a:solidFill>
                  <a:srgbClr val="213739"/>
                </a:solidFill>
                <a:uFill>
                  <a:solidFill>
                    <a:srgbClr val="213739"/>
                  </a:solidFill>
                </a:uFill>
                <a:latin typeface="Arial MT"/>
                <a:cs typeface="Arial MT"/>
              </a:rPr>
              <a:t>1</a:t>
            </a:r>
            <a:r>
              <a:rPr sz="1550" u="sng" dirty="0">
                <a:solidFill>
                  <a:srgbClr val="213739"/>
                </a:solidFill>
                <a:uFill>
                  <a:solidFill>
                    <a:srgbClr val="213739"/>
                  </a:solidFill>
                </a:uFill>
                <a:latin typeface="Arial MT"/>
                <a:cs typeface="Arial MT"/>
              </a:rPr>
              <a:t>	</a:t>
            </a:r>
            <a:r>
              <a:rPr sz="1550" u="sng" spc="-50" dirty="0">
                <a:solidFill>
                  <a:srgbClr val="213739"/>
                </a:solidFill>
                <a:uFill>
                  <a:solidFill>
                    <a:srgbClr val="213739"/>
                  </a:solidFill>
                </a:uFill>
                <a:latin typeface="Arial MT"/>
                <a:cs typeface="Arial MT"/>
              </a:rPr>
              <a:t>1</a:t>
            </a:r>
            <a:r>
              <a:rPr sz="1550" u="sng" dirty="0">
                <a:solidFill>
                  <a:srgbClr val="213739"/>
                </a:solidFill>
                <a:uFill>
                  <a:solidFill>
                    <a:srgbClr val="213739"/>
                  </a:solidFill>
                </a:uFill>
                <a:latin typeface="Arial MT"/>
                <a:cs typeface="Arial MT"/>
              </a:rPr>
              <a:t>	</a:t>
            </a:r>
            <a:r>
              <a:rPr sz="1550" u="sng" spc="-50" dirty="0">
                <a:solidFill>
                  <a:srgbClr val="213739"/>
                </a:solidFill>
                <a:uFill>
                  <a:solidFill>
                    <a:srgbClr val="213739"/>
                  </a:solidFill>
                </a:uFill>
                <a:latin typeface="Arial MT"/>
                <a:cs typeface="Arial MT"/>
              </a:rPr>
              <a:t>0</a:t>
            </a:r>
            <a:r>
              <a:rPr sz="1550" u="sng" dirty="0">
                <a:solidFill>
                  <a:srgbClr val="213739"/>
                </a:solidFill>
                <a:uFill>
                  <a:solidFill>
                    <a:srgbClr val="213739"/>
                  </a:solidFill>
                </a:uFill>
                <a:latin typeface="Arial MT"/>
                <a:cs typeface="Arial MT"/>
              </a:rPr>
              <a:t>	</a:t>
            </a:r>
            <a:r>
              <a:rPr sz="1550" u="sng" spc="-50" dirty="0">
                <a:solidFill>
                  <a:srgbClr val="213739"/>
                </a:solidFill>
                <a:uFill>
                  <a:solidFill>
                    <a:srgbClr val="213739"/>
                  </a:solidFill>
                </a:uFill>
                <a:latin typeface="Arial MT"/>
                <a:cs typeface="Arial MT"/>
              </a:rPr>
              <a:t>0</a:t>
            </a:r>
            <a:r>
              <a:rPr sz="1550" u="sng" dirty="0">
                <a:solidFill>
                  <a:srgbClr val="213739"/>
                </a:solidFill>
                <a:uFill>
                  <a:solidFill>
                    <a:srgbClr val="213739"/>
                  </a:solidFill>
                </a:uFill>
                <a:latin typeface="Arial MT"/>
                <a:cs typeface="Arial MT"/>
              </a:rPr>
              <a:t>	</a:t>
            </a:r>
            <a:r>
              <a:rPr sz="1550" u="sng" spc="-50" dirty="0">
                <a:solidFill>
                  <a:srgbClr val="213739"/>
                </a:solidFill>
                <a:uFill>
                  <a:solidFill>
                    <a:srgbClr val="213739"/>
                  </a:solidFill>
                </a:uFill>
                <a:latin typeface="Arial MT"/>
                <a:cs typeface="Arial MT"/>
              </a:rPr>
              <a:t>0</a:t>
            </a:r>
            <a:r>
              <a:rPr sz="1550" u="sng" dirty="0">
                <a:solidFill>
                  <a:srgbClr val="213739"/>
                </a:solidFill>
                <a:uFill>
                  <a:solidFill>
                    <a:srgbClr val="213739"/>
                  </a:solidFill>
                </a:uFill>
                <a:latin typeface="Arial MT"/>
                <a:cs typeface="Arial MT"/>
              </a:rPr>
              <a:t>	</a:t>
            </a:r>
            <a:r>
              <a:rPr sz="1550" u="sng" spc="-50" dirty="0">
                <a:solidFill>
                  <a:srgbClr val="213739"/>
                </a:solidFill>
                <a:uFill>
                  <a:solidFill>
                    <a:srgbClr val="213739"/>
                  </a:solidFill>
                </a:uFill>
                <a:latin typeface="Arial MT"/>
                <a:cs typeface="Arial MT"/>
              </a:rPr>
              <a:t>0</a:t>
            </a:r>
            <a:r>
              <a:rPr sz="1550" u="sng" dirty="0">
                <a:solidFill>
                  <a:srgbClr val="213739"/>
                </a:solidFill>
                <a:uFill>
                  <a:solidFill>
                    <a:srgbClr val="213739"/>
                  </a:solidFill>
                </a:uFill>
                <a:latin typeface="Arial MT"/>
                <a:cs typeface="Arial MT"/>
              </a:rPr>
              <a:t>	</a:t>
            </a:r>
            <a:r>
              <a:rPr sz="1550" u="sng" spc="-50" dirty="0">
                <a:solidFill>
                  <a:srgbClr val="213739"/>
                </a:solidFill>
                <a:uFill>
                  <a:solidFill>
                    <a:srgbClr val="213739"/>
                  </a:solidFill>
                </a:uFill>
                <a:latin typeface="Arial MT"/>
                <a:cs typeface="Arial MT"/>
              </a:rPr>
              <a:t>1</a:t>
            </a:r>
            <a:r>
              <a:rPr sz="1550" u="sng" dirty="0">
                <a:solidFill>
                  <a:srgbClr val="213739"/>
                </a:solidFill>
                <a:uFill>
                  <a:solidFill>
                    <a:srgbClr val="213739"/>
                  </a:solidFill>
                </a:uFill>
                <a:latin typeface="Arial MT"/>
                <a:cs typeface="Arial MT"/>
              </a:rPr>
              <a:t>	</a:t>
            </a:r>
            <a:r>
              <a:rPr sz="1550" i="1" u="sng" spc="-25" dirty="0">
                <a:solidFill>
                  <a:srgbClr val="213739"/>
                </a:solidFill>
                <a:uFill>
                  <a:solidFill>
                    <a:srgbClr val="213739"/>
                  </a:solidFill>
                </a:uFill>
                <a:latin typeface="Calibri"/>
                <a:cs typeface="Calibri"/>
              </a:rPr>
              <a:t>w</a:t>
            </a:r>
            <a:r>
              <a:rPr sz="1650" u="sng" spc="-37" baseline="-10101" dirty="0">
                <a:solidFill>
                  <a:srgbClr val="213739"/>
                </a:solidFill>
                <a:uFill>
                  <a:solidFill>
                    <a:srgbClr val="213739"/>
                  </a:solidFill>
                </a:uFill>
                <a:latin typeface="Calibri"/>
                <a:cs typeface="Calibri"/>
              </a:rPr>
              <a:t>4</a:t>
            </a:r>
            <a:r>
              <a:rPr sz="1650" u="sng" baseline="-10101" dirty="0">
                <a:solidFill>
                  <a:srgbClr val="213739"/>
                </a:solidFill>
                <a:uFill>
                  <a:solidFill>
                    <a:srgbClr val="213739"/>
                  </a:solidFill>
                </a:uFill>
                <a:latin typeface="Calibri"/>
                <a:cs typeface="Calibri"/>
              </a:rPr>
              <a:t>	</a:t>
            </a:r>
            <a:endParaRPr sz="1650" baseline="-10101">
              <a:latin typeface="Calibri"/>
              <a:cs typeface="Calibri"/>
            </a:endParaRPr>
          </a:p>
          <a:p>
            <a:pPr marL="474345">
              <a:lnSpc>
                <a:spcPct val="100000"/>
              </a:lnSpc>
              <a:spcBef>
                <a:spcPts val="1285"/>
              </a:spcBef>
            </a:pPr>
            <a:r>
              <a:rPr sz="1550" spc="-20" dirty="0">
                <a:solidFill>
                  <a:srgbClr val="213739"/>
                </a:solidFill>
                <a:latin typeface="Arial MT"/>
                <a:cs typeface="Arial MT"/>
              </a:rPr>
              <a:t>This</a:t>
            </a:r>
            <a:r>
              <a:rPr sz="1550" spc="-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spc="-10" dirty="0">
                <a:solidFill>
                  <a:srgbClr val="213739"/>
                </a:solidFill>
                <a:latin typeface="Arial MT"/>
                <a:cs typeface="Arial MT"/>
              </a:rPr>
              <a:t>results</a:t>
            </a:r>
            <a:r>
              <a:rPr sz="15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213739"/>
                </a:solidFill>
                <a:latin typeface="Arial MT"/>
                <a:cs typeface="Arial MT"/>
              </a:rPr>
              <a:t>in</a:t>
            </a:r>
            <a:r>
              <a:rPr sz="1550" spc="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550" spc="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213739"/>
                </a:solidFill>
                <a:latin typeface="Arial MT"/>
                <a:cs typeface="Arial MT"/>
              </a:rPr>
              <a:t>following</a:t>
            </a:r>
            <a:r>
              <a:rPr sz="1550" spc="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213739"/>
                </a:solidFill>
                <a:latin typeface="Arial MT"/>
                <a:cs typeface="Arial MT"/>
              </a:rPr>
              <a:t>four</a:t>
            </a:r>
            <a:r>
              <a:rPr sz="1550" spc="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spc="-10" dirty="0">
                <a:solidFill>
                  <a:srgbClr val="213739"/>
                </a:solidFill>
                <a:latin typeface="Arial MT"/>
                <a:cs typeface="Arial MT"/>
              </a:rPr>
              <a:t>conditions</a:t>
            </a:r>
            <a:r>
              <a:rPr sz="1550" spc="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spc="-25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6582664" y="3801617"/>
            <a:ext cx="2216150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35"/>
              </a:spcBef>
              <a:tabLst>
                <a:tab pos="363220" algn="l"/>
                <a:tab pos="1040130" algn="l"/>
                <a:tab pos="2017395" algn="l"/>
              </a:tabLst>
            </a:pPr>
            <a:r>
              <a:rPr sz="1550" i="1" spc="-50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550" i="1" dirty="0">
                <a:solidFill>
                  <a:srgbClr val="213739"/>
                </a:solidFill>
                <a:latin typeface="Calibri"/>
                <a:cs typeface="Calibri"/>
              </a:rPr>
              <a:t>	w</a:t>
            </a:r>
            <a:r>
              <a:rPr sz="1650" baseline="-10101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550" i="1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550" i="1" spc="-6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55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650" baseline="-1010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550" dirty="0">
                <a:solidFill>
                  <a:srgbClr val="213739"/>
                </a:solidFill>
                <a:latin typeface="Lucida Sans Unicode"/>
                <a:cs typeface="Lucida Sans Unicode"/>
              </a:rPr>
              <a:t>≥</a:t>
            </a:r>
            <a:r>
              <a:rPr sz="1550" spc="75" dirty="0">
                <a:solidFill>
                  <a:srgbClr val="213739"/>
                </a:solidFill>
                <a:latin typeface="Lucida Sans Unicode"/>
                <a:cs typeface="Lucida Sans Unicode"/>
              </a:rPr>
              <a:t>  </a:t>
            </a:r>
            <a:r>
              <a:rPr sz="15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baseline="-10101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550" i="1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550" i="1" spc="-6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55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r>
              <a:rPr sz="1650" baseline="-1010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550" spc="-50" dirty="0">
                <a:solidFill>
                  <a:srgbClr val="213739"/>
                </a:solidFill>
                <a:latin typeface="Lucida Sans Unicode"/>
                <a:cs typeface="Lucida Sans Unicode"/>
              </a:rPr>
              <a:t>≥</a:t>
            </a:r>
            <a:endParaRPr sz="1550">
              <a:latin typeface="Lucida Sans Unicode"/>
              <a:cs typeface="Lucida Sans Unicode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4757039" y="3755364"/>
            <a:ext cx="4058285" cy="221551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0640" marR="2317750" indent="635">
              <a:lnSpc>
                <a:spcPct val="121800"/>
              </a:lnSpc>
              <a:spcBef>
                <a:spcPts val="90"/>
              </a:spcBef>
            </a:pPr>
            <a:r>
              <a:rPr sz="1550" spc="-10" dirty="0">
                <a:solidFill>
                  <a:srgbClr val="213739"/>
                </a:solidFill>
                <a:latin typeface="Arial MT"/>
                <a:cs typeface="Arial MT"/>
              </a:rPr>
              <a:t>implement</a:t>
            </a:r>
            <a:r>
              <a:rPr sz="1550" spc="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spc="-35" dirty="0">
                <a:solidFill>
                  <a:srgbClr val="213739"/>
                </a:solidFill>
                <a:latin typeface="Arial MT"/>
                <a:cs typeface="Arial MT"/>
              </a:rPr>
              <a:t>XOR:</a:t>
            </a:r>
            <a:r>
              <a:rPr sz="15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i="1" spc="-3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spc="-52" baseline="-10101" dirty="0">
                <a:solidFill>
                  <a:srgbClr val="213739"/>
                </a:solidFill>
                <a:latin typeface="Calibri"/>
                <a:cs typeface="Calibri"/>
              </a:rPr>
              <a:t>1 </a:t>
            </a:r>
            <a:r>
              <a:rPr sz="15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baseline="-10101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r>
              <a:rPr sz="1550" i="1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550" i="1" spc="-3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5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baseline="-10101" dirty="0">
                <a:solidFill>
                  <a:srgbClr val="213739"/>
                </a:solidFill>
                <a:latin typeface="Calibri"/>
                <a:cs typeface="Calibri"/>
              </a:rPr>
              <a:t>4</a:t>
            </a:r>
            <a:r>
              <a:rPr sz="1650" spc="592" baseline="-10101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550" i="1" dirty="0">
                <a:solidFill>
                  <a:srgbClr val="213739"/>
                </a:solidFill>
                <a:latin typeface="Calibri"/>
                <a:cs typeface="Calibri"/>
              </a:rPr>
              <a:t>&lt;</a:t>
            </a:r>
            <a:r>
              <a:rPr sz="1550" i="1" spc="12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55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0</a:t>
            </a:r>
            <a:endParaRPr sz="1650" baseline="-10101">
              <a:latin typeface="Calibri"/>
              <a:cs typeface="Calibri"/>
            </a:endParaRPr>
          </a:p>
          <a:p>
            <a:pPr marL="40640" marR="41275" indent="-3175">
              <a:lnSpc>
                <a:spcPct val="118100"/>
              </a:lnSpc>
              <a:spcBef>
                <a:spcPts val="755"/>
              </a:spcBef>
            </a:pPr>
            <a:r>
              <a:rPr sz="1550" spc="-10" dirty="0">
                <a:solidFill>
                  <a:srgbClr val="213739"/>
                </a:solidFill>
                <a:latin typeface="Arial MT"/>
                <a:cs typeface="Arial MT"/>
              </a:rPr>
              <a:t>Unlike</a:t>
            </a:r>
            <a:r>
              <a:rPr sz="1550" spc="-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spc="-10" dirty="0">
                <a:solidFill>
                  <a:srgbClr val="213739"/>
                </a:solidFill>
                <a:latin typeface="Arial MT"/>
                <a:cs typeface="Arial MT"/>
              </a:rPr>
              <a:t>before,</a:t>
            </a:r>
            <a:r>
              <a:rPr sz="1550" spc="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213739"/>
                </a:solidFill>
                <a:latin typeface="Arial MT"/>
                <a:cs typeface="Arial MT"/>
              </a:rPr>
              <a:t>there</a:t>
            </a:r>
            <a:r>
              <a:rPr sz="1550" spc="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213739"/>
                </a:solidFill>
                <a:latin typeface="Arial MT"/>
                <a:cs typeface="Arial MT"/>
              </a:rPr>
              <a:t>are</a:t>
            </a:r>
            <a:r>
              <a:rPr sz="1550" spc="-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213739"/>
                </a:solidFill>
                <a:latin typeface="Arial MT"/>
                <a:cs typeface="Arial MT"/>
              </a:rPr>
              <a:t>no</a:t>
            </a:r>
            <a:r>
              <a:rPr sz="1550" spc="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spc="-25" dirty="0">
                <a:solidFill>
                  <a:srgbClr val="213739"/>
                </a:solidFill>
                <a:latin typeface="Arial MT"/>
                <a:cs typeface="Arial MT"/>
              </a:rPr>
              <a:t>contradictions</a:t>
            </a:r>
            <a:r>
              <a:rPr sz="1550" spc="-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spc="-25" dirty="0">
                <a:solidFill>
                  <a:srgbClr val="213739"/>
                </a:solidFill>
                <a:latin typeface="Arial MT"/>
                <a:cs typeface="Arial MT"/>
              </a:rPr>
              <a:t>now </a:t>
            </a:r>
            <a:r>
              <a:rPr sz="1550" spc="-50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550" spc="-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550" spc="-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spc="-80" dirty="0">
                <a:solidFill>
                  <a:srgbClr val="213739"/>
                </a:solidFill>
                <a:latin typeface="Arial MT"/>
                <a:cs typeface="Arial MT"/>
              </a:rPr>
              <a:t>system</a:t>
            </a:r>
            <a:r>
              <a:rPr sz="1550" spc="-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5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spc="-65" dirty="0">
                <a:solidFill>
                  <a:srgbClr val="213739"/>
                </a:solidFill>
                <a:latin typeface="Arial MT"/>
                <a:cs typeface="Arial MT"/>
              </a:rPr>
              <a:t>inequalities</a:t>
            </a:r>
            <a:r>
              <a:rPr sz="1550" spc="-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spc="-60" dirty="0">
                <a:solidFill>
                  <a:srgbClr val="213739"/>
                </a:solidFill>
                <a:latin typeface="Arial MT"/>
                <a:cs typeface="Arial MT"/>
              </a:rPr>
              <a:t>can</a:t>
            </a:r>
            <a:r>
              <a:rPr sz="15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spc="-55" dirty="0">
                <a:solidFill>
                  <a:srgbClr val="213739"/>
                </a:solidFill>
                <a:latin typeface="Arial MT"/>
                <a:cs typeface="Arial MT"/>
              </a:rPr>
              <a:t>be</a:t>
            </a:r>
            <a:r>
              <a:rPr sz="15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spc="-10" dirty="0">
                <a:solidFill>
                  <a:srgbClr val="213739"/>
                </a:solidFill>
                <a:latin typeface="Arial MT"/>
                <a:cs typeface="Arial MT"/>
              </a:rPr>
              <a:t>satisfied</a:t>
            </a:r>
            <a:endParaRPr sz="1550">
              <a:latin typeface="Arial MT"/>
              <a:cs typeface="Arial MT"/>
            </a:endParaRPr>
          </a:p>
          <a:p>
            <a:pPr marL="40640" marR="30480" indent="-3175" algn="just">
              <a:lnSpc>
                <a:spcPct val="117800"/>
              </a:lnSpc>
              <a:spcBef>
                <a:spcPts val="990"/>
              </a:spcBef>
            </a:pPr>
            <a:r>
              <a:rPr sz="1550" spc="-114" dirty="0">
                <a:solidFill>
                  <a:srgbClr val="213739"/>
                </a:solidFill>
                <a:latin typeface="Arial MT"/>
                <a:cs typeface="Arial MT"/>
              </a:rPr>
              <a:t>Essentia</a:t>
            </a:r>
            <a:r>
              <a:rPr sz="1550" spc="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spc="-50" dirty="0">
                <a:solidFill>
                  <a:srgbClr val="213739"/>
                </a:solidFill>
                <a:latin typeface="Arial MT"/>
                <a:cs typeface="Arial MT"/>
              </a:rPr>
              <a:t>ly</a:t>
            </a:r>
            <a:r>
              <a:rPr sz="1550" spc="-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spc="-105" dirty="0">
                <a:solidFill>
                  <a:srgbClr val="213739"/>
                </a:solidFill>
                <a:latin typeface="Arial MT"/>
                <a:cs typeface="Arial MT"/>
              </a:rPr>
              <a:t>each</a:t>
            </a:r>
            <a:r>
              <a:rPr sz="15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i="1" baseline="-10101" dirty="0">
                <a:solidFill>
                  <a:srgbClr val="213739"/>
                </a:solidFill>
                <a:latin typeface="Calibri"/>
                <a:cs typeface="Calibri"/>
              </a:rPr>
              <a:t>i</a:t>
            </a:r>
            <a:r>
              <a:rPr sz="1650" i="1" spc="300" baseline="-10101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550" spc="-50" dirty="0">
                <a:solidFill>
                  <a:srgbClr val="213739"/>
                </a:solidFill>
                <a:latin typeface="Arial MT"/>
                <a:cs typeface="Arial MT"/>
              </a:rPr>
              <a:t>is</a:t>
            </a:r>
            <a:r>
              <a:rPr sz="1550" spc="-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spc="-20" dirty="0">
                <a:solidFill>
                  <a:srgbClr val="213739"/>
                </a:solidFill>
                <a:latin typeface="Arial MT"/>
                <a:cs typeface="Arial MT"/>
              </a:rPr>
              <a:t>now</a:t>
            </a:r>
            <a:r>
              <a:rPr sz="1550" spc="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spc="-70" dirty="0">
                <a:solidFill>
                  <a:srgbClr val="213739"/>
                </a:solidFill>
                <a:latin typeface="Arial MT"/>
                <a:cs typeface="Arial MT"/>
              </a:rPr>
              <a:t>responsible</a:t>
            </a:r>
            <a:r>
              <a:rPr sz="15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213739"/>
                </a:solidFill>
                <a:latin typeface="Arial MT"/>
                <a:cs typeface="Arial MT"/>
              </a:rPr>
              <a:t>for</a:t>
            </a:r>
            <a:r>
              <a:rPr sz="1550" spc="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spc="-35" dirty="0">
                <a:solidFill>
                  <a:srgbClr val="213739"/>
                </a:solidFill>
                <a:latin typeface="Arial MT"/>
                <a:cs typeface="Arial MT"/>
              </a:rPr>
              <a:t>one</a:t>
            </a:r>
            <a:r>
              <a:rPr sz="1550" spc="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spc="-25" dirty="0">
                <a:solidFill>
                  <a:srgbClr val="213739"/>
                </a:solidFill>
                <a:latin typeface="Arial MT"/>
                <a:cs typeface="Arial MT"/>
              </a:rPr>
              <a:t>of </a:t>
            </a:r>
            <a:r>
              <a:rPr sz="15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5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213739"/>
                </a:solidFill>
                <a:latin typeface="Arial MT"/>
                <a:cs typeface="Arial MT"/>
              </a:rPr>
              <a:t>4</a:t>
            </a:r>
            <a:r>
              <a:rPr sz="1550" spc="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spc="-70" dirty="0">
                <a:solidFill>
                  <a:srgbClr val="213739"/>
                </a:solidFill>
                <a:latin typeface="Arial MT"/>
                <a:cs typeface="Arial MT"/>
              </a:rPr>
              <a:t>possible</a:t>
            </a:r>
            <a:r>
              <a:rPr sz="1550" spc="-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spc="-10" dirty="0">
                <a:solidFill>
                  <a:srgbClr val="213739"/>
                </a:solidFill>
                <a:latin typeface="Arial MT"/>
                <a:cs typeface="Arial MT"/>
              </a:rPr>
              <a:t>inputs</a:t>
            </a:r>
            <a:r>
              <a:rPr sz="1550" spc="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spc="-60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550" spc="-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spc="-80" dirty="0">
                <a:solidFill>
                  <a:srgbClr val="213739"/>
                </a:solidFill>
                <a:latin typeface="Arial MT"/>
                <a:cs typeface="Arial MT"/>
              </a:rPr>
              <a:t>can</a:t>
            </a:r>
            <a:r>
              <a:rPr sz="1550" spc="-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spc="-105" dirty="0">
                <a:solidFill>
                  <a:srgbClr val="213739"/>
                </a:solidFill>
                <a:latin typeface="Arial MT"/>
                <a:cs typeface="Arial MT"/>
              </a:rPr>
              <a:t>be</a:t>
            </a:r>
            <a:r>
              <a:rPr sz="15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spc="-35" dirty="0">
                <a:solidFill>
                  <a:srgbClr val="213739"/>
                </a:solidFill>
                <a:latin typeface="Arial MT"/>
                <a:cs typeface="Arial MT"/>
              </a:rPr>
              <a:t>adjusted</a:t>
            </a:r>
            <a:r>
              <a:rPr sz="1550" spc="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1550" spc="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spc="-25" dirty="0">
                <a:solidFill>
                  <a:srgbClr val="213739"/>
                </a:solidFill>
                <a:latin typeface="Arial MT"/>
                <a:cs typeface="Arial MT"/>
              </a:rPr>
              <a:t>get </a:t>
            </a:r>
            <a:r>
              <a:rPr sz="15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550" spc="-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spc="-85" dirty="0">
                <a:solidFill>
                  <a:srgbClr val="213739"/>
                </a:solidFill>
                <a:latin typeface="Arial MT"/>
                <a:cs typeface="Arial MT"/>
              </a:rPr>
              <a:t>desired</a:t>
            </a:r>
            <a:r>
              <a:rPr sz="15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213739"/>
                </a:solidFill>
                <a:latin typeface="Arial MT"/>
                <a:cs typeface="Arial MT"/>
              </a:rPr>
              <a:t>output</a:t>
            </a:r>
            <a:r>
              <a:rPr sz="1550" spc="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spc="-10" dirty="0">
                <a:solidFill>
                  <a:srgbClr val="213739"/>
                </a:solidFill>
                <a:latin typeface="Arial MT"/>
                <a:cs typeface="Arial MT"/>
              </a:rPr>
              <a:t>for</a:t>
            </a:r>
            <a:r>
              <a:rPr sz="1550" spc="-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213739"/>
                </a:solidFill>
                <a:latin typeface="Arial MT"/>
                <a:cs typeface="Arial MT"/>
              </a:rPr>
              <a:t>that</a:t>
            </a:r>
            <a:r>
              <a:rPr sz="1550" spc="-20" dirty="0">
                <a:solidFill>
                  <a:srgbClr val="213739"/>
                </a:solidFill>
                <a:latin typeface="Arial MT"/>
                <a:cs typeface="Arial MT"/>
              </a:rPr>
              <a:t> input</a:t>
            </a:r>
            <a:endParaRPr sz="155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32279" y="2132355"/>
            <a:ext cx="221589" cy="22158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720339" y="4110608"/>
            <a:ext cx="244475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500" i="1" spc="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650" spc="37" baseline="-10101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650" baseline="-10101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16407" y="2985642"/>
            <a:ext cx="3630295" cy="570865"/>
            <a:chOff x="516407" y="2985642"/>
            <a:chExt cx="3630295" cy="570865"/>
          </a:xfrm>
        </p:grpSpPr>
        <p:sp>
          <p:nvSpPr>
            <p:cNvPr id="5" name="object 5"/>
            <p:cNvSpPr/>
            <p:nvPr/>
          </p:nvSpPr>
          <p:spPr>
            <a:xfrm>
              <a:off x="544677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256921" y="0"/>
                  </a:moveTo>
                  <a:lnTo>
                    <a:pt x="188620" y="9144"/>
                  </a:lnTo>
                  <a:lnTo>
                    <a:pt x="127241" y="35051"/>
                  </a:lnTo>
                  <a:lnTo>
                    <a:pt x="75247" y="75184"/>
                  </a:lnTo>
                  <a:lnTo>
                    <a:pt x="35077" y="127126"/>
                  </a:lnTo>
                  <a:lnTo>
                    <a:pt x="9182" y="188595"/>
                  </a:lnTo>
                  <a:lnTo>
                    <a:pt x="0" y="256794"/>
                  </a:lnTo>
                  <a:lnTo>
                    <a:pt x="9182" y="325120"/>
                  </a:lnTo>
                  <a:lnTo>
                    <a:pt x="35077" y="386588"/>
                  </a:lnTo>
                  <a:lnTo>
                    <a:pt x="75247" y="438531"/>
                  </a:lnTo>
                  <a:lnTo>
                    <a:pt x="127241" y="478663"/>
                  </a:lnTo>
                  <a:lnTo>
                    <a:pt x="188620" y="504571"/>
                  </a:lnTo>
                  <a:lnTo>
                    <a:pt x="256921" y="513714"/>
                  </a:lnTo>
                  <a:lnTo>
                    <a:pt x="325221" y="504571"/>
                  </a:lnTo>
                  <a:lnTo>
                    <a:pt x="386588" y="478663"/>
                  </a:lnTo>
                  <a:lnTo>
                    <a:pt x="438581" y="438531"/>
                  </a:lnTo>
                  <a:lnTo>
                    <a:pt x="478764" y="386588"/>
                  </a:lnTo>
                  <a:lnTo>
                    <a:pt x="504659" y="325120"/>
                  </a:lnTo>
                  <a:lnTo>
                    <a:pt x="513842" y="256794"/>
                  </a:lnTo>
                  <a:lnTo>
                    <a:pt x="504659" y="188595"/>
                  </a:lnTo>
                  <a:lnTo>
                    <a:pt x="478764" y="127126"/>
                  </a:lnTo>
                  <a:lnTo>
                    <a:pt x="438581" y="75184"/>
                  </a:lnTo>
                  <a:lnTo>
                    <a:pt x="386588" y="35051"/>
                  </a:lnTo>
                  <a:lnTo>
                    <a:pt x="325221" y="9144"/>
                  </a:lnTo>
                  <a:lnTo>
                    <a:pt x="256921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44677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513842" y="256794"/>
                  </a:moveTo>
                  <a:lnTo>
                    <a:pt x="504659" y="188595"/>
                  </a:lnTo>
                  <a:lnTo>
                    <a:pt x="478764" y="127126"/>
                  </a:lnTo>
                  <a:lnTo>
                    <a:pt x="438581" y="75184"/>
                  </a:lnTo>
                  <a:lnTo>
                    <a:pt x="386588" y="35051"/>
                  </a:lnTo>
                  <a:lnTo>
                    <a:pt x="325221" y="9144"/>
                  </a:lnTo>
                  <a:lnTo>
                    <a:pt x="256921" y="0"/>
                  </a:lnTo>
                  <a:lnTo>
                    <a:pt x="188620" y="9144"/>
                  </a:lnTo>
                  <a:lnTo>
                    <a:pt x="127241" y="35051"/>
                  </a:lnTo>
                  <a:lnTo>
                    <a:pt x="75247" y="75184"/>
                  </a:lnTo>
                  <a:lnTo>
                    <a:pt x="35077" y="127126"/>
                  </a:lnTo>
                  <a:lnTo>
                    <a:pt x="9182" y="188595"/>
                  </a:lnTo>
                  <a:lnTo>
                    <a:pt x="0" y="256794"/>
                  </a:lnTo>
                  <a:lnTo>
                    <a:pt x="9182" y="325120"/>
                  </a:lnTo>
                  <a:lnTo>
                    <a:pt x="35077" y="386588"/>
                  </a:lnTo>
                  <a:lnTo>
                    <a:pt x="75247" y="438531"/>
                  </a:lnTo>
                  <a:lnTo>
                    <a:pt x="127241" y="478663"/>
                  </a:lnTo>
                  <a:lnTo>
                    <a:pt x="188620" y="504571"/>
                  </a:lnTo>
                  <a:lnTo>
                    <a:pt x="256921" y="513714"/>
                  </a:lnTo>
                  <a:lnTo>
                    <a:pt x="325221" y="504571"/>
                  </a:lnTo>
                  <a:lnTo>
                    <a:pt x="386588" y="478663"/>
                  </a:lnTo>
                  <a:lnTo>
                    <a:pt x="438581" y="438531"/>
                  </a:lnTo>
                  <a:lnTo>
                    <a:pt x="478764" y="386588"/>
                  </a:lnTo>
                  <a:lnTo>
                    <a:pt x="504659" y="325120"/>
                  </a:lnTo>
                  <a:lnTo>
                    <a:pt x="513842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72387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256920" y="0"/>
                  </a:moveTo>
                  <a:lnTo>
                    <a:pt x="188594" y="9144"/>
                  </a:lnTo>
                  <a:lnTo>
                    <a:pt x="127254" y="35051"/>
                  </a:lnTo>
                  <a:lnTo>
                    <a:pt x="75183" y="75184"/>
                  </a:lnTo>
                  <a:lnTo>
                    <a:pt x="35051" y="127126"/>
                  </a:lnTo>
                  <a:lnTo>
                    <a:pt x="9143" y="188595"/>
                  </a:lnTo>
                  <a:lnTo>
                    <a:pt x="0" y="256794"/>
                  </a:lnTo>
                  <a:lnTo>
                    <a:pt x="9143" y="325120"/>
                  </a:lnTo>
                  <a:lnTo>
                    <a:pt x="35051" y="386588"/>
                  </a:lnTo>
                  <a:lnTo>
                    <a:pt x="75183" y="438531"/>
                  </a:lnTo>
                  <a:lnTo>
                    <a:pt x="127254" y="478663"/>
                  </a:lnTo>
                  <a:lnTo>
                    <a:pt x="188594" y="504571"/>
                  </a:lnTo>
                  <a:lnTo>
                    <a:pt x="256920" y="513714"/>
                  </a:lnTo>
                  <a:lnTo>
                    <a:pt x="325119" y="504571"/>
                  </a:lnTo>
                  <a:lnTo>
                    <a:pt x="386588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0" y="325120"/>
                  </a:lnTo>
                  <a:lnTo>
                    <a:pt x="513842" y="256794"/>
                  </a:lnTo>
                  <a:lnTo>
                    <a:pt x="504570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588" y="35051"/>
                  </a:lnTo>
                  <a:lnTo>
                    <a:pt x="325119" y="9144"/>
                  </a:lnTo>
                  <a:lnTo>
                    <a:pt x="256920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72387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513842" y="256794"/>
                  </a:moveTo>
                  <a:lnTo>
                    <a:pt x="504570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588" y="35051"/>
                  </a:lnTo>
                  <a:lnTo>
                    <a:pt x="325119" y="9144"/>
                  </a:lnTo>
                  <a:lnTo>
                    <a:pt x="256920" y="0"/>
                  </a:lnTo>
                  <a:lnTo>
                    <a:pt x="188594" y="9144"/>
                  </a:lnTo>
                  <a:lnTo>
                    <a:pt x="127254" y="35051"/>
                  </a:lnTo>
                  <a:lnTo>
                    <a:pt x="75183" y="75184"/>
                  </a:lnTo>
                  <a:lnTo>
                    <a:pt x="35051" y="127126"/>
                  </a:lnTo>
                  <a:lnTo>
                    <a:pt x="9143" y="188595"/>
                  </a:lnTo>
                  <a:lnTo>
                    <a:pt x="0" y="256794"/>
                  </a:lnTo>
                  <a:lnTo>
                    <a:pt x="9143" y="325120"/>
                  </a:lnTo>
                  <a:lnTo>
                    <a:pt x="35051" y="386588"/>
                  </a:lnTo>
                  <a:lnTo>
                    <a:pt x="75183" y="438531"/>
                  </a:lnTo>
                  <a:lnTo>
                    <a:pt x="127254" y="478663"/>
                  </a:lnTo>
                  <a:lnTo>
                    <a:pt x="188594" y="504571"/>
                  </a:lnTo>
                  <a:lnTo>
                    <a:pt x="256920" y="513714"/>
                  </a:lnTo>
                  <a:lnTo>
                    <a:pt x="325119" y="504571"/>
                  </a:lnTo>
                  <a:lnTo>
                    <a:pt x="386588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0" y="325120"/>
                  </a:lnTo>
                  <a:lnTo>
                    <a:pt x="513842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600070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256921" y="0"/>
                  </a:moveTo>
                  <a:lnTo>
                    <a:pt x="188595" y="9144"/>
                  </a:lnTo>
                  <a:lnTo>
                    <a:pt x="127254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3" y="188595"/>
                  </a:lnTo>
                  <a:lnTo>
                    <a:pt x="0" y="256794"/>
                  </a:lnTo>
                  <a:lnTo>
                    <a:pt x="9143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254" y="478663"/>
                  </a:lnTo>
                  <a:lnTo>
                    <a:pt x="188595" y="504571"/>
                  </a:lnTo>
                  <a:lnTo>
                    <a:pt x="256921" y="513714"/>
                  </a:lnTo>
                  <a:lnTo>
                    <a:pt x="325120" y="504571"/>
                  </a:lnTo>
                  <a:lnTo>
                    <a:pt x="386588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842" y="256794"/>
                  </a:ln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588" y="35051"/>
                  </a:lnTo>
                  <a:lnTo>
                    <a:pt x="325120" y="9144"/>
                  </a:lnTo>
                  <a:lnTo>
                    <a:pt x="256921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600070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513842" y="256794"/>
                  </a:move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588" y="35051"/>
                  </a:lnTo>
                  <a:lnTo>
                    <a:pt x="325120" y="9144"/>
                  </a:lnTo>
                  <a:lnTo>
                    <a:pt x="256921" y="0"/>
                  </a:lnTo>
                  <a:lnTo>
                    <a:pt x="188595" y="9144"/>
                  </a:lnTo>
                  <a:lnTo>
                    <a:pt x="127254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3" y="188595"/>
                  </a:lnTo>
                  <a:lnTo>
                    <a:pt x="0" y="256794"/>
                  </a:lnTo>
                  <a:lnTo>
                    <a:pt x="9143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254" y="478663"/>
                  </a:lnTo>
                  <a:lnTo>
                    <a:pt x="188595" y="504571"/>
                  </a:lnTo>
                  <a:lnTo>
                    <a:pt x="256921" y="513714"/>
                  </a:lnTo>
                  <a:lnTo>
                    <a:pt x="325120" y="504571"/>
                  </a:lnTo>
                  <a:lnTo>
                    <a:pt x="386588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842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627755" y="3013963"/>
              <a:ext cx="513715" cy="513715"/>
            </a:xfrm>
            <a:custGeom>
              <a:avLst/>
              <a:gdLst/>
              <a:ahLst/>
              <a:cxnLst/>
              <a:rect l="l" t="t" r="r" b="b"/>
              <a:pathLst>
                <a:path w="513714" h="513714">
                  <a:moveTo>
                    <a:pt x="256794" y="0"/>
                  </a:moveTo>
                  <a:lnTo>
                    <a:pt x="188595" y="9144"/>
                  </a:lnTo>
                  <a:lnTo>
                    <a:pt x="127127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4" y="188595"/>
                  </a:lnTo>
                  <a:lnTo>
                    <a:pt x="0" y="256794"/>
                  </a:lnTo>
                  <a:lnTo>
                    <a:pt x="9144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127" y="478663"/>
                  </a:lnTo>
                  <a:lnTo>
                    <a:pt x="188595" y="504571"/>
                  </a:lnTo>
                  <a:lnTo>
                    <a:pt x="256794" y="513714"/>
                  </a:lnTo>
                  <a:lnTo>
                    <a:pt x="325120" y="504571"/>
                  </a:lnTo>
                  <a:lnTo>
                    <a:pt x="386461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715" y="256794"/>
                  </a:ln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461" y="35051"/>
                  </a:lnTo>
                  <a:lnTo>
                    <a:pt x="325120" y="9144"/>
                  </a:lnTo>
                  <a:lnTo>
                    <a:pt x="256794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627755" y="3013963"/>
              <a:ext cx="513715" cy="513715"/>
            </a:xfrm>
            <a:custGeom>
              <a:avLst/>
              <a:gdLst/>
              <a:ahLst/>
              <a:cxnLst/>
              <a:rect l="l" t="t" r="r" b="b"/>
              <a:pathLst>
                <a:path w="513714" h="513714">
                  <a:moveTo>
                    <a:pt x="513715" y="256794"/>
                  </a:move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461" y="35051"/>
                  </a:lnTo>
                  <a:lnTo>
                    <a:pt x="325120" y="9144"/>
                  </a:lnTo>
                  <a:lnTo>
                    <a:pt x="256794" y="0"/>
                  </a:lnTo>
                  <a:lnTo>
                    <a:pt x="188595" y="9144"/>
                  </a:lnTo>
                  <a:lnTo>
                    <a:pt x="127127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4" y="188595"/>
                  </a:lnTo>
                  <a:lnTo>
                    <a:pt x="0" y="256794"/>
                  </a:lnTo>
                  <a:lnTo>
                    <a:pt x="9144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127" y="478663"/>
                  </a:lnTo>
                  <a:lnTo>
                    <a:pt x="188595" y="504571"/>
                  </a:lnTo>
                  <a:lnTo>
                    <a:pt x="256794" y="513714"/>
                  </a:lnTo>
                  <a:lnTo>
                    <a:pt x="325120" y="504571"/>
                  </a:lnTo>
                  <a:lnTo>
                    <a:pt x="386461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715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21487" y="2990722"/>
              <a:ext cx="560705" cy="560705"/>
            </a:xfrm>
            <a:custGeom>
              <a:avLst/>
              <a:gdLst/>
              <a:ahLst/>
              <a:cxnLst/>
              <a:rect l="l" t="t" r="r" b="b"/>
              <a:pathLst>
                <a:path w="560705" h="560704">
                  <a:moveTo>
                    <a:pt x="280111" y="0"/>
                  </a:moveTo>
                  <a:lnTo>
                    <a:pt x="205638" y="10032"/>
                  </a:lnTo>
                  <a:lnTo>
                    <a:pt x="138734" y="38226"/>
                  </a:lnTo>
                  <a:lnTo>
                    <a:pt x="82042" y="82041"/>
                  </a:lnTo>
                  <a:lnTo>
                    <a:pt x="38239" y="138684"/>
                  </a:lnTo>
                  <a:lnTo>
                    <a:pt x="9994" y="205612"/>
                  </a:lnTo>
                  <a:lnTo>
                    <a:pt x="0" y="280035"/>
                  </a:lnTo>
                  <a:lnTo>
                    <a:pt x="9994" y="354584"/>
                  </a:lnTo>
                  <a:lnTo>
                    <a:pt x="38239" y="421513"/>
                  </a:lnTo>
                  <a:lnTo>
                    <a:pt x="82042" y="478154"/>
                  </a:lnTo>
                  <a:lnTo>
                    <a:pt x="138734" y="521969"/>
                  </a:lnTo>
                  <a:lnTo>
                    <a:pt x="205638" y="550163"/>
                  </a:lnTo>
                  <a:lnTo>
                    <a:pt x="280111" y="560197"/>
                  </a:lnTo>
                  <a:lnTo>
                    <a:pt x="354571" y="550163"/>
                  </a:lnTo>
                  <a:lnTo>
                    <a:pt x="421487" y="521969"/>
                  </a:lnTo>
                  <a:lnTo>
                    <a:pt x="478180" y="478154"/>
                  </a:lnTo>
                  <a:lnTo>
                    <a:pt x="521982" y="421513"/>
                  </a:lnTo>
                  <a:lnTo>
                    <a:pt x="550214" y="354584"/>
                  </a:lnTo>
                  <a:lnTo>
                    <a:pt x="560222" y="280035"/>
                  </a:lnTo>
                  <a:lnTo>
                    <a:pt x="550214" y="205612"/>
                  </a:lnTo>
                  <a:lnTo>
                    <a:pt x="521982" y="138684"/>
                  </a:lnTo>
                  <a:lnTo>
                    <a:pt x="478180" y="82041"/>
                  </a:lnTo>
                  <a:lnTo>
                    <a:pt x="421487" y="38226"/>
                  </a:lnTo>
                  <a:lnTo>
                    <a:pt x="354571" y="10032"/>
                  </a:lnTo>
                  <a:lnTo>
                    <a:pt x="280111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21487" y="2990722"/>
              <a:ext cx="560705" cy="560705"/>
            </a:xfrm>
            <a:custGeom>
              <a:avLst/>
              <a:gdLst/>
              <a:ahLst/>
              <a:cxnLst/>
              <a:rect l="l" t="t" r="r" b="b"/>
              <a:pathLst>
                <a:path w="560705" h="560704">
                  <a:moveTo>
                    <a:pt x="560222" y="280035"/>
                  </a:moveTo>
                  <a:lnTo>
                    <a:pt x="550214" y="205612"/>
                  </a:lnTo>
                  <a:lnTo>
                    <a:pt x="521982" y="138684"/>
                  </a:lnTo>
                  <a:lnTo>
                    <a:pt x="478180" y="82041"/>
                  </a:lnTo>
                  <a:lnTo>
                    <a:pt x="421487" y="38226"/>
                  </a:lnTo>
                  <a:lnTo>
                    <a:pt x="354571" y="10032"/>
                  </a:lnTo>
                  <a:lnTo>
                    <a:pt x="280111" y="0"/>
                  </a:lnTo>
                  <a:lnTo>
                    <a:pt x="205638" y="10032"/>
                  </a:lnTo>
                  <a:lnTo>
                    <a:pt x="138734" y="38226"/>
                  </a:lnTo>
                  <a:lnTo>
                    <a:pt x="82042" y="82041"/>
                  </a:lnTo>
                  <a:lnTo>
                    <a:pt x="38239" y="138684"/>
                  </a:lnTo>
                  <a:lnTo>
                    <a:pt x="9994" y="205612"/>
                  </a:lnTo>
                  <a:lnTo>
                    <a:pt x="0" y="280035"/>
                  </a:lnTo>
                  <a:lnTo>
                    <a:pt x="9994" y="354584"/>
                  </a:lnTo>
                  <a:lnTo>
                    <a:pt x="38239" y="421513"/>
                  </a:lnTo>
                  <a:lnTo>
                    <a:pt x="82042" y="478154"/>
                  </a:lnTo>
                  <a:lnTo>
                    <a:pt x="138734" y="521969"/>
                  </a:lnTo>
                  <a:lnTo>
                    <a:pt x="205638" y="550163"/>
                  </a:lnTo>
                  <a:lnTo>
                    <a:pt x="280111" y="560197"/>
                  </a:lnTo>
                  <a:lnTo>
                    <a:pt x="354571" y="550163"/>
                  </a:lnTo>
                  <a:lnTo>
                    <a:pt x="421487" y="521969"/>
                  </a:lnTo>
                  <a:lnTo>
                    <a:pt x="478180" y="478154"/>
                  </a:lnTo>
                  <a:lnTo>
                    <a:pt x="521982" y="421513"/>
                  </a:lnTo>
                  <a:lnTo>
                    <a:pt x="550214" y="354584"/>
                  </a:lnTo>
                  <a:lnTo>
                    <a:pt x="560222" y="280035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90397" y="2723515"/>
            <a:ext cx="431800" cy="644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11125">
              <a:lnSpc>
                <a:spcPct val="100000"/>
              </a:lnSpc>
              <a:spcBef>
                <a:spcPts val="110"/>
              </a:spcBef>
            </a:pP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h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650" baseline="-10101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1260"/>
              </a:spcBef>
            </a:pPr>
            <a:r>
              <a:rPr sz="1500" spc="-60" dirty="0">
                <a:solidFill>
                  <a:srgbClr val="213739"/>
                </a:solidFill>
                <a:latin typeface="Arial MT"/>
                <a:cs typeface="Arial MT"/>
              </a:rPr>
              <a:t>-</a:t>
            </a:r>
            <a:r>
              <a:rPr sz="1500" spc="-85" dirty="0">
                <a:solidFill>
                  <a:srgbClr val="213739"/>
                </a:solidFill>
                <a:latin typeface="Arial MT"/>
                <a:cs typeface="Arial MT"/>
              </a:rPr>
              <a:t>1,-</a:t>
            </a:r>
            <a:r>
              <a:rPr sz="1500" spc="-50" dirty="0">
                <a:solidFill>
                  <a:srgbClr val="213739"/>
                </a:solidFill>
                <a:latin typeface="Arial MT"/>
                <a:cs typeface="Arial MT"/>
              </a:rPr>
              <a:t>1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563497" y="3005073"/>
            <a:ext cx="2583180" cy="531495"/>
            <a:chOff x="1563497" y="3005073"/>
            <a:chExt cx="2583180" cy="531495"/>
          </a:xfrm>
        </p:grpSpPr>
        <p:sp>
          <p:nvSpPr>
            <p:cNvPr id="17" name="object 17"/>
            <p:cNvSpPr/>
            <p:nvPr/>
          </p:nvSpPr>
          <p:spPr>
            <a:xfrm>
              <a:off x="1568577" y="3010153"/>
              <a:ext cx="521334" cy="521334"/>
            </a:xfrm>
            <a:custGeom>
              <a:avLst/>
              <a:gdLst/>
              <a:ahLst/>
              <a:cxnLst/>
              <a:rect l="l" t="t" r="r" b="b"/>
              <a:pathLst>
                <a:path w="521335" h="521335">
                  <a:moveTo>
                    <a:pt x="260730" y="0"/>
                  </a:moveTo>
                  <a:lnTo>
                    <a:pt x="191389" y="9271"/>
                  </a:lnTo>
                  <a:lnTo>
                    <a:pt x="129159" y="35560"/>
                  </a:lnTo>
                  <a:lnTo>
                    <a:pt x="76327" y="76326"/>
                  </a:lnTo>
                  <a:lnTo>
                    <a:pt x="35559" y="129159"/>
                  </a:lnTo>
                  <a:lnTo>
                    <a:pt x="9270" y="191388"/>
                  </a:lnTo>
                  <a:lnTo>
                    <a:pt x="0" y="260604"/>
                  </a:lnTo>
                  <a:lnTo>
                    <a:pt x="9270" y="329946"/>
                  </a:lnTo>
                  <a:lnTo>
                    <a:pt x="35559" y="392175"/>
                  </a:lnTo>
                  <a:lnTo>
                    <a:pt x="76327" y="445008"/>
                  </a:lnTo>
                  <a:lnTo>
                    <a:pt x="129159" y="485775"/>
                  </a:lnTo>
                  <a:lnTo>
                    <a:pt x="191389" y="512063"/>
                  </a:lnTo>
                  <a:lnTo>
                    <a:pt x="260730" y="521335"/>
                  </a:lnTo>
                  <a:lnTo>
                    <a:pt x="329946" y="512063"/>
                  </a:lnTo>
                  <a:lnTo>
                    <a:pt x="392303" y="485775"/>
                  </a:lnTo>
                  <a:lnTo>
                    <a:pt x="445008" y="445008"/>
                  </a:lnTo>
                  <a:lnTo>
                    <a:pt x="485774" y="392175"/>
                  </a:lnTo>
                  <a:lnTo>
                    <a:pt x="512064" y="329946"/>
                  </a:lnTo>
                  <a:lnTo>
                    <a:pt x="521334" y="260604"/>
                  </a:lnTo>
                  <a:lnTo>
                    <a:pt x="512064" y="191388"/>
                  </a:lnTo>
                  <a:lnTo>
                    <a:pt x="485774" y="129159"/>
                  </a:lnTo>
                  <a:lnTo>
                    <a:pt x="445008" y="76326"/>
                  </a:lnTo>
                  <a:lnTo>
                    <a:pt x="392303" y="35560"/>
                  </a:lnTo>
                  <a:lnTo>
                    <a:pt x="329946" y="9271"/>
                  </a:lnTo>
                  <a:lnTo>
                    <a:pt x="260730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568577" y="3010153"/>
              <a:ext cx="521334" cy="521334"/>
            </a:xfrm>
            <a:custGeom>
              <a:avLst/>
              <a:gdLst/>
              <a:ahLst/>
              <a:cxnLst/>
              <a:rect l="l" t="t" r="r" b="b"/>
              <a:pathLst>
                <a:path w="521335" h="521335">
                  <a:moveTo>
                    <a:pt x="521334" y="260604"/>
                  </a:moveTo>
                  <a:lnTo>
                    <a:pt x="512064" y="191388"/>
                  </a:lnTo>
                  <a:lnTo>
                    <a:pt x="485774" y="129159"/>
                  </a:lnTo>
                  <a:lnTo>
                    <a:pt x="445008" y="76326"/>
                  </a:lnTo>
                  <a:lnTo>
                    <a:pt x="392303" y="35560"/>
                  </a:lnTo>
                  <a:lnTo>
                    <a:pt x="329946" y="9271"/>
                  </a:lnTo>
                  <a:lnTo>
                    <a:pt x="260730" y="0"/>
                  </a:lnTo>
                  <a:lnTo>
                    <a:pt x="191389" y="9271"/>
                  </a:lnTo>
                  <a:lnTo>
                    <a:pt x="129159" y="35560"/>
                  </a:lnTo>
                  <a:lnTo>
                    <a:pt x="76327" y="76326"/>
                  </a:lnTo>
                  <a:lnTo>
                    <a:pt x="35559" y="129159"/>
                  </a:lnTo>
                  <a:lnTo>
                    <a:pt x="9270" y="191388"/>
                  </a:lnTo>
                  <a:lnTo>
                    <a:pt x="0" y="260604"/>
                  </a:lnTo>
                  <a:lnTo>
                    <a:pt x="9270" y="329946"/>
                  </a:lnTo>
                  <a:lnTo>
                    <a:pt x="35559" y="392175"/>
                  </a:lnTo>
                  <a:lnTo>
                    <a:pt x="76327" y="445008"/>
                  </a:lnTo>
                  <a:lnTo>
                    <a:pt x="129159" y="485775"/>
                  </a:lnTo>
                  <a:lnTo>
                    <a:pt x="191389" y="512063"/>
                  </a:lnTo>
                  <a:lnTo>
                    <a:pt x="260730" y="521335"/>
                  </a:lnTo>
                  <a:lnTo>
                    <a:pt x="329946" y="512063"/>
                  </a:lnTo>
                  <a:lnTo>
                    <a:pt x="392303" y="485775"/>
                  </a:lnTo>
                  <a:lnTo>
                    <a:pt x="445008" y="445008"/>
                  </a:lnTo>
                  <a:lnTo>
                    <a:pt x="485774" y="392175"/>
                  </a:lnTo>
                  <a:lnTo>
                    <a:pt x="512064" y="329946"/>
                  </a:lnTo>
                  <a:lnTo>
                    <a:pt x="521334" y="26060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596261" y="3010153"/>
              <a:ext cx="521334" cy="521334"/>
            </a:xfrm>
            <a:custGeom>
              <a:avLst/>
              <a:gdLst/>
              <a:ahLst/>
              <a:cxnLst/>
              <a:rect l="l" t="t" r="r" b="b"/>
              <a:pathLst>
                <a:path w="521335" h="521335">
                  <a:moveTo>
                    <a:pt x="260731" y="0"/>
                  </a:moveTo>
                  <a:lnTo>
                    <a:pt x="191388" y="9271"/>
                  </a:lnTo>
                  <a:lnTo>
                    <a:pt x="129158" y="35560"/>
                  </a:lnTo>
                  <a:lnTo>
                    <a:pt x="76326" y="76326"/>
                  </a:lnTo>
                  <a:lnTo>
                    <a:pt x="35559" y="129159"/>
                  </a:lnTo>
                  <a:lnTo>
                    <a:pt x="9270" y="191388"/>
                  </a:lnTo>
                  <a:lnTo>
                    <a:pt x="0" y="260604"/>
                  </a:lnTo>
                  <a:lnTo>
                    <a:pt x="9270" y="329946"/>
                  </a:lnTo>
                  <a:lnTo>
                    <a:pt x="35559" y="392175"/>
                  </a:lnTo>
                  <a:lnTo>
                    <a:pt x="76326" y="445008"/>
                  </a:lnTo>
                  <a:lnTo>
                    <a:pt x="129158" y="485775"/>
                  </a:lnTo>
                  <a:lnTo>
                    <a:pt x="191388" y="512063"/>
                  </a:lnTo>
                  <a:lnTo>
                    <a:pt x="260731" y="521335"/>
                  </a:lnTo>
                  <a:lnTo>
                    <a:pt x="329945" y="512063"/>
                  </a:lnTo>
                  <a:lnTo>
                    <a:pt x="392302" y="485775"/>
                  </a:lnTo>
                  <a:lnTo>
                    <a:pt x="445007" y="445008"/>
                  </a:lnTo>
                  <a:lnTo>
                    <a:pt x="485775" y="392175"/>
                  </a:lnTo>
                  <a:lnTo>
                    <a:pt x="512063" y="329946"/>
                  </a:lnTo>
                  <a:lnTo>
                    <a:pt x="521334" y="260604"/>
                  </a:lnTo>
                  <a:lnTo>
                    <a:pt x="512063" y="191388"/>
                  </a:lnTo>
                  <a:lnTo>
                    <a:pt x="485775" y="129159"/>
                  </a:lnTo>
                  <a:lnTo>
                    <a:pt x="445007" y="76326"/>
                  </a:lnTo>
                  <a:lnTo>
                    <a:pt x="392302" y="35560"/>
                  </a:lnTo>
                  <a:lnTo>
                    <a:pt x="329945" y="9271"/>
                  </a:lnTo>
                  <a:lnTo>
                    <a:pt x="260731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596261" y="3010153"/>
              <a:ext cx="521334" cy="521334"/>
            </a:xfrm>
            <a:custGeom>
              <a:avLst/>
              <a:gdLst/>
              <a:ahLst/>
              <a:cxnLst/>
              <a:rect l="l" t="t" r="r" b="b"/>
              <a:pathLst>
                <a:path w="521335" h="521335">
                  <a:moveTo>
                    <a:pt x="521334" y="260604"/>
                  </a:moveTo>
                  <a:lnTo>
                    <a:pt x="512063" y="191388"/>
                  </a:lnTo>
                  <a:lnTo>
                    <a:pt x="485775" y="129159"/>
                  </a:lnTo>
                  <a:lnTo>
                    <a:pt x="445007" y="76326"/>
                  </a:lnTo>
                  <a:lnTo>
                    <a:pt x="392302" y="35560"/>
                  </a:lnTo>
                  <a:lnTo>
                    <a:pt x="329945" y="9271"/>
                  </a:lnTo>
                  <a:lnTo>
                    <a:pt x="260731" y="0"/>
                  </a:lnTo>
                  <a:lnTo>
                    <a:pt x="191388" y="9271"/>
                  </a:lnTo>
                  <a:lnTo>
                    <a:pt x="129158" y="35560"/>
                  </a:lnTo>
                  <a:lnTo>
                    <a:pt x="76326" y="76326"/>
                  </a:lnTo>
                  <a:lnTo>
                    <a:pt x="35559" y="129159"/>
                  </a:lnTo>
                  <a:lnTo>
                    <a:pt x="9270" y="191388"/>
                  </a:lnTo>
                  <a:lnTo>
                    <a:pt x="0" y="260604"/>
                  </a:lnTo>
                  <a:lnTo>
                    <a:pt x="9270" y="329946"/>
                  </a:lnTo>
                  <a:lnTo>
                    <a:pt x="35559" y="392175"/>
                  </a:lnTo>
                  <a:lnTo>
                    <a:pt x="76326" y="445008"/>
                  </a:lnTo>
                  <a:lnTo>
                    <a:pt x="129158" y="485775"/>
                  </a:lnTo>
                  <a:lnTo>
                    <a:pt x="191388" y="512063"/>
                  </a:lnTo>
                  <a:lnTo>
                    <a:pt x="260731" y="521335"/>
                  </a:lnTo>
                  <a:lnTo>
                    <a:pt x="329945" y="512063"/>
                  </a:lnTo>
                  <a:lnTo>
                    <a:pt x="392302" y="485775"/>
                  </a:lnTo>
                  <a:lnTo>
                    <a:pt x="445007" y="445008"/>
                  </a:lnTo>
                  <a:lnTo>
                    <a:pt x="485775" y="392175"/>
                  </a:lnTo>
                  <a:lnTo>
                    <a:pt x="512063" y="329946"/>
                  </a:lnTo>
                  <a:lnTo>
                    <a:pt x="521334" y="26060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627754" y="3013963"/>
              <a:ext cx="513715" cy="513715"/>
            </a:xfrm>
            <a:custGeom>
              <a:avLst/>
              <a:gdLst/>
              <a:ahLst/>
              <a:cxnLst/>
              <a:rect l="l" t="t" r="r" b="b"/>
              <a:pathLst>
                <a:path w="513714" h="513714">
                  <a:moveTo>
                    <a:pt x="256794" y="0"/>
                  </a:moveTo>
                  <a:lnTo>
                    <a:pt x="188595" y="9144"/>
                  </a:lnTo>
                  <a:lnTo>
                    <a:pt x="127127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4" y="188595"/>
                  </a:lnTo>
                  <a:lnTo>
                    <a:pt x="0" y="256794"/>
                  </a:lnTo>
                  <a:lnTo>
                    <a:pt x="9144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127" y="478663"/>
                  </a:lnTo>
                  <a:lnTo>
                    <a:pt x="188595" y="504571"/>
                  </a:lnTo>
                  <a:lnTo>
                    <a:pt x="256794" y="513714"/>
                  </a:lnTo>
                  <a:lnTo>
                    <a:pt x="325120" y="504571"/>
                  </a:lnTo>
                  <a:lnTo>
                    <a:pt x="386461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715" y="256794"/>
                  </a:ln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461" y="35051"/>
                  </a:lnTo>
                  <a:lnTo>
                    <a:pt x="325120" y="9144"/>
                  </a:lnTo>
                  <a:lnTo>
                    <a:pt x="256794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627754" y="3013963"/>
              <a:ext cx="513715" cy="513715"/>
            </a:xfrm>
            <a:custGeom>
              <a:avLst/>
              <a:gdLst/>
              <a:ahLst/>
              <a:cxnLst/>
              <a:rect l="l" t="t" r="r" b="b"/>
              <a:pathLst>
                <a:path w="513714" h="513714">
                  <a:moveTo>
                    <a:pt x="513715" y="256794"/>
                  </a:move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461" y="35051"/>
                  </a:lnTo>
                  <a:lnTo>
                    <a:pt x="325120" y="9144"/>
                  </a:lnTo>
                  <a:lnTo>
                    <a:pt x="256794" y="0"/>
                  </a:lnTo>
                  <a:lnTo>
                    <a:pt x="188595" y="9144"/>
                  </a:lnTo>
                  <a:lnTo>
                    <a:pt x="127127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4" y="188595"/>
                  </a:lnTo>
                  <a:lnTo>
                    <a:pt x="0" y="256794"/>
                  </a:lnTo>
                  <a:lnTo>
                    <a:pt x="9144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127" y="478663"/>
                  </a:lnTo>
                  <a:lnTo>
                    <a:pt x="188595" y="504571"/>
                  </a:lnTo>
                  <a:lnTo>
                    <a:pt x="256794" y="513714"/>
                  </a:lnTo>
                  <a:lnTo>
                    <a:pt x="325120" y="504571"/>
                  </a:lnTo>
                  <a:lnTo>
                    <a:pt x="386461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715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3719448" y="2723515"/>
            <a:ext cx="329565" cy="644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65405">
              <a:lnSpc>
                <a:spcPct val="100000"/>
              </a:lnSpc>
              <a:spcBef>
                <a:spcPts val="110"/>
              </a:spcBef>
            </a:pP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h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4</a:t>
            </a:r>
            <a:endParaRPr sz="1650" baseline="-10101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1260"/>
              </a:spcBef>
            </a:pPr>
            <a:r>
              <a:rPr sz="1500" spc="-25" dirty="0">
                <a:solidFill>
                  <a:srgbClr val="213739"/>
                </a:solidFill>
                <a:latin typeface="Arial MT"/>
                <a:cs typeface="Arial MT"/>
              </a:rPr>
              <a:t>1,1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33527" y="3638803"/>
            <a:ext cx="748030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i="1" dirty="0">
                <a:solidFill>
                  <a:srgbClr val="213739"/>
                </a:solidFill>
                <a:latin typeface="Calibri"/>
                <a:cs typeface="Calibri"/>
              </a:rPr>
              <a:t>bias</a:t>
            </a:r>
            <a:r>
              <a:rPr sz="1500" i="1" spc="33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500" spc="-13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13739"/>
                </a:solidFill>
                <a:latin typeface="Arial MT"/>
                <a:cs typeface="Arial MT"/>
              </a:rPr>
              <a:t>-</a:t>
            </a:r>
            <a:r>
              <a:rPr sz="1500" spc="-2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00" spc="-50" dirty="0">
                <a:solidFill>
                  <a:srgbClr val="213739"/>
                </a:solidFill>
                <a:latin typeface="Arial MT"/>
                <a:cs typeface="Arial MT"/>
              </a:rPr>
              <a:t>2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278507" y="1536572"/>
            <a:ext cx="111760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i="1" spc="-50" dirty="0">
                <a:solidFill>
                  <a:srgbClr val="213739"/>
                </a:solidFill>
                <a:latin typeface="Calibri"/>
                <a:cs typeface="Calibri"/>
              </a:rPr>
              <a:t>y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164336" y="2568955"/>
            <a:ext cx="280670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650" baseline="-10101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628013" y="2532379"/>
            <a:ext cx="1461135" cy="8324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90500">
              <a:lnSpc>
                <a:spcPts val="1650"/>
              </a:lnSpc>
              <a:spcBef>
                <a:spcPts val="110"/>
              </a:spcBef>
              <a:tabLst>
                <a:tab pos="704215" algn="l"/>
                <a:tab pos="1191895" algn="l"/>
              </a:tabLst>
            </a:pP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650" baseline="-1010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r>
              <a:rPr sz="1650" baseline="-1010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4</a:t>
            </a:r>
            <a:endParaRPr sz="1650" baseline="-10101">
              <a:latin typeface="Calibri"/>
              <a:cs typeface="Calibri"/>
            </a:endParaRPr>
          </a:p>
          <a:p>
            <a:pPr marL="100965">
              <a:lnSpc>
                <a:spcPts val="1650"/>
              </a:lnSpc>
              <a:tabLst>
                <a:tab pos="1127760" algn="l"/>
              </a:tabLst>
            </a:pP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h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650" baseline="-1010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h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650" baseline="-10101">
              <a:latin typeface="Calibri"/>
              <a:cs typeface="Calibri"/>
            </a:endParaRPr>
          </a:p>
          <a:p>
            <a:pPr marL="50800">
              <a:lnSpc>
                <a:spcPct val="100000"/>
              </a:lnSpc>
              <a:spcBef>
                <a:spcPts val="1235"/>
              </a:spcBef>
              <a:tabLst>
                <a:tab pos="1077595" algn="l"/>
              </a:tabLst>
            </a:pPr>
            <a:r>
              <a:rPr sz="1500" spc="-40" dirty="0">
                <a:solidFill>
                  <a:srgbClr val="213739"/>
                </a:solidFill>
                <a:latin typeface="Arial MT"/>
                <a:cs typeface="Arial MT"/>
              </a:rPr>
              <a:t>-</a:t>
            </a:r>
            <a:r>
              <a:rPr sz="1500" spc="-25" dirty="0">
                <a:solidFill>
                  <a:srgbClr val="213739"/>
                </a:solidFill>
                <a:latin typeface="Arial MT"/>
                <a:cs typeface="Arial MT"/>
              </a:rPr>
              <a:t>1,1</a:t>
            </a:r>
            <a:r>
              <a:rPr sz="1500" dirty="0">
                <a:solidFill>
                  <a:srgbClr val="213739"/>
                </a:solidFill>
                <a:latin typeface="Arial MT"/>
                <a:cs typeface="Arial MT"/>
              </a:rPr>
              <a:t>	</a:t>
            </a:r>
            <a:r>
              <a:rPr sz="1500" spc="-70" dirty="0">
                <a:solidFill>
                  <a:srgbClr val="213739"/>
                </a:solidFill>
                <a:latin typeface="Arial MT"/>
                <a:cs typeface="Arial MT"/>
              </a:rPr>
              <a:t>1,-</a:t>
            </a:r>
            <a:r>
              <a:rPr sz="1500" spc="-50" dirty="0">
                <a:solidFill>
                  <a:srgbClr val="213739"/>
                </a:solidFill>
                <a:latin typeface="Arial MT"/>
                <a:cs typeface="Arial MT"/>
              </a:rPr>
              <a:t>1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994460" y="1862084"/>
            <a:ext cx="2713990" cy="2357120"/>
            <a:chOff x="994460" y="1862084"/>
            <a:chExt cx="2713990" cy="2357120"/>
          </a:xfrm>
        </p:grpSpPr>
        <p:sp>
          <p:nvSpPr>
            <p:cNvPr id="29" name="object 29"/>
            <p:cNvSpPr/>
            <p:nvPr/>
          </p:nvSpPr>
          <p:spPr>
            <a:xfrm>
              <a:off x="1016139" y="3485388"/>
              <a:ext cx="686435" cy="686435"/>
            </a:xfrm>
            <a:custGeom>
              <a:avLst/>
              <a:gdLst/>
              <a:ahLst/>
              <a:cxnLst/>
              <a:rect l="l" t="t" r="r" b="b"/>
              <a:pathLst>
                <a:path w="686435" h="686435">
                  <a:moveTo>
                    <a:pt x="686295" y="686181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4460" y="3463657"/>
              <a:ext cx="104659" cy="104661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1072959" y="3406521"/>
              <a:ext cx="1615440" cy="807720"/>
            </a:xfrm>
            <a:custGeom>
              <a:avLst/>
              <a:gdLst/>
              <a:ahLst/>
              <a:cxnLst/>
              <a:rect l="l" t="t" r="r" b="b"/>
              <a:pathLst>
                <a:path w="1615439" h="807720">
                  <a:moveTo>
                    <a:pt x="1615122" y="807592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60723" y="3364757"/>
              <a:ext cx="84085" cy="122262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1766570" y="3546729"/>
              <a:ext cx="125730" cy="624840"/>
            </a:xfrm>
            <a:custGeom>
              <a:avLst/>
              <a:gdLst/>
              <a:ahLst/>
              <a:cxnLst/>
              <a:rect l="l" t="t" r="r" b="b"/>
              <a:pathLst>
                <a:path w="125730" h="624839">
                  <a:moveTo>
                    <a:pt x="62737" y="624840"/>
                  </a:moveTo>
                  <a:lnTo>
                    <a:pt x="62737" y="8000"/>
                  </a:lnTo>
                </a:path>
                <a:path w="125730" h="624839">
                  <a:moveTo>
                    <a:pt x="0" y="51435"/>
                  </a:moveTo>
                  <a:lnTo>
                    <a:pt x="24637" y="42418"/>
                  </a:lnTo>
                  <a:lnTo>
                    <a:pt x="42672" y="30099"/>
                  </a:lnTo>
                  <a:lnTo>
                    <a:pt x="55118" y="15621"/>
                  </a:lnTo>
                  <a:lnTo>
                    <a:pt x="62737" y="0"/>
                  </a:lnTo>
                  <a:lnTo>
                    <a:pt x="70231" y="15621"/>
                  </a:lnTo>
                  <a:lnTo>
                    <a:pt x="82677" y="30099"/>
                  </a:lnTo>
                  <a:lnTo>
                    <a:pt x="100711" y="42418"/>
                  </a:lnTo>
                  <a:lnTo>
                    <a:pt x="125349" y="51435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030094" y="3471672"/>
              <a:ext cx="700405" cy="700405"/>
            </a:xfrm>
            <a:custGeom>
              <a:avLst/>
              <a:gdLst/>
              <a:ahLst/>
              <a:cxnLst/>
              <a:rect l="l" t="t" r="r" b="b"/>
              <a:pathLst>
                <a:path w="700405" h="700404">
                  <a:moveTo>
                    <a:pt x="700024" y="699896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08377" y="3449924"/>
              <a:ext cx="105171" cy="105186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1956054" y="3471672"/>
              <a:ext cx="700405" cy="700405"/>
            </a:xfrm>
            <a:custGeom>
              <a:avLst/>
              <a:gdLst/>
              <a:ahLst/>
              <a:cxnLst/>
              <a:rect l="l" t="t" r="r" b="b"/>
              <a:pathLst>
                <a:path w="700405" h="700404">
                  <a:moveTo>
                    <a:pt x="0" y="699896"/>
                  </a:moveTo>
                  <a:lnTo>
                    <a:pt x="700023" y="0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72766" y="3449924"/>
              <a:ext cx="105171" cy="105186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2794254" y="3546729"/>
              <a:ext cx="125730" cy="624840"/>
            </a:xfrm>
            <a:custGeom>
              <a:avLst/>
              <a:gdLst/>
              <a:ahLst/>
              <a:cxnLst/>
              <a:rect l="l" t="t" r="r" b="b"/>
              <a:pathLst>
                <a:path w="125730" h="624839">
                  <a:moveTo>
                    <a:pt x="62737" y="624840"/>
                  </a:moveTo>
                  <a:lnTo>
                    <a:pt x="62737" y="8000"/>
                  </a:lnTo>
                </a:path>
                <a:path w="125730" h="624839">
                  <a:moveTo>
                    <a:pt x="0" y="51435"/>
                  </a:moveTo>
                  <a:lnTo>
                    <a:pt x="24637" y="42418"/>
                  </a:lnTo>
                  <a:lnTo>
                    <a:pt x="42671" y="30099"/>
                  </a:lnTo>
                  <a:lnTo>
                    <a:pt x="55118" y="15621"/>
                  </a:lnTo>
                  <a:lnTo>
                    <a:pt x="62737" y="0"/>
                  </a:lnTo>
                  <a:lnTo>
                    <a:pt x="70231" y="15621"/>
                  </a:lnTo>
                  <a:lnTo>
                    <a:pt x="82676" y="30099"/>
                  </a:lnTo>
                  <a:lnTo>
                    <a:pt x="100710" y="42418"/>
                  </a:lnTo>
                  <a:lnTo>
                    <a:pt x="125348" y="51435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998218" y="3396107"/>
              <a:ext cx="1635760" cy="818515"/>
            </a:xfrm>
            <a:custGeom>
              <a:avLst/>
              <a:gdLst/>
              <a:ahLst/>
              <a:cxnLst/>
              <a:rect l="l" t="t" r="r" b="b"/>
              <a:pathLst>
                <a:path w="1635760" h="818514">
                  <a:moveTo>
                    <a:pt x="0" y="818006"/>
                  </a:moveTo>
                  <a:lnTo>
                    <a:pt x="1635759" y="0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62114" y="3354470"/>
              <a:ext cx="84163" cy="122136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2983864" y="3469005"/>
              <a:ext cx="702945" cy="702945"/>
            </a:xfrm>
            <a:custGeom>
              <a:avLst/>
              <a:gdLst/>
              <a:ahLst/>
              <a:cxnLst/>
              <a:rect l="l" t="t" r="r" b="b"/>
              <a:pathLst>
                <a:path w="702945" h="702945">
                  <a:moveTo>
                    <a:pt x="0" y="702564"/>
                  </a:moveTo>
                  <a:lnTo>
                    <a:pt x="702563" y="0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603498" y="3447274"/>
              <a:ext cx="104659" cy="104661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1041425" y="2308860"/>
              <a:ext cx="1203325" cy="802640"/>
            </a:xfrm>
            <a:custGeom>
              <a:avLst/>
              <a:gdLst/>
              <a:ahLst/>
              <a:cxnLst/>
              <a:rect l="l" t="t" r="r" b="b"/>
              <a:pathLst>
                <a:path w="1203325" h="802639">
                  <a:moveTo>
                    <a:pt x="0" y="802131"/>
                  </a:moveTo>
                  <a:lnTo>
                    <a:pt x="1203172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83766" y="2287145"/>
              <a:ext cx="66671" cy="85467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1949577" y="2348738"/>
              <a:ext cx="340995" cy="681990"/>
            </a:xfrm>
            <a:custGeom>
              <a:avLst/>
              <a:gdLst/>
              <a:ahLst/>
              <a:cxnLst/>
              <a:rect l="l" t="t" r="r" b="b"/>
              <a:pathLst>
                <a:path w="340994" h="681989">
                  <a:moveTo>
                    <a:pt x="0" y="681482"/>
                  </a:moveTo>
                  <a:lnTo>
                    <a:pt x="340741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227579" y="2342641"/>
              <a:ext cx="91568" cy="64136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2395855" y="2348738"/>
              <a:ext cx="340995" cy="681990"/>
            </a:xfrm>
            <a:custGeom>
              <a:avLst/>
              <a:gdLst/>
              <a:ahLst/>
              <a:cxnLst/>
              <a:rect l="l" t="t" r="r" b="b"/>
              <a:pathLst>
                <a:path w="340994" h="681989">
                  <a:moveTo>
                    <a:pt x="340868" y="681482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67025" y="2342641"/>
              <a:ext cx="91568" cy="64136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2441575" y="2308860"/>
              <a:ext cx="1223010" cy="815340"/>
            </a:xfrm>
            <a:custGeom>
              <a:avLst/>
              <a:gdLst/>
              <a:ahLst/>
              <a:cxnLst/>
              <a:rect l="l" t="t" r="r" b="b"/>
              <a:pathLst>
                <a:path w="1223010" h="815339">
                  <a:moveTo>
                    <a:pt x="1222628" y="814959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435734" y="2287145"/>
              <a:ext cx="66671" cy="85467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2294890" y="1864614"/>
              <a:ext cx="96520" cy="268605"/>
            </a:xfrm>
            <a:custGeom>
              <a:avLst/>
              <a:gdLst/>
              <a:ahLst/>
              <a:cxnLst/>
              <a:rect l="l" t="t" r="r" b="b"/>
              <a:pathLst>
                <a:path w="96519" h="268605">
                  <a:moveTo>
                    <a:pt x="48260" y="268605"/>
                  </a:moveTo>
                  <a:lnTo>
                    <a:pt x="48260" y="4063"/>
                  </a:lnTo>
                </a:path>
                <a:path w="96519" h="268605">
                  <a:moveTo>
                    <a:pt x="0" y="41783"/>
                  </a:moveTo>
                  <a:lnTo>
                    <a:pt x="18923" y="34416"/>
                  </a:lnTo>
                  <a:lnTo>
                    <a:pt x="32893" y="24511"/>
                  </a:lnTo>
                  <a:lnTo>
                    <a:pt x="42418" y="12700"/>
                  </a:lnTo>
                  <a:lnTo>
                    <a:pt x="48260" y="0"/>
                  </a:lnTo>
                  <a:lnTo>
                    <a:pt x="54102" y="12700"/>
                  </a:lnTo>
                  <a:lnTo>
                    <a:pt x="63627" y="24511"/>
                  </a:lnTo>
                  <a:lnTo>
                    <a:pt x="77470" y="34416"/>
                  </a:lnTo>
                  <a:lnTo>
                    <a:pt x="96393" y="41783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343204" y="3999632"/>
            <a:ext cx="2451100" cy="1073785"/>
          </a:xfrm>
          <a:prstGeom prst="rect">
            <a:avLst/>
          </a:prstGeom>
        </p:spPr>
        <p:txBody>
          <a:bodyPr vert="horz" wrap="square" lIns="0" tIns="125095" rIns="0" bIns="0" rtlCol="0">
            <a:spAutoFit/>
          </a:bodyPr>
          <a:lstStyle/>
          <a:p>
            <a:pPr marL="496570" algn="ctr">
              <a:lnSpc>
                <a:spcPct val="100000"/>
              </a:lnSpc>
              <a:spcBef>
                <a:spcPts val="985"/>
              </a:spcBef>
            </a:pPr>
            <a:r>
              <a:rPr sz="1500" i="1" spc="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650" spc="37" baseline="-10101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650" baseline="-10101">
              <a:latin typeface="Calibri"/>
              <a:cs typeface="Calibri"/>
            </a:endParaRPr>
          </a:p>
          <a:p>
            <a:pPr marL="38100" marR="30480">
              <a:lnSpc>
                <a:spcPct val="117700"/>
              </a:lnSpc>
              <a:spcBef>
                <a:spcPts val="625"/>
              </a:spcBef>
            </a:pP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red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edge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indicates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i="1" spc="10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=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-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1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blue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edge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indicates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i="1" spc="12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=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+1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53" name="object 53" descr="$PPTXTitle"/>
          <p:cNvSpPr txBox="1">
            <a:spLocks noGrp="1"/>
          </p:cNvSpPr>
          <p:nvPr>
            <p:ph type="title"/>
          </p:nvPr>
        </p:nvSpPr>
        <p:spPr>
          <a:xfrm>
            <a:off x="4781169" y="875537"/>
            <a:ext cx="4006850" cy="967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7700"/>
              </a:lnSpc>
              <a:spcBef>
                <a:spcPts val="100"/>
              </a:spcBef>
            </a:pP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It</a:t>
            </a:r>
            <a:r>
              <a:rPr sz="1750" spc="335" dirty="0">
                <a:solidFill>
                  <a:srgbClr val="213739"/>
                </a:solidFill>
                <a:latin typeface="Arial MT"/>
                <a:cs typeface="Arial MT"/>
              </a:rPr>
              <a:t> 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should</a:t>
            </a:r>
            <a:r>
              <a:rPr sz="1750" spc="340" dirty="0">
                <a:solidFill>
                  <a:srgbClr val="213739"/>
                </a:solidFill>
                <a:latin typeface="Arial MT"/>
                <a:cs typeface="Arial MT"/>
              </a:rPr>
              <a:t> 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be</a:t>
            </a:r>
            <a:r>
              <a:rPr sz="1750" spc="350" dirty="0">
                <a:solidFill>
                  <a:srgbClr val="213739"/>
                </a:solidFill>
                <a:latin typeface="Arial MT"/>
                <a:cs typeface="Arial MT"/>
              </a:rPr>
              <a:t> 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clear</a:t>
            </a:r>
            <a:r>
              <a:rPr sz="1750" spc="330" dirty="0">
                <a:solidFill>
                  <a:srgbClr val="213739"/>
                </a:solidFill>
                <a:latin typeface="Arial MT"/>
                <a:cs typeface="Arial MT"/>
              </a:rPr>
              <a:t> 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that</a:t>
            </a:r>
            <a:r>
              <a:rPr sz="1750" spc="345" dirty="0">
                <a:solidFill>
                  <a:srgbClr val="213739"/>
                </a:solidFill>
                <a:latin typeface="Arial MT"/>
                <a:cs typeface="Arial MT"/>
              </a:rPr>
              <a:t> 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345" dirty="0">
                <a:solidFill>
                  <a:srgbClr val="213739"/>
                </a:solidFill>
                <a:latin typeface="Arial MT"/>
                <a:cs typeface="Arial MT"/>
              </a:rPr>
              <a:t> 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same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network</a:t>
            </a:r>
            <a:r>
              <a:rPr sz="1750" spc="3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can</a:t>
            </a:r>
            <a:r>
              <a:rPr sz="1750" spc="3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be</a:t>
            </a:r>
            <a:r>
              <a:rPr sz="1750" spc="3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used</a:t>
            </a:r>
            <a:r>
              <a:rPr sz="1750" spc="3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1750" spc="3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represent</a:t>
            </a:r>
            <a:r>
              <a:rPr sz="1750" spc="3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the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remaining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15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boolean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functions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also</a:t>
            </a:r>
            <a:endParaRPr sz="175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32279" y="2132355"/>
            <a:ext cx="221589" cy="22158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720339" y="4110608"/>
            <a:ext cx="244475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500" i="1" spc="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650" spc="37" baseline="-10101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650" baseline="-10101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16407" y="2985642"/>
            <a:ext cx="3630295" cy="570865"/>
            <a:chOff x="516407" y="2985642"/>
            <a:chExt cx="3630295" cy="570865"/>
          </a:xfrm>
        </p:grpSpPr>
        <p:sp>
          <p:nvSpPr>
            <p:cNvPr id="5" name="object 5"/>
            <p:cNvSpPr/>
            <p:nvPr/>
          </p:nvSpPr>
          <p:spPr>
            <a:xfrm>
              <a:off x="544677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256921" y="0"/>
                  </a:moveTo>
                  <a:lnTo>
                    <a:pt x="188620" y="9144"/>
                  </a:lnTo>
                  <a:lnTo>
                    <a:pt x="127241" y="35051"/>
                  </a:lnTo>
                  <a:lnTo>
                    <a:pt x="75247" y="75184"/>
                  </a:lnTo>
                  <a:lnTo>
                    <a:pt x="35077" y="127126"/>
                  </a:lnTo>
                  <a:lnTo>
                    <a:pt x="9182" y="188595"/>
                  </a:lnTo>
                  <a:lnTo>
                    <a:pt x="0" y="256794"/>
                  </a:lnTo>
                  <a:lnTo>
                    <a:pt x="9182" y="325120"/>
                  </a:lnTo>
                  <a:lnTo>
                    <a:pt x="35077" y="386588"/>
                  </a:lnTo>
                  <a:lnTo>
                    <a:pt x="75247" y="438531"/>
                  </a:lnTo>
                  <a:lnTo>
                    <a:pt x="127241" y="478663"/>
                  </a:lnTo>
                  <a:lnTo>
                    <a:pt x="188620" y="504571"/>
                  </a:lnTo>
                  <a:lnTo>
                    <a:pt x="256921" y="513714"/>
                  </a:lnTo>
                  <a:lnTo>
                    <a:pt x="325221" y="504571"/>
                  </a:lnTo>
                  <a:lnTo>
                    <a:pt x="386588" y="478663"/>
                  </a:lnTo>
                  <a:lnTo>
                    <a:pt x="438581" y="438531"/>
                  </a:lnTo>
                  <a:lnTo>
                    <a:pt x="478764" y="386588"/>
                  </a:lnTo>
                  <a:lnTo>
                    <a:pt x="504659" y="325120"/>
                  </a:lnTo>
                  <a:lnTo>
                    <a:pt x="513842" y="256794"/>
                  </a:lnTo>
                  <a:lnTo>
                    <a:pt x="504659" y="188595"/>
                  </a:lnTo>
                  <a:lnTo>
                    <a:pt x="478764" y="127126"/>
                  </a:lnTo>
                  <a:lnTo>
                    <a:pt x="438581" y="75184"/>
                  </a:lnTo>
                  <a:lnTo>
                    <a:pt x="386588" y="35051"/>
                  </a:lnTo>
                  <a:lnTo>
                    <a:pt x="325221" y="9144"/>
                  </a:lnTo>
                  <a:lnTo>
                    <a:pt x="256921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44677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513842" y="256794"/>
                  </a:moveTo>
                  <a:lnTo>
                    <a:pt x="504659" y="188595"/>
                  </a:lnTo>
                  <a:lnTo>
                    <a:pt x="478764" y="127126"/>
                  </a:lnTo>
                  <a:lnTo>
                    <a:pt x="438581" y="75184"/>
                  </a:lnTo>
                  <a:lnTo>
                    <a:pt x="386588" y="35051"/>
                  </a:lnTo>
                  <a:lnTo>
                    <a:pt x="325221" y="9144"/>
                  </a:lnTo>
                  <a:lnTo>
                    <a:pt x="256921" y="0"/>
                  </a:lnTo>
                  <a:lnTo>
                    <a:pt x="188620" y="9144"/>
                  </a:lnTo>
                  <a:lnTo>
                    <a:pt x="127241" y="35051"/>
                  </a:lnTo>
                  <a:lnTo>
                    <a:pt x="75247" y="75184"/>
                  </a:lnTo>
                  <a:lnTo>
                    <a:pt x="35077" y="127126"/>
                  </a:lnTo>
                  <a:lnTo>
                    <a:pt x="9182" y="188595"/>
                  </a:lnTo>
                  <a:lnTo>
                    <a:pt x="0" y="256794"/>
                  </a:lnTo>
                  <a:lnTo>
                    <a:pt x="9182" y="325120"/>
                  </a:lnTo>
                  <a:lnTo>
                    <a:pt x="35077" y="386588"/>
                  </a:lnTo>
                  <a:lnTo>
                    <a:pt x="75247" y="438531"/>
                  </a:lnTo>
                  <a:lnTo>
                    <a:pt x="127241" y="478663"/>
                  </a:lnTo>
                  <a:lnTo>
                    <a:pt x="188620" y="504571"/>
                  </a:lnTo>
                  <a:lnTo>
                    <a:pt x="256921" y="513714"/>
                  </a:lnTo>
                  <a:lnTo>
                    <a:pt x="325221" y="504571"/>
                  </a:lnTo>
                  <a:lnTo>
                    <a:pt x="386588" y="478663"/>
                  </a:lnTo>
                  <a:lnTo>
                    <a:pt x="438581" y="438531"/>
                  </a:lnTo>
                  <a:lnTo>
                    <a:pt x="478764" y="386588"/>
                  </a:lnTo>
                  <a:lnTo>
                    <a:pt x="504659" y="325120"/>
                  </a:lnTo>
                  <a:lnTo>
                    <a:pt x="513842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72387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256920" y="0"/>
                  </a:moveTo>
                  <a:lnTo>
                    <a:pt x="188594" y="9144"/>
                  </a:lnTo>
                  <a:lnTo>
                    <a:pt x="127254" y="35051"/>
                  </a:lnTo>
                  <a:lnTo>
                    <a:pt x="75183" y="75184"/>
                  </a:lnTo>
                  <a:lnTo>
                    <a:pt x="35051" y="127126"/>
                  </a:lnTo>
                  <a:lnTo>
                    <a:pt x="9143" y="188595"/>
                  </a:lnTo>
                  <a:lnTo>
                    <a:pt x="0" y="256794"/>
                  </a:lnTo>
                  <a:lnTo>
                    <a:pt x="9143" y="325120"/>
                  </a:lnTo>
                  <a:lnTo>
                    <a:pt x="35051" y="386588"/>
                  </a:lnTo>
                  <a:lnTo>
                    <a:pt x="75183" y="438531"/>
                  </a:lnTo>
                  <a:lnTo>
                    <a:pt x="127254" y="478663"/>
                  </a:lnTo>
                  <a:lnTo>
                    <a:pt x="188594" y="504571"/>
                  </a:lnTo>
                  <a:lnTo>
                    <a:pt x="256920" y="513714"/>
                  </a:lnTo>
                  <a:lnTo>
                    <a:pt x="325119" y="504571"/>
                  </a:lnTo>
                  <a:lnTo>
                    <a:pt x="386588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0" y="325120"/>
                  </a:lnTo>
                  <a:lnTo>
                    <a:pt x="513842" y="256794"/>
                  </a:lnTo>
                  <a:lnTo>
                    <a:pt x="504570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588" y="35051"/>
                  </a:lnTo>
                  <a:lnTo>
                    <a:pt x="325119" y="9144"/>
                  </a:lnTo>
                  <a:lnTo>
                    <a:pt x="256920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72387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513842" y="256794"/>
                  </a:moveTo>
                  <a:lnTo>
                    <a:pt x="504570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588" y="35051"/>
                  </a:lnTo>
                  <a:lnTo>
                    <a:pt x="325119" y="9144"/>
                  </a:lnTo>
                  <a:lnTo>
                    <a:pt x="256920" y="0"/>
                  </a:lnTo>
                  <a:lnTo>
                    <a:pt x="188594" y="9144"/>
                  </a:lnTo>
                  <a:lnTo>
                    <a:pt x="127254" y="35051"/>
                  </a:lnTo>
                  <a:lnTo>
                    <a:pt x="75183" y="75184"/>
                  </a:lnTo>
                  <a:lnTo>
                    <a:pt x="35051" y="127126"/>
                  </a:lnTo>
                  <a:lnTo>
                    <a:pt x="9143" y="188595"/>
                  </a:lnTo>
                  <a:lnTo>
                    <a:pt x="0" y="256794"/>
                  </a:lnTo>
                  <a:lnTo>
                    <a:pt x="9143" y="325120"/>
                  </a:lnTo>
                  <a:lnTo>
                    <a:pt x="35051" y="386588"/>
                  </a:lnTo>
                  <a:lnTo>
                    <a:pt x="75183" y="438531"/>
                  </a:lnTo>
                  <a:lnTo>
                    <a:pt x="127254" y="478663"/>
                  </a:lnTo>
                  <a:lnTo>
                    <a:pt x="188594" y="504571"/>
                  </a:lnTo>
                  <a:lnTo>
                    <a:pt x="256920" y="513714"/>
                  </a:lnTo>
                  <a:lnTo>
                    <a:pt x="325119" y="504571"/>
                  </a:lnTo>
                  <a:lnTo>
                    <a:pt x="386588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0" y="325120"/>
                  </a:lnTo>
                  <a:lnTo>
                    <a:pt x="513842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600070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256921" y="0"/>
                  </a:moveTo>
                  <a:lnTo>
                    <a:pt x="188595" y="9144"/>
                  </a:lnTo>
                  <a:lnTo>
                    <a:pt x="127254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3" y="188595"/>
                  </a:lnTo>
                  <a:lnTo>
                    <a:pt x="0" y="256794"/>
                  </a:lnTo>
                  <a:lnTo>
                    <a:pt x="9143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254" y="478663"/>
                  </a:lnTo>
                  <a:lnTo>
                    <a:pt x="188595" y="504571"/>
                  </a:lnTo>
                  <a:lnTo>
                    <a:pt x="256921" y="513714"/>
                  </a:lnTo>
                  <a:lnTo>
                    <a:pt x="325120" y="504571"/>
                  </a:lnTo>
                  <a:lnTo>
                    <a:pt x="386588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842" y="256794"/>
                  </a:ln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588" y="35051"/>
                  </a:lnTo>
                  <a:lnTo>
                    <a:pt x="325120" y="9144"/>
                  </a:lnTo>
                  <a:lnTo>
                    <a:pt x="256921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600070" y="3013963"/>
              <a:ext cx="514350" cy="513715"/>
            </a:xfrm>
            <a:custGeom>
              <a:avLst/>
              <a:gdLst/>
              <a:ahLst/>
              <a:cxnLst/>
              <a:rect l="l" t="t" r="r" b="b"/>
              <a:pathLst>
                <a:path w="514350" h="513714">
                  <a:moveTo>
                    <a:pt x="513842" y="256794"/>
                  </a:move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588" y="35051"/>
                  </a:lnTo>
                  <a:lnTo>
                    <a:pt x="325120" y="9144"/>
                  </a:lnTo>
                  <a:lnTo>
                    <a:pt x="256921" y="0"/>
                  </a:lnTo>
                  <a:lnTo>
                    <a:pt x="188595" y="9144"/>
                  </a:lnTo>
                  <a:lnTo>
                    <a:pt x="127254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3" y="188595"/>
                  </a:lnTo>
                  <a:lnTo>
                    <a:pt x="0" y="256794"/>
                  </a:lnTo>
                  <a:lnTo>
                    <a:pt x="9143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254" y="478663"/>
                  </a:lnTo>
                  <a:lnTo>
                    <a:pt x="188595" y="504571"/>
                  </a:lnTo>
                  <a:lnTo>
                    <a:pt x="256921" y="513714"/>
                  </a:lnTo>
                  <a:lnTo>
                    <a:pt x="325120" y="504571"/>
                  </a:lnTo>
                  <a:lnTo>
                    <a:pt x="386588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842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627755" y="3013963"/>
              <a:ext cx="513715" cy="513715"/>
            </a:xfrm>
            <a:custGeom>
              <a:avLst/>
              <a:gdLst/>
              <a:ahLst/>
              <a:cxnLst/>
              <a:rect l="l" t="t" r="r" b="b"/>
              <a:pathLst>
                <a:path w="513714" h="513714">
                  <a:moveTo>
                    <a:pt x="256794" y="0"/>
                  </a:moveTo>
                  <a:lnTo>
                    <a:pt x="188595" y="9144"/>
                  </a:lnTo>
                  <a:lnTo>
                    <a:pt x="127127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4" y="188595"/>
                  </a:lnTo>
                  <a:lnTo>
                    <a:pt x="0" y="256794"/>
                  </a:lnTo>
                  <a:lnTo>
                    <a:pt x="9144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127" y="478663"/>
                  </a:lnTo>
                  <a:lnTo>
                    <a:pt x="188595" y="504571"/>
                  </a:lnTo>
                  <a:lnTo>
                    <a:pt x="256794" y="513714"/>
                  </a:lnTo>
                  <a:lnTo>
                    <a:pt x="325120" y="504571"/>
                  </a:lnTo>
                  <a:lnTo>
                    <a:pt x="386461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715" y="256794"/>
                  </a:ln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461" y="35051"/>
                  </a:lnTo>
                  <a:lnTo>
                    <a:pt x="325120" y="9144"/>
                  </a:lnTo>
                  <a:lnTo>
                    <a:pt x="256794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627755" y="3013963"/>
              <a:ext cx="513715" cy="513715"/>
            </a:xfrm>
            <a:custGeom>
              <a:avLst/>
              <a:gdLst/>
              <a:ahLst/>
              <a:cxnLst/>
              <a:rect l="l" t="t" r="r" b="b"/>
              <a:pathLst>
                <a:path w="513714" h="513714">
                  <a:moveTo>
                    <a:pt x="513715" y="256794"/>
                  </a:move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461" y="35051"/>
                  </a:lnTo>
                  <a:lnTo>
                    <a:pt x="325120" y="9144"/>
                  </a:lnTo>
                  <a:lnTo>
                    <a:pt x="256794" y="0"/>
                  </a:lnTo>
                  <a:lnTo>
                    <a:pt x="188595" y="9144"/>
                  </a:lnTo>
                  <a:lnTo>
                    <a:pt x="127127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4" y="188595"/>
                  </a:lnTo>
                  <a:lnTo>
                    <a:pt x="0" y="256794"/>
                  </a:lnTo>
                  <a:lnTo>
                    <a:pt x="9144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127" y="478663"/>
                  </a:lnTo>
                  <a:lnTo>
                    <a:pt x="188595" y="504571"/>
                  </a:lnTo>
                  <a:lnTo>
                    <a:pt x="256794" y="513714"/>
                  </a:lnTo>
                  <a:lnTo>
                    <a:pt x="325120" y="504571"/>
                  </a:lnTo>
                  <a:lnTo>
                    <a:pt x="386461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715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21487" y="2990722"/>
              <a:ext cx="560705" cy="560705"/>
            </a:xfrm>
            <a:custGeom>
              <a:avLst/>
              <a:gdLst/>
              <a:ahLst/>
              <a:cxnLst/>
              <a:rect l="l" t="t" r="r" b="b"/>
              <a:pathLst>
                <a:path w="560705" h="560704">
                  <a:moveTo>
                    <a:pt x="280111" y="0"/>
                  </a:moveTo>
                  <a:lnTo>
                    <a:pt x="205638" y="10032"/>
                  </a:lnTo>
                  <a:lnTo>
                    <a:pt x="138734" y="38226"/>
                  </a:lnTo>
                  <a:lnTo>
                    <a:pt x="82042" y="82041"/>
                  </a:lnTo>
                  <a:lnTo>
                    <a:pt x="38239" y="138684"/>
                  </a:lnTo>
                  <a:lnTo>
                    <a:pt x="9994" y="205612"/>
                  </a:lnTo>
                  <a:lnTo>
                    <a:pt x="0" y="280035"/>
                  </a:lnTo>
                  <a:lnTo>
                    <a:pt x="9994" y="354584"/>
                  </a:lnTo>
                  <a:lnTo>
                    <a:pt x="38239" y="421513"/>
                  </a:lnTo>
                  <a:lnTo>
                    <a:pt x="82042" y="478154"/>
                  </a:lnTo>
                  <a:lnTo>
                    <a:pt x="138734" y="521969"/>
                  </a:lnTo>
                  <a:lnTo>
                    <a:pt x="205638" y="550163"/>
                  </a:lnTo>
                  <a:lnTo>
                    <a:pt x="280111" y="560197"/>
                  </a:lnTo>
                  <a:lnTo>
                    <a:pt x="354571" y="550163"/>
                  </a:lnTo>
                  <a:lnTo>
                    <a:pt x="421487" y="521969"/>
                  </a:lnTo>
                  <a:lnTo>
                    <a:pt x="478180" y="478154"/>
                  </a:lnTo>
                  <a:lnTo>
                    <a:pt x="521982" y="421513"/>
                  </a:lnTo>
                  <a:lnTo>
                    <a:pt x="550214" y="354584"/>
                  </a:lnTo>
                  <a:lnTo>
                    <a:pt x="560222" y="280035"/>
                  </a:lnTo>
                  <a:lnTo>
                    <a:pt x="550214" y="205612"/>
                  </a:lnTo>
                  <a:lnTo>
                    <a:pt x="521982" y="138684"/>
                  </a:lnTo>
                  <a:lnTo>
                    <a:pt x="478180" y="82041"/>
                  </a:lnTo>
                  <a:lnTo>
                    <a:pt x="421487" y="38226"/>
                  </a:lnTo>
                  <a:lnTo>
                    <a:pt x="354571" y="10032"/>
                  </a:lnTo>
                  <a:lnTo>
                    <a:pt x="280111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21487" y="2990722"/>
              <a:ext cx="560705" cy="560705"/>
            </a:xfrm>
            <a:custGeom>
              <a:avLst/>
              <a:gdLst/>
              <a:ahLst/>
              <a:cxnLst/>
              <a:rect l="l" t="t" r="r" b="b"/>
              <a:pathLst>
                <a:path w="560705" h="560704">
                  <a:moveTo>
                    <a:pt x="560222" y="280035"/>
                  </a:moveTo>
                  <a:lnTo>
                    <a:pt x="550214" y="205612"/>
                  </a:lnTo>
                  <a:lnTo>
                    <a:pt x="521982" y="138684"/>
                  </a:lnTo>
                  <a:lnTo>
                    <a:pt x="478180" y="82041"/>
                  </a:lnTo>
                  <a:lnTo>
                    <a:pt x="421487" y="38226"/>
                  </a:lnTo>
                  <a:lnTo>
                    <a:pt x="354571" y="10032"/>
                  </a:lnTo>
                  <a:lnTo>
                    <a:pt x="280111" y="0"/>
                  </a:lnTo>
                  <a:lnTo>
                    <a:pt x="205638" y="10032"/>
                  </a:lnTo>
                  <a:lnTo>
                    <a:pt x="138734" y="38226"/>
                  </a:lnTo>
                  <a:lnTo>
                    <a:pt x="82042" y="82041"/>
                  </a:lnTo>
                  <a:lnTo>
                    <a:pt x="38239" y="138684"/>
                  </a:lnTo>
                  <a:lnTo>
                    <a:pt x="9994" y="205612"/>
                  </a:lnTo>
                  <a:lnTo>
                    <a:pt x="0" y="280035"/>
                  </a:lnTo>
                  <a:lnTo>
                    <a:pt x="9994" y="354584"/>
                  </a:lnTo>
                  <a:lnTo>
                    <a:pt x="38239" y="421513"/>
                  </a:lnTo>
                  <a:lnTo>
                    <a:pt x="82042" y="478154"/>
                  </a:lnTo>
                  <a:lnTo>
                    <a:pt x="138734" y="521969"/>
                  </a:lnTo>
                  <a:lnTo>
                    <a:pt x="205638" y="550163"/>
                  </a:lnTo>
                  <a:lnTo>
                    <a:pt x="280111" y="560197"/>
                  </a:lnTo>
                  <a:lnTo>
                    <a:pt x="354571" y="550163"/>
                  </a:lnTo>
                  <a:lnTo>
                    <a:pt x="421487" y="521969"/>
                  </a:lnTo>
                  <a:lnTo>
                    <a:pt x="478180" y="478154"/>
                  </a:lnTo>
                  <a:lnTo>
                    <a:pt x="521982" y="421513"/>
                  </a:lnTo>
                  <a:lnTo>
                    <a:pt x="550214" y="354584"/>
                  </a:lnTo>
                  <a:lnTo>
                    <a:pt x="560222" y="280035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89483" y="2723515"/>
            <a:ext cx="431800" cy="64643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11760">
              <a:lnSpc>
                <a:spcPct val="100000"/>
              </a:lnSpc>
              <a:spcBef>
                <a:spcPts val="110"/>
              </a:spcBef>
            </a:pPr>
            <a:r>
              <a:rPr sz="1500" i="1" spc="35" dirty="0">
                <a:solidFill>
                  <a:srgbClr val="213739"/>
                </a:solidFill>
                <a:latin typeface="Calibri"/>
                <a:cs typeface="Calibri"/>
              </a:rPr>
              <a:t>h</a:t>
            </a:r>
            <a:r>
              <a:rPr sz="1650" spc="52" baseline="-12626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650" baseline="-12626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1275"/>
              </a:spcBef>
            </a:pPr>
            <a:r>
              <a:rPr sz="1500" spc="-60" dirty="0">
                <a:solidFill>
                  <a:srgbClr val="213739"/>
                </a:solidFill>
                <a:latin typeface="Arial MT"/>
                <a:cs typeface="Arial MT"/>
              </a:rPr>
              <a:t>-</a:t>
            </a:r>
            <a:r>
              <a:rPr sz="1500" spc="-85" dirty="0">
                <a:solidFill>
                  <a:srgbClr val="213739"/>
                </a:solidFill>
                <a:latin typeface="Arial MT"/>
                <a:cs typeface="Arial MT"/>
              </a:rPr>
              <a:t>1,-</a:t>
            </a:r>
            <a:r>
              <a:rPr sz="1500" spc="-50" dirty="0">
                <a:solidFill>
                  <a:srgbClr val="213739"/>
                </a:solidFill>
                <a:latin typeface="Arial MT"/>
                <a:cs typeface="Arial MT"/>
              </a:rPr>
              <a:t>1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563497" y="3005073"/>
            <a:ext cx="2583180" cy="531495"/>
            <a:chOff x="1563497" y="3005073"/>
            <a:chExt cx="2583180" cy="531495"/>
          </a:xfrm>
        </p:grpSpPr>
        <p:sp>
          <p:nvSpPr>
            <p:cNvPr id="17" name="object 17"/>
            <p:cNvSpPr/>
            <p:nvPr/>
          </p:nvSpPr>
          <p:spPr>
            <a:xfrm>
              <a:off x="1568577" y="3010153"/>
              <a:ext cx="521334" cy="521334"/>
            </a:xfrm>
            <a:custGeom>
              <a:avLst/>
              <a:gdLst/>
              <a:ahLst/>
              <a:cxnLst/>
              <a:rect l="l" t="t" r="r" b="b"/>
              <a:pathLst>
                <a:path w="521335" h="521335">
                  <a:moveTo>
                    <a:pt x="260730" y="0"/>
                  </a:moveTo>
                  <a:lnTo>
                    <a:pt x="191389" y="9271"/>
                  </a:lnTo>
                  <a:lnTo>
                    <a:pt x="129159" y="35560"/>
                  </a:lnTo>
                  <a:lnTo>
                    <a:pt x="76327" y="76326"/>
                  </a:lnTo>
                  <a:lnTo>
                    <a:pt x="35559" y="129159"/>
                  </a:lnTo>
                  <a:lnTo>
                    <a:pt x="9270" y="191388"/>
                  </a:lnTo>
                  <a:lnTo>
                    <a:pt x="0" y="260604"/>
                  </a:lnTo>
                  <a:lnTo>
                    <a:pt x="9270" y="329946"/>
                  </a:lnTo>
                  <a:lnTo>
                    <a:pt x="35559" y="392175"/>
                  </a:lnTo>
                  <a:lnTo>
                    <a:pt x="76327" y="445008"/>
                  </a:lnTo>
                  <a:lnTo>
                    <a:pt x="129159" y="485775"/>
                  </a:lnTo>
                  <a:lnTo>
                    <a:pt x="191389" y="512063"/>
                  </a:lnTo>
                  <a:lnTo>
                    <a:pt x="260730" y="521335"/>
                  </a:lnTo>
                  <a:lnTo>
                    <a:pt x="329946" y="512063"/>
                  </a:lnTo>
                  <a:lnTo>
                    <a:pt x="392303" y="485775"/>
                  </a:lnTo>
                  <a:lnTo>
                    <a:pt x="445008" y="445008"/>
                  </a:lnTo>
                  <a:lnTo>
                    <a:pt x="485774" y="392175"/>
                  </a:lnTo>
                  <a:lnTo>
                    <a:pt x="512064" y="329946"/>
                  </a:lnTo>
                  <a:lnTo>
                    <a:pt x="521334" y="260604"/>
                  </a:lnTo>
                  <a:lnTo>
                    <a:pt x="512064" y="191388"/>
                  </a:lnTo>
                  <a:lnTo>
                    <a:pt x="485774" y="129159"/>
                  </a:lnTo>
                  <a:lnTo>
                    <a:pt x="445008" y="76326"/>
                  </a:lnTo>
                  <a:lnTo>
                    <a:pt x="392303" y="35560"/>
                  </a:lnTo>
                  <a:lnTo>
                    <a:pt x="329946" y="9271"/>
                  </a:lnTo>
                  <a:lnTo>
                    <a:pt x="260730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568577" y="3010153"/>
              <a:ext cx="521334" cy="521334"/>
            </a:xfrm>
            <a:custGeom>
              <a:avLst/>
              <a:gdLst/>
              <a:ahLst/>
              <a:cxnLst/>
              <a:rect l="l" t="t" r="r" b="b"/>
              <a:pathLst>
                <a:path w="521335" h="521335">
                  <a:moveTo>
                    <a:pt x="521334" y="260604"/>
                  </a:moveTo>
                  <a:lnTo>
                    <a:pt x="512064" y="191388"/>
                  </a:lnTo>
                  <a:lnTo>
                    <a:pt x="485774" y="129159"/>
                  </a:lnTo>
                  <a:lnTo>
                    <a:pt x="445008" y="76326"/>
                  </a:lnTo>
                  <a:lnTo>
                    <a:pt x="392303" y="35560"/>
                  </a:lnTo>
                  <a:lnTo>
                    <a:pt x="329946" y="9271"/>
                  </a:lnTo>
                  <a:lnTo>
                    <a:pt x="260730" y="0"/>
                  </a:lnTo>
                  <a:lnTo>
                    <a:pt x="191389" y="9271"/>
                  </a:lnTo>
                  <a:lnTo>
                    <a:pt x="129159" y="35560"/>
                  </a:lnTo>
                  <a:lnTo>
                    <a:pt x="76327" y="76326"/>
                  </a:lnTo>
                  <a:lnTo>
                    <a:pt x="35559" y="129159"/>
                  </a:lnTo>
                  <a:lnTo>
                    <a:pt x="9270" y="191388"/>
                  </a:lnTo>
                  <a:lnTo>
                    <a:pt x="0" y="260604"/>
                  </a:lnTo>
                  <a:lnTo>
                    <a:pt x="9270" y="329946"/>
                  </a:lnTo>
                  <a:lnTo>
                    <a:pt x="35559" y="392175"/>
                  </a:lnTo>
                  <a:lnTo>
                    <a:pt x="76327" y="445008"/>
                  </a:lnTo>
                  <a:lnTo>
                    <a:pt x="129159" y="485775"/>
                  </a:lnTo>
                  <a:lnTo>
                    <a:pt x="191389" y="512063"/>
                  </a:lnTo>
                  <a:lnTo>
                    <a:pt x="260730" y="521335"/>
                  </a:lnTo>
                  <a:lnTo>
                    <a:pt x="329946" y="512063"/>
                  </a:lnTo>
                  <a:lnTo>
                    <a:pt x="392303" y="485775"/>
                  </a:lnTo>
                  <a:lnTo>
                    <a:pt x="445008" y="445008"/>
                  </a:lnTo>
                  <a:lnTo>
                    <a:pt x="485774" y="392175"/>
                  </a:lnTo>
                  <a:lnTo>
                    <a:pt x="512064" y="329946"/>
                  </a:lnTo>
                  <a:lnTo>
                    <a:pt x="521334" y="26060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596261" y="3010153"/>
              <a:ext cx="521334" cy="521334"/>
            </a:xfrm>
            <a:custGeom>
              <a:avLst/>
              <a:gdLst/>
              <a:ahLst/>
              <a:cxnLst/>
              <a:rect l="l" t="t" r="r" b="b"/>
              <a:pathLst>
                <a:path w="521335" h="521335">
                  <a:moveTo>
                    <a:pt x="260731" y="0"/>
                  </a:moveTo>
                  <a:lnTo>
                    <a:pt x="191388" y="9271"/>
                  </a:lnTo>
                  <a:lnTo>
                    <a:pt x="129158" y="35560"/>
                  </a:lnTo>
                  <a:lnTo>
                    <a:pt x="76326" y="76326"/>
                  </a:lnTo>
                  <a:lnTo>
                    <a:pt x="35559" y="129159"/>
                  </a:lnTo>
                  <a:lnTo>
                    <a:pt x="9270" y="191388"/>
                  </a:lnTo>
                  <a:lnTo>
                    <a:pt x="0" y="260604"/>
                  </a:lnTo>
                  <a:lnTo>
                    <a:pt x="9270" y="329946"/>
                  </a:lnTo>
                  <a:lnTo>
                    <a:pt x="35559" y="392175"/>
                  </a:lnTo>
                  <a:lnTo>
                    <a:pt x="76326" y="445008"/>
                  </a:lnTo>
                  <a:lnTo>
                    <a:pt x="129158" y="485775"/>
                  </a:lnTo>
                  <a:lnTo>
                    <a:pt x="191388" y="512063"/>
                  </a:lnTo>
                  <a:lnTo>
                    <a:pt x="260731" y="521335"/>
                  </a:lnTo>
                  <a:lnTo>
                    <a:pt x="329945" y="512063"/>
                  </a:lnTo>
                  <a:lnTo>
                    <a:pt x="392302" y="485775"/>
                  </a:lnTo>
                  <a:lnTo>
                    <a:pt x="445007" y="445008"/>
                  </a:lnTo>
                  <a:lnTo>
                    <a:pt x="485775" y="392175"/>
                  </a:lnTo>
                  <a:lnTo>
                    <a:pt x="512063" y="329946"/>
                  </a:lnTo>
                  <a:lnTo>
                    <a:pt x="521334" y="260604"/>
                  </a:lnTo>
                  <a:lnTo>
                    <a:pt x="512063" y="191388"/>
                  </a:lnTo>
                  <a:lnTo>
                    <a:pt x="485775" y="129159"/>
                  </a:lnTo>
                  <a:lnTo>
                    <a:pt x="445007" y="76326"/>
                  </a:lnTo>
                  <a:lnTo>
                    <a:pt x="392302" y="35560"/>
                  </a:lnTo>
                  <a:lnTo>
                    <a:pt x="329945" y="9271"/>
                  </a:lnTo>
                  <a:lnTo>
                    <a:pt x="260731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596261" y="3010153"/>
              <a:ext cx="521334" cy="521334"/>
            </a:xfrm>
            <a:custGeom>
              <a:avLst/>
              <a:gdLst/>
              <a:ahLst/>
              <a:cxnLst/>
              <a:rect l="l" t="t" r="r" b="b"/>
              <a:pathLst>
                <a:path w="521335" h="521335">
                  <a:moveTo>
                    <a:pt x="521334" y="260604"/>
                  </a:moveTo>
                  <a:lnTo>
                    <a:pt x="512063" y="191388"/>
                  </a:lnTo>
                  <a:lnTo>
                    <a:pt x="485775" y="129159"/>
                  </a:lnTo>
                  <a:lnTo>
                    <a:pt x="445007" y="76326"/>
                  </a:lnTo>
                  <a:lnTo>
                    <a:pt x="392302" y="35560"/>
                  </a:lnTo>
                  <a:lnTo>
                    <a:pt x="329945" y="9271"/>
                  </a:lnTo>
                  <a:lnTo>
                    <a:pt x="260731" y="0"/>
                  </a:lnTo>
                  <a:lnTo>
                    <a:pt x="191388" y="9271"/>
                  </a:lnTo>
                  <a:lnTo>
                    <a:pt x="129158" y="35560"/>
                  </a:lnTo>
                  <a:lnTo>
                    <a:pt x="76326" y="76326"/>
                  </a:lnTo>
                  <a:lnTo>
                    <a:pt x="35559" y="129159"/>
                  </a:lnTo>
                  <a:lnTo>
                    <a:pt x="9270" y="191388"/>
                  </a:lnTo>
                  <a:lnTo>
                    <a:pt x="0" y="260604"/>
                  </a:lnTo>
                  <a:lnTo>
                    <a:pt x="9270" y="329946"/>
                  </a:lnTo>
                  <a:lnTo>
                    <a:pt x="35559" y="392175"/>
                  </a:lnTo>
                  <a:lnTo>
                    <a:pt x="76326" y="445008"/>
                  </a:lnTo>
                  <a:lnTo>
                    <a:pt x="129158" y="485775"/>
                  </a:lnTo>
                  <a:lnTo>
                    <a:pt x="191388" y="512063"/>
                  </a:lnTo>
                  <a:lnTo>
                    <a:pt x="260731" y="521335"/>
                  </a:lnTo>
                  <a:lnTo>
                    <a:pt x="329945" y="512063"/>
                  </a:lnTo>
                  <a:lnTo>
                    <a:pt x="392302" y="485775"/>
                  </a:lnTo>
                  <a:lnTo>
                    <a:pt x="445007" y="445008"/>
                  </a:lnTo>
                  <a:lnTo>
                    <a:pt x="485775" y="392175"/>
                  </a:lnTo>
                  <a:lnTo>
                    <a:pt x="512063" y="329946"/>
                  </a:lnTo>
                  <a:lnTo>
                    <a:pt x="521334" y="26060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627754" y="3013963"/>
              <a:ext cx="513715" cy="513715"/>
            </a:xfrm>
            <a:custGeom>
              <a:avLst/>
              <a:gdLst/>
              <a:ahLst/>
              <a:cxnLst/>
              <a:rect l="l" t="t" r="r" b="b"/>
              <a:pathLst>
                <a:path w="513714" h="513714">
                  <a:moveTo>
                    <a:pt x="256794" y="0"/>
                  </a:moveTo>
                  <a:lnTo>
                    <a:pt x="188595" y="9144"/>
                  </a:lnTo>
                  <a:lnTo>
                    <a:pt x="127127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4" y="188595"/>
                  </a:lnTo>
                  <a:lnTo>
                    <a:pt x="0" y="256794"/>
                  </a:lnTo>
                  <a:lnTo>
                    <a:pt x="9144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127" y="478663"/>
                  </a:lnTo>
                  <a:lnTo>
                    <a:pt x="188595" y="504571"/>
                  </a:lnTo>
                  <a:lnTo>
                    <a:pt x="256794" y="513714"/>
                  </a:lnTo>
                  <a:lnTo>
                    <a:pt x="325120" y="504571"/>
                  </a:lnTo>
                  <a:lnTo>
                    <a:pt x="386461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715" y="256794"/>
                  </a:ln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461" y="35051"/>
                  </a:lnTo>
                  <a:lnTo>
                    <a:pt x="325120" y="9144"/>
                  </a:lnTo>
                  <a:lnTo>
                    <a:pt x="256794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627754" y="3013963"/>
              <a:ext cx="513715" cy="513715"/>
            </a:xfrm>
            <a:custGeom>
              <a:avLst/>
              <a:gdLst/>
              <a:ahLst/>
              <a:cxnLst/>
              <a:rect l="l" t="t" r="r" b="b"/>
              <a:pathLst>
                <a:path w="513714" h="513714">
                  <a:moveTo>
                    <a:pt x="513715" y="256794"/>
                  </a:moveTo>
                  <a:lnTo>
                    <a:pt x="504571" y="188595"/>
                  </a:lnTo>
                  <a:lnTo>
                    <a:pt x="478663" y="127126"/>
                  </a:lnTo>
                  <a:lnTo>
                    <a:pt x="438531" y="75184"/>
                  </a:lnTo>
                  <a:lnTo>
                    <a:pt x="386461" y="35051"/>
                  </a:lnTo>
                  <a:lnTo>
                    <a:pt x="325120" y="9144"/>
                  </a:lnTo>
                  <a:lnTo>
                    <a:pt x="256794" y="0"/>
                  </a:lnTo>
                  <a:lnTo>
                    <a:pt x="188595" y="9144"/>
                  </a:lnTo>
                  <a:lnTo>
                    <a:pt x="127127" y="35051"/>
                  </a:lnTo>
                  <a:lnTo>
                    <a:pt x="75184" y="75184"/>
                  </a:lnTo>
                  <a:lnTo>
                    <a:pt x="35052" y="127126"/>
                  </a:lnTo>
                  <a:lnTo>
                    <a:pt x="9144" y="188595"/>
                  </a:lnTo>
                  <a:lnTo>
                    <a:pt x="0" y="256794"/>
                  </a:lnTo>
                  <a:lnTo>
                    <a:pt x="9144" y="325120"/>
                  </a:lnTo>
                  <a:lnTo>
                    <a:pt x="35052" y="386588"/>
                  </a:lnTo>
                  <a:lnTo>
                    <a:pt x="75184" y="438531"/>
                  </a:lnTo>
                  <a:lnTo>
                    <a:pt x="127127" y="478663"/>
                  </a:lnTo>
                  <a:lnTo>
                    <a:pt x="188595" y="504571"/>
                  </a:lnTo>
                  <a:lnTo>
                    <a:pt x="256794" y="513714"/>
                  </a:lnTo>
                  <a:lnTo>
                    <a:pt x="325120" y="504571"/>
                  </a:lnTo>
                  <a:lnTo>
                    <a:pt x="386461" y="478663"/>
                  </a:lnTo>
                  <a:lnTo>
                    <a:pt x="438531" y="438531"/>
                  </a:lnTo>
                  <a:lnTo>
                    <a:pt x="478663" y="386588"/>
                  </a:lnTo>
                  <a:lnTo>
                    <a:pt x="504571" y="325120"/>
                  </a:lnTo>
                  <a:lnTo>
                    <a:pt x="513715" y="256794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3719448" y="2723515"/>
            <a:ext cx="329565" cy="644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65405">
              <a:lnSpc>
                <a:spcPct val="100000"/>
              </a:lnSpc>
              <a:spcBef>
                <a:spcPts val="110"/>
              </a:spcBef>
            </a:pP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h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4</a:t>
            </a:r>
            <a:endParaRPr sz="1650" baseline="-10101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1260"/>
              </a:spcBef>
            </a:pPr>
            <a:r>
              <a:rPr sz="1500" spc="-25" dirty="0">
                <a:solidFill>
                  <a:srgbClr val="213739"/>
                </a:solidFill>
                <a:latin typeface="Arial MT"/>
                <a:cs typeface="Arial MT"/>
              </a:rPr>
              <a:t>1,1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33527" y="3638803"/>
            <a:ext cx="748030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i="1" dirty="0">
                <a:solidFill>
                  <a:srgbClr val="213739"/>
                </a:solidFill>
                <a:latin typeface="Calibri"/>
                <a:cs typeface="Calibri"/>
              </a:rPr>
              <a:t>bias</a:t>
            </a:r>
            <a:r>
              <a:rPr sz="1500" i="1" spc="33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500" spc="-13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13739"/>
                </a:solidFill>
                <a:latin typeface="Arial MT"/>
                <a:cs typeface="Arial MT"/>
              </a:rPr>
              <a:t>-</a:t>
            </a:r>
            <a:r>
              <a:rPr sz="1500" spc="-2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00" spc="-50" dirty="0">
                <a:solidFill>
                  <a:srgbClr val="213739"/>
                </a:solidFill>
                <a:latin typeface="Arial MT"/>
                <a:cs typeface="Arial MT"/>
              </a:rPr>
              <a:t>2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278507" y="1536572"/>
            <a:ext cx="111760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i="1" spc="-50" dirty="0">
                <a:solidFill>
                  <a:srgbClr val="213739"/>
                </a:solidFill>
                <a:latin typeface="Calibri"/>
                <a:cs typeface="Calibri"/>
              </a:rPr>
              <a:t>y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164336" y="2568955"/>
            <a:ext cx="280670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650" baseline="-10101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628013" y="2532379"/>
            <a:ext cx="1461135" cy="8324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90500">
              <a:lnSpc>
                <a:spcPts val="1650"/>
              </a:lnSpc>
              <a:spcBef>
                <a:spcPts val="110"/>
              </a:spcBef>
              <a:tabLst>
                <a:tab pos="704215" algn="l"/>
                <a:tab pos="1191895" algn="l"/>
              </a:tabLst>
            </a:pP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650" baseline="-1010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r>
              <a:rPr sz="1650" baseline="-1010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4</a:t>
            </a:r>
            <a:endParaRPr sz="1650" baseline="-10101">
              <a:latin typeface="Calibri"/>
              <a:cs typeface="Calibri"/>
            </a:endParaRPr>
          </a:p>
          <a:p>
            <a:pPr marL="100965">
              <a:lnSpc>
                <a:spcPts val="1650"/>
              </a:lnSpc>
              <a:tabLst>
                <a:tab pos="1127760" algn="l"/>
              </a:tabLst>
            </a:pP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h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650" baseline="-1010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h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650" baseline="-10101">
              <a:latin typeface="Calibri"/>
              <a:cs typeface="Calibri"/>
            </a:endParaRPr>
          </a:p>
          <a:p>
            <a:pPr marL="50800">
              <a:lnSpc>
                <a:spcPct val="100000"/>
              </a:lnSpc>
              <a:spcBef>
                <a:spcPts val="1235"/>
              </a:spcBef>
              <a:tabLst>
                <a:tab pos="1077595" algn="l"/>
              </a:tabLst>
            </a:pPr>
            <a:r>
              <a:rPr sz="1500" spc="-40" dirty="0">
                <a:solidFill>
                  <a:srgbClr val="213739"/>
                </a:solidFill>
                <a:latin typeface="Arial MT"/>
                <a:cs typeface="Arial MT"/>
              </a:rPr>
              <a:t>-</a:t>
            </a:r>
            <a:r>
              <a:rPr sz="1500" spc="-25" dirty="0">
                <a:solidFill>
                  <a:srgbClr val="213739"/>
                </a:solidFill>
                <a:latin typeface="Arial MT"/>
                <a:cs typeface="Arial MT"/>
              </a:rPr>
              <a:t>1,1</a:t>
            </a:r>
            <a:r>
              <a:rPr sz="1500" dirty="0">
                <a:solidFill>
                  <a:srgbClr val="213739"/>
                </a:solidFill>
                <a:latin typeface="Arial MT"/>
                <a:cs typeface="Arial MT"/>
              </a:rPr>
              <a:t>	</a:t>
            </a:r>
            <a:r>
              <a:rPr sz="1500" spc="-70" dirty="0">
                <a:solidFill>
                  <a:srgbClr val="213739"/>
                </a:solidFill>
                <a:latin typeface="Arial MT"/>
                <a:cs typeface="Arial MT"/>
              </a:rPr>
              <a:t>1,-</a:t>
            </a:r>
            <a:r>
              <a:rPr sz="1500" spc="-50" dirty="0">
                <a:solidFill>
                  <a:srgbClr val="213739"/>
                </a:solidFill>
                <a:latin typeface="Arial MT"/>
                <a:cs typeface="Arial MT"/>
              </a:rPr>
              <a:t>1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994460" y="1862084"/>
            <a:ext cx="2713990" cy="2357120"/>
            <a:chOff x="994460" y="1862084"/>
            <a:chExt cx="2713990" cy="2357120"/>
          </a:xfrm>
        </p:grpSpPr>
        <p:sp>
          <p:nvSpPr>
            <p:cNvPr id="29" name="object 29"/>
            <p:cNvSpPr/>
            <p:nvPr/>
          </p:nvSpPr>
          <p:spPr>
            <a:xfrm>
              <a:off x="1016139" y="3485388"/>
              <a:ext cx="686435" cy="686435"/>
            </a:xfrm>
            <a:custGeom>
              <a:avLst/>
              <a:gdLst/>
              <a:ahLst/>
              <a:cxnLst/>
              <a:rect l="l" t="t" r="r" b="b"/>
              <a:pathLst>
                <a:path w="686435" h="686435">
                  <a:moveTo>
                    <a:pt x="686295" y="686181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4460" y="3463657"/>
              <a:ext cx="104659" cy="104661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1072959" y="3406521"/>
              <a:ext cx="1615440" cy="807720"/>
            </a:xfrm>
            <a:custGeom>
              <a:avLst/>
              <a:gdLst/>
              <a:ahLst/>
              <a:cxnLst/>
              <a:rect l="l" t="t" r="r" b="b"/>
              <a:pathLst>
                <a:path w="1615439" h="807720">
                  <a:moveTo>
                    <a:pt x="1615122" y="807592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60723" y="3364757"/>
              <a:ext cx="84085" cy="122262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1766570" y="3546729"/>
              <a:ext cx="125730" cy="624840"/>
            </a:xfrm>
            <a:custGeom>
              <a:avLst/>
              <a:gdLst/>
              <a:ahLst/>
              <a:cxnLst/>
              <a:rect l="l" t="t" r="r" b="b"/>
              <a:pathLst>
                <a:path w="125730" h="624839">
                  <a:moveTo>
                    <a:pt x="62737" y="624840"/>
                  </a:moveTo>
                  <a:lnTo>
                    <a:pt x="62737" y="8000"/>
                  </a:lnTo>
                </a:path>
                <a:path w="125730" h="624839">
                  <a:moveTo>
                    <a:pt x="0" y="51435"/>
                  </a:moveTo>
                  <a:lnTo>
                    <a:pt x="24637" y="42418"/>
                  </a:lnTo>
                  <a:lnTo>
                    <a:pt x="42672" y="30099"/>
                  </a:lnTo>
                  <a:lnTo>
                    <a:pt x="55118" y="15621"/>
                  </a:lnTo>
                  <a:lnTo>
                    <a:pt x="62737" y="0"/>
                  </a:lnTo>
                  <a:lnTo>
                    <a:pt x="70231" y="15621"/>
                  </a:lnTo>
                  <a:lnTo>
                    <a:pt x="82677" y="30099"/>
                  </a:lnTo>
                  <a:lnTo>
                    <a:pt x="100711" y="42418"/>
                  </a:lnTo>
                  <a:lnTo>
                    <a:pt x="125349" y="51435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030094" y="3471672"/>
              <a:ext cx="700405" cy="700405"/>
            </a:xfrm>
            <a:custGeom>
              <a:avLst/>
              <a:gdLst/>
              <a:ahLst/>
              <a:cxnLst/>
              <a:rect l="l" t="t" r="r" b="b"/>
              <a:pathLst>
                <a:path w="700405" h="700404">
                  <a:moveTo>
                    <a:pt x="700024" y="699896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08377" y="3449924"/>
              <a:ext cx="105171" cy="105186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1956054" y="3471672"/>
              <a:ext cx="700405" cy="700405"/>
            </a:xfrm>
            <a:custGeom>
              <a:avLst/>
              <a:gdLst/>
              <a:ahLst/>
              <a:cxnLst/>
              <a:rect l="l" t="t" r="r" b="b"/>
              <a:pathLst>
                <a:path w="700405" h="700404">
                  <a:moveTo>
                    <a:pt x="0" y="699896"/>
                  </a:moveTo>
                  <a:lnTo>
                    <a:pt x="700023" y="0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72766" y="3449924"/>
              <a:ext cx="105171" cy="105186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2794254" y="3546729"/>
              <a:ext cx="125730" cy="624840"/>
            </a:xfrm>
            <a:custGeom>
              <a:avLst/>
              <a:gdLst/>
              <a:ahLst/>
              <a:cxnLst/>
              <a:rect l="l" t="t" r="r" b="b"/>
              <a:pathLst>
                <a:path w="125730" h="624839">
                  <a:moveTo>
                    <a:pt x="62737" y="624840"/>
                  </a:moveTo>
                  <a:lnTo>
                    <a:pt x="62737" y="8000"/>
                  </a:lnTo>
                </a:path>
                <a:path w="125730" h="624839">
                  <a:moveTo>
                    <a:pt x="0" y="51435"/>
                  </a:moveTo>
                  <a:lnTo>
                    <a:pt x="24637" y="42418"/>
                  </a:lnTo>
                  <a:lnTo>
                    <a:pt x="42671" y="30099"/>
                  </a:lnTo>
                  <a:lnTo>
                    <a:pt x="55118" y="15621"/>
                  </a:lnTo>
                  <a:lnTo>
                    <a:pt x="62737" y="0"/>
                  </a:lnTo>
                  <a:lnTo>
                    <a:pt x="70231" y="15621"/>
                  </a:lnTo>
                  <a:lnTo>
                    <a:pt x="82676" y="30099"/>
                  </a:lnTo>
                  <a:lnTo>
                    <a:pt x="100710" y="42418"/>
                  </a:lnTo>
                  <a:lnTo>
                    <a:pt x="125348" y="51435"/>
                  </a:lnTo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998218" y="3396107"/>
              <a:ext cx="1635760" cy="818515"/>
            </a:xfrm>
            <a:custGeom>
              <a:avLst/>
              <a:gdLst/>
              <a:ahLst/>
              <a:cxnLst/>
              <a:rect l="l" t="t" r="r" b="b"/>
              <a:pathLst>
                <a:path w="1635760" h="818514">
                  <a:moveTo>
                    <a:pt x="0" y="818006"/>
                  </a:moveTo>
                  <a:lnTo>
                    <a:pt x="1635759" y="0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62114" y="3354470"/>
              <a:ext cx="84163" cy="122136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2983864" y="3469005"/>
              <a:ext cx="702945" cy="702945"/>
            </a:xfrm>
            <a:custGeom>
              <a:avLst/>
              <a:gdLst/>
              <a:ahLst/>
              <a:cxnLst/>
              <a:rect l="l" t="t" r="r" b="b"/>
              <a:pathLst>
                <a:path w="702945" h="702945">
                  <a:moveTo>
                    <a:pt x="0" y="702564"/>
                  </a:moveTo>
                  <a:lnTo>
                    <a:pt x="702563" y="0"/>
                  </a:lnTo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603498" y="3447274"/>
              <a:ext cx="104659" cy="104661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1041425" y="2308860"/>
              <a:ext cx="1203325" cy="802640"/>
            </a:xfrm>
            <a:custGeom>
              <a:avLst/>
              <a:gdLst/>
              <a:ahLst/>
              <a:cxnLst/>
              <a:rect l="l" t="t" r="r" b="b"/>
              <a:pathLst>
                <a:path w="1203325" h="802639">
                  <a:moveTo>
                    <a:pt x="0" y="802131"/>
                  </a:moveTo>
                  <a:lnTo>
                    <a:pt x="1203172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83766" y="2287145"/>
              <a:ext cx="66671" cy="85467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1949577" y="2348738"/>
              <a:ext cx="340995" cy="681990"/>
            </a:xfrm>
            <a:custGeom>
              <a:avLst/>
              <a:gdLst/>
              <a:ahLst/>
              <a:cxnLst/>
              <a:rect l="l" t="t" r="r" b="b"/>
              <a:pathLst>
                <a:path w="340994" h="681989">
                  <a:moveTo>
                    <a:pt x="0" y="681482"/>
                  </a:moveTo>
                  <a:lnTo>
                    <a:pt x="340741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227579" y="2342641"/>
              <a:ext cx="91568" cy="64136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2395855" y="2348738"/>
              <a:ext cx="340995" cy="681990"/>
            </a:xfrm>
            <a:custGeom>
              <a:avLst/>
              <a:gdLst/>
              <a:ahLst/>
              <a:cxnLst/>
              <a:rect l="l" t="t" r="r" b="b"/>
              <a:pathLst>
                <a:path w="340994" h="681989">
                  <a:moveTo>
                    <a:pt x="340868" y="681482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67025" y="2342641"/>
              <a:ext cx="91568" cy="64136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2441575" y="2308860"/>
              <a:ext cx="1223010" cy="815340"/>
            </a:xfrm>
            <a:custGeom>
              <a:avLst/>
              <a:gdLst/>
              <a:ahLst/>
              <a:cxnLst/>
              <a:rect l="l" t="t" r="r" b="b"/>
              <a:pathLst>
                <a:path w="1223010" h="815339">
                  <a:moveTo>
                    <a:pt x="1222628" y="814959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435734" y="2287145"/>
              <a:ext cx="66671" cy="85467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2294890" y="1864614"/>
              <a:ext cx="96520" cy="268605"/>
            </a:xfrm>
            <a:custGeom>
              <a:avLst/>
              <a:gdLst/>
              <a:ahLst/>
              <a:cxnLst/>
              <a:rect l="l" t="t" r="r" b="b"/>
              <a:pathLst>
                <a:path w="96519" h="268605">
                  <a:moveTo>
                    <a:pt x="48260" y="268605"/>
                  </a:moveTo>
                  <a:lnTo>
                    <a:pt x="48260" y="4063"/>
                  </a:lnTo>
                </a:path>
                <a:path w="96519" h="268605">
                  <a:moveTo>
                    <a:pt x="0" y="41783"/>
                  </a:moveTo>
                  <a:lnTo>
                    <a:pt x="18923" y="34416"/>
                  </a:lnTo>
                  <a:lnTo>
                    <a:pt x="32893" y="24511"/>
                  </a:lnTo>
                  <a:lnTo>
                    <a:pt x="42418" y="12700"/>
                  </a:lnTo>
                  <a:lnTo>
                    <a:pt x="48260" y="0"/>
                  </a:lnTo>
                  <a:lnTo>
                    <a:pt x="54102" y="12700"/>
                  </a:lnTo>
                  <a:lnTo>
                    <a:pt x="63627" y="24511"/>
                  </a:lnTo>
                  <a:lnTo>
                    <a:pt x="77470" y="34416"/>
                  </a:lnTo>
                  <a:lnTo>
                    <a:pt x="96393" y="41783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343204" y="3999632"/>
            <a:ext cx="2451100" cy="1073785"/>
          </a:xfrm>
          <a:prstGeom prst="rect">
            <a:avLst/>
          </a:prstGeom>
        </p:spPr>
        <p:txBody>
          <a:bodyPr vert="horz" wrap="square" lIns="0" tIns="125095" rIns="0" bIns="0" rtlCol="0">
            <a:spAutoFit/>
          </a:bodyPr>
          <a:lstStyle/>
          <a:p>
            <a:pPr marL="496570" algn="ctr">
              <a:lnSpc>
                <a:spcPct val="100000"/>
              </a:lnSpc>
              <a:spcBef>
                <a:spcPts val="985"/>
              </a:spcBef>
            </a:pPr>
            <a:r>
              <a:rPr sz="1500" i="1" spc="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650" spc="37" baseline="-10101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650" baseline="-10101">
              <a:latin typeface="Calibri"/>
              <a:cs typeface="Calibri"/>
            </a:endParaRPr>
          </a:p>
          <a:p>
            <a:pPr marL="38100" marR="30480">
              <a:lnSpc>
                <a:spcPct val="117700"/>
              </a:lnSpc>
              <a:spcBef>
                <a:spcPts val="625"/>
              </a:spcBef>
            </a:pP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red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edge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indicates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i="1" spc="10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=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-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1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blue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edge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indicates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i="1" spc="12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=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+1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53" name="object 53" descr="$PPTXTitle"/>
          <p:cNvSpPr txBox="1">
            <a:spLocks noGrp="1"/>
          </p:cNvSpPr>
          <p:nvPr>
            <p:ph type="title"/>
          </p:nvPr>
        </p:nvSpPr>
        <p:spPr>
          <a:xfrm>
            <a:off x="4781169" y="875537"/>
            <a:ext cx="4006850" cy="967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7700"/>
              </a:lnSpc>
              <a:spcBef>
                <a:spcPts val="100"/>
              </a:spcBef>
            </a:pP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It</a:t>
            </a:r>
            <a:r>
              <a:rPr sz="1750" spc="335" dirty="0">
                <a:solidFill>
                  <a:srgbClr val="213739"/>
                </a:solidFill>
                <a:latin typeface="Arial MT"/>
                <a:cs typeface="Arial MT"/>
              </a:rPr>
              <a:t> 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should</a:t>
            </a:r>
            <a:r>
              <a:rPr sz="1750" spc="340" dirty="0">
                <a:solidFill>
                  <a:srgbClr val="213739"/>
                </a:solidFill>
                <a:latin typeface="Arial MT"/>
                <a:cs typeface="Arial MT"/>
              </a:rPr>
              <a:t> 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be</a:t>
            </a:r>
            <a:r>
              <a:rPr sz="1750" spc="350" dirty="0">
                <a:solidFill>
                  <a:srgbClr val="213739"/>
                </a:solidFill>
                <a:latin typeface="Arial MT"/>
                <a:cs typeface="Arial MT"/>
              </a:rPr>
              <a:t> 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clear</a:t>
            </a:r>
            <a:r>
              <a:rPr sz="1750" spc="330" dirty="0">
                <a:solidFill>
                  <a:srgbClr val="213739"/>
                </a:solidFill>
                <a:latin typeface="Arial MT"/>
                <a:cs typeface="Arial MT"/>
              </a:rPr>
              <a:t> 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that</a:t>
            </a:r>
            <a:r>
              <a:rPr sz="1750" spc="345" dirty="0">
                <a:solidFill>
                  <a:srgbClr val="213739"/>
                </a:solidFill>
                <a:latin typeface="Arial MT"/>
                <a:cs typeface="Arial MT"/>
              </a:rPr>
              <a:t> 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345" dirty="0">
                <a:solidFill>
                  <a:srgbClr val="213739"/>
                </a:solidFill>
                <a:latin typeface="Arial MT"/>
                <a:cs typeface="Arial MT"/>
              </a:rPr>
              <a:t> 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same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network</a:t>
            </a:r>
            <a:r>
              <a:rPr sz="1750" spc="3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can</a:t>
            </a:r>
            <a:r>
              <a:rPr sz="1750" spc="3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be</a:t>
            </a:r>
            <a:r>
              <a:rPr sz="1750" spc="3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used</a:t>
            </a:r>
            <a:r>
              <a:rPr sz="1750" spc="3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1750" spc="3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represent</a:t>
            </a:r>
            <a:r>
              <a:rPr sz="1750" spc="3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the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remaining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15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boolean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functions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also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4781169" y="1880107"/>
            <a:ext cx="4003040" cy="9645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7145" marR="5080" indent="-5080" algn="just">
              <a:lnSpc>
                <a:spcPct val="117200"/>
              </a:lnSpc>
              <a:spcBef>
                <a:spcPts val="110"/>
              </a:spcBef>
            </a:pP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Each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boolean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function will result in a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dif-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ferent</a:t>
            </a:r>
            <a:r>
              <a:rPr sz="1750" spc="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set</a:t>
            </a:r>
            <a:r>
              <a:rPr sz="1750" spc="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non-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contradicting</a:t>
            </a:r>
            <a:r>
              <a:rPr sz="1750" spc="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inequalities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which</a:t>
            </a:r>
            <a:r>
              <a:rPr sz="1750" spc="-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can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be</a:t>
            </a:r>
            <a:r>
              <a:rPr sz="1750" spc="-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satisfied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by</a:t>
            </a:r>
            <a:r>
              <a:rPr sz="1750" spc="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appropriately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set-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4786121" y="2867914"/>
            <a:ext cx="1634489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ting</a:t>
            </a:r>
            <a:r>
              <a:rPr sz="1750" spc="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i="1" spc="24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-3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i="1" spc="23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750" i="1" spc="23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,</a:t>
            </a:r>
            <a:r>
              <a:rPr sz="1750" i="1" spc="-2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i="1" spc="-50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5362194" y="2950209"/>
            <a:ext cx="1136650" cy="2197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56870" algn="l"/>
                <a:tab pos="701675" algn="l"/>
                <a:tab pos="1041400" algn="l"/>
              </a:tabLst>
            </a:pPr>
            <a:r>
              <a:rPr sz="1250" spc="-50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250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250" spc="-50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250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250" spc="-50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r>
              <a:rPr sz="1250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250" spc="-50" dirty="0">
                <a:solidFill>
                  <a:srgbClr val="213739"/>
                </a:solidFill>
                <a:latin typeface="Calibri"/>
                <a:cs typeface="Calibri"/>
              </a:rPr>
              <a:t>4</a:t>
            </a:r>
            <a:endParaRPr sz="125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4968" y="3020948"/>
            <a:ext cx="335851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What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if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have</a:t>
            </a:r>
            <a:r>
              <a:rPr sz="1750" spc="-1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more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than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3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inputs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?</a:t>
            </a:r>
            <a:endParaRPr sz="175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64178" y="2603525"/>
            <a:ext cx="221589" cy="22158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553078" y="5095443"/>
            <a:ext cx="244475" cy="2565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5"/>
              </a:spcBef>
            </a:pPr>
            <a:r>
              <a:rPr sz="1500" i="1" spc="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650" spc="37" baseline="-10101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endParaRPr sz="1650" baseline="-10101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23841" y="5095443"/>
            <a:ext cx="245110" cy="2565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5"/>
              </a:spcBef>
            </a:pPr>
            <a:r>
              <a:rPr sz="1500" i="1" spc="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650" spc="37" baseline="-10101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endParaRPr sz="1650" baseline="-10101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94985" y="5095443"/>
            <a:ext cx="244475" cy="2565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5"/>
              </a:spcBef>
            </a:pPr>
            <a:r>
              <a:rPr sz="1500" i="1" spc="25" dirty="0">
                <a:solidFill>
                  <a:srgbClr val="213739"/>
                </a:solidFill>
                <a:latin typeface="Calibri"/>
                <a:cs typeface="Calibri"/>
              </a:rPr>
              <a:t>x</a:t>
            </a:r>
            <a:r>
              <a:rPr sz="1650" spc="37" baseline="-10101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endParaRPr sz="1650" baseline="-10101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500632" y="3479927"/>
            <a:ext cx="5919470" cy="524510"/>
            <a:chOff x="1500632" y="3479927"/>
            <a:chExt cx="5919470" cy="524510"/>
          </a:xfrm>
        </p:grpSpPr>
        <p:sp>
          <p:nvSpPr>
            <p:cNvPr id="7" name="object 7"/>
            <p:cNvSpPr/>
            <p:nvPr/>
          </p:nvSpPr>
          <p:spPr>
            <a:xfrm>
              <a:off x="1505712" y="3485007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56920" y="0"/>
                  </a:moveTo>
                  <a:lnTo>
                    <a:pt x="188594" y="9270"/>
                  </a:lnTo>
                  <a:lnTo>
                    <a:pt x="127254" y="35178"/>
                  </a:lnTo>
                  <a:lnTo>
                    <a:pt x="75310" y="75310"/>
                  </a:lnTo>
                  <a:lnTo>
                    <a:pt x="35051" y="127253"/>
                  </a:lnTo>
                  <a:lnTo>
                    <a:pt x="9143" y="188721"/>
                  </a:lnTo>
                  <a:lnTo>
                    <a:pt x="0" y="256920"/>
                  </a:lnTo>
                  <a:lnTo>
                    <a:pt x="9143" y="325246"/>
                  </a:lnTo>
                  <a:lnTo>
                    <a:pt x="35051" y="386587"/>
                  </a:lnTo>
                  <a:lnTo>
                    <a:pt x="75310" y="438657"/>
                  </a:lnTo>
                  <a:lnTo>
                    <a:pt x="127254" y="478789"/>
                  </a:lnTo>
                  <a:lnTo>
                    <a:pt x="188594" y="504697"/>
                  </a:lnTo>
                  <a:lnTo>
                    <a:pt x="256920" y="513841"/>
                  </a:lnTo>
                  <a:lnTo>
                    <a:pt x="325246" y="504697"/>
                  </a:lnTo>
                  <a:lnTo>
                    <a:pt x="386588" y="478789"/>
                  </a:lnTo>
                  <a:lnTo>
                    <a:pt x="438657" y="438657"/>
                  </a:lnTo>
                  <a:lnTo>
                    <a:pt x="478789" y="386587"/>
                  </a:lnTo>
                  <a:lnTo>
                    <a:pt x="504698" y="325246"/>
                  </a:lnTo>
                  <a:lnTo>
                    <a:pt x="513842" y="256920"/>
                  </a:lnTo>
                  <a:lnTo>
                    <a:pt x="504698" y="188721"/>
                  </a:lnTo>
                  <a:lnTo>
                    <a:pt x="478789" y="127253"/>
                  </a:lnTo>
                  <a:lnTo>
                    <a:pt x="438657" y="75310"/>
                  </a:lnTo>
                  <a:lnTo>
                    <a:pt x="386588" y="35178"/>
                  </a:lnTo>
                  <a:lnTo>
                    <a:pt x="325246" y="9270"/>
                  </a:lnTo>
                  <a:lnTo>
                    <a:pt x="256920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05712" y="3485007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513842" y="256920"/>
                  </a:moveTo>
                  <a:lnTo>
                    <a:pt x="504698" y="188721"/>
                  </a:lnTo>
                  <a:lnTo>
                    <a:pt x="478789" y="127253"/>
                  </a:lnTo>
                  <a:lnTo>
                    <a:pt x="438657" y="75310"/>
                  </a:lnTo>
                  <a:lnTo>
                    <a:pt x="386588" y="35178"/>
                  </a:lnTo>
                  <a:lnTo>
                    <a:pt x="325246" y="9270"/>
                  </a:lnTo>
                  <a:lnTo>
                    <a:pt x="256920" y="0"/>
                  </a:lnTo>
                  <a:lnTo>
                    <a:pt x="188594" y="9270"/>
                  </a:lnTo>
                  <a:lnTo>
                    <a:pt x="127254" y="35178"/>
                  </a:lnTo>
                  <a:lnTo>
                    <a:pt x="75310" y="75310"/>
                  </a:lnTo>
                  <a:lnTo>
                    <a:pt x="35051" y="127253"/>
                  </a:lnTo>
                  <a:lnTo>
                    <a:pt x="9143" y="188721"/>
                  </a:lnTo>
                  <a:lnTo>
                    <a:pt x="0" y="256920"/>
                  </a:lnTo>
                  <a:lnTo>
                    <a:pt x="9143" y="325246"/>
                  </a:lnTo>
                  <a:lnTo>
                    <a:pt x="35051" y="386587"/>
                  </a:lnTo>
                  <a:lnTo>
                    <a:pt x="75310" y="438657"/>
                  </a:lnTo>
                  <a:lnTo>
                    <a:pt x="127254" y="478789"/>
                  </a:lnTo>
                  <a:lnTo>
                    <a:pt x="188594" y="504697"/>
                  </a:lnTo>
                  <a:lnTo>
                    <a:pt x="256920" y="513841"/>
                  </a:lnTo>
                  <a:lnTo>
                    <a:pt x="325246" y="504697"/>
                  </a:lnTo>
                  <a:lnTo>
                    <a:pt x="386588" y="478789"/>
                  </a:lnTo>
                  <a:lnTo>
                    <a:pt x="438657" y="438657"/>
                  </a:lnTo>
                  <a:lnTo>
                    <a:pt x="478789" y="386587"/>
                  </a:lnTo>
                  <a:lnTo>
                    <a:pt x="504698" y="325246"/>
                  </a:lnTo>
                  <a:lnTo>
                    <a:pt x="513842" y="256920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76475" y="3485007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56920" y="0"/>
                  </a:moveTo>
                  <a:lnTo>
                    <a:pt x="188594" y="9270"/>
                  </a:lnTo>
                  <a:lnTo>
                    <a:pt x="127254" y="35178"/>
                  </a:lnTo>
                  <a:lnTo>
                    <a:pt x="75311" y="75310"/>
                  </a:lnTo>
                  <a:lnTo>
                    <a:pt x="35051" y="127253"/>
                  </a:lnTo>
                  <a:lnTo>
                    <a:pt x="9143" y="188721"/>
                  </a:lnTo>
                  <a:lnTo>
                    <a:pt x="0" y="256920"/>
                  </a:lnTo>
                  <a:lnTo>
                    <a:pt x="9143" y="325246"/>
                  </a:lnTo>
                  <a:lnTo>
                    <a:pt x="35051" y="386587"/>
                  </a:lnTo>
                  <a:lnTo>
                    <a:pt x="75311" y="438657"/>
                  </a:lnTo>
                  <a:lnTo>
                    <a:pt x="127254" y="478789"/>
                  </a:lnTo>
                  <a:lnTo>
                    <a:pt x="188594" y="504697"/>
                  </a:lnTo>
                  <a:lnTo>
                    <a:pt x="256920" y="513841"/>
                  </a:lnTo>
                  <a:lnTo>
                    <a:pt x="325247" y="504697"/>
                  </a:lnTo>
                  <a:lnTo>
                    <a:pt x="386588" y="478789"/>
                  </a:lnTo>
                  <a:lnTo>
                    <a:pt x="438657" y="438657"/>
                  </a:lnTo>
                  <a:lnTo>
                    <a:pt x="478789" y="386587"/>
                  </a:lnTo>
                  <a:lnTo>
                    <a:pt x="504698" y="325246"/>
                  </a:lnTo>
                  <a:lnTo>
                    <a:pt x="513842" y="256920"/>
                  </a:lnTo>
                  <a:lnTo>
                    <a:pt x="504698" y="188721"/>
                  </a:lnTo>
                  <a:lnTo>
                    <a:pt x="478789" y="127253"/>
                  </a:lnTo>
                  <a:lnTo>
                    <a:pt x="438657" y="75310"/>
                  </a:lnTo>
                  <a:lnTo>
                    <a:pt x="386588" y="35178"/>
                  </a:lnTo>
                  <a:lnTo>
                    <a:pt x="325247" y="9270"/>
                  </a:lnTo>
                  <a:lnTo>
                    <a:pt x="256920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276475" y="3485007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513842" y="256920"/>
                  </a:moveTo>
                  <a:lnTo>
                    <a:pt x="504698" y="188721"/>
                  </a:lnTo>
                  <a:lnTo>
                    <a:pt x="478789" y="127253"/>
                  </a:lnTo>
                  <a:lnTo>
                    <a:pt x="438657" y="75310"/>
                  </a:lnTo>
                  <a:lnTo>
                    <a:pt x="386588" y="35178"/>
                  </a:lnTo>
                  <a:lnTo>
                    <a:pt x="325247" y="9270"/>
                  </a:lnTo>
                  <a:lnTo>
                    <a:pt x="256920" y="0"/>
                  </a:lnTo>
                  <a:lnTo>
                    <a:pt x="188594" y="9270"/>
                  </a:lnTo>
                  <a:lnTo>
                    <a:pt x="127254" y="35178"/>
                  </a:lnTo>
                  <a:lnTo>
                    <a:pt x="75311" y="75310"/>
                  </a:lnTo>
                  <a:lnTo>
                    <a:pt x="35051" y="127253"/>
                  </a:lnTo>
                  <a:lnTo>
                    <a:pt x="9143" y="188721"/>
                  </a:lnTo>
                  <a:lnTo>
                    <a:pt x="0" y="256920"/>
                  </a:lnTo>
                  <a:lnTo>
                    <a:pt x="9143" y="325246"/>
                  </a:lnTo>
                  <a:lnTo>
                    <a:pt x="35051" y="386587"/>
                  </a:lnTo>
                  <a:lnTo>
                    <a:pt x="75311" y="438657"/>
                  </a:lnTo>
                  <a:lnTo>
                    <a:pt x="127254" y="478789"/>
                  </a:lnTo>
                  <a:lnTo>
                    <a:pt x="188594" y="504697"/>
                  </a:lnTo>
                  <a:lnTo>
                    <a:pt x="256920" y="513841"/>
                  </a:lnTo>
                  <a:lnTo>
                    <a:pt x="325247" y="504697"/>
                  </a:lnTo>
                  <a:lnTo>
                    <a:pt x="386588" y="478789"/>
                  </a:lnTo>
                  <a:lnTo>
                    <a:pt x="438657" y="438657"/>
                  </a:lnTo>
                  <a:lnTo>
                    <a:pt x="478789" y="386587"/>
                  </a:lnTo>
                  <a:lnTo>
                    <a:pt x="504698" y="325246"/>
                  </a:lnTo>
                  <a:lnTo>
                    <a:pt x="513842" y="256920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47238" y="3485007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56921" y="0"/>
                  </a:moveTo>
                  <a:lnTo>
                    <a:pt x="188594" y="9270"/>
                  </a:lnTo>
                  <a:lnTo>
                    <a:pt x="127254" y="35178"/>
                  </a:lnTo>
                  <a:lnTo>
                    <a:pt x="75311" y="75310"/>
                  </a:lnTo>
                  <a:lnTo>
                    <a:pt x="35051" y="127253"/>
                  </a:lnTo>
                  <a:lnTo>
                    <a:pt x="9143" y="188721"/>
                  </a:lnTo>
                  <a:lnTo>
                    <a:pt x="0" y="256920"/>
                  </a:lnTo>
                  <a:lnTo>
                    <a:pt x="9143" y="325246"/>
                  </a:lnTo>
                  <a:lnTo>
                    <a:pt x="35051" y="386587"/>
                  </a:lnTo>
                  <a:lnTo>
                    <a:pt x="75311" y="438657"/>
                  </a:lnTo>
                  <a:lnTo>
                    <a:pt x="127254" y="478789"/>
                  </a:lnTo>
                  <a:lnTo>
                    <a:pt x="188594" y="504697"/>
                  </a:lnTo>
                  <a:lnTo>
                    <a:pt x="256921" y="513841"/>
                  </a:lnTo>
                  <a:lnTo>
                    <a:pt x="325247" y="504697"/>
                  </a:lnTo>
                  <a:lnTo>
                    <a:pt x="386588" y="478789"/>
                  </a:lnTo>
                  <a:lnTo>
                    <a:pt x="438658" y="438657"/>
                  </a:lnTo>
                  <a:lnTo>
                    <a:pt x="478789" y="386587"/>
                  </a:lnTo>
                  <a:lnTo>
                    <a:pt x="504698" y="325246"/>
                  </a:lnTo>
                  <a:lnTo>
                    <a:pt x="513841" y="256920"/>
                  </a:lnTo>
                  <a:lnTo>
                    <a:pt x="504698" y="188721"/>
                  </a:lnTo>
                  <a:lnTo>
                    <a:pt x="478789" y="127253"/>
                  </a:lnTo>
                  <a:lnTo>
                    <a:pt x="438658" y="75310"/>
                  </a:lnTo>
                  <a:lnTo>
                    <a:pt x="386588" y="35178"/>
                  </a:lnTo>
                  <a:lnTo>
                    <a:pt x="325247" y="9270"/>
                  </a:lnTo>
                  <a:lnTo>
                    <a:pt x="256921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47238" y="3485007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513841" y="256920"/>
                  </a:moveTo>
                  <a:lnTo>
                    <a:pt x="504698" y="188721"/>
                  </a:lnTo>
                  <a:lnTo>
                    <a:pt x="478789" y="127253"/>
                  </a:lnTo>
                  <a:lnTo>
                    <a:pt x="438658" y="75310"/>
                  </a:lnTo>
                  <a:lnTo>
                    <a:pt x="386588" y="35178"/>
                  </a:lnTo>
                  <a:lnTo>
                    <a:pt x="325247" y="9270"/>
                  </a:lnTo>
                  <a:lnTo>
                    <a:pt x="256921" y="0"/>
                  </a:lnTo>
                  <a:lnTo>
                    <a:pt x="188594" y="9270"/>
                  </a:lnTo>
                  <a:lnTo>
                    <a:pt x="127254" y="35178"/>
                  </a:lnTo>
                  <a:lnTo>
                    <a:pt x="75311" y="75310"/>
                  </a:lnTo>
                  <a:lnTo>
                    <a:pt x="35051" y="127253"/>
                  </a:lnTo>
                  <a:lnTo>
                    <a:pt x="9143" y="188721"/>
                  </a:lnTo>
                  <a:lnTo>
                    <a:pt x="0" y="256920"/>
                  </a:lnTo>
                  <a:lnTo>
                    <a:pt x="9143" y="325246"/>
                  </a:lnTo>
                  <a:lnTo>
                    <a:pt x="35051" y="386587"/>
                  </a:lnTo>
                  <a:lnTo>
                    <a:pt x="75311" y="438657"/>
                  </a:lnTo>
                  <a:lnTo>
                    <a:pt x="127254" y="478789"/>
                  </a:lnTo>
                  <a:lnTo>
                    <a:pt x="188594" y="504697"/>
                  </a:lnTo>
                  <a:lnTo>
                    <a:pt x="256921" y="513841"/>
                  </a:lnTo>
                  <a:lnTo>
                    <a:pt x="325247" y="504697"/>
                  </a:lnTo>
                  <a:lnTo>
                    <a:pt x="386588" y="478789"/>
                  </a:lnTo>
                  <a:lnTo>
                    <a:pt x="438658" y="438657"/>
                  </a:lnTo>
                  <a:lnTo>
                    <a:pt x="478789" y="386587"/>
                  </a:lnTo>
                  <a:lnTo>
                    <a:pt x="504698" y="325246"/>
                  </a:lnTo>
                  <a:lnTo>
                    <a:pt x="513841" y="256920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18001" y="3485007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56921" y="0"/>
                  </a:moveTo>
                  <a:lnTo>
                    <a:pt x="188595" y="9270"/>
                  </a:lnTo>
                  <a:lnTo>
                    <a:pt x="127253" y="35178"/>
                  </a:lnTo>
                  <a:lnTo>
                    <a:pt x="75311" y="75310"/>
                  </a:lnTo>
                  <a:lnTo>
                    <a:pt x="35051" y="127253"/>
                  </a:lnTo>
                  <a:lnTo>
                    <a:pt x="9144" y="188721"/>
                  </a:lnTo>
                  <a:lnTo>
                    <a:pt x="0" y="256920"/>
                  </a:lnTo>
                  <a:lnTo>
                    <a:pt x="9144" y="325246"/>
                  </a:lnTo>
                  <a:lnTo>
                    <a:pt x="35051" y="386587"/>
                  </a:lnTo>
                  <a:lnTo>
                    <a:pt x="75311" y="438657"/>
                  </a:lnTo>
                  <a:lnTo>
                    <a:pt x="127253" y="478789"/>
                  </a:lnTo>
                  <a:lnTo>
                    <a:pt x="188595" y="504697"/>
                  </a:lnTo>
                  <a:lnTo>
                    <a:pt x="256921" y="513841"/>
                  </a:lnTo>
                  <a:lnTo>
                    <a:pt x="325247" y="504697"/>
                  </a:lnTo>
                  <a:lnTo>
                    <a:pt x="386588" y="478789"/>
                  </a:lnTo>
                  <a:lnTo>
                    <a:pt x="438531" y="438657"/>
                  </a:lnTo>
                  <a:lnTo>
                    <a:pt x="478789" y="386587"/>
                  </a:lnTo>
                  <a:lnTo>
                    <a:pt x="504698" y="325246"/>
                  </a:lnTo>
                  <a:lnTo>
                    <a:pt x="513841" y="256920"/>
                  </a:lnTo>
                  <a:lnTo>
                    <a:pt x="504698" y="188721"/>
                  </a:lnTo>
                  <a:lnTo>
                    <a:pt x="478789" y="127253"/>
                  </a:lnTo>
                  <a:lnTo>
                    <a:pt x="438531" y="75310"/>
                  </a:lnTo>
                  <a:lnTo>
                    <a:pt x="386588" y="35178"/>
                  </a:lnTo>
                  <a:lnTo>
                    <a:pt x="325247" y="9270"/>
                  </a:lnTo>
                  <a:lnTo>
                    <a:pt x="256921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18001" y="3485007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513841" y="256920"/>
                  </a:moveTo>
                  <a:lnTo>
                    <a:pt x="504698" y="188721"/>
                  </a:lnTo>
                  <a:lnTo>
                    <a:pt x="478789" y="127253"/>
                  </a:lnTo>
                  <a:lnTo>
                    <a:pt x="438531" y="75310"/>
                  </a:lnTo>
                  <a:lnTo>
                    <a:pt x="386588" y="35178"/>
                  </a:lnTo>
                  <a:lnTo>
                    <a:pt x="325247" y="9270"/>
                  </a:lnTo>
                  <a:lnTo>
                    <a:pt x="256921" y="0"/>
                  </a:lnTo>
                  <a:lnTo>
                    <a:pt x="188595" y="9270"/>
                  </a:lnTo>
                  <a:lnTo>
                    <a:pt x="127253" y="35178"/>
                  </a:lnTo>
                  <a:lnTo>
                    <a:pt x="75311" y="75310"/>
                  </a:lnTo>
                  <a:lnTo>
                    <a:pt x="35051" y="127253"/>
                  </a:lnTo>
                  <a:lnTo>
                    <a:pt x="9144" y="188721"/>
                  </a:lnTo>
                  <a:lnTo>
                    <a:pt x="0" y="256920"/>
                  </a:lnTo>
                  <a:lnTo>
                    <a:pt x="9144" y="325246"/>
                  </a:lnTo>
                  <a:lnTo>
                    <a:pt x="35051" y="386587"/>
                  </a:lnTo>
                  <a:lnTo>
                    <a:pt x="75311" y="438657"/>
                  </a:lnTo>
                  <a:lnTo>
                    <a:pt x="127253" y="478789"/>
                  </a:lnTo>
                  <a:lnTo>
                    <a:pt x="188595" y="504697"/>
                  </a:lnTo>
                  <a:lnTo>
                    <a:pt x="256921" y="513841"/>
                  </a:lnTo>
                  <a:lnTo>
                    <a:pt x="325247" y="504697"/>
                  </a:lnTo>
                  <a:lnTo>
                    <a:pt x="386588" y="478789"/>
                  </a:lnTo>
                  <a:lnTo>
                    <a:pt x="438531" y="438657"/>
                  </a:lnTo>
                  <a:lnTo>
                    <a:pt x="478789" y="386587"/>
                  </a:lnTo>
                  <a:lnTo>
                    <a:pt x="504698" y="325246"/>
                  </a:lnTo>
                  <a:lnTo>
                    <a:pt x="513841" y="256920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588764" y="3485007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56921" y="0"/>
                  </a:moveTo>
                  <a:lnTo>
                    <a:pt x="188595" y="9270"/>
                  </a:lnTo>
                  <a:lnTo>
                    <a:pt x="127253" y="35178"/>
                  </a:lnTo>
                  <a:lnTo>
                    <a:pt x="75184" y="75310"/>
                  </a:lnTo>
                  <a:lnTo>
                    <a:pt x="35051" y="127253"/>
                  </a:lnTo>
                  <a:lnTo>
                    <a:pt x="9144" y="188721"/>
                  </a:lnTo>
                  <a:lnTo>
                    <a:pt x="0" y="256920"/>
                  </a:lnTo>
                  <a:lnTo>
                    <a:pt x="9144" y="325246"/>
                  </a:lnTo>
                  <a:lnTo>
                    <a:pt x="35051" y="386587"/>
                  </a:lnTo>
                  <a:lnTo>
                    <a:pt x="75184" y="438657"/>
                  </a:lnTo>
                  <a:lnTo>
                    <a:pt x="127253" y="478789"/>
                  </a:lnTo>
                  <a:lnTo>
                    <a:pt x="188595" y="504697"/>
                  </a:lnTo>
                  <a:lnTo>
                    <a:pt x="256921" y="513841"/>
                  </a:lnTo>
                  <a:lnTo>
                    <a:pt x="325247" y="504697"/>
                  </a:lnTo>
                  <a:lnTo>
                    <a:pt x="386588" y="478789"/>
                  </a:lnTo>
                  <a:lnTo>
                    <a:pt x="438531" y="438657"/>
                  </a:lnTo>
                  <a:lnTo>
                    <a:pt x="478789" y="386587"/>
                  </a:lnTo>
                  <a:lnTo>
                    <a:pt x="504698" y="325246"/>
                  </a:lnTo>
                  <a:lnTo>
                    <a:pt x="513841" y="256920"/>
                  </a:lnTo>
                  <a:lnTo>
                    <a:pt x="504698" y="188721"/>
                  </a:lnTo>
                  <a:lnTo>
                    <a:pt x="478789" y="127253"/>
                  </a:lnTo>
                  <a:lnTo>
                    <a:pt x="438531" y="75310"/>
                  </a:lnTo>
                  <a:lnTo>
                    <a:pt x="386588" y="35178"/>
                  </a:lnTo>
                  <a:lnTo>
                    <a:pt x="325247" y="9270"/>
                  </a:lnTo>
                  <a:lnTo>
                    <a:pt x="256921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588764" y="3485007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513841" y="256920"/>
                  </a:moveTo>
                  <a:lnTo>
                    <a:pt x="504698" y="188721"/>
                  </a:lnTo>
                  <a:lnTo>
                    <a:pt x="478789" y="127253"/>
                  </a:lnTo>
                  <a:lnTo>
                    <a:pt x="438531" y="75310"/>
                  </a:lnTo>
                  <a:lnTo>
                    <a:pt x="386588" y="35178"/>
                  </a:lnTo>
                  <a:lnTo>
                    <a:pt x="325247" y="9270"/>
                  </a:lnTo>
                  <a:lnTo>
                    <a:pt x="256921" y="0"/>
                  </a:lnTo>
                  <a:lnTo>
                    <a:pt x="188595" y="9270"/>
                  </a:lnTo>
                  <a:lnTo>
                    <a:pt x="127253" y="35178"/>
                  </a:lnTo>
                  <a:lnTo>
                    <a:pt x="75184" y="75310"/>
                  </a:lnTo>
                  <a:lnTo>
                    <a:pt x="35051" y="127253"/>
                  </a:lnTo>
                  <a:lnTo>
                    <a:pt x="9144" y="188721"/>
                  </a:lnTo>
                  <a:lnTo>
                    <a:pt x="0" y="256920"/>
                  </a:lnTo>
                  <a:lnTo>
                    <a:pt x="9144" y="325246"/>
                  </a:lnTo>
                  <a:lnTo>
                    <a:pt x="35051" y="386587"/>
                  </a:lnTo>
                  <a:lnTo>
                    <a:pt x="75184" y="438657"/>
                  </a:lnTo>
                  <a:lnTo>
                    <a:pt x="127253" y="478789"/>
                  </a:lnTo>
                  <a:lnTo>
                    <a:pt x="188595" y="504697"/>
                  </a:lnTo>
                  <a:lnTo>
                    <a:pt x="256921" y="513841"/>
                  </a:lnTo>
                  <a:lnTo>
                    <a:pt x="325247" y="504697"/>
                  </a:lnTo>
                  <a:lnTo>
                    <a:pt x="386588" y="478789"/>
                  </a:lnTo>
                  <a:lnTo>
                    <a:pt x="438531" y="438657"/>
                  </a:lnTo>
                  <a:lnTo>
                    <a:pt x="478789" y="386587"/>
                  </a:lnTo>
                  <a:lnTo>
                    <a:pt x="504698" y="325246"/>
                  </a:lnTo>
                  <a:lnTo>
                    <a:pt x="513841" y="256920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359527" y="3485007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56921" y="0"/>
                  </a:moveTo>
                  <a:lnTo>
                    <a:pt x="188595" y="9270"/>
                  </a:lnTo>
                  <a:lnTo>
                    <a:pt x="127253" y="35178"/>
                  </a:lnTo>
                  <a:lnTo>
                    <a:pt x="75184" y="75310"/>
                  </a:lnTo>
                  <a:lnTo>
                    <a:pt x="35051" y="127253"/>
                  </a:lnTo>
                  <a:lnTo>
                    <a:pt x="9144" y="188721"/>
                  </a:lnTo>
                  <a:lnTo>
                    <a:pt x="0" y="256920"/>
                  </a:lnTo>
                  <a:lnTo>
                    <a:pt x="9144" y="325246"/>
                  </a:lnTo>
                  <a:lnTo>
                    <a:pt x="35051" y="386587"/>
                  </a:lnTo>
                  <a:lnTo>
                    <a:pt x="75184" y="438657"/>
                  </a:lnTo>
                  <a:lnTo>
                    <a:pt x="127253" y="478789"/>
                  </a:lnTo>
                  <a:lnTo>
                    <a:pt x="188595" y="504697"/>
                  </a:lnTo>
                  <a:lnTo>
                    <a:pt x="256921" y="513841"/>
                  </a:lnTo>
                  <a:lnTo>
                    <a:pt x="325247" y="504697"/>
                  </a:lnTo>
                  <a:lnTo>
                    <a:pt x="386588" y="478789"/>
                  </a:lnTo>
                  <a:lnTo>
                    <a:pt x="438531" y="438657"/>
                  </a:lnTo>
                  <a:lnTo>
                    <a:pt x="478789" y="386587"/>
                  </a:lnTo>
                  <a:lnTo>
                    <a:pt x="504698" y="325246"/>
                  </a:lnTo>
                  <a:lnTo>
                    <a:pt x="513842" y="256920"/>
                  </a:lnTo>
                  <a:lnTo>
                    <a:pt x="504698" y="188721"/>
                  </a:lnTo>
                  <a:lnTo>
                    <a:pt x="478789" y="127253"/>
                  </a:lnTo>
                  <a:lnTo>
                    <a:pt x="438531" y="75310"/>
                  </a:lnTo>
                  <a:lnTo>
                    <a:pt x="386588" y="35178"/>
                  </a:lnTo>
                  <a:lnTo>
                    <a:pt x="325247" y="9270"/>
                  </a:lnTo>
                  <a:lnTo>
                    <a:pt x="256921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359527" y="3485007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513842" y="256920"/>
                  </a:moveTo>
                  <a:lnTo>
                    <a:pt x="504698" y="188721"/>
                  </a:lnTo>
                  <a:lnTo>
                    <a:pt x="478789" y="127253"/>
                  </a:lnTo>
                  <a:lnTo>
                    <a:pt x="438531" y="75310"/>
                  </a:lnTo>
                  <a:lnTo>
                    <a:pt x="386588" y="35178"/>
                  </a:lnTo>
                  <a:lnTo>
                    <a:pt x="325247" y="9270"/>
                  </a:lnTo>
                  <a:lnTo>
                    <a:pt x="256921" y="0"/>
                  </a:lnTo>
                  <a:lnTo>
                    <a:pt x="188595" y="9270"/>
                  </a:lnTo>
                  <a:lnTo>
                    <a:pt x="127253" y="35178"/>
                  </a:lnTo>
                  <a:lnTo>
                    <a:pt x="75184" y="75310"/>
                  </a:lnTo>
                  <a:lnTo>
                    <a:pt x="35051" y="127253"/>
                  </a:lnTo>
                  <a:lnTo>
                    <a:pt x="9144" y="188721"/>
                  </a:lnTo>
                  <a:lnTo>
                    <a:pt x="0" y="256920"/>
                  </a:lnTo>
                  <a:lnTo>
                    <a:pt x="9144" y="325246"/>
                  </a:lnTo>
                  <a:lnTo>
                    <a:pt x="35051" y="386587"/>
                  </a:lnTo>
                  <a:lnTo>
                    <a:pt x="75184" y="438657"/>
                  </a:lnTo>
                  <a:lnTo>
                    <a:pt x="127253" y="478789"/>
                  </a:lnTo>
                  <a:lnTo>
                    <a:pt x="188595" y="504697"/>
                  </a:lnTo>
                  <a:lnTo>
                    <a:pt x="256921" y="513841"/>
                  </a:lnTo>
                  <a:lnTo>
                    <a:pt x="325247" y="504697"/>
                  </a:lnTo>
                  <a:lnTo>
                    <a:pt x="386588" y="478789"/>
                  </a:lnTo>
                  <a:lnTo>
                    <a:pt x="438531" y="438657"/>
                  </a:lnTo>
                  <a:lnTo>
                    <a:pt x="478789" y="386587"/>
                  </a:lnTo>
                  <a:lnTo>
                    <a:pt x="504698" y="325246"/>
                  </a:lnTo>
                  <a:lnTo>
                    <a:pt x="513842" y="256920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130290" y="3485007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56921" y="0"/>
                  </a:moveTo>
                  <a:lnTo>
                    <a:pt x="188595" y="9270"/>
                  </a:lnTo>
                  <a:lnTo>
                    <a:pt x="127254" y="35178"/>
                  </a:lnTo>
                  <a:lnTo>
                    <a:pt x="75184" y="75310"/>
                  </a:lnTo>
                  <a:lnTo>
                    <a:pt x="35051" y="127253"/>
                  </a:lnTo>
                  <a:lnTo>
                    <a:pt x="9144" y="188721"/>
                  </a:lnTo>
                  <a:lnTo>
                    <a:pt x="0" y="256920"/>
                  </a:lnTo>
                  <a:lnTo>
                    <a:pt x="9144" y="325246"/>
                  </a:lnTo>
                  <a:lnTo>
                    <a:pt x="35051" y="386587"/>
                  </a:lnTo>
                  <a:lnTo>
                    <a:pt x="75184" y="438657"/>
                  </a:lnTo>
                  <a:lnTo>
                    <a:pt x="127254" y="478789"/>
                  </a:lnTo>
                  <a:lnTo>
                    <a:pt x="188595" y="504697"/>
                  </a:lnTo>
                  <a:lnTo>
                    <a:pt x="256921" y="513841"/>
                  </a:lnTo>
                  <a:lnTo>
                    <a:pt x="325247" y="504697"/>
                  </a:lnTo>
                  <a:lnTo>
                    <a:pt x="386588" y="478789"/>
                  </a:lnTo>
                  <a:lnTo>
                    <a:pt x="438531" y="438657"/>
                  </a:lnTo>
                  <a:lnTo>
                    <a:pt x="478789" y="386587"/>
                  </a:lnTo>
                  <a:lnTo>
                    <a:pt x="504570" y="325246"/>
                  </a:lnTo>
                  <a:lnTo>
                    <a:pt x="513841" y="256920"/>
                  </a:lnTo>
                  <a:lnTo>
                    <a:pt x="504570" y="188721"/>
                  </a:lnTo>
                  <a:lnTo>
                    <a:pt x="478789" y="127253"/>
                  </a:lnTo>
                  <a:lnTo>
                    <a:pt x="438531" y="75310"/>
                  </a:lnTo>
                  <a:lnTo>
                    <a:pt x="386588" y="35178"/>
                  </a:lnTo>
                  <a:lnTo>
                    <a:pt x="325247" y="9270"/>
                  </a:lnTo>
                  <a:lnTo>
                    <a:pt x="256921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130290" y="3485007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513841" y="256920"/>
                  </a:moveTo>
                  <a:lnTo>
                    <a:pt x="504570" y="188721"/>
                  </a:lnTo>
                  <a:lnTo>
                    <a:pt x="478789" y="127253"/>
                  </a:lnTo>
                  <a:lnTo>
                    <a:pt x="438531" y="75310"/>
                  </a:lnTo>
                  <a:lnTo>
                    <a:pt x="386588" y="35178"/>
                  </a:lnTo>
                  <a:lnTo>
                    <a:pt x="325247" y="9270"/>
                  </a:lnTo>
                  <a:lnTo>
                    <a:pt x="256921" y="0"/>
                  </a:lnTo>
                  <a:lnTo>
                    <a:pt x="188595" y="9270"/>
                  </a:lnTo>
                  <a:lnTo>
                    <a:pt x="127254" y="35178"/>
                  </a:lnTo>
                  <a:lnTo>
                    <a:pt x="75184" y="75310"/>
                  </a:lnTo>
                  <a:lnTo>
                    <a:pt x="35051" y="127253"/>
                  </a:lnTo>
                  <a:lnTo>
                    <a:pt x="9144" y="188721"/>
                  </a:lnTo>
                  <a:lnTo>
                    <a:pt x="0" y="256920"/>
                  </a:lnTo>
                  <a:lnTo>
                    <a:pt x="9144" y="325246"/>
                  </a:lnTo>
                  <a:lnTo>
                    <a:pt x="35051" y="386587"/>
                  </a:lnTo>
                  <a:lnTo>
                    <a:pt x="75184" y="438657"/>
                  </a:lnTo>
                  <a:lnTo>
                    <a:pt x="127254" y="478789"/>
                  </a:lnTo>
                  <a:lnTo>
                    <a:pt x="188595" y="504697"/>
                  </a:lnTo>
                  <a:lnTo>
                    <a:pt x="256921" y="513841"/>
                  </a:lnTo>
                  <a:lnTo>
                    <a:pt x="325247" y="504697"/>
                  </a:lnTo>
                  <a:lnTo>
                    <a:pt x="386588" y="478789"/>
                  </a:lnTo>
                  <a:lnTo>
                    <a:pt x="438531" y="438657"/>
                  </a:lnTo>
                  <a:lnTo>
                    <a:pt x="478789" y="386587"/>
                  </a:lnTo>
                  <a:lnTo>
                    <a:pt x="504570" y="325246"/>
                  </a:lnTo>
                  <a:lnTo>
                    <a:pt x="513841" y="256920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901053" y="3485007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56921" y="0"/>
                  </a:moveTo>
                  <a:lnTo>
                    <a:pt x="188595" y="9270"/>
                  </a:lnTo>
                  <a:lnTo>
                    <a:pt x="127253" y="35178"/>
                  </a:lnTo>
                  <a:lnTo>
                    <a:pt x="75183" y="75310"/>
                  </a:lnTo>
                  <a:lnTo>
                    <a:pt x="35051" y="127253"/>
                  </a:lnTo>
                  <a:lnTo>
                    <a:pt x="9144" y="188721"/>
                  </a:lnTo>
                  <a:lnTo>
                    <a:pt x="0" y="256920"/>
                  </a:lnTo>
                  <a:lnTo>
                    <a:pt x="9144" y="325246"/>
                  </a:lnTo>
                  <a:lnTo>
                    <a:pt x="35051" y="386587"/>
                  </a:lnTo>
                  <a:lnTo>
                    <a:pt x="75183" y="438657"/>
                  </a:lnTo>
                  <a:lnTo>
                    <a:pt x="127253" y="478789"/>
                  </a:lnTo>
                  <a:lnTo>
                    <a:pt x="188595" y="504697"/>
                  </a:lnTo>
                  <a:lnTo>
                    <a:pt x="256921" y="513841"/>
                  </a:lnTo>
                  <a:lnTo>
                    <a:pt x="325120" y="504697"/>
                  </a:lnTo>
                  <a:lnTo>
                    <a:pt x="386588" y="478789"/>
                  </a:lnTo>
                  <a:lnTo>
                    <a:pt x="438530" y="438657"/>
                  </a:lnTo>
                  <a:lnTo>
                    <a:pt x="478663" y="386587"/>
                  </a:lnTo>
                  <a:lnTo>
                    <a:pt x="504571" y="325246"/>
                  </a:lnTo>
                  <a:lnTo>
                    <a:pt x="513842" y="256920"/>
                  </a:lnTo>
                  <a:lnTo>
                    <a:pt x="504571" y="188721"/>
                  </a:lnTo>
                  <a:lnTo>
                    <a:pt x="478663" y="127253"/>
                  </a:lnTo>
                  <a:lnTo>
                    <a:pt x="438530" y="75310"/>
                  </a:lnTo>
                  <a:lnTo>
                    <a:pt x="386588" y="35178"/>
                  </a:lnTo>
                  <a:lnTo>
                    <a:pt x="325120" y="9270"/>
                  </a:lnTo>
                  <a:lnTo>
                    <a:pt x="256921" y="0"/>
                  </a:lnTo>
                  <a:close/>
                </a:path>
              </a:pathLst>
            </a:custGeom>
            <a:solidFill>
              <a:srgbClr val="E4E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901053" y="3485007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513842" y="256920"/>
                  </a:moveTo>
                  <a:lnTo>
                    <a:pt x="504571" y="188721"/>
                  </a:lnTo>
                  <a:lnTo>
                    <a:pt x="478663" y="127253"/>
                  </a:lnTo>
                  <a:lnTo>
                    <a:pt x="438530" y="75310"/>
                  </a:lnTo>
                  <a:lnTo>
                    <a:pt x="386588" y="35178"/>
                  </a:lnTo>
                  <a:lnTo>
                    <a:pt x="325120" y="9270"/>
                  </a:lnTo>
                  <a:lnTo>
                    <a:pt x="256921" y="0"/>
                  </a:lnTo>
                  <a:lnTo>
                    <a:pt x="188595" y="9270"/>
                  </a:lnTo>
                  <a:lnTo>
                    <a:pt x="127253" y="35178"/>
                  </a:lnTo>
                  <a:lnTo>
                    <a:pt x="75183" y="75310"/>
                  </a:lnTo>
                  <a:lnTo>
                    <a:pt x="35051" y="127253"/>
                  </a:lnTo>
                  <a:lnTo>
                    <a:pt x="9144" y="188721"/>
                  </a:lnTo>
                  <a:lnTo>
                    <a:pt x="0" y="256920"/>
                  </a:lnTo>
                  <a:lnTo>
                    <a:pt x="9144" y="325246"/>
                  </a:lnTo>
                  <a:lnTo>
                    <a:pt x="35051" y="386587"/>
                  </a:lnTo>
                  <a:lnTo>
                    <a:pt x="75183" y="438657"/>
                  </a:lnTo>
                  <a:lnTo>
                    <a:pt x="127253" y="478789"/>
                  </a:lnTo>
                  <a:lnTo>
                    <a:pt x="188595" y="504697"/>
                  </a:lnTo>
                  <a:lnTo>
                    <a:pt x="256921" y="513841"/>
                  </a:lnTo>
                  <a:lnTo>
                    <a:pt x="325120" y="504697"/>
                  </a:lnTo>
                  <a:lnTo>
                    <a:pt x="386588" y="478789"/>
                  </a:lnTo>
                  <a:lnTo>
                    <a:pt x="438530" y="438657"/>
                  </a:lnTo>
                  <a:lnTo>
                    <a:pt x="478663" y="386587"/>
                  </a:lnTo>
                  <a:lnTo>
                    <a:pt x="504571" y="325246"/>
                  </a:lnTo>
                  <a:lnTo>
                    <a:pt x="513842" y="256920"/>
                  </a:lnTo>
                  <a:close/>
                </a:path>
              </a:pathLst>
            </a:custGeom>
            <a:ln w="10122">
              <a:solidFill>
                <a:srgbClr val="7E7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624027" y="3595496"/>
            <a:ext cx="748030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i="1" dirty="0">
                <a:solidFill>
                  <a:srgbClr val="213739"/>
                </a:solidFill>
                <a:latin typeface="Calibri"/>
                <a:cs typeface="Calibri"/>
              </a:rPr>
              <a:t>bias</a:t>
            </a:r>
            <a:r>
              <a:rPr sz="1500" i="1" spc="33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13739"/>
                </a:solidFill>
                <a:latin typeface="Calibri"/>
                <a:cs typeface="Calibri"/>
              </a:rPr>
              <a:t>=</a:t>
            </a:r>
            <a:r>
              <a:rPr sz="1500" spc="-13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213739"/>
                </a:solidFill>
                <a:latin typeface="Arial MT"/>
                <a:cs typeface="Arial MT"/>
              </a:rPr>
              <a:t>-</a:t>
            </a:r>
            <a:r>
              <a:rPr sz="1500" spc="-2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500" spc="-50" dirty="0">
                <a:solidFill>
                  <a:srgbClr val="213739"/>
                </a:solidFill>
                <a:latin typeface="Arial MT"/>
                <a:cs typeface="Arial MT"/>
              </a:rPr>
              <a:t>3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24" name="object 24" descr="$PPTXTitle"/>
          <p:cNvSpPr txBox="1">
            <a:spLocks noGrp="1"/>
          </p:cNvSpPr>
          <p:nvPr>
            <p:ph type="title"/>
          </p:nvPr>
        </p:nvSpPr>
        <p:spPr>
          <a:xfrm>
            <a:off x="993444" y="914982"/>
            <a:ext cx="7588250" cy="962660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455"/>
              </a:spcBef>
            </a:pP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Again</a:t>
            </a:r>
            <a:r>
              <a:rPr sz="1750" spc="-1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each</a:t>
            </a:r>
            <a:r>
              <a:rPr sz="1750" spc="-1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8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perceptorns</a:t>
            </a:r>
            <a:r>
              <a:rPr sz="1750" spc="-1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will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fire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only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for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one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8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inputs</a:t>
            </a:r>
            <a:endParaRPr sz="1750">
              <a:latin typeface="Arial MT"/>
              <a:cs typeface="Arial MT"/>
            </a:endParaRPr>
          </a:p>
          <a:p>
            <a:pPr marL="17145" marR="5080" indent="-5080">
              <a:lnSpc>
                <a:spcPts val="2470"/>
              </a:lnSpc>
              <a:spcBef>
                <a:spcPts val="80"/>
              </a:spcBef>
            </a:pPr>
            <a:r>
              <a:rPr sz="1750" spc="-160" dirty="0">
                <a:solidFill>
                  <a:srgbClr val="213739"/>
                </a:solidFill>
                <a:latin typeface="Arial MT"/>
                <a:cs typeface="Arial MT"/>
              </a:rPr>
              <a:t>Each</a:t>
            </a:r>
            <a:r>
              <a:rPr sz="1750" spc="-2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8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weights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in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second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layer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is</a:t>
            </a:r>
            <a:r>
              <a:rPr sz="1750" spc="-1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responsible</a:t>
            </a:r>
            <a:r>
              <a:rPr sz="1750" spc="-1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for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one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8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inputs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750" spc="-1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can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be</a:t>
            </a:r>
            <a:r>
              <a:rPr sz="1750" spc="-1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adjusted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produce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desired</a:t>
            </a:r>
            <a:r>
              <a:rPr sz="1750" spc="-1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output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for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that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input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021963" y="2001139"/>
            <a:ext cx="111760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i="1" spc="-50" dirty="0">
                <a:solidFill>
                  <a:srgbClr val="213739"/>
                </a:solidFill>
                <a:latin typeface="Calibri"/>
                <a:cs typeface="Calibri"/>
              </a:rPr>
              <a:t>y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472308" y="3040126"/>
            <a:ext cx="1604010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10"/>
              </a:spcBef>
              <a:tabLst>
                <a:tab pos="537845" algn="l"/>
                <a:tab pos="975994" algn="l"/>
                <a:tab pos="1335405" algn="l"/>
              </a:tabLst>
            </a:pP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650" baseline="-1010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650" baseline="-1010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3</a:t>
            </a:r>
            <a:r>
              <a:rPr sz="1650" baseline="-1010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4</a:t>
            </a:r>
            <a:endParaRPr sz="1650" baseline="-10101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116704" y="3040126"/>
            <a:ext cx="1500505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10"/>
              </a:spcBef>
              <a:tabLst>
                <a:tab pos="468630" algn="l"/>
                <a:tab pos="1231900" algn="l"/>
              </a:tabLst>
            </a:pP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5</a:t>
            </a:r>
            <a:r>
              <a:rPr sz="1650" baseline="-1010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500" i="1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baseline="-10101" dirty="0">
                <a:solidFill>
                  <a:srgbClr val="213739"/>
                </a:solidFill>
                <a:latin typeface="Calibri"/>
                <a:cs typeface="Calibri"/>
              </a:rPr>
              <a:t>6</a:t>
            </a:r>
            <a:r>
              <a:rPr sz="1650" spc="337" baseline="-10101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7</a:t>
            </a:r>
            <a:r>
              <a:rPr sz="1650" baseline="-10101" dirty="0">
                <a:solidFill>
                  <a:srgbClr val="213739"/>
                </a:solidFill>
                <a:latin typeface="Calibri"/>
                <a:cs typeface="Calibri"/>
              </a:rPr>
              <a:t>	</a:t>
            </a:r>
            <a:r>
              <a:rPr sz="1500" i="1" spc="-25" dirty="0">
                <a:solidFill>
                  <a:srgbClr val="213739"/>
                </a:solidFill>
                <a:latin typeface="Calibri"/>
                <a:cs typeface="Calibri"/>
              </a:rPr>
              <a:t>w</a:t>
            </a:r>
            <a:r>
              <a:rPr sz="1650" spc="-37" baseline="-10101" dirty="0">
                <a:solidFill>
                  <a:srgbClr val="213739"/>
                </a:solidFill>
                <a:latin typeface="Calibri"/>
                <a:cs typeface="Calibri"/>
              </a:rPr>
              <a:t>8</a:t>
            </a:r>
            <a:endParaRPr sz="1650" baseline="-10101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969513" y="2333253"/>
            <a:ext cx="4981575" cy="2878455"/>
            <a:chOff x="1969513" y="2333253"/>
            <a:chExt cx="4981575" cy="2878455"/>
          </a:xfrm>
        </p:grpSpPr>
        <p:sp>
          <p:nvSpPr>
            <p:cNvPr id="29" name="object 29"/>
            <p:cNvSpPr/>
            <p:nvPr/>
          </p:nvSpPr>
          <p:spPr>
            <a:xfrm>
              <a:off x="1975230" y="3912107"/>
              <a:ext cx="1556385" cy="1244600"/>
            </a:xfrm>
            <a:custGeom>
              <a:avLst/>
              <a:gdLst/>
              <a:ahLst/>
              <a:cxnLst/>
              <a:rect l="l" t="t" r="r" b="b"/>
              <a:pathLst>
                <a:path w="1556385" h="1244600">
                  <a:moveTo>
                    <a:pt x="1555877" y="1244473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69513" y="3895468"/>
              <a:ext cx="68076" cy="80649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1999106" y="3877182"/>
              <a:ext cx="2292350" cy="1310005"/>
            </a:xfrm>
            <a:custGeom>
              <a:avLst/>
              <a:gdLst/>
              <a:ahLst/>
              <a:cxnLst/>
              <a:rect l="l" t="t" r="r" b="b"/>
              <a:pathLst>
                <a:path w="2292350" h="1310004">
                  <a:moveTo>
                    <a:pt x="2292222" y="1309878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93145" y="3851536"/>
              <a:ext cx="65134" cy="88629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2011806" y="3852671"/>
              <a:ext cx="3050540" cy="1356360"/>
            </a:xfrm>
            <a:custGeom>
              <a:avLst/>
              <a:gdLst/>
              <a:ahLst/>
              <a:cxnLst/>
              <a:rect l="l" t="t" r="r" b="b"/>
              <a:pathLst>
                <a:path w="3050540" h="1356360">
                  <a:moveTo>
                    <a:pt x="3050285" y="1355978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008123" y="3823969"/>
              <a:ext cx="57785" cy="88265"/>
            </a:xfrm>
            <a:custGeom>
              <a:avLst/>
              <a:gdLst/>
              <a:ahLst/>
              <a:cxnLst/>
              <a:rect l="l" t="t" r="r" b="b"/>
              <a:pathLst>
                <a:path w="57785" h="88264">
                  <a:moveTo>
                    <a:pt x="18542" y="88137"/>
                  </a:moveTo>
                  <a:lnTo>
                    <a:pt x="19557" y="67817"/>
                  </a:lnTo>
                  <a:lnTo>
                    <a:pt x="16128" y="51053"/>
                  </a:lnTo>
                  <a:lnTo>
                    <a:pt x="9270" y="37591"/>
                  </a:lnTo>
                  <a:lnTo>
                    <a:pt x="0" y="27050"/>
                  </a:lnTo>
                  <a:lnTo>
                    <a:pt x="13969" y="26923"/>
                  </a:lnTo>
                  <a:lnTo>
                    <a:pt x="28575" y="22986"/>
                  </a:lnTo>
                  <a:lnTo>
                    <a:pt x="43433" y="14350"/>
                  </a:lnTo>
                  <a:lnTo>
                    <a:pt x="57784" y="0"/>
                  </a:lnTo>
                </a:path>
              </a:pathLst>
            </a:custGeom>
            <a:ln w="5068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697479" y="3960748"/>
              <a:ext cx="897255" cy="1196340"/>
            </a:xfrm>
            <a:custGeom>
              <a:avLst/>
              <a:gdLst/>
              <a:ahLst/>
              <a:cxnLst/>
              <a:rect l="l" t="t" r="r" b="b"/>
              <a:pathLst>
                <a:path w="897254" h="1196339">
                  <a:moveTo>
                    <a:pt x="896873" y="1195832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78935" y="3955031"/>
              <a:ext cx="82554" cy="67695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2745993" y="3912107"/>
              <a:ext cx="1555750" cy="1244600"/>
            </a:xfrm>
            <a:custGeom>
              <a:avLst/>
              <a:gdLst/>
              <a:ahLst/>
              <a:cxnLst/>
              <a:rect l="l" t="t" r="r" b="b"/>
              <a:pathLst>
                <a:path w="1555750" h="1244600">
                  <a:moveTo>
                    <a:pt x="1555750" y="1244473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40276" y="3895468"/>
              <a:ext cx="68076" cy="80649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2769869" y="3877182"/>
              <a:ext cx="2292350" cy="1310005"/>
            </a:xfrm>
            <a:custGeom>
              <a:avLst/>
              <a:gdLst/>
              <a:ahLst/>
              <a:cxnLst/>
              <a:rect l="l" t="t" r="r" b="b"/>
              <a:pathLst>
                <a:path w="2292350" h="1310004">
                  <a:moveTo>
                    <a:pt x="2292222" y="1309878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63908" y="3851536"/>
              <a:ext cx="65134" cy="88629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3332733" y="4002785"/>
              <a:ext cx="325120" cy="1153795"/>
            </a:xfrm>
            <a:custGeom>
              <a:avLst/>
              <a:gdLst/>
              <a:ahLst/>
              <a:cxnLst/>
              <a:rect l="l" t="t" r="r" b="b"/>
              <a:pathLst>
                <a:path w="325120" h="1153795">
                  <a:moveTo>
                    <a:pt x="325119" y="1153795"/>
                  </a:moveTo>
                  <a:lnTo>
                    <a:pt x="37591" y="3809"/>
                  </a:lnTo>
                </a:path>
                <a:path w="325120" h="1153795">
                  <a:moveTo>
                    <a:pt x="0" y="52069"/>
                  </a:moveTo>
                  <a:lnTo>
                    <a:pt x="16637" y="40386"/>
                  </a:lnTo>
                  <a:lnTo>
                    <a:pt x="27686" y="27431"/>
                  </a:lnTo>
                  <a:lnTo>
                    <a:pt x="34036" y="13715"/>
                  </a:lnTo>
                  <a:lnTo>
                    <a:pt x="36575" y="0"/>
                  </a:lnTo>
                  <a:lnTo>
                    <a:pt x="45338" y="10794"/>
                  </a:lnTo>
                  <a:lnTo>
                    <a:pt x="57403" y="19938"/>
                  </a:lnTo>
                  <a:lnTo>
                    <a:pt x="73278" y="26288"/>
                  </a:lnTo>
                  <a:lnTo>
                    <a:pt x="93471" y="28701"/>
                  </a:lnTo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468242" y="3960748"/>
              <a:ext cx="897255" cy="1196340"/>
            </a:xfrm>
            <a:custGeom>
              <a:avLst/>
              <a:gdLst/>
              <a:ahLst/>
              <a:cxnLst/>
              <a:rect l="l" t="t" r="r" b="b"/>
              <a:pathLst>
                <a:path w="897254" h="1196339">
                  <a:moveTo>
                    <a:pt x="896874" y="1195832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449698" y="3955031"/>
              <a:ext cx="82554" cy="67695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3516756" y="3912107"/>
              <a:ext cx="1555750" cy="1244600"/>
            </a:xfrm>
            <a:custGeom>
              <a:avLst/>
              <a:gdLst/>
              <a:ahLst/>
              <a:cxnLst/>
              <a:rect l="l" t="t" r="r" b="b"/>
              <a:pathLst>
                <a:path w="1555750" h="1244600">
                  <a:moveTo>
                    <a:pt x="1555750" y="1244473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511039" y="3895468"/>
              <a:ext cx="68076" cy="80649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3721226" y="4002785"/>
              <a:ext cx="325120" cy="1153795"/>
            </a:xfrm>
            <a:custGeom>
              <a:avLst/>
              <a:gdLst/>
              <a:ahLst/>
              <a:cxnLst/>
              <a:rect l="l" t="t" r="r" b="b"/>
              <a:pathLst>
                <a:path w="325120" h="1153795">
                  <a:moveTo>
                    <a:pt x="0" y="1153795"/>
                  </a:moveTo>
                  <a:lnTo>
                    <a:pt x="287527" y="3809"/>
                  </a:lnTo>
                </a:path>
                <a:path w="325120" h="1153795">
                  <a:moveTo>
                    <a:pt x="231648" y="28701"/>
                  </a:moveTo>
                  <a:lnTo>
                    <a:pt x="251840" y="26288"/>
                  </a:lnTo>
                  <a:lnTo>
                    <a:pt x="267715" y="19938"/>
                  </a:lnTo>
                  <a:lnTo>
                    <a:pt x="279781" y="10794"/>
                  </a:lnTo>
                  <a:lnTo>
                    <a:pt x="288544" y="0"/>
                  </a:lnTo>
                  <a:lnTo>
                    <a:pt x="291084" y="13715"/>
                  </a:lnTo>
                  <a:lnTo>
                    <a:pt x="297434" y="27431"/>
                  </a:lnTo>
                  <a:lnTo>
                    <a:pt x="308483" y="40386"/>
                  </a:lnTo>
                  <a:lnTo>
                    <a:pt x="325120" y="52069"/>
                  </a:lnTo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103497" y="3960748"/>
              <a:ext cx="1032510" cy="1196340"/>
            </a:xfrm>
            <a:custGeom>
              <a:avLst/>
              <a:gdLst/>
              <a:ahLst/>
              <a:cxnLst/>
              <a:rect l="l" t="t" r="r" b="b"/>
              <a:pathLst>
                <a:path w="1032510" h="1196339">
                  <a:moveTo>
                    <a:pt x="325119" y="1195832"/>
                  </a:moveTo>
                  <a:lnTo>
                    <a:pt x="37591" y="45846"/>
                  </a:lnTo>
                </a:path>
                <a:path w="1032510" h="1196339">
                  <a:moveTo>
                    <a:pt x="0" y="94106"/>
                  </a:moveTo>
                  <a:lnTo>
                    <a:pt x="16637" y="82423"/>
                  </a:lnTo>
                  <a:lnTo>
                    <a:pt x="27686" y="69468"/>
                  </a:lnTo>
                  <a:lnTo>
                    <a:pt x="34036" y="55752"/>
                  </a:lnTo>
                  <a:lnTo>
                    <a:pt x="36575" y="42037"/>
                  </a:lnTo>
                  <a:lnTo>
                    <a:pt x="45338" y="52831"/>
                  </a:lnTo>
                  <a:lnTo>
                    <a:pt x="57403" y="61975"/>
                  </a:lnTo>
                  <a:lnTo>
                    <a:pt x="73278" y="68325"/>
                  </a:lnTo>
                  <a:lnTo>
                    <a:pt x="93472" y="70738"/>
                  </a:lnTo>
                </a:path>
                <a:path w="1032510" h="1196339">
                  <a:moveTo>
                    <a:pt x="1032382" y="1195832"/>
                  </a:moveTo>
                  <a:lnTo>
                    <a:pt x="135508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220461" y="3955031"/>
              <a:ext cx="82554" cy="67695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3784726" y="3960748"/>
              <a:ext cx="897255" cy="1196340"/>
            </a:xfrm>
            <a:custGeom>
              <a:avLst/>
              <a:gdLst/>
              <a:ahLst/>
              <a:cxnLst/>
              <a:rect l="l" t="t" r="r" b="b"/>
              <a:pathLst>
                <a:path w="897254" h="1196339">
                  <a:moveTo>
                    <a:pt x="0" y="1195832"/>
                  </a:moveTo>
                  <a:lnTo>
                    <a:pt x="896874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617590" y="3955031"/>
              <a:ext cx="82554" cy="67695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4491989" y="4002785"/>
              <a:ext cx="707390" cy="1153795"/>
            </a:xfrm>
            <a:custGeom>
              <a:avLst/>
              <a:gdLst/>
              <a:ahLst/>
              <a:cxnLst/>
              <a:rect l="l" t="t" r="r" b="b"/>
              <a:pathLst>
                <a:path w="707389" h="1153795">
                  <a:moveTo>
                    <a:pt x="0" y="1153795"/>
                  </a:moveTo>
                  <a:lnTo>
                    <a:pt x="287527" y="3809"/>
                  </a:lnTo>
                </a:path>
                <a:path w="707389" h="1153795">
                  <a:moveTo>
                    <a:pt x="231648" y="28701"/>
                  </a:moveTo>
                  <a:lnTo>
                    <a:pt x="251840" y="26288"/>
                  </a:lnTo>
                  <a:lnTo>
                    <a:pt x="267715" y="19938"/>
                  </a:lnTo>
                  <a:lnTo>
                    <a:pt x="279781" y="10794"/>
                  </a:lnTo>
                  <a:lnTo>
                    <a:pt x="288544" y="0"/>
                  </a:lnTo>
                  <a:lnTo>
                    <a:pt x="291084" y="13715"/>
                  </a:lnTo>
                  <a:lnTo>
                    <a:pt x="297434" y="27431"/>
                  </a:lnTo>
                  <a:lnTo>
                    <a:pt x="308483" y="40386"/>
                  </a:lnTo>
                  <a:lnTo>
                    <a:pt x="325120" y="52069"/>
                  </a:lnTo>
                </a:path>
                <a:path w="707389" h="1153795">
                  <a:moveTo>
                    <a:pt x="707389" y="1153795"/>
                  </a:moveTo>
                  <a:lnTo>
                    <a:pt x="419862" y="3809"/>
                  </a:lnTo>
                </a:path>
                <a:path w="707389" h="1153795">
                  <a:moveTo>
                    <a:pt x="382270" y="52069"/>
                  </a:moveTo>
                  <a:lnTo>
                    <a:pt x="398780" y="40386"/>
                  </a:lnTo>
                  <a:lnTo>
                    <a:pt x="409829" y="27431"/>
                  </a:lnTo>
                  <a:lnTo>
                    <a:pt x="416306" y="13715"/>
                  </a:lnTo>
                  <a:lnTo>
                    <a:pt x="418846" y="0"/>
                  </a:lnTo>
                  <a:lnTo>
                    <a:pt x="427609" y="10794"/>
                  </a:lnTo>
                  <a:lnTo>
                    <a:pt x="439674" y="19938"/>
                  </a:lnTo>
                  <a:lnTo>
                    <a:pt x="455549" y="26288"/>
                  </a:lnTo>
                  <a:lnTo>
                    <a:pt x="475742" y="28701"/>
                  </a:lnTo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848100" y="3912107"/>
              <a:ext cx="1555750" cy="1244600"/>
            </a:xfrm>
            <a:custGeom>
              <a:avLst/>
              <a:gdLst/>
              <a:ahLst/>
              <a:cxnLst/>
              <a:rect l="l" t="t" r="r" b="b"/>
              <a:pathLst>
                <a:path w="1555750" h="1244600">
                  <a:moveTo>
                    <a:pt x="0" y="1244473"/>
                  </a:moveTo>
                  <a:lnTo>
                    <a:pt x="1555750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341490" y="3895468"/>
              <a:ext cx="68076" cy="80649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4555489" y="3960748"/>
              <a:ext cx="897255" cy="1196340"/>
            </a:xfrm>
            <a:custGeom>
              <a:avLst/>
              <a:gdLst/>
              <a:ahLst/>
              <a:cxnLst/>
              <a:rect l="l" t="t" r="r" b="b"/>
              <a:pathLst>
                <a:path w="897254" h="1196339">
                  <a:moveTo>
                    <a:pt x="0" y="1195832"/>
                  </a:moveTo>
                  <a:lnTo>
                    <a:pt x="896874" y="0"/>
                  </a:lnTo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388353" y="3955031"/>
              <a:ext cx="82427" cy="67695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3858513" y="3877182"/>
              <a:ext cx="2292350" cy="1310005"/>
            </a:xfrm>
            <a:custGeom>
              <a:avLst/>
              <a:gdLst/>
              <a:ahLst/>
              <a:cxnLst/>
              <a:rect l="l" t="t" r="r" b="b"/>
              <a:pathLst>
                <a:path w="2292350" h="1310004">
                  <a:moveTo>
                    <a:pt x="1404239" y="1279398"/>
                  </a:moveTo>
                  <a:lnTo>
                    <a:pt x="1691766" y="129413"/>
                  </a:lnTo>
                </a:path>
                <a:path w="2292350" h="1310004">
                  <a:moveTo>
                    <a:pt x="1635887" y="154305"/>
                  </a:moveTo>
                  <a:lnTo>
                    <a:pt x="1656080" y="151892"/>
                  </a:lnTo>
                  <a:lnTo>
                    <a:pt x="1671955" y="145542"/>
                  </a:lnTo>
                  <a:lnTo>
                    <a:pt x="1684020" y="136398"/>
                  </a:lnTo>
                  <a:lnTo>
                    <a:pt x="1692783" y="125603"/>
                  </a:lnTo>
                  <a:lnTo>
                    <a:pt x="1695323" y="139319"/>
                  </a:lnTo>
                  <a:lnTo>
                    <a:pt x="1701673" y="153035"/>
                  </a:lnTo>
                  <a:lnTo>
                    <a:pt x="1712722" y="165989"/>
                  </a:lnTo>
                  <a:lnTo>
                    <a:pt x="1729359" y="177673"/>
                  </a:lnTo>
                </a:path>
                <a:path w="2292350" h="1310004">
                  <a:moveTo>
                    <a:pt x="0" y="1309878"/>
                  </a:moveTo>
                  <a:lnTo>
                    <a:pt x="2292223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091563" y="3851536"/>
              <a:ext cx="65134" cy="88629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4618735" y="3912107"/>
              <a:ext cx="1556385" cy="1244600"/>
            </a:xfrm>
            <a:custGeom>
              <a:avLst/>
              <a:gdLst/>
              <a:ahLst/>
              <a:cxnLst/>
              <a:rect l="l" t="t" r="r" b="b"/>
              <a:pathLst>
                <a:path w="1556385" h="1244600">
                  <a:moveTo>
                    <a:pt x="0" y="1244473"/>
                  </a:moveTo>
                  <a:lnTo>
                    <a:pt x="1555877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112253" y="3895468"/>
              <a:ext cx="68076" cy="80649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5326126" y="3960748"/>
              <a:ext cx="897255" cy="1196340"/>
            </a:xfrm>
            <a:custGeom>
              <a:avLst/>
              <a:gdLst/>
              <a:ahLst/>
              <a:cxnLst/>
              <a:rect l="l" t="t" r="r" b="b"/>
              <a:pathLst>
                <a:path w="897254" h="1196339">
                  <a:moveTo>
                    <a:pt x="0" y="1195832"/>
                  </a:moveTo>
                  <a:lnTo>
                    <a:pt x="897001" y="0"/>
                  </a:lnTo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159116" y="3955031"/>
              <a:ext cx="82427" cy="67695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3858513" y="3852671"/>
              <a:ext cx="3050540" cy="1356360"/>
            </a:xfrm>
            <a:custGeom>
              <a:avLst/>
              <a:gdLst/>
              <a:ahLst/>
              <a:cxnLst/>
              <a:rect l="l" t="t" r="r" b="b"/>
              <a:pathLst>
                <a:path w="3050540" h="1356360">
                  <a:moveTo>
                    <a:pt x="0" y="1355978"/>
                  </a:moveTo>
                  <a:lnTo>
                    <a:pt x="3050286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854697" y="3823969"/>
              <a:ext cx="57785" cy="88265"/>
            </a:xfrm>
            <a:custGeom>
              <a:avLst/>
              <a:gdLst/>
              <a:ahLst/>
              <a:cxnLst/>
              <a:rect l="l" t="t" r="r" b="b"/>
              <a:pathLst>
                <a:path w="57784" h="88264">
                  <a:moveTo>
                    <a:pt x="0" y="0"/>
                  </a:moveTo>
                  <a:lnTo>
                    <a:pt x="14350" y="14350"/>
                  </a:lnTo>
                  <a:lnTo>
                    <a:pt x="29209" y="22986"/>
                  </a:lnTo>
                  <a:lnTo>
                    <a:pt x="43815" y="26923"/>
                  </a:lnTo>
                  <a:lnTo>
                    <a:pt x="57784" y="27050"/>
                  </a:lnTo>
                  <a:lnTo>
                    <a:pt x="48513" y="37591"/>
                  </a:lnTo>
                  <a:lnTo>
                    <a:pt x="41655" y="51053"/>
                  </a:lnTo>
                  <a:lnTo>
                    <a:pt x="38226" y="67817"/>
                  </a:lnTo>
                  <a:lnTo>
                    <a:pt x="39116" y="88137"/>
                  </a:lnTo>
                </a:path>
              </a:pathLst>
            </a:custGeom>
            <a:ln w="5068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629276" y="3877182"/>
              <a:ext cx="2292350" cy="1310005"/>
            </a:xfrm>
            <a:custGeom>
              <a:avLst/>
              <a:gdLst/>
              <a:ahLst/>
              <a:cxnLst/>
              <a:rect l="l" t="t" r="r" b="b"/>
              <a:pathLst>
                <a:path w="2292350" h="1310004">
                  <a:moveTo>
                    <a:pt x="0" y="1309878"/>
                  </a:moveTo>
                  <a:lnTo>
                    <a:pt x="2292223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5" name="object 6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862198" y="3851536"/>
              <a:ext cx="65261" cy="88629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5389498" y="3912107"/>
              <a:ext cx="1556385" cy="1244600"/>
            </a:xfrm>
            <a:custGeom>
              <a:avLst/>
              <a:gdLst/>
              <a:ahLst/>
              <a:cxnLst/>
              <a:rect l="l" t="t" r="r" b="b"/>
              <a:pathLst>
                <a:path w="1556384" h="1244600">
                  <a:moveTo>
                    <a:pt x="0" y="1244473"/>
                  </a:moveTo>
                  <a:lnTo>
                    <a:pt x="1555877" y="0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7" name="object 6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883016" y="3895468"/>
              <a:ext cx="68076" cy="80649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2004440" y="2762376"/>
              <a:ext cx="1962785" cy="872490"/>
            </a:xfrm>
            <a:custGeom>
              <a:avLst/>
              <a:gdLst/>
              <a:ahLst/>
              <a:cxnLst/>
              <a:rect l="l" t="t" r="r" b="b"/>
              <a:pathLst>
                <a:path w="1962785" h="872489">
                  <a:moveTo>
                    <a:pt x="0" y="872236"/>
                  </a:moveTo>
                  <a:lnTo>
                    <a:pt x="1962404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3912742" y="2733547"/>
              <a:ext cx="57785" cy="88265"/>
            </a:xfrm>
            <a:custGeom>
              <a:avLst/>
              <a:gdLst/>
              <a:ahLst/>
              <a:cxnLst/>
              <a:rect l="l" t="t" r="r" b="b"/>
              <a:pathLst>
                <a:path w="57785" h="88264">
                  <a:moveTo>
                    <a:pt x="0" y="0"/>
                  </a:moveTo>
                  <a:lnTo>
                    <a:pt x="14478" y="14350"/>
                  </a:lnTo>
                  <a:lnTo>
                    <a:pt x="29210" y="22987"/>
                  </a:lnTo>
                  <a:lnTo>
                    <a:pt x="43815" y="26924"/>
                  </a:lnTo>
                  <a:lnTo>
                    <a:pt x="57785" y="27177"/>
                  </a:lnTo>
                  <a:lnTo>
                    <a:pt x="48641" y="37591"/>
                  </a:lnTo>
                  <a:lnTo>
                    <a:pt x="41656" y="51180"/>
                  </a:lnTo>
                  <a:lnTo>
                    <a:pt x="38227" y="67944"/>
                  </a:lnTo>
                  <a:lnTo>
                    <a:pt x="39243" y="88264"/>
                  </a:lnTo>
                </a:path>
              </a:pathLst>
            </a:custGeom>
            <a:ln w="5068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2753868" y="2780029"/>
              <a:ext cx="1223010" cy="815340"/>
            </a:xfrm>
            <a:custGeom>
              <a:avLst/>
              <a:gdLst/>
              <a:ahLst/>
              <a:cxnLst/>
              <a:rect l="l" t="t" r="r" b="b"/>
              <a:pathLst>
                <a:path w="1223010" h="815339">
                  <a:moveTo>
                    <a:pt x="0" y="814959"/>
                  </a:moveTo>
                  <a:lnTo>
                    <a:pt x="1222502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1" name="object 7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915538" y="2758314"/>
              <a:ext cx="66798" cy="85467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3462655" y="2808731"/>
              <a:ext cx="541655" cy="721995"/>
            </a:xfrm>
            <a:custGeom>
              <a:avLst/>
              <a:gdLst/>
              <a:ahLst/>
              <a:cxnLst/>
              <a:rect l="l" t="t" r="r" b="b"/>
              <a:pathLst>
                <a:path w="541654" h="721995">
                  <a:moveTo>
                    <a:pt x="0" y="721994"/>
                  </a:moveTo>
                  <a:lnTo>
                    <a:pt x="541401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940045" y="2803014"/>
              <a:ext cx="82554" cy="67695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4026788" y="2808731"/>
              <a:ext cx="660400" cy="721995"/>
            </a:xfrm>
            <a:custGeom>
              <a:avLst/>
              <a:gdLst/>
              <a:ahLst/>
              <a:cxnLst/>
              <a:rect l="l" t="t" r="r" b="b"/>
              <a:pathLst>
                <a:path w="660400" h="721995">
                  <a:moveTo>
                    <a:pt x="48133" y="669163"/>
                  </a:moveTo>
                  <a:lnTo>
                    <a:pt x="48133" y="23621"/>
                  </a:lnTo>
                </a:path>
                <a:path w="660400" h="721995">
                  <a:moveTo>
                    <a:pt x="0" y="61340"/>
                  </a:moveTo>
                  <a:lnTo>
                    <a:pt x="18923" y="53975"/>
                  </a:lnTo>
                  <a:lnTo>
                    <a:pt x="32765" y="44068"/>
                  </a:lnTo>
                  <a:lnTo>
                    <a:pt x="42290" y="32257"/>
                  </a:lnTo>
                  <a:lnTo>
                    <a:pt x="48133" y="19557"/>
                  </a:lnTo>
                  <a:lnTo>
                    <a:pt x="53975" y="32257"/>
                  </a:lnTo>
                  <a:lnTo>
                    <a:pt x="63500" y="44068"/>
                  </a:lnTo>
                  <a:lnTo>
                    <a:pt x="77343" y="53975"/>
                  </a:lnTo>
                  <a:lnTo>
                    <a:pt x="96265" y="61340"/>
                  </a:lnTo>
                </a:path>
                <a:path w="660400" h="721995">
                  <a:moveTo>
                    <a:pt x="660400" y="721994"/>
                  </a:moveTo>
                  <a:lnTo>
                    <a:pt x="118999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5" name="object 7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127243" y="2803014"/>
              <a:ext cx="82554" cy="67695"/>
            </a:xfrm>
            <a:prstGeom prst="rect">
              <a:avLst/>
            </a:prstGeom>
          </p:spPr>
        </p:pic>
        <p:sp>
          <p:nvSpPr>
            <p:cNvPr id="76" name="object 76"/>
            <p:cNvSpPr/>
            <p:nvPr/>
          </p:nvSpPr>
          <p:spPr>
            <a:xfrm>
              <a:off x="4173473" y="2780029"/>
              <a:ext cx="1223010" cy="815340"/>
            </a:xfrm>
            <a:custGeom>
              <a:avLst/>
              <a:gdLst/>
              <a:ahLst/>
              <a:cxnLst/>
              <a:rect l="l" t="t" r="r" b="b"/>
              <a:pathLst>
                <a:path w="1223010" h="815339">
                  <a:moveTo>
                    <a:pt x="1222502" y="814959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7" name="object 77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167506" y="2758314"/>
              <a:ext cx="66671" cy="85467"/>
            </a:xfrm>
            <a:prstGeom prst="rect">
              <a:avLst/>
            </a:prstGeom>
          </p:spPr>
        </p:pic>
        <p:sp>
          <p:nvSpPr>
            <p:cNvPr id="78" name="object 78"/>
            <p:cNvSpPr/>
            <p:nvPr/>
          </p:nvSpPr>
          <p:spPr>
            <a:xfrm>
              <a:off x="4182998" y="2762376"/>
              <a:ext cx="1962785" cy="872490"/>
            </a:xfrm>
            <a:custGeom>
              <a:avLst/>
              <a:gdLst/>
              <a:ahLst/>
              <a:cxnLst/>
              <a:rect l="l" t="t" r="r" b="b"/>
              <a:pathLst>
                <a:path w="1962785" h="872489">
                  <a:moveTo>
                    <a:pt x="1962403" y="872236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4179316" y="2733547"/>
              <a:ext cx="57785" cy="88265"/>
            </a:xfrm>
            <a:custGeom>
              <a:avLst/>
              <a:gdLst/>
              <a:ahLst/>
              <a:cxnLst/>
              <a:rect l="l" t="t" r="r" b="b"/>
              <a:pathLst>
                <a:path w="57785" h="88264">
                  <a:moveTo>
                    <a:pt x="18542" y="88264"/>
                  </a:moveTo>
                  <a:lnTo>
                    <a:pt x="19558" y="67944"/>
                  </a:lnTo>
                  <a:lnTo>
                    <a:pt x="16129" y="51180"/>
                  </a:lnTo>
                  <a:lnTo>
                    <a:pt x="9144" y="37591"/>
                  </a:lnTo>
                  <a:lnTo>
                    <a:pt x="0" y="27177"/>
                  </a:lnTo>
                  <a:lnTo>
                    <a:pt x="13970" y="26924"/>
                  </a:lnTo>
                  <a:lnTo>
                    <a:pt x="28575" y="22987"/>
                  </a:lnTo>
                  <a:lnTo>
                    <a:pt x="43307" y="14350"/>
                  </a:lnTo>
                  <a:lnTo>
                    <a:pt x="57785" y="0"/>
                  </a:lnTo>
                </a:path>
              </a:pathLst>
            </a:custGeom>
            <a:ln w="5068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4186935" y="2751708"/>
              <a:ext cx="2720340" cy="906780"/>
            </a:xfrm>
            <a:custGeom>
              <a:avLst/>
              <a:gdLst/>
              <a:ahLst/>
              <a:cxnLst/>
              <a:rect l="l" t="t" r="r" b="b"/>
              <a:pathLst>
                <a:path w="2720340" h="906779">
                  <a:moveTo>
                    <a:pt x="2720086" y="906652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4183126" y="2717926"/>
              <a:ext cx="55244" cy="91440"/>
            </a:xfrm>
            <a:custGeom>
              <a:avLst/>
              <a:gdLst/>
              <a:ahLst/>
              <a:cxnLst/>
              <a:rect l="l" t="t" r="r" b="b"/>
              <a:pathLst>
                <a:path w="55245" h="91439">
                  <a:moveTo>
                    <a:pt x="24384" y="91439"/>
                  </a:moveTo>
                  <a:lnTo>
                    <a:pt x="23495" y="71120"/>
                  </a:lnTo>
                  <a:lnTo>
                    <a:pt x="18414" y="54863"/>
                  </a:lnTo>
                  <a:lnTo>
                    <a:pt x="10287" y="42037"/>
                  </a:lnTo>
                  <a:lnTo>
                    <a:pt x="0" y="32512"/>
                  </a:lnTo>
                  <a:lnTo>
                    <a:pt x="13970" y="30987"/>
                  </a:lnTo>
                  <a:lnTo>
                    <a:pt x="28066" y="25653"/>
                  </a:lnTo>
                  <a:lnTo>
                    <a:pt x="42037" y="15621"/>
                  </a:lnTo>
                  <a:lnTo>
                    <a:pt x="54990" y="0"/>
                  </a:lnTo>
                </a:path>
              </a:pathLst>
            </a:custGeom>
            <a:ln w="5066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4026788" y="2335783"/>
              <a:ext cx="96520" cy="268605"/>
            </a:xfrm>
            <a:custGeom>
              <a:avLst/>
              <a:gdLst/>
              <a:ahLst/>
              <a:cxnLst/>
              <a:rect l="l" t="t" r="r" b="b"/>
              <a:pathLst>
                <a:path w="96520" h="268605">
                  <a:moveTo>
                    <a:pt x="48133" y="268604"/>
                  </a:moveTo>
                  <a:lnTo>
                    <a:pt x="48133" y="4063"/>
                  </a:lnTo>
                </a:path>
                <a:path w="96520" h="268605">
                  <a:moveTo>
                    <a:pt x="0" y="41782"/>
                  </a:moveTo>
                  <a:lnTo>
                    <a:pt x="18923" y="34416"/>
                  </a:lnTo>
                  <a:lnTo>
                    <a:pt x="32765" y="24511"/>
                  </a:lnTo>
                  <a:lnTo>
                    <a:pt x="42290" y="12700"/>
                  </a:lnTo>
                  <a:lnTo>
                    <a:pt x="48133" y="0"/>
                  </a:lnTo>
                  <a:lnTo>
                    <a:pt x="53975" y="12700"/>
                  </a:lnTo>
                  <a:lnTo>
                    <a:pt x="63500" y="24511"/>
                  </a:lnTo>
                  <a:lnTo>
                    <a:pt x="77343" y="34416"/>
                  </a:lnTo>
                  <a:lnTo>
                    <a:pt x="96265" y="41782"/>
                  </a:lnTo>
                </a:path>
              </a:pathLst>
            </a:custGeom>
            <a:ln w="5060">
              <a:solidFill>
                <a:srgbClr val="213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4968" y="3014853"/>
            <a:ext cx="2360295" cy="29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What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if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have</a:t>
            </a:r>
            <a:r>
              <a:rPr sz="1750" spc="-1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750" i="1" spc="18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inputs?</a:t>
            </a:r>
            <a:endParaRPr sz="175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0915" y="1331023"/>
            <a:ext cx="7993380" cy="256540"/>
          </a:xfrm>
          <a:prstGeom prst="rect">
            <a:avLst/>
          </a:prstGeom>
          <a:solidFill>
            <a:srgbClr val="013547"/>
          </a:solidFill>
        </p:spPr>
        <p:txBody>
          <a:bodyPr vert="horz" wrap="square" lIns="0" tIns="0" rIns="0" bIns="0" rtlCol="0">
            <a:spAutoFit/>
          </a:bodyPr>
          <a:lstStyle/>
          <a:p>
            <a:pPr marL="69850">
              <a:lnSpc>
                <a:spcPts val="1950"/>
              </a:lnSpc>
            </a:pPr>
            <a:r>
              <a:rPr sz="1750" b="1" spc="-10" dirty="0">
                <a:solidFill>
                  <a:srgbClr val="FFFFFF"/>
                </a:solidFill>
                <a:latin typeface="Trebuchet MS"/>
                <a:cs typeface="Trebuchet MS"/>
              </a:rPr>
              <a:t>Theorem</a:t>
            </a:r>
            <a:endParaRPr sz="175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3400" y="1486398"/>
            <a:ext cx="7187565" cy="967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 marR="30480">
              <a:lnSpc>
                <a:spcPct val="117800"/>
              </a:lnSpc>
              <a:spcBef>
                <a:spcPts val="95"/>
              </a:spcBef>
            </a:pP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Any</a:t>
            </a:r>
            <a:r>
              <a:rPr sz="1750" spc="-1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boolean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function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750" i="1" spc="22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inputs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can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be</a:t>
            </a:r>
            <a:r>
              <a:rPr sz="1750" spc="-1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represented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exactly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by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a</a:t>
            </a:r>
            <a:r>
              <a:rPr sz="1750" spc="-229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network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of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perceptrons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containing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1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hidden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layer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with</a:t>
            </a:r>
            <a:r>
              <a:rPr sz="1750" spc="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875" i="1" baseline="24444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i="1" spc="382" baseline="2444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perceptrons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one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output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layer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containing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perceptron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0395" y="2794457"/>
            <a:ext cx="7751445" cy="11950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8895">
              <a:lnSpc>
                <a:spcPct val="100000"/>
              </a:lnSpc>
              <a:spcBef>
                <a:spcPts val="90"/>
              </a:spcBef>
            </a:pPr>
            <a:r>
              <a:rPr sz="1750" b="1" spc="-85" dirty="0">
                <a:solidFill>
                  <a:srgbClr val="213739"/>
                </a:solidFill>
                <a:latin typeface="Trebuchet MS"/>
                <a:cs typeface="Trebuchet MS"/>
              </a:rPr>
              <a:t>Proof</a:t>
            </a:r>
            <a:r>
              <a:rPr sz="1750" b="1" spc="-185" dirty="0">
                <a:solidFill>
                  <a:srgbClr val="213739"/>
                </a:solidFill>
                <a:latin typeface="Trebuchet MS"/>
                <a:cs typeface="Trebuchet MS"/>
              </a:rPr>
              <a:t> </a:t>
            </a:r>
            <a:r>
              <a:rPr sz="1750" b="1" spc="-150" dirty="0">
                <a:solidFill>
                  <a:srgbClr val="213739"/>
                </a:solidFill>
                <a:latin typeface="Trebuchet MS"/>
                <a:cs typeface="Trebuchet MS"/>
              </a:rPr>
              <a:t>(informal:)</a:t>
            </a:r>
            <a:r>
              <a:rPr sz="1750" b="1" spc="-130" dirty="0">
                <a:solidFill>
                  <a:srgbClr val="213739"/>
                </a:solidFill>
                <a:latin typeface="Trebuchet MS"/>
                <a:cs typeface="Trebuchet MS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just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saw</a:t>
            </a:r>
            <a:r>
              <a:rPr sz="1750" spc="-1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how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to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construct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such</a:t>
            </a:r>
            <a:r>
              <a:rPr sz="1750" spc="-1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a</a:t>
            </a:r>
            <a:r>
              <a:rPr sz="1750" spc="-2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network</a:t>
            </a:r>
            <a:endParaRPr sz="17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1750">
              <a:latin typeface="Arial MT"/>
              <a:cs typeface="Arial MT"/>
            </a:endParaRPr>
          </a:p>
          <a:p>
            <a:pPr marL="50800" marR="43180">
              <a:lnSpc>
                <a:spcPct val="117700"/>
              </a:lnSpc>
            </a:pPr>
            <a:r>
              <a:rPr sz="1750" b="1" spc="-125" dirty="0">
                <a:solidFill>
                  <a:srgbClr val="213739"/>
                </a:solidFill>
                <a:latin typeface="Trebuchet MS"/>
                <a:cs typeface="Trebuchet MS"/>
              </a:rPr>
              <a:t>Note:</a:t>
            </a:r>
            <a:r>
              <a:rPr sz="1750" b="1" spc="-130" dirty="0">
                <a:solidFill>
                  <a:srgbClr val="213739"/>
                </a:solidFill>
                <a:latin typeface="Trebuchet MS"/>
                <a:cs typeface="Trebuchet MS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Anetwork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875" i="1" baseline="24444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i="1" spc="322" baseline="2444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+</a:t>
            </a:r>
            <a:r>
              <a:rPr sz="1750" spc="55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spc="5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perceptrons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is</a:t>
            </a:r>
            <a:r>
              <a:rPr sz="1750" spc="-1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not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necessary</a:t>
            </a:r>
            <a:r>
              <a:rPr sz="1750" spc="-1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but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sufficient.</a:t>
            </a:r>
            <a:r>
              <a:rPr sz="1750" spc="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For</a:t>
            </a:r>
            <a:r>
              <a:rPr sz="1750" spc="-2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example,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we 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already</a:t>
            </a:r>
            <a:r>
              <a:rPr sz="1750" spc="-1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saw</a:t>
            </a:r>
            <a:r>
              <a:rPr sz="1750" spc="-1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how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represent</a:t>
            </a:r>
            <a:r>
              <a:rPr sz="1750" spc="-2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750" spc="-2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function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with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just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1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perceptron</a:t>
            </a:r>
            <a:endParaRPr sz="175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0915" y="1331023"/>
            <a:ext cx="7993380" cy="256540"/>
          </a:xfrm>
          <a:prstGeom prst="rect">
            <a:avLst/>
          </a:prstGeom>
          <a:solidFill>
            <a:srgbClr val="013547"/>
          </a:solidFill>
        </p:spPr>
        <p:txBody>
          <a:bodyPr vert="horz" wrap="square" lIns="0" tIns="0" rIns="0" bIns="0" rtlCol="0">
            <a:spAutoFit/>
          </a:bodyPr>
          <a:lstStyle/>
          <a:p>
            <a:pPr marL="69850">
              <a:lnSpc>
                <a:spcPts val="1950"/>
              </a:lnSpc>
            </a:pPr>
            <a:r>
              <a:rPr sz="1750" b="1" spc="-10" dirty="0">
                <a:solidFill>
                  <a:srgbClr val="FFFFFF"/>
                </a:solidFill>
                <a:latin typeface="Trebuchet MS"/>
                <a:cs typeface="Trebuchet MS"/>
              </a:rPr>
              <a:t>Theorem</a:t>
            </a:r>
            <a:endParaRPr sz="175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3400" y="1486398"/>
            <a:ext cx="7187565" cy="967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 marR="30480">
              <a:lnSpc>
                <a:spcPct val="117800"/>
              </a:lnSpc>
              <a:spcBef>
                <a:spcPts val="95"/>
              </a:spcBef>
            </a:pP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Any</a:t>
            </a:r>
            <a:r>
              <a:rPr sz="1750" spc="-1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boolean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function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-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750" i="1" spc="22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inputs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can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be</a:t>
            </a:r>
            <a:r>
              <a:rPr sz="1750" spc="-1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represented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exactly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by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a</a:t>
            </a:r>
            <a:r>
              <a:rPr sz="1750" spc="-229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network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of 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perceptrons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containing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1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hidden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layer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with</a:t>
            </a:r>
            <a:r>
              <a:rPr sz="1750" spc="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875" i="1" baseline="24444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i="1" spc="382" baseline="2444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perceptrons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one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output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layer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containing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spc="-5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perceptron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7390" y="2794457"/>
            <a:ext cx="7776845" cy="212661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61594">
              <a:lnSpc>
                <a:spcPct val="100000"/>
              </a:lnSpc>
              <a:spcBef>
                <a:spcPts val="90"/>
              </a:spcBef>
            </a:pPr>
            <a:r>
              <a:rPr sz="1750" b="1" spc="-85" dirty="0">
                <a:solidFill>
                  <a:srgbClr val="213739"/>
                </a:solidFill>
                <a:latin typeface="Trebuchet MS"/>
                <a:cs typeface="Trebuchet MS"/>
              </a:rPr>
              <a:t>Proof</a:t>
            </a:r>
            <a:r>
              <a:rPr sz="1750" b="1" spc="-190" dirty="0">
                <a:solidFill>
                  <a:srgbClr val="213739"/>
                </a:solidFill>
                <a:latin typeface="Trebuchet MS"/>
                <a:cs typeface="Trebuchet MS"/>
              </a:rPr>
              <a:t> </a:t>
            </a:r>
            <a:r>
              <a:rPr sz="1750" b="1" spc="-150" dirty="0">
                <a:solidFill>
                  <a:srgbClr val="213739"/>
                </a:solidFill>
                <a:latin typeface="Trebuchet MS"/>
                <a:cs typeface="Trebuchet MS"/>
              </a:rPr>
              <a:t>(informal:)</a:t>
            </a:r>
            <a:r>
              <a:rPr sz="1750" b="1" spc="-125" dirty="0">
                <a:solidFill>
                  <a:srgbClr val="213739"/>
                </a:solidFill>
                <a:latin typeface="Trebuchet MS"/>
                <a:cs typeface="Trebuchet MS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just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saw</a:t>
            </a:r>
            <a:r>
              <a:rPr sz="1750" spc="-1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how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to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construct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such</a:t>
            </a:r>
            <a:r>
              <a:rPr sz="1750" spc="-1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a</a:t>
            </a:r>
            <a:r>
              <a:rPr sz="1750" spc="-2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network</a:t>
            </a:r>
            <a:endParaRPr sz="17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1750">
              <a:latin typeface="Arial MT"/>
              <a:cs typeface="Arial MT"/>
            </a:endParaRPr>
          </a:p>
          <a:p>
            <a:pPr marL="63500" marR="55880">
              <a:lnSpc>
                <a:spcPct val="117700"/>
              </a:lnSpc>
            </a:pPr>
            <a:r>
              <a:rPr sz="1750" b="1" spc="-125" dirty="0">
                <a:solidFill>
                  <a:srgbClr val="213739"/>
                </a:solidFill>
                <a:latin typeface="Trebuchet MS"/>
                <a:cs typeface="Trebuchet MS"/>
              </a:rPr>
              <a:t>Note:</a:t>
            </a:r>
            <a:r>
              <a:rPr sz="1750" b="1" spc="-130" dirty="0">
                <a:solidFill>
                  <a:srgbClr val="213739"/>
                </a:solidFill>
                <a:latin typeface="Trebuchet MS"/>
                <a:cs typeface="Trebuchet MS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Anetwork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2</a:t>
            </a:r>
            <a:r>
              <a:rPr sz="1875" i="1" baseline="24444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875" i="1" spc="322" baseline="24444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+</a:t>
            </a:r>
            <a:r>
              <a:rPr sz="1750" spc="50" dirty="0">
                <a:solidFill>
                  <a:srgbClr val="213739"/>
                </a:solidFill>
                <a:latin typeface="Calibri"/>
                <a:cs typeface="Calibri"/>
              </a:rPr>
              <a:t>  </a:t>
            </a:r>
            <a:r>
              <a:rPr sz="1750" dirty="0">
                <a:solidFill>
                  <a:srgbClr val="213739"/>
                </a:solidFill>
                <a:latin typeface="Calibri"/>
                <a:cs typeface="Calibri"/>
              </a:rPr>
              <a:t>1</a:t>
            </a:r>
            <a:r>
              <a:rPr sz="1750" spc="55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perceptrons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is</a:t>
            </a:r>
            <a:r>
              <a:rPr sz="1750" spc="-1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not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necessary</a:t>
            </a:r>
            <a:r>
              <a:rPr sz="1750" spc="-1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but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sufficient.</a:t>
            </a:r>
            <a:r>
              <a:rPr sz="1750" spc="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For</a:t>
            </a:r>
            <a:r>
              <a:rPr sz="1750" spc="-2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example,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we 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already</a:t>
            </a:r>
            <a:r>
              <a:rPr sz="1750" spc="-1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saw</a:t>
            </a:r>
            <a:r>
              <a:rPr sz="1750" spc="-1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how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to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represent</a:t>
            </a:r>
            <a:r>
              <a:rPr sz="1750" spc="-2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750" spc="-2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function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with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just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1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perceptron</a:t>
            </a:r>
            <a:endParaRPr sz="17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endParaRPr sz="1750">
              <a:latin typeface="Arial MT"/>
              <a:cs typeface="Arial MT"/>
            </a:endParaRPr>
          </a:p>
          <a:p>
            <a:pPr marL="63500" marR="742315">
              <a:lnSpc>
                <a:spcPct val="117700"/>
              </a:lnSpc>
            </a:pPr>
            <a:r>
              <a:rPr sz="1750" b="1" spc="-125" dirty="0">
                <a:solidFill>
                  <a:srgbClr val="213739"/>
                </a:solidFill>
                <a:latin typeface="Trebuchet MS"/>
                <a:cs typeface="Trebuchet MS"/>
              </a:rPr>
              <a:t>Catch:</a:t>
            </a:r>
            <a:r>
              <a:rPr sz="1750" b="1" spc="-105" dirty="0">
                <a:solidFill>
                  <a:srgbClr val="213739"/>
                </a:solidFill>
                <a:latin typeface="Trebuchet MS"/>
                <a:cs typeface="Trebuchet MS"/>
              </a:rPr>
              <a:t> 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As</a:t>
            </a:r>
            <a:r>
              <a:rPr sz="1750" spc="-23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i="1" dirty="0">
                <a:solidFill>
                  <a:srgbClr val="213739"/>
                </a:solidFill>
                <a:latin typeface="Calibri"/>
                <a:cs typeface="Calibri"/>
              </a:rPr>
              <a:t>n</a:t>
            </a:r>
            <a:r>
              <a:rPr sz="1750" i="1" spc="260" dirty="0">
                <a:solidFill>
                  <a:srgbClr val="213739"/>
                </a:solidFill>
                <a:latin typeface="Calibri"/>
                <a:cs typeface="Calibri"/>
              </a:rPr>
              <a:t> </a:t>
            </a:r>
            <a:r>
              <a:rPr sz="1750" spc="-135" dirty="0">
                <a:solidFill>
                  <a:srgbClr val="213739"/>
                </a:solidFill>
                <a:latin typeface="Arial MT"/>
                <a:cs typeface="Arial MT"/>
              </a:rPr>
              <a:t>increases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number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perceptrons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in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hidden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layers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obviously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increases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exponentially</a:t>
            </a:r>
            <a:endParaRPr sz="175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0915" y="1587182"/>
            <a:ext cx="7993380" cy="256540"/>
          </a:xfrm>
          <a:prstGeom prst="rect">
            <a:avLst/>
          </a:prstGeom>
          <a:solidFill>
            <a:srgbClr val="013547"/>
          </a:solidFill>
        </p:spPr>
        <p:txBody>
          <a:bodyPr vert="horz" wrap="square" lIns="0" tIns="0" rIns="0" bIns="0" rtlCol="0">
            <a:spAutoFit/>
          </a:bodyPr>
          <a:lstStyle/>
          <a:p>
            <a:pPr marL="69850">
              <a:lnSpc>
                <a:spcPts val="1950"/>
              </a:lnSpc>
            </a:pPr>
            <a:r>
              <a:rPr sz="1750" b="1" spc="-145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1750" b="1" spc="-3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750" b="1" spc="-80" dirty="0">
                <a:solidFill>
                  <a:srgbClr val="FFFFFF"/>
                </a:solidFill>
                <a:latin typeface="Trebuchet MS"/>
                <a:cs typeface="Trebuchet MS"/>
              </a:rPr>
              <a:t>story</a:t>
            </a:r>
            <a:r>
              <a:rPr sz="1750" b="1" spc="-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750" b="1" spc="-45" dirty="0">
                <a:solidFill>
                  <a:srgbClr val="FFFFFF"/>
                </a:solidFill>
                <a:latin typeface="Trebuchet MS"/>
                <a:cs typeface="Trebuchet MS"/>
              </a:rPr>
              <a:t>so</a:t>
            </a:r>
            <a:r>
              <a:rPr sz="1750" b="1" spc="-1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750" b="1" spc="-75" dirty="0">
                <a:solidFill>
                  <a:srgbClr val="FFFFFF"/>
                </a:solidFill>
                <a:latin typeface="Trebuchet MS"/>
                <a:cs typeface="Trebuchet MS"/>
              </a:rPr>
              <a:t>far</a:t>
            </a:r>
            <a:r>
              <a:rPr sz="1750" b="1" spc="-1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750" b="1" spc="-25" dirty="0">
                <a:solidFill>
                  <a:srgbClr val="FFFFFF"/>
                </a:solidFill>
                <a:latin typeface="Trebuchet MS"/>
                <a:cs typeface="Trebuchet MS"/>
              </a:rPr>
              <a:t>...</a:t>
            </a:r>
            <a:endParaRPr sz="175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3444" y="1912366"/>
            <a:ext cx="7560309" cy="2036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2920">
              <a:lnSpc>
                <a:spcPct val="117700"/>
              </a:lnSpc>
              <a:spcBef>
                <a:spcPts val="100"/>
              </a:spcBef>
            </a:pP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Networks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form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that</a:t>
            </a:r>
            <a:r>
              <a:rPr sz="1750" spc="-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just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saw</a:t>
            </a:r>
            <a:r>
              <a:rPr sz="1750" spc="-1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(containing,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an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input,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output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5" dirty="0">
                <a:solidFill>
                  <a:srgbClr val="213739"/>
                </a:solidFill>
                <a:latin typeface="Arial MT"/>
                <a:cs typeface="Arial MT"/>
              </a:rPr>
              <a:t>and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one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or more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hidden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layers)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are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ca</a:t>
            </a:r>
            <a:r>
              <a:rPr sz="1750" spc="-3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0" dirty="0">
                <a:solidFill>
                  <a:srgbClr val="213739"/>
                </a:solidFill>
                <a:latin typeface="Arial MT"/>
                <a:cs typeface="Arial MT"/>
              </a:rPr>
              <a:t>led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Multilayer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Perceptrons</a:t>
            </a:r>
            <a:r>
              <a:rPr sz="1750" spc="-1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80" dirty="0">
                <a:solidFill>
                  <a:srgbClr val="213739"/>
                </a:solidFill>
                <a:latin typeface="Arial MT"/>
                <a:cs typeface="Arial MT"/>
              </a:rPr>
              <a:t>(MLP,</a:t>
            </a:r>
            <a:r>
              <a:rPr sz="1750" spc="-1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in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short)</a:t>
            </a:r>
            <a:endParaRPr sz="1750">
              <a:latin typeface="Arial MT"/>
              <a:cs typeface="Arial MT"/>
            </a:endParaRPr>
          </a:p>
          <a:p>
            <a:pPr marL="17145" marR="5080" indent="-5080">
              <a:lnSpc>
                <a:spcPct val="117300"/>
              </a:lnSpc>
              <a:spcBef>
                <a:spcPts val="515"/>
              </a:spcBef>
            </a:pP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More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appropriate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45" dirty="0">
                <a:solidFill>
                  <a:srgbClr val="213739"/>
                </a:solidFill>
                <a:latin typeface="Arial MT"/>
                <a:cs typeface="Arial MT"/>
              </a:rPr>
              <a:t>terminology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would</a:t>
            </a:r>
            <a:r>
              <a:rPr sz="1750" spc="1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be“Multilayered</a:t>
            </a:r>
            <a:r>
              <a:rPr sz="1750" spc="-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35" dirty="0">
                <a:solidFill>
                  <a:srgbClr val="213739"/>
                </a:solidFill>
                <a:latin typeface="Arial MT"/>
                <a:cs typeface="Arial MT"/>
              </a:rPr>
              <a:t>Network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65" dirty="0">
                <a:solidFill>
                  <a:srgbClr val="213739"/>
                </a:solidFill>
                <a:latin typeface="Arial MT"/>
                <a:cs typeface="Arial MT"/>
              </a:rPr>
              <a:t>Perceptrons”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5" dirty="0">
                <a:solidFill>
                  <a:srgbClr val="213739"/>
                </a:solidFill>
                <a:latin typeface="Arial MT"/>
                <a:cs typeface="Arial MT"/>
              </a:rPr>
              <a:t>but </a:t>
            </a:r>
            <a:r>
              <a:rPr sz="1750" spc="-155" dirty="0">
                <a:solidFill>
                  <a:srgbClr val="213739"/>
                </a:solidFill>
                <a:latin typeface="Arial MT"/>
                <a:cs typeface="Arial MT"/>
              </a:rPr>
              <a:t>MLP</a:t>
            </a:r>
            <a:r>
              <a:rPr sz="1750" spc="-29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70" dirty="0">
                <a:solidFill>
                  <a:srgbClr val="213739"/>
                </a:solidFill>
                <a:latin typeface="Arial MT"/>
                <a:cs typeface="Arial MT"/>
              </a:rPr>
              <a:t>is</a:t>
            </a: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7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more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commonly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used</a:t>
            </a:r>
            <a:r>
              <a:rPr sz="1750" spc="-13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name</a:t>
            </a:r>
            <a:endParaRPr sz="1750">
              <a:latin typeface="Arial MT"/>
              <a:cs typeface="Arial MT"/>
            </a:endParaRPr>
          </a:p>
          <a:p>
            <a:pPr marL="12700" marR="549910">
              <a:lnSpc>
                <a:spcPct val="117700"/>
              </a:lnSpc>
              <a:spcBef>
                <a:spcPts val="505"/>
              </a:spcBef>
            </a:pPr>
            <a:r>
              <a:rPr sz="1750" spc="-145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28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0" dirty="0">
                <a:solidFill>
                  <a:srgbClr val="213739"/>
                </a:solidFill>
                <a:latin typeface="Arial MT"/>
                <a:cs typeface="Arial MT"/>
              </a:rPr>
              <a:t>theorem</a:t>
            </a:r>
            <a:r>
              <a:rPr sz="1750" spc="-1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that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we</a:t>
            </a:r>
            <a:r>
              <a:rPr sz="1750" spc="-165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just</a:t>
            </a:r>
            <a:r>
              <a:rPr sz="1750" spc="-11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saw</a:t>
            </a:r>
            <a:r>
              <a:rPr sz="1750" spc="-20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gives</a:t>
            </a:r>
            <a:r>
              <a:rPr sz="1750" spc="-17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85" dirty="0">
                <a:solidFill>
                  <a:srgbClr val="213739"/>
                </a:solidFill>
                <a:latin typeface="Arial MT"/>
                <a:cs typeface="Arial MT"/>
              </a:rPr>
              <a:t>us</a:t>
            </a:r>
            <a:r>
              <a:rPr sz="1750" spc="-20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55" dirty="0">
                <a:solidFill>
                  <a:srgbClr val="213739"/>
                </a:solidFill>
                <a:latin typeface="Arial MT"/>
                <a:cs typeface="Arial MT"/>
              </a:rPr>
              <a:t>the</a:t>
            </a:r>
            <a:r>
              <a:rPr sz="1750" spc="-114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representation</a:t>
            </a:r>
            <a:r>
              <a:rPr sz="1750" spc="-15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0" dirty="0">
                <a:solidFill>
                  <a:srgbClr val="213739"/>
                </a:solidFill>
                <a:latin typeface="Arial MT"/>
                <a:cs typeface="Arial MT"/>
              </a:rPr>
              <a:t>power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dirty="0">
                <a:solidFill>
                  <a:srgbClr val="213739"/>
                </a:solidFill>
                <a:latin typeface="Arial MT"/>
                <a:cs typeface="Arial MT"/>
              </a:rPr>
              <a:t>of</a:t>
            </a:r>
            <a:r>
              <a:rPr sz="1750" spc="-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a</a:t>
            </a:r>
            <a:r>
              <a:rPr sz="1750" spc="-26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165" dirty="0">
                <a:solidFill>
                  <a:srgbClr val="213739"/>
                </a:solidFill>
                <a:latin typeface="Arial MT"/>
                <a:cs typeface="Arial MT"/>
              </a:rPr>
              <a:t>MLP</a:t>
            </a:r>
            <a:r>
              <a:rPr sz="1750" spc="-3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with</a:t>
            </a:r>
            <a:r>
              <a:rPr sz="1750" spc="-50" dirty="0">
                <a:solidFill>
                  <a:srgbClr val="213739"/>
                </a:solidFill>
                <a:latin typeface="Arial MT"/>
                <a:cs typeface="Arial MT"/>
              </a:rPr>
              <a:t> a </a:t>
            </a:r>
            <a:r>
              <a:rPr sz="1750" spc="-10" dirty="0">
                <a:solidFill>
                  <a:srgbClr val="213739"/>
                </a:solidFill>
                <a:latin typeface="Arial MT"/>
                <a:cs typeface="Arial MT"/>
              </a:rPr>
              <a:t>single</a:t>
            </a:r>
            <a:r>
              <a:rPr sz="1750" spc="-4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95" dirty="0">
                <a:solidFill>
                  <a:srgbClr val="213739"/>
                </a:solidFill>
                <a:latin typeface="Arial MT"/>
                <a:cs typeface="Arial MT"/>
              </a:rPr>
              <a:t>hidden</a:t>
            </a:r>
            <a:r>
              <a:rPr sz="1750" spc="-120" dirty="0">
                <a:solidFill>
                  <a:srgbClr val="213739"/>
                </a:solidFill>
                <a:latin typeface="Arial MT"/>
                <a:cs typeface="Arial MT"/>
              </a:rPr>
              <a:t> </a:t>
            </a:r>
            <a:r>
              <a:rPr sz="1750" spc="-20" dirty="0">
                <a:solidFill>
                  <a:srgbClr val="213739"/>
                </a:solidFill>
                <a:latin typeface="Arial MT"/>
                <a:cs typeface="Arial MT"/>
              </a:rPr>
              <a:t>layer</a:t>
            </a:r>
            <a:endParaRPr sz="175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CC99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Words>10424</Words>
  <Application>Microsoft Office PowerPoint</Application>
  <PresentationFormat>On-screen Show (4:3)</PresentationFormat>
  <Paragraphs>3012</Paragraphs>
  <Slides>177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177</vt:i4>
      </vt:variant>
    </vt:vector>
  </HeadingPairs>
  <TitlesOfParts>
    <vt:vector size="188" baseType="lpstr">
      <vt:lpstr>Arial</vt:lpstr>
      <vt:lpstr>Arial MT</vt:lpstr>
      <vt:lpstr>Calibri</vt:lpstr>
      <vt:lpstr>Comic Sans MS</vt:lpstr>
      <vt:lpstr>Georgia</vt:lpstr>
      <vt:lpstr>Lucida Console</vt:lpstr>
      <vt:lpstr>Lucida Sans Unicode</vt:lpstr>
      <vt:lpstr>Times New Roman</vt:lpstr>
      <vt:lpstr>Trebuchet MS</vt:lpstr>
      <vt:lpstr>Wingdings</vt:lpstr>
      <vt:lpstr>Office Theme</vt:lpstr>
      <vt:lpstr>Deep Learning Neuron to Perceptron</vt:lpstr>
      <vt:lpstr>References:</vt:lpstr>
      <vt:lpstr>PowerPoint Presentation</vt:lpstr>
      <vt:lpstr>Neuron</vt:lpstr>
      <vt:lpstr>Biological neuron</vt:lpstr>
      <vt:lpstr>Biological neuron</vt:lpstr>
      <vt:lpstr>Biological neuron</vt:lpstr>
      <vt:lpstr>Biological neuron</vt:lpstr>
      <vt:lpstr>Biological neuron</vt:lpstr>
      <vt:lpstr>Biological neuron</vt:lpstr>
      <vt:lpstr>Biological neuron</vt:lpstr>
      <vt:lpstr>Biological neuron</vt:lpstr>
      <vt:lpstr>Biological neuron</vt:lpstr>
      <vt:lpstr>Biological neuron</vt:lpstr>
      <vt:lpstr>Biological neuron</vt:lpstr>
      <vt:lpstr>Biological neuron</vt:lpstr>
      <vt:lpstr>Biological neuron</vt:lpstr>
      <vt:lpstr>Biological neuron</vt:lpstr>
      <vt:lpstr>Biological neuron</vt:lpstr>
      <vt:lpstr>Biological neuron (hierarchy)</vt:lpstr>
      <vt:lpstr>Biological neuron (hierarchy)</vt:lpstr>
      <vt:lpstr>Biological neuron (hierarchy)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boolean functions using MP neuron ...</vt:lpstr>
      <vt:lpstr>boolean functions using MP neuron ...</vt:lpstr>
      <vt:lpstr>boolean functions using MP neuron ...</vt:lpstr>
      <vt:lpstr>boolean functions using MP neuron ...</vt:lpstr>
      <vt:lpstr>boolean functions using MP neuron ...</vt:lpstr>
      <vt:lpstr>boolean functions using MP neuron ...</vt:lpstr>
      <vt:lpstr>y ∈ {0, 1}</vt:lpstr>
      <vt:lpstr>PowerPoint Presentation</vt:lpstr>
      <vt:lpstr>y ∈ {0, 1}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Perceptron</vt:lpstr>
      <vt:lpstr>Perceptron</vt:lpstr>
      <vt:lpstr>Perceptron</vt:lpstr>
      <vt:lpstr>Perceptron</vt:lpstr>
      <vt:lpstr>Perceptron</vt:lpstr>
      <vt:lpstr>Answer the following questions</vt:lpstr>
      <vt:lpstr>Why do we need weights ?</vt:lpstr>
      <vt:lpstr>Why is w0 = −θ called the bias ?</vt:lpstr>
      <vt:lpstr>Why is w0 = −θ called the bias ?</vt:lpstr>
      <vt:lpstr>Perceptron vs McCulloch Pitts Neuron</vt:lpstr>
      <vt:lpstr>Perceptron vs McCulloch Pitts Neuron</vt:lpstr>
      <vt:lpstr>Learning the weights</vt:lpstr>
      <vt:lpstr>Errors and Error Surfaces Let us fix the threshold (−w0 = 1) and try differ-ent values of w1, w2</vt:lpstr>
      <vt:lpstr>Errors and Error Surfaces</vt:lpstr>
      <vt:lpstr>Errors and Error Surfaces</vt:lpstr>
      <vt:lpstr>Errors and Error Surfaces</vt:lpstr>
      <vt:lpstr>Learning weights: movie review</vt:lpstr>
      <vt:lpstr>Perceptron Learning Algorithm</vt:lpstr>
      <vt:lpstr>PowerPoint Presentation</vt:lpstr>
      <vt:lpstr>PowerPoint Presentation</vt:lpstr>
      <vt:lpstr>PowerPoint Presentation</vt:lpstr>
      <vt:lpstr>PowerPoint Presentation</vt:lpstr>
      <vt:lpstr>Algorithm: Perceptron Learning Algorithm</vt:lpstr>
      <vt:lpstr>Algorithm: Perceptron Learning Algorithm</vt:lpstr>
      <vt:lpstr>Algorithm: Perceptron Learning Algorithm</vt:lpstr>
      <vt:lpstr>PowerPoint Presentation</vt:lpstr>
      <vt:lpstr>PowerPoint Presentation</vt:lpstr>
      <vt:lpstr>Consider two vectors w and 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Algorithm: Perceptron Learning Algorithm</vt:lpstr>
      <vt:lpstr>Algorithm: Perceptron Learning Algorithm</vt:lpstr>
      <vt:lpstr>Algorithm: Perceptron Learning Algorithm</vt:lpstr>
      <vt:lpstr>Algorithm: Perceptron Learning Algorithm</vt:lpstr>
      <vt:lpstr>Algorithm: Perceptron Learning Algorithm</vt:lpstr>
      <vt:lpstr>Algorithm: Perceptron Learning Algorithm</vt:lpstr>
      <vt:lpstr>Algorithm: Perceptron Learning Algorithm</vt:lpstr>
      <vt:lpstr>Algorithm: Perceptron Learning Algorithm</vt:lpstr>
      <vt:lpstr>Algorithm: Perceptron Learning Algorithm</vt:lpstr>
      <vt:lpstr>Algorithm: Perceptron Learning Algorithm</vt:lpstr>
      <vt:lpstr>Algorithm: Perceptron Learning Algorithm</vt:lpstr>
      <vt:lpstr>Algorithm: Perceptron Learning Algorithm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Module 2.8: Representation Power of a Network of Perceptrons</vt:lpstr>
      <vt:lpstr>For this discussion, we will assume True = +1 and False = -1</vt:lpstr>
      <vt:lpstr>PowerPoint Presentation</vt:lpstr>
      <vt:lpstr>PowerPoint Presentation</vt:lpstr>
      <vt:lpstr>PowerPoint Presentation</vt:lpstr>
      <vt:lpstr>PowerPoint Presentation</vt:lpstr>
      <vt:lpstr>Terminology:</vt:lpstr>
      <vt:lpstr>Terminology:</vt:lpstr>
      <vt:lpstr>We claim that this network can be used to im-plement  any  boolean  function  (linearly separable or not) !</vt:lpstr>
      <vt:lpstr>We claim that this network can be used to im-</vt:lpstr>
      <vt:lpstr>We claim that this network can be used to im-</vt:lpstr>
      <vt:lpstr>We claim that this network can be used to im-</vt:lpstr>
      <vt:lpstr>We claim that this network can be used to im-</vt:lpstr>
      <vt:lpstr>We claim that this network can be used to im-</vt:lpstr>
      <vt:lpstr>We claim that this network can be used to im-</vt:lpstr>
      <vt:lpstr>We claim that this network can be used to im-</vt:lpstr>
      <vt:lpstr>Let w0 be the bias output of the neuron (i.e.,</vt:lpstr>
      <vt:lpstr>Let w0 be the bias output of the neuron (i.e.,</vt:lpstr>
      <vt:lpstr>Let w0 be the bias output of the neuron (i.e.,</vt:lpstr>
      <vt:lpstr>Let w0 be the bias output of the neuron (i.e.,</vt:lpstr>
      <vt:lpstr>Let w0 be the bias output of the neuron (i.e.,</vt:lpstr>
      <vt:lpstr>Let w0 be the bias output of the neuron (i.e.,</vt:lpstr>
      <vt:lpstr>Let w0 be the bias output of the neuron (i.e.,</vt:lpstr>
      <vt:lpstr>Let w0 be the bias output of the neuron (i.e.,</vt:lpstr>
      <vt:lpstr>It  should  be  clear  that  the  same network can be used to represent the remaining 15 boolean functions also</vt:lpstr>
      <vt:lpstr>It  should  be  clear  that  the  same network can be used to represent the remaining 15 boolean functions also</vt:lpstr>
      <vt:lpstr>PowerPoint Presentation</vt:lpstr>
      <vt:lpstr>Again each of the 8 perceptorns will fire only for one of the 8 inputs Each of the 8 weights in the second layer is responsible for one of the 8 inputs and can be adjusted to produce the desired output for that input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PJ</dc:creator>
  <cp:lastModifiedBy>Trinath</cp:lastModifiedBy>
  <cp:revision>5</cp:revision>
  <dcterms:created xsi:type="dcterms:W3CDTF">2026-07-28T06:52:42Z</dcterms:created>
  <dcterms:modified xsi:type="dcterms:W3CDTF">2026-07-28T07:28:19Z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2025-01-15T00:00:00Z</vt:filetime>
  </property>
  <property fmtid="{D5CDD505-2E9C-101B-9397-08002B2CF9AE}" pid="4" name="Creator">
    <vt:lpwstr>Microsoft® PowerPoint® 2019</vt:lpwstr>
  </property>
  <property fmtid="{D5CDD505-2E9C-101B-9397-08002B2CF9AE}" pid="5" name="LastSaved">
    <vt:filetime>2026-07-28T00:00:00Z</vt:filetime>
  </property>
  <property fmtid="{D5CDD505-2E9C-101B-9397-08002B2CF9AE}" pid="6" name="Producer">
    <vt:lpwstr>Microsoft® PowerPoint® 2019</vt:lpwstr>
  </property>
</Properties>
</file>