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15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33333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33333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676400"/>
            <a:ext cx="4419600" cy="609600"/>
          </a:xfrm>
          <a:custGeom>
            <a:avLst/>
            <a:gdLst/>
            <a:ahLst/>
            <a:cxnLst/>
            <a:rect l="l" t="t" r="r" b="b"/>
            <a:pathLst>
              <a:path w="4419600" h="609600">
                <a:moveTo>
                  <a:pt x="4419600" y="0"/>
                </a:moveTo>
                <a:lnTo>
                  <a:pt x="0" y="0"/>
                </a:lnTo>
                <a:lnTo>
                  <a:pt x="0" y="609600"/>
                </a:lnTo>
                <a:lnTo>
                  <a:pt x="4419600" y="609600"/>
                </a:lnTo>
                <a:lnTo>
                  <a:pt x="44196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447800" y="6629400"/>
            <a:ext cx="7696200" cy="228600"/>
          </a:xfrm>
          <a:custGeom>
            <a:avLst/>
            <a:gdLst/>
            <a:ahLst/>
            <a:cxnLst/>
            <a:rect l="l" t="t" r="r" b="b"/>
            <a:pathLst>
              <a:path w="7696200" h="228600">
                <a:moveTo>
                  <a:pt x="0" y="228600"/>
                </a:moveTo>
                <a:lnTo>
                  <a:pt x="7696200" y="228600"/>
                </a:lnTo>
                <a:lnTo>
                  <a:pt x="76962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EE8B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629400"/>
            <a:ext cx="1447800" cy="228600"/>
          </a:xfrm>
          <a:custGeom>
            <a:avLst/>
            <a:gdLst/>
            <a:ahLst/>
            <a:cxnLst/>
            <a:rect l="l" t="t" r="r" b="b"/>
            <a:pathLst>
              <a:path w="1447800" h="228600">
                <a:moveTo>
                  <a:pt x="1447800" y="0"/>
                </a:moveTo>
                <a:lnTo>
                  <a:pt x="0" y="0"/>
                </a:lnTo>
                <a:lnTo>
                  <a:pt x="0" y="228600"/>
                </a:lnTo>
                <a:lnTo>
                  <a:pt x="1447800" y="228600"/>
                </a:lnTo>
                <a:lnTo>
                  <a:pt x="14478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763" y="4762"/>
            <a:ext cx="9139555" cy="6853555"/>
          </a:xfrm>
          <a:custGeom>
            <a:avLst/>
            <a:gdLst/>
            <a:ahLst/>
            <a:cxnLst/>
            <a:rect l="l" t="t" r="r" b="b"/>
            <a:pathLst>
              <a:path w="9139555" h="6853555">
                <a:moveTo>
                  <a:pt x="9139236" y="0"/>
                </a:moveTo>
                <a:lnTo>
                  <a:pt x="0" y="0"/>
                </a:lnTo>
                <a:lnTo>
                  <a:pt x="0" y="6853237"/>
                </a:lnTo>
              </a:path>
            </a:pathLst>
          </a:custGeom>
          <a:ln w="508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838200"/>
          </a:xfrm>
          <a:custGeom>
            <a:avLst/>
            <a:gdLst/>
            <a:ahLst/>
            <a:cxnLst/>
            <a:rect l="l" t="t" r="r" b="b"/>
            <a:pathLst>
              <a:path w="9144000" h="838200">
                <a:moveTo>
                  <a:pt x="9144000" y="0"/>
                </a:moveTo>
                <a:lnTo>
                  <a:pt x="0" y="0"/>
                </a:lnTo>
                <a:lnTo>
                  <a:pt x="0" y="838200"/>
                </a:lnTo>
                <a:lnTo>
                  <a:pt x="9144000" y="838200"/>
                </a:lnTo>
                <a:lnTo>
                  <a:pt x="91440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447800" y="6629400"/>
            <a:ext cx="7696200" cy="228600"/>
          </a:xfrm>
          <a:custGeom>
            <a:avLst/>
            <a:gdLst/>
            <a:ahLst/>
            <a:cxnLst/>
            <a:rect l="l" t="t" r="r" b="b"/>
            <a:pathLst>
              <a:path w="7696200" h="228600">
                <a:moveTo>
                  <a:pt x="0" y="228600"/>
                </a:moveTo>
                <a:lnTo>
                  <a:pt x="7696200" y="228600"/>
                </a:lnTo>
                <a:lnTo>
                  <a:pt x="7696200" y="0"/>
                </a:lnTo>
                <a:lnTo>
                  <a:pt x="0" y="0"/>
                </a:lnTo>
                <a:lnTo>
                  <a:pt x="0" y="228600"/>
                </a:lnTo>
                <a:close/>
              </a:path>
            </a:pathLst>
          </a:custGeom>
          <a:solidFill>
            <a:srgbClr val="EE8B6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629400"/>
            <a:ext cx="1447800" cy="228600"/>
          </a:xfrm>
          <a:custGeom>
            <a:avLst/>
            <a:gdLst/>
            <a:ahLst/>
            <a:cxnLst/>
            <a:rect l="l" t="t" r="r" b="b"/>
            <a:pathLst>
              <a:path w="1447800" h="228600">
                <a:moveTo>
                  <a:pt x="1447800" y="0"/>
                </a:moveTo>
                <a:lnTo>
                  <a:pt x="0" y="0"/>
                </a:lnTo>
                <a:lnTo>
                  <a:pt x="0" y="228600"/>
                </a:lnTo>
                <a:lnTo>
                  <a:pt x="1447800" y="228600"/>
                </a:lnTo>
                <a:lnTo>
                  <a:pt x="1447800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763" y="4762"/>
            <a:ext cx="9139555" cy="6853555"/>
          </a:xfrm>
          <a:custGeom>
            <a:avLst/>
            <a:gdLst/>
            <a:ahLst/>
            <a:cxnLst/>
            <a:rect l="l" t="t" r="r" b="b"/>
            <a:pathLst>
              <a:path w="9139555" h="6853555">
                <a:moveTo>
                  <a:pt x="9139236" y="0"/>
                </a:moveTo>
                <a:lnTo>
                  <a:pt x="0" y="0"/>
                </a:lnTo>
                <a:lnTo>
                  <a:pt x="0" y="6853237"/>
                </a:lnTo>
              </a:path>
            </a:pathLst>
          </a:custGeom>
          <a:ln w="508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229599" y="0"/>
            <a:ext cx="895350" cy="8572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7657" y="256286"/>
            <a:ext cx="7346315" cy="575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7657" y="3407092"/>
            <a:ext cx="3963670" cy="1941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333333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04764" y="6660038"/>
            <a:ext cx="2797809" cy="206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38429" y="6646465"/>
            <a:ext cx="1171575" cy="2451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e.iitm.ac.in/~miteshk/CS7015_2018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abc.com/wp-content/uploads/2018/01/John-maccarthy-marvin-minsky-claude-shannon-ray-solomonoff-alan-newell-herbert-simon-arthur-samuel-oliver-selfridge-nathaniel-rochester-trenchard-more-the-founding-fathers-of-ai.webp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image-net.org/challenges/LSVRC/2010/browse-synsets.php" TargetMode="External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mage-net.org/challenges/LSVRC/2010/#introduction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appyhigh-technology-blog/convolutional-neural-networks-a-brief-history-of-their-" TargetMode="External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binsights.com/research/artificial-intelligence-top-startups/" TargetMode="External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20636" y="-20637"/>
            <a:ext cx="9190355" cy="6904355"/>
            <a:chOff x="-20636" y="-20637"/>
            <a:chExt cx="9190355" cy="6904355"/>
          </a:xfrm>
        </p:grpSpPr>
        <p:sp>
          <p:nvSpPr>
            <p:cNvPr id="3" name="object 3"/>
            <p:cNvSpPr/>
            <p:nvPr/>
          </p:nvSpPr>
          <p:spPr>
            <a:xfrm>
              <a:off x="0" y="838200"/>
              <a:ext cx="9144000" cy="1295400"/>
            </a:xfrm>
            <a:custGeom>
              <a:avLst/>
              <a:gdLst/>
              <a:ahLst/>
              <a:cxnLst/>
              <a:rect l="l" t="t" r="r" b="b"/>
              <a:pathLst>
                <a:path w="9144000" h="1295400">
                  <a:moveTo>
                    <a:pt x="9144000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9144000" y="129540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763" y="4762"/>
              <a:ext cx="9139555" cy="6853555"/>
            </a:xfrm>
            <a:custGeom>
              <a:avLst/>
              <a:gdLst/>
              <a:ahLst/>
              <a:cxnLst/>
              <a:rect l="l" t="t" r="r" b="b"/>
              <a:pathLst>
                <a:path w="9139555" h="6853555">
                  <a:moveTo>
                    <a:pt x="9139236" y="0"/>
                  </a:moveTo>
                  <a:lnTo>
                    <a:pt x="0" y="0"/>
                  </a:lnTo>
                  <a:lnTo>
                    <a:pt x="0" y="6853237"/>
                  </a:lnTo>
                </a:path>
              </a:pathLst>
            </a:custGeom>
            <a:ln w="508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998345" y="874077"/>
            <a:ext cx="5002530" cy="11766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4250" dirty="0"/>
              <a:t>Deep</a:t>
            </a:r>
            <a:r>
              <a:rPr sz="4250" spc="80" dirty="0"/>
              <a:t> </a:t>
            </a:r>
            <a:r>
              <a:rPr sz="4250" spc="-10" dirty="0"/>
              <a:t>Learning</a:t>
            </a:r>
            <a:endParaRPr sz="4250" dirty="0"/>
          </a:p>
          <a:p>
            <a:pPr algn="ctr">
              <a:lnSpc>
                <a:spcPct val="100000"/>
              </a:lnSpc>
              <a:spcBef>
                <a:spcPts val="85"/>
              </a:spcBef>
            </a:pPr>
            <a:r>
              <a:rPr sz="3200" dirty="0"/>
              <a:t>Introduction</a:t>
            </a:r>
            <a:r>
              <a:rPr sz="3200" spc="-80" dirty="0"/>
              <a:t> </a:t>
            </a:r>
            <a:r>
              <a:rPr sz="3200" dirty="0"/>
              <a:t>to</a:t>
            </a:r>
            <a:r>
              <a:rPr sz="3200" spc="-85" dirty="0"/>
              <a:t> </a:t>
            </a:r>
            <a:r>
              <a:rPr sz="3200" dirty="0"/>
              <a:t>Deep</a:t>
            </a:r>
            <a:r>
              <a:rPr sz="3200" spc="-80" dirty="0"/>
              <a:t> </a:t>
            </a:r>
            <a:r>
              <a:rPr sz="3200" spc="-10" dirty="0"/>
              <a:t>Learning</a:t>
            </a:r>
            <a:endParaRPr sz="3200" dirty="0"/>
          </a:p>
        </p:txBody>
      </p:sp>
      <p:pic>
        <p:nvPicPr>
          <p:cNvPr id="6" name="object 6" descr="C:\Users\PUNEET\Dropbox\Nit Rourkela\logo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800" y="2362200"/>
            <a:ext cx="2133600" cy="20574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833626" y="4535487"/>
            <a:ext cx="5250815" cy="79316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3495"/>
              </a:spcBef>
            </a:pPr>
            <a:r>
              <a:rPr sz="2400" dirty="0" smtClean="0">
                <a:latin typeface="Calibri"/>
                <a:cs typeface="Calibri"/>
              </a:rPr>
              <a:t>CSE</a:t>
            </a:r>
            <a:r>
              <a:rPr sz="2400" spc="5" dirty="0" smtClean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Department</a:t>
            </a:r>
            <a:endParaRPr sz="2400" dirty="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275"/>
              </a:spcBef>
            </a:pPr>
            <a:r>
              <a:rPr sz="2400" b="1" dirty="0">
                <a:latin typeface="Calibri"/>
                <a:cs typeface="Calibri"/>
              </a:rPr>
              <a:t>National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Institute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 </a:t>
            </a:r>
            <a:r>
              <a:rPr sz="2400" b="1" spc="-25" dirty="0">
                <a:latin typeface="Calibri"/>
                <a:cs typeface="Calibri"/>
              </a:rPr>
              <a:t>Technology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Rourkela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857" y="927735"/>
            <a:ext cx="8545830" cy="24815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Slides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are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prepared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from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following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major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sources:</a:t>
            </a:r>
            <a:endParaRPr sz="2400">
              <a:latin typeface="Calibri"/>
              <a:cs typeface="Calibri"/>
            </a:endParaRPr>
          </a:p>
          <a:p>
            <a:pPr marL="355600" marR="12700" indent="-343535">
              <a:lnSpc>
                <a:spcPct val="114799"/>
              </a:lnSpc>
              <a:spcBef>
                <a:spcPts val="1575"/>
              </a:spcBef>
              <a:buFont typeface="Wingdings"/>
              <a:buChar char=""/>
              <a:tabLst>
                <a:tab pos="355600" algn="l"/>
                <a:tab pos="2350135" algn="l"/>
                <a:tab pos="3761104" algn="l"/>
                <a:tab pos="4246880" algn="l"/>
                <a:tab pos="5311140" algn="l"/>
                <a:tab pos="5838190" algn="l"/>
                <a:tab pos="6994525" algn="l"/>
                <a:tab pos="7486650" algn="l"/>
              </a:tabLst>
            </a:pPr>
            <a:r>
              <a:rPr sz="2400" b="1" spc="-10" dirty="0">
                <a:latin typeface="Calibri"/>
                <a:cs typeface="Calibri"/>
              </a:rPr>
              <a:t>“CS7105-</a:t>
            </a:r>
            <a:r>
              <a:rPr sz="2400" b="1" spc="-20" dirty="0">
                <a:latin typeface="Calibri"/>
                <a:cs typeface="Calibri"/>
              </a:rPr>
              <a:t>Deep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10" dirty="0">
                <a:latin typeface="Calibri"/>
                <a:cs typeface="Calibri"/>
              </a:rPr>
              <a:t>Learning”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5" dirty="0">
                <a:latin typeface="Calibri"/>
                <a:cs typeface="Calibri"/>
              </a:rPr>
              <a:t>by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10" dirty="0">
                <a:latin typeface="Calibri"/>
                <a:cs typeface="Calibri"/>
              </a:rPr>
              <a:t>Mitesh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5" dirty="0">
                <a:latin typeface="Calibri"/>
                <a:cs typeface="Calibri"/>
              </a:rPr>
              <a:t>M.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10" dirty="0">
                <a:latin typeface="Calibri"/>
                <a:cs typeface="Calibri"/>
              </a:rPr>
              <a:t>Khapra,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5" dirty="0">
                <a:latin typeface="Calibri"/>
                <a:cs typeface="Calibri"/>
              </a:rPr>
              <a:t>IIT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0" dirty="0">
                <a:latin typeface="Calibri"/>
                <a:cs typeface="Calibri"/>
              </a:rPr>
              <a:t>Madras. </a:t>
            </a:r>
            <a:r>
              <a:rPr sz="2400" b="1" u="sng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Calibri"/>
                <a:cs typeface="Calibri"/>
                <a:hlinkClick r:id="rId2"/>
              </a:rPr>
              <a:t>http://www.cse.iitm.ac.in/~miteshk/CS7015_2018.html</a:t>
            </a:r>
            <a:endParaRPr sz="2400">
              <a:latin typeface="Calibri"/>
              <a:cs typeface="Calibri"/>
            </a:endParaRPr>
          </a:p>
          <a:p>
            <a:pPr marL="355600" marR="5080" indent="-343535">
              <a:lnSpc>
                <a:spcPct val="114799"/>
              </a:lnSpc>
              <a:spcBef>
                <a:spcPts val="1650"/>
              </a:spcBef>
              <a:buFont typeface="Wingdings"/>
              <a:buChar char=""/>
              <a:tabLst>
                <a:tab pos="355600" algn="l"/>
                <a:tab pos="1371600" algn="l"/>
                <a:tab pos="3262629" algn="l"/>
                <a:tab pos="4117975" algn="l"/>
                <a:tab pos="5329555" algn="l"/>
                <a:tab pos="5761990" algn="l"/>
                <a:tab pos="6754495" algn="l"/>
                <a:tab pos="8187055" algn="l"/>
              </a:tabLst>
            </a:pPr>
            <a:r>
              <a:rPr sz="2400" spc="-10" dirty="0">
                <a:latin typeface="Calibri"/>
                <a:cs typeface="Calibri"/>
              </a:rPr>
              <a:t>Jürgen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Schmidhuber.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Deep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learning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in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neural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networks: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An </a:t>
            </a:r>
            <a:r>
              <a:rPr sz="2400" spc="-20" dirty="0">
                <a:latin typeface="Calibri"/>
                <a:cs typeface="Calibri"/>
              </a:rPr>
              <a:t>overview.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Neural</a:t>
            </a:r>
            <a:r>
              <a:rPr sz="2400" i="1" spc="-5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Networks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61:85–</a:t>
            </a:r>
            <a:r>
              <a:rPr sz="2400" dirty="0">
                <a:latin typeface="Calibri"/>
                <a:cs typeface="Calibri"/>
              </a:rPr>
              <a:t>117,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2015.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spc="-10" dirty="0"/>
              <a:t>References:</a:t>
            </a:r>
            <a:endParaRPr sz="395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Biological</a:t>
            </a:r>
            <a:r>
              <a:rPr sz="3950" spc="50" dirty="0"/>
              <a:t> </a:t>
            </a:r>
            <a:r>
              <a:rPr sz="3950" spc="-10" dirty="0"/>
              <a:t>Neurons</a:t>
            </a:r>
            <a:endParaRPr sz="39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1447800"/>
            <a:ext cx="8991600" cy="46672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Biological</a:t>
            </a:r>
            <a:r>
              <a:rPr sz="3950" spc="50" dirty="0"/>
              <a:t> </a:t>
            </a:r>
            <a:r>
              <a:rPr sz="3950" spc="-10" dirty="0"/>
              <a:t>Neurons</a:t>
            </a:r>
            <a:endParaRPr sz="39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" y="1295400"/>
            <a:ext cx="8972550" cy="47910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Biological</a:t>
            </a:r>
            <a:r>
              <a:rPr sz="3950" spc="50" dirty="0"/>
              <a:t> </a:t>
            </a:r>
            <a:r>
              <a:rPr sz="3950" spc="-10" dirty="0"/>
              <a:t>Neurons</a:t>
            </a:r>
            <a:endParaRPr sz="39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1438275"/>
            <a:ext cx="9010650" cy="46767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859914" y="6220142"/>
            <a:ext cx="531622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latin typeface="Calibri"/>
                <a:cs typeface="Calibri"/>
              </a:rPr>
              <a:t>Same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person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also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coined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termed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chromosome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Biological</a:t>
            </a:r>
            <a:r>
              <a:rPr sz="3950" spc="50" dirty="0"/>
              <a:t> </a:t>
            </a:r>
            <a:r>
              <a:rPr sz="3950" spc="-10" dirty="0"/>
              <a:t>Neurons</a:t>
            </a:r>
            <a:endParaRPr sz="39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1295400"/>
            <a:ext cx="9010650" cy="48768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Biological</a:t>
            </a:r>
            <a:r>
              <a:rPr sz="3950" spc="50" dirty="0"/>
              <a:t> </a:t>
            </a:r>
            <a:r>
              <a:rPr sz="3950" spc="-10" dirty="0"/>
              <a:t>Neurons</a:t>
            </a:r>
            <a:endParaRPr sz="39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647825"/>
            <a:ext cx="8953500" cy="45243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857" y="899160"/>
            <a:ext cx="8382634" cy="7550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ts val="2865"/>
              </a:lnSpc>
              <a:spcBef>
                <a:spcPts val="105"/>
              </a:spcBef>
              <a:buClr>
                <a:srgbClr val="1F2023"/>
              </a:buClr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solidFill>
                  <a:srgbClr val="1F2023"/>
                </a:solidFill>
                <a:latin typeface="Calibri"/>
                <a:cs typeface="Calibri"/>
              </a:rPr>
              <a:t>In</a:t>
            </a:r>
            <a:r>
              <a:rPr sz="2400" spc="459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2023"/>
                </a:solidFill>
                <a:latin typeface="Calibri"/>
                <a:cs typeface="Calibri"/>
              </a:rPr>
              <a:t>the</a:t>
            </a:r>
            <a:r>
              <a:rPr sz="2400" spc="44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2023"/>
                </a:solidFill>
                <a:latin typeface="Calibri"/>
                <a:cs typeface="Calibri"/>
              </a:rPr>
              <a:t>history</a:t>
            </a:r>
            <a:r>
              <a:rPr sz="2400" spc="46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2023"/>
                </a:solidFill>
                <a:latin typeface="Calibri"/>
                <a:cs typeface="Calibri"/>
              </a:rPr>
              <a:t>of</a:t>
            </a:r>
            <a:r>
              <a:rPr sz="2400" spc="45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2023"/>
                </a:solidFill>
                <a:latin typeface="Calibri"/>
                <a:cs typeface="Calibri"/>
              </a:rPr>
              <a:t>AI,</a:t>
            </a:r>
            <a:r>
              <a:rPr sz="2400" spc="42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2023"/>
                </a:solidFill>
                <a:latin typeface="Calibri"/>
                <a:cs typeface="Calibri"/>
              </a:rPr>
              <a:t>the</a:t>
            </a:r>
            <a:r>
              <a:rPr sz="2400" spc="44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2023"/>
                </a:solidFill>
                <a:latin typeface="Calibri"/>
                <a:cs typeface="Calibri"/>
              </a:rPr>
              <a:t>dominant</a:t>
            </a:r>
            <a:r>
              <a:rPr sz="2400" spc="49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2023"/>
                </a:solidFill>
                <a:latin typeface="Calibri"/>
                <a:cs typeface="Calibri"/>
              </a:rPr>
              <a:t>narrative</a:t>
            </a:r>
            <a:r>
              <a:rPr sz="2400" spc="46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2023"/>
                </a:solidFill>
                <a:latin typeface="Calibri"/>
                <a:cs typeface="Calibri"/>
              </a:rPr>
              <a:t>swings</a:t>
            </a:r>
            <a:r>
              <a:rPr sz="2400" spc="49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2023"/>
                </a:solidFill>
                <a:latin typeface="Calibri"/>
                <a:cs typeface="Calibri"/>
              </a:rPr>
              <a:t>back</a:t>
            </a:r>
            <a:r>
              <a:rPr sz="2400" spc="434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F2023"/>
                </a:solidFill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ts val="2865"/>
              </a:lnSpc>
            </a:pPr>
            <a:r>
              <a:rPr sz="2400" dirty="0">
                <a:solidFill>
                  <a:srgbClr val="1F2023"/>
                </a:solidFill>
                <a:latin typeface="Calibri"/>
                <a:cs typeface="Calibri"/>
              </a:rPr>
              <a:t>forth</a:t>
            </a:r>
            <a:r>
              <a:rPr sz="2400" spc="-6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2023"/>
                </a:solidFill>
                <a:latin typeface="Calibri"/>
                <a:cs typeface="Calibri"/>
              </a:rPr>
              <a:t>between</a:t>
            </a:r>
            <a:r>
              <a:rPr sz="2400" spc="-5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2023"/>
                </a:solidFill>
                <a:latin typeface="Calibri"/>
                <a:cs typeface="Calibri"/>
              </a:rPr>
              <a:t>periods</a:t>
            </a:r>
            <a:r>
              <a:rPr sz="2400" spc="-4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2023"/>
                </a:solidFill>
                <a:latin typeface="Calibri"/>
                <a:cs typeface="Calibri"/>
              </a:rPr>
              <a:t>of</a:t>
            </a:r>
            <a:r>
              <a:rPr sz="2400" spc="-55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2023"/>
                </a:solidFill>
                <a:latin typeface="Calibri"/>
                <a:cs typeface="Calibri"/>
              </a:rPr>
              <a:t>“spring”</a:t>
            </a:r>
            <a:r>
              <a:rPr sz="2400" spc="-7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2023"/>
                </a:solidFill>
                <a:latin typeface="Calibri"/>
                <a:cs typeface="Calibri"/>
              </a:rPr>
              <a:t>and</a:t>
            </a:r>
            <a:r>
              <a:rPr sz="2400" spc="-30" dirty="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F2023"/>
                </a:solidFill>
                <a:latin typeface="Calibri"/>
                <a:cs typeface="Calibri"/>
              </a:rPr>
              <a:t>“winter”: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99210" y="1628457"/>
            <a:ext cx="2887980" cy="76962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000" b="1" dirty="0">
                <a:solidFill>
                  <a:srgbClr val="040C28"/>
                </a:solidFill>
                <a:latin typeface="Calibri"/>
                <a:cs typeface="Calibri"/>
              </a:rPr>
              <a:t>First</a:t>
            </a:r>
            <a:r>
              <a:rPr sz="2000" b="1" spc="-25" dirty="0">
                <a:solidFill>
                  <a:srgbClr val="040C2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40C28"/>
                </a:solidFill>
                <a:latin typeface="Calibri"/>
                <a:cs typeface="Calibri"/>
              </a:rPr>
              <a:t>Spring</a:t>
            </a:r>
            <a:r>
              <a:rPr sz="2000" b="1" spc="-60" dirty="0">
                <a:solidFill>
                  <a:srgbClr val="040C28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40C28"/>
                </a:solidFill>
                <a:latin typeface="Calibri"/>
                <a:cs typeface="Calibri"/>
              </a:rPr>
              <a:t>(1956–1974),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000" b="1" dirty="0">
                <a:solidFill>
                  <a:srgbClr val="040C28"/>
                </a:solidFill>
                <a:latin typeface="Calibri"/>
                <a:cs typeface="Calibri"/>
              </a:rPr>
              <a:t>Second</a:t>
            </a:r>
            <a:r>
              <a:rPr sz="2000" b="1" spc="-20" dirty="0">
                <a:solidFill>
                  <a:srgbClr val="040C2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40C28"/>
                </a:solidFill>
                <a:latin typeface="Calibri"/>
                <a:cs typeface="Calibri"/>
              </a:rPr>
              <a:t>Spring</a:t>
            </a:r>
            <a:r>
              <a:rPr sz="2000" b="1" spc="-40" dirty="0">
                <a:solidFill>
                  <a:srgbClr val="040C28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40C28"/>
                </a:solidFill>
                <a:latin typeface="Calibri"/>
                <a:cs typeface="Calibri"/>
              </a:rPr>
              <a:t>(1981–</a:t>
            </a:r>
            <a:r>
              <a:rPr sz="2000" b="1" spc="-20" dirty="0">
                <a:solidFill>
                  <a:srgbClr val="040C28"/>
                </a:solidFill>
                <a:latin typeface="Calibri"/>
                <a:cs typeface="Calibri"/>
              </a:rPr>
              <a:t>1987)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60620" y="1628457"/>
            <a:ext cx="2950845" cy="76962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000" b="1" dirty="0">
                <a:solidFill>
                  <a:srgbClr val="040C28"/>
                </a:solidFill>
                <a:latin typeface="Calibri"/>
                <a:cs typeface="Calibri"/>
              </a:rPr>
              <a:t>First</a:t>
            </a:r>
            <a:r>
              <a:rPr sz="2000" b="1" spc="-90" dirty="0">
                <a:solidFill>
                  <a:srgbClr val="040C2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40C28"/>
                </a:solidFill>
                <a:latin typeface="Calibri"/>
                <a:cs typeface="Calibri"/>
              </a:rPr>
              <a:t>Winter</a:t>
            </a:r>
            <a:r>
              <a:rPr sz="2000" b="1" spc="-40" dirty="0">
                <a:solidFill>
                  <a:srgbClr val="040C28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40C28"/>
                </a:solidFill>
                <a:latin typeface="Calibri"/>
                <a:cs typeface="Calibri"/>
              </a:rPr>
              <a:t>(1974–</a:t>
            </a:r>
            <a:r>
              <a:rPr sz="2000" b="1" spc="-20" dirty="0">
                <a:solidFill>
                  <a:srgbClr val="040C28"/>
                </a:solidFill>
                <a:latin typeface="Calibri"/>
                <a:cs typeface="Calibri"/>
              </a:rPr>
              <a:t>1981)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000" b="1" dirty="0">
                <a:solidFill>
                  <a:srgbClr val="040C28"/>
                </a:solidFill>
                <a:latin typeface="Calibri"/>
                <a:cs typeface="Calibri"/>
              </a:rPr>
              <a:t>Second</a:t>
            </a:r>
            <a:r>
              <a:rPr sz="2000" b="1" spc="-80" dirty="0">
                <a:solidFill>
                  <a:srgbClr val="040C2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40C28"/>
                </a:solidFill>
                <a:latin typeface="Calibri"/>
                <a:cs typeface="Calibri"/>
              </a:rPr>
              <a:t>Winter</a:t>
            </a:r>
            <a:r>
              <a:rPr sz="2000" b="1" spc="-20" dirty="0">
                <a:solidFill>
                  <a:srgbClr val="040C28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40C28"/>
                </a:solidFill>
                <a:latin typeface="Calibri"/>
                <a:cs typeface="Calibri"/>
              </a:rPr>
              <a:t>(1987–</a:t>
            </a:r>
            <a:r>
              <a:rPr sz="2000" b="1" spc="-20" dirty="0">
                <a:solidFill>
                  <a:srgbClr val="040C28"/>
                </a:solidFill>
                <a:latin typeface="Calibri"/>
                <a:cs typeface="Calibri"/>
              </a:rPr>
              <a:t>1993)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From</a:t>
            </a:r>
            <a:r>
              <a:rPr sz="3950" spc="20" dirty="0"/>
              <a:t> </a:t>
            </a:r>
            <a:r>
              <a:rPr sz="3950" dirty="0"/>
              <a:t>Spring</a:t>
            </a:r>
            <a:r>
              <a:rPr sz="3950" spc="45" dirty="0"/>
              <a:t> </a:t>
            </a:r>
            <a:r>
              <a:rPr sz="3950" dirty="0"/>
              <a:t>to</a:t>
            </a:r>
            <a:r>
              <a:rPr sz="3950" spc="-30" dirty="0"/>
              <a:t> </a:t>
            </a:r>
            <a:r>
              <a:rPr sz="3950" dirty="0"/>
              <a:t>Winter</a:t>
            </a:r>
            <a:r>
              <a:rPr sz="3950" spc="10" dirty="0"/>
              <a:t> </a:t>
            </a:r>
            <a:r>
              <a:rPr sz="3950" dirty="0"/>
              <a:t>of</a:t>
            </a:r>
            <a:r>
              <a:rPr sz="3950" spc="-25" dirty="0"/>
              <a:t> AI</a:t>
            </a:r>
            <a:endParaRPr sz="395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2571750"/>
            <a:ext cx="7162800" cy="398145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857" y="899160"/>
            <a:ext cx="558355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Arial MT"/>
                <a:cs typeface="Arial MT"/>
              </a:rPr>
              <a:t>“Artificial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Intelligence”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term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was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coined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Dartmouth</a:t>
            </a:r>
            <a:r>
              <a:rPr sz="3950" spc="-25" dirty="0"/>
              <a:t> </a:t>
            </a:r>
            <a:r>
              <a:rPr sz="3950" dirty="0"/>
              <a:t>conference:</a:t>
            </a:r>
            <a:r>
              <a:rPr sz="3950" spc="25" dirty="0"/>
              <a:t> </a:t>
            </a:r>
            <a:r>
              <a:rPr sz="3950" spc="-20" dirty="0"/>
              <a:t>1956</a:t>
            </a:r>
            <a:endParaRPr sz="3950"/>
          </a:p>
        </p:txBody>
      </p:sp>
      <p:pic>
        <p:nvPicPr>
          <p:cNvPr id="4" name="object 4" descr="Exploring the significance of the Dartmouth workshop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675" y="1266825"/>
            <a:ext cx="7943850" cy="50196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3857" y="6282690"/>
            <a:ext cx="26098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6B6B6B"/>
                </a:solidFill>
                <a:latin typeface="Calibri"/>
                <a:cs typeface="Calibri"/>
              </a:rPr>
              <a:t>Courtesy</a:t>
            </a:r>
            <a:r>
              <a:rPr sz="1800" spc="-2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6B6B6B"/>
                </a:solidFill>
                <a:latin typeface="Calibri"/>
                <a:cs typeface="Calibri"/>
              </a:rPr>
              <a:t>of</a:t>
            </a:r>
            <a:r>
              <a:rPr sz="1800" spc="1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800" u="heavy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latin typeface="Calibri"/>
                <a:cs typeface="Calibri"/>
                <a:hlinkClick r:id="rId3"/>
              </a:rPr>
              <a:t>scienceabc.com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From</a:t>
            </a:r>
            <a:r>
              <a:rPr sz="3950" spc="20" dirty="0"/>
              <a:t> </a:t>
            </a:r>
            <a:r>
              <a:rPr sz="3950" dirty="0"/>
              <a:t>Spring</a:t>
            </a:r>
            <a:r>
              <a:rPr sz="3950" spc="45" dirty="0"/>
              <a:t> </a:t>
            </a:r>
            <a:r>
              <a:rPr sz="3950" dirty="0"/>
              <a:t>to</a:t>
            </a:r>
            <a:r>
              <a:rPr sz="3950" spc="-30" dirty="0"/>
              <a:t> </a:t>
            </a:r>
            <a:r>
              <a:rPr sz="3950" dirty="0"/>
              <a:t>Winter</a:t>
            </a:r>
            <a:r>
              <a:rPr sz="3950" spc="10" dirty="0"/>
              <a:t> </a:t>
            </a:r>
            <a:r>
              <a:rPr sz="3950" dirty="0"/>
              <a:t>of</a:t>
            </a:r>
            <a:r>
              <a:rPr sz="3950" spc="-25" dirty="0"/>
              <a:t> AI</a:t>
            </a:r>
            <a:endParaRPr sz="39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1371600"/>
            <a:ext cx="8991600" cy="47339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From</a:t>
            </a:r>
            <a:r>
              <a:rPr sz="3950" spc="20" dirty="0"/>
              <a:t> </a:t>
            </a:r>
            <a:r>
              <a:rPr sz="3950" dirty="0"/>
              <a:t>Spring</a:t>
            </a:r>
            <a:r>
              <a:rPr sz="3950" spc="45" dirty="0"/>
              <a:t> </a:t>
            </a:r>
            <a:r>
              <a:rPr sz="3950" dirty="0"/>
              <a:t>to</a:t>
            </a:r>
            <a:r>
              <a:rPr sz="3950" spc="-30" dirty="0"/>
              <a:t> </a:t>
            </a:r>
            <a:r>
              <a:rPr sz="3950" dirty="0"/>
              <a:t>Winter</a:t>
            </a:r>
            <a:r>
              <a:rPr sz="3950" spc="10" dirty="0"/>
              <a:t> </a:t>
            </a:r>
            <a:r>
              <a:rPr sz="3950" dirty="0"/>
              <a:t>of</a:t>
            </a:r>
            <a:r>
              <a:rPr sz="3950" spc="-25" dirty="0"/>
              <a:t> AI</a:t>
            </a:r>
            <a:endParaRPr sz="39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1400175"/>
            <a:ext cx="8991600" cy="46958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From</a:t>
            </a:r>
            <a:r>
              <a:rPr sz="3950" spc="20" dirty="0"/>
              <a:t> </a:t>
            </a:r>
            <a:r>
              <a:rPr sz="3950" dirty="0"/>
              <a:t>Spring</a:t>
            </a:r>
            <a:r>
              <a:rPr sz="3950" spc="45" dirty="0"/>
              <a:t> </a:t>
            </a:r>
            <a:r>
              <a:rPr sz="3950" dirty="0"/>
              <a:t>to</a:t>
            </a:r>
            <a:r>
              <a:rPr sz="3950" spc="-30" dirty="0"/>
              <a:t> </a:t>
            </a:r>
            <a:r>
              <a:rPr sz="3950" dirty="0"/>
              <a:t>Winter</a:t>
            </a:r>
            <a:r>
              <a:rPr sz="3950" spc="10" dirty="0"/>
              <a:t> </a:t>
            </a:r>
            <a:r>
              <a:rPr sz="3950" dirty="0"/>
              <a:t>of</a:t>
            </a:r>
            <a:r>
              <a:rPr sz="3950" spc="-25" dirty="0"/>
              <a:t> AI</a:t>
            </a:r>
            <a:endParaRPr sz="39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1400175"/>
            <a:ext cx="8953500" cy="47720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From</a:t>
            </a:r>
            <a:r>
              <a:rPr sz="3950" spc="20" dirty="0"/>
              <a:t> </a:t>
            </a:r>
            <a:r>
              <a:rPr sz="3950" dirty="0"/>
              <a:t>Spring</a:t>
            </a:r>
            <a:r>
              <a:rPr sz="3950" spc="45" dirty="0"/>
              <a:t> </a:t>
            </a:r>
            <a:r>
              <a:rPr sz="3950" dirty="0"/>
              <a:t>to</a:t>
            </a:r>
            <a:r>
              <a:rPr sz="3950" spc="-30" dirty="0"/>
              <a:t> </a:t>
            </a:r>
            <a:r>
              <a:rPr sz="3950" dirty="0"/>
              <a:t>Winter</a:t>
            </a:r>
            <a:r>
              <a:rPr sz="3950" spc="10" dirty="0"/>
              <a:t> </a:t>
            </a:r>
            <a:r>
              <a:rPr sz="3950" dirty="0"/>
              <a:t>of</a:t>
            </a:r>
            <a:r>
              <a:rPr sz="3950" spc="-25" dirty="0"/>
              <a:t> AI</a:t>
            </a:r>
            <a:endParaRPr sz="39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1219200"/>
            <a:ext cx="8991600" cy="50577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From</a:t>
            </a:r>
            <a:r>
              <a:rPr sz="3950" spc="20" dirty="0"/>
              <a:t> </a:t>
            </a:r>
            <a:r>
              <a:rPr sz="3950" dirty="0"/>
              <a:t>Spring</a:t>
            </a:r>
            <a:r>
              <a:rPr sz="3950" spc="45" dirty="0"/>
              <a:t> </a:t>
            </a:r>
            <a:r>
              <a:rPr sz="3950" dirty="0"/>
              <a:t>to</a:t>
            </a:r>
            <a:r>
              <a:rPr sz="3950" spc="-30" dirty="0"/>
              <a:t> </a:t>
            </a:r>
            <a:r>
              <a:rPr sz="3950" dirty="0"/>
              <a:t>Winter</a:t>
            </a:r>
            <a:r>
              <a:rPr sz="3950" spc="10" dirty="0"/>
              <a:t> </a:t>
            </a:r>
            <a:r>
              <a:rPr sz="3950" dirty="0"/>
              <a:t>of</a:t>
            </a:r>
            <a:r>
              <a:rPr sz="3950" spc="-25" dirty="0"/>
              <a:t> AI</a:t>
            </a:r>
            <a:endParaRPr sz="39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1247775"/>
            <a:ext cx="8991600" cy="50006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From</a:t>
            </a:r>
            <a:r>
              <a:rPr sz="3950" spc="20" dirty="0"/>
              <a:t> </a:t>
            </a:r>
            <a:r>
              <a:rPr sz="3950" dirty="0"/>
              <a:t>Spring</a:t>
            </a:r>
            <a:r>
              <a:rPr sz="3950" spc="45" dirty="0"/>
              <a:t> </a:t>
            </a:r>
            <a:r>
              <a:rPr sz="3950" dirty="0"/>
              <a:t>to</a:t>
            </a:r>
            <a:r>
              <a:rPr sz="3950" spc="-30" dirty="0"/>
              <a:t> </a:t>
            </a:r>
            <a:r>
              <a:rPr sz="3950" dirty="0"/>
              <a:t>Winter</a:t>
            </a:r>
            <a:r>
              <a:rPr sz="3950" spc="10" dirty="0"/>
              <a:t> </a:t>
            </a:r>
            <a:r>
              <a:rPr sz="3950" dirty="0"/>
              <a:t>of</a:t>
            </a:r>
            <a:r>
              <a:rPr sz="3950" spc="-25" dirty="0"/>
              <a:t> AI</a:t>
            </a:r>
            <a:endParaRPr sz="39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1238250"/>
            <a:ext cx="8991600" cy="50101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The</a:t>
            </a:r>
            <a:r>
              <a:rPr sz="3950" spc="35" dirty="0"/>
              <a:t> </a:t>
            </a:r>
            <a:r>
              <a:rPr sz="3950" dirty="0"/>
              <a:t>Deep </a:t>
            </a:r>
            <a:r>
              <a:rPr sz="3950" spc="-10" dirty="0"/>
              <a:t>Revival</a:t>
            </a:r>
            <a:endParaRPr sz="39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219200"/>
            <a:ext cx="8629650" cy="50292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The</a:t>
            </a:r>
            <a:r>
              <a:rPr sz="3950" spc="35" dirty="0"/>
              <a:t> </a:t>
            </a:r>
            <a:r>
              <a:rPr sz="3950" dirty="0"/>
              <a:t>Deep </a:t>
            </a:r>
            <a:r>
              <a:rPr sz="3950" spc="-10" dirty="0"/>
              <a:t>Revival</a:t>
            </a:r>
            <a:endParaRPr sz="39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" y="1590675"/>
            <a:ext cx="9048750" cy="44291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683130"/>
            <a:ext cx="238379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"/>
              </a:spcBef>
              <a:buClr>
                <a:srgbClr val="FFFFFF"/>
              </a:buClr>
              <a:buFont typeface="Arial MT"/>
              <a:buChar char="•"/>
              <a:tabLst>
                <a:tab pos="354965" algn="l"/>
              </a:tabLst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Cats</a:t>
            </a:r>
            <a:r>
              <a:rPr sz="32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32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25" dirty="0">
                <a:solidFill>
                  <a:srgbClr val="FFFFFF"/>
                </a:solidFill>
                <a:latin typeface="Calibri"/>
                <a:cs typeface="Calibri"/>
              </a:rPr>
              <a:t>CNN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From</a:t>
            </a:r>
            <a:r>
              <a:rPr spc="-85" dirty="0"/>
              <a:t> </a:t>
            </a:r>
            <a:r>
              <a:rPr dirty="0"/>
              <a:t>Cats</a:t>
            </a:r>
            <a:r>
              <a:rPr spc="-120" dirty="0"/>
              <a:t> </a:t>
            </a:r>
            <a:r>
              <a:rPr dirty="0"/>
              <a:t>to</a:t>
            </a:r>
            <a:r>
              <a:rPr spc="-80" dirty="0"/>
              <a:t> </a:t>
            </a:r>
            <a:r>
              <a:rPr dirty="0"/>
              <a:t>Convolutional</a:t>
            </a:r>
            <a:r>
              <a:rPr spc="-125" dirty="0"/>
              <a:t> </a:t>
            </a:r>
            <a:r>
              <a:rPr dirty="0"/>
              <a:t>Neural</a:t>
            </a:r>
            <a:r>
              <a:rPr spc="-60" dirty="0"/>
              <a:t> </a:t>
            </a:r>
            <a:r>
              <a:rPr spc="-20" dirty="0"/>
              <a:t>Nets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1495425"/>
            <a:ext cx="9020175" cy="45243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From</a:t>
            </a:r>
            <a:r>
              <a:rPr spc="-85" dirty="0"/>
              <a:t> </a:t>
            </a:r>
            <a:r>
              <a:rPr dirty="0"/>
              <a:t>Cats</a:t>
            </a:r>
            <a:r>
              <a:rPr spc="-120" dirty="0"/>
              <a:t> </a:t>
            </a:r>
            <a:r>
              <a:rPr dirty="0"/>
              <a:t>to</a:t>
            </a:r>
            <a:r>
              <a:rPr spc="-80" dirty="0"/>
              <a:t> </a:t>
            </a:r>
            <a:r>
              <a:rPr dirty="0"/>
              <a:t>Convolutional</a:t>
            </a:r>
            <a:r>
              <a:rPr spc="-125" dirty="0"/>
              <a:t> </a:t>
            </a:r>
            <a:r>
              <a:rPr dirty="0"/>
              <a:t>Neural</a:t>
            </a:r>
            <a:r>
              <a:rPr spc="-60" dirty="0"/>
              <a:t> </a:t>
            </a:r>
            <a:r>
              <a:rPr spc="-20" dirty="0"/>
              <a:t>Nets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1495425"/>
            <a:ext cx="8991600" cy="45243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From</a:t>
            </a:r>
            <a:r>
              <a:rPr spc="-85" dirty="0"/>
              <a:t> </a:t>
            </a:r>
            <a:r>
              <a:rPr dirty="0"/>
              <a:t>Cats</a:t>
            </a:r>
            <a:r>
              <a:rPr spc="-120" dirty="0"/>
              <a:t> </a:t>
            </a:r>
            <a:r>
              <a:rPr dirty="0"/>
              <a:t>to</a:t>
            </a:r>
            <a:r>
              <a:rPr spc="-80" dirty="0"/>
              <a:t> </a:t>
            </a:r>
            <a:r>
              <a:rPr dirty="0"/>
              <a:t>Convolutional</a:t>
            </a:r>
            <a:r>
              <a:rPr spc="-125" dirty="0"/>
              <a:t> </a:t>
            </a:r>
            <a:r>
              <a:rPr dirty="0"/>
              <a:t>Neural</a:t>
            </a:r>
            <a:r>
              <a:rPr spc="-60" dirty="0"/>
              <a:t> </a:t>
            </a:r>
            <a:r>
              <a:rPr spc="-20" dirty="0"/>
              <a:t>Nets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" y="1466850"/>
            <a:ext cx="9067800" cy="46291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645348"/>
            <a:ext cx="3947795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Font typeface="Arial MT"/>
              <a:buChar char="•"/>
              <a:tabLst>
                <a:tab pos="355600" algn="l"/>
              </a:tabLst>
            </a:pPr>
            <a:r>
              <a:rPr sz="2700" b="1" dirty="0">
                <a:solidFill>
                  <a:srgbClr val="FFFFFF"/>
                </a:solidFill>
                <a:latin typeface="Calibri"/>
                <a:cs typeface="Calibri"/>
              </a:rPr>
              <a:t>CNN</a:t>
            </a:r>
            <a:r>
              <a:rPr sz="27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7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b="1" dirty="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r>
              <a:rPr sz="27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FFFFFF"/>
                </a:solidFill>
                <a:latin typeface="Calibri"/>
                <a:cs typeface="Calibri"/>
              </a:rPr>
              <a:t>Vision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857" y="899160"/>
            <a:ext cx="8603615" cy="11938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ts val="2865"/>
              </a:lnSpc>
              <a:spcBef>
                <a:spcPts val="105"/>
              </a:spcBef>
              <a:buClr>
                <a:srgbClr val="232323"/>
              </a:buClr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2400" spc="-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name</a:t>
            </a:r>
            <a:r>
              <a:rPr sz="2400" spc="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32323"/>
                </a:solidFill>
                <a:latin typeface="Calibri"/>
                <a:cs typeface="Calibri"/>
              </a:rPr>
              <a:t>convolutional</a:t>
            </a:r>
            <a:r>
              <a:rPr sz="2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neural</a:t>
            </a:r>
            <a:r>
              <a:rPr sz="2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32323"/>
                </a:solidFill>
                <a:latin typeface="Calibri"/>
                <a:cs typeface="Calibri"/>
              </a:rPr>
              <a:t>networks</a:t>
            </a:r>
            <a:r>
              <a:rPr sz="2400" spc="-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actually</a:t>
            </a:r>
            <a:r>
              <a:rPr sz="2400" spc="-1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originated</a:t>
            </a:r>
            <a:r>
              <a:rPr sz="240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232323"/>
                </a:solidFill>
                <a:latin typeface="Calibri"/>
                <a:cs typeface="Calibri"/>
              </a:rPr>
              <a:t>with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ts val="2865"/>
              </a:lnSpc>
            </a:pP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240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design</a:t>
            </a:r>
            <a:r>
              <a:rPr sz="240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of</a:t>
            </a:r>
            <a:r>
              <a:rPr sz="2400" spc="-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2400" spc="-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LeNet</a:t>
            </a:r>
            <a:r>
              <a:rPr sz="24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by</a:t>
            </a:r>
            <a:r>
              <a:rPr sz="2400" spc="-1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232323"/>
                </a:solidFill>
                <a:latin typeface="Calibri"/>
                <a:cs typeface="Calibri"/>
              </a:rPr>
              <a:t>Yann</a:t>
            </a:r>
            <a:r>
              <a:rPr sz="24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LeCun</a:t>
            </a:r>
            <a:r>
              <a:rPr sz="240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and</a:t>
            </a:r>
            <a:r>
              <a:rPr sz="24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team,</a:t>
            </a:r>
            <a:r>
              <a:rPr sz="2400" spc="-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32323"/>
                </a:solidFill>
                <a:latin typeface="Calibri"/>
                <a:cs typeface="Calibri"/>
              </a:rPr>
              <a:t>1998.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It</a:t>
            </a:r>
            <a:r>
              <a:rPr sz="2400" spc="-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was</a:t>
            </a:r>
            <a:r>
              <a:rPr sz="2400" spc="-10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largely</a:t>
            </a:r>
            <a:r>
              <a:rPr sz="2400" spc="-114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developed</a:t>
            </a:r>
            <a:r>
              <a:rPr sz="2400" spc="-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for</a:t>
            </a:r>
            <a:r>
              <a:rPr sz="2400" spc="-2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2400" spc="-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32323"/>
                </a:solidFill>
                <a:latin typeface="Calibri"/>
                <a:cs typeface="Calibri"/>
              </a:rPr>
              <a:t>handwritten</a:t>
            </a:r>
            <a:r>
              <a:rPr sz="2400" spc="-6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digit</a:t>
            </a:r>
            <a:r>
              <a:rPr sz="240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recognition</a:t>
            </a:r>
            <a:r>
              <a:rPr sz="2400" spc="-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32323"/>
                </a:solidFill>
                <a:latin typeface="Calibri"/>
                <a:cs typeface="Calibri"/>
              </a:rPr>
              <a:t>task.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Next</a:t>
            </a:r>
            <a:r>
              <a:rPr sz="3950" spc="-60" dirty="0"/>
              <a:t> </a:t>
            </a:r>
            <a:r>
              <a:rPr sz="3950" dirty="0"/>
              <a:t>level </a:t>
            </a:r>
            <a:r>
              <a:rPr sz="3950" spc="-10" dirty="0"/>
              <a:t>understanding</a:t>
            </a:r>
            <a:endParaRPr sz="39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554" y="2619489"/>
            <a:ext cx="7788946" cy="232398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07657" y="5944870"/>
            <a:ext cx="8140700" cy="51435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35"/>
              </a:spcBef>
            </a:pPr>
            <a:r>
              <a:rPr sz="1550" dirty="0">
                <a:solidFill>
                  <a:srgbClr val="FFC000"/>
                </a:solidFill>
                <a:latin typeface="Calibri"/>
                <a:cs typeface="Calibri"/>
              </a:rPr>
              <a:t>LeCun,</a:t>
            </a:r>
            <a:r>
              <a:rPr sz="1550" spc="1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550" spc="-45" dirty="0">
                <a:solidFill>
                  <a:srgbClr val="FFC000"/>
                </a:solidFill>
                <a:latin typeface="Calibri"/>
                <a:cs typeface="Calibri"/>
              </a:rPr>
              <a:t>Y.,</a:t>
            </a:r>
            <a:r>
              <a:rPr sz="1550" spc="6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C000"/>
                </a:solidFill>
                <a:latin typeface="Calibri"/>
                <a:cs typeface="Calibri"/>
              </a:rPr>
              <a:t>Bottou,</a:t>
            </a:r>
            <a:r>
              <a:rPr sz="1550" spc="5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C000"/>
                </a:solidFill>
                <a:latin typeface="Calibri"/>
                <a:cs typeface="Calibri"/>
              </a:rPr>
              <a:t>L.,</a:t>
            </a:r>
            <a:r>
              <a:rPr sz="1550" spc="6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C000"/>
                </a:solidFill>
                <a:latin typeface="Calibri"/>
                <a:cs typeface="Calibri"/>
              </a:rPr>
              <a:t>Bengio,</a:t>
            </a:r>
            <a:r>
              <a:rPr sz="1550" spc="5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550" spc="-60" dirty="0">
                <a:solidFill>
                  <a:srgbClr val="FFC000"/>
                </a:solidFill>
                <a:latin typeface="Calibri"/>
                <a:cs typeface="Calibri"/>
              </a:rPr>
              <a:t>Y.</a:t>
            </a:r>
            <a:r>
              <a:rPr sz="1550" spc="5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C000"/>
                </a:solidFill>
                <a:latin typeface="Calibri"/>
                <a:cs typeface="Calibri"/>
              </a:rPr>
              <a:t>and</a:t>
            </a:r>
            <a:r>
              <a:rPr sz="1550" spc="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C000"/>
                </a:solidFill>
                <a:latin typeface="Calibri"/>
                <a:cs typeface="Calibri"/>
              </a:rPr>
              <a:t>Haffner,</a:t>
            </a:r>
            <a:r>
              <a:rPr sz="1550" spc="5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550" spc="-35" dirty="0">
                <a:solidFill>
                  <a:srgbClr val="FFC000"/>
                </a:solidFill>
                <a:latin typeface="Calibri"/>
                <a:cs typeface="Calibri"/>
              </a:rPr>
              <a:t>P.,</a:t>
            </a:r>
            <a:r>
              <a:rPr sz="1550" spc="6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C000"/>
                </a:solidFill>
                <a:latin typeface="Calibri"/>
                <a:cs typeface="Calibri"/>
              </a:rPr>
              <a:t>1998.</a:t>
            </a:r>
            <a:r>
              <a:rPr sz="1550" spc="1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C000"/>
                </a:solidFill>
                <a:latin typeface="Calibri"/>
                <a:cs typeface="Calibri"/>
              </a:rPr>
              <a:t>Gradient-based</a:t>
            </a:r>
            <a:r>
              <a:rPr sz="1550" spc="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C000"/>
                </a:solidFill>
                <a:latin typeface="Calibri"/>
                <a:cs typeface="Calibri"/>
              </a:rPr>
              <a:t>learning</a:t>
            </a:r>
            <a:r>
              <a:rPr sz="1550" spc="9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C000"/>
                </a:solidFill>
                <a:latin typeface="Calibri"/>
                <a:cs typeface="Calibri"/>
              </a:rPr>
              <a:t>applied</a:t>
            </a:r>
            <a:r>
              <a:rPr sz="1550" spc="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C000"/>
                </a:solidFill>
                <a:latin typeface="Calibri"/>
                <a:cs typeface="Calibri"/>
              </a:rPr>
              <a:t>to</a:t>
            </a:r>
            <a:r>
              <a:rPr sz="1550" spc="6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FFC000"/>
                </a:solidFill>
                <a:latin typeface="Calibri"/>
                <a:cs typeface="Calibri"/>
              </a:rPr>
              <a:t>document </a:t>
            </a:r>
            <a:r>
              <a:rPr sz="1550" dirty="0">
                <a:solidFill>
                  <a:srgbClr val="FFC000"/>
                </a:solidFill>
                <a:latin typeface="Calibri"/>
                <a:cs typeface="Calibri"/>
              </a:rPr>
              <a:t>recognition.</a:t>
            </a:r>
            <a:r>
              <a:rPr sz="1550" spc="10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FFC000"/>
                </a:solidFill>
                <a:latin typeface="Calibri"/>
                <a:cs typeface="Calibri"/>
              </a:rPr>
              <a:t>Proceedings</a:t>
            </a:r>
            <a:r>
              <a:rPr sz="1550" i="1" spc="1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FFC000"/>
                </a:solidFill>
                <a:latin typeface="Calibri"/>
                <a:cs typeface="Calibri"/>
              </a:rPr>
              <a:t>of</a:t>
            </a:r>
            <a:r>
              <a:rPr sz="1550" i="1" spc="2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FFC000"/>
                </a:solidFill>
                <a:latin typeface="Calibri"/>
                <a:cs typeface="Calibri"/>
              </a:rPr>
              <a:t>the</a:t>
            </a:r>
            <a:r>
              <a:rPr sz="1550" i="1" spc="1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FFC000"/>
                </a:solidFill>
                <a:latin typeface="Calibri"/>
                <a:cs typeface="Calibri"/>
              </a:rPr>
              <a:t>IEEE</a:t>
            </a:r>
            <a:r>
              <a:rPr sz="1550" dirty="0">
                <a:solidFill>
                  <a:srgbClr val="FFC000"/>
                </a:solidFill>
                <a:latin typeface="Calibri"/>
                <a:cs typeface="Calibri"/>
              </a:rPr>
              <a:t>,</a:t>
            </a:r>
            <a:r>
              <a:rPr sz="1550" spc="1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550" i="1" dirty="0">
                <a:solidFill>
                  <a:srgbClr val="FFC000"/>
                </a:solidFill>
                <a:latin typeface="Calibri"/>
                <a:cs typeface="Calibri"/>
              </a:rPr>
              <a:t>86</a:t>
            </a:r>
            <a:r>
              <a:rPr sz="1550" dirty="0">
                <a:solidFill>
                  <a:srgbClr val="FFC000"/>
                </a:solidFill>
                <a:latin typeface="Calibri"/>
                <a:cs typeface="Calibri"/>
              </a:rPr>
              <a:t>(11),</a:t>
            </a:r>
            <a:r>
              <a:rPr sz="1550" spc="12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FFC000"/>
                </a:solidFill>
                <a:latin typeface="Calibri"/>
                <a:cs typeface="Calibri"/>
              </a:rPr>
              <a:t>pp.2278–</a:t>
            </a:r>
            <a:r>
              <a:rPr sz="1550" spc="-20" dirty="0">
                <a:solidFill>
                  <a:srgbClr val="FFC000"/>
                </a:solidFill>
                <a:latin typeface="Calibri"/>
                <a:cs typeface="Calibri"/>
              </a:rPr>
              <a:t>2324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Next</a:t>
            </a:r>
            <a:r>
              <a:rPr sz="3950" spc="-60" dirty="0"/>
              <a:t> </a:t>
            </a:r>
            <a:r>
              <a:rPr sz="3950" dirty="0"/>
              <a:t>level </a:t>
            </a:r>
            <a:r>
              <a:rPr sz="3950" spc="-10" dirty="0"/>
              <a:t>understanding</a:t>
            </a:r>
            <a:endParaRPr sz="39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328" y="1247775"/>
            <a:ext cx="8851471" cy="43624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857" y="899160"/>
            <a:ext cx="753237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232323"/>
              </a:buClr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ImageNet</a:t>
            </a:r>
            <a:r>
              <a:rPr sz="2400" spc="-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large</a:t>
            </a:r>
            <a:r>
              <a:rPr sz="2400" spc="-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scale</a:t>
            </a:r>
            <a:r>
              <a:rPr sz="2400" spc="-8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visual</a:t>
            </a:r>
            <a:r>
              <a:rPr sz="2400" spc="-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recognition</a:t>
            </a:r>
            <a:r>
              <a:rPr sz="2400" spc="-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challenge</a:t>
            </a:r>
            <a:r>
              <a:rPr sz="24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32323"/>
                </a:solidFill>
                <a:latin typeface="Calibri"/>
                <a:cs typeface="Calibri"/>
              </a:rPr>
              <a:t>(ILSVRC)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Next</a:t>
            </a:r>
            <a:r>
              <a:rPr sz="3950" spc="-60" dirty="0"/>
              <a:t> </a:t>
            </a:r>
            <a:r>
              <a:rPr sz="3950" dirty="0"/>
              <a:t>level </a:t>
            </a:r>
            <a:r>
              <a:rPr sz="3950" spc="-10" dirty="0"/>
              <a:t>understanding</a:t>
            </a:r>
            <a:endParaRPr sz="39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311" y="1790700"/>
            <a:ext cx="8883404" cy="352771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97180" marR="5080" indent="-285115" algn="just">
              <a:lnSpc>
                <a:spcPct val="100800"/>
              </a:lnSpc>
              <a:spcBef>
                <a:spcPts val="85"/>
              </a:spcBef>
              <a:buFont typeface="Wingdings"/>
              <a:buChar char=""/>
              <a:tabLst>
                <a:tab pos="298450" algn="l"/>
              </a:tabLst>
            </a:pPr>
            <a:r>
              <a:rPr dirty="0"/>
              <a:t>The</a:t>
            </a:r>
            <a:r>
              <a:rPr spc="95" dirty="0"/>
              <a:t> </a:t>
            </a:r>
            <a:r>
              <a:rPr dirty="0"/>
              <a:t>validation</a:t>
            </a:r>
            <a:r>
              <a:rPr spc="95" dirty="0"/>
              <a:t> </a:t>
            </a:r>
            <a:r>
              <a:rPr dirty="0"/>
              <a:t>and</a:t>
            </a:r>
            <a:r>
              <a:rPr spc="70" dirty="0"/>
              <a:t> </a:t>
            </a:r>
            <a:r>
              <a:rPr dirty="0"/>
              <a:t>test</a:t>
            </a:r>
            <a:r>
              <a:rPr spc="100" dirty="0"/>
              <a:t> </a:t>
            </a:r>
            <a:r>
              <a:rPr dirty="0"/>
              <a:t>data</a:t>
            </a:r>
            <a:r>
              <a:rPr spc="125" dirty="0"/>
              <a:t> </a:t>
            </a:r>
            <a:r>
              <a:rPr dirty="0"/>
              <a:t>for</a:t>
            </a:r>
            <a:r>
              <a:rPr spc="105" dirty="0"/>
              <a:t> </a:t>
            </a:r>
            <a:r>
              <a:rPr spc="-20" dirty="0"/>
              <a:t>this 	</a:t>
            </a:r>
            <a:r>
              <a:rPr dirty="0"/>
              <a:t>competition</a:t>
            </a:r>
            <a:r>
              <a:rPr spc="340" dirty="0"/>
              <a:t> </a:t>
            </a:r>
            <a:r>
              <a:rPr dirty="0"/>
              <a:t>will</a:t>
            </a:r>
            <a:r>
              <a:rPr spc="315" dirty="0"/>
              <a:t> </a:t>
            </a:r>
            <a:r>
              <a:rPr dirty="0"/>
              <a:t>consist</a:t>
            </a:r>
            <a:r>
              <a:rPr spc="320" dirty="0"/>
              <a:t> </a:t>
            </a:r>
            <a:r>
              <a:rPr dirty="0"/>
              <a:t>of</a:t>
            </a:r>
            <a:r>
              <a:rPr spc="340" dirty="0"/>
              <a:t> </a:t>
            </a:r>
            <a:r>
              <a:rPr spc="-10" dirty="0"/>
              <a:t>200,000 	photographs</a:t>
            </a:r>
          </a:p>
          <a:p>
            <a:pPr marL="297180" marR="5080" indent="-285115" algn="just">
              <a:lnSpc>
                <a:spcPct val="100800"/>
              </a:lnSpc>
              <a:buFont typeface="Wingdings"/>
              <a:buChar char=""/>
              <a:tabLst>
                <a:tab pos="298450" algn="l"/>
              </a:tabLst>
            </a:pPr>
            <a:r>
              <a:rPr dirty="0"/>
              <a:t>collected</a:t>
            </a:r>
            <a:r>
              <a:rPr spc="390" dirty="0"/>
              <a:t>  </a:t>
            </a:r>
            <a:r>
              <a:rPr dirty="0"/>
              <a:t>from</a:t>
            </a:r>
            <a:r>
              <a:rPr spc="390" dirty="0"/>
              <a:t>  </a:t>
            </a:r>
            <a:r>
              <a:rPr dirty="0"/>
              <a:t>flickr</a:t>
            </a:r>
            <a:r>
              <a:rPr spc="400" dirty="0"/>
              <a:t>  </a:t>
            </a:r>
            <a:r>
              <a:rPr dirty="0"/>
              <a:t>and</a:t>
            </a:r>
            <a:r>
              <a:rPr spc="375" dirty="0"/>
              <a:t>  </a:t>
            </a:r>
            <a:r>
              <a:rPr spc="-10" dirty="0"/>
              <a:t>other 	</a:t>
            </a:r>
            <a:r>
              <a:rPr dirty="0"/>
              <a:t>search</a:t>
            </a:r>
            <a:r>
              <a:rPr spc="-25" dirty="0"/>
              <a:t> </a:t>
            </a:r>
            <a:r>
              <a:rPr spc="-10" dirty="0"/>
              <a:t>engines</a:t>
            </a:r>
          </a:p>
          <a:p>
            <a:pPr marL="297180" marR="13970" indent="-285115" algn="just">
              <a:lnSpc>
                <a:spcPts val="2100"/>
              </a:lnSpc>
              <a:spcBef>
                <a:spcPts val="65"/>
              </a:spcBef>
              <a:buFont typeface="Wingdings"/>
              <a:buChar char=""/>
              <a:tabLst>
                <a:tab pos="298450" algn="l"/>
              </a:tabLst>
            </a:pPr>
            <a:r>
              <a:rPr dirty="0"/>
              <a:t>hand</a:t>
            </a:r>
            <a:r>
              <a:rPr spc="295" dirty="0"/>
              <a:t> </a:t>
            </a:r>
            <a:r>
              <a:rPr dirty="0"/>
              <a:t>labeled</a:t>
            </a:r>
            <a:r>
              <a:rPr spc="315" dirty="0"/>
              <a:t> </a:t>
            </a:r>
            <a:r>
              <a:rPr dirty="0"/>
              <a:t>with</a:t>
            </a:r>
            <a:r>
              <a:rPr spc="335" dirty="0"/>
              <a:t> </a:t>
            </a:r>
            <a:r>
              <a:rPr dirty="0"/>
              <a:t>the</a:t>
            </a:r>
            <a:r>
              <a:rPr spc="305" dirty="0"/>
              <a:t> </a:t>
            </a:r>
            <a:r>
              <a:rPr dirty="0"/>
              <a:t>presence</a:t>
            </a:r>
            <a:r>
              <a:rPr spc="340" dirty="0"/>
              <a:t> </a:t>
            </a:r>
            <a:r>
              <a:rPr spc="-25" dirty="0"/>
              <a:t>or 	</a:t>
            </a:r>
            <a:r>
              <a:rPr dirty="0"/>
              <a:t>absence</a:t>
            </a:r>
            <a:r>
              <a:rPr spc="-2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3"/>
              </a:rPr>
              <a:t>1000</a:t>
            </a:r>
            <a:r>
              <a:rPr u="sng" spc="-35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3"/>
              </a:rPr>
              <a:t> </a:t>
            </a:r>
            <a:r>
              <a:rPr u="sng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3"/>
              </a:rPr>
              <a:t>object</a:t>
            </a:r>
            <a:r>
              <a:rPr u="sng" spc="-10" dirty="0">
                <a:solidFill>
                  <a:srgbClr val="CC9900"/>
                </a:solidFill>
                <a:uFill>
                  <a:solidFill>
                    <a:srgbClr val="CC9900"/>
                  </a:solidFill>
                </a:uFill>
                <a:hlinkClick r:id="rId3"/>
              </a:rPr>
              <a:t> categories</a:t>
            </a:r>
            <a:r>
              <a:rPr spc="-10" dirty="0"/>
              <a:t>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28612" y="6206490"/>
            <a:ext cx="56978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C000"/>
                </a:solidFill>
                <a:latin typeface="Calibri"/>
                <a:cs typeface="Calibri"/>
                <a:hlinkClick r:id="rId4"/>
              </a:rPr>
              <a:t>https://image-</a:t>
            </a:r>
            <a:r>
              <a:rPr sz="1800" spc="-10" dirty="0">
                <a:solidFill>
                  <a:srgbClr val="FFC000"/>
                </a:solidFill>
                <a:latin typeface="Calibri"/>
                <a:cs typeface="Calibri"/>
                <a:hlinkClick r:id="rId4"/>
              </a:rPr>
              <a:t>net.org/challenges/LSVRC/2010/#introduction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Next</a:t>
            </a:r>
            <a:r>
              <a:rPr sz="3950" spc="-60" dirty="0"/>
              <a:t> </a:t>
            </a:r>
            <a:r>
              <a:rPr sz="3950" dirty="0"/>
              <a:t>level</a:t>
            </a:r>
            <a:r>
              <a:rPr sz="3950" spc="-20" dirty="0"/>
              <a:t> </a:t>
            </a:r>
            <a:r>
              <a:rPr sz="3950" dirty="0"/>
              <a:t>understanding:</a:t>
            </a:r>
            <a:r>
              <a:rPr sz="3950" spc="-20" dirty="0"/>
              <a:t> 2015</a:t>
            </a:r>
            <a:endParaRPr sz="39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4548" y="1282953"/>
            <a:ext cx="8127201" cy="462721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2775" y="6052184"/>
            <a:ext cx="7533640" cy="46291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80"/>
              </a:spcBef>
            </a:pPr>
            <a:r>
              <a:rPr sz="1400" spc="-10" dirty="0">
                <a:solidFill>
                  <a:srgbClr val="FFC000"/>
                </a:solidFill>
                <a:latin typeface="Calibri"/>
                <a:cs typeface="Calibri"/>
                <a:hlinkClick r:id="rId3"/>
              </a:rPr>
              <a:t>https://medium.com/appyhigh-technology-blog/convolutional-neural-networks-a-brief-history-of-</a:t>
            </a:r>
            <a:r>
              <a:rPr sz="1400" dirty="0">
                <a:solidFill>
                  <a:srgbClr val="FFC000"/>
                </a:solidFill>
                <a:latin typeface="Calibri"/>
                <a:cs typeface="Calibri"/>
                <a:hlinkClick r:id="rId3"/>
              </a:rPr>
              <a:t>their-</a:t>
            </a:r>
            <a:r>
              <a:rPr sz="1400" spc="-10" dirty="0">
                <a:solidFill>
                  <a:srgbClr val="FFC000"/>
                </a:solidFill>
                <a:latin typeface="Calibri"/>
                <a:cs typeface="Calibri"/>
              </a:rPr>
              <a:t>evolution-ee3405568597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857" y="899160"/>
            <a:ext cx="8540750" cy="11938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ts val="2865"/>
              </a:lnSpc>
              <a:spcBef>
                <a:spcPts val="10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AlexNet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Alex</a:t>
            </a:r>
            <a:r>
              <a:rPr sz="2400" spc="3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Krizhevsky</a:t>
            </a:r>
            <a:r>
              <a:rPr sz="2400" spc="3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and</a:t>
            </a:r>
            <a:r>
              <a:rPr sz="2400" spc="3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Geoffrey</a:t>
            </a:r>
            <a:r>
              <a:rPr sz="2400" spc="33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Hinton,</a:t>
            </a:r>
            <a:r>
              <a:rPr sz="2400" spc="3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2012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3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winds</a:t>
            </a:r>
            <a:r>
              <a:rPr sz="2400" spc="32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ts val="2865"/>
              </a:lnSpc>
            </a:pPr>
            <a:r>
              <a:rPr sz="2400" dirty="0">
                <a:latin typeface="Calibri"/>
                <a:cs typeface="Calibri"/>
              </a:rPr>
              <a:t>ImageNet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challenge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Before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2012,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shallow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Next</a:t>
            </a:r>
            <a:r>
              <a:rPr sz="3950" spc="-60" dirty="0"/>
              <a:t> </a:t>
            </a:r>
            <a:r>
              <a:rPr sz="3950" dirty="0"/>
              <a:t>level</a:t>
            </a:r>
            <a:r>
              <a:rPr sz="3950" spc="-20" dirty="0"/>
              <a:t> </a:t>
            </a:r>
            <a:r>
              <a:rPr sz="3950" dirty="0"/>
              <a:t>understanding:</a:t>
            </a:r>
            <a:r>
              <a:rPr sz="3950" spc="-20" dirty="0"/>
              <a:t> 2012</a:t>
            </a:r>
            <a:endParaRPr sz="3950"/>
          </a:p>
        </p:txBody>
      </p:sp>
      <p:pic>
        <p:nvPicPr>
          <p:cNvPr id="4" name="object 4" descr="Concept of AlexNet:- Convolutional Neural Network | by Abhijeet Pujara |  Analytics Vidhya | Medium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164" y="2335358"/>
            <a:ext cx="8413400" cy="38385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9232" y="6204902"/>
            <a:ext cx="7665720" cy="46291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2800"/>
              </a:lnSpc>
              <a:spcBef>
                <a:spcPts val="80"/>
              </a:spcBef>
            </a:pPr>
            <a:r>
              <a:rPr sz="1400" spc="-20" dirty="0">
                <a:solidFill>
                  <a:srgbClr val="FFC000"/>
                </a:solidFill>
                <a:latin typeface="Calibri"/>
                <a:cs typeface="Calibri"/>
              </a:rPr>
              <a:t>Krizhevsky,</a:t>
            </a:r>
            <a:r>
              <a:rPr sz="1400" spc="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C000"/>
                </a:solidFill>
                <a:latin typeface="Calibri"/>
                <a:cs typeface="Calibri"/>
              </a:rPr>
              <a:t>A.,</a:t>
            </a:r>
            <a:r>
              <a:rPr sz="1400" spc="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FFC000"/>
                </a:solidFill>
                <a:latin typeface="Calibri"/>
                <a:cs typeface="Calibri"/>
              </a:rPr>
              <a:t>Sutskever,</a:t>
            </a:r>
            <a:r>
              <a:rPr sz="1400" spc="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C000"/>
                </a:solidFill>
                <a:latin typeface="Calibri"/>
                <a:cs typeface="Calibri"/>
              </a:rPr>
              <a:t>I.</a:t>
            </a:r>
            <a:r>
              <a:rPr sz="1400" spc="-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C000"/>
                </a:solidFill>
                <a:latin typeface="Calibri"/>
                <a:cs typeface="Calibri"/>
              </a:rPr>
              <a:t>and</a:t>
            </a:r>
            <a:r>
              <a:rPr sz="1400" spc="-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C000"/>
                </a:solidFill>
                <a:latin typeface="Calibri"/>
                <a:cs typeface="Calibri"/>
              </a:rPr>
              <a:t>Hinton,</a:t>
            </a:r>
            <a:r>
              <a:rPr sz="1400" spc="-6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C000"/>
                </a:solidFill>
                <a:latin typeface="Calibri"/>
                <a:cs typeface="Calibri"/>
              </a:rPr>
              <a:t>G.E.,</a:t>
            </a:r>
            <a:r>
              <a:rPr sz="1400" spc="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C000"/>
                </a:solidFill>
                <a:latin typeface="Calibri"/>
                <a:cs typeface="Calibri"/>
              </a:rPr>
              <a:t>2017.</a:t>
            </a:r>
            <a:r>
              <a:rPr sz="1400" spc="-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C000"/>
                </a:solidFill>
                <a:latin typeface="Calibri"/>
                <a:cs typeface="Calibri"/>
              </a:rPr>
              <a:t>ImageNet</a:t>
            </a:r>
            <a:r>
              <a:rPr sz="1400" spc="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C000"/>
                </a:solidFill>
                <a:latin typeface="Calibri"/>
                <a:cs typeface="Calibri"/>
              </a:rPr>
              <a:t>classification</a:t>
            </a:r>
            <a:r>
              <a:rPr sz="1400" spc="-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C000"/>
                </a:solidFill>
                <a:latin typeface="Calibri"/>
                <a:cs typeface="Calibri"/>
              </a:rPr>
              <a:t>with</a:t>
            </a:r>
            <a:r>
              <a:rPr sz="1400" spc="-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C000"/>
                </a:solidFill>
                <a:latin typeface="Calibri"/>
                <a:cs typeface="Calibri"/>
              </a:rPr>
              <a:t>deep</a:t>
            </a:r>
            <a:r>
              <a:rPr sz="1400" spc="-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C000"/>
                </a:solidFill>
                <a:latin typeface="Calibri"/>
                <a:cs typeface="Calibri"/>
              </a:rPr>
              <a:t>convolutional</a:t>
            </a:r>
            <a:r>
              <a:rPr sz="1400" spc="3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C000"/>
                </a:solidFill>
                <a:latin typeface="Calibri"/>
                <a:cs typeface="Calibri"/>
              </a:rPr>
              <a:t>neural </a:t>
            </a:r>
            <a:r>
              <a:rPr sz="1400" dirty="0">
                <a:solidFill>
                  <a:srgbClr val="FFC000"/>
                </a:solidFill>
                <a:latin typeface="Calibri"/>
                <a:cs typeface="Calibri"/>
              </a:rPr>
              <a:t>networks.</a:t>
            </a:r>
            <a:r>
              <a:rPr sz="1400" spc="-3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400" i="1" spc="-10" dirty="0">
                <a:solidFill>
                  <a:srgbClr val="FFC000"/>
                </a:solidFill>
                <a:latin typeface="Calibri"/>
                <a:cs typeface="Calibri"/>
              </a:rPr>
              <a:t>Communications</a:t>
            </a:r>
            <a:r>
              <a:rPr sz="1400" i="1" spc="-4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FFC000"/>
                </a:solidFill>
                <a:latin typeface="Calibri"/>
                <a:cs typeface="Calibri"/>
              </a:rPr>
              <a:t>of</a:t>
            </a:r>
            <a:r>
              <a:rPr sz="1400" i="1" spc="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FFC000"/>
                </a:solidFill>
                <a:latin typeface="Calibri"/>
                <a:cs typeface="Calibri"/>
              </a:rPr>
              <a:t>the</a:t>
            </a:r>
            <a:r>
              <a:rPr sz="1400" i="1" spc="-1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FFC000"/>
                </a:solidFill>
                <a:latin typeface="Calibri"/>
                <a:cs typeface="Calibri"/>
              </a:rPr>
              <a:t>ACM</a:t>
            </a:r>
            <a:r>
              <a:rPr sz="1400" dirty="0">
                <a:solidFill>
                  <a:srgbClr val="FFC000"/>
                </a:solidFill>
                <a:latin typeface="Calibri"/>
                <a:cs typeface="Calibri"/>
              </a:rPr>
              <a:t>,</a:t>
            </a:r>
            <a:r>
              <a:rPr sz="1400" spc="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400" i="1" dirty="0">
                <a:solidFill>
                  <a:srgbClr val="FFC000"/>
                </a:solidFill>
                <a:latin typeface="Calibri"/>
                <a:cs typeface="Calibri"/>
              </a:rPr>
              <a:t>60</a:t>
            </a:r>
            <a:r>
              <a:rPr sz="1400" dirty="0">
                <a:solidFill>
                  <a:srgbClr val="FFC000"/>
                </a:solidFill>
                <a:latin typeface="Calibri"/>
                <a:cs typeface="Calibri"/>
              </a:rPr>
              <a:t>(6),</a:t>
            </a:r>
            <a:r>
              <a:rPr sz="1400" spc="1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C000"/>
                </a:solidFill>
                <a:latin typeface="Calibri"/>
                <a:cs typeface="Calibri"/>
              </a:rPr>
              <a:t>pp.84–</a:t>
            </a:r>
            <a:r>
              <a:rPr sz="1400" spc="-25" dirty="0">
                <a:solidFill>
                  <a:srgbClr val="FFC000"/>
                </a:solidFill>
                <a:latin typeface="Calibri"/>
                <a:cs typeface="Calibri"/>
              </a:rPr>
              <a:t>90.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7657" y="65235"/>
            <a:ext cx="7346315" cy="125666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95"/>
              </a:spcBef>
            </a:pPr>
            <a:r>
              <a:rPr sz="3950" dirty="0"/>
              <a:t>Next</a:t>
            </a:r>
            <a:r>
              <a:rPr sz="3950" spc="-60" dirty="0"/>
              <a:t> </a:t>
            </a:r>
            <a:r>
              <a:rPr sz="3950" dirty="0"/>
              <a:t>level</a:t>
            </a:r>
            <a:r>
              <a:rPr sz="3950" spc="-20" dirty="0"/>
              <a:t> </a:t>
            </a:r>
            <a:r>
              <a:rPr sz="3950" dirty="0"/>
              <a:t>understanding:</a:t>
            </a:r>
            <a:r>
              <a:rPr sz="3950" spc="-20" dirty="0"/>
              <a:t> 2013</a:t>
            </a:r>
            <a:endParaRPr sz="3950"/>
          </a:p>
          <a:p>
            <a:pPr marL="88900">
              <a:lnSpc>
                <a:spcPct val="100000"/>
              </a:lnSpc>
              <a:spcBef>
                <a:spcPts val="775"/>
              </a:spcBef>
              <a:tabLst>
                <a:tab pos="5622290" algn="l"/>
              </a:tabLst>
            </a:pPr>
            <a:r>
              <a:rPr sz="2400" dirty="0">
                <a:solidFill>
                  <a:srgbClr val="000000"/>
                </a:solidFill>
              </a:rPr>
              <a:t>ZFNet:</a:t>
            </a:r>
            <a:r>
              <a:rPr sz="2400" spc="-5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Matthew</a:t>
            </a:r>
            <a:r>
              <a:rPr sz="2400" spc="-5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D</a:t>
            </a:r>
            <a:r>
              <a:rPr sz="2400" spc="-40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Zeiler</a:t>
            </a:r>
            <a:r>
              <a:rPr sz="2400" spc="459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and</a:t>
            </a:r>
            <a:r>
              <a:rPr sz="2400" spc="-45" dirty="0">
                <a:solidFill>
                  <a:srgbClr val="000000"/>
                </a:solidFill>
              </a:rPr>
              <a:t> </a:t>
            </a:r>
            <a:r>
              <a:rPr sz="2400" dirty="0">
                <a:solidFill>
                  <a:srgbClr val="000000"/>
                </a:solidFill>
              </a:rPr>
              <a:t>Rob</a:t>
            </a:r>
            <a:r>
              <a:rPr sz="2400" spc="-55" dirty="0">
                <a:solidFill>
                  <a:srgbClr val="000000"/>
                </a:solidFill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Fergus</a:t>
            </a:r>
            <a:r>
              <a:rPr sz="2400" dirty="0">
                <a:solidFill>
                  <a:srgbClr val="000000"/>
                </a:solidFill>
              </a:rPr>
              <a:t>	(ILSVRC</a:t>
            </a:r>
            <a:r>
              <a:rPr sz="2400" spc="-110" dirty="0">
                <a:solidFill>
                  <a:srgbClr val="000000"/>
                </a:solidFill>
              </a:rPr>
              <a:t> </a:t>
            </a:r>
            <a:r>
              <a:rPr sz="2400" spc="-10" dirty="0">
                <a:solidFill>
                  <a:srgbClr val="000000"/>
                </a:solidFill>
              </a:rPr>
              <a:t>2013)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723900" y="1314450"/>
            <a:ext cx="7391400" cy="5184775"/>
            <a:chOff x="723900" y="1314450"/>
            <a:chExt cx="7391400" cy="5184775"/>
          </a:xfrm>
        </p:grpSpPr>
        <p:pic>
          <p:nvPicPr>
            <p:cNvPr id="4" name="object 4" descr="Review: ZFNet — Winner of ILSVRC 2013 (Image Classification) | by Sik-Ho  Tsang | Coinmonks | Medium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3900" y="1314450"/>
              <a:ext cx="7391400" cy="2695575"/>
            </a:xfrm>
            <a:prstGeom prst="rect">
              <a:avLst/>
            </a:prstGeom>
          </p:spPr>
        </p:pic>
        <p:pic>
          <p:nvPicPr>
            <p:cNvPr id="5" name="object 5" descr="R-CNN Explained | Papers With Code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1125" y="4384246"/>
              <a:ext cx="6381750" cy="211493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857" y="899160"/>
            <a:ext cx="198628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InceptionNet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Next</a:t>
            </a:r>
            <a:r>
              <a:rPr sz="3950" spc="-60" dirty="0"/>
              <a:t> </a:t>
            </a:r>
            <a:r>
              <a:rPr sz="3950" dirty="0"/>
              <a:t>level</a:t>
            </a:r>
            <a:r>
              <a:rPr sz="3950" spc="-20" dirty="0"/>
              <a:t> </a:t>
            </a:r>
            <a:r>
              <a:rPr sz="3950" dirty="0"/>
              <a:t>understanding:</a:t>
            </a:r>
            <a:r>
              <a:rPr sz="3950" spc="-20" dirty="0"/>
              <a:t> 2014</a:t>
            </a:r>
            <a:endParaRPr sz="3950"/>
          </a:p>
        </p:txBody>
      </p:sp>
      <p:pic>
        <p:nvPicPr>
          <p:cNvPr id="4" name="object 4" descr="Inception V1 Architecture Explained | by Abheer Bandodker | Medium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1807149"/>
            <a:ext cx="8801100" cy="474605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857" y="899160"/>
            <a:ext cx="819785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VGG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:</a:t>
            </a:r>
            <a:r>
              <a:rPr sz="2400" spc="-10" dirty="0">
                <a:solidFill>
                  <a:srgbClr val="232323"/>
                </a:solidFill>
                <a:latin typeface="Calibri"/>
                <a:cs typeface="Calibri"/>
              </a:rPr>
              <a:t>invented</a:t>
            </a:r>
            <a:r>
              <a:rPr sz="2400" spc="-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by</a:t>
            </a:r>
            <a:r>
              <a:rPr sz="240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Visual</a:t>
            </a:r>
            <a:r>
              <a:rPr sz="240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Geometry</a:t>
            </a:r>
            <a:r>
              <a:rPr sz="240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Group</a:t>
            </a:r>
            <a:r>
              <a:rPr sz="2400" spc="-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(at</a:t>
            </a:r>
            <a:r>
              <a:rPr sz="2400" spc="-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32323"/>
                </a:solidFill>
                <a:latin typeface="Calibri"/>
                <a:cs typeface="Calibri"/>
              </a:rPr>
              <a:t>Oxford</a:t>
            </a:r>
            <a:r>
              <a:rPr sz="2400" spc="-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32323"/>
                </a:solidFill>
                <a:latin typeface="Calibri"/>
                <a:cs typeface="Calibri"/>
              </a:rPr>
              <a:t>University)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Next</a:t>
            </a:r>
            <a:r>
              <a:rPr sz="3950" spc="-60" dirty="0"/>
              <a:t> </a:t>
            </a:r>
            <a:r>
              <a:rPr sz="3950" dirty="0"/>
              <a:t>level</a:t>
            </a:r>
            <a:r>
              <a:rPr sz="3950" spc="-20" dirty="0"/>
              <a:t> </a:t>
            </a:r>
            <a:r>
              <a:rPr sz="3950" dirty="0"/>
              <a:t>understanding:</a:t>
            </a:r>
            <a:r>
              <a:rPr sz="3950" spc="-20" dirty="0"/>
              <a:t> 2014</a:t>
            </a:r>
            <a:endParaRPr sz="3950"/>
          </a:p>
        </p:txBody>
      </p:sp>
      <p:pic>
        <p:nvPicPr>
          <p:cNvPr id="4" name="object 4" descr="VGG Explained | Papers With Cod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5283" y="1876425"/>
            <a:ext cx="6562927" cy="41148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7 CNN Architectures Evolved from 2010–2015 | by Tanuj Shrivastava |  Analytics Vidhya | Medium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0" y="1313277"/>
            <a:ext cx="4838700" cy="207014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83857" y="826897"/>
            <a:ext cx="6675755" cy="134175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ResNet: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Kaiming</a:t>
            </a:r>
            <a:r>
              <a:rPr sz="2400" spc="-2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He</a:t>
            </a:r>
            <a:r>
              <a:rPr sz="2400" spc="-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et.</a:t>
            </a:r>
            <a:r>
              <a:rPr sz="2400" spc="-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al.</a:t>
            </a:r>
            <a:r>
              <a:rPr sz="24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32323"/>
                </a:solidFill>
                <a:latin typeface="Calibri"/>
                <a:cs typeface="Calibri"/>
              </a:rPr>
              <a:t>from</a:t>
            </a:r>
            <a:r>
              <a:rPr sz="2400" spc="-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32323"/>
                </a:solidFill>
                <a:latin typeface="Calibri"/>
                <a:cs typeface="Calibri"/>
              </a:rPr>
              <a:t>Microsoft</a:t>
            </a:r>
            <a:r>
              <a:rPr sz="2400" spc="-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232323"/>
                </a:solidFill>
                <a:latin typeface="Calibri"/>
                <a:cs typeface="Calibri"/>
              </a:rPr>
              <a:t>Research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CNN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somewhat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matched</a:t>
            </a:r>
            <a:endParaRPr sz="2400">
              <a:latin typeface="Calibri"/>
              <a:cs typeface="Calibri"/>
            </a:endParaRPr>
          </a:p>
          <a:p>
            <a:pPr marL="35433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Calibri"/>
                <a:cs typeface="Calibri"/>
              </a:rPr>
              <a:t>human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performance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07657" y="225805"/>
            <a:ext cx="643318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Next</a:t>
            </a:r>
            <a:r>
              <a:rPr sz="3950" spc="-60" dirty="0"/>
              <a:t> </a:t>
            </a:r>
            <a:r>
              <a:rPr sz="3950" dirty="0"/>
              <a:t>level</a:t>
            </a:r>
            <a:r>
              <a:rPr sz="3950" spc="-20" dirty="0"/>
              <a:t> </a:t>
            </a:r>
            <a:r>
              <a:rPr sz="3950" dirty="0"/>
              <a:t>understanding:</a:t>
            </a:r>
            <a:r>
              <a:rPr sz="3950" spc="-20" dirty="0"/>
              <a:t> 2015</a:t>
            </a:r>
            <a:endParaRPr sz="3950"/>
          </a:p>
        </p:txBody>
      </p:sp>
      <p:pic>
        <p:nvPicPr>
          <p:cNvPr id="5" name="object 5" descr="Unlocking Resnets. Step by step exploration on what… | by Anup Joseph |  Analytics Vidhya | Medium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775" y="2971800"/>
            <a:ext cx="8924925" cy="35814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857" y="899160"/>
            <a:ext cx="496189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Deep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generative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models: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GANs,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VAEs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Next</a:t>
            </a:r>
            <a:r>
              <a:rPr sz="3950" spc="-60" dirty="0"/>
              <a:t> </a:t>
            </a:r>
            <a:r>
              <a:rPr sz="3950" dirty="0"/>
              <a:t>level</a:t>
            </a:r>
            <a:r>
              <a:rPr sz="3950" spc="-20" dirty="0"/>
              <a:t> </a:t>
            </a:r>
            <a:r>
              <a:rPr sz="3950" dirty="0"/>
              <a:t>understanding:</a:t>
            </a:r>
            <a:r>
              <a:rPr sz="3950" spc="-20" dirty="0"/>
              <a:t> 2014</a:t>
            </a:r>
            <a:endParaRPr sz="3950"/>
          </a:p>
        </p:txBody>
      </p:sp>
      <p:pic>
        <p:nvPicPr>
          <p:cNvPr id="4" name="object 4" descr="Diffusion Models vs. GANs vs. VAEs: Comparison of Deep Generative… –  Towards AI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192" y="2667000"/>
            <a:ext cx="8523617" cy="22860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UNet — Line by Line Explanation. Example UNet Implementation | by Jeremy  Zhang | Towards Data Scienc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84356" y="3261455"/>
            <a:ext cx="4869533" cy="324614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83857" y="899160"/>
            <a:ext cx="7938770" cy="7550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ts val="2865"/>
              </a:lnSpc>
              <a:spcBef>
                <a:spcPts val="10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Segmentation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networks: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FCN,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SegNet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U-Net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semantic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ts val="2865"/>
              </a:lnSpc>
            </a:pPr>
            <a:r>
              <a:rPr sz="2400" spc="-10" dirty="0">
                <a:latin typeface="Calibri"/>
                <a:cs typeface="Calibri"/>
              </a:rPr>
              <a:t>segmentation;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COCO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dataset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arrives;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VQA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dataset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arrives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Next</a:t>
            </a:r>
            <a:r>
              <a:rPr sz="3950" spc="-60" dirty="0"/>
              <a:t> </a:t>
            </a:r>
            <a:r>
              <a:rPr sz="3950" dirty="0"/>
              <a:t>level</a:t>
            </a:r>
            <a:r>
              <a:rPr sz="3950" spc="-20" dirty="0"/>
              <a:t> </a:t>
            </a:r>
            <a:r>
              <a:rPr sz="3950" dirty="0"/>
              <a:t>understanding:</a:t>
            </a:r>
            <a:r>
              <a:rPr sz="3950" spc="-20" dirty="0"/>
              <a:t> 2015</a:t>
            </a:r>
            <a:endParaRPr sz="3950"/>
          </a:p>
        </p:txBody>
      </p:sp>
      <p:pic>
        <p:nvPicPr>
          <p:cNvPr id="5" name="object 5" descr="FCN Explained | Papers With Code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1828800"/>
            <a:ext cx="3810000" cy="19812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857" y="826897"/>
            <a:ext cx="7461250" cy="902969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YOLO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SSD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object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detection;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Cityscapes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dataset</a:t>
            </a:r>
            <a:r>
              <a:rPr sz="2400" spc="-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arrives,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Visual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Genome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dataset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arrives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07657" y="225805"/>
            <a:ext cx="643318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Next</a:t>
            </a:r>
            <a:r>
              <a:rPr sz="3950" spc="-60" dirty="0"/>
              <a:t> </a:t>
            </a:r>
            <a:r>
              <a:rPr sz="3950" dirty="0"/>
              <a:t>level</a:t>
            </a:r>
            <a:r>
              <a:rPr sz="3950" spc="-20" dirty="0"/>
              <a:t> </a:t>
            </a:r>
            <a:r>
              <a:rPr sz="3950" dirty="0"/>
              <a:t>understanding:</a:t>
            </a:r>
            <a:r>
              <a:rPr sz="3950" spc="-20" dirty="0"/>
              <a:t> 2016</a:t>
            </a:r>
            <a:endParaRPr sz="3950"/>
          </a:p>
        </p:txBody>
      </p:sp>
      <p:grpSp>
        <p:nvGrpSpPr>
          <p:cNvPr id="4" name="object 4"/>
          <p:cNvGrpSpPr/>
          <p:nvPr/>
        </p:nvGrpSpPr>
        <p:grpSpPr>
          <a:xfrm>
            <a:off x="228600" y="1752600"/>
            <a:ext cx="8763000" cy="4895850"/>
            <a:chOff x="228600" y="1752600"/>
            <a:chExt cx="8763000" cy="4895850"/>
          </a:xfrm>
        </p:grpSpPr>
        <p:pic>
          <p:nvPicPr>
            <p:cNvPr id="5" name="object 5" descr="Object detection using YOLO: challenges, architectural successors, datasets  and applications | Multimedia Tools and Applications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4450" y="1752600"/>
              <a:ext cx="6381750" cy="2162175"/>
            </a:xfrm>
            <a:prstGeom prst="rect">
              <a:avLst/>
            </a:prstGeom>
          </p:spPr>
        </p:pic>
        <p:pic>
          <p:nvPicPr>
            <p:cNvPr id="6" name="object 6" descr="Architecture of SSD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600" y="4038600"/>
              <a:ext cx="8763000" cy="260985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857" y="899160"/>
            <a:ext cx="425323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Scene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Graph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Generation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Next</a:t>
            </a:r>
            <a:r>
              <a:rPr sz="3950" spc="-60" dirty="0"/>
              <a:t> </a:t>
            </a:r>
            <a:r>
              <a:rPr sz="3950" dirty="0"/>
              <a:t>level</a:t>
            </a:r>
            <a:r>
              <a:rPr sz="3950" spc="-20" dirty="0"/>
              <a:t> </a:t>
            </a:r>
            <a:r>
              <a:rPr sz="3950" dirty="0"/>
              <a:t>understanding:</a:t>
            </a:r>
            <a:r>
              <a:rPr sz="3950" spc="-20" dirty="0"/>
              <a:t> 2017</a:t>
            </a:r>
            <a:endParaRPr sz="3950"/>
          </a:p>
        </p:txBody>
      </p:sp>
      <p:pic>
        <p:nvPicPr>
          <p:cNvPr id="4" name="object 4" descr="Scene Graph Generation, Compression, and Classification on Action Genome  Dataset | by Tina Li | Stanford CS224W GraphML Tutorials | Medium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070" y="1670957"/>
            <a:ext cx="8846820" cy="487581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857" y="826897"/>
            <a:ext cx="6155690" cy="902969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VCR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(Visual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Common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sense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Reasoning)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dataset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Panoptic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segmentation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07657" y="225805"/>
            <a:ext cx="7700009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Next</a:t>
            </a:r>
            <a:r>
              <a:rPr sz="3950" spc="-50" dirty="0"/>
              <a:t> </a:t>
            </a:r>
            <a:r>
              <a:rPr sz="3950" dirty="0"/>
              <a:t>level</a:t>
            </a:r>
            <a:r>
              <a:rPr sz="3950" spc="-10" dirty="0"/>
              <a:t> </a:t>
            </a:r>
            <a:r>
              <a:rPr sz="3950" dirty="0"/>
              <a:t>understanding:</a:t>
            </a:r>
            <a:r>
              <a:rPr sz="3950" spc="-10" dirty="0"/>
              <a:t> </a:t>
            </a:r>
            <a:r>
              <a:rPr sz="3950" dirty="0"/>
              <a:t>2018,</a:t>
            </a:r>
            <a:r>
              <a:rPr sz="3950" spc="-15" dirty="0"/>
              <a:t> </a:t>
            </a:r>
            <a:r>
              <a:rPr sz="3950" spc="-20" dirty="0"/>
              <a:t>2019</a:t>
            </a:r>
            <a:endParaRPr sz="3950"/>
          </a:p>
        </p:txBody>
      </p:sp>
      <p:pic>
        <p:nvPicPr>
          <p:cNvPr id="4" name="object 4" descr="Semantic vs Instance vs Panoptic: Which Image Segmentation Technique To  Choose?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1876425"/>
            <a:ext cx="7010400" cy="467677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683130"/>
            <a:ext cx="3424554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"/>
              </a:spcBef>
              <a:buClr>
                <a:srgbClr val="FFFFFF"/>
              </a:buClr>
              <a:buFont typeface="Arial MT"/>
              <a:buChar char="•"/>
              <a:tabLst>
                <a:tab pos="354965" algn="l"/>
              </a:tabLst>
            </a:pP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Faster</a:t>
            </a:r>
            <a:r>
              <a:rPr sz="32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….</a:t>
            </a:r>
            <a:r>
              <a:rPr sz="3200" b="1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Better….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857" y="899160"/>
            <a:ext cx="605663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Wingdings"/>
              <a:buChar char=""/>
              <a:tabLst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Faster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convergence,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accuracy,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Stronger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Better</a:t>
            </a:r>
            <a:r>
              <a:rPr spc="-110" dirty="0"/>
              <a:t> </a:t>
            </a:r>
            <a:r>
              <a:rPr spc="-10" dirty="0"/>
              <a:t>Optimization</a:t>
            </a:r>
            <a:r>
              <a:rPr spc="-130" dirty="0"/>
              <a:t> </a:t>
            </a:r>
            <a:r>
              <a:rPr spc="-10" dirty="0"/>
              <a:t>Methods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" y="1295400"/>
            <a:ext cx="8982075" cy="49244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Better</a:t>
            </a:r>
            <a:r>
              <a:rPr spc="-150" dirty="0"/>
              <a:t> </a:t>
            </a:r>
            <a:r>
              <a:rPr dirty="0"/>
              <a:t>Activation</a:t>
            </a:r>
            <a:r>
              <a:rPr spc="-170" dirty="0"/>
              <a:t> </a:t>
            </a:r>
            <a:r>
              <a:rPr spc="-10" dirty="0"/>
              <a:t>Functions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1362075"/>
            <a:ext cx="8963025" cy="48101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Sequences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825" y="1771650"/>
            <a:ext cx="8943975" cy="39433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Sequences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" y="1571625"/>
            <a:ext cx="9010650" cy="43719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80" dirty="0"/>
              <a:t> </a:t>
            </a:r>
            <a:r>
              <a:rPr dirty="0"/>
              <a:t>Rise</a:t>
            </a:r>
            <a:r>
              <a:rPr spc="1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spc="-35" dirty="0"/>
              <a:t>Transformers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1409700"/>
            <a:ext cx="8934450" cy="46863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683130"/>
            <a:ext cx="2767330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"/>
              </a:spcBef>
              <a:buClr>
                <a:srgbClr val="FFFFFF"/>
              </a:buClr>
              <a:buFont typeface="Arial MT"/>
              <a:buChar char="•"/>
              <a:tabLst>
                <a:tab pos="354965" algn="l"/>
              </a:tabLst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Explainable</a:t>
            </a:r>
            <a:r>
              <a:rPr sz="32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spc="-25" dirty="0">
                <a:solidFill>
                  <a:srgbClr val="FFFFFF"/>
                </a:solidFill>
                <a:latin typeface="Calibri"/>
                <a:cs typeface="Calibri"/>
              </a:rPr>
              <a:t>AI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Interpretable,</a:t>
            </a:r>
            <a:r>
              <a:rPr spc="-90" dirty="0"/>
              <a:t> </a:t>
            </a:r>
            <a:r>
              <a:rPr dirty="0"/>
              <a:t>Responsible</a:t>
            </a:r>
            <a:r>
              <a:rPr spc="-85" dirty="0"/>
              <a:t> </a:t>
            </a:r>
            <a:r>
              <a:rPr dirty="0"/>
              <a:t>&amp;</a:t>
            </a:r>
            <a:r>
              <a:rPr spc="-85" dirty="0"/>
              <a:t> </a:t>
            </a:r>
            <a:r>
              <a:rPr dirty="0"/>
              <a:t>Green</a:t>
            </a:r>
            <a:r>
              <a:rPr spc="-105" dirty="0"/>
              <a:t> </a:t>
            </a:r>
            <a:r>
              <a:rPr spc="-25" dirty="0"/>
              <a:t>AI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50" y="1590675"/>
            <a:ext cx="8867775" cy="36671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Interpretable,</a:t>
            </a:r>
            <a:r>
              <a:rPr spc="-90" dirty="0"/>
              <a:t> </a:t>
            </a:r>
            <a:r>
              <a:rPr dirty="0"/>
              <a:t>Responsible</a:t>
            </a:r>
            <a:r>
              <a:rPr spc="-85" dirty="0"/>
              <a:t> </a:t>
            </a:r>
            <a:r>
              <a:rPr dirty="0"/>
              <a:t>&amp;</a:t>
            </a:r>
            <a:r>
              <a:rPr spc="-85" dirty="0"/>
              <a:t> </a:t>
            </a:r>
            <a:r>
              <a:rPr dirty="0"/>
              <a:t>Green</a:t>
            </a:r>
            <a:r>
              <a:rPr spc="-105" dirty="0"/>
              <a:t> </a:t>
            </a:r>
            <a:r>
              <a:rPr spc="-25" dirty="0"/>
              <a:t>AI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1295400"/>
            <a:ext cx="8991600" cy="48672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Interpretable,</a:t>
            </a:r>
            <a:r>
              <a:rPr spc="-90" dirty="0"/>
              <a:t> </a:t>
            </a:r>
            <a:r>
              <a:rPr dirty="0"/>
              <a:t>Responsible</a:t>
            </a:r>
            <a:r>
              <a:rPr spc="-85" dirty="0"/>
              <a:t> </a:t>
            </a:r>
            <a:r>
              <a:rPr dirty="0"/>
              <a:t>&amp;</a:t>
            </a:r>
            <a:r>
              <a:rPr spc="-85" dirty="0"/>
              <a:t> </a:t>
            </a:r>
            <a:r>
              <a:rPr dirty="0"/>
              <a:t>Green</a:t>
            </a:r>
            <a:r>
              <a:rPr spc="-105" dirty="0"/>
              <a:t> </a:t>
            </a:r>
            <a:r>
              <a:rPr spc="-25" dirty="0"/>
              <a:t>AI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0" y="1466850"/>
            <a:ext cx="8972550" cy="44767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Interpretable,</a:t>
            </a:r>
            <a:r>
              <a:rPr spc="-90" dirty="0"/>
              <a:t> </a:t>
            </a:r>
            <a:r>
              <a:rPr dirty="0"/>
              <a:t>Responsible</a:t>
            </a:r>
            <a:r>
              <a:rPr spc="-85" dirty="0"/>
              <a:t> </a:t>
            </a:r>
            <a:r>
              <a:rPr dirty="0"/>
              <a:t>&amp;</a:t>
            </a:r>
            <a:r>
              <a:rPr spc="-85" dirty="0"/>
              <a:t> </a:t>
            </a:r>
            <a:r>
              <a:rPr dirty="0"/>
              <a:t>Green</a:t>
            </a:r>
            <a:r>
              <a:rPr spc="-105" dirty="0"/>
              <a:t> </a:t>
            </a:r>
            <a:r>
              <a:rPr spc="-25" dirty="0"/>
              <a:t>AI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1457325"/>
            <a:ext cx="9001125" cy="45624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Interpretable,</a:t>
            </a:r>
            <a:r>
              <a:rPr spc="-90" dirty="0"/>
              <a:t> </a:t>
            </a:r>
            <a:r>
              <a:rPr dirty="0"/>
              <a:t>Responsible</a:t>
            </a:r>
            <a:r>
              <a:rPr spc="-85" dirty="0"/>
              <a:t> </a:t>
            </a:r>
            <a:r>
              <a:rPr dirty="0"/>
              <a:t>&amp;</a:t>
            </a:r>
            <a:r>
              <a:rPr spc="-85" dirty="0"/>
              <a:t> </a:t>
            </a:r>
            <a:r>
              <a:rPr dirty="0"/>
              <a:t>Green</a:t>
            </a:r>
            <a:r>
              <a:rPr spc="-105" dirty="0"/>
              <a:t> </a:t>
            </a:r>
            <a:r>
              <a:rPr spc="-25" dirty="0"/>
              <a:t>AI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1447800"/>
            <a:ext cx="8991600" cy="44577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Interpretable,</a:t>
            </a:r>
            <a:r>
              <a:rPr spc="-90" dirty="0"/>
              <a:t> </a:t>
            </a:r>
            <a:r>
              <a:rPr dirty="0"/>
              <a:t>Responsible</a:t>
            </a:r>
            <a:r>
              <a:rPr spc="-85" dirty="0"/>
              <a:t> </a:t>
            </a:r>
            <a:r>
              <a:rPr dirty="0"/>
              <a:t>&amp;</a:t>
            </a:r>
            <a:r>
              <a:rPr spc="-85" dirty="0"/>
              <a:t> </a:t>
            </a:r>
            <a:r>
              <a:rPr dirty="0"/>
              <a:t>Green</a:t>
            </a:r>
            <a:r>
              <a:rPr spc="-105" dirty="0"/>
              <a:t> </a:t>
            </a:r>
            <a:r>
              <a:rPr spc="-25" dirty="0"/>
              <a:t>AI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" y="1504950"/>
            <a:ext cx="8963025" cy="44386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Interpretable,</a:t>
            </a:r>
            <a:r>
              <a:rPr spc="-90" dirty="0"/>
              <a:t> </a:t>
            </a:r>
            <a:r>
              <a:rPr dirty="0"/>
              <a:t>Responsible</a:t>
            </a:r>
            <a:r>
              <a:rPr spc="-85" dirty="0"/>
              <a:t> </a:t>
            </a:r>
            <a:r>
              <a:rPr dirty="0"/>
              <a:t>&amp;</a:t>
            </a:r>
            <a:r>
              <a:rPr spc="-85" dirty="0"/>
              <a:t> </a:t>
            </a:r>
            <a:r>
              <a:rPr dirty="0"/>
              <a:t>Green</a:t>
            </a:r>
            <a:r>
              <a:rPr spc="-105" dirty="0"/>
              <a:t> </a:t>
            </a:r>
            <a:r>
              <a:rPr spc="-25" dirty="0"/>
              <a:t>AI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" y="1447800"/>
            <a:ext cx="8963025" cy="44767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Interpretable,</a:t>
            </a:r>
            <a:r>
              <a:rPr spc="-90" dirty="0"/>
              <a:t> </a:t>
            </a:r>
            <a:r>
              <a:rPr dirty="0"/>
              <a:t>Responsible</a:t>
            </a:r>
            <a:r>
              <a:rPr spc="-85" dirty="0"/>
              <a:t> </a:t>
            </a:r>
            <a:r>
              <a:rPr dirty="0"/>
              <a:t>&amp;</a:t>
            </a:r>
            <a:r>
              <a:rPr spc="-85" dirty="0"/>
              <a:t> </a:t>
            </a:r>
            <a:r>
              <a:rPr dirty="0"/>
              <a:t>Green</a:t>
            </a:r>
            <a:r>
              <a:rPr spc="-105" dirty="0"/>
              <a:t> </a:t>
            </a:r>
            <a:r>
              <a:rPr spc="-25" dirty="0"/>
              <a:t>AI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6200" y="1447800"/>
            <a:ext cx="9020175" cy="5105400"/>
            <a:chOff x="76200" y="1447800"/>
            <a:chExt cx="9020175" cy="5105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00" y="1447800"/>
              <a:ext cx="9020175" cy="45243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05200" y="5734050"/>
              <a:ext cx="3019425" cy="81915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Interpretable,</a:t>
            </a:r>
            <a:r>
              <a:rPr spc="-90" dirty="0"/>
              <a:t> </a:t>
            </a:r>
            <a:r>
              <a:rPr dirty="0"/>
              <a:t>Responsible</a:t>
            </a:r>
            <a:r>
              <a:rPr spc="-85" dirty="0"/>
              <a:t> </a:t>
            </a:r>
            <a:r>
              <a:rPr dirty="0"/>
              <a:t>&amp;</a:t>
            </a:r>
            <a:r>
              <a:rPr spc="-85" dirty="0"/>
              <a:t> </a:t>
            </a:r>
            <a:r>
              <a:rPr dirty="0"/>
              <a:t>Green</a:t>
            </a:r>
            <a:r>
              <a:rPr spc="-105" dirty="0"/>
              <a:t> </a:t>
            </a:r>
            <a:r>
              <a:rPr spc="-25" dirty="0"/>
              <a:t>AI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2102" y="1143000"/>
            <a:ext cx="8824595" cy="5225415"/>
            <a:chOff x="162102" y="1143000"/>
            <a:chExt cx="8824595" cy="52254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102" y="1714831"/>
              <a:ext cx="2785612" cy="141378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63663" y="1143000"/>
              <a:ext cx="5922799" cy="5225272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Interpretable,</a:t>
            </a:r>
            <a:r>
              <a:rPr spc="-90" dirty="0"/>
              <a:t> </a:t>
            </a:r>
            <a:r>
              <a:rPr dirty="0"/>
              <a:t>Responsible</a:t>
            </a:r>
            <a:r>
              <a:rPr spc="-85" dirty="0"/>
              <a:t> </a:t>
            </a:r>
            <a:r>
              <a:rPr dirty="0"/>
              <a:t>&amp;</a:t>
            </a:r>
            <a:r>
              <a:rPr spc="-85" dirty="0"/>
              <a:t> </a:t>
            </a:r>
            <a:r>
              <a:rPr dirty="0"/>
              <a:t>Green</a:t>
            </a:r>
            <a:r>
              <a:rPr spc="-105" dirty="0"/>
              <a:t> </a:t>
            </a:r>
            <a:r>
              <a:rPr spc="-25" dirty="0"/>
              <a:t>AI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200150"/>
            <a:ext cx="8905875" cy="44577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AI</a:t>
            </a:r>
            <a:r>
              <a:rPr spc="-80" dirty="0"/>
              <a:t> </a:t>
            </a:r>
            <a:r>
              <a:rPr spc="-10" dirty="0"/>
              <a:t>Revolutionize</a:t>
            </a:r>
            <a:r>
              <a:rPr spc="-125" dirty="0"/>
              <a:t> </a:t>
            </a:r>
            <a:r>
              <a:rPr dirty="0"/>
              <a:t>Scientific</a:t>
            </a:r>
            <a:r>
              <a:rPr spc="-90" dirty="0"/>
              <a:t> </a:t>
            </a:r>
            <a:r>
              <a:rPr spc="-10" dirty="0"/>
              <a:t>Research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885825"/>
            <a:ext cx="7105650" cy="54102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65492" y="6234112"/>
            <a:ext cx="75641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C000"/>
                </a:solidFill>
                <a:latin typeface="Calibri"/>
                <a:cs typeface="Calibri"/>
              </a:rPr>
              <a:t>Source:</a:t>
            </a:r>
            <a:r>
              <a:rPr sz="1800" spc="-75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C000"/>
                </a:solidFill>
                <a:latin typeface="Calibri"/>
                <a:cs typeface="Calibri"/>
                <a:hlinkClick r:id="rId3"/>
              </a:rPr>
              <a:t>https://www.cbinsights.com/research/artificial-intelligence-top-startups/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1683130"/>
            <a:ext cx="238061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"/>
              </a:spcBef>
              <a:buClr>
                <a:srgbClr val="FFFFFF"/>
              </a:buClr>
              <a:buFont typeface="Arial MT"/>
              <a:buChar char="•"/>
              <a:tabLst>
                <a:tab pos="354965" algn="l"/>
              </a:tabLst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End</a:t>
            </a:r>
            <a:r>
              <a:rPr sz="32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 topic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35"/>
              </a:lnSpc>
            </a:pPr>
            <a:r>
              <a:rPr dirty="0"/>
              <a:t>NIT</a:t>
            </a:r>
            <a:r>
              <a:rPr spc="-35" dirty="0"/>
              <a:t> </a:t>
            </a:r>
            <a:r>
              <a:rPr spc="-10" dirty="0"/>
              <a:t>Rourkela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50"/>
              </a:lnSpc>
            </a:pPr>
            <a:r>
              <a:rPr dirty="0"/>
              <a:t>“Deep</a:t>
            </a:r>
            <a:r>
              <a:rPr spc="-80" dirty="0"/>
              <a:t> </a:t>
            </a:r>
            <a:r>
              <a:rPr dirty="0"/>
              <a:t>Learning:</a:t>
            </a:r>
            <a:r>
              <a:rPr spc="-40" dirty="0"/>
              <a:t> </a:t>
            </a:r>
            <a:r>
              <a:rPr dirty="0"/>
              <a:t>Course</a:t>
            </a:r>
            <a:r>
              <a:rPr spc="-50" dirty="0"/>
              <a:t> </a:t>
            </a:r>
            <a:r>
              <a:rPr spc="-10" dirty="0"/>
              <a:t>Introduction”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1058</Words>
  <Application>Microsoft Office PowerPoint</Application>
  <PresentationFormat>On-screen Show (4:3)</PresentationFormat>
  <Paragraphs>208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9" baseType="lpstr">
      <vt:lpstr>Arial MT</vt:lpstr>
      <vt:lpstr>Calibri</vt:lpstr>
      <vt:lpstr>Wingdings</vt:lpstr>
      <vt:lpstr>Office Theme</vt:lpstr>
      <vt:lpstr>Deep Learning Introduction to Deep Learning</vt:lpstr>
      <vt:lpstr>References:</vt:lpstr>
      <vt:lpstr>Biological Neurons</vt:lpstr>
      <vt:lpstr>Biological Neurons</vt:lpstr>
      <vt:lpstr>Biological Neurons</vt:lpstr>
      <vt:lpstr>Biological Neurons</vt:lpstr>
      <vt:lpstr>Biological Neurons</vt:lpstr>
      <vt:lpstr>From Spring to Winter of AI</vt:lpstr>
      <vt:lpstr>Dartmouth conference: 1956</vt:lpstr>
      <vt:lpstr>From Spring to Winter of AI</vt:lpstr>
      <vt:lpstr>From Spring to Winter of AI</vt:lpstr>
      <vt:lpstr>From Spring to Winter of AI</vt:lpstr>
      <vt:lpstr>From Spring to Winter of AI</vt:lpstr>
      <vt:lpstr>From Spring to Winter of AI</vt:lpstr>
      <vt:lpstr>From Spring to Winter of AI</vt:lpstr>
      <vt:lpstr>The Deep Revival</vt:lpstr>
      <vt:lpstr>The Deep Revival</vt:lpstr>
      <vt:lpstr>PowerPoint Presentation</vt:lpstr>
      <vt:lpstr>From Cats to Convolutional Neural Nets</vt:lpstr>
      <vt:lpstr>From Cats to Convolutional Neural Nets</vt:lpstr>
      <vt:lpstr>From Cats to Convolutional Neural Nets</vt:lpstr>
      <vt:lpstr>PowerPoint Presentation</vt:lpstr>
      <vt:lpstr>Next level understanding</vt:lpstr>
      <vt:lpstr>Next level understanding</vt:lpstr>
      <vt:lpstr>Next level understanding</vt:lpstr>
      <vt:lpstr>Next level understanding: 2015</vt:lpstr>
      <vt:lpstr>Next level understanding: 2012</vt:lpstr>
      <vt:lpstr>Next level understanding: 2013 ZFNet: Matthew D Zeiler and Rob Fergus (ILSVRC 2013)</vt:lpstr>
      <vt:lpstr>Next level understanding: 2014</vt:lpstr>
      <vt:lpstr>Next level understanding: 2014</vt:lpstr>
      <vt:lpstr>Next level understanding: 2015</vt:lpstr>
      <vt:lpstr>Next level understanding: 2014</vt:lpstr>
      <vt:lpstr>Next level understanding: 2015</vt:lpstr>
      <vt:lpstr>Next level understanding: 2016</vt:lpstr>
      <vt:lpstr>Next level understanding: 2017</vt:lpstr>
      <vt:lpstr>Next level understanding: 2018, 2019</vt:lpstr>
      <vt:lpstr>PowerPoint Presentation</vt:lpstr>
      <vt:lpstr>Better Optimization Methods</vt:lpstr>
      <vt:lpstr>Better Activation Functions</vt:lpstr>
      <vt:lpstr>Sequences</vt:lpstr>
      <vt:lpstr>Sequences</vt:lpstr>
      <vt:lpstr>The Rise of Transformers</vt:lpstr>
      <vt:lpstr>PowerPoint Presentation</vt:lpstr>
      <vt:lpstr>Interpretable, Responsible &amp; Green AI</vt:lpstr>
      <vt:lpstr>Interpretable, Responsible &amp; Green AI</vt:lpstr>
      <vt:lpstr>Interpretable, Responsible &amp; Green AI</vt:lpstr>
      <vt:lpstr>Interpretable, Responsible &amp; Green AI</vt:lpstr>
      <vt:lpstr>Interpretable, Responsible &amp; Green AI</vt:lpstr>
      <vt:lpstr>Interpretable, Responsible &amp; Green AI</vt:lpstr>
      <vt:lpstr>Interpretable, Responsible &amp; Green AI</vt:lpstr>
      <vt:lpstr>Interpretable, Responsible &amp; Green AI</vt:lpstr>
      <vt:lpstr>Interpretable, Responsible &amp; Green AI</vt:lpstr>
      <vt:lpstr>Interpretable, Responsible &amp; Green AI</vt:lpstr>
      <vt:lpstr>AI Revolutionize Scientific Research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Introduction to Deep Learning</dc:title>
  <cp:lastModifiedBy>Trinath</cp:lastModifiedBy>
  <cp:revision>2</cp:revision>
  <dcterms:created xsi:type="dcterms:W3CDTF">2026-07-31T08:53:47Z</dcterms:created>
  <dcterms:modified xsi:type="dcterms:W3CDTF">2026-07-31T09:04:55Z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2025-01-07T00:00:00Z</vt:filetime>
  </property>
  <property fmtid="{D5CDD505-2E9C-101B-9397-08002B2CF9AE}" pid="4" name="LastSaved">
    <vt:filetime>2026-07-31T00:00:00Z</vt:filetime>
  </property>
</Properties>
</file>