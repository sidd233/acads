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463" r:id="rId3"/>
    <p:sldId id="467" r:id="rId4"/>
    <p:sldId id="610" r:id="rId5"/>
    <p:sldId id="615" r:id="rId6"/>
    <p:sldId id="498" r:id="rId7"/>
    <p:sldId id="622" r:id="rId8"/>
    <p:sldId id="617" r:id="rId9"/>
    <p:sldId id="509" r:id="rId10"/>
    <p:sldId id="619" r:id="rId11"/>
    <p:sldId id="620" r:id="rId12"/>
    <p:sldId id="621" r:id="rId13"/>
    <p:sldId id="514" r:id="rId14"/>
    <p:sldId id="618" r:id="rId15"/>
    <p:sldId id="529" r:id="rId16"/>
    <p:sldId id="543" r:id="rId17"/>
    <p:sldId id="548" r:id="rId18"/>
    <p:sldId id="556" r:id="rId19"/>
    <p:sldId id="559" r:id="rId20"/>
    <p:sldId id="562" r:id="rId21"/>
    <p:sldId id="570" r:id="rId22"/>
    <p:sldId id="578" r:id="rId23"/>
    <p:sldId id="580" r:id="rId24"/>
    <p:sldId id="581" r:id="rId25"/>
    <p:sldId id="582" r:id="rId26"/>
    <p:sldId id="584" r:id="rId27"/>
    <p:sldId id="588" r:id="rId28"/>
    <p:sldId id="592" r:id="rId29"/>
    <p:sldId id="596" r:id="rId30"/>
    <p:sldId id="602" r:id="rId31"/>
    <p:sldId id="603" r:id="rId3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1" d="100"/>
          <a:sy n="221" d="100"/>
        </p:scale>
        <p:origin x="80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04D6C-2DE0-4E89-95A0-F01C1D70852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4C5A3-E57F-44AB-B279-D14F7DD294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9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4C5A3-E57F-44AB-B279-D14F7DD294F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20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8995" y="402144"/>
            <a:ext cx="4839335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544523"/>
            <a:ext cx="4789805" cy="70802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3092450"/>
            <a:ext cx="57658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4395" y="100849"/>
            <a:ext cx="2268854" cy="19177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3092450"/>
            <a:ext cx="5765800" cy="1524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1.png"/><Relationship Id="rId7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42.png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1.png"/><Relationship Id="rId7" Type="http://schemas.openxmlformats.org/officeDocument/2006/relationships/image" Target="../media/image3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1.png"/><Relationship Id="rId7" Type="http://schemas.openxmlformats.org/officeDocument/2006/relationships/image" Target="../media/image3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8.png"/><Relationship Id="rId7" Type="http://schemas.openxmlformats.org/officeDocument/2006/relationships/image" Target="../media/image3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11" Type="http://schemas.openxmlformats.org/officeDocument/2006/relationships/image" Target="../media/image50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41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 txBox="1"/>
          <p:nvPr/>
        </p:nvSpPr>
        <p:spPr>
          <a:xfrm>
            <a:off x="2848051" y="2077794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6398" y="708025"/>
            <a:ext cx="4267200" cy="937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6370" marR="158115" indent="1270" algn="ctr">
              <a:lnSpc>
                <a:spcPct val="102600"/>
              </a:lnSpc>
              <a:spcBef>
                <a:spcPts val="295"/>
              </a:spcBef>
            </a:pPr>
            <a:r>
              <a:rPr lang="en-IN" spc="10" dirty="0" smtClean="0">
                <a:solidFill>
                  <a:schemeClr val="tx1"/>
                </a:solidFill>
                <a:latin typeface="Calibri"/>
                <a:cs typeface="Calibri"/>
              </a:rPr>
              <a:t>Regularization:</a:t>
            </a:r>
            <a:r>
              <a:rPr lang="en-IN" spc="380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Calibri"/>
                <a:cs typeface="Calibri"/>
              </a:rPr>
              <a:t>Noise Injection to Inputs/Outputs</a:t>
            </a:r>
            <a:r>
              <a:rPr lang="en-IN" spc="-10" dirty="0" smtClean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IN" dirty="0" smtClean="0">
                <a:solidFill>
                  <a:schemeClr val="tx1"/>
                </a:solidFill>
                <a:latin typeface="Calibri"/>
                <a:cs typeface="Calibri"/>
              </a:rPr>
              <a:t>Ensemble</a:t>
            </a:r>
            <a:r>
              <a:rPr lang="en-IN" spc="260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dirty="0" smtClean="0">
                <a:solidFill>
                  <a:schemeClr val="tx1"/>
                </a:solidFill>
                <a:latin typeface="Calibri"/>
                <a:cs typeface="Calibri"/>
              </a:rPr>
              <a:t>methods,</a:t>
            </a:r>
            <a:r>
              <a:rPr lang="en-IN" spc="260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pc="-10" dirty="0" smtClean="0">
                <a:solidFill>
                  <a:schemeClr val="tx1"/>
                </a:solidFill>
                <a:latin typeface="Calibri"/>
                <a:cs typeface="Calibri"/>
              </a:rPr>
              <a:t>Dropout</a:t>
            </a:r>
            <a:endParaRPr lang="en-IN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advClick="0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6"/>
          <p:cNvSpPr txBox="1"/>
          <p:nvPr/>
        </p:nvSpPr>
        <p:spPr>
          <a:xfrm>
            <a:off x="3082634" y="791466"/>
            <a:ext cx="2623184" cy="10452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09550" marR="304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alibri"/>
                <a:cs typeface="Calibri"/>
              </a:rPr>
              <a:t>For a simple input–output neural network, injecting Gaussian noise into the inputs is equivalent, in expectation, to applying l2 weight regularization.</a:t>
            </a:r>
          </a:p>
          <a:p>
            <a:pPr marL="209550" marR="304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Calibri"/>
                <a:cs typeface="Calibri"/>
              </a:rPr>
              <a:t>Input noise can also serve as data augmentation.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20700" y="220757"/>
            <a:ext cx="4839335" cy="169277"/>
          </a:xfrm>
        </p:spPr>
        <p:txBody>
          <a:bodyPr/>
          <a:lstStyle/>
          <a:p>
            <a:r>
              <a:rPr lang="en-US" b="1" spc="55" dirty="0"/>
              <a:t>Adding</a:t>
            </a:r>
            <a:r>
              <a:rPr lang="en-US" b="1" spc="135" dirty="0"/>
              <a:t> </a:t>
            </a:r>
            <a:r>
              <a:rPr lang="en-US" b="1" dirty="0"/>
              <a:t>Noise</a:t>
            </a:r>
            <a:r>
              <a:rPr lang="en-US" b="1" spc="140" dirty="0"/>
              <a:t> </a:t>
            </a:r>
            <a:r>
              <a:rPr lang="en-US" b="1" dirty="0"/>
              <a:t>to</a:t>
            </a:r>
            <a:r>
              <a:rPr lang="en-US" b="1" spc="140" dirty="0"/>
              <a:t> </a:t>
            </a:r>
            <a:r>
              <a:rPr lang="en-US" b="1" dirty="0"/>
              <a:t>the</a:t>
            </a:r>
            <a:r>
              <a:rPr lang="en-US" b="1" spc="140" dirty="0"/>
              <a:t> </a:t>
            </a:r>
            <a:r>
              <a:rPr lang="en-US" b="1" spc="-10" dirty="0"/>
              <a:t>inputs </a:t>
            </a:r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08" y="631825"/>
            <a:ext cx="2557059" cy="203982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68300" y="250825"/>
            <a:ext cx="1368642" cy="1099566"/>
            <a:chOff x="599858" y="42808"/>
            <a:chExt cx="1521042" cy="11551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7E2FF32-3393-B8A4-5D36-9F369509FAB3}"/>
                    </a:ext>
                  </a:extLst>
                </p:cNvPr>
                <p:cNvSpPr txBox="1"/>
                <p:nvPr/>
              </p:nvSpPr>
              <p:spPr>
                <a:xfrm rot="5400000">
                  <a:off x="1120594" y="487185"/>
                  <a:ext cx="35337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1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7E2FF32-3393-B8A4-5D36-9F369509F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120594" y="487185"/>
                  <a:ext cx="353377" cy="2616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/>
            <p:cNvSpPr/>
            <p:nvPr/>
          </p:nvSpPr>
          <p:spPr>
            <a:xfrm>
              <a:off x="677510" y="42808"/>
              <a:ext cx="1443390" cy="1154234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2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5938" y="520940"/>
              <a:ext cx="122097" cy="122097"/>
            </a:xfrm>
            <a:prstGeom prst="rect">
              <a:avLst/>
            </a:prstGeom>
          </p:spPr>
        </p:pic>
        <p:pic>
          <p:nvPicPr>
            <p:cNvPr id="36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232" y="707910"/>
              <a:ext cx="122097" cy="122097"/>
            </a:xfrm>
            <a:prstGeom prst="rect">
              <a:avLst/>
            </a:prstGeom>
          </p:spPr>
        </p:pic>
        <p:pic>
          <p:nvPicPr>
            <p:cNvPr id="3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233" y="391556"/>
              <a:ext cx="122097" cy="122097"/>
            </a:xfrm>
            <a:prstGeom prst="rect">
              <a:avLst/>
            </a:prstGeom>
          </p:spPr>
        </p:pic>
        <p:pic>
          <p:nvPicPr>
            <p:cNvPr id="38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235" y="103145"/>
              <a:ext cx="122097" cy="122097"/>
            </a:xfrm>
            <a:prstGeom prst="rect">
              <a:avLst/>
            </a:prstGeom>
          </p:spPr>
        </p:pic>
        <p:pic>
          <p:nvPicPr>
            <p:cNvPr id="39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6232" y="1024264"/>
              <a:ext cx="122097" cy="1220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7E2FF32-3393-B8A4-5D36-9F369509FAB3}"/>
                    </a:ext>
                  </a:extLst>
                </p:cNvPr>
                <p:cNvSpPr txBox="1"/>
                <p:nvPr/>
              </p:nvSpPr>
              <p:spPr>
                <a:xfrm rot="5400000">
                  <a:off x="1127631" y="789122"/>
                  <a:ext cx="35337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110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IN" sz="11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7E2FF32-3393-B8A4-5D36-9F369509F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127631" y="789122"/>
                  <a:ext cx="353377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/>
            <p:cNvCxnSpPr>
              <a:stCxn id="38" idx="3"/>
              <a:endCxn id="22" idx="0"/>
            </p:cNvCxnSpPr>
            <p:nvPr/>
          </p:nvCxnSpPr>
          <p:spPr>
            <a:xfrm>
              <a:off x="1358332" y="164194"/>
              <a:ext cx="518655" cy="356746"/>
            </a:xfrm>
            <a:prstGeom prst="straightConnector1">
              <a:avLst/>
            </a:prstGeom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37" idx="3"/>
              <a:endCxn id="22" idx="1"/>
            </p:cNvCxnSpPr>
            <p:nvPr/>
          </p:nvCxnSpPr>
          <p:spPr>
            <a:xfrm>
              <a:off x="1358330" y="452605"/>
              <a:ext cx="457608" cy="129384"/>
            </a:xfrm>
            <a:prstGeom prst="straightConnector1">
              <a:avLst/>
            </a:prstGeom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36" idx="3"/>
              <a:endCxn id="22" idx="1"/>
            </p:cNvCxnSpPr>
            <p:nvPr/>
          </p:nvCxnSpPr>
          <p:spPr>
            <a:xfrm flipV="1">
              <a:off x="1358329" y="581989"/>
              <a:ext cx="457609" cy="186970"/>
            </a:xfrm>
            <a:prstGeom prst="straightConnector1">
              <a:avLst/>
            </a:prstGeom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9" idx="3"/>
              <a:endCxn id="22" idx="2"/>
            </p:cNvCxnSpPr>
            <p:nvPr/>
          </p:nvCxnSpPr>
          <p:spPr>
            <a:xfrm flipV="1">
              <a:off x="1358329" y="643037"/>
              <a:ext cx="518658" cy="442276"/>
            </a:xfrm>
            <a:prstGeom prst="straightConnector1">
              <a:avLst/>
            </a:prstGeom>
            <a:ln w="31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772713" y="42808"/>
                  <a:ext cx="524567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0" lang="en-IN" sz="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13" y="42808"/>
                  <a:ext cx="524567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758289" y="342567"/>
                  <a:ext cx="529311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IN" sz="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289" y="342567"/>
                  <a:ext cx="529311" cy="2154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677510" y="640388"/>
                  <a:ext cx="550984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kumimoji="0" lang="en-IN" sz="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510" y="640388"/>
                  <a:ext cx="550984" cy="21544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599858" y="982547"/>
                  <a:ext cx="652935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       </m:t>
                            </m:r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kumimoji="0" lang="en-IN" sz="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kumimoji="0" lang="en-IN" sz="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58" y="982547"/>
                  <a:ext cx="652935" cy="21544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3183" y="483129"/>
            <a:ext cx="545465" cy="545465"/>
            <a:chOff x="360000" y="186579"/>
            <a:chExt cx="545465" cy="545465"/>
          </a:xfrm>
        </p:grpSpPr>
        <p:sp>
          <p:nvSpPr>
            <p:cNvPr id="4" name="object 4"/>
            <p:cNvSpPr/>
            <p:nvPr/>
          </p:nvSpPr>
          <p:spPr>
            <a:xfrm>
              <a:off x="362530" y="18911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6"/>
                  </a:moveTo>
                  <a:lnTo>
                    <a:pt x="0" y="0"/>
                  </a:lnTo>
                  <a:lnTo>
                    <a:pt x="540006" y="0"/>
                  </a:lnTo>
                  <a:lnTo>
                    <a:pt x="540006" y="540006"/>
                  </a:lnTo>
                  <a:lnTo>
                    <a:pt x="0" y="54000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23" y="244843"/>
              <a:ext cx="428625" cy="42862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13308" y="657101"/>
            <a:ext cx="793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50" dirty="0"/>
              <a:t>Hard</a:t>
            </a:r>
            <a:r>
              <a:rPr spc="130" dirty="0"/>
              <a:t> </a:t>
            </a:r>
            <a:r>
              <a:rPr spc="-10" dirty="0"/>
              <a:t>targets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12171"/>
              </p:ext>
            </p:extLst>
          </p:nvPr>
        </p:nvGraphicFramePr>
        <p:xfrm>
          <a:off x="1011192" y="627135"/>
          <a:ext cx="3600444" cy="28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362530" y="1527796"/>
            <a:ext cx="4093845" cy="6674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323340">
              <a:lnSpc>
                <a:spcPct val="100000"/>
              </a:lnSpc>
              <a:spcBef>
                <a:spcPts val="195"/>
              </a:spcBef>
            </a:pPr>
            <a:endParaRPr lang="en-IN" sz="1100" spc="10" dirty="0">
              <a:latin typeface="Calibri"/>
              <a:cs typeface="Calibri"/>
            </a:endParaRPr>
          </a:p>
          <a:p>
            <a:pPr marL="984250">
              <a:lnSpc>
                <a:spcPct val="100000"/>
              </a:lnSpc>
              <a:spcBef>
                <a:spcPts val="335"/>
              </a:spcBef>
            </a:pPr>
            <a:r>
              <a:rPr sz="1100" spc="10" dirty="0" smtClean="0">
                <a:latin typeface="Calibri"/>
                <a:cs typeface="Calibri"/>
              </a:rPr>
              <a:t>estimated</a:t>
            </a:r>
            <a:r>
              <a:rPr sz="1100" spc="220" dirty="0" smtClean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distribution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: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q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00" dirty="0">
              <a:latin typeface="Calibri"/>
              <a:cs typeface="Calibri"/>
            </a:endParaRP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E8671AA4-5620-9D23-3870-235542D252FF}"/>
              </a:ext>
            </a:extLst>
          </p:cNvPr>
          <p:cNvSpPr txBox="1"/>
          <p:nvPr/>
        </p:nvSpPr>
        <p:spPr>
          <a:xfrm>
            <a:off x="2880004" y="108092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9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A2EA6F4B-F084-12D6-D0C5-DA9730896673}"/>
              </a:ext>
            </a:extLst>
          </p:cNvPr>
          <p:cNvSpPr txBox="1"/>
          <p:nvPr/>
        </p:nvSpPr>
        <p:spPr>
          <a:xfrm>
            <a:off x="2862275" y="1174921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AE2E1E39-ADA0-E8E4-235F-0D316E2CA991}"/>
              </a:ext>
            </a:extLst>
          </p:cNvPr>
          <p:cNvSpPr txBox="1"/>
          <p:nvPr/>
        </p:nvSpPr>
        <p:spPr>
          <a:xfrm>
            <a:off x="2112815" y="1145820"/>
            <a:ext cx="131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7255" algn="l"/>
              </a:tabLst>
            </a:pPr>
            <a:r>
              <a:rPr sz="1100" dirty="0">
                <a:latin typeface="Calibri"/>
                <a:cs typeface="Calibri"/>
              </a:rPr>
              <a:t>minimize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i="1" dirty="0">
                <a:latin typeface="Calibri"/>
                <a:cs typeface="Calibri"/>
              </a:rPr>
              <a:t>p</a:t>
            </a:r>
            <a:r>
              <a:rPr sz="1100" i="1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q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3B41A326-3C21-E52A-45A4-7AC2FA4546CC}"/>
              </a:ext>
            </a:extLst>
          </p:cNvPr>
          <p:cNvSpPr txBox="1"/>
          <p:nvPr/>
        </p:nvSpPr>
        <p:spPr>
          <a:xfrm>
            <a:off x="2842605" y="1299871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=0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36" name="object 11">
            <a:extLst>
              <a:ext uri="{FF2B5EF4-FFF2-40B4-BE49-F238E27FC236}">
                <a16:creationId xmlns:a16="http://schemas.microsoft.com/office/drawing/2014/main" id="{1C65AC2B-39AD-F714-2E9C-2AA98DB1A301}"/>
              </a:ext>
            </a:extLst>
          </p:cNvPr>
          <p:cNvSpPr txBox="1"/>
          <p:nvPr/>
        </p:nvSpPr>
        <p:spPr>
          <a:xfrm>
            <a:off x="3068599" y="1214715"/>
            <a:ext cx="3924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89079" y="1501576"/>
            <a:ext cx="446875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marR="0" lvl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true</a:t>
            </a:r>
            <a:r>
              <a:rPr kumimoji="0" lang="en-IN" sz="1100" b="0" i="0" u="none" strike="noStrike" kern="0" cap="none" spc="14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distribution</a:t>
            </a:r>
            <a:r>
              <a:rPr kumimoji="0" lang="en-IN" sz="1100" b="0" i="0" u="none" strike="noStrike" kern="0" cap="none" spc="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IN" sz="1100" b="0" i="0" u="none" strike="noStrike" kern="0" cap="none" spc="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1" u="none" strike="noStrike" kern="0" cap="none" spc="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</a:t>
            </a:r>
            <a:r>
              <a:rPr kumimoji="0" lang="en-IN" sz="1100" b="0" i="1" u="none" strike="noStrike" kern="0" cap="none" spc="8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29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lang="en-IN" sz="1100" b="0" i="0" u="none" strike="noStrike" kern="0" cap="none" spc="8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{</a:t>
            </a:r>
            <a:r>
              <a:rPr kumimoji="0" lang="en-IN" sz="1100" b="0" i="0" u="none" strike="noStrike" kern="0" cap="none" spc="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lang="en-IN" sz="1100" b="0" i="1" u="none" strike="noStrike" kern="0" cap="none" spc="-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IN" sz="1100" b="0" i="0" u="none" strike="noStrike" kern="0" cap="none" spc="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IN" sz="1100" b="0" i="0" u="none" strike="noStrike" kern="0" cap="none" spc="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Sans Unicode"/>
                <a:cs typeface="Lucida Sans Unicode"/>
              </a:rPr>
              <a:t>}</a:t>
            </a:r>
            <a:endParaRPr kumimoji="0" lang="en-IN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Sans Unicode"/>
              <a:cs typeface="Lucida Sans Unicode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685" y="33804"/>
            <a:ext cx="3773852" cy="31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60" marR="43180">
              <a:lnSpc>
                <a:spcPts val="1650"/>
              </a:lnSpc>
              <a:spcBef>
                <a:spcPts val="10"/>
              </a:spcBef>
            </a:pPr>
            <a:r>
              <a:rPr lang="en-US" b="1" spc="55" dirty="0">
                <a:solidFill>
                  <a:schemeClr val="tx1"/>
                </a:solidFill>
                <a:latin typeface="Calibri"/>
                <a:cs typeface="Calibri"/>
              </a:rPr>
              <a:t>Adding Noise to the outputs </a:t>
            </a:r>
          </a:p>
        </p:txBody>
      </p:sp>
      <p:sp>
        <p:nvSpPr>
          <p:cNvPr id="2" name="Rectangle 1"/>
          <p:cNvSpPr/>
          <p:nvPr/>
        </p:nvSpPr>
        <p:spPr>
          <a:xfrm>
            <a:off x="362530" y="2293053"/>
            <a:ext cx="45188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Do not trust the true labels, they may be noisy Instead, use soft targets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05499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0000" y="155833"/>
            <a:ext cx="545465" cy="545465"/>
            <a:chOff x="360000" y="155833"/>
            <a:chExt cx="545465" cy="545465"/>
          </a:xfrm>
        </p:grpSpPr>
        <p:sp>
          <p:nvSpPr>
            <p:cNvPr id="4" name="object 4"/>
            <p:cNvSpPr/>
            <p:nvPr/>
          </p:nvSpPr>
          <p:spPr>
            <a:xfrm>
              <a:off x="362530" y="158363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6"/>
                  </a:moveTo>
                  <a:lnTo>
                    <a:pt x="0" y="0"/>
                  </a:lnTo>
                  <a:lnTo>
                    <a:pt x="540006" y="0"/>
                  </a:lnTo>
                  <a:lnTo>
                    <a:pt x="540006" y="540006"/>
                  </a:lnTo>
                  <a:lnTo>
                    <a:pt x="0" y="54000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223" y="214096"/>
              <a:ext cx="428625" cy="428625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08009" y="299838"/>
          <a:ext cx="3600444" cy="28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254" dirty="0">
                          <a:latin typeface="Lucida Sans Unicode"/>
                          <a:cs typeface="Lucida Sans Unicode"/>
                        </a:rPr>
                        <a:t>—</a:t>
                      </a:r>
                      <a:r>
                        <a:rPr sz="1100" spc="-10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spc="-50" dirty="0">
                          <a:latin typeface="Calibri"/>
                          <a:cs typeface="Calibri"/>
                        </a:rPr>
                        <a:t>ε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85"/>
                        </a:lnSpc>
                        <a:spcBef>
                          <a:spcPts val="100"/>
                        </a:spcBef>
                      </a:pPr>
                      <a:r>
                        <a:rPr sz="800" i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ε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885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641113" y="329804"/>
            <a:ext cx="731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Soft</a:t>
            </a:r>
            <a:r>
              <a:rPr spc="235" dirty="0"/>
              <a:t> </a:t>
            </a:r>
            <a:r>
              <a:rPr spc="-10" dirty="0"/>
              <a:t>targets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60421" y="961309"/>
            <a:ext cx="1663064" cy="25327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100" i="1" dirty="0">
                <a:latin typeface="Calibri"/>
                <a:cs typeface="Calibri"/>
              </a:rPr>
              <a:t>ε</a:t>
            </a:r>
            <a:r>
              <a:rPr sz="1100" i="1" spc="125" dirty="0">
                <a:latin typeface="Calibri"/>
                <a:cs typeface="Calibri"/>
              </a:rPr>
              <a:t> </a:t>
            </a:r>
            <a:r>
              <a:rPr sz="1100" spc="295" dirty="0">
                <a:latin typeface="Calibri"/>
                <a:cs typeface="Calibri"/>
              </a:rPr>
              <a:t>=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small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positive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constant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4936" y="1412969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9" dirty="0">
                <a:latin typeface="Trebuchet MS"/>
                <a:cs typeface="Trebuchet MS"/>
              </a:rPr>
              <a:t>Σ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8545" y="1387524"/>
            <a:ext cx="131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97255" algn="l"/>
              </a:tabLst>
            </a:pPr>
            <a:r>
              <a:rPr sz="1100" dirty="0">
                <a:latin typeface="Calibri"/>
                <a:cs typeface="Calibri"/>
              </a:rPr>
              <a:t>minimize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i="1" dirty="0">
                <a:latin typeface="Calibri"/>
                <a:cs typeface="Calibri"/>
              </a:rPr>
              <a:t>p</a:t>
            </a:r>
            <a:r>
              <a:rPr sz="1100" i="1" spc="2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log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i="1" spc="-50" dirty="0">
                <a:latin typeface="Calibri"/>
                <a:cs typeface="Calibri"/>
              </a:rPr>
              <a:t>q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8428" y="1533608"/>
            <a:ext cx="200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i</a:t>
            </a:r>
            <a:r>
              <a:rPr sz="800" spc="100" dirty="0">
                <a:latin typeface="Calibri"/>
                <a:cs typeface="Calibri"/>
              </a:rPr>
              <a:t>=0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3394" y="1445626"/>
            <a:ext cx="3924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2265" algn="l"/>
              </a:tabLst>
            </a:pPr>
            <a:r>
              <a:rPr sz="800" i="1" spc="45" dirty="0">
                <a:latin typeface="Calibri"/>
                <a:cs typeface="Calibri"/>
              </a:rPr>
              <a:t>i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45" dirty="0">
                <a:latin typeface="Calibri"/>
                <a:cs typeface="Calibri"/>
              </a:rPr>
              <a:t>i</a:t>
            </a:r>
            <a:endParaRPr sz="8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1321802" y="1777516"/>
                <a:ext cx="3466097" cy="4326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  <a:tabLst>
                    <a:tab pos="2077720" algn="l"/>
                  </a:tabLst>
                </a:pPr>
                <a:r>
                  <a:rPr lang="en-IN" sz="1100" spc="10" dirty="0">
                    <a:latin typeface="Calibri"/>
                    <a:cs typeface="Calibri"/>
                  </a:rPr>
                  <a:t>true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spc="10" dirty="0">
                    <a:latin typeface="Calibri"/>
                    <a:cs typeface="Calibri"/>
                  </a:rPr>
                  <a:t>distribution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spc="295" dirty="0">
                    <a:latin typeface="Calibri"/>
                    <a:cs typeface="Calibri"/>
                  </a:rPr>
                  <a:t>+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spc="10" dirty="0">
                    <a:latin typeface="Calibri"/>
                    <a:cs typeface="Calibri"/>
                  </a:rPr>
                  <a:t>noise</a:t>
                </a:r>
                <a:r>
                  <a:rPr lang="en-IN" sz="1100" spc="90" dirty="0">
                    <a:latin typeface="Calibri"/>
                    <a:cs typeface="Calibri"/>
                  </a:rPr>
                  <a:t> </a:t>
                </a:r>
                <a:r>
                  <a:rPr lang="en-IN" sz="1100" spc="10" dirty="0">
                    <a:latin typeface="Calibri"/>
                    <a:cs typeface="Calibri"/>
                  </a:rPr>
                  <a:t>:</a:t>
                </a:r>
                <a:r>
                  <a:rPr lang="en-IN" sz="1100" spc="8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IN" sz="1100" b="0" i="1" spc="85" smtClean="0">
                        <a:latin typeface="Cambria Math" panose="02040503050406030204" pitchFamily="18" charset="0"/>
                        <a:cs typeface="Calibri"/>
                      </a:rPr>
                      <m:t>𝑝</m:t>
                    </m:r>
                    <m:r>
                      <a:rPr lang="en-IN" sz="1100" b="0" i="1" spc="8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𝜖</m:t>
                            </m:r>
                          </m:num>
                          <m:den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  <m:t>9</m:t>
                            </m:r>
                          </m:den>
                        </m:f>
                        <m: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f>
                          <m:fPr>
                            <m:ctrlP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𝜖</m:t>
                            </m:r>
                          </m:num>
                          <m:den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  <m:t>9</m:t>
                            </m:r>
                          </m:den>
                        </m:f>
                        <m: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  <m:t>, </m:t>
                        </m:r>
                        <m: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  <m:t>−</m:t>
                        </m:r>
                        <m:r>
                          <a:rPr lang="en-IN" sz="1100" b="0" i="1" spc="8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𝜖</m:t>
                        </m:r>
                        <m:r>
                          <a:rPr lang="en-IN" sz="1100" b="0" i="1" spc="85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,</m:t>
                        </m:r>
                        <m:f>
                          <m:fPr>
                            <m:ctrlP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fPr>
                          <m:num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𝜖</m:t>
                            </m:r>
                          </m:num>
                          <m:den>
                            <m:r>
                              <a:rPr lang="en-IN" sz="1100" b="0" i="1" spc="85" smtClean="0">
                                <a:latin typeface="Cambria Math" panose="02040503050406030204" pitchFamily="18" charset="0"/>
                                <a:cs typeface="Calibri"/>
                              </a:rPr>
                              <m:t>9</m:t>
                            </m:r>
                          </m:den>
                        </m:f>
                        <m:r>
                          <a:rPr lang="en-IN" sz="1100" b="0" i="1" spc="85" smtClean="0">
                            <a:latin typeface="Cambria Math" panose="02040503050406030204" pitchFamily="18" charset="0"/>
                            <a:cs typeface="Calibri"/>
                          </a:rPr>
                          <m:t>,…</m:t>
                        </m:r>
                      </m:e>
                    </m:d>
                  </m:oMath>
                </a14:m>
                <a:r>
                  <a:rPr lang="en-IN" sz="1100" dirty="0" smtClean="0">
                    <a:latin typeface="Calibri"/>
                    <a:cs typeface="Calibri"/>
                  </a:rPr>
                  <a:t>	</a:t>
                </a: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802" y="1777516"/>
                <a:ext cx="3466097" cy="432619"/>
              </a:xfrm>
              <a:prstGeom prst="rect">
                <a:avLst/>
              </a:prstGeom>
              <a:blipFill>
                <a:blip r:embed="rId4"/>
                <a:stretch>
                  <a:fillRect l="-2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8"/>
              <p:cNvSpPr txBox="1"/>
              <p:nvPr/>
            </p:nvSpPr>
            <p:spPr>
              <a:xfrm>
                <a:off x="1424470" y="2072737"/>
                <a:ext cx="1544320" cy="18081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1100" spc="10" dirty="0">
                    <a:latin typeface="Calibri"/>
                    <a:cs typeface="Calibri"/>
                  </a:rPr>
                  <a:t>estimated</a:t>
                </a:r>
                <a:r>
                  <a:rPr sz="1100" spc="220" dirty="0">
                    <a:latin typeface="Calibri"/>
                    <a:cs typeface="Calibri"/>
                  </a:rPr>
                  <a:t> </a:t>
                </a:r>
                <a:r>
                  <a:rPr sz="1100" spc="10" dirty="0">
                    <a:latin typeface="Calibri"/>
                    <a:cs typeface="Calibri"/>
                  </a:rPr>
                  <a:t>distribution</a:t>
                </a:r>
                <a:r>
                  <a:rPr sz="1100" spc="135" dirty="0">
                    <a:latin typeface="Calibri"/>
                    <a:cs typeface="Calibri"/>
                  </a:rPr>
                  <a:t> </a:t>
                </a:r>
                <a:r>
                  <a:rPr sz="1100" spc="10" dirty="0">
                    <a:latin typeface="Calibri"/>
                    <a:cs typeface="Calibri"/>
                  </a:rPr>
                  <a:t>:</a:t>
                </a:r>
                <a:r>
                  <a:rPr sz="1100" spc="1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IN" sz="1100" i="1" spc="-50" dirty="0" smtClean="0">
                        <a:latin typeface="Cambria Math" panose="02040503050406030204" pitchFamily="18" charset="0"/>
                        <a:cs typeface="Calibri"/>
                      </a:rPr>
                      <m:t>𝑞</m:t>
                    </m:r>
                  </m:oMath>
                </a14:m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470" y="2072737"/>
                <a:ext cx="1544320" cy="180819"/>
              </a:xfrm>
              <a:prstGeom prst="rect">
                <a:avLst/>
              </a:prstGeom>
              <a:blipFill>
                <a:blip r:embed="rId5"/>
                <a:stretch>
                  <a:fillRect l="-5138" t="-20000" r="-2372" b="-4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61D328A-2CE0-B484-375C-DDDDB9476F84}"/>
              </a:ext>
            </a:extLst>
          </p:cNvPr>
          <p:cNvSpPr txBox="1"/>
          <p:nvPr/>
        </p:nvSpPr>
        <p:spPr>
          <a:xfrm>
            <a:off x="2667449" y="1294360"/>
            <a:ext cx="4084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430" marR="0" lvl="0" indent="0" defTabSz="91440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</a:t>
            </a:r>
            <a:endParaRPr kumimoji="0" lang="en-IN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86190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6" grpId="0"/>
      <p:bldP spid="18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18453" y="2348457"/>
            <a:ext cx="2309495" cy="60960"/>
            <a:chOff x="374942" y="1696882"/>
            <a:chExt cx="2309495" cy="60960"/>
          </a:xfrm>
        </p:grpSpPr>
        <p:sp>
          <p:nvSpPr>
            <p:cNvPr id="4" name="object 4"/>
            <p:cNvSpPr/>
            <p:nvPr/>
          </p:nvSpPr>
          <p:spPr>
            <a:xfrm>
              <a:off x="380022" y="1727326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>
                  <a:moveTo>
                    <a:pt x="0" y="0"/>
                  </a:moveTo>
                  <a:lnTo>
                    <a:pt x="229505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55338" y="1701009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05990" y="2378144"/>
            <a:ext cx="2432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65" dirty="0">
                <a:latin typeface="Calibri"/>
                <a:cs typeface="Calibri"/>
              </a:rPr>
              <a:t>Steps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088" y="933798"/>
            <a:ext cx="2051685" cy="1450340"/>
            <a:chOff x="349577" y="282223"/>
            <a:chExt cx="2051685" cy="1450340"/>
          </a:xfrm>
        </p:grpSpPr>
        <p:sp>
          <p:nvSpPr>
            <p:cNvPr id="8" name="object 8"/>
            <p:cNvSpPr/>
            <p:nvPr/>
          </p:nvSpPr>
          <p:spPr>
            <a:xfrm>
              <a:off x="380022" y="296287"/>
              <a:ext cx="0" cy="1431290"/>
            </a:xfrm>
            <a:custGeom>
              <a:avLst/>
              <a:gdLst/>
              <a:ahLst/>
              <a:cxnLst/>
              <a:rect l="l" t="t" r="r" b="b"/>
              <a:pathLst>
                <a:path h="1431289">
                  <a:moveTo>
                    <a:pt x="0" y="143103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705" y="29135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7622" y="287303"/>
              <a:ext cx="1958975" cy="1411605"/>
            </a:xfrm>
            <a:custGeom>
              <a:avLst/>
              <a:gdLst/>
              <a:ahLst/>
              <a:cxnLst/>
              <a:rect l="l" t="t" r="r" b="b"/>
              <a:pathLst>
                <a:path w="1958975" h="1411605">
                  <a:moveTo>
                    <a:pt x="0" y="0"/>
                  </a:moveTo>
                  <a:lnTo>
                    <a:pt x="272" y="48698"/>
                  </a:lnTo>
                  <a:lnTo>
                    <a:pt x="1120" y="97678"/>
                  </a:lnTo>
                  <a:lnTo>
                    <a:pt x="2587" y="146854"/>
                  </a:lnTo>
                  <a:lnTo>
                    <a:pt x="4718" y="196142"/>
                  </a:lnTo>
                  <a:lnTo>
                    <a:pt x="7559" y="245456"/>
                  </a:lnTo>
                  <a:lnTo>
                    <a:pt x="11153" y="294713"/>
                  </a:lnTo>
                  <a:lnTo>
                    <a:pt x="15545" y="343827"/>
                  </a:lnTo>
                  <a:lnTo>
                    <a:pt x="20781" y="392713"/>
                  </a:lnTo>
                  <a:lnTo>
                    <a:pt x="26905" y="441287"/>
                  </a:lnTo>
                  <a:lnTo>
                    <a:pt x="33961" y="489464"/>
                  </a:lnTo>
                  <a:lnTo>
                    <a:pt x="41995" y="537158"/>
                  </a:lnTo>
                  <a:lnTo>
                    <a:pt x="51050" y="584286"/>
                  </a:lnTo>
                  <a:lnTo>
                    <a:pt x="61173" y="630762"/>
                  </a:lnTo>
                  <a:lnTo>
                    <a:pt x="72406" y="676502"/>
                  </a:lnTo>
                  <a:lnTo>
                    <a:pt x="84796" y="721421"/>
                  </a:lnTo>
                  <a:lnTo>
                    <a:pt x="98386" y="765433"/>
                  </a:lnTo>
                  <a:lnTo>
                    <a:pt x="113222" y="808455"/>
                  </a:lnTo>
                  <a:lnTo>
                    <a:pt x="129349" y="850401"/>
                  </a:lnTo>
                  <a:lnTo>
                    <a:pt x="146810" y="891187"/>
                  </a:lnTo>
                  <a:lnTo>
                    <a:pt x="165651" y="930727"/>
                  </a:lnTo>
                  <a:lnTo>
                    <a:pt x="185916" y="968938"/>
                  </a:lnTo>
                  <a:lnTo>
                    <a:pt x="207650" y="1005733"/>
                  </a:lnTo>
                  <a:lnTo>
                    <a:pt x="230898" y="1041029"/>
                  </a:lnTo>
                  <a:lnTo>
                    <a:pt x="255704" y="1074741"/>
                  </a:lnTo>
                  <a:lnTo>
                    <a:pt x="282114" y="1106783"/>
                  </a:lnTo>
                  <a:lnTo>
                    <a:pt x="310171" y="1137071"/>
                  </a:lnTo>
                  <a:lnTo>
                    <a:pt x="339921" y="1165520"/>
                  </a:lnTo>
                  <a:lnTo>
                    <a:pt x="371408" y="1192046"/>
                  </a:lnTo>
                  <a:lnTo>
                    <a:pt x="404678" y="1216563"/>
                  </a:lnTo>
                  <a:lnTo>
                    <a:pt x="439774" y="1238987"/>
                  </a:lnTo>
                  <a:lnTo>
                    <a:pt x="476741" y="1259233"/>
                  </a:lnTo>
                  <a:lnTo>
                    <a:pt x="515624" y="1277216"/>
                  </a:lnTo>
                  <a:lnTo>
                    <a:pt x="556469" y="1292851"/>
                  </a:lnTo>
                  <a:lnTo>
                    <a:pt x="599318" y="1306054"/>
                  </a:lnTo>
                  <a:lnTo>
                    <a:pt x="644218" y="1316739"/>
                  </a:lnTo>
                  <a:lnTo>
                    <a:pt x="691213" y="1324823"/>
                  </a:lnTo>
                </a:path>
                <a:path w="1958975" h="1411605">
                  <a:moveTo>
                    <a:pt x="691213" y="1324823"/>
                  </a:moveTo>
                  <a:lnTo>
                    <a:pt x="748960" y="1334202"/>
                  </a:lnTo>
                  <a:lnTo>
                    <a:pt x="804879" y="1342720"/>
                  </a:lnTo>
                  <a:lnTo>
                    <a:pt x="859133" y="1350425"/>
                  </a:lnTo>
                  <a:lnTo>
                    <a:pt x="911883" y="1357364"/>
                  </a:lnTo>
                  <a:lnTo>
                    <a:pt x="963291" y="1363587"/>
                  </a:lnTo>
                  <a:lnTo>
                    <a:pt x="1013518" y="1369141"/>
                  </a:lnTo>
                  <a:lnTo>
                    <a:pt x="1062726" y="1374073"/>
                  </a:lnTo>
                  <a:lnTo>
                    <a:pt x="1111076" y="1378431"/>
                  </a:lnTo>
                  <a:lnTo>
                    <a:pt x="1158731" y="1382264"/>
                  </a:lnTo>
                  <a:lnTo>
                    <a:pt x="1205852" y="1385620"/>
                  </a:lnTo>
                  <a:lnTo>
                    <a:pt x="1252599" y="1388546"/>
                  </a:lnTo>
                  <a:lnTo>
                    <a:pt x="1299136" y="1391090"/>
                  </a:lnTo>
                  <a:lnTo>
                    <a:pt x="1345623" y="1393300"/>
                  </a:lnTo>
                  <a:lnTo>
                    <a:pt x="1392223" y="1395224"/>
                  </a:lnTo>
                  <a:lnTo>
                    <a:pt x="1439096" y="1396910"/>
                  </a:lnTo>
                  <a:lnTo>
                    <a:pt x="1486404" y="1398406"/>
                  </a:lnTo>
                  <a:lnTo>
                    <a:pt x="1534309" y="1399760"/>
                  </a:lnTo>
                  <a:lnTo>
                    <a:pt x="1582973" y="1401020"/>
                  </a:lnTo>
                  <a:lnTo>
                    <a:pt x="1632557" y="1402233"/>
                  </a:lnTo>
                  <a:lnTo>
                    <a:pt x="1683223" y="1403448"/>
                  </a:lnTo>
                  <a:lnTo>
                    <a:pt x="1735132" y="1404712"/>
                  </a:lnTo>
                  <a:lnTo>
                    <a:pt x="1788446" y="1406073"/>
                  </a:lnTo>
                  <a:lnTo>
                    <a:pt x="1843326" y="1407580"/>
                  </a:lnTo>
                  <a:lnTo>
                    <a:pt x="1899934" y="1409280"/>
                  </a:lnTo>
                  <a:lnTo>
                    <a:pt x="1958432" y="1411221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1740" y="814292"/>
            <a:ext cx="2438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80" dirty="0">
                <a:latin typeface="Calibri"/>
                <a:cs typeface="Calibri"/>
              </a:rPr>
              <a:t>Error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4795" y="2269316"/>
            <a:ext cx="6845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Calibri"/>
                <a:cs typeface="Calibri"/>
              </a:rPr>
              <a:t>Training </a:t>
            </a:r>
            <a:r>
              <a:rPr sz="600" i="1" spc="105" dirty="0">
                <a:latin typeface="Calibri"/>
                <a:cs typeface="Calibri"/>
              </a:rPr>
              <a:t>error</a:t>
            </a:r>
            <a:endParaRPr sz="6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9935" y="938878"/>
            <a:ext cx="1929764" cy="1028065"/>
          </a:xfrm>
          <a:custGeom>
            <a:avLst/>
            <a:gdLst/>
            <a:ahLst/>
            <a:cxnLst/>
            <a:rect l="l" t="t" r="r" b="b"/>
            <a:pathLst>
              <a:path w="1929764" h="1028065">
                <a:moveTo>
                  <a:pt x="0" y="0"/>
                </a:moveTo>
                <a:lnTo>
                  <a:pt x="9593" y="52395"/>
                </a:lnTo>
                <a:lnTo>
                  <a:pt x="19750" y="103491"/>
                </a:lnTo>
                <a:lnTo>
                  <a:pt x="30600" y="153293"/>
                </a:lnTo>
                <a:lnTo>
                  <a:pt x="42269" y="201806"/>
                </a:lnTo>
                <a:lnTo>
                  <a:pt x="54886" y="249038"/>
                </a:lnTo>
                <a:lnTo>
                  <a:pt x="68576" y="294993"/>
                </a:lnTo>
                <a:lnTo>
                  <a:pt x="83469" y="339678"/>
                </a:lnTo>
                <a:lnTo>
                  <a:pt x="99692" y="383098"/>
                </a:lnTo>
                <a:lnTo>
                  <a:pt x="117372" y="425261"/>
                </a:lnTo>
                <a:lnTo>
                  <a:pt x="136636" y="466170"/>
                </a:lnTo>
                <a:lnTo>
                  <a:pt x="157613" y="505833"/>
                </a:lnTo>
                <a:lnTo>
                  <a:pt x="180429" y="544256"/>
                </a:lnTo>
                <a:lnTo>
                  <a:pt x="205213" y="581444"/>
                </a:lnTo>
                <a:lnTo>
                  <a:pt x="232091" y="617403"/>
                </a:lnTo>
                <a:lnTo>
                  <a:pt x="261192" y="652139"/>
                </a:lnTo>
                <a:lnTo>
                  <a:pt x="292643" y="685659"/>
                </a:lnTo>
                <a:lnTo>
                  <a:pt x="326571" y="717967"/>
                </a:lnTo>
                <a:lnTo>
                  <a:pt x="363104" y="749071"/>
                </a:lnTo>
                <a:lnTo>
                  <a:pt x="402369" y="778976"/>
                </a:lnTo>
                <a:lnTo>
                  <a:pt x="444494" y="807687"/>
                </a:lnTo>
                <a:lnTo>
                  <a:pt x="489607" y="835211"/>
                </a:lnTo>
              </a:path>
              <a:path w="1929764" h="1028065">
                <a:moveTo>
                  <a:pt x="489607" y="835211"/>
                </a:moveTo>
                <a:lnTo>
                  <a:pt x="536654" y="861429"/>
                </a:lnTo>
                <a:lnTo>
                  <a:pt x="583324" y="885553"/>
                </a:lnTo>
                <a:lnTo>
                  <a:pt x="629649" y="907625"/>
                </a:lnTo>
                <a:lnTo>
                  <a:pt x="675667" y="927688"/>
                </a:lnTo>
                <a:lnTo>
                  <a:pt x="721411" y="945783"/>
                </a:lnTo>
                <a:lnTo>
                  <a:pt x="766918" y="961953"/>
                </a:lnTo>
                <a:lnTo>
                  <a:pt x="812221" y="976240"/>
                </a:lnTo>
                <a:lnTo>
                  <a:pt x="857355" y="988687"/>
                </a:lnTo>
                <a:lnTo>
                  <a:pt x="902357" y="999335"/>
                </a:lnTo>
                <a:lnTo>
                  <a:pt x="947261" y="1008227"/>
                </a:lnTo>
                <a:lnTo>
                  <a:pt x="992102" y="1015405"/>
                </a:lnTo>
                <a:lnTo>
                  <a:pt x="1036914" y="1020911"/>
                </a:lnTo>
                <a:lnTo>
                  <a:pt x="1081734" y="1024787"/>
                </a:lnTo>
                <a:lnTo>
                  <a:pt x="1126596" y="1027076"/>
                </a:lnTo>
                <a:lnTo>
                  <a:pt x="1171535" y="1027820"/>
                </a:lnTo>
                <a:lnTo>
                  <a:pt x="1216586" y="1027061"/>
                </a:lnTo>
                <a:lnTo>
                  <a:pt x="1261784" y="1024841"/>
                </a:lnTo>
                <a:lnTo>
                  <a:pt x="1307164" y="1021202"/>
                </a:lnTo>
                <a:lnTo>
                  <a:pt x="1352762" y="1016187"/>
                </a:lnTo>
                <a:lnTo>
                  <a:pt x="1398612" y="1009838"/>
                </a:lnTo>
                <a:lnTo>
                  <a:pt x="1444749" y="1002197"/>
                </a:lnTo>
                <a:lnTo>
                  <a:pt x="1491209" y="993306"/>
                </a:lnTo>
                <a:lnTo>
                  <a:pt x="1538026" y="983207"/>
                </a:lnTo>
                <a:lnTo>
                  <a:pt x="1585235" y="971944"/>
                </a:lnTo>
                <a:lnTo>
                  <a:pt x="1632872" y="959557"/>
                </a:lnTo>
                <a:lnTo>
                  <a:pt x="1680971" y="946089"/>
                </a:lnTo>
                <a:lnTo>
                  <a:pt x="1729568" y="931582"/>
                </a:lnTo>
                <a:lnTo>
                  <a:pt x="1778697" y="916079"/>
                </a:lnTo>
                <a:lnTo>
                  <a:pt x="1828394" y="899622"/>
                </a:lnTo>
                <a:lnTo>
                  <a:pt x="1878693" y="882253"/>
                </a:lnTo>
                <a:lnTo>
                  <a:pt x="1929630" y="864014"/>
                </a:lnTo>
              </a:path>
            </a:pathLst>
          </a:custGeom>
          <a:ln w="101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57488" y="1748671"/>
            <a:ext cx="751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Calibri"/>
                <a:cs typeface="Calibri"/>
              </a:rPr>
              <a:t>V</a:t>
            </a:r>
            <a:r>
              <a:rPr sz="600" i="1" spc="30" dirty="0">
                <a:latin typeface="Calibri"/>
                <a:cs typeface="Calibri"/>
              </a:rPr>
              <a:t> </a:t>
            </a:r>
            <a:r>
              <a:rPr sz="600" i="1" spc="95" dirty="0">
                <a:latin typeface="Calibri"/>
                <a:cs typeface="Calibri"/>
              </a:rPr>
              <a:t>alidation</a:t>
            </a:r>
            <a:r>
              <a:rPr sz="600" i="1" spc="130" dirty="0">
                <a:latin typeface="Calibri"/>
                <a:cs typeface="Calibri"/>
              </a:rPr>
              <a:t> </a:t>
            </a:r>
            <a:r>
              <a:rPr sz="600" i="1" spc="105" dirty="0">
                <a:latin typeface="Calibri"/>
                <a:cs typeface="Calibri"/>
              </a:rPr>
              <a:t>error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19554" y="1745292"/>
            <a:ext cx="720090" cy="633730"/>
          </a:xfrm>
          <a:custGeom>
            <a:avLst/>
            <a:gdLst/>
            <a:ahLst/>
            <a:cxnLst/>
            <a:rect l="l" t="t" r="r" b="b"/>
            <a:pathLst>
              <a:path w="720089" h="633730">
                <a:moveTo>
                  <a:pt x="0" y="633609"/>
                </a:moveTo>
                <a:lnTo>
                  <a:pt x="0" y="172800"/>
                </a:lnTo>
              </a:path>
              <a:path w="720089" h="633730">
                <a:moveTo>
                  <a:pt x="720011" y="633609"/>
                </a:moveTo>
                <a:lnTo>
                  <a:pt x="720011" y="0"/>
                </a:lnTo>
              </a:path>
            </a:pathLst>
          </a:custGeom>
          <a:ln w="1012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73884" y="2378983"/>
            <a:ext cx="201295" cy="1879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26670">
              <a:lnSpc>
                <a:spcPct val="77900"/>
              </a:lnSpc>
              <a:spcBef>
                <a:spcPts val="254"/>
              </a:spcBef>
            </a:pPr>
            <a:r>
              <a:rPr sz="600" i="1" spc="65" dirty="0">
                <a:latin typeface="Calibri"/>
                <a:cs typeface="Calibri"/>
              </a:rPr>
              <a:t>k </a:t>
            </a:r>
            <a:r>
              <a:rPr sz="600" i="1" spc="55" dirty="0">
                <a:latin typeface="Calibri"/>
                <a:cs typeface="Calibri"/>
              </a:rPr>
              <a:t>stop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8291" y="2378983"/>
            <a:ext cx="800100" cy="1987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289560">
              <a:lnSpc>
                <a:spcPts val="640"/>
              </a:lnSpc>
              <a:spcBef>
                <a:spcPts val="185"/>
              </a:spcBef>
            </a:pPr>
            <a:r>
              <a:rPr sz="600" i="1" spc="114" dirty="0">
                <a:latin typeface="Calibri"/>
                <a:cs typeface="Calibri"/>
              </a:rPr>
              <a:t>k</a:t>
            </a:r>
            <a:r>
              <a:rPr sz="600" i="1" spc="45" dirty="0">
                <a:latin typeface="Calibri"/>
                <a:cs typeface="Calibri"/>
              </a:rPr>
              <a:t> </a:t>
            </a:r>
            <a:r>
              <a:rPr sz="600" i="1" spc="220" dirty="0">
                <a:latin typeface="Arial"/>
                <a:cs typeface="Arial"/>
              </a:rPr>
              <a:t>−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600" i="1" spc="15" dirty="0">
                <a:latin typeface="Calibri"/>
                <a:cs typeface="Calibri"/>
              </a:rPr>
              <a:t>p</a:t>
            </a:r>
            <a:r>
              <a:rPr sz="600" i="1" spc="120" dirty="0">
                <a:latin typeface="Calibri"/>
                <a:cs typeface="Calibri"/>
              </a:rPr>
              <a:t> return</a:t>
            </a:r>
            <a:r>
              <a:rPr sz="600" i="1" spc="125" dirty="0">
                <a:latin typeface="Calibri"/>
                <a:cs typeface="Calibri"/>
              </a:rPr>
              <a:t> </a:t>
            </a:r>
            <a:r>
              <a:rPr sz="600" i="1" spc="110" dirty="0">
                <a:latin typeface="Calibri"/>
                <a:cs typeface="Calibri"/>
              </a:rPr>
              <a:t>this</a:t>
            </a:r>
            <a:r>
              <a:rPr sz="600" i="1" spc="125" dirty="0">
                <a:latin typeface="Calibri"/>
                <a:cs typeface="Calibri"/>
              </a:rPr>
              <a:t> </a:t>
            </a:r>
            <a:r>
              <a:rPr sz="600" i="1" spc="80" dirty="0">
                <a:latin typeface="Calibri"/>
                <a:cs typeface="Calibri"/>
              </a:rPr>
              <a:t>model</a:t>
            </a:r>
            <a:endParaRPr sz="6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133563" y="501526"/>
                <a:ext cx="2431937" cy="81471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84150" marR="5080" indent="-171450">
                  <a:lnSpc>
                    <a:spcPct val="125299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1000" dirty="0"/>
                  <a:t>Monitor the validation error during training</a:t>
                </a:r>
                <a:r>
                  <a:rPr lang="en-US" sz="1000" dirty="0" smtClean="0"/>
                  <a:t>.</a:t>
                </a:r>
                <a:br>
                  <a:rPr lang="en-US" sz="1000" dirty="0" smtClean="0"/>
                </a:br>
                <a:r>
                  <a:rPr lang="en-US" sz="1000" dirty="0"/>
                  <a:t>Set a patience value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000" dirty="0" smtClean="0"/>
                  <a:t>.</a:t>
                </a:r>
                <a:r>
                  <a:rPr lang="en-IN" spc="-10" dirty="0" smtClean="0"/>
                  <a:t/>
                </a:r>
                <a:br>
                  <a:rPr lang="en-IN" spc="-10" dirty="0" smtClean="0"/>
                </a:br>
                <a:endParaRPr i="1" spc="-5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9" name="object 19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33563" y="501526"/>
                <a:ext cx="2431937" cy="814710"/>
              </a:xfrm>
              <a:prstGeom prst="rect">
                <a:avLst/>
              </a:prstGeom>
              <a:blipFill>
                <a:blip r:embed="rId2"/>
                <a:stretch>
                  <a:fillRect l="-2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2"/>
              <p:cNvSpPr txBox="1"/>
              <p:nvPr/>
            </p:nvSpPr>
            <p:spPr>
              <a:xfrm>
                <a:off x="3133563" y="1148682"/>
                <a:ext cx="2499459" cy="1129412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84150" marR="5080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US" sz="1000" dirty="0" smtClean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At step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000" dirty="0" smtClean="0"/>
                  <a:t>, </a:t>
                </a: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if the validation error has not improved during the last 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000" dirty="0" smtClean="0"/>
                  <a:t> </a:t>
                </a: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steps, stop training and restore the model </a:t>
                </a:r>
                <a:r>
                  <a:rPr lang="en-US" sz="1000" dirty="0" smtClean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at </a:t>
                </a: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step 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0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000" dirty="0" smtClean="0"/>
              </a:p>
              <a:p>
                <a:pPr marL="184150" marR="5080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Stop training before the training error becomes too low and the validation error starts increasing, helping prevent overfitting.</a:t>
                </a:r>
                <a:endParaRPr sz="1000" dirty="0">
                  <a:solidFill>
                    <a:schemeClr val="tx1"/>
                  </a:solidFill>
                  <a:latin typeface="Calibri"/>
                  <a:ea typeface="+mj-ea"/>
                  <a:cs typeface="Calibri"/>
                </a:endParaRPr>
              </a:p>
            </p:txBody>
          </p:sp>
        </mc:Choice>
        <mc:Fallback xmlns=""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563" y="1148682"/>
                <a:ext cx="2499459" cy="1129412"/>
              </a:xfrm>
              <a:prstGeom prst="rect">
                <a:avLst/>
              </a:prstGeom>
              <a:blipFill>
                <a:blip r:embed="rId3"/>
                <a:stretch>
                  <a:fillRect l="-2439" t="-3763" r="-2927" b="-59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94701" y="65997"/>
            <a:ext cx="5202799" cy="31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60" marR="43180">
              <a:lnSpc>
                <a:spcPts val="1650"/>
              </a:lnSpc>
              <a:spcBef>
                <a:spcPts val="10"/>
              </a:spcBef>
            </a:pPr>
            <a:r>
              <a:rPr lang="en-IN" sz="1600" b="1" spc="70" dirty="0" smtClean="0">
                <a:solidFill>
                  <a:schemeClr val="tx1"/>
                </a:solidFill>
                <a:latin typeface="Calibri"/>
                <a:cs typeface="Calibri"/>
              </a:rPr>
              <a:t>Early</a:t>
            </a:r>
            <a:r>
              <a:rPr lang="en-IN" sz="1600" b="1" spc="135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z="1600" b="1" spc="-10" dirty="0" smtClean="0">
                <a:solidFill>
                  <a:schemeClr val="tx1"/>
                </a:solidFill>
                <a:latin typeface="Calibri"/>
                <a:cs typeface="Calibri"/>
              </a:rPr>
              <a:t>stopping</a:t>
            </a:r>
            <a:endParaRPr lang="en-IN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-17013" y="860425"/>
            <a:ext cx="5202799" cy="31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60" marR="43180" algn="ctr">
              <a:lnSpc>
                <a:spcPts val="1650"/>
              </a:lnSpc>
              <a:spcBef>
                <a:spcPts val="10"/>
              </a:spcBef>
            </a:pPr>
            <a:r>
              <a:rPr lang="en-IN" sz="1600" b="1" spc="70" dirty="0" smtClean="0">
                <a:solidFill>
                  <a:schemeClr val="tx1"/>
                </a:solidFill>
                <a:latin typeface="Calibri"/>
                <a:cs typeface="Calibri"/>
              </a:rPr>
              <a:t>Early</a:t>
            </a:r>
            <a:r>
              <a:rPr lang="en-IN" sz="1600" b="1" spc="135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z="1600" b="1" spc="-10" dirty="0" smtClean="0">
                <a:solidFill>
                  <a:schemeClr val="tx1"/>
                </a:solidFill>
                <a:latin typeface="Calibri"/>
                <a:cs typeface="Calibri"/>
              </a:rPr>
              <a:t>stopping</a:t>
            </a:r>
            <a:endParaRPr lang="en-IN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688977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93665" y="2046484"/>
            <a:ext cx="2309495" cy="60960"/>
            <a:chOff x="374942" y="1696882"/>
            <a:chExt cx="2309495" cy="60960"/>
          </a:xfrm>
        </p:grpSpPr>
        <p:sp>
          <p:nvSpPr>
            <p:cNvPr id="4" name="object 4"/>
            <p:cNvSpPr/>
            <p:nvPr/>
          </p:nvSpPr>
          <p:spPr>
            <a:xfrm>
              <a:off x="380022" y="1727326"/>
              <a:ext cx="2295525" cy="0"/>
            </a:xfrm>
            <a:custGeom>
              <a:avLst/>
              <a:gdLst/>
              <a:ahLst/>
              <a:cxnLst/>
              <a:rect l="l" t="t" r="r" b="b"/>
              <a:pathLst>
                <a:path w="2295525">
                  <a:moveTo>
                    <a:pt x="0" y="0"/>
                  </a:moveTo>
                  <a:lnTo>
                    <a:pt x="229505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55338" y="1701009"/>
              <a:ext cx="24765" cy="52705"/>
            </a:xfrm>
            <a:custGeom>
              <a:avLst/>
              <a:gdLst/>
              <a:ahLst/>
              <a:cxnLst/>
              <a:rect l="l" t="t" r="r" b="b"/>
              <a:pathLst>
                <a:path w="24764" h="52705">
                  <a:moveTo>
                    <a:pt x="0" y="0"/>
                  </a:moveTo>
                  <a:lnTo>
                    <a:pt x="3855" y="8044"/>
                  </a:lnTo>
                  <a:lnTo>
                    <a:pt x="11102" y="16242"/>
                  </a:lnTo>
                  <a:lnTo>
                    <a:pt x="18966" y="22898"/>
                  </a:lnTo>
                  <a:lnTo>
                    <a:pt x="24671" y="26316"/>
                  </a:lnTo>
                  <a:lnTo>
                    <a:pt x="18966" y="29734"/>
                  </a:lnTo>
                  <a:lnTo>
                    <a:pt x="11102" y="36391"/>
                  </a:lnTo>
                  <a:lnTo>
                    <a:pt x="3855" y="44589"/>
                  </a:lnTo>
                  <a:lnTo>
                    <a:pt x="0" y="52633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81202" y="2076171"/>
            <a:ext cx="2432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65" dirty="0">
                <a:latin typeface="Calibri"/>
                <a:cs typeface="Calibri"/>
              </a:rPr>
              <a:t>Steps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8300" y="631825"/>
            <a:ext cx="2051685" cy="1450340"/>
            <a:chOff x="349577" y="282223"/>
            <a:chExt cx="2051685" cy="1450340"/>
          </a:xfrm>
        </p:grpSpPr>
        <p:sp>
          <p:nvSpPr>
            <p:cNvPr id="8" name="object 8"/>
            <p:cNvSpPr/>
            <p:nvPr/>
          </p:nvSpPr>
          <p:spPr>
            <a:xfrm>
              <a:off x="380022" y="296287"/>
              <a:ext cx="0" cy="1431290"/>
            </a:xfrm>
            <a:custGeom>
              <a:avLst/>
              <a:gdLst/>
              <a:ahLst/>
              <a:cxnLst/>
              <a:rect l="l" t="t" r="r" b="b"/>
              <a:pathLst>
                <a:path h="1431289">
                  <a:moveTo>
                    <a:pt x="0" y="143103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705" y="291352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4">
                  <a:moveTo>
                    <a:pt x="0" y="24671"/>
                  </a:moveTo>
                  <a:lnTo>
                    <a:pt x="8044" y="20816"/>
                  </a:lnTo>
                  <a:lnTo>
                    <a:pt x="16242" y="13569"/>
                  </a:lnTo>
                  <a:lnTo>
                    <a:pt x="22898" y="5705"/>
                  </a:lnTo>
                  <a:lnTo>
                    <a:pt x="26316" y="0"/>
                  </a:lnTo>
                  <a:lnTo>
                    <a:pt x="29734" y="5705"/>
                  </a:lnTo>
                  <a:lnTo>
                    <a:pt x="36391" y="13569"/>
                  </a:lnTo>
                  <a:lnTo>
                    <a:pt x="44589" y="20816"/>
                  </a:lnTo>
                  <a:lnTo>
                    <a:pt x="52633" y="24671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7622" y="287303"/>
              <a:ext cx="1958975" cy="1411605"/>
            </a:xfrm>
            <a:custGeom>
              <a:avLst/>
              <a:gdLst/>
              <a:ahLst/>
              <a:cxnLst/>
              <a:rect l="l" t="t" r="r" b="b"/>
              <a:pathLst>
                <a:path w="1958975" h="1411605">
                  <a:moveTo>
                    <a:pt x="0" y="0"/>
                  </a:moveTo>
                  <a:lnTo>
                    <a:pt x="272" y="48698"/>
                  </a:lnTo>
                  <a:lnTo>
                    <a:pt x="1120" y="97678"/>
                  </a:lnTo>
                  <a:lnTo>
                    <a:pt x="2587" y="146854"/>
                  </a:lnTo>
                  <a:lnTo>
                    <a:pt x="4718" y="196142"/>
                  </a:lnTo>
                  <a:lnTo>
                    <a:pt x="7559" y="245456"/>
                  </a:lnTo>
                  <a:lnTo>
                    <a:pt x="11153" y="294713"/>
                  </a:lnTo>
                  <a:lnTo>
                    <a:pt x="15545" y="343827"/>
                  </a:lnTo>
                  <a:lnTo>
                    <a:pt x="20781" y="392713"/>
                  </a:lnTo>
                  <a:lnTo>
                    <a:pt x="26905" y="441287"/>
                  </a:lnTo>
                  <a:lnTo>
                    <a:pt x="33961" y="489464"/>
                  </a:lnTo>
                  <a:lnTo>
                    <a:pt x="41995" y="537158"/>
                  </a:lnTo>
                  <a:lnTo>
                    <a:pt x="51050" y="584286"/>
                  </a:lnTo>
                  <a:lnTo>
                    <a:pt x="61173" y="630762"/>
                  </a:lnTo>
                  <a:lnTo>
                    <a:pt x="72406" y="676502"/>
                  </a:lnTo>
                  <a:lnTo>
                    <a:pt x="84796" y="721421"/>
                  </a:lnTo>
                  <a:lnTo>
                    <a:pt x="98386" y="765433"/>
                  </a:lnTo>
                  <a:lnTo>
                    <a:pt x="113222" y="808455"/>
                  </a:lnTo>
                  <a:lnTo>
                    <a:pt x="129349" y="850401"/>
                  </a:lnTo>
                  <a:lnTo>
                    <a:pt x="146810" y="891187"/>
                  </a:lnTo>
                  <a:lnTo>
                    <a:pt x="165651" y="930727"/>
                  </a:lnTo>
                  <a:lnTo>
                    <a:pt x="185916" y="968938"/>
                  </a:lnTo>
                  <a:lnTo>
                    <a:pt x="207650" y="1005733"/>
                  </a:lnTo>
                  <a:lnTo>
                    <a:pt x="230898" y="1041029"/>
                  </a:lnTo>
                  <a:lnTo>
                    <a:pt x="255704" y="1074741"/>
                  </a:lnTo>
                  <a:lnTo>
                    <a:pt x="282114" y="1106783"/>
                  </a:lnTo>
                  <a:lnTo>
                    <a:pt x="310171" y="1137071"/>
                  </a:lnTo>
                  <a:lnTo>
                    <a:pt x="339921" y="1165520"/>
                  </a:lnTo>
                  <a:lnTo>
                    <a:pt x="371408" y="1192046"/>
                  </a:lnTo>
                  <a:lnTo>
                    <a:pt x="404678" y="1216563"/>
                  </a:lnTo>
                  <a:lnTo>
                    <a:pt x="439774" y="1238987"/>
                  </a:lnTo>
                  <a:lnTo>
                    <a:pt x="476741" y="1259233"/>
                  </a:lnTo>
                  <a:lnTo>
                    <a:pt x="515624" y="1277216"/>
                  </a:lnTo>
                  <a:lnTo>
                    <a:pt x="556469" y="1292851"/>
                  </a:lnTo>
                  <a:lnTo>
                    <a:pt x="599318" y="1306054"/>
                  </a:lnTo>
                  <a:lnTo>
                    <a:pt x="644218" y="1316739"/>
                  </a:lnTo>
                  <a:lnTo>
                    <a:pt x="691213" y="1324823"/>
                  </a:lnTo>
                </a:path>
                <a:path w="1958975" h="1411605">
                  <a:moveTo>
                    <a:pt x="691213" y="1324823"/>
                  </a:moveTo>
                  <a:lnTo>
                    <a:pt x="748960" y="1334202"/>
                  </a:lnTo>
                  <a:lnTo>
                    <a:pt x="804879" y="1342720"/>
                  </a:lnTo>
                  <a:lnTo>
                    <a:pt x="859133" y="1350425"/>
                  </a:lnTo>
                  <a:lnTo>
                    <a:pt x="911883" y="1357364"/>
                  </a:lnTo>
                  <a:lnTo>
                    <a:pt x="963291" y="1363587"/>
                  </a:lnTo>
                  <a:lnTo>
                    <a:pt x="1013518" y="1369141"/>
                  </a:lnTo>
                  <a:lnTo>
                    <a:pt x="1062726" y="1374073"/>
                  </a:lnTo>
                  <a:lnTo>
                    <a:pt x="1111076" y="1378431"/>
                  </a:lnTo>
                  <a:lnTo>
                    <a:pt x="1158731" y="1382264"/>
                  </a:lnTo>
                  <a:lnTo>
                    <a:pt x="1205852" y="1385620"/>
                  </a:lnTo>
                  <a:lnTo>
                    <a:pt x="1252599" y="1388546"/>
                  </a:lnTo>
                  <a:lnTo>
                    <a:pt x="1299136" y="1391090"/>
                  </a:lnTo>
                  <a:lnTo>
                    <a:pt x="1345623" y="1393300"/>
                  </a:lnTo>
                  <a:lnTo>
                    <a:pt x="1392223" y="1395224"/>
                  </a:lnTo>
                  <a:lnTo>
                    <a:pt x="1439096" y="1396910"/>
                  </a:lnTo>
                  <a:lnTo>
                    <a:pt x="1486404" y="1398406"/>
                  </a:lnTo>
                  <a:lnTo>
                    <a:pt x="1534309" y="1399760"/>
                  </a:lnTo>
                  <a:lnTo>
                    <a:pt x="1582973" y="1401020"/>
                  </a:lnTo>
                  <a:lnTo>
                    <a:pt x="1632557" y="1402233"/>
                  </a:lnTo>
                  <a:lnTo>
                    <a:pt x="1683223" y="1403448"/>
                  </a:lnTo>
                  <a:lnTo>
                    <a:pt x="1735132" y="1404712"/>
                  </a:lnTo>
                  <a:lnTo>
                    <a:pt x="1788446" y="1406073"/>
                  </a:lnTo>
                  <a:lnTo>
                    <a:pt x="1843326" y="1407580"/>
                  </a:lnTo>
                  <a:lnTo>
                    <a:pt x="1899934" y="1409280"/>
                  </a:lnTo>
                  <a:lnTo>
                    <a:pt x="1958432" y="1411221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6952" y="512319"/>
            <a:ext cx="2438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80" dirty="0">
                <a:latin typeface="Calibri"/>
                <a:cs typeface="Calibri"/>
              </a:rPr>
              <a:t>Error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5507" y="1891666"/>
            <a:ext cx="6845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35" dirty="0">
                <a:latin typeface="Calibri"/>
                <a:cs typeface="Calibri"/>
              </a:rPr>
              <a:t>Training </a:t>
            </a:r>
            <a:r>
              <a:rPr sz="600" i="1" spc="105" dirty="0">
                <a:latin typeface="Calibri"/>
                <a:cs typeface="Calibri"/>
              </a:rPr>
              <a:t>error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5147" y="636905"/>
            <a:ext cx="1929764" cy="1028065"/>
          </a:xfrm>
          <a:custGeom>
            <a:avLst/>
            <a:gdLst/>
            <a:ahLst/>
            <a:cxnLst/>
            <a:rect l="l" t="t" r="r" b="b"/>
            <a:pathLst>
              <a:path w="1929764" h="1028065">
                <a:moveTo>
                  <a:pt x="0" y="0"/>
                </a:moveTo>
                <a:lnTo>
                  <a:pt x="9593" y="52395"/>
                </a:lnTo>
                <a:lnTo>
                  <a:pt x="19750" y="103491"/>
                </a:lnTo>
                <a:lnTo>
                  <a:pt x="30600" y="153293"/>
                </a:lnTo>
                <a:lnTo>
                  <a:pt x="42269" y="201806"/>
                </a:lnTo>
                <a:lnTo>
                  <a:pt x="54886" y="249038"/>
                </a:lnTo>
                <a:lnTo>
                  <a:pt x="68576" y="294993"/>
                </a:lnTo>
                <a:lnTo>
                  <a:pt x="83469" y="339678"/>
                </a:lnTo>
                <a:lnTo>
                  <a:pt x="99692" y="383098"/>
                </a:lnTo>
                <a:lnTo>
                  <a:pt x="117372" y="425261"/>
                </a:lnTo>
                <a:lnTo>
                  <a:pt x="136636" y="466170"/>
                </a:lnTo>
                <a:lnTo>
                  <a:pt x="157613" y="505833"/>
                </a:lnTo>
                <a:lnTo>
                  <a:pt x="180429" y="544256"/>
                </a:lnTo>
                <a:lnTo>
                  <a:pt x="205213" y="581444"/>
                </a:lnTo>
                <a:lnTo>
                  <a:pt x="232091" y="617403"/>
                </a:lnTo>
                <a:lnTo>
                  <a:pt x="261192" y="652139"/>
                </a:lnTo>
                <a:lnTo>
                  <a:pt x="292643" y="685659"/>
                </a:lnTo>
                <a:lnTo>
                  <a:pt x="326571" y="717967"/>
                </a:lnTo>
                <a:lnTo>
                  <a:pt x="363104" y="749071"/>
                </a:lnTo>
                <a:lnTo>
                  <a:pt x="402369" y="778976"/>
                </a:lnTo>
                <a:lnTo>
                  <a:pt x="444494" y="807687"/>
                </a:lnTo>
                <a:lnTo>
                  <a:pt x="489607" y="835211"/>
                </a:lnTo>
              </a:path>
              <a:path w="1929764" h="1028065">
                <a:moveTo>
                  <a:pt x="489607" y="835211"/>
                </a:moveTo>
                <a:lnTo>
                  <a:pt x="536654" y="861429"/>
                </a:lnTo>
                <a:lnTo>
                  <a:pt x="583324" y="885553"/>
                </a:lnTo>
                <a:lnTo>
                  <a:pt x="629649" y="907625"/>
                </a:lnTo>
                <a:lnTo>
                  <a:pt x="675667" y="927688"/>
                </a:lnTo>
                <a:lnTo>
                  <a:pt x="721411" y="945783"/>
                </a:lnTo>
                <a:lnTo>
                  <a:pt x="766918" y="961953"/>
                </a:lnTo>
                <a:lnTo>
                  <a:pt x="812221" y="976240"/>
                </a:lnTo>
                <a:lnTo>
                  <a:pt x="857355" y="988687"/>
                </a:lnTo>
                <a:lnTo>
                  <a:pt x="902357" y="999335"/>
                </a:lnTo>
                <a:lnTo>
                  <a:pt x="947261" y="1008227"/>
                </a:lnTo>
                <a:lnTo>
                  <a:pt x="992102" y="1015405"/>
                </a:lnTo>
                <a:lnTo>
                  <a:pt x="1036914" y="1020911"/>
                </a:lnTo>
                <a:lnTo>
                  <a:pt x="1081734" y="1024787"/>
                </a:lnTo>
                <a:lnTo>
                  <a:pt x="1126596" y="1027076"/>
                </a:lnTo>
                <a:lnTo>
                  <a:pt x="1171535" y="1027820"/>
                </a:lnTo>
                <a:lnTo>
                  <a:pt x="1216586" y="1027061"/>
                </a:lnTo>
                <a:lnTo>
                  <a:pt x="1261784" y="1024841"/>
                </a:lnTo>
                <a:lnTo>
                  <a:pt x="1307164" y="1021202"/>
                </a:lnTo>
                <a:lnTo>
                  <a:pt x="1352762" y="1016187"/>
                </a:lnTo>
                <a:lnTo>
                  <a:pt x="1398612" y="1009838"/>
                </a:lnTo>
                <a:lnTo>
                  <a:pt x="1444749" y="1002197"/>
                </a:lnTo>
                <a:lnTo>
                  <a:pt x="1491209" y="993306"/>
                </a:lnTo>
                <a:lnTo>
                  <a:pt x="1538026" y="983207"/>
                </a:lnTo>
                <a:lnTo>
                  <a:pt x="1585235" y="971944"/>
                </a:lnTo>
                <a:lnTo>
                  <a:pt x="1632872" y="959557"/>
                </a:lnTo>
                <a:lnTo>
                  <a:pt x="1680971" y="946089"/>
                </a:lnTo>
                <a:lnTo>
                  <a:pt x="1729568" y="931582"/>
                </a:lnTo>
                <a:lnTo>
                  <a:pt x="1778697" y="916079"/>
                </a:lnTo>
                <a:lnTo>
                  <a:pt x="1828394" y="899622"/>
                </a:lnTo>
                <a:lnTo>
                  <a:pt x="1878693" y="882253"/>
                </a:lnTo>
                <a:lnTo>
                  <a:pt x="1929630" y="864014"/>
                </a:lnTo>
              </a:path>
            </a:pathLst>
          </a:custGeom>
          <a:ln w="1012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35507" y="1352259"/>
            <a:ext cx="751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95" dirty="0">
                <a:latin typeface="Calibri"/>
                <a:cs typeface="Calibri"/>
              </a:rPr>
              <a:t>V</a:t>
            </a:r>
            <a:r>
              <a:rPr sz="600" i="1" spc="30" dirty="0">
                <a:latin typeface="Calibri"/>
                <a:cs typeface="Calibri"/>
              </a:rPr>
              <a:t> </a:t>
            </a:r>
            <a:r>
              <a:rPr sz="600" i="1" spc="95" dirty="0">
                <a:latin typeface="Calibri"/>
                <a:cs typeface="Calibri"/>
              </a:rPr>
              <a:t>alidation</a:t>
            </a:r>
            <a:r>
              <a:rPr sz="600" i="1" spc="130" dirty="0">
                <a:latin typeface="Calibri"/>
                <a:cs typeface="Calibri"/>
              </a:rPr>
              <a:t> </a:t>
            </a:r>
            <a:r>
              <a:rPr sz="600" i="1" spc="105" dirty="0">
                <a:latin typeface="Calibri"/>
                <a:cs typeface="Calibri"/>
              </a:rPr>
              <a:t>error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94766" y="1443319"/>
            <a:ext cx="720090" cy="633730"/>
          </a:xfrm>
          <a:custGeom>
            <a:avLst/>
            <a:gdLst/>
            <a:ahLst/>
            <a:cxnLst/>
            <a:rect l="l" t="t" r="r" b="b"/>
            <a:pathLst>
              <a:path w="720089" h="633730">
                <a:moveTo>
                  <a:pt x="0" y="633609"/>
                </a:moveTo>
                <a:lnTo>
                  <a:pt x="0" y="172800"/>
                </a:lnTo>
              </a:path>
              <a:path w="720089" h="633730">
                <a:moveTo>
                  <a:pt x="720011" y="633609"/>
                </a:moveTo>
                <a:lnTo>
                  <a:pt x="720011" y="0"/>
                </a:lnTo>
              </a:path>
            </a:pathLst>
          </a:custGeom>
          <a:ln w="10122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49096" y="2077010"/>
            <a:ext cx="201295" cy="1879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 indent="26670">
              <a:lnSpc>
                <a:spcPct val="77900"/>
              </a:lnSpc>
              <a:spcBef>
                <a:spcPts val="254"/>
              </a:spcBef>
            </a:pPr>
            <a:r>
              <a:rPr sz="600" i="1" spc="65" dirty="0">
                <a:latin typeface="Calibri"/>
                <a:cs typeface="Calibri"/>
              </a:rPr>
              <a:t>k </a:t>
            </a:r>
            <a:r>
              <a:rPr sz="600" i="1" spc="55" dirty="0">
                <a:latin typeface="Calibri"/>
                <a:cs typeface="Calibri"/>
              </a:rPr>
              <a:t>stop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3503" y="2077010"/>
            <a:ext cx="800100" cy="1987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289560">
              <a:lnSpc>
                <a:spcPts val="640"/>
              </a:lnSpc>
              <a:spcBef>
                <a:spcPts val="185"/>
              </a:spcBef>
            </a:pPr>
            <a:r>
              <a:rPr sz="600" i="1" spc="114" dirty="0">
                <a:latin typeface="Calibri"/>
                <a:cs typeface="Calibri"/>
              </a:rPr>
              <a:t>k</a:t>
            </a:r>
            <a:r>
              <a:rPr sz="600" i="1" spc="45" dirty="0">
                <a:latin typeface="Calibri"/>
                <a:cs typeface="Calibri"/>
              </a:rPr>
              <a:t> </a:t>
            </a:r>
            <a:r>
              <a:rPr sz="600" i="1" spc="220" dirty="0">
                <a:latin typeface="Arial"/>
                <a:cs typeface="Arial"/>
              </a:rPr>
              <a:t>−</a:t>
            </a:r>
            <a:r>
              <a:rPr sz="600" i="1" spc="5" dirty="0">
                <a:latin typeface="Arial"/>
                <a:cs typeface="Arial"/>
              </a:rPr>
              <a:t> </a:t>
            </a:r>
            <a:r>
              <a:rPr sz="600" i="1" spc="15" dirty="0">
                <a:latin typeface="Calibri"/>
                <a:cs typeface="Calibri"/>
              </a:rPr>
              <a:t>p</a:t>
            </a:r>
            <a:r>
              <a:rPr sz="600" i="1" spc="120" dirty="0">
                <a:latin typeface="Calibri"/>
                <a:cs typeface="Calibri"/>
              </a:rPr>
              <a:t> return</a:t>
            </a:r>
            <a:r>
              <a:rPr sz="600" i="1" spc="125" dirty="0">
                <a:latin typeface="Calibri"/>
                <a:cs typeface="Calibri"/>
              </a:rPr>
              <a:t> </a:t>
            </a:r>
            <a:r>
              <a:rPr sz="600" i="1" spc="110" dirty="0">
                <a:latin typeface="Calibri"/>
                <a:cs typeface="Calibri"/>
              </a:rPr>
              <a:t>this</a:t>
            </a:r>
            <a:r>
              <a:rPr sz="600" i="1" spc="125" dirty="0">
                <a:latin typeface="Calibri"/>
                <a:cs typeface="Calibri"/>
              </a:rPr>
              <a:t> </a:t>
            </a:r>
            <a:r>
              <a:rPr sz="600" i="1" spc="80" dirty="0">
                <a:latin typeface="Calibri"/>
                <a:cs typeface="Calibri"/>
              </a:rPr>
              <a:t>model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283118" y="450451"/>
            <a:ext cx="2269490" cy="31829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lang="en-US" sz="1000" dirty="0" smtClean="0"/>
              <a:t>Highly </a:t>
            </a:r>
            <a:r>
              <a:rPr lang="en-US" sz="1000" dirty="0"/>
              <a:t>effective and widely adopted regularization technique.</a:t>
            </a:r>
            <a:endParaRPr sz="1000"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3270418" y="832556"/>
                <a:ext cx="2294890" cy="653897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96850" marR="18415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US" sz="1000" dirty="0" smtClean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Used in combination </a:t>
                </a: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with other regularization methods, </a:t>
                </a:r>
                <a:r>
                  <a:rPr lang="en-US" sz="1000" dirty="0" smtClean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1000" dirty="0" smtClean="0"/>
                  <a:t> </a:t>
                </a:r>
                <a:r>
                  <a:rPr lang="en-US" sz="1000" dirty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rPr>
                  <a:t>regularization.</a:t>
                </a:r>
              </a:p>
              <a:p>
                <a:pPr marL="196850" marR="18415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US" sz="1000" dirty="0" smtClean="0">
                    <a:latin typeface="Calibri"/>
                    <a:cs typeface="Calibri"/>
                  </a:rPr>
                  <a:t>How</a:t>
                </a:r>
                <a:r>
                  <a:rPr lang="en-US" sz="1000" spc="160" dirty="0" smtClean="0">
                    <a:latin typeface="Calibri"/>
                    <a:cs typeface="Calibri"/>
                  </a:rPr>
                  <a:t> </a:t>
                </a:r>
                <a:r>
                  <a:rPr lang="en-US" sz="1000" dirty="0">
                    <a:latin typeface="Calibri"/>
                    <a:cs typeface="Calibri"/>
                  </a:rPr>
                  <a:t>does</a:t>
                </a:r>
                <a:r>
                  <a:rPr lang="en-US" sz="1000" spc="165" dirty="0">
                    <a:latin typeface="Calibri"/>
                    <a:cs typeface="Calibri"/>
                  </a:rPr>
                  <a:t> </a:t>
                </a:r>
                <a:r>
                  <a:rPr lang="en-US" sz="1000" spc="55" dirty="0">
                    <a:latin typeface="Calibri"/>
                    <a:cs typeface="Calibri"/>
                  </a:rPr>
                  <a:t>it</a:t>
                </a:r>
                <a:r>
                  <a:rPr lang="en-US" sz="1000" spc="165" dirty="0">
                    <a:latin typeface="Calibri"/>
                    <a:cs typeface="Calibri"/>
                  </a:rPr>
                  <a:t> </a:t>
                </a:r>
                <a:r>
                  <a:rPr lang="en-US" sz="1000" dirty="0">
                    <a:latin typeface="Calibri"/>
                    <a:cs typeface="Calibri"/>
                  </a:rPr>
                  <a:t>act</a:t>
                </a:r>
                <a:r>
                  <a:rPr lang="en-US" sz="1000" spc="165" dirty="0">
                    <a:latin typeface="Calibri"/>
                    <a:cs typeface="Calibri"/>
                  </a:rPr>
                  <a:t> </a:t>
                </a:r>
                <a:r>
                  <a:rPr lang="en-US" sz="1000" dirty="0">
                    <a:latin typeface="Calibri"/>
                    <a:cs typeface="Calibri"/>
                  </a:rPr>
                  <a:t>as</a:t>
                </a:r>
                <a:r>
                  <a:rPr lang="en-US" sz="1000" spc="165" dirty="0">
                    <a:latin typeface="Calibri"/>
                    <a:cs typeface="Calibri"/>
                  </a:rPr>
                  <a:t> </a:t>
                </a:r>
                <a:r>
                  <a:rPr lang="en-US" sz="1000" dirty="0">
                    <a:latin typeface="Calibri"/>
                    <a:cs typeface="Calibri"/>
                  </a:rPr>
                  <a:t>a</a:t>
                </a:r>
                <a:r>
                  <a:rPr lang="en-US" sz="1000" spc="160" dirty="0">
                    <a:latin typeface="Calibri"/>
                    <a:cs typeface="Calibri"/>
                  </a:rPr>
                  <a:t> </a:t>
                </a:r>
                <a:r>
                  <a:rPr lang="en-US" sz="1000" dirty="0" err="1" smtClean="0">
                    <a:latin typeface="Calibri"/>
                    <a:cs typeface="Calibri"/>
                  </a:rPr>
                  <a:t>regularizer</a:t>
                </a:r>
                <a:r>
                  <a:rPr lang="en-US" sz="1000" spc="-50" dirty="0" smtClean="0">
                    <a:latin typeface="Calibri"/>
                    <a:cs typeface="Calibri"/>
                  </a:rPr>
                  <a:t>?</a:t>
                </a:r>
                <a:endParaRPr lang="en-US" sz="10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418" y="832556"/>
                <a:ext cx="2294890" cy="653897"/>
              </a:xfrm>
              <a:prstGeom prst="rect">
                <a:avLst/>
              </a:prstGeom>
              <a:blipFill>
                <a:blip r:embed="rId2"/>
                <a:stretch>
                  <a:fillRect l="-2122" t="-5607" r="-2387" b="-112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452183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07151" y="504912"/>
            <a:ext cx="2739927" cy="1764508"/>
            <a:chOff x="258229" y="162717"/>
            <a:chExt cx="2909760" cy="1763446"/>
          </a:xfrm>
        </p:grpSpPr>
        <p:grpSp>
          <p:nvGrpSpPr>
            <p:cNvPr id="3" name="object 3"/>
            <p:cNvGrpSpPr/>
            <p:nvPr/>
          </p:nvGrpSpPr>
          <p:grpSpPr>
            <a:xfrm>
              <a:off x="374942" y="1696882"/>
              <a:ext cx="2309495" cy="60960"/>
              <a:chOff x="374942" y="1696882"/>
              <a:chExt cx="2309495" cy="6096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380022" y="1727326"/>
                <a:ext cx="22955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95525">
                    <a:moveTo>
                      <a:pt x="0" y="0"/>
                    </a:moveTo>
                    <a:lnTo>
                      <a:pt x="2295053" y="0"/>
                    </a:lnTo>
                  </a:path>
                </a:pathLst>
              </a:custGeom>
              <a:ln w="10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2655338" y="1701009"/>
                <a:ext cx="2476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52705">
                    <a:moveTo>
                      <a:pt x="0" y="0"/>
                    </a:moveTo>
                    <a:lnTo>
                      <a:pt x="3855" y="8044"/>
                    </a:lnTo>
                    <a:lnTo>
                      <a:pt x="11102" y="16242"/>
                    </a:lnTo>
                    <a:lnTo>
                      <a:pt x="18966" y="22898"/>
                    </a:lnTo>
                    <a:lnTo>
                      <a:pt x="24671" y="26316"/>
                    </a:lnTo>
                    <a:lnTo>
                      <a:pt x="18966" y="29734"/>
                    </a:lnTo>
                    <a:lnTo>
                      <a:pt x="11102" y="36391"/>
                    </a:lnTo>
                    <a:lnTo>
                      <a:pt x="3855" y="44589"/>
                    </a:lnTo>
                    <a:lnTo>
                      <a:pt x="0" y="52633"/>
                    </a:lnTo>
                  </a:path>
                </a:pathLst>
              </a:custGeom>
              <a:ln w="80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2562479" y="1726569"/>
              <a:ext cx="243204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65" dirty="0">
                  <a:latin typeface="Calibri"/>
                  <a:cs typeface="Calibri"/>
                </a:rPr>
                <a:t>Steps</a:t>
              </a:r>
              <a:endParaRPr sz="600">
                <a:latin typeface="Calibri"/>
                <a:cs typeface="Calibri"/>
              </a:endParaRPr>
            </a:p>
          </p:txBody>
        </p:sp>
        <p:grpSp>
          <p:nvGrpSpPr>
            <p:cNvPr id="7" name="object 7"/>
            <p:cNvGrpSpPr/>
            <p:nvPr/>
          </p:nvGrpSpPr>
          <p:grpSpPr>
            <a:xfrm>
              <a:off x="349577" y="282223"/>
              <a:ext cx="2051685" cy="1450340"/>
              <a:chOff x="349577" y="282223"/>
              <a:chExt cx="2051685" cy="1450340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380022" y="296287"/>
                <a:ext cx="0" cy="1431290"/>
              </a:xfrm>
              <a:custGeom>
                <a:avLst/>
                <a:gdLst/>
                <a:ahLst/>
                <a:cxnLst/>
                <a:rect l="l" t="t" r="r" b="b"/>
                <a:pathLst>
                  <a:path h="1431289">
                    <a:moveTo>
                      <a:pt x="0" y="1431039"/>
                    </a:moveTo>
                    <a:lnTo>
                      <a:pt x="0" y="0"/>
                    </a:lnTo>
                  </a:path>
                </a:pathLst>
              </a:custGeom>
              <a:ln w="10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353705" y="291352"/>
                <a:ext cx="5270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52704" h="24764">
                    <a:moveTo>
                      <a:pt x="0" y="24671"/>
                    </a:moveTo>
                    <a:lnTo>
                      <a:pt x="8044" y="20816"/>
                    </a:lnTo>
                    <a:lnTo>
                      <a:pt x="16242" y="13569"/>
                    </a:lnTo>
                    <a:lnTo>
                      <a:pt x="22898" y="5705"/>
                    </a:lnTo>
                    <a:lnTo>
                      <a:pt x="26316" y="0"/>
                    </a:lnTo>
                    <a:lnTo>
                      <a:pt x="29734" y="5705"/>
                    </a:lnTo>
                    <a:lnTo>
                      <a:pt x="36391" y="13569"/>
                    </a:lnTo>
                    <a:lnTo>
                      <a:pt x="44589" y="20816"/>
                    </a:lnTo>
                    <a:lnTo>
                      <a:pt x="52633" y="24671"/>
                    </a:lnTo>
                  </a:path>
                </a:pathLst>
              </a:custGeom>
              <a:ln w="809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37622" y="287303"/>
                <a:ext cx="1958975" cy="1411605"/>
              </a:xfrm>
              <a:custGeom>
                <a:avLst/>
                <a:gdLst/>
                <a:ahLst/>
                <a:cxnLst/>
                <a:rect l="l" t="t" r="r" b="b"/>
                <a:pathLst>
                  <a:path w="1958975" h="1411605">
                    <a:moveTo>
                      <a:pt x="0" y="0"/>
                    </a:moveTo>
                    <a:lnTo>
                      <a:pt x="272" y="48698"/>
                    </a:lnTo>
                    <a:lnTo>
                      <a:pt x="1120" y="97678"/>
                    </a:lnTo>
                    <a:lnTo>
                      <a:pt x="2587" y="146854"/>
                    </a:lnTo>
                    <a:lnTo>
                      <a:pt x="4718" y="196142"/>
                    </a:lnTo>
                    <a:lnTo>
                      <a:pt x="7559" y="245456"/>
                    </a:lnTo>
                    <a:lnTo>
                      <a:pt x="11153" y="294713"/>
                    </a:lnTo>
                    <a:lnTo>
                      <a:pt x="15545" y="343827"/>
                    </a:lnTo>
                    <a:lnTo>
                      <a:pt x="20781" y="392713"/>
                    </a:lnTo>
                    <a:lnTo>
                      <a:pt x="26905" y="441287"/>
                    </a:lnTo>
                    <a:lnTo>
                      <a:pt x="33961" y="489464"/>
                    </a:lnTo>
                    <a:lnTo>
                      <a:pt x="41995" y="537158"/>
                    </a:lnTo>
                    <a:lnTo>
                      <a:pt x="51050" y="584286"/>
                    </a:lnTo>
                    <a:lnTo>
                      <a:pt x="61173" y="630762"/>
                    </a:lnTo>
                    <a:lnTo>
                      <a:pt x="72406" y="676502"/>
                    </a:lnTo>
                    <a:lnTo>
                      <a:pt x="84796" y="721421"/>
                    </a:lnTo>
                    <a:lnTo>
                      <a:pt x="98386" y="765433"/>
                    </a:lnTo>
                    <a:lnTo>
                      <a:pt x="113222" y="808455"/>
                    </a:lnTo>
                    <a:lnTo>
                      <a:pt x="129349" y="850401"/>
                    </a:lnTo>
                    <a:lnTo>
                      <a:pt x="146810" y="891187"/>
                    </a:lnTo>
                    <a:lnTo>
                      <a:pt x="165651" y="930727"/>
                    </a:lnTo>
                    <a:lnTo>
                      <a:pt x="185916" y="968938"/>
                    </a:lnTo>
                    <a:lnTo>
                      <a:pt x="207650" y="1005733"/>
                    </a:lnTo>
                    <a:lnTo>
                      <a:pt x="230898" y="1041029"/>
                    </a:lnTo>
                    <a:lnTo>
                      <a:pt x="255704" y="1074741"/>
                    </a:lnTo>
                    <a:lnTo>
                      <a:pt x="282114" y="1106783"/>
                    </a:lnTo>
                    <a:lnTo>
                      <a:pt x="310171" y="1137071"/>
                    </a:lnTo>
                    <a:lnTo>
                      <a:pt x="339921" y="1165520"/>
                    </a:lnTo>
                    <a:lnTo>
                      <a:pt x="371408" y="1192046"/>
                    </a:lnTo>
                    <a:lnTo>
                      <a:pt x="404678" y="1216563"/>
                    </a:lnTo>
                    <a:lnTo>
                      <a:pt x="439774" y="1238987"/>
                    </a:lnTo>
                    <a:lnTo>
                      <a:pt x="476741" y="1259233"/>
                    </a:lnTo>
                    <a:lnTo>
                      <a:pt x="515624" y="1277216"/>
                    </a:lnTo>
                    <a:lnTo>
                      <a:pt x="556469" y="1292851"/>
                    </a:lnTo>
                    <a:lnTo>
                      <a:pt x="599318" y="1306054"/>
                    </a:lnTo>
                    <a:lnTo>
                      <a:pt x="644218" y="1316739"/>
                    </a:lnTo>
                    <a:lnTo>
                      <a:pt x="691213" y="1324823"/>
                    </a:lnTo>
                  </a:path>
                  <a:path w="1958975" h="1411605">
                    <a:moveTo>
                      <a:pt x="691213" y="1324823"/>
                    </a:moveTo>
                    <a:lnTo>
                      <a:pt x="748960" y="1334202"/>
                    </a:lnTo>
                    <a:lnTo>
                      <a:pt x="804879" y="1342720"/>
                    </a:lnTo>
                    <a:lnTo>
                      <a:pt x="859133" y="1350425"/>
                    </a:lnTo>
                    <a:lnTo>
                      <a:pt x="911883" y="1357364"/>
                    </a:lnTo>
                    <a:lnTo>
                      <a:pt x="963291" y="1363587"/>
                    </a:lnTo>
                    <a:lnTo>
                      <a:pt x="1013518" y="1369141"/>
                    </a:lnTo>
                    <a:lnTo>
                      <a:pt x="1062726" y="1374073"/>
                    </a:lnTo>
                    <a:lnTo>
                      <a:pt x="1111076" y="1378431"/>
                    </a:lnTo>
                    <a:lnTo>
                      <a:pt x="1158731" y="1382264"/>
                    </a:lnTo>
                    <a:lnTo>
                      <a:pt x="1205852" y="1385620"/>
                    </a:lnTo>
                    <a:lnTo>
                      <a:pt x="1252599" y="1388546"/>
                    </a:lnTo>
                    <a:lnTo>
                      <a:pt x="1299136" y="1391090"/>
                    </a:lnTo>
                    <a:lnTo>
                      <a:pt x="1345623" y="1393300"/>
                    </a:lnTo>
                    <a:lnTo>
                      <a:pt x="1392223" y="1395224"/>
                    </a:lnTo>
                    <a:lnTo>
                      <a:pt x="1439096" y="1396910"/>
                    </a:lnTo>
                    <a:lnTo>
                      <a:pt x="1486404" y="1398406"/>
                    </a:lnTo>
                    <a:lnTo>
                      <a:pt x="1534309" y="1399760"/>
                    </a:lnTo>
                    <a:lnTo>
                      <a:pt x="1582973" y="1401020"/>
                    </a:lnTo>
                    <a:lnTo>
                      <a:pt x="1632557" y="1402233"/>
                    </a:lnTo>
                    <a:lnTo>
                      <a:pt x="1683223" y="1403448"/>
                    </a:lnTo>
                    <a:lnTo>
                      <a:pt x="1735132" y="1404712"/>
                    </a:lnTo>
                    <a:lnTo>
                      <a:pt x="1788446" y="1406073"/>
                    </a:lnTo>
                    <a:lnTo>
                      <a:pt x="1843326" y="1407580"/>
                    </a:lnTo>
                    <a:lnTo>
                      <a:pt x="1899934" y="1409280"/>
                    </a:lnTo>
                    <a:lnTo>
                      <a:pt x="1958432" y="1411221"/>
                    </a:lnTo>
                  </a:path>
                </a:pathLst>
              </a:custGeom>
              <a:ln w="10122">
                <a:solidFill>
                  <a:srgbClr val="0000F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258229" y="162717"/>
              <a:ext cx="243840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80" dirty="0">
                  <a:latin typeface="Calibri"/>
                  <a:cs typeface="Calibri"/>
                </a:rPr>
                <a:t>Error</a:t>
              </a:r>
              <a:endParaRPr sz="600">
                <a:latin typeface="Calibri"/>
                <a:cs typeface="Calibri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2416784" y="1542064"/>
              <a:ext cx="684530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135" dirty="0">
                  <a:latin typeface="Calibri"/>
                  <a:cs typeface="Calibri"/>
                </a:rPr>
                <a:t>Training </a:t>
              </a:r>
              <a:r>
                <a:rPr sz="600" i="1" spc="105" dirty="0">
                  <a:latin typeface="Calibri"/>
                  <a:cs typeface="Calibri"/>
                </a:rPr>
                <a:t>error</a:t>
              </a:r>
              <a:endParaRPr sz="600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66424" y="287303"/>
              <a:ext cx="1929764" cy="1028065"/>
            </a:xfrm>
            <a:custGeom>
              <a:avLst/>
              <a:gdLst/>
              <a:ahLst/>
              <a:cxnLst/>
              <a:rect l="l" t="t" r="r" b="b"/>
              <a:pathLst>
                <a:path w="1929764" h="1028065">
                  <a:moveTo>
                    <a:pt x="0" y="0"/>
                  </a:moveTo>
                  <a:lnTo>
                    <a:pt x="9593" y="52395"/>
                  </a:lnTo>
                  <a:lnTo>
                    <a:pt x="19750" y="103491"/>
                  </a:lnTo>
                  <a:lnTo>
                    <a:pt x="30600" y="153293"/>
                  </a:lnTo>
                  <a:lnTo>
                    <a:pt x="42269" y="201806"/>
                  </a:lnTo>
                  <a:lnTo>
                    <a:pt x="54886" y="249038"/>
                  </a:lnTo>
                  <a:lnTo>
                    <a:pt x="68576" y="294993"/>
                  </a:lnTo>
                  <a:lnTo>
                    <a:pt x="83469" y="339678"/>
                  </a:lnTo>
                  <a:lnTo>
                    <a:pt x="99692" y="383098"/>
                  </a:lnTo>
                  <a:lnTo>
                    <a:pt x="117372" y="425261"/>
                  </a:lnTo>
                  <a:lnTo>
                    <a:pt x="136636" y="466170"/>
                  </a:lnTo>
                  <a:lnTo>
                    <a:pt x="157613" y="505833"/>
                  </a:lnTo>
                  <a:lnTo>
                    <a:pt x="180429" y="544256"/>
                  </a:lnTo>
                  <a:lnTo>
                    <a:pt x="205213" y="581444"/>
                  </a:lnTo>
                  <a:lnTo>
                    <a:pt x="232091" y="617403"/>
                  </a:lnTo>
                  <a:lnTo>
                    <a:pt x="261192" y="652139"/>
                  </a:lnTo>
                  <a:lnTo>
                    <a:pt x="292643" y="685659"/>
                  </a:lnTo>
                  <a:lnTo>
                    <a:pt x="326571" y="717967"/>
                  </a:lnTo>
                  <a:lnTo>
                    <a:pt x="363104" y="749071"/>
                  </a:lnTo>
                  <a:lnTo>
                    <a:pt x="402369" y="778976"/>
                  </a:lnTo>
                  <a:lnTo>
                    <a:pt x="444494" y="807687"/>
                  </a:lnTo>
                  <a:lnTo>
                    <a:pt x="489607" y="835211"/>
                  </a:lnTo>
                </a:path>
                <a:path w="1929764" h="1028065">
                  <a:moveTo>
                    <a:pt x="489607" y="835211"/>
                  </a:moveTo>
                  <a:lnTo>
                    <a:pt x="536654" y="861429"/>
                  </a:lnTo>
                  <a:lnTo>
                    <a:pt x="583324" y="885553"/>
                  </a:lnTo>
                  <a:lnTo>
                    <a:pt x="629649" y="907625"/>
                  </a:lnTo>
                  <a:lnTo>
                    <a:pt x="675667" y="927688"/>
                  </a:lnTo>
                  <a:lnTo>
                    <a:pt x="721411" y="945783"/>
                  </a:lnTo>
                  <a:lnTo>
                    <a:pt x="766918" y="961953"/>
                  </a:lnTo>
                  <a:lnTo>
                    <a:pt x="812221" y="976240"/>
                  </a:lnTo>
                  <a:lnTo>
                    <a:pt x="857355" y="988687"/>
                  </a:lnTo>
                  <a:lnTo>
                    <a:pt x="902357" y="999335"/>
                  </a:lnTo>
                  <a:lnTo>
                    <a:pt x="947261" y="1008227"/>
                  </a:lnTo>
                  <a:lnTo>
                    <a:pt x="992102" y="1015405"/>
                  </a:lnTo>
                  <a:lnTo>
                    <a:pt x="1036914" y="1020911"/>
                  </a:lnTo>
                  <a:lnTo>
                    <a:pt x="1081734" y="1024787"/>
                  </a:lnTo>
                  <a:lnTo>
                    <a:pt x="1126596" y="1027076"/>
                  </a:lnTo>
                  <a:lnTo>
                    <a:pt x="1171535" y="1027820"/>
                  </a:lnTo>
                  <a:lnTo>
                    <a:pt x="1216586" y="1027061"/>
                  </a:lnTo>
                  <a:lnTo>
                    <a:pt x="1261784" y="1024841"/>
                  </a:lnTo>
                  <a:lnTo>
                    <a:pt x="1307164" y="1021202"/>
                  </a:lnTo>
                  <a:lnTo>
                    <a:pt x="1352762" y="1016187"/>
                  </a:lnTo>
                  <a:lnTo>
                    <a:pt x="1398612" y="1009838"/>
                  </a:lnTo>
                  <a:lnTo>
                    <a:pt x="1444749" y="1002197"/>
                  </a:lnTo>
                  <a:lnTo>
                    <a:pt x="1491209" y="993306"/>
                  </a:lnTo>
                  <a:lnTo>
                    <a:pt x="1538026" y="983207"/>
                  </a:lnTo>
                  <a:lnTo>
                    <a:pt x="1585235" y="971944"/>
                  </a:lnTo>
                  <a:lnTo>
                    <a:pt x="1632872" y="959557"/>
                  </a:lnTo>
                  <a:lnTo>
                    <a:pt x="1680971" y="946089"/>
                  </a:lnTo>
                  <a:lnTo>
                    <a:pt x="1729568" y="931582"/>
                  </a:lnTo>
                  <a:lnTo>
                    <a:pt x="1778697" y="916079"/>
                  </a:lnTo>
                  <a:lnTo>
                    <a:pt x="1828394" y="899622"/>
                  </a:lnTo>
                  <a:lnTo>
                    <a:pt x="1878693" y="882253"/>
                  </a:lnTo>
                  <a:lnTo>
                    <a:pt x="1929630" y="864014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2416784" y="1002657"/>
              <a:ext cx="75120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i="1" spc="95" dirty="0">
                  <a:latin typeface="Calibri"/>
                  <a:cs typeface="Calibri"/>
                </a:rPr>
                <a:t>V</a:t>
              </a:r>
              <a:r>
                <a:rPr sz="600" i="1" spc="30" dirty="0">
                  <a:latin typeface="Calibri"/>
                  <a:cs typeface="Calibri"/>
                </a:rPr>
                <a:t> </a:t>
              </a:r>
              <a:r>
                <a:rPr sz="600" i="1" spc="95" dirty="0">
                  <a:latin typeface="Calibri"/>
                  <a:cs typeface="Calibri"/>
                </a:rPr>
                <a:t>alidation</a:t>
              </a:r>
              <a:r>
                <a:rPr sz="600" i="1" spc="130" dirty="0">
                  <a:latin typeface="Calibri"/>
                  <a:cs typeface="Calibri"/>
                </a:rPr>
                <a:t> </a:t>
              </a:r>
              <a:r>
                <a:rPr sz="600" i="1" spc="105" dirty="0">
                  <a:latin typeface="Calibri"/>
                  <a:cs typeface="Calibri"/>
                </a:rPr>
                <a:t>error</a:t>
              </a:r>
              <a:endParaRPr sz="600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676043" y="1093717"/>
              <a:ext cx="720090" cy="633730"/>
            </a:xfrm>
            <a:custGeom>
              <a:avLst/>
              <a:gdLst/>
              <a:ahLst/>
              <a:cxnLst/>
              <a:rect l="l" t="t" r="r" b="b"/>
              <a:pathLst>
                <a:path w="720089" h="633730">
                  <a:moveTo>
                    <a:pt x="0" y="633609"/>
                  </a:moveTo>
                  <a:lnTo>
                    <a:pt x="0" y="172800"/>
                  </a:lnTo>
                </a:path>
                <a:path w="720089" h="633730">
                  <a:moveTo>
                    <a:pt x="720011" y="633609"/>
                  </a:moveTo>
                  <a:lnTo>
                    <a:pt x="720011" y="0"/>
                  </a:lnTo>
                </a:path>
              </a:pathLst>
            </a:custGeom>
            <a:ln w="1012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2330373" y="1727408"/>
              <a:ext cx="201295" cy="187960"/>
            </a:xfrm>
            <a:prstGeom prst="rect">
              <a:avLst/>
            </a:prstGeom>
          </p:spPr>
          <p:txBody>
            <a:bodyPr vert="horz" wrap="square" lIns="0" tIns="32384" rIns="0" bIns="0" rtlCol="0">
              <a:spAutoFit/>
            </a:bodyPr>
            <a:lstStyle/>
            <a:p>
              <a:pPr marL="12700" marR="5080" indent="26670">
                <a:lnSpc>
                  <a:spcPct val="77900"/>
                </a:lnSpc>
                <a:spcBef>
                  <a:spcPts val="254"/>
                </a:spcBef>
              </a:pPr>
              <a:r>
                <a:rPr sz="600" i="1" spc="65" dirty="0">
                  <a:latin typeface="Calibri"/>
                  <a:cs typeface="Calibri"/>
                </a:rPr>
                <a:t>k </a:t>
              </a:r>
              <a:r>
                <a:rPr sz="600" i="1" spc="55" dirty="0">
                  <a:latin typeface="Calibri"/>
                  <a:cs typeface="Calibri"/>
                </a:rPr>
                <a:t>stop</a:t>
              </a:r>
              <a:endParaRPr sz="600">
                <a:latin typeface="Calibri"/>
                <a:cs typeface="Calibri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264780" y="1727408"/>
              <a:ext cx="800100" cy="198755"/>
            </a:xfrm>
            <a:prstGeom prst="rect">
              <a:avLst/>
            </a:prstGeom>
          </p:spPr>
          <p:txBody>
            <a:bodyPr vert="horz" wrap="square" lIns="0" tIns="23495" rIns="0" bIns="0" rtlCol="0">
              <a:spAutoFit/>
            </a:bodyPr>
            <a:lstStyle/>
            <a:p>
              <a:pPr marL="12700" marR="5080" indent="289560">
                <a:lnSpc>
                  <a:spcPts val="640"/>
                </a:lnSpc>
                <a:spcBef>
                  <a:spcPts val="185"/>
                </a:spcBef>
              </a:pPr>
              <a:r>
                <a:rPr sz="600" i="1" spc="114" dirty="0">
                  <a:latin typeface="Calibri"/>
                  <a:cs typeface="Calibri"/>
                </a:rPr>
                <a:t>k</a:t>
              </a:r>
              <a:r>
                <a:rPr sz="600" i="1" spc="45" dirty="0">
                  <a:latin typeface="Calibri"/>
                  <a:cs typeface="Calibri"/>
                </a:rPr>
                <a:t> </a:t>
              </a:r>
              <a:r>
                <a:rPr sz="600" i="1" spc="220" dirty="0">
                  <a:latin typeface="Arial"/>
                  <a:cs typeface="Arial"/>
                </a:rPr>
                <a:t>−</a:t>
              </a:r>
              <a:r>
                <a:rPr sz="600" i="1" spc="5" dirty="0">
                  <a:latin typeface="Arial"/>
                  <a:cs typeface="Arial"/>
                </a:rPr>
                <a:t> </a:t>
              </a:r>
              <a:r>
                <a:rPr sz="600" i="1" spc="15" dirty="0">
                  <a:latin typeface="Calibri"/>
                  <a:cs typeface="Calibri"/>
                </a:rPr>
                <a:t>p</a:t>
              </a:r>
              <a:r>
                <a:rPr sz="600" i="1" spc="120" dirty="0">
                  <a:latin typeface="Calibri"/>
                  <a:cs typeface="Calibri"/>
                </a:rPr>
                <a:t> return</a:t>
              </a:r>
              <a:r>
                <a:rPr sz="600" i="1" spc="125" dirty="0">
                  <a:latin typeface="Calibri"/>
                  <a:cs typeface="Calibri"/>
                </a:rPr>
                <a:t> </a:t>
              </a:r>
              <a:r>
                <a:rPr sz="600" i="1" spc="110" dirty="0">
                  <a:latin typeface="Calibri"/>
                  <a:cs typeface="Calibri"/>
                </a:rPr>
                <a:t>this</a:t>
              </a:r>
              <a:r>
                <a:rPr sz="600" i="1" spc="125" dirty="0">
                  <a:latin typeface="Calibri"/>
                  <a:cs typeface="Calibri"/>
                </a:rPr>
                <a:t> </a:t>
              </a:r>
              <a:r>
                <a:rPr sz="600" i="1" spc="80" dirty="0">
                  <a:latin typeface="Calibri"/>
                  <a:cs typeface="Calibri"/>
                </a:rPr>
                <a:t>model</a:t>
              </a:r>
              <a:endParaRPr sz="600">
                <a:latin typeface="Calibri"/>
                <a:cs typeface="Calibri"/>
              </a:endParaRPr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036592" y="618836"/>
            <a:ext cx="2365260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900" dirty="0" smtClean="0"/>
              <a:t>T</a:t>
            </a:r>
            <a:r>
              <a:rPr sz="900" dirty="0" smtClean="0"/>
              <a:t>he</a:t>
            </a:r>
            <a:r>
              <a:rPr sz="900" spc="165" dirty="0" smtClean="0"/>
              <a:t> </a:t>
            </a:r>
            <a:r>
              <a:rPr sz="900" dirty="0"/>
              <a:t>update</a:t>
            </a:r>
            <a:r>
              <a:rPr sz="900" spc="160" dirty="0"/>
              <a:t> </a:t>
            </a:r>
            <a:r>
              <a:rPr sz="900" dirty="0"/>
              <a:t>rule</a:t>
            </a:r>
            <a:r>
              <a:rPr sz="900" spc="155" dirty="0"/>
              <a:t> </a:t>
            </a:r>
            <a:r>
              <a:rPr sz="900" dirty="0"/>
              <a:t>in</a:t>
            </a:r>
            <a:r>
              <a:rPr sz="900" spc="165" dirty="0"/>
              <a:t> </a:t>
            </a:r>
            <a:r>
              <a:rPr sz="900" spc="135" dirty="0" err="1" smtClean="0"/>
              <a:t>SGD</a:t>
            </a:r>
            <a:r>
              <a:rPr sz="900" spc="-25" dirty="0" err="1" smtClean="0"/>
              <a:t>is</a:t>
            </a:r>
            <a:endParaRPr sz="900"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3915057" y="1130019"/>
            <a:ext cx="79375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24203" y="790218"/>
            <a:ext cx="1183640" cy="24878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1050" i="1" spc="75" dirty="0">
                <a:latin typeface="Calibri"/>
                <a:cs typeface="Calibri"/>
              </a:rPr>
              <a:t>w</a:t>
            </a:r>
            <a:r>
              <a:rPr sz="1100" i="1" spc="112" baseline="-10416" dirty="0">
                <a:latin typeface="Calibri"/>
                <a:cs typeface="Calibri"/>
              </a:rPr>
              <a:t>t</a:t>
            </a:r>
            <a:r>
              <a:rPr sz="1100" spc="112" baseline="-10416" dirty="0">
                <a:latin typeface="Calibri"/>
                <a:cs typeface="Calibri"/>
              </a:rPr>
              <a:t>+1</a:t>
            </a:r>
            <a:r>
              <a:rPr sz="1100" spc="270" baseline="-10416" dirty="0">
                <a:latin typeface="Calibri"/>
                <a:cs typeface="Calibri"/>
              </a:rPr>
              <a:t> </a:t>
            </a:r>
            <a:r>
              <a:rPr sz="1050" spc="295" dirty="0">
                <a:latin typeface="Calibri"/>
                <a:cs typeface="Calibri"/>
              </a:rPr>
              <a:t>=</a:t>
            </a:r>
            <a:r>
              <a:rPr sz="1050" spc="65" dirty="0">
                <a:latin typeface="Calibri"/>
                <a:cs typeface="Calibri"/>
              </a:rPr>
              <a:t> </a:t>
            </a:r>
            <a:r>
              <a:rPr sz="1050" i="1" dirty="0" err="1" smtClean="0">
                <a:latin typeface="Calibri"/>
                <a:cs typeface="Calibri"/>
              </a:rPr>
              <a:t>w</a:t>
            </a:r>
            <a:r>
              <a:rPr sz="1100" i="1" baseline="-10416" dirty="0" err="1" smtClean="0">
                <a:latin typeface="Calibri"/>
                <a:cs typeface="Calibri"/>
              </a:rPr>
              <a:t>t</a:t>
            </a:r>
            <a:r>
              <a:rPr sz="1050" spc="-95" dirty="0" smtClean="0">
                <a:latin typeface="Lucida Sans Unicode"/>
                <a:cs typeface="Lucida Sans Unicode"/>
              </a:rPr>
              <a:t> </a:t>
            </a:r>
            <a:r>
              <a:rPr lang="en-IN" sz="1050" spc="-95" dirty="0" smtClean="0">
                <a:latin typeface="Lucida Sans Unicode"/>
                <a:cs typeface="Lucida Sans Unicode"/>
              </a:rPr>
              <a:t>- </a:t>
            </a:r>
            <a:r>
              <a:rPr sz="1050" i="1" spc="-20" dirty="0" err="1" smtClean="0">
                <a:latin typeface="Calibri"/>
                <a:cs typeface="Calibri"/>
              </a:rPr>
              <a:t>η</a:t>
            </a:r>
            <a:r>
              <a:rPr sz="1050" spc="-20" dirty="0" err="1">
                <a:latin typeface="Lucida Sans Unicode"/>
                <a:cs typeface="Lucida Sans Unicode"/>
              </a:rPr>
              <a:t>∇</a:t>
            </a:r>
            <a:r>
              <a:rPr sz="1050" i="1" spc="-20" dirty="0" err="1" smtClean="0">
                <a:latin typeface="Calibri"/>
                <a:cs typeface="Calibri"/>
              </a:rPr>
              <a:t>w</a:t>
            </a:r>
            <a:r>
              <a:rPr sz="1100" i="1" spc="-30" baseline="-10416" dirty="0" err="1" smtClean="0">
                <a:latin typeface="Calibri"/>
                <a:cs typeface="Calibri"/>
              </a:rPr>
              <a:t>t</a:t>
            </a:r>
            <a:endParaRPr sz="1100" baseline="-10416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19222" y="1070525"/>
            <a:ext cx="22606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919" dirty="0">
                <a:latin typeface="Trebuchet MS"/>
                <a:cs typeface="Trebuchet MS"/>
              </a:rPr>
              <a:t>Σ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69630" y="1071917"/>
            <a:ext cx="103505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07085" algn="l"/>
              </a:tabLst>
            </a:pPr>
            <a:r>
              <a:rPr sz="1050" spc="295" dirty="0">
                <a:latin typeface="Calibri"/>
                <a:cs typeface="Calibri"/>
              </a:rPr>
              <a:t>=</a:t>
            </a:r>
            <a:r>
              <a:rPr sz="1050" spc="50" dirty="0">
                <a:latin typeface="Calibri"/>
                <a:cs typeface="Calibri"/>
              </a:rPr>
              <a:t> </a:t>
            </a:r>
            <a:r>
              <a:rPr sz="1050" i="1" dirty="0">
                <a:latin typeface="Calibri"/>
                <a:cs typeface="Calibri"/>
              </a:rPr>
              <a:t>w</a:t>
            </a:r>
            <a:r>
              <a:rPr sz="1050" i="1" spc="470" dirty="0">
                <a:latin typeface="Calibri"/>
                <a:cs typeface="Calibri"/>
              </a:rPr>
              <a:t> </a:t>
            </a:r>
            <a:r>
              <a:rPr lang="en-IN" sz="1050" spc="-254" dirty="0" smtClean="0">
                <a:latin typeface="Lucida Sans Unicode"/>
                <a:cs typeface="Lucida Sans Unicode"/>
              </a:rPr>
              <a:t>-   </a:t>
            </a:r>
            <a:r>
              <a:rPr sz="1050" i="1" spc="-50" dirty="0" smtClean="0">
                <a:latin typeface="Calibri"/>
                <a:cs typeface="Calibri"/>
              </a:rPr>
              <a:t>η</a:t>
            </a:r>
            <a:r>
              <a:rPr lang="en-IN" sz="1050" i="1" dirty="0">
                <a:latin typeface="Calibri"/>
                <a:cs typeface="Calibri"/>
              </a:rPr>
              <a:t> </a:t>
            </a:r>
            <a:r>
              <a:rPr lang="en-IN" sz="1050" i="1" dirty="0" smtClean="0">
                <a:latin typeface="Calibri"/>
                <a:cs typeface="Calibri"/>
              </a:rPr>
              <a:t>    </a:t>
            </a:r>
            <a:r>
              <a:rPr sz="1050" spc="-25" dirty="0" smtClean="0">
                <a:latin typeface="Lucida Sans Unicode"/>
                <a:cs typeface="Lucida Sans Unicode"/>
              </a:rPr>
              <a:t>∇</a:t>
            </a:r>
            <a:r>
              <a:rPr sz="1050" i="1" spc="-25" dirty="0">
                <a:latin typeface="Calibri"/>
                <a:cs typeface="Calibri"/>
              </a:rPr>
              <a:t>w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06338" y="1210995"/>
            <a:ext cx="200025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100" dirty="0">
                <a:latin typeface="Calibri"/>
                <a:cs typeface="Calibri"/>
              </a:rPr>
              <a:t>i</a:t>
            </a:r>
            <a:r>
              <a:rPr sz="700" spc="100" dirty="0">
                <a:latin typeface="Calibri"/>
                <a:cs typeface="Calibri"/>
              </a:rPr>
              <a:t>=1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27623" y="1137712"/>
            <a:ext cx="62230" cy="11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45" dirty="0">
                <a:latin typeface="Calibri"/>
                <a:cs typeface="Calibri"/>
              </a:rPr>
              <a:t>i</a:t>
            </a:r>
            <a:endParaRPr sz="7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17936" y="1387166"/>
            <a:ext cx="2430799" cy="1500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900" spc="65" dirty="0">
                <a:latin typeface="Calibri"/>
                <a:cs typeface="Calibri"/>
              </a:rPr>
              <a:t>Let</a:t>
            </a:r>
            <a:r>
              <a:rPr sz="900" spc="175" dirty="0">
                <a:latin typeface="Calibri"/>
                <a:cs typeface="Calibri"/>
              </a:rPr>
              <a:t> </a:t>
            </a:r>
            <a:r>
              <a:rPr sz="900" i="1" spc="50" dirty="0">
                <a:latin typeface="Calibri"/>
                <a:cs typeface="Calibri"/>
              </a:rPr>
              <a:t>τ</a:t>
            </a:r>
            <a:r>
              <a:rPr sz="900" i="1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be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maximum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value</a:t>
            </a:r>
            <a:r>
              <a:rPr sz="900" spc="18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of</a:t>
            </a:r>
            <a:r>
              <a:rPr sz="900" spc="180" dirty="0">
                <a:latin typeface="Calibri"/>
                <a:cs typeface="Calibri"/>
              </a:rPr>
              <a:t> </a:t>
            </a:r>
            <a:r>
              <a:rPr sz="900" spc="-25" dirty="0">
                <a:latin typeface="Lucida Sans Unicode"/>
                <a:cs typeface="Lucida Sans Unicode"/>
              </a:rPr>
              <a:t>∇</a:t>
            </a:r>
            <a:r>
              <a:rPr sz="900" i="1" spc="-25" dirty="0" err="1" smtClean="0">
                <a:latin typeface="Calibri"/>
                <a:cs typeface="Calibri"/>
              </a:rPr>
              <a:t>w</a:t>
            </a:r>
            <a:r>
              <a:rPr sz="1000" i="1" spc="-37" baseline="-10416" dirty="0" err="1" smtClean="0">
                <a:latin typeface="Calibri"/>
                <a:cs typeface="Calibri"/>
              </a:rPr>
              <a:t>i</a:t>
            </a:r>
            <a:endParaRPr sz="1000" baseline="-10416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82330" y="1870490"/>
            <a:ext cx="1225550" cy="1731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latin typeface="Lucida Sans Unicode"/>
                <a:cs typeface="Lucida Sans Unicode"/>
              </a:rPr>
              <a:t>|</a:t>
            </a:r>
            <a:r>
              <a:rPr sz="1050" i="1" dirty="0">
                <a:latin typeface="Calibri"/>
                <a:cs typeface="Calibri"/>
              </a:rPr>
              <a:t>w</a:t>
            </a:r>
            <a:r>
              <a:rPr sz="1100" i="1" baseline="-10416" dirty="0">
                <a:latin typeface="Calibri"/>
                <a:cs typeface="Calibri"/>
              </a:rPr>
              <a:t>t</a:t>
            </a:r>
            <a:r>
              <a:rPr sz="1100" baseline="-10416" dirty="0">
                <a:latin typeface="Calibri"/>
                <a:cs typeface="Calibri"/>
              </a:rPr>
              <a:t>+1</a:t>
            </a:r>
            <a:r>
              <a:rPr sz="1100" spc="209" baseline="-10416" dirty="0">
                <a:latin typeface="Calibri"/>
                <a:cs typeface="Calibri"/>
              </a:rPr>
              <a:t> </a:t>
            </a:r>
            <a:r>
              <a:rPr sz="1050" spc="-254" dirty="0">
                <a:latin typeface="Lucida Sans Unicode"/>
                <a:cs typeface="Lucida Sans Unicode"/>
              </a:rPr>
              <a:t>—</a:t>
            </a:r>
            <a:r>
              <a:rPr sz="1050" spc="-75" dirty="0">
                <a:latin typeface="Lucida Sans Unicode"/>
                <a:cs typeface="Lucida Sans Unicode"/>
              </a:rPr>
              <a:t> </a:t>
            </a:r>
            <a:r>
              <a:rPr sz="1050" i="1" spc="-10" dirty="0">
                <a:latin typeface="Calibri"/>
                <a:cs typeface="Calibri"/>
              </a:rPr>
              <a:t>w</a:t>
            </a:r>
            <a:r>
              <a:rPr sz="1100" spc="-15" baseline="-10416" dirty="0">
                <a:latin typeface="Calibri"/>
                <a:cs typeface="Calibri"/>
              </a:rPr>
              <a:t>0</a:t>
            </a:r>
            <a:r>
              <a:rPr sz="1050" spc="-10" dirty="0">
                <a:latin typeface="Lucida Sans Unicode"/>
                <a:cs typeface="Lucida Sans Unicode"/>
              </a:rPr>
              <a:t>|</a:t>
            </a:r>
            <a:r>
              <a:rPr sz="1050" spc="-5" dirty="0">
                <a:latin typeface="Lucida Sans Unicode"/>
                <a:cs typeface="Lucida Sans Unicode"/>
              </a:rPr>
              <a:t> </a:t>
            </a:r>
            <a:r>
              <a:rPr sz="1050" dirty="0">
                <a:latin typeface="Lucida Sans Unicode"/>
                <a:cs typeface="Lucida Sans Unicode"/>
              </a:rPr>
              <a:t>≤</a:t>
            </a:r>
            <a:r>
              <a:rPr sz="1050" spc="-10" dirty="0">
                <a:latin typeface="Lucida Sans Unicode"/>
                <a:cs typeface="Lucida Sans Unicode"/>
              </a:rPr>
              <a:t> </a:t>
            </a:r>
            <a:r>
              <a:rPr sz="1050" i="1" spc="-10" dirty="0">
                <a:latin typeface="Calibri"/>
                <a:cs typeface="Calibri"/>
              </a:rPr>
              <a:t>ηt</a:t>
            </a:r>
            <a:r>
              <a:rPr sz="1050" spc="-10" dirty="0">
                <a:latin typeface="Lucida Sans Unicode"/>
                <a:cs typeface="Lucida Sans Unicode"/>
              </a:rPr>
              <a:t>|</a:t>
            </a:r>
            <a:r>
              <a:rPr sz="1050" i="1" spc="-10" dirty="0">
                <a:latin typeface="Calibri"/>
                <a:cs typeface="Calibri"/>
              </a:rPr>
              <a:t>τ</a:t>
            </a:r>
            <a:r>
              <a:rPr sz="1050" i="1" spc="-110" dirty="0">
                <a:latin typeface="Calibri"/>
                <a:cs typeface="Calibri"/>
              </a:rPr>
              <a:t> </a:t>
            </a:r>
            <a:r>
              <a:rPr sz="1050" spc="-50" dirty="0">
                <a:latin typeface="Lucida Sans Unicode"/>
                <a:cs typeface="Lucida Sans Unicode"/>
              </a:rPr>
              <a:t>|</a:t>
            </a:r>
            <a:endParaRPr sz="1050" dirty="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17936" y="2181754"/>
            <a:ext cx="2437149" cy="29238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900" spc="55" dirty="0">
                <a:latin typeface="Calibri"/>
                <a:cs typeface="Calibri"/>
              </a:rPr>
              <a:t>Thus,</a:t>
            </a:r>
            <a:r>
              <a:rPr sz="900" spc="36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t</a:t>
            </a:r>
            <a:r>
              <a:rPr sz="900" i="1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controls</a:t>
            </a:r>
            <a:r>
              <a:rPr sz="900" spc="3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how</a:t>
            </a:r>
            <a:r>
              <a:rPr sz="900" spc="3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far</a:t>
            </a:r>
            <a:r>
              <a:rPr sz="900" spc="320" dirty="0">
                <a:latin typeface="Calibri"/>
                <a:cs typeface="Calibri"/>
              </a:rPr>
              <a:t> </a:t>
            </a:r>
            <a:r>
              <a:rPr sz="900" i="1" dirty="0">
                <a:latin typeface="Calibri"/>
                <a:cs typeface="Calibri"/>
              </a:rPr>
              <a:t>w</a:t>
            </a:r>
            <a:r>
              <a:rPr sz="1000" i="1" baseline="-10416" dirty="0">
                <a:latin typeface="Calibri"/>
                <a:cs typeface="Calibri"/>
              </a:rPr>
              <a:t>t</a:t>
            </a:r>
            <a:r>
              <a:rPr sz="1000" i="1" spc="637" baseline="-10416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can</a:t>
            </a:r>
            <a:r>
              <a:rPr sz="900" spc="320" dirty="0">
                <a:latin typeface="Calibri"/>
                <a:cs typeface="Calibri"/>
              </a:rPr>
              <a:t> </a:t>
            </a:r>
            <a:r>
              <a:rPr sz="900" spc="-25" dirty="0">
                <a:latin typeface="Calibri"/>
                <a:cs typeface="Calibri"/>
              </a:rPr>
              <a:t>go </a:t>
            </a:r>
            <a:r>
              <a:rPr sz="900" dirty="0">
                <a:latin typeface="Calibri"/>
                <a:cs typeface="Calibri"/>
              </a:rPr>
              <a:t>from</a:t>
            </a:r>
            <a:r>
              <a:rPr sz="900" spc="2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the</a:t>
            </a:r>
            <a:r>
              <a:rPr sz="900" spc="229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initial</a:t>
            </a:r>
            <a:r>
              <a:rPr sz="900" spc="229" dirty="0">
                <a:latin typeface="Calibri"/>
                <a:cs typeface="Calibri"/>
              </a:rPr>
              <a:t> </a:t>
            </a:r>
            <a:r>
              <a:rPr sz="900" i="1" spc="-25" dirty="0" smtClean="0">
                <a:latin typeface="Calibri"/>
                <a:cs typeface="Calibri"/>
              </a:rPr>
              <a:t>w</a:t>
            </a:r>
            <a:r>
              <a:rPr sz="1000" spc="-37" baseline="-10416" dirty="0" smtClean="0">
                <a:latin typeface="Calibri"/>
                <a:cs typeface="Calibri"/>
              </a:rPr>
              <a:t>0</a:t>
            </a:r>
            <a:endParaRPr sz="1000" baseline="-10416" dirty="0">
              <a:latin typeface="Calibri"/>
              <a:cs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171533" y="942744"/>
            <a:ext cx="336310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126364" lvl="0" indent="0" algn="r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700" b="0" i="1" u="none" strike="noStrike" kern="0" cap="none" spc="-5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endParaRPr kumimoji="0" lang="en-IN" sz="7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716" y="1588268"/>
            <a:ext cx="838200" cy="23593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07150" y="184219"/>
            <a:ext cx="3666349" cy="275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400" marR="18415" algn="just">
              <a:lnSpc>
                <a:spcPct val="102600"/>
              </a:lnSpc>
              <a:spcBef>
                <a:spcPts val="55"/>
              </a:spcBef>
            </a:pPr>
            <a:r>
              <a:rPr lang="en-US" sz="1200" dirty="0" smtClean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lang="en-US" sz="1200" spc="160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libri"/>
                <a:cs typeface="Calibri"/>
              </a:rPr>
              <a:t>does</a:t>
            </a:r>
            <a:r>
              <a:rPr lang="en-US" sz="1200" spc="165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spc="55" dirty="0" smtClean="0">
                <a:solidFill>
                  <a:srgbClr val="FF0000"/>
                </a:solidFill>
                <a:latin typeface="Calibri"/>
                <a:cs typeface="Calibri"/>
              </a:rPr>
              <a:t>Early stopping</a:t>
            </a:r>
            <a:r>
              <a:rPr lang="en-US" sz="1200" spc="165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lang="en-US" sz="1200" spc="165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lang="en-US" sz="1200" spc="165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dirty="0" smtClean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1200" spc="160" dirty="0" smtClean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200" dirty="0" err="1" smtClean="0">
                <a:solidFill>
                  <a:srgbClr val="FF0000"/>
                </a:solidFill>
                <a:latin typeface="Calibri"/>
                <a:cs typeface="Calibri"/>
              </a:rPr>
              <a:t>regularizer</a:t>
            </a:r>
            <a:r>
              <a:rPr lang="en-US" sz="1200" spc="-50" dirty="0" smtClean="0">
                <a:solidFill>
                  <a:srgbClr val="FF0000"/>
                </a:solidFill>
                <a:latin typeface="Calibri"/>
                <a:cs typeface="Calibri"/>
              </a:rPr>
              <a:t>?</a:t>
            </a:r>
            <a:endParaRPr lang="en-US" sz="12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66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469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64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>
              <a:xfrm>
                <a:off x="553847" y="788159"/>
                <a:ext cx="4859083" cy="667811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84150" indent="-171450">
                  <a:lnSpc>
                    <a:spcPct val="100000"/>
                  </a:lnSpc>
                  <a:spcBef>
                    <a:spcPts val="434"/>
                  </a:spcBef>
                  <a:buFont typeface="Arial" panose="020B0604020202020204" pitchFamily="34" charset="0"/>
                  <a:buChar char="•"/>
                </a:pPr>
                <a:r>
                  <a:rPr lang="en-US" sz="1050" dirty="0">
                    <a:latin typeface="Calibri"/>
                    <a:cs typeface="Calibri"/>
                  </a:rPr>
                  <a:t>Early stopping limits parameter updates to only</a:t>
                </a:r>
                <a:r>
                  <a:rPr lang="en-US" sz="1050" dirty="0" smtClean="0"/>
                  <a:t>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050" dirty="0" smtClean="0"/>
                  <a:t> </a:t>
                </a:r>
                <a:r>
                  <a:rPr lang="en-US" sz="1050" dirty="0">
                    <a:latin typeface="Calibri"/>
                    <a:cs typeface="Calibri"/>
                  </a:rPr>
                  <a:t>steps.</a:t>
                </a:r>
              </a:p>
              <a:p>
                <a:pPr marL="184150" indent="-171450">
                  <a:lnSpc>
                    <a:spcPct val="100000"/>
                  </a:lnSpc>
                  <a:spcBef>
                    <a:spcPts val="434"/>
                  </a:spcBef>
                  <a:buFont typeface="Arial" panose="020B0604020202020204" pitchFamily="34" charset="0"/>
                  <a:buChar char="•"/>
                </a:pPr>
                <a:r>
                  <a:rPr lang="en-US" sz="1050" dirty="0">
                    <a:latin typeface="Calibri"/>
                    <a:cs typeface="Calibri"/>
                  </a:rPr>
                  <a:t>If a parameter </a:t>
                </a:r>
                <a14:m>
                  <m:oMath xmlns:m="http://schemas.openxmlformats.org/officeDocument/2006/math">
                    <m:r>
                      <a:rPr lang="en-US" sz="1050" dirty="0">
                        <a:latin typeface="Cambria Math" panose="02040503050406030204" pitchFamily="18" charset="0"/>
                        <a:cs typeface="Calibri"/>
                      </a:rPr>
                      <m:t>𝑤</m:t>
                    </m:r>
                  </m:oMath>
                </a14:m>
                <a:r>
                  <a:rPr lang="en-US" sz="1050" dirty="0">
                    <a:latin typeface="Calibri"/>
                    <a:cs typeface="Calibri"/>
                  </a:rPr>
                  <a:t> represents a direction that strongly affects the loss </a:t>
                </a:r>
                <a:r>
                  <a:rPr lang="en-IN" sz="1050" i="1" spc="280" dirty="0" smtClean="0">
                    <a:latin typeface="Georgia"/>
                    <a:cs typeface="Georgia"/>
                  </a:rPr>
                  <a:t>L</a:t>
                </a:r>
                <a:r>
                  <a:rPr lang="en-IN" sz="1050" dirty="0" smtClean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r>
                      <a:rPr lang="en-IN" sz="1050" i="1" dirty="0" smtClean="0">
                        <a:latin typeface="Cambria Math" panose="02040503050406030204" pitchFamily="18" charset="0"/>
                        <a:cs typeface="Calibri"/>
                      </a:rPr>
                      <m:t>𝜃</m:t>
                    </m:r>
                  </m:oMath>
                </a14:m>
                <a:r>
                  <a:rPr lang="en-IN" sz="1050" dirty="0" smtClean="0">
                    <a:latin typeface="Calibri"/>
                    <a:cs typeface="Calibri"/>
                  </a:rPr>
                  <a:t>),</a:t>
                </a:r>
                <a:r>
                  <a:rPr lang="en-IN" sz="1050" spc="180" dirty="0" smtClean="0">
                    <a:latin typeface="Calibri"/>
                    <a:cs typeface="Calibri"/>
                  </a:rPr>
                  <a:t> </a:t>
                </a:r>
                <a:r>
                  <a:rPr lang="en-IN" sz="1050" dirty="0" smtClean="0">
                    <a:latin typeface="Calibri"/>
                    <a:cs typeface="Calibri"/>
                  </a:rPr>
                  <a:t>then </a:t>
                </a:r>
                <a:r>
                  <a:rPr lang="en-IN" sz="1050" dirty="0">
                    <a:latin typeface="Calibri"/>
                    <a:cs typeface="Calibri"/>
                  </a:rPr>
                  <a:t>its gradient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05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ar-AE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ar-AE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ar-AE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ar-AE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ar-AE" sz="105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ar-AE" sz="105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ar-AE" sz="105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050" dirty="0">
                    <a:latin typeface="Calibri"/>
                    <a:cs typeface="Calibri"/>
                  </a:rPr>
                  <a:t>will be </a:t>
                </a:r>
                <a:r>
                  <a:rPr lang="en-IN" sz="1050" dirty="0" smtClean="0">
                    <a:latin typeface="Calibri"/>
                    <a:cs typeface="Calibri"/>
                  </a:rPr>
                  <a:t>large.</a:t>
                </a:r>
                <a:endParaRPr lang="en-IN" sz="105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47" y="788159"/>
                <a:ext cx="4859083" cy="667811"/>
              </a:xfrm>
              <a:prstGeom prst="rect">
                <a:avLst/>
              </a:prstGeom>
              <a:blipFill>
                <a:blip r:embed="rId2"/>
                <a:stretch>
                  <a:fillRect l="-1380" b="-63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520700" y="1432442"/>
                <a:ext cx="4923281" cy="42966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9550" indent="-171450">
                  <a:spcBef>
                    <a:spcPts val="90"/>
                  </a:spcBef>
                  <a:buFont typeface="Arial" panose="020B0604020202020204" pitchFamily="34" charset="0"/>
                  <a:buChar char="•"/>
                </a:pPr>
                <a:r>
                  <a:rPr lang="en-US" sz="1050" dirty="0">
                    <a:latin typeface="Calibri"/>
                    <a:cs typeface="Calibri"/>
                  </a:rPr>
                  <a:t>If a parameter has little influence on the loss </a:t>
                </a:r>
                <a:r>
                  <a:rPr sz="1050" spc="80" dirty="0" smtClean="0">
                    <a:latin typeface="Calibri"/>
                    <a:cs typeface="Calibri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11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sz="1100" spc="622" baseline="38194" dirty="0" smtClean="0">
                    <a:latin typeface="Calibri"/>
                    <a:cs typeface="Calibri"/>
                  </a:rPr>
                  <a:t> </a:t>
                </a:r>
                <a:r>
                  <a:rPr sz="1050" dirty="0">
                    <a:latin typeface="Calibri"/>
                    <a:cs typeface="Calibri"/>
                  </a:rPr>
                  <a:t>is</a:t>
                </a:r>
                <a:r>
                  <a:rPr sz="1050" spc="210" dirty="0">
                    <a:latin typeface="Calibri"/>
                    <a:cs typeface="Calibri"/>
                  </a:rPr>
                  <a:t> </a:t>
                </a:r>
                <a:r>
                  <a:rPr sz="1050" dirty="0">
                    <a:latin typeface="Calibri"/>
                    <a:cs typeface="Calibri"/>
                  </a:rPr>
                  <a:t>small</a:t>
                </a:r>
                <a:r>
                  <a:rPr sz="1050" dirty="0" smtClean="0">
                    <a:latin typeface="Calibri"/>
                    <a:cs typeface="Calibri"/>
                  </a:rPr>
                  <a:t>)</a:t>
                </a:r>
                <a:r>
                  <a:rPr lang="en-US" sz="1050" dirty="0" smtClean="0">
                    <a:latin typeface="Calibri"/>
                    <a:cs typeface="Calibri"/>
                  </a:rPr>
                  <a:t>, </a:t>
                </a:r>
                <a:r>
                  <a:rPr lang="en-US" sz="1050" dirty="0">
                    <a:latin typeface="Calibri"/>
                    <a:cs typeface="Calibri"/>
                  </a:rPr>
                  <a:t>its updates remain small, so it cannot grow much within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</m:oMath>
                </a14:m>
                <a:r>
                  <a:rPr lang="en-US" sz="1050" dirty="0">
                    <a:latin typeface="Calibri"/>
                    <a:cs typeface="Calibri"/>
                  </a:rPr>
                  <a:t> steps.</a:t>
                </a:r>
                <a:endParaRPr sz="105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00" y="1432442"/>
                <a:ext cx="4923281" cy="429669"/>
              </a:xfrm>
              <a:prstGeom prst="rect">
                <a:avLst/>
              </a:prstGeom>
              <a:blipFill>
                <a:blip r:embed="rId3"/>
                <a:stretch>
                  <a:fillRect l="-866" b="-1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 txBox="1"/>
          <p:nvPr/>
        </p:nvSpPr>
        <p:spPr>
          <a:xfrm>
            <a:off x="520700" y="1883792"/>
            <a:ext cx="4911195" cy="339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304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latin typeface="Calibri"/>
                <a:cs typeface="Calibri"/>
              </a:rPr>
              <a:t>Therefore, early stopping tends to keep less important parameters small, producing an effect similar to weight decay.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408242" y="1622425"/>
            <a:ext cx="410209" cy="469900"/>
            <a:chOff x="437550" y="1248155"/>
            <a:chExt cx="410209" cy="469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550" y="1587207"/>
              <a:ext cx="86183" cy="1308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60" y="1587207"/>
              <a:ext cx="86183" cy="130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570" y="1587207"/>
              <a:ext cx="86183" cy="130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581" y="1587207"/>
              <a:ext cx="86183" cy="130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565" y="1248155"/>
              <a:ext cx="86183" cy="130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89318" y="1338131"/>
            <a:ext cx="648335" cy="1038105"/>
          </a:xfrm>
          <a:prstGeom prst="rect">
            <a:avLst/>
          </a:prstGeom>
          <a:ln w="3901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endParaRPr lang="en-IN" sz="1000" dirty="0" smtClean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endParaRPr lang="en-IN" sz="1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endParaRPr lang="en-IN" sz="1000" dirty="0" smtClean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endParaRPr lang="en-IN" sz="1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endParaRPr sz="5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7520" y="977338"/>
            <a:ext cx="16637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-37" baseline="8333" dirty="0">
                <a:latin typeface="Calibri"/>
                <a:cs typeface="Calibri"/>
              </a:rPr>
              <a:t>y</a:t>
            </a:r>
            <a:r>
              <a:rPr sz="750" i="1" spc="-25" dirty="0">
                <a:latin typeface="Calibri"/>
                <a:cs typeface="Calibri"/>
              </a:rPr>
              <a:t>lr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961" y="1740727"/>
            <a:ext cx="276776" cy="23471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99420" y="1170616"/>
            <a:ext cx="27940" cy="167640"/>
            <a:chOff x="628728" y="637473"/>
            <a:chExt cx="27940" cy="167640"/>
          </a:xfrm>
        </p:grpSpPr>
        <p:sp>
          <p:nvSpPr>
            <p:cNvPr id="16" name="object 16"/>
            <p:cNvSpPr/>
            <p:nvPr/>
          </p:nvSpPr>
          <p:spPr>
            <a:xfrm>
              <a:off x="642657" y="642830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59">
                  <a:moveTo>
                    <a:pt x="0" y="1621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0510" y="639255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5" h="18415">
                  <a:moveTo>
                    <a:pt x="0" y="17873"/>
                  </a:moveTo>
                  <a:lnTo>
                    <a:pt x="4555" y="16682"/>
                  </a:lnTo>
                  <a:lnTo>
                    <a:pt x="11388" y="3574"/>
                  </a:lnTo>
                  <a:lnTo>
                    <a:pt x="12147" y="0"/>
                  </a:lnTo>
                  <a:lnTo>
                    <a:pt x="12906" y="3574"/>
                  </a:lnTo>
                  <a:lnTo>
                    <a:pt x="19739" y="16682"/>
                  </a:lnTo>
                  <a:lnTo>
                    <a:pt x="24294" y="178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2976" y="2386707"/>
            <a:ext cx="614677" cy="33663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82980" algn="l"/>
              </a:tabLst>
            </a:pPr>
            <a:r>
              <a:rPr sz="1000" i="1" dirty="0" smtClean="0">
                <a:latin typeface="Calibri"/>
                <a:cs typeface="Calibri"/>
              </a:rPr>
              <a:t>Logistic </a:t>
            </a:r>
            <a:endParaRPr lang="en-IN" sz="1000" i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82980" algn="l"/>
              </a:tabLst>
            </a:pPr>
            <a:r>
              <a:rPr sz="1000" i="1" dirty="0" smtClean="0">
                <a:latin typeface="Calibri"/>
                <a:cs typeface="Calibri"/>
              </a:rPr>
              <a:t>Regression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1385" y="1172398"/>
            <a:ext cx="648335" cy="1183405"/>
            <a:chOff x="1020693" y="639255"/>
            <a:chExt cx="648335" cy="1183405"/>
          </a:xfrm>
        </p:grpSpPr>
        <p:sp>
          <p:nvSpPr>
            <p:cNvPr id="26" name="object 26"/>
            <p:cNvSpPr/>
            <p:nvPr/>
          </p:nvSpPr>
          <p:spPr>
            <a:xfrm>
              <a:off x="1020693" y="642830"/>
              <a:ext cx="648335" cy="1179830"/>
            </a:xfrm>
            <a:custGeom>
              <a:avLst/>
              <a:gdLst/>
              <a:ahLst/>
              <a:cxnLst/>
              <a:rect l="l" t="t" r="r" b="b"/>
              <a:pathLst>
                <a:path w="648335" h="1179830">
                  <a:moveTo>
                    <a:pt x="0" y="1179315"/>
                  </a:moveTo>
                  <a:lnTo>
                    <a:pt x="0" y="162158"/>
                  </a:lnTo>
                  <a:lnTo>
                    <a:pt x="648062" y="162158"/>
                  </a:lnTo>
                  <a:lnTo>
                    <a:pt x="648062" y="1179315"/>
                  </a:lnTo>
                  <a:lnTo>
                    <a:pt x="0" y="1179315"/>
                  </a:lnTo>
                  <a:close/>
                </a:path>
                <a:path w="648335" h="1179830">
                  <a:moveTo>
                    <a:pt x="324031" y="162158"/>
                  </a:moveTo>
                  <a:lnTo>
                    <a:pt x="324031" y="0"/>
                  </a:lnTo>
                </a:path>
              </a:pathLst>
            </a:custGeom>
            <a:ln w="3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32577" y="639255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5" h="18415">
                  <a:moveTo>
                    <a:pt x="0" y="17873"/>
                  </a:moveTo>
                  <a:lnTo>
                    <a:pt x="4555" y="16682"/>
                  </a:lnTo>
                  <a:lnTo>
                    <a:pt x="11388" y="3574"/>
                  </a:lnTo>
                  <a:lnTo>
                    <a:pt x="12147" y="0"/>
                  </a:lnTo>
                  <a:lnTo>
                    <a:pt x="12906" y="3574"/>
                  </a:lnTo>
                  <a:lnTo>
                    <a:pt x="19739" y="16682"/>
                  </a:lnTo>
                  <a:lnTo>
                    <a:pt x="24294" y="178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194760" y="975652"/>
            <a:ext cx="237490" cy="1699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-67" baseline="8333" dirty="0" smtClean="0">
                <a:latin typeface="Calibri"/>
                <a:cs typeface="Calibri"/>
              </a:rPr>
              <a:t>y</a:t>
            </a:r>
            <a:r>
              <a:rPr lang="en-IN" sz="750" i="1" spc="-45" dirty="0" err="1" smtClean="0">
                <a:latin typeface="Calibri"/>
                <a:cs typeface="Calibri"/>
              </a:rPr>
              <a:t>dt</a:t>
            </a:r>
            <a:endParaRPr sz="75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23704" y="977338"/>
            <a:ext cx="273396" cy="1699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-75" baseline="8333" dirty="0" smtClean="0">
                <a:latin typeface="Calibri"/>
                <a:cs typeface="Calibri"/>
              </a:rPr>
              <a:t>y</a:t>
            </a:r>
            <a:r>
              <a:rPr lang="en-IN" sz="750" i="1" spc="-50" dirty="0" err="1" smtClean="0">
                <a:latin typeface="Calibri"/>
                <a:cs typeface="Calibri"/>
              </a:rPr>
              <a:t>knn</a:t>
            </a:r>
            <a:endParaRPr sz="75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03554" y="1170616"/>
            <a:ext cx="27940" cy="167640"/>
            <a:chOff x="2032862" y="637473"/>
            <a:chExt cx="27940" cy="167640"/>
          </a:xfrm>
        </p:grpSpPr>
        <p:sp>
          <p:nvSpPr>
            <p:cNvPr id="32" name="object 32"/>
            <p:cNvSpPr/>
            <p:nvPr/>
          </p:nvSpPr>
          <p:spPr>
            <a:xfrm>
              <a:off x="2046792" y="642830"/>
              <a:ext cx="0" cy="162560"/>
            </a:xfrm>
            <a:custGeom>
              <a:avLst/>
              <a:gdLst/>
              <a:ahLst/>
              <a:cxnLst/>
              <a:rect l="l" t="t" r="r" b="b"/>
              <a:pathLst>
                <a:path h="162559">
                  <a:moveTo>
                    <a:pt x="0" y="16215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34644" y="639255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4" h="18415">
                  <a:moveTo>
                    <a:pt x="0" y="17873"/>
                  </a:moveTo>
                  <a:lnTo>
                    <a:pt x="4555" y="16682"/>
                  </a:lnTo>
                  <a:lnTo>
                    <a:pt x="11388" y="3574"/>
                  </a:lnTo>
                  <a:lnTo>
                    <a:pt x="12147" y="0"/>
                  </a:lnTo>
                  <a:lnTo>
                    <a:pt x="12906" y="3574"/>
                  </a:lnTo>
                  <a:lnTo>
                    <a:pt x="19739" y="16682"/>
                  </a:lnTo>
                  <a:lnTo>
                    <a:pt x="24294" y="178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693452" y="1338131"/>
            <a:ext cx="841145" cy="1031051"/>
          </a:xfrm>
          <a:prstGeom prst="rect">
            <a:avLst/>
          </a:prstGeom>
          <a:ln w="3901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IN" sz="100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00" dirty="0">
              <a:latin typeface="Calibri"/>
              <a:cs typeface="Calibri"/>
            </a:endParaRPr>
          </a:p>
        </p:txBody>
      </p:sp>
      <p:sp>
        <p:nvSpPr>
          <p:cNvPr id="56" name="object 56" descr="$PPTXTitle"/>
          <p:cNvSpPr txBox="1">
            <a:spLocks noGrp="1"/>
          </p:cNvSpPr>
          <p:nvPr>
            <p:ph type="title"/>
          </p:nvPr>
        </p:nvSpPr>
        <p:spPr>
          <a:xfrm>
            <a:off x="1178482" y="546316"/>
            <a:ext cx="26924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i="1" spc="-15" baseline="8333" dirty="0">
                <a:latin typeface="Calibri"/>
                <a:cs typeface="Calibri"/>
              </a:rPr>
              <a:t>y</a:t>
            </a:r>
            <a:r>
              <a:rPr sz="750" i="1" spc="-10" dirty="0">
                <a:latin typeface="Calibri"/>
                <a:cs typeface="Calibri"/>
              </a:rPr>
              <a:t>final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89318" y="744915"/>
            <a:ext cx="2052320" cy="172085"/>
            <a:chOff x="318626" y="211772"/>
            <a:chExt cx="2052320" cy="172085"/>
          </a:xfrm>
        </p:grpSpPr>
        <p:sp>
          <p:nvSpPr>
            <p:cNvPr id="58" name="object 58"/>
            <p:cNvSpPr/>
            <p:nvPr/>
          </p:nvSpPr>
          <p:spPr>
            <a:xfrm>
              <a:off x="318626" y="217128"/>
              <a:ext cx="2052320" cy="164465"/>
            </a:xfrm>
            <a:custGeom>
              <a:avLst/>
              <a:gdLst/>
              <a:ahLst/>
              <a:cxnLst/>
              <a:rect l="l" t="t" r="r" b="b"/>
              <a:pathLst>
                <a:path w="2052320" h="164465">
                  <a:moveTo>
                    <a:pt x="0" y="164044"/>
                  </a:moveTo>
                  <a:lnTo>
                    <a:pt x="2052196" y="164044"/>
                  </a:lnTo>
                </a:path>
                <a:path w="2052320" h="164465">
                  <a:moveTo>
                    <a:pt x="1026098" y="164044"/>
                  </a:moveTo>
                  <a:lnTo>
                    <a:pt x="1026098" y="0"/>
                  </a:lnTo>
                </a:path>
              </a:pathLst>
            </a:custGeom>
            <a:ln w="39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32577" y="213554"/>
              <a:ext cx="24765" cy="18415"/>
            </a:xfrm>
            <a:custGeom>
              <a:avLst/>
              <a:gdLst/>
              <a:ahLst/>
              <a:cxnLst/>
              <a:rect l="l" t="t" r="r" b="b"/>
              <a:pathLst>
                <a:path w="24765" h="18414">
                  <a:moveTo>
                    <a:pt x="0" y="17873"/>
                  </a:moveTo>
                  <a:lnTo>
                    <a:pt x="4555" y="16682"/>
                  </a:lnTo>
                  <a:lnTo>
                    <a:pt x="11388" y="3574"/>
                  </a:lnTo>
                  <a:lnTo>
                    <a:pt x="12147" y="0"/>
                  </a:lnTo>
                  <a:lnTo>
                    <a:pt x="12906" y="3574"/>
                  </a:lnTo>
                  <a:lnTo>
                    <a:pt x="19739" y="16682"/>
                  </a:lnTo>
                  <a:lnTo>
                    <a:pt x="24294" y="178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653522" y="645335"/>
            <a:ext cx="3067554" cy="16021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Combine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output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different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135" dirty="0">
                <a:latin typeface="Calibri"/>
                <a:cs typeface="Calibri"/>
              </a:rPr>
              <a:t> </a:t>
            </a:r>
            <a:r>
              <a:rPr sz="1100" spc="-25" dirty="0" smtClean="0">
                <a:latin typeface="Calibri"/>
                <a:cs typeface="Calibri"/>
              </a:rPr>
              <a:t>re</a:t>
            </a:r>
            <a:r>
              <a:rPr sz="1100" dirty="0" smtClean="0">
                <a:latin typeface="Calibri"/>
                <a:cs typeface="Calibri"/>
              </a:rPr>
              <a:t>duce</a:t>
            </a:r>
            <a:r>
              <a:rPr sz="1100" spc="240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generalization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error</a:t>
            </a:r>
            <a:endParaRPr sz="11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The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models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correspond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different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spc="-10" dirty="0" smtClean="0">
                <a:latin typeface="Calibri"/>
                <a:cs typeface="Calibri"/>
              </a:rPr>
              <a:t>classifiers</a:t>
            </a:r>
            <a:endParaRPr sz="1100" dirty="0">
              <a:latin typeface="Calibri"/>
              <a:cs typeface="Calibri"/>
            </a:endParaRPr>
          </a:p>
          <a:p>
            <a:pPr marL="184150" marR="5080" indent="-171450">
              <a:lnSpc>
                <a:spcPts val="1200"/>
              </a:lnSpc>
              <a:spcBef>
                <a:spcPts val="315"/>
              </a:spcBef>
              <a:buFont typeface="Arial" panose="020B0604020202020204" pitchFamily="34" charset="0"/>
              <a:buChar char="•"/>
            </a:pPr>
            <a:r>
              <a:rPr sz="1100" spc="85" dirty="0">
                <a:latin typeface="Calibri"/>
                <a:cs typeface="Calibri"/>
              </a:rPr>
              <a:t>It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could be different instances of the same </a:t>
            </a:r>
            <a:r>
              <a:rPr sz="1100" spc="-10" dirty="0" smtClean="0">
                <a:latin typeface="Calibri"/>
                <a:cs typeface="Calibri"/>
              </a:rPr>
              <a:t>clas</a:t>
            </a:r>
            <a:r>
              <a:rPr sz="1100" dirty="0" smtClean="0">
                <a:latin typeface="Calibri"/>
                <a:cs typeface="Calibri"/>
              </a:rPr>
              <a:t>sifier</a:t>
            </a:r>
            <a:r>
              <a:rPr sz="1100" spc="21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trained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with:</a:t>
            </a:r>
            <a:endParaRPr sz="1100" dirty="0">
              <a:latin typeface="Calibri"/>
              <a:cs typeface="Calibri"/>
            </a:endParaRPr>
          </a:p>
          <a:p>
            <a:pPr marL="461010" marR="1049655" indent="-171450">
              <a:lnSpc>
                <a:spcPct val="100000"/>
              </a:lnSpc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lang="en-IN" sz="1000" dirty="0" smtClean="0">
                <a:latin typeface="Calibri"/>
                <a:cs typeface="Calibri"/>
              </a:rPr>
              <a:t>d</a:t>
            </a:r>
            <a:r>
              <a:rPr sz="1000" dirty="0" err="1" smtClean="0">
                <a:latin typeface="Calibri"/>
                <a:cs typeface="Calibri"/>
              </a:rPr>
              <a:t>ifferent</a:t>
            </a:r>
            <a:r>
              <a:rPr lang="en-IN" sz="1000" spc="120" dirty="0" smtClean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hyperparameters</a:t>
            </a:r>
            <a:endParaRPr lang="en-IN" sz="1000" spc="-10" dirty="0">
              <a:latin typeface="Calibri"/>
              <a:cs typeface="Calibri"/>
            </a:endParaRPr>
          </a:p>
          <a:p>
            <a:pPr marL="461010" marR="1049655" indent="-171450">
              <a:lnSpc>
                <a:spcPct val="100000"/>
              </a:lnSpc>
              <a:spcBef>
                <a:spcPts val="15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different</a:t>
            </a:r>
            <a:r>
              <a:rPr sz="1000" spc="1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features</a:t>
            </a:r>
            <a:endParaRPr sz="1000" dirty="0">
              <a:latin typeface="Calibri"/>
              <a:cs typeface="Calibri"/>
            </a:endParaRPr>
          </a:p>
          <a:p>
            <a:pPr marL="461010" indent="-171450">
              <a:lnSpc>
                <a:spcPts val="1190"/>
              </a:lnSpc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different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samples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data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3992" y="89929"/>
            <a:ext cx="3008058" cy="316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2260" marR="669925">
              <a:lnSpc>
                <a:spcPts val="1650"/>
              </a:lnSpc>
              <a:spcBef>
                <a:spcPts val="5"/>
              </a:spcBef>
            </a:pPr>
            <a:r>
              <a:rPr lang="en-IN" sz="1800" b="1" dirty="0" smtClean="0">
                <a:solidFill>
                  <a:schemeClr val="tx1"/>
                </a:solidFill>
                <a:latin typeface="Calibri"/>
                <a:cs typeface="Calibri"/>
              </a:rPr>
              <a:t>Ensemble</a:t>
            </a:r>
            <a:r>
              <a:rPr lang="en-IN" sz="1800" b="1" spc="300" dirty="0" smtClean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N" sz="1800" b="1" spc="-10" dirty="0" smtClean="0">
                <a:solidFill>
                  <a:schemeClr val="tx1"/>
                </a:solidFill>
                <a:latin typeface="Calibri"/>
                <a:cs typeface="Calibri"/>
              </a:rPr>
              <a:t>methods</a:t>
            </a:r>
          </a:p>
        </p:txBody>
      </p:sp>
      <p:sp>
        <p:nvSpPr>
          <p:cNvPr id="2" name="Rectangle 1"/>
          <p:cNvSpPr/>
          <p:nvPr/>
        </p:nvSpPr>
        <p:spPr>
          <a:xfrm>
            <a:off x="1018184" y="2361304"/>
            <a:ext cx="68490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82980" algn="l"/>
              </a:tabLst>
            </a:pPr>
            <a:r>
              <a:rPr lang="en-IN" sz="1000" i="1" dirty="0" smtClean="0">
                <a:latin typeface="Calibri"/>
                <a:cs typeface="Calibri"/>
              </a:rPr>
              <a:t>Decision Tree</a:t>
            </a:r>
            <a:endParaRPr lang="en-IN" sz="1000" i="1" dirty="0">
              <a:latin typeface="Calibri"/>
              <a:cs typeface="Calibri"/>
            </a:endParaRP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184" y="1592274"/>
            <a:ext cx="621350" cy="60183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 rotWithShape="1">
          <a:blip r:embed="rId6"/>
          <a:srcRect b="20676"/>
          <a:stretch/>
        </p:blipFill>
        <p:spPr>
          <a:xfrm>
            <a:off x="1715560" y="1546830"/>
            <a:ext cx="760791" cy="7104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923704" y="2431911"/>
            <a:ext cx="470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i="1" dirty="0" smtClean="0"/>
              <a:t>KNN</a:t>
            </a:r>
            <a:endParaRPr lang="en-IN" sz="1000" i="1" dirty="0"/>
          </a:p>
        </p:txBody>
      </p:sp>
    </p:spTree>
    <p:extLst>
      <p:ext uri="{BB962C8B-B14F-4D97-AF65-F5344CB8AC3E}">
        <p14:creationId xmlns:p14="http://schemas.microsoft.com/office/powerpoint/2010/main" val="331534731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65493" y="992961"/>
            <a:ext cx="424815" cy="372110"/>
            <a:chOff x="365493" y="992961"/>
            <a:chExt cx="424815" cy="372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493" y="1260772"/>
              <a:ext cx="88197" cy="1040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7503" y="1260772"/>
              <a:ext cx="88197" cy="1040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513" y="1260772"/>
              <a:ext cx="88197" cy="1040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523" y="1260772"/>
              <a:ext cx="88197" cy="1040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508" y="992961"/>
              <a:ext cx="88197" cy="10408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41577" y="643288"/>
            <a:ext cx="672465" cy="803910"/>
          </a:xfrm>
          <a:prstGeom prst="rect">
            <a:avLst/>
          </a:prstGeom>
          <a:ln w="3457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800" i="1" spc="-50" dirty="0">
                <a:latin typeface="Calibri"/>
                <a:cs typeface="Calibri"/>
              </a:rPr>
              <a:t>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3279" y="355636"/>
            <a:ext cx="20510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spc="-30" baseline="10416" dirty="0">
                <a:latin typeface="Calibri"/>
                <a:cs typeface="Calibri"/>
              </a:rPr>
              <a:t>y</a:t>
            </a:r>
            <a:r>
              <a:rPr sz="600" i="1" spc="-20" dirty="0">
                <a:latin typeface="Calibri"/>
                <a:cs typeface="Calibri"/>
              </a:rPr>
              <a:t>lr</a:t>
            </a:r>
            <a:r>
              <a:rPr sz="600" spc="-20" dirty="0"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4306" y="845681"/>
            <a:ext cx="287020" cy="427355"/>
            <a:chOff x="434306" y="845681"/>
            <a:chExt cx="287020" cy="42735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306" y="1086680"/>
              <a:ext cx="286601" cy="18573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77607" y="849966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5009" y="847142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5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63548" y="510917"/>
            <a:ext cx="28575" cy="132715"/>
            <a:chOff x="563548" y="510917"/>
            <a:chExt cx="28575" cy="132715"/>
          </a:xfrm>
        </p:grpSpPr>
        <p:sp>
          <p:nvSpPr>
            <p:cNvPr id="16" name="object 16"/>
            <p:cNvSpPr/>
            <p:nvPr/>
          </p:nvSpPr>
          <p:spPr>
            <a:xfrm>
              <a:off x="577607" y="51520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1280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5009" y="512378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4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093558" y="992961"/>
            <a:ext cx="424815" cy="372110"/>
            <a:chOff x="1093558" y="992961"/>
            <a:chExt cx="424815" cy="37211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3558" y="1260772"/>
              <a:ext cx="88197" cy="1040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568" y="1260772"/>
              <a:ext cx="88197" cy="1040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7578" y="1260772"/>
              <a:ext cx="88197" cy="10408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9588" y="1260772"/>
              <a:ext cx="88197" cy="10408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1573" y="992961"/>
              <a:ext cx="88197" cy="10408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69641" y="643288"/>
            <a:ext cx="672465" cy="803910"/>
          </a:xfrm>
          <a:prstGeom prst="rect">
            <a:avLst/>
          </a:prstGeom>
          <a:ln w="3457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800" i="1" spc="-50" dirty="0">
                <a:latin typeface="Calibri"/>
                <a:cs typeface="Calibri"/>
              </a:rPr>
              <a:t>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01335" y="355636"/>
            <a:ext cx="20510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spc="-30" baseline="10416" dirty="0">
                <a:latin typeface="Calibri"/>
                <a:cs typeface="Calibri"/>
              </a:rPr>
              <a:t>y</a:t>
            </a:r>
            <a:r>
              <a:rPr sz="600" i="1" spc="-20" dirty="0">
                <a:latin typeface="Calibri"/>
                <a:cs typeface="Calibri"/>
              </a:rPr>
              <a:t>lr</a:t>
            </a:r>
            <a:r>
              <a:rPr sz="600" spc="-2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62371" y="845681"/>
            <a:ext cx="287020" cy="427355"/>
            <a:chOff x="1162371" y="845681"/>
            <a:chExt cx="287020" cy="42735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371" y="1086680"/>
              <a:ext cx="286601" cy="18573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05672" y="849966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93074" y="847142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5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291613" y="510917"/>
            <a:ext cx="28575" cy="132715"/>
            <a:chOff x="1291613" y="510917"/>
            <a:chExt cx="28575" cy="132715"/>
          </a:xfrm>
        </p:grpSpPr>
        <p:sp>
          <p:nvSpPr>
            <p:cNvPr id="31" name="object 31"/>
            <p:cNvSpPr/>
            <p:nvPr/>
          </p:nvSpPr>
          <p:spPr>
            <a:xfrm>
              <a:off x="1305672" y="51520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1280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93074" y="512378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4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821623" y="992961"/>
            <a:ext cx="424815" cy="372110"/>
            <a:chOff x="1821623" y="992961"/>
            <a:chExt cx="424815" cy="372110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1623" y="1260772"/>
              <a:ext cx="88197" cy="10408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3633" y="1260772"/>
              <a:ext cx="88197" cy="10408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5643" y="1260772"/>
              <a:ext cx="88197" cy="1040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57653" y="1260772"/>
              <a:ext cx="88197" cy="10408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9638" y="992961"/>
              <a:ext cx="88197" cy="104086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697707" y="643288"/>
            <a:ext cx="672465" cy="803910"/>
          </a:xfrm>
          <a:prstGeom prst="rect">
            <a:avLst/>
          </a:prstGeom>
          <a:ln w="3457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800" i="1" spc="-50" dirty="0">
                <a:latin typeface="Calibri"/>
                <a:cs typeface="Calibri"/>
              </a:rPr>
              <a:t>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29391" y="355636"/>
            <a:ext cx="205104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spc="-30" baseline="10416" dirty="0">
                <a:latin typeface="Calibri"/>
                <a:cs typeface="Calibri"/>
              </a:rPr>
              <a:t>y</a:t>
            </a:r>
            <a:r>
              <a:rPr sz="600" i="1" spc="-20" dirty="0">
                <a:latin typeface="Calibri"/>
                <a:cs typeface="Calibri"/>
              </a:rPr>
              <a:t>lr</a:t>
            </a:r>
            <a:r>
              <a:rPr sz="600" spc="-20" dirty="0"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890436" y="845681"/>
            <a:ext cx="287020" cy="427355"/>
            <a:chOff x="1890436" y="845681"/>
            <a:chExt cx="287020" cy="427355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0436" y="1086680"/>
              <a:ext cx="286601" cy="18573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033737" y="849966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21140" y="847142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5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019678" y="510917"/>
            <a:ext cx="28575" cy="132715"/>
            <a:chOff x="2019678" y="510917"/>
            <a:chExt cx="28575" cy="132715"/>
          </a:xfrm>
        </p:grpSpPr>
        <p:sp>
          <p:nvSpPr>
            <p:cNvPr id="46" name="object 46"/>
            <p:cNvSpPr/>
            <p:nvPr/>
          </p:nvSpPr>
          <p:spPr>
            <a:xfrm>
              <a:off x="2033737" y="515202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1280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021140" y="512378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4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74969" y="1571521"/>
            <a:ext cx="461645" cy="2432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60960">
              <a:lnSpc>
                <a:spcPct val="76900"/>
              </a:lnSpc>
              <a:spcBef>
                <a:spcPts val="330"/>
              </a:spcBef>
            </a:pPr>
            <a:r>
              <a:rPr sz="800" i="1" spc="-10" dirty="0">
                <a:latin typeface="Calibri"/>
                <a:cs typeface="Calibri"/>
              </a:rPr>
              <a:t>Logistic</a:t>
            </a:r>
            <a:r>
              <a:rPr sz="800" i="1" spc="500" dirty="0">
                <a:latin typeface="Calibri"/>
                <a:cs typeface="Calibri"/>
              </a:rPr>
              <a:t> </a:t>
            </a:r>
            <a:r>
              <a:rPr sz="800" i="1" spc="-20" dirty="0">
                <a:latin typeface="Calibri"/>
                <a:cs typeface="Calibri"/>
              </a:rPr>
              <a:t>Regression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03025" y="1571521"/>
            <a:ext cx="461645" cy="2432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60960">
              <a:lnSpc>
                <a:spcPct val="76900"/>
              </a:lnSpc>
              <a:spcBef>
                <a:spcPts val="330"/>
              </a:spcBef>
            </a:pPr>
            <a:r>
              <a:rPr sz="800" i="1" spc="-10" dirty="0">
                <a:latin typeface="Calibri"/>
                <a:cs typeface="Calibri"/>
              </a:rPr>
              <a:t>Logistic</a:t>
            </a:r>
            <a:r>
              <a:rPr sz="800" i="1" spc="500" dirty="0">
                <a:latin typeface="Calibri"/>
                <a:cs typeface="Calibri"/>
              </a:rPr>
              <a:t> </a:t>
            </a:r>
            <a:r>
              <a:rPr sz="800" i="1" spc="-20" dirty="0">
                <a:latin typeface="Calibri"/>
                <a:cs typeface="Calibri"/>
              </a:rPr>
              <a:t>Regression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46913" y="1571521"/>
            <a:ext cx="461645" cy="2432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60960">
              <a:lnSpc>
                <a:spcPct val="76900"/>
              </a:lnSpc>
              <a:spcBef>
                <a:spcPts val="330"/>
              </a:spcBef>
            </a:pPr>
            <a:r>
              <a:rPr sz="800" i="1" spc="-10" dirty="0">
                <a:latin typeface="Calibri"/>
                <a:cs typeface="Calibri"/>
              </a:rPr>
              <a:t>Logistic</a:t>
            </a:r>
            <a:r>
              <a:rPr sz="800" i="1" spc="500" dirty="0">
                <a:latin typeface="Calibri"/>
                <a:cs typeface="Calibri"/>
              </a:rPr>
              <a:t> </a:t>
            </a:r>
            <a:r>
              <a:rPr sz="800" i="1" spc="-20" dirty="0">
                <a:latin typeface="Calibri"/>
                <a:cs typeface="Calibri"/>
              </a:rPr>
              <a:t>Regression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1" name="object 51" descr="$PPTXTitle"/>
          <p:cNvSpPr txBox="1">
            <a:spLocks noGrp="1"/>
          </p:cNvSpPr>
          <p:nvPr>
            <p:ph type="title"/>
          </p:nvPr>
        </p:nvSpPr>
        <p:spPr>
          <a:xfrm>
            <a:off x="1165077" y="15180"/>
            <a:ext cx="276860" cy="149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i="1" spc="-15" baseline="10416" dirty="0">
                <a:latin typeface="Calibri"/>
                <a:cs typeface="Calibri"/>
              </a:rPr>
              <a:t>y</a:t>
            </a:r>
            <a:r>
              <a:rPr sz="600" i="1" spc="-10" dirty="0">
                <a:latin typeface="Calibri"/>
                <a:cs typeface="Calibri"/>
              </a:rPr>
              <a:t>final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41577" y="174663"/>
            <a:ext cx="2128520" cy="135890"/>
            <a:chOff x="241577" y="174663"/>
            <a:chExt cx="2128520" cy="135890"/>
          </a:xfrm>
        </p:grpSpPr>
        <p:sp>
          <p:nvSpPr>
            <p:cNvPr id="53" name="object 53"/>
            <p:cNvSpPr/>
            <p:nvPr/>
          </p:nvSpPr>
          <p:spPr>
            <a:xfrm>
              <a:off x="241577" y="178948"/>
              <a:ext cx="2128520" cy="130175"/>
            </a:xfrm>
            <a:custGeom>
              <a:avLst/>
              <a:gdLst/>
              <a:ahLst/>
              <a:cxnLst/>
              <a:rect l="l" t="t" r="r" b="b"/>
              <a:pathLst>
                <a:path w="2128520" h="130175">
                  <a:moveTo>
                    <a:pt x="0" y="129575"/>
                  </a:moveTo>
                  <a:lnTo>
                    <a:pt x="2128189" y="129575"/>
                  </a:lnTo>
                </a:path>
                <a:path w="2128520" h="130175">
                  <a:moveTo>
                    <a:pt x="1064094" y="129575"/>
                  </a:moveTo>
                  <a:lnTo>
                    <a:pt x="1064094" y="0"/>
                  </a:lnTo>
                </a:path>
              </a:pathLst>
            </a:custGeom>
            <a:ln w="34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93074" y="176125"/>
              <a:ext cx="25400" cy="14604"/>
            </a:xfrm>
            <a:custGeom>
              <a:avLst/>
              <a:gdLst/>
              <a:ahLst/>
              <a:cxnLst/>
              <a:rect l="l" t="t" r="r" b="b"/>
              <a:pathLst>
                <a:path w="25400" h="14605">
                  <a:moveTo>
                    <a:pt x="0" y="14118"/>
                  </a:moveTo>
                  <a:lnTo>
                    <a:pt x="4723" y="13176"/>
                  </a:lnTo>
                  <a:lnTo>
                    <a:pt x="11809" y="2823"/>
                  </a:lnTo>
                  <a:lnTo>
                    <a:pt x="12597" y="0"/>
                  </a:lnTo>
                  <a:lnTo>
                    <a:pt x="13384" y="2823"/>
                  </a:lnTo>
                  <a:lnTo>
                    <a:pt x="20470" y="13176"/>
                  </a:lnTo>
                  <a:lnTo>
                    <a:pt x="25194" y="141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227304" y="1856243"/>
            <a:ext cx="219138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100" spc="55" dirty="0">
                <a:latin typeface="Calibri"/>
                <a:cs typeface="Calibri"/>
              </a:rPr>
              <a:t>Each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trained</a:t>
            </a:r>
            <a:r>
              <a:rPr sz="1100" spc="1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different </a:t>
            </a:r>
            <a:r>
              <a:rPr sz="1100" dirty="0">
                <a:latin typeface="Calibri"/>
                <a:cs typeface="Calibri"/>
              </a:rPr>
              <a:t>sample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data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(sampling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with </a:t>
            </a:r>
            <a:r>
              <a:rPr sz="1100" spc="-10" dirty="0">
                <a:latin typeface="Calibri"/>
                <a:cs typeface="Calibri"/>
              </a:rPr>
              <a:t>replacement)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10781" y="377505"/>
            <a:ext cx="2486523" cy="121129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1115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Bagging: form an ensemble using </a:t>
            </a:r>
            <a:r>
              <a:rPr sz="1000" spc="-20" dirty="0" smtClean="0">
                <a:latin typeface="Calibri"/>
                <a:cs typeface="Calibri"/>
              </a:rPr>
              <a:t>dif</a:t>
            </a:r>
            <a:r>
              <a:rPr sz="1000" dirty="0" smtClean="0">
                <a:latin typeface="Calibri"/>
                <a:cs typeface="Calibri"/>
              </a:rPr>
              <a:t>ferent</a:t>
            </a:r>
            <a:r>
              <a:rPr sz="1000" spc="125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instances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1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same</a:t>
            </a:r>
            <a:r>
              <a:rPr sz="1000" spc="1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classifier</a:t>
            </a:r>
            <a:endParaRPr sz="1000" dirty="0">
              <a:latin typeface="Calibri"/>
              <a:cs typeface="Calibri"/>
            </a:endParaRPr>
          </a:p>
          <a:p>
            <a:pPr marL="209550" marR="304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From a given dataset, construct </a:t>
            </a:r>
            <a:r>
              <a:rPr sz="1000" spc="-20" dirty="0" smtClean="0">
                <a:latin typeface="Calibri"/>
                <a:cs typeface="Calibri"/>
              </a:rPr>
              <a:t>mul</a:t>
            </a:r>
            <a:r>
              <a:rPr sz="1000" dirty="0" smtClean="0">
                <a:latin typeface="Calibri"/>
                <a:cs typeface="Calibri"/>
              </a:rPr>
              <a:t>tiple</a:t>
            </a:r>
            <a:r>
              <a:rPr sz="1000" spc="395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sets</a:t>
            </a:r>
            <a:r>
              <a:rPr sz="1000" spc="3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by</a:t>
            </a:r>
            <a:r>
              <a:rPr sz="1000" spc="4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sampling</a:t>
            </a:r>
            <a:r>
              <a:rPr sz="1000" spc="39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with </a:t>
            </a:r>
            <a:r>
              <a:rPr sz="1000" dirty="0">
                <a:latin typeface="Calibri"/>
                <a:cs typeface="Calibri"/>
              </a:rPr>
              <a:t>replacement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spc="65" dirty="0">
                <a:latin typeface="Calibri"/>
                <a:cs typeface="Calibri"/>
              </a:rPr>
              <a:t>(</a:t>
            </a:r>
            <a:r>
              <a:rPr sz="1000" i="1" spc="65" dirty="0">
                <a:latin typeface="Calibri"/>
                <a:cs typeface="Calibri"/>
              </a:rPr>
              <a:t>T</a:t>
            </a:r>
            <a:r>
              <a:rPr sz="1050" spc="97" baseline="-10416" dirty="0">
                <a:latin typeface="Calibri"/>
                <a:cs typeface="Calibri"/>
              </a:rPr>
              <a:t>1</a:t>
            </a:r>
            <a:r>
              <a:rPr sz="1000" i="1" spc="65" dirty="0">
                <a:latin typeface="Calibri"/>
                <a:cs typeface="Calibri"/>
              </a:rPr>
              <a:t>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spc="60" dirty="0">
                <a:latin typeface="Calibri"/>
                <a:cs typeface="Calibri"/>
              </a:rPr>
              <a:t>T</a:t>
            </a:r>
            <a:r>
              <a:rPr sz="1050" spc="89" baseline="-10416" dirty="0">
                <a:latin typeface="Calibri"/>
                <a:cs typeface="Calibri"/>
              </a:rPr>
              <a:t>2</a:t>
            </a:r>
            <a:r>
              <a:rPr sz="1000" i="1" spc="60" dirty="0">
                <a:latin typeface="Calibri"/>
                <a:cs typeface="Calibri"/>
              </a:rPr>
              <a:t>,</a:t>
            </a:r>
            <a:r>
              <a:rPr sz="1000" i="1" spc="-4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...,</a:t>
            </a:r>
            <a:r>
              <a:rPr sz="1000" i="1" spc="-40" dirty="0">
                <a:latin typeface="Calibri"/>
                <a:cs typeface="Calibri"/>
              </a:rPr>
              <a:t> </a:t>
            </a:r>
            <a:r>
              <a:rPr sz="1000" i="1" spc="80" dirty="0">
                <a:latin typeface="Calibri"/>
                <a:cs typeface="Calibri"/>
              </a:rPr>
              <a:t>T</a:t>
            </a:r>
            <a:r>
              <a:rPr sz="1050" i="1" spc="120" baseline="-13888" dirty="0">
                <a:latin typeface="Calibri"/>
                <a:cs typeface="Calibri"/>
              </a:rPr>
              <a:t>k</a:t>
            </a:r>
            <a:r>
              <a:rPr sz="1000" spc="80" dirty="0">
                <a:latin typeface="Calibri"/>
                <a:cs typeface="Calibri"/>
              </a:rPr>
              <a:t>)</a:t>
            </a:r>
            <a:endParaRPr sz="1000" dirty="0">
              <a:latin typeface="Calibri"/>
              <a:cs typeface="Calibri"/>
            </a:endParaRPr>
          </a:p>
          <a:p>
            <a:pPr marL="209550" marR="311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Train </a:t>
            </a:r>
            <a:r>
              <a:rPr sz="1000" i="1" spc="75" dirty="0">
                <a:latin typeface="Calibri"/>
                <a:cs typeface="Calibri"/>
              </a:rPr>
              <a:t>i</a:t>
            </a:r>
            <a:r>
              <a:rPr sz="1050" i="1" spc="112" baseline="27777" dirty="0">
                <a:latin typeface="Calibri"/>
                <a:cs typeface="Calibri"/>
              </a:rPr>
              <a:t>th</a:t>
            </a:r>
            <a:r>
              <a:rPr sz="1050" i="1" spc="405" baseline="27777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 of the classifier </a:t>
            </a:r>
            <a:r>
              <a:rPr sz="1000" spc="-25" dirty="0" smtClean="0">
                <a:latin typeface="Calibri"/>
                <a:cs typeface="Calibri"/>
              </a:rPr>
              <a:t>us</a:t>
            </a:r>
            <a:r>
              <a:rPr sz="1000" dirty="0" smtClean="0">
                <a:latin typeface="Calibri"/>
                <a:cs typeface="Calibri"/>
              </a:rPr>
              <a:t>ing</a:t>
            </a:r>
            <a:r>
              <a:rPr sz="1000" spc="24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2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set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i="1" spc="70" dirty="0">
                <a:latin typeface="Calibri"/>
                <a:cs typeface="Calibri"/>
              </a:rPr>
              <a:t>T</a:t>
            </a:r>
            <a:r>
              <a:rPr sz="1050" i="1" spc="104" baseline="-10416" dirty="0">
                <a:latin typeface="Calibri"/>
                <a:cs typeface="Calibri"/>
              </a:rPr>
              <a:t>i</a:t>
            </a:r>
            <a:endParaRPr sz="1050" baseline="-10416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420915" y="143051"/>
                <a:ext cx="2210499" cy="61157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84150" indent="-171450">
                  <a:spcBef>
                    <a:spcPts val="90"/>
                  </a:spcBef>
                  <a:buFont typeface="Arial" panose="020B0604020202020204" pitchFamily="34" charset="0"/>
                  <a:buChar char="•"/>
                </a:pPr>
                <a:r>
                  <a:rPr lang="en-IN" spc="65" dirty="0" smtClean="0"/>
                  <a:t>The</a:t>
                </a:r>
                <a:r>
                  <a:rPr lang="en-IN" spc="130" dirty="0"/>
                  <a:t> </a:t>
                </a:r>
                <a:r>
                  <a:rPr lang="en-IN" dirty="0"/>
                  <a:t>error</a:t>
                </a:r>
                <a:r>
                  <a:rPr lang="en-IN" spc="135" dirty="0"/>
                  <a:t> </a:t>
                </a:r>
                <a:r>
                  <a:rPr lang="en-IN" dirty="0"/>
                  <a:t>made</a:t>
                </a:r>
                <a:r>
                  <a:rPr lang="en-IN" spc="130" dirty="0"/>
                  <a:t> </a:t>
                </a:r>
                <a:r>
                  <a:rPr lang="en-IN" dirty="0"/>
                  <a:t>by</a:t>
                </a:r>
                <a:r>
                  <a:rPr lang="en-IN" spc="135" dirty="0"/>
                  <a:t> </a:t>
                </a:r>
                <a:r>
                  <a:rPr lang="en-IN" dirty="0"/>
                  <a:t>the</a:t>
                </a:r>
                <a:r>
                  <a:rPr lang="en-IN" spc="130" dirty="0"/>
                  <a:t> </a:t>
                </a:r>
                <a:r>
                  <a:rPr lang="en-IN" spc="-10" dirty="0" smtClean="0"/>
                  <a:t>average </a:t>
                </a:r>
                <a:r>
                  <a:rPr lang="en-IN" dirty="0"/>
                  <a:t>prediction</a:t>
                </a:r>
                <a:r>
                  <a:rPr lang="en-IN" spc="180" dirty="0"/>
                  <a:t> </a:t>
                </a:r>
                <a:r>
                  <a:rPr lang="en-IN" dirty="0"/>
                  <a:t>of</a:t>
                </a:r>
                <a:r>
                  <a:rPr lang="en-IN" spc="180" dirty="0"/>
                  <a:t> </a:t>
                </a:r>
                <a:r>
                  <a:rPr lang="en-IN" dirty="0"/>
                  <a:t>all</a:t>
                </a:r>
                <a:r>
                  <a:rPr lang="en-IN" spc="180" dirty="0"/>
                  <a:t> </a:t>
                </a:r>
                <a:r>
                  <a:rPr lang="en-IN" dirty="0"/>
                  <a:t>the</a:t>
                </a:r>
                <a:r>
                  <a:rPr lang="en-IN" spc="185" dirty="0"/>
                  <a:t> </a:t>
                </a:r>
                <a:r>
                  <a:rPr lang="en-IN" dirty="0"/>
                  <a:t>models</a:t>
                </a:r>
                <a:r>
                  <a:rPr lang="en-IN" spc="180" dirty="0"/>
                  <a:t> </a:t>
                </a:r>
                <a:r>
                  <a:rPr lang="en-IN" spc="-25" dirty="0" smtClean="0"/>
                  <a:t>is</a:t>
                </a:r>
                <a:r>
                  <a:rPr lang="en-IN" dirty="0" smtClean="0"/>
                  <a:t/>
                </a:r>
                <a:br>
                  <a:rPr lang="en-IN" dirty="0" smtClean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ar-AE" sz="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7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ar-AE" sz="7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7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IN" sz="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spc="-10" dirty="0"/>
              </a:p>
            </p:txBody>
          </p:sp>
        </mc:Choice>
        <mc:Fallback xmlns="">
          <p:sp>
            <p:nvSpPr>
              <p:cNvPr id="4" name="object 4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20915" y="143051"/>
                <a:ext cx="2210499" cy="611578"/>
              </a:xfrm>
              <a:prstGeom prst="rect">
                <a:avLst/>
              </a:prstGeom>
              <a:blipFill>
                <a:blip r:embed="rId3"/>
                <a:stretch>
                  <a:fillRect l="-3030" t="-9901" b="-920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 txBox="1"/>
          <p:nvPr/>
        </p:nvSpPr>
        <p:spPr>
          <a:xfrm>
            <a:off x="420915" y="704837"/>
            <a:ext cx="208329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spc="65" dirty="0">
                <a:latin typeface="Calibri"/>
                <a:cs typeface="Calibri"/>
              </a:rPr>
              <a:t>The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expected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squared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error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object 56"/>
              <p:cNvSpPr txBox="1"/>
              <p:nvPr/>
            </p:nvSpPr>
            <p:spPr>
              <a:xfrm>
                <a:off x="3105019" y="175251"/>
                <a:ext cx="2463149" cy="2624948"/>
              </a:xfrm>
              <a:prstGeom prst="rect">
                <a:avLst/>
              </a:prstGeom>
            </p:spPr>
            <p:txBody>
              <a:bodyPr vert="horz" wrap="square" lIns="0" tIns="55244" rIns="0" bIns="0" rtlCol="0">
                <a:spAutoFit/>
              </a:bodyPr>
              <a:lstStyle/>
              <a:p>
                <a:pPr marL="184150" indent="-171450">
                  <a:lnSpc>
                    <a:spcPct val="150000"/>
                  </a:lnSpc>
                  <a:spcBef>
                    <a:spcPts val="434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 smtClean="0">
                    <a:latin typeface="Calibri"/>
                    <a:cs typeface="Calibri"/>
                  </a:rPr>
                  <a:t>When</a:t>
                </a:r>
                <a:r>
                  <a:rPr lang="en-IN" sz="1100" spc="24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would</a:t>
                </a:r>
                <a:r>
                  <a:rPr lang="en-IN" sz="1100" spc="24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bagging</a:t>
                </a:r>
                <a:r>
                  <a:rPr lang="en-IN" sz="1100" spc="235" dirty="0">
                    <a:latin typeface="Calibri"/>
                    <a:cs typeface="Calibri"/>
                  </a:rPr>
                  <a:t> </a:t>
                </a:r>
                <a:r>
                  <a:rPr lang="en-IN" sz="1100" spc="-20" dirty="0">
                    <a:latin typeface="Calibri"/>
                    <a:cs typeface="Calibri"/>
                  </a:rPr>
                  <a:t>work?</a:t>
                </a:r>
                <a:endParaRPr lang="en-IN" sz="1100" dirty="0">
                  <a:latin typeface="Calibri"/>
                  <a:cs typeface="Calibri"/>
                </a:endParaRPr>
              </a:p>
              <a:p>
                <a:pPr marL="184150" marR="5080" indent="-171450">
                  <a:lnSpc>
                    <a:spcPct val="15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Calibri"/>
                    <a:cs typeface="Calibri"/>
                  </a:rPr>
                  <a:t>Consider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set</a:t>
                </a:r>
                <a:r>
                  <a:rPr lang="en-IN" sz="1100" spc="15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of</a:t>
                </a:r>
                <a:r>
                  <a:rPr lang="en-IN" sz="1100" spc="65" dirty="0">
                    <a:latin typeface="Calibri"/>
                    <a:cs typeface="Calibri"/>
                  </a:rPr>
                  <a:t> </a:t>
                </a:r>
                <a:r>
                  <a:rPr lang="en-IN" sz="1100" i="1" spc="65" dirty="0">
                    <a:latin typeface="Calibri"/>
                    <a:cs typeface="Calibri"/>
                  </a:rPr>
                  <a:t>k </a:t>
                </a:r>
                <a:r>
                  <a:rPr lang="en-IN" sz="1100" i="1" spc="65" dirty="0" smtClean="0">
                    <a:latin typeface="Calibri"/>
                    <a:cs typeface="Calibri"/>
                  </a:rPr>
                  <a:t>LR </a:t>
                </a:r>
                <a:r>
                  <a:rPr lang="en-IN" sz="1100" spc="-20" dirty="0" smtClean="0">
                    <a:latin typeface="Calibri"/>
                    <a:cs typeface="Calibri"/>
                  </a:rPr>
                  <a:t>mod</a:t>
                </a:r>
                <a:r>
                  <a:rPr lang="en-IN" sz="1100" spc="-25" dirty="0" smtClean="0">
                    <a:latin typeface="Calibri"/>
                    <a:cs typeface="Calibri"/>
                  </a:rPr>
                  <a:t>els</a:t>
                </a:r>
                <a:endParaRPr lang="en-IN" sz="1100" dirty="0">
                  <a:latin typeface="Calibri"/>
                  <a:cs typeface="Calibri"/>
                </a:endParaRPr>
              </a:p>
              <a:p>
                <a:pPr marL="184150" indent="-171450">
                  <a:lnSpc>
                    <a:spcPct val="150000"/>
                  </a:lnSpc>
                  <a:spcBef>
                    <a:spcPts val="330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>
                    <a:latin typeface="Calibri"/>
                    <a:cs typeface="Calibri"/>
                  </a:rPr>
                  <a:t>Suppose</a:t>
                </a:r>
                <a:r>
                  <a:rPr lang="en-IN" sz="1100" spc="260" dirty="0">
                    <a:latin typeface="Calibri"/>
                    <a:cs typeface="Calibri"/>
                  </a:rPr>
                  <a:t>  </a:t>
                </a:r>
                <a:r>
                  <a:rPr lang="en-IN" sz="1100" dirty="0">
                    <a:latin typeface="Calibri"/>
                    <a:cs typeface="Calibri"/>
                  </a:rPr>
                  <a:t>that</a:t>
                </a:r>
                <a:r>
                  <a:rPr lang="en-IN" sz="1100" spc="260" dirty="0">
                    <a:latin typeface="Calibri"/>
                    <a:cs typeface="Calibri"/>
                  </a:rPr>
                  <a:t>  </a:t>
                </a:r>
                <a:r>
                  <a:rPr lang="en-IN" sz="1100" dirty="0">
                    <a:latin typeface="Calibri"/>
                    <a:cs typeface="Calibri"/>
                  </a:rPr>
                  <a:t>each</a:t>
                </a:r>
                <a:r>
                  <a:rPr lang="en-IN" sz="1100" spc="260" dirty="0">
                    <a:latin typeface="Calibri"/>
                    <a:cs typeface="Calibri"/>
                  </a:rPr>
                  <a:t> 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model </a:t>
                </a:r>
                <a:r>
                  <a:rPr lang="en-IN" sz="1100" dirty="0" smtClean="0">
                    <a:latin typeface="Calibri"/>
                    <a:cs typeface="Calibri"/>
                  </a:rPr>
                  <a:t>makes</a:t>
                </a:r>
                <a:r>
                  <a:rPr lang="en-IN" sz="1100" spc="26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an</a:t>
                </a:r>
                <a:r>
                  <a:rPr lang="en-IN" sz="1100" spc="26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error</a:t>
                </a:r>
                <a:r>
                  <a:rPr lang="en-IN" sz="1100" spc="265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100" i="1" spc="180" dirty="0" smtClean="0">
                    <a:latin typeface="Calibri"/>
                    <a:cs typeface="Calibri"/>
                  </a:rPr>
                  <a:t>  </a:t>
                </a:r>
                <a:r>
                  <a:rPr lang="en-IN" sz="1100" dirty="0" smtClean="0">
                    <a:latin typeface="Calibri"/>
                    <a:cs typeface="Calibri"/>
                  </a:rPr>
                  <a:t>on</a:t>
                </a:r>
                <a:r>
                  <a:rPr lang="en-IN" sz="1100" spc="26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a</a:t>
                </a:r>
                <a:r>
                  <a:rPr lang="en-IN" sz="1100" spc="265" dirty="0" smtClean="0">
                    <a:latin typeface="Calibri"/>
                    <a:cs typeface="Calibri"/>
                  </a:rPr>
                  <a:t> </a:t>
                </a:r>
                <a:r>
                  <a:rPr lang="en-IN" sz="1100" spc="-20" dirty="0" smtClean="0">
                    <a:latin typeface="Calibri"/>
                    <a:cs typeface="Calibri"/>
                  </a:rPr>
                  <a:t>test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example</a:t>
                </a:r>
              </a:p>
              <a:p>
                <a:pPr marL="184150" indent="-171450">
                  <a:lnSpc>
                    <a:spcPct val="150000"/>
                  </a:lnSpc>
                  <a:spcBef>
                    <a:spcPts val="330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-10" dirty="0" smtClean="0">
                    <a:latin typeface="Calibri"/>
                    <a:cs typeface="Calibri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10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 smtClean="0">
                    <a:latin typeface="Calibri"/>
                    <a:cs typeface="Calibri"/>
                  </a:rPr>
                  <a:t>be drawn from a zero mean multivariate normal distribution</a:t>
                </a:r>
              </a:p>
              <a:p>
                <a:pPr marL="184150" indent="-171450">
                  <a:lnSpc>
                    <a:spcPct val="150000"/>
                  </a:lnSpc>
                  <a:spcBef>
                    <a:spcPts val="330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 smtClean="0">
                    <a:latin typeface="Calibri"/>
                    <a:cs typeface="Calibri"/>
                  </a:rPr>
                  <a:t>Variance </a:t>
                </a:r>
                <a14:m>
                  <m:oMath xmlns:m="http://schemas.openxmlformats.org/officeDocument/2006/math">
                    <m:r>
                      <a:rPr lang="en-IN" sz="1100" b="0" i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Calibri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 sz="11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11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𝜀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11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IN" sz="11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IN" sz="1100" b="0" i="1" smtClean="0">
                        <a:latin typeface="Cambria Math" panose="02040503050406030204" pitchFamily="18" charset="0"/>
                        <a:cs typeface="Calibri"/>
                      </a:rPr>
                      <m:t>𝑉</m:t>
                    </m:r>
                  </m:oMath>
                </a14:m>
                <a:endParaRPr lang="en-IN" sz="1100" b="0" dirty="0" smtClean="0">
                  <a:latin typeface="Calibri"/>
                  <a:cs typeface="Calibri"/>
                </a:endParaRPr>
              </a:p>
              <a:p>
                <a:pPr marL="184150" indent="-171450">
                  <a:lnSpc>
                    <a:spcPct val="150000"/>
                  </a:lnSpc>
                  <a:spcBef>
                    <a:spcPts val="330"/>
                  </a:spcBef>
                  <a:buFont typeface="Arial" panose="020B0604020202020204" pitchFamily="34" charset="0"/>
                  <a:buChar char="•"/>
                </a:pPr>
                <a:r>
                  <a:rPr lang="en-IN" sz="1100" dirty="0" smtClean="0">
                    <a:latin typeface="Calibri"/>
                    <a:cs typeface="Calibri"/>
                  </a:rPr>
                  <a:t>Covariance </a:t>
                </a:r>
                <a14:m>
                  <m:oMath xmlns:m="http://schemas.openxmlformats.org/officeDocument/2006/math">
                    <m:r>
                      <a:rPr lang="en-IN" sz="11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IN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IN" sz="1100" i="1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IN" sz="1100" i="1" dirty="0" smtClean="0">
                        <a:latin typeface="Cambria Math" panose="02040503050406030204" pitchFamily="18" charset="0"/>
                        <a:cs typeface="Calibri"/>
                      </a:rPr>
                      <m:t>𝐶</m:t>
                    </m:r>
                    <m:r>
                      <a:rPr lang="en-IN" sz="1100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endParaRPr lang="en-IN" sz="1100" dirty="0" smtClean="0">
                  <a:latin typeface="Calibri"/>
                  <a:cs typeface="Calibri"/>
                </a:endParaRPr>
              </a:p>
              <a:p>
                <a:pPr marL="12700">
                  <a:lnSpc>
                    <a:spcPct val="150000"/>
                  </a:lnSpc>
                  <a:spcBef>
                    <a:spcPts val="330"/>
                  </a:spcBef>
                </a:pP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6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019" y="175251"/>
                <a:ext cx="2463149" cy="2624948"/>
              </a:xfrm>
              <a:prstGeom prst="rect">
                <a:avLst/>
              </a:prstGeom>
              <a:blipFill>
                <a:blip r:embed="rId4"/>
                <a:stretch>
                  <a:fillRect l="-27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55892" y="869877"/>
                <a:ext cx="2521143" cy="2133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𝑚𝑠𝑒</m:t>
                      </m:r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IN" sz="9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9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IN" sz="9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9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IN" sz="9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IN" sz="9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Sup>
                                <m:sSubSupPr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9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IN" sz="9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d>
                    </m:oMath>
                  </m:oMathPara>
                </a14:m>
                <a:endParaRPr lang="en-IN" sz="900" b="0" dirty="0" smtClean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𝑘𝑉</m:t>
                          </m:r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9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IN" sz="9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9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IN" sz="9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IN" sz="9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92" y="869877"/>
                <a:ext cx="2521143" cy="2133276"/>
              </a:xfrm>
              <a:prstGeom prst="rect">
                <a:avLst/>
              </a:prstGeom>
              <a:blipFill>
                <a:blip r:embed="rId6"/>
                <a:stretch>
                  <a:fillRect t="-19143" r="-3390" b="-5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1998" y="323837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>
                <a:moveTo>
                  <a:pt x="0" y="0"/>
                </a:moveTo>
                <a:lnTo>
                  <a:pt x="7649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8296" y="207224"/>
            <a:ext cx="818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4990" algn="l"/>
              </a:tabLst>
            </a:pPr>
            <a:r>
              <a:rPr sz="1100" i="1" dirty="0">
                <a:latin typeface="Calibri"/>
                <a:cs typeface="Calibri"/>
              </a:rPr>
              <a:t>mse</a:t>
            </a:r>
            <a:r>
              <a:rPr sz="1100" i="1" spc="195" dirty="0">
                <a:latin typeface="Calibri"/>
                <a:cs typeface="Calibri"/>
              </a:rPr>
              <a:t> </a:t>
            </a:r>
            <a:r>
              <a:rPr sz="1100" spc="245" dirty="0">
                <a:latin typeface="Calibri"/>
                <a:cs typeface="Calibri"/>
              </a:rPr>
              <a:t>=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i="1" dirty="0">
                <a:latin typeface="Calibri"/>
                <a:cs typeface="Calibri"/>
              </a:rPr>
              <a:t>V</a:t>
            </a:r>
            <a:r>
              <a:rPr sz="1100" i="1" spc="240" dirty="0">
                <a:latin typeface="Calibri"/>
                <a:cs typeface="Calibri"/>
              </a:rPr>
              <a:t> </a:t>
            </a:r>
            <a:r>
              <a:rPr sz="1100" spc="245" dirty="0">
                <a:latin typeface="Calibri"/>
                <a:cs typeface="Calibri"/>
              </a:rPr>
              <a:t>+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0218" y="158856"/>
            <a:ext cx="725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6240" algn="l"/>
              </a:tabLst>
            </a:pPr>
            <a:r>
              <a:rPr sz="1100" spc="-50" dirty="0">
                <a:latin typeface="Calibri"/>
                <a:cs typeface="Calibri"/>
              </a:rPr>
              <a:t>1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spc="-254" dirty="0">
                <a:latin typeface="Lucida Sans Unicode"/>
                <a:cs typeface="Lucida Sans Unicode"/>
              </a:rPr>
              <a:t>—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Calibri"/>
                <a:cs typeface="Calibri"/>
              </a:rPr>
              <a:t>1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9793" y="32383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>
                <a:moveTo>
                  <a:pt x="0" y="0"/>
                </a:moveTo>
                <a:lnTo>
                  <a:pt x="31509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99298" y="302258"/>
            <a:ext cx="605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9430" algn="l"/>
              </a:tabLst>
            </a:pPr>
            <a:r>
              <a:rPr sz="1100" i="1" spc="15" dirty="0">
                <a:latin typeface="Calibri"/>
                <a:cs typeface="Calibri"/>
              </a:rPr>
              <a:t>k</a:t>
            </a:r>
            <a:r>
              <a:rPr sz="1100" i="1" dirty="0">
                <a:latin typeface="Calibri"/>
                <a:cs typeface="Calibri"/>
              </a:rPr>
              <a:t>	</a:t>
            </a:r>
            <a:r>
              <a:rPr sz="1100" i="1" spc="15" dirty="0">
                <a:latin typeface="Calibri"/>
                <a:cs typeface="Calibri"/>
              </a:rPr>
              <a:t>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7369" y="207224"/>
            <a:ext cx="124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0" dirty="0"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31163" y="260216"/>
            <a:ext cx="2133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When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would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bagging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work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?</a:t>
            </a:r>
            <a:endParaRPr sz="11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/>
              <p:cNvSpPr txBox="1"/>
              <p:nvPr/>
            </p:nvSpPr>
            <p:spPr>
              <a:xfrm>
                <a:off x="2434973" y="441035"/>
                <a:ext cx="2592234" cy="1953483"/>
              </a:xfrm>
              <a:prstGeom prst="rect">
                <a:avLst/>
              </a:prstGeom>
            </p:spPr>
            <p:txBody>
              <a:bodyPr vert="horz" wrap="square" lIns="0" tIns="6985" rIns="0" bIns="0" rtlCol="0">
                <a:spAutoFit/>
              </a:bodyPr>
              <a:lstStyle/>
              <a:p>
                <a:pPr marL="184150" marR="5080" indent="-171450" algn="just">
                  <a:lnSpc>
                    <a:spcPct val="102600"/>
                  </a:lnSpc>
                  <a:spcBef>
                    <a:spcPts val="55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55" dirty="0" smtClean="0">
                    <a:latin typeface="Calibri"/>
                    <a:cs typeface="Calibri"/>
                  </a:rPr>
                  <a:t>If</a:t>
                </a:r>
                <a:r>
                  <a:rPr lang="en-IN" sz="1100" spc="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errors</a:t>
                </a:r>
                <a:r>
                  <a:rPr lang="en-IN" sz="1100" spc="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of</a:t>
                </a:r>
                <a:r>
                  <a:rPr lang="en-IN" sz="1100" spc="1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model</a:t>
                </a:r>
                <a:r>
                  <a:rPr lang="en-IN" sz="1100" spc="1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are</a:t>
                </a:r>
                <a:r>
                  <a:rPr lang="en-IN" sz="1100" spc="5" dirty="0">
                    <a:latin typeface="Calibri"/>
                    <a:cs typeface="Calibri"/>
                  </a:rPr>
                  <a:t> </a:t>
                </a:r>
                <a:r>
                  <a:rPr lang="en-IN" sz="1100" spc="-10" dirty="0">
                    <a:latin typeface="Calibri"/>
                    <a:cs typeface="Calibri"/>
                  </a:rPr>
                  <a:t>perfectly </a:t>
                </a:r>
                <a:r>
                  <a:rPr lang="en-IN" sz="1100" dirty="0">
                    <a:latin typeface="Calibri"/>
                    <a:cs typeface="Calibri"/>
                  </a:rPr>
                  <a:t>correlated</a:t>
                </a:r>
                <a:r>
                  <a:rPr lang="en-IN" sz="1100" spc="16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then</a:t>
                </a:r>
                <a:r>
                  <a:rPr lang="en-IN" sz="1100" spc="165" dirty="0">
                    <a:latin typeface="Calibri"/>
                    <a:cs typeface="Calibri"/>
                  </a:rPr>
                  <a:t> </a:t>
                </a:r>
                <a:r>
                  <a:rPr lang="en-IN" sz="1100" i="1" dirty="0">
                    <a:latin typeface="Calibri"/>
                    <a:cs typeface="Calibri"/>
                  </a:rPr>
                  <a:t>V</a:t>
                </a:r>
                <a:r>
                  <a:rPr lang="en-IN" sz="1100" i="1" spc="375" dirty="0">
                    <a:latin typeface="Calibri"/>
                    <a:cs typeface="Calibri"/>
                  </a:rPr>
                  <a:t> </a:t>
                </a:r>
                <a:r>
                  <a:rPr lang="en-IN" sz="1100" spc="295" dirty="0">
                    <a:latin typeface="Calibri"/>
                    <a:cs typeface="Calibri"/>
                  </a:rPr>
                  <a:t>=</a:t>
                </a:r>
                <a:r>
                  <a:rPr lang="en-IN" sz="1100" spc="100" dirty="0">
                    <a:latin typeface="Calibri"/>
                    <a:cs typeface="Calibri"/>
                  </a:rPr>
                  <a:t> </a:t>
                </a:r>
                <a:r>
                  <a:rPr lang="en-IN" sz="1100" i="1" spc="200" dirty="0">
                    <a:latin typeface="Calibri"/>
                    <a:cs typeface="Calibri"/>
                  </a:rPr>
                  <a:t>C</a:t>
                </a:r>
                <a:r>
                  <a:rPr lang="en-IN" sz="1100" i="1" spc="25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and</a:t>
                </a:r>
                <a:r>
                  <a:rPr lang="en-IN" sz="1100" spc="160" dirty="0">
                    <a:latin typeface="Calibri"/>
                    <a:cs typeface="Calibri"/>
                  </a:rPr>
                  <a:t> </a:t>
                </a:r>
                <a:r>
                  <a:rPr lang="en-IN" sz="1100" i="1" dirty="0">
                    <a:latin typeface="Calibri"/>
                    <a:cs typeface="Calibri"/>
                  </a:rPr>
                  <a:t>mse</a:t>
                </a:r>
                <a:r>
                  <a:rPr lang="en-IN" sz="1100" i="1" spc="105" dirty="0">
                    <a:latin typeface="Calibri"/>
                    <a:cs typeface="Calibri"/>
                  </a:rPr>
                  <a:t> </a:t>
                </a:r>
                <a:r>
                  <a:rPr lang="en-IN" sz="1100" spc="295" dirty="0">
                    <a:latin typeface="Calibri"/>
                    <a:cs typeface="Calibri"/>
                  </a:rPr>
                  <a:t>=</a:t>
                </a:r>
                <a:r>
                  <a:rPr lang="en-IN" sz="1100" spc="100" dirty="0">
                    <a:latin typeface="Calibri"/>
                    <a:cs typeface="Calibri"/>
                  </a:rPr>
                  <a:t> </a:t>
                </a:r>
                <a:r>
                  <a:rPr lang="en-IN" sz="1100" i="1" spc="-50" dirty="0">
                    <a:latin typeface="Calibri"/>
                    <a:cs typeface="Calibri"/>
                  </a:rPr>
                  <a:t>V</a:t>
                </a:r>
                <a:r>
                  <a:rPr lang="en-IN" sz="1100" i="1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[bagging</a:t>
                </a:r>
                <a:r>
                  <a:rPr lang="en-IN" sz="1100" spc="2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does</a:t>
                </a:r>
                <a:r>
                  <a:rPr lang="en-IN" sz="1100" spc="3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not</a:t>
                </a:r>
                <a:r>
                  <a:rPr lang="en-IN" sz="1100" spc="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help:</a:t>
                </a:r>
                <a:r>
                  <a:rPr lang="en-IN" sz="1100" spc="22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mse</a:t>
                </a:r>
                <a:r>
                  <a:rPr lang="en-IN" sz="1100" spc="25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of</a:t>
                </a:r>
                <a:r>
                  <a:rPr lang="en-IN" sz="1100" spc="30" dirty="0">
                    <a:latin typeface="Calibri"/>
                    <a:cs typeface="Calibri"/>
                  </a:rPr>
                  <a:t> </a:t>
                </a:r>
                <a:r>
                  <a:rPr lang="en-IN" sz="1100" spc="-25" dirty="0">
                    <a:latin typeface="Calibri"/>
                    <a:cs typeface="Calibri"/>
                  </a:rPr>
                  <a:t>the </a:t>
                </a:r>
                <a:r>
                  <a:rPr lang="en-IN" sz="1100" dirty="0">
                    <a:latin typeface="Calibri"/>
                    <a:cs typeface="Calibri"/>
                  </a:rPr>
                  <a:t>ensemble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is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as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bad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as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204" dirty="0">
                    <a:latin typeface="Calibri"/>
                    <a:cs typeface="Calibri"/>
                  </a:rPr>
                  <a:t> </a:t>
                </a:r>
                <a:r>
                  <a:rPr lang="en-IN" sz="1100" spc="-10" dirty="0">
                    <a:latin typeface="Calibri"/>
                    <a:cs typeface="Calibri"/>
                  </a:rPr>
                  <a:t>individual models]</a:t>
                </a:r>
                <a:endParaRPr lang="en-IN" sz="1100" dirty="0">
                  <a:latin typeface="Calibri"/>
                  <a:cs typeface="Calibri"/>
                </a:endParaRPr>
              </a:p>
              <a:p>
                <a:pPr marL="184150" marR="5080" indent="-171450" algn="just">
                  <a:lnSpc>
                    <a:spcPct val="1026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r>
                  <a:rPr lang="en-IN" sz="1100" spc="55" dirty="0">
                    <a:latin typeface="Calibri"/>
                    <a:cs typeface="Calibri"/>
                  </a:rPr>
                  <a:t>If </a:t>
                </a:r>
                <a:r>
                  <a:rPr lang="en-IN" sz="1100" dirty="0">
                    <a:latin typeface="Calibri"/>
                    <a:cs typeface="Calibri"/>
                  </a:rPr>
                  <a:t>the errors of the model are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inde</a:t>
                </a:r>
                <a:r>
                  <a:rPr lang="en-IN" sz="1100" dirty="0" smtClean="0">
                    <a:latin typeface="Calibri"/>
                    <a:cs typeface="Calibri"/>
                  </a:rPr>
                  <a:t>pendent</a:t>
                </a:r>
                <a:r>
                  <a:rPr lang="en-IN" sz="1100" spc="210" dirty="0" smtClean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or</a:t>
                </a:r>
                <a:r>
                  <a:rPr lang="en-IN" sz="1100" spc="21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uncorrelated</a:t>
                </a:r>
                <a:r>
                  <a:rPr lang="en-IN" sz="1100" spc="21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then</a:t>
                </a:r>
                <a:r>
                  <a:rPr lang="en-IN" sz="1100" spc="210" dirty="0">
                    <a:latin typeface="Calibri"/>
                    <a:cs typeface="Calibri"/>
                  </a:rPr>
                  <a:t> </a:t>
                </a:r>
                <a:r>
                  <a:rPr lang="en-IN" sz="1100" i="1" spc="200" dirty="0">
                    <a:latin typeface="Calibri"/>
                    <a:cs typeface="Calibri"/>
                  </a:rPr>
                  <a:t>C</a:t>
                </a:r>
                <a:r>
                  <a:rPr lang="en-IN" sz="1100" i="1" spc="285" dirty="0">
                    <a:latin typeface="Calibri"/>
                    <a:cs typeface="Calibri"/>
                  </a:rPr>
                  <a:t> </a:t>
                </a:r>
                <a:r>
                  <a:rPr lang="en-IN" sz="1100" spc="295" dirty="0">
                    <a:latin typeface="Calibri"/>
                    <a:cs typeface="Calibri"/>
                  </a:rPr>
                  <a:t>=</a:t>
                </a:r>
                <a:r>
                  <a:rPr lang="en-IN" sz="1100" spc="195" dirty="0">
                    <a:latin typeface="Calibri"/>
                    <a:cs typeface="Calibri"/>
                  </a:rPr>
                  <a:t> </a:t>
                </a:r>
                <a:r>
                  <a:rPr lang="en-IN" sz="1100" spc="-50" dirty="0">
                    <a:latin typeface="Calibri"/>
                    <a:cs typeface="Calibri"/>
                  </a:rPr>
                  <a:t>0</a:t>
                </a:r>
                <a:r>
                  <a:rPr lang="en-IN" sz="1100" dirty="0">
                    <a:latin typeface="Calibri"/>
                    <a:cs typeface="Calibri"/>
                  </a:rPr>
                  <a:t> and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mse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of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the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dirty="0">
                    <a:latin typeface="Calibri"/>
                    <a:cs typeface="Calibri"/>
                  </a:rPr>
                  <a:t>ensemble</a:t>
                </a:r>
                <a:r>
                  <a:rPr lang="en-IN" sz="1100" spc="130" dirty="0">
                    <a:latin typeface="Calibri"/>
                    <a:cs typeface="Calibri"/>
                  </a:rPr>
                  <a:t> </a:t>
                </a:r>
                <a:r>
                  <a:rPr lang="en-IN" sz="1100" spc="-10" dirty="0" smtClean="0">
                    <a:latin typeface="Calibri"/>
                    <a:cs typeface="Calibri"/>
                  </a:rPr>
                  <a:t>reduces</a:t>
                </a:r>
              </a:p>
              <a:p>
                <a:pPr marL="12700" marR="5080" algn="just">
                  <a:lnSpc>
                    <a:spcPct val="102600"/>
                  </a:lnSpc>
                  <a:spcBef>
                    <a:spcPts val="300"/>
                  </a:spcBef>
                </a:pPr>
                <a:r>
                  <a:rPr lang="en-IN" sz="1100" dirty="0" smtClean="0">
                    <a:latin typeface="Calibri"/>
                    <a:cs typeface="Calibri"/>
                  </a:rPr>
                  <a:t>       to</a:t>
                </a:r>
                <a:r>
                  <a:rPr lang="en-IN" sz="1100" spc="290" dirty="0" smtClean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100" i="1" spc="29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ar-AE" sz="1100" b="0" i="1" spc="29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num>
                      <m:den>
                        <m:r>
                          <a:rPr lang="en-IN" sz="1100" b="0" i="1" spc="290" smtClean="0"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IN" sz="1100" i="1" spc="-50" dirty="0" smtClean="0">
                    <a:latin typeface="Calibri"/>
                    <a:cs typeface="Calibri"/>
                  </a:rPr>
                  <a:t>V</a:t>
                </a:r>
                <a:endParaRPr lang="en-IN" sz="1100" dirty="0" smtClean="0">
                  <a:latin typeface="Calibri"/>
                  <a:cs typeface="Calibri"/>
                </a:endParaRPr>
              </a:p>
              <a:p>
                <a:pPr marL="184150" marR="5080" indent="-171450" algn="just">
                  <a:lnSpc>
                    <a:spcPct val="1026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:endParaRPr sz="11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973" y="441035"/>
                <a:ext cx="2592234" cy="1953483"/>
              </a:xfrm>
              <a:prstGeom prst="rect">
                <a:avLst/>
              </a:prstGeom>
              <a:blipFill>
                <a:blip r:embed="rId2"/>
                <a:stretch>
                  <a:fillRect l="-2582" t="-2181" r="-30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2431163" y="2128249"/>
            <a:ext cx="2268855" cy="5431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 algn="just">
              <a:lnSpc>
                <a:spcPts val="1350"/>
              </a:lnSpc>
              <a:spcBef>
                <a:spcPts val="40"/>
              </a:spcBef>
              <a:buFont typeface="Arial" panose="020B0604020202020204" pitchFamily="34" charset="0"/>
              <a:buChar char="•"/>
            </a:pPr>
            <a:r>
              <a:rPr sz="1100" spc="70" dirty="0" smtClean="0">
                <a:latin typeface="Calibri"/>
                <a:cs typeface="Calibri"/>
              </a:rPr>
              <a:t>On </a:t>
            </a:r>
            <a:r>
              <a:rPr sz="1100" dirty="0">
                <a:latin typeface="Calibri"/>
                <a:cs typeface="Calibri"/>
              </a:rPr>
              <a:t>average,</a:t>
            </a:r>
            <a:r>
              <a:rPr sz="1100" spc="3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 ensemble will </a:t>
            </a:r>
            <a:r>
              <a:rPr sz="1100" spc="-20" dirty="0" smtClean="0">
                <a:latin typeface="Calibri"/>
                <a:cs typeface="Calibri"/>
              </a:rPr>
              <a:t>per</a:t>
            </a:r>
            <a:r>
              <a:rPr sz="1100" dirty="0" smtClean="0">
                <a:latin typeface="Calibri"/>
                <a:cs typeface="Calibri"/>
              </a:rPr>
              <a:t>form</a:t>
            </a:r>
            <a:r>
              <a:rPr sz="1100" spc="155" dirty="0" smtClean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least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well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its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individual members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51324"/>
          <a:stretch/>
        </p:blipFill>
        <p:spPr>
          <a:xfrm>
            <a:off x="239997" y="1058796"/>
            <a:ext cx="638376" cy="4874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 rotWithShape="1">
          <a:blip r:embed="rId3" cstate="print"/>
          <a:srcRect b="51324"/>
          <a:stretch/>
        </p:blipFill>
        <p:spPr>
          <a:xfrm>
            <a:off x="1067371" y="1058796"/>
            <a:ext cx="638382" cy="4874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 rotWithShape="1">
          <a:blip r:embed="rId4" cstate="print"/>
          <a:srcRect b="51324"/>
          <a:stretch/>
        </p:blipFill>
        <p:spPr>
          <a:xfrm>
            <a:off x="1894744" y="1058796"/>
            <a:ext cx="638376" cy="4874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22111" y="441885"/>
            <a:ext cx="2464534" cy="25327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spc="60" dirty="0">
                <a:latin typeface="Calibri"/>
                <a:cs typeface="Calibri"/>
              </a:rPr>
              <a:t>Typically</a:t>
            </a:r>
            <a:r>
              <a:rPr sz="1000" spc="190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195" dirty="0">
                <a:latin typeface="Calibri"/>
                <a:cs typeface="Calibri"/>
              </a:rPr>
              <a:t>  </a:t>
            </a:r>
            <a:r>
              <a:rPr sz="1000" spc="-10" dirty="0">
                <a:latin typeface="Calibri"/>
                <a:cs typeface="Calibri"/>
              </a:rPr>
              <a:t>averaging(bagging </a:t>
            </a:r>
            <a:r>
              <a:rPr sz="1000" dirty="0">
                <a:latin typeface="Calibri"/>
                <a:cs typeface="Calibri"/>
              </a:rPr>
              <a:t>ensemble)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always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helps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several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large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neural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spc="-20" dirty="0" smtClean="0">
                <a:latin typeface="Calibri"/>
                <a:cs typeface="Calibri"/>
              </a:rPr>
              <a:t>net</a:t>
            </a:r>
            <a:r>
              <a:rPr sz="1000" dirty="0" smtClean="0">
                <a:latin typeface="Calibri"/>
                <a:cs typeface="Calibri"/>
              </a:rPr>
              <a:t>works </a:t>
            </a:r>
            <a:r>
              <a:rPr sz="1000" dirty="0">
                <a:latin typeface="Calibri"/>
                <a:cs typeface="Calibri"/>
              </a:rPr>
              <a:t>for making an ensemble is </a:t>
            </a:r>
            <a:r>
              <a:rPr sz="1000" spc="-20" dirty="0">
                <a:latin typeface="Calibri"/>
                <a:cs typeface="Calibri"/>
              </a:rPr>
              <a:t>pro-</a:t>
            </a:r>
            <a:r>
              <a:rPr sz="1000" dirty="0">
                <a:latin typeface="Calibri"/>
                <a:cs typeface="Calibri"/>
              </a:rPr>
              <a:t>hibitively</a:t>
            </a:r>
            <a:r>
              <a:rPr sz="1000" spc="4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expensive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Option</a:t>
            </a:r>
            <a:r>
              <a:rPr sz="1000" spc="270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1:</a:t>
            </a:r>
            <a:r>
              <a:rPr sz="1000" spc="360" dirty="0">
                <a:latin typeface="Calibri"/>
                <a:cs typeface="Calibri"/>
              </a:rPr>
              <a:t>   </a:t>
            </a:r>
            <a:r>
              <a:rPr sz="1000" spc="55" dirty="0">
                <a:latin typeface="Calibri"/>
                <a:cs typeface="Calibri"/>
              </a:rPr>
              <a:t>Train</a:t>
            </a:r>
            <a:r>
              <a:rPr sz="1000" spc="280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several</a:t>
            </a:r>
            <a:r>
              <a:rPr sz="1000" spc="270" dirty="0">
                <a:latin typeface="Calibri"/>
                <a:cs typeface="Calibri"/>
              </a:rPr>
              <a:t>  </a:t>
            </a:r>
            <a:r>
              <a:rPr sz="1000" spc="-10" dirty="0">
                <a:latin typeface="Calibri"/>
                <a:cs typeface="Calibri"/>
              </a:rPr>
              <a:t>neural </a:t>
            </a:r>
            <a:r>
              <a:rPr sz="1000" dirty="0">
                <a:latin typeface="Calibri"/>
                <a:cs typeface="Calibri"/>
              </a:rPr>
              <a:t>networks having different </a:t>
            </a:r>
            <a:r>
              <a:rPr sz="1000" spc="-10" dirty="0">
                <a:latin typeface="Calibri"/>
                <a:cs typeface="Calibri"/>
              </a:rPr>
              <a:t>architec-</a:t>
            </a:r>
            <a:r>
              <a:rPr sz="1000" spc="10" dirty="0">
                <a:latin typeface="Calibri"/>
                <a:cs typeface="Calibri"/>
              </a:rPr>
              <a:t>tures(obviously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expensive)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Option</a:t>
            </a:r>
            <a:r>
              <a:rPr sz="1000" spc="4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2:</a:t>
            </a:r>
            <a:r>
              <a:rPr sz="1000" spc="290" dirty="0">
                <a:latin typeface="Calibri"/>
                <a:cs typeface="Calibri"/>
              </a:rPr>
              <a:t>  </a:t>
            </a:r>
            <a:r>
              <a:rPr sz="1000" spc="55" dirty="0">
                <a:latin typeface="Calibri"/>
                <a:cs typeface="Calibri"/>
              </a:rPr>
              <a:t>Train</a:t>
            </a:r>
            <a:r>
              <a:rPr sz="1000" spc="4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multiple</a:t>
            </a:r>
            <a:r>
              <a:rPr sz="1000" spc="4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instances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same</a:t>
            </a:r>
            <a:r>
              <a:rPr sz="1000" spc="3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using</a:t>
            </a:r>
            <a:r>
              <a:rPr sz="1000" spc="3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different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samples</a:t>
            </a:r>
            <a:r>
              <a:rPr sz="1000" spc="3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(again</a:t>
            </a:r>
            <a:r>
              <a:rPr sz="1000" spc="3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expensive)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Even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if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manage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with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spc="-25" dirty="0" smtClean="0">
                <a:latin typeface="Calibri"/>
                <a:cs typeface="Calibri"/>
              </a:rPr>
              <a:t>op</a:t>
            </a:r>
            <a:r>
              <a:rPr sz="1000" dirty="0" smtClean="0">
                <a:latin typeface="Calibri"/>
                <a:cs typeface="Calibri"/>
              </a:rPr>
              <a:t>tion</a:t>
            </a:r>
            <a:r>
              <a:rPr sz="1000" spc="19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1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option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2,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combining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several </a:t>
            </a:r>
            <a:r>
              <a:rPr sz="1000" dirty="0">
                <a:latin typeface="Calibri"/>
                <a:cs typeface="Calibri"/>
              </a:rPr>
              <a:t>models</a:t>
            </a:r>
            <a:r>
              <a:rPr sz="1000" spc="3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at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test</a:t>
            </a:r>
            <a:r>
              <a:rPr sz="1000" spc="3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time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is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infeasible</a:t>
            </a:r>
            <a:r>
              <a:rPr sz="1000" spc="38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in </a:t>
            </a:r>
            <a:r>
              <a:rPr sz="1000" dirty="0">
                <a:latin typeface="Calibri"/>
                <a:cs typeface="Calibri"/>
              </a:rPr>
              <a:t>real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time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applications</a:t>
            </a:r>
            <a:endParaRPr sz="1000" dirty="0">
              <a:latin typeface="Calibri"/>
              <a:cs typeface="Calibri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2" cstate="print"/>
          <a:srcRect t="45657"/>
          <a:stretch/>
        </p:blipFill>
        <p:spPr>
          <a:xfrm>
            <a:off x="239997" y="1519464"/>
            <a:ext cx="638376" cy="544176"/>
          </a:xfrm>
          <a:prstGeom prst="rect">
            <a:avLst/>
          </a:prstGeom>
        </p:spPr>
      </p:pic>
      <p:pic>
        <p:nvPicPr>
          <p:cNvPr id="8" name="object 3"/>
          <p:cNvPicPr/>
          <p:nvPr/>
        </p:nvPicPr>
        <p:blipFill rotWithShape="1">
          <a:blip r:embed="rId3" cstate="print"/>
          <a:srcRect t="46733"/>
          <a:stretch/>
        </p:blipFill>
        <p:spPr>
          <a:xfrm>
            <a:off x="1067371" y="1530240"/>
            <a:ext cx="638382" cy="533400"/>
          </a:xfrm>
          <a:prstGeom prst="rect">
            <a:avLst/>
          </a:prstGeom>
        </p:spPr>
      </p:pic>
      <p:pic>
        <p:nvPicPr>
          <p:cNvPr id="9" name="object 4"/>
          <p:cNvPicPr/>
          <p:nvPr/>
        </p:nvPicPr>
        <p:blipFill rotWithShape="1">
          <a:blip r:embed="rId4" cstate="print"/>
          <a:srcRect t="46733"/>
          <a:stretch/>
        </p:blipFill>
        <p:spPr>
          <a:xfrm>
            <a:off x="1894744" y="1524852"/>
            <a:ext cx="638376" cy="53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393" y="98425"/>
            <a:ext cx="1944443" cy="3167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02260" marR="669925">
              <a:lnSpc>
                <a:spcPts val="1650"/>
              </a:lnSpc>
              <a:spcBef>
                <a:spcPts val="5"/>
              </a:spcBef>
            </a:pPr>
            <a:r>
              <a:rPr lang="en-IN" sz="1800" b="1" spc="-10" dirty="0" smtClean="0">
                <a:solidFill>
                  <a:schemeClr val="tx1"/>
                </a:solidFill>
                <a:latin typeface="Calibri"/>
                <a:cs typeface="Calibri"/>
              </a:rPr>
              <a:t>Dropout</a:t>
            </a:r>
            <a:endParaRPr lang="en-IN" sz="18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97" y="1058796"/>
            <a:ext cx="638376" cy="100137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7371" y="1058796"/>
            <a:ext cx="638382" cy="10013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4744" y="1058796"/>
            <a:ext cx="638376" cy="10013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06700" y="631825"/>
            <a:ext cx="2422385" cy="1346266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715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Dropout is a technique which </a:t>
            </a:r>
            <a:r>
              <a:rPr sz="1000" spc="-25" dirty="0" smtClean="0">
                <a:latin typeface="Calibri"/>
                <a:cs typeface="Calibri"/>
              </a:rPr>
              <a:t>ad</a:t>
            </a:r>
            <a:r>
              <a:rPr sz="1000" dirty="0" smtClean="0">
                <a:latin typeface="Calibri"/>
                <a:cs typeface="Calibri"/>
              </a:rPr>
              <a:t>dresses</a:t>
            </a:r>
            <a:r>
              <a:rPr sz="1000" spc="114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both</a:t>
            </a:r>
            <a:r>
              <a:rPr sz="1000" spc="11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these</a:t>
            </a:r>
            <a:r>
              <a:rPr sz="1000" spc="1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issues.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Effectively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spc="55" dirty="0">
                <a:latin typeface="Calibri"/>
                <a:cs typeface="Calibri"/>
              </a:rPr>
              <a:t>it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allows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several </a:t>
            </a:r>
            <a:r>
              <a:rPr sz="1000" dirty="0">
                <a:latin typeface="Calibri"/>
                <a:cs typeface="Calibri"/>
              </a:rPr>
              <a:t>neural networks without any </a:t>
            </a:r>
            <a:r>
              <a:rPr sz="1000" spc="-10" dirty="0">
                <a:latin typeface="Calibri"/>
                <a:cs typeface="Calibri"/>
              </a:rPr>
              <a:t>signific-</a:t>
            </a:r>
            <a:r>
              <a:rPr sz="1000" dirty="0">
                <a:latin typeface="Calibri"/>
                <a:cs typeface="Calibri"/>
              </a:rPr>
              <a:t>ant</a:t>
            </a:r>
            <a:r>
              <a:rPr sz="1000" spc="3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computational</a:t>
            </a:r>
            <a:r>
              <a:rPr sz="1000" spc="30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overhead.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0" dirty="0">
                <a:latin typeface="Calibri"/>
                <a:cs typeface="Calibri"/>
              </a:rPr>
              <a:t>Also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gives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</a:t>
            </a:r>
            <a:r>
              <a:rPr sz="1000" spc="3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efficient</a:t>
            </a:r>
            <a:r>
              <a:rPr sz="1000" spc="3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approximate </a:t>
            </a:r>
            <a:r>
              <a:rPr sz="1000" spc="10" dirty="0">
                <a:latin typeface="Calibri"/>
                <a:cs typeface="Calibri"/>
              </a:rPr>
              <a:t>way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of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combining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exponentially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many </a:t>
            </a:r>
            <a:r>
              <a:rPr sz="1000" dirty="0">
                <a:latin typeface="Calibri"/>
                <a:cs typeface="Calibri"/>
              </a:rPr>
              <a:t>different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neural</a:t>
            </a:r>
            <a:r>
              <a:rPr sz="1000" spc="15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networks.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696" y="394071"/>
            <a:ext cx="1423689" cy="10996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63089" y="394071"/>
            <a:ext cx="1424305" cy="1099820"/>
            <a:chOff x="3263089" y="394071"/>
            <a:chExt cx="1424305" cy="1099820"/>
          </a:xfrm>
        </p:grpSpPr>
        <p:sp>
          <p:nvSpPr>
            <p:cNvPr id="4" name="object 4"/>
            <p:cNvSpPr/>
            <p:nvPr/>
          </p:nvSpPr>
          <p:spPr>
            <a:xfrm>
              <a:off x="3268150" y="1371138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8150" y="1371138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close/>
                </a:path>
              </a:pathLst>
            </a:custGeom>
            <a:ln w="10122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9367" y="1388354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92151" y="1371138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899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60" y="5877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1092" y="1366077"/>
              <a:ext cx="127682" cy="1276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094" y="1366077"/>
              <a:ext cx="127682" cy="1276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9096" y="1366077"/>
              <a:ext cx="127682" cy="1276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85366" y="1064352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8150" y="1047136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2151" y="1047136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2151" y="1047136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3623" y="1044606"/>
              <a:ext cx="122621" cy="1226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1044606"/>
              <a:ext cx="122621" cy="1226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1042075"/>
              <a:ext cx="127682" cy="1276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3089" y="718073"/>
              <a:ext cx="127681" cy="1276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9621" y="720604"/>
              <a:ext cx="122621" cy="122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1092" y="718073"/>
              <a:ext cx="127682" cy="1276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720604"/>
              <a:ext cx="122621" cy="122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718073"/>
              <a:ext cx="127682" cy="1276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1092" y="394071"/>
              <a:ext cx="127682" cy="12768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71714" y="1154817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0" y="230316"/>
                  </a:moveTo>
                  <a:lnTo>
                    <a:pt x="23031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76979" y="1151239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8515" y="1122728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0" y="291795"/>
                  </a:moveTo>
                  <a:lnTo>
                    <a:pt x="11671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36002" y="1106734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69">
                  <a:moveTo>
                    <a:pt x="0" y="0"/>
                  </a:moveTo>
                  <a:lnTo>
                    <a:pt x="4387" y="5296"/>
                  </a:lnTo>
                  <a:lnTo>
                    <a:pt x="11341" y="10073"/>
                  </a:lnTo>
                  <a:lnTo>
                    <a:pt x="18468" y="13581"/>
                  </a:lnTo>
                  <a:lnTo>
                    <a:pt x="23375" y="15071"/>
                  </a:lnTo>
                  <a:lnTo>
                    <a:pt x="19747" y="18694"/>
                  </a:lnTo>
                  <a:lnTo>
                    <a:pt x="15109" y="25144"/>
                  </a:lnTo>
                  <a:lnTo>
                    <a:pt x="11221" y="32631"/>
                  </a:lnTo>
                  <a:lnTo>
                    <a:pt x="9842" y="39369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4227" y="1149214"/>
              <a:ext cx="238449" cy="2384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31805" y="1136854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38334" y="1125492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2804" y="1136854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3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09396" y="1125492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1185" y="1149215"/>
              <a:ext cx="238450" cy="2384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16601" y="1127808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12997" y="1113389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2932" y="1175072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02688" y="1171277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0227" y="825214"/>
              <a:ext cx="238449" cy="23844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3184" y="825214"/>
              <a:ext cx="238449" cy="2384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11074" y="803807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2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36434" y="789389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4174" y="798727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1167172" y="29179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90484" y="782734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69">
                  <a:moveTo>
                    <a:pt x="13533" y="39369"/>
                  </a:moveTo>
                  <a:lnTo>
                    <a:pt x="12153" y="32631"/>
                  </a:lnTo>
                  <a:lnTo>
                    <a:pt x="8265" y="25144"/>
                  </a:lnTo>
                  <a:lnTo>
                    <a:pt x="3628" y="18694"/>
                  </a:lnTo>
                  <a:lnTo>
                    <a:pt x="0" y="15071"/>
                  </a:lnTo>
                  <a:lnTo>
                    <a:pt x="4906" y="13581"/>
                  </a:lnTo>
                  <a:lnTo>
                    <a:pt x="12033" y="10073"/>
                  </a:lnTo>
                  <a:lnTo>
                    <a:pt x="18987" y="5296"/>
                  </a:lnTo>
                  <a:lnTo>
                    <a:pt x="23375" y="0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36805" y="81285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3397" y="80149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22932" y="851072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02688" y="84727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3804" y="48885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90332" y="47749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74930" y="527071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4686" y="52327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36805" y="48885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33397" y="47749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44500" y="1592724"/>
            <a:ext cx="4809045" cy="9148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refers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dropping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out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units</a:t>
            </a:r>
            <a:endParaRPr sz="1000" dirty="0">
              <a:latin typeface="Calibri"/>
              <a:cs typeface="Calibri"/>
            </a:endParaRPr>
          </a:p>
          <a:p>
            <a:pPr marL="184150" marR="353695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10" dirty="0">
                <a:latin typeface="Calibri"/>
                <a:cs typeface="Calibri"/>
              </a:rPr>
              <a:t>Temporarily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remove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node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and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all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its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incoming/outgoing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connections </a:t>
            </a:r>
            <a:r>
              <a:rPr sz="1000" dirty="0">
                <a:latin typeface="Calibri"/>
                <a:cs typeface="Calibri"/>
              </a:rPr>
              <a:t>resulting</a:t>
            </a:r>
            <a:r>
              <a:rPr sz="1000" spc="2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Each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node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is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retained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with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fixed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probability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(typically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i="1" spc="10" dirty="0">
                <a:latin typeface="Calibri"/>
                <a:cs typeface="Calibri"/>
              </a:rPr>
              <a:t>p</a:t>
            </a:r>
            <a:r>
              <a:rPr sz="1000" i="1" spc="95" dirty="0">
                <a:latin typeface="Calibri"/>
                <a:cs typeface="Calibri"/>
              </a:rPr>
              <a:t> </a:t>
            </a:r>
            <a:r>
              <a:rPr sz="1000" spc="295" dirty="0">
                <a:latin typeface="Calibri"/>
                <a:cs typeface="Calibri"/>
              </a:rPr>
              <a:t>=</a:t>
            </a:r>
            <a:r>
              <a:rPr sz="1000" spc="10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0</a:t>
            </a:r>
            <a:r>
              <a:rPr sz="1000" i="1" spc="10" dirty="0">
                <a:latin typeface="Calibri"/>
                <a:cs typeface="Calibri"/>
              </a:rPr>
              <a:t>.</a:t>
            </a:r>
            <a:r>
              <a:rPr sz="1000" spc="10" dirty="0">
                <a:latin typeface="Calibri"/>
                <a:cs typeface="Calibri"/>
              </a:rPr>
              <a:t>5)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for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hidden </a:t>
            </a:r>
            <a:r>
              <a:rPr sz="1000" dirty="0">
                <a:latin typeface="Calibri"/>
                <a:cs typeface="Calibri"/>
              </a:rPr>
              <a:t>nodes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p</a:t>
            </a:r>
            <a:r>
              <a:rPr sz="1000" i="1" spc="75" dirty="0">
                <a:latin typeface="Calibri"/>
                <a:cs typeface="Calibri"/>
              </a:rPr>
              <a:t> </a:t>
            </a:r>
            <a:r>
              <a:rPr sz="1000" spc="295" dirty="0">
                <a:latin typeface="Calibri"/>
                <a:cs typeface="Calibri"/>
              </a:rPr>
              <a:t>=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0</a:t>
            </a:r>
            <a:r>
              <a:rPr sz="1000" i="1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8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visible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nodes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0085" cy="1135380"/>
            <a:chOff x="0" y="0"/>
            <a:chExt cx="5760085" cy="1135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873" y="35411"/>
              <a:ext cx="1423689" cy="10996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68150" y="101247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8150" y="101247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close/>
                </a:path>
              </a:pathLst>
            </a:custGeom>
            <a:ln w="10122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9367" y="1029693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92151" y="101247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899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60" y="5877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1092" y="1007416"/>
              <a:ext cx="127682" cy="1276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094" y="1007416"/>
              <a:ext cx="127682" cy="1276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9096" y="1007416"/>
              <a:ext cx="127682" cy="1276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85366" y="705692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8150" y="688475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2151" y="688475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2151" y="688475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3623" y="685945"/>
              <a:ext cx="122621" cy="1226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7625" y="685945"/>
              <a:ext cx="122621" cy="1226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096" y="683414"/>
              <a:ext cx="127682" cy="1276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3089" y="359413"/>
              <a:ext cx="127681" cy="1276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89621" y="361943"/>
              <a:ext cx="122621" cy="122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1092" y="359413"/>
              <a:ext cx="127682" cy="1276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7625" y="361943"/>
              <a:ext cx="122621" cy="122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9096" y="359413"/>
              <a:ext cx="127682" cy="1276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1092" y="35411"/>
              <a:ext cx="127682" cy="12768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71713" y="796157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0" y="230316"/>
                  </a:moveTo>
                  <a:lnTo>
                    <a:pt x="23031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76979" y="792578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8515" y="764067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0" y="291795"/>
                  </a:moveTo>
                  <a:lnTo>
                    <a:pt x="11671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36002" y="748073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0" y="0"/>
                  </a:moveTo>
                  <a:lnTo>
                    <a:pt x="4387" y="5296"/>
                  </a:lnTo>
                  <a:lnTo>
                    <a:pt x="11341" y="10073"/>
                  </a:lnTo>
                  <a:lnTo>
                    <a:pt x="18468" y="13581"/>
                  </a:lnTo>
                  <a:lnTo>
                    <a:pt x="23375" y="15071"/>
                  </a:lnTo>
                  <a:lnTo>
                    <a:pt x="19747" y="18694"/>
                  </a:lnTo>
                  <a:lnTo>
                    <a:pt x="15109" y="25144"/>
                  </a:lnTo>
                  <a:lnTo>
                    <a:pt x="11221" y="32631"/>
                  </a:lnTo>
                  <a:lnTo>
                    <a:pt x="9842" y="39369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94227" y="790553"/>
              <a:ext cx="238449" cy="2384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31805" y="77819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38334" y="76683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2804" y="77819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3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09396" y="76683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1185" y="790555"/>
              <a:ext cx="238450" cy="2384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16601" y="769147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12997" y="754729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2932" y="816412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02688" y="81261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70227" y="466553"/>
              <a:ext cx="238449" cy="23844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93184" y="466553"/>
              <a:ext cx="238449" cy="2384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11074" y="445147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2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36434" y="430728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4174" y="440067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1167172" y="29179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90484" y="424073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13533" y="39369"/>
                  </a:moveTo>
                  <a:lnTo>
                    <a:pt x="12153" y="32631"/>
                  </a:lnTo>
                  <a:lnTo>
                    <a:pt x="8265" y="25144"/>
                  </a:lnTo>
                  <a:lnTo>
                    <a:pt x="3628" y="18694"/>
                  </a:lnTo>
                  <a:lnTo>
                    <a:pt x="0" y="15071"/>
                  </a:lnTo>
                  <a:lnTo>
                    <a:pt x="4906" y="13581"/>
                  </a:lnTo>
                  <a:lnTo>
                    <a:pt x="12033" y="10073"/>
                  </a:lnTo>
                  <a:lnTo>
                    <a:pt x="18987" y="5296"/>
                  </a:lnTo>
                  <a:lnTo>
                    <a:pt x="23375" y="0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36805" y="454193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3397" y="442831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22932" y="492411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02688" y="48861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3803" y="130192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90332" y="118830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74931" y="168410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4686" y="16461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36805" y="130192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33397" y="118830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30205" y="1129199"/>
            <a:ext cx="5090199" cy="145898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34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Suppose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neural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has</a:t>
            </a:r>
            <a:r>
              <a:rPr sz="1000" spc="155" dirty="0">
                <a:latin typeface="Calibri"/>
                <a:cs typeface="Calibri"/>
              </a:rPr>
              <a:t> </a:t>
            </a:r>
            <a:r>
              <a:rPr sz="1000" i="1" spc="90" dirty="0">
                <a:latin typeface="Calibri"/>
                <a:cs typeface="Calibri"/>
              </a:rPr>
              <a:t>n</a:t>
            </a:r>
            <a:r>
              <a:rPr sz="1000" i="1" spc="1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nodes</a:t>
            </a:r>
            <a:endParaRPr sz="1000" dirty="0">
              <a:latin typeface="Calibri"/>
              <a:cs typeface="Calibri"/>
            </a:endParaRPr>
          </a:p>
          <a:p>
            <a:pPr marL="209550" indent="-1714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Using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idea,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each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node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can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retained</a:t>
            </a:r>
            <a:r>
              <a:rPr sz="1000" spc="1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dropped</a:t>
            </a:r>
            <a:endParaRPr sz="1000" dirty="0">
              <a:latin typeface="Calibri"/>
              <a:cs typeface="Calibri"/>
            </a:endParaRPr>
          </a:p>
          <a:p>
            <a:pPr marL="209550" marR="30480" indent="-171450">
              <a:lnSpc>
                <a:spcPct val="1105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example,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above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case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5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nodes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get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 smtClean="0">
                <a:latin typeface="Calibri"/>
                <a:cs typeface="Calibri"/>
              </a:rPr>
              <a:t>network</a:t>
            </a:r>
            <a:endParaRPr lang="en-IN" sz="1000" spc="500" dirty="0">
              <a:latin typeface="Calibri"/>
              <a:cs typeface="Calibri"/>
            </a:endParaRPr>
          </a:p>
          <a:p>
            <a:pPr marL="209550" marR="30480" indent="-171450">
              <a:lnSpc>
                <a:spcPct val="1105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sz="1000" dirty="0" smtClean="0">
                <a:latin typeface="Calibri"/>
                <a:cs typeface="Calibri"/>
              </a:rPr>
              <a:t>Given</a:t>
            </a:r>
            <a:r>
              <a:rPr sz="1000" spc="19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total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i="1" spc="90" dirty="0">
                <a:latin typeface="Calibri"/>
                <a:cs typeface="Calibri"/>
              </a:rPr>
              <a:t>n</a:t>
            </a:r>
            <a:r>
              <a:rPr sz="1000" i="1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nodes,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what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are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total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number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networks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that </a:t>
            </a:r>
            <a:r>
              <a:rPr sz="1000" dirty="0">
                <a:latin typeface="Calibri"/>
                <a:cs typeface="Calibri"/>
              </a:rPr>
              <a:t>can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be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formed?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2</a:t>
            </a:r>
            <a:r>
              <a:rPr sz="1050" i="1" spc="-37" baseline="27777" dirty="0">
                <a:latin typeface="Calibri"/>
                <a:cs typeface="Calibri"/>
              </a:rPr>
              <a:t>n</a:t>
            </a:r>
            <a:endParaRPr sz="1050" baseline="27777" dirty="0">
              <a:latin typeface="Calibri"/>
              <a:cs typeface="Calibri"/>
            </a:endParaRPr>
          </a:p>
          <a:p>
            <a:pPr marL="209550" marR="30480" indent="-171450">
              <a:lnSpc>
                <a:spcPct val="1026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Of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course,</a:t>
            </a:r>
            <a:r>
              <a:rPr sz="1000" spc="4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this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is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prohibitively</a:t>
            </a:r>
            <a:r>
              <a:rPr sz="1000" spc="3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large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3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cannot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possibly</a:t>
            </a:r>
            <a:r>
              <a:rPr sz="1000" spc="3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</a:t>
            </a:r>
            <a:r>
              <a:rPr sz="1000" spc="36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many </a:t>
            </a:r>
            <a:r>
              <a:rPr sz="1000" spc="-10" dirty="0">
                <a:latin typeface="Calibri"/>
                <a:cs typeface="Calibri"/>
              </a:rPr>
              <a:t>networks</a:t>
            </a:r>
            <a:endParaRPr sz="1000" dirty="0">
              <a:latin typeface="Calibri"/>
              <a:cs typeface="Calibri"/>
            </a:endParaRPr>
          </a:p>
          <a:p>
            <a:pPr marL="209550" indent="-171450">
              <a:lnSpc>
                <a:spcPct val="100000"/>
              </a:lnSpc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sz="1000" b="1" spc="105" dirty="0">
                <a:latin typeface="Calibri"/>
                <a:cs typeface="Calibri"/>
              </a:rPr>
              <a:t>Trick:</a:t>
            </a:r>
            <a:r>
              <a:rPr sz="1000" b="1" spc="320" dirty="0">
                <a:latin typeface="Calibri"/>
                <a:cs typeface="Calibri"/>
              </a:rPr>
              <a:t> </a:t>
            </a:r>
            <a:r>
              <a:rPr sz="1000" dirty="0" smtClean="0">
                <a:latin typeface="Calibri"/>
                <a:cs typeface="Calibri"/>
              </a:rPr>
              <a:t>(</a:t>
            </a:r>
            <a:r>
              <a:rPr lang="en-IN" sz="1000" dirty="0" err="1" smtClean="0">
                <a:latin typeface="Calibri"/>
                <a:cs typeface="Calibri"/>
              </a:rPr>
              <a:t>i</a:t>
            </a:r>
            <a:r>
              <a:rPr sz="1000" dirty="0" smtClean="0">
                <a:latin typeface="Calibri"/>
                <a:cs typeface="Calibri"/>
              </a:rPr>
              <a:t>)</a:t>
            </a:r>
            <a:r>
              <a:rPr sz="1000" spc="18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Share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weights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across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spc="-10" dirty="0" smtClean="0">
                <a:latin typeface="Calibri"/>
                <a:cs typeface="Calibri"/>
              </a:rPr>
              <a:t>networks</a:t>
            </a:r>
            <a:endParaRPr lang="en-IN" sz="1000" spc="-1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lang="en-IN" sz="1000" spc="-10" dirty="0" smtClean="0">
                <a:latin typeface="Calibri"/>
                <a:cs typeface="Calibri"/>
              </a:rPr>
              <a:t>                      </a:t>
            </a:r>
            <a:r>
              <a:rPr lang="en-US" sz="1000" dirty="0" smtClean="0">
                <a:latin typeface="Calibri"/>
                <a:cs typeface="Calibri"/>
              </a:rPr>
              <a:t>(ii)</a:t>
            </a:r>
            <a:r>
              <a:rPr lang="en-US" sz="1000" spc="190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Sample</a:t>
            </a:r>
            <a:r>
              <a:rPr lang="en-US" sz="1000" spc="195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a</a:t>
            </a:r>
            <a:r>
              <a:rPr lang="en-US" sz="1000" spc="185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different</a:t>
            </a:r>
            <a:r>
              <a:rPr lang="en-US" sz="1000" spc="195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network</a:t>
            </a:r>
            <a:r>
              <a:rPr lang="en-US" sz="1000" spc="190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for</a:t>
            </a:r>
            <a:r>
              <a:rPr lang="en-US" sz="1000" spc="195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each</a:t>
            </a:r>
            <a:r>
              <a:rPr lang="en-US" sz="1000" spc="190" dirty="0" smtClean="0">
                <a:latin typeface="Calibri"/>
                <a:cs typeface="Calibri"/>
              </a:rPr>
              <a:t> </a:t>
            </a:r>
            <a:r>
              <a:rPr lang="en-US" sz="1000" dirty="0" smtClean="0">
                <a:latin typeface="Calibri"/>
                <a:cs typeface="Calibri"/>
              </a:rPr>
              <a:t>training</a:t>
            </a:r>
            <a:r>
              <a:rPr lang="en-US" sz="1000" spc="190" dirty="0" smtClean="0">
                <a:latin typeface="Calibri"/>
                <a:cs typeface="Calibri"/>
              </a:rPr>
              <a:t> </a:t>
            </a:r>
            <a:r>
              <a:rPr lang="en-US" sz="1000" spc="-10" dirty="0" smtClean="0">
                <a:latin typeface="Calibri"/>
                <a:cs typeface="Calibri"/>
              </a:rPr>
              <a:t>instance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73" y="378895"/>
            <a:ext cx="1423689" cy="10996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63089" y="378895"/>
            <a:ext cx="1424305" cy="1099820"/>
            <a:chOff x="3263089" y="378895"/>
            <a:chExt cx="1424305" cy="1099820"/>
          </a:xfrm>
        </p:grpSpPr>
        <p:sp>
          <p:nvSpPr>
            <p:cNvPr id="4" name="object 4"/>
            <p:cNvSpPr/>
            <p:nvPr/>
          </p:nvSpPr>
          <p:spPr>
            <a:xfrm>
              <a:off x="3268150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8150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close/>
                </a:path>
              </a:pathLst>
            </a:custGeom>
            <a:ln w="10122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9367" y="1373177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92151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899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60" y="5877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1092" y="1350900"/>
              <a:ext cx="127682" cy="1276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094" y="1350900"/>
              <a:ext cx="127682" cy="1276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9096" y="1350900"/>
              <a:ext cx="127682" cy="1276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85366" y="1049176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8150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2151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2151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3623" y="1029429"/>
              <a:ext cx="122621" cy="1226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1029429"/>
              <a:ext cx="122621" cy="1226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1026899"/>
              <a:ext cx="127682" cy="1276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3089" y="702897"/>
              <a:ext cx="127681" cy="1276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9621" y="705427"/>
              <a:ext cx="122621" cy="122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1092" y="702897"/>
              <a:ext cx="127682" cy="1276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705427"/>
              <a:ext cx="122621" cy="122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702897"/>
              <a:ext cx="127682" cy="1276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1092" y="378895"/>
              <a:ext cx="127682" cy="12768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71714" y="1139641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0" y="230316"/>
                  </a:moveTo>
                  <a:lnTo>
                    <a:pt x="23031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76979" y="1136062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8515" y="1107551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0" y="291795"/>
                  </a:moveTo>
                  <a:lnTo>
                    <a:pt x="11671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36002" y="1091558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69">
                  <a:moveTo>
                    <a:pt x="0" y="0"/>
                  </a:moveTo>
                  <a:lnTo>
                    <a:pt x="4387" y="5296"/>
                  </a:lnTo>
                  <a:lnTo>
                    <a:pt x="11341" y="10073"/>
                  </a:lnTo>
                  <a:lnTo>
                    <a:pt x="18468" y="13581"/>
                  </a:lnTo>
                  <a:lnTo>
                    <a:pt x="23375" y="15071"/>
                  </a:lnTo>
                  <a:lnTo>
                    <a:pt x="19747" y="18694"/>
                  </a:lnTo>
                  <a:lnTo>
                    <a:pt x="15109" y="25144"/>
                  </a:lnTo>
                  <a:lnTo>
                    <a:pt x="11221" y="32631"/>
                  </a:lnTo>
                  <a:lnTo>
                    <a:pt x="9842" y="39369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4227" y="1134038"/>
              <a:ext cx="238449" cy="2384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31805" y="1121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38334" y="1110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2804" y="1121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3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09396" y="1110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1185" y="1134039"/>
              <a:ext cx="238450" cy="2384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16601" y="1112631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12997" y="1098213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2932" y="1159896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02688" y="115610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0227" y="810037"/>
              <a:ext cx="238449" cy="23844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3184" y="810037"/>
              <a:ext cx="238449" cy="2384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11074" y="788631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2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36434" y="774212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4174" y="783551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1167172" y="29179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90484" y="767557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13533" y="39369"/>
                  </a:moveTo>
                  <a:lnTo>
                    <a:pt x="12153" y="32631"/>
                  </a:lnTo>
                  <a:lnTo>
                    <a:pt x="8265" y="25144"/>
                  </a:lnTo>
                  <a:lnTo>
                    <a:pt x="3628" y="18694"/>
                  </a:lnTo>
                  <a:lnTo>
                    <a:pt x="0" y="15071"/>
                  </a:lnTo>
                  <a:lnTo>
                    <a:pt x="4906" y="13581"/>
                  </a:lnTo>
                  <a:lnTo>
                    <a:pt x="12033" y="10073"/>
                  </a:lnTo>
                  <a:lnTo>
                    <a:pt x="18987" y="5296"/>
                  </a:lnTo>
                  <a:lnTo>
                    <a:pt x="23375" y="0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36805" y="797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3397" y="786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22932" y="835895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02688" y="83210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3804" y="473676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90332" y="462314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74930" y="511895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4686" y="50809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36805" y="473676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33397" y="462314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5"/>
          <p:cNvSpPr txBox="1"/>
          <p:nvPr/>
        </p:nvSpPr>
        <p:spPr>
          <a:xfrm>
            <a:off x="624395" y="1493593"/>
            <a:ext cx="4787265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We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initialize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parameters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(weights)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network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2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start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training</a:t>
            </a:r>
            <a:endParaRPr sz="11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For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first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training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instance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(or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mini-batch),</a:t>
            </a:r>
            <a:r>
              <a:rPr sz="1100" spc="3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apply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dropout</a:t>
            </a:r>
            <a:r>
              <a:rPr sz="1100" spc="3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resulting</a:t>
            </a:r>
            <a:r>
              <a:rPr sz="1100" spc="3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in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thinned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network</a:t>
            </a:r>
            <a:endParaRPr sz="1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We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compute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loss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backpropagate</a:t>
            </a:r>
            <a:endParaRPr sz="1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100" dirty="0">
                <a:latin typeface="Calibri"/>
                <a:cs typeface="Calibri"/>
              </a:rPr>
              <a:t>Which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parameters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we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update?</a:t>
            </a:r>
            <a:r>
              <a:rPr sz="1100" spc="310" dirty="0">
                <a:latin typeface="Calibri"/>
                <a:cs typeface="Calibri"/>
              </a:rPr>
              <a:t>  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880040" y="2294670"/>
            <a:ext cx="193867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0" lvl="0" defTabSz="91440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100" b="0" i="0" u="none" strike="noStrike" kern="0" cap="none" spc="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US" sz="1100" b="0" i="0" u="none" strike="noStrike" kern="0" cap="none" spc="17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lang="en-US" sz="1100" b="0" i="0" u="none" strike="noStrike" kern="0" cap="none" spc="17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US" sz="1100" b="0" i="0" u="none" strike="noStrike" kern="0" cap="none" spc="17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US" sz="1100" b="0" i="0" u="none" strike="noStrike" kern="0" cap="none" spc="17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100" b="0" i="0" u="none" strike="noStrike" kern="0" cap="none" spc="-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active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73" y="378895"/>
            <a:ext cx="1423689" cy="10996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263089" y="378895"/>
            <a:ext cx="1424305" cy="1099820"/>
            <a:chOff x="3263089" y="378895"/>
            <a:chExt cx="1424305" cy="1099820"/>
          </a:xfrm>
        </p:grpSpPr>
        <p:sp>
          <p:nvSpPr>
            <p:cNvPr id="4" name="object 4"/>
            <p:cNvSpPr/>
            <p:nvPr/>
          </p:nvSpPr>
          <p:spPr>
            <a:xfrm>
              <a:off x="3268150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68150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close/>
                </a:path>
              </a:pathLst>
            </a:custGeom>
            <a:ln w="10122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09367" y="1373177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92151" y="135596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899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60" y="58779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1092" y="1350900"/>
              <a:ext cx="127682" cy="1276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5094" y="1350900"/>
              <a:ext cx="127682" cy="1276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9096" y="1350900"/>
              <a:ext cx="127682" cy="1276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85366" y="1049176"/>
              <a:ext cx="83185" cy="83185"/>
            </a:xfrm>
            <a:custGeom>
              <a:avLst/>
              <a:gdLst/>
              <a:ahLst/>
              <a:cxnLst/>
              <a:rect l="l" t="t" r="r" b="b"/>
              <a:pathLst>
                <a:path w="83185" h="83184">
                  <a:moveTo>
                    <a:pt x="83127" y="83127"/>
                  </a:moveTo>
                  <a:lnTo>
                    <a:pt x="0" y="0"/>
                  </a:lnTo>
                </a:path>
                <a:path w="83185" h="83184">
                  <a:moveTo>
                    <a:pt x="0" y="83127"/>
                  </a:moveTo>
                  <a:lnTo>
                    <a:pt x="8312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68150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92151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92151" y="103196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60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899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899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60" y="5878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3623" y="1029429"/>
              <a:ext cx="122621" cy="1226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1029429"/>
              <a:ext cx="122621" cy="1226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1026899"/>
              <a:ext cx="127682" cy="12768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3089" y="702897"/>
              <a:ext cx="127681" cy="1276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89621" y="705427"/>
              <a:ext cx="122621" cy="122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1092" y="702897"/>
              <a:ext cx="127682" cy="1276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7624" y="705427"/>
              <a:ext cx="122621" cy="122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096" y="702897"/>
              <a:ext cx="127682" cy="1276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11092" y="378895"/>
              <a:ext cx="127682" cy="12768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71714" y="1139641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0" y="230316"/>
                  </a:moveTo>
                  <a:lnTo>
                    <a:pt x="230315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76979" y="1136062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8515" y="1107551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0" y="291795"/>
                  </a:moveTo>
                  <a:lnTo>
                    <a:pt x="11671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36002" y="1091558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69">
                  <a:moveTo>
                    <a:pt x="0" y="0"/>
                  </a:moveTo>
                  <a:lnTo>
                    <a:pt x="4387" y="5296"/>
                  </a:lnTo>
                  <a:lnTo>
                    <a:pt x="11341" y="10073"/>
                  </a:lnTo>
                  <a:lnTo>
                    <a:pt x="18468" y="13581"/>
                  </a:lnTo>
                  <a:lnTo>
                    <a:pt x="23375" y="15071"/>
                  </a:lnTo>
                  <a:lnTo>
                    <a:pt x="19747" y="18694"/>
                  </a:lnTo>
                  <a:lnTo>
                    <a:pt x="15109" y="25144"/>
                  </a:lnTo>
                  <a:lnTo>
                    <a:pt x="11221" y="32631"/>
                  </a:lnTo>
                  <a:lnTo>
                    <a:pt x="9842" y="39369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94227" y="1134038"/>
              <a:ext cx="238449" cy="2384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31805" y="1121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38334" y="1110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12804" y="1121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3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09396" y="1110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1185" y="1134039"/>
              <a:ext cx="238450" cy="2384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716601" y="1112631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12997" y="1098213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22932" y="1159896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02688" y="115610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70227" y="810037"/>
              <a:ext cx="238449" cy="23844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3184" y="810037"/>
              <a:ext cx="238449" cy="23844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711074" y="788631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2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36434" y="774212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4174" y="783551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1167172" y="29179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90484" y="767557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13533" y="39369"/>
                  </a:moveTo>
                  <a:lnTo>
                    <a:pt x="12153" y="32631"/>
                  </a:lnTo>
                  <a:lnTo>
                    <a:pt x="8265" y="25144"/>
                  </a:lnTo>
                  <a:lnTo>
                    <a:pt x="3628" y="18694"/>
                  </a:lnTo>
                  <a:lnTo>
                    <a:pt x="0" y="15071"/>
                  </a:lnTo>
                  <a:lnTo>
                    <a:pt x="4906" y="13581"/>
                  </a:lnTo>
                  <a:lnTo>
                    <a:pt x="12033" y="10073"/>
                  </a:lnTo>
                  <a:lnTo>
                    <a:pt x="18987" y="5296"/>
                  </a:lnTo>
                  <a:lnTo>
                    <a:pt x="23375" y="0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36805" y="797677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3397" y="786315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22932" y="835895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02688" y="83210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3804" y="473676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90332" y="462314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74930" y="511895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70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54686" y="50809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36805" y="473676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5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033397" y="462314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29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91645" y="471177"/>
              <a:ext cx="526415" cy="263525"/>
            </a:xfrm>
            <a:custGeom>
              <a:avLst/>
              <a:gdLst/>
              <a:ahLst/>
              <a:cxnLst/>
              <a:rect l="l" t="t" r="r" b="b"/>
              <a:pathLst>
                <a:path w="526414" h="263525">
                  <a:moveTo>
                    <a:pt x="526411" y="0"/>
                  </a:moveTo>
                  <a:lnTo>
                    <a:pt x="0" y="26320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87214" y="701889"/>
              <a:ext cx="34290" cy="47625"/>
            </a:xfrm>
            <a:custGeom>
              <a:avLst/>
              <a:gdLst/>
              <a:ahLst/>
              <a:cxnLst/>
              <a:rect l="l" t="t" r="r" b="b"/>
              <a:pathLst>
                <a:path w="34289" h="47625">
                  <a:moveTo>
                    <a:pt x="33971" y="47265"/>
                  </a:moveTo>
                  <a:lnTo>
                    <a:pt x="26897" y="41772"/>
                  </a:lnTo>
                  <a:lnTo>
                    <a:pt x="16708" y="37664"/>
                  </a:lnTo>
                  <a:lnTo>
                    <a:pt x="6658" y="35217"/>
                  </a:lnTo>
                  <a:lnTo>
                    <a:pt x="0" y="34710"/>
                  </a:lnTo>
                  <a:lnTo>
                    <a:pt x="3588" y="29079"/>
                  </a:lnTo>
                  <a:lnTo>
                    <a:pt x="7662" y="19570"/>
                  </a:lnTo>
                  <a:lnTo>
                    <a:pt x="10489" y="8954"/>
                  </a:lnTo>
                  <a:lnTo>
                    <a:pt x="10339" y="0"/>
                  </a:lnTo>
                </a:path>
              </a:pathLst>
            </a:custGeom>
            <a:ln w="81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74930" y="506075"/>
              <a:ext cx="0" cy="188595"/>
            </a:xfrm>
            <a:custGeom>
              <a:avLst/>
              <a:gdLst/>
              <a:ahLst/>
              <a:cxnLst/>
              <a:rect l="l" t="t" r="r" b="b"/>
              <a:pathLst>
                <a:path h="188595">
                  <a:moveTo>
                    <a:pt x="0" y="0"/>
                  </a:moveTo>
                  <a:lnTo>
                    <a:pt x="0" y="18834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948613" y="674685"/>
              <a:ext cx="52705" cy="24765"/>
            </a:xfrm>
            <a:custGeom>
              <a:avLst/>
              <a:gdLst/>
              <a:ahLst/>
              <a:cxnLst/>
              <a:rect l="l" t="t" r="r" b="b"/>
              <a:pathLst>
                <a:path w="52704" h="24765">
                  <a:moveTo>
                    <a:pt x="52633" y="0"/>
                  </a:moveTo>
                  <a:lnTo>
                    <a:pt x="44589" y="3855"/>
                  </a:lnTo>
                  <a:lnTo>
                    <a:pt x="36391" y="11102"/>
                  </a:lnTo>
                  <a:lnTo>
                    <a:pt x="29734" y="18966"/>
                  </a:lnTo>
                  <a:lnTo>
                    <a:pt x="26316" y="24671"/>
                  </a:lnTo>
                  <a:lnTo>
                    <a:pt x="22898" y="18966"/>
                  </a:lnTo>
                  <a:lnTo>
                    <a:pt x="16242" y="11102"/>
                  </a:lnTo>
                  <a:lnTo>
                    <a:pt x="8044" y="3855"/>
                  </a:lnTo>
                  <a:lnTo>
                    <a:pt x="0" y="0"/>
                  </a:lnTo>
                </a:path>
              </a:pathLst>
            </a:custGeom>
            <a:ln w="809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31805" y="471177"/>
              <a:ext cx="526415" cy="263525"/>
            </a:xfrm>
            <a:custGeom>
              <a:avLst/>
              <a:gdLst/>
              <a:ahLst/>
              <a:cxnLst/>
              <a:rect l="l" t="t" r="r" b="b"/>
              <a:pathLst>
                <a:path w="526414" h="263525">
                  <a:moveTo>
                    <a:pt x="0" y="0"/>
                  </a:moveTo>
                  <a:lnTo>
                    <a:pt x="526412" y="263206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28676" y="701889"/>
              <a:ext cx="34290" cy="47625"/>
            </a:xfrm>
            <a:custGeom>
              <a:avLst/>
              <a:gdLst/>
              <a:ahLst/>
              <a:cxnLst/>
              <a:rect l="l" t="t" r="r" b="b"/>
              <a:pathLst>
                <a:path w="34289" h="47625">
                  <a:moveTo>
                    <a:pt x="23632" y="0"/>
                  </a:moveTo>
                  <a:lnTo>
                    <a:pt x="23482" y="8954"/>
                  </a:lnTo>
                  <a:lnTo>
                    <a:pt x="26309" y="19570"/>
                  </a:lnTo>
                  <a:lnTo>
                    <a:pt x="30382" y="29079"/>
                  </a:lnTo>
                  <a:lnTo>
                    <a:pt x="33971" y="34710"/>
                  </a:lnTo>
                  <a:lnTo>
                    <a:pt x="27313" y="35217"/>
                  </a:lnTo>
                  <a:lnTo>
                    <a:pt x="17262" y="37664"/>
                  </a:lnTo>
                  <a:lnTo>
                    <a:pt x="7073" y="41772"/>
                  </a:lnTo>
                  <a:lnTo>
                    <a:pt x="0" y="47265"/>
                  </a:lnTo>
                </a:path>
              </a:pathLst>
            </a:custGeom>
            <a:ln w="81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5"/>
          <p:cNvSpPr txBox="1"/>
          <p:nvPr/>
        </p:nvSpPr>
        <p:spPr>
          <a:xfrm>
            <a:off x="596900" y="1568721"/>
            <a:ext cx="4787265" cy="94987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initialize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(weights)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start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training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first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mini-batch),</a:t>
            </a:r>
            <a:r>
              <a:rPr sz="1000" spc="3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apply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resulting</a:t>
            </a:r>
            <a:r>
              <a:rPr sz="1000" spc="3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in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compute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loss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backpropagate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will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update?</a:t>
            </a:r>
            <a:r>
              <a:rPr sz="1000" spc="310" dirty="0">
                <a:latin typeface="Calibri"/>
                <a:cs typeface="Calibri"/>
              </a:rPr>
              <a:t> </a:t>
            </a:r>
            <a:r>
              <a:rPr sz="1000" spc="65" dirty="0" smtClean="0">
                <a:latin typeface="Calibri"/>
                <a:cs typeface="Calibri"/>
              </a:rPr>
              <a:t>Only</a:t>
            </a:r>
            <a:r>
              <a:rPr sz="1000" spc="175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those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are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active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73" y="378895"/>
            <a:ext cx="1423689" cy="10996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3089" y="378895"/>
            <a:ext cx="1423689" cy="1099687"/>
          </a:xfrm>
          <a:prstGeom prst="rect">
            <a:avLst/>
          </a:prstGeom>
        </p:spPr>
      </p:pic>
      <p:sp>
        <p:nvSpPr>
          <p:cNvPr id="15" name="object 5"/>
          <p:cNvSpPr txBox="1"/>
          <p:nvPr/>
        </p:nvSpPr>
        <p:spPr>
          <a:xfrm>
            <a:off x="624395" y="1493593"/>
            <a:ext cx="4787265" cy="94987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initialize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(weights)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start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training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first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mini-batch),</a:t>
            </a:r>
            <a:r>
              <a:rPr sz="1000" spc="3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apply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resulting</a:t>
            </a:r>
            <a:r>
              <a:rPr sz="1000" spc="3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in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compute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loss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backpropagate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will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update?</a:t>
            </a:r>
            <a:r>
              <a:rPr sz="1000" spc="310" dirty="0">
                <a:latin typeface="Calibri"/>
                <a:cs typeface="Calibri"/>
              </a:rPr>
              <a:t>  </a:t>
            </a:r>
            <a:r>
              <a:rPr sz="1000" spc="65" dirty="0">
                <a:latin typeface="Calibri"/>
                <a:cs typeface="Calibri"/>
              </a:rPr>
              <a:t>Only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those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are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active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73" y="378895"/>
            <a:ext cx="1423689" cy="10996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3089" y="378895"/>
            <a:ext cx="1423689" cy="10996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4395" y="1493593"/>
            <a:ext cx="4787265" cy="94987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initialize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all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(weights)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start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training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first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(or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mini-batch),</a:t>
            </a:r>
            <a:r>
              <a:rPr sz="1000" spc="3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apply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3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resulting</a:t>
            </a:r>
            <a:r>
              <a:rPr sz="1000" spc="3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in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compute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loss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backpropagate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parameters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will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update?</a:t>
            </a:r>
            <a:r>
              <a:rPr sz="1000" spc="310" dirty="0">
                <a:latin typeface="Calibri"/>
                <a:cs typeface="Calibri"/>
              </a:rPr>
              <a:t>  </a:t>
            </a:r>
            <a:r>
              <a:rPr sz="1000" spc="65" dirty="0">
                <a:latin typeface="Calibri"/>
                <a:cs typeface="Calibri"/>
              </a:rPr>
              <a:t>Only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those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are</a:t>
            </a:r>
            <a:r>
              <a:rPr sz="1000" spc="17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active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700" y="174625"/>
            <a:ext cx="5760085" cy="1158240"/>
            <a:chOff x="0" y="0"/>
            <a:chExt cx="5760085" cy="1158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400" y="58030"/>
              <a:ext cx="1423689" cy="1099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8158" y="58030"/>
              <a:ext cx="1423689" cy="10996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73978" y="1035096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FF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73978" y="1035096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79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79"/>
                  </a:lnTo>
                  <a:lnTo>
                    <a:pt x="4619" y="81659"/>
                  </a:lnTo>
                  <a:lnTo>
                    <a:pt x="17216" y="100343"/>
                  </a:lnTo>
                  <a:lnTo>
                    <a:pt x="35900" y="112940"/>
                  </a:lnTo>
                  <a:lnTo>
                    <a:pt x="58779" y="117559"/>
                  </a:lnTo>
                  <a:lnTo>
                    <a:pt x="81659" y="112940"/>
                  </a:lnTo>
                  <a:lnTo>
                    <a:pt x="100343" y="100343"/>
                  </a:lnTo>
                  <a:lnTo>
                    <a:pt x="112940" y="81659"/>
                  </a:lnTo>
                  <a:lnTo>
                    <a:pt x="117559" y="58779"/>
                  </a:lnTo>
                  <a:close/>
                </a:path>
              </a:pathLst>
            </a:custGeom>
            <a:ln w="10122">
              <a:solidFill>
                <a:srgbClr val="F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92918" y="1030035"/>
              <a:ext cx="127682" cy="12768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9451" y="1032565"/>
              <a:ext cx="122621" cy="1226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0922" y="1030035"/>
              <a:ext cx="127682" cy="1276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64924" y="1030035"/>
              <a:ext cx="127682" cy="12768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73978" y="71109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58779" y="0"/>
                  </a:move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73978" y="71109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559" y="58780"/>
                  </a:moveTo>
                  <a:lnTo>
                    <a:pt x="112940" y="35900"/>
                  </a:lnTo>
                  <a:lnTo>
                    <a:pt x="100343" y="17216"/>
                  </a:lnTo>
                  <a:lnTo>
                    <a:pt x="81659" y="4619"/>
                  </a:lnTo>
                  <a:lnTo>
                    <a:pt x="58779" y="0"/>
                  </a:lnTo>
                  <a:lnTo>
                    <a:pt x="35900" y="4619"/>
                  </a:lnTo>
                  <a:lnTo>
                    <a:pt x="17216" y="17216"/>
                  </a:lnTo>
                  <a:lnTo>
                    <a:pt x="4619" y="35900"/>
                  </a:lnTo>
                  <a:lnTo>
                    <a:pt x="0" y="58780"/>
                  </a:lnTo>
                  <a:lnTo>
                    <a:pt x="4619" y="81660"/>
                  </a:lnTo>
                  <a:lnTo>
                    <a:pt x="17216" y="100344"/>
                  </a:lnTo>
                  <a:lnTo>
                    <a:pt x="35900" y="112940"/>
                  </a:lnTo>
                  <a:lnTo>
                    <a:pt x="58779" y="117560"/>
                  </a:lnTo>
                  <a:lnTo>
                    <a:pt x="81659" y="112940"/>
                  </a:lnTo>
                  <a:lnTo>
                    <a:pt x="100343" y="100344"/>
                  </a:lnTo>
                  <a:lnTo>
                    <a:pt x="112940" y="81660"/>
                  </a:lnTo>
                  <a:lnTo>
                    <a:pt x="117559" y="5878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5449" y="708564"/>
              <a:ext cx="122621" cy="1226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6920" y="706033"/>
              <a:ext cx="127682" cy="1276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3452" y="708564"/>
              <a:ext cx="122621" cy="12262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4924" y="706033"/>
              <a:ext cx="127682" cy="12768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1447" y="384562"/>
              <a:ext cx="122620" cy="1226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2918" y="382031"/>
              <a:ext cx="127682" cy="1276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9451" y="384562"/>
              <a:ext cx="122621" cy="1226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0922" y="382031"/>
              <a:ext cx="127682" cy="1276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7454" y="384562"/>
              <a:ext cx="122621" cy="12262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6920" y="58030"/>
              <a:ext cx="127682" cy="12768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932758" y="839030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12514" y="83523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89632" y="800812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0" y="264627"/>
                  </a:moveTo>
                  <a:lnTo>
                    <a:pt x="52925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96160" y="789450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0" y="0"/>
                  </a:moveTo>
                  <a:lnTo>
                    <a:pt x="5441" y="4225"/>
                  </a:lnTo>
                  <a:lnTo>
                    <a:pt x="13279" y="7385"/>
                  </a:lnTo>
                  <a:lnTo>
                    <a:pt x="21010" y="9267"/>
                  </a:lnTo>
                  <a:lnTo>
                    <a:pt x="26132" y="9657"/>
                  </a:lnTo>
                  <a:lnTo>
                    <a:pt x="23371" y="13989"/>
                  </a:lnTo>
                  <a:lnTo>
                    <a:pt x="20238" y="21303"/>
                  </a:lnTo>
                  <a:lnTo>
                    <a:pt x="18063" y="29469"/>
                  </a:lnTo>
                  <a:lnTo>
                    <a:pt x="18178" y="36358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4343" y="786686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0" y="291795"/>
                  </a:moveTo>
                  <a:lnTo>
                    <a:pt x="11671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41830" y="770692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0" y="0"/>
                  </a:moveTo>
                  <a:lnTo>
                    <a:pt x="4387" y="5296"/>
                  </a:lnTo>
                  <a:lnTo>
                    <a:pt x="11341" y="10073"/>
                  </a:lnTo>
                  <a:lnTo>
                    <a:pt x="18468" y="13581"/>
                  </a:lnTo>
                  <a:lnTo>
                    <a:pt x="23375" y="15071"/>
                  </a:lnTo>
                  <a:lnTo>
                    <a:pt x="19747" y="18694"/>
                  </a:lnTo>
                  <a:lnTo>
                    <a:pt x="15109" y="25144"/>
                  </a:lnTo>
                  <a:lnTo>
                    <a:pt x="11221" y="32631"/>
                  </a:lnTo>
                  <a:lnTo>
                    <a:pt x="9842" y="39369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6055" y="813173"/>
              <a:ext cx="238449" cy="23844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9012" y="813173"/>
              <a:ext cx="238449" cy="2384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316902" y="791766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1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42262" y="777347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98429" y="791766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94824" y="777347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24056" y="813172"/>
              <a:ext cx="238449" cy="2384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47013" y="813173"/>
              <a:ext cx="238450" cy="23844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000002" y="786686"/>
              <a:ext cx="1167765" cy="292100"/>
            </a:xfrm>
            <a:custGeom>
              <a:avLst/>
              <a:gdLst/>
              <a:ahLst/>
              <a:cxnLst/>
              <a:rect l="l" t="t" r="r" b="b"/>
              <a:pathLst>
                <a:path w="1167764" h="292100">
                  <a:moveTo>
                    <a:pt x="1167172" y="29179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96312" y="770692"/>
              <a:ext cx="23495" cy="39370"/>
            </a:xfrm>
            <a:custGeom>
              <a:avLst/>
              <a:gdLst/>
              <a:ahLst/>
              <a:cxnLst/>
              <a:rect l="l" t="t" r="r" b="b"/>
              <a:pathLst>
                <a:path w="23495" h="39370">
                  <a:moveTo>
                    <a:pt x="13533" y="39369"/>
                  </a:moveTo>
                  <a:lnTo>
                    <a:pt x="12153" y="32631"/>
                  </a:lnTo>
                  <a:lnTo>
                    <a:pt x="8265" y="25144"/>
                  </a:lnTo>
                  <a:lnTo>
                    <a:pt x="3628" y="18694"/>
                  </a:lnTo>
                  <a:lnTo>
                    <a:pt x="0" y="15071"/>
                  </a:lnTo>
                  <a:lnTo>
                    <a:pt x="4906" y="13581"/>
                  </a:lnTo>
                  <a:lnTo>
                    <a:pt x="12033" y="10073"/>
                  </a:lnTo>
                  <a:lnTo>
                    <a:pt x="18987" y="5296"/>
                  </a:lnTo>
                  <a:lnTo>
                    <a:pt x="23375" y="0"/>
                  </a:lnTo>
                </a:path>
              </a:pathLst>
            </a:custGeom>
            <a:ln w="40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42633" y="800812"/>
              <a:ext cx="529590" cy="264795"/>
            </a:xfrm>
            <a:custGeom>
              <a:avLst/>
              <a:gdLst/>
              <a:ahLst/>
              <a:cxnLst/>
              <a:rect l="l" t="t" r="r" b="b"/>
              <a:pathLst>
                <a:path w="529589" h="264794">
                  <a:moveTo>
                    <a:pt x="529252" y="26462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39225" y="789450"/>
              <a:ext cx="26670" cy="36830"/>
            </a:xfrm>
            <a:custGeom>
              <a:avLst/>
              <a:gdLst/>
              <a:ahLst/>
              <a:cxnLst/>
              <a:rect l="l" t="t" r="r" b="b"/>
              <a:pathLst>
                <a:path w="26670" h="36830">
                  <a:moveTo>
                    <a:pt x="7953" y="36358"/>
                  </a:moveTo>
                  <a:lnTo>
                    <a:pt x="8068" y="29469"/>
                  </a:lnTo>
                  <a:lnTo>
                    <a:pt x="5893" y="21303"/>
                  </a:lnTo>
                  <a:lnTo>
                    <a:pt x="2760" y="13989"/>
                  </a:lnTo>
                  <a:lnTo>
                    <a:pt x="0" y="9657"/>
                  </a:lnTo>
                  <a:lnTo>
                    <a:pt x="5121" y="9267"/>
                  </a:lnTo>
                  <a:lnTo>
                    <a:pt x="12852" y="7385"/>
                  </a:lnTo>
                  <a:lnTo>
                    <a:pt x="20690" y="4225"/>
                  </a:lnTo>
                  <a:lnTo>
                    <a:pt x="26132" y="0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28760" y="839030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h="191769">
                  <a:moveTo>
                    <a:pt x="0" y="1915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08516" y="83523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75011" y="489172"/>
              <a:ext cx="238449" cy="2384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992902" y="467765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0" y="282062"/>
                  </a:moveTo>
                  <a:lnTo>
                    <a:pt x="8461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818262" y="453347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0" y="0"/>
                  </a:moveTo>
                  <a:lnTo>
                    <a:pt x="4774" y="4937"/>
                  </a:lnTo>
                  <a:lnTo>
                    <a:pt x="12065" y="9161"/>
                  </a:lnTo>
                  <a:lnTo>
                    <a:pt x="19430" y="12109"/>
                  </a:lnTo>
                  <a:lnTo>
                    <a:pt x="24430" y="13216"/>
                  </a:lnTo>
                  <a:lnTo>
                    <a:pt x="21094" y="17102"/>
                  </a:lnTo>
                  <a:lnTo>
                    <a:pt x="16971" y="23880"/>
                  </a:lnTo>
                  <a:lnTo>
                    <a:pt x="13673" y="31633"/>
                  </a:lnTo>
                  <a:lnTo>
                    <a:pt x="12815" y="38448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0055" y="489171"/>
              <a:ext cx="238449" cy="23845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25543" y="49477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4">
                  <a:moveTo>
                    <a:pt x="0" y="230315"/>
                  </a:moveTo>
                  <a:lnTo>
                    <a:pt x="23031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830809" y="491197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0"/>
                  </a:moveTo>
                  <a:lnTo>
                    <a:pt x="6472" y="2278"/>
                  </a:lnTo>
                  <a:lnTo>
                    <a:pt x="14873" y="2795"/>
                  </a:lnTo>
                  <a:lnTo>
                    <a:pt x="22771" y="2138"/>
                  </a:lnTo>
                  <a:lnTo>
                    <a:pt x="27734" y="894"/>
                  </a:lnTo>
                  <a:lnTo>
                    <a:pt x="26490" y="5857"/>
                  </a:lnTo>
                  <a:lnTo>
                    <a:pt x="25833" y="13755"/>
                  </a:lnTo>
                  <a:lnTo>
                    <a:pt x="26350" y="22156"/>
                  </a:lnTo>
                  <a:lnTo>
                    <a:pt x="28628" y="286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22429" y="467765"/>
              <a:ext cx="846455" cy="282575"/>
            </a:xfrm>
            <a:custGeom>
              <a:avLst/>
              <a:gdLst/>
              <a:ahLst/>
              <a:cxnLst/>
              <a:rect l="l" t="t" r="r" b="b"/>
              <a:pathLst>
                <a:path w="846454" h="282575">
                  <a:moveTo>
                    <a:pt x="846186" y="28206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18825" y="453347"/>
              <a:ext cx="24765" cy="38735"/>
            </a:xfrm>
            <a:custGeom>
              <a:avLst/>
              <a:gdLst/>
              <a:ahLst/>
              <a:cxnLst/>
              <a:rect l="l" t="t" r="r" b="b"/>
              <a:pathLst>
                <a:path w="24764" h="38734">
                  <a:moveTo>
                    <a:pt x="11614" y="38448"/>
                  </a:moveTo>
                  <a:lnTo>
                    <a:pt x="10757" y="31633"/>
                  </a:lnTo>
                  <a:lnTo>
                    <a:pt x="7459" y="23880"/>
                  </a:lnTo>
                  <a:lnTo>
                    <a:pt x="3335" y="17102"/>
                  </a:lnTo>
                  <a:lnTo>
                    <a:pt x="0" y="13216"/>
                  </a:lnTo>
                  <a:lnTo>
                    <a:pt x="4999" y="12109"/>
                  </a:lnTo>
                  <a:lnTo>
                    <a:pt x="12365" y="9161"/>
                  </a:lnTo>
                  <a:lnTo>
                    <a:pt x="19655" y="4937"/>
                  </a:lnTo>
                  <a:lnTo>
                    <a:pt x="24430" y="0"/>
                  </a:lnTo>
                </a:path>
              </a:pathLst>
            </a:custGeom>
            <a:ln w="40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48056" y="489171"/>
              <a:ext cx="238449" cy="23845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9012" y="165171"/>
              <a:ext cx="238449" cy="23844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24056" y="165171"/>
              <a:ext cx="238449" cy="23845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349885" y="1406816"/>
            <a:ext cx="5044617" cy="5400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50" dirty="0">
                <a:latin typeface="Calibri"/>
                <a:cs typeface="Calibri"/>
              </a:rPr>
              <a:t>For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second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training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instance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(or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mini-batch),</a:t>
            </a:r>
            <a:r>
              <a:rPr sz="1050" spc="29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we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again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apply</a:t>
            </a:r>
            <a:r>
              <a:rPr sz="1050" spc="2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dropout</a:t>
            </a:r>
            <a:r>
              <a:rPr sz="1050" spc="285" dirty="0">
                <a:latin typeface="Calibri"/>
                <a:cs typeface="Calibri"/>
              </a:rPr>
              <a:t> </a:t>
            </a:r>
            <a:r>
              <a:rPr sz="1050" spc="-20" dirty="0" smtClean="0">
                <a:latin typeface="Calibri"/>
                <a:cs typeface="Calibri"/>
              </a:rPr>
              <a:t>res</a:t>
            </a:r>
            <a:r>
              <a:rPr sz="1050" dirty="0" smtClean="0">
                <a:latin typeface="Calibri"/>
                <a:cs typeface="Calibri"/>
              </a:rPr>
              <a:t>ulting</a:t>
            </a:r>
            <a:r>
              <a:rPr sz="1050" spc="204" dirty="0" smtClean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in</a:t>
            </a:r>
            <a:r>
              <a:rPr sz="1050" spc="2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204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different</a:t>
            </a:r>
            <a:r>
              <a:rPr sz="1050" spc="2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thinned</a:t>
            </a:r>
            <a:r>
              <a:rPr sz="1050" spc="2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network</a:t>
            </a:r>
            <a:endParaRPr sz="105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050" dirty="0">
                <a:latin typeface="Calibri"/>
                <a:cs typeface="Calibri"/>
              </a:rPr>
              <a:t>We</a:t>
            </a:r>
            <a:r>
              <a:rPr sz="1050" spc="1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again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compute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loss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and</a:t>
            </a:r>
            <a:r>
              <a:rPr sz="1050" spc="1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backpropagate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</a:t>
            </a:r>
            <a:r>
              <a:rPr sz="1050" spc="18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the</a:t>
            </a:r>
            <a:r>
              <a:rPr sz="1050" spc="18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active</a:t>
            </a:r>
            <a:r>
              <a:rPr sz="1050" spc="18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weights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4625"/>
            <a:ext cx="5760085" cy="1158240"/>
            <a:chOff x="0" y="0"/>
            <a:chExt cx="5760085" cy="1158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400" y="58030"/>
              <a:ext cx="1423689" cy="1099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8158" y="58030"/>
              <a:ext cx="1423689" cy="10996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8917" y="58030"/>
              <a:ext cx="1423689" cy="10996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68300" y="1429078"/>
            <a:ext cx="5045887" cy="157709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635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For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second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(or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mini-batch),</a:t>
            </a:r>
            <a:r>
              <a:rPr sz="1000" spc="2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again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apply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dropout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spc="-20" dirty="0" smtClean="0">
                <a:latin typeface="Calibri"/>
                <a:cs typeface="Calibri"/>
              </a:rPr>
              <a:t>res</a:t>
            </a:r>
            <a:r>
              <a:rPr sz="1000" dirty="0" smtClean="0">
                <a:latin typeface="Calibri"/>
                <a:cs typeface="Calibri"/>
              </a:rPr>
              <a:t>ulting</a:t>
            </a:r>
            <a:r>
              <a:rPr sz="1000" spc="204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different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2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network</a:t>
            </a:r>
            <a:endParaRPr sz="10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We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again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compute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loss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backpropagate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active</a:t>
            </a:r>
            <a:r>
              <a:rPr sz="1000" spc="18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weights</a:t>
            </a:r>
            <a:endParaRPr sz="1000" dirty="0">
              <a:latin typeface="Calibri"/>
              <a:cs typeface="Calibri"/>
            </a:endParaRPr>
          </a:p>
          <a:p>
            <a:pPr marL="184150" marR="6350" indent="-171450">
              <a:lnSpc>
                <a:spcPct val="102699"/>
              </a:lnSpc>
              <a:spcBef>
                <a:spcPts val="295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If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weight</a:t>
            </a:r>
            <a:r>
              <a:rPr sz="1000" spc="3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was</a:t>
            </a:r>
            <a:r>
              <a:rPr sz="1000" spc="3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active</a:t>
            </a:r>
            <a:r>
              <a:rPr sz="1000" spc="3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both</a:t>
            </a:r>
            <a:r>
              <a:rPr sz="1000" spc="3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instances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then</a:t>
            </a:r>
            <a:r>
              <a:rPr sz="1000" spc="335" dirty="0">
                <a:latin typeface="Calibri"/>
                <a:cs typeface="Calibri"/>
              </a:rPr>
              <a:t> </a:t>
            </a:r>
            <a:r>
              <a:rPr sz="1000" spc="55" dirty="0">
                <a:latin typeface="Calibri"/>
                <a:cs typeface="Calibri"/>
              </a:rPr>
              <a:t>it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would</a:t>
            </a:r>
            <a:r>
              <a:rPr sz="1000" spc="33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have </a:t>
            </a:r>
            <a:r>
              <a:rPr sz="1000" dirty="0">
                <a:latin typeface="Calibri"/>
                <a:cs typeface="Calibri"/>
              </a:rPr>
              <a:t>received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two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updates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by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now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If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weight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was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active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only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one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training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instances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then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spc="55" dirty="0">
                <a:latin typeface="Calibri"/>
                <a:cs typeface="Calibri"/>
              </a:rPr>
              <a:t>it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would </a:t>
            </a:r>
            <a:r>
              <a:rPr sz="1000" dirty="0">
                <a:latin typeface="Calibri"/>
                <a:cs typeface="Calibri"/>
              </a:rPr>
              <a:t>have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received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only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updates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by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now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Each</a:t>
            </a:r>
            <a:r>
              <a:rPr sz="1000" spc="2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network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gets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trained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rarely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(or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even</a:t>
            </a:r>
            <a:r>
              <a:rPr sz="1000" spc="2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never)</a:t>
            </a:r>
            <a:r>
              <a:rPr sz="1000" spc="2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but</a:t>
            </a:r>
            <a:r>
              <a:rPr sz="1000" spc="29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9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parameter </a:t>
            </a:r>
            <a:r>
              <a:rPr sz="1000" dirty="0">
                <a:latin typeface="Calibri"/>
                <a:cs typeface="Calibri"/>
              </a:rPr>
              <a:t>sharing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ensures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that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has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untrained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poorly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trained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parameters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158" y="691505"/>
            <a:ext cx="1423689" cy="1099687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467640" y="1932719"/>
            <a:ext cx="4884164" cy="74828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1000" spc="60" dirty="0">
                <a:latin typeface="Calibri"/>
                <a:cs typeface="Calibri"/>
              </a:rPr>
              <a:t>What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happens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test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time?</a:t>
            </a:r>
            <a:endParaRPr sz="1000" dirty="0">
              <a:latin typeface="Calibri"/>
              <a:cs typeface="Calibri"/>
            </a:endParaRPr>
          </a:p>
          <a:p>
            <a:pPr marL="209550" indent="-171450">
              <a:lnSpc>
                <a:spcPct val="100000"/>
              </a:lnSpc>
              <a:spcBef>
                <a:spcPts val="334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Impossible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aggregate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outputs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2</a:t>
            </a:r>
            <a:r>
              <a:rPr sz="1000" i="1" baseline="27777" dirty="0">
                <a:latin typeface="Calibri"/>
                <a:cs typeface="Calibri"/>
              </a:rPr>
              <a:t>n</a:t>
            </a:r>
            <a:r>
              <a:rPr sz="1000" i="1" spc="480" baseline="27777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thinned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spc="-10" dirty="0" smtClean="0">
                <a:latin typeface="Calibri"/>
                <a:cs typeface="Calibri"/>
              </a:rPr>
              <a:t>networks</a:t>
            </a:r>
            <a:endParaRPr lang="en-IN" sz="1000" spc="-10" dirty="0" smtClean="0">
              <a:latin typeface="Calibri"/>
              <a:cs typeface="Calibri"/>
            </a:endParaRPr>
          </a:p>
          <a:p>
            <a:pPr marL="209550" lvl="0" indent="-171450">
              <a:spcBef>
                <a:spcPts val="334"/>
              </a:spcBef>
              <a:buFont typeface="Arial" panose="020B0604020202020204" pitchFamily="34" charset="0"/>
              <a:buChar char="•"/>
            </a:pP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Instead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Neural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Network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scale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output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node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-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fraction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US" sz="1000" b="0" i="0" u="none" strike="noStrike" kern="0" cap="none" spc="17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5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US" sz="1000" b="0" i="0" u="none" strike="noStrike" kern="0" cap="none" spc="17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during</a:t>
            </a:r>
            <a:r>
              <a:rPr kumimoji="0" lang="en-US" sz="1000" b="0" i="0" u="none" strike="noStrike" kern="0" cap="none" spc="16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1000" b="0" i="0" u="none" strike="noStrike" kern="0" cap="none" spc="-1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lang="en-US" sz="10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2" name="object 7"/>
          <p:cNvSpPr txBox="1"/>
          <p:nvPr/>
        </p:nvSpPr>
        <p:spPr>
          <a:xfrm>
            <a:off x="2044700" y="327025"/>
            <a:ext cx="717550" cy="309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dirty="0">
                <a:latin typeface="Calibri"/>
                <a:cs typeface="Calibri"/>
              </a:rPr>
              <a:t>Present</a:t>
            </a:r>
            <a:r>
              <a:rPr sz="950" spc="350" dirty="0">
                <a:latin typeface="Calibri"/>
                <a:cs typeface="Calibri"/>
              </a:rPr>
              <a:t> </a:t>
            </a:r>
            <a:r>
              <a:rPr sz="950" spc="30" dirty="0" smtClean="0">
                <a:latin typeface="Calibri"/>
                <a:cs typeface="Calibri"/>
              </a:rPr>
              <a:t>with</a:t>
            </a:r>
            <a:r>
              <a:rPr lang="en-IN" sz="950" spc="30" dirty="0" smtClean="0">
                <a:latin typeface="Calibri"/>
                <a:cs typeface="Calibri"/>
              </a:rPr>
              <a:t> </a:t>
            </a:r>
            <a:r>
              <a:rPr lang="en-IN" sz="950" spc="20" dirty="0" smtClean="0">
                <a:latin typeface="Calibri"/>
                <a:cs typeface="Calibri"/>
              </a:rPr>
              <a:t>probability</a:t>
            </a:r>
            <a:r>
              <a:rPr lang="en-IN" sz="950" spc="390" dirty="0" smtClean="0">
                <a:latin typeface="Calibri"/>
                <a:cs typeface="Calibri"/>
              </a:rPr>
              <a:t> </a:t>
            </a:r>
            <a:r>
              <a:rPr lang="en-IN" sz="950" i="1" spc="-50" dirty="0" smtClean="0">
                <a:latin typeface="Calibri"/>
                <a:cs typeface="Calibri"/>
              </a:rPr>
              <a:t>p</a:t>
            </a:r>
            <a:endParaRPr lang="en-IN" sz="950" dirty="0" smtClean="0">
              <a:latin typeface="Calibri"/>
              <a:cs typeface="Calibri"/>
            </a:endParaRPr>
          </a:p>
        </p:txBody>
      </p:sp>
      <p:grpSp>
        <p:nvGrpSpPr>
          <p:cNvPr id="43" name="object 21"/>
          <p:cNvGrpSpPr/>
          <p:nvPr/>
        </p:nvGrpSpPr>
        <p:grpSpPr>
          <a:xfrm>
            <a:off x="2197439" y="959865"/>
            <a:ext cx="334645" cy="334645"/>
            <a:chOff x="4507584" y="987349"/>
            <a:chExt cx="334645" cy="334645"/>
          </a:xfrm>
        </p:grpSpPr>
        <p:sp>
          <p:nvSpPr>
            <p:cNvPr id="44" name="object 22"/>
            <p:cNvSpPr/>
            <p:nvPr/>
          </p:nvSpPr>
          <p:spPr>
            <a:xfrm>
              <a:off x="4512664" y="99242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4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5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5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23"/>
            <p:cNvSpPr/>
            <p:nvPr/>
          </p:nvSpPr>
          <p:spPr>
            <a:xfrm>
              <a:off x="4512664" y="99242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4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5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5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25"/>
          <p:cNvGrpSpPr/>
          <p:nvPr/>
        </p:nvGrpSpPr>
        <p:grpSpPr>
          <a:xfrm rot="5400000">
            <a:off x="2198075" y="799527"/>
            <a:ext cx="988060" cy="655320"/>
            <a:chOff x="4180754" y="505613"/>
            <a:chExt cx="988060" cy="655320"/>
          </a:xfrm>
        </p:grpSpPr>
        <p:sp>
          <p:nvSpPr>
            <p:cNvPr id="47" name="object 26"/>
            <p:cNvSpPr/>
            <p:nvPr/>
          </p:nvSpPr>
          <p:spPr>
            <a:xfrm>
              <a:off x="4188662" y="1154429"/>
              <a:ext cx="389255" cy="0"/>
            </a:xfrm>
            <a:custGeom>
              <a:avLst/>
              <a:gdLst/>
              <a:ahLst/>
              <a:cxnLst/>
              <a:rect l="l" t="t" r="r" b="b"/>
              <a:pathLst>
                <a:path w="389254">
                  <a:moveTo>
                    <a:pt x="0" y="0"/>
                  </a:moveTo>
                  <a:lnTo>
                    <a:pt x="388801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7"/>
            <p:cNvSpPr/>
            <p:nvPr/>
          </p:nvSpPr>
          <p:spPr>
            <a:xfrm>
              <a:off x="4194077" y="513647"/>
              <a:ext cx="381000" cy="508000"/>
            </a:xfrm>
            <a:custGeom>
              <a:avLst/>
              <a:gdLst/>
              <a:ahLst/>
              <a:cxnLst/>
              <a:rect l="l" t="t" r="r" b="b"/>
              <a:pathLst>
                <a:path w="381000" h="508000">
                  <a:moveTo>
                    <a:pt x="380650" y="50753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8"/>
            <p:cNvSpPr/>
            <p:nvPr/>
          </p:nvSpPr>
          <p:spPr>
            <a:xfrm>
              <a:off x="4184822" y="509681"/>
              <a:ext cx="42545" cy="36195"/>
            </a:xfrm>
            <a:custGeom>
              <a:avLst/>
              <a:gdLst/>
              <a:ahLst/>
              <a:cxnLst/>
              <a:rect l="l" t="t" r="r" b="b"/>
              <a:pathLst>
                <a:path w="42545" h="36195">
                  <a:moveTo>
                    <a:pt x="0" y="35696"/>
                  </a:moveTo>
                  <a:lnTo>
                    <a:pt x="4142" y="27748"/>
                  </a:lnTo>
                  <a:lnTo>
                    <a:pt x="6363" y="16980"/>
                  </a:lnTo>
                  <a:lnTo>
                    <a:pt x="6972" y="6646"/>
                  </a:lnTo>
                  <a:lnTo>
                    <a:pt x="6281" y="0"/>
                  </a:lnTo>
                  <a:lnTo>
                    <a:pt x="12468" y="2525"/>
                  </a:lnTo>
                  <a:lnTo>
                    <a:pt x="22559" y="4834"/>
                  </a:lnTo>
                  <a:lnTo>
                    <a:pt x="33518" y="5717"/>
                  </a:lnTo>
                  <a:lnTo>
                    <a:pt x="42308" y="3967"/>
                  </a:lnTo>
                </a:path>
              </a:pathLst>
            </a:custGeom>
            <a:ln w="81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9"/>
            <p:cNvSpPr/>
            <p:nvPr/>
          </p:nvSpPr>
          <p:spPr>
            <a:xfrm>
              <a:off x="4514848" y="515161"/>
              <a:ext cx="120014" cy="478155"/>
            </a:xfrm>
            <a:custGeom>
              <a:avLst/>
              <a:gdLst/>
              <a:ahLst/>
              <a:cxnLst/>
              <a:rect l="l" t="t" r="r" b="b"/>
              <a:pathLst>
                <a:path w="120014" h="478155">
                  <a:moveTo>
                    <a:pt x="119423" y="47768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0"/>
            <p:cNvSpPr/>
            <p:nvPr/>
          </p:nvSpPr>
          <p:spPr>
            <a:xfrm>
              <a:off x="4494056" y="510363"/>
              <a:ext cx="51435" cy="30480"/>
            </a:xfrm>
            <a:custGeom>
              <a:avLst/>
              <a:gdLst/>
              <a:ahLst/>
              <a:cxnLst/>
              <a:rect l="l" t="t" r="r" b="b"/>
              <a:pathLst>
                <a:path w="51435" h="30479">
                  <a:moveTo>
                    <a:pt x="0" y="30387"/>
                  </a:moveTo>
                  <a:lnTo>
                    <a:pt x="6884" y="24683"/>
                  </a:lnTo>
                  <a:lnTo>
                    <a:pt x="13095" y="15643"/>
                  </a:lnTo>
                  <a:lnTo>
                    <a:pt x="17655" y="6378"/>
                  </a:lnTo>
                  <a:lnTo>
                    <a:pt x="19592" y="0"/>
                  </a:lnTo>
                  <a:lnTo>
                    <a:pt x="24303" y="4716"/>
                  </a:lnTo>
                  <a:lnTo>
                    <a:pt x="32687" y="10745"/>
                  </a:lnTo>
                  <a:lnTo>
                    <a:pt x="42421" y="15800"/>
                  </a:lnTo>
                  <a:lnTo>
                    <a:pt x="51180" y="17593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1"/>
            <p:cNvSpPr/>
            <p:nvPr/>
          </p:nvSpPr>
          <p:spPr>
            <a:xfrm>
              <a:off x="4715053" y="515141"/>
              <a:ext cx="120014" cy="478155"/>
            </a:xfrm>
            <a:custGeom>
              <a:avLst/>
              <a:gdLst/>
              <a:ahLst/>
              <a:cxnLst/>
              <a:rect l="l" t="t" r="r" b="b"/>
              <a:pathLst>
                <a:path w="120014" h="478155">
                  <a:moveTo>
                    <a:pt x="0" y="477707"/>
                  </a:moveTo>
                  <a:lnTo>
                    <a:pt x="11943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32"/>
            <p:cNvSpPr/>
            <p:nvPr/>
          </p:nvSpPr>
          <p:spPr>
            <a:xfrm>
              <a:off x="4804169" y="510354"/>
              <a:ext cx="51435" cy="30480"/>
            </a:xfrm>
            <a:custGeom>
              <a:avLst/>
              <a:gdLst/>
              <a:ahLst/>
              <a:cxnLst/>
              <a:rect l="l" t="t" r="r" b="b"/>
              <a:pathLst>
                <a:path w="51435" h="30479">
                  <a:moveTo>
                    <a:pt x="0" y="17552"/>
                  </a:moveTo>
                  <a:lnTo>
                    <a:pt x="8738" y="15763"/>
                  </a:lnTo>
                  <a:lnTo>
                    <a:pt x="18450" y="10720"/>
                  </a:lnTo>
                  <a:lnTo>
                    <a:pt x="26815" y="4705"/>
                  </a:lnTo>
                  <a:lnTo>
                    <a:pt x="31515" y="0"/>
                  </a:lnTo>
                  <a:lnTo>
                    <a:pt x="33447" y="6363"/>
                  </a:lnTo>
                  <a:lnTo>
                    <a:pt x="37997" y="15607"/>
                  </a:lnTo>
                  <a:lnTo>
                    <a:pt x="44193" y="24627"/>
                  </a:lnTo>
                  <a:lnTo>
                    <a:pt x="51062" y="30318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33"/>
            <p:cNvSpPr/>
            <p:nvPr/>
          </p:nvSpPr>
          <p:spPr>
            <a:xfrm>
              <a:off x="4774596" y="513613"/>
              <a:ext cx="381000" cy="508000"/>
            </a:xfrm>
            <a:custGeom>
              <a:avLst/>
              <a:gdLst/>
              <a:ahLst/>
              <a:cxnLst/>
              <a:rect l="l" t="t" r="r" b="b"/>
              <a:pathLst>
                <a:path w="381000" h="508000">
                  <a:moveTo>
                    <a:pt x="0" y="507572"/>
                  </a:moveTo>
                  <a:lnTo>
                    <a:pt x="380681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34"/>
            <p:cNvSpPr/>
            <p:nvPr/>
          </p:nvSpPr>
          <p:spPr>
            <a:xfrm>
              <a:off x="5122382" y="509665"/>
              <a:ext cx="42545" cy="35560"/>
            </a:xfrm>
            <a:custGeom>
              <a:avLst/>
              <a:gdLst/>
              <a:ahLst/>
              <a:cxnLst/>
              <a:rect l="l" t="t" r="r" b="b"/>
              <a:pathLst>
                <a:path w="42545" h="35559">
                  <a:moveTo>
                    <a:pt x="0" y="3947"/>
                  </a:moveTo>
                  <a:lnTo>
                    <a:pt x="8748" y="5690"/>
                  </a:lnTo>
                  <a:lnTo>
                    <a:pt x="19655" y="4811"/>
                  </a:lnTo>
                  <a:lnTo>
                    <a:pt x="29698" y="2513"/>
                  </a:lnTo>
                  <a:lnTo>
                    <a:pt x="35856" y="0"/>
                  </a:lnTo>
                  <a:lnTo>
                    <a:pt x="35167" y="6615"/>
                  </a:lnTo>
                  <a:lnTo>
                    <a:pt x="35774" y="16900"/>
                  </a:lnTo>
                  <a:lnTo>
                    <a:pt x="37984" y="27616"/>
                  </a:lnTo>
                  <a:lnTo>
                    <a:pt x="42107" y="35527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36"/>
          <p:cNvSpPr txBox="1"/>
          <p:nvPr/>
        </p:nvSpPr>
        <p:spPr>
          <a:xfrm>
            <a:off x="2230112" y="1682068"/>
            <a:ext cx="91440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950" spc="105" dirty="0" smtClean="0">
                <a:latin typeface="Calibri"/>
                <a:cs typeface="Calibri"/>
              </a:rPr>
              <a:t>At</a:t>
            </a:r>
            <a:r>
              <a:rPr lang="en-IN" sz="950" spc="225" dirty="0" smtClean="0">
                <a:latin typeface="Calibri"/>
                <a:cs typeface="Calibri"/>
              </a:rPr>
              <a:t> </a:t>
            </a:r>
            <a:r>
              <a:rPr lang="en-IN" sz="950" spc="20" dirty="0" smtClean="0">
                <a:latin typeface="Calibri"/>
                <a:cs typeface="Calibri"/>
              </a:rPr>
              <a:t>training</a:t>
            </a:r>
            <a:r>
              <a:rPr lang="en-IN" sz="950" spc="229" dirty="0" smtClean="0">
                <a:latin typeface="Calibri"/>
                <a:cs typeface="Calibri"/>
              </a:rPr>
              <a:t> </a:t>
            </a:r>
            <a:r>
              <a:rPr lang="en-IN" sz="950" spc="-20" dirty="0" smtClean="0">
                <a:latin typeface="Calibri"/>
                <a:cs typeface="Calibri"/>
              </a:rPr>
              <a:t>time</a:t>
            </a:r>
            <a:endParaRPr lang="en-IN" sz="950" dirty="0">
              <a:latin typeface="Calibri"/>
              <a:cs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955197" y="490063"/>
            <a:ext cx="3161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</a:t>
            </a:r>
            <a:r>
              <a:rPr kumimoji="0" lang="en-IN" sz="1050" b="0" i="0" u="none" strike="noStrike" kern="0" cap="none" spc="0" normalizeH="0" baseline="-11904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lang="en-IN" dirty="0"/>
          </a:p>
        </p:txBody>
      </p:sp>
      <p:sp>
        <p:nvSpPr>
          <p:cNvPr id="59" name="Rectangle 58"/>
          <p:cNvSpPr/>
          <p:nvPr/>
        </p:nvSpPr>
        <p:spPr>
          <a:xfrm>
            <a:off x="2955197" y="837987"/>
            <a:ext cx="3161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</a:t>
            </a:r>
            <a:r>
              <a:rPr kumimoji="0" lang="en-IN" sz="1050" b="0" i="0" u="none" strike="noStrike" kern="0" cap="none" spc="0" normalizeH="0" baseline="-7936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lang="en-IN" dirty="0"/>
          </a:p>
        </p:txBody>
      </p:sp>
      <p:sp>
        <p:nvSpPr>
          <p:cNvPr id="60" name="Rectangle 59"/>
          <p:cNvSpPr/>
          <p:nvPr/>
        </p:nvSpPr>
        <p:spPr>
          <a:xfrm>
            <a:off x="2958164" y="1136617"/>
            <a:ext cx="31611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</a:t>
            </a:r>
            <a:r>
              <a:rPr kumimoji="0" lang="en-IN" sz="1050" b="0" i="0" u="none" strike="noStrike" kern="0" cap="none" spc="0" normalizeH="0" baseline="-7936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endParaRPr lang="en-IN" dirty="0"/>
          </a:p>
        </p:txBody>
      </p:sp>
      <p:sp>
        <p:nvSpPr>
          <p:cNvPr id="61" name="Rectangle 60"/>
          <p:cNvSpPr/>
          <p:nvPr/>
        </p:nvSpPr>
        <p:spPr>
          <a:xfrm>
            <a:off x="2913456" y="1464688"/>
            <a:ext cx="361061" cy="2385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8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50" b="0" i="1" u="none" strike="noStrike" kern="0" cap="none" spc="-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</a:t>
            </a:r>
            <a:r>
              <a:rPr kumimoji="0" lang="en-IN" sz="1050" b="0" i="0" u="none" strike="noStrike" kern="0" cap="none" spc="-37" normalizeH="0" baseline="-11904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endParaRPr kumimoji="0" lang="en-IN" sz="1050" b="0" i="0" u="none" strike="noStrike" kern="0" cap="none" spc="0" normalizeH="0" baseline="-11904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2" name="object 21"/>
          <p:cNvGrpSpPr/>
          <p:nvPr/>
        </p:nvGrpSpPr>
        <p:grpSpPr>
          <a:xfrm>
            <a:off x="4192562" y="1000069"/>
            <a:ext cx="334645" cy="334645"/>
            <a:chOff x="4507584" y="987349"/>
            <a:chExt cx="334645" cy="334645"/>
          </a:xfrm>
        </p:grpSpPr>
        <p:sp>
          <p:nvSpPr>
            <p:cNvPr id="63" name="object 22"/>
            <p:cNvSpPr/>
            <p:nvPr/>
          </p:nvSpPr>
          <p:spPr>
            <a:xfrm>
              <a:off x="4512664" y="99242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4">
                  <a:moveTo>
                    <a:pt x="162000" y="0"/>
                  </a:move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5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5"/>
                  </a:lnTo>
                  <a:lnTo>
                    <a:pt x="318214" y="205067"/>
                  </a:lnTo>
                  <a:lnTo>
                    <a:pt x="324001" y="162000"/>
                  </a:ln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23"/>
            <p:cNvSpPr/>
            <p:nvPr/>
          </p:nvSpPr>
          <p:spPr>
            <a:xfrm>
              <a:off x="4512664" y="992429"/>
              <a:ext cx="324485" cy="324485"/>
            </a:xfrm>
            <a:custGeom>
              <a:avLst/>
              <a:gdLst/>
              <a:ahLst/>
              <a:cxnLst/>
              <a:rect l="l" t="t" r="r" b="b"/>
              <a:pathLst>
                <a:path w="324485" h="324484">
                  <a:moveTo>
                    <a:pt x="324001" y="162000"/>
                  </a:moveTo>
                  <a:lnTo>
                    <a:pt x="318214" y="118934"/>
                  </a:lnTo>
                  <a:lnTo>
                    <a:pt x="301883" y="80235"/>
                  </a:lnTo>
                  <a:lnTo>
                    <a:pt x="276553" y="47448"/>
                  </a:lnTo>
                  <a:lnTo>
                    <a:pt x="243766" y="22117"/>
                  </a:lnTo>
                  <a:lnTo>
                    <a:pt x="205067" y="5786"/>
                  </a:lnTo>
                  <a:lnTo>
                    <a:pt x="162000" y="0"/>
                  </a:lnTo>
                  <a:lnTo>
                    <a:pt x="118934" y="5786"/>
                  </a:lnTo>
                  <a:lnTo>
                    <a:pt x="80235" y="22117"/>
                  </a:lnTo>
                  <a:lnTo>
                    <a:pt x="47448" y="47448"/>
                  </a:lnTo>
                  <a:lnTo>
                    <a:pt x="22117" y="80235"/>
                  </a:lnTo>
                  <a:lnTo>
                    <a:pt x="5786" y="118934"/>
                  </a:lnTo>
                  <a:lnTo>
                    <a:pt x="0" y="162000"/>
                  </a:lnTo>
                  <a:lnTo>
                    <a:pt x="5786" y="205067"/>
                  </a:lnTo>
                  <a:lnTo>
                    <a:pt x="22117" y="243765"/>
                  </a:lnTo>
                  <a:lnTo>
                    <a:pt x="47448" y="276552"/>
                  </a:lnTo>
                  <a:lnTo>
                    <a:pt x="80235" y="301883"/>
                  </a:lnTo>
                  <a:lnTo>
                    <a:pt x="118934" y="318214"/>
                  </a:lnTo>
                  <a:lnTo>
                    <a:pt x="162000" y="324001"/>
                  </a:lnTo>
                  <a:lnTo>
                    <a:pt x="205067" y="318214"/>
                  </a:lnTo>
                  <a:lnTo>
                    <a:pt x="243766" y="301883"/>
                  </a:lnTo>
                  <a:lnTo>
                    <a:pt x="276553" y="276552"/>
                  </a:lnTo>
                  <a:lnTo>
                    <a:pt x="301883" y="243765"/>
                  </a:lnTo>
                  <a:lnTo>
                    <a:pt x="318214" y="205067"/>
                  </a:lnTo>
                  <a:lnTo>
                    <a:pt x="324001" y="16200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24"/>
          <p:cNvSpPr txBox="1"/>
          <p:nvPr/>
        </p:nvSpPr>
        <p:spPr>
          <a:xfrm>
            <a:off x="4197642" y="327025"/>
            <a:ext cx="417830" cy="3302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50"/>
              </a:spcBef>
            </a:pPr>
            <a:r>
              <a:rPr sz="950" spc="45" dirty="0">
                <a:latin typeface="Calibri"/>
                <a:cs typeface="Calibri"/>
              </a:rPr>
              <a:t>Always </a:t>
            </a:r>
            <a:r>
              <a:rPr sz="950" spc="-10" dirty="0">
                <a:latin typeface="Calibri"/>
                <a:cs typeface="Calibri"/>
              </a:rPr>
              <a:t>present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66" name="object 25"/>
          <p:cNvGrpSpPr/>
          <p:nvPr/>
        </p:nvGrpSpPr>
        <p:grpSpPr>
          <a:xfrm rot="5400000">
            <a:off x="4193198" y="839731"/>
            <a:ext cx="988060" cy="655320"/>
            <a:chOff x="4180754" y="505613"/>
            <a:chExt cx="988060" cy="655320"/>
          </a:xfrm>
        </p:grpSpPr>
        <p:sp>
          <p:nvSpPr>
            <p:cNvPr id="67" name="object 26"/>
            <p:cNvSpPr/>
            <p:nvPr/>
          </p:nvSpPr>
          <p:spPr>
            <a:xfrm>
              <a:off x="4188662" y="1154429"/>
              <a:ext cx="389255" cy="0"/>
            </a:xfrm>
            <a:custGeom>
              <a:avLst/>
              <a:gdLst/>
              <a:ahLst/>
              <a:cxnLst/>
              <a:rect l="l" t="t" r="r" b="b"/>
              <a:pathLst>
                <a:path w="389254">
                  <a:moveTo>
                    <a:pt x="0" y="0"/>
                  </a:moveTo>
                  <a:lnTo>
                    <a:pt x="388801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7"/>
            <p:cNvSpPr/>
            <p:nvPr/>
          </p:nvSpPr>
          <p:spPr>
            <a:xfrm>
              <a:off x="4194077" y="513647"/>
              <a:ext cx="381000" cy="508000"/>
            </a:xfrm>
            <a:custGeom>
              <a:avLst/>
              <a:gdLst/>
              <a:ahLst/>
              <a:cxnLst/>
              <a:rect l="l" t="t" r="r" b="b"/>
              <a:pathLst>
                <a:path w="381000" h="508000">
                  <a:moveTo>
                    <a:pt x="380650" y="50753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28"/>
            <p:cNvSpPr/>
            <p:nvPr/>
          </p:nvSpPr>
          <p:spPr>
            <a:xfrm>
              <a:off x="4184822" y="509681"/>
              <a:ext cx="42545" cy="36195"/>
            </a:xfrm>
            <a:custGeom>
              <a:avLst/>
              <a:gdLst/>
              <a:ahLst/>
              <a:cxnLst/>
              <a:rect l="l" t="t" r="r" b="b"/>
              <a:pathLst>
                <a:path w="42545" h="36195">
                  <a:moveTo>
                    <a:pt x="0" y="35696"/>
                  </a:moveTo>
                  <a:lnTo>
                    <a:pt x="4142" y="27748"/>
                  </a:lnTo>
                  <a:lnTo>
                    <a:pt x="6363" y="16980"/>
                  </a:lnTo>
                  <a:lnTo>
                    <a:pt x="6972" y="6646"/>
                  </a:lnTo>
                  <a:lnTo>
                    <a:pt x="6281" y="0"/>
                  </a:lnTo>
                  <a:lnTo>
                    <a:pt x="12468" y="2525"/>
                  </a:lnTo>
                  <a:lnTo>
                    <a:pt x="22559" y="4834"/>
                  </a:lnTo>
                  <a:lnTo>
                    <a:pt x="33518" y="5717"/>
                  </a:lnTo>
                  <a:lnTo>
                    <a:pt x="42308" y="3967"/>
                  </a:lnTo>
                </a:path>
              </a:pathLst>
            </a:custGeom>
            <a:ln w="81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29"/>
            <p:cNvSpPr/>
            <p:nvPr/>
          </p:nvSpPr>
          <p:spPr>
            <a:xfrm>
              <a:off x="4514848" y="515161"/>
              <a:ext cx="120014" cy="478155"/>
            </a:xfrm>
            <a:custGeom>
              <a:avLst/>
              <a:gdLst/>
              <a:ahLst/>
              <a:cxnLst/>
              <a:rect l="l" t="t" r="r" b="b"/>
              <a:pathLst>
                <a:path w="120014" h="478155">
                  <a:moveTo>
                    <a:pt x="119423" y="47768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30"/>
            <p:cNvSpPr/>
            <p:nvPr/>
          </p:nvSpPr>
          <p:spPr>
            <a:xfrm>
              <a:off x="4494056" y="510363"/>
              <a:ext cx="51435" cy="30480"/>
            </a:xfrm>
            <a:custGeom>
              <a:avLst/>
              <a:gdLst/>
              <a:ahLst/>
              <a:cxnLst/>
              <a:rect l="l" t="t" r="r" b="b"/>
              <a:pathLst>
                <a:path w="51435" h="30479">
                  <a:moveTo>
                    <a:pt x="0" y="30387"/>
                  </a:moveTo>
                  <a:lnTo>
                    <a:pt x="6884" y="24683"/>
                  </a:lnTo>
                  <a:lnTo>
                    <a:pt x="13095" y="15643"/>
                  </a:lnTo>
                  <a:lnTo>
                    <a:pt x="17655" y="6378"/>
                  </a:lnTo>
                  <a:lnTo>
                    <a:pt x="19592" y="0"/>
                  </a:lnTo>
                  <a:lnTo>
                    <a:pt x="24303" y="4716"/>
                  </a:lnTo>
                  <a:lnTo>
                    <a:pt x="32687" y="10745"/>
                  </a:lnTo>
                  <a:lnTo>
                    <a:pt x="42421" y="15800"/>
                  </a:lnTo>
                  <a:lnTo>
                    <a:pt x="51180" y="17593"/>
                  </a:lnTo>
                </a:path>
              </a:pathLst>
            </a:custGeom>
            <a:ln w="81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31"/>
            <p:cNvSpPr/>
            <p:nvPr/>
          </p:nvSpPr>
          <p:spPr>
            <a:xfrm>
              <a:off x="4715053" y="515141"/>
              <a:ext cx="120014" cy="478155"/>
            </a:xfrm>
            <a:custGeom>
              <a:avLst/>
              <a:gdLst/>
              <a:ahLst/>
              <a:cxnLst/>
              <a:rect l="l" t="t" r="r" b="b"/>
              <a:pathLst>
                <a:path w="120014" h="478155">
                  <a:moveTo>
                    <a:pt x="0" y="477707"/>
                  </a:moveTo>
                  <a:lnTo>
                    <a:pt x="11943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32"/>
            <p:cNvSpPr/>
            <p:nvPr/>
          </p:nvSpPr>
          <p:spPr>
            <a:xfrm>
              <a:off x="4804169" y="510354"/>
              <a:ext cx="51435" cy="30480"/>
            </a:xfrm>
            <a:custGeom>
              <a:avLst/>
              <a:gdLst/>
              <a:ahLst/>
              <a:cxnLst/>
              <a:rect l="l" t="t" r="r" b="b"/>
              <a:pathLst>
                <a:path w="51435" h="30479">
                  <a:moveTo>
                    <a:pt x="0" y="17552"/>
                  </a:moveTo>
                  <a:lnTo>
                    <a:pt x="8738" y="15763"/>
                  </a:lnTo>
                  <a:lnTo>
                    <a:pt x="18450" y="10720"/>
                  </a:lnTo>
                  <a:lnTo>
                    <a:pt x="26815" y="4705"/>
                  </a:lnTo>
                  <a:lnTo>
                    <a:pt x="31515" y="0"/>
                  </a:lnTo>
                  <a:lnTo>
                    <a:pt x="33447" y="6363"/>
                  </a:lnTo>
                  <a:lnTo>
                    <a:pt x="37997" y="15607"/>
                  </a:lnTo>
                  <a:lnTo>
                    <a:pt x="44193" y="24627"/>
                  </a:lnTo>
                  <a:lnTo>
                    <a:pt x="51062" y="30318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33"/>
            <p:cNvSpPr/>
            <p:nvPr/>
          </p:nvSpPr>
          <p:spPr>
            <a:xfrm>
              <a:off x="4774596" y="513613"/>
              <a:ext cx="381000" cy="508000"/>
            </a:xfrm>
            <a:custGeom>
              <a:avLst/>
              <a:gdLst/>
              <a:ahLst/>
              <a:cxnLst/>
              <a:rect l="l" t="t" r="r" b="b"/>
              <a:pathLst>
                <a:path w="381000" h="508000">
                  <a:moveTo>
                    <a:pt x="0" y="507572"/>
                  </a:moveTo>
                  <a:lnTo>
                    <a:pt x="380681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4"/>
            <p:cNvSpPr/>
            <p:nvPr/>
          </p:nvSpPr>
          <p:spPr>
            <a:xfrm>
              <a:off x="5122382" y="509665"/>
              <a:ext cx="42545" cy="35560"/>
            </a:xfrm>
            <a:custGeom>
              <a:avLst/>
              <a:gdLst/>
              <a:ahLst/>
              <a:cxnLst/>
              <a:rect l="l" t="t" r="r" b="b"/>
              <a:pathLst>
                <a:path w="42545" h="35559">
                  <a:moveTo>
                    <a:pt x="0" y="3947"/>
                  </a:moveTo>
                  <a:lnTo>
                    <a:pt x="8748" y="5690"/>
                  </a:lnTo>
                  <a:lnTo>
                    <a:pt x="19655" y="4811"/>
                  </a:lnTo>
                  <a:lnTo>
                    <a:pt x="29698" y="2513"/>
                  </a:lnTo>
                  <a:lnTo>
                    <a:pt x="35856" y="0"/>
                  </a:lnTo>
                  <a:lnTo>
                    <a:pt x="35167" y="6615"/>
                  </a:lnTo>
                  <a:lnTo>
                    <a:pt x="35774" y="16900"/>
                  </a:lnTo>
                  <a:lnTo>
                    <a:pt x="37984" y="27616"/>
                  </a:lnTo>
                  <a:lnTo>
                    <a:pt x="42107" y="35527"/>
                  </a:lnTo>
                </a:path>
              </a:pathLst>
            </a:custGeom>
            <a:ln w="8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36"/>
          <p:cNvSpPr txBox="1"/>
          <p:nvPr/>
        </p:nvSpPr>
        <p:spPr>
          <a:xfrm>
            <a:off x="4181130" y="1707746"/>
            <a:ext cx="69151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105" dirty="0">
                <a:latin typeface="Calibri"/>
                <a:cs typeface="Calibri"/>
              </a:rPr>
              <a:t>At</a:t>
            </a:r>
            <a:r>
              <a:rPr sz="950" spc="155" dirty="0">
                <a:latin typeface="Calibri"/>
                <a:cs typeface="Calibri"/>
              </a:rPr>
              <a:t> </a:t>
            </a:r>
            <a:r>
              <a:rPr sz="950" dirty="0">
                <a:latin typeface="Calibri"/>
                <a:cs typeface="Calibri"/>
              </a:rPr>
              <a:t>test</a:t>
            </a:r>
            <a:r>
              <a:rPr sz="950" spc="155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time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950320" y="530267"/>
            <a:ext cx="3786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pw</a:t>
            </a:r>
            <a:r>
              <a:rPr kumimoji="0" lang="en-IN" sz="1050" b="0" i="0" u="none" strike="noStrike" kern="0" cap="none" spc="0" normalizeH="0" baseline="-11904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lang="en-IN" dirty="0"/>
          </a:p>
        </p:txBody>
      </p:sp>
      <p:sp>
        <p:nvSpPr>
          <p:cNvPr id="78" name="Rectangle 77"/>
          <p:cNvSpPr/>
          <p:nvPr/>
        </p:nvSpPr>
        <p:spPr>
          <a:xfrm>
            <a:off x="4950320" y="878191"/>
            <a:ext cx="3786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pw</a:t>
            </a:r>
            <a:r>
              <a:rPr kumimoji="0" lang="en-IN" sz="1050" b="0" i="0" u="none" strike="noStrike" kern="0" cap="none" spc="0" normalizeH="0" baseline="-7936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lang="en-IN" dirty="0"/>
          </a:p>
        </p:txBody>
      </p:sp>
      <p:sp>
        <p:nvSpPr>
          <p:cNvPr id="79" name="Rectangle 78"/>
          <p:cNvSpPr/>
          <p:nvPr/>
        </p:nvSpPr>
        <p:spPr>
          <a:xfrm>
            <a:off x="4953287" y="1176821"/>
            <a:ext cx="37863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IN" sz="95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pw</a:t>
            </a:r>
            <a:r>
              <a:rPr kumimoji="0" lang="en-IN" sz="1050" b="0" i="0" u="none" strike="noStrike" kern="0" cap="none" spc="0" normalizeH="0" baseline="-7936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endParaRPr lang="en-IN" dirty="0"/>
          </a:p>
        </p:txBody>
      </p:sp>
      <p:sp>
        <p:nvSpPr>
          <p:cNvPr id="80" name="Rectangle 79"/>
          <p:cNvSpPr/>
          <p:nvPr/>
        </p:nvSpPr>
        <p:spPr>
          <a:xfrm>
            <a:off x="4908579" y="1504892"/>
            <a:ext cx="420371" cy="2385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8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950" b="0" i="1" u="none" strike="noStrike" kern="0" cap="none" spc="-25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pw</a:t>
            </a:r>
            <a:r>
              <a:rPr kumimoji="0" lang="en-IN" sz="1050" b="0" i="0" u="none" strike="noStrike" kern="0" cap="none" spc="-37" normalizeH="0" baseline="-11904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  <a:endParaRPr kumimoji="0" lang="en-IN" sz="1050" b="0" i="0" u="none" strike="noStrike" kern="0" cap="none" spc="0" normalizeH="0" baseline="-11904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6" grpId="0"/>
      <p:bldP spid="77" grpId="0"/>
      <p:bldP spid="78" grpId="0"/>
      <p:bldP spid="79" grpId="0"/>
      <p:bldP spid="8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0" y="631825"/>
            <a:ext cx="1423689" cy="1099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35300" y="403225"/>
            <a:ext cx="2422385" cy="170174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150" marR="50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spc="10" dirty="0">
                <a:latin typeface="Calibri"/>
                <a:cs typeface="Calibri"/>
              </a:rPr>
              <a:t>Dropout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essentially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applies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</a:t>
            </a:r>
            <a:r>
              <a:rPr sz="1000" spc="8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masking </a:t>
            </a:r>
            <a:r>
              <a:rPr sz="1000" dirty="0">
                <a:latin typeface="Calibri"/>
                <a:cs typeface="Calibri"/>
              </a:rPr>
              <a:t>noise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hidden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units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Prevents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hidden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units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from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spc="-25" dirty="0" smtClean="0">
                <a:latin typeface="Calibri"/>
                <a:cs typeface="Calibri"/>
              </a:rPr>
              <a:t>co</a:t>
            </a:r>
            <a:r>
              <a:rPr lang="en-IN" sz="1000" spc="-25" dirty="0" smtClean="0">
                <a:latin typeface="Calibri"/>
                <a:cs typeface="Calibri"/>
              </a:rPr>
              <a:t>-</a:t>
            </a:r>
            <a:r>
              <a:rPr sz="1000" spc="-10" dirty="0" smtClean="0">
                <a:latin typeface="Calibri"/>
                <a:cs typeface="Calibri"/>
              </a:rPr>
              <a:t>adapting</a:t>
            </a:r>
            <a:endParaRPr sz="1000" dirty="0">
              <a:latin typeface="Calibri"/>
              <a:cs typeface="Calibri"/>
            </a:endParaRPr>
          </a:p>
          <a:p>
            <a:pPr marL="184150" marR="50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10" dirty="0">
                <a:latin typeface="Calibri"/>
                <a:cs typeface="Calibri"/>
              </a:rPr>
              <a:t>Essentially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a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hidden</a:t>
            </a:r>
            <a:r>
              <a:rPr sz="1000" spc="225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unit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spc="10" dirty="0">
                <a:latin typeface="Calibri"/>
                <a:cs typeface="Calibri"/>
              </a:rPr>
              <a:t>cannot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rely </a:t>
            </a:r>
            <a:r>
              <a:rPr sz="1000" dirty="0">
                <a:latin typeface="Calibri"/>
                <a:cs typeface="Calibri"/>
              </a:rPr>
              <a:t>too</a:t>
            </a:r>
            <a:r>
              <a:rPr sz="1000" spc="15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much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other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units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as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they</a:t>
            </a:r>
            <a:r>
              <a:rPr sz="1000" spc="16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may </a:t>
            </a:r>
            <a:r>
              <a:rPr sz="1000" dirty="0">
                <a:latin typeface="Calibri"/>
                <a:cs typeface="Calibri"/>
              </a:rPr>
              <a:t>get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dropped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out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any</a:t>
            </a:r>
            <a:r>
              <a:rPr sz="1000" spc="17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time</a:t>
            </a:r>
            <a:endParaRPr sz="1000" dirty="0">
              <a:latin typeface="Calibri"/>
              <a:cs typeface="Calibri"/>
            </a:endParaRPr>
          </a:p>
          <a:p>
            <a:pPr marL="184150" marR="5715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55" dirty="0">
                <a:latin typeface="Calibri"/>
                <a:cs typeface="Calibri"/>
              </a:rPr>
              <a:t>Each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hidden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unit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has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6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6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be </a:t>
            </a:r>
            <a:r>
              <a:rPr sz="1000" dirty="0">
                <a:latin typeface="Calibri"/>
                <a:cs typeface="Calibri"/>
              </a:rPr>
              <a:t>more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robust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these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random</a:t>
            </a:r>
            <a:r>
              <a:rPr sz="1000" spc="440" dirty="0">
                <a:latin typeface="Calibri"/>
                <a:cs typeface="Calibri"/>
              </a:rPr>
              <a:t> </a:t>
            </a:r>
            <a:r>
              <a:rPr sz="1000" spc="-20" dirty="0" smtClean="0">
                <a:latin typeface="Calibri"/>
                <a:cs typeface="Calibri"/>
              </a:rPr>
              <a:t>dro</a:t>
            </a:r>
            <a:r>
              <a:rPr sz="1000" spc="-10" dirty="0" smtClean="0">
                <a:latin typeface="Calibri"/>
                <a:cs typeface="Calibri"/>
              </a:rPr>
              <a:t>pouts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0" y="936625"/>
            <a:ext cx="1423689" cy="10996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4515" y="1545026"/>
            <a:ext cx="1809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950" i="1" spc="60" dirty="0">
                <a:latin typeface="Calibri"/>
                <a:cs typeface="Calibri"/>
              </a:rPr>
              <a:t>h</a:t>
            </a:r>
            <a:r>
              <a:rPr sz="1050" i="1" spc="89" baseline="-11904" dirty="0">
                <a:latin typeface="Calibri"/>
                <a:cs typeface="Calibri"/>
              </a:rPr>
              <a:t>i</a:t>
            </a:r>
            <a:endParaRPr sz="1050" baseline="-1190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0005" y="655026"/>
            <a:ext cx="2665946" cy="31829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6850" marR="17780" indent="-171450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dirty="0">
                <a:latin typeface="Calibri"/>
                <a:cs typeface="Calibri"/>
              </a:rPr>
              <a:t>Suppose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i="1" spc="80" dirty="0">
                <a:latin typeface="Calibri"/>
                <a:cs typeface="Calibri"/>
              </a:rPr>
              <a:t>h</a:t>
            </a:r>
            <a:r>
              <a:rPr sz="1000" i="1" spc="120" baseline="-10416" dirty="0">
                <a:latin typeface="Calibri"/>
                <a:cs typeface="Calibri"/>
              </a:rPr>
              <a:t>i</a:t>
            </a:r>
            <a:r>
              <a:rPr sz="1000" i="1" spc="390" baseline="-10416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learns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detect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face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by </a:t>
            </a:r>
            <a:r>
              <a:rPr sz="1000" dirty="0">
                <a:latin typeface="Calibri"/>
                <a:cs typeface="Calibri"/>
              </a:rPr>
              <a:t>firing</a:t>
            </a:r>
            <a:r>
              <a:rPr sz="1000" spc="18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on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detecting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nose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0005" y="1037131"/>
            <a:ext cx="2678646" cy="11877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9550" marR="30480" indent="-171450" algn="just">
              <a:lnSpc>
                <a:spcPct val="102600"/>
              </a:lnSpc>
              <a:spcBef>
                <a:spcPts val="55"/>
              </a:spcBef>
              <a:buFont typeface="Arial" panose="020B0604020202020204" pitchFamily="34" charset="0"/>
              <a:buChar char="•"/>
            </a:pPr>
            <a:r>
              <a:rPr sz="1000" spc="10" dirty="0">
                <a:latin typeface="Calibri"/>
                <a:cs typeface="Calibri"/>
              </a:rPr>
              <a:t>Dropping </a:t>
            </a:r>
            <a:r>
              <a:rPr sz="1000" i="1" spc="80" dirty="0">
                <a:latin typeface="Calibri"/>
                <a:cs typeface="Calibri"/>
              </a:rPr>
              <a:t>h</a:t>
            </a:r>
            <a:r>
              <a:rPr sz="1000" i="1" spc="120" baseline="-10416" dirty="0">
                <a:latin typeface="Calibri"/>
                <a:cs typeface="Calibri"/>
              </a:rPr>
              <a:t>i </a:t>
            </a:r>
            <a:r>
              <a:rPr sz="1000" spc="10" dirty="0">
                <a:latin typeface="Calibri"/>
                <a:cs typeface="Calibri"/>
              </a:rPr>
              <a:t>then corresponds to </a:t>
            </a:r>
            <a:r>
              <a:rPr sz="1000" spc="-10" dirty="0" smtClean="0">
                <a:latin typeface="Calibri"/>
                <a:cs typeface="Calibri"/>
              </a:rPr>
              <a:t>eras</a:t>
            </a:r>
            <a:r>
              <a:rPr sz="1000" dirty="0" smtClean="0">
                <a:latin typeface="Calibri"/>
                <a:cs typeface="Calibri"/>
              </a:rPr>
              <a:t>ing</a:t>
            </a:r>
            <a:r>
              <a:rPr sz="1000" spc="130" dirty="0" smtClean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information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that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nose</a:t>
            </a:r>
            <a:r>
              <a:rPr sz="1000" spc="1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exists</a:t>
            </a:r>
            <a:endParaRPr sz="1000" dirty="0">
              <a:latin typeface="Calibri"/>
              <a:cs typeface="Calibri"/>
            </a:endParaRPr>
          </a:p>
          <a:p>
            <a:pPr marL="209550" marR="304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65" dirty="0">
                <a:latin typeface="Calibri"/>
                <a:cs typeface="Calibri"/>
              </a:rPr>
              <a:t>The</a:t>
            </a:r>
            <a:r>
              <a:rPr sz="1000" spc="1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should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then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another </a:t>
            </a:r>
            <a:r>
              <a:rPr sz="1000" i="1" spc="80" dirty="0">
                <a:latin typeface="Calibri"/>
                <a:cs typeface="Calibri"/>
              </a:rPr>
              <a:t>h</a:t>
            </a:r>
            <a:r>
              <a:rPr sz="1000" i="1" spc="120" baseline="-10416" dirty="0">
                <a:latin typeface="Calibri"/>
                <a:cs typeface="Calibri"/>
              </a:rPr>
              <a:t>i</a:t>
            </a:r>
            <a:r>
              <a:rPr sz="1000" i="1" spc="375" baseline="-10416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which</a:t>
            </a:r>
            <a:r>
              <a:rPr sz="1000" spc="165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redundantly</a:t>
            </a:r>
            <a:r>
              <a:rPr sz="1000" spc="165" dirty="0">
                <a:latin typeface="Calibri"/>
                <a:cs typeface="Calibri"/>
              </a:rPr>
              <a:t>  </a:t>
            </a:r>
            <a:r>
              <a:rPr sz="1000" dirty="0">
                <a:latin typeface="Calibri"/>
                <a:cs typeface="Calibri"/>
              </a:rPr>
              <a:t>encodes</a:t>
            </a:r>
            <a:r>
              <a:rPr sz="1000" spc="165" dirty="0">
                <a:latin typeface="Calibri"/>
                <a:cs typeface="Calibri"/>
              </a:rPr>
              <a:t>  </a:t>
            </a:r>
            <a:r>
              <a:rPr sz="1000" spc="-25" dirty="0">
                <a:latin typeface="Calibri"/>
                <a:cs typeface="Calibri"/>
              </a:rPr>
              <a:t>the </a:t>
            </a:r>
            <a:r>
              <a:rPr sz="1000" dirty="0">
                <a:latin typeface="Calibri"/>
                <a:cs typeface="Calibri"/>
              </a:rPr>
              <a:t>presence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</a:t>
            </a:r>
            <a:r>
              <a:rPr sz="1000" spc="8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7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nose</a:t>
            </a:r>
            <a:endParaRPr sz="1000" dirty="0">
              <a:latin typeface="Calibri"/>
              <a:cs typeface="Calibri"/>
            </a:endParaRPr>
          </a:p>
          <a:p>
            <a:pPr marL="209550" marR="30480" indent="-171450" algn="just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spc="75" dirty="0">
                <a:latin typeface="Calibri"/>
                <a:cs typeface="Calibri"/>
              </a:rPr>
              <a:t>Or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model</a:t>
            </a:r>
            <a:r>
              <a:rPr sz="1000" spc="2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should</a:t>
            </a:r>
            <a:r>
              <a:rPr sz="1000" spc="229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to</a:t>
            </a:r>
            <a:r>
              <a:rPr sz="1000" spc="2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detect </a:t>
            </a:r>
            <a:r>
              <a:rPr sz="1000" dirty="0">
                <a:latin typeface="Calibri"/>
                <a:cs typeface="Calibri"/>
              </a:rPr>
              <a:t>the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face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using</a:t>
            </a:r>
            <a:r>
              <a:rPr sz="1000" spc="1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other</a:t>
            </a:r>
            <a:r>
              <a:rPr sz="1000" spc="15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features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20700" y="174625"/>
            <a:ext cx="4839335" cy="169277"/>
          </a:xfrm>
        </p:spPr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1"/>
          <p:cNvSpPr txBox="1"/>
          <p:nvPr/>
        </p:nvSpPr>
        <p:spPr>
          <a:xfrm>
            <a:off x="2120900" y="1089025"/>
            <a:ext cx="2900503" cy="48218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lang="en-IN" sz="2800" b="1" dirty="0" smtClean="0">
                <a:solidFill>
                  <a:schemeClr val="accent6"/>
                </a:solidFill>
                <a:latin typeface="Calibri"/>
                <a:cs typeface="Calibri"/>
              </a:rPr>
              <a:t>Thank You</a:t>
            </a:r>
            <a:endParaRPr sz="2800" b="1" dirty="0">
              <a:solidFill>
                <a:schemeClr val="accent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1395</Words>
  <Application>Microsoft Office PowerPoint</Application>
  <PresentationFormat>Custom</PresentationFormat>
  <Paragraphs>231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Cambria Math</vt:lpstr>
      <vt:lpstr>Georgia</vt:lpstr>
      <vt:lpstr>Lucida Sans Unicode</vt:lpstr>
      <vt:lpstr>Times New Roman</vt:lpstr>
      <vt:lpstr>Trebuchet MS</vt:lpstr>
      <vt:lpstr>Office Theme</vt:lpstr>
      <vt:lpstr>PowerPoint Presentation</vt:lpstr>
      <vt:lpstr>Adding Noise to the inputs </vt:lpstr>
      <vt:lpstr>PowerPoint Presentation</vt:lpstr>
      <vt:lpstr>Hard targets</vt:lpstr>
      <vt:lpstr>Soft targets</vt:lpstr>
      <vt:lpstr>Monitor the validation error during training. Set a patience value p. </vt:lpstr>
      <vt:lpstr>PowerPoint Presentation</vt:lpstr>
      <vt:lpstr>Highly effective and widely adopted regularization technique.</vt:lpstr>
      <vt:lpstr>The update rule in SGDis</vt:lpstr>
      <vt:lpstr>PowerPoint Presentation</vt:lpstr>
      <vt:lpstr>PowerPoint Presentation</vt:lpstr>
      <vt:lpstr>PowerPoint Presentation</vt:lpstr>
      <vt:lpstr>PowerPoint Presentation</vt:lpstr>
      <vt:lpstr>yfinal</vt:lpstr>
      <vt:lpstr>yfinal</vt:lpstr>
      <vt:lpstr>The error made by the average prediction of all the models is 1/k ∑_i▒ε_i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: Lecture 6 - Regularization: Bias Variance Tradeoff, l2 regularization, Early stopping, Dataset augmentation, Parameter sharing and tying, Injecting noise at input, Ensemble methods, Dropout</dc:title>
  <dc:creator>.</dc:creator>
  <cp:lastModifiedBy>LA-2</cp:lastModifiedBy>
  <cp:revision>105</cp:revision>
  <dcterms:created xsi:type="dcterms:W3CDTF">2026-08-19T03:45:52Z</dcterms:created>
  <dcterms:modified xsi:type="dcterms:W3CDTF">2026-08-31T08:52:51Z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2024-02-07T00:00:00Z</vt:filetime>
  </property>
  <property fmtid="{D5CDD505-2E9C-101B-9397-08002B2CF9AE}" pid="4" name="Creator">
    <vt:lpwstr>LaTeX with Beamer class version 3.36</vt:lpwstr>
  </property>
  <property fmtid="{D5CDD505-2E9C-101B-9397-08002B2CF9AE}" pid="5" name="LastSaved">
    <vt:filetime>2026-08-19T00:00:00Z</vt:filetime>
  </property>
  <property fmtid="{D5CDD505-2E9C-101B-9397-08002B2CF9AE}" pid="6" name="PTEX.Fullbanner">
    <vt:lpwstr>This is MiKTeX-pdfTeX 2.9.5840 (1.40.16)</vt:lpwstr>
  </property>
  <property fmtid="{D5CDD505-2E9C-101B-9397-08002B2CF9AE}" pid="7" name="Producer">
    <vt:lpwstr>pdfTeX-1.40.16</vt:lpwstr>
  </property>
</Properties>
</file>