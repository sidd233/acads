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  <p:sldMasterId id="214748366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</p:sldIdLst>
  <p:sldSz cy="7559675" cx="10080625"/>
  <p:notesSz cx="7556500" cy="10691800"/>
  <p:embeddedFontLst>
    <p:embeddedFont>
      <p:font typeface="Gill Sans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1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4608C0-C592-4DC9-A814-990E3A2FF8C8}">
  <a:tblStyle styleId="{F44608C0-C592-4DC9-A814-990E3A2FF8C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1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font" Target="fonts/GillSans-regular.fntdata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54" Type="http://schemas.openxmlformats.org/officeDocument/2006/relationships/font" Target="fonts/GillSans-bold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" name="Google Shape;12;n"/>
          <p:cNvSpPr txBox="1"/>
          <p:nvPr/>
        </p:nvSpPr>
        <p:spPr>
          <a:xfrm>
            <a:off x="1311275" y="1027112"/>
            <a:ext cx="4933950" cy="37004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" name="Google Shape;13;n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n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/>
          <p:nvPr>
            <p:ph idx="2" type="sldImg"/>
          </p:nvPr>
        </p:nvSpPr>
        <p:spPr>
          <a:xfrm>
            <a:off x="927100" y="354012"/>
            <a:ext cx="5702300" cy="427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16" name="Google Shape;116;p2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755650" y="5078412"/>
            <a:ext cx="6045200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12.2 STATEMENT TESTING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6:notes"/>
          <p:cNvSpPr txBox="1"/>
          <p:nvPr>
            <p:ph idx="1" type="body"/>
          </p:nvPr>
        </p:nvSpPr>
        <p:spPr>
          <a:xfrm>
            <a:off x="755650" y="5078412"/>
            <a:ext cx="6045200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755650" y="5078412"/>
            <a:ext cx="6045200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example of two slides ago illustrates this point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3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25:notes"/>
          <p:cNvSpPr txBox="1"/>
          <p:nvPr>
            <p:ph idx="1" type="body"/>
          </p:nvPr>
        </p:nvSpPr>
        <p:spPr>
          <a:xfrm>
            <a:off x="755650" y="5078412"/>
            <a:ext cx="6045200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total number of truth values that the  basic conditions can take is twice the number of basic conditions, since each basic condition can assume value </a:t>
            </a:r>
            <a:r>
              <a:rPr i="1" lang="en-US"/>
              <a:t>true</a:t>
            </a:r>
            <a:r>
              <a:rPr lang="en-US"/>
              <a:t> or </a:t>
            </a:r>
            <a:r>
              <a:rPr i="1" lang="en-US"/>
              <a:t>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8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29:notes"/>
          <p:cNvSpPr txBox="1"/>
          <p:nvPr>
            <p:ph idx="1" type="body"/>
          </p:nvPr>
        </p:nvSpPr>
        <p:spPr>
          <a:xfrm>
            <a:off x="755650" y="5078412"/>
            <a:ext cx="6045200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If we don’t want to test all possible combinations, then we have to say which combinations are important.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One good choice is to choose combinations that show how each basic condition can affect the outcome,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i.e., how changing that one condition can change the value of the whole compound condition.  That’s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the “modified condition/decision” criterion requires. 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:notes"/>
          <p:cNvSpPr/>
          <p:nvPr>
            <p:ph idx="2" type="sldImg"/>
          </p:nvPr>
        </p:nvSpPr>
        <p:spPr>
          <a:xfrm>
            <a:off x="1108075" y="800100"/>
            <a:ext cx="534193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30:notes"/>
          <p:cNvSpPr txBox="1"/>
          <p:nvPr>
            <p:ph idx="1" type="body"/>
          </p:nvPr>
        </p:nvSpPr>
        <p:spPr>
          <a:xfrm>
            <a:off x="755650" y="5078412"/>
            <a:ext cx="6043612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1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:notes"/>
          <p:cNvSpPr/>
          <p:nvPr>
            <p:ph idx="2" type="sldImg"/>
          </p:nvPr>
        </p:nvSpPr>
        <p:spPr>
          <a:xfrm>
            <a:off x="1108075" y="800100"/>
            <a:ext cx="534193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32:notes"/>
          <p:cNvSpPr txBox="1"/>
          <p:nvPr>
            <p:ph idx="1" type="body"/>
          </p:nvPr>
        </p:nvSpPr>
        <p:spPr>
          <a:xfrm>
            <a:off x="755650" y="5078412"/>
            <a:ext cx="6043612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:notes"/>
          <p:cNvSpPr/>
          <p:nvPr>
            <p:ph idx="2" type="sldImg"/>
          </p:nvPr>
        </p:nvSpPr>
        <p:spPr>
          <a:xfrm>
            <a:off x="1108075" y="800100"/>
            <a:ext cx="534193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33:notes"/>
          <p:cNvSpPr txBox="1"/>
          <p:nvPr>
            <p:ph idx="1" type="body"/>
          </p:nvPr>
        </p:nvSpPr>
        <p:spPr>
          <a:xfrm>
            <a:off x="755650" y="5078412"/>
            <a:ext cx="6043612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4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34:notes"/>
          <p:cNvSpPr txBox="1"/>
          <p:nvPr>
            <p:ph idx="1" type="body"/>
          </p:nvPr>
        </p:nvSpPr>
        <p:spPr>
          <a:xfrm>
            <a:off x="755650" y="5078412"/>
            <a:ext cx="6045200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This is the same table as two slides ago, omitting redundant cases.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Cases 4,5, 7-10, and 12 have been omitted.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 each column we find two rows in which that column is underlined.  For example, the “a” column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is underlined in rows (1) and (13).  All the </a:t>
            </a:r>
            <a:r>
              <a:rPr i="1" lang="en-US" u="sng"/>
              <a:t>evaluated</a:t>
            </a:r>
            <a:r>
              <a:rPr lang="en-US"/>
              <a:t> conditions in those two rows are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except for that column.  For example, to show that changing “a” from true to false in case (1) would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change the outcome, we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* Fill in the “don’t care” columns in row 1 with values from row 13  (because this doesn’t change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anything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* Then see that the rows are completely identical except in column “a” and the outcome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so clearly changing the value of “a” changed the outcome.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number of test cases needed is hardly more than for basic condition coverage, but MC/DC 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much better than basic condition coverage at exposing faults in conditional expressions, so it 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clearly superior  (and therefore very widely used, and specified in some standards).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35:notes"/>
          <p:cNvSpPr txBox="1"/>
          <p:nvPr>
            <p:ph idx="1" type="body"/>
          </p:nvPr>
        </p:nvSpPr>
        <p:spPr>
          <a:xfrm>
            <a:off x="755650" y="5078412"/>
            <a:ext cx="6045200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(This mainly restates comments on the previous slide, and can be used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or skipped depending on lecture style)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:notes"/>
          <p:cNvSpPr/>
          <p:nvPr>
            <p:ph idx="2" type="sldImg"/>
          </p:nvPr>
        </p:nvSpPr>
        <p:spPr>
          <a:xfrm>
            <a:off x="1106487" y="8001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36:notes"/>
          <p:cNvSpPr txBox="1"/>
          <p:nvPr>
            <p:ph idx="1" type="body"/>
          </p:nvPr>
        </p:nvSpPr>
        <p:spPr>
          <a:xfrm>
            <a:off x="755650" y="5078412"/>
            <a:ext cx="6043612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(T,T)</a:t>
            </a:r>
            <a:r>
              <a:rPr lang="en-US"/>
              <a:t> test is required as it is the only one that returns true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(F,T) </a:t>
            </a:r>
            <a:r>
              <a:rPr lang="en-US"/>
              <a:t>test is required as it is the only test that changes the value of only </a:t>
            </a:r>
            <a:r>
              <a:rPr b="1" i="1" lang="en-US"/>
              <a:t>A</a:t>
            </a:r>
            <a:r>
              <a:rPr b="1" lang="en-US"/>
              <a:t> </a:t>
            </a:r>
            <a:r>
              <a:rPr lang="en-US"/>
              <a:t>and also changes the decision's outcome, thereby establishing the independence of </a:t>
            </a:r>
            <a:r>
              <a:rPr b="1" i="1" lang="en-US"/>
              <a:t>A</a:t>
            </a:r>
            <a:r>
              <a:rPr b="1" lang="en-US"/>
              <a:t> </a:t>
            </a:r>
            <a:r>
              <a:rPr lang="en-US"/>
              <a:t>In similar fashion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(T,T) </a:t>
            </a:r>
            <a:r>
              <a:rPr lang="en-US"/>
              <a:t>and (T,F) tests are required to show the independence of </a:t>
            </a:r>
            <a:r>
              <a:rPr b="1" i="1" lang="en-US"/>
              <a:t>B</a:t>
            </a:r>
            <a:r>
              <a:rPr b="1" lang="en-US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Test set {(T,T), (T,F), (F,T)} satisfies MC/DC for the expression </a:t>
            </a:r>
            <a:r>
              <a:rPr b="1" i="1" lang="en-US"/>
              <a:t>A</a:t>
            </a:r>
            <a:r>
              <a:rPr b="1" lang="en-US"/>
              <a:t> </a:t>
            </a:r>
            <a:r>
              <a:rPr lang="en-US"/>
              <a:t>and </a:t>
            </a:r>
            <a:r>
              <a:rPr b="1" i="1" lang="en-US"/>
              <a:t>B</a:t>
            </a:r>
            <a:r>
              <a:rPr b="1" lang="en-US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7:notes"/>
          <p:cNvSpPr/>
          <p:nvPr>
            <p:ph idx="2" type="sldImg"/>
          </p:nvPr>
        </p:nvSpPr>
        <p:spPr>
          <a:xfrm>
            <a:off x="1106487" y="8001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37:notes"/>
          <p:cNvSpPr txBox="1"/>
          <p:nvPr>
            <p:ph idx="1" type="body"/>
          </p:nvPr>
        </p:nvSpPr>
        <p:spPr>
          <a:xfrm>
            <a:off x="755650" y="5078412"/>
            <a:ext cx="6043612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:notes"/>
          <p:cNvSpPr/>
          <p:nvPr>
            <p:ph idx="2" type="sldImg"/>
          </p:nvPr>
        </p:nvSpPr>
        <p:spPr>
          <a:xfrm>
            <a:off x="1106487" y="8001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38:notes"/>
          <p:cNvSpPr txBox="1"/>
          <p:nvPr>
            <p:ph idx="1" type="body"/>
          </p:nvPr>
        </p:nvSpPr>
        <p:spPr>
          <a:xfrm>
            <a:off x="755650" y="5078412"/>
            <a:ext cx="6043612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9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:notes"/>
          <p:cNvSpPr/>
          <p:nvPr>
            <p:ph idx="2" type="sldImg"/>
          </p:nvPr>
        </p:nvSpPr>
        <p:spPr>
          <a:xfrm>
            <a:off x="1106487" y="8001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40:notes"/>
          <p:cNvSpPr txBox="1"/>
          <p:nvPr>
            <p:ph idx="1" type="body"/>
          </p:nvPr>
        </p:nvSpPr>
        <p:spPr>
          <a:xfrm>
            <a:off x="755650" y="5078412"/>
            <a:ext cx="6043612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1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1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2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42:notes"/>
          <p:cNvSpPr txBox="1"/>
          <p:nvPr/>
        </p:nvSpPr>
        <p:spPr>
          <a:xfrm>
            <a:off x="554037" y="5046662"/>
            <a:ext cx="6451600" cy="4746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58" name="Google Shape;458;p42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3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3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4:notes"/>
          <p:cNvSpPr txBox="1"/>
          <p:nvPr>
            <p:ph idx="1" type="body"/>
          </p:nvPr>
        </p:nvSpPr>
        <p:spPr>
          <a:xfrm>
            <a:off x="1169987" y="5086350"/>
            <a:ext cx="5216525" cy="41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4:notes"/>
          <p:cNvSpPr/>
          <p:nvPr>
            <p:ph idx="2" type="sldImg"/>
          </p:nvPr>
        </p:nvSpPr>
        <p:spPr>
          <a:xfrm>
            <a:off x="1106487" y="812800"/>
            <a:ext cx="5335587" cy="40020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320040" lvl="0" marL="457200" algn="l">
              <a:spcBef>
                <a:spcPts val="663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>
            <a:lvl1pPr lv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B5A7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>
            <a:lvl1pPr indent="0" lvl="0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504825" y="-47625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317500" y="1763712"/>
            <a:ext cx="9253537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3429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504825" y="-47625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>
            <a:lvl1pPr lv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317500" y="1763712"/>
            <a:ext cx="9253537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3429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 rot="5400000">
            <a:off x="4833937" y="2376490"/>
            <a:ext cx="7161214" cy="2312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>
            <a:lvl1pPr lv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 rot="5400000">
            <a:off x="130968" y="138909"/>
            <a:ext cx="7161214" cy="67881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3429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type="title"/>
          </p:nvPr>
        </p:nvSpPr>
        <p:spPr>
          <a:xfrm>
            <a:off x="504825" y="-47625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>
            <a:lvl1pPr lv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" type="body"/>
          </p:nvPr>
        </p:nvSpPr>
        <p:spPr>
          <a:xfrm rot="5400000">
            <a:off x="2269331" y="-188119"/>
            <a:ext cx="5349875" cy="925353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3429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title"/>
          </p:nvPr>
        </p:nvSpPr>
        <p:spPr>
          <a:xfrm>
            <a:off x="1976440" y="5291140"/>
            <a:ext cx="6048375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>
            <a:lvl1pPr lv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/>
          <p:nvPr>
            <p:ph idx="2" type="pic"/>
          </p:nvPr>
        </p:nvSpPr>
        <p:spPr>
          <a:xfrm>
            <a:off x="1976440" y="674688"/>
            <a:ext cx="6048375" cy="45370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lvl="0" marR="0" rtl="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mic Sans MS"/>
              <a:buNone/>
              <a:defRPr b="0" i="0" sz="3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mic Sans MS"/>
              <a:buNone/>
              <a:def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1976440" y="5916613"/>
            <a:ext cx="6048375" cy="88741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2286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504825" y="301625"/>
            <a:ext cx="3316288" cy="12795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>
            <a:lvl1pPr lv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3941765" y="301627"/>
            <a:ext cx="5635625" cy="6451599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4318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000"/>
              <a:buChar char="»"/>
              <a:defRPr sz="2000"/>
            </a:lvl6pPr>
            <a:lvl7pPr indent="-3556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000"/>
              <a:buChar char="»"/>
              <a:defRPr sz="2000"/>
            </a:lvl7pPr>
            <a:lvl8pPr indent="-3556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000"/>
              <a:buChar char="»"/>
              <a:defRPr sz="2000"/>
            </a:lvl8pPr>
            <a:lvl9pPr indent="-3556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000"/>
              <a:buChar char="»"/>
              <a:defRPr sz="2000"/>
            </a:lvl9pPr>
          </a:lstStyle>
          <a:p/>
        </p:txBody>
      </p:sp>
      <p:sp>
        <p:nvSpPr>
          <p:cNvPr id="73" name="Google Shape;73;p10"/>
          <p:cNvSpPr txBox="1"/>
          <p:nvPr>
            <p:ph idx="2" type="body"/>
          </p:nvPr>
        </p:nvSpPr>
        <p:spPr>
          <a:xfrm>
            <a:off x="504825" y="1581152"/>
            <a:ext cx="3316288" cy="51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2286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504825" y="-47625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>
            <a:lvl1pPr lv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504827" y="303215"/>
            <a:ext cx="9072563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>
            <a:lvl1pPr lv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504825" y="1692275"/>
            <a:ext cx="4452938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>
            <a:lvl1pPr indent="-2286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4pPr>
            <a:lvl5pPr indent="-2286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5pPr>
            <a:lvl6pPr indent="-2286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6pPr>
            <a:lvl7pPr indent="-2286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7pPr>
            <a:lvl8pPr indent="-2286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8pPr>
            <a:lvl9pPr indent="-2286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86" name="Google Shape;86;p13"/>
          <p:cNvSpPr txBox="1"/>
          <p:nvPr>
            <p:ph idx="2" type="body"/>
          </p:nvPr>
        </p:nvSpPr>
        <p:spPr>
          <a:xfrm>
            <a:off x="504825" y="2397125"/>
            <a:ext cx="4452938" cy="4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3810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655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3655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»"/>
              <a:defRPr sz="1700"/>
            </a:lvl5pPr>
            <a:lvl6pPr indent="-33655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»"/>
              <a:defRPr sz="1700"/>
            </a:lvl6pPr>
            <a:lvl7pPr indent="-33655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»"/>
              <a:defRPr sz="1700"/>
            </a:lvl7pPr>
            <a:lvl8pPr indent="-33655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»"/>
              <a:defRPr sz="1700"/>
            </a:lvl8pPr>
            <a:lvl9pPr indent="-33655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»"/>
              <a:defRPr sz="1700"/>
            </a:lvl9pPr>
          </a:lstStyle>
          <a:p/>
        </p:txBody>
      </p:sp>
      <p:sp>
        <p:nvSpPr>
          <p:cNvPr id="87" name="Google Shape;87;p13"/>
          <p:cNvSpPr txBox="1"/>
          <p:nvPr>
            <p:ph idx="3" type="body"/>
          </p:nvPr>
        </p:nvSpPr>
        <p:spPr>
          <a:xfrm>
            <a:off x="5121277" y="1692275"/>
            <a:ext cx="4456113" cy="70485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>
            <a:lvl1pPr indent="-2286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4pPr>
            <a:lvl5pPr indent="-2286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5pPr>
            <a:lvl6pPr indent="-2286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6pPr>
            <a:lvl7pPr indent="-2286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7pPr>
            <a:lvl8pPr indent="-2286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8pPr>
            <a:lvl9pPr indent="-2286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88" name="Google Shape;88;p13"/>
          <p:cNvSpPr txBox="1"/>
          <p:nvPr>
            <p:ph idx="4" type="body"/>
          </p:nvPr>
        </p:nvSpPr>
        <p:spPr>
          <a:xfrm>
            <a:off x="5121277" y="2397125"/>
            <a:ext cx="4456113" cy="4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3810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655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3655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»"/>
              <a:defRPr sz="1700"/>
            </a:lvl5pPr>
            <a:lvl6pPr indent="-33655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»"/>
              <a:defRPr sz="1700"/>
            </a:lvl6pPr>
            <a:lvl7pPr indent="-33655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»"/>
              <a:defRPr sz="1700"/>
            </a:lvl7pPr>
            <a:lvl8pPr indent="-33655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»"/>
              <a:defRPr sz="1700"/>
            </a:lvl8pPr>
            <a:lvl9pPr indent="-33655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700"/>
              <a:buChar char="»"/>
              <a:defRPr sz="1700"/>
            </a:lvl9pPr>
          </a:lstStyle>
          <a:p/>
        </p:txBody>
      </p:sp>
      <p:sp>
        <p:nvSpPr>
          <p:cNvPr id="89" name="Google Shape;89;p13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504825" y="-47625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>
            <a:lvl1pPr lv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7500" y="1763713"/>
            <a:ext cx="4549775" cy="5349876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4064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  <p:sp>
        <p:nvSpPr>
          <p:cNvPr id="94" name="Google Shape;94;p14"/>
          <p:cNvSpPr txBox="1"/>
          <p:nvPr>
            <p:ph idx="2" type="body"/>
          </p:nvPr>
        </p:nvSpPr>
        <p:spPr>
          <a:xfrm>
            <a:off x="5019677" y="1763713"/>
            <a:ext cx="4551363" cy="5349876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4064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  <p:sp>
        <p:nvSpPr>
          <p:cNvPr id="95" name="Google Shape;95;p14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96925" y="4857752"/>
            <a:ext cx="8567738" cy="15017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96925" y="3203575"/>
            <a:ext cx="8567738" cy="165417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>
            <a:lvl1pPr indent="-228600" lvl="0" marL="45720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1700"/>
              <a:buNone/>
              <a:defRPr sz="1700"/>
            </a:lvl3pPr>
            <a:lvl4pPr indent="-228600" lvl="3" marL="1828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0" name="Google Shape;100;p15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ctrTitle"/>
          </p:nvPr>
        </p:nvSpPr>
        <p:spPr>
          <a:xfrm>
            <a:off x="755650" y="2347913"/>
            <a:ext cx="8569325" cy="162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>
            <a:lvl1pPr lv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1512888" y="4283075"/>
            <a:ext cx="7056438" cy="193198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ctr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3900"/>
              <a:buNone/>
              <a:defRPr/>
            </a:lvl1pPr>
            <a:lvl2pPr lvl="1" algn="ctr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900112" y="-900112"/>
            <a:ext cx="1808162" cy="1806575"/>
          </a:xfrm>
          <a:custGeom>
            <a:rect b="b" l="l" r="r" t="t"/>
            <a:pathLst>
              <a:path extrusionOk="0" h="1806576" w="1808163">
                <a:moveTo>
                  <a:pt x="1808163" y="903288"/>
                </a:moveTo>
                <a:lnTo>
                  <a:pt x="1808163" y="903288"/>
                </a:lnTo>
                <a:cubicBezTo>
                  <a:pt x="1808163" y="1021953"/>
                  <a:pt x="1784758" y="1139464"/>
                  <a:pt x="1739290" y="1249090"/>
                </a:cubicBezTo>
                <a:cubicBezTo>
                  <a:pt x="1693822" y="1358715"/>
                  <a:pt x="1627175" y="1458322"/>
                  <a:pt x="1543166" y="1542206"/>
                </a:cubicBezTo>
                <a:cubicBezTo>
                  <a:pt x="1459157" y="1626089"/>
                  <a:pt x="1359421" y="1692616"/>
                  <a:pt x="1249671" y="1737977"/>
                </a:cubicBezTo>
                <a:cubicBezTo>
                  <a:pt x="1139921" y="1783337"/>
                  <a:pt x="1022292" y="1806649"/>
                  <a:pt x="903523" y="1806575"/>
                </a:cubicBezTo>
                <a:lnTo>
                  <a:pt x="904082" y="903288"/>
                </a:lnTo>
                <a:close/>
              </a:path>
            </a:pathLst>
          </a:custGeom>
          <a:solidFill>
            <a:srgbClr val="FEFAF4">
              <a:alpha val="32549"/>
            </a:srgbClr>
          </a:solidFill>
          <a:ln cap="rnd" cmpd="sng" w="9525">
            <a:solidFill>
              <a:srgbClr val="D2C3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85737" y="23812"/>
            <a:ext cx="1876425" cy="1876425"/>
          </a:xfrm>
          <a:prstGeom prst="ellipse">
            <a:avLst/>
          </a:prstGeom>
          <a:noFill/>
          <a:ln cap="rnd" cmpd="sng" w="27300">
            <a:solidFill>
              <a:srgbClr val="FFF6D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AFA58D">
                <a:alpha val="84705"/>
              </a:srgbClr>
            </a:outerShdw>
          </a:effectLst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" name="Google Shape;18;p1"/>
          <p:cNvSpPr/>
          <p:nvPr/>
        </p:nvSpPr>
        <p:spPr>
          <a:xfrm rot="2315675">
            <a:off x="201616" y="1163028"/>
            <a:ext cx="1241025" cy="1215439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116012" y="0"/>
            <a:ext cx="8964612" cy="7559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1119187" y="0"/>
            <a:ext cx="80962" cy="755967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dir="10800000" dist="38000">
              <a:srgbClr val="706B5F">
                <a:alpha val="24705"/>
              </a:srgbClr>
            </a:outerShdw>
          </a:effectLst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" name="Google Shape;21;p1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406400" lvl="0" marL="45720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  <a:defRPr b="0" i="0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254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Char char="◦"/>
              <a:defRPr b="0" i="0" sz="3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rgbClr val="C32D2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rgbClr val="84AA33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3948112" y="6950075"/>
            <a:ext cx="2352675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>
            <a:lvl1pPr lvl="0" marR="0" rtl="0" algn="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300787" y="6950075"/>
            <a:ext cx="3192462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>
            <a:lvl1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  <a:defRPr b="0" i="0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/>
          <p:nvPr/>
        </p:nvSpPr>
        <p:spPr>
          <a:xfrm>
            <a:off x="3444875" y="6884987"/>
            <a:ext cx="31861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" name="Google Shape;34;p3"/>
          <p:cNvSpPr txBox="1"/>
          <p:nvPr>
            <p:ph type="title"/>
          </p:nvPr>
        </p:nvSpPr>
        <p:spPr>
          <a:xfrm>
            <a:off x="504825" y="-47625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" type="body"/>
          </p:nvPr>
        </p:nvSpPr>
        <p:spPr>
          <a:xfrm>
            <a:off x="317500" y="1763712"/>
            <a:ext cx="9253537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76250" lvl="0" marL="457200" marR="0" rtl="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Comic Sans MS"/>
              <a:buChar char="•"/>
              <a:defRPr b="0" i="0" sz="39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450850" lvl="1" marL="914400" marR="0" rtl="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Noto Sans Symbols"/>
              <a:buChar char="▪"/>
              <a:defRPr b="0" i="0" sz="35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419100" lvl="2" marL="1371600" marR="0" rtl="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omic Sans MS"/>
              <a:buChar char="•"/>
              <a:defRPr b="0" i="0" sz="3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93700" lvl="3" marL="18288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–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93700" lvl="4" marL="22860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»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93700" lvl="5" marL="27432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»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93700" lvl="6" marL="32004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»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93700" lvl="7" marL="36576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»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93700" lvl="8" marL="41148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»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title"/>
          </p:nvPr>
        </p:nvSpPr>
        <p:spPr>
          <a:xfrm>
            <a:off x="504825" y="-47625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>
            <a:lvl1pPr lv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1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317500" y="1763712"/>
            <a:ext cx="9253537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-476250" lvl="0" marL="457200" marR="0" rtl="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Comic Sans MS"/>
              <a:buChar char="•"/>
              <a:defRPr b="0" i="0" sz="39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450850" lvl="1" marL="914400" marR="0" rtl="0" algn="l">
              <a:lnSpc>
                <a:spcPct val="91000"/>
              </a:lnSpc>
              <a:spcBef>
                <a:spcPts val="863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Noto Sans Symbols"/>
              <a:buChar char="▪"/>
              <a:defRPr b="0" i="0" sz="35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419100" lvl="2" marL="1371600" marR="0" rtl="0" algn="l">
              <a:lnSpc>
                <a:spcPct val="91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omic Sans MS"/>
              <a:buChar char="•"/>
              <a:defRPr b="0" i="0" sz="3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93700" lvl="3" marL="18288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–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93700" lvl="4" marL="22860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»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93700" lvl="5" marL="27432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»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93700" lvl="6" marL="32004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»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93700" lvl="7" marL="36576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»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93700" lvl="8" marL="4114800" marR="0" rtl="0" algn="l">
              <a:lnSpc>
                <a:spcPct val="91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Char char="»"/>
              <a:defRPr b="0" i="0" sz="2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0" type="dt"/>
          </p:nvPr>
        </p:nvSpPr>
        <p:spPr>
          <a:xfrm>
            <a:off x="504825" y="6884987"/>
            <a:ext cx="234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47" name="Google Shape;47;p5"/>
          <p:cNvSpPr txBox="1"/>
          <p:nvPr/>
        </p:nvSpPr>
        <p:spPr>
          <a:xfrm>
            <a:off x="3444875" y="6884987"/>
            <a:ext cx="3186112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1611312" y="1112837"/>
            <a:ext cx="82661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White-box testing techniques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1306512" y="3551237"/>
            <a:ext cx="8189912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0" lvl="0" marL="88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Dr. Durga Prasad Mohapatra</a:t>
            </a:r>
            <a:endParaRPr/>
          </a:p>
          <a:p>
            <a:pPr indent="0" lvl="0" marL="889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Professor, Dept. of CSE</a:t>
            </a:r>
            <a:endParaRPr/>
          </a:p>
          <a:p>
            <a:pPr indent="0" lvl="0" marL="889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N.I.T Rourkela</a:t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b="0" i="0" lang="en-US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1154112" y="0"/>
            <a:ext cx="9064625" cy="195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19825" spcFirstLastPara="1" rIns="19825" wrap="square" tIns="51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White-box Testing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631825" y="1493837"/>
            <a:ext cx="9448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575" lIns="19825" spcFirstLastPara="1" rIns="19825" wrap="square" tIns="51575">
            <a:noAutofit/>
          </a:bodyPr>
          <a:lstStyle/>
          <a:p>
            <a:pPr indent="-341312" lvl="0" marL="341312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20"/>
              <a:buFont typeface="Noto Sans Symbols"/>
              <a:buChar char="⚫"/>
            </a:pPr>
            <a:r>
              <a:rPr b="0" i="0" lang="en-US" sz="4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Designing white-box test cases: </a:t>
            </a:r>
            <a:endParaRPr/>
          </a:p>
          <a:p>
            <a:pPr indent="-284162" lvl="1" marL="741362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Requires knowledge about the internal structure of software. </a:t>
            </a:r>
            <a:endParaRPr/>
          </a:p>
          <a:p>
            <a:pPr indent="-284162" lvl="1" marL="741362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White-box testing is also called structural testing.</a:t>
            </a:r>
            <a:endParaRPr/>
          </a:p>
          <a:p>
            <a:pPr indent="-284162" lvl="1" marL="741362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Verdana"/>
              <a:buChar char="◦"/>
            </a:pPr>
            <a:r>
              <a:rPr b="0" i="0" lang="en-US" sz="3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 this unit we will study white-box testing.</a:t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1014412" y="-334962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900"/>
              <a:buFont typeface="Gill Sans"/>
              <a:buNone/>
            </a:pPr>
            <a:r>
              <a:rPr b="0" i="0" lang="en-US" sz="49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White-Box Testing Methodologies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1001712" y="1417637"/>
            <a:ext cx="9078912" cy="52387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rmAutofit/>
          </a:bodyPr>
          <a:lstStyle/>
          <a:p>
            <a:pPr indent="-341312" lvl="0" marL="34131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There exist several popular white-box testing methodologies:</a:t>
            </a:r>
            <a:endParaRPr/>
          </a:p>
          <a:p>
            <a:pPr indent="-284162" lvl="1" marL="741362" marR="0" rtl="0" algn="l">
              <a:lnSpc>
                <a:spcPct val="95000"/>
              </a:lnSpc>
              <a:spcBef>
                <a:spcPts val="68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b="0" i="0" lang="en-US" sz="32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Statement coverage</a:t>
            </a:r>
            <a:endParaRPr/>
          </a:p>
          <a:p>
            <a:pPr indent="-284162" lvl="1" marL="741362" marR="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b="0" i="0" lang="en-US" sz="32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Branch coverage</a:t>
            </a:r>
            <a:endParaRPr/>
          </a:p>
          <a:p>
            <a:pPr indent="-284162" lvl="1" marL="741362" marR="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b="0" i="0" lang="en-US" sz="32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Condition coverage</a:t>
            </a:r>
            <a:endParaRPr/>
          </a:p>
          <a:p>
            <a:pPr indent="-284162" lvl="1" marL="741362" marR="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b="0" i="0" lang="en-US" sz="32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MC/DC coverage</a:t>
            </a:r>
            <a:endParaRPr/>
          </a:p>
          <a:p>
            <a:pPr indent="-284162" lvl="1" marL="741362" marR="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b="0" i="0" lang="en-US" sz="32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Path coverage</a:t>
            </a:r>
            <a:endParaRPr/>
          </a:p>
          <a:p>
            <a:pPr indent="-284162" lvl="1" marL="741362" marR="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b="0" i="0" lang="en-US" sz="32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Data flow-based testing</a:t>
            </a:r>
            <a:endParaRPr/>
          </a:p>
          <a:p>
            <a:pPr indent="-284162" lvl="1" marL="741362" marR="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b="0" i="0" lang="en-US" sz="32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Mutation testing</a:t>
            </a:r>
            <a:endParaRPr/>
          </a:p>
          <a:p>
            <a:pPr indent="-147003" lvl="0" marL="400050" marR="0" rtl="0" algn="l">
              <a:spcBef>
                <a:spcPts val="98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C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6700"/>
              <a:buFont typeface="Gill Sans"/>
              <a:buNone/>
            </a:pPr>
            <a:r>
              <a:rPr b="0" i="0" lang="en-US" sz="6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Statement Coverage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1154112" y="1798637"/>
            <a:ext cx="8686800" cy="45370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41312" lvl="0" marL="341312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20"/>
              <a:buFont typeface="Noto Sans Symbols"/>
              <a:buChar char="⚫"/>
            </a:pPr>
            <a:r>
              <a:rPr b="0" i="0" lang="en-US" sz="49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Statement coverage methodology:</a:t>
            </a:r>
            <a:endParaRPr/>
          </a:p>
          <a:p>
            <a:pPr indent="-284162" lvl="1" marL="741362" marR="0" rtl="0" algn="just">
              <a:lnSpc>
                <a:spcPct val="105000"/>
              </a:lnSpc>
              <a:spcBef>
                <a:spcPts val="685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Design test cases so that every statement in the program is executed at least once.</a:t>
            </a:r>
            <a:r>
              <a:rPr b="0" i="0" lang="en-US" sz="4400" u="none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Statement Coverage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41312" lvl="0" marL="341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20"/>
              <a:buFont typeface="Noto Sans Symbols"/>
              <a:buChar char="⚫"/>
            </a:pPr>
            <a:r>
              <a:rPr b="0" i="0" lang="en-US" sz="49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The principal idea:</a:t>
            </a:r>
            <a:r>
              <a:rPr b="0" i="0" lang="en-US" sz="49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84162" lvl="1" marL="741362" marR="0" rtl="0" algn="l">
              <a:lnSpc>
                <a:spcPct val="110000"/>
              </a:lnSpc>
              <a:spcBef>
                <a:spcPts val="115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Unless a statement is executed, </a:t>
            </a:r>
            <a:endParaRPr/>
          </a:p>
          <a:p>
            <a:pPr indent="-284162" lvl="1" marL="741362" marR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We have no way of knowing  if an error exists in that statement. </a:t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000"/>
              <a:buFont typeface="Gill Sans"/>
              <a:buNone/>
            </a:pPr>
            <a:r>
              <a:rPr b="0" i="0" lang="en-US" sz="50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Statement Coverage Criterion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1154112" y="1722437"/>
            <a:ext cx="9253537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41312" lvl="0" marL="341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Observing that a statement behaves properly for one input value:</a:t>
            </a:r>
            <a:endParaRPr/>
          </a:p>
          <a:p>
            <a:pPr indent="-284162" lvl="1" marL="741362" marR="0" rtl="0" algn="l">
              <a:lnSpc>
                <a:spcPct val="110000"/>
              </a:lnSpc>
              <a:spcBef>
                <a:spcPts val="82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guarantee that it will behave correctly for all input values.</a:t>
            </a: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Statement Testing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Coverage measurement:</a:t>
            </a:r>
            <a:endParaRPr/>
          </a:p>
          <a:p>
            <a:pPr indent="-309562" lvl="0" marL="400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	</a:t>
            </a:r>
            <a:r>
              <a:rPr b="0" i="0" lang="en-US" sz="3500" u="sng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# executed statements</a:t>
            </a:r>
            <a:endParaRPr/>
          </a:p>
          <a:p>
            <a:pPr indent="-309562" lvl="0" marL="400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		     # statements</a:t>
            </a:r>
            <a:endParaRPr/>
          </a:p>
          <a:p>
            <a:pPr indent="-131761" lvl="0" marL="400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9562" lvl="0" marL="400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Rationale: a fault in a statement can only be revealed by executing the faulty statement</a:t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6700"/>
              <a:buFont typeface="Gill Sans"/>
              <a:buNone/>
            </a:pPr>
            <a:r>
              <a:rPr b="0" i="0" lang="en-US" sz="6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1711325" y="1562100"/>
            <a:ext cx="9096375" cy="51625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f1(int x, int y){                   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while (x != y){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(x&gt;y) then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x=x-y;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y=y-x;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x;        }</a:t>
            </a:r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6259512" y="3463925"/>
            <a:ext cx="2760662" cy="44291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l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solidFill>
                  <a:srgbClr val="3399FF"/>
                </a:solidFill>
                <a:latin typeface="Arial Black"/>
              </a:rPr>
              <a:t>Euclid's GCD Algorithm 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500"/>
              <a:buFont typeface="Gill Sans"/>
              <a:buNone/>
            </a:pPr>
            <a:r>
              <a:rPr b="0" i="0" lang="en-US" sz="55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Euclid's GCD Algorithm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41312" lvl="0" marL="341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By choosing the test set {(x=3,y=3),(x=4,y=3), (x=3,y=4)}</a:t>
            </a:r>
            <a:endParaRPr/>
          </a:p>
          <a:p>
            <a:pPr indent="-284162" lvl="1" marL="741362" marR="0" rtl="0" algn="l">
              <a:lnSpc>
                <a:spcPct val="110000"/>
              </a:lnSpc>
              <a:spcBef>
                <a:spcPts val="148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Verdana"/>
              <a:buChar char="◦"/>
            </a:pPr>
            <a:r>
              <a:rPr b="0" i="0" lang="en-US" sz="4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All statements are executed at least once.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Branch Coverage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41312" lvl="0" marL="341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20"/>
              <a:buFont typeface="Noto Sans Symbols"/>
              <a:buChar char="⚫"/>
            </a:pPr>
            <a:r>
              <a:rPr b="0" i="0" lang="en-US" sz="49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cases are designed such that:</a:t>
            </a:r>
            <a:endParaRPr/>
          </a:p>
          <a:p>
            <a:pPr indent="-285750" lvl="1" marL="741362" marR="0" rtl="0" algn="l">
              <a:lnSpc>
                <a:spcPct val="110000"/>
              </a:lnSpc>
              <a:spcBef>
                <a:spcPts val="1165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Verdana"/>
              <a:buChar char="◦"/>
            </a:pPr>
            <a:r>
              <a:rPr b="0" i="0" lang="en-US" sz="4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different branch conditions</a:t>
            </a:r>
            <a:endParaRPr/>
          </a:p>
          <a:p>
            <a:pPr indent="-247650" lvl="2" marL="1141412" marR="0" rtl="0" algn="l">
              <a:lnSpc>
                <a:spcPct val="110000"/>
              </a:lnSpc>
              <a:spcBef>
                <a:spcPts val="1035"/>
              </a:spcBef>
              <a:spcAft>
                <a:spcPts val="0"/>
              </a:spcAft>
              <a:buClr>
                <a:schemeClr val="accent2"/>
              </a:buClr>
              <a:buSzPts val="3900"/>
              <a:buFont typeface="Noto Sans Symbols"/>
              <a:buChar char="●"/>
            </a:pPr>
            <a:r>
              <a:rPr b="0" i="0" lang="en-US" sz="3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given true and false values in turn. </a:t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6700"/>
              <a:buFont typeface="Gill Sans"/>
              <a:buNone/>
            </a:pPr>
            <a:r>
              <a:rPr b="0" i="0" lang="en-US" sz="6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Branch Coverage</a:t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41312" lvl="0" marL="341312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20"/>
              <a:buFont typeface="Noto Sans Symbols"/>
              <a:buChar char="⚫"/>
            </a:pPr>
            <a:r>
              <a:rPr b="0" i="0" lang="en-US" sz="49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Branch testing guarantees statement coverage:</a:t>
            </a:r>
            <a:endParaRPr/>
          </a:p>
          <a:p>
            <a:pPr indent="-284162" lvl="1" marL="741362" marR="0" rtl="0" algn="l">
              <a:lnSpc>
                <a:spcPct val="105000"/>
              </a:lnSpc>
              <a:spcBef>
                <a:spcPts val="137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stronger testing compared to the statement coverage-based testing.</a:t>
            </a:r>
            <a:endParaRPr/>
          </a:p>
        </p:txBody>
      </p:sp>
      <p:sp>
        <p:nvSpPr>
          <p:cNvPr id="185" name="Google Shape;185;p2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Stronger Testing</a:t>
            </a:r>
            <a:endParaRPr/>
          </a:p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1001712" y="1874837"/>
            <a:ext cx="8569325" cy="45370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41312" lvl="0" marL="341312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cases are a superset of a weaker testing:</a:t>
            </a:r>
            <a:endParaRPr/>
          </a:p>
          <a:p>
            <a:pPr indent="-284162" lvl="1" marL="741362" marR="0" rtl="0" algn="just">
              <a:lnSpc>
                <a:spcPct val="105000"/>
              </a:lnSpc>
              <a:spcBef>
                <a:spcPts val="104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stronger testing covers at least all the elements covered by a weaker testing.</a:t>
            </a:r>
            <a:endParaRPr/>
          </a:p>
        </p:txBody>
      </p:sp>
      <p:sp>
        <p:nvSpPr>
          <p:cNvPr id="192" name="Google Shape;192;p2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Gill Sans"/>
              <a:buNone/>
            </a:pPr>
            <a:r>
              <a:rPr b="0" i="0" lang="en-US" sz="44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Stronger, Weaker, and Complementary Testing</a:t>
            </a:r>
            <a:endParaRPr/>
          </a:p>
        </p:txBody>
      </p:sp>
      <p:sp>
        <p:nvSpPr>
          <p:cNvPr id="198" name="Google Shape;198;p2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1687512" y="2179637"/>
            <a:ext cx="4267200" cy="4419600"/>
          </a:xfrm>
          <a:prstGeom prst="ellipse">
            <a:avLst/>
          </a:prstGeom>
          <a:solidFill>
            <a:srgbClr val="00B8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0" name="Google Shape;200;p29"/>
          <p:cNvSpPr/>
          <p:nvPr/>
        </p:nvSpPr>
        <p:spPr>
          <a:xfrm>
            <a:off x="4125912" y="2941637"/>
            <a:ext cx="4267200" cy="3657600"/>
          </a:xfrm>
          <a:prstGeom prst="ellipse">
            <a:avLst/>
          </a:prstGeom>
          <a:solidFill>
            <a:srgbClr val="6600FF">
              <a:alpha val="53725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2525712" y="3475037"/>
            <a:ext cx="1447800" cy="1676400"/>
          </a:xfrm>
          <a:prstGeom prst="ellipse">
            <a:avLst/>
          </a:prstGeom>
          <a:solidFill>
            <a:srgbClr val="FF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468312" y="5761037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omic Sans MS"/>
              <a:buNone/>
            </a:pPr>
            <a:r>
              <a:rPr b="1" i="0" lang="en-US" sz="240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Weaker</a:t>
            </a:r>
            <a:endParaRPr/>
          </a:p>
        </p:txBody>
      </p:sp>
      <p:cxnSp>
        <p:nvCxnSpPr>
          <p:cNvPr id="203" name="Google Shape;203;p29"/>
          <p:cNvCxnSpPr/>
          <p:nvPr/>
        </p:nvCxnSpPr>
        <p:spPr>
          <a:xfrm flipH="1" rot="10800000">
            <a:off x="1230312" y="4541837"/>
            <a:ext cx="1524000" cy="1143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04" name="Google Shape;204;p29"/>
          <p:cNvSpPr txBox="1"/>
          <p:nvPr/>
        </p:nvSpPr>
        <p:spPr>
          <a:xfrm>
            <a:off x="7173912" y="2255837"/>
            <a:ext cx="259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omic Sans MS"/>
              <a:buNone/>
            </a:pPr>
            <a:r>
              <a:rPr b="1" i="0" lang="en-US" sz="240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Complementary</a:t>
            </a:r>
            <a:endParaRPr/>
          </a:p>
        </p:txBody>
      </p:sp>
      <p:cxnSp>
        <p:nvCxnSpPr>
          <p:cNvPr id="205" name="Google Shape;205;p29"/>
          <p:cNvCxnSpPr/>
          <p:nvPr/>
        </p:nvCxnSpPr>
        <p:spPr>
          <a:xfrm flipH="1">
            <a:off x="7402512" y="2560637"/>
            <a:ext cx="1295400" cy="17526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7200"/>
              <a:buFont typeface="Gill Sans"/>
              <a:buNone/>
            </a:pPr>
            <a:r>
              <a:rPr b="0" i="0" lang="en-US" sz="72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</a:t>
            </a:r>
            <a:endParaRPr/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1752600" y="1562100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f1(int x,int y){                   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7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while (x != y){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7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   if (x&gt;y) then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7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 x=x-y;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7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   else y=y-x;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7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}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7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return x;        }</a:t>
            </a:r>
            <a:endParaRPr/>
          </a:p>
        </p:txBody>
      </p:sp>
      <p:sp>
        <p:nvSpPr>
          <p:cNvPr id="212" name="Google Shape;212;p3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7200"/>
              <a:buFont typeface="Gill Sans"/>
              <a:buNone/>
            </a:pPr>
            <a:r>
              <a:rPr b="0" i="0" lang="en-US" sz="72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Example</a:t>
            </a:r>
            <a:endParaRPr/>
          </a:p>
        </p:txBody>
      </p:sp>
      <p:sp>
        <p:nvSpPr>
          <p:cNvPr id="218" name="Google Shape;218;p31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41312" lvl="0" marL="341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cases for branch coverage can be:</a:t>
            </a:r>
            <a:endParaRPr/>
          </a:p>
          <a:p>
            <a:pPr indent="-341312" lvl="0" marL="341312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{(x=3,y=3),(x=3,y=2), (x=4,y=3), (x=3,y=4)}</a:t>
            </a:r>
            <a:endParaRPr/>
          </a:p>
        </p:txBody>
      </p:sp>
      <p:sp>
        <p:nvSpPr>
          <p:cNvPr id="219" name="Google Shape;219;p3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Branch Testing</a:t>
            </a:r>
            <a:endParaRPr/>
          </a:p>
        </p:txBody>
      </p:sp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Adequacy criterion:</a:t>
            </a:r>
            <a:r>
              <a:rPr b="0" i="0" lang="en-US" sz="35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Each branch (edge in the CFG) must be executed at least once </a:t>
            </a:r>
            <a:endParaRPr/>
          </a:p>
          <a:p>
            <a:pPr indent="-309562" lvl="0" marL="400050" marR="0" rtl="0" algn="l">
              <a:lnSpc>
                <a:spcPct val="115000"/>
              </a:lnSpc>
              <a:spcBef>
                <a:spcPts val="87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Coverage:</a:t>
            </a:r>
            <a:endParaRPr/>
          </a:p>
          <a:p>
            <a:pPr indent="-309562" lvl="0" marL="400050" marR="0" rtl="0" algn="l">
              <a:lnSpc>
                <a:spcPct val="115000"/>
              </a:lnSpc>
              <a:spcBef>
                <a:spcPts val="87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b="0" i="0" lang="en-US" sz="35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b="0" i="0" lang="en-US" sz="3500" u="sng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#  executed branches</a:t>
            </a:r>
            <a:endParaRPr/>
          </a:p>
          <a:p>
            <a:pPr indent="-309562" lvl="0" marL="400050" marR="0" rtl="0" algn="l">
              <a:lnSpc>
                <a:spcPct val="115000"/>
              </a:lnSpc>
              <a:spcBef>
                <a:spcPts val="875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		     # branches</a:t>
            </a:r>
            <a:endParaRPr/>
          </a:p>
          <a:p>
            <a:pPr indent="-260349" lvl="1" marL="703262" marR="0" rtl="0" algn="l">
              <a:lnSpc>
                <a:spcPct val="115000"/>
              </a:lnSpc>
              <a:spcBef>
                <a:spcPts val="815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Verdana"/>
              <a:buNone/>
            </a:pPr>
            <a:r>
              <a:t/>
            </a:r>
            <a:endParaRPr b="0" i="0" sz="3100" u="none" cap="none" strike="noStrike">
              <a:solidFill>
                <a:srgbClr val="0000C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52083" lvl="0" marL="400050" marR="0" rtl="0" algn="l">
              <a:spcBef>
                <a:spcPts val="973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None/>
            </a:pPr>
            <a:r>
              <a:t/>
            </a:r>
            <a:endParaRPr b="0" i="0" sz="3100" u="none" cap="none" strike="noStrike">
              <a:solidFill>
                <a:srgbClr val="0000C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500"/>
              <a:buFont typeface="Gill Sans"/>
              <a:buNone/>
            </a:pPr>
            <a:r>
              <a:rPr b="0" i="0" lang="en-US" sz="45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Statements vs Branch Testing</a:t>
            </a:r>
            <a:endParaRPr/>
          </a:p>
        </p:txBody>
      </p:sp>
      <p:sp>
        <p:nvSpPr>
          <p:cNvPr id="232" name="Google Shape;232;p33"/>
          <p:cNvSpPr txBox="1"/>
          <p:nvPr>
            <p:ph idx="1" type="body"/>
          </p:nvPr>
        </p:nvSpPr>
        <p:spPr>
          <a:xfrm>
            <a:off x="1001712" y="1493837"/>
            <a:ext cx="9078912" cy="55435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Traversing all edges of a graph causes all nodes to be visited</a:t>
            </a:r>
            <a:endParaRPr/>
          </a:p>
          <a:p>
            <a:pPr indent="-260349" lvl="1" marL="703262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 test suites that satisfy the branch adequacy criterion for a program P also satisfy the statement adequacy criterion for the same program</a:t>
            </a:r>
            <a:endParaRPr/>
          </a:p>
          <a:p>
            <a:pPr indent="-309562" lvl="0" marL="4000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converse is not true </a:t>
            </a:r>
            <a:endParaRPr/>
          </a:p>
          <a:p>
            <a:pPr indent="-260349" lvl="1" marL="703262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Verdana"/>
              <a:buChar char="◦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statement-adequate (or node-adequate) test suite may not be branch-adequate (edge-adequate)</a:t>
            </a:r>
            <a:endParaRPr/>
          </a:p>
        </p:txBody>
      </p:sp>
      <p:sp>
        <p:nvSpPr>
          <p:cNvPr id="233" name="Google Shape;233;p33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Condition Coverage</a:t>
            </a:r>
            <a:endParaRPr/>
          </a:p>
        </p:txBody>
      </p:sp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41312" lvl="0" marL="341312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cases are designed such that:</a:t>
            </a:r>
            <a:endParaRPr/>
          </a:p>
          <a:p>
            <a:pPr indent="-284162" lvl="1" marL="741362" marR="0" rtl="0" algn="l">
              <a:lnSpc>
                <a:spcPct val="105000"/>
              </a:lnSpc>
              <a:spcBef>
                <a:spcPts val="104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component of a composite conditional expression  </a:t>
            </a:r>
            <a:endParaRPr/>
          </a:p>
          <a:p>
            <a:pPr indent="-222250" lvl="2" marL="1141412" marR="0" rtl="0" algn="l">
              <a:lnSpc>
                <a:spcPct val="105000"/>
              </a:lnSpc>
              <a:spcBef>
                <a:spcPts val="925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Noto Sans Symbols"/>
              <a:buChar char="●"/>
            </a:pPr>
            <a:r>
              <a:rPr b="0" i="0" lang="en-US" sz="3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Given both true and false values. </a:t>
            </a:r>
            <a:endParaRPr/>
          </a:p>
        </p:txBody>
      </p:sp>
      <p:sp>
        <p:nvSpPr>
          <p:cNvPr id="240" name="Google Shape;240;p34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type="title"/>
          </p:nvPr>
        </p:nvSpPr>
        <p:spPr>
          <a:xfrm>
            <a:off x="1535112" y="274637"/>
            <a:ext cx="82661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400"/>
              <a:buFont typeface="Gill Sans"/>
              <a:buNone/>
            </a:pPr>
            <a:r>
              <a:rPr b="0" i="0" lang="en-US" sz="54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Branch vs Condition testing</a:t>
            </a:r>
            <a:endParaRPr/>
          </a:p>
        </p:txBody>
      </p:sp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1001712" y="1465262"/>
            <a:ext cx="9078912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rm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20"/>
              <a:buFont typeface="Noto Sans Symbols"/>
              <a:buChar char="⚫"/>
            </a:pPr>
            <a:r>
              <a:rPr b="0" i="0" lang="en-US" sz="5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Condition testing:</a:t>
            </a:r>
            <a:endParaRPr/>
          </a:p>
          <a:p>
            <a:pPr indent="-311150" lvl="1" marL="741362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accent1"/>
              </a:buClr>
              <a:buSzPts val="4900"/>
              <a:buFont typeface="Verdana"/>
              <a:buChar char="◦"/>
            </a:pPr>
            <a:r>
              <a:rPr b="0" i="0" lang="en-US" sz="4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Stronger testing than branch testing.</a:t>
            </a:r>
            <a:endParaRPr/>
          </a:p>
          <a:p>
            <a:pPr indent="-341312" lvl="0" marL="341312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4320"/>
              <a:buFont typeface="Noto Sans Symbols"/>
              <a:buChar char="⚫"/>
            </a:pPr>
            <a:r>
              <a:rPr b="0" i="0" lang="en-US" sz="5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Branch testing:</a:t>
            </a:r>
            <a:endParaRPr/>
          </a:p>
          <a:p>
            <a:pPr indent="-311150" lvl="1" marL="741362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accent1"/>
              </a:buClr>
              <a:buSzPts val="4900"/>
              <a:buFont typeface="Verdana"/>
              <a:buChar char="◦"/>
            </a:pPr>
            <a:r>
              <a:rPr b="0" i="0" lang="en-US" sz="4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Stronger than statement coverage testing. </a:t>
            </a:r>
            <a:endParaRPr/>
          </a:p>
        </p:txBody>
      </p:sp>
      <p:sp>
        <p:nvSpPr>
          <p:cNvPr id="247" name="Google Shape;247;p3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400"/>
              <a:buFont typeface="Gill Sans"/>
              <a:buNone/>
            </a:pPr>
            <a:r>
              <a:rPr b="0" i="0" lang="en-US" sz="54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Branch vs Condition testing</a:t>
            </a:r>
            <a:endParaRPr/>
          </a:p>
        </p:txBody>
      </p:sp>
      <p:sp>
        <p:nvSpPr>
          <p:cNvPr id="253" name="Google Shape;253;p36"/>
          <p:cNvSpPr txBox="1"/>
          <p:nvPr>
            <p:ph idx="1" type="body"/>
          </p:nvPr>
        </p:nvSpPr>
        <p:spPr>
          <a:xfrm>
            <a:off x="1077912" y="1722437"/>
            <a:ext cx="9002712" cy="45370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41312" lvl="0" marL="341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920"/>
              <a:buFont typeface="Noto Sans Symbols"/>
              <a:buChar char="⚫"/>
            </a:pPr>
            <a:r>
              <a:rPr b="0" i="0" lang="en-US" sz="49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Branch testing is the simplest condition testing strategy:</a:t>
            </a:r>
            <a:endParaRPr/>
          </a:p>
          <a:p>
            <a:pPr indent="-284162" lvl="1" marL="741362" marR="0" rtl="0" algn="just">
              <a:lnSpc>
                <a:spcPct val="110000"/>
              </a:lnSpc>
              <a:spcBef>
                <a:spcPts val="685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Verdana"/>
              <a:buChar char="◦"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Compound conditions appearing in different branch statements </a:t>
            </a:r>
            <a:endParaRPr/>
          </a:p>
          <a:p>
            <a:pPr indent="-247650" lvl="2" marL="1141412" marR="0" rtl="0" algn="just">
              <a:lnSpc>
                <a:spcPct val="110000"/>
              </a:lnSpc>
              <a:spcBef>
                <a:spcPts val="610"/>
              </a:spcBef>
              <a:spcAft>
                <a:spcPts val="0"/>
              </a:spcAft>
              <a:buClr>
                <a:schemeClr val="accent2"/>
              </a:buClr>
              <a:buSzPts val="3900"/>
              <a:buFont typeface="Noto Sans Symbols"/>
              <a:buChar char="●"/>
            </a:pPr>
            <a:r>
              <a:rPr b="0" i="0" lang="en-US" sz="3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are given true and false values. </a:t>
            </a:r>
            <a:endParaRPr/>
          </a:p>
        </p:txBody>
      </p:sp>
      <p:sp>
        <p:nvSpPr>
          <p:cNvPr id="254" name="Google Shape;254;p3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Arial Rounded"/>
              <a:buNone/>
            </a:pPr>
            <a:r>
              <a:rPr b="1" i="0" lang="en-US" sz="44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Multiple Condition Coverage</a:t>
            </a:r>
            <a:endParaRPr/>
          </a:p>
        </p:txBody>
      </p:sp>
      <p:sp>
        <p:nvSpPr>
          <p:cNvPr id="260" name="Google Shape;260;p37"/>
          <p:cNvSpPr txBox="1"/>
          <p:nvPr>
            <p:ph idx="1" type="body"/>
          </p:nvPr>
        </p:nvSpPr>
        <p:spPr>
          <a:xfrm>
            <a:off x="1574800" y="2130425"/>
            <a:ext cx="7558087" cy="492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Multiple condition coverage reports whether every possible combination of Boolean sub-expressions occurs. </a:t>
            </a:r>
            <a:endParaRPr/>
          </a:p>
          <a:p>
            <a:pPr indent="-309562" lvl="0" marL="4000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36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test cases required for full multiple condition coverage of a condition are essentially given by the logical operator truth table for the condition.</a:t>
            </a:r>
            <a:endParaRPr/>
          </a:p>
          <a:p>
            <a:pPr indent="-147002" lvl="0" marL="4000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47002" lvl="0" marL="4000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47003" lvl="0" marL="40005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1" name="Google Shape;261;p37"/>
          <p:cNvSpPr txBox="1"/>
          <p:nvPr/>
        </p:nvSpPr>
        <p:spPr>
          <a:xfrm>
            <a:off x="9018587" y="6681787"/>
            <a:ext cx="503237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/>
          <p:nvPr>
            <p:ph idx="1" type="body"/>
          </p:nvPr>
        </p:nvSpPr>
        <p:spPr>
          <a:xfrm>
            <a:off x="1979612" y="2352675"/>
            <a:ext cx="7532687" cy="4164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cases are designed such that:</a:t>
            </a:r>
            <a:endParaRPr/>
          </a:p>
          <a:p>
            <a:pPr indent="-260349" lvl="1" marL="703262" rtl="0" algn="just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component of a composite conditional expression  </a:t>
            </a:r>
            <a:endParaRPr/>
          </a:p>
          <a:p>
            <a:pPr indent="-249237" lvl="2" marL="974725" rtl="0" algn="just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given both true and false values. </a:t>
            </a:r>
            <a:endParaRPr/>
          </a:p>
        </p:txBody>
      </p:sp>
      <p:sp>
        <p:nvSpPr>
          <p:cNvPr id="267" name="Google Shape;267;p38"/>
          <p:cNvSpPr txBox="1"/>
          <p:nvPr>
            <p:ph type="title"/>
          </p:nvPr>
        </p:nvSpPr>
        <p:spPr>
          <a:xfrm>
            <a:off x="1230312" y="274637"/>
            <a:ext cx="8686800" cy="1411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3200"/>
              <a:buFont typeface="Arial Rounded"/>
              <a:buNone/>
            </a:pPr>
            <a:r>
              <a:rPr b="1" i="0" lang="en-US" sz="32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Multiple Condition Coverage             cont …</a:t>
            </a:r>
            <a:endParaRPr/>
          </a:p>
        </p:txBody>
      </p:sp>
      <p:sp>
        <p:nvSpPr>
          <p:cNvPr id="268" name="Google Shape;268;p38"/>
          <p:cNvSpPr txBox="1"/>
          <p:nvPr/>
        </p:nvSpPr>
        <p:spPr>
          <a:xfrm>
            <a:off x="9018587" y="6681787"/>
            <a:ext cx="503237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Arial Rounded"/>
              <a:buNone/>
            </a:pPr>
            <a:r>
              <a:rPr b="1" i="0" lang="en-US" sz="44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Example</a:t>
            </a:r>
            <a:endParaRPr/>
          </a:p>
        </p:txBody>
      </p:sp>
      <p:sp>
        <p:nvSpPr>
          <p:cNvPr id="274" name="Google Shape;274;p39"/>
          <p:cNvSpPr txBox="1"/>
          <p:nvPr>
            <p:ph idx="1" type="body"/>
          </p:nvPr>
        </p:nvSpPr>
        <p:spPr>
          <a:xfrm>
            <a:off x="2141537" y="2127250"/>
            <a:ext cx="7370762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41312" lvl="0" marL="341312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Consider the conditional expression </a:t>
            </a:r>
            <a:endParaRPr/>
          </a:p>
          <a:p>
            <a:pPr indent="-260349" lvl="1" marL="703262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((c1.and.c2).or.c3):</a:t>
            </a:r>
            <a:endParaRPr/>
          </a:p>
          <a:p>
            <a:pPr indent="-341312" lvl="0" marL="341312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of c1, c2,  and  c3  are exercised at least once, </a:t>
            </a:r>
            <a:endParaRPr/>
          </a:p>
          <a:p>
            <a:pPr indent="-260349" lvl="1" marL="703262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i.e. given true and false values. </a:t>
            </a:r>
            <a:endParaRPr/>
          </a:p>
        </p:txBody>
      </p:sp>
      <p:sp>
        <p:nvSpPr>
          <p:cNvPr id="275" name="Google Shape;275;p39"/>
          <p:cNvSpPr txBox="1"/>
          <p:nvPr/>
        </p:nvSpPr>
        <p:spPr>
          <a:xfrm>
            <a:off x="9018587" y="6681787"/>
            <a:ext cx="503237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 txBox="1"/>
          <p:nvPr>
            <p:ph type="title"/>
          </p:nvPr>
        </p:nvSpPr>
        <p:spPr>
          <a:xfrm>
            <a:off x="1077912" y="0"/>
            <a:ext cx="8785225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3200"/>
              <a:buFont typeface="Arial Rounded"/>
              <a:buNone/>
            </a:pPr>
            <a:r>
              <a:rPr b="1" i="0" lang="en-US" sz="32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Multiple Condition Coverage Examples</a:t>
            </a:r>
            <a:endParaRPr/>
          </a:p>
        </p:txBody>
      </p:sp>
      <p:sp>
        <p:nvSpPr>
          <p:cNvPr id="281" name="Google Shape;281;p40"/>
          <p:cNvSpPr txBox="1"/>
          <p:nvPr/>
        </p:nvSpPr>
        <p:spPr>
          <a:xfrm>
            <a:off x="2300287" y="1265237"/>
            <a:ext cx="5819775" cy="6172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if(A &amp;&amp; B)   // condition 1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F1();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else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		 F2();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if(C || D)      // condition 2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F3()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else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F4();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Cases for MCC: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mic Sans M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64305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9643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condition 1          For condition 2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A=T, B=T                     C=T, D=T 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A=T, B=F                     C=T, D=F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A=F, B=T                     C=F, D=T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A=F, B=F                     C=F, D=F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40"/>
          <p:cNvSpPr txBox="1"/>
          <p:nvPr/>
        </p:nvSpPr>
        <p:spPr>
          <a:xfrm>
            <a:off x="9018587" y="6681787"/>
            <a:ext cx="503237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type="title"/>
          </p:nvPr>
        </p:nvSpPr>
        <p:spPr>
          <a:xfrm>
            <a:off x="1154112" y="274637"/>
            <a:ext cx="8686800" cy="1411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Arial Rounded"/>
              <a:buNone/>
            </a:pPr>
            <a:r>
              <a:rPr b="1" i="0" lang="en-US" sz="40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MCC Testing Adequacy Criterion</a:t>
            </a:r>
            <a:endParaRPr/>
          </a:p>
        </p:txBody>
      </p:sp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1230312" y="1798637"/>
            <a:ext cx="86868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rmAutofit/>
          </a:bodyPr>
          <a:lstStyle/>
          <a:p>
            <a:pPr indent="-309562" lvl="0" marL="4000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Adequacy criterion:</a:t>
            </a: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Each basic condition must be executed at least once</a:t>
            </a:r>
            <a:endParaRPr/>
          </a:p>
          <a:p>
            <a:pPr indent="-309562" lvl="0" marL="400050" rtl="0" algn="just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Coverage:</a:t>
            </a:r>
            <a:endParaRPr/>
          </a:p>
          <a:p>
            <a:pPr indent="-309562" lvl="0" marL="40005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b="0" i="1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b="0" i="0" lang="en-US" sz="3200" u="sng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# truth values taken by all basic conditions</a:t>
            </a:r>
            <a:endParaRPr/>
          </a:p>
          <a:p>
            <a:pPr indent="-309562" lvl="0" marL="40005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b="0" i="0" lang="en-US" sz="32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		     2 * # basic conditions</a:t>
            </a:r>
            <a:endParaRPr/>
          </a:p>
        </p:txBody>
      </p:sp>
      <p:sp>
        <p:nvSpPr>
          <p:cNvPr id="289" name="Google Shape;289;p41"/>
          <p:cNvSpPr txBox="1"/>
          <p:nvPr/>
        </p:nvSpPr>
        <p:spPr>
          <a:xfrm>
            <a:off x="9018587" y="6681787"/>
            <a:ext cx="503237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Arial Rounded"/>
              <a:buNone/>
            </a:pPr>
            <a:r>
              <a:rPr b="1" i="0" lang="en-US" sz="40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Branch Testing vs MCC Testing</a:t>
            </a:r>
            <a:endParaRPr/>
          </a:p>
        </p:txBody>
      </p:sp>
      <p:sp>
        <p:nvSpPr>
          <p:cNvPr id="295" name="Google Shape;295;p42"/>
          <p:cNvSpPr txBox="1"/>
          <p:nvPr>
            <p:ph idx="1" type="body"/>
          </p:nvPr>
        </p:nvSpPr>
        <p:spPr>
          <a:xfrm>
            <a:off x="1860550" y="2079625"/>
            <a:ext cx="7978775" cy="491648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Multiple Condition Coverage testing:</a:t>
            </a:r>
            <a:endParaRPr/>
          </a:p>
          <a:p>
            <a:pPr indent="-260349" lvl="1" marL="703262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Stronger testing than branch testing.</a:t>
            </a:r>
            <a:endParaRPr/>
          </a:p>
          <a:p>
            <a:pPr indent="-309562" lvl="0" marL="40005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Branch testing:</a:t>
            </a:r>
            <a:endParaRPr/>
          </a:p>
          <a:p>
            <a:pPr indent="-260349" lvl="1" marL="703262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Stronger than statement coverage testing. </a:t>
            </a:r>
            <a:endParaRPr/>
          </a:p>
        </p:txBody>
      </p:sp>
      <p:sp>
        <p:nvSpPr>
          <p:cNvPr id="296" name="Google Shape;296;p42"/>
          <p:cNvSpPr txBox="1"/>
          <p:nvPr/>
        </p:nvSpPr>
        <p:spPr>
          <a:xfrm>
            <a:off x="9018587" y="6681787"/>
            <a:ext cx="503237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 txBox="1"/>
          <p:nvPr>
            <p:ph type="title"/>
          </p:nvPr>
        </p:nvSpPr>
        <p:spPr>
          <a:xfrm>
            <a:off x="1154112" y="122237"/>
            <a:ext cx="8724900" cy="1411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3600"/>
              <a:buFont typeface="Arial Rounded"/>
              <a:buNone/>
            </a:pPr>
            <a:r>
              <a:rPr b="1" i="0" lang="en-US" sz="36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Need of a Feasible Testing Technique</a:t>
            </a:r>
            <a:endParaRPr/>
          </a:p>
        </p:txBody>
      </p:sp>
      <p:sp>
        <p:nvSpPr>
          <p:cNvPr id="302" name="Google Shape;302;p43"/>
          <p:cNvSpPr txBox="1"/>
          <p:nvPr>
            <p:ph idx="1" type="body"/>
          </p:nvPr>
        </p:nvSpPr>
        <p:spPr>
          <a:xfrm>
            <a:off x="1306512" y="1646237"/>
            <a:ext cx="8040687" cy="450373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Consider a boolean expression having </a:t>
            </a:r>
            <a:r>
              <a:rPr b="1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components: </a:t>
            </a:r>
            <a:endParaRPr/>
          </a:p>
          <a:p>
            <a:pPr indent="-260349" lvl="1" marL="703262" rtl="0" algn="just">
              <a:lnSpc>
                <a:spcPct val="105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For condition coverage we require 2</a:t>
            </a:r>
            <a:r>
              <a:rPr b="0" baseline="30000" i="0" lang="en-US" sz="32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r>
              <a:rPr b="0" i="0" lang="en-US" sz="32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 test cases.  (example in next slide)</a:t>
            </a:r>
            <a:endParaRPr/>
          </a:p>
          <a:p>
            <a:pPr indent="-309562" lvl="0" marL="400050" rtl="0" algn="just">
              <a:lnSpc>
                <a:spcPct val="105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Condition coverage-based testing technique:</a:t>
            </a:r>
            <a:endParaRPr/>
          </a:p>
          <a:p>
            <a:pPr indent="-260349" lvl="1" marL="703262" rtl="0" algn="just">
              <a:lnSpc>
                <a:spcPct val="105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Practical only if </a:t>
            </a:r>
            <a:r>
              <a:rPr b="1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(the number of component conditions) is small.</a:t>
            </a:r>
            <a:endParaRPr/>
          </a:p>
        </p:txBody>
      </p:sp>
      <p:sp>
        <p:nvSpPr>
          <p:cNvPr id="303" name="Google Shape;303;p43"/>
          <p:cNvSpPr txBox="1"/>
          <p:nvPr/>
        </p:nvSpPr>
        <p:spPr>
          <a:xfrm>
            <a:off x="9029700" y="6681787"/>
            <a:ext cx="504825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/>
          <p:nvPr>
            <p:ph type="title"/>
          </p:nvPr>
        </p:nvSpPr>
        <p:spPr>
          <a:xfrm>
            <a:off x="7359650" y="2522537"/>
            <a:ext cx="2481262" cy="7556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Gill Sans"/>
              <a:buNone/>
            </a:pPr>
            <a:r>
              <a:rPr b="0" i="0" lang="en-US" sz="40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MCC</a:t>
            </a:r>
            <a:endParaRPr/>
          </a:p>
        </p:txBody>
      </p:sp>
      <p:sp>
        <p:nvSpPr>
          <p:cNvPr id="309" name="Google Shape;309;p44"/>
          <p:cNvSpPr txBox="1"/>
          <p:nvPr>
            <p:ph idx="1" type="body"/>
          </p:nvPr>
        </p:nvSpPr>
        <p:spPr>
          <a:xfrm>
            <a:off x="849312" y="-1587"/>
            <a:ext cx="8991600" cy="89630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0" lvl="0" marL="88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Consider: </a:t>
            </a:r>
            <a:r>
              <a:rPr b="1" i="0" lang="en-US" sz="28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if (a || b &amp;&amp;  c)  then …</a:t>
            </a:r>
            <a:endParaRPr/>
          </a:p>
          <a:p>
            <a:pPr indent="0" lvl="0" marL="8890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	Test   	a 	b 	c</a:t>
            </a:r>
            <a:endParaRPr/>
          </a:p>
          <a:p>
            <a:pPr indent="0" lvl="0" marL="8890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(1)		</a:t>
            </a:r>
            <a:r>
              <a:rPr b="1" i="0" lang="en-US" sz="1800" u="non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T	T	T</a:t>
            </a:r>
            <a:r>
              <a:rPr b="1" i="0" lang="en-US" sz="1800" u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/>
          </a:p>
          <a:p>
            <a:pPr indent="0" lvl="0" marL="8890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(2)		</a:t>
            </a:r>
            <a:r>
              <a:rPr b="1" i="0" lang="en-US" sz="1800" u="non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T	T	F</a:t>
            </a:r>
            <a:endParaRPr/>
          </a:p>
          <a:p>
            <a:pPr indent="0" lvl="0" marL="8890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(3)		</a:t>
            </a:r>
            <a:r>
              <a:rPr b="1" i="0" lang="en-US" sz="1800" u="non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T	F	T</a:t>
            </a:r>
            <a:endParaRPr/>
          </a:p>
          <a:p>
            <a:pPr indent="0" lvl="0" marL="8890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(4)		</a:t>
            </a:r>
            <a:r>
              <a:rPr b="1" i="0" lang="en-US" sz="1800" u="non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T	F	F</a:t>
            </a:r>
            <a:endParaRPr/>
          </a:p>
          <a:p>
            <a:pPr indent="0" lvl="0" marL="8890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(5)		</a:t>
            </a:r>
            <a:r>
              <a:rPr b="1" i="0" lang="en-US" sz="1800" u="non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F	T	T</a:t>
            </a:r>
            <a:endParaRPr/>
          </a:p>
          <a:p>
            <a:pPr indent="0" lvl="0" marL="8890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(6)		</a:t>
            </a:r>
            <a:r>
              <a:rPr b="1" i="0" lang="en-US" sz="1800" u="non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T	T            F</a:t>
            </a:r>
            <a:endParaRPr/>
          </a:p>
          <a:p>
            <a:pPr indent="0" lvl="0" marL="8890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(7)		</a:t>
            </a:r>
            <a:r>
              <a:rPr b="1" i="0" lang="en-US" sz="1800" u="non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F	F	T</a:t>
            </a:r>
            <a:endParaRPr/>
          </a:p>
          <a:p>
            <a:pPr indent="0" lvl="0" marL="8890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(8)		</a:t>
            </a:r>
            <a:r>
              <a:rPr b="1" i="0" lang="en-US" sz="1800" u="non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F	F	F</a:t>
            </a:r>
            <a:endParaRPr/>
          </a:p>
          <a:p>
            <a:pPr indent="-218123" lvl="0" marL="400050" marR="0" rtl="0" algn="l">
              <a:spcBef>
                <a:spcPts val="1863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1" i="0" sz="1800" u="none">
              <a:solidFill>
                <a:srgbClr val="C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0" name="Google Shape;310;p44"/>
          <p:cNvSpPr txBox="1"/>
          <p:nvPr/>
        </p:nvSpPr>
        <p:spPr>
          <a:xfrm>
            <a:off x="6216650" y="3916362"/>
            <a:ext cx="2971800" cy="15875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700"/>
              <a:buFont typeface="Comic Sans MS"/>
              <a:buNone/>
            </a:pPr>
            <a:r>
              <a:rPr b="1" i="0" lang="en-US" sz="270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Exponential in the number of basic conditions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type="title"/>
          </p:nvPr>
        </p:nvSpPr>
        <p:spPr>
          <a:xfrm>
            <a:off x="1001712" y="122237"/>
            <a:ext cx="9220200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Modified </a:t>
            </a:r>
            <a:r>
              <a:rPr b="0" i="0" lang="en-US" sz="48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condition/decision</a:t>
            </a: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(MC/DC)</a:t>
            </a:r>
            <a:endParaRPr/>
          </a:p>
        </p:txBody>
      </p:sp>
      <p:sp>
        <p:nvSpPr>
          <p:cNvPr id="316" name="Google Shape;316;p45"/>
          <p:cNvSpPr txBox="1"/>
          <p:nvPr>
            <p:ph idx="1" type="body"/>
          </p:nvPr>
        </p:nvSpPr>
        <p:spPr>
          <a:xfrm>
            <a:off x="1306512" y="15700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Char char="⚫"/>
            </a:pPr>
            <a:r>
              <a:rPr b="0" i="0" lang="en-US" sz="31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Motivation: Effectively test </a:t>
            </a:r>
            <a:r>
              <a:rPr b="0" i="0" lang="en-US" sz="3100" u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important combinations</a:t>
            </a:r>
            <a:r>
              <a:rPr b="0" i="0" lang="en-US" sz="31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of conditions, without exponential blowup in test suite size </a:t>
            </a:r>
            <a:endParaRPr/>
          </a:p>
          <a:p>
            <a:pPr indent="-260349" lvl="1" marL="703262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Verdana"/>
              <a:buChar char="◦"/>
            </a:pP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“Important” combinations means: Each basic condition shown to independently affect the outcome of each decision</a:t>
            </a:r>
            <a:endParaRPr/>
          </a:p>
          <a:p>
            <a:pPr indent="-309562" lvl="0" marL="4000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Char char="⚫"/>
            </a:pPr>
            <a:r>
              <a:rPr b="0" i="0" lang="en-US" sz="31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Requires:  </a:t>
            </a:r>
            <a:endParaRPr/>
          </a:p>
          <a:p>
            <a:pPr indent="-260349" lvl="1" marL="703262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Verdana"/>
              <a:buChar char="◦"/>
            </a:pP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each basic condition C, two test cases,</a:t>
            </a:r>
            <a:endParaRPr/>
          </a:p>
          <a:p>
            <a:pPr indent="-260349" lvl="1" marL="703262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Verdana"/>
              <a:buChar char="◦"/>
            </a:pP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values of all </a:t>
            </a:r>
            <a:r>
              <a:rPr b="0" i="1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evaluated</a:t>
            </a: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conditions except C are the same</a:t>
            </a:r>
            <a:endParaRPr/>
          </a:p>
          <a:p>
            <a:pPr indent="-260349" lvl="1" marL="703262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Verdana"/>
              <a:buChar char="◦"/>
            </a:pP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compound condition as a whole evaluates to </a:t>
            </a:r>
            <a:r>
              <a:rPr b="0" i="1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true</a:t>
            </a: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for one and </a:t>
            </a:r>
            <a:r>
              <a:rPr b="0" i="1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false</a:t>
            </a: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for the other</a:t>
            </a:r>
            <a:endParaRPr/>
          </a:p>
        </p:txBody>
      </p:sp>
      <p:sp>
        <p:nvSpPr>
          <p:cNvPr id="317" name="Google Shape;317;p4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What is MC/DC?</a:t>
            </a:r>
            <a:endParaRPr/>
          </a:p>
        </p:txBody>
      </p:sp>
      <p:sp>
        <p:nvSpPr>
          <p:cNvPr id="323" name="Google Shape;323;p46"/>
          <p:cNvSpPr txBox="1"/>
          <p:nvPr>
            <p:ph idx="1" type="body"/>
          </p:nvPr>
        </p:nvSpPr>
        <p:spPr>
          <a:xfrm>
            <a:off x="1077912" y="1417637"/>
            <a:ext cx="9002712" cy="56197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455612" lvl="0" marL="4556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Noto Sans Symbols"/>
              <a:buChar char="⚫"/>
            </a:pPr>
            <a:r>
              <a:rPr b="0" i="0" lang="en-US" sz="3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MC/DC stands for </a:t>
            </a:r>
            <a:r>
              <a:rPr b="1" i="0" lang="en-US" sz="34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M</a:t>
            </a:r>
            <a:r>
              <a:rPr b="0" i="0" lang="en-US" sz="34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odified  </a:t>
            </a:r>
            <a:r>
              <a:rPr b="1" i="0" lang="en-US" sz="34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="0" i="0" lang="en-US" sz="34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ondition / </a:t>
            </a:r>
            <a:r>
              <a:rPr b="1" i="0" lang="en-US" sz="34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D</a:t>
            </a:r>
            <a:r>
              <a:rPr b="0" i="0" lang="en-US" sz="34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ecision </a:t>
            </a:r>
            <a:r>
              <a:rPr b="1" i="0" lang="en-US" sz="34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="0" i="0" lang="en-US" sz="34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overage</a:t>
            </a:r>
            <a:endParaRPr/>
          </a:p>
          <a:p>
            <a:pPr indent="-455612" lvl="0" marL="455612" marR="0" rtl="0" algn="just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Noto Sans Symbols"/>
              <a:buChar char="⚫"/>
            </a:pPr>
            <a:r>
              <a:rPr b="0" i="0" lang="en-US" sz="3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kind of Predicate Coverage technique</a:t>
            </a:r>
            <a:endParaRPr/>
          </a:p>
          <a:p>
            <a:pPr indent="-379412" lvl="1" marL="836612" marR="0" rtl="0" algn="just">
              <a:lnSpc>
                <a:spcPct val="110000"/>
              </a:lnSpc>
              <a:spcBef>
                <a:spcPts val="79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Verdana"/>
              <a:buChar char="◦"/>
            </a:pPr>
            <a:r>
              <a:rPr b="0" i="0" lang="en-US" sz="30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Condition:</a:t>
            </a: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Leaf level Boolean expression.</a:t>
            </a:r>
            <a:endParaRPr/>
          </a:p>
          <a:p>
            <a:pPr indent="-379412" lvl="1" marL="836612" marR="0" rtl="0" algn="just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Verdana"/>
              <a:buChar char="◦"/>
            </a:pPr>
            <a:r>
              <a:rPr b="0" i="0" lang="en-US" sz="3000" u="none" cap="none" strike="noStrik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Decision:</a:t>
            </a: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Controls the program flow.</a:t>
            </a:r>
            <a:endParaRPr/>
          </a:p>
          <a:p>
            <a:pPr indent="-455612" lvl="0" marL="455612" marR="0" rtl="0" algn="just">
              <a:lnSpc>
                <a:spcPct val="110000"/>
              </a:lnSpc>
              <a:spcBef>
                <a:spcPts val="81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Noto Sans Symbols"/>
              <a:buChar char="⚫"/>
            </a:pPr>
            <a:r>
              <a:rPr b="0" i="0" lang="en-US" sz="3400" u="none">
                <a:solidFill>
                  <a:srgbClr val="0000CC"/>
                </a:solidFill>
                <a:latin typeface="Gill Sans"/>
                <a:ea typeface="Gill Sans"/>
                <a:cs typeface="Gill Sans"/>
                <a:sym typeface="Gill Sans"/>
              </a:rPr>
              <a:t>Main idea:</a:t>
            </a:r>
            <a:r>
              <a:rPr b="0" i="0" lang="en-US" sz="3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3400" u="none">
                <a:solidFill>
                  <a:srgbClr val="6600FF"/>
                </a:solidFill>
                <a:latin typeface="Gill Sans"/>
                <a:ea typeface="Gill Sans"/>
                <a:cs typeface="Gill Sans"/>
                <a:sym typeface="Gill Sans"/>
              </a:rPr>
              <a:t>Each condition must be shown to independently affect the outcome of a decision, i.e. the outcome of a decision changes as a result of changing a single condition.</a:t>
            </a:r>
            <a:endParaRPr/>
          </a:p>
        </p:txBody>
      </p:sp>
      <p:sp>
        <p:nvSpPr>
          <p:cNvPr id="324" name="Google Shape;324;p46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b="0" i="0" lang="en-US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  <p:pic>
        <p:nvPicPr>
          <p:cNvPr id="330" name="Google Shape;330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93837"/>
            <a:ext cx="10080625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/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6" name="Google Shape;336;p48"/>
          <p:cNvSpPr txBox="1"/>
          <p:nvPr/>
        </p:nvSpPr>
        <p:spPr>
          <a:xfrm>
            <a:off x="6030912" y="3932237"/>
            <a:ext cx="762000" cy="838200"/>
          </a:xfrm>
          <a:prstGeom prst="rect">
            <a:avLst/>
          </a:prstGeom>
          <a:solidFill>
            <a:srgbClr val="CCE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7" name="Google Shape;337;p48"/>
          <p:cNvSpPr txBox="1"/>
          <p:nvPr/>
        </p:nvSpPr>
        <p:spPr>
          <a:xfrm>
            <a:off x="4125912" y="3932237"/>
            <a:ext cx="762000" cy="838200"/>
          </a:xfrm>
          <a:prstGeom prst="rect">
            <a:avLst/>
          </a:prstGeom>
          <a:solidFill>
            <a:srgbClr val="00CC6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8" name="Google Shape;338;p48"/>
          <p:cNvSpPr txBox="1"/>
          <p:nvPr/>
        </p:nvSpPr>
        <p:spPr>
          <a:xfrm>
            <a:off x="1992312" y="3932237"/>
            <a:ext cx="838200" cy="838200"/>
          </a:xfrm>
          <a:prstGeom prst="rect">
            <a:avLst/>
          </a:prstGeom>
          <a:solidFill>
            <a:srgbClr val="FFCC6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9" name="Google Shape;339;p48"/>
          <p:cNvSpPr txBox="1"/>
          <p:nvPr/>
        </p:nvSpPr>
        <p:spPr>
          <a:xfrm>
            <a:off x="1479550" y="4183062"/>
            <a:ext cx="7751762" cy="47148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mic Sans MS"/>
              <a:buNone/>
            </a:pPr>
            <a:r>
              <a:rPr b="1" i="0" lang="en-US" sz="2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((a)    &amp;      (b)    |     (c)) then…</a:t>
            </a:r>
            <a:endParaRPr/>
          </a:p>
        </p:txBody>
      </p:sp>
      <p:sp>
        <p:nvSpPr>
          <p:cNvPr id="340" name="Google Shape;340;p48"/>
          <p:cNvSpPr txBox="1"/>
          <p:nvPr>
            <p:ph type="title"/>
          </p:nvPr>
        </p:nvSpPr>
        <p:spPr>
          <a:xfrm>
            <a:off x="504825" y="-47625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rtl="0" algn="just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</a:pPr>
            <a:r>
              <a:rPr b="1" i="0" lang="en-US" sz="47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 Coverage</a:t>
            </a:r>
            <a:endParaRPr/>
          </a:p>
        </p:txBody>
      </p:sp>
      <p:sp>
        <p:nvSpPr>
          <p:cNvPr id="341" name="Google Shape;341;p48"/>
          <p:cNvSpPr txBox="1"/>
          <p:nvPr>
            <p:ph idx="1" type="body"/>
          </p:nvPr>
        </p:nvSpPr>
        <p:spPr>
          <a:xfrm>
            <a:off x="317500" y="1874837"/>
            <a:ext cx="9253537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71475" lvl="0" marL="371475" rtl="0" algn="just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Comic Sans MS"/>
              <a:buChar char="•"/>
            </a:pPr>
            <a:r>
              <a:rPr b="0" i="0" lang="en-US" sz="3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condition in the decision has taken all possible outcomes at least once.</a:t>
            </a:r>
            <a:endParaRPr/>
          </a:p>
          <a:p>
            <a:pPr indent="-123825" lvl="0" marL="371475" rtl="0" algn="l">
              <a:lnSpc>
                <a:spcPct val="9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Comic Sans MS"/>
              <a:buNone/>
            </a:pPr>
            <a:r>
              <a:t/>
            </a:r>
            <a:endParaRPr b="0" i="0" sz="39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71475" lvl="0" marL="371475" rtl="0" algn="l">
              <a:lnSpc>
                <a:spcPct val="9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Comic Sans MS"/>
              <a:buChar char="•"/>
            </a:pPr>
            <a:r>
              <a:rPr b="0" i="0" lang="en-US" sz="39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       </a:t>
            </a:r>
            <a:endParaRPr/>
          </a:p>
          <a:p>
            <a:pPr indent="-123825" lvl="0" marL="371475" rtl="0" algn="l">
              <a:lnSpc>
                <a:spcPct val="9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Comic Sans MS"/>
              <a:buNone/>
            </a:pPr>
            <a:r>
              <a:t/>
            </a:r>
            <a:endParaRPr b="0" i="0" sz="39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23825" lvl="0" marL="371475" rtl="0" algn="l">
              <a:lnSpc>
                <a:spcPct val="91000"/>
              </a:lnSpc>
              <a:spcBef>
                <a:spcPts val="975"/>
              </a:spcBef>
              <a:spcAft>
                <a:spcPts val="0"/>
              </a:spcAft>
              <a:buSzPts val="3900"/>
              <a:buNone/>
            </a:pPr>
            <a:r>
              <a:t/>
            </a:r>
            <a:endParaRPr b="0" i="0" sz="39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42" name="Google Shape;342;p48"/>
          <p:cNvCxnSpPr/>
          <p:nvPr/>
        </p:nvCxnSpPr>
        <p:spPr>
          <a:xfrm flipH="1">
            <a:off x="1939925" y="4659312"/>
            <a:ext cx="317500" cy="39687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43" name="Google Shape;343;p48"/>
          <p:cNvCxnSpPr/>
          <p:nvPr/>
        </p:nvCxnSpPr>
        <p:spPr>
          <a:xfrm>
            <a:off x="2601912" y="4770437"/>
            <a:ext cx="300037" cy="3778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44" name="Google Shape;344;p48"/>
          <p:cNvSpPr txBox="1"/>
          <p:nvPr/>
        </p:nvSpPr>
        <p:spPr>
          <a:xfrm>
            <a:off x="1620837" y="5005387"/>
            <a:ext cx="71437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</a:pPr>
            <a:r>
              <a:rPr b="1" i="0" lang="en-US" sz="2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true</a:t>
            </a:r>
            <a:endParaRPr/>
          </a:p>
        </p:txBody>
      </p:sp>
      <p:sp>
        <p:nvSpPr>
          <p:cNvPr id="345" name="Google Shape;345;p48"/>
          <p:cNvSpPr txBox="1"/>
          <p:nvPr/>
        </p:nvSpPr>
        <p:spPr>
          <a:xfrm>
            <a:off x="2495550" y="5005387"/>
            <a:ext cx="804862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</a:pPr>
            <a:r>
              <a:rPr b="1" i="0" lang="en-US" sz="2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false</a:t>
            </a:r>
            <a:endParaRPr/>
          </a:p>
        </p:txBody>
      </p:sp>
      <p:cxnSp>
        <p:nvCxnSpPr>
          <p:cNvPr id="346" name="Google Shape;346;p48"/>
          <p:cNvCxnSpPr/>
          <p:nvPr/>
        </p:nvCxnSpPr>
        <p:spPr>
          <a:xfrm flipH="1">
            <a:off x="4003675" y="4673600"/>
            <a:ext cx="255587" cy="38258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47" name="Google Shape;347;p48"/>
          <p:cNvCxnSpPr/>
          <p:nvPr/>
        </p:nvCxnSpPr>
        <p:spPr>
          <a:xfrm>
            <a:off x="4575175" y="4673600"/>
            <a:ext cx="222250" cy="38258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48" name="Google Shape;348;p48"/>
          <p:cNvCxnSpPr/>
          <p:nvPr/>
        </p:nvCxnSpPr>
        <p:spPr>
          <a:xfrm flipH="1">
            <a:off x="6067425" y="4660900"/>
            <a:ext cx="239712" cy="39528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49" name="Google Shape;349;p48"/>
          <p:cNvCxnSpPr/>
          <p:nvPr/>
        </p:nvCxnSpPr>
        <p:spPr>
          <a:xfrm>
            <a:off x="6623050" y="4660900"/>
            <a:ext cx="238125" cy="39528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50" name="Google Shape;350;p48"/>
          <p:cNvSpPr txBox="1"/>
          <p:nvPr/>
        </p:nvSpPr>
        <p:spPr>
          <a:xfrm>
            <a:off x="3725862" y="5005387"/>
            <a:ext cx="71437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</a:pPr>
            <a:r>
              <a:rPr b="1" i="0" lang="en-US" sz="2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true</a:t>
            </a:r>
            <a:endParaRPr/>
          </a:p>
        </p:txBody>
      </p:sp>
      <p:sp>
        <p:nvSpPr>
          <p:cNvPr id="351" name="Google Shape;351;p48"/>
          <p:cNvSpPr txBox="1"/>
          <p:nvPr/>
        </p:nvSpPr>
        <p:spPr>
          <a:xfrm>
            <a:off x="4598987" y="5005387"/>
            <a:ext cx="804862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</a:pPr>
            <a:r>
              <a:rPr b="1" i="0" lang="en-US" sz="2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false</a:t>
            </a:r>
            <a:endParaRPr/>
          </a:p>
        </p:txBody>
      </p:sp>
      <p:sp>
        <p:nvSpPr>
          <p:cNvPr id="352" name="Google Shape;352;p48"/>
          <p:cNvSpPr txBox="1"/>
          <p:nvPr/>
        </p:nvSpPr>
        <p:spPr>
          <a:xfrm>
            <a:off x="5788025" y="5005387"/>
            <a:ext cx="71437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</a:pPr>
            <a:r>
              <a:rPr b="1" i="0" lang="en-US" sz="2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true</a:t>
            </a:r>
            <a:endParaRPr/>
          </a:p>
        </p:txBody>
      </p:sp>
      <p:sp>
        <p:nvSpPr>
          <p:cNvPr id="353" name="Google Shape;353;p48"/>
          <p:cNvSpPr txBox="1"/>
          <p:nvPr/>
        </p:nvSpPr>
        <p:spPr>
          <a:xfrm>
            <a:off x="6661150" y="5005387"/>
            <a:ext cx="804862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None/>
            </a:pPr>
            <a:r>
              <a:rPr b="1" i="0" lang="en-US" sz="2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false</a:t>
            </a:r>
            <a:endParaRPr/>
          </a:p>
        </p:txBody>
      </p:sp>
      <p:sp>
        <p:nvSpPr>
          <p:cNvPr id="354" name="Google Shape;354;p48"/>
          <p:cNvSpPr txBox="1"/>
          <p:nvPr/>
        </p:nvSpPr>
        <p:spPr>
          <a:xfrm>
            <a:off x="3243262" y="4251325"/>
            <a:ext cx="5334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&amp;</a:t>
            </a:r>
            <a:endParaRPr/>
          </a:p>
        </p:txBody>
      </p:sp>
      <p:sp>
        <p:nvSpPr>
          <p:cNvPr id="355" name="Google Shape;355;p48"/>
          <p:cNvSpPr txBox="1"/>
          <p:nvPr/>
        </p:nvSpPr>
        <p:spPr>
          <a:xfrm>
            <a:off x="5205412" y="4237037"/>
            <a:ext cx="5334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ic Sans MS"/>
              <a:buNone/>
            </a:pPr>
            <a:r>
              <a:rPr b="1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|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9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MC/DC Coverage</a:t>
            </a:r>
            <a:endParaRPr/>
          </a:p>
        </p:txBody>
      </p:sp>
      <p:sp>
        <p:nvSpPr>
          <p:cNvPr id="361" name="Google Shape;361;p49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⚫"/>
            </a:pPr>
            <a:r>
              <a:rPr b="0" i="0" lang="en-US" sz="35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Every condition in the decision independently affects the decision’s outcome.</a:t>
            </a:r>
            <a:endParaRPr/>
          </a:p>
          <a:p>
            <a:pPr indent="-131761" lvl="0" marL="400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31763" lvl="0" marL="40005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2" name="Google Shape;362;p49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3" name="Google Shape;363;p49"/>
          <p:cNvSpPr txBox="1"/>
          <p:nvPr/>
        </p:nvSpPr>
        <p:spPr>
          <a:xfrm>
            <a:off x="4584700" y="4572000"/>
            <a:ext cx="2678112" cy="476250"/>
          </a:xfrm>
          <a:prstGeom prst="rect">
            <a:avLst/>
          </a:prstGeom>
          <a:solidFill>
            <a:srgbClr val="00CC6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64" name="Google Shape;364;p49"/>
          <p:cNvSpPr txBox="1"/>
          <p:nvPr/>
        </p:nvSpPr>
        <p:spPr>
          <a:xfrm>
            <a:off x="2579687" y="4572000"/>
            <a:ext cx="476250" cy="476250"/>
          </a:xfrm>
          <a:prstGeom prst="rect">
            <a:avLst/>
          </a:prstGeom>
          <a:solidFill>
            <a:srgbClr val="FFCC6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65" name="Google Shape;365;p49"/>
          <p:cNvSpPr txBox="1"/>
          <p:nvPr/>
        </p:nvSpPr>
        <p:spPr>
          <a:xfrm>
            <a:off x="1784350" y="4572000"/>
            <a:ext cx="7065962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i="0" lang="en-US" sz="2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((a)   &amp;&amp;     (b)    ||   (c)) then…</a:t>
            </a:r>
            <a:endParaRPr/>
          </a:p>
        </p:txBody>
      </p:sp>
      <p:cxnSp>
        <p:nvCxnSpPr>
          <p:cNvPr id="366" name="Google Shape;366;p49"/>
          <p:cNvCxnSpPr/>
          <p:nvPr/>
        </p:nvCxnSpPr>
        <p:spPr>
          <a:xfrm flipH="1">
            <a:off x="2341562" y="5048250"/>
            <a:ext cx="317500" cy="39687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67" name="Google Shape;367;p49"/>
          <p:cNvCxnSpPr/>
          <p:nvPr/>
        </p:nvCxnSpPr>
        <p:spPr>
          <a:xfrm>
            <a:off x="2974975" y="5048250"/>
            <a:ext cx="239712" cy="39687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68" name="Google Shape;368;p49"/>
          <p:cNvSpPr txBox="1"/>
          <p:nvPr/>
        </p:nvSpPr>
        <p:spPr>
          <a:xfrm>
            <a:off x="2022475" y="5411787"/>
            <a:ext cx="601662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/>
          </a:p>
        </p:txBody>
      </p:sp>
      <p:sp>
        <p:nvSpPr>
          <p:cNvPr id="369" name="Google Shape;369;p49"/>
          <p:cNvSpPr txBox="1"/>
          <p:nvPr/>
        </p:nvSpPr>
        <p:spPr>
          <a:xfrm>
            <a:off x="2897187" y="5487987"/>
            <a:ext cx="6906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/>
          </a:p>
        </p:txBody>
      </p:sp>
      <p:cxnSp>
        <p:nvCxnSpPr>
          <p:cNvPr id="370" name="Google Shape;370;p49"/>
          <p:cNvCxnSpPr/>
          <p:nvPr/>
        </p:nvCxnSpPr>
        <p:spPr>
          <a:xfrm flipH="1">
            <a:off x="4802187" y="5049837"/>
            <a:ext cx="17462" cy="39846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71" name="Google Shape;371;p49"/>
          <p:cNvCxnSpPr/>
          <p:nvPr/>
        </p:nvCxnSpPr>
        <p:spPr>
          <a:xfrm>
            <a:off x="6865937" y="5049837"/>
            <a:ext cx="0" cy="39846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72" name="Google Shape;372;p49"/>
          <p:cNvSpPr txBox="1"/>
          <p:nvPr/>
        </p:nvSpPr>
        <p:spPr>
          <a:xfrm>
            <a:off x="4483100" y="5448300"/>
            <a:ext cx="601662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/>
          </a:p>
        </p:txBody>
      </p:sp>
      <p:sp>
        <p:nvSpPr>
          <p:cNvPr id="373" name="Google Shape;373;p49"/>
          <p:cNvSpPr txBox="1"/>
          <p:nvPr/>
        </p:nvSpPr>
        <p:spPr>
          <a:xfrm>
            <a:off x="6548437" y="5448300"/>
            <a:ext cx="690562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/>
          </a:p>
        </p:txBody>
      </p:sp>
      <p:sp>
        <p:nvSpPr>
          <p:cNvPr id="374" name="Google Shape;374;p49"/>
          <p:cNvSpPr txBox="1"/>
          <p:nvPr/>
        </p:nvSpPr>
        <p:spPr>
          <a:xfrm>
            <a:off x="4881562" y="6002337"/>
            <a:ext cx="4603750" cy="963612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66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50375" lIns="100750" spcFirstLastPara="1" rIns="100750" wrap="square" tIns="50375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Comic Sans MS"/>
              <a:buNone/>
            </a:pPr>
            <a:r>
              <a:rPr b="1" i="0" lang="en-US" sz="2000" u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Change the value of each condition individually while keeping all other conditions constant.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"/>
          <p:cNvSpPr txBox="1"/>
          <p:nvPr/>
        </p:nvSpPr>
        <p:spPr>
          <a:xfrm>
            <a:off x="7224712" y="6884987"/>
            <a:ext cx="2346325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0" name="Google Shape;380;p50"/>
          <p:cNvSpPr txBox="1"/>
          <p:nvPr>
            <p:ph type="title"/>
          </p:nvPr>
        </p:nvSpPr>
        <p:spPr>
          <a:xfrm>
            <a:off x="504825" y="-47625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</a:pPr>
            <a:r>
              <a:rPr b="1" i="0" lang="en-US" sz="4700" u="none">
                <a:solidFill>
                  <a:srgbClr val="660033"/>
                </a:solidFill>
                <a:latin typeface="Arial"/>
                <a:ea typeface="Arial"/>
                <a:cs typeface="Arial"/>
                <a:sym typeface="Arial"/>
              </a:rPr>
              <a:t>MC/DC: linear complexity</a:t>
            </a:r>
            <a:endParaRPr/>
          </a:p>
        </p:txBody>
      </p:sp>
      <p:sp>
        <p:nvSpPr>
          <p:cNvPr id="381" name="Google Shape;381;p50"/>
          <p:cNvSpPr txBox="1"/>
          <p:nvPr>
            <p:ph idx="1" type="body"/>
          </p:nvPr>
        </p:nvSpPr>
        <p:spPr>
          <a:xfrm>
            <a:off x="620712" y="1722437"/>
            <a:ext cx="9067800" cy="55022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69887" lvl="0" marL="36988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N+1 test cases for N basic conditions</a:t>
            </a:r>
            <a:endParaRPr/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887" lvl="0" marL="369887" rtl="0" algn="ctr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b="1" i="0" lang="en-US" sz="18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(((a || b) &amp;&amp; c) || d) &amp;&amp; e</a:t>
            </a:r>
            <a:endParaRPr/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		a 		b 		c 		d		e 		outcome</a:t>
            </a:r>
            <a:endParaRPr/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Case</a:t>
            </a:r>
            <a:endParaRPr/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(1)		</a:t>
            </a:r>
            <a:r>
              <a:rPr b="1" i="0" lang="en-US" sz="1400" u="sng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1" i="0" lang="en-US" sz="1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--		</a:t>
            </a:r>
            <a:r>
              <a:rPr b="1" i="0" lang="en-US" sz="1400" u="sng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1" i="0" lang="en-US" sz="1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--		</a:t>
            </a:r>
            <a:r>
              <a:rPr b="1" i="0" lang="en-US" sz="1400" u="sng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true	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true</a:t>
            </a:r>
            <a:endParaRPr/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(2)		false		</a:t>
            </a:r>
            <a:r>
              <a:rPr b="1" i="0" lang="en-US" sz="1400" u="sng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1" i="0" lang="en-US" sz="1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true		--		true		true</a:t>
            </a:r>
            <a:endParaRPr/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(3)		true		--		false		</a:t>
            </a:r>
            <a:r>
              <a:rPr b="1" i="0" lang="en-US" sz="1400" u="sng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true		true		</a:t>
            </a:r>
            <a:endParaRPr/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(6)		true		--		true		--		</a:t>
            </a:r>
            <a:r>
              <a:rPr b="1" i="0" lang="en-US" sz="1400" u="sng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1" i="0" lang="en-US" sz="1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false</a:t>
            </a:r>
            <a:endParaRPr b="1" i="0" sz="14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(11)		true		--		</a:t>
            </a:r>
            <a:r>
              <a:rPr b="1" i="0" lang="en-US" sz="1400" u="sng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1" i="0" lang="en-US" sz="1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00" u="sng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false	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--		false</a:t>
            </a:r>
            <a:endParaRPr/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(13)		</a:t>
            </a:r>
            <a:r>
              <a:rPr b="1" i="0" lang="en-US" sz="1400" u="sng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1" i="0" lang="en-US" sz="1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400" u="sng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false	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--		false		--		false</a:t>
            </a:r>
            <a:endParaRPr/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Underlined values independently affect the output of the decision</a:t>
            </a:r>
            <a:endParaRPr/>
          </a:p>
          <a:p>
            <a:pPr indent="-369887" lvl="0" marL="369887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Required by the RTCA/DO-178B standard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"/>
          <p:cNvSpPr txBox="1"/>
          <p:nvPr>
            <p:ph type="title"/>
          </p:nvPr>
        </p:nvSpPr>
        <p:spPr>
          <a:xfrm>
            <a:off x="1014412" y="-411162"/>
            <a:ext cx="9066212" cy="1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455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Comments on MC/DC</a:t>
            </a:r>
            <a:endParaRPr/>
          </a:p>
        </p:txBody>
      </p:sp>
      <p:sp>
        <p:nvSpPr>
          <p:cNvPr id="387" name="Google Shape;387;p51"/>
          <p:cNvSpPr txBox="1"/>
          <p:nvPr>
            <p:ph idx="1" type="body"/>
          </p:nvPr>
        </p:nvSpPr>
        <p:spPr>
          <a:xfrm>
            <a:off x="1001712" y="1189037"/>
            <a:ext cx="9078912" cy="577215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45550" wrap="square" tIns="50375">
            <a:normAutofit/>
          </a:bodyPr>
          <a:lstStyle/>
          <a:p>
            <a:pPr indent="-341312" lvl="0" marL="34131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Char char="⚫"/>
            </a:pPr>
            <a:r>
              <a:rPr b="0" i="0" lang="en-US" sz="31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MC/DC is </a:t>
            </a:r>
            <a:endParaRPr/>
          </a:p>
          <a:p>
            <a:pPr indent="-284162" lvl="1" marL="7810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Verdana"/>
              <a:buChar char="◦"/>
            </a:pP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basic condition coverage (C)</a:t>
            </a:r>
            <a:endParaRPr/>
          </a:p>
          <a:p>
            <a:pPr indent="-284162" lvl="1" marL="7810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Verdana"/>
              <a:buChar char="◦"/>
            </a:pP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branch coverage (DC)</a:t>
            </a:r>
            <a:endParaRPr/>
          </a:p>
          <a:p>
            <a:pPr indent="-284162" lvl="1" marL="7810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Verdana"/>
              <a:buChar char="◦"/>
            </a:pP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plus one additional condition (M): </a:t>
            </a:r>
            <a:b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every condition must </a:t>
            </a:r>
            <a:r>
              <a:rPr b="0" i="1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independently affect</a:t>
            </a: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the decision’s output</a:t>
            </a:r>
            <a:endParaRPr/>
          </a:p>
          <a:p>
            <a:pPr indent="-341312" lvl="0" marL="341312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Char char="⚫"/>
            </a:pPr>
            <a:r>
              <a:rPr b="0" i="0" lang="en-US" sz="31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is subsumed by compound conditions and subsumes all other criteria discussed so far</a:t>
            </a:r>
            <a:endParaRPr/>
          </a:p>
          <a:p>
            <a:pPr indent="-284162" lvl="1" marL="7810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Verdana"/>
              <a:buChar char="◦"/>
            </a:pPr>
            <a:r>
              <a:rPr b="0" i="0" lang="en-US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stronger than statement and branch coverage</a:t>
            </a:r>
            <a:endParaRPr/>
          </a:p>
          <a:p>
            <a:pPr indent="-341312" lvl="0" marL="341312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80"/>
              <a:buFont typeface="Noto Sans Symbols"/>
              <a:buChar char="⚫"/>
            </a:pPr>
            <a:r>
              <a:rPr b="0" i="0" lang="en-US" sz="31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good balance of thoroughness and test size  (and therefore widely used)</a:t>
            </a:r>
            <a:endParaRPr/>
          </a:p>
        </p:txBody>
      </p:sp>
      <p:sp>
        <p:nvSpPr>
          <p:cNvPr id="388" name="Google Shape;388;p51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2"/>
          <p:cNvSpPr txBox="1"/>
          <p:nvPr>
            <p:ph type="title"/>
          </p:nvPr>
        </p:nvSpPr>
        <p:spPr>
          <a:xfrm>
            <a:off x="1458912" y="0"/>
            <a:ext cx="7369175" cy="1411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Arial Rounded"/>
              <a:buNone/>
            </a:pPr>
            <a:r>
              <a:rPr b="1" i="0" lang="en-US" sz="44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Example</a:t>
            </a:r>
            <a:endParaRPr/>
          </a:p>
        </p:txBody>
      </p:sp>
      <p:sp>
        <p:nvSpPr>
          <p:cNvPr id="394" name="Google Shape;394;p52"/>
          <p:cNvSpPr txBox="1"/>
          <p:nvPr>
            <p:ph idx="1" type="body"/>
          </p:nvPr>
        </p:nvSpPr>
        <p:spPr>
          <a:xfrm>
            <a:off x="1154112" y="1265237"/>
            <a:ext cx="8174037" cy="221456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1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(A &amp;&amp; B) then…</a:t>
            </a:r>
            <a:endParaRPr b="0" i="0" sz="28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9562" lvl="0" marL="400050" rtl="0" algn="l">
              <a:lnSpc>
                <a:spcPct val="83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(1) create truth table for conditions.</a:t>
            </a:r>
            <a:endParaRPr/>
          </a:p>
          <a:p>
            <a:pPr indent="-309562" lvl="0" marL="400050" rtl="0" algn="just">
              <a:lnSpc>
                <a:spcPct val="83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b="0" i="0" lang="en-US" sz="2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(2) Extend truth table so that it indicated which test cases can be used to show the independence of each condition.</a:t>
            </a:r>
            <a:endParaRPr/>
          </a:p>
          <a:p>
            <a:pPr indent="-167322" lvl="0" marL="400050" rtl="0" algn="l">
              <a:lnSpc>
                <a:spcPct val="8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7323" lvl="0" marL="400050" rtl="0" algn="l">
              <a:spcBef>
                <a:spcPts val="663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5" name="Google Shape;395;p52"/>
          <p:cNvSpPr/>
          <p:nvPr/>
        </p:nvSpPr>
        <p:spPr>
          <a:xfrm>
            <a:off x="3859212" y="5094287"/>
            <a:ext cx="715962" cy="534987"/>
          </a:xfrm>
          <a:prstGeom prst="rightArrow">
            <a:avLst>
              <a:gd fmla="val 10879" name="adj1"/>
              <a:gd fmla="val 5435" name="adj2"/>
            </a:avLst>
          </a:prstGeom>
          <a:solidFill>
            <a:srgbClr val="CCECFF"/>
          </a:soli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396" name="Google Shape;396;p52"/>
          <p:cNvGraphicFramePr/>
          <p:nvPr/>
        </p:nvGraphicFramePr>
        <p:xfrm>
          <a:off x="1382712" y="37798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{F44608C0-C592-4DC9-A814-990E3A2FF8C8}</a:tableStyleId>
              </a:tblPr>
              <a:tblGrid>
                <a:gridCol w="795325"/>
                <a:gridCol w="1414450"/>
              </a:tblGrid>
              <a:tr h="593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  B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Result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   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   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   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   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7" name="Google Shape;397;p52"/>
          <p:cNvGraphicFramePr/>
          <p:nvPr/>
        </p:nvGraphicFramePr>
        <p:xfrm>
          <a:off x="5040312" y="410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{F44608C0-C592-4DC9-A814-990E3A2FF8C8}</a:tableStyleId>
              </a:tblPr>
              <a:tblGrid>
                <a:gridCol w="1104900"/>
                <a:gridCol w="935025"/>
                <a:gridCol w="1100125"/>
                <a:gridCol w="769925"/>
                <a:gridCol w="782625"/>
              </a:tblGrid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     B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Result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     T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      F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      T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      F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375" marB="50375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52"/>
          <p:cNvSpPr txBox="1"/>
          <p:nvPr/>
        </p:nvSpPr>
        <p:spPr>
          <a:xfrm>
            <a:off x="9018587" y="6986587"/>
            <a:ext cx="503237" cy="401637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3"/>
          <p:cNvSpPr txBox="1"/>
          <p:nvPr>
            <p:ph idx="1" type="body"/>
          </p:nvPr>
        </p:nvSpPr>
        <p:spPr>
          <a:xfrm>
            <a:off x="6038850" y="1798637"/>
            <a:ext cx="3954462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187641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9562" lvl="0" marL="4000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independence of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60349" lvl="1" marL="70326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 1 + 3</a:t>
            </a:r>
            <a:endParaRPr/>
          </a:p>
          <a:p>
            <a:pPr indent="-309562" lvl="0" marL="4000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independence of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60349" lvl="1" marL="70326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 1 + 2</a:t>
            </a:r>
            <a:endParaRPr/>
          </a:p>
          <a:p>
            <a:pPr indent="-309562" lvl="0" marL="4000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Resulting test cases are </a:t>
            </a:r>
            <a:endParaRPr/>
          </a:p>
          <a:p>
            <a:pPr indent="-260349" lvl="1" marL="70326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+ 2 + 3</a:t>
            </a:r>
            <a:endParaRPr/>
          </a:p>
          <a:p>
            <a:pPr indent="-260349" lvl="1" marL="70326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 , T) + (T , F) + (F , T)</a:t>
            </a:r>
            <a:endParaRPr/>
          </a:p>
          <a:p>
            <a:pPr indent="-187643" lvl="0" marL="400050" rtl="0" algn="l">
              <a:spcBef>
                <a:spcPts val="663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04" name="Google Shape;404;p53"/>
          <p:cNvGraphicFramePr/>
          <p:nvPr/>
        </p:nvGraphicFramePr>
        <p:xfrm>
          <a:off x="1077912" y="25606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{F44608C0-C592-4DC9-A814-990E3A2FF8C8}</a:tableStyleId>
              </a:tblPr>
              <a:tblGrid>
                <a:gridCol w="1130300"/>
                <a:gridCol w="957250"/>
                <a:gridCol w="1123950"/>
                <a:gridCol w="787400"/>
                <a:gridCol w="801675"/>
              </a:tblGrid>
              <a:tr h="73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     B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Result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      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      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      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</a:tr>
              <a:tr h="73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      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5" name="Google Shape;405;p53"/>
          <p:cNvSpPr txBox="1"/>
          <p:nvPr>
            <p:ph type="title"/>
          </p:nvPr>
        </p:nvSpPr>
        <p:spPr>
          <a:xfrm>
            <a:off x="1382712" y="122237"/>
            <a:ext cx="7369175" cy="1411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Arial Rounded"/>
              <a:buNone/>
            </a:pPr>
            <a:r>
              <a:rPr b="1" i="0" lang="en-US" sz="44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Example      cont …        </a:t>
            </a:r>
            <a:endParaRPr/>
          </a:p>
        </p:txBody>
      </p:sp>
      <p:sp>
        <p:nvSpPr>
          <p:cNvPr id="406" name="Google Shape;406;p53"/>
          <p:cNvSpPr txBox="1"/>
          <p:nvPr/>
        </p:nvSpPr>
        <p:spPr>
          <a:xfrm>
            <a:off x="9018587" y="6681787"/>
            <a:ext cx="503237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4"/>
          <p:cNvSpPr txBox="1"/>
          <p:nvPr>
            <p:ph type="title"/>
          </p:nvPr>
        </p:nvSpPr>
        <p:spPr>
          <a:xfrm>
            <a:off x="1027112" y="0"/>
            <a:ext cx="7367587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3200"/>
              <a:buFont typeface="Arial Rounded"/>
              <a:buNone/>
            </a:pPr>
            <a:r>
              <a:rPr b="1" i="0" lang="en-US" sz="32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More advanced example</a:t>
            </a:r>
            <a:endParaRPr/>
          </a:p>
        </p:txBody>
      </p:sp>
      <p:sp>
        <p:nvSpPr>
          <p:cNvPr id="412" name="Google Shape;412;p54"/>
          <p:cNvSpPr txBox="1"/>
          <p:nvPr>
            <p:ph idx="1" type="body"/>
          </p:nvPr>
        </p:nvSpPr>
        <p:spPr>
          <a:xfrm>
            <a:off x="1458912" y="808037"/>
            <a:ext cx="73707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b="1" i="0" lang="en-US" sz="32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(A &amp;&amp; (B || C)) then</a:t>
            </a:r>
            <a:r>
              <a:rPr b="1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 b="1" i="0" sz="32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26682" lvl="0" marL="4000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26683" lvl="0" marL="400050" rtl="0" algn="l">
              <a:spcBef>
                <a:spcPts val="663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413" name="Google Shape;413;p54"/>
          <p:cNvGraphicFramePr/>
          <p:nvPr/>
        </p:nvGraphicFramePr>
        <p:xfrm>
          <a:off x="1230312" y="2027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{F44608C0-C592-4DC9-A814-990E3A2FF8C8}</a:tableStyleId>
              </a:tblPr>
              <a:tblGrid>
                <a:gridCol w="1720850"/>
                <a:gridCol w="1646225"/>
                <a:gridCol w="1525575"/>
                <a:gridCol w="1200150"/>
                <a:gridCol w="1220775"/>
                <a:gridCol w="1220775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   B  C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Result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    T   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    T   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    F   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    F   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    T   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    T   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    F   T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>
                        <a:alpha val="19607"/>
                      </a:scheme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    F   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Gill Sans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</a:t>
                      </a:r>
                      <a:endParaRPr/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50400" marB="50400" marR="75600" marL="75600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4" name="Google Shape;414;p54"/>
          <p:cNvSpPr txBox="1"/>
          <p:nvPr/>
        </p:nvSpPr>
        <p:spPr>
          <a:xfrm>
            <a:off x="9018587" y="6681787"/>
            <a:ext cx="503237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5"/>
          <p:cNvSpPr txBox="1"/>
          <p:nvPr>
            <p:ph type="title"/>
          </p:nvPr>
        </p:nvSpPr>
        <p:spPr>
          <a:xfrm>
            <a:off x="1154112" y="122237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200"/>
              <a:buFont typeface="Gill Sans"/>
              <a:buNone/>
            </a:pPr>
            <a:r>
              <a:rPr b="0" i="0" lang="en-US" sz="42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More advanced example      contd..</a:t>
            </a:r>
            <a:endParaRPr/>
          </a:p>
        </p:txBody>
      </p:sp>
      <p:sp>
        <p:nvSpPr>
          <p:cNvPr id="420" name="Google Shape;420;p55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b="0" i="0" lang="en-US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  <p:sp>
        <p:nvSpPr>
          <p:cNvPr id="421" name="Google Shape;421;p55"/>
          <p:cNvSpPr txBox="1"/>
          <p:nvPr>
            <p:ph idx="1" type="body"/>
          </p:nvPr>
        </p:nvSpPr>
        <p:spPr>
          <a:xfrm>
            <a:off x="1582737" y="1595437"/>
            <a:ext cx="8266112" cy="453866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-309562" lvl="0" marL="40005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Note: We want to determine the MINIMAL set of test cases</a:t>
            </a:r>
            <a:endParaRPr/>
          </a:p>
          <a:p>
            <a:pPr indent="-309562" lvl="0" marL="400050" marR="0" rtl="0" algn="just">
              <a:lnSpc>
                <a:spcPct val="93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Here:</a:t>
            </a:r>
            <a:endParaRPr/>
          </a:p>
          <a:p>
            <a:pPr indent="-309562" lvl="0" marL="400050" marR="0" rtl="0" algn="just">
              <a:lnSpc>
                <a:spcPct val="93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{2,3,4,6}</a:t>
            </a:r>
            <a:endParaRPr/>
          </a:p>
          <a:p>
            <a:pPr indent="-309562" lvl="0" marL="400050" marR="0" rtl="0" algn="just">
              <a:lnSpc>
                <a:spcPct val="93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{2,3,4,7}</a:t>
            </a:r>
            <a:endParaRPr b="0" i="0" sz="3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9562" lvl="0" marL="400050" marR="0" rtl="0" algn="just">
              <a:lnSpc>
                <a:spcPct val="93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Non-minimal set is:</a:t>
            </a:r>
            <a:endParaRPr/>
          </a:p>
          <a:p>
            <a:pPr indent="-309562" lvl="0" marL="400050" marR="0" rtl="0" algn="just">
              <a:lnSpc>
                <a:spcPct val="93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{1,2,3,4,5}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6"/>
          <p:cNvSpPr txBox="1"/>
          <p:nvPr>
            <p:ph type="title"/>
          </p:nvPr>
        </p:nvSpPr>
        <p:spPr>
          <a:xfrm>
            <a:off x="1120775" y="122237"/>
            <a:ext cx="7367587" cy="1411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400"/>
              <a:buFont typeface="Arial Rounded"/>
              <a:buNone/>
            </a:pPr>
            <a:r>
              <a:rPr b="1" i="0" lang="en-US" sz="44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Where does it fit in?</a:t>
            </a:r>
            <a:endParaRPr/>
          </a:p>
        </p:txBody>
      </p:sp>
      <p:sp>
        <p:nvSpPr>
          <p:cNvPr id="427" name="Google Shape;427;p56"/>
          <p:cNvSpPr txBox="1"/>
          <p:nvPr>
            <p:ph idx="1" type="body"/>
          </p:nvPr>
        </p:nvSpPr>
        <p:spPr>
          <a:xfrm>
            <a:off x="882650" y="1836737"/>
            <a:ext cx="4429125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-309562" lvl="0" marL="40005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MC/DC criterion is much stronger than the condition/decision coverage criterion, but the number of test cases to achieve the MC/DC criterions still varies linearly with the number of conditions </a:t>
            </a:r>
            <a:r>
              <a:rPr b="1" i="0" lang="en-US" sz="2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in the decisions.</a:t>
            </a:r>
            <a:endParaRPr/>
          </a:p>
          <a:p>
            <a:pPr indent="-260349" lvl="1" marL="703262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Much more complete coverage than condition/decision coverage, but</a:t>
            </a:r>
            <a:endParaRPr/>
          </a:p>
          <a:p>
            <a:pPr indent="-260349" lvl="1" marL="703262" rtl="0" algn="just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at the same time it is not terribly costly in terms of number of test cases.</a:t>
            </a:r>
            <a:endParaRPr/>
          </a:p>
        </p:txBody>
      </p:sp>
      <p:sp>
        <p:nvSpPr>
          <p:cNvPr id="428" name="Google Shape;428;p56"/>
          <p:cNvSpPr txBox="1"/>
          <p:nvPr/>
        </p:nvSpPr>
        <p:spPr>
          <a:xfrm>
            <a:off x="6040437" y="1906587"/>
            <a:ext cx="2178050" cy="3206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Multiple-condition</a:t>
            </a:r>
            <a:endParaRPr/>
          </a:p>
        </p:txBody>
      </p:sp>
      <p:cxnSp>
        <p:nvCxnSpPr>
          <p:cNvPr id="429" name="Google Shape;429;p56"/>
          <p:cNvCxnSpPr/>
          <p:nvPr/>
        </p:nvCxnSpPr>
        <p:spPr>
          <a:xfrm>
            <a:off x="7129462" y="2227262"/>
            <a:ext cx="4762" cy="949325"/>
          </a:xfrm>
          <a:prstGeom prst="straightConnector1">
            <a:avLst/>
          </a:prstGeom>
          <a:noFill/>
          <a:ln cap="flat" cmpd="sng" w="222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30" name="Google Shape;430;p56"/>
          <p:cNvSpPr txBox="1"/>
          <p:nvPr/>
        </p:nvSpPr>
        <p:spPr>
          <a:xfrm>
            <a:off x="5300662" y="3176587"/>
            <a:ext cx="3214687" cy="31908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r>
              <a:rPr b="1" i="0" lang="en-US" sz="2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condition/decision</a:t>
            </a:r>
            <a:endParaRPr/>
          </a:p>
        </p:txBody>
      </p:sp>
      <p:cxnSp>
        <p:nvCxnSpPr>
          <p:cNvPr id="431" name="Google Shape;431;p56"/>
          <p:cNvCxnSpPr/>
          <p:nvPr/>
        </p:nvCxnSpPr>
        <p:spPr>
          <a:xfrm rot="5400000">
            <a:off x="6748462" y="3868737"/>
            <a:ext cx="625475" cy="9525"/>
          </a:xfrm>
          <a:prstGeom prst="straightConnector1">
            <a:avLst/>
          </a:prstGeom>
          <a:noFill/>
          <a:ln cap="flat" cmpd="sng" w="222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32" name="Google Shape;432;p56"/>
          <p:cNvSpPr txBox="1"/>
          <p:nvPr/>
        </p:nvSpPr>
        <p:spPr>
          <a:xfrm>
            <a:off x="5975350" y="4191000"/>
            <a:ext cx="2236787" cy="3206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Condition/Decision</a:t>
            </a:r>
            <a:endParaRPr/>
          </a:p>
        </p:txBody>
      </p:sp>
      <p:cxnSp>
        <p:nvCxnSpPr>
          <p:cNvPr id="433" name="Google Shape;433;p56"/>
          <p:cNvCxnSpPr/>
          <p:nvPr/>
        </p:nvCxnSpPr>
        <p:spPr>
          <a:xfrm flipH="1">
            <a:off x="6796087" y="4511675"/>
            <a:ext cx="298450" cy="703262"/>
          </a:xfrm>
          <a:prstGeom prst="straightConnector1">
            <a:avLst/>
          </a:prstGeom>
          <a:noFill/>
          <a:ln cap="flat" cmpd="sng" w="222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34" name="Google Shape;434;p56"/>
          <p:cNvSpPr txBox="1"/>
          <p:nvPr/>
        </p:nvSpPr>
        <p:spPr>
          <a:xfrm>
            <a:off x="6253162" y="5214937"/>
            <a:ext cx="1087437" cy="31908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/>
          </a:p>
        </p:txBody>
      </p:sp>
      <p:cxnSp>
        <p:nvCxnSpPr>
          <p:cNvPr id="435" name="Google Shape;435;p56"/>
          <p:cNvCxnSpPr/>
          <p:nvPr/>
        </p:nvCxnSpPr>
        <p:spPr>
          <a:xfrm>
            <a:off x="6796087" y="5534025"/>
            <a:ext cx="23812" cy="498475"/>
          </a:xfrm>
          <a:prstGeom prst="straightConnector1">
            <a:avLst/>
          </a:prstGeom>
          <a:noFill/>
          <a:ln cap="flat" cmpd="sng" w="222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36" name="Google Shape;436;p56"/>
          <p:cNvSpPr txBox="1"/>
          <p:nvPr/>
        </p:nvSpPr>
        <p:spPr>
          <a:xfrm>
            <a:off x="6116637" y="6045200"/>
            <a:ext cx="1293812" cy="3206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Statement</a:t>
            </a:r>
            <a:endParaRPr/>
          </a:p>
        </p:txBody>
      </p:sp>
      <p:sp>
        <p:nvSpPr>
          <p:cNvPr id="437" name="Google Shape;437;p56"/>
          <p:cNvSpPr txBox="1"/>
          <p:nvPr/>
        </p:nvSpPr>
        <p:spPr>
          <a:xfrm>
            <a:off x="7270750" y="6045200"/>
            <a:ext cx="1223962" cy="3206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/>
          </a:p>
        </p:txBody>
      </p:sp>
      <p:cxnSp>
        <p:nvCxnSpPr>
          <p:cNvPr id="438" name="Google Shape;438;p56"/>
          <p:cNvCxnSpPr/>
          <p:nvPr/>
        </p:nvCxnSpPr>
        <p:spPr>
          <a:xfrm flipH="1" rot="-5400000">
            <a:off x="6840537" y="4960937"/>
            <a:ext cx="1398587" cy="684212"/>
          </a:xfrm>
          <a:prstGeom prst="straightConnector1">
            <a:avLst/>
          </a:prstGeom>
          <a:noFill/>
          <a:ln cap="flat" cmpd="sng" w="222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39" name="Google Shape;439;p56"/>
          <p:cNvSpPr txBox="1"/>
          <p:nvPr/>
        </p:nvSpPr>
        <p:spPr>
          <a:xfrm>
            <a:off x="8551862" y="1997075"/>
            <a:ext cx="1084262" cy="3206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all paths</a:t>
            </a:r>
            <a:endParaRPr/>
          </a:p>
        </p:txBody>
      </p:sp>
      <p:sp>
        <p:nvSpPr>
          <p:cNvPr id="440" name="Google Shape;440;p56"/>
          <p:cNvSpPr txBox="1"/>
          <p:nvPr/>
        </p:nvSpPr>
        <p:spPr>
          <a:xfrm>
            <a:off x="8488362" y="3168650"/>
            <a:ext cx="1460500" cy="3206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all-du-paths</a:t>
            </a:r>
            <a:endParaRPr/>
          </a:p>
        </p:txBody>
      </p:sp>
      <p:sp>
        <p:nvSpPr>
          <p:cNvPr id="441" name="Google Shape;441;p56"/>
          <p:cNvSpPr txBox="1"/>
          <p:nvPr/>
        </p:nvSpPr>
        <p:spPr>
          <a:xfrm>
            <a:off x="8656637" y="4221162"/>
            <a:ext cx="968375" cy="3206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all uses</a:t>
            </a:r>
            <a:endParaRPr/>
          </a:p>
        </p:txBody>
      </p:sp>
      <p:sp>
        <p:nvSpPr>
          <p:cNvPr id="442" name="Google Shape;442;p56"/>
          <p:cNvSpPr txBox="1"/>
          <p:nvPr/>
        </p:nvSpPr>
        <p:spPr>
          <a:xfrm>
            <a:off x="8691562" y="5341937"/>
            <a:ext cx="774700" cy="3206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reach</a:t>
            </a:r>
            <a:endParaRPr/>
          </a:p>
        </p:txBody>
      </p:sp>
      <p:cxnSp>
        <p:nvCxnSpPr>
          <p:cNvPr id="443" name="Google Shape;443;p56"/>
          <p:cNvCxnSpPr/>
          <p:nvPr/>
        </p:nvCxnSpPr>
        <p:spPr>
          <a:xfrm>
            <a:off x="9137650" y="2438400"/>
            <a:ext cx="0" cy="738187"/>
          </a:xfrm>
          <a:prstGeom prst="straightConnector1">
            <a:avLst/>
          </a:prstGeom>
          <a:noFill/>
          <a:ln cap="flat" cmpd="sng" w="222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4" name="Google Shape;444;p56"/>
          <p:cNvCxnSpPr/>
          <p:nvPr/>
        </p:nvCxnSpPr>
        <p:spPr>
          <a:xfrm>
            <a:off x="9137650" y="3560762"/>
            <a:ext cx="0" cy="738187"/>
          </a:xfrm>
          <a:prstGeom prst="straightConnector1">
            <a:avLst/>
          </a:prstGeom>
          <a:noFill/>
          <a:ln cap="flat" cmpd="sng" w="222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5" name="Google Shape;445;p56"/>
          <p:cNvCxnSpPr/>
          <p:nvPr/>
        </p:nvCxnSpPr>
        <p:spPr>
          <a:xfrm>
            <a:off x="9104312" y="4603750"/>
            <a:ext cx="0" cy="738187"/>
          </a:xfrm>
          <a:prstGeom prst="straightConnector1">
            <a:avLst/>
          </a:prstGeom>
          <a:noFill/>
          <a:ln cap="flat" cmpd="sng" w="222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6" name="Google Shape;446;p56"/>
          <p:cNvCxnSpPr/>
          <p:nvPr/>
        </p:nvCxnSpPr>
        <p:spPr>
          <a:xfrm flipH="1">
            <a:off x="6945312" y="4662487"/>
            <a:ext cx="1947862" cy="309562"/>
          </a:xfrm>
          <a:prstGeom prst="straightConnector1">
            <a:avLst/>
          </a:prstGeom>
          <a:noFill/>
          <a:ln cap="flat" cmpd="sng" w="2222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47" name="Google Shape;447;p56"/>
          <p:cNvSpPr txBox="1"/>
          <p:nvPr/>
        </p:nvSpPr>
        <p:spPr>
          <a:xfrm>
            <a:off x="9018587" y="6681787"/>
            <a:ext cx="503237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7"/>
          <p:cNvSpPr txBox="1"/>
          <p:nvPr>
            <p:ph type="title"/>
          </p:nvPr>
        </p:nvSpPr>
        <p:spPr>
          <a:xfrm>
            <a:off x="163512" y="255587"/>
            <a:ext cx="9525000" cy="141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000"/>
              <a:buFont typeface="Arial Rounded"/>
              <a:buNone/>
            </a:pPr>
            <a:r>
              <a:rPr b="1" i="0" lang="en-US" sz="4000" u="none">
                <a:solidFill>
                  <a:srgbClr val="572314"/>
                </a:solidFill>
                <a:latin typeface="Arial Rounded"/>
                <a:ea typeface="Arial Rounded"/>
                <a:cs typeface="Arial Rounded"/>
                <a:sym typeface="Arial Rounded"/>
              </a:rPr>
              <a:t>Comparison of different coverage based Testing Strategies </a:t>
            </a:r>
            <a:endParaRPr/>
          </a:p>
        </p:txBody>
      </p:sp>
      <p:pic>
        <p:nvPicPr>
          <p:cNvPr id="453" name="Google Shape;453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512" y="1779587"/>
            <a:ext cx="9917112" cy="5459412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7"/>
          <p:cNvSpPr txBox="1"/>
          <p:nvPr/>
        </p:nvSpPr>
        <p:spPr>
          <a:xfrm>
            <a:off x="9342437" y="6681787"/>
            <a:ext cx="503237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b="0" i="0" lang="en-US" sz="1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8"/>
          <p:cNvSpPr txBox="1"/>
          <p:nvPr>
            <p:ph type="title"/>
          </p:nvPr>
        </p:nvSpPr>
        <p:spPr>
          <a:xfrm>
            <a:off x="1260475" y="252412"/>
            <a:ext cx="856615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75" lIns="19825" spcFirstLastPara="1" rIns="19825" wrap="square" tIns="51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6000"/>
              <a:buFont typeface="Gill Sans"/>
              <a:buNone/>
            </a:pPr>
            <a:r>
              <a:rPr b="0" i="0" lang="en-US" sz="60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Summary</a:t>
            </a:r>
            <a:endParaRPr/>
          </a:p>
        </p:txBody>
      </p:sp>
      <p:sp>
        <p:nvSpPr>
          <p:cNvPr id="461" name="Google Shape;461;p58"/>
          <p:cNvSpPr txBox="1"/>
          <p:nvPr>
            <p:ph idx="1" type="body"/>
          </p:nvPr>
        </p:nvSpPr>
        <p:spPr>
          <a:xfrm>
            <a:off x="755650" y="1511300"/>
            <a:ext cx="8988425" cy="4884737"/>
          </a:xfrm>
          <a:prstGeom prst="rect">
            <a:avLst/>
          </a:prstGeom>
          <a:noFill/>
          <a:ln>
            <a:noFill/>
          </a:ln>
        </p:spPr>
        <p:txBody>
          <a:bodyPr anchorCtr="0" anchor="t" bIns="51575" lIns="19825" spcFirstLastPara="1" rIns="19825" wrap="square" tIns="51575">
            <a:noAutofit/>
          </a:bodyPr>
          <a:lstStyle/>
          <a:p>
            <a:pPr indent="-309562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⚫"/>
            </a:pPr>
            <a:r>
              <a:rPr b="0" i="0" lang="en-US" sz="44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Discussed white-box test case design using:</a:t>
            </a:r>
            <a:endParaRPr/>
          </a:p>
          <a:p>
            <a:pPr indent="-260349" lvl="1" marL="703262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Statement coverage technique</a:t>
            </a:r>
            <a:endParaRPr/>
          </a:p>
          <a:p>
            <a:pPr indent="-260349" lvl="1" marL="703262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Branch coverage technique</a:t>
            </a:r>
            <a:endParaRPr/>
          </a:p>
          <a:p>
            <a:pPr indent="-260349" lvl="1" marL="703262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Condition coverage technique</a:t>
            </a:r>
            <a:endParaRPr/>
          </a:p>
          <a:p>
            <a:pPr indent="-260349" lvl="1" marL="703262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</a:pPr>
            <a:r>
              <a:rPr b="0" i="0" lang="en-US" sz="4000" u="none" cap="none" strike="noStrik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MC/DC technique</a:t>
            </a:r>
            <a:endParaRPr/>
          </a:p>
          <a:p>
            <a:pPr indent="-6349" lvl="1" marL="703262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None/>
            </a:pPr>
            <a:r>
              <a:t/>
            </a:r>
            <a:endParaRPr b="0" i="0" sz="4000" u="none" cap="none" strike="noStrike">
              <a:solidFill>
                <a:srgbClr val="0000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6349" lvl="1" marL="703262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None/>
            </a:pPr>
            <a:r>
              <a:t/>
            </a:r>
            <a:endParaRPr b="0" i="0" sz="4000" u="none" cap="none" strike="noStrike">
              <a:solidFill>
                <a:srgbClr val="0000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6349" lvl="1" marL="703262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None/>
            </a:pPr>
            <a:r>
              <a:t/>
            </a:r>
            <a:endParaRPr b="0" i="0" sz="4000" u="none" cap="none" strike="noStrike">
              <a:solidFill>
                <a:srgbClr val="0000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06363" lvl="0" marL="400050" marR="0" rtl="0" algn="l">
              <a:spcBef>
                <a:spcPts val="663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2" name="Google Shape;462;p58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b="0" i="0" lang="en-US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9"/>
          <p:cNvSpPr txBox="1"/>
          <p:nvPr/>
        </p:nvSpPr>
        <p:spPr>
          <a:xfrm>
            <a:off x="1243012" y="307975"/>
            <a:ext cx="8669337" cy="94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325" lIns="16650" spcFirstLastPara="1" rIns="16650" wrap="square" tIns="43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300"/>
              <a:buFont typeface="Gill Sans"/>
              <a:buNone/>
            </a:pPr>
            <a:r>
              <a:rPr b="0" i="0" lang="en-US" sz="53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References </a:t>
            </a:r>
            <a:endParaRPr/>
          </a:p>
        </p:txBody>
      </p:sp>
      <p:sp>
        <p:nvSpPr>
          <p:cNvPr id="468" name="Google Shape;468;p59"/>
          <p:cNvSpPr txBox="1"/>
          <p:nvPr/>
        </p:nvSpPr>
        <p:spPr>
          <a:xfrm>
            <a:off x="849312" y="1265237"/>
            <a:ext cx="8651875" cy="4422775"/>
          </a:xfrm>
          <a:prstGeom prst="rect">
            <a:avLst/>
          </a:prstGeom>
          <a:noFill/>
          <a:ln>
            <a:noFill/>
          </a:ln>
        </p:spPr>
        <p:txBody>
          <a:bodyPr anchorCtr="0" anchor="t" bIns="56425" lIns="112875" spcFirstLastPara="1" rIns="112875" wrap="square" tIns="56425">
            <a:spAutoFit/>
          </a:bodyPr>
          <a:lstStyle/>
          <a:p>
            <a:pPr indent="-422275" lvl="0" marL="42227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Rajib Mall, Fundamentals of Software Engineering, (Chapter – 10), Fifth Edition, PHI Learning Pvt. Ltd., 2018.</a:t>
            </a:r>
            <a:endParaRPr/>
          </a:p>
          <a:p>
            <a:pPr indent="-422275" lvl="0" marL="42227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Naresh Chauhan, Software Testing: Principles and Practices, (Chapter – 5), Second Edition, Oxford University Press,  2016.</a:t>
            </a:r>
            <a:endParaRPr/>
          </a:p>
          <a:p>
            <a:pPr indent="-142875" lvl="0" marL="42227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t/>
            </a:r>
            <a:endParaRPr b="0" i="0" sz="44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0"/>
          <p:cNvSpPr txBox="1"/>
          <p:nvPr>
            <p:ph type="title"/>
          </p:nvPr>
        </p:nvSpPr>
        <p:spPr>
          <a:xfrm>
            <a:off x="1582737" y="303212"/>
            <a:ext cx="8266112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50" spcFirstLastPara="1" rIns="100750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4700"/>
              <a:buFont typeface="Gill Sans"/>
              <a:buNone/>
            </a:pPr>
            <a:r>
              <a:rPr b="0" i="0" lang="en-US" sz="4700" u="non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74" name="Google Shape;474;p60"/>
          <p:cNvSpPr txBox="1"/>
          <p:nvPr>
            <p:ph idx="1" type="body"/>
          </p:nvPr>
        </p:nvSpPr>
        <p:spPr>
          <a:xfrm>
            <a:off x="1582737" y="1595437"/>
            <a:ext cx="8266112" cy="5292725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50" spcFirstLastPara="1" rIns="100750" wrap="square" tIns="50375">
            <a:noAutofit/>
          </a:bodyPr>
          <a:lstStyle/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	</a:t>
            </a:r>
            <a:endParaRPr/>
          </a:p>
          <a:p>
            <a:pPr indent="0" lvl="0" marL="88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35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35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	</a:t>
            </a:r>
            <a:r>
              <a:rPr b="0" i="0" lang="en-US" sz="88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Thank You</a:t>
            </a:r>
            <a:endParaRPr/>
          </a:p>
        </p:txBody>
      </p:sp>
      <p:sp>
        <p:nvSpPr>
          <p:cNvPr id="475" name="Google Shape;475;p60"/>
          <p:cNvSpPr txBox="1"/>
          <p:nvPr/>
        </p:nvSpPr>
        <p:spPr>
          <a:xfrm>
            <a:off x="9496425" y="6950075"/>
            <a:ext cx="503237" cy="525462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50" spcFirstLastPara="1" rIns="100750" wrap="square" tIns="50375">
            <a:noAutofit/>
          </a:bodyPr>
          <a:lstStyle/>
          <a:p>
            <a:pPr indent="0" lvl="0" marL="0" marR="0" rtl="0" algn="ctr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300"/>
              <a:buFont typeface="Comic Sans MS"/>
              <a:buNone/>
            </a:pPr>
            <a:fld id="{00000000-1234-1234-1234-123412341234}" type="slidenum">
              <a:rPr b="0" i="0" lang="en-US" sz="1300" u="none">
                <a:solidFill>
                  <a:srgbClr val="B5A78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