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notesSlides/notesSlide3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  <p:sldMasterId id="2147483662" r:id="rId3"/>
    <p:sldMasterId id="2147483663" r:id="rId4"/>
    <p:sldMasterId id="2147483664" r:id="rId5"/>
    <p:sldMasterId id="2147483665" r:id="rId6"/>
    <p:sldMasterId id="2147483666" r:id="rId7"/>
    <p:sldMasterId id="2147483667" r:id="rId8"/>
    <p:sldMasterId id="2147483668" r:id="rId9"/>
    <p:sldMasterId id="2147483669" r:id="rId10"/>
    <p:sldMasterId id="2147483670" r:id="rId11"/>
    <p:sldMasterId id="2147483671" r:id="rId12"/>
  </p:sldMasterIdLst>
  <p:notesMasterIdLst>
    <p:notesMasterId r:id="rId55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</p:sldIdLst>
  <p:sldSz cx="10080625" cy="7559675"/>
  <p:notesSz cx="7556500" cy="10691813"/>
  <p:embeddedFontLst>
    <p:embeddedFont>
      <p:font typeface="Comic Sans MS" panose="030F0702030302020204" pitchFamily="66" charset="0"/>
      <p:regular r:id="rId56"/>
      <p:bold r:id="rId57"/>
      <p:italic r:id="rId58"/>
      <p:boldItalic r:id="rId59"/>
    </p:embeddedFont>
    <p:embeddedFont>
      <p:font typeface="Gill Sans" panose="020B0604020202020204" charset="0"/>
      <p:regular r:id="rId60"/>
      <p:bold r:id="rId61"/>
    </p:embeddedFont>
    <p:embeddedFont>
      <p:font typeface="Verdana" panose="020B0604030504040204" pitchFamily="34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646" autoAdjust="0"/>
  </p:normalViewPr>
  <p:slideViewPr>
    <p:cSldViewPr snapToGrid="0">
      <p:cViewPr varScale="1">
        <p:scale>
          <a:sx n="58" d="100"/>
          <a:sy n="58" d="100"/>
        </p:scale>
        <p:origin x="1925" y="72"/>
      </p:cViewPr>
      <p:guideLst>
        <p:guide orient="horz" pos="216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63" Type="http://schemas.openxmlformats.org/officeDocument/2006/relationships/font" Target="fonts/font8.fntdata"/><Relationship Id="rId68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slide" Target="slides/slide41.xml"/><Relationship Id="rId58" Type="http://schemas.openxmlformats.org/officeDocument/2006/relationships/font" Target="fonts/font3.fntdata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font" Target="fonts/font6.fntdata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9.xml"/><Relationship Id="rId72" Type="http://schemas.openxmlformats.org/officeDocument/2006/relationships/customXml" Target="../customXml/item3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font" Target="fonts/font4.fntdata"/><Relationship Id="rId67" Type="http://schemas.openxmlformats.org/officeDocument/2006/relationships/viewProps" Target="viewProps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font" Target="fonts/font7.fntdata"/><Relationship Id="rId7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font" Target="fonts/font2.fntdata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" name="Google Shape;12;n"/>
          <p:cNvSpPr txBox="1"/>
          <p:nvPr/>
        </p:nvSpPr>
        <p:spPr>
          <a:xfrm>
            <a:off x="1311275" y="1027112"/>
            <a:ext cx="4933950" cy="37004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" name="Google Shape;13;n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" name="Google Shape;14;n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35587" cy="400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38262" y="1069975"/>
            <a:ext cx="4883150" cy="36623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3:notes"/>
          <p:cNvSpPr txBox="1">
            <a:spLocks noGrp="1"/>
          </p:cNvSpPr>
          <p:nvPr>
            <p:ph type="body" idx="1"/>
          </p:nvPr>
        </p:nvSpPr>
        <p:spPr>
          <a:xfrm>
            <a:off x="1154112" y="5091112"/>
            <a:ext cx="5257800" cy="40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2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24" name="Google Shape;224;p4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5" name="Google Shape;225;p4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IN" sz="18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Static testing</a:t>
            </a:r>
            <a:br>
              <a:rPr lang="en-IN" sz="18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→ examines requirements, design, source code, documents, etc.</a:t>
            </a:r>
            <a:br>
              <a:rPr lang="en-IN" sz="18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-IN" sz="18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does not execute the program</a:t>
            </a:r>
            <a:endParaRPr lang="en-IN" sz="18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788988"/>
            <a:ext cx="5386387" cy="4040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2" name="Google Shape;232;p5:notes"/>
          <p:cNvSpPr txBox="1">
            <a:spLocks noGrp="1"/>
          </p:cNvSpPr>
          <p:nvPr>
            <p:ph type="body" idx="1"/>
          </p:nvPr>
        </p:nvSpPr>
        <p:spPr>
          <a:xfrm>
            <a:off x="989012" y="5092700"/>
            <a:ext cx="5524500" cy="482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625" tIns="51300" rIns="102625" bIns="5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(But, can think about doing this many tests today)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2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53" name="Google Shape;253;p8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4" name="Google Shape;254;p8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2"/>
            <a:ext cx="5699125" cy="42751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68" name="Google Shape;268;p10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9" name="Google Shape;269;p10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2"/>
            <a:ext cx="5699125" cy="42751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75" name="Google Shape;275;p11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6" name="Google Shape;276;p11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2"/>
            <a:ext cx="5699125" cy="42751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89" name="Google Shape;289;p13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0" name="Google Shape;290;p13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2"/>
            <a:ext cx="5699125" cy="42751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96" name="Google Shape;296;p14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7" name="Google Shape;297;p14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2"/>
            <a:ext cx="5699125" cy="42751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03" name="Google Shape;303;p15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4" name="Google Shape;304;p15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2"/>
            <a:ext cx="5699125" cy="42751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10" name="Google Shape;310;p16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1" name="Google Shape;311;p16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2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38" name="Google Shape;338;p20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9" name="Google Shape;339;p20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2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46" name="Google Shape;346;p21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7" name="Google Shape;347;p21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354012"/>
            <a:ext cx="5702300" cy="427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54" name="Google Shape;354;p22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5" name="Google Shape;355;p22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8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9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0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1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2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3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5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6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7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8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9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0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1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2:notes"/>
          <p:cNvSpPr txBox="1">
            <a:spLocks noGrp="1"/>
          </p:cNvSpPr>
          <p:nvPr>
            <p:ph type="body" idx="1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35587" cy="4002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>
            <a:spLocks noGrp="1"/>
          </p:cNvSpPr>
          <p:nvPr>
            <p:ph type="ctrTitle"/>
          </p:nvPr>
        </p:nvSpPr>
        <p:spPr>
          <a:xfrm>
            <a:off x="1579298" y="396721"/>
            <a:ext cx="8165306" cy="162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subTitle" idx="1"/>
          </p:nvPr>
        </p:nvSpPr>
        <p:spPr>
          <a:xfrm>
            <a:off x="1579298" y="2039353"/>
            <a:ext cx="8165306" cy="193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0" rIns="100775" bIns="50375" anchor="t" anchorCtr="0">
            <a:noAutofit/>
          </a:bodyPr>
          <a:lstStyle>
            <a:lvl1pPr lvl="0" algn="l">
              <a:spcBef>
                <a:spcPts val="663"/>
              </a:spcBef>
              <a:spcAft>
                <a:spcPts val="0"/>
              </a:spcAft>
              <a:buSzPts val="2320"/>
              <a:buNone/>
              <a:defRPr sz="2900">
                <a:solidFill>
                  <a:srgbClr val="34110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20040" algn="l">
              <a:spcBef>
                <a:spcPts val="663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body" idx="1"/>
          </p:nvPr>
        </p:nvSpPr>
        <p:spPr>
          <a:xfrm>
            <a:off x="1230312" y="1189037"/>
            <a:ext cx="8763000" cy="6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20040" algn="l">
              <a:spcBef>
                <a:spcPts val="663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2842498" y="2866377"/>
            <a:ext cx="7056438" cy="251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lv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Gill Sans"/>
              <a:buNone/>
              <a:defRPr sz="44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body" idx="1"/>
          </p:nvPr>
        </p:nvSpPr>
        <p:spPr>
          <a:xfrm>
            <a:off x="2842498" y="1175949"/>
            <a:ext cx="7056438" cy="1664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marL="457200" lvl="0" indent="-228600" algn="l">
              <a:lnSpc>
                <a:spcPct val="115227"/>
              </a:lnSpc>
              <a:spcBef>
                <a:spcPts val="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341108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>
            <a:spLocks noGrp="1"/>
          </p:cNvSpPr>
          <p:nvPr>
            <p:ph type="title"/>
          </p:nvPr>
        </p:nvSpPr>
        <p:spPr>
          <a:xfrm>
            <a:off x="1582658" y="302387"/>
            <a:ext cx="8266113" cy="125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body" idx="1"/>
          </p:nvPr>
        </p:nvSpPr>
        <p:spPr>
          <a:xfrm>
            <a:off x="1582658" y="1679928"/>
            <a:ext cx="4032250" cy="514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86080" algn="l">
              <a:spcBef>
                <a:spcPts val="663"/>
              </a:spcBef>
              <a:spcAft>
                <a:spcPts val="0"/>
              </a:spcAft>
              <a:buSzPts val="2480"/>
              <a:buChar char="⚫"/>
              <a:defRPr sz="3100"/>
            </a:lvl1pPr>
            <a:lvl2pPr marL="914400" lvl="1" indent="-393700" algn="l">
              <a:spcBef>
                <a:spcPts val="600"/>
              </a:spcBef>
              <a:spcAft>
                <a:spcPts val="0"/>
              </a:spcAft>
              <a:buSzPts val="2600"/>
              <a:buChar char="◦"/>
              <a:defRPr sz="2600"/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2"/>
          </p:nvPr>
        </p:nvSpPr>
        <p:spPr>
          <a:xfrm>
            <a:off x="5816521" y="1679928"/>
            <a:ext cx="4032250" cy="514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86080" algn="l">
              <a:spcBef>
                <a:spcPts val="663"/>
              </a:spcBef>
              <a:spcAft>
                <a:spcPts val="0"/>
              </a:spcAft>
              <a:buSzPts val="2480"/>
              <a:buChar char="⚫"/>
              <a:defRPr sz="3100"/>
            </a:lvl1pPr>
            <a:lvl2pPr marL="914400" lvl="1" indent="-393700" algn="l">
              <a:spcBef>
                <a:spcPts val="600"/>
              </a:spcBef>
              <a:spcAft>
                <a:spcPts val="0"/>
              </a:spcAft>
              <a:buSzPts val="2600"/>
              <a:buChar char="◦"/>
              <a:defRPr sz="2600"/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>
            <a:spLocks noGrp="1"/>
          </p:cNvSpPr>
          <p:nvPr>
            <p:ph type="title"/>
          </p:nvPr>
        </p:nvSpPr>
        <p:spPr>
          <a:xfrm>
            <a:off x="504031" y="5688315"/>
            <a:ext cx="9072563" cy="125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body" idx="1"/>
          </p:nvPr>
        </p:nvSpPr>
        <p:spPr>
          <a:xfrm>
            <a:off x="504031" y="361866"/>
            <a:ext cx="4435475" cy="70557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SzPts val="1680"/>
              <a:buNone/>
              <a:defRPr sz="2100" b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200"/>
              <a:buNone/>
              <a:defRPr sz="22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body" idx="2"/>
          </p:nvPr>
        </p:nvSpPr>
        <p:spPr>
          <a:xfrm>
            <a:off x="5141119" y="361866"/>
            <a:ext cx="4435475" cy="70557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SzPts val="1680"/>
              <a:buNone/>
              <a:defRPr sz="2100" b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200"/>
              <a:buNone/>
              <a:defRPr sz="22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3"/>
          </p:nvPr>
        </p:nvSpPr>
        <p:spPr>
          <a:xfrm>
            <a:off x="504031" y="1068513"/>
            <a:ext cx="4435475" cy="4535805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body" idx="4"/>
          </p:nvPr>
        </p:nvSpPr>
        <p:spPr>
          <a:xfrm>
            <a:off x="5141119" y="1068513"/>
            <a:ext cx="4435475" cy="4535805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1582658" y="302387"/>
            <a:ext cx="8266113" cy="125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504031" y="238958"/>
            <a:ext cx="4200260" cy="128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l">
              <a:lnSpc>
                <a:spcPct val="91875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400"/>
              <a:buFont typeface="Gill Sans"/>
              <a:buNone/>
              <a:defRPr sz="24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1"/>
          </p:nvPr>
        </p:nvSpPr>
        <p:spPr>
          <a:xfrm>
            <a:off x="504031" y="1550917"/>
            <a:ext cx="4200260" cy="76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00"/>
              <a:buNone/>
              <a:defRPr sz="1300"/>
            </a:lvl2pPr>
            <a:lvl3pPr marL="1371600" lvl="2" indent="-228600" algn="l"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body" idx="2"/>
          </p:nvPr>
        </p:nvSpPr>
        <p:spPr>
          <a:xfrm>
            <a:off x="504031" y="2351900"/>
            <a:ext cx="8988557" cy="440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406400" algn="l">
              <a:spcBef>
                <a:spcPts val="663"/>
              </a:spcBef>
              <a:spcAft>
                <a:spcPts val="0"/>
              </a:spcAft>
              <a:buSzPts val="2800"/>
              <a:buChar char="⚫"/>
              <a:defRPr sz="3500"/>
            </a:lvl1pPr>
            <a:lvl2pPr marL="914400" lvl="1" indent="-425450" algn="l">
              <a:spcBef>
                <a:spcPts val="600"/>
              </a:spcBef>
              <a:spcAft>
                <a:spcPts val="0"/>
              </a:spcAft>
              <a:buSzPts val="3100"/>
              <a:buChar char="◦"/>
              <a:defRPr sz="3100"/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>
            <a:spLocks noGrp="1"/>
          </p:cNvSpPr>
          <p:nvPr>
            <p:ph type="title"/>
          </p:nvPr>
        </p:nvSpPr>
        <p:spPr>
          <a:xfrm>
            <a:off x="6489894" y="1175950"/>
            <a:ext cx="3024188" cy="218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300"/>
              <a:buFont typeface="Gill Sans"/>
              <a:buNone/>
              <a:defRPr sz="23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>
            <a:spLocks noGrp="1"/>
          </p:cNvSpPr>
          <p:nvPr>
            <p:ph type="pic" idx="2"/>
          </p:nvPr>
        </p:nvSpPr>
        <p:spPr>
          <a:xfrm>
            <a:off x="924057" y="1259949"/>
            <a:ext cx="4872302" cy="3874120"/>
          </a:xfrm>
          <a:prstGeom prst="roundRect">
            <a:avLst>
              <a:gd name="adj" fmla="val 78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00775" tIns="302375" rIns="100775" bIns="50375" anchor="t" anchorCtr="0">
            <a:noAutofit/>
          </a:bodyPr>
          <a:lstStyle>
            <a:lvl1pPr marR="0" lvl="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sz="3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body" idx="1"/>
          </p:nvPr>
        </p:nvSpPr>
        <p:spPr>
          <a:xfrm>
            <a:off x="924057" y="5291772"/>
            <a:ext cx="4872302" cy="839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457200" lvl="0" indent="-228600" algn="l">
              <a:lnSpc>
                <a:spcPct val="1176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77777"/>
                </a:solidFill>
              </a:defRPr>
            </a:lvl1pPr>
            <a:lvl2pPr marL="914400" lvl="1" indent="-311150" algn="l">
              <a:spcBef>
                <a:spcPts val="600"/>
              </a:spcBef>
              <a:spcAft>
                <a:spcPts val="0"/>
              </a:spcAft>
              <a:buSzPts val="1300"/>
              <a:buChar char="◦"/>
              <a:defRPr sz="1300"/>
            </a:lvl2pPr>
            <a:lvl3pPr marL="1371600" lvl="2" indent="-298450" algn="l">
              <a:spcBef>
                <a:spcPts val="220"/>
              </a:spcBef>
              <a:spcAft>
                <a:spcPts val="0"/>
              </a:spcAft>
              <a:buSzPts val="1100"/>
              <a:buChar char="●"/>
              <a:defRPr sz="11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0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1"/>
          </p:nvPr>
        </p:nvSpPr>
        <p:spPr>
          <a:xfrm rot="5400000">
            <a:off x="2626518" y="-294482"/>
            <a:ext cx="5943600" cy="875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20040" algn="l">
              <a:spcBef>
                <a:spcPts val="663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2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>
            <a:spLocks noGrp="1"/>
          </p:cNvSpPr>
          <p:nvPr>
            <p:ph type="title"/>
          </p:nvPr>
        </p:nvSpPr>
        <p:spPr>
          <a:xfrm rot="5400000">
            <a:off x="5343420" y="2519788"/>
            <a:ext cx="6450223" cy="201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4"/>
          <p:cNvSpPr txBox="1">
            <a:spLocks noGrp="1"/>
          </p:cNvSpPr>
          <p:nvPr>
            <p:ph type="body" idx="1"/>
          </p:nvPr>
        </p:nvSpPr>
        <p:spPr>
          <a:xfrm rot="5400000">
            <a:off x="1101156" y="461661"/>
            <a:ext cx="6450223" cy="613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lvl="0" indent="-320040" algn="l">
              <a:spcBef>
                <a:spcPts val="663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cubicBezTo>
                  <a:pt x="1808163" y="1143089"/>
                  <a:pt x="1712726" y="1373048"/>
                  <a:pt x="1542885" y="1542486"/>
                </a:cubicBezTo>
                <a:cubicBezTo>
                  <a:pt x="1373239" y="1711730"/>
                  <a:pt x="1143260" y="1806723"/>
                  <a:pt x="903524" y="1806575"/>
                </a:cubicBezTo>
                <a:lnTo>
                  <a:pt x="904082" y="903288"/>
                </a:lnTo>
                <a:lnTo>
                  <a:pt x="1808163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" name="Google Shape;18;p1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15816" y="1558455"/>
            <a:ext cx="231854" cy="231830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276350" y="1482725"/>
            <a:ext cx="69850" cy="69850"/>
          </a:xfrm>
          <a:prstGeom prst="ellipse">
            <a:avLst/>
          </a:prstGeom>
          <a:noFill/>
          <a:ln w="12700" cap="rnd" cmpd="sng">
            <a:solidFill>
              <a:srgbClr val="307F93">
                <a:alpha val="59607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" name="Google Shape;23;p1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cubicBezTo>
                  <a:pt x="1808163" y="1143089"/>
                  <a:pt x="1712726" y="1373048"/>
                  <a:pt x="1542885" y="1542486"/>
                </a:cubicBezTo>
                <a:cubicBezTo>
                  <a:pt x="1373239" y="1711730"/>
                  <a:pt x="1143260" y="1806723"/>
                  <a:pt x="903524" y="1806575"/>
                </a:cubicBezTo>
                <a:lnTo>
                  <a:pt x="904082" y="903288"/>
                </a:lnTo>
                <a:lnTo>
                  <a:pt x="1808163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" name="Google Shape;37;p3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" name="Google Shape;40;p3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/>
        </p:nvSpPr>
        <p:spPr>
          <a:xfrm>
            <a:off x="1119187" y="0"/>
            <a:ext cx="8961437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cubicBezTo>
                  <a:pt x="1808163" y="1143089"/>
                  <a:pt x="1712726" y="1373048"/>
                  <a:pt x="1542885" y="1542486"/>
                </a:cubicBezTo>
                <a:cubicBezTo>
                  <a:pt x="1373239" y="1711730"/>
                  <a:pt x="1143260" y="1806723"/>
                  <a:pt x="903524" y="1806575"/>
                </a:cubicBezTo>
                <a:lnTo>
                  <a:pt x="904082" y="903288"/>
                </a:lnTo>
                <a:lnTo>
                  <a:pt x="1808163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6" name="Google Shape;66;p7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70" name="Google Shape;70;p7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/>
        </p:nvSpPr>
        <p:spPr>
          <a:xfrm>
            <a:off x="2516187" y="0"/>
            <a:ext cx="756126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6" name="Google Shape;76;p9"/>
          <p:cNvSpPr txBox="1"/>
          <p:nvPr/>
        </p:nvSpPr>
        <p:spPr>
          <a:xfrm>
            <a:off x="2519362" y="0"/>
            <a:ext cx="84137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2394833" y="3102637"/>
            <a:ext cx="231854" cy="231830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2654300" y="3027362"/>
            <a:ext cx="71437" cy="69850"/>
          </a:xfrm>
          <a:prstGeom prst="ellipse">
            <a:avLst/>
          </a:prstGeom>
          <a:noFill/>
          <a:ln w="12700" cap="rnd" cmpd="sng">
            <a:solidFill>
              <a:srgbClr val="307F93">
                <a:alpha val="59607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cubicBezTo>
                  <a:pt x="1808163" y="1143089"/>
                  <a:pt x="1712726" y="1373048"/>
                  <a:pt x="1542885" y="1542486"/>
                </a:cubicBezTo>
                <a:cubicBezTo>
                  <a:pt x="1373239" y="1711730"/>
                  <a:pt x="1143260" y="1806723"/>
                  <a:pt x="903524" y="1806575"/>
                </a:cubicBezTo>
                <a:lnTo>
                  <a:pt x="904082" y="903288"/>
                </a:lnTo>
                <a:lnTo>
                  <a:pt x="1808163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3" name="Google Shape;93;p11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" name="Google Shape;94;p11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" name="Google Shape;95;p11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6" name="Google Shape;96;p11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cubicBezTo>
                  <a:pt x="1808163" y="1143089"/>
                  <a:pt x="1712726" y="1373048"/>
                  <a:pt x="1542885" y="1542486"/>
                </a:cubicBezTo>
                <a:cubicBezTo>
                  <a:pt x="1373239" y="1711730"/>
                  <a:pt x="1143260" y="1806723"/>
                  <a:pt x="903524" y="1806575"/>
                </a:cubicBezTo>
                <a:lnTo>
                  <a:pt x="904082" y="903288"/>
                </a:lnTo>
                <a:lnTo>
                  <a:pt x="1808163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6" name="Google Shape;126;p15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43" name="Google Shape;143;p17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44" name="Google Shape;144;p17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840052" y="1175950"/>
            <a:ext cx="5040313" cy="5039783"/>
          </a:xfrm>
          <a:prstGeom prst="rect">
            <a:avLst/>
          </a:prstGeom>
          <a:solidFill>
            <a:srgbClr val="FFFFFF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500" dist="18500" dir="5400000" algn="tl" rotWithShape="0">
              <a:srgbClr val="000000">
                <a:alpha val="34901"/>
              </a:srgbClr>
            </a:outerShdw>
          </a:effectLst>
        </p:spPr>
        <p:txBody>
          <a:bodyPr spcFirstLastPara="1" wrap="square" lIns="100775" tIns="302375" rIns="100775" bIns="50375" anchor="t" anchorCtr="0">
            <a:noAutofit/>
          </a:bodyPr>
          <a:lstStyle/>
          <a:p>
            <a:pPr marL="0" marR="0" lvl="0" indent="0" algn="l" rtl="0">
              <a:lnSpc>
                <a:spcPct val="944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endParaRPr sz="35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9"/>
          <p:cNvSpPr/>
          <p:nvPr/>
        </p:nvSpPr>
        <p:spPr>
          <a:xfrm rot="-2160000">
            <a:off x="438150" y="1052512"/>
            <a:ext cx="755650" cy="225425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399" dir="3299947" sx="96000" sy="96000">
              <a:srgbClr val="EBDAB1">
                <a:alpha val="39607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5" name="Google Shape;155;p19"/>
          <p:cNvSpPr/>
          <p:nvPr/>
        </p:nvSpPr>
        <p:spPr>
          <a:xfrm rot="2160000" flipH="1">
            <a:off x="5516562" y="1031875"/>
            <a:ext cx="715962" cy="225425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399" dir="3299947" sx="96000" sy="96000">
              <a:schemeClr val="lt2">
                <a:alpha val="19607"/>
              </a:scheme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6" name="Google Shape;156;p19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cubicBezTo>
                  <a:pt x="1808163" y="1143089"/>
                  <a:pt x="1712726" y="1373048"/>
                  <a:pt x="1542885" y="1542486"/>
                </a:cubicBezTo>
                <a:cubicBezTo>
                  <a:pt x="1373239" y="1711730"/>
                  <a:pt x="1143260" y="1806723"/>
                  <a:pt x="903524" y="1806575"/>
                </a:cubicBezTo>
                <a:lnTo>
                  <a:pt x="904082" y="903288"/>
                </a:lnTo>
                <a:lnTo>
                  <a:pt x="1808163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" name="Google Shape;171;p21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4" name="Google Shape;174;p21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/>
          <p:nvPr/>
        </p:nvSpPr>
        <p:spPr>
          <a:xfrm>
            <a:off x="-900112" y="-900112"/>
            <a:ext cx="1808162" cy="1806575"/>
          </a:xfrm>
          <a:custGeom>
            <a:avLst/>
            <a:gdLst/>
            <a:ahLst/>
            <a:cxnLst/>
            <a:rect l="l" t="t" r="r" b="b"/>
            <a:pathLst>
              <a:path w="1808163" h="1806576" extrusionOk="0">
                <a:moveTo>
                  <a:pt x="1808163" y="903288"/>
                </a:moveTo>
                <a:cubicBezTo>
                  <a:pt x="1808163" y="1143089"/>
                  <a:pt x="1712726" y="1373048"/>
                  <a:pt x="1542885" y="1542486"/>
                </a:cubicBezTo>
                <a:cubicBezTo>
                  <a:pt x="1373239" y="1711730"/>
                  <a:pt x="1143260" y="1806723"/>
                  <a:pt x="903524" y="1806575"/>
                </a:cubicBezTo>
                <a:lnTo>
                  <a:pt x="904082" y="903288"/>
                </a:lnTo>
                <a:lnTo>
                  <a:pt x="1808163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w="9525" cap="rnd" cmpd="sng">
            <a:solidFill>
              <a:srgbClr val="D2C39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w="27300" cap="rnd" cmpd="sng">
            <a:solidFill>
              <a:srgbClr val="FFF6D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AFA58D">
                <a:alpha val="8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8" name="Google Shape;188;p23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st="38000" dir="10800000">
              <a:srgbClr val="706B5F">
                <a:alpha val="24705"/>
              </a:srgbClr>
            </a:outerShdw>
          </a:effectLst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1" name="Google Shape;191;p23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>
            <a:lvl1pPr marL="457200" marR="0" lvl="0" indent="-39116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dt" idx="10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ftr" idx="11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sldNum" idx="12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0" marR="0" lvl="1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0" marR="0" lvl="2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0" marR="0" lvl="3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0" marR="0" lvl="4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0" marR="0" lvl="5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0" marR="0" lvl="6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0" marR="0" lvl="7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0" marR="0" lvl="8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ctrTitle"/>
          </p:nvPr>
        </p:nvSpPr>
        <p:spPr>
          <a:xfrm>
            <a:off x="1230312" y="2027237"/>
            <a:ext cx="8164512" cy="162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Static Testing</a:t>
            </a:r>
            <a:br>
              <a:rPr lang="en-US" sz="18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771FC5-F3CA-F4F0-ECF9-89087F592B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Drawbacks of Dynamic Testing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body" idx="1"/>
          </p:nvPr>
        </p:nvSpPr>
        <p:spPr>
          <a:xfrm>
            <a:off x="1001712" y="1341437"/>
            <a:ext cx="8915400" cy="534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Uncovers the bug at a later stage of SDLC</a:t>
            </a:r>
            <a:endParaRPr dirty="0"/>
          </a:p>
          <a:p>
            <a:pPr marL="704850" marR="0" lvl="1" indent="-261937" algn="just" rtl="0">
              <a:lnSpc>
                <a:spcPct val="110000"/>
              </a:lnSpc>
              <a:spcBef>
                <a:spcPts val="12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Costly to debug</a:t>
            </a:r>
            <a:endParaRPr dirty="0"/>
          </a:p>
          <a:p>
            <a:pPr marL="401637" marR="0" lvl="0" indent="-311148" algn="just" rtl="0">
              <a:lnSpc>
                <a:spcPct val="110000"/>
              </a:lnSpc>
              <a:spcBef>
                <a:spcPts val="12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is expensive and time consuming, as it needs to create, run, validate and maintain test cases.</a:t>
            </a:r>
          </a:p>
          <a:p>
            <a:pPr marL="401637" marR="0" lvl="0" indent="-311148" algn="just" rtl="0">
              <a:lnSpc>
                <a:spcPct val="110000"/>
              </a:lnSpc>
              <a:spcBef>
                <a:spcPts val="12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dirty="0"/>
              <a:t>dynamic testing can miss a bug because test cases are incomplete, not because dynamic testing is incapable of finding the bug</a:t>
            </a:r>
            <a:endParaRPr dirty="0"/>
          </a:p>
          <a:p>
            <a:pPr marL="401637" marR="0" lvl="0" indent="-148589" algn="just" rtl="0">
              <a:lnSpc>
                <a:spcPct val="110000"/>
              </a:lnSpc>
              <a:spcBef>
                <a:spcPts val="126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01637" marR="0" lvl="0" indent="-148589" algn="just" rtl="0">
              <a:lnSpc>
                <a:spcPct val="110000"/>
              </a:lnSpc>
              <a:spcBef>
                <a:spcPts val="126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01637" marR="0" lvl="0" indent="-148589" algn="just" rtl="0">
              <a:lnSpc>
                <a:spcPct val="110000"/>
              </a:lnSpc>
              <a:spcBef>
                <a:spcPts val="126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01638" marR="0" lvl="0" indent="-148590" algn="l" rtl="0">
              <a:spcBef>
                <a:spcPts val="82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title" idx="4294967295"/>
          </p:nvPr>
        </p:nvSpPr>
        <p:spPr>
          <a:xfrm>
            <a:off x="696912" y="0"/>
            <a:ext cx="9066212" cy="11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Drawbacks of Dynamic Testing     </a:t>
            </a:r>
            <a:r>
              <a:rPr lang="en-US" sz="3600" b="0" i="0" u="none" strike="noStrike" cap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body" idx="4294967295"/>
          </p:nvPr>
        </p:nvSpPr>
        <p:spPr>
          <a:xfrm>
            <a:off x="1154112" y="1341437"/>
            <a:ext cx="8763000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Times New Roman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efficiency of code coverage decreases with the increase in size of the system.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Times New Roman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provides information about the bugs-</a:t>
            </a:r>
            <a:endParaRPr/>
          </a:p>
          <a:p>
            <a:pPr marL="782637" marR="0" lvl="1" indent="-342899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is difficult and time-consuming to trace a failure from a test case back to its root cause.</a:t>
            </a:r>
            <a:endParaRPr/>
          </a:p>
          <a:p>
            <a:pPr marL="342900" marR="0" lvl="0" indent="-18034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Times New Roman"/>
              <a:buNone/>
            </a:pPr>
            <a:endParaRPr sz="32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Times New Roman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Dynamic testing cannot detect all the potential bugs.</a:t>
            </a:r>
            <a:endParaRPr/>
          </a:p>
          <a:p>
            <a:pPr marL="401638" marR="0" lvl="0" indent="-14859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Static Testing</a:t>
            </a:r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body" idx="1"/>
          </p:nvPr>
        </p:nvSpPr>
        <p:spPr>
          <a:xfrm>
            <a:off x="1154112" y="1874837"/>
            <a:ext cx="8839200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Static testing is a complimentary to dynamic testing technique to acquire high quality software.</a:t>
            </a:r>
            <a:endParaRPr/>
          </a:p>
          <a:p>
            <a:pPr marL="342900" marR="0" lvl="0" indent="-342900" algn="just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Static testing techniques do not execute the software and do not require the bulk of test cases.</a:t>
            </a:r>
            <a:endParaRPr/>
          </a:p>
          <a:p>
            <a:pPr marL="342900" marR="0" lvl="0" indent="-342900" algn="just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Static testing reveals the errors which are not shown by dynamic testing.</a:t>
            </a:r>
            <a:endParaRPr/>
          </a:p>
          <a:p>
            <a:pPr marL="342900" marR="0" lvl="0" indent="-342900" algn="just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This type of testing is also known as non-computer based testing or human testing.</a:t>
            </a:r>
            <a:endParaRPr/>
          </a:p>
          <a:p>
            <a:pPr marL="401638" marR="0" lvl="0" indent="-14859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body" idx="4294967295"/>
          </p:nvPr>
        </p:nvSpPr>
        <p:spPr>
          <a:xfrm>
            <a:off x="1077912" y="1493837"/>
            <a:ext cx="8915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800" marR="0" lvl="0" indent="-32385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Char char="⚫"/>
            </a:pPr>
            <a:r>
              <a:rPr lang="en-US" sz="3200" b="0" i="0" u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Static testing can be applied for most of the verification activities.</a:t>
            </a:r>
            <a:endParaRPr dirty="0"/>
          </a:p>
          <a:p>
            <a:pPr marL="431800" marR="0" lvl="0" indent="-323850" algn="just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Char char="⚫"/>
            </a:pPr>
            <a:r>
              <a:rPr lang="en-US" sz="3200" b="0" i="0" u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They check the software product at each SDLC stage for conformance with the required specification or standards.</a:t>
            </a:r>
          </a:p>
          <a:p>
            <a:pPr marL="431800" marR="0" lvl="0" indent="-323850" algn="just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Char char="⚫"/>
            </a:pPr>
            <a:r>
              <a:rPr lang="en-US" dirty="0"/>
              <a:t>Static testing can identify defects in requirements, design, and code before execution, while dynamic testing identifies failures by executing the software.</a:t>
            </a:r>
          </a:p>
          <a:p>
            <a:pPr marL="431800" marR="0" lvl="0" indent="-323850" algn="just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Char char="⚫"/>
            </a:pPr>
            <a:r>
              <a:rPr lang="en-US" dirty="0"/>
              <a:t>This is why static and dynamic testing complement each other rather than replace each other.</a:t>
            </a:r>
          </a:p>
          <a:p>
            <a:pPr marL="431800" marR="0" lvl="0" indent="-323850" algn="just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Char char="⚫"/>
            </a:pPr>
            <a:endParaRPr dirty="0"/>
          </a:p>
          <a:p>
            <a:pPr marL="401638" marR="0" lvl="0" indent="-148590" algn="l" rtl="0">
              <a:spcBef>
                <a:spcPts val="98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504825" y="350837"/>
            <a:ext cx="9064625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lang="en-US" sz="49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     Static Testing          </a:t>
            </a:r>
            <a:r>
              <a:rPr lang="en-US" sz="48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>
            <a:spLocks noGrp="1"/>
          </p:cNvSpPr>
          <p:nvPr>
            <p:ph type="body" idx="1"/>
          </p:nvPr>
        </p:nvSpPr>
        <p:spPr>
          <a:xfrm>
            <a:off x="1016000" y="1112837"/>
            <a:ext cx="8977312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/>
          <a:p>
            <a:pPr marL="431800" marR="0" lvl="0" indent="-32385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Requirements, design specifications, test plans, source code, user’s manuals, maintenance procedures are some of the items that can be statically tested.</a:t>
            </a:r>
            <a:endParaRPr/>
          </a:p>
          <a:p>
            <a:pPr marL="431800" marR="0" lvl="0" indent="-323850" algn="just" rtl="0">
              <a:lnSpc>
                <a:spcPct val="105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Static testing has proved to be a cost-effective technique of error detection.</a:t>
            </a:r>
            <a:endParaRPr/>
          </a:p>
          <a:p>
            <a:pPr marL="704850" marR="0" lvl="1" indent="-261937" algn="just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60% of errors in a program can be detected</a:t>
            </a:r>
            <a:endParaRPr/>
          </a:p>
        </p:txBody>
      </p:sp>
      <p:sp>
        <p:nvSpPr>
          <p:cNvPr id="242" name="Google Shape;242;p3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title"/>
          </p:nvPr>
        </p:nvSpPr>
        <p:spPr>
          <a:xfrm>
            <a:off x="696912" y="-11112"/>
            <a:ext cx="906621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Gill Sans"/>
              <a:buNone/>
            </a:pPr>
            <a:r>
              <a:rPr lang="en-US" sz="44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     Static Testing          </a:t>
            </a:r>
            <a:r>
              <a:rPr lang="en-US" sz="43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Benefits of Static Testing</a:t>
            </a:r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body" idx="1"/>
          </p:nvPr>
        </p:nvSpPr>
        <p:spPr>
          <a:xfrm>
            <a:off x="920750" y="1265237"/>
            <a:ext cx="91440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622300" marR="0" lvl="1" indent="-45720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As defects are found and fixed, the quality of the product increases.</a:t>
            </a:r>
            <a:endParaRPr/>
          </a:p>
          <a:p>
            <a:pPr marL="622300" marR="0" lvl="1" indent="-457200" algn="just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more technically correct base is available for each new phase of development.</a:t>
            </a:r>
            <a:endParaRPr/>
          </a:p>
          <a:p>
            <a:pPr marL="622300" marR="0" lvl="1" indent="-457200" algn="just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Overall software life cycle cost becomes lower.</a:t>
            </a:r>
            <a:endParaRPr/>
          </a:p>
          <a:p>
            <a:pPr marL="622300" marR="0" lvl="0" indent="-4572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Effectiveness of dynamic test activity is increased &amp; less time needs to be devoted for testing the product.</a:t>
            </a:r>
            <a:endParaRPr/>
          </a:p>
          <a:p>
            <a:pPr marL="622300" marR="0" lvl="0" indent="-457200" algn="just" rtl="0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Immediate evaluation and feedback about quality improvement is available.</a:t>
            </a:r>
            <a:endParaRPr/>
          </a:p>
          <a:p>
            <a:pPr marL="622300" marR="0" lvl="1" indent="-254000" algn="just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None/>
            </a:pPr>
            <a:endParaRPr sz="32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01638" marR="0" lvl="0" indent="-14859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504825" y="198437"/>
            <a:ext cx="906462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Objectives of Static Testing</a:t>
            </a:r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1"/>
          </p:nvPr>
        </p:nvSpPr>
        <p:spPr>
          <a:xfrm>
            <a:off x="1154112" y="1341437"/>
            <a:ext cx="8686800" cy="5021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identify errors in any phase of SDLC as early as possible.</a:t>
            </a:r>
            <a:endParaRPr/>
          </a:p>
          <a:p>
            <a:pPr marL="342900" marR="0" lvl="0" indent="-342900" algn="just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verify that the components of software are in conformance with its requirements.</a:t>
            </a:r>
            <a:endParaRPr/>
          </a:p>
          <a:p>
            <a:pPr marL="342900" marR="0" lvl="0" indent="-342900" algn="just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provide information for project monitoring.</a:t>
            </a:r>
            <a:endParaRPr/>
          </a:p>
          <a:p>
            <a:pPr marL="342900" marR="0" lvl="0" indent="-342900" algn="just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improve the software quality and increase productivity.</a:t>
            </a:r>
            <a:endParaRPr/>
          </a:p>
          <a:p>
            <a:pPr marL="401638" marR="0" lvl="0" indent="-148590" algn="l" rtl="0">
              <a:spcBef>
                <a:spcPts val="82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8" name="Google Shape;258;p3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Types of Static Testing</a:t>
            </a:r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body" idx="1"/>
          </p:nvPr>
        </p:nvSpPr>
        <p:spPr>
          <a:xfrm>
            <a:off x="1001712" y="1417637"/>
            <a:ext cx="8839200" cy="569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148589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01637" marR="0" lvl="0" indent="-311148" algn="just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Software Inspections</a:t>
            </a:r>
            <a:endParaRPr/>
          </a:p>
          <a:p>
            <a:pPr marL="401637" marR="0" lvl="0" indent="-311148" algn="just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Walkthroughs</a:t>
            </a:r>
            <a:endParaRPr/>
          </a:p>
          <a:p>
            <a:pPr marL="401637" marR="0" lvl="0" indent="-311148" algn="just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Technical reviews</a:t>
            </a:r>
            <a:endParaRPr/>
          </a:p>
          <a:p>
            <a:pPr marL="401638" marR="0" lvl="0" indent="-14859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>
            <a:spLocks noGrp="1"/>
          </p:cNvSpPr>
          <p:nvPr>
            <p:ph type="title"/>
          </p:nvPr>
        </p:nvSpPr>
        <p:spPr>
          <a:xfrm>
            <a:off x="184150" y="-133350"/>
            <a:ext cx="9393237" cy="155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Types of Static Testing  cont …</a:t>
            </a:r>
            <a:endParaRPr/>
          </a:p>
        </p:txBody>
      </p:sp>
      <p:sp>
        <p:nvSpPr>
          <p:cNvPr id="272" name="Google Shape;272;p34"/>
          <p:cNvSpPr txBox="1">
            <a:spLocks noGrp="1"/>
          </p:cNvSpPr>
          <p:nvPr>
            <p:ph type="body" idx="1"/>
          </p:nvPr>
        </p:nvSpPr>
        <p:spPr>
          <a:xfrm>
            <a:off x="925512" y="1971675"/>
            <a:ext cx="9732962" cy="557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lvl="0" indent="-311148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After a  module has been coded: </a:t>
            </a:r>
            <a:endParaRPr/>
          </a:p>
          <a:p>
            <a:pPr marL="704850" lvl="1" indent="-261937" algn="l" rtl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code inspection and code walk through are carried out </a:t>
            </a:r>
            <a:endParaRPr/>
          </a:p>
          <a:p>
            <a:pPr marL="704850" lvl="1" indent="-261937" algn="l" rtl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ensures that coding standards are followed </a:t>
            </a:r>
            <a:endParaRPr/>
          </a:p>
          <a:p>
            <a:pPr marL="704850" lvl="1" indent="-261937" algn="l" rtl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helps detect as many errors as possible before testing.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>
            <a:spLocks noGrp="1"/>
          </p:cNvSpPr>
          <p:nvPr>
            <p:ph type="title"/>
          </p:nvPr>
        </p:nvSpPr>
        <p:spPr>
          <a:xfrm>
            <a:off x="0" y="231775"/>
            <a:ext cx="9917112" cy="155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Types of Static Testing  cont …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body" idx="1"/>
          </p:nvPr>
        </p:nvSpPr>
        <p:spPr>
          <a:xfrm>
            <a:off x="1154112" y="1798637"/>
            <a:ext cx="8926512" cy="517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lvl="0" indent="-311148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Detect as many errors as possible during </a:t>
            </a:r>
            <a:r>
              <a:rPr lang="en-US" sz="2800" b="0" i="0" u="none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</a:rPr>
              <a:t>inspection &amp; walkthrough</a:t>
            </a: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  <a:p>
            <a:pPr marL="704850" lvl="1" indent="-261937" algn="l" rtl="0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detected errors require less effort for correction </a:t>
            </a:r>
            <a:endParaRPr/>
          </a:p>
          <a:p>
            <a:pPr marL="976312" lvl="2" indent="-250824" algn="l" rtl="0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</a:pPr>
            <a:r>
              <a:rPr lang="en-US" sz="2400" b="0" i="0" u="none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</a:rPr>
              <a:t>much higher effort needed if errors were to be detected during  integration or system testing</a:t>
            </a:r>
            <a:r>
              <a:rPr lang="en-US" sz="2400" b="0" i="0" u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>
            <a:spLocks noGrp="1"/>
          </p:cNvSpPr>
          <p:nvPr>
            <p:ph type="title"/>
          </p:nvPr>
        </p:nvSpPr>
        <p:spPr>
          <a:xfrm>
            <a:off x="696912" y="142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Inspections </a:t>
            </a:r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body" idx="1"/>
          </p:nvPr>
        </p:nvSpPr>
        <p:spPr>
          <a:xfrm>
            <a:off x="1001712" y="1417637"/>
            <a:ext cx="8839200" cy="569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Software inspections were first introduced at IBM by Fagan in the early 1970s.</a:t>
            </a:r>
            <a:endParaRPr/>
          </a:p>
          <a:p>
            <a:pPr marL="401637" marR="0" lvl="0" indent="-311148" algn="just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These can be used to tackle software quality problems because they allow the detection and removal of defects after each phase of SDLC.</a:t>
            </a:r>
            <a:endParaRPr/>
          </a:p>
          <a:p>
            <a:pPr marL="401638" marR="0" lvl="0" indent="-148590" algn="l" rtl="0">
              <a:spcBef>
                <a:spcPts val="82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>
            <a:spLocks noGrp="1"/>
          </p:cNvSpPr>
          <p:nvPr>
            <p:ph type="title"/>
          </p:nvPr>
        </p:nvSpPr>
        <p:spPr>
          <a:xfrm>
            <a:off x="781050" y="0"/>
            <a:ext cx="8589962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</a:t>
            </a:r>
            <a:endParaRPr/>
          </a:p>
        </p:txBody>
      </p:sp>
      <p:sp>
        <p:nvSpPr>
          <p:cNvPr id="293" name="Google Shape;293;p37"/>
          <p:cNvSpPr txBox="1">
            <a:spLocks noGrp="1"/>
          </p:cNvSpPr>
          <p:nvPr>
            <p:ph type="body" idx="1"/>
          </p:nvPr>
        </p:nvSpPr>
        <p:spPr>
          <a:xfrm>
            <a:off x="1230312" y="1265237"/>
            <a:ext cx="8850312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lvl="1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Code inspection aims mainly at discovery of commonly made errors.</a:t>
            </a:r>
            <a:endParaRPr/>
          </a:p>
          <a:p>
            <a:pPr marL="401637" lvl="0" indent="-311148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During code inspection:</a:t>
            </a:r>
            <a:endParaRPr/>
          </a:p>
          <a:p>
            <a:pPr marL="401637" lvl="1" indent="-31114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</a:rPr>
              <a:t>the code  is examined for the presence of certain kinds of errors.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>
            <a:spLocks noGrp="1"/>
          </p:cNvSpPr>
          <p:nvPr>
            <p:ph type="title"/>
          </p:nvPr>
        </p:nvSpPr>
        <p:spPr>
          <a:xfrm>
            <a:off x="620712" y="-22225"/>
            <a:ext cx="8589962" cy="98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</a:t>
            </a:r>
            <a:endParaRPr/>
          </a:p>
        </p:txBody>
      </p:sp>
      <p:sp>
        <p:nvSpPr>
          <p:cNvPr id="300" name="Google Shape;300;p38"/>
          <p:cNvSpPr txBox="1">
            <a:spLocks noGrp="1"/>
          </p:cNvSpPr>
          <p:nvPr>
            <p:ph type="body" idx="1"/>
          </p:nvPr>
        </p:nvSpPr>
        <p:spPr>
          <a:xfrm>
            <a:off x="1230312" y="884237"/>
            <a:ext cx="8686800" cy="558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instance,  consider:</a:t>
            </a:r>
            <a:endParaRPr/>
          </a:p>
          <a:p>
            <a:pPr marL="704850" lvl="1" indent="-261937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</a:rPr>
              <a:t>classical error of writing a procedure that modifies a formal </a:t>
            </a:r>
            <a:r>
              <a:rPr lang="en-US" sz="2400" b="0" i="0" u="none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</a:rPr>
              <a:t>parameter</a:t>
            </a:r>
            <a:r>
              <a:rPr lang="en-US" sz="2800" b="0" i="0" u="none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marL="704850" lvl="1" indent="-261937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</a:rPr>
              <a:t>while the  calling routine calls the procedure with a constant actual parameter.</a:t>
            </a:r>
            <a:r>
              <a:rPr lang="en-US" sz="2800" b="0" i="0" u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marL="401637" lvl="0" indent="-311148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is more likely that such an error will be discovered: </a:t>
            </a:r>
            <a:endParaRPr/>
          </a:p>
          <a:p>
            <a:pPr marL="704850" lvl="1" indent="-261937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</a:rPr>
              <a:t>by looking for this kind of mistakes in the code, </a:t>
            </a:r>
            <a:endParaRPr/>
          </a:p>
          <a:p>
            <a:pPr marL="704850" lvl="1" indent="-261937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</a:rPr>
              <a:t>rather than by simply hand simulating execution of the procedure.</a:t>
            </a:r>
            <a:r>
              <a:rPr lang="en-US" sz="2800" b="0" i="0" u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>
            <a:spLocks noGrp="1"/>
          </p:cNvSpPr>
          <p:nvPr>
            <p:ph type="title"/>
          </p:nvPr>
        </p:nvSpPr>
        <p:spPr>
          <a:xfrm>
            <a:off x="842962" y="-77787"/>
            <a:ext cx="8589962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</a:t>
            </a:r>
            <a:endParaRPr/>
          </a:p>
        </p:txBody>
      </p:sp>
      <p:sp>
        <p:nvSpPr>
          <p:cNvPr id="307" name="Google Shape;307;p39"/>
          <p:cNvSpPr txBox="1">
            <a:spLocks noGrp="1"/>
          </p:cNvSpPr>
          <p:nvPr>
            <p:ph type="body" idx="1"/>
          </p:nvPr>
        </p:nvSpPr>
        <p:spPr>
          <a:xfrm>
            <a:off x="1230312" y="1265237"/>
            <a:ext cx="8763000" cy="526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lvl="0" indent="-31114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Good software development companies: </a:t>
            </a:r>
            <a:endParaRPr/>
          </a:p>
          <a:p>
            <a:pPr marL="704850" lvl="1" indent="-261937" algn="l" rtl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</a:rPr>
              <a:t>collect statistics of errors committed by their engineers </a:t>
            </a:r>
            <a:endParaRPr/>
          </a:p>
          <a:p>
            <a:pPr marL="704850" lvl="1" indent="-261937" algn="l" rtl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rgbClr val="0066FF"/>
                </a:solidFill>
                <a:latin typeface="Gill Sans"/>
                <a:ea typeface="Gill Sans"/>
                <a:cs typeface="Gill Sans"/>
                <a:sym typeface="Gill Sans"/>
              </a:rPr>
              <a:t>identify the types of  errors most frequently committed</a:t>
            </a:r>
            <a:r>
              <a:rPr lang="en-US" sz="2800" b="0" i="0" u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.   </a:t>
            </a:r>
            <a:endParaRPr/>
          </a:p>
          <a:p>
            <a:pPr marL="401637" lvl="0" indent="-311148" algn="l" rtl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list of common errors:</a:t>
            </a:r>
            <a:endParaRPr/>
          </a:p>
          <a:p>
            <a:pPr marL="704850" lvl="1" indent="-261937" algn="l" rtl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can be used during code inspection to look out for possible errors.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>
            <a:spLocks noGrp="1"/>
          </p:cNvSpPr>
          <p:nvPr>
            <p:ph type="title"/>
          </p:nvPr>
        </p:nvSpPr>
        <p:spPr>
          <a:xfrm>
            <a:off x="774700" y="-182562"/>
            <a:ext cx="8589962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Commonly made errors</a:t>
            </a:r>
            <a:endParaRPr/>
          </a:p>
        </p:txBody>
      </p:sp>
      <p:sp>
        <p:nvSpPr>
          <p:cNvPr id="314" name="Google Shape;314;p40"/>
          <p:cNvSpPr txBox="1">
            <a:spLocks noGrp="1"/>
          </p:cNvSpPr>
          <p:nvPr>
            <p:ph type="body" idx="1"/>
          </p:nvPr>
        </p:nvSpPr>
        <p:spPr>
          <a:xfrm>
            <a:off x="1230312" y="960437"/>
            <a:ext cx="8850312" cy="557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01637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 of uninitialized variables.</a:t>
            </a:r>
            <a:endParaRPr/>
          </a:p>
          <a:p>
            <a:pPr marL="401637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Nonterminating loops. </a:t>
            </a:r>
            <a:endParaRPr/>
          </a:p>
          <a:p>
            <a:pPr marL="401637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Array indices out of bounds.</a:t>
            </a:r>
            <a:endParaRPr/>
          </a:p>
          <a:p>
            <a:pPr marL="401637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Incompatible assignments.</a:t>
            </a:r>
            <a:endParaRPr/>
          </a:p>
          <a:p>
            <a:pPr marL="401637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Improper storage allocation and deallocation.</a:t>
            </a:r>
            <a:endParaRPr/>
          </a:p>
          <a:p>
            <a:pPr marL="401637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Actual and formal parameter mismatch in procedure calls. </a:t>
            </a:r>
            <a:endParaRPr/>
          </a:p>
          <a:p>
            <a:pPr marL="401637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Jumps into loops.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Inspections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  <p:sp>
        <p:nvSpPr>
          <p:cNvPr id="320" name="Google Shape;320;p41"/>
          <p:cNvSpPr txBox="1">
            <a:spLocks noGrp="1"/>
          </p:cNvSpPr>
          <p:nvPr>
            <p:ph type="body" idx="1"/>
          </p:nvPr>
        </p:nvSpPr>
        <p:spPr>
          <a:xfrm>
            <a:off x="1001712" y="1112837"/>
            <a:ext cx="8915400" cy="600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Inspection process is an in-process manual examination of an item to detect bugs.</a:t>
            </a:r>
            <a:endParaRPr/>
          </a:p>
          <a:p>
            <a:pPr marL="401637" marR="0" lvl="0" indent="-311148" algn="just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may be applied to any product or partial product of the software development process.</a:t>
            </a:r>
            <a:endParaRPr/>
          </a:p>
          <a:p>
            <a:pPr marL="401637" marR="0" lvl="0" indent="-311148" algn="just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These are done in the early stages of each product development.</a:t>
            </a:r>
            <a:endParaRPr/>
          </a:p>
        </p:txBody>
      </p:sp>
      <p:sp>
        <p:nvSpPr>
          <p:cNvPr id="321" name="Google Shape;321;p4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>
            <a:spLocks noGrp="1"/>
          </p:cNvSpPr>
          <p:nvPr>
            <p:ph type="body" idx="1"/>
          </p:nvPr>
        </p:nvSpPr>
        <p:spPr>
          <a:xfrm>
            <a:off x="1077912" y="1189037"/>
            <a:ext cx="8839200" cy="592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This process does not require executable code or test cases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With inspection, bugs can be found on infrequently executed paths that are not likely to be included in test cases.</a:t>
            </a:r>
            <a:endParaRPr/>
          </a:p>
          <a:p>
            <a:pPr marL="401637" marR="0" lvl="0" indent="-31114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does not execute the code, so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is machine independent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Requires no target system resources</a:t>
            </a:r>
            <a:endParaRPr/>
          </a:p>
          <a:p>
            <a:pPr marL="704850" marR="0" lvl="1" indent="-26193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Does not require to change program’s operational behavior.</a:t>
            </a:r>
            <a:endParaRPr/>
          </a:p>
        </p:txBody>
      </p:sp>
      <p:sp>
        <p:nvSpPr>
          <p:cNvPr id="327" name="Google Shape;327;p4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  <p:sp>
        <p:nvSpPr>
          <p:cNvPr id="328" name="Google Shape;328;p42"/>
          <p:cNvSpPr txBox="1"/>
          <p:nvPr/>
        </p:nvSpPr>
        <p:spPr>
          <a:xfrm>
            <a:off x="1296987" y="19843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Inspections   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>
            <a:spLocks noGrp="1"/>
          </p:cNvSpPr>
          <p:nvPr>
            <p:ph type="body" idx="1"/>
          </p:nvPr>
        </p:nvSpPr>
        <p:spPr>
          <a:xfrm>
            <a:off x="1001712" y="11890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inspection process is carried out by a group of peers.</a:t>
            </a:r>
            <a:endParaRPr/>
          </a:p>
          <a:p>
            <a:pPr marL="401637" marR="0" lvl="0" indent="-311148" algn="just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group first inspects the product at individual level.</a:t>
            </a:r>
            <a:endParaRPr/>
          </a:p>
          <a:p>
            <a:pPr marL="401637" marR="0" lvl="0" indent="-311148" algn="just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After this, they discuss the potential defects of the product observed in a formal meeting.</a:t>
            </a:r>
            <a:endParaRPr/>
          </a:p>
          <a:p>
            <a:pPr marL="401638" marR="0" lvl="0" indent="-148590" algn="l" rtl="0">
              <a:spcBef>
                <a:spcPts val="98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4" name="Google Shape;334;p4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Inspections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 txBox="1">
            <a:spLocks noGrp="1"/>
          </p:cNvSpPr>
          <p:nvPr>
            <p:ph type="body" idx="1"/>
          </p:nvPr>
        </p:nvSpPr>
        <p:spPr>
          <a:xfrm>
            <a:off x="1077912" y="1265237"/>
            <a:ext cx="8839200" cy="584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second important thing about inspection process is that it is a formal process of verifying a software product.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documents which can be inspected are SRS, SDD, Code, and test plan.</a:t>
            </a:r>
            <a:endParaRPr/>
          </a:p>
        </p:txBody>
      </p:sp>
      <p:sp>
        <p:nvSpPr>
          <p:cNvPr id="342" name="Google Shape;342;p4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Inspections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>
            <a:spLocks noGrp="1"/>
          </p:cNvSpPr>
          <p:nvPr>
            <p:ph type="body" idx="1"/>
          </p:nvPr>
        </p:nvSpPr>
        <p:spPr>
          <a:xfrm>
            <a:off x="1306512" y="1722437"/>
            <a:ext cx="8610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inspection process involves the interaction of the following elements: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Inspection steps, 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Role for participants,</a:t>
            </a:r>
            <a:endParaRPr/>
          </a:p>
          <a:p>
            <a:pPr marL="742950" marR="0" lvl="1" indent="-2857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Item being inspected.</a:t>
            </a:r>
            <a:endParaRPr/>
          </a:p>
        </p:txBody>
      </p:sp>
      <p:sp>
        <p:nvSpPr>
          <p:cNvPr id="350" name="Google Shape;350;p4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/>
          </a:p>
        </p:txBody>
      </p:sp>
      <p:sp>
        <p:nvSpPr>
          <p:cNvPr id="351" name="Google Shape;351;p45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Inspections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6"/>
          <p:cNvSpPr txBox="1">
            <a:spLocks noGrp="1"/>
          </p:cNvSpPr>
          <p:nvPr>
            <p:ph type="body" idx="1"/>
          </p:nvPr>
        </p:nvSpPr>
        <p:spPr>
          <a:xfrm>
            <a:off x="849312" y="1417637"/>
            <a:ext cx="9067800" cy="564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entry and exit criteria are used to determine whether an item is ready to be inspected.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Entry criteria mean that the item to be inspected is matured enough to be used.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Exit criterion is that once the item has been given for inspection, it should not be updated, </a:t>
            </a:r>
            <a:endParaRPr/>
          </a:p>
          <a:p>
            <a:pPr marL="1184275" marR="0" lvl="2" indent="-285750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Otherwise it will not know how many bugs have been reported and corrected and the whole purpose of inspection is lost.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n-US" sz="2800" b="0" i="0" u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.  </a:t>
            </a:r>
            <a:endParaRPr/>
          </a:p>
        </p:txBody>
      </p:sp>
      <p:sp>
        <p:nvSpPr>
          <p:cNvPr id="358" name="Google Shape;358;p4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  <p:sp>
        <p:nvSpPr>
          <p:cNvPr id="359" name="Google Shape;359;p46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Inspections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team</a:t>
            </a:r>
            <a:endParaRPr/>
          </a:p>
        </p:txBody>
      </p:sp>
      <p:sp>
        <p:nvSpPr>
          <p:cNvPr id="365" name="Google Shape;365;p47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the inspection process, a minimum of the following four team members are required: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Author/Owner/Producer</a:t>
            </a:r>
            <a:endParaRPr/>
          </a:p>
          <a:p>
            <a:pPr marL="976312" marR="0" lvl="2" indent="-250824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</a:pPr>
            <a:r>
              <a:rPr lang="en-US"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 a programmer or designer responsible for producing the program or documents.</a:t>
            </a:r>
            <a:endParaRPr/>
          </a:p>
          <a:p>
            <a:pPr marL="976312" marR="0" lvl="2" indent="-250824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</a:pPr>
            <a:r>
              <a:rPr lang="en-US"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 is also responsible for fixing defects discovered during the inspection process.</a:t>
            </a:r>
            <a:endParaRPr/>
          </a:p>
        </p:txBody>
      </p:sp>
      <p:sp>
        <p:nvSpPr>
          <p:cNvPr id="366" name="Google Shape;366;p4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team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  <p:sp>
        <p:nvSpPr>
          <p:cNvPr id="372" name="Google Shape;372;p48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704850" marR="0" lvl="1" indent="-26193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Inspector</a:t>
            </a:r>
            <a:endParaRPr/>
          </a:p>
          <a:p>
            <a:pPr marL="976312" marR="0" lvl="2" indent="-250824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peer member of the team.</a:t>
            </a:r>
            <a:endParaRPr/>
          </a:p>
          <a:p>
            <a:pPr marL="976312" marR="0" lvl="2" indent="-250824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 is not directly related to the product under inspection and may be concerned with  some other products.</a:t>
            </a:r>
            <a:endParaRPr/>
          </a:p>
          <a:p>
            <a:pPr marL="976312" marR="0" lvl="2" indent="-250824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 finds errors, omissions, and inconsistencies in programs and documents.</a:t>
            </a:r>
            <a:endParaRPr/>
          </a:p>
        </p:txBody>
      </p:sp>
      <p:sp>
        <p:nvSpPr>
          <p:cNvPr id="373" name="Google Shape;373;p4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team     cont…</a:t>
            </a:r>
            <a:endParaRPr/>
          </a:p>
        </p:txBody>
      </p:sp>
      <p:sp>
        <p:nvSpPr>
          <p:cNvPr id="379" name="Google Shape;379;p49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704850" marR="0" lvl="1" indent="-26193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Moderator</a:t>
            </a:r>
            <a:endParaRPr/>
          </a:p>
          <a:p>
            <a:pPr marL="976312" marR="0" lvl="2" indent="-250824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team member who manages the whole inspection process.</a:t>
            </a:r>
            <a:endParaRPr/>
          </a:p>
          <a:p>
            <a:pPr marL="976312" marR="0" lvl="2" indent="-250824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 schedules, leads and  controls the inspection session.</a:t>
            </a:r>
            <a:endParaRPr/>
          </a:p>
          <a:p>
            <a:pPr marL="976312" marR="0" lvl="2" indent="-250824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 is the key person with the responsibility of planning and successful execution of the inspection.</a:t>
            </a:r>
            <a:endParaRPr/>
          </a:p>
        </p:txBody>
      </p:sp>
      <p:sp>
        <p:nvSpPr>
          <p:cNvPr id="380" name="Google Shape;380;p4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386" name="Google Shape;386;p50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Recorder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Who records all the results of the inspection meeting.</a:t>
            </a:r>
            <a:endParaRPr/>
          </a:p>
        </p:txBody>
      </p:sp>
      <p:sp>
        <p:nvSpPr>
          <p:cNvPr id="387" name="Google Shape;387;p5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/>
          </a:p>
        </p:txBody>
      </p:sp>
      <p:sp>
        <p:nvSpPr>
          <p:cNvPr id="388" name="Google Shape;388;p50"/>
          <p:cNvSpPr txBox="1"/>
          <p:nvPr/>
        </p:nvSpPr>
        <p:spPr>
          <a:xfrm>
            <a:off x="1346200" y="2301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team     cont…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1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process</a:t>
            </a:r>
            <a:endParaRPr/>
          </a:p>
        </p:txBody>
      </p:sp>
      <p:sp>
        <p:nvSpPr>
          <p:cNvPr id="394" name="Google Shape;394;p51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general inspection process has the following stages: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Planning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Overview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Individual preparation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Inspection meeting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Rework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Follow-up</a:t>
            </a:r>
            <a:endParaRPr/>
          </a:p>
        </p:txBody>
      </p:sp>
      <p:sp>
        <p:nvSpPr>
          <p:cNvPr id="395" name="Google Shape;395;p5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2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01" name="Google Shape;401;p52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Planning: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During this phase the following is executed: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product to be inspected is identified.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moderator is assigned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objective of the inspection is stated.</a:t>
            </a:r>
            <a:endParaRPr/>
          </a:p>
        </p:txBody>
      </p:sp>
      <p:sp>
        <p:nvSpPr>
          <p:cNvPr id="402" name="Google Shape;402;p5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/>
          </a:p>
        </p:txBody>
      </p:sp>
      <p:sp>
        <p:nvSpPr>
          <p:cNvPr id="403" name="Google Shape;403;p52"/>
          <p:cNvSpPr txBox="1"/>
          <p:nvPr/>
        </p:nvSpPr>
        <p:spPr>
          <a:xfrm>
            <a:off x="1346200" y="2301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process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3"/>
          <p:cNvSpPr txBox="1">
            <a:spLocks noGrp="1"/>
          </p:cNvSpPr>
          <p:nvPr>
            <p:ph type="body" idx="1"/>
          </p:nvPr>
        </p:nvSpPr>
        <p:spPr>
          <a:xfrm>
            <a:off x="696912" y="1265237"/>
            <a:ext cx="9253537" cy="577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14858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During planning the moderator performs the following activities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Assures that the product is ready for inspection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Selects the inspection team and assigns their roles.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Schedules the meeting venue and time.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Distributes the inspection materials like the item to be inspected, check lists, etc.</a:t>
            </a:r>
            <a:endParaRPr/>
          </a:p>
        </p:txBody>
      </p:sp>
      <p:sp>
        <p:nvSpPr>
          <p:cNvPr id="409" name="Google Shape;409;p5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/>
          </a:p>
        </p:txBody>
      </p:sp>
      <p:sp>
        <p:nvSpPr>
          <p:cNvPr id="410" name="Google Shape;410;p53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11" name="Google Shape;411;p53"/>
          <p:cNvSpPr txBox="1"/>
          <p:nvPr/>
        </p:nvSpPr>
        <p:spPr>
          <a:xfrm>
            <a:off x="1346200" y="2301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process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4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17" name="Google Shape;417;p54"/>
          <p:cNvSpPr txBox="1">
            <a:spLocks noGrp="1"/>
          </p:cNvSpPr>
          <p:nvPr>
            <p:ph type="body" idx="1"/>
          </p:nvPr>
        </p:nvSpPr>
        <p:spPr>
          <a:xfrm>
            <a:off x="1022350" y="1073150"/>
            <a:ext cx="9024937" cy="638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Overview: 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inspection team is provided with the background information for inspection.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author presents the rationale for the product, its relationship to the rest of the product being developed, its function and intended use, and the approach used to develop it.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opening meeting may also be called by the moderator to explain the objective of inspection to the team members</a:t>
            </a:r>
            <a:endParaRPr/>
          </a:p>
        </p:txBody>
      </p:sp>
      <p:sp>
        <p:nvSpPr>
          <p:cNvPr id="418" name="Google Shape;418;p5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/>
          </a:p>
        </p:txBody>
      </p:sp>
      <p:sp>
        <p:nvSpPr>
          <p:cNvPr id="419" name="Google Shape;419;p54"/>
          <p:cNvSpPr txBox="1"/>
          <p:nvPr/>
        </p:nvSpPr>
        <p:spPr>
          <a:xfrm>
            <a:off x="1346200" y="2301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process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5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25" name="Google Shape;425;p55"/>
          <p:cNvSpPr txBox="1">
            <a:spLocks noGrp="1"/>
          </p:cNvSpPr>
          <p:nvPr>
            <p:ph type="body" idx="1"/>
          </p:nvPr>
        </p:nvSpPr>
        <p:spPr>
          <a:xfrm>
            <a:off x="1077912" y="1120775"/>
            <a:ext cx="9002712" cy="64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Individual preparation: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After the overview, the reviewers individually prepare themselves for the inspection.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They point out potential errors or problems found and record them in a log.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moderator compiles the logs of different members and gives a copy to the author of the inspected team.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inspector reviews the product for general problems as well as specific problems.</a:t>
            </a:r>
            <a:endParaRPr/>
          </a:p>
        </p:txBody>
      </p:sp>
      <p:sp>
        <p:nvSpPr>
          <p:cNvPr id="426" name="Google Shape;426;p5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/>
          </a:p>
        </p:txBody>
      </p:sp>
      <p:sp>
        <p:nvSpPr>
          <p:cNvPr id="427" name="Google Shape;427;p55"/>
          <p:cNvSpPr txBox="1"/>
          <p:nvPr/>
        </p:nvSpPr>
        <p:spPr>
          <a:xfrm>
            <a:off x="1346200" y="2301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process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6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33" name="Google Shape;433;p56"/>
          <p:cNvSpPr txBox="1">
            <a:spLocks noGrp="1"/>
          </p:cNvSpPr>
          <p:nvPr>
            <p:ph type="body" idx="1"/>
          </p:nvPr>
        </p:nvSpPr>
        <p:spPr>
          <a:xfrm>
            <a:off x="1001712" y="1114425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704850" marR="0" lvl="1" indent="-26193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product being inspected is also checked against standard documents to assure correctness.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After reviewing, the inspector records the defects found and the time spent for preparation.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Completed preparation logs are then submitted to the moderator prior to the inspection meeting.</a:t>
            </a:r>
            <a:endParaRPr/>
          </a:p>
        </p:txBody>
      </p:sp>
      <p:sp>
        <p:nvSpPr>
          <p:cNvPr id="434" name="Google Shape;434;p5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/>
          </a:p>
        </p:txBody>
      </p:sp>
      <p:sp>
        <p:nvSpPr>
          <p:cNvPr id="435" name="Google Shape;435;p56"/>
          <p:cNvSpPr txBox="1"/>
          <p:nvPr/>
        </p:nvSpPr>
        <p:spPr>
          <a:xfrm>
            <a:off x="1346200" y="2301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process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7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704850" marR="0" lvl="1" indent="-26193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moderator reviews the logs to determine whether the team is adequately prepared.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Moderator also checks for trouble spots and the areas of major concern that may require extra attention 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the team is not adequately prepared then the meeting is rescheduled.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After this, the compiled log file is submitted to the author.</a:t>
            </a:r>
            <a:endParaRPr/>
          </a:p>
        </p:txBody>
      </p:sp>
      <p:sp>
        <p:nvSpPr>
          <p:cNvPr id="441" name="Google Shape;441;p5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/>
          </a:p>
        </p:txBody>
      </p:sp>
      <p:sp>
        <p:nvSpPr>
          <p:cNvPr id="442" name="Google Shape;442;p57"/>
          <p:cNvSpPr txBox="1"/>
          <p:nvPr/>
        </p:nvSpPr>
        <p:spPr>
          <a:xfrm>
            <a:off x="1346200" y="2301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process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48" name="Google Shape;448;p58"/>
          <p:cNvSpPr txBox="1">
            <a:spLocks noGrp="1"/>
          </p:cNvSpPr>
          <p:nvPr>
            <p:ph type="body" idx="1"/>
          </p:nvPr>
        </p:nvSpPr>
        <p:spPr>
          <a:xfrm>
            <a:off x="925512" y="1189037"/>
            <a:ext cx="9155112" cy="577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Inspection meeting: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inspection meeting starts with the author of the inspected team.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Author discusses every issue raised by different members in the compiled log file.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They arrive at a consensus to accept the concerns as errors or not.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a new error is found during the meeting then it is also recorded and discussed.</a:t>
            </a:r>
            <a:endParaRPr/>
          </a:p>
        </p:txBody>
      </p:sp>
      <p:sp>
        <p:nvSpPr>
          <p:cNvPr id="449" name="Google Shape;449;p5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/>
          </a:p>
        </p:txBody>
      </p:sp>
      <p:sp>
        <p:nvSpPr>
          <p:cNvPr id="450" name="Google Shape;450;p58"/>
          <p:cNvSpPr txBox="1"/>
          <p:nvPr/>
        </p:nvSpPr>
        <p:spPr>
          <a:xfrm>
            <a:off x="1231900" y="2301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process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9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56" name="Google Shape;456;p59"/>
          <p:cNvSpPr txBox="1">
            <a:spLocks noGrp="1"/>
          </p:cNvSpPr>
          <p:nvPr>
            <p:ph type="body" idx="1"/>
          </p:nvPr>
        </p:nvSpPr>
        <p:spPr>
          <a:xfrm>
            <a:off x="544512" y="1417637"/>
            <a:ext cx="9253537" cy="569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704850" marR="0" lvl="1" indent="-26193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During the meeting effort is put only to identify the bug and not to fix them.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author later fixes the identified bugs.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is the duty of the moderator that the meeting remains focused towards its objective and the author is not discouraged in any way.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At the end the moderator concludes the meeting and produces the summary of the inspection meeting.</a:t>
            </a:r>
            <a:endParaRPr/>
          </a:p>
        </p:txBody>
      </p:sp>
      <p:sp>
        <p:nvSpPr>
          <p:cNvPr id="457" name="Google Shape;457;p5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/>
          </a:p>
        </p:txBody>
      </p:sp>
      <p:sp>
        <p:nvSpPr>
          <p:cNvPr id="458" name="Google Shape;458;p59"/>
          <p:cNvSpPr txBox="1"/>
          <p:nvPr/>
        </p:nvSpPr>
        <p:spPr>
          <a:xfrm>
            <a:off x="1346200" y="2301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process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0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Rework: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summary list of the bugs that arise during the inspection meeting needs to be reworked by the author.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author fixes all these bugs and reports back to the moderator.</a:t>
            </a:r>
            <a:endParaRPr/>
          </a:p>
        </p:txBody>
      </p:sp>
      <p:sp>
        <p:nvSpPr>
          <p:cNvPr id="464" name="Google Shape;464;p6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/>
          </a:p>
        </p:txBody>
      </p:sp>
      <p:sp>
        <p:nvSpPr>
          <p:cNvPr id="465" name="Google Shape;465;p60"/>
          <p:cNvSpPr txBox="1"/>
          <p:nvPr/>
        </p:nvSpPr>
        <p:spPr>
          <a:xfrm>
            <a:off x="1346200" y="2301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process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1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Follow-up: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Moderator checks that all the bugs found have been addressed and fixed.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 prepares a report, the document is then approved for release.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this is not the case, then the unresolved issues are mentioned in a report and another inspection meeting is called.</a:t>
            </a:r>
            <a:endParaRPr/>
          </a:p>
        </p:txBody>
      </p:sp>
      <p:sp>
        <p:nvSpPr>
          <p:cNvPr id="471" name="Google Shape;471;p6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/>
          </a:p>
        </p:txBody>
      </p:sp>
      <p:sp>
        <p:nvSpPr>
          <p:cNvPr id="472" name="Google Shape;472;p61"/>
          <p:cNvSpPr txBox="1"/>
          <p:nvPr/>
        </p:nvSpPr>
        <p:spPr>
          <a:xfrm>
            <a:off x="1346200" y="2301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Inspection process      </a:t>
            </a:r>
            <a:r>
              <a:rPr lang="en-US" sz="36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2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Benefits of Inspection process</a:t>
            </a:r>
            <a:endParaRPr/>
          </a:p>
        </p:txBody>
      </p:sp>
      <p:sp>
        <p:nvSpPr>
          <p:cNvPr id="478" name="Google Shape;478;p62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644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Bug reduction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Bug prevention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Productivity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Real-time feedback to software engineers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Reduction in development resource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Quality improvement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Project management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Checking coupling and cohesion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Learning through inspection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Process improvement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Courier New"/>
              <a:buChar char="o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Finding most error prone modules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Courier New"/>
              <a:buChar char="o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Distribution of error types</a:t>
            </a:r>
            <a:endParaRPr/>
          </a:p>
          <a:p>
            <a:pPr marL="401638" marR="0" lvl="0" indent="-189230" algn="l" rtl="0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9" name="Google Shape;479;p6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3"/>
          <p:cNvSpPr txBox="1">
            <a:spLocks noGrp="1"/>
          </p:cNvSpPr>
          <p:nvPr>
            <p:ph type="title"/>
          </p:nvPr>
        </p:nvSpPr>
        <p:spPr>
          <a:xfrm>
            <a:off x="1077912" y="-19050"/>
            <a:ext cx="9412287" cy="93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Effectiveness of inspection  process</a:t>
            </a:r>
            <a:endParaRPr/>
          </a:p>
        </p:txBody>
      </p:sp>
      <p:sp>
        <p:nvSpPr>
          <p:cNvPr id="485" name="Google Shape;485;p63"/>
          <p:cNvSpPr txBox="1">
            <a:spLocks noGrp="1"/>
          </p:cNvSpPr>
          <p:nvPr>
            <p:ph type="body" idx="1"/>
          </p:nvPr>
        </p:nvSpPr>
        <p:spPr>
          <a:xfrm>
            <a:off x="1001712" y="884237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effectiveness of the inspection process lies in the rate of inspection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Refers to how much evaluation of an item has been done. 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Rate is high</a:t>
            </a:r>
            <a:endParaRPr/>
          </a:p>
          <a:p>
            <a:pPr marL="976312" marR="0" lvl="2" indent="-250824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</a:pPr>
            <a:r>
              <a:rPr lang="en-US"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Coverage of item to be evaluated is high.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Rate is slow</a:t>
            </a:r>
            <a:endParaRPr/>
          </a:p>
          <a:p>
            <a:pPr marL="976312" marR="0" lvl="2" indent="-250824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</a:pPr>
            <a:r>
              <a:rPr lang="en-US"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Means coverage is not much.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Rate should be considered in the perspective of detection of errors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Too high means less errors detected, and too slow increases the cost of project.</a:t>
            </a:r>
            <a:endParaRPr/>
          </a:p>
        </p:txBody>
      </p:sp>
      <p:sp>
        <p:nvSpPr>
          <p:cNvPr id="486" name="Google Shape;486;p6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4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6212" cy="123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92" name="Google Shape;492;p64"/>
          <p:cNvSpPr txBox="1">
            <a:spLocks noGrp="1"/>
          </p:cNvSpPr>
          <p:nvPr>
            <p:ph type="body" idx="1"/>
          </p:nvPr>
        </p:nvSpPr>
        <p:spPr>
          <a:xfrm>
            <a:off x="1001712" y="960437"/>
            <a:ext cx="8915400" cy="592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may be calculated as the error detection efficiency of the inspection process, as given below: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Error detection efficiency =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/>
          </a:p>
          <a:p>
            <a:pPr marL="401637" marR="0" lvl="0" indent="-148589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01637" marR="0" lvl="0" indent="-148589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01637" marR="0" lvl="0" indent="-148589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also depends on the experience of the team, programming language and the application domain.</a:t>
            </a:r>
            <a:endParaRPr/>
          </a:p>
        </p:txBody>
      </p:sp>
      <p:sp>
        <p:nvSpPr>
          <p:cNvPr id="493" name="Google Shape;493;p6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/>
          </a:p>
        </p:txBody>
      </p:sp>
      <p:pic>
        <p:nvPicPr>
          <p:cNvPr id="494" name="Google Shape;494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1525" y="3671887"/>
            <a:ext cx="9144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8912" y="3417887"/>
            <a:ext cx="7710487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64"/>
          <p:cNvSpPr txBox="1"/>
          <p:nvPr/>
        </p:nvSpPr>
        <p:spPr>
          <a:xfrm>
            <a:off x="1077912" y="-19050"/>
            <a:ext cx="9002712" cy="93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marR="0" lvl="0" indent="0" algn="l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Effectiveness of inspection  process   </a:t>
            </a:r>
            <a:r>
              <a:rPr lang="en-US" sz="28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cont…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5"/>
          <p:cNvSpPr txBox="1">
            <a:spLocks noGrp="1"/>
          </p:cNvSpPr>
          <p:nvPr>
            <p:ph type="title"/>
          </p:nvPr>
        </p:nvSpPr>
        <p:spPr>
          <a:xfrm>
            <a:off x="504825" y="-47625"/>
            <a:ext cx="906621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Cost of Inspection</a:t>
            </a:r>
            <a:endParaRPr/>
          </a:p>
        </p:txBody>
      </p:sp>
      <p:sp>
        <p:nvSpPr>
          <p:cNvPr id="502" name="Google Shape;502;p65"/>
          <p:cNvSpPr txBox="1">
            <a:spLocks noGrp="1"/>
          </p:cNvSpPr>
          <p:nvPr>
            <p:ph type="body" idx="1"/>
          </p:nvPr>
        </p:nvSpPr>
        <p:spPr>
          <a:xfrm>
            <a:off x="903287" y="1035050"/>
            <a:ext cx="9090025" cy="6523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401637" marR="0" lvl="0" indent="-31114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at least four members involved the cost of inspecting 100 lines of code is roughly equivalent to one person-day of effort.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Assuming that inspection takes 1 hr &amp;</a:t>
            </a:r>
            <a:endParaRPr/>
          </a:p>
          <a:p>
            <a:pPr marL="704850" marR="0" lvl="1" indent="-26193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member spends1-2hrs preparation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costs are variable and depend on number of faults in the software.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Effort required for inspection is half the effort that would be required for dynamic testing. </a:t>
            </a:r>
            <a:endParaRPr/>
          </a:p>
          <a:p>
            <a:pPr marL="401637" marR="0" lvl="0" indent="-311148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estimated that, the cost of inspection can be 5-10%of the total cost of the project.</a:t>
            </a:r>
            <a:endParaRPr/>
          </a:p>
        </p:txBody>
      </p:sp>
      <p:sp>
        <p:nvSpPr>
          <p:cNvPr id="503" name="Google Shape;503;p6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 sz="15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6"/>
          <p:cNvSpPr txBox="1">
            <a:spLocks noGrp="1"/>
          </p:cNvSpPr>
          <p:nvPr>
            <p:ph type="title"/>
          </p:nvPr>
        </p:nvSpPr>
        <p:spPr>
          <a:xfrm>
            <a:off x="1193800" y="77787"/>
            <a:ext cx="8810625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509" name="Google Shape;509;p66"/>
          <p:cNvSpPr txBox="1">
            <a:spLocks noGrp="1"/>
          </p:cNvSpPr>
          <p:nvPr>
            <p:ph type="body" idx="1"/>
          </p:nvPr>
        </p:nvSpPr>
        <p:spPr>
          <a:xfrm>
            <a:off x="1219200" y="1112837"/>
            <a:ext cx="8758237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Autofit/>
          </a:bodyPr>
          <a:lstStyle/>
          <a:p>
            <a:pPr marL="90487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0487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0487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0487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320"/>
              <a:buFont typeface="Noto Sans Symbols"/>
              <a:buNone/>
            </a:pPr>
            <a:r>
              <a:rPr lang="en-US" sz="5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Thank You</a:t>
            </a:r>
            <a:endParaRPr/>
          </a:p>
        </p:txBody>
      </p:sp>
      <p:sp>
        <p:nvSpPr>
          <p:cNvPr id="510" name="Google Shape;510;p66"/>
          <p:cNvSpPr txBox="1"/>
          <p:nvPr/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*08/10/1003/08/10</a:t>
            </a:r>
            <a:endParaRPr/>
          </a:p>
        </p:txBody>
      </p:sp>
      <p:sp>
        <p:nvSpPr>
          <p:cNvPr id="511" name="Google Shape;511;p6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fld id="{00000000-1234-1234-1234-123412341234}" type="slidenum">
              <a:rPr lang="en-US" sz="2400" b="0" i="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42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1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248506057764488F1427FA385734F9" ma:contentTypeVersion="3" ma:contentTypeDescription="Create a new document." ma:contentTypeScope="" ma:versionID="b57c064bbdd9c2bd68dfdb79c82fd95e">
  <xsd:schema xmlns:xsd="http://www.w3.org/2001/XMLSchema" xmlns:xs="http://www.w3.org/2001/XMLSchema" xmlns:p="http://schemas.microsoft.com/office/2006/metadata/properties" xmlns:ns2="845d10cc-67f8-4475-ade2-cc9179ec113f" targetNamespace="http://schemas.microsoft.com/office/2006/metadata/properties" ma:root="true" ma:fieldsID="f5aeb68c4f16a20c5217666e91ef7525" ns2:_="">
    <xsd:import namespace="845d10cc-67f8-4475-ade2-cc9179ec11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5d10cc-67f8-4475-ade2-cc9179ec11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75B663-2B4D-4607-9488-247B80C0C232}"/>
</file>

<file path=customXml/itemProps2.xml><?xml version="1.0" encoding="utf-8"?>
<ds:datastoreItem xmlns:ds="http://schemas.openxmlformats.org/officeDocument/2006/customXml" ds:itemID="{A8AAABFF-5EFB-4B05-A523-9C8C22780C8D}"/>
</file>

<file path=customXml/itemProps3.xml><?xml version="1.0" encoding="utf-8"?>
<ds:datastoreItem xmlns:ds="http://schemas.openxmlformats.org/officeDocument/2006/customXml" ds:itemID="{D8F92ECA-6DDD-4C3C-91DE-895051C796D3}"/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2094</Words>
  <Application>Microsoft Office PowerPoint</Application>
  <PresentationFormat>Custom</PresentationFormat>
  <Paragraphs>278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42</vt:i4>
      </vt:variant>
    </vt:vector>
  </HeadingPairs>
  <TitlesOfParts>
    <vt:vector size="62" baseType="lpstr">
      <vt:lpstr>Arial</vt:lpstr>
      <vt:lpstr>Noto Sans Symbols</vt:lpstr>
      <vt:lpstr>Gill Sans</vt:lpstr>
      <vt:lpstr>Courier New</vt:lpstr>
      <vt:lpstr>Verdana</vt:lpstr>
      <vt:lpstr>Times New Roman</vt:lpstr>
      <vt:lpstr>Calibri</vt:lpstr>
      <vt:lpstr>Comic Sans MS</vt:lpstr>
      <vt:lpstr>1_Solstice</vt:lpstr>
      <vt:lpstr>2_Solstice</vt:lpstr>
      <vt:lpstr>7_Solstice</vt:lpstr>
      <vt:lpstr>Solstice</vt:lpstr>
      <vt:lpstr>3_Solstice</vt:lpstr>
      <vt:lpstr>4_Solstice</vt:lpstr>
      <vt:lpstr>5_Solstice</vt:lpstr>
      <vt:lpstr>6_Solstice</vt:lpstr>
      <vt:lpstr>8_Solstice</vt:lpstr>
      <vt:lpstr>9_Solstice</vt:lpstr>
      <vt:lpstr>10_Solstice</vt:lpstr>
      <vt:lpstr>11_Solstice</vt:lpstr>
      <vt:lpstr>Static Testing </vt:lpstr>
      <vt:lpstr>Drawbacks of Dynamic Testing</vt:lpstr>
      <vt:lpstr>Drawbacks of Dynamic Testing     cont…</vt:lpstr>
      <vt:lpstr>Static Testing</vt:lpstr>
      <vt:lpstr>PowerPoint Presentation</vt:lpstr>
      <vt:lpstr>      Static Testing          cont…</vt:lpstr>
      <vt:lpstr>Benefits of Static Testing</vt:lpstr>
      <vt:lpstr>Objectives of Static Testing</vt:lpstr>
      <vt:lpstr>Types of Static Testing</vt:lpstr>
      <vt:lpstr>Types of Static Testing  cont …</vt:lpstr>
      <vt:lpstr>Types of Static Testing  cont …</vt:lpstr>
      <vt:lpstr>Inspections </vt:lpstr>
      <vt:lpstr>Inspection</vt:lpstr>
      <vt:lpstr>Inspection</vt:lpstr>
      <vt:lpstr>Inspection</vt:lpstr>
      <vt:lpstr>Commonly made errors</vt:lpstr>
      <vt:lpstr>Inspections   cont…</vt:lpstr>
      <vt:lpstr>PowerPoint Presentation</vt:lpstr>
      <vt:lpstr>Inspections   cont…</vt:lpstr>
      <vt:lpstr>Inspections   cont…</vt:lpstr>
      <vt:lpstr>Inspections   cont…</vt:lpstr>
      <vt:lpstr>Inspections   cont…</vt:lpstr>
      <vt:lpstr>Inspection team</vt:lpstr>
      <vt:lpstr>Inspection team      cont…</vt:lpstr>
      <vt:lpstr>Inspection team     cont…</vt:lpstr>
      <vt:lpstr> </vt:lpstr>
      <vt:lpstr>Inspection process</vt:lpstr>
      <vt:lpstr> </vt:lpstr>
      <vt:lpstr> </vt:lpstr>
      <vt:lpstr> </vt:lpstr>
      <vt:lpstr> </vt:lpstr>
      <vt:lpstr> </vt:lpstr>
      <vt:lpstr>PowerPoint Presentation</vt:lpstr>
      <vt:lpstr> </vt:lpstr>
      <vt:lpstr> </vt:lpstr>
      <vt:lpstr>PowerPoint Presentation</vt:lpstr>
      <vt:lpstr>PowerPoint Presentation</vt:lpstr>
      <vt:lpstr>Benefits of Inspection process</vt:lpstr>
      <vt:lpstr>Effectiveness of inspection  process</vt:lpstr>
      <vt:lpstr> </vt:lpstr>
      <vt:lpstr>Cost of Inspection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 Asha</cp:lastModifiedBy>
  <cp:revision>4</cp:revision>
  <dcterms:modified xsi:type="dcterms:W3CDTF">2026-08-18T08:20:23Z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0x01010013248506057764488F1427FA385734F9</vt:lpwstr>
  </property>
</Properties>
</file>