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y="6858000" cx="9144000"/>
  <p:notesSz cx="6858000" cy="9144000"/>
  <p:embeddedFontLst>
    <p:embeddedFont>
      <p:font typeface="Gill Sans"/>
      <p:regular r:id="rId57"/>
      <p:bold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73734B6-BA08-44A9-8CC6-E126BA42955F}">
  <a:tblStyle styleId="{473734B6-BA08-44A9-8CC6-E126BA42955F}" styleName="Table_0">
    <a:wholeTbl>
      <a:tcTxStyle b="off" i="off">
        <a:font>
          <a:latin typeface="Gill Sans MT"/>
          <a:ea typeface="Gill Sans MT"/>
          <a:cs typeface="Gill Sans M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EF0"/>
          </a:solidFill>
        </a:fill>
      </a:tcStyle>
    </a:wholeTbl>
    <a:band1H>
      <a:tcTxStyle/>
      <a:tcStyle>
        <a:fill>
          <a:solidFill>
            <a:srgbClr val="CCDBE1"/>
          </a:solidFill>
        </a:fill>
      </a:tcStyle>
    </a:band1H>
    <a:band2H>
      <a:tcTxStyle/>
    </a:band2H>
    <a:band1V>
      <a:tcTxStyle/>
      <a:tcStyle>
        <a:fill>
          <a:solidFill>
            <a:srgbClr val="CCDBE1"/>
          </a:solidFill>
        </a:fill>
      </a:tcStyle>
    </a:band1V>
    <a:band2V>
      <a:tcTxStyle/>
    </a:band2V>
    <a:lastCol>
      <a:tcTxStyle b="on" i="off">
        <a:font>
          <a:latin typeface="Gill Sans MT"/>
          <a:ea typeface="Gill Sans MT"/>
          <a:cs typeface="Gill Sans MT"/>
        </a:font>
        <a:schemeClr val="lt1"/>
      </a:tcTxStyle>
      <a:tcStyle>
        <a:fill>
          <a:solidFill>
            <a:schemeClr val="accent1"/>
          </a:solidFill>
        </a:fill>
      </a:tcStyle>
    </a:lastCol>
    <a:firstCol>
      <a:tcTxStyle b="on" i="off">
        <a:font>
          <a:latin typeface="Gill Sans MT"/>
          <a:ea typeface="Gill Sans MT"/>
          <a:cs typeface="Gill Sans MT"/>
        </a:font>
        <a:schemeClr val="lt1"/>
      </a:tcTxStyle>
      <a:tcStyle>
        <a:fill>
          <a:solidFill>
            <a:schemeClr val="accent1"/>
          </a:solidFill>
        </a:fill>
      </a:tcStyle>
    </a:firstCol>
    <a:lastRow>
      <a:tcTxStyle b="on" i="off">
        <a:font>
          <a:latin typeface="Gill Sans MT"/>
          <a:ea typeface="Gill Sans MT"/>
          <a:cs typeface="Gill Sans MT"/>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Gill Sans MT"/>
          <a:ea typeface="Gill Sans MT"/>
          <a:cs typeface="Gill Sans MT"/>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GillSans-regular.fntdata"/><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14" Type="http://schemas.openxmlformats.org/officeDocument/2006/relationships/slide" Target="slides/slide8.xml"/><Relationship Id="rId58" Type="http://schemas.openxmlformats.org/officeDocument/2006/relationships/font" Target="fonts/GillSans-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2" name="Google Shape;392;p48:notes"/>
          <p:cNvSpPr txBox="1"/>
          <p:nvPr/>
        </p:nvSpPr>
        <p:spPr>
          <a:xfrm>
            <a:off x="503238" y="4316413"/>
            <a:ext cx="5854700" cy="40592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3" name="Google Shape;393;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2"/>
          <p:cNvSpPr txBox="1"/>
          <p:nvPr>
            <p:ph type="ctrTitle"/>
          </p:nvPr>
        </p:nvSpPr>
        <p:spPr>
          <a:xfrm>
            <a:off x="1432560" y="359898"/>
            <a:ext cx="7406640" cy="147218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562214"/>
              </a:buClr>
              <a:buSzPts val="430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
          <p:cNvSpPr txBox="1"/>
          <p:nvPr>
            <p:ph idx="1" type="subTitle"/>
          </p:nvPr>
        </p:nvSpPr>
        <p:spPr>
          <a:xfrm>
            <a:off x="1432560" y="1850064"/>
            <a:ext cx="7406640" cy="1752600"/>
          </a:xfrm>
          <a:prstGeom prst="rect">
            <a:avLst/>
          </a:prstGeom>
          <a:noFill/>
          <a:ln>
            <a:noFill/>
          </a:ln>
        </p:spPr>
        <p:txBody>
          <a:bodyPr anchorCtr="0" anchor="t" bIns="45700" lIns="91425" spcFirstLastPara="1" rIns="91425" wrap="square" tIns="0">
            <a:normAutofit/>
          </a:bodyPr>
          <a:lstStyle>
            <a:lvl1pPr lvl="0" algn="l">
              <a:lnSpc>
                <a:spcPct val="100000"/>
              </a:lnSpc>
              <a:spcBef>
                <a:spcPts val="600"/>
              </a:spcBef>
              <a:spcAft>
                <a:spcPts val="0"/>
              </a:spcAft>
              <a:buSzPts val="2080"/>
              <a:buNone/>
              <a:defRPr sz="2600">
                <a:solidFill>
                  <a:srgbClr val="341108"/>
                </a:solidFill>
              </a:defRPr>
            </a:lvl1pPr>
            <a:lvl2pPr lvl="1" algn="ctr">
              <a:lnSpc>
                <a:spcPct val="100000"/>
              </a:lnSpc>
              <a:spcBef>
                <a:spcPts val="550"/>
              </a:spcBef>
              <a:spcAft>
                <a:spcPts val="0"/>
              </a:spcAft>
              <a:buSzPts val="1800"/>
              <a:buNone/>
              <a:defRPr/>
            </a:lvl2pPr>
            <a:lvl3pPr lvl="2" algn="ctr">
              <a:lnSpc>
                <a:spcPct val="100000"/>
              </a:lnSpc>
              <a:spcBef>
                <a:spcPts val="360"/>
              </a:spcBef>
              <a:spcAft>
                <a:spcPts val="0"/>
              </a:spcAft>
              <a:buSzPts val="1800"/>
              <a:buNone/>
              <a:defRPr/>
            </a:lvl3pPr>
            <a:lvl4pPr lvl="3" algn="ctr">
              <a:lnSpc>
                <a:spcPct val="100000"/>
              </a:lnSpc>
              <a:spcBef>
                <a:spcPts val="360"/>
              </a:spcBef>
              <a:spcAft>
                <a:spcPts val="0"/>
              </a:spcAft>
              <a:buSzPts val="1800"/>
              <a:buNone/>
              <a:defRPr/>
            </a:lvl4pPr>
            <a:lvl5pPr lvl="4" algn="ctr">
              <a:lnSpc>
                <a:spcPct val="100000"/>
              </a:lnSpc>
              <a:spcBef>
                <a:spcPts val="360"/>
              </a:spcBef>
              <a:spcAft>
                <a:spcPts val="0"/>
              </a:spcAft>
              <a:buSzPts val="1800"/>
              <a:buNone/>
              <a:defRPr/>
            </a:lvl5pPr>
            <a:lvl6pPr lvl="5" algn="ctr">
              <a:lnSpc>
                <a:spcPct val="100000"/>
              </a:lnSpc>
              <a:spcBef>
                <a:spcPts val="360"/>
              </a:spcBef>
              <a:spcAft>
                <a:spcPts val="0"/>
              </a:spcAft>
              <a:buSzPts val="1800"/>
              <a:buNone/>
              <a:defRPr/>
            </a:lvl6pPr>
            <a:lvl7pPr lvl="6" algn="ctr">
              <a:lnSpc>
                <a:spcPct val="100000"/>
              </a:lnSpc>
              <a:spcBef>
                <a:spcPts val="360"/>
              </a:spcBef>
              <a:spcAft>
                <a:spcPts val="0"/>
              </a:spcAft>
              <a:buSzPts val="180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p:txBody>
      </p:sp>
      <p:sp>
        <p:nvSpPr>
          <p:cNvPr id="23" name="Google Shape;23;p2"/>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6" name="Google Shape;26;p2"/>
          <p:cNvSpPr/>
          <p:nvPr/>
        </p:nvSpPr>
        <p:spPr>
          <a:xfrm>
            <a:off x="921433" y="1413802"/>
            <a:ext cx="210312" cy="210312"/>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Gill Sans"/>
              <a:ea typeface="Gill Sans"/>
              <a:cs typeface="Gill Sans"/>
              <a:sym typeface="Gill Sans"/>
            </a:endParaRPr>
          </a:p>
        </p:txBody>
      </p:sp>
      <p:sp>
        <p:nvSpPr>
          <p:cNvPr id="27" name="Google Shape;27;p2"/>
          <p:cNvSpPr/>
          <p:nvPr/>
        </p:nvSpPr>
        <p:spPr>
          <a:xfrm>
            <a:off x="1157176" y="1345016"/>
            <a:ext cx="64008" cy="64008"/>
          </a:xfrm>
          <a:prstGeom prst="ellipse">
            <a:avLst/>
          </a:prstGeom>
          <a:noFill/>
          <a:ln cap="rnd" cmpd="sng" w="12700">
            <a:solidFill>
              <a:srgbClr val="317F92">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Gill Sans"/>
              <a:ea typeface="Gill Sans"/>
              <a:cs typeface="Gill Sans"/>
              <a:sym typeface="Gill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3"/>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600"/>
              </a:spcBef>
              <a:spcAft>
                <a:spcPts val="0"/>
              </a:spcAft>
              <a:buSzPts val="1440"/>
              <a:buChar char="⚫"/>
              <a:defRPr/>
            </a:lvl1pPr>
            <a:lvl2pPr indent="-342900" lvl="1" marL="914400" algn="l">
              <a:lnSpc>
                <a:spcPct val="100000"/>
              </a:lnSpc>
              <a:spcBef>
                <a:spcPts val="55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31" name="Google Shape;31;p3"/>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34" name="Shape 34"/>
        <p:cNvGrpSpPr/>
        <p:nvPr/>
      </p:nvGrpSpPr>
      <p:grpSpPr>
        <a:xfrm>
          <a:off x="0" y="0"/>
          <a:ext cx="0" cy="0"/>
          <a:chOff x="0" y="0"/>
          <a:chExt cx="0" cy="0"/>
        </a:xfrm>
      </p:grpSpPr>
      <p:sp>
        <p:nvSpPr>
          <p:cNvPr id="35" name="Google Shape;35;p4"/>
          <p:cNvSpPr txBox="1"/>
          <p:nvPr>
            <p:ph type="title"/>
          </p:nvPr>
        </p:nvSpPr>
        <p:spPr>
          <a:xfrm>
            <a:off x="457200" y="216778"/>
            <a:ext cx="3810000" cy="1162050"/>
          </a:xfrm>
          <a:prstGeom prst="rect">
            <a:avLst/>
          </a:prstGeom>
          <a:noFill/>
          <a:ln>
            <a:noFill/>
          </a:ln>
        </p:spPr>
        <p:txBody>
          <a:bodyPr anchorCtr="0" anchor="b" bIns="45700" lIns="91425" spcFirstLastPara="1" rIns="91425" wrap="square" tIns="45700">
            <a:normAutofit/>
          </a:bodyPr>
          <a:lstStyle>
            <a:lvl1pPr lvl="0" algn="l">
              <a:lnSpc>
                <a:spcPct val="90909"/>
              </a:lnSpc>
              <a:spcBef>
                <a:spcPts val="0"/>
              </a:spcBef>
              <a:spcAft>
                <a:spcPts val="0"/>
              </a:spcAft>
              <a:buClr>
                <a:srgbClr val="562214"/>
              </a:buClr>
              <a:buSzPts val="2200"/>
              <a:buFont typeface="Gill Sans"/>
              <a:buNone/>
              <a:defRPr b="1" sz="2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4"/>
          <p:cNvSpPr txBox="1"/>
          <p:nvPr>
            <p:ph idx="1" type="body"/>
          </p:nvPr>
        </p:nvSpPr>
        <p:spPr>
          <a:xfrm>
            <a:off x="457200" y="1406964"/>
            <a:ext cx="3810000" cy="6985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120"/>
              <a:buNone/>
              <a:defRPr sz="1400"/>
            </a:lvl1pPr>
            <a:lvl2pPr indent="-228600" lvl="1" marL="914400" algn="l">
              <a:lnSpc>
                <a:spcPct val="100000"/>
              </a:lnSpc>
              <a:spcBef>
                <a:spcPts val="550"/>
              </a:spcBef>
              <a:spcAft>
                <a:spcPts val="0"/>
              </a:spcAft>
              <a:buSzPts val="1200"/>
              <a:buNone/>
              <a:defRPr sz="1200"/>
            </a:lvl2pPr>
            <a:lvl3pPr indent="-228600" lvl="2" marL="1371600" algn="l">
              <a:lnSpc>
                <a:spcPct val="100000"/>
              </a:lnSpc>
              <a:spcBef>
                <a:spcPts val="200"/>
              </a:spcBef>
              <a:spcAft>
                <a:spcPts val="0"/>
              </a:spcAft>
              <a:buSzPts val="1000"/>
              <a:buNone/>
              <a:defRPr sz="1000"/>
            </a:lvl3pPr>
            <a:lvl4pPr indent="-228600" lvl="3" marL="1828800" algn="l">
              <a:lnSpc>
                <a:spcPct val="100000"/>
              </a:lnSpc>
              <a:spcBef>
                <a:spcPts val="180"/>
              </a:spcBef>
              <a:spcAft>
                <a:spcPts val="0"/>
              </a:spcAft>
              <a:buSzPts val="900"/>
              <a:buNone/>
              <a:defRPr sz="900"/>
            </a:lvl4pPr>
            <a:lvl5pPr indent="-228600" lvl="4" marL="2286000" algn="l">
              <a:lnSpc>
                <a:spcPct val="100000"/>
              </a:lnSpc>
              <a:spcBef>
                <a:spcPts val="180"/>
              </a:spcBef>
              <a:spcAft>
                <a:spcPts val="0"/>
              </a:spcAft>
              <a:buSzPts val="900"/>
              <a:buNone/>
              <a:defRPr sz="9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37" name="Google Shape;37;p4"/>
          <p:cNvSpPr txBox="1"/>
          <p:nvPr>
            <p:ph idx="2" type="body"/>
          </p:nvPr>
        </p:nvSpPr>
        <p:spPr>
          <a:xfrm>
            <a:off x="457200" y="2133600"/>
            <a:ext cx="8153400" cy="3992563"/>
          </a:xfrm>
          <a:prstGeom prst="rect">
            <a:avLst/>
          </a:prstGeom>
          <a:noFill/>
          <a:ln>
            <a:noFill/>
          </a:ln>
        </p:spPr>
        <p:txBody>
          <a:bodyPr anchorCtr="0" anchor="t" bIns="45700" lIns="91425" spcFirstLastPara="1" rIns="91425" wrap="square" tIns="45700">
            <a:normAutofit/>
          </a:bodyPr>
          <a:lstStyle>
            <a:lvl1pPr indent="-391160" lvl="0" marL="457200" algn="l">
              <a:lnSpc>
                <a:spcPct val="100000"/>
              </a:lnSpc>
              <a:spcBef>
                <a:spcPts val="600"/>
              </a:spcBef>
              <a:spcAft>
                <a:spcPts val="0"/>
              </a:spcAft>
              <a:buSzPts val="2560"/>
              <a:buChar char="⚫"/>
              <a:defRPr sz="3200"/>
            </a:lvl1pPr>
            <a:lvl2pPr indent="-406400" lvl="1" marL="914400" algn="l">
              <a:lnSpc>
                <a:spcPct val="100000"/>
              </a:lnSpc>
              <a:spcBef>
                <a:spcPts val="550"/>
              </a:spcBef>
              <a:spcAft>
                <a:spcPts val="0"/>
              </a:spcAft>
              <a:buSzPts val="2800"/>
              <a:buChar char="◦"/>
              <a:defRPr sz="2800"/>
            </a:lvl2pPr>
            <a:lvl3pPr indent="-381000" lvl="2" marL="1371600" algn="l">
              <a:lnSpc>
                <a:spcPct val="100000"/>
              </a:lnSpc>
              <a:spcBef>
                <a:spcPts val="480"/>
              </a:spcBef>
              <a:spcAft>
                <a:spcPts val="0"/>
              </a:spcAft>
              <a:buSzPts val="2400"/>
              <a:buChar char="●"/>
              <a:defRPr sz="2400"/>
            </a:lvl3pPr>
            <a:lvl4pPr indent="-355600" lvl="3" marL="1828800" algn="l">
              <a:lnSpc>
                <a:spcPct val="100000"/>
              </a:lnSpc>
              <a:spcBef>
                <a:spcPts val="400"/>
              </a:spcBef>
              <a:spcAft>
                <a:spcPts val="0"/>
              </a:spcAft>
              <a:buSzPts val="2000"/>
              <a:buChar char="●"/>
              <a:defRPr sz="2000"/>
            </a:lvl4pPr>
            <a:lvl5pPr indent="-355600" lvl="4" marL="2286000" algn="l">
              <a:lnSpc>
                <a:spcPct val="100000"/>
              </a:lnSpc>
              <a:spcBef>
                <a:spcPts val="400"/>
              </a:spcBef>
              <a:spcAft>
                <a:spcPts val="0"/>
              </a:spcAft>
              <a:buSzPts val="2000"/>
              <a:buChar char="●"/>
              <a:defRPr sz="20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38" name="Google Shape;38;p4"/>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41" name="Shape 41"/>
        <p:cNvGrpSpPr/>
        <p:nvPr/>
      </p:nvGrpSpPr>
      <p:grpSpPr>
        <a:xfrm>
          <a:off x="0" y="0"/>
          <a:ext cx="0" cy="0"/>
          <a:chOff x="0" y="0"/>
          <a:chExt cx="0" cy="0"/>
        </a:xfrm>
      </p:grpSpPr>
      <p:sp>
        <p:nvSpPr>
          <p:cNvPr id="42" name="Google Shape;42;p5"/>
          <p:cNvSpPr/>
          <p:nvPr/>
        </p:nvSpPr>
        <p:spPr>
          <a:xfrm>
            <a:off x="2282890" y="-54"/>
            <a:ext cx="6858000" cy="685805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3" name="Google Shape;43;p5"/>
          <p:cNvSpPr txBox="1"/>
          <p:nvPr>
            <p:ph type="title"/>
          </p:nvPr>
        </p:nvSpPr>
        <p:spPr>
          <a:xfrm>
            <a:off x="2578392" y="2600325"/>
            <a:ext cx="6400800" cy="2286000"/>
          </a:xfrm>
          <a:prstGeom prst="rect">
            <a:avLst/>
          </a:prstGeom>
          <a:noFill/>
          <a:ln>
            <a:noFill/>
          </a:ln>
        </p:spPr>
        <p:txBody>
          <a:bodyPr anchorCtr="0" anchor="t" bIns="45700" lIns="91425" spcFirstLastPara="1" rIns="91425" wrap="square" tIns="45700">
            <a:normAutofit/>
          </a:bodyPr>
          <a:lstStyle>
            <a:lvl1pPr lvl="0" algn="l">
              <a:lnSpc>
                <a:spcPct val="112500"/>
              </a:lnSpc>
              <a:spcBef>
                <a:spcPts val="0"/>
              </a:spcBef>
              <a:spcAft>
                <a:spcPts val="0"/>
              </a:spcAft>
              <a:buClr>
                <a:srgbClr val="562214"/>
              </a:buClr>
              <a:buSzPts val="4000"/>
              <a:buFont typeface="Gill Sans"/>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5"/>
          <p:cNvSpPr txBox="1"/>
          <p:nvPr>
            <p:ph idx="1" type="body"/>
          </p:nvPr>
        </p:nvSpPr>
        <p:spPr>
          <a:xfrm>
            <a:off x="2578392" y="1066800"/>
            <a:ext cx="6400800" cy="1509712"/>
          </a:xfrm>
          <a:prstGeom prst="rect">
            <a:avLst/>
          </a:prstGeom>
          <a:noFill/>
          <a:ln>
            <a:noFill/>
          </a:ln>
        </p:spPr>
        <p:txBody>
          <a:bodyPr anchorCtr="0" anchor="b" bIns="45700" lIns="91425" spcFirstLastPara="1" rIns="91425" wrap="square" tIns="45700">
            <a:normAutofit/>
          </a:bodyPr>
          <a:lstStyle>
            <a:lvl1pPr indent="-228600" lvl="0" marL="457200" algn="l">
              <a:lnSpc>
                <a:spcPct val="115000"/>
              </a:lnSpc>
              <a:spcBef>
                <a:spcPts val="0"/>
              </a:spcBef>
              <a:spcAft>
                <a:spcPts val="0"/>
              </a:spcAft>
              <a:buSzPts val="1600"/>
              <a:buNone/>
              <a:defRPr sz="2000">
                <a:solidFill>
                  <a:srgbClr val="341108"/>
                </a:solidFill>
              </a:defRPr>
            </a:lvl1pPr>
            <a:lvl2pPr indent="-228600" lvl="1" marL="914400" algn="l">
              <a:lnSpc>
                <a:spcPct val="100000"/>
              </a:lnSpc>
              <a:spcBef>
                <a:spcPts val="550"/>
              </a:spcBef>
              <a:spcAft>
                <a:spcPts val="0"/>
              </a:spcAft>
              <a:buSzPts val="1800"/>
              <a:buNone/>
              <a:defRPr sz="1800">
                <a:solidFill>
                  <a:srgbClr val="888888"/>
                </a:solidFill>
              </a:defRPr>
            </a:lvl2pPr>
            <a:lvl3pPr indent="-228600" lvl="2" marL="1371600" algn="l">
              <a:lnSpc>
                <a:spcPct val="100000"/>
              </a:lnSpc>
              <a:spcBef>
                <a:spcPts val="320"/>
              </a:spcBef>
              <a:spcAft>
                <a:spcPts val="0"/>
              </a:spcAft>
              <a:buSzPts val="1600"/>
              <a:buNone/>
              <a:defRPr sz="1600">
                <a:solidFill>
                  <a:srgbClr val="888888"/>
                </a:solidFill>
              </a:defRPr>
            </a:lvl3pPr>
            <a:lvl4pPr indent="-228600" lvl="3" marL="1828800" algn="l">
              <a:lnSpc>
                <a:spcPct val="100000"/>
              </a:lnSpc>
              <a:spcBef>
                <a:spcPts val="280"/>
              </a:spcBef>
              <a:spcAft>
                <a:spcPts val="0"/>
              </a:spcAft>
              <a:buSzPts val="1400"/>
              <a:buNone/>
              <a:defRPr sz="1400">
                <a:solidFill>
                  <a:srgbClr val="888888"/>
                </a:solidFill>
              </a:defRPr>
            </a:lvl4pPr>
            <a:lvl5pPr indent="-228600" lvl="4" marL="2286000" algn="l">
              <a:lnSpc>
                <a:spcPct val="100000"/>
              </a:lnSpc>
              <a:spcBef>
                <a:spcPts val="280"/>
              </a:spcBef>
              <a:spcAft>
                <a:spcPts val="0"/>
              </a:spcAft>
              <a:buSzPts val="1400"/>
              <a:buNone/>
              <a:defRPr sz="1400">
                <a:solidFill>
                  <a:srgbClr val="888888"/>
                </a:solidFill>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5" name="Google Shape;45;p5"/>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5"/>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48" name="Google Shape;48;p5"/>
          <p:cNvSpPr/>
          <p:nvPr/>
        </p:nvSpPr>
        <p:spPr>
          <a:xfrm>
            <a:off x="2286000" y="0"/>
            <a:ext cx="76200" cy="6858054"/>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9" name="Google Shape;49;p5"/>
          <p:cNvSpPr/>
          <p:nvPr/>
        </p:nvSpPr>
        <p:spPr>
          <a:xfrm>
            <a:off x="2172321" y="2814656"/>
            <a:ext cx="210312" cy="210312"/>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50" name="Google Shape;50;p5"/>
          <p:cNvSpPr/>
          <p:nvPr/>
        </p:nvSpPr>
        <p:spPr>
          <a:xfrm>
            <a:off x="2408064" y="2745870"/>
            <a:ext cx="64008" cy="64008"/>
          </a:xfrm>
          <a:prstGeom prst="ellipse">
            <a:avLst/>
          </a:prstGeom>
          <a:noFill/>
          <a:ln cap="rnd" cmpd="sng" w="12700">
            <a:solidFill>
              <a:srgbClr val="317F92">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1" name="Shape 51"/>
        <p:cNvGrpSpPr/>
        <p:nvPr/>
      </p:nvGrpSpPr>
      <p:grpSpPr>
        <a:xfrm>
          <a:off x="0" y="0"/>
          <a:ext cx="0" cy="0"/>
          <a:chOff x="0" y="0"/>
          <a:chExt cx="0" cy="0"/>
        </a:xfrm>
      </p:grpSpPr>
      <p:sp>
        <p:nvSpPr>
          <p:cNvPr id="52" name="Google Shape;52;p6"/>
          <p:cNvSpPr txBox="1"/>
          <p:nvPr>
            <p:ph type="title"/>
          </p:nvPr>
        </p:nvSpPr>
        <p:spPr>
          <a:xfrm>
            <a:off x="1435608" y="274320"/>
            <a:ext cx="749808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6"/>
          <p:cNvSpPr txBox="1"/>
          <p:nvPr>
            <p:ph idx="1" type="body"/>
          </p:nvPr>
        </p:nvSpPr>
        <p:spPr>
          <a:xfrm>
            <a:off x="1435608" y="1524000"/>
            <a:ext cx="3657600" cy="466344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4" name="Google Shape;54;p6"/>
          <p:cNvSpPr txBox="1"/>
          <p:nvPr>
            <p:ph idx="2" type="body"/>
          </p:nvPr>
        </p:nvSpPr>
        <p:spPr>
          <a:xfrm>
            <a:off x="5276088" y="1524000"/>
            <a:ext cx="3657600" cy="466344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5" name="Google Shape;55;p6"/>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6"/>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58" name="Shape 58"/>
        <p:cNvGrpSpPr/>
        <p:nvPr/>
      </p:nvGrpSpPr>
      <p:grpSpPr>
        <a:xfrm>
          <a:off x="0" y="0"/>
          <a:ext cx="0" cy="0"/>
          <a:chOff x="0" y="0"/>
          <a:chExt cx="0" cy="0"/>
        </a:xfrm>
      </p:grpSpPr>
      <p:sp>
        <p:nvSpPr>
          <p:cNvPr id="59" name="Google Shape;59;p7"/>
          <p:cNvSpPr txBox="1"/>
          <p:nvPr>
            <p:ph type="title"/>
          </p:nvPr>
        </p:nvSpPr>
        <p:spPr>
          <a:xfrm>
            <a:off x="457200" y="5160336"/>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562214"/>
              </a:buClr>
              <a:buSzPts val="4500"/>
              <a:buFont typeface="Gill Sans"/>
              <a:buNone/>
              <a:defRPr b="1" sz="45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7"/>
          <p:cNvSpPr txBox="1"/>
          <p:nvPr>
            <p:ph idx="1" type="body"/>
          </p:nvPr>
        </p:nvSpPr>
        <p:spPr>
          <a:xfrm>
            <a:off x="457200" y="328278"/>
            <a:ext cx="4023360" cy="64008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45700" lIns="91425" spcFirstLastPara="1" rIns="91425" wrap="square" tIns="45700">
            <a:normAutofit/>
          </a:bodyPr>
          <a:lstStyle>
            <a:lvl1pPr indent="-228600" lvl="0" marL="457200" algn="l">
              <a:lnSpc>
                <a:spcPct val="100000"/>
              </a:lnSpc>
              <a:spcBef>
                <a:spcPts val="100"/>
              </a:spcBef>
              <a:spcAft>
                <a:spcPts val="0"/>
              </a:spcAft>
              <a:buSzPts val="1520"/>
              <a:buNone/>
              <a:defRPr b="0" sz="1900">
                <a:solidFill>
                  <a:schemeClr val="dk1"/>
                </a:solidFill>
              </a:defRPr>
            </a:lvl1pPr>
            <a:lvl2pPr indent="-228600" lvl="1" marL="914400" algn="l">
              <a:lnSpc>
                <a:spcPct val="100000"/>
              </a:lnSpc>
              <a:spcBef>
                <a:spcPts val="55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1" name="Google Shape;61;p7"/>
          <p:cNvSpPr txBox="1"/>
          <p:nvPr>
            <p:ph idx="2" type="body"/>
          </p:nvPr>
        </p:nvSpPr>
        <p:spPr>
          <a:xfrm>
            <a:off x="4663440" y="328278"/>
            <a:ext cx="4023360" cy="64008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45700" lIns="91425" spcFirstLastPara="1" rIns="91425" wrap="square" tIns="45700">
            <a:normAutofit/>
          </a:bodyPr>
          <a:lstStyle>
            <a:lvl1pPr indent="-228600" lvl="0" marL="457200" algn="l">
              <a:lnSpc>
                <a:spcPct val="100000"/>
              </a:lnSpc>
              <a:spcBef>
                <a:spcPts val="100"/>
              </a:spcBef>
              <a:spcAft>
                <a:spcPts val="0"/>
              </a:spcAft>
              <a:buSzPts val="1520"/>
              <a:buNone/>
              <a:defRPr b="0" sz="1900">
                <a:solidFill>
                  <a:schemeClr val="dk1"/>
                </a:solidFill>
              </a:defRPr>
            </a:lvl1pPr>
            <a:lvl2pPr indent="-228600" lvl="1" marL="914400" algn="l">
              <a:lnSpc>
                <a:spcPct val="100000"/>
              </a:lnSpc>
              <a:spcBef>
                <a:spcPts val="55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2" name="Google Shape;62;p7"/>
          <p:cNvSpPr txBox="1"/>
          <p:nvPr>
            <p:ph idx="3" type="body"/>
          </p:nvPr>
        </p:nvSpPr>
        <p:spPr>
          <a:xfrm>
            <a:off x="457200" y="969336"/>
            <a:ext cx="4023360" cy="4114800"/>
          </a:xfrm>
          <a:prstGeom prst="rect">
            <a:avLst/>
          </a:prstGeom>
          <a:noFill/>
          <a:ln cap="flat" cmpd="sng" w="10775">
            <a:solidFill>
              <a:schemeClr val="lt1"/>
            </a:solidFill>
            <a:prstDash val="dash"/>
            <a:miter lim="800000"/>
            <a:headEnd len="sm" w="sm" type="none"/>
            <a:tailEnd len="sm" w="sm" type="none"/>
          </a:ln>
        </p:spPr>
        <p:txBody>
          <a:bodyPr anchorCtr="0" anchor="t" bIns="45700" lIns="91425" spcFirstLastPara="1" rIns="91425" wrap="square" tIns="45700">
            <a:normAutofit/>
          </a:bodyPr>
          <a:lstStyle>
            <a:lvl1pPr indent="-350520" lvl="0" marL="457200" algn="l">
              <a:lnSpc>
                <a:spcPct val="100000"/>
              </a:lnSpc>
              <a:spcBef>
                <a:spcPts val="700"/>
              </a:spcBef>
              <a:spcAft>
                <a:spcPts val="0"/>
              </a:spcAft>
              <a:buSzPts val="1920"/>
              <a:buChar char="⚫"/>
              <a:defRPr sz="2400"/>
            </a:lvl1pPr>
            <a:lvl2pPr indent="-355600" lvl="1" marL="914400" algn="l">
              <a:lnSpc>
                <a:spcPct val="100000"/>
              </a:lnSpc>
              <a:spcBef>
                <a:spcPts val="700"/>
              </a:spcBef>
              <a:spcAft>
                <a:spcPts val="0"/>
              </a:spcAft>
              <a:buSzPts val="2000"/>
              <a:buChar char="◦"/>
              <a:defRPr sz="2000"/>
            </a:lvl2pPr>
            <a:lvl3pPr indent="-342900" lvl="2" marL="1371600" algn="l">
              <a:lnSpc>
                <a:spcPct val="100000"/>
              </a:lnSpc>
              <a:spcBef>
                <a:spcPts val="700"/>
              </a:spcBef>
              <a:spcAft>
                <a:spcPts val="0"/>
              </a:spcAft>
              <a:buSzPts val="1800"/>
              <a:buChar char="●"/>
              <a:defRPr sz="1800"/>
            </a:lvl3pPr>
            <a:lvl4pPr indent="-330200" lvl="3" marL="1828800" algn="l">
              <a:lnSpc>
                <a:spcPct val="100000"/>
              </a:lnSpc>
              <a:spcBef>
                <a:spcPts val="700"/>
              </a:spcBef>
              <a:spcAft>
                <a:spcPts val="0"/>
              </a:spcAft>
              <a:buSzPts val="1600"/>
              <a:buChar char="●"/>
              <a:defRPr sz="1600"/>
            </a:lvl4pPr>
            <a:lvl5pPr indent="-330200" lvl="4" marL="2286000" algn="l">
              <a:lnSpc>
                <a:spcPct val="100000"/>
              </a:lnSpc>
              <a:spcBef>
                <a:spcPts val="700"/>
              </a:spcBef>
              <a:spcAft>
                <a:spcPts val="0"/>
              </a:spcAft>
              <a:buSzPts val="1600"/>
              <a:buChar char="●"/>
              <a:defRPr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3" name="Google Shape;63;p7"/>
          <p:cNvSpPr txBox="1"/>
          <p:nvPr>
            <p:ph idx="4" type="body"/>
          </p:nvPr>
        </p:nvSpPr>
        <p:spPr>
          <a:xfrm>
            <a:off x="4663440" y="969336"/>
            <a:ext cx="4023360" cy="4114800"/>
          </a:xfrm>
          <a:prstGeom prst="rect">
            <a:avLst/>
          </a:prstGeom>
          <a:noFill/>
          <a:ln cap="flat" cmpd="sng" w="10775">
            <a:solidFill>
              <a:schemeClr val="lt1"/>
            </a:solidFill>
            <a:prstDash val="dash"/>
            <a:miter lim="800000"/>
            <a:headEnd len="sm" w="sm" type="none"/>
            <a:tailEnd len="sm" w="sm" type="none"/>
          </a:ln>
        </p:spPr>
        <p:txBody>
          <a:bodyPr anchorCtr="0" anchor="t" bIns="45700" lIns="91425" spcFirstLastPara="1" rIns="91425" wrap="square" tIns="45700">
            <a:normAutofit/>
          </a:bodyPr>
          <a:lstStyle>
            <a:lvl1pPr indent="-350520" lvl="0" marL="457200" algn="l">
              <a:lnSpc>
                <a:spcPct val="100000"/>
              </a:lnSpc>
              <a:spcBef>
                <a:spcPts val="700"/>
              </a:spcBef>
              <a:spcAft>
                <a:spcPts val="0"/>
              </a:spcAft>
              <a:buSzPts val="1920"/>
              <a:buChar char="⚫"/>
              <a:defRPr sz="2400"/>
            </a:lvl1pPr>
            <a:lvl2pPr indent="-355600" lvl="1" marL="914400" algn="l">
              <a:lnSpc>
                <a:spcPct val="100000"/>
              </a:lnSpc>
              <a:spcBef>
                <a:spcPts val="700"/>
              </a:spcBef>
              <a:spcAft>
                <a:spcPts val="0"/>
              </a:spcAft>
              <a:buSzPts val="2000"/>
              <a:buChar char="◦"/>
              <a:defRPr sz="2000"/>
            </a:lvl2pPr>
            <a:lvl3pPr indent="-342900" lvl="2" marL="1371600" algn="l">
              <a:lnSpc>
                <a:spcPct val="100000"/>
              </a:lnSpc>
              <a:spcBef>
                <a:spcPts val="700"/>
              </a:spcBef>
              <a:spcAft>
                <a:spcPts val="0"/>
              </a:spcAft>
              <a:buSzPts val="1800"/>
              <a:buChar char="●"/>
              <a:defRPr sz="1800"/>
            </a:lvl3pPr>
            <a:lvl4pPr indent="-330200" lvl="3" marL="1828800" algn="l">
              <a:lnSpc>
                <a:spcPct val="100000"/>
              </a:lnSpc>
              <a:spcBef>
                <a:spcPts val="700"/>
              </a:spcBef>
              <a:spcAft>
                <a:spcPts val="0"/>
              </a:spcAft>
              <a:buSzPts val="1600"/>
              <a:buChar char="●"/>
              <a:defRPr sz="1600"/>
            </a:lvl4pPr>
            <a:lvl5pPr indent="-330200" lvl="4" marL="2286000" algn="l">
              <a:lnSpc>
                <a:spcPct val="100000"/>
              </a:lnSpc>
              <a:spcBef>
                <a:spcPts val="700"/>
              </a:spcBef>
              <a:spcAft>
                <a:spcPts val="0"/>
              </a:spcAft>
              <a:buSzPts val="1600"/>
              <a:buChar char="●"/>
              <a:defRPr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4" name="Google Shape;64;p7"/>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7"/>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7"/>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8"/>
          <p:cNvSpPr txBox="1"/>
          <p:nvPr>
            <p:ph type="title"/>
          </p:nvPr>
        </p:nvSpPr>
        <p:spPr>
          <a:xfrm>
            <a:off x="1435608" y="274320"/>
            <a:ext cx="749808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8"/>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72" name="Shape 72"/>
        <p:cNvGrpSpPr/>
        <p:nvPr/>
      </p:nvGrpSpPr>
      <p:grpSpPr>
        <a:xfrm>
          <a:off x="0" y="0"/>
          <a:ext cx="0" cy="0"/>
          <a:chOff x="0" y="0"/>
          <a:chExt cx="0" cy="0"/>
        </a:xfrm>
      </p:grpSpPr>
      <p:sp>
        <p:nvSpPr>
          <p:cNvPr id="73" name="Google Shape;73;p9"/>
          <p:cNvSpPr/>
          <p:nvPr/>
        </p:nvSpPr>
        <p:spPr>
          <a:xfrm>
            <a:off x="1014984" y="0"/>
            <a:ext cx="8129016"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74" name="Google Shape;74;p9"/>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9"/>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9"/>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77" name="Google Shape;77;p9"/>
          <p:cNvSpPr/>
          <p:nvPr/>
        </p:nvSpPr>
        <p:spPr>
          <a:xfrm>
            <a:off x="1014984" y="-54"/>
            <a:ext cx="73152" cy="6858054"/>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8" name="Shape 78"/>
        <p:cNvGrpSpPr/>
        <p:nvPr/>
      </p:nvGrpSpPr>
      <p:grpSpPr>
        <a:xfrm>
          <a:off x="0" y="0"/>
          <a:ext cx="0" cy="0"/>
          <a:chOff x="0" y="0"/>
          <a:chExt cx="0" cy="0"/>
        </a:xfrm>
      </p:grpSpPr>
      <p:sp>
        <p:nvSpPr>
          <p:cNvPr id="79" name="Google Shape;79;p10"/>
          <p:cNvSpPr txBox="1"/>
          <p:nvPr>
            <p:ph type="title"/>
          </p:nvPr>
        </p:nvSpPr>
        <p:spPr>
          <a:xfrm>
            <a:off x="5886896" y="1066800"/>
            <a:ext cx="2743200" cy="1981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rgbClr val="562214"/>
              </a:buClr>
              <a:buSzPts val="2100"/>
              <a:buFont typeface="Gill Sans"/>
              <a:buNone/>
              <a:defRPr b="1" sz="21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0"/>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0"/>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0"/>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83" name="Google Shape;83;p10"/>
          <p:cNvSpPr/>
          <p:nvPr/>
        </p:nvSpPr>
        <p:spPr>
          <a:xfrm>
            <a:off x="762000" y="1066800"/>
            <a:ext cx="4572000" cy="4572000"/>
          </a:xfrm>
          <a:prstGeom prst="rect">
            <a:avLst/>
          </a:prstGeom>
          <a:solidFill>
            <a:srgbClr val="FFFFFF"/>
          </a:solidFill>
          <a:ln cap="sq" cmpd="sng" w="88900">
            <a:solidFill>
              <a:srgbClr val="FFFFFF"/>
            </a:solidFill>
            <a:prstDash val="solid"/>
            <a:miter lim="800000"/>
            <a:headEnd len="sm" w="sm" type="none"/>
            <a:tailEnd len="sm" w="sm" type="none"/>
          </a:ln>
          <a:effectLst>
            <a:outerShdw blurRad="55500" rotWithShape="0" algn="tl" dir="5400000" dist="18500">
              <a:srgbClr val="000000">
                <a:alpha val="34901"/>
              </a:srgbClr>
            </a:outerShdw>
          </a:effectLst>
        </p:spPr>
        <p:txBody>
          <a:bodyPr anchorCtr="0" anchor="t" bIns="45700" lIns="91425" spcFirstLastPara="1" rIns="91425" wrap="square" tIns="274300">
            <a:noAutofit/>
          </a:bodyPr>
          <a:lstStyle/>
          <a:p>
            <a:pPr indent="0" lvl="0" marL="0" marR="0" rtl="0" algn="l">
              <a:lnSpc>
                <a:spcPct val="93750"/>
              </a:lnSpc>
              <a:spcBef>
                <a:spcPts val="0"/>
              </a:spcBef>
              <a:spcAft>
                <a:spcPts val="0"/>
              </a:spcAft>
              <a:buClr>
                <a:schemeClr val="accent1"/>
              </a:buClr>
              <a:buSzPts val="2560"/>
              <a:buFont typeface="Noto Sans Symbols"/>
              <a:buNone/>
            </a:pPr>
            <a:r>
              <a:t/>
            </a:r>
            <a:endParaRPr sz="3200">
              <a:solidFill>
                <a:schemeClr val="dk1"/>
              </a:solidFill>
              <a:latin typeface="Gill Sans"/>
              <a:ea typeface="Gill Sans"/>
              <a:cs typeface="Gill Sans"/>
              <a:sym typeface="Gill Sans"/>
            </a:endParaRPr>
          </a:p>
        </p:txBody>
      </p:sp>
      <p:sp>
        <p:nvSpPr>
          <p:cNvPr id="84" name="Google Shape;84;p10"/>
          <p:cNvSpPr/>
          <p:nvPr>
            <p:ph idx="2" type="pic"/>
          </p:nvPr>
        </p:nvSpPr>
        <p:spPr>
          <a:xfrm>
            <a:off x="838200" y="1143003"/>
            <a:ext cx="4419600" cy="3514531"/>
          </a:xfrm>
          <a:prstGeom prst="roundRect">
            <a:avLst>
              <a:gd fmla="val 783" name="adj"/>
            </a:avLst>
          </a:prstGeom>
          <a:solidFill>
            <a:schemeClr val="lt2"/>
          </a:solidFill>
          <a:ln>
            <a:noFill/>
          </a:ln>
        </p:spPr>
        <p:txBody>
          <a:bodyPr anchorCtr="0" anchor="t" bIns="45700" lIns="91425" spcFirstLastPara="1" rIns="91425" wrap="square" tIns="274300">
            <a:noAutofit/>
          </a:bodyPr>
          <a:lstStyle>
            <a:lvl1pPr lvl="0" marR="0" rtl="0" algn="l">
              <a:lnSpc>
                <a:spcPct val="100000"/>
              </a:lnSpc>
              <a:spcBef>
                <a:spcPts val="600"/>
              </a:spcBef>
              <a:spcAft>
                <a:spcPts val="0"/>
              </a:spcAft>
              <a:buClr>
                <a:schemeClr val="accent1"/>
              </a:buClr>
              <a:buSzPts val="2560"/>
              <a:buFont typeface="Noto Sans Symbols"/>
              <a:buNone/>
              <a:defRPr b="0" i="0" sz="3200" u="none" cap="none" strike="noStrike">
                <a:solidFill>
                  <a:schemeClr val="dk1"/>
                </a:solidFill>
                <a:latin typeface="Gill Sans"/>
                <a:ea typeface="Gill Sans"/>
                <a:cs typeface="Gill Sans"/>
                <a:sym typeface="Gill Sans"/>
              </a:defRPr>
            </a:lvl1pPr>
            <a:lvl2pPr lvl="1" marR="0" rtl="0" algn="l">
              <a:lnSpc>
                <a:spcPct val="100000"/>
              </a:lnSpc>
              <a:spcBef>
                <a:spcPts val="55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lvl="2" marR="0" rtl="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Gill Sans"/>
                <a:ea typeface="Gill Sans"/>
                <a:cs typeface="Gill Sans"/>
                <a:sym typeface="Gill Sans"/>
              </a:defRPr>
            </a:lvl3pPr>
            <a:lvl4pPr lvl="3" marR="0" rtl="0" algn="l">
              <a:lnSpc>
                <a:spcPct val="100000"/>
              </a:lnSpc>
              <a:spcBef>
                <a:spcPts val="400"/>
              </a:spcBef>
              <a:spcAft>
                <a:spcPts val="0"/>
              </a:spcAft>
              <a:buClr>
                <a:schemeClr val="accent3"/>
              </a:buClr>
              <a:buSzPts val="2000"/>
              <a:buFont typeface="Noto Sans Symbols"/>
              <a:buChar char="●"/>
              <a:defRPr b="0" i="0" sz="2000" u="none" cap="none" strike="noStrike">
                <a:solidFill>
                  <a:schemeClr val="dk1"/>
                </a:solidFill>
                <a:latin typeface="Gill Sans"/>
                <a:ea typeface="Gill Sans"/>
                <a:cs typeface="Gill Sans"/>
                <a:sym typeface="Gill Sans"/>
              </a:defRPr>
            </a:lvl4pPr>
            <a:lvl5pPr lvl="4" marR="0" rtl="0" algn="l">
              <a:lnSpc>
                <a:spcPct val="100000"/>
              </a:lnSpc>
              <a:spcBef>
                <a:spcPts val="400"/>
              </a:spcBef>
              <a:spcAft>
                <a:spcPts val="0"/>
              </a:spcAft>
              <a:buClr>
                <a:schemeClr val="accent4"/>
              </a:buClr>
              <a:buSzPts val="2000"/>
              <a:buFont typeface="Noto Sans Symbols"/>
              <a:buChar char="●"/>
              <a:defRPr b="0" i="0" sz="2000" u="none" cap="none" strike="noStrike">
                <a:solidFill>
                  <a:schemeClr val="dk1"/>
                </a:solidFill>
                <a:latin typeface="Gill Sans"/>
                <a:ea typeface="Gill Sans"/>
                <a:cs typeface="Gill Sans"/>
                <a:sym typeface="Gill Sans"/>
              </a:defRPr>
            </a:lvl5pPr>
            <a:lvl6pPr lvl="5"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lvl="6"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lvl="7"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lvl="8"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85" name="Google Shape;85;p10"/>
          <p:cNvSpPr/>
          <p:nvPr/>
        </p:nvSpPr>
        <p:spPr>
          <a:xfrm rot="-2131329">
            <a:off x="396725" y="954341"/>
            <a:ext cx="685800" cy="204310"/>
          </a:xfrm>
          <a:prstGeom prst="flowChartProcess">
            <a:avLst/>
          </a:prstGeom>
          <a:solidFill>
            <a:srgbClr val="FBFBFB">
              <a:alpha val="44705"/>
            </a:srgbClr>
          </a:solidFill>
          <a:ln cap="rnd" cmpd="sng" w="9525">
            <a:solidFill>
              <a:srgbClr val="FFFFFF"/>
            </a:solidFill>
            <a:prstDash val="solid"/>
            <a:round/>
            <a:headEnd len="sm" w="sm" type="none"/>
            <a:tailEnd len="sm" w="sm" type="none"/>
          </a:ln>
          <a:effectLst>
            <a:outerShdw blurRad="25400" sx="96000" rotWithShape="0" algn="tl" dir="3300000" dist="25400" sy="96000">
              <a:srgbClr val="EAD8B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6" name="Google Shape;86;p10"/>
          <p:cNvSpPr/>
          <p:nvPr/>
        </p:nvSpPr>
        <p:spPr>
          <a:xfrm flipH="1" rot="2103354">
            <a:off x="5003667" y="936786"/>
            <a:ext cx="649224" cy="204310"/>
          </a:xfrm>
          <a:prstGeom prst="flowChartProcess">
            <a:avLst/>
          </a:prstGeom>
          <a:solidFill>
            <a:srgbClr val="FBFBFB">
              <a:alpha val="44705"/>
            </a:srgbClr>
          </a:solidFill>
          <a:ln cap="rnd" cmpd="sng" w="9525">
            <a:solidFill>
              <a:srgbClr val="FFFFFF"/>
            </a:solidFill>
            <a:prstDash val="solid"/>
            <a:round/>
            <a:headEnd len="sm" w="sm" type="none"/>
            <a:tailEnd len="sm" w="sm" type="none"/>
          </a:ln>
          <a:effectLst>
            <a:outerShdw blurRad="25400" sx="96000" rotWithShape="0" algn="tl" dir="3300000" dist="25400" sy="96000">
              <a:schemeClr val="lt2">
                <a:alpha val="200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7" name="Google Shape;87;p10"/>
          <p:cNvSpPr txBox="1"/>
          <p:nvPr>
            <p:ph idx="1" type="body"/>
          </p:nvPr>
        </p:nvSpPr>
        <p:spPr>
          <a:xfrm>
            <a:off x="838200" y="4800600"/>
            <a:ext cx="4419600" cy="762000"/>
          </a:xfrm>
          <a:prstGeom prst="rect">
            <a:avLst/>
          </a:prstGeom>
          <a:noFill/>
          <a:ln>
            <a:noFill/>
          </a:ln>
        </p:spPr>
        <p:txBody>
          <a:bodyPr anchorCtr="0" anchor="ctr" bIns="45700" lIns="91425" spcFirstLastPara="1" rIns="91425" wrap="square" tIns="45700">
            <a:normAutofit/>
          </a:bodyPr>
          <a:lstStyle>
            <a:lvl1pPr indent="-228600" lvl="0" marL="457200" algn="l">
              <a:lnSpc>
                <a:spcPct val="114285"/>
              </a:lnSpc>
              <a:spcBef>
                <a:spcPts val="0"/>
              </a:spcBef>
              <a:spcAft>
                <a:spcPts val="0"/>
              </a:spcAft>
              <a:buSzPts val="1120"/>
              <a:buNone/>
              <a:defRPr sz="1400">
                <a:solidFill>
                  <a:srgbClr val="777777"/>
                </a:solidFill>
              </a:defRPr>
            </a:lvl1pPr>
            <a:lvl2pPr indent="-304800" lvl="1" marL="914400" algn="l">
              <a:lnSpc>
                <a:spcPct val="100000"/>
              </a:lnSpc>
              <a:spcBef>
                <a:spcPts val="550"/>
              </a:spcBef>
              <a:spcAft>
                <a:spcPts val="0"/>
              </a:spcAft>
              <a:buSzPts val="1200"/>
              <a:buChar char="◦"/>
              <a:defRPr sz="1200"/>
            </a:lvl2pPr>
            <a:lvl3pPr indent="-292100" lvl="2" marL="1371600" algn="l">
              <a:lnSpc>
                <a:spcPct val="100000"/>
              </a:lnSpc>
              <a:spcBef>
                <a:spcPts val="200"/>
              </a:spcBef>
              <a:spcAft>
                <a:spcPts val="0"/>
              </a:spcAft>
              <a:buSzPts val="1000"/>
              <a:buChar char="●"/>
              <a:defRPr sz="10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8" name="Shape 88"/>
        <p:cNvGrpSpPr/>
        <p:nvPr/>
      </p:nvGrpSpPr>
      <p:grpSpPr>
        <a:xfrm>
          <a:off x="0" y="0"/>
          <a:ext cx="0" cy="0"/>
          <a:chOff x="0" y="0"/>
          <a:chExt cx="0" cy="0"/>
        </a:xfrm>
      </p:grpSpPr>
      <p:sp>
        <p:nvSpPr>
          <p:cNvPr id="89" name="Google Shape;89;p11"/>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11"/>
          <p:cNvSpPr txBox="1"/>
          <p:nvPr>
            <p:ph idx="1" type="body"/>
          </p:nvPr>
        </p:nvSpPr>
        <p:spPr>
          <a:xfrm rot="5400000">
            <a:off x="2784348" y="99060"/>
            <a:ext cx="4800600" cy="749808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600"/>
              </a:spcBef>
              <a:spcAft>
                <a:spcPts val="0"/>
              </a:spcAft>
              <a:buSzPts val="1440"/>
              <a:buChar char="⚫"/>
              <a:defRPr/>
            </a:lvl1pPr>
            <a:lvl2pPr indent="-342900" lvl="1" marL="914400" algn="l">
              <a:lnSpc>
                <a:spcPct val="100000"/>
              </a:lnSpc>
              <a:spcBef>
                <a:spcPts val="55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91" name="Google Shape;91;p11"/>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1"/>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1"/>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4" name="Shape 94"/>
        <p:cNvGrpSpPr/>
        <p:nvPr/>
      </p:nvGrpSpPr>
      <p:grpSpPr>
        <a:xfrm>
          <a:off x="0" y="0"/>
          <a:ext cx="0" cy="0"/>
          <a:chOff x="0" y="0"/>
          <a:chExt cx="0" cy="0"/>
        </a:xfrm>
      </p:grpSpPr>
      <p:sp>
        <p:nvSpPr>
          <p:cNvPr id="95" name="Google Shape;95;p12"/>
          <p:cNvSpPr txBox="1"/>
          <p:nvPr>
            <p:ph type="title"/>
          </p:nvPr>
        </p:nvSpPr>
        <p:spPr>
          <a:xfrm rot="5400000">
            <a:off x="4846637" y="2286002"/>
            <a:ext cx="5851525" cy="18288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12"/>
          <p:cNvSpPr txBox="1"/>
          <p:nvPr>
            <p:ph idx="1" type="body"/>
          </p:nvPr>
        </p:nvSpPr>
        <p:spPr>
          <a:xfrm rot="5400000">
            <a:off x="998537" y="419103"/>
            <a:ext cx="5851525" cy="55626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600"/>
              </a:spcBef>
              <a:spcAft>
                <a:spcPts val="0"/>
              </a:spcAft>
              <a:buSzPts val="1440"/>
              <a:buChar char="⚫"/>
              <a:defRPr/>
            </a:lvl1pPr>
            <a:lvl2pPr indent="-342900" lvl="1" marL="914400" algn="l">
              <a:lnSpc>
                <a:spcPct val="100000"/>
              </a:lnSpc>
              <a:spcBef>
                <a:spcPts val="55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97" name="Google Shape;97;p12"/>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2"/>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2"/>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xy" tx="0" sx="90000" ty="0" sy="90000"/>
        </a:blipFill>
      </p:bgPr>
    </p:bg>
    <p:spTree>
      <p:nvGrpSpPr>
        <p:cNvPr id="9" name="Shape 9"/>
        <p:cNvGrpSpPr/>
        <p:nvPr/>
      </p:nvGrpSpPr>
      <p:grpSpPr>
        <a:xfrm>
          <a:off x="0" y="0"/>
          <a:ext cx="0" cy="0"/>
          <a:chOff x="0" y="0"/>
          <a:chExt cx="0" cy="0"/>
        </a:xfrm>
      </p:grpSpPr>
      <p:sp>
        <p:nvSpPr>
          <p:cNvPr id="10" name="Google Shape;10;p1"/>
          <p:cNvSpPr/>
          <p:nvPr/>
        </p:nvSpPr>
        <p:spPr>
          <a:xfrm>
            <a:off x="-815927" y="-815922"/>
            <a:ext cx="1638887" cy="1638887"/>
          </a:xfrm>
          <a:prstGeom prst="pie">
            <a:avLst>
              <a:gd fmla="val 0" name="adj1"/>
              <a:gd fmla="val 5402120" name="adj2"/>
            </a:avLst>
          </a:prstGeom>
          <a:solidFill>
            <a:srgbClr val="FEF9F3">
              <a:alpha val="32941"/>
            </a:srgbClr>
          </a:solidFill>
          <a:ln cap="rnd" cmpd="sng" w="9525">
            <a:solidFill>
              <a:srgbClr val="D1C1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1" name="Google Shape;11;p1"/>
          <p:cNvSpPr/>
          <p:nvPr/>
        </p:nvSpPr>
        <p:spPr>
          <a:xfrm>
            <a:off x="168816" y="21102"/>
            <a:ext cx="1702191" cy="1702191"/>
          </a:xfrm>
          <a:prstGeom prst="ellipse">
            <a:avLst/>
          </a:prstGeom>
          <a:noFill/>
          <a:ln cap="rnd" cmpd="sng" w="27300">
            <a:solidFill>
              <a:srgbClr val="FFF5DB"/>
            </a:solidFill>
            <a:prstDash val="solid"/>
            <a:round/>
            <a:headEnd len="sm" w="sm" type="none"/>
            <a:tailEnd len="sm" w="sm" type="none"/>
          </a:ln>
          <a:effectLst>
            <a:outerShdw blurRad="25400" rotWithShape="0" algn="tl" dir="5400000" dist="25400">
              <a:srgbClr val="ADA48C">
                <a:alpha val="8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2" name="Google Shape;12;p1"/>
          <p:cNvSpPr/>
          <p:nvPr/>
        </p:nvSpPr>
        <p:spPr>
          <a:xfrm rot="2315675">
            <a:off x="182881" y="1055077"/>
            <a:ext cx="1125717" cy="1102624"/>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3" name="Google Shape;13;p1"/>
          <p:cNvSpPr/>
          <p:nvPr/>
        </p:nvSpPr>
        <p:spPr>
          <a:xfrm>
            <a:off x="1012873" y="-54"/>
            <a:ext cx="8131127" cy="685805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4" name="Google Shape;14;p1"/>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562214"/>
              </a:buClr>
              <a:buSzPts val="4300"/>
              <a:buFont typeface="Gill Sans"/>
              <a:buNone/>
              <a:defRPr b="0" i="0" sz="4300" u="none" cap="none" strike="noStrike">
                <a:solidFill>
                  <a:srgbClr val="562214"/>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1"/>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lvl1pPr indent="-391160" lvl="0" marL="457200" marR="0" rtl="0" algn="l">
              <a:lnSpc>
                <a:spcPct val="100000"/>
              </a:lnSpc>
              <a:spcBef>
                <a:spcPts val="600"/>
              </a:spcBef>
              <a:spcAft>
                <a:spcPts val="0"/>
              </a:spcAft>
              <a:buClr>
                <a:schemeClr val="accent1"/>
              </a:buClr>
              <a:buSzPts val="2560"/>
              <a:buFont typeface="Noto Sans Symbols"/>
              <a:buChar char="⚫"/>
              <a:defRPr b="0" i="0" sz="3200" u="none" cap="none" strike="noStrike">
                <a:solidFill>
                  <a:schemeClr val="dk1"/>
                </a:solidFill>
                <a:latin typeface="Gill Sans"/>
                <a:ea typeface="Gill Sans"/>
                <a:cs typeface="Gill Sans"/>
                <a:sym typeface="Gill Sans"/>
              </a:defRPr>
            </a:lvl1pPr>
            <a:lvl2pPr indent="-406400" lvl="1" marL="914400" marR="0" rtl="0" algn="l">
              <a:lnSpc>
                <a:spcPct val="100000"/>
              </a:lnSpc>
              <a:spcBef>
                <a:spcPts val="55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indent="-381000" lvl="2" marL="1371600" marR="0" rtl="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Gill Sans"/>
                <a:ea typeface="Gill Sans"/>
                <a:cs typeface="Gill Sans"/>
                <a:sym typeface="Gill Sans"/>
              </a:defRPr>
            </a:lvl3pPr>
            <a:lvl4pPr indent="-355600" lvl="3" marL="1828800" marR="0" rtl="0" algn="l">
              <a:lnSpc>
                <a:spcPct val="100000"/>
              </a:lnSpc>
              <a:spcBef>
                <a:spcPts val="400"/>
              </a:spcBef>
              <a:spcAft>
                <a:spcPts val="0"/>
              </a:spcAft>
              <a:buClr>
                <a:schemeClr val="accent3"/>
              </a:buClr>
              <a:buSzPts val="2000"/>
              <a:buFont typeface="Noto Sans Symbols"/>
              <a:buChar char="●"/>
              <a:defRPr b="0" i="0" sz="2000" u="none" cap="none" strike="noStrike">
                <a:solidFill>
                  <a:schemeClr val="dk1"/>
                </a:solidFill>
                <a:latin typeface="Gill Sans"/>
                <a:ea typeface="Gill Sans"/>
                <a:cs typeface="Gill Sans"/>
                <a:sym typeface="Gill Sans"/>
              </a:defRPr>
            </a:lvl4pPr>
            <a:lvl5pPr indent="-355600" lvl="4" marL="2286000" marR="0" rtl="0" algn="l">
              <a:lnSpc>
                <a:spcPct val="100000"/>
              </a:lnSpc>
              <a:spcBef>
                <a:spcPts val="400"/>
              </a:spcBef>
              <a:spcAft>
                <a:spcPts val="0"/>
              </a:spcAft>
              <a:buClr>
                <a:schemeClr val="accent4"/>
              </a:buClr>
              <a:buSzPts val="2000"/>
              <a:buFont typeface="Noto Sans Symbols"/>
              <a:buChar char="●"/>
              <a:defRPr b="0" i="0" sz="20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indent="-355600" lvl="6" marL="32004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indent="-355600" lvl="7" marL="36576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indent="-355600" lvl="8" marL="41148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16" name="Google Shape;16;p1"/>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b="0" i="0" sz="1200" u="none" cap="none" strike="noStrike">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7" name="Google Shape;17;p1"/>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8" name="Google Shape;18;p1"/>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marR="0" rtl="0" algn="ctr">
              <a:spcBef>
                <a:spcPts val="0"/>
              </a:spcBef>
              <a:buNone/>
              <a:defRPr b="0" i="0" sz="1200" u="none" cap="none" strike="noStrike">
                <a:solidFill>
                  <a:srgbClr val="B3A787"/>
                </a:solidFill>
                <a:latin typeface="Gill Sans"/>
                <a:ea typeface="Gill Sans"/>
                <a:cs typeface="Gill Sans"/>
                <a:sym typeface="Gill Sans"/>
              </a:defRPr>
            </a:lvl1pPr>
            <a:lvl2pPr indent="0" lvl="1" marL="0" marR="0" rtl="0" algn="ctr">
              <a:spcBef>
                <a:spcPts val="0"/>
              </a:spcBef>
              <a:buNone/>
              <a:defRPr b="0" i="0" sz="1200" u="none" cap="none" strike="noStrike">
                <a:solidFill>
                  <a:srgbClr val="B3A787"/>
                </a:solidFill>
                <a:latin typeface="Gill Sans"/>
                <a:ea typeface="Gill Sans"/>
                <a:cs typeface="Gill Sans"/>
                <a:sym typeface="Gill Sans"/>
              </a:defRPr>
            </a:lvl2pPr>
            <a:lvl3pPr indent="0" lvl="2" marL="0" marR="0" rtl="0" algn="ctr">
              <a:spcBef>
                <a:spcPts val="0"/>
              </a:spcBef>
              <a:buNone/>
              <a:defRPr b="0" i="0" sz="1200" u="none" cap="none" strike="noStrike">
                <a:solidFill>
                  <a:srgbClr val="B3A787"/>
                </a:solidFill>
                <a:latin typeface="Gill Sans"/>
                <a:ea typeface="Gill Sans"/>
                <a:cs typeface="Gill Sans"/>
                <a:sym typeface="Gill Sans"/>
              </a:defRPr>
            </a:lvl3pPr>
            <a:lvl4pPr indent="0" lvl="3" marL="0" marR="0" rtl="0" algn="ctr">
              <a:spcBef>
                <a:spcPts val="0"/>
              </a:spcBef>
              <a:buNone/>
              <a:defRPr b="0" i="0" sz="1200" u="none" cap="none" strike="noStrike">
                <a:solidFill>
                  <a:srgbClr val="B3A787"/>
                </a:solidFill>
                <a:latin typeface="Gill Sans"/>
                <a:ea typeface="Gill Sans"/>
                <a:cs typeface="Gill Sans"/>
                <a:sym typeface="Gill Sans"/>
              </a:defRPr>
            </a:lvl4pPr>
            <a:lvl5pPr indent="0" lvl="4" marL="0" marR="0" rtl="0" algn="ctr">
              <a:spcBef>
                <a:spcPts val="0"/>
              </a:spcBef>
              <a:buNone/>
              <a:defRPr b="0" i="0" sz="1200" u="none" cap="none" strike="noStrike">
                <a:solidFill>
                  <a:srgbClr val="B3A787"/>
                </a:solidFill>
                <a:latin typeface="Gill Sans"/>
                <a:ea typeface="Gill Sans"/>
                <a:cs typeface="Gill Sans"/>
                <a:sym typeface="Gill Sans"/>
              </a:defRPr>
            </a:lvl5pPr>
            <a:lvl6pPr indent="0" lvl="5" marL="0" marR="0" rtl="0" algn="ctr">
              <a:spcBef>
                <a:spcPts val="0"/>
              </a:spcBef>
              <a:buNone/>
              <a:defRPr b="0" i="0" sz="1200" u="none" cap="none" strike="noStrike">
                <a:solidFill>
                  <a:srgbClr val="B3A787"/>
                </a:solidFill>
                <a:latin typeface="Gill Sans"/>
                <a:ea typeface="Gill Sans"/>
                <a:cs typeface="Gill Sans"/>
                <a:sym typeface="Gill Sans"/>
              </a:defRPr>
            </a:lvl6pPr>
            <a:lvl7pPr indent="0" lvl="6" marL="0" marR="0" rtl="0" algn="ctr">
              <a:spcBef>
                <a:spcPts val="0"/>
              </a:spcBef>
              <a:buNone/>
              <a:defRPr b="0" i="0" sz="1200" u="none" cap="none" strike="noStrike">
                <a:solidFill>
                  <a:srgbClr val="B3A787"/>
                </a:solidFill>
                <a:latin typeface="Gill Sans"/>
                <a:ea typeface="Gill Sans"/>
                <a:cs typeface="Gill Sans"/>
                <a:sym typeface="Gill Sans"/>
              </a:defRPr>
            </a:lvl7pPr>
            <a:lvl8pPr indent="0" lvl="7" marL="0" marR="0" rtl="0" algn="ctr">
              <a:spcBef>
                <a:spcPts val="0"/>
              </a:spcBef>
              <a:buNone/>
              <a:defRPr b="0" i="0" sz="1200" u="none" cap="none" strike="noStrike">
                <a:solidFill>
                  <a:srgbClr val="B3A787"/>
                </a:solidFill>
                <a:latin typeface="Gill Sans"/>
                <a:ea typeface="Gill Sans"/>
                <a:cs typeface="Gill Sans"/>
                <a:sym typeface="Gill Sans"/>
              </a:defRPr>
            </a:lvl8pPr>
            <a:lvl9pPr indent="0" lvl="8" marL="0" marR="0" rtl="0" algn="ctr">
              <a:spcBef>
                <a:spcPts val="0"/>
              </a:spcBef>
              <a:buNone/>
              <a:defRPr b="0" i="0" sz="1200" u="none" cap="none" strike="noStrike">
                <a:solidFill>
                  <a:srgbClr val="B3A787"/>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
        <p:nvSpPr>
          <p:cNvPr id="19" name="Google Shape;19;p1"/>
          <p:cNvSpPr/>
          <p:nvPr/>
        </p:nvSpPr>
        <p:spPr>
          <a:xfrm>
            <a:off x="1014984" y="-54"/>
            <a:ext cx="73152" cy="6858054"/>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www.softwaretestingclass.com/wp-content/uploads/2013/10/postitive-testing.jpg" TargetMode="External"/><Relationship Id="rId4" Type="http://schemas.openxmlformats.org/officeDocument/2006/relationships/image" Target="../media/image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hyperlink" Target="http://www.softwaretestingclass.com/wp-content/uploads/2013/10/negative-testing.jpg" TargetMode="External"/><Relationship Id="rId4" Type="http://schemas.openxmlformats.org/officeDocument/2006/relationships/image" Target="../media/image4.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hyperlink" Target="http://cdn.guru99.com/images/p3(1).png" TargetMode="External"/><Relationship Id="rId4" Type="http://schemas.openxmlformats.org/officeDocument/2006/relationships/image" Target="../media/image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hyperlink" Target="http://cdn.guru99.com/images/p4(1).png" TargetMode="External"/><Relationship Id="rId4" Type="http://schemas.openxmlformats.org/officeDocument/2006/relationships/image" Target="../media/image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hyperlink" Target="http://cdn.guru99.com/images/p5(1).png" TargetMode="External"/><Relationship Id="rId4" Type="http://schemas.openxmlformats.org/officeDocument/2006/relationships/image" Target="../media/image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hyperlink" Target="http://1.bp.blogspot.com/-eto1d6e73Rg/UHrF2C75g7I/AAAAAAAAAJ8/67ndYl1aLx8/s1600/positive-and-negative-testing.jpeg.jpg" TargetMode="External"/><Relationship Id="rId4" Type="http://schemas.openxmlformats.org/officeDocument/2006/relationships/image" Target="../media/image2.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3"/>
          <p:cNvSpPr txBox="1"/>
          <p:nvPr>
            <p:ph type="ctrTitle"/>
          </p:nvPr>
        </p:nvSpPr>
        <p:spPr>
          <a:xfrm>
            <a:off x="1432560" y="359898"/>
            <a:ext cx="7406640" cy="1472184"/>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rgbClr val="562214"/>
              </a:buClr>
              <a:buSzPts val="4300"/>
              <a:buFont typeface="Gill Sans"/>
              <a:buNone/>
            </a:pPr>
            <a:r>
              <a:rPr lang="en-US"/>
              <a:t>Orthogonal Array Testing </a:t>
            </a:r>
            <a:endParaRPr/>
          </a:p>
        </p:txBody>
      </p:sp>
      <p:sp>
        <p:nvSpPr>
          <p:cNvPr id="105" name="Google Shape;105;p13"/>
          <p:cNvSpPr txBox="1"/>
          <p:nvPr>
            <p:ph idx="1" type="subTitle"/>
          </p:nvPr>
        </p:nvSpPr>
        <p:spPr>
          <a:xfrm>
            <a:off x="1187624" y="3284984"/>
            <a:ext cx="7406640" cy="1752600"/>
          </a:xfrm>
          <a:prstGeom prst="rect">
            <a:avLst/>
          </a:prstGeom>
          <a:noFill/>
          <a:ln>
            <a:noFill/>
          </a:ln>
        </p:spPr>
        <p:txBody>
          <a:bodyPr anchorCtr="0" anchor="t" bIns="45700" lIns="91425" spcFirstLastPara="1" rIns="91425" wrap="square" tIns="0">
            <a:normAutofit/>
          </a:bodyPr>
          <a:lstStyle/>
          <a:p>
            <a:pPr indent="0" lvl="0" marL="27432" rtl="0" algn="ctr">
              <a:lnSpc>
                <a:spcPct val="100000"/>
              </a:lnSpc>
              <a:spcBef>
                <a:spcPts val="0"/>
              </a:spcBef>
              <a:spcAft>
                <a:spcPts val="0"/>
              </a:spcAft>
              <a:buSzPts val="1440"/>
              <a:buNone/>
            </a:pPr>
            <a:r>
              <a:rPr lang="en-US" sz="1800">
                <a:latin typeface="Arial"/>
                <a:ea typeface="Arial"/>
                <a:cs typeface="Arial"/>
                <a:sym typeface="Arial"/>
              </a:rPr>
              <a:t>Dr. Durga Prasad Mohapatra</a:t>
            </a:r>
            <a:endParaRPr sz="1800">
              <a:latin typeface="Arial"/>
              <a:ea typeface="Arial"/>
              <a:cs typeface="Arial"/>
              <a:sym typeface="Arial"/>
            </a:endParaRPr>
          </a:p>
          <a:p>
            <a:pPr indent="0" lvl="0" marL="27432" rtl="0" algn="ctr">
              <a:lnSpc>
                <a:spcPct val="100000"/>
              </a:lnSpc>
              <a:spcBef>
                <a:spcPts val="600"/>
              </a:spcBef>
              <a:spcAft>
                <a:spcPts val="0"/>
              </a:spcAft>
              <a:buSzPts val="1440"/>
              <a:buNone/>
            </a:pPr>
            <a:r>
              <a:rPr lang="en-US" sz="1800">
                <a:latin typeface="Arial"/>
                <a:ea typeface="Arial"/>
                <a:cs typeface="Arial"/>
                <a:sym typeface="Arial"/>
              </a:rPr>
              <a:t>Professor</a:t>
            </a:r>
            <a:endParaRPr sz="1800">
              <a:latin typeface="Arial"/>
              <a:ea typeface="Arial"/>
              <a:cs typeface="Arial"/>
              <a:sym typeface="Arial"/>
            </a:endParaRPr>
          </a:p>
          <a:p>
            <a:pPr indent="0" lvl="0" marL="27432" rtl="0" algn="ctr">
              <a:lnSpc>
                <a:spcPct val="100000"/>
              </a:lnSpc>
              <a:spcBef>
                <a:spcPts val="600"/>
              </a:spcBef>
              <a:spcAft>
                <a:spcPts val="0"/>
              </a:spcAft>
              <a:buSzPts val="1440"/>
              <a:buNone/>
            </a:pPr>
            <a:r>
              <a:rPr lang="en-US" sz="1800">
                <a:latin typeface="Arial"/>
                <a:ea typeface="Arial"/>
                <a:cs typeface="Arial"/>
                <a:sym typeface="Arial"/>
              </a:rPr>
              <a:t>CSE Department</a:t>
            </a:r>
            <a:endParaRPr/>
          </a:p>
          <a:p>
            <a:pPr indent="0" lvl="0" marL="27432" rtl="0" algn="ctr">
              <a:lnSpc>
                <a:spcPct val="100000"/>
              </a:lnSpc>
              <a:spcBef>
                <a:spcPts val="600"/>
              </a:spcBef>
              <a:spcAft>
                <a:spcPts val="0"/>
              </a:spcAft>
              <a:buSzPts val="1440"/>
              <a:buNone/>
            </a:pPr>
            <a:r>
              <a:rPr lang="en-US" sz="1800">
                <a:latin typeface="Arial"/>
                <a:ea typeface="Arial"/>
                <a:cs typeface="Arial"/>
                <a:sym typeface="Arial"/>
              </a:rPr>
              <a:t>NIT Rourkela</a:t>
            </a:r>
            <a:endParaRPr/>
          </a:p>
          <a:p>
            <a:pPr indent="0" lvl="0" marL="27432" rtl="0" algn="ctr">
              <a:lnSpc>
                <a:spcPct val="100000"/>
              </a:lnSpc>
              <a:spcBef>
                <a:spcPts val="600"/>
              </a:spcBef>
              <a:spcAft>
                <a:spcPts val="0"/>
              </a:spcAft>
              <a:buSzPts val="1440"/>
              <a:buNone/>
            </a:pPr>
            <a:r>
              <a:t/>
            </a:r>
            <a:endParaRPr sz="1800">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4"/>
          <p:cNvSpPr txBox="1"/>
          <p:nvPr>
            <p:ph type="title"/>
          </p:nvPr>
        </p:nvSpPr>
        <p:spPr>
          <a:xfrm>
            <a:off x="1336375" y="304800"/>
            <a:ext cx="74982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Orthogonal Array Testing </a:t>
            </a:r>
            <a:endParaRPr/>
          </a:p>
        </p:txBody>
      </p:sp>
      <p:sp>
        <p:nvSpPr>
          <p:cNvPr id="111" name="Google Shape;111;p14"/>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560"/>
              <a:buChar char="⚫"/>
            </a:pPr>
            <a:r>
              <a:rPr lang="en-US"/>
              <a:t>Orthogonal Arrays are two dimensional arrays of numbers that have the attractive feature that </a:t>
            </a:r>
            <a:endParaRPr/>
          </a:p>
          <a:p>
            <a:pPr indent="-237744" lvl="1" marL="640080" rtl="0" algn="just">
              <a:lnSpc>
                <a:spcPct val="100000"/>
              </a:lnSpc>
              <a:spcBef>
                <a:spcPts val="550"/>
              </a:spcBef>
              <a:spcAft>
                <a:spcPts val="0"/>
              </a:spcAft>
              <a:buSzPts val="2800"/>
              <a:buChar char="◦"/>
            </a:pPr>
            <a:r>
              <a:rPr lang="en-US"/>
              <a:t>by selecting any two columns in the array, an </a:t>
            </a:r>
            <a:r>
              <a:rPr lang="en-US">
                <a:solidFill>
                  <a:srgbClr val="FF0000"/>
                </a:solidFill>
              </a:rPr>
              <a:t>even distribution of all pairwise combinations </a:t>
            </a:r>
            <a:r>
              <a:rPr lang="en-US"/>
              <a:t>of values in the array can be achieved.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5"/>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Example</a:t>
            </a:r>
            <a:endParaRPr/>
          </a:p>
        </p:txBody>
      </p:sp>
      <p:sp>
        <p:nvSpPr>
          <p:cNvPr id="117" name="Google Shape;117;p15"/>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560"/>
              <a:buChar char="⚫"/>
            </a:pPr>
            <a:r>
              <a:rPr lang="en-US"/>
              <a:t>In the following table, after selecting first two columns, we get four ordered pairs namely (0,0), (1,1), (0,1) and (1,0).  </a:t>
            </a:r>
            <a:endParaRPr/>
          </a:p>
          <a:p>
            <a:pPr indent="-283464" lvl="0" marL="365760" rtl="0" algn="just">
              <a:lnSpc>
                <a:spcPct val="100000"/>
              </a:lnSpc>
              <a:spcBef>
                <a:spcPts val="600"/>
              </a:spcBef>
              <a:spcAft>
                <a:spcPts val="0"/>
              </a:spcAft>
              <a:buSzPts val="2560"/>
              <a:buChar char="⚫"/>
            </a:pPr>
            <a:r>
              <a:rPr lang="en-US"/>
              <a:t>These pairs form all the possible ordered pairs of two-element set and each ordered pair appears exactly once.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6"/>
          <p:cNvSpPr txBox="1"/>
          <p:nvPr>
            <p:ph type="title"/>
          </p:nvPr>
        </p:nvSpPr>
        <p:spPr>
          <a:xfrm>
            <a:off x="3203848" y="476672"/>
            <a:ext cx="3733800" cy="1252728"/>
          </a:xfrm>
          <a:prstGeom prst="rect">
            <a:avLst/>
          </a:prstGeom>
          <a:noFill/>
          <a:ln>
            <a:noFill/>
          </a:ln>
        </p:spPr>
        <p:txBody>
          <a:bodyPr anchorCtr="0" anchor="b" bIns="45700" lIns="91425" spcFirstLastPara="1" rIns="91425" wrap="square" tIns="45700">
            <a:normAutofit/>
          </a:bodyPr>
          <a:lstStyle/>
          <a:p>
            <a:pPr indent="0" lvl="0" marL="0" rtl="0" algn="l">
              <a:lnSpc>
                <a:spcPct val="90909"/>
              </a:lnSpc>
              <a:spcBef>
                <a:spcPts val="0"/>
              </a:spcBef>
              <a:spcAft>
                <a:spcPts val="0"/>
              </a:spcAft>
              <a:buClr>
                <a:srgbClr val="562214"/>
              </a:buClr>
              <a:buSzPts val="2200"/>
              <a:buFont typeface="Gill Sans"/>
              <a:buNone/>
            </a:pPr>
            <a:r>
              <a:rPr lang="en-US"/>
              <a:t>EXAMPLE</a:t>
            </a:r>
            <a:endParaRPr/>
          </a:p>
        </p:txBody>
      </p:sp>
      <p:sp>
        <p:nvSpPr>
          <p:cNvPr id="123" name="Google Shape;123;p16"/>
          <p:cNvSpPr txBox="1"/>
          <p:nvPr>
            <p:ph idx="1" type="body"/>
          </p:nvPr>
        </p:nvSpPr>
        <p:spPr>
          <a:xfrm>
            <a:off x="914400" y="4419600"/>
            <a:ext cx="7086600" cy="1447800"/>
          </a:xfrm>
          <a:prstGeom prst="rect">
            <a:avLst/>
          </a:prstGeom>
          <a:noFill/>
          <a:ln>
            <a:noFill/>
          </a:ln>
        </p:spPr>
        <p:txBody>
          <a:bodyPr anchorCtr="0" anchor="t" bIns="45700" lIns="91425" spcFirstLastPara="1" rIns="91425" wrap="square" tIns="45700">
            <a:normAutofit/>
          </a:bodyPr>
          <a:lstStyle/>
          <a:p>
            <a:pPr indent="0" lvl="0" marL="45720" rtl="0" algn="just">
              <a:lnSpc>
                <a:spcPct val="100000"/>
              </a:lnSpc>
              <a:spcBef>
                <a:spcPts val="0"/>
              </a:spcBef>
              <a:spcAft>
                <a:spcPts val="0"/>
              </a:spcAft>
              <a:buSzPts val="1600"/>
              <a:buNone/>
            </a:pPr>
            <a:r>
              <a:rPr lang="en-US" sz="2000"/>
              <a:t>We obtain same values when selecting second and third or first and third column combination. An array exhibiting this feature is known as orthogonal array.</a:t>
            </a:r>
            <a:endParaRPr sz="2000"/>
          </a:p>
        </p:txBody>
      </p:sp>
      <p:pic>
        <p:nvPicPr>
          <p:cNvPr id="124" name="Google Shape;124;p16"/>
          <p:cNvPicPr preferRelativeResize="0"/>
          <p:nvPr>
            <p:ph idx="2" type="body"/>
          </p:nvPr>
        </p:nvPicPr>
        <p:blipFill rotWithShape="1">
          <a:blip r:embed="rId3">
            <a:alphaModFix/>
          </a:blip>
          <a:srcRect b="0" l="0" r="0" t="0"/>
          <a:stretch/>
        </p:blipFill>
        <p:spPr>
          <a:xfrm>
            <a:off x="990600" y="2057400"/>
            <a:ext cx="6934200" cy="2133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7"/>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Orthogonal Array Testing</a:t>
            </a:r>
            <a:endParaRPr/>
          </a:p>
        </p:txBody>
      </p:sp>
      <p:sp>
        <p:nvSpPr>
          <p:cNvPr id="130" name="Google Shape;130;p17"/>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560"/>
              <a:buChar char="⚫"/>
            </a:pPr>
            <a:r>
              <a:rPr lang="en-US"/>
              <a:t>Orthogonal arrays can be used in software testing for </a:t>
            </a:r>
            <a:r>
              <a:rPr lang="en-US">
                <a:highlight>
                  <a:srgbClr val="00FF00"/>
                </a:highlight>
              </a:rPr>
              <a:t>pairwise interactions</a:t>
            </a:r>
            <a:r>
              <a:rPr lang="en-US"/>
              <a:t>. </a:t>
            </a:r>
            <a:endParaRPr/>
          </a:p>
          <a:p>
            <a:pPr indent="-283464" lvl="0" marL="365760" rtl="0" algn="just">
              <a:lnSpc>
                <a:spcPct val="100000"/>
              </a:lnSpc>
              <a:spcBef>
                <a:spcPts val="600"/>
              </a:spcBef>
              <a:spcAft>
                <a:spcPts val="0"/>
              </a:spcAft>
              <a:buSzPts val="2560"/>
              <a:buChar char="⚫"/>
            </a:pPr>
            <a:r>
              <a:rPr lang="en-US"/>
              <a:t>It provides uniformly distributed coverage for all variable pairwise combinations.</a:t>
            </a:r>
            <a:endParaRPr/>
          </a:p>
          <a:p>
            <a:pPr indent="-283464" lvl="0" marL="365760" rtl="0" algn="just">
              <a:lnSpc>
                <a:spcPct val="100000"/>
              </a:lnSpc>
              <a:spcBef>
                <a:spcPts val="600"/>
              </a:spcBef>
              <a:spcAft>
                <a:spcPts val="0"/>
              </a:spcAft>
              <a:buSzPts val="2560"/>
              <a:buChar char="⚫"/>
            </a:pPr>
            <a:r>
              <a:rPr lang="en-US"/>
              <a:t>It is commonly used for </a:t>
            </a:r>
            <a:r>
              <a:rPr lang="en-US">
                <a:highlight>
                  <a:srgbClr val="00FF00"/>
                </a:highlight>
              </a:rPr>
              <a:t>integration testing like testing of object-oriented systems</a:t>
            </a:r>
            <a:r>
              <a:rPr lang="en-US"/>
              <a:t>, where multiple subclasses  can be substituted as the server for a client.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8"/>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Orthogonal Array Testing</a:t>
            </a:r>
            <a:endParaRPr/>
          </a:p>
        </p:txBody>
      </p:sp>
      <p:sp>
        <p:nvSpPr>
          <p:cNvPr id="136" name="Google Shape;136;p18"/>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fontScale="92500"/>
          </a:bodyPr>
          <a:lstStyle/>
          <a:p>
            <a:pPr indent="-283464" lvl="0" marL="365760" rtl="0" algn="just">
              <a:lnSpc>
                <a:spcPct val="100000"/>
              </a:lnSpc>
              <a:spcBef>
                <a:spcPts val="0"/>
              </a:spcBef>
              <a:spcAft>
                <a:spcPts val="0"/>
              </a:spcAft>
              <a:buSzPct val="80000"/>
              <a:buChar char="⚫"/>
            </a:pPr>
            <a:r>
              <a:rPr lang="en-US"/>
              <a:t>It is a black-box testing technique.</a:t>
            </a:r>
            <a:endParaRPr/>
          </a:p>
          <a:p>
            <a:pPr indent="-283464" lvl="0" marL="365760" rtl="0" algn="just">
              <a:lnSpc>
                <a:spcPct val="100000"/>
              </a:lnSpc>
              <a:spcBef>
                <a:spcPts val="600"/>
              </a:spcBef>
              <a:spcAft>
                <a:spcPts val="0"/>
              </a:spcAft>
              <a:buSzPct val="80000"/>
              <a:buChar char="⚫"/>
            </a:pPr>
            <a:r>
              <a:rPr lang="en-US"/>
              <a:t>OATS is used when the input to the system to be tested are low, </a:t>
            </a:r>
            <a:endParaRPr/>
          </a:p>
          <a:p>
            <a:pPr indent="-237744" lvl="1" marL="640080" rtl="0" algn="just">
              <a:lnSpc>
                <a:spcPct val="100000"/>
              </a:lnSpc>
              <a:spcBef>
                <a:spcPts val="550"/>
              </a:spcBef>
              <a:spcAft>
                <a:spcPts val="0"/>
              </a:spcAft>
              <a:buSzPct val="100000"/>
              <a:buChar char="◦"/>
            </a:pPr>
            <a:r>
              <a:rPr lang="en-US"/>
              <a:t>but if exhaustive testing is used then it is not possible to test completely every input of the system.</a:t>
            </a:r>
            <a:endParaRPr/>
          </a:p>
          <a:p>
            <a:pPr indent="-283464" lvl="0" marL="365760" rtl="0" algn="just">
              <a:lnSpc>
                <a:spcPct val="100000"/>
              </a:lnSpc>
              <a:spcBef>
                <a:spcPts val="600"/>
              </a:spcBef>
              <a:spcAft>
                <a:spcPts val="0"/>
              </a:spcAft>
              <a:buSzPct val="80000"/>
              <a:buChar char="⚫"/>
            </a:pPr>
            <a:r>
              <a:rPr lang="en-US"/>
              <a:t>100% OATS implies 100% pairwise testing.</a:t>
            </a:r>
            <a:endParaRPr/>
          </a:p>
          <a:p>
            <a:pPr indent="-283464" lvl="0" marL="365760" rtl="0" algn="just">
              <a:lnSpc>
                <a:spcPct val="100000"/>
              </a:lnSpc>
              <a:spcBef>
                <a:spcPts val="600"/>
              </a:spcBef>
              <a:spcAft>
                <a:spcPts val="0"/>
              </a:spcAft>
              <a:buSzPct val="80000"/>
              <a:buChar char="⚫"/>
            </a:pPr>
            <a:r>
              <a:rPr lang="en-US"/>
              <a:t>OATS can be used for testing combinations of configurable options like a webpage that allows the other user to select: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9"/>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Configurable options - Example</a:t>
            </a:r>
            <a:endParaRPr/>
          </a:p>
        </p:txBody>
      </p:sp>
      <p:sp>
        <p:nvSpPr>
          <p:cNvPr id="142" name="Google Shape;142;p19"/>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l">
              <a:lnSpc>
                <a:spcPct val="100000"/>
              </a:lnSpc>
              <a:spcBef>
                <a:spcPts val="0"/>
              </a:spcBef>
              <a:spcAft>
                <a:spcPts val="0"/>
              </a:spcAft>
              <a:buSzPts val="2560"/>
              <a:buChar char="⚫"/>
            </a:pPr>
            <a:r>
              <a:rPr lang="en-US"/>
              <a:t>Font style;</a:t>
            </a:r>
            <a:endParaRPr/>
          </a:p>
          <a:p>
            <a:pPr indent="-283464" lvl="0" marL="365760" rtl="0" algn="l">
              <a:lnSpc>
                <a:spcPct val="100000"/>
              </a:lnSpc>
              <a:spcBef>
                <a:spcPts val="600"/>
              </a:spcBef>
              <a:spcAft>
                <a:spcPts val="0"/>
              </a:spcAft>
              <a:buSzPts val="2560"/>
              <a:buChar char="⚫"/>
            </a:pPr>
            <a:r>
              <a:rPr lang="en-US"/>
              <a:t>Font color;</a:t>
            </a:r>
            <a:endParaRPr/>
          </a:p>
          <a:p>
            <a:pPr indent="-283464" lvl="0" marL="365760" rtl="0" algn="l">
              <a:lnSpc>
                <a:spcPct val="100000"/>
              </a:lnSpc>
              <a:spcBef>
                <a:spcPts val="600"/>
              </a:spcBef>
              <a:spcAft>
                <a:spcPts val="0"/>
              </a:spcAft>
              <a:buSzPts val="2560"/>
              <a:buChar char="⚫"/>
            </a:pPr>
            <a:r>
              <a:rPr lang="en-US"/>
              <a:t>Back ground Color;</a:t>
            </a:r>
            <a:endParaRPr/>
          </a:p>
          <a:p>
            <a:pPr indent="-283464" lvl="0" marL="365760" rtl="0" algn="l">
              <a:lnSpc>
                <a:spcPct val="100000"/>
              </a:lnSpc>
              <a:spcBef>
                <a:spcPts val="600"/>
              </a:spcBef>
              <a:spcAft>
                <a:spcPts val="0"/>
              </a:spcAft>
              <a:buSzPts val="2560"/>
              <a:buChar char="⚫"/>
            </a:pPr>
            <a:r>
              <a:rPr lang="en-US"/>
              <a:t>Page layout;</a:t>
            </a:r>
            <a:endParaRPr/>
          </a:p>
          <a:p>
            <a:pPr indent="-283464" lvl="0" marL="365760" rtl="0" algn="l">
              <a:lnSpc>
                <a:spcPct val="100000"/>
              </a:lnSpc>
              <a:spcBef>
                <a:spcPts val="600"/>
              </a:spcBef>
              <a:spcAft>
                <a:spcPts val="0"/>
              </a:spcAft>
              <a:buSzPts val="2560"/>
              <a:buChar char="⚫"/>
            </a:pPr>
            <a:r>
              <a:rPr lang="en-US"/>
              <a:t>Etc.</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0"/>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lang="en-US"/>
              <a:t>Steps to use OATS</a:t>
            </a:r>
            <a:br>
              <a:rPr lang="en-US"/>
            </a:br>
            <a:endParaRPr/>
          </a:p>
        </p:txBody>
      </p:sp>
      <p:sp>
        <p:nvSpPr>
          <p:cNvPr id="148" name="Google Shape;148;p20"/>
          <p:cNvSpPr txBox="1"/>
          <p:nvPr>
            <p:ph idx="1" type="body"/>
          </p:nvPr>
        </p:nvSpPr>
        <p:spPr>
          <a:xfrm>
            <a:off x="933089" y="1412776"/>
            <a:ext cx="8178800" cy="417195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lang="en-US" sz="2800"/>
              <a:t>Step 1:  Identify the independent variables that are to be used for interaction.  These will be mapped as “factor” (f) of array.</a:t>
            </a:r>
            <a:endParaRPr/>
          </a:p>
          <a:p>
            <a:pPr indent="-283464" lvl="0" marL="365760" rtl="0" algn="just">
              <a:lnSpc>
                <a:spcPct val="100000"/>
              </a:lnSpc>
              <a:spcBef>
                <a:spcPts val="600"/>
              </a:spcBef>
              <a:spcAft>
                <a:spcPts val="0"/>
              </a:spcAft>
              <a:buSzPts val="2240"/>
              <a:buChar char="⚫"/>
            </a:pPr>
            <a:r>
              <a:rPr lang="en-US" sz="2800"/>
              <a:t>Step 2: Identify the maximum number of values, which each variable will take. These will be mapped as “levels” (p) of the array.</a:t>
            </a:r>
            <a:endParaRPr/>
          </a:p>
          <a:p>
            <a:pPr indent="-283464" lvl="0" marL="365760" rtl="0" algn="just">
              <a:lnSpc>
                <a:spcPct val="100000"/>
              </a:lnSpc>
              <a:spcBef>
                <a:spcPts val="600"/>
              </a:spcBef>
              <a:spcAft>
                <a:spcPts val="0"/>
              </a:spcAft>
              <a:buSzPts val="2240"/>
              <a:buChar char="⚫"/>
            </a:pPr>
            <a:r>
              <a:rPr lang="en-US" sz="2800"/>
              <a:t>Step 3: Search for an orthogonal array that has all factors from Step 1 and all levels from Step 2. </a:t>
            </a:r>
            <a:endParaRPr/>
          </a:p>
          <a:p>
            <a:pPr indent="-141223" lvl="0" marL="365760" rtl="0" algn="just">
              <a:lnSpc>
                <a:spcPct val="100000"/>
              </a:lnSpc>
              <a:spcBef>
                <a:spcPts val="600"/>
              </a:spcBef>
              <a:spcAft>
                <a:spcPts val="0"/>
              </a:spcAft>
              <a:buSzPts val="2240"/>
              <a:buNone/>
            </a:pPr>
            <a:r>
              <a:t/>
            </a:r>
            <a:endParaRPr sz="2800"/>
          </a:p>
          <a:p>
            <a:pPr indent="-141223" lvl="0" marL="365760" rtl="0" algn="just">
              <a:lnSpc>
                <a:spcPct val="100000"/>
              </a:lnSpc>
              <a:spcBef>
                <a:spcPts val="600"/>
              </a:spcBef>
              <a:spcAft>
                <a:spcPts val="0"/>
              </a:spcAft>
              <a:buSzPts val="2240"/>
              <a:buNone/>
            </a:pPr>
            <a:r>
              <a:t/>
            </a:r>
            <a:endParaRPr sz="2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1"/>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lang="en-US"/>
              <a:t>Steps to use OATS</a:t>
            </a:r>
            <a:br>
              <a:rPr lang="en-US"/>
            </a:br>
            <a:endParaRPr/>
          </a:p>
        </p:txBody>
      </p:sp>
      <p:sp>
        <p:nvSpPr>
          <p:cNvPr id="154" name="Google Shape;154;p21"/>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560"/>
              <a:buChar char="⚫"/>
            </a:pPr>
            <a:r>
              <a:rPr lang="en-US"/>
              <a:t>Step 4: Map all the factors and levels with your requirements.</a:t>
            </a:r>
            <a:endParaRPr/>
          </a:p>
          <a:p>
            <a:pPr indent="-283464" lvl="0" marL="365760" rtl="0" algn="just">
              <a:lnSpc>
                <a:spcPct val="100000"/>
              </a:lnSpc>
              <a:spcBef>
                <a:spcPts val="600"/>
              </a:spcBef>
              <a:spcAft>
                <a:spcPts val="0"/>
              </a:spcAft>
              <a:buSzPts val="2560"/>
              <a:buChar char="⚫"/>
            </a:pPr>
            <a:r>
              <a:rPr lang="en-US"/>
              <a:t>Translate them into suitable test cases.</a:t>
            </a:r>
            <a:endParaRPr/>
          </a:p>
          <a:p>
            <a:pPr indent="-283464" lvl="0" marL="365760" rtl="0" algn="just">
              <a:lnSpc>
                <a:spcPct val="100000"/>
              </a:lnSpc>
              <a:spcBef>
                <a:spcPts val="600"/>
              </a:spcBef>
              <a:spcAft>
                <a:spcPts val="0"/>
              </a:spcAft>
              <a:buSzPts val="2560"/>
              <a:buChar char="⚫"/>
            </a:pPr>
            <a:r>
              <a:rPr lang="en-US"/>
              <a:t>Look out for any special test cases.</a:t>
            </a:r>
            <a:endParaRPr/>
          </a:p>
          <a:p>
            <a:pPr indent="-283464" lvl="0" marL="365760" rtl="0" algn="just">
              <a:lnSpc>
                <a:spcPct val="100000"/>
              </a:lnSpc>
              <a:spcBef>
                <a:spcPts val="600"/>
              </a:spcBef>
              <a:spcAft>
                <a:spcPts val="0"/>
              </a:spcAft>
              <a:buSzPts val="2560"/>
              <a:buChar char="⚫"/>
            </a:pPr>
            <a:r>
              <a:rPr lang="en-US"/>
              <a:t>If we have 3 variables (parameters) that have 3 values, then the possible number of test cases using conventional technique is 3*3*3=27. But, if OATS is used, then the number of test cases will be 9.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2"/>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Arial"/>
              <a:buNone/>
            </a:pPr>
            <a:r>
              <a:rPr lang="en-US">
                <a:latin typeface="Arial"/>
                <a:ea typeface="Arial"/>
                <a:cs typeface="Arial"/>
                <a:sym typeface="Arial"/>
              </a:rPr>
              <a:t>Example 1</a:t>
            </a:r>
            <a:endParaRPr>
              <a:latin typeface="Arial"/>
              <a:ea typeface="Arial"/>
              <a:cs typeface="Arial"/>
              <a:sym typeface="Arial"/>
            </a:endParaRPr>
          </a:p>
        </p:txBody>
      </p:sp>
      <p:sp>
        <p:nvSpPr>
          <p:cNvPr id="160" name="Google Shape;160;p22"/>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560"/>
              <a:buChar char="⚫"/>
            </a:pPr>
            <a:r>
              <a:rPr lang="en-US"/>
              <a:t>Consider a scenario in which we need to derive test cases for a web page of a research paper that has four different sections:</a:t>
            </a:r>
            <a:endParaRPr/>
          </a:p>
          <a:p>
            <a:pPr indent="0" lvl="0" marL="82296" rtl="0" algn="just">
              <a:lnSpc>
                <a:spcPct val="100000"/>
              </a:lnSpc>
              <a:spcBef>
                <a:spcPts val="600"/>
              </a:spcBef>
              <a:spcAft>
                <a:spcPts val="0"/>
              </a:spcAft>
              <a:buSzPts val="2560"/>
              <a:buNone/>
            </a:pPr>
            <a:r>
              <a:rPr lang="en-US"/>
              <a:t>(a) Abstract</a:t>
            </a:r>
            <a:endParaRPr/>
          </a:p>
          <a:p>
            <a:pPr indent="0" lvl="0" marL="82296" rtl="0" algn="just">
              <a:lnSpc>
                <a:spcPct val="100000"/>
              </a:lnSpc>
              <a:spcBef>
                <a:spcPts val="600"/>
              </a:spcBef>
              <a:spcAft>
                <a:spcPts val="0"/>
              </a:spcAft>
              <a:buSzPts val="2560"/>
              <a:buNone/>
            </a:pPr>
            <a:r>
              <a:rPr lang="en-US"/>
              <a:t>(b) Related work</a:t>
            </a:r>
            <a:endParaRPr/>
          </a:p>
          <a:p>
            <a:pPr indent="0" lvl="0" marL="82296" rtl="0" algn="just">
              <a:lnSpc>
                <a:spcPct val="100000"/>
              </a:lnSpc>
              <a:spcBef>
                <a:spcPts val="600"/>
              </a:spcBef>
              <a:spcAft>
                <a:spcPts val="0"/>
              </a:spcAft>
              <a:buSzPts val="2560"/>
              <a:buNone/>
            </a:pPr>
            <a:r>
              <a:rPr lang="en-US"/>
              <a:t>(c) Proposed work</a:t>
            </a:r>
            <a:endParaRPr/>
          </a:p>
          <a:p>
            <a:pPr indent="0" lvl="0" marL="82296" rtl="0" algn="just">
              <a:lnSpc>
                <a:spcPct val="100000"/>
              </a:lnSpc>
              <a:spcBef>
                <a:spcPts val="600"/>
              </a:spcBef>
              <a:spcAft>
                <a:spcPts val="0"/>
              </a:spcAft>
              <a:buSzPts val="2560"/>
              <a:buNone/>
            </a:pPr>
            <a:r>
              <a:rPr lang="en-US"/>
              <a:t>(d) Conclusion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3"/>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Arial"/>
              <a:buNone/>
            </a:pPr>
            <a:r>
              <a:rPr lang="en-US">
                <a:latin typeface="Arial"/>
                <a:ea typeface="Arial"/>
                <a:cs typeface="Arial"/>
                <a:sym typeface="Arial"/>
              </a:rPr>
              <a:t>Example 1</a:t>
            </a:r>
            <a:endParaRPr>
              <a:latin typeface="Arial"/>
              <a:ea typeface="Arial"/>
              <a:cs typeface="Arial"/>
              <a:sym typeface="Arial"/>
            </a:endParaRPr>
          </a:p>
        </p:txBody>
      </p:sp>
      <p:sp>
        <p:nvSpPr>
          <p:cNvPr id="166" name="Google Shape;166;p23"/>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560"/>
              <a:buChar char="⚫"/>
            </a:pPr>
            <a:r>
              <a:rPr lang="en-US"/>
              <a:t>The four sections can be individually </a:t>
            </a:r>
            <a:r>
              <a:rPr b="1" i="1" lang="en-US"/>
              <a:t>shown</a:t>
            </a:r>
            <a:r>
              <a:rPr lang="en-US"/>
              <a:t> or </a:t>
            </a:r>
            <a:r>
              <a:rPr b="1" i="1" lang="en-US"/>
              <a:t>hidden</a:t>
            </a:r>
            <a:r>
              <a:rPr lang="en-US"/>
              <a:t> to the user or show </a:t>
            </a:r>
            <a:r>
              <a:rPr b="1" i="1" lang="en-US"/>
              <a:t>error message</a:t>
            </a:r>
            <a:r>
              <a:rPr lang="en-US"/>
              <a:t>. Thus it is required to design the test condition to test interaction between different sections.</a:t>
            </a:r>
            <a:endParaRPr/>
          </a:p>
          <a:p>
            <a:pPr indent="-120903" lvl="0" marL="365760" rtl="0" algn="just">
              <a:lnSpc>
                <a:spcPct val="100000"/>
              </a:lnSpc>
              <a:spcBef>
                <a:spcPts val="600"/>
              </a:spcBef>
              <a:spcAft>
                <a:spcPts val="0"/>
              </a:spcAft>
              <a:buSzPts val="256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4"/>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Solution</a:t>
            </a:r>
            <a:endParaRPr/>
          </a:p>
        </p:txBody>
      </p:sp>
      <p:sp>
        <p:nvSpPr>
          <p:cNvPr id="172" name="Google Shape;172;p24"/>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560"/>
              <a:buChar char="⚫"/>
            </a:pPr>
            <a:r>
              <a:rPr lang="en-US"/>
              <a:t>Step 1: Number of independent variables or factors = 4.</a:t>
            </a:r>
            <a:endParaRPr/>
          </a:p>
          <a:p>
            <a:pPr indent="-283464" lvl="0" marL="365760" rtl="0" algn="just">
              <a:lnSpc>
                <a:spcPct val="100000"/>
              </a:lnSpc>
              <a:spcBef>
                <a:spcPts val="600"/>
              </a:spcBef>
              <a:spcAft>
                <a:spcPts val="0"/>
              </a:spcAft>
              <a:buSzPts val="2560"/>
              <a:buChar char="⚫"/>
            </a:pPr>
            <a:r>
              <a:rPr lang="en-US"/>
              <a:t>Step 2: Value that each independent variable can take = 3 values (shown, hidden or error message).</a:t>
            </a:r>
            <a:endParaRPr/>
          </a:p>
          <a:p>
            <a:pPr indent="-283464" lvl="0" marL="365760" rtl="0" algn="just">
              <a:lnSpc>
                <a:spcPct val="100000"/>
              </a:lnSpc>
              <a:spcBef>
                <a:spcPts val="600"/>
              </a:spcBef>
              <a:spcAft>
                <a:spcPts val="0"/>
              </a:spcAft>
              <a:buSzPts val="2560"/>
              <a:buChar char="⚫"/>
            </a:pPr>
            <a:r>
              <a:rPr lang="en-US"/>
              <a:t>Step 3: Orthogonal array would be 3</a:t>
            </a:r>
            <a:r>
              <a:rPr baseline="30000" lang="en-US"/>
              <a:t>2</a:t>
            </a:r>
            <a:r>
              <a:rPr lang="en-US"/>
              <a:t> .</a:t>
            </a:r>
            <a:endParaRPr/>
          </a:p>
          <a:p>
            <a:pPr indent="-283464" lvl="0" marL="365760" rtl="0" algn="just">
              <a:lnSpc>
                <a:spcPct val="100000"/>
              </a:lnSpc>
              <a:spcBef>
                <a:spcPts val="600"/>
              </a:spcBef>
              <a:spcAft>
                <a:spcPts val="0"/>
              </a:spcAft>
              <a:buSzPts val="2560"/>
              <a:buChar char="⚫"/>
            </a:pPr>
            <a:r>
              <a:rPr lang="en-US"/>
              <a:t>Step 4: The appropriate orthogonal array for 4 factors and 3 levels is shown in the table. </a:t>
            </a:r>
            <a:r>
              <a:rPr baseline="30000" lang="en-US"/>
              <a:t> </a:t>
            </a:r>
            <a:r>
              <a:rPr lang="en-US"/>
              <a:t> </a:t>
            </a:r>
            <a:endParaRPr baseline="30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5"/>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Solution</a:t>
            </a:r>
            <a:endParaRPr/>
          </a:p>
        </p:txBody>
      </p:sp>
      <p:graphicFrame>
        <p:nvGraphicFramePr>
          <p:cNvPr id="178" name="Google Shape;178;p25"/>
          <p:cNvGraphicFramePr/>
          <p:nvPr/>
        </p:nvGraphicFramePr>
        <p:xfrm>
          <a:off x="1259632" y="1772816"/>
          <a:ext cx="3000000" cy="3000000"/>
        </p:xfrm>
        <a:graphic>
          <a:graphicData uri="http://schemas.openxmlformats.org/drawingml/2006/table">
            <a:tbl>
              <a:tblPr bandRow="1" firstRow="1">
                <a:noFill/>
                <a:tableStyleId>{473734B6-BA08-44A9-8CC6-E126BA42955F}</a:tableStyleId>
              </a:tblPr>
              <a:tblGrid>
                <a:gridCol w="1481775"/>
                <a:gridCol w="1481775"/>
                <a:gridCol w="1481775"/>
                <a:gridCol w="1481775"/>
                <a:gridCol w="1481775"/>
              </a:tblGrid>
              <a:tr h="370850">
                <a:tc>
                  <a:txBody>
                    <a:bodyPr/>
                    <a:lstStyle/>
                    <a:p>
                      <a:pPr indent="0" lvl="0" marL="0" marR="0" rtl="0" algn="l">
                        <a:spcBef>
                          <a:spcPts val="0"/>
                        </a:spcBef>
                        <a:spcAft>
                          <a:spcPts val="0"/>
                        </a:spcAft>
                        <a:buNone/>
                      </a:pPr>
                      <a:r>
                        <a:rPr lang="en-US" sz="1800" u="none" cap="none" strike="noStrike">
                          <a:latin typeface="Arial"/>
                          <a:ea typeface="Arial"/>
                          <a:cs typeface="Arial"/>
                          <a:sym typeface="Arial"/>
                        </a:rPr>
                        <a:t>Experiment No.</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Factor A</a:t>
                      </a:r>
                      <a:endParaRPr sz="1800">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Arial"/>
                        <a:buNone/>
                      </a:pPr>
                      <a:r>
                        <a:rPr lang="en-US" sz="1800">
                          <a:latin typeface="Arial"/>
                          <a:ea typeface="Arial"/>
                          <a:cs typeface="Arial"/>
                          <a:sym typeface="Arial"/>
                        </a:rPr>
                        <a:t>Factor B</a:t>
                      </a:r>
                      <a:endParaRPr/>
                    </a:p>
                    <a:p>
                      <a:pPr indent="0" lvl="0" marL="0" marR="0" rtl="0" algn="l">
                        <a:spcBef>
                          <a:spcPts val="0"/>
                        </a:spcBef>
                        <a:spcAft>
                          <a:spcPts val="0"/>
                        </a:spcAft>
                        <a:buNone/>
                      </a:pPr>
                      <a:r>
                        <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Factor C</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Factor D</a:t>
                      </a:r>
                      <a:endParaRPr sz="1800">
                        <a:latin typeface="Arial"/>
                        <a:ea typeface="Arial"/>
                        <a:cs typeface="Arial"/>
                        <a:sym typeface="Arial"/>
                      </a:endParaRPr>
                    </a:p>
                  </a:txBody>
                  <a:tcPr marT="45725" marB="45725" marR="91450" marL="91450"/>
                </a:tc>
              </a:tr>
              <a:tr h="370850">
                <a:tc>
                  <a:txBody>
                    <a:bodyPr/>
                    <a:lstStyle/>
                    <a:p>
                      <a:pPr indent="0" lvl="0" marL="0" marR="0" rtl="0" algn="l">
                        <a:spcBef>
                          <a:spcPts val="0"/>
                        </a:spcBef>
                        <a:spcAft>
                          <a:spcPts val="0"/>
                        </a:spcAft>
                        <a:buNone/>
                      </a:pPr>
                      <a:r>
                        <a:rPr lang="en-US" sz="1800">
                          <a:latin typeface="Arial"/>
                          <a:ea typeface="Arial"/>
                          <a:cs typeface="Arial"/>
                          <a:sym typeface="Arial"/>
                        </a:rPr>
                        <a:t>1</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1</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1</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1</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1</a:t>
                      </a:r>
                      <a:endParaRPr sz="1800">
                        <a:latin typeface="Arial"/>
                        <a:ea typeface="Arial"/>
                        <a:cs typeface="Arial"/>
                        <a:sym typeface="Arial"/>
                      </a:endParaRPr>
                    </a:p>
                  </a:txBody>
                  <a:tcPr marT="45725" marB="45725" marR="91450" marL="91450"/>
                </a:tc>
              </a:tr>
              <a:tr h="370850">
                <a:tc>
                  <a:txBody>
                    <a:bodyPr/>
                    <a:lstStyle/>
                    <a:p>
                      <a:pPr indent="0" lvl="0" marL="0" marR="0" rtl="0" algn="l">
                        <a:spcBef>
                          <a:spcPts val="0"/>
                        </a:spcBef>
                        <a:spcAft>
                          <a:spcPts val="0"/>
                        </a:spcAft>
                        <a:buNone/>
                      </a:pPr>
                      <a:r>
                        <a:rPr lang="en-US" sz="1800">
                          <a:latin typeface="Arial"/>
                          <a:ea typeface="Arial"/>
                          <a:cs typeface="Arial"/>
                          <a:sym typeface="Arial"/>
                        </a:rPr>
                        <a:t>2</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1</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2</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2</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2</a:t>
                      </a:r>
                      <a:endParaRPr sz="1800">
                        <a:latin typeface="Arial"/>
                        <a:ea typeface="Arial"/>
                        <a:cs typeface="Arial"/>
                        <a:sym typeface="Arial"/>
                      </a:endParaRPr>
                    </a:p>
                  </a:txBody>
                  <a:tcPr marT="45725" marB="45725" marR="91450" marL="91450"/>
                </a:tc>
              </a:tr>
              <a:tr h="370850">
                <a:tc>
                  <a:txBody>
                    <a:bodyPr/>
                    <a:lstStyle/>
                    <a:p>
                      <a:pPr indent="0" lvl="0" marL="0" marR="0" rtl="0" algn="l">
                        <a:spcBef>
                          <a:spcPts val="0"/>
                        </a:spcBef>
                        <a:spcAft>
                          <a:spcPts val="0"/>
                        </a:spcAft>
                        <a:buNone/>
                      </a:pPr>
                      <a:r>
                        <a:rPr lang="en-US" sz="1800">
                          <a:latin typeface="Arial"/>
                          <a:ea typeface="Arial"/>
                          <a:cs typeface="Arial"/>
                          <a:sym typeface="Arial"/>
                        </a:rPr>
                        <a:t>3</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1</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3</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3</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3</a:t>
                      </a:r>
                      <a:endParaRPr sz="1800">
                        <a:latin typeface="Arial"/>
                        <a:ea typeface="Arial"/>
                        <a:cs typeface="Arial"/>
                        <a:sym typeface="Arial"/>
                      </a:endParaRPr>
                    </a:p>
                  </a:txBody>
                  <a:tcPr marT="45725" marB="45725" marR="91450" marL="91450"/>
                </a:tc>
              </a:tr>
              <a:tr h="370850">
                <a:tc>
                  <a:txBody>
                    <a:bodyPr/>
                    <a:lstStyle/>
                    <a:p>
                      <a:pPr indent="0" lvl="0" marL="0" marR="0" rtl="0" algn="l">
                        <a:spcBef>
                          <a:spcPts val="0"/>
                        </a:spcBef>
                        <a:spcAft>
                          <a:spcPts val="0"/>
                        </a:spcAft>
                        <a:buNone/>
                      </a:pPr>
                      <a:r>
                        <a:rPr lang="en-US" sz="1800">
                          <a:latin typeface="Arial"/>
                          <a:ea typeface="Arial"/>
                          <a:cs typeface="Arial"/>
                          <a:sym typeface="Arial"/>
                        </a:rPr>
                        <a:t>4</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2</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1</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2</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3</a:t>
                      </a:r>
                      <a:endParaRPr sz="1800">
                        <a:latin typeface="Arial"/>
                        <a:ea typeface="Arial"/>
                        <a:cs typeface="Arial"/>
                        <a:sym typeface="Arial"/>
                      </a:endParaRPr>
                    </a:p>
                  </a:txBody>
                  <a:tcPr marT="45725" marB="45725" marR="91450" marL="91450"/>
                </a:tc>
              </a:tr>
              <a:tr h="370850">
                <a:tc>
                  <a:txBody>
                    <a:bodyPr/>
                    <a:lstStyle/>
                    <a:p>
                      <a:pPr indent="0" lvl="0" marL="0" marR="0" rtl="0" algn="l">
                        <a:spcBef>
                          <a:spcPts val="0"/>
                        </a:spcBef>
                        <a:spcAft>
                          <a:spcPts val="0"/>
                        </a:spcAft>
                        <a:buNone/>
                      </a:pPr>
                      <a:r>
                        <a:rPr lang="en-US" sz="1800">
                          <a:latin typeface="Arial"/>
                          <a:ea typeface="Arial"/>
                          <a:cs typeface="Arial"/>
                          <a:sym typeface="Arial"/>
                        </a:rPr>
                        <a:t>5</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2</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2</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3</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1</a:t>
                      </a:r>
                      <a:endParaRPr sz="1800">
                        <a:latin typeface="Arial"/>
                        <a:ea typeface="Arial"/>
                        <a:cs typeface="Arial"/>
                        <a:sym typeface="Arial"/>
                      </a:endParaRPr>
                    </a:p>
                  </a:txBody>
                  <a:tcPr marT="45725" marB="45725" marR="91450" marL="91450"/>
                </a:tc>
              </a:tr>
              <a:tr h="370850">
                <a:tc>
                  <a:txBody>
                    <a:bodyPr/>
                    <a:lstStyle/>
                    <a:p>
                      <a:pPr indent="0" lvl="0" marL="0" marR="0" rtl="0" algn="l">
                        <a:spcBef>
                          <a:spcPts val="0"/>
                        </a:spcBef>
                        <a:spcAft>
                          <a:spcPts val="0"/>
                        </a:spcAft>
                        <a:buNone/>
                      </a:pPr>
                      <a:r>
                        <a:rPr lang="en-US" sz="1800">
                          <a:latin typeface="Arial"/>
                          <a:ea typeface="Arial"/>
                          <a:cs typeface="Arial"/>
                          <a:sym typeface="Arial"/>
                        </a:rPr>
                        <a:t>6</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2</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3</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1</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2</a:t>
                      </a:r>
                      <a:endParaRPr sz="1800">
                        <a:latin typeface="Arial"/>
                        <a:ea typeface="Arial"/>
                        <a:cs typeface="Arial"/>
                        <a:sym typeface="Arial"/>
                      </a:endParaRPr>
                    </a:p>
                  </a:txBody>
                  <a:tcPr marT="45725" marB="45725" marR="91450" marL="91450"/>
                </a:tc>
              </a:tr>
              <a:tr h="370850">
                <a:tc>
                  <a:txBody>
                    <a:bodyPr/>
                    <a:lstStyle/>
                    <a:p>
                      <a:pPr indent="0" lvl="0" marL="0" marR="0" rtl="0" algn="l">
                        <a:spcBef>
                          <a:spcPts val="0"/>
                        </a:spcBef>
                        <a:spcAft>
                          <a:spcPts val="0"/>
                        </a:spcAft>
                        <a:buNone/>
                      </a:pPr>
                      <a:r>
                        <a:rPr lang="en-US" sz="1800">
                          <a:latin typeface="Arial"/>
                          <a:ea typeface="Arial"/>
                          <a:cs typeface="Arial"/>
                          <a:sym typeface="Arial"/>
                        </a:rPr>
                        <a:t>7</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3</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1</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3</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2</a:t>
                      </a:r>
                      <a:endParaRPr sz="1800">
                        <a:latin typeface="Arial"/>
                        <a:ea typeface="Arial"/>
                        <a:cs typeface="Arial"/>
                        <a:sym typeface="Arial"/>
                      </a:endParaRPr>
                    </a:p>
                  </a:txBody>
                  <a:tcPr marT="45725" marB="45725" marR="91450" marL="91450"/>
                </a:tc>
              </a:tr>
              <a:tr h="370850">
                <a:tc>
                  <a:txBody>
                    <a:bodyPr/>
                    <a:lstStyle/>
                    <a:p>
                      <a:pPr indent="0" lvl="0" marL="0" marR="0" rtl="0" algn="l">
                        <a:spcBef>
                          <a:spcPts val="0"/>
                        </a:spcBef>
                        <a:spcAft>
                          <a:spcPts val="0"/>
                        </a:spcAft>
                        <a:buNone/>
                      </a:pPr>
                      <a:r>
                        <a:rPr lang="en-US" sz="1800">
                          <a:latin typeface="Arial"/>
                          <a:ea typeface="Arial"/>
                          <a:cs typeface="Arial"/>
                          <a:sym typeface="Arial"/>
                        </a:rPr>
                        <a:t>8</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3</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2</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1</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3</a:t>
                      </a:r>
                      <a:endParaRPr sz="1800">
                        <a:latin typeface="Arial"/>
                        <a:ea typeface="Arial"/>
                        <a:cs typeface="Arial"/>
                        <a:sym typeface="Arial"/>
                      </a:endParaRPr>
                    </a:p>
                  </a:txBody>
                  <a:tcPr marT="45725" marB="45725" marR="91450" marL="91450"/>
                </a:tc>
              </a:tr>
              <a:tr h="370850">
                <a:tc>
                  <a:txBody>
                    <a:bodyPr/>
                    <a:lstStyle/>
                    <a:p>
                      <a:pPr indent="0" lvl="0" marL="0" marR="0" rtl="0" algn="l">
                        <a:spcBef>
                          <a:spcPts val="0"/>
                        </a:spcBef>
                        <a:spcAft>
                          <a:spcPts val="0"/>
                        </a:spcAft>
                        <a:buNone/>
                      </a:pPr>
                      <a:r>
                        <a:rPr lang="en-US" sz="1800">
                          <a:latin typeface="Arial"/>
                          <a:ea typeface="Arial"/>
                          <a:cs typeface="Arial"/>
                          <a:sym typeface="Arial"/>
                        </a:rPr>
                        <a:t>9</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3</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3</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2</a:t>
                      </a:r>
                      <a:endParaRPr sz="18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1</a:t>
                      </a:r>
                      <a:endParaRPr sz="1800">
                        <a:latin typeface="Arial"/>
                        <a:ea typeface="Arial"/>
                        <a:cs typeface="Arial"/>
                        <a:sym typeface="Arial"/>
                      </a:endParaRPr>
                    </a:p>
                  </a:txBody>
                  <a:tcPr marT="45725" marB="45725" marR="91450" marL="91450"/>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6"/>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Solution</a:t>
            </a:r>
            <a:endParaRPr/>
          </a:p>
        </p:txBody>
      </p:sp>
      <p:sp>
        <p:nvSpPr>
          <p:cNvPr id="184" name="Google Shape;184;p26"/>
          <p:cNvSpPr txBox="1"/>
          <p:nvPr>
            <p:ph idx="1" type="body"/>
          </p:nvPr>
        </p:nvSpPr>
        <p:spPr>
          <a:xfrm>
            <a:off x="965200" y="1340768"/>
            <a:ext cx="8178800" cy="417195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lang="en-US" sz="2800"/>
              <a:t>Step 5: Now, map the table with our requirements.</a:t>
            </a:r>
            <a:endParaRPr/>
          </a:p>
          <a:p>
            <a:pPr indent="-283464" lvl="0" marL="365760" rtl="0" algn="just">
              <a:lnSpc>
                <a:spcPct val="100000"/>
              </a:lnSpc>
              <a:spcBef>
                <a:spcPts val="600"/>
              </a:spcBef>
              <a:spcAft>
                <a:spcPts val="0"/>
              </a:spcAft>
              <a:buSzPts val="2240"/>
              <a:buChar char="⚫"/>
            </a:pPr>
            <a:r>
              <a:rPr lang="en-US" sz="2800">
                <a:latin typeface="Arial"/>
                <a:ea typeface="Arial"/>
                <a:cs typeface="Arial"/>
                <a:sym typeface="Arial"/>
              </a:rPr>
              <a:t>1</a:t>
            </a:r>
            <a:r>
              <a:rPr lang="en-US" sz="2800"/>
              <a:t> will  represent “Shown” value.</a:t>
            </a:r>
            <a:endParaRPr/>
          </a:p>
          <a:p>
            <a:pPr indent="-283464" lvl="0" marL="365760" rtl="0" algn="just">
              <a:lnSpc>
                <a:spcPct val="100000"/>
              </a:lnSpc>
              <a:spcBef>
                <a:spcPts val="600"/>
              </a:spcBef>
              <a:spcAft>
                <a:spcPts val="0"/>
              </a:spcAft>
              <a:buSzPts val="2240"/>
              <a:buChar char="⚫"/>
            </a:pPr>
            <a:r>
              <a:rPr lang="en-US" sz="2800"/>
              <a:t>2 will represent “Hidden” value.</a:t>
            </a:r>
            <a:endParaRPr/>
          </a:p>
          <a:p>
            <a:pPr indent="-283464" lvl="0" marL="365760" rtl="0" algn="just">
              <a:lnSpc>
                <a:spcPct val="100000"/>
              </a:lnSpc>
              <a:spcBef>
                <a:spcPts val="600"/>
              </a:spcBef>
              <a:spcAft>
                <a:spcPts val="0"/>
              </a:spcAft>
              <a:buSzPts val="2240"/>
              <a:buChar char="⚫"/>
            </a:pPr>
            <a:r>
              <a:rPr lang="en-US" sz="2800"/>
              <a:t>3 will represent “Error Message” value.</a:t>
            </a:r>
            <a:endParaRPr/>
          </a:p>
          <a:p>
            <a:pPr indent="-283464" lvl="0" marL="365760" rtl="0" algn="just">
              <a:lnSpc>
                <a:spcPct val="100000"/>
              </a:lnSpc>
              <a:spcBef>
                <a:spcPts val="600"/>
              </a:spcBef>
              <a:spcAft>
                <a:spcPts val="0"/>
              </a:spcAft>
              <a:buSzPts val="2240"/>
              <a:buChar char="⚫"/>
            </a:pPr>
            <a:r>
              <a:rPr lang="en-US" sz="2800"/>
              <a:t>Factor A will represent “Abstract” section.</a:t>
            </a:r>
            <a:endParaRPr/>
          </a:p>
          <a:p>
            <a:pPr indent="-283464" lvl="0" marL="365760" rtl="0" algn="just">
              <a:lnSpc>
                <a:spcPct val="100000"/>
              </a:lnSpc>
              <a:spcBef>
                <a:spcPts val="600"/>
              </a:spcBef>
              <a:spcAft>
                <a:spcPts val="0"/>
              </a:spcAft>
              <a:buSzPts val="2240"/>
              <a:buChar char="⚫"/>
            </a:pPr>
            <a:r>
              <a:rPr lang="en-US" sz="2800"/>
              <a:t>Factor B will represent “Related Work” section.</a:t>
            </a:r>
            <a:endParaRPr/>
          </a:p>
          <a:p>
            <a:pPr indent="-283464" lvl="0" marL="365760" rtl="0" algn="just">
              <a:lnSpc>
                <a:spcPct val="100000"/>
              </a:lnSpc>
              <a:spcBef>
                <a:spcPts val="600"/>
              </a:spcBef>
              <a:spcAft>
                <a:spcPts val="0"/>
              </a:spcAft>
              <a:buSzPts val="2240"/>
              <a:buChar char="⚫"/>
            </a:pPr>
            <a:r>
              <a:rPr lang="en-US" sz="2800"/>
              <a:t>Factor C will represent “Proposed Work” section.</a:t>
            </a:r>
            <a:endParaRPr/>
          </a:p>
          <a:p>
            <a:pPr indent="-141223" lvl="0" marL="365760" rtl="0" algn="just">
              <a:lnSpc>
                <a:spcPct val="100000"/>
              </a:lnSpc>
              <a:spcBef>
                <a:spcPts val="600"/>
              </a:spcBef>
              <a:spcAft>
                <a:spcPts val="0"/>
              </a:spcAft>
              <a:buSzPts val="2240"/>
              <a:buNone/>
            </a:pPr>
            <a:r>
              <a:t/>
            </a:r>
            <a:endParaRPr sz="2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7"/>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Solution</a:t>
            </a:r>
            <a:endParaRPr/>
          </a:p>
        </p:txBody>
      </p:sp>
      <p:sp>
        <p:nvSpPr>
          <p:cNvPr id="190" name="Google Shape;190;p27"/>
          <p:cNvSpPr txBox="1"/>
          <p:nvPr>
            <p:ph idx="1" type="body"/>
          </p:nvPr>
        </p:nvSpPr>
        <p:spPr>
          <a:xfrm>
            <a:off x="1331640" y="1484784"/>
            <a:ext cx="7498080"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560"/>
              <a:buChar char="⚫"/>
            </a:pPr>
            <a:r>
              <a:rPr lang="en-US"/>
              <a:t>Factor D will represent “Conclusion” section.</a:t>
            </a:r>
            <a:endParaRPr/>
          </a:p>
          <a:p>
            <a:pPr indent="-283464" lvl="0" marL="365760" rtl="0" algn="just">
              <a:lnSpc>
                <a:spcPct val="100000"/>
              </a:lnSpc>
              <a:spcBef>
                <a:spcPts val="600"/>
              </a:spcBef>
              <a:spcAft>
                <a:spcPts val="0"/>
              </a:spcAft>
              <a:buSzPts val="2560"/>
              <a:buChar char="⚫"/>
            </a:pPr>
            <a:r>
              <a:rPr lang="en-US"/>
              <a:t>Experiment will represent “Test Case #”.</a:t>
            </a:r>
            <a:endParaRPr/>
          </a:p>
          <a:p>
            <a:pPr indent="-283464" lvl="0" marL="365760" rtl="0" algn="just">
              <a:lnSpc>
                <a:spcPct val="100000"/>
              </a:lnSpc>
              <a:spcBef>
                <a:spcPts val="600"/>
              </a:spcBef>
              <a:spcAft>
                <a:spcPts val="0"/>
              </a:spcAft>
              <a:buSzPts val="2560"/>
              <a:buChar char="⚫"/>
            </a:pPr>
            <a:r>
              <a:rPr lang="en-US"/>
              <a:t>Step 6: After mapping, the table will look like: </a:t>
            </a:r>
            <a:endParaRPr/>
          </a:p>
          <a:p>
            <a:pPr indent="-120903" lvl="0" marL="365760" rtl="0" algn="just">
              <a:lnSpc>
                <a:spcPct val="100000"/>
              </a:lnSpc>
              <a:spcBef>
                <a:spcPts val="600"/>
              </a:spcBef>
              <a:spcAft>
                <a:spcPts val="0"/>
              </a:spcAft>
              <a:buSzPts val="256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8"/>
          <p:cNvSpPr txBox="1"/>
          <p:nvPr>
            <p:ph type="title"/>
          </p:nvPr>
        </p:nvSpPr>
        <p:spPr>
          <a:xfrm>
            <a:off x="1115616" y="0"/>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3600"/>
              <a:buFont typeface="Gill Sans"/>
              <a:buNone/>
            </a:pPr>
            <a:r>
              <a:rPr lang="en-US" sz="3600"/>
              <a:t>Solution</a:t>
            </a:r>
            <a:endParaRPr sz="3600"/>
          </a:p>
        </p:txBody>
      </p:sp>
      <p:graphicFrame>
        <p:nvGraphicFramePr>
          <p:cNvPr id="196" name="Google Shape;196;p28"/>
          <p:cNvGraphicFramePr/>
          <p:nvPr/>
        </p:nvGraphicFramePr>
        <p:xfrm>
          <a:off x="1043608" y="998888"/>
          <a:ext cx="3000000" cy="3000000"/>
        </p:xfrm>
        <a:graphic>
          <a:graphicData uri="http://schemas.openxmlformats.org/drawingml/2006/table">
            <a:tbl>
              <a:tblPr bandRow="1" firstRow="1">
                <a:noFill/>
                <a:tableStyleId>{473734B6-BA08-44A9-8CC6-E126BA42955F}</a:tableStyleId>
              </a:tblPr>
              <a:tblGrid>
                <a:gridCol w="1512225"/>
                <a:gridCol w="1656125"/>
                <a:gridCol w="1584175"/>
                <a:gridCol w="1584175"/>
                <a:gridCol w="1584175"/>
              </a:tblGrid>
              <a:tr h="619475">
                <a:tc>
                  <a:txBody>
                    <a:bodyPr/>
                    <a:lstStyle/>
                    <a:p>
                      <a:pPr indent="0" lvl="0" marL="0" marR="0" rtl="0" algn="l">
                        <a:spcBef>
                          <a:spcPts val="0"/>
                        </a:spcBef>
                        <a:spcAft>
                          <a:spcPts val="0"/>
                        </a:spcAft>
                        <a:buNone/>
                      </a:pPr>
                      <a:r>
                        <a:rPr lang="en-US" sz="1600">
                          <a:latin typeface="Arial"/>
                          <a:ea typeface="Arial"/>
                          <a:cs typeface="Arial"/>
                          <a:sym typeface="Arial"/>
                        </a:rPr>
                        <a:t>Test Case</a:t>
                      </a:r>
                      <a:endParaRPr sz="16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600">
                          <a:latin typeface="Arial"/>
                          <a:ea typeface="Arial"/>
                          <a:cs typeface="Arial"/>
                          <a:sym typeface="Arial"/>
                        </a:rPr>
                        <a:t>Abstract </a:t>
                      </a:r>
                      <a:endParaRPr sz="16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600">
                          <a:latin typeface="Arial"/>
                          <a:ea typeface="Arial"/>
                          <a:cs typeface="Arial"/>
                          <a:sym typeface="Arial"/>
                        </a:rPr>
                        <a:t>Related Work</a:t>
                      </a:r>
                      <a:endParaRPr sz="16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600">
                          <a:latin typeface="Arial"/>
                          <a:ea typeface="Arial"/>
                          <a:cs typeface="Arial"/>
                          <a:sym typeface="Arial"/>
                        </a:rPr>
                        <a:t>Proposed</a:t>
                      </a:r>
                      <a:r>
                        <a:rPr lang="en-US" sz="1600">
                          <a:latin typeface="Arial"/>
                          <a:ea typeface="Arial"/>
                          <a:cs typeface="Arial"/>
                          <a:sym typeface="Arial"/>
                        </a:rPr>
                        <a:t> work</a:t>
                      </a:r>
                      <a:endParaRPr sz="16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600">
                          <a:latin typeface="Arial"/>
                          <a:ea typeface="Arial"/>
                          <a:cs typeface="Arial"/>
                          <a:sym typeface="Arial"/>
                        </a:rPr>
                        <a:t>Conclusion</a:t>
                      </a:r>
                      <a:endParaRPr sz="1600">
                        <a:latin typeface="Arial"/>
                        <a:ea typeface="Arial"/>
                        <a:cs typeface="Arial"/>
                        <a:sym typeface="Arial"/>
                      </a:endParaRPr>
                    </a:p>
                  </a:txBody>
                  <a:tcPr marT="45725" marB="45725" marR="91450" marL="91450"/>
                </a:tc>
              </a:tr>
              <a:tr h="357350">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Test Case 1</a:t>
                      </a:r>
                      <a:endParaRPr sz="16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600">
                          <a:latin typeface="Arial"/>
                          <a:ea typeface="Arial"/>
                          <a:cs typeface="Arial"/>
                          <a:sym typeface="Arial"/>
                        </a:rPr>
                        <a:t>Shown </a:t>
                      </a:r>
                      <a:endParaRPr sz="1600">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Shown </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Shown </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Shown </a:t>
                      </a:r>
                      <a:endParaRPr/>
                    </a:p>
                  </a:txBody>
                  <a:tcPr marT="45725" marB="45725" marR="91450" marL="91450"/>
                </a:tc>
              </a:tr>
              <a:tr h="357350">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Test Case 2</a:t>
                      </a:r>
                      <a:endParaRPr sz="1600">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Shown </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Hidden</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Hidden</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Hidden</a:t>
                      </a:r>
                      <a:endParaRPr/>
                    </a:p>
                  </a:txBody>
                  <a:tcPr marT="45725" marB="45725" marR="91450" marL="91450"/>
                </a:tc>
              </a:tr>
              <a:tr h="619475">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Test Case 3</a:t>
                      </a:r>
                      <a:endParaRPr sz="1600">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Shown </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Error</a:t>
                      </a:r>
                      <a:r>
                        <a:rPr lang="en-US" sz="1600">
                          <a:latin typeface="Arial"/>
                          <a:ea typeface="Arial"/>
                          <a:cs typeface="Arial"/>
                          <a:sym typeface="Arial"/>
                        </a:rPr>
                        <a:t> </a:t>
                      </a:r>
                      <a:r>
                        <a:rPr lang="en-US" sz="1600">
                          <a:latin typeface="Arial"/>
                          <a:ea typeface="Arial"/>
                          <a:cs typeface="Arial"/>
                          <a:sym typeface="Arial"/>
                        </a:rPr>
                        <a:t>Message</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Error</a:t>
                      </a:r>
                      <a:r>
                        <a:rPr lang="en-US" sz="1600">
                          <a:latin typeface="Arial"/>
                          <a:ea typeface="Arial"/>
                          <a:cs typeface="Arial"/>
                          <a:sym typeface="Arial"/>
                        </a:rPr>
                        <a:t> </a:t>
                      </a:r>
                      <a:r>
                        <a:rPr lang="en-US" sz="1600">
                          <a:latin typeface="Arial"/>
                          <a:ea typeface="Arial"/>
                          <a:cs typeface="Arial"/>
                          <a:sym typeface="Arial"/>
                        </a:rPr>
                        <a:t>Message</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Error</a:t>
                      </a:r>
                      <a:r>
                        <a:rPr lang="en-US" sz="1600">
                          <a:latin typeface="Arial"/>
                          <a:ea typeface="Arial"/>
                          <a:cs typeface="Arial"/>
                          <a:sym typeface="Arial"/>
                        </a:rPr>
                        <a:t> </a:t>
                      </a:r>
                      <a:r>
                        <a:rPr lang="en-US" sz="1600">
                          <a:latin typeface="Arial"/>
                          <a:ea typeface="Arial"/>
                          <a:cs typeface="Arial"/>
                          <a:sym typeface="Arial"/>
                        </a:rPr>
                        <a:t>Message</a:t>
                      </a:r>
                      <a:endParaRPr/>
                    </a:p>
                  </a:txBody>
                  <a:tcPr marT="45725" marB="45725" marR="91450" marL="91450"/>
                </a:tc>
              </a:tr>
              <a:tr h="619475">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Test Case 4</a:t>
                      </a:r>
                      <a:endParaRPr sz="16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600">
                          <a:latin typeface="Arial"/>
                          <a:ea typeface="Arial"/>
                          <a:cs typeface="Arial"/>
                          <a:sym typeface="Arial"/>
                        </a:rPr>
                        <a:t>Hidden</a:t>
                      </a:r>
                      <a:endParaRPr sz="1600">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Shown </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Hidden</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Error</a:t>
                      </a:r>
                      <a:r>
                        <a:rPr lang="en-US" sz="1600">
                          <a:latin typeface="Arial"/>
                          <a:ea typeface="Arial"/>
                          <a:cs typeface="Arial"/>
                          <a:sym typeface="Arial"/>
                        </a:rPr>
                        <a:t> </a:t>
                      </a:r>
                      <a:r>
                        <a:rPr lang="en-US" sz="1600">
                          <a:latin typeface="Arial"/>
                          <a:ea typeface="Arial"/>
                          <a:cs typeface="Arial"/>
                          <a:sym typeface="Arial"/>
                        </a:rPr>
                        <a:t>Message</a:t>
                      </a:r>
                      <a:endParaRPr/>
                    </a:p>
                  </a:txBody>
                  <a:tcPr marT="45725" marB="45725" marR="91450" marL="91450"/>
                </a:tc>
              </a:tr>
              <a:tr h="619475">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Test Case</a:t>
                      </a:r>
                      <a:r>
                        <a:rPr lang="en-US" sz="1600">
                          <a:latin typeface="Arial"/>
                          <a:ea typeface="Arial"/>
                          <a:cs typeface="Arial"/>
                          <a:sym typeface="Arial"/>
                        </a:rPr>
                        <a:t> 5</a:t>
                      </a:r>
                      <a:endParaRPr sz="1600">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Hidden</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Hidden</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Error</a:t>
                      </a:r>
                      <a:r>
                        <a:rPr lang="en-US" sz="1600">
                          <a:latin typeface="Arial"/>
                          <a:ea typeface="Arial"/>
                          <a:cs typeface="Arial"/>
                          <a:sym typeface="Arial"/>
                        </a:rPr>
                        <a:t> </a:t>
                      </a:r>
                      <a:r>
                        <a:rPr lang="en-US" sz="1600">
                          <a:latin typeface="Arial"/>
                          <a:ea typeface="Arial"/>
                          <a:cs typeface="Arial"/>
                          <a:sym typeface="Arial"/>
                        </a:rPr>
                        <a:t>Message</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Shown </a:t>
                      </a:r>
                      <a:endParaRPr/>
                    </a:p>
                  </a:txBody>
                  <a:tcPr marT="45725" marB="45725" marR="91450" marL="91450"/>
                </a:tc>
              </a:tr>
              <a:tr h="619475">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Test Case</a:t>
                      </a:r>
                      <a:r>
                        <a:rPr lang="en-US" sz="1600">
                          <a:latin typeface="Arial"/>
                          <a:ea typeface="Arial"/>
                          <a:cs typeface="Arial"/>
                          <a:sym typeface="Arial"/>
                        </a:rPr>
                        <a:t> 6</a:t>
                      </a:r>
                      <a:endParaRPr sz="1600">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Hidden</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Error</a:t>
                      </a:r>
                      <a:r>
                        <a:rPr lang="en-US" sz="1600">
                          <a:latin typeface="Arial"/>
                          <a:ea typeface="Arial"/>
                          <a:cs typeface="Arial"/>
                          <a:sym typeface="Arial"/>
                        </a:rPr>
                        <a:t> </a:t>
                      </a:r>
                      <a:r>
                        <a:rPr lang="en-US" sz="1600">
                          <a:latin typeface="Arial"/>
                          <a:ea typeface="Arial"/>
                          <a:cs typeface="Arial"/>
                          <a:sym typeface="Arial"/>
                        </a:rPr>
                        <a:t>Message</a:t>
                      </a:r>
                      <a:endParaRPr/>
                    </a:p>
                  </a:txBody>
                  <a:tcPr marT="45725" marB="45725" marR="91450" marL="91450"/>
                </a:tc>
                <a:tc>
                  <a:txBody>
                    <a:bodyPr/>
                    <a:lstStyle/>
                    <a:p>
                      <a:pPr indent="0" lvl="0" marL="0" marR="0" rtl="0" algn="l">
                        <a:spcBef>
                          <a:spcPts val="0"/>
                        </a:spcBef>
                        <a:spcAft>
                          <a:spcPts val="0"/>
                        </a:spcAft>
                        <a:buNone/>
                      </a:pPr>
                      <a:r>
                        <a:rPr lang="en-US" sz="1600">
                          <a:latin typeface="Arial"/>
                          <a:ea typeface="Arial"/>
                          <a:cs typeface="Arial"/>
                          <a:sym typeface="Arial"/>
                        </a:rPr>
                        <a:t>Shown</a:t>
                      </a:r>
                      <a:endParaRPr sz="1600">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Hidden</a:t>
                      </a:r>
                      <a:endParaRPr/>
                    </a:p>
                  </a:txBody>
                  <a:tcPr marT="45725" marB="45725" marR="91450" marL="91450"/>
                </a:tc>
              </a:tr>
              <a:tr h="619475">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Test Case 7</a:t>
                      </a:r>
                      <a:endParaRPr sz="16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600">
                          <a:latin typeface="Arial"/>
                          <a:ea typeface="Arial"/>
                          <a:cs typeface="Arial"/>
                          <a:sym typeface="Arial"/>
                        </a:rPr>
                        <a:t>Error</a:t>
                      </a:r>
                      <a:r>
                        <a:rPr lang="en-US" sz="1600">
                          <a:latin typeface="Arial"/>
                          <a:ea typeface="Arial"/>
                          <a:cs typeface="Arial"/>
                          <a:sym typeface="Arial"/>
                        </a:rPr>
                        <a:t> </a:t>
                      </a:r>
                      <a:r>
                        <a:rPr lang="en-US" sz="1600">
                          <a:latin typeface="Arial"/>
                          <a:ea typeface="Arial"/>
                          <a:cs typeface="Arial"/>
                          <a:sym typeface="Arial"/>
                        </a:rPr>
                        <a:t>Message</a:t>
                      </a:r>
                      <a:endParaRPr sz="1600">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Shown </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Error</a:t>
                      </a:r>
                      <a:r>
                        <a:rPr lang="en-US" sz="1600">
                          <a:latin typeface="Arial"/>
                          <a:ea typeface="Arial"/>
                          <a:cs typeface="Arial"/>
                          <a:sym typeface="Arial"/>
                        </a:rPr>
                        <a:t> </a:t>
                      </a:r>
                      <a:r>
                        <a:rPr lang="en-US" sz="1600">
                          <a:latin typeface="Arial"/>
                          <a:ea typeface="Arial"/>
                          <a:cs typeface="Arial"/>
                          <a:sym typeface="Arial"/>
                        </a:rPr>
                        <a:t>Message</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Hidden</a:t>
                      </a:r>
                      <a:endParaRPr/>
                    </a:p>
                  </a:txBody>
                  <a:tcPr marT="45725" marB="45725" marR="91450" marL="91450"/>
                </a:tc>
              </a:tr>
              <a:tr h="619475">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Test Case</a:t>
                      </a:r>
                      <a:r>
                        <a:rPr lang="en-US" sz="1600">
                          <a:latin typeface="Arial"/>
                          <a:ea typeface="Arial"/>
                          <a:cs typeface="Arial"/>
                          <a:sym typeface="Arial"/>
                        </a:rPr>
                        <a:t> 8</a:t>
                      </a:r>
                      <a:endParaRPr sz="1600">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Error</a:t>
                      </a:r>
                      <a:r>
                        <a:rPr lang="en-US" sz="1600">
                          <a:latin typeface="Arial"/>
                          <a:ea typeface="Arial"/>
                          <a:cs typeface="Arial"/>
                          <a:sym typeface="Arial"/>
                        </a:rPr>
                        <a:t> </a:t>
                      </a:r>
                      <a:r>
                        <a:rPr lang="en-US" sz="1600">
                          <a:latin typeface="Arial"/>
                          <a:ea typeface="Arial"/>
                          <a:cs typeface="Arial"/>
                          <a:sym typeface="Arial"/>
                        </a:rPr>
                        <a:t>Message</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Hidden</a:t>
                      </a:r>
                      <a:endParaRPr/>
                    </a:p>
                  </a:txBody>
                  <a:tcPr marT="45725" marB="45725" marR="91450" marL="91450"/>
                </a:tc>
                <a:tc>
                  <a:txBody>
                    <a:bodyPr/>
                    <a:lstStyle/>
                    <a:p>
                      <a:pPr indent="0" lvl="0" marL="0" marR="0" rtl="0" algn="l">
                        <a:spcBef>
                          <a:spcPts val="0"/>
                        </a:spcBef>
                        <a:spcAft>
                          <a:spcPts val="0"/>
                        </a:spcAft>
                        <a:buNone/>
                      </a:pPr>
                      <a:r>
                        <a:rPr lang="en-US" sz="1600">
                          <a:latin typeface="Arial"/>
                          <a:ea typeface="Arial"/>
                          <a:cs typeface="Arial"/>
                          <a:sym typeface="Arial"/>
                        </a:rPr>
                        <a:t>Shown</a:t>
                      </a:r>
                      <a:endParaRPr sz="1600">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Error</a:t>
                      </a:r>
                      <a:r>
                        <a:rPr lang="en-US" sz="1600">
                          <a:latin typeface="Arial"/>
                          <a:ea typeface="Arial"/>
                          <a:cs typeface="Arial"/>
                          <a:sym typeface="Arial"/>
                        </a:rPr>
                        <a:t> </a:t>
                      </a:r>
                      <a:r>
                        <a:rPr lang="en-US" sz="1600">
                          <a:latin typeface="Arial"/>
                          <a:ea typeface="Arial"/>
                          <a:cs typeface="Arial"/>
                          <a:sym typeface="Arial"/>
                        </a:rPr>
                        <a:t>Message</a:t>
                      </a:r>
                      <a:endParaRPr/>
                    </a:p>
                  </a:txBody>
                  <a:tcPr marT="45725" marB="45725" marR="91450" marL="91450"/>
                </a:tc>
              </a:tr>
              <a:tr h="619475">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Test Case</a:t>
                      </a:r>
                      <a:r>
                        <a:rPr lang="en-US" sz="1600">
                          <a:latin typeface="Arial"/>
                          <a:ea typeface="Arial"/>
                          <a:cs typeface="Arial"/>
                          <a:sym typeface="Arial"/>
                        </a:rPr>
                        <a:t> 9</a:t>
                      </a:r>
                      <a:endParaRPr sz="1600">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Error</a:t>
                      </a:r>
                      <a:r>
                        <a:rPr lang="en-US" sz="1600">
                          <a:latin typeface="Arial"/>
                          <a:ea typeface="Arial"/>
                          <a:cs typeface="Arial"/>
                          <a:sym typeface="Arial"/>
                        </a:rPr>
                        <a:t> </a:t>
                      </a:r>
                      <a:r>
                        <a:rPr lang="en-US" sz="1600">
                          <a:latin typeface="Arial"/>
                          <a:ea typeface="Arial"/>
                          <a:cs typeface="Arial"/>
                          <a:sym typeface="Arial"/>
                        </a:rPr>
                        <a:t>Message</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Error</a:t>
                      </a:r>
                      <a:r>
                        <a:rPr lang="en-US" sz="1600">
                          <a:latin typeface="Arial"/>
                          <a:ea typeface="Arial"/>
                          <a:cs typeface="Arial"/>
                          <a:sym typeface="Arial"/>
                        </a:rPr>
                        <a:t> </a:t>
                      </a:r>
                      <a:r>
                        <a:rPr lang="en-US" sz="1600">
                          <a:latin typeface="Arial"/>
                          <a:ea typeface="Arial"/>
                          <a:cs typeface="Arial"/>
                          <a:sym typeface="Arial"/>
                        </a:rPr>
                        <a:t>Message</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Hidden</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a:latin typeface="Arial"/>
                          <a:ea typeface="Arial"/>
                          <a:cs typeface="Arial"/>
                          <a:sym typeface="Arial"/>
                        </a:rPr>
                        <a:t>Shown </a:t>
                      </a:r>
                      <a:endParaRPr/>
                    </a:p>
                  </a:txBody>
                  <a:tcPr marT="45725" marB="45725" marR="91450" marL="91450"/>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9"/>
          <p:cNvSpPr txBox="1"/>
          <p:nvPr>
            <p:ph type="title"/>
          </p:nvPr>
        </p:nvSpPr>
        <p:spPr>
          <a:xfrm>
            <a:off x="971600" y="30887"/>
            <a:ext cx="7886700" cy="522514"/>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562214"/>
              </a:buClr>
              <a:buSzPct val="100000"/>
              <a:buFont typeface="Gill Sans"/>
              <a:buNone/>
            </a:pPr>
            <a:r>
              <a:rPr lang="en-US"/>
              <a:t>Positive Testing</a:t>
            </a:r>
            <a:endParaRPr/>
          </a:p>
        </p:txBody>
      </p:sp>
      <p:sp>
        <p:nvSpPr>
          <p:cNvPr id="202" name="Google Shape;202;p29"/>
          <p:cNvSpPr txBox="1"/>
          <p:nvPr>
            <p:ph idx="1" type="body"/>
          </p:nvPr>
        </p:nvSpPr>
        <p:spPr>
          <a:xfrm>
            <a:off x="827584" y="548680"/>
            <a:ext cx="7886700" cy="6113417"/>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560"/>
              <a:buChar char="⚫"/>
            </a:pPr>
            <a:r>
              <a:rPr lang="en-US"/>
              <a:t>Positive testing tries to prove that a given product does what it is supposed to do.</a:t>
            </a:r>
            <a:endParaRPr/>
          </a:p>
          <a:p>
            <a:pPr indent="-283464" lvl="0" marL="365760" rtl="0" algn="just">
              <a:lnSpc>
                <a:spcPct val="100000"/>
              </a:lnSpc>
              <a:spcBef>
                <a:spcPts val="600"/>
              </a:spcBef>
              <a:spcAft>
                <a:spcPts val="0"/>
              </a:spcAft>
              <a:buSzPts val="2560"/>
              <a:buChar char="⚫"/>
            </a:pPr>
            <a:r>
              <a:rPr lang="en-US"/>
              <a:t>Positive Testing is testing process where the system is validated against the valid input data. </a:t>
            </a:r>
            <a:endParaRPr/>
          </a:p>
          <a:p>
            <a:pPr indent="-283464" lvl="0" marL="365760" rtl="0" algn="just">
              <a:lnSpc>
                <a:spcPct val="100000"/>
              </a:lnSpc>
              <a:spcBef>
                <a:spcPts val="600"/>
              </a:spcBef>
              <a:spcAft>
                <a:spcPts val="0"/>
              </a:spcAft>
              <a:buSzPts val="2560"/>
              <a:buChar char="⚫"/>
            </a:pPr>
            <a:r>
              <a:rPr lang="en-US"/>
              <a:t>In this testing tester always check for only valid set of values and check if an application behaves as expected with its expected inputs.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0"/>
          <p:cNvSpPr txBox="1"/>
          <p:nvPr>
            <p:ph type="title"/>
          </p:nvPr>
        </p:nvSpPr>
        <p:spPr>
          <a:xfrm>
            <a:off x="1259632" y="0"/>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Positive Testing     cont …</a:t>
            </a:r>
            <a:endParaRPr/>
          </a:p>
        </p:txBody>
      </p:sp>
      <p:sp>
        <p:nvSpPr>
          <p:cNvPr id="208" name="Google Shape;208;p30"/>
          <p:cNvSpPr txBox="1"/>
          <p:nvPr>
            <p:ph idx="1" type="body"/>
          </p:nvPr>
        </p:nvSpPr>
        <p:spPr>
          <a:xfrm>
            <a:off x="1331640" y="1196752"/>
            <a:ext cx="7498080" cy="4800600"/>
          </a:xfrm>
          <a:prstGeom prst="rect">
            <a:avLst/>
          </a:prstGeom>
          <a:noFill/>
          <a:ln>
            <a:noFill/>
          </a:ln>
        </p:spPr>
        <p:txBody>
          <a:bodyPr anchorCtr="0" anchor="t" bIns="45700" lIns="91425" spcFirstLastPara="1" rIns="91425" wrap="square" tIns="45700">
            <a:normAutofit fontScale="92500" lnSpcReduction="20000"/>
          </a:bodyPr>
          <a:lstStyle/>
          <a:p>
            <a:pPr indent="-283464" lvl="0" marL="365760" rtl="0" algn="just">
              <a:lnSpc>
                <a:spcPct val="100000"/>
              </a:lnSpc>
              <a:spcBef>
                <a:spcPts val="0"/>
              </a:spcBef>
              <a:spcAft>
                <a:spcPts val="0"/>
              </a:spcAft>
              <a:buSzPct val="80000"/>
              <a:buChar char="⚫"/>
            </a:pPr>
            <a:r>
              <a:rPr lang="en-US"/>
              <a:t>The main intention of this testing is to check whether software application not showing error when not supposed to and showing error when supposed to. </a:t>
            </a:r>
            <a:endParaRPr/>
          </a:p>
          <a:p>
            <a:pPr indent="-133096" lvl="0" marL="365760" rtl="0" algn="just">
              <a:lnSpc>
                <a:spcPct val="100000"/>
              </a:lnSpc>
              <a:spcBef>
                <a:spcPts val="600"/>
              </a:spcBef>
              <a:spcAft>
                <a:spcPts val="0"/>
              </a:spcAft>
              <a:buSzPct val="80000"/>
              <a:buNone/>
            </a:pPr>
            <a:r>
              <a:t/>
            </a:r>
            <a:endParaRPr/>
          </a:p>
          <a:p>
            <a:pPr indent="-283464" lvl="0" marL="365760" rtl="0" algn="just">
              <a:lnSpc>
                <a:spcPct val="100000"/>
              </a:lnSpc>
              <a:spcBef>
                <a:spcPts val="600"/>
              </a:spcBef>
              <a:spcAft>
                <a:spcPts val="0"/>
              </a:spcAft>
              <a:buSzPct val="80000"/>
              <a:buChar char="⚫"/>
            </a:pPr>
            <a:r>
              <a:rPr lang="en-US"/>
              <a:t>Such testing is to be carried out keeping positive point of view and only execute the positive scenario.</a:t>
            </a:r>
            <a:endParaRPr/>
          </a:p>
          <a:p>
            <a:pPr indent="-133096" lvl="0" marL="365760" rtl="0" algn="just">
              <a:lnSpc>
                <a:spcPct val="100000"/>
              </a:lnSpc>
              <a:spcBef>
                <a:spcPts val="600"/>
              </a:spcBef>
              <a:spcAft>
                <a:spcPts val="0"/>
              </a:spcAft>
              <a:buSzPct val="80000"/>
              <a:buNone/>
            </a:pPr>
            <a:r>
              <a:t/>
            </a:r>
            <a:endParaRPr/>
          </a:p>
          <a:p>
            <a:pPr indent="-283464" lvl="0" marL="365760" rtl="0" algn="just">
              <a:lnSpc>
                <a:spcPct val="100000"/>
              </a:lnSpc>
              <a:spcBef>
                <a:spcPts val="600"/>
              </a:spcBef>
              <a:spcAft>
                <a:spcPts val="0"/>
              </a:spcAft>
              <a:buSzPct val="80000"/>
              <a:buChar char="⚫"/>
            </a:pPr>
            <a:r>
              <a:rPr lang="en-US"/>
              <a:t>When a test case verifies the requirements of the product with a set of expected output, it is called </a:t>
            </a:r>
            <a:r>
              <a:rPr i="1" lang="en-US"/>
              <a:t>positive test case</a:t>
            </a:r>
            <a:r>
              <a:rPr lang="en-US"/>
              <a:t>.</a:t>
            </a:r>
            <a:endParaRPr/>
          </a:p>
          <a:p>
            <a:pPr indent="-133096" lvl="0" marL="365760" rtl="0" algn="just">
              <a:lnSpc>
                <a:spcPct val="100000"/>
              </a:lnSpc>
              <a:spcBef>
                <a:spcPts val="600"/>
              </a:spcBef>
              <a:spcAft>
                <a:spcPts val="0"/>
              </a:spcAft>
              <a:buSzPct val="800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1"/>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lang="en-US"/>
              <a:t>Positive Testing                cont …</a:t>
            </a:r>
            <a:endParaRPr/>
          </a:p>
        </p:txBody>
      </p:sp>
      <p:sp>
        <p:nvSpPr>
          <p:cNvPr id="214" name="Google Shape;214;p31"/>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lnSpcReduction="10000"/>
          </a:bodyPr>
          <a:lstStyle/>
          <a:p>
            <a:pPr indent="-283464" lvl="0" marL="365760" rtl="0" algn="just">
              <a:lnSpc>
                <a:spcPct val="100000"/>
              </a:lnSpc>
              <a:spcBef>
                <a:spcPts val="0"/>
              </a:spcBef>
              <a:spcAft>
                <a:spcPts val="0"/>
              </a:spcAft>
              <a:buSzPts val="2560"/>
              <a:buChar char="⚫"/>
            </a:pPr>
            <a:r>
              <a:rPr lang="en-US"/>
              <a:t>The purpose of positive testing is to prove that the product works as per specification and expectations.</a:t>
            </a:r>
            <a:endParaRPr/>
          </a:p>
          <a:p>
            <a:pPr indent="-283464" lvl="0" marL="365760" rtl="0" algn="just">
              <a:lnSpc>
                <a:spcPct val="100000"/>
              </a:lnSpc>
              <a:spcBef>
                <a:spcPts val="600"/>
              </a:spcBef>
              <a:spcAft>
                <a:spcPts val="0"/>
              </a:spcAft>
              <a:buSzPts val="2560"/>
              <a:buChar char="⚫"/>
            </a:pPr>
            <a:r>
              <a:rPr lang="en-US"/>
              <a:t>A product delivering an error when it is expected to give an error, is also a part of positive testing.</a:t>
            </a:r>
            <a:endParaRPr/>
          </a:p>
          <a:p>
            <a:pPr indent="-283464" lvl="0" marL="365760" rtl="0" algn="just">
              <a:lnSpc>
                <a:spcPct val="100000"/>
              </a:lnSpc>
              <a:spcBef>
                <a:spcPts val="600"/>
              </a:spcBef>
              <a:spcAft>
                <a:spcPts val="0"/>
              </a:spcAft>
              <a:buSzPts val="2560"/>
              <a:buChar char="⚫"/>
            </a:pPr>
            <a:r>
              <a:rPr lang="en-US"/>
              <a:t>Positive testing can thus be said to check the product’s behaviour for positive and negative conditions as stated in the requirement.</a:t>
            </a:r>
            <a:endParaRPr/>
          </a:p>
          <a:p>
            <a:pPr indent="-120903" lvl="0" marL="365760" rtl="0" algn="just">
              <a:lnSpc>
                <a:spcPct val="100000"/>
              </a:lnSpc>
              <a:spcBef>
                <a:spcPts val="600"/>
              </a:spcBef>
              <a:spcAft>
                <a:spcPts val="0"/>
              </a:spcAft>
              <a:buSzPts val="256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2"/>
          <p:cNvSpPr txBox="1"/>
          <p:nvPr>
            <p:ph type="title"/>
          </p:nvPr>
        </p:nvSpPr>
        <p:spPr>
          <a:xfrm>
            <a:off x="899592" y="19870"/>
            <a:ext cx="7886700" cy="496389"/>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b="1" lang="en-US"/>
              <a:t>Example of Positive testing</a:t>
            </a:r>
            <a:endParaRPr/>
          </a:p>
        </p:txBody>
      </p:sp>
      <p:sp>
        <p:nvSpPr>
          <p:cNvPr id="220" name="Google Shape;220;p32"/>
          <p:cNvSpPr txBox="1"/>
          <p:nvPr>
            <p:ph idx="1" type="body"/>
          </p:nvPr>
        </p:nvSpPr>
        <p:spPr>
          <a:xfrm>
            <a:off x="827584" y="692696"/>
            <a:ext cx="7886700" cy="304682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600"/>
              <a:buChar char="⚫"/>
            </a:pPr>
            <a:r>
              <a:rPr lang="en-US" sz="2000"/>
              <a:t>Consider a scenario where you want to test an application which contains a simple textbox to enter age and requirements say that it should take only integer values. </a:t>
            </a:r>
            <a:endParaRPr/>
          </a:p>
          <a:p>
            <a:pPr indent="-283464" lvl="0" marL="365760" rtl="0" algn="just">
              <a:lnSpc>
                <a:spcPct val="100000"/>
              </a:lnSpc>
              <a:spcBef>
                <a:spcPts val="600"/>
              </a:spcBef>
              <a:spcAft>
                <a:spcPts val="0"/>
              </a:spcAft>
              <a:buSzPts val="1600"/>
              <a:buChar char="⚫"/>
            </a:pPr>
            <a:r>
              <a:rPr lang="en-US" sz="2000"/>
              <a:t>So here provide only positive integer values to check whether it is working as expected or not is the Positive Testing. </a:t>
            </a:r>
            <a:endParaRPr/>
          </a:p>
          <a:p>
            <a:pPr indent="-283464" lvl="0" marL="365760" rtl="0" algn="just">
              <a:lnSpc>
                <a:spcPct val="100000"/>
              </a:lnSpc>
              <a:spcBef>
                <a:spcPts val="600"/>
              </a:spcBef>
              <a:spcAft>
                <a:spcPts val="0"/>
              </a:spcAft>
              <a:buSzPts val="1600"/>
              <a:buChar char="⚫"/>
            </a:pPr>
            <a:r>
              <a:rPr lang="en-US" sz="2000"/>
              <a:t>Most of the applications developers implement Positive scenarios where testers get less defects count around positive testing.</a:t>
            </a:r>
            <a:endParaRPr sz="2000"/>
          </a:p>
          <a:p>
            <a:pPr indent="-181864" lvl="0" marL="365760" rtl="0" algn="just">
              <a:lnSpc>
                <a:spcPct val="100000"/>
              </a:lnSpc>
              <a:spcBef>
                <a:spcPts val="600"/>
              </a:spcBef>
              <a:spcAft>
                <a:spcPts val="0"/>
              </a:spcAft>
              <a:buSzPts val="1600"/>
              <a:buNone/>
            </a:pPr>
            <a:r>
              <a:t/>
            </a:r>
            <a:endParaRPr sz="2000"/>
          </a:p>
        </p:txBody>
      </p:sp>
      <p:pic>
        <p:nvPicPr>
          <p:cNvPr descr="Positive Testing In Software Testing" id="221" name="Google Shape;221;p32">
            <a:hlinkClick r:id="rId3"/>
          </p:cNvPr>
          <p:cNvPicPr preferRelativeResize="0"/>
          <p:nvPr/>
        </p:nvPicPr>
        <p:blipFill rotWithShape="1">
          <a:blip r:embed="rId4">
            <a:alphaModFix/>
          </a:blip>
          <a:srcRect b="0" l="0" r="0" t="0"/>
          <a:stretch/>
        </p:blipFill>
        <p:spPr>
          <a:xfrm>
            <a:off x="1791143" y="3599906"/>
            <a:ext cx="5253003" cy="30099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3"/>
          <p:cNvSpPr txBox="1"/>
          <p:nvPr>
            <p:ph type="title"/>
          </p:nvPr>
        </p:nvSpPr>
        <p:spPr>
          <a:xfrm>
            <a:off x="971600" y="14760"/>
            <a:ext cx="7886700" cy="627017"/>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562214"/>
              </a:buClr>
              <a:buSzPct val="100000"/>
              <a:buFont typeface="Gill Sans"/>
              <a:buNone/>
            </a:pPr>
            <a:r>
              <a:rPr lang="en-US"/>
              <a:t>Another example</a:t>
            </a:r>
            <a:endParaRPr/>
          </a:p>
        </p:txBody>
      </p:sp>
      <p:sp>
        <p:nvSpPr>
          <p:cNvPr id="227" name="Google Shape;227;p33"/>
          <p:cNvSpPr txBox="1"/>
          <p:nvPr>
            <p:ph idx="1" type="body"/>
          </p:nvPr>
        </p:nvSpPr>
        <p:spPr>
          <a:xfrm>
            <a:off x="899592" y="620688"/>
            <a:ext cx="7886700" cy="5589134"/>
          </a:xfrm>
          <a:prstGeom prst="rect">
            <a:avLst/>
          </a:prstGeom>
          <a:noFill/>
          <a:ln>
            <a:noFill/>
          </a:ln>
        </p:spPr>
        <p:txBody>
          <a:bodyPr anchorCtr="0" anchor="t" bIns="45700" lIns="91425" spcFirstLastPara="1" rIns="91425" wrap="square" tIns="45700">
            <a:normAutofit lnSpcReduction="10000"/>
          </a:bodyPr>
          <a:lstStyle/>
          <a:p>
            <a:pPr indent="0" lvl="0" marL="82296" rtl="0" algn="just">
              <a:lnSpc>
                <a:spcPct val="100000"/>
              </a:lnSpc>
              <a:spcBef>
                <a:spcPts val="0"/>
              </a:spcBef>
              <a:spcAft>
                <a:spcPts val="0"/>
              </a:spcAft>
              <a:buSzPts val="2240"/>
              <a:buNone/>
            </a:pPr>
            <a:r>
              <a:t/>
            </a:r>
            <a:endParaRPr sz="2800"/>
          </a:p>
          <a:p>
            <a:pPr indent="0" lvl="0" marL="82296" rtl="0" algn="just">
              <a:lnSpc>
                <a:spcPct val="100000"/>
              </a:lnSpc>
              <a:spcBef>
                <a:spcPts val="600"/>
              </a:spcBef>
              <a:spcAft>
                <a:spcPts val="0"/>
              </a:spcAft>
              <a:buSzPts val="2240"/>
              <a:buNone/>
            </a:pPr>
            <a:r>
              <a:rPr lang="en-US" sz="2800"/>
              <a:t>Let us take a lock and key. We do not know how the levers in the lock work, but we only know the set of inputs (the number of keys, specific sequence of using the keys and the direction of turn of each key) and the expected outcome (locking and unlocking). For example, if a key is turned clockwise it should unlock and if turned anticlockwise it should lock.</a:t>
            </a:r>
            <a:endParaRPr/>
          </a:p>
          <a:p>
            <a:pPr indent="0" lvl="0" marL="82296" rtl="0" algn="just">
              <a:lnSpc>
                <a:spcPct val="100000"/>
              </a:lnSpc>
              <a:spcBef>
                <a:spcPts val="600"/>
              </a:spcBef>
              <a:spcAft>
                <a:spcPts val="0"/>
              </a:spcAft>
              <a:buSzPts val="2240"/>
              <a:buNone/>
            </a:pPr>
            <a:r>
              <a:rPr lang="en-US" sz="2800"/>
              <a:t>To use the lock one need not understand how they work. However, it is essential to know the external functionality of the lock and key system. Some of the functionality that you need to know to use the lock are given as follows.</a:t>
            </a:r>
            <a:endParaRPr/>
          </a:p>
          <a:p>
            <a:pPr indent="0" lvl="0" marL="82296" rtl="0" algn="just">
              <a:lnSpc>
                <a:spcPct val="100000"/>
              </a:lnSpc>
              <a:spcBef>
                <a:spcPts val="600"/>
              </a:spcBef>
              <a:spcAft>
                <a:spcPts val="0"/>
              </a:spcAft>
              <a:buSzPts val="2240"/>
              <a:buNone/>
            </a:pPr>
            <a:r>
              <a:t/>
            </a:r>
            <a:endParaRPr sz="28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4"/>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lang="en-US"/>
              <a:t>Some functionalities to use the lock</a:t>
            </a:r>
            <a:endParaRPr/>
          </a:p>
        </p:txBody>
      </p:sp>
      <p:graphicFrame>
        <p:nvGraphicFramePr>
          <p:cNvPr id="233" name="Google Shape;233;p34"/>
          <p:cNvGraphicFramePr/>
          <p:nvPr/>
        </p:nvGraphicFramePr>
        <p:xfrm>
          <a:off x="1187624" y="1268760"/>
          <a:ext cx="3000000" cy="3000000"/>
        </p:xfrm>
        <a:graphic>
          <a:graphicData uri="http://schemas.openxmlformats.org/drawingml/2006/table">
            <a:tbl>
              <a:tblPr bandRow="1" firstRow="1">
                <a:noFill/>
                <a:tableStyleId>{473734B6-BA08-44A9-8CC6-E126BA42955F}</a:tableStyleId>
              </a:tblPr>
              <a:tblGrid>
                <a:gridCol w="3943350"/>
                <a:gridCol w="3943350"/>
              </a:tblGrid>
              <a:tr h="431875">
                <a:tc>
                  <a:txBody>
                    <a:bodyPr/>
                    <a:lstStyle/>
                    <a:p>
                      <a:pPr indent="0" lvl="0" marL="0" marR="0" rtl="0" algn="l">
                        <a:spcBef>
                          <a:spcPts val="0"/>
                        </a:spcBef>
                        <a:spcAft>
                          <a:spcPts val="0"/>
                        </a:spcAft>
                        <a:buNone/>
                      </a:pPr>
                      <a:r>
                        <a:rPr lang="en-US" sz="1800">
                          <a:solidFill>
                            <a:schemeClr val="dk1"/>
                          </a:solidFill>
                        </a:rPr>
                        <a:t>Functionality</a:t>
                      </a:r>
                      <a:endParaRPr sz="18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chemeClr val="dk1"/>
                          </a:solidFill>
                        </a:rPr>
                        <a:t>What you need to</a:t>
                      </a:r>
                      <a:r>
                        <a:rPr lang="en-US" sz="1800">
                          <a:solidFill>
                            <a:schemeClr val="dk1"/>
                          </a:solidFill>
                        </a:rPr>
                        <a:t> know to use</a:t>
                      </a:r>
                      <a:endParaRPr sz="18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64900">
                <a:tc>
                  <a:txBody>
                    <a:bodyPr/>
                    <a:lstStyle/>
                    <a:p>
                      <a:pPr indent="0" lvl="0" marL="0" marR="0" rtl="0" algn="l">
                        <a:spcBef>
                          <a:spcPts val="0"/>
                        </a:spcBef>
                        <a:spcAft>
                          <a:spcPts val="0"/>
                        </a:spcAft>
                        <a:buNone/>
                      </a:pPr>
                      <a:r>
                        <a:rPr lang="en-US" sz="1800">
                          <a:solidFill>
                            <a:schemeClr val="dk1"/>
                          </a:solidFill>
                        </a:rPr>
                        <a:t>Features of a lock</a:t>
                      </a:r>
                      <a:endParaRPr sz="18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chemeClr val="dk1"/>
                          </a:solidFill>
                        </a:rPr>
                        <a:t>It is made</a:t>
                      </a:r>
                      <a:r>
                        <a:rPr lang="en-US" sz="1800">
                          <a:solidFill>
                            <a:schemeClr val="dk1"/>
                          </a:solidFill>
                        </a:rPr>
                        <a:t> of metal, has a hole provision to lock, has a facility to insert the key and the keyhole ability to turn clockwise or anticlockwise.</a:t>
                      </a:r>
                      <a:endParaRPr sz="18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5425">
                <a:tc>
                  <a:txBody>
                    <a:bodyPr/>
                    <a:lstStyle/>
                    <a:p>
                      <a:pPr indent="0" lvl="0" marL="0" marR="0" rtl="0" algn="l">
                        <a:spcBef>
                          <a:spcPts val="0"/>
                        </a:spcBef>
                        <a:spcAft>
                          <a:spcPts val="0"/>
                        </a:spcAft>
                        <a:buNone/>
                      </a:pPr>
                      <a:r>
                        <a:rPr lang="en-US" sz="1800">
                          <a:solidFill>
                            <a:schemeClr val="dk1"/>
                          </a:solidFill>
                        </a:rPr>
                        <a:t>Features of key</a:t>
                      </a:r>
                      <a:endParaRPr sz="18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chemeClr val="dk1"/>
                          </a:solidFill>
                        </a:rPr>
                        <a:t>It is made of metal and created to fit</a:t>
                      </a:r>
                      <a:r>
                        <a:rPr lang="en-US" sz="1800">
                          <a:solidFill>
                            <a:schemeClr val="dk1"/>
                          </a:solidFill>
                        </a:rPr>
                        <a:t> into a particular lock’s keyhole.</a:t>
                      </a:r>
                      <a:endParaRPr sz="18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5425">
                <a:tc>
                  <a:txBody>
                    <a:bodyPr/>
                    <a:lstStyle/>
                    <a:p>
                      <a:pPr indent="0" lvl="0" marL="0" marR="0" rtl="0" algn="l">
                        <a:spcBef>
                          <a:spcPts val="0"/>
                        </a:spcBef>
                        <a:spcAft>
                          <a:spcPts val="0"/>
                        </a:spcAft>
                        <a:buNone/>
                      </a:pPr>
                      <a:r>
                        <a:rPr lang="en-US" sz="1800">
                          <a:solidFill>
                            <a:schemeClr val="dk1"/>
                          </a:solidFill>
                        </a:rPr>
                        <a:t>Actions performed</a:t>
                      </a:r>
                      <a:endParaRPr sz="18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chemeClr val="dk1"/>
                          </a:solidFill>
                        </a:rPr>
                        <a:t>Key inserted</a:t>
                      </a:r>
                      <a:r>
                        <a:rPr lang="en-US" sz="1800">
                          <a:solidFill>
                            <a:schemeClr val="dk1"/>
                          </a:solidFill>
                        </a:rPr>
                        <a:t> and turned clockwise to unlock.</a:t>
                      </a:r>
                      <a:endParaRPr/>
                    </a:p>
                    <a:p>
                      <a:pPr indent="0" lvl="0" marL="0" marR="0" rtl="0" algn="l">
                        <a:lnSpc>
                          <a:spcPct val="100000"/>
                        </a:lnSpc>
                        <a:spcBef>
                          <a:spcPts val="0"/>
                        </a:spcBef>
                        <a:spcAft>
                          <a:spcPts val="0"/>
                        </a:spcAft>
                        <a:buClr>
                          <a:schemeClr val="dk1"/>
                        </a:buClr>
                        <a:buSzPts val="1800"/>
                        <a:buFont typeface="Gill Sans"/>
                        <a:buNone/>
                      </a:pPr>
                      <a:r>
                        <a:rPr lang="en-US" sz="1800">
                          <a:solidFill>
                            <a:schemeClr val="dk1"/>
                          </a:solidFill>
                        </a:rPr>
                        <a:t>Key inserted</a:t>
                      </a:r>
                      <a:r>
                        <a:rPr lang="en-US" sz="1800">
                          <a:solidFill>
                            <a:schemeClr val="dk1"/>
                          </a:solidFill>
                        </a:rPr>
                        <a:t> and turned anticlockwise to lock.</a:t>
                      </a:r>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703850">
                <a:tc>
                  <a:txBody>
                    <a:bodyPr/>
                    <a:lstStyle/>
                    <a:p>
                      <a:pPr indent="0" lvl="0" marL="0" marR="0" rtl="0" algn="l">
                        <a:spcBef>
                          <a:spcPts val="0"/>
                        </a:spcBef>
                        <a:spcAft>
                          <a:spcPts val="0"/>
                        </a:spcAft>
                        <a:buNone/>
                      </a:pPr>
                      <a:r>
                        <a:rPr lang="en-US" sz="1800">
                          <a:solidFill>
                            <a:schemeClr val="dk1"/>
                          </a:solidFill>
                        </a:rPr>
                        <a:t>States</a:t>
                      </a:r>
                      <a:endParaRPr/>
                    </a:p>
                    <a:p>
                      <a:pPr indent="0" lvl="0" marL="0" marR="0" rtl="0" algn="l">
                        <a:spcBef>
                          <a:spcPts val="0"/>
                        </a:spcBef>
                        <a:spcAft>
                          <a:spcPts val="0"/>
                        </a:spcAft>
                        <a:buNone/>
                      </a:pPr>
                      <a:r>
                        <a:t/>
                      </a:r>
                      <a:endParaRPr sz="1800">
                        <a:solidFill>
                          <a:schemeClr val="dk1"/>
                        </a:solidFill>
                      </a:endParaRPr>
                    </a:p>
                    <a:p>
                      <a:pPr indent="0" lvl="0" marL="0" marR="0" rtl="0" algn="l">
                        <a:spcBef>
                          <a:spcPts val="0"/>
                        </a:spcBef>
                        <a:spcAft>
                          <a:spcPts val="0"/>
                        </a:spcAft>
                        <a:buNone/>
                      </a:pPr>
                      <a:r>
                        <a:rPr lang="en-US" sz="1800">
                          <a:solidFill>
                            <a:schemeClr val="dk1"/>
                          </a:solidFill>
                        </a:rPr>
                        <a:t>Inputs</a:t>
                      </a:r>
                      <a:endParaRPr/>
                    </a:p>
                    <a:p>
                      <a:pPr indent="0" lvl="0" marL="0" marR="0" rtl="0" algn="l">
                        <a:spcBef>
                          <a:spcPts val="0"/>
                        </a:spcBef>
                        <a:spcAft>
                          <a:spcPts val="0"/>
                        </a:spcAft>
                        <a:buNone/>
                      </a:pPr>
                      <a:r>
                        <a:rPr lang="en-US" sz="1800">
                          <a:solidFill>
                            <a:schemeClr val="dk1"/>
                          </a:solidFill>
                        </a:rPr>
                        <a:t>Expected</a:t>
                      </a:r>
                      <a:r>
                        <a:rPr lang="en-US" sz="1800">
                          <a:solidFill>
                            <a:schemeClr val="dk1"/>
                          </a:solidFill>
                        </a:rPr>
                        <a:t> outcome</a:t>
                      </a:r>
                      <a:endParaRPr sz="18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chemeClr val="dk1"/>
                          </a:solidFill>
                        </a:rPr>
                        <a:t>Locked.</a:t>
                      </a:r>
                      <a:endParaRPr/>
                    </a:p>
                    <a:p>
                      <a:pPr indent="0" lvl="0" marL="0" marR="0" rtl="0" algn="l">
                        <a:spcBef>
                          <a:spcPts val="0"/>
                        </a:spcBef>
                        <a:spcAft>
                          <a:spcPts val="0"/>
                        </a:spcAft>
                        <a:buNone/>
                      </a:pPr>
                      <a:r>
                        <a:rPr lang="en-US" sz="1800">
                          <a:solidFill>
                            <a:schemeClr val="dk1"/>
                          </a:solidFill>
                        </a:rPr>
                        <a:t>Unlocked.</a:t>
                      </a:r>
                      <a:endParaRPr/>
                    </a:p>
                    <a:p>
                      <a:pPr indent="0" lvl="0" marL="0" marR="0" rtl="0" algn="l">
                        <a:spcBef>
                          <a:spcPts val="0"/>
                        </a:spcBef>
                        <a:spcAft>
                          <a:spcPts val="0"/>
                        </a:spcAft>
                        <a:buNone/>
                      </a:pPr>
                      <a:r>
                        <a:rPr lang="en-US" sz="1800">
                          <a:solidFill>
                            <a:schemeClr val="dk1"/>
                          </a:solidFill>
                        </a:rPr>
                        <a:t>Key turned clockwise or anticlockwise.</a:t>
                      </a:r>
                      <a:endParaRPr/>
                    </a:p>
                    <a:p>
                      <a:pPr indent="0" lvl="0" marL="0" marR="0" rtl="0" algn="l">
                        <a:spcBef>
                          <a:spcPts val="0"/>
                        </a:spcBef>
                        <a:spcAft>
                          <a:spcPts val="0"/>
                        </a:spcAft>
                        <a:buNone/>
                      </a:pPr>
                      <a:r>
                        <a:rPr lang="en-US" sz="1800">
                          <a:solidFill>
                            <a:schemeClr val="dk1"/>
                          </a:solidFill>
                        </a:rPr>
                        <a:t>Locking.</a:t>
                      </a:r>
                      <a:endParaRPr/>
                    </a:p>
                    <a:p>
                      <a:pPr indent="0" lvl="0" marL="0" marR="0" rtl="0" algn="l">
                        <a:spcBef>
                          <a:spcPts val="0"/>
                        </a:spcBef>
                        <a:spcAft>
                          <a:spcPts val="0"/>
                        </a:spcAft>
                        <a:buNone/>
                      </a:pPr>
                      <a:r>
                        <a:rPr lang="en-US" sz="1800">
                          <a:solidFill>
                            <a:schemeClr val="dk1"/>
                          </a:solidFill>
                        </a:rPr>
                        <a:t>Unlocking.</a:t>
                      </a:r>
                      <a:endParaRPr sz="18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5"/>
          <p:cNvSpPr txBox="1"/>
          <p:nvPr>
            <p:ph type="title"/>
          </p:nvPr>
        </p:nvSpPr>
        <p:spPr>
          <a:xfrm>
            <a:off x="1043608" y="1"/>
            <a:ext cx="7471742" cy="103196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562214"/>
              </a:buClr>
              <a:buSzPts val="3200"/>
              <a:buFont typeface="Gill Sans"/>
              <a:buNone/>
            </a:pPr>
            <a:r>
              <a:rPr lang="en-US" sz="3200"/>
              <a:t>Sample requirements specification for lock and key system</a:t>
            </a:r>
            <a:endParaRPr sz="3200"/>
          </a:p>
        </p:txBody>
      </p:sp>
      <p:graphicFrame>
        <p:nvGraphicFramePr>
          <p:cNvPr id="239" name="Google Shape;239;p35"/>
          <p:cNvGraphicFramePr/>
          <p:nvPr/>
        </p:nvGraphicFramePr>
        <p:xfrm>
          <a:off x="1043608" y="1165628"/>
          <a:ext cx="3000000" cy="3000000"/>
        </p:xfrm>
        <a:graphic>
          <a:graphicData uri="http://schemas.openxmlformats.org/drawingml/2006/table">
            <a:tbl>
              <a:tblPr bandRow="1" firstRow="1">
                <a:noFill/>
                <a:tableStyleId>{473734B6-BA08-44A9-8CC6-E126BA42955F}</a:tableStyleId>
              </a:tblPr>
              <a:tblGrid>
                <a:gridCol w="627050"/>
                <a:gridCol w="1207400"/>
                <a:gridCol w="4848900"/>
                <a:gridCol w="1203375"/>
              </a:tblGrid>
              <a:tr h="721200">
                <a:tc>
                  <a:txBody>
                    <a:bodyPr/>
                    <a:lstStyle/>
                    <a:p>
                      <a:pPr indent="0" lvl="0" marL="0" marR="0" rtl="0" algn="l">
                        <a:spcBef>
                          <a:spcPts val="0"/>
                        </a:spcBef>
                        <a:spcAft>
                          <a:spcPts val="0"/>
                        </a:spcAft>
                        <a:buNone/>
                      </a:pPr>
                      <a:r>
                        <a:rPr lang="en-US" sz="1400">
                          <a:solidFill>
                            <a:schemeClr val="dk1"/>
                          </a:solidFill>
                        </a:rPr>
                        <a:t>Sl. No.</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400">
                          <a:solidFill>
                            <a:schemeClr val="dk1"/>
                          </a:solidFill>
                        </a:rPr>
                        <a:t>Requirements identifier</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400">
                          <a:solidFill>
                            <a:schemeClr val="dk1"/>
                          </a:solidFill>
                        </a:rPr>
                        <a:t>Description</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400">
                          <a:solidFill>
                            <a:schemeClr val="dk1"/>
                          </a:solidFill>
                        </a:rPr>
                        <a:t>Priority (High, med, low)</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721200">
                <a:tc>
                  <a:txBody>
                    <a:bodyPr/>
                    <a:lstStyle/>
                    <a:p>
                      <a:pPr indent="0" lvl="0" marL="0" marR="0" rtl="0" algn="l">
                        <a:spcBef>
                          <a:spcPts val="0"/>
                        </a:spcBef>
                        <a:spcAft>
                          <a:spcPts val="0"/>
                        </a:spcAft>
                        <a:buNone/>
                      </a:pPr>
                      <a:r>
                        <a:rPr lang="en-US" sz="1400">
                          <a:solidFill>
                            <a:schemeClr val="dk1"/>
                          </a:solidFill>
                        </a:rPr>
                        <a:t>1</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400">
                          <a:solidFill>
                            <a:schemeClr val="dk1"/>
                          </a:solidFill>
                        </a:rPr>
                        <a:t>BR-01</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400">
                          <a:solidFill>
                            <a:schemeClr val="dk1"/>
                          </a:solidFill>
                        </a:rPr>
                        <a:t>Inserting the key numbered 123-456 and turning it clockwise should facilitate locking</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400">
                          <a:solidFill>
                            <a:schemeClr val="dk1"/>
                          </a:solidFill>
                        </a:rPr>
                        <a:t>H</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721200">
                <a:tc>
                  <a:txBody>
                    <a:bodyPr/>
                    <a:lstStyle/>
                    <a:p>
                      <a:pPr indent="0" lvl="0" marL="0" marR="0" rtl="0" algn="l">
                        <a:spcBef>
                          <a:spcPts val="0"/>
                        </a:spcBef>
                        <a:spcAft>
                          <a:spcPts val="0"/>
                        </a:spcAft>
                        <a:buNone/>
                      </a:pPr>
                      <a:r>
                        <a:rPr lang="en-US" sz="1400">
                          <a:solidFill>
                            <a:schemeClr val="dk1"/>
                          </a:solidFill>
                        </a:rPr>
                        <a:t>2</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400">
                          <a:solidFill>
                            <a:schemeClr val="dk1"/>
                          </a:solidFill>
                        </a:rPr>
                        <a:t>BR-02</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400">
                          <a:solidFill>
                            <a:schemeClr val="dk1"/>
                          </a:solidFill>
                        </a:rPr>
                        <a:t>Inserting the key numbered 123-456 and turning it anticlockwise should facilitate unlocking</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400">
                          <a:solidFill>
                            <a:schemeClr val="dk1"/>
                          </a:solidFill>
                        </a:rPr>
                        <a:t>H</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17850">
                <a:tc>
                  <a:txBody>
                    <a:bodyPr/>
                    <a:lstStyle/>
                    <a:p>
                      <a:pPr indent="0" lvl="0" marL="0" marR="0" rtl="0" algn="l">
                        <a:spcBef>
                          <a:spcPts val="0"/>
                        </a:spcBef>
                        <a:spcAft>
                          <a:spcPts val="0"/>
                        </a:spcAft>
                        <a:buNone/>
                      </a:pPr>
                      <a:r>
                        <a:rPr lang="en-US" sz="1400">
                          <a:solidFill>
                            <a:schemeClr val="dk1"/>
                          </a:solidFill>
                        </a:rPr>
                        <a:t>3</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400">
                          <a:solidFill>
                            <a:schemeClr val="dk1"/>
                          </a:solidFill>
                        </a:rPr>
                        <a:t>BR-03</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400">
                          <a:solidFill>
                            <a:schemeClr val="dk1"/>
                          </a:solidFill>
                        </a:rPr>
                        <a:t>Only key number</a:t>
                      </a:r>
                      <a:r>
                        <a:rPr lang="en-US" sz="1400">
                          <a:solidFill>
                            <a:schemeClr val="dk1"/>
                          </a:solidFill>
                        </a:rPr>
                        <a:t> 123-456 can be used to lock and unlock</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400">
                          <a:solidFill>
                            <a:schemeClr val="dk1"/>
                          </a:solidFill>
                        </a:rPr>
                        <a:t>H</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17850">
                <a:tc>
                  <a:txBody>
                    <a:bodyPr/>
                    <a:lstStyle/>
                    <a:p>
                      <a:pPr indent="0" lvl="0" marL="0" marR="0" rtl="0" algn="l">
                        <a:spcBef>
                          <a:spcPts val="0"/>
                        </a:spcBef>
                        <a:spcAft>
                          <a:spcPts val="0"/>
                        </a:spcAft>
                        <a:buNone/>
                      </a:pPr>
                      <a:r>
                        <a:rPr lang="en-US" sz="1400">
                          <a:solidFill>
                            <a:schemeClr val="dk1"/>
                          </a:solidFill>
                        </a:rPr>
                        <a:t>4</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400">
                          <a:solidFill>
                            <a:schemeClr val="dk1"/>
                          </a:solidFill>
                        </a:rPr>
                        <a:t>BR-04</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400">
                          <a:solidFill>
                            <a:schemeClr val="dk1"/>
                          </a:solidFill>
                        </a:rPr>
                        <a:t>No other object can be used to lock</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400">
                          <a:solidFill>
                            <a:schemeClr val="dk1"/>
                          </a:solidFill>
                        </a:rPr>
                        <a:t>M</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17850">
                <a:tc>
                  <a:txBody>
                    <a:bodyPr/>
                    <a:lstStyle/>
                    <a:p>
                      <a:pPr indent="0" lvl="0" marL="0" marR="0" rtl="0" algn="l">
                        <a:spcBef>
                          <a:spcPts val="0"/>
                        </a:spcBef>
                        <a:spcAft>
                          <a:spcPts val="0"/>
                        </a:spcAft>
                        <a:buNone/>
                      </a:pPr>
                      <a:r>
                        <a:rPr lang="en-US" sz="1400">
                          <a:solidFill>
                            <a:schemeClr val="dk1"/>
                          </a:solidFill>
                        </a:rPr>
                        <a:t>5</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400">
                          <a:solidFill>
                            <a:schemeClr val="dk1"/>
                          </a:solidFill>
                        </a:rPr>
                        <a:t>BR-05</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400">
                          <a:solidFill>
                            <a:schemeClr val="dk1"/>
                          </a:solidFill>
                        </a:rPr>
                        <a:t>No other object can be used to unlock</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400">
                          <a:solidFill>
                            <a:schemeClr val="dk1"/>
                          </a:solidFill>
                        </a:rPr>
                        <a:t>M</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17850">
                <a:tc>
                  <a:txBody>
                    <a:bodyPr/>
                    <a:lstStyle/>
                    <a:p>
                      <a:pPr indent="0" lvl="0" marL="0" marR="0" rtl="0" algn="l">
                        <a:spcBef>
                          <a:spcPts val="0"/>
                        </a:spcBef>
                        <a:spcAft>
                          <a:spcPts val="0"/>
                        </a:spcAft>
                        <a:buNone/>
                      </a:pPr>
                      <a:r>
                        <a:rPr lang="en-US" sz="1400">
                          <a:solidFill>
                            <a:schemeClr val="dk1"/>
                          </a:solidFill>
                        </a:rPr>
                        <a:t>6</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400">
                          <a:solidFill>
                            <a:schemeClr val="dk1"/>
                          </a:solidFill>
                        </a:rPr>
                        <a:t>BR-06</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400">
                          <a:solidFill>
                            <a:schemeClr val="dk1"/>
                          </a:solidFill>
                        </a:rPr>
                        <a:t>The lock must</a:t>
                      </a:r>
                      <a:r>
                        <a:rPr lang="en-US" sz="1400">
                          <a:solidFill>
                            <a:schemeClr val="dk1"/>
                          </a:solidFill>
                        </a:rPr>
                        <a:t> not open even when it is hit with a heavy object</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400">
                          <a:solidFill>
                            <a:schemeClr val="dk1"/>
                          </a:solidFill>
                        </a:rPr>
                        <a:t>M</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721200">
                <a:tc>
                  <a:txBody>
                    <a:bodyPr/>
                    <a:lstStyle/>
                    <a:p>
                      <a:pPr indent="0" lvl="0" marL="0" marR="0" rtl="0" algn="l">
                        <a:spcBef>
                          <a:spcPts val="0"/>
                        </a:spcBef>
                        <a:spcAft>
                          <a:spcPts val="0"/>
                        </a:spcAft>
                        <a:buNone/>
                      </a:pPr>
                      <a:r>
                        <a:rPr lang="en-US" sz="1400">
                          <a:solidFill>
                            <a:schemeClr val="dk1"/>
                          </a:solidFill>
                        </a:rPr>
                        <a:t>7</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400">
                          <a:solidFill>
                            <a:schemeClr val="dk1"/>
                          </a:solidFill>
                        </a:rPr>
                        <a:t>BR-07</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400">
                          <a:solidFill>
                            <a:schemeClr val="dk1"/>
                          </a:solidFill>
                        </a:rPr>
                        <a:t>The lock and key must be made of metal and must weigh approximately 150 grams</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400">
                          <a:solidFill>
                            <a:schemeClr val="dk1"/>
                          </a:solidFill>
                        </a:rPr>
                        <a:t>L</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721200">
                <a:tc>
                  <a:txBody>
                    <a:bodyPr/>
                    <a:lstStyle/>
                    <a:p>
                      <a:pPr indent="0" lvl="0" marL="0" marR="0" rtl="0" algn="l">
                        <a:spcBef>
                          <a:spcPts val="0"/>
                        </a:spcBef>
                        <a:spcAft>
                          <a:spcPts val="0"/>
                        </a:spcAft>
                        <a:buNone/>
                      </a:pPr>
                      <a:r>
                        <a:rPr lang="en-US" sz="1400">
                          <a:solidFill>
                            <a:schemeClr val="dk1"/>
                          </a:solidFill>
                        </a:rPr>
                        <a:t>8</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400">
                          <a:solidFill>
                            <a:schemeClr val="dk1"/>
                          </a:solidFill>
                        </a:rPr>
                        <a:t>BR-08</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400">
                          <a:solidFill>
                            <a:schemeClr val="dk1"/>
                          </a:solidFill>
                        </a:rPr>
                        <a:t>Lock and unlock directions should be changeable for usability of left-handers</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400">
                          <a:solidFill>
                            <a:schemeClr val="dk1"/>
                          </a:solidFill>
                        </a:rPr>
                        <a:t>L</a:t>
                      </a:r>
                      <a:endParaRPr sz="1400">
                        <a:solidFill>
                          <a:schemeClr val="dk1"/>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6"/>
          <p:cNvSpPr txBox="1"/>
          <p:nvPr>
            <p:ph type="title"/>
          </p:nvPr>
        </p:nvSpPr>
        <p:spPr>
          <a:xfrm>
            <a:off x="971600" y="0"/>
            <a:ext cx="7886700" cy="132556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Example of positive test cases</a:t>
            </a:r>
            <a:endParaRPr/>
          </a:p>
        </p:txBody>
      </p:sp>
      <p:graphicFrame>
        <p:nvGraphicFramePr>
          <p:cNvPr id="245" name="Google Shape;245;p36"/>
          <p:cNvGraphicFramePr/>
          <p:nvPr/>
        </p:nvGraphicFramePr>
        <p:xfrm>
          <a:off x="1043608" y="1556792"/>
          <a:ext cx="3000000" cy="3000000"/>
        </p:xfrm>
        <a:graphic>
          <a:graphicData uri="http://schemas.openxmlformats.org/drawingml/2006/table">
            <a:tbl>
              <a:tblPr bandRow="1" firstRow="1">
                <a:noFill/>
                <a:tableStyleId>{473734B6-BA08-44A9-8CC6-E126BA42955F}</a:tableStyleId>
              </a:tblPr>
              <a:tblGrid>
                <a:gridCol w="1314450"/>
                <a:gridCol w="1314450"/>
                <a:gridCol w="1314450"/>
                <a:gridCol w="1314450"/>
                <a:gridCol w="1314450"/>
                <a:gridCol w="1314450"/>
              </a:tblGrid>
              <a:tr h="370850">
                <a:tc>
                  <a:txBody>
                    <a:bodyPr/>
                    <a:lstStyle/>
                    <a:p>
                      <a:pPr indent="0" lvl="0" marL="0" marR="0" rtl="0" algn="l">
                        <a:spcBef>
                          <a:spcPts val="0"/>
                        </a:spcBef>
                        <a:spcAft>
                          <a:spcPts val="0"/>
                        </a:spcAft>
                        <a:buNone/>
                      </a:pPr>
                      <a:r>
                        <a:rPr lang="en-US" sz="1800">
                          <a:solidFill>
                            <a:srgbClr val="000000"/>
                          </a:solidFill>
                        </a:rPr>
                        <a:t>Test Case</a:t>
                      </a:r>
                      <a:endParaRPr/>
                    </a:p>
                    <a:p>
                      <a:pPr indent="0" lvl="0" marL="0" marR="0" rtl="0" algn="l">
                        <a:spcBef>
                          <a:spcPts val="0"/>
                        </a:spcBef>
                        <a:spcAft>
                          <a:spcPts val="0"/>
                        </a:spcAft>
                        <a:buNone/>
                      </a:pPr>
                      <a:r>
                        <a:rPr lang="en-US" sz="1800">
                          <a:solidFill>
                            <a:srgbClr val="000000"/>
                          </a:solidFill>
                        </a:rPr>
                        <a:t>id</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Req. No.</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Input 1</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Input 2</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Current state</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Expected output</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1800">
                          <a:solidFill>
                            <a:srgbClr val="000000"/>
                          </a:solidFill>
                        </a:rPr>
                        <a:t>TC 1</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BR-01</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Key 123-456</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Turn clockwise</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Unlocked</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Locked</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1800">
                          <a:solidFill>
                            <a:srgbClr val="000000"/>
                          </a:solidFill>
                        </a:rPr>
                        <a:t>TC 2</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BR-01</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Key 123-456</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Gill Sans"/>
                        <a:buNone/>
                      </a:pPr>
                      <a:r>
                        <a:rPr lang="en-US" sz="1800">
                          <a:solidFill>
                            <a:srgbClr val="000000"/>
                          </a:solidFill>
                        </a:rPr>
                        <a:t>Turn clockwise</a:t>
                      </a:r>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Locked</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No change</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1800">
                          <a:solidFill>
                            <a:srgbClr val="000000"/>
                          </a:solidFill>
                        </a:rPr>
                        <a:t>TC 3</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BR-02</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Key 123-456</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Gill Sans"/>
                        <a:buNone/>
                      </a:pPr>
                      <a:r>
                        <a:rPr lang="en-US" sz="1800">
                          <a:solidFill>
                            <a:srgbClr val="000000"/>
                          </a:solidFill>
                        </a:rPr>
                        <a:t>Turn anticlockwise</a:t>
                      </a:r>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Gill Sans"/>
                        <a:buNone/>
                      </a:pPr>
                      <a:r>
                        <a:rPr lang="en-US" sz="1800">
                          <a:solidFill>
                            <a:srgbClr val="000000"/>
                          </a:solidFill>
                        </a:rPr>
                        <a:t>Unlocked</a:t>
                      </a:r>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No change</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1800">
                          <a:solidFill>
                            <a:srgbClr val="000000"/>
                          </a:solidFill>
                        </a:rPr>
                        <a:t>TC 4</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BR-02</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Key 123-456</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Gill Sans"/>
                        <a:buNone/>
                      </a:pPr>
                      <a:r>
                        <a:rPr lang="en-US" sz="1800">
                          <a:solidFill>
                            <a:srgbClr val="000000"/>
                          </a:solidFill>
                        </a:rPr>
                        <a:t>Turn anticlockwise</a:t>
                      </a:r>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Locked</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Unlock</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1800">
                          <a:solidFill>
                            <a:srgbClr val="000000"/>
                          </a:solidFill>
                        </a:rPr>
                        <a:t>TC 5</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BR-04</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Hairpin</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Gill Sans"/>
                        <a:buNone/>
                      </a:pPr>
                      <a:r>
                        <a:rPr lang="en-US" sz="1800">
                          <a:solidFill>
                            <a:srgbClr val="000000"/>
                          </a:solidFill>
                        </a:rPr>
                        <a:t>Turn clockwise</a:t>
                      </a:r>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Locked</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No change</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7"/>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lang="en-US"/>
              <a:t>Example of positive test condition for positive testing</a:t>
            </a:r>
            <a:endParaRPr/>
          </a:p>
        </p:txBody>
      </p:sp>
      <p:sp>
        <p:nvSpPr>
          <p:cNvPr id="251" name="Google Shape;251;p37"/>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560"/>
              <a:buChar char="⚫"/>
            </a:pPr>
            <a:r>
              <a:rPr lang="en-US"/>
              <a:t>Take the first row in the table.</a:t>
            </a:r>
            <a:endParaRPr/>
          </a:p>
          <a:p>
            <a:pPr indent="-120903" lvl="0" marL="365760" rtl="0" algn="just">
              <a:lnSpc>
                <a:spcPct val="100000"/>
              </a:lnSpc>
              <a:spcBef>
                <a:spcPts val="600"/>
              </a:spcBef>
              <a:spcAft>
                <a:spcPts val="0"/>
              </a:spcAft>
              <a:buSzPts val="2560"/>
              <a:buNone/>
            </a:pPr>
            <a:r>
              <a:t/>
            </a:r>
            <a:endParaRPr/>
          </a:p>
          <a:p>
            <a:pPr indent="-283464" lvl="0" marL="365760" rtl="0" algn="just">
              <a:lnSpc>
                <a:spcPct val="100000"/>
              </a:lnSpc>
              <a:spcBef>
                <a:spcPts val="600"/>
              </a:spcBef>
              <a:spcAft>
                <a:spcPts val="0"/>
              </a:spcAft>
              <a:buSzPts val="2560"/>
              <a:buChar char="⚫"/>
            </a:pPr>
            <a:r>
              <a:rPr lang="en-US"/>
              <a:t>When the lock is in an unlocked state and you use key </a:t>
            </a:r>
            <a:r>
              <a:rPr lang="en-US" sz="2400">
                <a:latin typeface="Arial"/>
                <a:ea typeface="Arial"/>
                <a:cs typeface="Arial"/>
                <a:sym typeface="Arial"/>
              </a:rPr>
              <a:t>123-456</a:t>
            </a:r>
            <a:r>
              <a:rPr lang="en-US"/>
              <a:t> and turn it clockwise, the expected outcome is to get it locked.</a:t>
            </a:r>
            <a:endParaRPr/>
          </a:p>
          <a:p>
            <a:pPr indent="-120903" lvl="0" marL="365760" rtl="0" algn="just">
              <a:lnSpc>
                <a:spcPct val="100000"/>
              </a:lnSpc>
              <a:spcBef>
                <a:spcPts val="600"/>
              </a:spcBef>
              <a:spcAft>
                <a:spcPts val="0"/>
              </a:spcAft>
              <a:buSzPts val="2560"/>
              <a:buNone/>
            </a:pPr>
            <a:r>
              <a:t/>
            </a:r>
            <a:endParaRPr/>
          </a:p>
          <a:p>
            <a:pPr indent="-283464" lvl="0" marL="365760" rtl="0" algn="just">
              <a:lnSpc>
                <a:spcPct val="100000"/>
              </a:lnSpc>
              <a:spcBef>
                <a:spcPts val="600"/>
              </a:spcBef>
              <a:spcAft>
                <a:spcPts val="0"/>
              </a:spcAft>
              <a:buSzPts val="2560"/>
              <a:buChar char="⚫"/>
            </a:pPr>
            <a:r>
              <a:rPr lang="en-US"/>
              <a:t>During test execution, if the test results in locking, then the test is passed.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8"/>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lang="en-US"/>
              <a:t>Example of negative test condition for positive testing</a:t>
            </a:r>
            <a:endParaRPr/>
          </a:p>
        </p:txBody>
      </p:sp>
      <p:sp>
        <p:nvSpPr>
          <p:cNvPr id="257" name="Google Shape;257;p38"/>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560"/>
              <a:buChar char="⚫"/>
            </a:pPr>
            <a:r>
              <a:rPr lang="en-US"/>
              <a:t>In the fifth row of the table, the lock is in locked state.</a:t>
            </a:r>
            <a:endParaRPr/>
          </a:p>
          <a:p>
            <a:pPr indent="-283464" lvl="0" marL="365760" rtl="0" algn="just">
              <a:lnSpc>
                <a:spcPct val="100000"/>
              </a:lnSpc>
              <a:spcBef>
                <a:spcPts val="600"/>
              </a:spcBef>
              <a:spcAft>
                <a:spcPts val="0"/>
              </a:spcAft>
              <a:buSzPts val="2560"/>
              <a:buChar char="⚫"/>
            </a:pPr>
            <a:r>
              <a:rPr lang="en-US"/>
              <a:t>Using a hairpin and turning it clockwise should not cause a change in state or cause any damage to the lock.</a:t>
            </a:r>
            <a:endParaRPr/>
          </a:p>
          <a:p>
            <a:pPr indent="-283464" lvl="0" marL="365760" rtl="0" algn="just">
              <a:lnSpc>
                <a:spcPct val="100000"/>
              </a:lnSpc>
              <a:spcBef>
                <a:spcPts val="600"/>
              </a:spcBef>
              <a:spcAft>
                <a:spcPts val="0"/>
              </a:spcAft>
              <a:buSzPts val="2560"/>
              <a:buChar char="⚫"/>
            </a:pPr>
            <a:r>
              <a:rPr lang="en-US"/>
              <a:t>On test execution, if there are no changes, then this positive test case is passed.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9"/>
          <p:cNvSpPr txBox="1"/>
          <p:nvPr>
            <p:ph type="title"/>
          </p:nvPr>
        </p:nvSpPr>
        <p:spPr>
          <a:xfrm>
            <a:off x="1043608" y="116632"/>
            <a:ext cx="7886700" cy="502276"/>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lang="en-US"/>
              <a:t>Negative Testing</a:t>
            </a:r>
            <a:endParaRPr/>
          </a:p>
        </p:txBody>
      </p:sp>
      <p:sp>
        <p:nvSpPr>
          <p:cNvPr id="263" name="Google Shape;263;p39"/>
          <p:cNvSpPr txBox="1"/>
          <p:nvPr>
            <p:ph idx="1" type="body"/>
          </p:nvPr>
        </p:nvSpPr>
        <p:spPr>
          <a:xfrm>
            <a:off x="827584" y="764704"/>
            <a:ext cx="7886700" cy="6207616"/>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560"/>
              <a:buChar char="⚫"/>
            </a:pPr>
            <a:r>
              <a:rPr lang="en-US"/>
              <a:t>Negative testing is done to show that the product does not fail when an unexpected input is given.</a:t>
            </a:r>
            <a:endParaRPr/>
          </a:p>
          <a:p>
            <a:pPr indent="-120903" lvl="0" marL="365760" rtl="0" algn="just">
              <a:lnSpc>
                <a:spcPct val="100000"/>
              </a:lnSpc>
              <a:spcBef>
                <a:spcPts val="600"/>
              </a:spcBef>
              <a:spcAft>
                <a:spcPts val="0"/>
              </a:spcAft>
              <a:buSzPts val="2560"/>
              <a:buNone/>
            </a:pPr>
            <a:r>
              <a:t/>
            </a:r>
            <a:endParaRPr/>
          </a:p>
          <a:p>
            <a:pPr indent="-283464" lvl="0" marL="365760" rtl="0" algn="just">
              <a:lnSpc>
                <a:spcPct val="100000"/>
              </a:lnSpc>
              <a:spcBef>
                <a:spcPts val="600"/>
              </a:spcBef>
              <a:spcAft>
                <a:spcPts val="0"/>
              </a:spcAft>
              <a:buSzPts val="2560"/>
              <a:buChar char="⚫"/>
            </a:pPr>
            <a:r>
              <a:rPr lang="en-US"/>
              <a:t>The purpose of negative testing is to try and break the system.</a:t>
            </a:r>
            <a:endParaRPr/>
          </a:p>
          <a:p>
            <a:pPr indent="-120903" lvl="0" marL="365760" rtl="0" algn="just">
              <a:lnSpc>
                <a:spcPct val="100000"/>
              </a:lnSpc>
              <a:spcBef>
                <a:spcPts val="600"/>
              </a:spcBef>
              <a:spcAft>
                <a:spcPts val="0"/>
              </a:spcAft>
              <a:buSzPts val="2560"/>
              <a:buNone/>
            </a:pPr>
            <a:r>
              <a:t/>
            </a:r>
            <a:endParaRPr/>
          </a:p>
          <a:p>
            <a:pPr indent="-283464" lvl="0" marL="365760" rtl="0" algn="just">
              <a:lnSpc>
                <a:spcPct val="100000"/>
              </a:lnSpc>
              <a:spcBef>
                <a:spcPts val="600"/>
              </a:spcBef>
              <a:spcAft>
                <a:spcPts val="0"/>
              </a:spcAft>
              <a:buSzPts val="2560"/>
              <a:buChar char="⚫"/>
            </a:pPr>
            <a:r>
              <a:rPr lang="en-US"/>
              <a:t>Negative testing covers scenarios for which the product is not designed and coded.</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0"/>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Negative Testing    cont …</a:t>
            </a:r>
            <a:endParaRPr/>
          </a:p>
        </p:txBody>
      </p:sp>
      <p:sp>
        <p:nvSpPr>
          <p:cNvPr id="269" name="Google Shape;269;p40"/>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lnSpcReduction="10000"/>
          </a:bodyPr>
          <a:lstStyle/>
          <a:p>
            <a:pPr indent="-283464" lvl="0" marL="365760" rtl="0" algn="just">
              <a:lnSpc>
                <a:spcPct val="100000"/>
              </a:lnSpc>
              <a:spcBef>
                <a:spcPts val="0"/>
              </a:spcBef>
              <a:spcAft>
                <a:spcPts val="0"/>
              </a:spcAft>
              <a:buSzPts val="2560"/>
              <a:buChar char="⚫"/>
            </a:pPr>
            <a:r>
              <a:rPr lang="en-US"/>
              <a:t>In other words, the input values may not have been represented in the specification of the product.</a:t>
            </a:r>
            <a:endParaRPr/>
          </a:p>
          <a:p>
            <a:pPr indent="-283464" lvl="0" marL="365760" rtl="0" algn="just">
              <a:lnSpc>
                <a:spcPct val="100000"/>
              </a:lnSpc>
              <a:spcBef>
                <a:spcPts val="600"/>
              </a:spcBef>
              <a:spcAft>
                <a:spcPts val="0"/>
              </a:spcAft>
              <a:buSzPts val="2560"/>
              <a:buChar char="⚫"/>
            </a:pPr>
            <a:r>
              <a:rPr lang="en-US"/>
              <a:t>These test conditions can be termed as unknown conditions for the product as far as the specifications are concerned.</a:t>
            </a:r>
            <a:endParaRPr/>
          </a:p>
          <a:p>
            <a:pPr indent="-283464" lvl="0" marL="365760" rtl="0" algn="just">
              <a:lnSpc>
                <a:spcPct val="100000"/>
              </a:lnSpc>
              <a:spcBef>
                <a:spcPts val="600"/>
              </a:spcBef>
              <a:spcAft>
                <a:spcPts val="0"/>
              </a:spcAft>
              <a:buSzPts val="2560"/>
              <a:buChar char="⚫"/>
            </a:pPr>
            <a:r>
              <a:rPr lang="en-US"/>
              <a:t>But, at the end-user level, there are multiple scenarios that are encountered and that need to be taken care of by the product.</a:t>
            </a:r>
            <a:endParaRPr/>
          </a:p>
          <a:p>
            <a:pPr indent="-120903" lvl="0" marL="365760" rtl="0" algn="just">
              <a:lnSpc>
                <a:spcPct val="100000"/>
              </a:lnSpc>
              <a:spcBef>
                <a:spcPts val="600"/>
              </a:spcBef>
              <a:spcAft>
                <a:spcPts val="0"/>
              </a:spcAft>
              <a:buSzPts val="256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1"/>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lang="en-US"/>
              <a:t>Negative Testing               cont …</a:t>
            </a:r>
            <a:endParaRPr/>
          </a:p>
        </p:txBody>
      </p:sp>
      <p:sp>
        <p:nvSpPr>
          <p:cNvPr id="275" name="Google Shape;275;p41"/>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560"/>
              <a:buChar char="⚫"/>
            </a:pPr>
            <a:r>
              <a:rPr lang="en-US"/>
              <a:t>It becomes even more important for the tester to know the negative situations that may occur at the end-user level so that the application can be tested and made fool proof.</a:t>
            </a:r>
            <a:endParaRPr/>
          </a:p>
          <a:p>
            <a:pPr indent="-283464" lvl="0" marL="365760" rtl="0" algn="just">
              <a:lnSpc>
                <a:spcPct val="100000"/>
              </a:lnSpc>
              <a:spcBef>
                <a:spcPts val="600"/>
              </a:spcBef>
              <a:spcAft>
                <a:spcPts val="0"/>
              </a:spcAft>
              <a:buSzPts val="2560"/>
              <a:buChar char="⚫"/>
            </a:pPr>
            <a:r>
              <a:rPr lang="en-US"/>
              <a:t>A negative test would be a product </a:t>
            </a:r>
            <a:r>
              <a:rPr i="1" lang="en-US"/>
              <a:t>not delivering an error when it should </a:t>
            </a:r>
            <a:r>
              <a:rPr lang="en-US"/>
              <a:t>or </a:t>
            </a:r>
            <a:r>
              <a:rPr i="1" lang="en-US"/>
              <a:t>delivering an error when it should not</a:t>
            </a:r>
            <a:r>
              <a:rPr lang="en-US"/>
              <a:t>.</a:t>
            </a:r>
            <a:endParaRPr/>
          </a:p>
          <a:p>
            <a:pPr indent="-120903" lvl="0" marL="365760" rtl="0" algn="l">
              <a:lnSpc>
                <a:spcPct val="100000"/>
              </a:lnSpc>
              <a:spcBef>
                <a:spcPts val="600"/>
              </a:spcBef>
              <a:spcAft>
                <a:spcPts val="0"/>
              </a:spcAft>
              <a:buSzPts val="256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2"/>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Negative Testing         cont …</a:t>
            </a:r>
            <a:endParaRPr/>
          </a:p>
        </p:txBody>
      </p:sp>
      <p:sp>
        <p:nvSpPr>
          <p:cNvPr id="281" name="Google Shape;281;p42"/>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lnSpcReduction="10000"/>
          </a:bodyPr>
          <a:lstStyle/>
          <a:p>
            <a:pPr indent="-283464" lvl="0" marL="365760" rtl="0" algn="just">
              <a:lnSpc>
                <a:spcPct val="100000"/>
              </a:lnSpc>
              <a:spcBef>
                <a:spcPts val="0"/>
              </a:spcBef>
              <a:spcAft>
                <a:spcPts val="0"/>
              </a:spcAft>
              <a:buSzPts val="2560"/>
              <a:buChar char="⚫"/>
            </a:pPr>
            <a:r>
              <a:rPr lang="en-US"/>
              <a:t>Negative Testing is testing process where the system is validated against the invalid input data. </a:t>
            </a:r>
            <a:endParaRPr/>
          </a:p>
          <a:p>
            <a:pPr indent="-283464" lvl="0" marL="365760" rtl="0" algn="just">
              <a:lnSpc>
                <a:spcPct val="100000"/>
              </a:lnSpc>
              <a:spcBef>
                <a:spcPts val="600"/>
              </a:spcBef>
              <a:spcAft>
                <a:spcPts val="0"/>
              </a:spcAft>
              <a:buSzPts val="2560"/>
              <a:buChar char="⚫"/>
            </a:pPr>
            <a:r>
              <a:rPr lang="en-US"/>
              <a:t>A negative test checks if an application behaves as expected with its negative inputs. </a:t>
            </a:r>
            <a:endParaRPr/>
          </a:p>
          <a:p>
            <a:pPr indent="-283464" lvl="0" marL="365760" rtl="0" algn="just">
              <a:lnSpc>
                <a:spcPct val="100000"/>
              </a:lnSpc>
              <a:spcBef>
                <a:spcPts val="600"/>
              </a:spcBef>
              <a:spcAft>
                <a:spcPts val="0"/>
              </a:spcAft>
              <a:buSzPts val="2560"/>
              <a:buChar char="⚫"/>
            </a:pPr>
            <a:r>
              <a:rPr lang="en-US"/>
              <a:t>The main intention of this testing is to check whether software application not showing error when supposed to and showing error when not supposed to. </a:t>
            </a:r>
            <a:endParaRPr/>
          </a:p>
          <a:p>
            <a:pPr indent="-120903" lvl="0" marL="365760" rtl="0" algn="just">
              <a:lnSpc>
                <a:spcPct val="100000"/>
              </a:lnSpc>
              <a:spcBef>
                <a:spcPts val="600"/>
              </a:spcBef>
              <a:spcAft>
                <a:spcPts val="0"/>
              </a:spcAft>
              <a:buSzPts val="2560"/>
              <a:buNone/>
            </a:pPr>
            <a:r>
              <a:t/>
            </a:r>
            <a:endParaRPr/>
          </a:p>
          <a:p>
            <a:pPr indent="-120903" lvl="0" marL="365760" rtl="0" algn="just">
              <a:lnSpc>
                <a:spcPct val="100000"/>
              </a:lnSpc>
              <a:spcBef>
                <a:spcPts val="600"/>
              </a:spcBef>
              <a:spcAft>
                <a:spcPts val="0"/>
              </a:spcAft>
              <a:buSzPts val="256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3"/>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Negative Testing          cont …</a:t>
            </a:r>
            <a:endParaRPr/>
          </a:p>
        </p:txBody>
      </p:sp>
      <p:sp>
        <p:nvSpPr>
          <p:cNvPr id="287" name="Google Shape;287;p43"/>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560"/>
              <a:buChar char="⚫"/>
            </a:pPr>
            <a:r>
              <a:rPr lang="en-US"/>
              <a:t>Such testing is to be carried out keeping negative point of view and only execute the test cases for only invalid set of input data.</a:t>
            </a:r>
            <a:endParaRPr/>
          </a:p>
          <a:p>
            <a:pPr indent="-283464" lvl="0" marL="365760" rtl="0" algn="just">
              <a:lnSpc>
                <a:spcPct val="100000"/>
              </a:lnSpc>
              <a:spcBef>
                <a:spcPts val="600"/>
              </a:spcBef>
              <a:spcAft>
                <a:spcPts val="0"/>
              </a:spcAft>
              <a:buSzPts val="2560"/>
              <a:buChar char="⚫"/>
            </a:pPr>
            <a:r>
              <a:rPr lang="en-US"/>
              <a:t>Negative testing is a testing process to identify the inputs where system is not designed or un-handled inputs by providing different invalid inputs. </a:t>
            </a:r>
            <a:endParaRPr/>
          </a:p>
          <a:p>
            <a:pPr indent="-120903" lvl="0" marL="365760" rtl="0" algn="just">
              <a:lnSpc>
                <a:spcPct val="100000"/>
              </a:lnSpc>
              <a:spcBef>
                <a:spcPts val="600"/>
              </a:spcBef>
              <a:spcAft>
                <a:spcPts val="0"/>
              </a:spcAft>
              <a:buSzPts val="2560"/>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4"/>
          <p:cNvSpPr txBox="1"/>
          <p:nvPr>
            <p:ph type="title"/>
          </p:nvPr>
        </p:nvSpPr>
        <p:spPr>
          <a:xfrm>
            <a:off x="971600" y="116632"/>
            <a:ext cx="7886700" cy="509451"/>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lang="en-US"/>
              <a:t>Negative Testing                   cont …</a:t>
            </a:r>
            <a:endParaRPr/>
          </a:p>
        </p:txBody>
      </p:sp>
      <p:sp>
        <p:nvSpPr>
          <p:cNvPr id="293" name="Google Shape;293;p44"/>
          <p:cNvSpPr txBox="1"/>
          <p:nvPr>
            <p:ph idx="1" type="body"/>
          </p:nvPr>
        </p:nvSpPr>
        <p:spPr>
          <a:xfrm>
            <a:off x="899592" y="692696"/>
            <a:ext cx="7886700" cy="585216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560"/>
              <a:buChar char="⚫"/>
            </a:pPr>
            <a:r>
              <a:rPr lang="en-US"/>
              <a:t>The main reason behind Negative testing is to check the stability of the software application against the influences of different variety of incorrect validation data set.</a:t>
            </a:r>
            <a:endParaRPr/>
          </a:p>
          <a:p>
            <a:pPr indent="-283464" lvl="0" marL="365760" rtl="0" algn="just">
              <a:lnSpc>
                <a:spcPct val="100000"/>
              </a:lnSpc>
              <a:spcBef>
                <a:spcPts val="600"/>
              </a:spcBef>
              <a:spcAft>
                <a:spcPts val="0"/>
              </a:spcAft>
              <a:buSzPts val="2560"/>
              <a:buChar char="⚫"/>
            </a:pPr>
            <a:r>
              <a:rPr lang="en-US"/>
              <a:t>The Negative testing helps to improve the testing coverage of your software application under test. </a:t>
            </a:r>
            <a:endParaRPr/>
          </a:p>
          <a:p>
            <a:pPr indent="-283464" lvl="0" marL="365760" rtl="0" algn="just">
              <a:lnSpc>
                <a:spcPct val="100000"/>
              </a:lnSpc>
              <a:spcBef>
                <a:spcPts val="600"/>
              </a:spcBef>
              <a:spcAft>
                <a:spcPts val="0"/>
              </a:spcAft>
              <a:buSzPts val="2560"/>
              <a:buChar char="⚫"/>
            </a:pPr>
            <a:r>
              <a:rPr lang="en-US"/>
              <a:t>Both positive and negative testing approaches are equally important for making your application more reliable and stable.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5"/>
          <p:cNvSpPr txBox="1"/>
          <p:nvPr>
            <p:ph type="title"/>
          </p:nvPr>
        </p:nvSpPr>
        <p:spPr>
          <a:xfrm>
            <a:off x="628650" y="1"/>
            <a:ext cx="7886700" cy="509451"/>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b="1" lang="en-US"/>
              <a:t>Example of Negative Testing</a:t>
            </a:r>
            <a:endParaRPr/>
          </a:p>
        </p:txBody>
      </p:sp>
      <p:sp>
        <p:nvSpPr>
          <p:cNvPr id="299" name="Google Shape;299;p45"/>
          <p:cNvSpPr txBox="1"/>
          <p:nvPr>
            <p:ph idx="1" type="body"/>
          </p:nvPr>
        </p:nvSpPr>
        <p:spPr>
          <a:xfrm>
            <a:off x="628650" y="535577"/>
            <a:ext cx="7886700" cy="2155372"/>
          </a:xfrm>
          <a:prstGeom prst="rect">
            <a:avLst/>
          </a:prstGeom>
          <a:noFill/>
          <a:ln>
            <a:noFill/>
          </a:ln>
        </p:spPr>
        <p:txBody>
          <a:bodyPr anchorCtr="0" anchor="t" bIns="45700" lIns="91425" spcFirstLastPara="1" rIns="91425" wrap="square" tIns="45700">
            <a:normAutofit fontScale="70000" lnSpcReduction="20000"/>
          </a:bodyPr>
          <a:lstStyle/>
          <a:p>
            <a:pPr indent="-283464" lvl="0" marL="365760" rtl="0" algn="l">
              <a:lnSpc>
                <a:spcPct val="100000"/>
              </a:lnSpc>
              <a:spcBef>
                <a:spcPts val="0"/>
              </a:spcBef>
              <a:spcAft>
                <a:spcPts val="0"/>
              </a:spcAft>
              <a:buSzPct val="80000"/>
              <a:buChar char="⚫"/>
            </a:pPr>
            <a:r>
              <a:rPr lang="en-US"/>
              <a:t>Consider a textbox example which should accept only integer values. </a:t>
            </a:r>
            <a:endParaRPr/>
          </a:p>
          <a:p>
            <a:pPr indent="-283464" lvl="0" marL="365760" rtl="0" algn="l">
              <a:lnSpc>
                <a:spcPct val="100000"/>
              </a:lnSpc>
              <a:spcBef>
                <a:spcPts val="600"/>
              </a:spcBef>
              <a:spcAft>
                <a:spcPts val="0"/>
              </a:spcAft>
              <a:buSzPct val="80000"/>
              <a:buChar char="⚫"/>
            </a:pPr>
            <a:r>
              <a:rPr lang="en-US"/>
              <a:t>So here provide the characters like “abcd” in the age textbox and check the behavior of application, either it should show a validation error message for all invalid inputs (for all other than integer values) or system should not allow to enter a non integer values.</a:t>
            </a:r>
            <a:endParaRPr/>
          </a:p>
        </p:txBody>
      </p:sp>
      <p:pic>
        <p:nvPicPr>
          <p:cNvPr descr="Negative Testing In Software Testing" id="300" name="Google Shape;300;p45">
            <a:hlinkClick r:id="rId3"/>
          </p:cNvPr>
          <p:cNvPicPr preferRelativeResize="0"/>
          <p:nvPr/>
        </p:nvPicPr>
        <p:blipFill rotWithShape="1">
          <a:blip r:embed="rId4">
            <a:alphaModFix/>
          </a:blip>
          <a:srcRect b="0" l="0" r="0" t="0"/>
          <a:stretch/>
        </p:blipFill>
        <p:spPr>
          <a:xfrm>
            <a:off x="1027883" y="2698568"/>
            <a:ext cx="6672671" cy="327115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6"/>
          <p:cNvSpPr txBox="1"/>
          <p:nvPr>
            <p:ph type="title"/>
          </p:nvPr>
        </p:nvSpPr>
        <p:spPr>
          <a:xfrm>
            <a:off x="929106" y="0"/>
            <a:ext cx="7886700" cy="79849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Example of negative test cases</a:t>
            </a:r>
            <a:endParaRPr/>
          </a:p>
        </p:txBody>
      </p:sp>
      <p:graphicFrame>
        <p:nvGraphicFramePr>
          <p:cNvPr id="306" name="Google Shape;306;p46"/>
          <p:cNvGraphicFramePr/>
          <p:nvPr/>
        </p:nvGraphicFramePr>
        <p:xfrm>
          <a:off x="1043608" y="908720"/>
          <a:ext cx="3000000" cy="3000000"/>
        </p:xfrm>
        <a:graphic>
          <a:graphicData uri="http://schemas.openxmlformats.org/drawingml/2006/table">
            <a:tbl>
              <a:tblPr bandRow="1" firstRow="1">
                <a:noFill/>
                <a:tableStyleId>{473734B6-BA08-44A9-8CC6-E126BA42955F}</a:tableStyleId>
              </a:tblPr>
              <a:tblGrid>
                <a:gridCol w="1008100"/>
                <a:gridCol w="2232250"/>
                <a:gridCol w="1872200"/>
                <a:gridCol w="1196800"/>
                <a:gridCol w="1323500"/>
              </a:tblGrid>
              <a:tr h="370850">
                <a:tc>
                  <a:txBody>
                    <a:bodyPr/>
                    <a:lstStyle/>
                    <a:p>
                      <a:pPr indent="0" lvl="0" marL="0" marR="0" rtl="0" algn="l">
                        <a:spcBef>
                          <a:spcPts val="0"/>
                        </a:spcBef>
                        <a:spcAft>
                          <a:spcPts val="0"/>
                        </a:spcAft>
                        <a:buNone/>
                      </a:pPr>
                      <a:r>
                        <a:rPr lang="en-US" sz="1800">
                          <a:solidFill>
                            <a:srgbClr val="000000"/>
                          </a:solidFill>
                        </a:rPr>
                        <a:t>Test Case id</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Input 1</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Input 2</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Current state</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Expected output</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1800">
                          <a:solidFill>
                            <a:srgbClr val="000000"/>
                          </a:solidFill>
                        </a:rPr>
                        <a:t>1</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Some other lock’s key</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Turn clockwise</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Lock</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Lock</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1800">
                          <a:solidFill>
                            <a:srgbClr val="000000"/>
                          </a:solidFill>
                        </a:rPr>
                        <a:t>2</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Gill Sans"/>
                        <a:buNone/>
                      </a:pPr>
                      <a:r>
                        <a:rPr lang="en-US" sz="1800">
                          <a:solidFill>
                            <a:srgbClr val="000000"/>
                          </a:solidFill>
                        </a:rPr>
                        <a:t>Some other lock’s key</a:t>
                      </a:r>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Gill Sans"/>
                        <a:buNone/>
                      </a:pPr>
                      <a:r>
                        <a:rPr lang="en-US" sz="1800">
                          <a:solidFill>
                            <a:srgbClr val="000000"/>
                          </a:solidFill>
                        </a:rPr>
                        <a:t>Turn anticlockwise</a:t>
                      </a:r>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Unlock</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Unlock</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1800">
                          <a:solidFill>
                            <a:srgbClr val="000000"/>
                          </a:solidFill>
                        </a:rPr>
                        <a:t>3</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Thin</a:t>
                      </a:r>
                      <a:r>
                        <a:rPr lang="en-US" sz="1800">
                          <a:solidFill>
                            <a:srgbClr val="000000"/>
                          </a:solidFill>
                        </a:rPr>
                        <a:t> piece of wire</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Gill Sans"/>
                        <a:buNone/>
                      </a:pPr>
                      <a:r>
                        <a:rPr lang="en-US" sz="1800">
                          <a:solidFill>
                            <a:srgbClr val="000000"/>
                          </a:solidFill>
                        </a:rPr>
                        <a:t>Turn anticlockwise</a:t>
                      </a:r>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Gill Sans"/>
                        <a:buNone/>
                      </a:pPr>
                      <a:r>
                        <a:rPr lang="en-US" sz="1800">
                          <a:solidFill>
                            <a:srgbClr val="000000"/>
                          </a:solidFill>
                        </a:rPr>
                        <a:t>Unlock</a:t>
                      </a:r>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Unlock</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1800">
                          <a:solidFill>
                            <a:srgbClr val="000000"/>
                          </a:solidFill>
                        </a:rPr>
                        <a:t>4</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Hit with a stone</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Gill Sans"/>
                        <a:buNone/>
                      </a:pPr>
                      <a:r>
                        <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Lock</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000000"/>
                          </a:solidFill>
                        </a:rPr>
                        <a:t>Lock</a:t>
                      </a:r>
                      <a:endParaRPr sz="1800">
                        <a:solidFill>
                          <a:srgbClr val="000000"/>
                        </a:solidFill>
                      </a:endParaRPr>
                    </a:p>
                  </a:txBody>
                  <a:tcPr marT="45725" marB="45725"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307" name="Google Shape;307;p46"/>
          <p:cNvSpPr txBox="1"/>
          <p:nvPr/>
        </p:nvSpPr>
        <p:spPr>
          <a:xfrm>
            <a:off x="970508" y="4065417"/>
            <a:ext cx="7803900" cy="3047700"/>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Gill Sans"/>
                <a:ea typeface="Gill Sans"/>
                <a:cs typeface="Gill Sans"/>
                <a:sym typeface="Gill Sans"/>
              </a:rPr>
              <a:t>In the above table, there are no requirement numbers, this is because negative testing focuses on test conditions that lie outside the specification.</a:t>
            </a:r>
            <a:endParaRPr/>
          </a:p>
          <a:p>
            <a:pPr indent="-285750" lvl="0" marL="28575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Gill Sans"/>
                <a:ea typeface="Gill Sans"/>
                <a:cs typeface="Gill Sans"/>
                <a:sym typeface="Gill Sans"/>
              </a:rPr>
              <a:t>Since all the test conditions are outside the specification, they cannot be categorized as positive and negative test conditions.</a:t>
            </a:r>
            <a:endParaRPr/>
          </a:p>
          <a:p>
            <a:pPr indent="-285750" lvl="0" marL="28575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Gill Sans"/>
                <a:ea typeface="Gill Sans"/>
                <a:cs typeface="Gill Sans"/>
                <a:sym typeface="Gill Sans"/>
              </a:rPr>
              <a:t>Some people consider all of them as negative test conditions, which is technically correct.</a:t>
            </a:r>
            <a:endParaRPr b="0" i="0" sz="2400" u="none" cap="none" strike="noStrike">
              <a:solidFill>
                <a:schemeClr val="dk1"/>
              </a:solidFill>
              <a:latin typeface="Gill Sans"/>
              <a:ea typeface="Gill Sans"/>
              <a:cs typeface="Gill Sans"/>
              <a:sym typeface="Gill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7"/>
          <p:cNvSpPr txBox="1"/>
          <p:nvPr>
            <p:ph type="title"/>
          </p:nvPr>
        </p:nvSpPr>
        <p:spPr>
          <a:xfrm>
            <a:off x="971600" y="116632"/>
            <a:ext cx="7886700" cy="509451"/>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lang="en-US"/>
              <a:t>Positive and negative testing scenarios</a:t>
            </a:r>
            <a:endParaRPr/>
          </a:p>
        </p:txBody>
      </p:sp>
      <p:sp>
        <p:nvSpPr>
          <p:cNvPr id="313" name="Google Shape;313;p47"/>
          <p:cNvSpPr txBox="1"/>
          <p:nvPr>
            <p:ph idx="1" type="body"/>
          </p:nvPr>
        </p:nvSpPr>
        <p:spPr>
          <a:xfrm>
            <a:off x="1043608" y="836712"/>
            <a:ext cx="7886700" cy="5460275"/>
          </a:xfrm>
          <a:prstGeom prst="rect">
            <a:avLst/>
          </a:prstGeom>
          <a:noFill/>
          <a:ln>
            <a:noFill/>
          </a:ln>
        </p:spPr>
        <p:txBody>
          <a:bodyPr anchorCtr="0" anchor="t" bIns="45700" lIns="91425" spcFirstLastPara="1" rIns="91425" wrap="square" tIns="45700">
            <a:normAutofit fontScale="77500" lnSpcReduction="20000"/>
          </a:bodyPr>
          <a:lstStyle/>
          <a:p>
            <a:pPr indent="-283464" lvl="0" marL="365760" rtl="0" algn="just">
              <a:lnSpc>
                <a:spcPct val="100000"/>
              </a:lnSpc>
              <a:spcBef>
                <a:spcPts val="0"/>
              </a:spcBef>
              <a:spcAft>
                <a:spcPts val="0"/>
              </a:spcAft>
              <a:buSzPct val="80000"/>
              <a:buChar char="⚫"/>
            </a:pPr>
            <a:r>
              <a:rPr lang="en-US"/>
              <a:t>If the requirement is saying that password text field should accepts 6 – 20 characters and only alphanumeric characters.</a:t>
            </a:r>
            <a:endParaRPr/>
          </a:p>
          <a:p>
            <a:pPr indent="-283464" lvl="0" marL="365760" rtl="0" algn="just">
              <a:lnSpc>
                <a:spcPct val="100000"/>
              </a:lnSpc>
              <a:spcBef>
                <a:spcPts val="600"/>
              </a:spcBef>
              <a:spcAft>
                <a:spcPts val="0"/>
              </a:spcAft>
              <a:buSzPct val="80000"/>
              <a:buNone/>
            </a:pPr>
            <a:r>
              <a:t/>
            </a:r>
            <a:endParaRPr/>
          </a:p>
          <a:p>
            <a:pPr indent="-283464" lvl="0" marL="365760" rtl="0" algn="just">
              <a:lnSpc>
                <a:spcPct val="100000"/>
              </a:lnSpc>
              <a:spcBef>
                <a:spcPts val="600"/>
              </a:spcBef>
              <a:spcAft>
                <a:spcPts val="0"/>
              </a:spcAft>
              <a:buSzPct val="80000"/>
              <a:buChar char="⚫"/>
            </a:pPr>
            <a:r>
              <a:rPr b="1" lang="en-US"/>
              <a:t>Positive Test Scenarios</a:t>
            </a:r>
            <a:endParaRPr/>
          </a:p>
          <a:p>
            <a:pPr indent="-237744" lvl="1" marL="640080" rtl="0" algn="just">
              <a:lnSpc>
                <a:spcPct val="100000"/>
              </a:lnSpc>
              <a:spcBef>
                <a:spcPts val="550"/>
              </a:spcBef>
              <a:spcAft>
                <a:spcPts val="0"/>
              </a:spcAft>
              <a:buSzPct val="87500"/>
              <a:buChar char="◦"/>
            </a:pPr>
            <a:r>
              <a:rPr lang="en-US"/>
              <a:t>Password textbox should accept 6 characters</a:t>
            </a:r>
            <a:endParaRPr sz="3200"/>
          </a:p>
          <a:p>
            <a:pPr indent="-237744" lvl="1" marL="640080" rtl="0" algn="just">
              <a:lnSpc>
                <a:spcPct val="100000"/>
              </a:lnSpc>
              <a:spcBef>
                <a:spcPts val="550"/>
              </a:spcBef>
              <a:spcAft>
                <a:spcPts val="0"/>
              </a:spcAft>
              <a:buSzPct val="87500"/>
              <a:buChar char="◦"/>
            </a:pPr>
            <a:r>
              <a:rPr lang="en-US"/>
              <a:t>Password textbox should up to 20 characters</a:t>
            </a:r>
            <a:endParaRPr sz="3200"/>
          </a:p>
          <a:p>
            <a:pPr indent="-237744" lvl="1" marL="640080" rtl="0" algn="just">
              <a:lnSpc>
                <a:spcPct val="100000"/>
              </a:lnSpc>
              <a:spcBef>
                <a:spcPts val="550"/>
              </a:spcBef>
              <a:spcAft>
                <a:spcPts val="0"/>
              </a:spcAft>
              <a:buSzPct val="87500"/>
              <a:buChar char="◦"/>
            </a:pPr>
            <a:r>
              <a:rPr lang="en-US"/>
              <a:t>Password textbox should accepts any value in between 6-20 chars length.</a:t>
            </a:r>
            <a:endParaRPr sz="3200"/>
          </a:p>
          <a:p>
            <a:pPr indent="-237744" lvl="1" marL="640080" rtl="0" algn="just">
              <a:lnSpc>
                <a:spcPct val="100000"/>
              </a:lnSpc>
              <a:spcBef>
                <a:spcPts val="550"/>
              </a:spcBef>
              <a:spcAft>
                <a:spcPts val="0"/>
              </a:spcAft>
              <a:buSzPct val="100000"/>
              <a:buChar char="◦"/>
            </a:pPr>
            <a:r>
              <a:rPr lang="en-US"/>
              <a:t>Password textbox should accepts all numeric and alphabets values.</a:t>
            </a:r>
            <a:endParaRPr b="1"/>
          </a:p>
          <a:p>
            <a:pPr indent="-283464" lvl="0" marL="365760" rtl="0" algn="just">
              <a:lnSpc>
                <a:spcPct val="100000"/>
              </a:lnSpc>
              <a:spcBef>
                <a:spcPts val="600"/>
              </a:spcBef>
              <a:spcAft>
                <a:spcPts val="0"/>
              </a:spcAft>
              <a:buSzPct val="80000"/>
              <a:buChar char="⚫"/>
            </a:pPr>
            <a:r>
              <a:rPr b="1" lang="en-US"/>
              <a:t>Negative Test scenarios</a:t>
            </a:r>
            <a:endParaRPr/>
          </a:p>
          <a:p>
            <a:pPr indent="-237744" lvl="1" marL="640080" rtl="0" algn="just">
              <a:lnSpc>
                <a:spcPct val="100000"/>
              </a:lnSpc>
              <a:spcBef>
                <a:spcPts val="550"/>
              </a:spcBef>
              <a:spcAft>
                <a:spcPts val="0"/>
              </a:spcAft>
              <a:buSzPct val="100000"/>
              <a:buChar char="◦"/>
            </a:pPr>
            <a:r>
              <a:rPr lang="en-US"/>
              <a:t>Password textbox should not accept less than 6 characters</a:t>
            </a:r>
            <a:endParaRPr/>
          </a:p>
          <a:p>
            <a:pPr indent="-237744" lvl="1" marL="640080" rtl="0" algn="just">
              <a:lnSpc>
                <a:spcPct val="100000"/>
              </a:lnSpc>
              <a:spcBef>
                <a:spcPts val="550"/>
              </a:spcBef>
              <a:spcAft>
                <a:spcPts val="0"/>
              </a:spcAft>
              <a:buSzPct val="100000"/>
              <a:buChar char="◦"/>
            </a:pPr>
            <a:r>
              <a:rPr lang="en-US"/>
              <a:t>Password textbox should not exceeds more than 20 characters</a:t>
            </a:r>
            <a:endParaRPr/>
          </a:p>
          <a:p>
            <a:pPr indent="-237744" lvl="1" marL="640080" rtl="0" algn="just">
              <a:lnSpc>
                <a:spcPct val="100000"/>
              </a:lnSpc>
              <a:spcBef>
                <a:spcPts val="550"/>
              </a:spcBef>
              <a:spcAft>
                <a:spcPts val="0"/>
              </a:spcAft>
              <a:buSzPct val="100000"/>
              <a:buChar char="◦"/>
            </a:pPr>
            <a:r>
              <a:rPr lang="en-US"/>
              <a:t>Password textbox should not accept special characters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8"/>
          <p:cNvSpPr txBox="1"/>
          <p:nvPr>
            <p:ph type="title"/>
          </p:nvPr>
        </p:nvSpPr>
        <p:spPr>
          <a:xfrm>
            <a:off x="899592" y="116632"/>
            <a:ext cx="7886700" cy="770709"/>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562214"/>
              </a:buClr>
              <a:buSzPts val="2800"/>
              <a:buFont typeface="Gill Sans"/>
              <a:buNone/>
            </a:pPr>
            <a:r>
              <a:rPr b="1" lang="en-US" sz="2800"/>
              <a:t>Positive and Negative Test Scenarios with Example</a:t>
            </a:r>
            <a:endParaRPr sz="2800"/>
          </a:p>
        </p:txBody>
      </p:sp>
      <p:sp>
        <p:nvSpPr>
          <p:cNvPr id="319" name="Google Shape;319;p48"/>
          <p:cNvSpPr txBox="1"/>
          <p:nvPr>
            <p:ph idx="1" type="body"/>
          </p:nvPr>
        </p:nvSpPr>
        <p:spPr>
          <a:xfrm>
            <a:off x="899592" y="1196752"/>
            <a:ext cx="7886700" cy="5112568"/>
          </a:xfrm>
          <a:prstGeom prst="rect">
            <a:avLst/>
          </a:prstGeom>
          <a:noFill/>
          <a:ln>
            <a:noFill/>
          </a:ln>
        </p:spPr>
        <p:txBody>
          <a:bodyPr anchorCtr="0" anchor="t" bIns="45700" lIns="91425" spcFirstLastPara="1" rIns="91425" wrap="square" tIns="45700">
            <a:normAutofit fontScale="85000" lnSpcReduction="20000"/>
          </a:bodyPr>
          <a:lstStyle/>
          <a:p>
            <a:pPr indent="-283464" lvl="0" marL="365760" rtl="0" algn="just">
              <a:lnSpc>
                <a:spcPct val="100000"/>
              </a:lnSpc>
              <a:spcBef>
                <a:spcPts val="0"/>
              </a:spcBef>
              <a:spcAft>
                <a:spcPts val="0"/>
              </a:spcAft>
              <a:buSzPct val="80000"/>
              <a:buChar char="⚫"/>
            </a:pPr>
            <a:r>
              <a:rPr lang="en-US"/>
              <a:t>Suppose, you are doing the testing on a login form which has following fields like Username, Password, and Sign In, Sign Up, Cancel, Login Button etc.</a:t>
            </a:r>
            <a:endParaRPr/>
          </a:p>
          <a:p>
            <a:pPr indent="-145287" lvl="0" marL="365760" rtl="0" algn="just">
              <a:lnSpc>
                <a:spcPct val="100000"/>
              </a:lnSpc>
              <a:spcBef>
                <a:spcPts val="600"/>
              </a:spcBef>
              <a:spcAft>
                <a:spcPts val="0"/>
              </a:spcAft>
              <a:buSzPct val="80000"/>
              <a:buNone/>
            </a:pPr>
            <a:r>
              <a:t/>
            </a:r>
            <a:endParaRPr/>
          </a:p>
          <a:p>
            <a:pPr indent="-283464" lvl="0" marL="365760" rtl="0" algn="just">
              <a:lnSpc>
                <a:spcPct val="100000"/>
              </a:lnSpc>
              <a:spcBef>
                <a:spcPts val="600"/>
              </a:spcBef>
              <a:spcAft>
                <a:spcPts val="0"/>
              </a:spcAft>
              <a:buSzPct val="80000"/>
              <a:buChar char="⚫"/>
            </a:pPr>
            <a:r>
              <a:rPr lang="en-US"/>
              <a:t>Now positive scenario of login form is that you enter the valid username and password in the username and password field, and then click on Login Button to check whether the user is able to login or not. </a:t>
            </a:r>
            <a:endParaRPr/>
          </a:p>
          <a:p>
            <a:pPr indent="-145287" lvl="0" marL="365760" rtl="0" algn="just">
              <a:lnSpc>
                <a:spcPct val="100000"/>
              </a:lnSpc>
              <a:spcBef>
                <a:spcPts val="600"/>
              </a:spcBef>
              <a:spcAft>
                <a:spcPts val="0"/>
              </a:spcAft>
              <a:buSzPct val="80000"/>
              <a:buNone/>
            </a:pPr>
            <a:r>
              <a:t/>
            </a:r>
            <a:endParaRPr/>
          </a:p>
          <a:p>
            <a:pPr indent="-283464" lvl="0" marL="365760" rtl="0" algn="just">
              <a:lnSpc>
                <a:spcPct val="100000"/>
              </a:lnSpc>
              <a:spcBef>
                <a:spcPts val="600"/>
              </a:spcBef>
              <a:spcAft>
                <a:spcPts val="0"/>
              </a:spcAft>
              <a:buSzPct val="80000"/>
              <a:buChar char="⚫"/>
            </a:pPr>
            <a:r>
              <a:rPr lang="en-US"/>
              <a:t>Negative scenario of login form is that you leave the password field blank and fill the username field, and then click on Login Button to check whether the user is able to login or not.</a:t>
            </a:r>
            <a:endParaRPr/>
          </a:p>
          <a:p>
            <a:pPr indent="-145287" lvl="0" marL="365760" rtl="0" algn="just">
              <a:lnSpc>
                <a:spcPct val="100000"/>
              </a:lnSpc>
              <a:spcBef>
                <a:spcPts val="600"/>
              </a:spcBef>
              <a:spcAft>
                <a:spcPts val="0"/>
              </a:spcAft>
              <a:buSzPct val="80000"/>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9"/>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lang="en-US"/>
              <a:t>Consideration for both the testing</a:t>
            </a:r>
            <a:endParaRPr/>
          </a:p>
        </p:txBody>
      </p:sp>
      <p:sp>
        <p:nvSpPr>
          <p:cNvPr id="325" name="Google Shape;325;p49"/>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l">
              <a:lnSpc>
                <a:spcPct val="100000"/>
              </a:lnSpc>
              <a:spcBef>
                <a:spcPts val="0"/>
              </a:spcBef>
              <a:spcAft>
                <a:spcPts val="0"/>
              </a:spcAft>
              <a:buSzPts val="2560"/>
              <a:buChar char="⚫"/>
            </a:pPr>
            <a:r>
              <a:rPr lang="en-US"/>
              <a:t>In both the testing, following needs to be considered: </a:t>
            </a:r>
            <a:endParaRPr/>
          </a:p>
          <a:p>
            <a:pPr indent="-237744" lvl="1" marL="640080" rtl="0" algn="l">
              <a:lnSpc>
                <a:spcPct val="100000"/>
              </a:lnSpc>
              <a:spcBef>
                <a:spcPts val="550"/>
              </a:spcBef>
              <a:spcAft>
                <a:spcPts val="0"/>
              </a:spcAft>
              <a:buSzPts val="2800"/>
              <a:buChar char="◦"/>
            </a:pPr>
            <a:r>
              <a:rPr lang="en-US"/>
              <a:t>Input data</a:t>
            </a:r>
            <a:endParaRPr/>
          </a:p>
          <a:p>
            <a:pPr indent="-237744" lvl="1" marL="640080" rtl="0" algn="l">
              <a:lnSpc>
                <a:spcPct val="100000"/>
              </a:lnSpc>
              <a:spcBef>
                <a:spcPts val="550"/>
              </a:spcBef>
              <a:spcAft>
                <a:spcPts val="0"/>
              </a:spcAft>
              <a:buSzPts val="2800"/>
              <a:buChar char="◦"/>
            </a:pPr>
            <a:r>
              <a:rPr lang="en-US"/>
              <a:t>Action which needs to be performed</a:t>
            </a:r>
            <a:endParaRPr/>
          </a:p>
          <a:p>
            <a:pPr indent="-237744" lvl="1" marL="640080" rtl="0" algn="l">
              <a:lnSpc>
                <a:spcPct val="100000"/>
              </a:lnSpc>
              <a:spcBef>
                <a:spcPts val="550"/>
              </a:spcBef>
              <a:spcAft>
                <a:spcPts val="0"/>
              </a:spcAft>
              <a:buSzPts val="2800"/>
              <a:buChar char="◦"/>
            </a:pPr>
            <a:r>
              <a:rPr lang="en-US"/>
              <a:t>Output Result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0"/>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b="1" lang="en-US"/>
              <a:t>Testing Technique used for Positive and Negative Testing</a:t>
            </a:r>
            <a:endParaRPr/>
          </a:p>
        </p:txBody>
      </p:sp>
      <p:sp>
        <p:nvSpPr>
          <p:cNvPr id="331" name="Google Shape;331;p50"/>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l">
              <a:lnSpc>
                <a:spcPct val="100000"/>
              </a:lnSpc>
              <a:spcBef>
                <a:spcPts val="0"/>
              </a:spcBef>
              <a:spcAft>
                <a:spcPts val="0"/>
              </a:spcAft>
              <a:buSzPts val="2560"/>
              <a:buChar char="⚫"/>
            </a:pPr>
            <a:r>
              <a:rPr lang="en-US"/>
              <a:t>Following techniques are used for Positive and negative validation of testing: </a:t>
            </a:r>
            <a:endParaRPr/>
          </a:p>
          <a:p>
            <a:pPr indent="-237744" lvl="1" marL="640080" rtl="0" algn="l">
              <a:lnSpc>
                <a:spcPct val="100000"/>
              </a:lnSpc>
              <a:spcBef>
                <a:spcPts val="550"/>
              </a:spcBef>
              <a:spcAft>
                <a:spcPts val="0"/>
              </a:spcAft>
              <a:buSzPts val="2800"/>
              <a:buChar char="◦"/>
            </a:pPr>
            <a:r>
              <a:rPr lang="en-US"/>
              <a:t> Boundary Value Analysis</a:t>
            </a:r>
            <a:endParaRPr/>
          </a:p>
          <a:p>
            <a:pPr indent="-237744" lvl="1" marL="640080" rtl="0" algn="l">
              <a:lnSpc>
                <a:spcPct val="100000"/>
              </a:lnSpc>
              <a:spcBef>
                <a:spcPts val="550"/>
              </a:spcBef>
              <a:spcAft>
                <a:spcPts val="0"/>
              </a:spcAft>
              <a:buSzPts val="2800"/>
              <a:buChar char="◦"/>
            </a:pPr>
            <a:r>
              <a:rPr lang="en-US"/>
              <a:t> Equivalence Partitioning</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51"/>
          <p:cNvSpPr txBox="1"/>
          <p:nvPr>
            <p:ph type="title"/>
          </p:nvPr>
        </p:nvSpPr>
        <p:spPr>
          <a:xfrm>
            <a:off x="971600" y="0"/>
            <a:ext cx="7886700" cy="666206"/>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b="1" lang="en-US"/>
              <a:t>Boundary Value Analysis</a:t>
            </a:r>
            <a:endParaRPr/>
          </a:p>
        </p:txBody>
      </p:sp>
      <p:sp>
        <p:nvSpPr>
          <p:cNvPr id="337" name="Google Shape;337;p51"/>
          <p:cNvSpPr txBox="1"/>
          <p:nvPr>
            <p:ph idx="1" type="body"/>
          </p:nvPr>
        </p:nvSpPr>
        <p:spPr>
          <a:xfrm>
            <a:off x="899592" y="692696"/>
            <a:ext cx="7886700" cy="2785563"/>
          </a:xfrm>
          <a:prstGeom prst="rect">
            <a:avLst/>
          </a:prstGeom>
          <a:noFill/>
          <a:ln>
            <a:noFill/>
          </a:ln>
        </p:spPr>
        <p:txBody>
          <a:bodyPr anchorCtr="0" anchor="t" bIns="45700" lIns="91425" spcFirstLastPara="1" rIns="91425" wrap="square" tIns="45700">
            <a:normAutofit fontScale="85000" lnSpcReduction="20000"/>
          </a:bodyPr>
          <a:lstStyle/>
          <a:p>
            <a:pPr indent="-283464" lvl="0" marL="365760" rtl="0" algn="l">
              <a:lnSpc>
                <a:spcPct val="100000"/>
              </a:lnSpc>
              <a:spcBef>
                <a:spcPts val="0"/>
              </a:spcBef>
              <a:spcAft>
                <a:spcPts val="0"/>
              </a:spcAft>
              <a:buSzPct val="80000"/>
              <a:buChar char="⚫"/>
            </a:pPr>
            <a:r>
              <a:rPr lang="en-US"/>
              <a:t>This is one of the software testing technique in which the test cases are designed to include values at the  boundary. </a:t>
            </a:r>
            <a:endParaRPr/>
          </a:p>
          <a:p>
            <a:pPr indent="-283464" lvl="0" marL="365760" rtl="0" algn="l">
              <a:lnSpc>
                <a:spcPct val="100000"/>
              </a:lnSpc>
              <a:spcBef>
                <a:spcPts val="600"/>
              </a:spcBef>
              <a:spcAft>
                <a:spcPts val="0"/>
              </a:spcAft>
              <a:buSzPct val="80000"/>
              <a:buChar char="⚫"/>
            </a:pPr>
            <a:r>
              <a:rPr lang="en-US"/>
              <a:t>If the input data is used within the boundary value limits, then it is said to be Positive Testing. </a:t>
            </a:r>
            <a:endParaRPr/>
          </a:p>
          <a:p>
            <a:pPr indent="-283464" lvl="0" marL="365760" rtl="0" algn="l">
              <a:lnSpc>
                <a:spcPct val="100000"/>
              </a:lnSpc>
              <a:spcBef>
                <a:spcPts val="600"/>
              </a:spcBef>
              <a:spcAft>
                <a:spcPts val="0"/>
              </a:spcAft>
              <a:buSzPct val="80000"/>
              <a:buChar char="⚫"/>
            </a:pPr>
            <a:r>
              <a:rPr lang="en-US"/>
              <a:t>If the input data is picked outside the boundary value limits, then it is said to be Negative Testing.</a:t>
            </a:r>
            <a:endParaRPr/>
          </a:p>
          <a:p>
            <a:pPr indent="-145287" lvl="0" marL="365760" rtl="0" algn="l">
              <a:lnSpc>
                <a:spcPct val="100000"/>
              </a:lnSpc>
              <a:spcBef>
                <a:spcPts val="600"/>
              </a:spcBef>
              <a:spcAft>
                <a:spcPts val="0"/>
              </a:spcAft>
              <a:buSzPct val="80000"/>
              <a:buNone/>
            </a:pPr>
            <a:r>
              <a:t/>
            </a:r>
            <a:endParaRPr/>
          </a:p>
        </p:txBody>
      </p:sp>
      <p:pic>
        <p:nvPicPr>
          <p:cNvPr descr="alt" id="338" name="Google Shape;338;p51">
            <a:hlinkClick r:id="rId3"/>
          </p:cNvPr>
          <p:cNvPicPr preferRelativeResize="0"/>
          <p:nvPr/>
        </p:nvPicPr>
        <p:blipFill rotWithShape="1">
          <a:blip r:embed="rId4">
            <a:alphaModFix/>
          </a:blip>
          <a:srcRect b="0" l="0" r="0" t="0"/>
          <a:stretch/>
        </p:blipFill>
        <p:spPr>
          <a:xfrm>
            <a:off x="3948250" y="3135086"/>
            <a:ext cx="3544626" cy="314678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Example</a:t>
            </a:r>
            <a:endParaRPr/>
          </a:p>
        </p:txBody>
      </p:sp>
      <p:sp>
        <p:nvSpPr>
          <p:cNvPr id="344" name="Google Shape;344;p52"/>
          <p:cNvSpPr txBox="1"/>
          <p:nvPr>
            <p:ph idx="1" type="body"/>
          </p:nvPr>
        </p:nvSpPr>
        <p:spPr>
          <a:xfrm>
            <a:off x="1043608" y="1700808"/>
            <a:ext cx="7886700" cy="1727472"/>
          </a:xfrm>
          <a:prstGeom prst="rect">
            <a:avLst/>
          </a:prstGeom>
          <a:noFill/>
          <a:ln>
            <a:noFill/>
          </a:ln>
        </p:spPr>
        <p:txBody>
          <a:bodyPr anchorCtr="0" anchor="t" bIns="45700" lIns="91425" spcFirstLastPara="1" rIns="91425" wrap="square" tIns="45700">
            <a:normAutofit fontScale="70000" lnSpcReduction="20000"/>
          </a:bodyPr>
          <a:lstStyle/>
          <a:p>
            <a:pPr indent="-283464" lvl="0" marL="365760" rtl="0" algn="l">
              <a:lnSpc>
                <a:spcPct val="100000"/>
              </a:lnSpc>
              <a:spcBef>
                <a:spcPts val="0"/>
              </a:spcBef>
              <a:spcAft>
                <a:spcPts val="0"/>
              </a:spcAft>
              <a:buSzPct val="80000"/>
              <a:buChar char="⚫"/>
            </a:pPr>
            <a:r>
              <a:rPr lang="en-US"/>
              <a:t>A system can accept the numbers from 0 to 10 numeric values. </a:t>
            </a:r>
            <a:endParaRPr/>
          </a:p>
          <a:p>
            <a:pPr indent="-283464" lvl="0" marL="365760" rtl="0" algn="l">
              <a:lnSpc>
                <a:spcPct val="100000"/>
              </a:lnSpc>
              <a:spcBef>
                <a:spcPts val="600"/>
              </a:spcBef>
              <a:spcAft>
                <a:spcPts val="0"/>
              </a:spcAft>
              <a:buSzPct val="80000"/>
              <a:buChar char="⚫"/>
            </a:pPr>
            <a:r>
              <a:rPr lang="en-US"/>
              <a:t>All other numbers are invalid values. </a:t>
            </a:r>
            <a:endParaRPr/>
          </a:p>
          <a:p>
            <a:pPr indent="-283464" lvl="0" marL="365760" rtl="0" algn="l">
              <a:lnSpc>
                <a:spcPct val="100000"/>
              </a:lnSpc>
              <a:spcBef>
                <a:spcPts val="600"/>
              </a:spcBef>
              <a:spcAft>
                <a:spcPts val="0"/>
              </a:spcAft>
              <a:buSzPct val="80000"/>
              <a:buChar char="⚫"/>
            </a:pPr>
            <a:r>
              <a:rPr lang="en-US"/>
              <a:t>Under this technique , boundary values 0 , 10 and -10 will be tested. </a:t>
            </a:r>
            <a:endParaRPr/>
          </a:p>
          <a:p>
            <a:pPr indent="-169671" lvl="0" marL="365760" rtl="0" algn="l">
              <a:lnSpc>
                <a:spcPct val="100000"/>
              </a:lnSpc>
              <a:spcBef>
                <a:spcPts val="600"/>
              </a:spcBef>
              <a:spcAft>
                <a:spcPts val="0"/>
              </a:spcAft>
              <a:buSzPct val="80000"/>
              <a:buNone/>
            </a:pPr>
            <a:r>
              <a:t/>
            </a:r>
            <a:endParaRPr/>
          </a:p>
        </p:txBody>
      </p:sp>
      <p:pic>
        <p:nvPicPr>
          <p:cNvPr descr="alt" id="345" name="Google Shape;345;p52">
            <a:hlinkClick r:id="rId3"/>
          </p:cNvPr>
          <p:cNvPicPr preferRelativeResize="0"/>
          <p:nvPr/>
        </p:nvPicPr>
        <p:blipFill rotWithShape="1">
          <a:blip r:embed="rId4">
            <a:alphaModFix/>
          </a:blip>
          <a:srcRect b="0" l="0" r="0" t="0"/>
          <a:stretch/>
        </p:blipFill>
        <p:spPr>
          <a:xfrm>
            <a:off x="1636123" y="3331029"/>
            <a:ext cx="6152606" cy="310896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3"/>
          <p:cNvSpPr txBox="1"/>
          <p:nvPr>
            <p:ph type="title"/>
          </p:nvPr>
        </p:nvSpPr>
        <p:spPr>
          <a:xfrm>
            <a:off x="899592" y="692696"/>
            <a:ext cx="7886700" cy="679269"/>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b="1" lang="en-US"/>
              <a:t>Equivalence Partitioning</a:t>
            </a:r>
            <a:endParaRPr/>
          </a:p>
        </p:txBody>
      </p:sp>
      <p:sp>
        <p:nvSpPr>
          <p:cNvPr id="351" name="Google Shape;351;p53"/>
          <p:cNvSpPr txBox="1"/>
          <p:nvPr>
            <p:ph idx="1" type="body"/>
          </p:nvPr>
        </p:nvSpPr>
        <p:spPr>
          <a:xfrm>
            <a:off x="899592" y="1772816"/>
            <a:ext cx="7886700" cy="2704011"/>
          </a:xfrm>
          <a:prstGeom prst="rect">
            <a:avLst/>
          </a:prstGeom>
          <a:noFill/>
          <a:ln>
            <a:noFill/>
          </a:ln>
        </p:spPr>
        <p:txBody>
          <a:bodyPr anchorCtr="0" anchor="t" bIns="45700" lIns="91425" spcFirstLastPara="1" rIns="91425" wrap="square" tIns="45700">
            <a:normAutofit fontScale="77500" lnSpcReduction="20000"/>
          </a:bodyPr>
          <a:lstStyle/>
          <a:p>
            <a:pPr indent="-283464" lvl="0" marL="365760" rtl="0" algn="l">
              <a:lnSpc>
                <a:spcPct val="100000"/>
              </a:lnSpc>
              <a:spcBef>
                <a:spcPts val="0"/>
              </a:spcBef>
              <a:spcAft>
                <a:spcPts val="0"/>
              </a:spcAft>
              <a:buSzPct val="80000"/>
              <a:buChar char="⚫"/>
            </a:pPr>
            <a:r>
              <a:rPr lang="en-US"/>
              <a:t>This is a software testing technique which divides the input data into many partitions.</a:t>
            </a:r>
            <a:endParaRPr/>
          </a:p>
          <a:p>
            <a:pPr indent="-283464" lvl="0" marL="365760" rtl="0" algn="l">
              <a:lnSpc>
                <a:spcPct val="100000"/>
              </a:lnSpc>
              <a:spcBef>
                <a:spcPts val="600"/>
              </a:spcBef>
              <a:spcAft>
                <a:spcPts val="0"/>
              </a:spcAft>
              <a:buSzPct val="80000"/>
              <a:buChar char="⚫"/>
            </a:pPr>
            <a:r>
              <a:rPr lang="en-US"/>
              <a:t>Values from each partition must be tested at least once.  </a:t>
            </a:r>
            <a:endParaRPr/>
          </a:p>
          <a:p>
            <a:pPr indent="-283464" lvl="0" marL="365760" rtl="0" algn="l">
              <a:lnSpc>
                <a:spcPct val="100000"/>
              </a:lnSpc>
              <a:spcBef>
                <a:spcPts val="600"/>
              </a:spcBef>
              <a:spcAft>
                <a:spcPts val="0"/>
              </a:spcAft>
              <a:buSzPct val="80000"/>
              <a:buChar char="⚫"/>
            </a:pPr>
            <a:r>
              <a:rPr lang="en-US"/>
              <a:t>Partitions with valid values are used for Positive Testing. </a:t>
            </a:r>
            <a:endParaRPr/>
          </a:p>
          <a:p>
            <a:pPr indent="-283464" lvl="0" marL="365760" rtl="0" algn="l">
              <a:lnSpc>
                <a:spcPct val="100000"/>
              </a:lnSpc>
              <a:spcBef>
                <a:spcPts val="600"/>
              </a:spcBef>
              <a:spcAft>
                <a:spcPts val="0"/>
              </a:spcAft>
              <a:buSzPct val="80000"/>
              <a:buChar char="⚫"/>
            </a:pPr>
            <a:r>
              <a:rPr lang="en-US"/>
              <a:t>While partitions with invalid values are used for negative testing.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4"/>
          <p:cNvSpPr txBox="1"/>
          <p:nvPr>
            <p:ph type="title"/>
          </p:nvPr>
        </p:nvSpPr>
        <p:spPr>
          <a:xfrm>
            <a:off x="899592" y="21464"/>
            <a:ext cx="7886700" cy="84908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Example</a:t>
            </a:r>
            <a:endParaRPr/>
          </a:p>
        </p:txBody>
      </p:sp>
      <p:sp>
        <p:nvSpPr>
          <p:cNvPr id="357" name="Google Shape;357;p54"/>
          <p:cNvSpPr txBox="1"/>
          <p:nvPr>
            <p:ph idx="1" type="body"/>
          </p:nvPr>
        </p:nvSpPr>
        <p:spPr>
          <a:xfrm>
            <a:off x="827584" y="908720"/>
            <a:ext cx="7886700" cy="2160240"/>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1920"/>
              <a:buChar char="⚫"/>
            </a:pPr>
            <a:r>
              <a:rPr lang="en-US" sz="2400"/>
              <a:t>Numeric values Zero to ten can be divided to two( or three )partition.</a:t>
            </a:r>
            <a:endParaRPr/>
          </a:p>
          <a:p>
            <a:pPr indent="-283464" lvl="0" marL="365760" rtl="0" algn="just">
              <a:lnSpc>
                <a:spcPct val="100000"/>
              </a:lnSpc>
              <a:spcBef>
                <a:spcPts val="600"/>
              </a:spcBef>
              <a:spcAft>
                <a:spcPts val="0"/>
              </a:spcAft>
              <a:buSzPts val="1920"/>
              <a:buChar char="⚫"/>
            </a:pPr>
            <a:r>
              <a:rPr lang="en-US" sz="2400"/>
              <a:t> In our case we have two partitions -10 to -1  and  0 to 10. </a:t>
            </a:r>
            <a:endParaRPr/>
          </a:p>
          <a:p>
            <a:pPr indent="-283464" lvl="0" marL="365760" rtl="0" algn="just">
              <a:lnSpc>
                <a:spcPct val="100000"/>
              </a:lnSpc>
              <a:spcBef>
                <a:spcPts val="600"/>
              </a:spcBef>
              <a:spcAft>
                <a:spcPts val="0"/>
              </a:spcAft>
              <a:buSzPts val="1920"/>
              <a:buChar char="⚫"/>
            </a:pPr>
            <a:r>
              <a:rPr lang="en-US" sz="2400"/>
              <a:t>Sample values (5 and -5) can be taken from each part to test the scenarios. </a:t>
            </a:r>
            <a:endParaRPr sz="2400"/>
          </a:p>
        </p:txBody>
      </p:sp>
      <p:pic>
        <p:nvPicPr>
          <p:cNvPr descr="alt" id="358" name="Google Shape;358;p54">
            <a:hlinkClick r:id="rId3"/>
          </p:cNvPr>
          <p:cNvPicPr preferRelativeResize="0"/>
          <p:nvPr/>
        </p:nvPicPr>
        <p:blipFill rotWithShape="1">
          <a:blip r:embed="rId4">
            <a:alphaModFix/>
          </a:blip>
          <a:srcRect b="0" l="0" r="0" t="0"/>
          <a:stretch/>
        </p:blipFill>
        <p:spPr>
          <a:xfrm>
            <a:off x="1691680" y="2924944"/>
            <a:ext cx="5942951" cy="381642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5"/>
          <p:cNvSpPr txBox="1"/>
          <p:nvPr>
            <p:ph type="title"/>
          </p:nvPr>
        </p:nvSpPr>
        <p:spPr>
          <a:xfrm>
            <a:off x="677636" y="0"/>
            <a:ext cx="7886700" cy="61818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562214"/>
              </a:buClr>
              <a:buSzPts val="2800"/>
              <a:buFont typeface="Gill Sans"/>
              <a:buNone/>
            </a:pPr>
            <a:r>
              <a:rPr lang="en-US" sz="2800"/>
              <a:t>Difference between positive and negative testing</a:t>
            </a:r>
            <a:endParaRPr sz="2800"/>
          </a:p>
        </p:txBody>
      </p:sp>
      <p:sp>
        <p:nvSpPr>
          <p:cNvPr id="364" name="Google Shape;364;p55"/>
          <p:cNvSpPr txBox="1"/>
          <p:nvPr>
            <p:ph idx="1" type="body"/>
          </p:nvPr>
        </p:nvSpPr>
        <p:spPr>
          <a:xfrm>
            <a:off x="971600" y="692696"/>
            <a:ext cx="7886700" cy="3141523"/>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600"/>
              <a:buChar char="⚫"/>
            </a:pPr>
            <a:r>
              <a:rPr lang="en-US" sz="2000"/>
              <a:t>For positive testing if all documented requirements and test conditions are covered, then coverage can be considered to be 100 percent.</a:t>
            </a:r>
            <a:endParaRPr/>
          </a:p>
          <a:p>
            <a:pPr indent="-283464" lvl="0" marL="365760" rtl="0" algn="just">
              <a:lnSpc>
                <a:spcPct val="100000"/>
              </a:lnSpc>
              <a:spcBef>
                <a:spcPts val="600"/>
              </a:spcBef>
              <a:spcAft>
                <a:spcPts val="0"/>
              </a:spcAft>
              <a:buSzPts val="1600"/>
              <a:buChar char="⚫"/>
            </a:pPr>
            <a:r>
              <a:rPr lang="en-US" sz="2000"/>
              <a:t>If the specifications are very clear, then coverage can be achieved.</a:t>
            </a:r>
            <a:endParaRPr/>
          </a:p>
          <a:p>
            <a:pPr indent="-283464" lvl="0" marL="365760" rtl="0" algn="just">
              <a:lnSpc>
                <a:spcPct val="100000"/>
              </a:lnSpc>
              <a:spcBef>
                <a:spcPts val="600"/>
              </a:spcBef>
              <a:spcAft>
                <a:spcPts val="0"/>
              </a:spcAft>
              <a:buSzPts val="1600"/>
              <a:buChar char="⚫"/>
            </a:pPr>
            <a:r>
              <a:rPr lang="en-US" sz="2000"/>
              <a:t>In contrast, there is no end to negative testing and 100 percent coverage in negative testing is impractical.</a:t>
            </a:r>
            <a:endParaRPr/>
          </a:p>
          <a:p>
            <a:pPr indent="-283464" lvl="0" marL="365760" rtl="0" algn="just">
              <a:lnSpc>
                <a:spcPct val="100000"/>
              </a:lnSpc>
              <a:spcBef>
                <a:spcPts val="600"/>
              </a:spcBef>
              <a:spcAft>
                <a:spcPts val="0"/>
              </a:spcAft>
              <a:buSzPts val="1600"/>
              <a:buChar char="⚫"/>
            </a:pPr>
            <a:r>
              <a:rPr lang="en-US" sz="2000"/>
              <a:t>Negative testing requires a high degree of creativity among the testers to cover as many “unknowns” as possible to avoid failure at a customer site.</a:t>
            </a:r>
            <a:endParaRPr sz="2000"/>
          </a:p>
        </p:txBody>
      </p:sp>
      <p:pic>
        <p:nvPicPr>
          <p:cNvPr descr="Positive and Negative Testing" id="365" name="Google Shape;365;p55">
            <a:hlinkClick r:id="rId3"/>
          </p:cNvPr>
          <p:cNvPicPr preferRelativeResize="0"/>
          <p:nvPr/>
        </p:nvPicPr>
        <p:blipFill rotWithShape="1">
          <a:blip r:embed="rId4">
            <a:alphaModFix/>
          </a:blip>
          <a:srcRect b="0" l="0" r="0" t="0"/>
          <a:stretch/>
        </p:blipFill>
        <p:spPr>
          <a:xfrm>
            <a:off x="2721972" y="3620452"/>
            <a:ext cx="3842113" cy="306773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6"/>
          <p:cNvSpPr txBox="1"/>
          <p:nvPr>
            <p:ph type="title"/>
          </p:nvPr>
        </p:nvSpPr>
        <p:spPr>
          <a:xfrm>
            <a:off x="1043608" y="188640"/>
            <a:ext cx="7886700" cy="574766"/>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62214"/>
              </a:buClr>
              <a:buSzPts val="2400"/>
              <a:buFont typeface="Gill Sans"/>
              <a:buNone/>
            </a:pPr>
            <a:r>
              <a:rPr b="1" lang="en-US" sz="2400"/>
              <a:t>Top Distinctions between Positive &amp; Negative Testing</a:t>
            </a:r>
            <a:endParaRPr sz="2400"/>
          </a:p>
        </p:txBody>
      </p:sp>
      <p:graphicFrame>
        <p:nvGraphicFramePr>
          <p:cNvPr id="371" name="Google Shape;371;p56"/>
          <p:cNvGraphicFramePr/>
          <p:nvPr/>
        </p:nvGraphicFramePr>
        <p:xfrm>
          <a:off x="1115616" y="980728"/>
          <a:ext cx="3000000" cy="3000000"/>
        </p:xfrm>
        <a:graphic>
          <a:graphicData uri="http://schemas.openxmlformats.org/drawingml/2006/table">
            <a:tbl>
              <a:tblPr bandRow="1" firstRow="1">
                <a:noFill/>
                <a:tableStyleId>{473734B6-BA08-44A9-8CC6-E126BA42955F}</a:tableStyleId>
              </a:tblPr>
              <a:tblGrid>
                <a:gridCol w="3943350"/>
                <a:gridCol w="3943350"/>
              </a:tblGrid>
              <a:tr h="390700">
                <a:tc>
                  <a:txBody>
                    <a:bodyPr/>
                    <a:lstStyle/>
                    <a:p>
                      <a:pPr indent="0" lvl="0" marL="0" marR="0" rtl="0" algn="l">
                        <a:lnSpc>
                          <a:spcPct val="107000"/>
                        </a:lnSpc>
                        <a:spcBef>
                          <a:spcPts val="0"/>
                        </a:spcBef>
                        <a:spcAft>
                          <a:spcPts val="0"/>
                        </a:spcAft>
                        <a:buNone/>
                      </a:pPr>
                      <a:r>
                        <a:rPr lang="en-US" sz="1400">
                          <a:solidFill>
                            <a:srgbClr val="000000"/>
                          </a:solidFill>
                          <a:latin typeface="Verdana"/>
                          <a:ea typeface="Verdana"/>
                          <a:cs typeface="Verdana"/>
                          <a:sym typeface="Verdana"/>
                        </a:rPr>
                        <a:t>    </a:t>
                      </a:r>
                      <a:r>
                        <a:rPr b="1" lang="en-US" sz="1400">
                          <a:solidFill>
                            <a:srgbClr val="000000"/>
                          </a:solidFill>
                          <a:latin typeface="Verdana"/>
                          <a:ea typeface="Verdana"/>
                          <a:cs typeface="Verdana"/>
                          <a:sym typeface="Verdana"/>
                        </a:rPr>
                        <a:t>Positive Testing (Valid)</a:t>
                      </a:r>
                      <a:endParaRPr sz="1400">
                        <a:latin typeface="Calibri"/>
                        <a:ea typeface="Calibri"/>
                        <a:cs typeface="Calibri"/>
                        <a:sym typeface="Calibri"/>
                      </a:endParaRPr>
                    </a:p>
                  </a:txBody>
                  <a:tcPr marT="0" marB="0" marR="51425" marL="5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US" sz="1400">
                          <a:solidFill>
                            <a:srgbClr val="000000"/>
                          </a:solidFill>
                          <a:latin typeface="Verdana"/>
                          <a:ea typeface="Verdana"/>
                          <a:cs typeface="Verdana"/>
                          <a:sym typeface="Verdana"/>
                        </a:rPr>
                        <a:t>   </a:t>
                      </a:r>
                      <a:r>
                        <a:rPr b="1" lang="en-US" sz="1400">
                          <a:solidFill>
                            <a:srgbClr val="000000"/>
                          </a:solidFill>
                          <a:latin typeface="Verdana"/>
                          <a:ea typeface="Verdana"/>
                          <a:cs typeface="Verdana"/>
                          <a:sym typeface="Verdana"/>
                        </a:rPr>
                        <a:t>Negative Testing (Invalid)</a:t>
                      </a:r>
                      <a:endParaRPr sz="1400">
                        <a:latin typeface="Calibri"/>
                        <a:ea typeface="Calibri"/>
                        <a:cs typeface="Calibri"/>
                        <a:sym typeface="Calibri"/>
                      </a:endParaRPr>
                    </a:p>
                  </a:txBody>
                  <a:tcPr marT="0" marB="0" marR="51425" marL="5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5300">
                <a:tc>
                  <a:txBody>
                    <a:bodyPr/>
                    <a:lstStyle/>
                    <a:p>
                      <a:pPr indent="0" lvl="0" marL="0" marR="0" rtl="0" algn="l">
                        <a:lnSpc>
                          <a:spcPct val="107000"/>
                        </a:lnSpc>
                        <a:spcBef>
                          <a:spcPts val="0"/>
                        </a:spcBef>
                        <a:spcAft>
                          <a:spcPts val="0"/>
                        </a:spcAft>
                        <a:buNone/>
                      </a:pPr>
                      <a:r>
                        <a:rPr lang="en-US" sz="1400">
                          <a:solidFill>
                            <a:srgbClr val="000000"/>
                          </a:solidFill>
                          <a:latin typeface="Verdana"/>
                          <a:ea typeface="Verdana"/>
                          <a:cs typeface="Verdana"/>
                          <a:sym typeface="Verdana"/>
                        </a:rPr>
                        <a:t>1. Positive Testing means testing the application or system by giving valid data.</a:t>
                      </a:r>
                      <a:endParaRPr sz="1400">
                        <a:latin typeface="Calibri"/>
                        <a:ea typeface="Calibri"/>
                        <a:cs typeface="Calibri"/>
                        <a:sym typeface="Calibri"/>
                      </a:endParaRPr>
                    </a:p>
                  </a:txBody>
                  <a:tcPr marT="0" marB="0" marR="51425" marL="5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US" sz="1400">
                          <a:solidFill>
                            <a:srgbClr val="000000"/>
                          </a:solidFill>
                          <a:latin typeface="Verdana"/>
                          <a:ea typeface="Verdana"/>
                          <a:cs typeface="Verdana"/>
                          <a:sym typeface="Verdana"/>
                        </a:rPr>
                        <a:t>1. Negative Testing means testing the application or system by giving invalid data.</a:t>
                      </a:r>
                      <a:endParaRPr sz="1400">
                        <a:latin typeface="Calibri"/>
                        <a:ea typeface="Calibri"/>
                        <a:cs typeface="Calibri"/>
                        <a:sym typeface="Calibri"/>
                      </a:endParaRPr>
                    </a:p>
                  </a:txBody>
                  <a:tcPr marT="0" marB="0" marR="51425" marL="5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5300">
                <a:tc>
                  <a:txBody>
                    <a:bodyPr/>
                    <a:lstStyle/>
                    <a:p>
                      <a:pPr indent="0" lvl="0" marL="0" marR="0" rtl="0" algn="l">
                        <a:lnSpc>
                          <a:spcPct val="107000"/>
                        </a:lnSpc>
                        <a:spcBef>
                          <a:spcPts val="0"/>
                        </a:spcBef>
                        <a:spcAft>
                          <a:spcPts val="0"/>
                        </a:spcAft>
                        <a:buNone/>
                      </a:pPr>
                      <a:r>
                        <a:rPr lang="en-US" sz="1400">
                          <a:solidFill>
                            <a:srgbClr val="000000"/>
                          </a:solidFill>
                          <a:latin typeface="Verdana"/>
                          <a:ea typeface="Verdana"/>
                          <a:cs typeface="Verdana"/>
                          <a:sym typeface="Verdana"/>
                        </a:rPr>
                        <a:t>2. In this testing tester always check for only valid set of values.</a:t>
                      </a:r>
                      <a:endParaRPr sz="1400">
                        <a:latin typeface="Calibri"/>
                        <a:ea typeface="Calibri"/>
                        <a:cs typeface="Calibri"/>
                        <a:sym typeface="Calibri"/>
                      </a:endParaRPr>
                    </a:p>
                  </a:txBody>
                  <a:tcPr marT="0" marB="0" marR="51425" marL="5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US" sz="1400">
                          <a:solidFill>
                            <a:srgbClr val="000000"/>
                          </a:solidFill>
                          <a:latin typeface="Verdana"/>
                          <a:ea typeface="Verdana"/>
                          <a:cs typeface="Verdana"/>
                          <a:sym typeface="Verdana"/>
                        </a:rPr>
                        <a:t>2. In this testing tester always check for only invalid set of values.</a:t>
                      </a:r>
                      <a:endParaRPr sz="1400">
                        <a:latin typeface="Calibri"/>
                        <a:ea typeface="Calibri"/>
                        <a:cs typeface="Calibri"/>
                        <a:sym typeface="Calibri"/>
                      </a:endParaRPr>
                    </a:p>
                  </a:txBody>
                  <a:tcPr marT="0" marB="0" marR="51425" marL="5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46325">
                <a:tc>
                  <a:txBody>
                    <a:bodyPr/>
                    <a:lstStyle/>
                    <a:p>
                      <a:pPr indent="0" lvl="0" marL="0" marR="0" rtl="0" algn="l">
                        <a:lnSpc>
                          <a:spcPct val="107000"/>
                        </a:lnSpc>
                        <a:spcBef>
                          <a:spcPts val="0"/>
                        </a:spcBef>
                        <a:spcAft>
                          <a:spcPts val="0"/>
                        </a:spcAft>
                        <a:buNone/>
                      </a:pPr>
                      <a:r>
                        <a:rPr lang="en-US" sz="1400">
                          <a:solidFill>
                            <a:srgbClr val="000000"/>
                          </a:solidFill>
                          <a:latin typeface="Verdana"/>
                          <a:ea typeface="Verdana"/>
                          <a:cs typeface="Verdana"/>
                          <a:sym typeface="Verdana"/>
                        </a:rPr>
                        <a:t>3. Positive Testing is done by keeping positive point of view for example checking the mobile number field by giving numbers only like 9999999999.</a:t>
                      </a:r>
                      <a:endParaRPr sz="1400">
                        <a:latin typeface="Calibri"/>
                        <a:ea typeface="Calibri"/>
                        <a:cs typeface="Calibri"/>
                        <a:sym typeface="Calibri"/>
                      </a:endParaRPr>
                    </a:p>
                  </a:txBody>
                  <a:tcPr marT="0" marB="0" marR="51425" marL="5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US" sz="1400">
                          <a:solidFill>
                            <a:srgbClr val="000000"/>
                          </a:solidFill>
                          <a:latin typeface="Verdana"/>
                          <a:ea typeface="Verdana"/>
                          <a:cs typeface="Verdana"/>
                          <a:sym typeface="Verdana"/>
                        </a:rPr>
                        <a:t>3. Negative Testing is done by keeping negative point of view for example checking the mobile number field by giving numbers and alphabets like 99999abcde.</a:t>
                      </a:r>
                      <a:endParaRPr sz="1400">
                        <a:latin typeface="Calibri"/>
                        <a:ea typeface="Calibri"/>
                        <a:cs typeface="Calibri"/>
                        <a:sym typeface="Calibri"/>
                      </a:endParaRPr>
                    </a:p>
                  </a:txBody>
                  <a:tcPr marT="0" marB="0" marR="51425" marL="5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5300">
                <a:tc>
                  <a:txBody>
                    <a:bodyPr/>
                    <a:lstStyle/>
                    <a:p>
                      <a:pPr indent="0" lvl="0" marL="0" marR="0" rtl="0" algn="l">
                        <a:lnSpc>
                          <a:spcPct val="107000"/>
                        </a:lnSpc>
                        <a:spcBef>
                          <a:spcPts val="0"/>
                        </a:spcBef>
                        <a:spcAft>
                          <a:spcPts val="0"/>
                        </a:spcAft>
                        <a:buNone/>
                      </a:pPr>
                      <a:r>
                        <a:rPr lang="en-US" sz="1400">
                          <a:solidFill>
                            <a:srgbClr val="000000"/>
                          </a:solidFill>
                          <a:latin typeface="Verdana"/>
                          <a:ea typeface="Verdana"/>
                          <a:cs typeface="Verdana"/>
                          <a:sym typeface="Verdana"/>
                        </a:rPr>
                        <a:t>4. It is always done to verify the known set of </a:t>
                      </a:r>
                      <a:r>
                        <a:rPr b="1" lang="en-US" sz="1400">
                          <a:solidFill>
                            <a:srgbClr val="000000"/>
                          </a:solidFill>
                          <a:latin typeface="Verdana"/>
                          <a:ea typeface="Verdana"/>
                          <a:cs typeface="Verdana"/>
                          <a:sym typeface="Verdana"/>
                        </a:rPr>
                        <a:t>Test Conditions</a:t>
                      </a:r>
                      <a:r>
                        <a:rPr lang="en-US" sz="1400">
                          <a:solidFill>
                            <a:srgbClr val="000000"/>
                          </a:solidFill>
                          <a:latin typeface="Verdana"/>
                          <a:ea typeface="Verdana"/>
                          <a:cs typeface="Verdana"/>
                          <a:sym typeface="Verdana"/>
                        </a:rPr>
                        <a:t>.</a:t>
                      </a:r>
                      <a:endParaRPr sz="1400">
                        <a:latin typeface="Calibri"/>
                        <a:ea typeface="Calibri"/>
                        <a:cs typeface="Calibri"/>
                        <a:sym typeface="Calibri"/>
                      </a:endParaRPr>
                    </a:p>
                  </a:txBody>
                  <a:tcPr marT="0" marB="0" marR="51425" marL="5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US" sz="1400">
                          <a:solidFill>
                            <a:srgbClr val="000000"/>
                          </a:solidFill>
                          <a:latin typeface="Verdana"/>
                          <a:ea typeface="Verdana"/>
                          <a:cs typeface="Verdana"/>
                          <a:sym typeface="Verdana"/>
                        </a:rPr>
                        <a:t>4. It is always done to break the project and product with unknown set of Test Conditions.</a:t>
                      </a:r>
                      <a:endParaRPr sz="1400">
                        <a:latin typeface="Calibri"/>
                        <a:ea typeface="Calibri"/>
                        <a:cs typeface="Calibri"/>
                        <a:sym typeface="Calibri"/>
                      </a:endParaRPr>
                    </a:p>
                  </a:txBody>
                  <a:tcPr marT="0" marB="0" marR="51425" marL="5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05825">
                <a:tc>
                  <a:txBody>
                    <a:bodyPr/>
                    <a:lstStyle/>
                    <a:p>
                      <a:pPr indent="0" lvl="0" marL="0" marR="0" rtl="0" algn="l">
                        <a:lnSpc>
                          <a:spcPct val="107000"/>
                        </a:lnSpc>
                        <a:spcBef>
                          <a:spcPts val="0"/>
                        </a:spcBef>
                        <a:spcAft>
                          <a:spcPts val="0"/>
                        </a:spcAft>
                        <a:buNone/>
                      </a:pPr>
                      <a:r>
                        <a:rPr lang="en-US" sz="1400">
                          <a:solidFill>
                            <a:srgbClr val="000000"/>
                          </a:solidFill>
                          <a:latin typeface="Verdana"/>
                          <a:ea typeface="Verdana"/>
                          <a:cs typeface="Verdana"/>
                          <a:sym typeface="Verdana"/>
                        </a:rPr>
                        <a:t>5. This Testing checks how the product and project behave by providing valid set of data.</a:t>
                      </a:r>
                      <a:endParaRPr sz="1400">
                        <a:latin typeface="Calibri"/>
                        <a:ea typeface="Calibri"/>
                        <a:cs typeface="Calibri"/>
                        <a:sym typeface="Calibri"/>
                      </a:endParaRPr>
                    </a:p>
                  </a:txBody>
                  <a:tcPr marT="0" marB="0" marR="51425" marL="5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US" sz="1400">
                          <a:solidFill>
                            <a:srgbClr val="000000"/>
                          </a:solidFill>
                          <a:latin typeface="Verdana"/>
                          <a:ea typeface="Verdana"/>
                          <a:cs typeface="Verdana"/>
                          <a:sym typeface="Verdana"/>
                        </a:rPr>
                        <a:t>5. This Testing covers those scenarios for which the product is not designed and coded by providing invalid set of data.</a:t>
                      </a:r>
                      <a:endParaRPr sz="1400">
                        <a:latin typeface="Calibri"/>
                        <a:ea typeface="Calibri"/>
                        <a:cs typeface="Calibri"/>
                        <a:sym typeface="Calibri"/>
                      </a:endParaRPr>
                    </a:p>
                  </a:txBody>
                  <a:tcPr marT="0" marB="0" marR="51425" marL="5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05825">
                <a:tc>
                  <a:txBody>
                    <a:bodyPr/>
                    <a:lstStyle/>
                    <a:p>
                      <a:pPr indent="0" lvl="0" marL="0" marR="0" rtl="0" algn="l">
                        <a:lnSpc>
                          <a:spcPct val="107000"/>
                        </a:lnSpc>
                        <a:spcBef>
                          <a:spcPts val="0"/>
                        </a:spcBef>
                        <a:spcAft>
                          <a:spcPts val="0"/>
                        </a:spcAft>
                        <a:buNone/>
                      </a:pPr>
                      <a:r>
                        <a:rPr lang="en-US" sz="1400">
                          <a:solidFill>
                            <a:srgbClr val="000000"/>
                          </a:solidFill>
                          <a:latin typeface="Verdana"/>
                          <a:ea typeface="Verdana"/>
                          <a:cs typeface="Verdana"/>
                          <a:sym typeface="Verdana"/>
                        </a:rPr>
                        <a:t>6. Main aim means purpose of this Testing is to prove that the project and product works as per the requirements and specifications.</a:t>
                      </a:r>
                      <a:endParaRPr sz="1400">
                        <a:latin typeface="Calibri"/>
                        <a:ea typeface="Calibri"/>
                        <a:cs typeface="Calibri"/>
                        <a:sym typeface="Calibri"/>
                      </a:endParaRPr>
                    </a:p>
                  </a:txBody>
                  <a:tcPr marT="0" marB="0" marR="51425" marL="5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US" sz="1400">
                          <a:solidFill>
                            <a:srgbClr val="000000"/>
                          </a:solidFill>
                          <a:latin typeface="Verdana"/>
                          <a:ea typeface="Verdana"/>
                          <a:cs typeface="Verdana"/>
                          <a:sym typeface="Verdana"/>
                        </a:rPr>
                        <a:t>6. Main aim means purpose of this Testing is try to break the application or system by providing </a:t>
                      </a:r>
                      <a:r>
                        <a:rPr b="1" lang="en-US" sz="1400">
                          <a:solidFill>
                            <a:srgbClr val="000000"/>
                          </a:solidFill>
                          <a:latin typeface="Verdana"/>
                          <a:ea typeface="Verdana"/>
                          <a:cs typeface="Verdana"/>
                          <a:sym typeface="Verdana"/>
                        </a:rPr>
                        <a:t>invalid set of data</a:t>
                      </a:r>
                      <a:r>
                        <a:rPr lang="en-US" sz="1400">
                          <a:solidFill>
                            <a:srgbClr val="000000"/>
                          </a:solidFill>
                          <a:latin typeface="Verdana"/>
                          <a:ea typeface="Verdana"/>
                          <a:cs typeface="Verdana"/>
                          <a:sym typeface="Verdana"/>
                        </a:rPr>
                        <a:t>.</a:t>
                      </a:r>
                      <a:endParaRPr sz="1400">
                        <a:latin typeface="Calibri"/>
                        <a:ea typeface="Calibri"/>
                        <a:cs typeface="Calibri"/>
                        <a:sym typeface="Calibri"/>
                      </a:endParaRPr>
                    </a:p>
                  </a:txBody>
                  <a:tcPr marT="0" marB="0" marR="51425" marL="5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46325">
                <a:tc>
                  <a:txBody>
                    <a:bodyPr/>
                    <a:lstStyle/>
                    <a:p>
                      <a:pPr indent="0" lvl="0" marL="0" marR="0" rtl="0" algn="l">
                        <a:lnSpc>
                          <a:spcPct val="107000"/>
                        </a:lnSpc>
                        <a:spcBef>
                          <a:spcPts val="0"/>
                        </a:spcBef>
                        <a:spcAft>
                          <a:spcPts val="0"/>
                        </a:spcAft>
                        <a:buNone/>
                      </a:pPr>
                      <a:r>
                        <a:rPr lang="en-US" sz="1400">
                          <a:solidFill>
                            <a:srgbClr val="000000"/>
                          </a:solidFill>
                          <a:latin typeface="Verdana"/>
                          <a:ea typeface="Verdana"/>
                          <a:cs typeface="Verdana"/>
                          <a:sym typeface="Verdana"/>
                        </a:rPr>
                        <a:t>7. This type of Testing always tries to prove that a given product and project always meets the requirements and specifications of a client and customer.</a:t>
                      </a:r>
                      <a:endParaRPr sz="1400">
                        <a:latin typeface="Calibri"/>
                        <a:ea typeface="Calibri"/>
                        <a:cs typeface="Calibri"/>
                        <a:sym typeface="Calibri"/>
                      </a:endParaRPr>
                    </a:p>
                  </a:txBody>
                  <a:tcPr marT="0" marB="0" marR="51425" marL="5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US" sz="1400">
                          <a:solidFill>
                            <a:srgbClr val="000000"/>
                          </a:solidFill>
                          <a:latin typeface="Verdana"/>
                          <a:ea typeface="Verdana"/>
                          <a:cs typeface="Verdana"/>
                          <a:sym typeface="Verdana"/>
                        </a:rPr>
                        <a:t>7. Negative Testing is that in which tester attempts to prove that the given product and project does, which is not said in the client and customer requirements.</a:t>
                      </a:r>
                      <a:endParaRPr sz="1400">
                        <a:latin typeface="Calibri"/>
                        <a:ea typeface="Calibri"/>
                        <a:cs typeface="Calibri"/>
                        <a:sym typeface="Calibri"/>
                      </a:endParaRPr>
                    </a:p>
                  </a:txBody>
                  <a:tcPr marT="0" marB="0" marR="51425" marL="5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7"/>
          <p:cNvSpPr txBox="1"/>
          <p:nvPr>
            <p:ph type="ctrTitle"/>
          </p:nvPr>
        </p:nvSpPr>
        <p:spPr>
          <a:xfrm>
            <a:off x="1187624" y="260648"/>
            <a:ext cx="7772400" cy="83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562214"/>
              </a:buClr>
              <a:buSzPts val="3200"/>
              <a:buFont typeface="Gill Sans"/>
              <a:buNone/>
            </a:pPr>
            <a:r>
              <a:rPr b="1" lang="en-US" sz="3200"/>
              <a:t>ERROR GUESSING</a:t>
            </a:r>
            <a:endParaRPr/>
          </a:p>
        </p:txBody>
      </p:sp>
      <p:sp>
        <p:nvSpPr>
          <p:cNvPr id="377" name="Google Shape;377;p57"/>
          <p:cNvSpPr txBox="1"/>
          <p:nvPr>
            <p:ph idx="1" type="subTitle"/>
          </p:nvPr>
        </p:nvSpPr>
        <p:spPr>
          <a:xfrm>
            <a:off x="1187624" y="1340768"/>
            <a:ext cx="7776864" cy="5257800"/>
          </a:xfrm>
          <a:prstGeom prst="rect">
            <a:avLst/>
          </a:prstGeom>
          <a:noFill/>
          <a:ln>
            <a:noFill/>
          </a:ln>
        </p:spPr>
        <p:txBody>
          <a:bodyPr anchorCtr="0" anchor="t" bIns="45700" lIns="91425" spcFirstLastPara="1" rIns="91425" wrap="square" tIns="0">
            <a:normAutofit/>
          </a:bodyPr>
          <a:lstStyle/>
          <a:p>
            <a:pPr indent="-457200" lvl="0" marL="484632" rtl="0" algn="just">
              <a:lnSpc>
                <a:spcPct val="90000"/>
              </a:lnSpc>
              <a:spcBef>
                <a:spcPts val="0"/>
              </a:spcBef>
              <a:spcAft>
                <a:spcPts val="0"/>
              </a:spcAft>
              <a:buSzPts val="2080"/>
              <a:buFont typeface="Arial"/>
              <a:buChar char="•"/>
            </a:pPr>
            <a:r>
              <a:rPr lang="en-US"/>
              <a:t>Error guessing is the preferred method used when  all other methods fail.</a:t>
            </a:r>
            <a:endParaRPr/>
          </a:p>
          <a:p>
            <a:pPr indent="-457200" lvl="0" marL="484632" rtl="0" algn="just">
              <a:lnSpc>
                <a:spcPct val="90000"/>
              </a:lnSpc>
              <a:spcBef>
                <a:spcPts val="600"/>
              </a:spcBef>
              <a:spcAft>
                <a:spcPts val="0"/>
              </a:spcAft>
              <a:buSzPts val="2080"/>
              <a:buFont typeface="Arial"/>
              <a:buChar char="•"/>
            </a:pPr>
            <a:r>
              <a:rPr lang="en-US"/>
              <a:t>Sometimes error guessing is used to test some special cases.</a:t>
            </a:r>
            <a:endParaRPr/>
          </a:p>
          <a:p>
            <a:pPr indent="-457200" lvl="0" marL="484632" rtl="0" algn="just">
              <a:lnSpc>
                <a:spcPct val="90000"/>
              </a:lnSpc>
              <a:spcBef>
                <a:spcPts val="600"/>
              </a:spcBef>
              <a:spcAft>
                <a:spcPts val="0"/>
              </a:spcAft>
              <a:buSzPts val="2080"/>
              <a:buFont typeface="Arial"/>
              <a:buChar char="•"/>
            </a:pPr>
            <a:r>
              <a:rPr lang="en-US"/>
              <a:t>Error guessing is a very practical case wherein the tester uses his intuition, experience,  knowledge of project, bug history and makes a guess about where the bug can be.</a:t>
            </a:r>
            <a:endParaRPr/>
          </a:p>
          <a:p>
            <a:pPr indent="-457200" lvl="0" marL="484632" rtl="0" algn="just">
              <a:lnSpc>
                <a:spcPct val="90000"/>
              </a:lnSpc>
              <a:spcBef>
                <a:spcPts val="600"/>
              </a:spcBef>
              <a:spcAft>
                <a:spcPts val="0"/>
              </a:spcAft>
              <a:buSzPts val="2080"/>
              <a:buFont typeface="Arial"/>
              <a:buChar char="•"/>
            </a:pPr>
            <a:r>
              <a:rPr lang="en-US"/>
              <a:t>Basic idea is to make a list of possible errors in error prone situations and then develop the test cases. </a:t>
            </a:r>
            <a:endParaRPr/>
          </a:p>
          <a:p>
            <a:pPr indent="-457200" lvl="0" marL="484632" rtl="0" algn="just">
              <a:lnSpc>
                <a:spcPct val="90000"/>
              </a:lnSpc>
              <a:spcBef>
                <a:spcPts val="600"/>
              </a:spcBef>
              <a:spcAft>
                <a:spcPts val="0"/>
              </a:spcAft>
              <a:buSzPts val="2080"/>
              <a:buFont typeface="Arial"/>
              <a:buChar char="•"/>
            </a:pPr>
            <a:r>
              <a:rPr lang="en-US"/>
              <a:t>No general procedure for this tech exists. It is an adhoc process. </a:t>
            </a:r>
            <a:endParaRPr/>
          </a:p>
          <a:p>
            <a:pPr indent="0" lvl="0" marL="27432" rtl="0" algn="l">
              <a:lnSpc>
                <a:spcPct val="90000"/>
              </a:lnSpc>
              <a:spcBef>
                <a:spcPts val="600"/>
              </a:spcBef>
              <a:spcAft>
                <a:spcPts val="0"/>
              </a:spcAft>
              <a:buSzPts val="1920"/>
              <a:buNone/>
            </a:pPr>
            <a:r>
              <a:t/>
            </a:r>
            <a:endParaRPr sz="2400"/>
          </a:p>
          <a:p>
            <a:pPr indent="0" lvl="0" marL="27432" rtl="0" algn="l">
              <a:lnSpc>
                <a:spcPct val="90000"/>
              </a:lnSpc>
              <a:spcBef>
                <a:spcPts val="600"/>
              </a:spcBef>
              <a:spcAft>
                <a:spcPts val="0"/>
              </a:spcAft>
              <a:buSzPts val="1920"/>
              <a:buFont typeface="Noto Sans Symbols"/>
              <a:buNone/>
            </a:pPr>
            <a:r>
              <a:t/>
            </a:r>
            <a:endParaRPr sz="2400"/>
          </a:p>
          <a:p>
            <a:pPr indent="0" lvl="0" marL="27432" rtl="0" algn="l">
              <a:lnSpc>
                <a:spcPct val="90000"/>
              </a:lnSpc>
              <a:spcBef>
                <a:spcPts val="600"/>
              </a:spcBef>
              <a:spcAft>
                <a:spcPts val="0"/>
              </a:spcAft>
              <a:buSzPts val="1920"/>
              <a:buNone/>
            </a:pPr>
            <a:r>
              <a:t/>
            </a:r>
            <a:endParaRPr sz="2400"/>
          </a:p>
          <a:p>
            <a:pPr indent="0" lvl="0" marL="27432" rtl="0" algn="l">
              <a:lnSpc>
                <a:spcPct val="90000"/>
              </a:lnSpc>
              <a:spcBef>
                <a:spcPts val="600"/>
              </a:spcBef>
              <a:spcAft>
                <a:spcPts val="0"/>
              </a:spcAft>
              <a:buSzPts val="1920"/>
              <a:buFont typeface="Gill Sans"/>
              <a:buNone/>
            </a:pPr>
            <a:r>
              <a:t/>
            </a:r>
            <a:endParaRPr sz="24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8"/>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lang="en-US"/>
              <a:t>Example - Special cases in the roots of a quadratic equation</a:t>
            </a:r>
            <a:endParaRPr/>
          </a:p>
        </p:txBody>
      </p:sp>
      <p:sp>
        <p:nvSpPr>
          <p:cNvPr id="383" name="Google Shape;383;p58"/>
          <p:cNvSpPr txBox="1"/>
          <p:nvPr>
            <p:ph idx="1" type="body"/>
          </p:nvPr>
        </p:nvSpPr>
        <p:spPr>
          <a:xfrm>
            <a:off x="1187624" y="1628800"/>
            <a:ext cx="7560840" cy="4114800"/>
          </a:xfrm>
          <a:prstGeom prst="rect">
            <a:avLst/>
          </a:prstGeom>
          <a:noFill/>
          <a:ln>
            <a:noFill/>
          </a:ln>
        </p:spPr>
        <p:txBody>
          <a:bodyPr anchorCtr="0" anchor="t" bIns="45700" lIns="91425" spcFirstLastPara="1" rIns="91425" wrap="square" tIns="45700">
            <a:normAutofit lnSpcReduction="10000"/>
          </a:bodyPr>
          <a:lstStyle/>
          <a:p>
            <a:pPr indent="-283464" lvl="0" marL="365760" rtl="0" algn="l">
              <a:lnSpc>
                <a:spcPct val="90000"/>
              </a:lnSpc>
              <a:spcBef>
                <a:spcPts val="0"/>
              </a:spcBef>
              <a:spcAft>
                <a:spcPts val="0"/>
              </a:spcAft>
              <a:buSzPts val="2560"/>
              <a:buFont typeface="Noto Sans Symbols"/>
              <a:buChar char="⮚"/>
            </a:pPr>
            <a:r>
              <a:rPr lang="en-US"/>
              <a:t>What will happen when a=0 in the quadratic equation?</a:t>
            </a:r>
            <a:endParaRPr/>
          </a:p>
          <a:p>
            <a:pPr indent="-283464" lvl="0" marL="365760" rtl="0" algn="l">
              <a:lnSpc>
                <a:spcPct val="90000"/>
              </a:lnSpc>
              <a:spcBef>
                <a:spcPts val="600"/>
              </a:spcBef>
              <a:spcAft>
                <a:spcPts val="0"/>
              </a:spcAft>
              <a:buSzPts val="2560"/>
              <a:buFont typeface="Gill Sans"/>
              <a:buNone/>
            </a:pPr>
            <a:r>
              <a:rPr lang="en-US"/>
              <a:t>    -   Though, we do consider this case,  </a:t>
            </a:r>
            <a:endParaRPr/>
          </a:p>
          <a:p>
            <a:pPr indent="-283464" lvl="0" marL="365760" rtl="0" algn="l">
              <a:lnSpc>
                <a:spcPct val="90000"/>
              </a:lnSpc>
              <a:spcBef>
                <a:spcPts val="600"/>
              </a:spcBef>
              <a:spcAft>
                <a:spcPts val="0"/>
              </a:spcAft>
              <a:buSzPts val="2560"/>
              <a:buFont typeface="Gill Sans"/>
              <a:buNone/>
            </a:pPr>
            <a:r>
              <a:rPr lang="en-US"/>
              <a:t>    there are chances that we may overlook it while testing, as it has two cases: </a:t>
            </a:r>
            <a:endParaRPr/>
          </a:p>
          <a:p>
            <a:pPr indent="-283464" lvl="0" marL="365760" rtl="0" algn="l">
              <a:lnSpc>
                <a:spcPct val="90000"/>
              </a:lnSpc>
              <a:spcBef>
                <a:spcPts val="600"/>
              </a:spcBef>
              <a:spcAft>
                <a:spcPts val="0"/>
              </a:spcAft>
              <a:buSzPts val="2560"/>
              <a:buChar char="⚫"/>
            </a:pPr>
            <a:r>
              <a:rPr lang="en-US"/>
              <a:t>	i) If a=0 then the equation is no longer quadratic.</a:t>
            </a:r>
            <a:endParaRPr/>
          </a:p>
          <a:p>
            <a:pPr indent="-283464" lvl="0" marL="365760" rtl="0" algn="l">
              <a:lnSpc>
                <a:spcPct val="90000"/>
              </a:lnSpc>
              <a:spcBef>
                <a:spcPts val="600"/>
              </a:spcBef>
              <a:spcAft>
                <a:spcPts val="0"/>
              </a:spcAft>
              <a:buSzPts val="2560"/>
              <a:buChar char="⚫"/>
            </a:pPr>
            <a:r>
              <a:rPr lang="en-US"/>
              <a:t>	ii) For calculation of roots, the division is by zero. So, we may overlook.</a:t>
            </a:r>
            <a:endParaRPr/>
          </a:p>
          <a:p>
            <a:pPr indent="-120903" lvl="0" marL="365760" rtl="0" algn="l">
              <a:lnSpc>
                <a:spcPct val="90000"/>
              </a:lnSpc>
              <a:spcBef>
                <a:spcPts val="600"/>
              </a:spcBef>
              <a:spcAft>
                <a:spcPts val="0"/>
              </a:spcAft>
              <a:buSzPts val="2560"/>
              <a:buFont typeface="Noto Sans Symbols"/>
              <a:buNone/>
            </a:pPr>
            <a:r>
              <a:t/>
            </a:r>
            <a:endParaRPr/>
          </a:p>
          <a:p>
            <a:pPr indent="-120903" lvl="0" marL="365760" rtl="0" algn="l">
              <a:lnSpc>
                <a:spcPct val="100000"/>
              </a:lnSpc>
              <a:spcBef>
                <a:spcPts val="600"/>
              </a:spcBef>
              <a:spcAft>
                <a:spcPts val="0"/>
              </a:spcAft>
              <a:buSzPts val="2560"/>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9"/>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 </a:t>
            </a:r>
            <a:endParaRPr/>
          </a:p>
        </p:txBody>
      </p:sp>
      <p:sp>
        <p:nvSpPr>
          <p:cNvPr id="389" name="Google Shape;389;p59"/>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l">
              <a:lnSpc>
                <a:spcPct val="90000"/>
              </a:lnSpc>
              <a:spcBef>
                <a:spcPts val="0"/>
              </a:spcBef>
              <a:spcAft>
                <a:spcPts val="0"/>
              </a:spcAft>
              <a:buSzPts val="2560"/>
              <a:buFont typeface="Noto Sans Symbols"/>
              <a:buChar char="⮚"/>
            </a:pPr>
            <a:r>
              <a:rPr lang="en-US"/>
              <a:t> What will happen when all the inputs are negative?</a:t>
            </a:r>
            <a:endParaRPr/>
          </a:p>
          <a:p>
            <a:pPr indent="-283464" lvl="0" marL="365760" rtl="0" algn="l">
              <a:lnSpc>
                <a:spcPct val="90000"/>
              </a:lnSpc>
              <a:spcBef>
                <a:spcPts val="600"/>
              </a:spcBef>
              <a:spcAft>
                <a:spcPts val="0"/>
              </a:spcAft>
              <a:buSzPts val="2560"/>
              <a:buFont typeface="Noto Sans Symbols"/>
              <a:buChar char="⮚"/>
            </a:pPr>
            <a:r>
              <a:rPr lang="en-US"/>
              <a:t> What will happen when the inputs list is empty?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60"/>
          <p:cNvSpPr txBox="1"/>
          <p:nvPr>
            <p:ph type="title"/>
          </p:nvPr>
        </p:nvSpPr>
        <p:spPr>
          <a:xfrm>
            <a:off x="1143000" y="228600"/>
            <a:ext cx="7770813" cy="1158875"/>
          </a:xfrm>
          <a:prstGeom prst="rect">
            <a:avLst/>
          </a:prstGeom>
          <a:noFill/>
          <a:ln>
            <a:noFill/>
          </a:ln>
        </p:spPr>
        <p:txBody>
          <a:bodyPr anchorCtr="0" anchor="ctr" bIns="46800" lIns="18000" spcFirstLastPara="1" rIns="18000" wrap="square" tIns="46800">
            <a:normAutofit/>
          </a:bodyPr>
          <a:lstStyle/>
          <a:p>
            <a:pPr indent="0" lvl="0" marL="0" rtl="0" algn="l">
              <a:spcBef>
                <a:spcPts val="0"/>
              </a:spcBef>
              <a:spcAft>
                <a:spcPts val="0"/>
              </a:spcAft>
              <a:buClr>
                <a:srgbClr val="562214"/>
              </a:buClr>
              <a:buSzPts val="5400"/>
              <a:buFont typeface="Gill Sans"/>
              <a:buNone/>
            </a:pPr>
            <a:r>
              <a:rPr lang="en-US" sz="5400"/>
              <a:t>Summary</a:t>
            </a:r>
            <a:endParaRPr/>
          </a:p>
        </p:txBody>
      </p:sp>
      <p:sp>
        <p:nvSpPr>
          <p:cNvPr id="396" name="Google Shape;396;p60"/>
          <p:cNvSpPr txBox="1"/>
          <p:nvPr>
            <p:ph idx="1" type="body"/>
          </p:nvPr>
        </p:nvSpPr>
        <p:spPr>
          <a:xfrm>
            <a:off x="990600" y="1340768"/>
            <a:ext cx="8153400" cy="4430713"/>
          </a:xfrm>
          <a:prstGeom prst="rect">
            <a:avLst/>
          </a:prstGeom>
          <a:noFill/>
          <a:ln>
            <a:noFill/>
          </a:ln>
        </p:spPr>
        <p:txBody>
          <a:bodyPr anchorCtr="0" anchor="t" bIns="46800" lIns="18000" spcFirstLastPara="1" rIns="18000" wrap="square" tIns="46800">
            <a:normAutofit/>
          </a:bodyPr>
          <a:lstStyle/>
          <a:p>
            <a:pPr indent="-283464" lvl="0" marL="365760" rtl="0" algn="l">
              <a:lnSpc>
                <a:spcPct val="100000"/>
              </a:lnSpc>
              <a:spcBef>
                <a:spcPts val="0"/>
              </a:spcBef>
              <a:spcAft>
                <a:spcPts val="0"/>
              </a:spcAft>
              <a:buSzPts val="2240"/>
              <a:buChar char="⚫"/>
            </a:pPr>
            <a:r>
              <a:rPr lang="en-US" sz="2800"/>
              <a:t>Discussed Orthogonal Array Testing. </a:t>
            </a:r>
            <a:endParaRPr/>
          </a:p>
          <a:p>
            <a:pPr indent="-283464" lvl="0" marL="365760" rtl="0" algn="l">
              <a:lnSpc>
                <a:spcPct val="100000"/>
              </a:lnSpc>
              <a:spcBef>
                <a:spcPts val="888"/>
              </a:spcBef>
              <a:spcAft>
                <a:spcPts val="0"/>
              </a:spcAft>
              <a:buSzPts val="2240"/>
              <a:buChar char="⚫"/>
            </a:pPr>
            <a:r>
              <a:rPr lang="en-US" sz="2800">
                <a:solidFill>
                  <a:srgbClr val="0000FF"/>
                </a:solidFill>
              </a:rPr>
              <a:t>Explained Positive and Negative Testing with suitable examples.</a:t>
            </a:r>
            <a:endParaRPr sz="2800">
              <a:solidFill>
                <a:srgbClr val="0000FF"/>
              </a:solidFill>
            </a:endParaRPr>
          </a:p>
          <a:p>
            <a:pPr indent="-283464" lvl="0" marL="365760" rtl="0" algn="l">
              <a:lnSpc>
                <a:spcPct val="100000"/>
              </a:lnSpc>
              <a:spcBef>
                <a:spcPts val="888"/>
              </a:spcBef>
              <a:spcAft>
                <a:spcPts val="0"/>
              </a:spcAft>
              <a:buSzPts val="2240"/>
              <a:buChar char="⚫"/>
            </a:pPr>
            <a:r>
              <a:rPr lang="en-US" sz="2800"/>
              <a:t>Presented Error Guessing.</a:t>
            </a:r>
            <a:endParaRPr sz="2800"/>
          </a:p>
        </p:txBody>
      </p:sp>
      <p:sp>
        <p:nvSpPr>
          <p:cNvPr id="397" name="Google Shape;397;p60"/>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61"/>
          <p:cNvSpPr txBox="1"/>
          <p:nvPr/>
        </p:nvSpPr>
        <p:spPr>
          <a:xfrm>
            <a:off x="1127760" y="279401"/>
            <a:ext cx="7863840" cy="861775"/>
          </a:xfrm>
          <a:prstGeom prst="rect">
            <a:avLst/>
          </a:prstGeom>
          <a:noFill/>
          <a:ln>
            <a:noFill/>
          </a:ln>
        </p:spPr>
        <p:txBody>
          <a:bodyPr anchorCtr="0" anchor="ctr" bIns="39300" lIns="15100" spcFirstLastPara="1" rIns="15100" wrap="square" tIns="39300">
            <a:noAutofit/>
          </a:bodyPr>
          <a:lstStyle/>
          <a:p>
            <a:pPr indent="0" lvl="0" marL="0" marR="0" rtl="0" algn="ctr">
              <a:spcBef>
                <a:spcPts val="0"/>
              </a:spcBef>
              <a:spcAft>
                <a:spcPts val="0"/>
              </a:spcAft>
              <a:buNone/>
            </a:pPr>
            <a:r>
              <a:rPr lang="en-US" sz="4800">
                <a:solidFill>
                  <a:srgbClr val="572314"/>
                </a:solidFill>
                <a:latin typeface="Gill Sans"/>
                <a:ea typeface="Gill Sans"/>
                <a:cs typeface="Gill Sans"/>
                <a:sym typeface="Gill Sans"/>
              </a:rPr>
              <a:t>References </a:t>
            </a:r>
            <a:endParaRPr/>
          </a:p>
        </p:txBody>
      </p:sp>
      <p:sp>
        <p:nvSpPr>
          <p:cNvPr id="403" name="Google Shape;403;p61"/>
          <p:cNvSpPr/>
          <p:nvPr/>
        </p:nvSpPr>
        <p:spPr>
          <a:xfrm>
            <a:off x="1143000" y="1397000"/>
            <a:ext cx="7848600" cy="2103952"/>
          </a:xfrm>
          <a:prstGeom prst="rect">
            <a:avLst/>
          </a:prstGeom>
          <a:noFill/>
          <a:ln>
            <a:noFill/>
          </a:ln>
        </p:spPr>
        <p:txBody>
          <a:bodyPr anchorCtr="0" anchor="t" bIns="51200" lIns="102400" spcFirstLastPara="1" rIns="102400" wrap="square" tIns="51200">
            <a:noAutofit/>
          </a:bodyPr>
          <a:lstStyle/>
          <a:p>
            <a:pPr indent="-384015" lvl="0" marL="384015" marR="0" rtl="0" algn="just">
              <a:spcBef>
                <a:spcPts val="0"/>
              </a:spcBef>
              <a:spcAft>
                <a:spcPts val="0"/>
              </a:spcAft>
              <a:buClr>
                <a:schemeClr val="dk1"/>
              </a:buClr>
              <a:buSzPts val="2800"/>
              <a:buFont typeface="Gill Sans"/>
              <a:buAutoNum type="arabicPeriod"/>
            </a:pPr>
            <a:r>
              <a:rPr lang="en-US" sz="2800">
                <a:solidFill>
                  <a:schemeClr val="dk1"/>
                </a:solidFill>
                <a:latin typeface="Gill Sans"/>
                <a:ea typeface="Gill Sans"/>
                <a:cs typeface="Gill Sans"/>
                <a:sym typeface="Gill Sans"/>
              </a:rPr>
              <a:t>Naresh Chauhan, Software Testing: Principles and Practices, (Chapter – 4), Second Edition, Oxford University Press,  2016.</a:t>
            </a:r>
            <a:endParaRPr/>
          </a:p>
          <a:p>
            <a:pPr indent="-206215" lvl="0" marL="384015" marR="0" rtl="0" algn="just">
              <a:spcBef>
                <a:spcPts val="0"/>
              </a:spcBef>
              <a:spcAft>
                <a:spcPts val="0"/>
              </a:spcAft>
              <a:buClr>
                <a:schemeClr val="dk1"/>
              </a:buClr>
              <a:buSzPts val="2800"/>
              <a:buFont typeface="Gill Sans"/>
              <a:buNone/>
            </a:pPr>
            <a:r>
              <a:t/>
            </a:r>
            <a:endParaRPr sz="2800">
              <a:solidFill>
                <a:schemeClr val="dk1"/>
              </a:solidFill>
              <a:latin typeface="Gill Sans"/>
              <a:ea typeface="Gill Sans"/>
              <a:cs typeface="Gill Sans"/>
              <a:sym typeface="Gill Sans"/>
            </a:endParaRPr>
          </a:p>
          <a:p>
            <a:pPr indent="0" lvl="0" marL="0" marR="0" rtl="0" algn="just">
              <a:spcBef>
                <a:spcPts val="0"/>
              </a:spcBef>
              <a:spcAft>
                <a:spcPts val="0"/>
              </a:spcAft>
              <a:buNone/>
            </a:pPr>
            <a:r>
              <a:t/>
            </a:r>
            <a:endParaRPr sz="1800">
              <a:solidFill>
                <a:srgbClr val="000000"/>
              </a:solidFill>
              <a:latin typeface="Gill Sans"/>
              <a:ea typeface="Gill Sans"/>
              <a:cs typeface="Gill Sans"/>
              <a:sym typeface="Gill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2"/>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 </a:t>
            </a:r>
            <a:endParaRPr/>
          </a:p>
        </p:txBody>
      </p:sp>
      <p:sp>
        <p:nvSpPr>
          <p:cNvPr id="409" name="Google Shape;409;p62"/>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0" lvl="0" marL="82296" rtl="0" algn="ctr">
              <a:lnSpc>
                <a:spcPct val="100000"/>
              </a:lnSpc>
              <a:spcBef>
                <a:spcPts val="0"/>
              </a:spcBef>
              <a:spcAft>
                <a:spcPts val="0"/>
              </a:spcAft>
              <a:buSzPts val="2560"/>
              <a:buNone/>
            </a:pPr>
            <a:r>
              <a:t/>
            </a:r>
            <a:endParaRPr/>
          </a:p>
          <a:p>
            <a:pPr indent="0" lvl="0" marL="82296" rtl="0" algn="ctr">
              <a:lnSpc>
                <a:spcPct val="100000"/>
              </a:lnSpc>
              <a:spcBef>
                <a:spcPts val="600"/>
              </a:spcBef>
              <a:spcAft>
                <a:spcPts val="0"/>
              </a:spcAft>
              <a:buSzPts val="2560"/>
              <a:buNone/>
            </a:pPr>
            <a:r>
              <a:t/>
            </a:r>
            <a:endParaRPr/>
          </a:p>
          <a:p>
            <a:pPr indent="0" lvl="0" marL="82296" rtl="0" algn="l">
              <a:lnSpc>
                <a:spcPct val="100000"/>
              </a:lnSpc>
              <a:spcBef>
                <a:spcPts val="600"/>
              </a:spcBef>
              <a:spcAft>
                <a:spcPts val="0"/>
              </a:spcAft>
              <a:buSzPts val="2560"/>
              <a:buNone/>
            </a:pPr>
            <a:r>
              <a:rPr lang="en-US"/>
              <a:t>		    </a:t>
            </a:r>
            <a:r>
              <a:rPr b="1" lang="en-US" sz="3600"/>
              <a:t>Thank you</a:t>
            </a:r>
            <a:endParaRPr b="1" sz="3600"/>
          </a:p>
        </p:txBody>
      </p:sp>
    </p:spTree>
  </p:cSld>
  <p:clrMapOvr>
    <a:masterClrMapping/>
  </p:clrMapOvr>
</p:sld>
</file>

<file path=ppt/theme/theme1.xml><?xml version="1.0" encoding="utf-8"?>
<a:theme xmlns:a="http://schemas.openxmlformats.org/drawingml/2006/main" xmlns:r="http://schemas.openxmlformats.org/officeDocument/2006/relationships"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