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6858000" cx="9144000"/>
  <p:notesSz cx="6858000" cy="9144000"/>
  <p:embeddedFontLst>
    <p:embeddedFont>
      <p:font typeface="Gill Sans"/>
      <p:regular r:id="rId44"/>
      <p:bold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AE52E0-97E2-4C15-9188-E2D69C4C940E}">
  <a:tblStyle styleId="{53AE52E0-97E2-4C15-9188-E2D69C4C940E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dk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  <a:tblStyle styleId="{D668A6E2-4A60-4244-80A6-6F81B79FA2EE}" styleName="Table_1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EF0"/>
          </a:solidFill>
        </a:fill>
      </a:tcStyle>
    </a:wholeTbl>
    <a:band1H>
      <a:tcTxStyle/>
      <a:tcStyle>
        <a:fill>
          <a:solidFill>
            <a:srgbClr val="CCDBE1"/>
          </a:solidFill>
        </a:fill>
      </a:tcStyle>
    </a:band1H>
    <a:band2H>
      <a:tcTxStyle/>
    </a:band2H>
    <a:band1V>
      <a:tcTxStyle/>
      <a:tcStyle>
        <a:fill>
          <a:solidFill>
            <a:srgbClr val="CCDBE1"/>
          </a:solidFill>
        </a:fill>
      </a:tcStyle>
    </a:band1V>
    <a:band2V>
      <a:tcTxStyle/>
    </a:band2V>
    <a:la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font" Target="fonts/GillSans-regular.fntdata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schemas.openxmlformats.org/officeDocument/2006/relationships/font" Target="fonts/Gill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963613" y="347663"/>
            <a:ext cx="5464175" cy="4098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7" name="Google Shape;127;p6:notes"/>
          <p:cNvSpPr txBox="1"/>
          <p:nvPr/>
        </p:nvSpPr>
        <p:spPr>
          <a:xfrm>
            <a:off x="542116" y="4964779"/>
            <a:ext cx="6311223" cy="4668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/>
          <p:nvPr>
            <p:ph idx="2" type="sldImg"/>
          </p:nvPr>
        </p:nvSpPr>
        <p:spPr>
          <a:xfrm>
            <a:off x="963613" y="347663"/>
            <a:ext cx="5464175" cy="4098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0" name="Google Shape;140;p8:notes"/>
          <p:cNvSpPr txBox="1"/>
          <p:nvPr/>
        </p:nvSpPr>
        <p:spPr>
          <a:xfrm>
            <a:off x="542116" y="4964779"/>
            <a:ext cx="6311223" cy="4668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/>
          <p:nvPr>
            <p:ph idx="2" type="sldImg"/>
          </p:nvPr>
        </p:nvSpPr>
        <p:spPr>
          <a:xfrm>
            <a:off x="963613" y="347663"/>
            <a:ext cx="5464175" cy="4098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7" name="Google Shape;147;p9:notes"/>
          <p:cNvSpPr txBox="1"/>
          <p:nvPr/>
        </p:nvSpPr>
        <p:spPr>
          <a:xfrm>
            <a:off x="542116" y="4964779"/>
            <a:ext cx="6311223" cy="4668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963613" y="347663"/>
            <a:ext cx="5464175" cy="4098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4" name="Google Shape;154;p10:notes"/>
          <p:cNvSpPr txBox="1"/>
          <p:nvPr/>
        </p:nvSpPr>
        <p:spPr>
          <a:xfrm>
            <a:off x="542116" y="4964779"/>
            <a:ext cx="6311223" cy="4668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/>
          <p:nvPr>
            <p:ph idx="2" type="sldImg"/>
          </p:nvPr>
        </p:nvSpPr>
        <p:spPr>
          <a:xfrm>
            <a:off x="963613" y="347663"/>
            <a:ext cx="5464175" cy="4098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2" name="Google Shape;162;p11:notes"/>
          <p:cNvSpPr txBox="1"/>
          <p:nvPr/>
        </p:nvSpPr>
        <p:spPr>
          <a:xfrm>
            <a:off x="542116" y="4964779"/>
            <a:ext cx="6311223" cy="4668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/>
          <p:nvPr>
            <p:ph idx="2" type="sldImg"/>
          </p:nvPr>
        </p:nvSpPr>
        <p:spPr>
          <a:xfrm>
            <a:off x="963613" y="347663"/>
            <a:ext cx="5464175" cy="4098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9" name="Google Shape;169;p12:notes"/>
          <p:cNvSpPr txBox="1"/>
          <p:nvPr/>
        </p:nvSpPr>
        <p:spPr>
          <a:xfrm>
            <a:off x="542116" y="4964779"/>
            <a:ext cx="6311223" cy="4668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:notes"/>
          <p:cNvSpPr/>
          <p:nvPr>
            <p:ph idx="2" type="sldImg"/>
          </p:nvPr>
        </p:nvSpPr>
        <p:spPr>
          <a:xfrm>
            <a:off x="963613" y="347663"/>
            <a:ext cx="5464175" cy="4098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6" name="Google Shape;176;p13:notes"/>
          <p:cNvSpPr txBox="1"/>
          <p:nvPr/>
        </p:nvSpPr>
        <p:spPr>
          <a:xfrm>
            <a:off x="542116" y="4964779"/>
            <a:ext cx="6311223" cy="4668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/>
          <p:nvPr>
            <p:ph idx="2" type="sldImg"/>
          </p:nvPr>
        </p:nvSpPr>
        <p:spPr>
          <a:xfrm>
            <a:off x="963613" y="347663"/>
            <a:ext cx="5464175" cy="4098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3" name="Google Shape;183;p14:notes"/>
          <p:cNvSpPr txBox="1"/>
          <p:nvPr/>
        </p:nvSpPr>
        <p:spPr>
          <a:xfrm>
            <a:off x="542116" y="4964779"/>
            <a:ext cx="6311223" cy="4668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/>
          <p:nvPr>
            <p:ph type="ctrTitle"/>
          </p:nvPr>
        </p:nvSpPr>
        <p:spPr>
          <a:xfrm>
            <a:off x="1432560" y="359898"/>
            <a:ext cx="7406640" cy="14721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" type="subTitle"/>
          </p:nvPr>
        </p:nvSpPr>
        <p:spPr>
          <a:xfrm>
            <a:off x="1432560" y="1850064"/>
            <a:ext cx="740664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  <a:defRPr sz="2600">
                <a:solidFill>
                  <a:srgbClr val="341108"/>
                </a:solidFill>
              </a:defRPr>
            </a:lvl1pPr>
            <a:lvl2pPr lvl="1" algn="ctr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" name="Google Shape;36;p4"/>
          <p:cNvSpPr txBox="1"/>
          <p:nvPr>
            <p:ph type="title"/>
          </p:nvPr>
        </p:nvSpPr>
        <p:spPr>
          <a:xfrm>
            <a:off x="2578392" y="2600325"/>
            <a:ext cx="6400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000"/>
              <a:buFont typeface="Gill Sans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" type="body"/>
          </p:nvPr>
        </p:nvSpPr>
        <p:spPr>
          <a:xfrm>
            <a:off x="2578392" y="1066800"/>
            <a:ext cx="64008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34110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2286000" y="0"/>
            <a:ext cx="76200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/>
          <p:nvPr>
            <p:ph type="title"/>
          </p:nvPr>
        </p:nvSpPr>
        <p:spPr>
          <a:xfrm>
            <a:off x="1435608" y="274320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" type="body"/>
          </p:nvPr>
        </p:nvSpPr>
        <p:spPr>
          <a:xfrm>
            <a:off x="1435608" y="1524000"/>
            <a:ext cx="365760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2" type="body"/>
          </p:nvPr>
        </p:nvSpPr>
        <p:spPr>
          <a:xfrm>
            <a:off x="5276088" y="1524000"/>
            <a:ext cx="365760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 txBox="1"/>
          <p:nvPr>
            <p:ph type="title"/>
          </p:nvPr>
        </p:nvSpPr>
        <p:spPr>
          <a:xfrm>
            <a:off x="457200" y="51603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500"/>
              <a:buFont typeface="Gill Sans"/>
              <a:buNone/>
              <a:defRPr b="1" sz="4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" type="body"/>
          </p:nvPr>
        </p:nvSpPr>
        <p:spPr>
          <a:xfrm>
            <a:off x="457200" y="328278"/>
            <a:ext cx="4023360" cy="64008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b="0" sz="1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2" type="body"/>
          </p:nvPr>
        </p:nvSpPr>
        <p:spPr>
          <a:xfrm>
            <a:off x="4663440" y="328278"/>
            <a:ext cx="4023360" cy="64008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b="0" sz="1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3" type="body"/>
          </p:nvPr>
        </p:nvSpPr>
        <p:spPr>
          <a:xfrm>
            <a:off x="457200" y="969336"/>
            <a:ext cx="4023360" cy="411480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4" type="body"/>
          </p:nvPr>
        </p:nvSpPr>
        <p:spPr>
          <a:xfrm>
            <a:off x="4663440" y="969336"/>
            <a:ext cx="4023360" cy="411480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1435608" y="274320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7" name="Google Shape;67;p8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0" name="Google Shape;70;p8"/>
          <p:cNvSpPr/>
          <p:nvPr/>
        </p:nvSpPr>
        <p:spPr>
          <a:xfrm>
            <a:off x="1014984" y="-54"/>
            <a:ext cx="73152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 txBox="1"/>
          <p:nvPr>
            <p:ph type="title"/>
          </p:nvPr>
        </p:nvSpPr>
        <p:spPr>
          <a:xfrm>
            <a:off x="457200" y="216778"/>
            <a:ext cx="38100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200"/>
              <a:buFont typeface="Gill Sans"/>
              <a:buNone/>
              <a:defRPr b="1" sz="2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" type="body"/>
          </p:nvPr>
        </p:nvSpPr>
        <p:spPr>
          <a:xfrm>
            <a:off x="457200" y="1406964"/>
            <a:ext cx="3810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2" type="body"/>
          </p:nvPr>
        </p:nvSpPr>
        <p:spPr>
          <a:xfrm>
            <a:off x="457200" y="2133600"/>
            <a:ext cx="8153400" cy="3992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 txBox="1"/>
          <p:nvPr>
            <p:ph type="title"/>
          </p:nvPr>
        </p:nvSpPr>
        <p:spPr>
          <a:xfrm>
            <a:off x="5886896" y="1066800"/>
            <a:ext cx="27432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100"/>
              <a:buFont typeface="Gill Sans"/>
              <a:buNone/>
              <a:defRPr b="1" sz="2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0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83" name="Google Shape;83;p10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500" rotWithShape="0" algn="tl" dir="5400000" dist="185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274300">
            <a:noAutofit/>
          </a:bodyPr>
          <a:lstStyle/>
          <a:p>
            <a:pPr indent="0" lvl="0" marL="0" marR="0" rt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4" name="Google Shape;84;p10"/>
          <p:cNvSpPr/>
          <p:nvPr>
            <p:ph idx="2" type="pic"/>
          </p:nvPr>
        </p:nvSpPr>
        <p:spPr>
          <a:xfrm>
            <a:off x="838200" y="1143003"/>
            <a:ext cx="4419600" cy="3514531"/>
          </a:xfrm>
          <a:prstGeom prst="roundRect">
            <a:avLst>
              <a:gd fmla="val 78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2743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5" name="Google Shape;85;p10"/>
          <p:cNvSpPr/>
          <p:nvPr/>
        </p:nvSpPr>
        <p:spPr>
          <a:xfrm rot="-2131329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rgbClr val="EAD8B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10"/>
          <p:cNvSpPr/>
          <p:nvPr/>
        </p:nvSpPr>
        <p:spPr>
          <a:xfrm flipH="1" rot="2103354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chemeClr val="lt2">
                <a:alpha val="2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10"/>
          <p:cNvSpPr txBox="1"/>
          <p:nvPr>
            <p:ph idx="1" type="body"/>
          </p:nvPr>
        </p:nvSpPr>
        <p:spPr>
          <a:xfrm>
            <a:off x="838200" y="4800600"/>
            <a:ext cx="441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777777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Char char="◦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body"/>
          </p:nvPr>
        </p:nvSpPr>
        <p:spPr>
          <a:xfrm rot="5400000">
            <a:off x="2784348" y="99060"/>
            <a:ext cx="4800600" cy="749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>
            <p:ph type="title"/>
          </p:nvPr>
        </p:nvSpPr>
        <p:spPr>
          <a:xfrm rot="5400000">
            <a:off x="4846637" y="2286002"/>
            <a:ext cx="585152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1" type="body"/>
          </p:nvPr>
        </p:nvSpPr>
        <p:spPr>
          <a:xfrm rot="5400000">
            <a:off x="998537" y="419103"/>
            <a:ext cx="5851525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xy" tx="0" sx="90000" ty="0" sy="90000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fmla="val 0" name="adj1"/>
              <a:gd fmla="val 5402120" name="adj2"/>
            </a:avLst>
          </a:prstGeom>
          <a:solidFill>
            <a:srgbClr val="FEF9F3">
              <a:alpha val="32941"/>
            </a:srgbClr>
          </a:solidFill>
          <a:ln cap="rnd" cmpd="sng" w="9525">
            <a:solidFill>
              <a:srgbClr val="D1C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cap="rnd" cmpd="sng" w="27300">
            <a:solidFill>
              <a:srgbClr val="FFF5D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tl" dir="5400000" dist="25400">
              <a:srgbClr val="ADA48C">
                <a:alpha val="8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" name="Google Shape;12;p1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fmla="val 11833" name="adj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C5B3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4500000" dist="15000">
              <a:srgbClr val="564E4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" name="Google Shape;14;p1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  <a:defRPr b="0" i="0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1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8" name="Google Shape;18;p1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014984" y="-54"/>
            <a:ext cx="73152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3"/>
          <p:cNvSpPr txBox="1"/>
          <p:nvPr>
            <p:ph type="ctrTitle"/>
          </p:nvPr>
        </p:nvSpPr>
        <p:spPr>
          <a:xfrm>
            <a:off x="2590800" y="1143000"/>
            <a:ext cx="7406640" cy="14721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Data Flow Testing </a:t>
            </a:r>
            <a:endParaRPr/>
          </a:p>
        </p:txBody>
      </p:sp>
      <p:sp>
        <p:nvSpPr>
          <p:cNvPr id="105" name="Google Shape;105;p13"/>
          <p:cNvSpPr txBox="1"/>
          <p:nvPr>
            <p:ph idx="1" type="subTitle"/>
          </p:nvPr>
        </p:nvSpPr>
        <p:spPr>
          <a:xfrm>
            <a:off x="838200" y="3581400"/>
            <a:ext cx="740664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/>
          <a:p>
            <a:pPr indent="0" lvl="0" marL="2743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Dr. Durga Prasad Mohapatra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2743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Professor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2743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CSE Department</a:t>
            </a:r>
            <a:endParaRPr/>
          </a:p>
          <a:p>
            <a:pPr indent="0" lvl="0" marL="2743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NIT Rourkela</a:t>
            </a:r>
            <a:endParaRPr/>
          </a:p>
          <a:p>
            <a:pPr indent="0" lvl="0" marL="2743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/>
          <p:nvPr>
            <p:ph type="title"/>
          </p:nvPr>
        </p:nvSpPr>
        <p:spPr>
          <a:xfrm>
            <a:off x="1066800" y="0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Introduction              cont…</a:t>
            </a:r>
            <a:endParaRPr/>
          </a:p>
        </p:txBody>
      </p:sp>
      <p:sp>
        <p:nvSpPr>
          <p:cNvPr id="111" name="Google Shape;111;p14"/>
          <p:cNvSpPr txBox="1"/>
          <p:nvPr>
            <p:ph idx="1" type="body"/>
          </p:nvPr>
        </p:nvSpPr>
        <p:spPr>
          <a:xfrm>
            <a:off x="1066800" y="990600"/>
            <a:ext cx="80772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>
                <a:solidFill>
                  <a:srgbClr val="FF0000"/>
                </a:solidFill>
              </a:rPr>
              <a:t>Data flow testing is a white-box technique that can be used to detect improper use of data values due to coding errors.</a:t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Errors may be unintentionally introduced in a program by programmers, 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IN">
                <a:solidFill>
                  <a:srgbClr val="0070C0"/>
                </a:solidFill>
              </a:rPr>
              <a:t>e.g. a programmer might use a variable without defining it.</a:t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Data flow testing gives a chance to look out for 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IN">
                <a:solidFill>
                  <a:srgbClr val="0070C0"/>
                </a:solidFill>
              </a:rPr>
              <a:t>inappropriate data definition, their use in predicate, computations, and termination.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 txBox="1"/>
          <p:nvPr>
            <p:ph idx="1" type="body"/>
          </p:nvPr>
        </p:nvSpPr>
        <p:spPr>
          <a:xfrm>
            <a:off x="1066800" y="13716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It identifies the potential bugs 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IN"/>
              <a:t>by examining the patterns in which that piece of data is used.</a:t>
            </a:r>
            <a:endParaRPr/>
          </a:p>
          <a:p>
            <a:pPr indent="-120903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457200" lvl="0" marL="4572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Example: If an out-of-scope data is being used in a computation, then it is a bug. There may be several patterns like this which indicate data anomalies.  </a:t>
            </a:r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1066800" y="152400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Introduction          cont…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0903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1209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1209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1209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1209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1209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1066800" y="1167057"/>
            <a:ext cx="7620000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To examine the patterns, the control flow graph of a program is used. </a:t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905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This test strategy selects the paths in the module’s control flow such that various sequences of data objects can be chosen. </a:t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905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major focus is on the points at which the data receives values and the places at which the data initialized has been referenced. </a:t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905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Thus, we have to choose enough paths in the control flow to ensure that every data is initialized before use and all the defined data have been used somewhere.</a:t>
            </a:r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>
            <a:off x="1219200" y="14288"/>
            <a:ext cx="749776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Introduction          cont…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/>
          <p:nvPr>
            <p:ph type="title"/>
          </p:nvPr>
        </p:nvSpPr>
        <p:spPr>
          <a:xfrm>
            <a:off x="1295400" y="228600"/>
            <a:ext cx="6553200" cy="854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100" lIns="13500" spcFirstLastPara="1" rIns="13500" wrap="square" tIns="351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lang="en-IN" sz="3600"/>
              <a:t>Data Flow-Based Testing</a:t>
            </a:r>
            <a:endParaRPr/>
          </a:p>
        </p:txBody>
      </p:sp>
      <p:sp>
        <p:nvSpPr>
          <p:cNvPr id="131" name="Google Shape;131;p17"/>
          <p:cNvSpPr txBox="1"/>
          <p:nvPr>
            <p:ph idx="1" type="body"/>
          </p:nvPr>
        </p:nvSpPr>
        <p:spPr>
          <a:xfrm>
            <a:off x="1219200" y="1066800"/>
            <a:ext cx="8261280" cy="4546557"/>
          </a:xfrm>
          <a:prstGeom prst="rect">
            <a:avLst/>
          </a:prstGeom>
          <a:noFill/>
          <a:ln>
            <a:noFill/>
          </a:ln>
        </p:spPr>
        <p:txBody>
          <a:bodyPr anchorCtr="0" anchor="t" bIns="35100" lIns="13500" spcFirstLastPara="1" rIns="13500" wrap="square" tIns="35100">
            <a:normAutofit/>
          </a:bodyPr>
          <a:lstStyle/>
          <a:p>
            <a:pPr indent="-233306" lvl="0" marL="233306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960"/>
              <a:buChar char="⚫"/>
            </a:pPr>
            <a:r>
              <a:rPr lang="en-IN" sz="3700"/>
              <a:t>Selects test paths of a program: </a:t>
            </a:r>
            <a:endParaRPr/>
          </a:p>
          <a:p>
            <a:pPr indent="-209550" lvl="1" marL="505497" rtl="0" algn="l">
              <a:lnSpc>
                <a:spcPct val="130000"/>
              </a:lnSpc>
              <a:spcBef>
                <a:spcPts val="2041"/>
              </a:spcBef>
              <a:spcAft>
                <a:spcPts val="0"/>
              </a:spcAft>
              <a:buSzPts val="3300"/>
              <a:buChar char="◦"/>
            </a:pPr>
            <a:r>
              <a:rPr lang="en-IN" sz="3300"/>
              <a:t>According to the locations of</a:t>
            </a:r>
            <a:endParaRPr/>
          </a:p>
          <a:p>
            <a:pPr indent="-184150" lvl="2" marL="777687" rtl="0" algn="l">
              <a:lnSpc>
                <a:spcPct val="130000"/>
              </a:lnSpc>
              <a:spcBef>
                <a:spcPts val="2041"/>
              </a:spcBef>
              <a:spcAft>
                <a:spcPts val="0"/>
              </a:spcAft>
              <a:buSzPts val="2900"/>
              <a:buChar char="●"/>
            </a:pPr>
            <a:r>
              <a:rPr lang="en-IN" sz="2900">
                <a:solidFill>
                  <a:srgbClr val="FF0000"/>
                </a:solidFill>
              </a:rPr>
              <a:t>Definitions </a:t>
            </a:r>
            <a:r>
              <a:rPr lang="en-IN" sz="2900">
                <a:solidFill>
                  <a:srgbClr val="0000CC"/>
                </a:solidFill>
              </a:rPr>
              <a:t>and</a:t>
            </a:r>
            <a:r>
              <a:rPr lang="en-IN" sz="2900">
                <a:solidFill>
                  <a:srgbClr val="FF0000"/>
                </a:solidFill>
              </a:rPr>
              <a:t> Uses </a:t>
            </a:r>
            <a:r>
              <a:rPr lang="en-IN" sz="2900">
                <a:solidFill>
                  <a:srgbClr val="0000CC"/>
                </a:solidFill>
              </a:rPr>
              <a:t>of different variables in a program.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type="title"/>
          </p:nvPr>
        </p:nvSpPr>
        <p:spPr>
          <a:xfrm>
            <a:off x="1295400" y="152400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Example</a:t>
            </a:r>
            <a:endParaRPr/>
          </a:p>
        </p:txBody>
      </p:sp>
      <p:sp>
        <p:nvSpPr>
          <p:cNvPr id="137" name="Google Shape;137;p18"/>
          <p:cNvSpPr txBox="1"/>
          <p:nvPr>
            <p:ph idx="1" type="body"/>
          </p:nvPr>
        </p:nvSpPr>
        <p:spPr>
          <a:xfrm>
            <a:off x="1447800" y="12954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100" lIns="13500" spcFirstLastPara="1" rIns="13500" wrap="square" tIns="35100">
            <a:noAutofit/>
          </a:bodyPr>
          <a:lstStyle/>
          <a:p>
            <a:pPr indent="-283464" lvl="0" marL="36576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-IN" sz="22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IN" sz="2200">
                <a:latin typeface="Arial"/>
                <a:ea typeface="Arial"/>
                <a:cs typeface="Arial"/>
                <a:sym typeface="Arial"/>
              </a:rPr>
              <a:t>   X(){</a:t>
            </a:r>
            <a:endParaRPr/>
          </a:p>
          <a:p>
            <a:pPr indent="-505497" lvl="0" marL="505497" rtl="0" algn="l">
              <a:lnSpc>
                <a:spcPct val="120000"/>
              </a:lnSpc>
              <a:spcBef>
                <a:spcPts val="459"/>
              </a:spcBef>
              <a:spcAft>
                <a:spcPts val="0"/>
              </a:spcAft>
              <a:buSzPts val="2200"/>
              <a:buFont typeface="Arial"/>
              <a:buAutoNum type="arabicPlain" startAt="2"/>
            </a:pPr>
            <a:r>
              <a:rPr b="1" lang="en-IN" sz="2200">
                <a:latin typeface="Arial"/>
                <a:ea typeface="Arial"/>
                <a:cs typeface="Arial"/>
                <a:sym typeface="Arial"/>
              </a:rPr>
              <a:t>int a=5; </a:t>
            </a:r>
            <a:r>
              <a:rPr b="1" lang="en-IN" sz="22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/* Defines variable a */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-IN" sz="22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         ….</a:t>
            </a:r>
            <a:endParaRPr/>
          </a:p>
          <a:p>
            <a:pPr indent="-283464" lvl="0" marL="365760" rtl="0" algn="l">
              <a:lnSpc>
                <a:spcPct val="120000"/>
              </a:lnSpc>
              <a:spcBef>
                <a:spcPts val="459"/>
              </a:spcBef>
              <a:spcAft>
                <a:spcPts val="0"/>
              </a:spcAft>
              <a:buSzPts val="2200"/>
              <a:buNone/>
            </a:pPr>
            <a:r>
              <a:rPr b="1" lang="en-IN" sz="22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lang="en-IN" sz="2200">
                <a:latin typeface="Arial"/>
                <a:ea typeface="Arial"/>
                <a:cs typeface="Arial"/>
                <a:sym typeface="Arial"/>
              </a:rPr>
              <a:t>    While(c&gt;5) {                   		</a:t>
            </a:r>
            <a:endParaRPr/>
          </a:p>
          <a:p>
            <a:pPr indent="-283464" lvl="0" marL="365760" rtl="0" algn="l">
              <a:lnSpc>
                <a:spcPct val="120000"/>
              </a:lnSpc>
              <a:spcBef>
                <a:spcPts val="459"/>
              </a:spcBef>
              <a:spcAft>
                <a:spcPts val="0"/>
              </a:spcAft>
              <a:buSzPts val="2200"/>
              <a:buNone/>
            </a:pPr>
            <a:r>
              <a:rPr b="1" lang="en-IN" sz="22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lang="en-IN" sz="2200">
                <a:latin typeface="Arial"/>
                <a:ea typeface="Arial"/>
                <a:cs typeface="Arial"/>
                <a:sym typeface="Arial"/>
              </a:rPr>
              <a:t>     if (d&lt;50)                        </a:t>
            </a:r>
            <a:endParaRPr/>
          </a:p>
          <a:p>
            <a:pPr indent="-505497" lvl="0" marL="505497" rtl="0" algn="l">
              <a:lnSpc>
                <a:spcPct val="120000"/>
              </a:lnSpc>
              <a:spcBef>
                <a:spcPts val="459"/>
              </a:spcBef>
              <a:spcAft>
                <a:spcPts val="0"/>
              </a:spcAft>
              <a:buSzPts val="2200"/>
              <a:buFont typeface="Arial"/>
              <a:buAutoNum type="arabicPlain" startAt="5"/>
            </a:pPr>
            <a:r>
              <a:rPr b="1" lang="en-IN" sz="2200">
                <a:latin typeface="Arial"/>
                <a:ea typeface="Arial"/>
                <a:cs typeface="Arial"/>
                <a:sym typeface="Arial"/>
              </a:rPr>
              <a:t>         b=a*a;   </a:t>
            </a:r>
            <a:r>
              <a:rPr b="1" lang="en-IN" sz="22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/*Uses variable a */</a:t>
            </a:r>
            <a:endParaRPr/>
          </a:p>
          <a:p>
            <a:pPr indent="-505497" lvl="0" marL="505497" rtl="0" algn="l">
              <a:lnSpc>
                <a:spcPct val="120000"/>
              </a:lnSpc>
              <a:spcBef>
                <a:spcPts val="459"/>
              </a:spcBef>
              <a:spcAft>
                <a:spcPts val="0"/>
              </a:spcAft>
              <a:buSzPts val="2200"/>
              <a:buFont typeface="Arial"/>
              <a:buAutoNum type="arabicPlain" startAt="5"/>
            </a:pPr>
            <a:r>
              <a:rPr b="1" lang="en-IN" sz="2200">
                <a:latin typeface="Arial"/>
                <a:ea typeface="Arial"/>
                <a:cs typeface="Arial"/>
                <a:sym typeface="Arial"/>
              </a:rPr>
              <a:t>          a=a-1; </a:t>
            </a:r>
            <a:r>
              <a:rPr b="1" lang="en-IN" sz="22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/* Defines variable a */</a:t>
            </a:r>
            <a:endParaRPr/>
          </a:p>
          <a:p>
            <a:pPr indent="-505497" lvl="0" marL="505497" rtl="0" algn="l">
              <a:lnSpc>
                <a:spcPct val="120000"/>
              </a:lnSpc>
              <a:spcBef>
                <a:spcPts val="459"/>
              </a:spcBef>
              <a:spcAft>
                <a:spcPts val="0"/>
              </a:spcAft>
              <a:buSzPts val="2200"/>
              <a:buNone/>
            </a:pPr>
            <a:r>
              <a:rPr b="1" lang="en-IN" sz="22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  <a:p>
            <a:pPr indent="-283464" lvl="0" marL="365760" rtl="0" algn="l">
              <a:lnSpc>
                <a:spcPct val="120000"/>
              </a:lnSpc>
              <a:spcBef>
                <a:spcPts val="459"/>
              </a:spcBef>
              <a:spcAft>
                <a:spcPts val="0"/>
              </a:spcAft>
              <a:buSzPts val="2200"/>
              <a:buNone/>
            </a:pPr>
            <a:r>
              <a:rPr b="1" lang="en-IN" sz="22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1" lang="en-IN" sz="2200">
                <a:latin typeface="Arial"/>
                <a:ea typeface="Arial"/>
                <a:cs typeface="Arial"/>
                <a:sym typeface="Arial"/>
              </a:rPr>
              <a:t>      }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-283464" lvl="0" marL="365760" rtl="0" algn="l">
              <a:lnSpc>
                <a:spcPct val="120000"/>
              </a:lnSpc>
              <a:spcBef>
                <a:spcPts val="459"/>
              </a:spcBef>
              <a:spcAft>
                <a:spcPts val="0"/>
              </a:spcAft>
              <a:buSzPts val="2200"/>
              <a:buNone/>
            </a:pPr>
            <a:r>
              <a:rPr b="1" lang="en-IN" sz="22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1" lang="en-IN" sz="2200">
                <a:latin typeface="Arial"/>
                <a:ea typeface="Arial"/>
                <a:cs typeface="Arial"/>
                <a:sym typeface="Arial"/>
              </a:rPr>
              <a:t>     print(a); } </a:t>
            </a:r>
            <a:r>
              <a:rPr b="1" lang="en-IN" sz="22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/*Uses variable a */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>
            <p:ph type="title"/>
          </p:nvPr>
        </p:nvSpPr>
        <p:spPr>
          <a:xfrm>
            <a:off x="1219200" y="381000"/>
            <a:ext cx="7584960" cy="567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100" lIns="13500" spcFirstLastPara="1" rIns="13500" wrap="square" tIns="351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 sz="3300"/>
              <a:t>Data Flow-Based Testing   cont …</a:t>
            </a:r>
            <a:endParaRPr sz="3300"/>
          </a:p>
        </p:txBody>
      </p:sp>
      <p:sp>
        <p:nvSpPr>
          <p:cNvPr id="144" name="Google Shape;144;p19"/>
          <p:cNvSpPr txBox="1"/>
          <p:nvPr>
            <p:ph idx="1" type="body"/>
          </p:nvPr>
        </p:nvSpPr>
        <p:spPr>
          <a:xfrm>
            <a:off x="1143000" y="1371600"/>
            <a:ext cx="8229600" cy="5599308"/>
          </a:xfrm>
          <a:prstGeom prst="rect">
            <a:avLst/>
          </a:prstGeom>
          <a:noFill/>
          <a:ln>
            <a:noFill/>
          </a:ln>
        </p:spPr>
        <p:txBody>
          <a:bodyPr anchorCtr="0" anchor="t" bIns="35100" lIns="13500" spcFirstLastPara="1" rIns="13500" wrap="square" tIns="35100">
            <a:normAutofit/>
          </a:bodyPr>
          <a:lstStyle/>
          <a:p>
            <a:pPr indent="-233283" lvl="0" marL="233283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lang="en-IN" sz="2800">
                <a:latin typeface="Arial"/>
                <a:ea typeface="Arial"/>
                <a:cs typeface="Arial"/>
                <a:sym typeface="Arial"/>
              </a:rPr>
              <a:t>For a statement numbered S, </a:t>
            </a:r>
            <a:endParaRPr/>
          </a:p>
          <a:p>
            <a:pPr indent="-194403" lvl="1" marL="505448" rtl="0" algn="l">
              <a:lnSpc>
                <a:spcPct val="120000"/>
              </a:lnSpc>
              <a:spcBef>
                <a:spcPts val="1160"/>
              </a:spcBef>
              <a:spcAft>
                <a:spcPts val="0"/>
              </a:spcAft>
              <a:buSzPts val="2400"/>
              <a:buChar char="◦"/>
            </a:pPr>
            <a:r>
              <a:rPr lang="en-IN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DEF(S) = {X / statement S contains a definition of X} </a:t>
            </a:r>
            <a:endParaRPr/>
          </a:p>
          <a:p>
            <a:pPr indent="-194403" lvl="1" marL="505448" rtl="0" algn="l">
              <a:lnSpc>
                <a:spcPct val="120000"/>
              </a:lnSpc>
              <a:spcBef>
                <a:spcPts val="1080"/>
              </a:spcBef>
              <a:spcAft>
                <a:spcPts val="0"/>
              </a:spcAft>
              <a:buSzPts val="2400"/>
              <a:buChar char="◦"/>
            </a:pPr>
            <a:r>
              <a:rPr lang="en-IN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USES(S)= {X / statement S contains a use of X}</a:t>
            </a:r>
            <a:endParaRPr/>
          </a:p>
          <a:p>
            <a:pPr indent="-194403" lvl="1" marL="505448" rtl="0" algn="l">
              <a:lnSpc>
                <a:spcPct val="120000"/>
              </a:lnSpc>
              <a:spcBef>
                <a:spcPts val="1080"/>
              </a:spcBef>
              <a:spcAft>
                <a:spcPts val="0"/>
              </a:spcAft>
              <a:buSzPts val="2400"/>
              <a:buChar char="◦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b="1" lang="en-IN" sz="24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1: a=b;</a:t>
            </a:r>
            <a:r>
              <a:rPr b="1" lang="en-IN" sz="2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N" sz="2400">
                <a:latin typeface="Arial"/>
                <a:ea typeface="Arial"/>
                <a:cs typeface="Arial"/>
                <a:sym typeface="Arial"/>
              </a:rPr>
              <a:t>DEF(1)={a}, USES(1)={b}.</a:t>
            </a:r>
            <a:endParaRPr/>
          </a:p>
          <a:p>
            <a:pPr indent="-194403" lvl="1" marL="505448" rtl="0" algn="l">
              <a:lnSpc>
                <a:spcPct val="120000"/>
              </a:lnSpc>
              <a:spcBef>
                <a:spcPts val="1080"/>
              </a:spcBef>
              <a:spcAft>
                <a:spcPts val="0"/>
              </a:spcAft>
              <a:buSzPts val="2400"/>
              <a:buChar char="◦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lang="en-IN" sz="24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: 2: </a:t>
            </a:r>
            <a:r>
              <a:rPr b="1" lang="en-IN" sz="24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a=a+b;</a:t>
            </a:r>
            <a:r>
              <a:rPr lang="en-IN" sz="2400">
                <a:latin typeface="Arial"/>
                <a:ea typeface="Arial"/>
                <a:cs typeface="Arial"/>
                <a:sym typeface="Arial"/>
              </a:rPr>
              <a:t> DEF(1)={a}, USES(1)={a,b}.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type="title"/>
          </p:nvPr>
        </p:nvSpPr>
        <p:spPr>
          <a:xfrm>
            <a:off x="1306080" y="180019"/>
            <a:ext cx="7456920" cy="517014"/>
          </a:xfrm>
          <a:prstGeom prst="rect">
            <a:avLst/>
          </a:prstGeom>
          <a:noFill/>
          <a:ln>
            <a:noFill/>
          </a:ln>
        </p:spPr>
        <p:txBody>
          <a:bodyPr anchorCtr="0" anchor="ctr" bIns="35100" lIns="13500" spcFirstLastPara="1" rIns="13500" wrap="square" tIns="35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lang="en-IN" sz="3600"/>
              <a:t>Data Flow-Based Testing     cont …</a:t>
            </a:r>
            <a:endParaRPr/>
          </a:p>
        </p:txBody>
      </p:sp>
      <p:sp>
        <p:nvSpPr>
          <p:cNvPr id="151" name="Google Shape;151;p20"/>
          <p:cNvSpPr txBox="1"/>
          <p:nvPr>
            <p:ph idx="1" type="body"/>
          </p:nvPr>
        </p:nvSpPr>
        <p:spPr>
          <a:xfrm>
            <a:off x="838200" y="990600"/>
            <a:ext cx="8570880" cy="5115417"/>
          </a:xfrm>
          <a:prstGeom prst="rect">
            <a:avLst/>
          </a:prstGeom>
          <a:noFill/>
          <a:ln>
            <a:noFill/>
          </a:ln>
        </p:spPr>
        <p:txBody>
          <a:bodyPr anchorCtr="0" anchor="t" bIns="35100" lIns="13500" spcFirstLastPara="1" rIns="13500" wrap="square" tIns="35100">
            <a:normAutofit/>
          </a:bodyPr>
          <a:lstStyle/>
          <a:p>
            <a:pPr indent="-233306" lvl="0" marL="233306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640"/>
              <a:buChar char="⚫"/>
            </a:pPr>
            <a:r>
              <a:rPr lang="en-IN" sz="3300">
                <a:latin typeface="Arial"/>
                <a:ea typeface="Arial"/>
                <a:cs typeface="Arial"/>
                <a:sym typeface="Arial"/>
              </a:rPr>
              <a:t>A variable X is said to be </a:t>
            </a:r>
            <a:r>
              <a:rPr lang="en-IN" sz="33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live</a:t>
            </a:r>
            <a:r>
              <a:rPr lang="en-IN" sz="3300">
                <a:latin typeface="Arial"/>
                <a:ea typeface="Arial"/>
                <a:cs typeface="Arial"/>
                <a:sym typeface="Arial"/>
              </a:rPr>
              <a:t> at statement S1, if</a:t>
            </a:r>
            <a:endParaRPr/>
          </a:p>
          <a:p>
            <a:pPr indent="-196850" lvl="1" marL="505497" rtl="0" algn="l">
              <a:lnSpc>
                <a:spcPct val="125000"/>
              </a:lnSpc>
              <a:spcBef>
                <a:spcPts val="1885"/>
              </a:spcBef>
              <a:spcAft>
                <a:spcPts val="0"/>
              </a:spcAft>
              <a:buSzPts val="3100"/>
              <a:buChar char="◦"/>
            </a:pPr>
            <a:r>
              <a:rPr lang="en-IN" sz="31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X is defined at a statement S, and</a:t>
            </a:r>
            <a:endParaRPr sz="3100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1" marL="505497" rtl="0" algn="l">
              <a:lnSpc>
                <a:spcPct val="125000"/>
              </a:lnSpc>
              <a:spcBef>
                <a:spcPts val="1845"/>
              </a:spcBef>
              <a:spcAft>
                <a:spcPts val="0"/>
              </a:spcAft>
              <a:buSzPts val="3100"/>
              <a:buChar char="◦"/>
            </a:pPr>
            <a:r>
              <a:rPr lang="en-IN" sz="31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there exists a path from S to S1 not containing any definition of X.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type="title"/>
          </p:nvPr>
        </p:nvSpPr>
        <p:spPr>
          <a:xfrm>
            <a:off x="1323360" y="64808"/>
            <a:ext cx="5827680" cy="854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35100" lIns="13500" spcFirstLastPara="1" rIns="13500" wrap="square" tIns="351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300"/>
              <a:buFont typeface="Gill Sans"/>
              <a:buNone/>
            </a:pPr>
            <a:r>
              <a:rPr lang="en-IN" sz="3300"/>
              <a:t>DU Chain Example</a:t>
            </a:r>
            <a:endParaRPr/>
          </a:p>
        </p:txBody>
      </p:sp>
      <p:sp>
        <p:nvSpPr>
          <p:cNvPr id="158" name="Google Shape;158;p21"/>
          <p:cNvSpPr txBox="1"/>
          <p:nvPr/>
        </p:nvSpPr>
        <p:spPr>
          <a:xfrm>
            <a:off x="1264320" y="918816"/>
            <a:ext cx="7879680" cy="4791383"/>
          </a:xfrm>
          <a:prstGeom prst="rect">
            <a:avLst/>
          </a:prstGeom>
          <a:noFill/>
          <a:ln>
            <a:noFill/>
          </a:ln>
        </p:spPr>
        <p:txBody>
          <a:bodyPr anchorCtr="0" anchor="t" bIns="35100" lIns="13500" spcFirstLastPara="1" rIns="13500" wrap="square" tIns="35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7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IN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X(){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454"/>
              </a:spcBef>
              <a:spcAft>
                <a:spcPts val="0"/>
              </a:spcAft>
              <a:buNone/>
            </a:pPr>
            <a:r>
              <a:rPr b="0" i="0" lang="en-IN" sz="27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IN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int a=5; </a:t>
            </a:r>
            <a:r>
              <a:rPr b="0" i="0" lang="en-IN" sz="27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/* Defines variable a */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454"/>
              </a:spcBef>
              <a:spcAft>
                <a:spcPts val="0"/>
              </a:spcAft>
              <a:buNone/>
            </a:pPr>
            <a:r>
              <a:rPr b="0" i="0" lang="en-IN" sz="27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IN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While(c&gt;5) {                   		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454"/>
              </a:spcBef>
              <a:spcAft>
                <a:spcPts val="0"/>
              </a:spcAft>
              <a:buNone/>
            </a:pPr>
            <a:r>
              <a:rPr b="0" i="0" lang="en-IN" sz="27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IN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if (d&lt;50)                        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454"/>
              </a:spcBef>
              <a:spcAft>
                <a:spcPts val="0"/>
              </a:spcAft>
              <a:buNone/>
            </a:pPr>
            <a:r>
              <a:rPr b="0" i="0" lang="en-IN" sz="27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IN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b=a*a;   </a:t>
            </a:r>
            <a:r>
              <a:rPr b="0" i="0" lang="en-IN" sz="27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/*Uses variable a */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454"/>
              </a:spcBef>
              <a:spcAft>
                <a:spcPts val="0"/>
              </a:spcAft>
              <a:buNone/>
            </a:pPr>
            <a:r>
              <a:rPr b="0" i="0" lang="en-IN" sz="27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6           </a:t>
            </a:r>
            <a:r>
              <a:rPr b="0" i="0" lang="en-IN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a=a-1; </a:t>
            </a:r>
            <a:r>
              <a:rPr b="0" i="0" lang="en-IN" sz="27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/* Defines variable a */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454"/>
              </a:spcBef>
              <a:spcAft>
                <a:spcPts val="0"/>
              </a:spcAft>
              <a:buNone/>
            </a:pPr>
            <a:r>
              <a:rPr b="0" i="0" lang="en-IN" sz="27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0" i="0" lang="en-IN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}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454"/>
              </a:spcBef>
              <a:spcAft>
                <a:spcPts val="0"/>
              </a:spcAft>
              <a:buNone/>
            </a:pPr>
            <a:r>
              <a:rPr b="0" i="0" lang="en-IN" sz="27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n-IN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print(a); } </a:t>
            </a:r>
            <a:r>
              <a:rPr b="0" i="0" lang="en-IN" sz="27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/*Uses variable a */</a:t>
            </a:r>
            <a:endParaRPr/>
          </a:p>
        </p:txBody>
      </p:sp>
      <p:sp>
        <p:nvSpPr>
          <p:cNvPr id="159" name="Google Shape;159;p21"/>
          <p:cNvSpPr/>
          <p:nvPr/>
        </p:nvSpPr>
        <p:spPr>
          <a:xfrm>
            <a:off x="1738080" y="1977328"/>
            <a:ext cx="650880" cy="1294695"/>
          </a:xfrm>
          <a:custGeom>
            <a:rect b="b" l="l" r="r" t="t"/>
            <a:pathLst>
              <a:path extrusionOk="0" h="1902541" w="958646">
                <a:moveTo>
                  <a:pt x="0" y="0"/>
                </a:moveTo>
                <a:cubicBezTo>
                  <a:pt x="34413" y="19664"/>
                  <a:pt x="76724" y="29533"/>
                  <a:pt x="103239" y="58993"/>
                </a:cubicBezTo>
                <a:cubicBezTo>
                  <a:pt x="124039" y="82104"/>
                  <a:pt x="115489" y="121613"/>
                  <a:pt x="132736" y="147483"/>
                </a:cubicBezTo>
                <a:cubicBezTo>
                  <a:pt x="152992" y="177867"/>
                  <a:pt x="193772" y="237519"/>
                  <a:pt x="206478" y="265471"/>
                </a:cubicBezTo>
                <a:cubicBezTo>
                  <a:pt x="219344" y="293776"/>
                  <a:pt x="226143" y="324464"/>
                  <a:pt x="235975" y="353961"/>
                </a:cubicBezTo>
                <a:cubicBezTo>
                  <a:pt x="241580" y="370777"/>
                  <a:pt x="257544" y="382352"/>
                  <a:pt x="265471" y="398206"/>
                </a:cubicBezTo>
                <a:cubicBezTo>
                  <a:pt x="326528" y="520319"/>
                  <a:pt x="225189" y="359905"/>
                  <a:pt x="309717" y="486696"/>
                </a:cubicBezTo>
                <a:cubicBezTo>
                  <a:pt x="314633" y="506361"/>
                  <a:pt x="316480" y="527059"/>
                  <a:pt x="324465" y="545690"/>
                </a:cubicBezTo>
                <a:cubicBezTo>
                  <a:pt x="339864" y="581622"/>
                  <a:pt x="371631" y="607604"/>
                  <a:pt x="398207" y="634180"/>
                </a:cubicBezTo>
                <a:cubicBezTo>
                  <a:pt x="408039" y="663677"/>
                  <a:pt x="421606" y="692182"/>
                  <a:pt x="427704" y="722671"/>
                </a:cubicBezTo>
                <a:cubicBezTo>
                  <a:pt x="432620" y="747251"/>
                  <a:pt x="437968" y="771749"/>
                  <a:pt x="442452" y="796412"/>
                </a:cubicBezTo>
                <a:cubicBezTo>
                  <a:pt x="447801" y="825834"/>
                  <a:pt x="449947" y="855892"/>
                  <a:pt x="457200" y="884903"/>
                </a:cubicBezTo>
                <a:cubicBezTo>
                  <a:pt x="464741" y="915067"/>
                  <a:pt x="476865" y="943896"/>
                  <a:pt x="486697" y="973393"/>
                </a:cubicBezTo>
                <a:cubicBezTo>
                  <a:pt x="491613" y="1017638"/>
                  <a:pt x="491436" y="1062751"/>
                  <a:pt x="501446" y="1106129"/>
                </a:cubicBezTo>
                <a:cubicBezTo>
                  <a:pt x="512528" y="1154149"/>
                  <a:pt x="539984" y="1168458"/>
                  <a:pt x="560439" y="1209367"/>
                </a:cubicBezTo>
                <a:cubicBezTo>
                  <a:pt x="567392" y="1223272"/>
                  <a:pt x="568236" y="1239707"/>
                  <a:pt x="575188" y="1253612"/>
                </a:cubicBezTo>
                <a:cubicBezTo>
                  <a:pt x="583115" y="1269466"/>
                  <a:pt x="595890" y="1282468"/>
                  <a:pt x="604684" y="1297858"/>
                </a:cubicBezTo>
                <a:cubicBezTo>
                  <a:pt x="615592" y="1316947"/>
                  <a:pt x="622869" y="1337999"/>
                  <a:pt x="634181" y="1356851"/>
                </a:cubicBezTo>
                <a:cubicBezTo>
                  <a:pt x="652420" y="1387250"/>
                  <a:pt x="693175" y="1445341"/>
                  <a:pt x="693175" y="1445341"/>
                </a:cubicBezTo>
                <a:cubicBezTo>
                  <a:pt x="698091" y="1465006"/>
                  <a:pt x="698858" y="1486205"/>
                  <a:pt x="707923" y="1504335"/>
                </a:cubicBezTo>
                <a:cubicBezTo>
                  <a:pt x="723777" y="1536043"/>
                  <a:pt x="747253" y="1563328"/>
                  <a:pt x="766917" y="1592825"/>
                </a:cubicBezTo>
                <a:lnTo>
                  <a:pt x="825910" y="1681316"/>
                </a:lnTo>
                <a:cubicBezTo>
                  <a:pt x="835742" y="1696064"/>
                  <a:pt x="846287" y="1710362"/>
                  <a:pt x="855407" y="1725561"/>
                </a:cubicBezTo>
                <a:cubicBezTo>
                  <a:pt x="870155" y="1750142"/>
                  <a:pt x="886832" y="1773664"/>
                  <a:pt x="899652" y="1799303"/>
                </a:cubicBezTo>
                <a:cubicBezTo>
                  <a:pt x="906604" y="1813208"/>
                  <a:pt x="907448" y="1829643"/>
                  <a:pt x="914400" y="1843548"/>
                </a:cubicBezTo>
                <a:cubicBezTo>
                  <a:pt x="931077" y="1876903"/>
                  <a:pt x="937904" y="1881800"/>
                  <a:pt x="958646" y="1902541"/>
                </a:cubicBezTo>
              </a:path>
            </a:pathLst>
          </a:custGeom>
          <a:noFill/>
          <a:ln cap="flat" cmpd="sng" w="571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450" lIns="82925" spcFirstLastPara="1" rIns="82925" wrap="square" tIns="41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>
            <p:ph type="title"/>
          </p:nvPr>
        </p:nvSpPr>
        <p:spPr>
          <a:xfrm>
            <a:off x="1540801" y="110893"/>
            <a:ext cx="5827680" cy="854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35100" lIns="13500" spcFirstLastPara="1" rIns="13500" wrap="square" tIns="351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000"/>
              <a:buFont typeface="Gill Sans"/>
              <a:buNone/>
            </a:pPr>
            <a:r>
              <a:rPr lang="en-IN" sz="3000"/>
              <a:t>Definition-use chain (DU chain)</a:t>
            </a:r>
            <a:endParaRPr/>
          </a:p>
        </p:txBody>
      </p:sp>
      <p:sp>
        <p:nvSpPr>
          <p:cNvPr id="166" name="Google Shape;166;p22"/>
          <p:cNvSpPr txBox="1"/>
          <p:nvPr>
            <p:ph idx="1" type="body"/>
          </p:nvPr>
        </p:nvSpPr>
        <p:spPr>
          <a:xfrm>
            <a:off x="1066800" y="990600"/>
            <a:ext cx="8077200" cy="5206147"/>
          </a:xfrm>
          <a:prstGeom prst="rect">
            <a:avLst/>
          </a:prstGeom>
          <a:noFill/>
          <a:ln>
            <a:noFill/>
          </a:ln>
        </p:spPr>
        <p:txBody>
          <a:bodyPr anchorCtr="0" anchor="t" bIns="35100" lIns="13500" spcFirstLastPara="1" rIns="13500" wrap="square" tIns="35100">
            <a:normAutofit/>
          </a:bodyPr>
          <a:lstStyle/>
          <a:p>
            <a:pPr indent="-233283" lvl="0" marL="233283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880"/>
              <a:buChar char="⚫"/>
            </a:pPr>
            <a:r>
              <a:rPr lang="en-IN" sz="3600">
                <a:latin typeface="Calibri"/>
                <a:ea typeface="Calibri"/>
                <a:cs typeface="Calibri"/>
                <a:sym typeface="Calibri"/>
              </a:rPr>
              <a:t>[X,S,S1], </a:t>
            </a:r>
            <a:endParaRPr/>
          </a:p>
          <a:p>
            <a:pPr indent="-209550" lvl="1" marL="505448" rtl="0" algn="l">
              <a:lnSpc>
                <a:spcPct val="140000"/>
              </a:lnSpc>
              <a:spcBef>
                <a:spcPts val="1632"/>
              </a:spcBef>
              <a:spcAft>
                <a:spcPts val="0"/>
              </a:spcAft>
              <a:buSzPts val="3300"/>
              <a:buChar char="◦"/>
            </a:pPr>
            <a:r>
              <a:rPr lang="en-IN" sz="3300">
                <a:latin typeface="Calibri"/>
                <a:ea typeface="Calibri"/>
                <a:cs typeface="Calibri"/>
                <a:sym typeface="Calibri"/>
              </a:rPr>
              <a:t>S and S1 are statement numbers, </a:t>
            </a:r>
            <a:endParaRPr/>
          </a:p>
          <a:p>
            <a:pPr indent="-209550" lvl="1" marL="505448" rtl="0" algn="l">
              <a:lnSpc>
                <a:spcPct val="140000"/>
              </a:lnSpc>
              <a:spcBef>
                <a:spcPts val="1632"/>
              </a:spcBef>
              <a:spcAft>
                <a:spcPts val="0"/>
              </a:spcAft>
              <a:buSzPts val="3300"/>
              <a:buChar char="◦"/>
            </a:pPr>
            <a:r>
              <a:rPr lang="en-IN" sz="3300">
                <a:latin typeface="Calibri"/>
                <a:ea typeface="Calibri"/>
                <a:cs typeface="Calibri"/>
                <a:sym typeface="Calibri"/>
              </a:rPr>
              <a:t>X ∈ DEF(S),</a:t>
            </a:r>
            <a:endParaRPr sz="3300">
              <a:latin typeface="Calibri"/>
              <a:ea typeface="Calibri"/>
              <a:cs typeface="Calibri"/>
              <a:sym typeface="Calibri"/>
            </a:endParaRPr>
          </a:p>
          <a:p>
            <a:pPr indent="-209550" lvl="1" marL="505448" rtl="0" algn="l">
              <a:lnSpc>
                <a:spcPct val="140000"/>
              </a:lnSpc>
              <a:spcBef>
                <a:spcPts val="1632"/>
              </a:spcBef>
              <a:spcAft>
                <a:spcPts val="0"/>
              </a:spcAft>
              <a:buSzPts val="3300"/>
              <a:buChar char="◦"/>
            </a:pPr>
            <a:r>
              <a:rPr lang="en-IN" sz="3300">
                <a:latin typeface="Calibri"/>
                <a:ea typeface="Calibri"/>
                <a:cs typeface="Calibri"/>
                <a:sym typeface="Calibri"/>
              </a:rPr>
              <a:t>X ∈ USES(S1), and </a:t>
            </a:r>
            <a:endParaRPr/>
          </a:p>
          <a:p>
            <a:pPr indent="-209550" lvl="1" marL="505448" rtl="0" algn="l">
              <a:lnSpc>
                <a:spcPct val="140000"/>
              </a:lnSpc>
              <a:spcBef>
                <a:spcPts val="1632"/>
              </a:spcBef>
              <a:spcAft>
                <a:spcPts val="0"/>
              </a:spcAft>
              <a:buSzPts val="3300"/>
              <a:buChar char="◦"/>
            </a:pPr>
            <a:r>
              <a:rPr lang="en-IN" sz="3300">
                <a:latin typeface="Calibri"/>
                <a:ea typeface="Calibri"/>
                <a:cs typeface="Calibri"/>
                <a:sym typeface="Calibri"/>
              </a:rPr>
              <a:t>the definition of X in the statement S is </a:t>
            </a:r>
            <a:r>
              <a:rPr lang="en-IN" sz="33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live</a:t>
            </a:r>
            <a:r>
              <a:rPr lang="en-IN" sz="3300">
                <a:latin typeface="Calibri"/>
                <a:ea typeface="Calibri"/>
                <a:cs typeface="Calibri"/>
                <a:sym typeface="Calibri"/>
              </a:rPr>
              <a:t>  at statement S1. 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>
            <p:ph type="title"/>
          </p:nvPr>
        </p:nvSpPr>
        <p:spPr>
          <a:xfrm>
            <a:off x="1306080" y="-96491"/>
            <a:ext cx="5827680" cy="854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100" lIns="13500" spcFirstLastPara="1" rIns="13500" wrap="square" tIns="351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300"/>
              <a:buFont typeface="Gill Sans"/>
              <a:buNone/>
            </a:pPr>
            <a:r>
              <a:rPr lang="en-IN" sz="3300"/>
              <a:t>Data Flow-Based Testing Strategy</a:t>
            </a:r>
            <a:endParaRPr sz="3300"/>
          </a:p>
        </p:txBody>
      </p:sp>
      <p:sp>
        <p:nvSpPr>
          <p:cNvPr id="173" name="Google Shape;173;p23"/>
          <p:cNvSpPr txBox="1"/>
          <p:nvPr>
            <p:ph idx="1" type="body"/>
          </p:nvPr>
        </p:nvSpPr>
        <p:spPr>
          <a:xfrm>
            <a:off x="1066800" y="990600"/>
            <a:ext cx="8001000" cy="5184544"/>
          </a:xfrm>
          <a:prstGeom prst="rect">
            <a:avLst/>
          </a:prstGeom>
          <a:noFill/>
          <a:ln>
            <a:noFill/>
          </a:ln>
        </p:spPr>
        <p:txBody>
          <a:bodyPr anchorCtr="0" anchor="t" bIns="35100" lIns="13500" spcFirstLastPara="1" rIns="13500" wrap="square" tIns="35100">
            <a:normAutofit/>
          </a:bodyPr>
          <a:lstStyle/>
          <a:p>
            <a:pPr indent="-233283" lvl="0" marL="233283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640"/>
              <a:buChar char="⚫"/>
            </a:pPr>
            <a:r>
              <a:rPr lang="en-IN" sz="3300"/>
              <a:t>One simple data flow testing strategy: </a:t>
            </a:r>
            <a:endParaRPr/>
          </a:p>
          <a:p>
            <a:pPr indent="-194403" lvl="1" marL="505448" rtl="0" algn="just">
              <a:lnSpc>
                <a:spcPct val="125000"/>
              </a:lnSpc>
              <a:spcBef>
                <a:spcPts val="1632"/>
              </a:spcBef>
              <a:spcAft>
                <a:spcPts val="0"/>
              </a:spcAft>
              <a:buSzPts val="2900"/>
              <a:buChar char="◦"/>
            </a:pPr>
            <a:r>
              <a:rPr b="1" lang="en-IN" sz="2900">
                <a:solidFill>
                  <a:srgbClr val="0000CC"/>
                </a:solidFill>
              </a:rPr>
              <a:t>Every DU chain in a program be covered at least once.</a:t>
            </a:r>
            <a:endParaRPr/>
          </a:p>
          <a:p>
            <a:pPr indent="-233283" lvl="0" marL="233283" rtl="0" algn="just">
              <a:lnSpc>
                <a:spcPct val="125000"/>
              </a:lnSpc>
              <a:spcBef>
                <a:spcPts val="1632"/>
              </a:spcBef>
              <a:spcAft>
                <a:spcPts val="0"/>
              </a:spcAft>
              <a:buSzPts val="2640"/>
              <a:buChar char="⚫"/>
            </a:pPr>
            <a:r>
              <a:rPr lang="en-IN" sz="3300"/>
              <a:t>Data flow testing strategies:</a:t>
            </a:r>
            <a:endParaRPr/>
          </a:p>
          <a:p>
            <a:pPr indent="-194403" lvl="1" marL="505448" rtl="0" algn="just">
              <a:lnSpc>
                <a:spcPct val="125000"/>
              </a:lnSpc>
              <a:spcBef>
                <a:spcPts val="1632"/>
              </a:spcBef>
              <a:spcAft>
                <a:spcPts val="0"/>
              </a:spcAft>
              <a:buSzPts val="2900"/>
              <a:buChar char="◦"/>
            </a:pPr>
            <a:r>
              <a:rPr lang="en-IN" sz="2900"/>
              <a:t>Useful for selecting test paths of a program containing nested if and loop statements.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>
            <p:ph idx="1" type="body"/>
          </p:nvPr>
        </p:nvSpPr>
        <p:spPr>
          <a:xfrm>
            <a:off x="770400" y="888574"/>
            <a:ext cx="7741440" cy="5167262"/>
          </a:xfrm>
          <a:prstGeom prst="rect">
            <a:avLst/>
          </a:prstGeom>
          <a:noFill/>
          <a:ln>
            <a:noFill/>
          </a:ln>
        </p:spPr>
        <p:txBody>
          <a:bodyPr anchorCtr="0" anchor="t" bIns="35100" lIns="13500" spcFirstLastPara="1" rIns="13500" wrap="square" tIns="35100">
            <a:normAutofit/>
          </a:bodyPr>
          <a:lstStyle/>
          <a:p>
            <a:pPr indent="0" lvl="2" marL="6221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300">
                <a:solidFill>
                  <a:srgbClr val="0000CC"/>
                </a:solidFill>
              </a:rPr>
              <a:t>1</a:t>
            </a:r>
            <a:r>
              <a:rPr lang="en-IN" sz="2300"/>
              <a:t> X(){</a:t>
            </a:r>
            <a:endParaRPr/>
          </a:p>
          <a:p>
            <a:pPr indent="0" lvl="2" marL="622150" rtl="0" algn="l">
              <a:lnSpc>
                <a:spcPct val="120000"/>
              </a:lnSpc>
              <a:spcBef>
                <a:spcPts val="825"/>
              </a:spcBef>
              <a:spcAft>
                <a:spcPts val="0"/>
              </a:spcAft>
              <a:buNone/>
            </a:pPr>
            <a:r>
              <a:rPr lang="en-IN" sz="2300">
                <a:solidFill>
                  <a:srgbClr val="0000CC"/>
                </a:solidFill>
              </a:rPr>
              <a:t>2</a:t>
            </a:r>
            <a:r>
              <a:rPr lang="en-IN" sz="2300"/>
              <a:t>  B1;      </a:t>
            </a:r>
            <a:r>
              <a:rPr lang="en-IN" sz="2300">
                <a:solidFill>
                  <a:srgbClr val="0000CC"/>
                </a:solidFill>
              </a:rPr>
              <a:t>/* Defines variable a */</a:t>
            </a:r>
            <a:endParaRPr/>
          </a:p>
          <a:p>
            <a:pPr indent="0" lvl="2" marL="622150" rtl="0" algn="l">
              <a:lnSpc>
                <a:spcPct val="120000"/>
              </a:lnSpc>
              <a:spcBef>
                <a:spcPts val="825"/>
              </a:spcBef>
              <a:spcAft>
                <a:spcPts val="0"/>
              </a:spcAft>
              <a:buNone/>
            </a:pPr>
            <a:r>
              <a:rPr lang="en-IN" sz="2300">
                <a:solidFill>
                  <a:srgbClr val="0000CC"/>
                </a:solidFill>
              </a:rPr>
              <a:t>3</a:t>
            </a:r>
            <a:r>
              <a:rPr lang="en-IN" sz="2300"/>
              <a:t>  While(C1) {                   		</a:t>
            </a:r>
            <a:endParaRPr/>
          </a:p>
          <a:p>
            <a:pPr indent="0" lvl="2" marL="622150" rtl="0" algn="l">
              <a:lnSpc>
                <a:spcPct val="120000"/>
              </a:lnSpc>
              <a:spcBef>
                <a:spcPts val="825"/>
              </a:spcBef>
              <a:spcAft>
                <a:spcPts val="0"/>
              </a:spcAft>
              <a:buNone/>
            </a:pPr>
            <a:r>
              <a:rPr lang="en-IN" sz="2300">
                <a:solidFill>
                  <a:srgbClr val="0000CC"/>
                </a:solidFill>
              </a:rPr>
              <a:t>4</a:t>
            </a:r>
            <a:r>
              <a:rPr lang="en-IN" sz="2300"/>
              <a:t>     if (C2)                        </a:t>
            </a:r>
            <a:endParaRPr/>
          </a:p>
          <a:p>
            <a:pPr indent="0" lvl="2" marL="622150" rtl="0" algn="l">
              <a:lnSpc>
                <a:spcPct val="120000"/>
              </a:lnSpc>
              <a:spcBef>
                <a:spcPts val="825"/>
              </a:spcBef>
              <a:spcAft>
                <a:spcPts val="0"/>
              </a:spcAft>
              <a:buNone/>
            </a:pPr>
            <a:r>
              <a:rPr lang="en-IN" sz="2300">
                <a:solidFill>
                  <a:srgbClr val="0000CC"/>
                </a:solidFill>
              </a:rPr>
              <a:t>5</a:t>
            </a:r>
            <a:r>
              <a:rPr lang="en-IN" sz="2300"/>
              <a:t>           if(C4) B4; </a:t>
            </a:r>
            <a:r>
              <a:rPr lang="en-IN" sz="2300">
                <a:solidFill>
                  <a:srgbClr val="0000CC"/>
                </a:solidFill>
              </a:rPr>
              <a:t>/*Uses variable a */</a:t>
            </a:r>
            <a:r>
              <a:rPr lang="en-IN" sz="2300"/>
              <a:t>                       </a:t>
            </a:r>
            <a:endParaRPr/>
          </a:p>
          <a:p>
            <a:pPr indent="0" lvl="2" marL="622150" rtl="0" algn="l">
              <a:lnSpc>
                <a:spcPct val="120000"/>
              </a:lnSpc>
              <a:spcBef>
                <a:spcPts val="825"/>
              </a:spcBef>
              <a:spcAft>
                <a:spcPts val="0"/>
              </a:spcAft>
              <a:buNone/>
            </a:pPr>
            <a:r>
              <a:rPr lang="en-IN" sz="2300">
                <a:solidFill>
                  <a:srgbClr val="0000CC"/>
                </a:solidFill>
              </a:rPr>
              <a:t>6</a:t>
            </a:r>
            <a:r>
              <a:rPr lang="en-IN" sz="2300"/>
              <a:t> 	     else B5;</a:t>
            </a:r>
            <a:endParaRPr/>
          </a:p>
          <a:p>
            <a:pPr indent="0" lvl="2" marL="622150" rtl="0" algn="l">
              <a:lnSpc>
                <a:spcPct val="120000"/>
              </a:lnSpc>
              <a:spcBef>
                <a:spcPts val="825"/>
              </a:spcBef>
              <a:spcAft>
                <a:spcPts val="0"/>
              </a:spcAft>
              <a:buNone/>
            </a:pPr>
            <a:r>
              <a:rPr lang="en-IN" sz="2300">
                <a:solidFill>
                  <a:srgbClr val="0000CC"/>
                </a:solidFill>
              </a:rPr>
              <a:t>7</a:t>
            </a:r>
            <a:r>
              <a:rPr lang="en-IN" sz="2300"/>
              <a:t>          else  if (C3) B2;              </a:t>
            </a:r>
            <a:endParaRPr/>
          </a:p>
          <a:p>
            <a:pPr indent="0" lvl="2" marL="622150" rtl="0" algn="l">
              <a:lnSpc>
                <a:spcPct val="120000"/>
              </a:lnSpc>
              <a:spcBef>
                <a:spcPts val="825"/>
              </a:spcBef>
              <a:spcAft>
                <a:spcPts val="0"/>
              </a:spcAft>
              <a:buNone/>
            </a:pPr>
            <a:r>
              <a:rPr lang="en-IN" sz="2300">
                <a:solidFill>
                  <a:srgbClr val="0000CC"/>
                </a:solidFill>
              </a:rPr>
              <a:t>8</a:t>
            </a:r>
            <a:r>
              <a:rPr lang="en-IN" sz="2300"/>
              <a:t> 	     else B3;     }</a:t>
            </a:r>
            <a:endParaRPr/>
          </a:p>
          <a:p>
            <a:pPr indent="0" lvl="2" marL="622150" rtl="0" algn="l">
              <a:lnSpc>
                <a:spcPct val="120000"/>
              </a:lnSpc>
              <a:spcBef>
                <a:spcPts val="825"/>
              </a:spcBef>
              <a:spcAft>
                <a:spcPts val="0"/>
              </a:spcAft>
              <a:buNone/>
            </a:pPr>
            <a:r>
              <a:rPr lang="en-IN" sz="2300">
                <a:solidFill>
                  <a:srgbClr val="0000CC"/>
                </a:solidFill>
              </a:rPr>
              <a:t>9</a:t>
            </a:r>
            <a:r>
              <a:rPr lang="en-IN" sz="2300"/>
              <a:t>  B6 }</a:t>
            </a:r>
            <a:endParaRPr/>
          </a:p>
        </p:txBody>
      </p:sp>
      <p:sp>
        <p:nvSpPr>
          <p:cNvPr id="180" name="Google Shape;180;p24"/>
          <p:cNvSpPr txBox="1"/>
          <p:nvPr/>
        </p:nvSpPr>
        <p:spPr>
          <a:xfrm>
            <a:off x="1805761" y="34564"/>
            <a:ext cx="5827680" cy="854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100" lIns="13500" spcFirstLastPara="1" rIns="13500" wrap="square" tIns="35100">
            <a:noAutofit/>
          </a:bodyPr>
          <a:lstStyle/>
          <a:p>
            <a:pPr indent="0" lvl="0" marL="0" marR="0" rtl="0" algn="ctr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Example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type="title"/>
          </p:nvPr>
        </p:nvSpPr>
        <p:spPr>
          <a:xfrm>
            <a:off x="1098720" y="-165618"/>
            <a:ext cx="6376320" cy="854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100" lIns="13500" spcFirstLastPara="1" rIns="13500" wrap="square" tIns="351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000"/>
              <a:buFont typeface="Gill Sans"/>
              <a:buNone/>
            </a:pPr>
            <a:r>
              <a:rPr lang="en-IN" sz="3000"/>
              <a:t>Example       cont …</a:t>
            </a:r>
            <a:endParaRPr sz="3000"/>
          </a:p>
        </p:txBody>
      </p:sp>
      <p:sp>
        <p:nvSpPr>
          <p:cNvPr id="187" name="Google Shape;187;p25"/>
          <p:cNvSpPr txBox="1"/>
          <p:nvPr>
            <p:ph idx="1" type="body"/>
          </p:nvPr>
        </p:nvSpPr>
        <p:spPr>
          <a:xfrm>
            <a:off x="1066800" y="762000"/>
            <a:ext cx="8077200" cy="5367444"/>
          </a:xfrm>
          <a:prstGeom prst="rect">
            <a:avLst/>
          </a:prstGeom>
          <a:noFill/>
          <a:ln>
            <a:noFill/>
          </a:ln>
        </p:spPr>
        <p:txBody>
          <a:bodyPr anchorCtr="0" anchor="t" bIns="35100" lIns="13500" spcFirstLastPara="1" rIns="13500" wrap="square" tIns="35100">
            <a:normAutofit lnSpcReduction="10000"/>
          </a:bodyPr>
          <a:lstStyle/>
          <a:p>
            <a:pPr indent="-233283" lvl="0" marL="233283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40"/>
              <a:buChar char="⚫"/>
            </a:pPr>
            <a:r>
              <a:rPr lang="en-IN" sz="3300">
                <a:latin typeface="Calibri"/>
                <a:ea typeface="Calibri"/>
                <a:cs typeface="Calibri"/>
                <a:sym typeface="Calibri"/>
              </a:rPr>
              <a:t>[a,1,5]: a DU chain.</a:t>
            </a:r>
            <a:endParaRPr/>
          </a:p>
          <a:p>
            <a:pPr indent="-233283" lvl="0" marL="233283" rtl="0" algn="l">
              <a:lnSpc>
                <a:spcPct val="130000"/>
              </a:lnSpc>
              <a:spcBef>
                <a:spcPts val="1632"/>
              </a:spcBef>
              <a:spcAft>
                <a:spcPts val="0"/>
              </a:spcAft>
              <a:buSzPts val="2640"/>
              <a:buChar char="⚫"/>
            </a:pPr>
            <a:r>
              <a:rPr lang="en-IN" sz="3300">
                <a:latin typeface="Calibri"/>
                <a:ea typeface="Calibri"/>
                <a:cs typeface="Calibri"/>
                <a:sym typeface="Calibri"/>
              </a:rPr>
              <a:t>Assume:</a:t>
            </a:r>
            <a:endParaRPr/>
          </a:p>
          <a:p>
            <a:pPr indent="-194403" lvl="1" marL="505448" rtl="0" algn="l">
              <a:lnSpc>
                <a:spcPct val="130000"/>
              </a:lnSpc>
              <a:spcBef>
                <a:spcPts val="1632"/>
              </a:spcBef>
              <a:spcAft>
                <a:spcPts val="0"/>
              </a:spcAft>
              <a:buSzPts val="2900"/>
              <a:buChar char="◦"/>
            </a:pPr>
            <a:r>
              <a:rPr lang="en-IN" sz="2900">
                <a:latin typeface="Calibri"/>
                <a:ea typeface="Calibri"/>
                <a:cs typeface="Calibri"/>
                <a:sym typeface="Calibri"/>
              </a:rPr>
              <a:t>DEF(X) = {B1, B2, B3, B4, B5} </a:t>
            </a:r>
            <a:endParaRPr/>
          </a:p>
          <a:p>
            <a:pPr indent="-194403" lvl="1" marL="505448" rtl="0" algn="l">
              <a:lnSpc>
                <a:spcPct val="130000"/>
              </a:lnSpc>
              <a:spcBef>
                <a:spcPts val="1632"/>
              </a:spcBef>
              <a:spcAft>
                <a:spcPts val="0"/>
              </a:spcAft>
              <a:buSzPts val="2900"/>
              <a:buChar char="◦"/>
            </a:pPr>
            <a:r>
              <a:rPr lang="en-IN" sz="2900">
                <a:latin typeface="Calibri"/>
                <a:ea typeface="Calibri"/>
                <a:cs typeface="Calibri"/>
                <a:sym typeface="Calibri"/>
              </a:rPr>
              <a:t>USES(X) = {B2, B3, B4, B5, B6}</a:t>
            </a:r>
            <a:endParaRPr/>
          </a:p>
          <a:p>
            <a:pPr indent="-194403" lvl="1" marL="505448" rtl="0" algn="l">
              <a:lnSpc>
                <a:spcPct val="130000"/>
              </a:lnSpc>
              <a:spcBef>
                <a:spcPts val="1632"/>
              </a:spcBef>
              <a:spcAft>
                <a:spcPts val="0"/>
              </a:spcAft>
              <a:buSzPts val="2900"/>
              <a:buChar char="◦"/>
            </a:pPr>
            <a:r>
              <a:rPr lang="en-IN" sz="2900">
                <a:latin typeface="Calibri"/>
                <a:ea typeface="Calibri"/>
                <a:cs typeface="Calibri"/>
                <a:sym typeface="Calibri"/>
              </a:rPr>
              <a:t>There are 25 DU chains. </a:t>
            </a:r>
            <a:endParaRPr/>
          </a:p>
          <a:p>
            <a:pPr indent="-233283" lvl="0" marL="233283" rtl="0" algn="l">
              <a:lnSpc>
                <a:spcPct val="130000"/>
              </a:lnSpc>
              <a:spcBef>
                <a:spcPts val="1632"/>
              </a:spcBef>
              <a:spcAft>
                <a:spcPts val="0"/>
              </a:spcAft>
              <a:buSzPts val="2640"/>
              <a:buChar char="⚫"/>
            </a:pPr>
            <a:r>
              <a:rPr lang="en-IN" sz="3300">
                <a:latin typeface="Calibri"/>
                <a:ea typeface="Calibri"/>
                <a:cs typeface="Calibri"/>
                <a:sym typeface="Calibri"/>
              </a:rPr>
              <a:t>However only 5 paths are needed to cover these chains.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Data Flow Testing         cont…</a:t>
            </a:r>
            <a:endParaRPr/>
          </a:p>
        </p:txBody>
      </p:sp>
      <p:sp>
        <p:nvSpPr>
          <p:cNvPr id="193" name="Google Shape;193;p26"/>
          <p:cNvSpPr txBox="1"/>
          <p:nvPr>
            <p:ph idx="1" type="body"/>
          </p:nvPr>
        </p:nvSpPr>
        <p:spPr>
          <a:xfrm>
            <a:off x="1066800" y="1524000"/>
            <a:ext cx="7848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0903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It also closely examines the </a:t>
            </a:r>
            <a:r>
              <a:rPr lang="en-IN">
                <a:solidFill>
                  <a:srgbClr val="00B050"/>
                </a:solidFill>
              </a:rPr>
              <a:t>state of the data </a:t>
            </a:r>
            <a:r>
              <a:rPr lang="en-IN"/>
              <a:t>in the CFG resulting in a </a:t>
            </a:r>
            <a:r>
              <a:rPr lang="en-IN">
                <a:solidFill>
                  <a:srgbClr val="0070C0"/>
                </a:solidFill>
              </a:rPr>
              <a:t>richer test suite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IN">
                <a:solidFill>
                  <a:srgbClr val="FF0000"/>
                </a:solidFill>
              </a:rPr>
              <a:t>than the one obtained from CFG based path testing strategies like statement coverage, branch coverage, etc. </a:t>
            </a:r>
            <a:endParaRPr/>
          </a:p>
          <a:p>
            <a:pPr indent="-120903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Defined (d):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Killed / Undefined / Released (k):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Usage (u):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Computational use (c-use) or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Predicate  use (p-use). </a:t>
            </a:r>
            <a:endParaRPr/>
          </a:p>
          <a:p>
            <a:pPr indent="-1209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sp>
        <p:nvSpPr>
          <p:cNvPr id="199" name="Google Shape;199;p27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States of a Data Object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b="1" lang="en-IN"/>
              <a:t>State of a Data Object   cont …</a:t>
            </a:r>
            <a:endParaRPr b="1"/>
          </a:p>
        </p:txBody>
      </p:sp>
      <p:sp>
        <p:nvSpPr>
          <p:cNvPr id="205" name="Google Shape;205;p28"/>
          <p:cNvSpPr txBox="1"/>
          <p:nvPr>
            <p:ph idx="1" type="body"/>
          </p:nvPr>
        </p:nvSpPr>
        <p:spPr>
          <a:xfrm>
            <a:off x="1143000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IN"/>
              <a:t>A data object can be in the following states:</a:t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b="1" i="1" lang="en-IN"/>
              <a:t>Defined (d)</a:t>
            </a:r>
            <a:r>
              <a:rPr i="1" lang="en-IN"/>
              <a:t> </a:t>
            </a:r>
            <a:r>
              <a:rPr lang="en-IN"/>
              <a:t>A data object is called defined when it is initialized, i.e., when it is on the left side of an assignment statement. Defined state can also be used to mean that a file has been opened, a dynamically allocated object has been allocated, something is pushed onto the stack, a record written, and so on.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 txBox="1"/>
          <p:nvPr>
            <p:ph idx="1" type="body"/>
          </p:nvPr>
        </p:nvSpPr>
        <p:spPr>
          <a:xfrm>
            <a:off x="1066800" y="1371600"/>
            <a:ext cx="7924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b="1" i="1" lang="en-IN"/>
              <a:t>Kill/Undefined/Released (k)</a:t>
            </a:r>
            <a:r>
              <a:rPr i="1" lang="en-IN"/>
              <a:t> </a:t>
            </a:r>
            <a:endParaRPr/>
          </a:p>
          <a:p>
            <a:pPr indent="-120903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 i="1"/>
          </a:p>
          <a:p>
            <a:pPr indent="-457200" lvl="0" marL="4572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When the data has been reinitialized or the scope of a loop control variable finishes, i.e., exiting the loop or memory is released dynamically or a file has been closed.</a:t>
            </a:r>
            <a:endParaRPr/>
          </a:p>
        </p:txBody>
      </p:sp>
      <p:sp>
        <p:nvSpPr>
          <p:cNvPr id="211" name="Google Shape;211;p29"/>
          <p:cNvSpPr txBox="1"/>
          <p:nvPr>
            <p:ph type="title"/>
          </p:nvPr>
        </p:nvSpPr>
        <p:spPr>
          <a:xfrm>
            <a:off x="1066800" y="0"/>
            <a:ext cx="7790688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b="1" lang="en-IN" sz="3600"/>
              <a:t>State of a Data Object       cont…</a:t>
            </a:r>
            <a:endParaRPr b="1" sz="3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"/>
          <p:cNvSpPr txBox="1"/>
          <p:nvPr>
            <p:ph type="title"/>
          </p:nvPr>
        </p:nvSpPr>
        <p:spPr>
          <a:xfrm>
            <a:off x="1066800" y="274638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b="1" lang="en-IN" sz="3600"/>
              <a:t>State of a Data Object       cont…</a:t>
            </a:r>
            <a:endParaRPr sz="3600"/>
          </a:p>
        </p:txBody>
      </p:sp>
      <p:sp>
        <p:nvSpPr>
          <p:cNvPr id="217" name="Google Shape;217;p30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b="1" i="1" lang="en-IN"/>
              <a:t>Usage (u)</a:t>
            </a:r>
            <a:r>
              <a:rPr lang="en-IN"/>
              <a:t>  When the data object is on the right side of assignment or the control variable in a loop, or in an expression used to evaluate the control flow of a case statement, or as a pointer to an object, etc. </a:t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In general, we say that the usage is either computational use (c-use) or predicate use    (p-use).</a:t>
            </a:r>
            <a:endParaRPr/>
          </a:p>
          <a:p>
            <a:pPr indent="-1209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1"/>
          <p:cNvSpPr txBox="1"/>
          <p:nvPr>
            <p:ph type="title"/>
          </p:nvPr>
        </p:nvSpPr>
        <p:spPr>
          <a:xfrm>
            <a:off x="1219200" y="152400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Data-Flow Anomalies</a:t>
            </a:r>
            <a:endParaRPr/>
          </a:p>
        </p:txBody>
      </p:sp>
      <p:sp>
        <p:nvSpPr>
          <p:cNvPr id="223" name="Google Shape;223;p31"/>
          <p:cNvSpPr txBox="1"/>
          <p:nvPr>
            <p:ph idx="1" type="body"/>
          </p:nvPr>
        </p:nvSpPr>
        <p:spPr>
          <a:xfrm>
            <a:off x="990600" y="1447800"/>
            <a:ext cx="8077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Data-flow anomalies represent the patterns of data usage which may lead to an incorrect execution of the code.</a:t>
            </a:r>
            <a:endParaRPr/>
          </a:p>
          <a:p>
            <a:pPr indent="-120903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 An anomaly is denoted by a two-character sequence of actions.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2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Example: ‘dk’ means a variable is defined and killed without any use, which is a </a:t>
            </a:r>
            <a:r>
              <a:rPr lang="en-IN">
                <a:solidFill>
                  <a:srgbClr val="FF0000"/>
                </a:solidFill>
              </a:rPr>
              <a:t>potential bug</a:t>
            </a:r>
            <a:r>
              <a:rPr lang="en-IN"/>
              <a:t>.</a:t>
            </a:r>
            <a:endParaRPr/>
          </a:p>
          <a:p>
            <a:pPr indent="-120903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There are nine possible two-character combinations out of which only four are data anomalies, as shown in  next Table.</a:t>
            </a:r>
            <a:endParaRPr/>
          </a:p>
          <a:p>
            <a:pPr indent="-1209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sp>
        <p:nvSpPr>
          <p:cNvPr id="229" name="Google Shape;229;p32"/>
          <p:cNvSpPr txBox="1"/>
          <p:nvPr>
            <p:ph type="title"/>
          </p:nvPr>
        </p:nvSpPr>
        <p:spPr>
          <a:xfrm>
            <a:off x="1219200" y="274638"/>
            <a:ext cx="771448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/>
              <a:t>Data-Flow Anomalies          cont…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4" name="Google Shape;234;p33"/>
          <p:cNvGraphicFramePr/>
          <p:nvPr/>
        </p:nvGraphicFramePr>
        <p:xfrm>
          <a:off x="1066800" y="838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{53AE52E0-97E2-4C15-9188-E2D69C4C940E}</a:tableStyleId>
              </a:tblPr>
              <a:tblGrid>
                <a:gridCol w="1185325"/>
                <a:gridCol w="3185575"/>
                <a:gridCol w="3630075"/>
              </a:tblGrid>
              <a:tr h="345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Anomaly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Explanation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Effect of Anomaly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45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du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Define-use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Allowed, Normal case.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596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dk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Define-Kill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rgbClr val="FF0000"/>
                          </a:solidFill>
                        </a:rPr>
                        <a:t>Potential bug. Data is killed without use after definition.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1107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ud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Use-define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Data is used and then redefine. Allowed, Usually not a bug because the language permits reassignment at almost any time.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45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uk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Use-Kill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Allowed, Normal situation.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596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ku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Kill-use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rgbClr val="FF0000"/>
                          </a:solidFill>
                        </a:rPr>
                        <a:t>Serious bug because the data is used after being killed.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596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kd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Kill-define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Data is Killed and then redefined, Allowed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596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dd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Define-define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rgbClr val="FF0000"/>
                          </a:solidFill>
                        </a:rPr>
                        <a:t>Redefining a variable without using it . Harmless bug, but not allowed.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45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uu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Use-use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Allowed Normal case.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45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kk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Kill-kill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rgbClr val="FF0000"/>
                          </a:solidFill>
                        </a:rPr>
                        <a:t>Harmless bug, but not allowed.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35" name="Google Shape;235;p33"/>
          <p:cNvSpPr txBox="1"/>
          <p:nvPr/>
        </p:nvSpPr>
        <p:spPr>
          <a:xfrm>
            <a:off x="1125004" y="228600"/>
            <a:ext cx="70283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rgbClr val="922122"/>
                </a:solidFill>
                <a:latin typeface="Gill Sans"/>
                <a:ea typeface="Gill Sans"/>
                <a:cs typeface="Gill Sans"/>
                <a:sym typeface="Gill Sans"/>
              </a:rPr>
              <a:t>Table 1: </a:t>
            </a:r>
            <a:r>
              <a:rPr lang="en-IN" sz="2400">
                <a:solidFill>
                  <a:srgbClr val="922122"/>
                </a:solidFill>
                <a:latin typeface="Gill Sans"/>
                <a:ea typeface="Gill Sans"/>
                <a:cs typeface="Gill Sans"/>
                <a:sym typeface="Gill Sans"/>
              </a:rPr>
              <a:t> Two-character data-flow anomalies</a:t>
            </a:r>
            <a:endParaRPr sz="2400">
              <a:solidFill>
                <a:srgbClr val="92212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 txBox="1"/>
          <p:nvPr>
            <p:ph idx="1" type="body"/>
          </p:nvPr>
        </p:nvSpPr>
        <p:spPr>
          <a:xfrm>
            <a:off x="949036" y="304800"/>
            <a:ext cx="8194964" cy="6525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Not all data-flow anomalies are harmful, but most of them are suspicious and indicate that an error can occur. </a:t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>
                <a:solidFill>
                  <a:srgbClr val="0070C0"/>
                </a:solidFill>
              </a:rPr>
              <a:t>There may be single-character data anomalies also. </a:t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To represent these types of anomalies, we take the following conventions:</a:t>
            </a:r>
            <a:endParaRPr/>
          </a:p>
          <a:p>
            <a:pPr indent="-120903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Noto Sans Symbols"/>
              <a:buChar char="▪"/>
            </a:pPr>
            <a:r>
              <a:rPr lang="en-IN">
                <a:solidFill>
                  <a:srgbClr val="00B050"/>
                </a:solidFill>
              </a:rPr>
              <a:t>         ~x: indicates all prior actions are not of interest to x.</a:t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Noto Sans Symbols"/>
              <a:buChar char="▪"/>
            </a:pPr>
            <a:r>
              <a:rPr lang="en-IN">
                <a:solidFill>
                  <a:srgbClr val="00B050"/>
                </a:solidFill>
              </a:rPr>
              <a:t>         x~: indicates all post actions are not listed of interest to x.</a:t>
            </a:r>
            <a:endParaRPr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5"/>
          <p:cNvSpPr txBox="1"/>
          <p:nvPr>
            <p:ph type="title"/>
          </p:nvPr>
        </p:nvSpPr>
        <p:spPr>
          <a:xfrm>
            <a:off x="1143000" y="1524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400"/>
              <a:buFont typeface="Gill Sans"/>
              <a:buNone/>
            </a:pPr>
            <a:r>
              <a:rPr b="1" lang="en-IN" sz="2400"/>
              <a:t>Table 2:</a:t>
            </a:r>
            <a:r>
              <a:rPr lang="en-IN" sz="2400"/>
              <a:t> Single-character data-flow anomalies</a:t>
            </a:r>
            <a:endParaRPr sz="2400"/>
          </a:p>
        </p:txBody>
      </p:sp>
      <p:graphicFrame>
        <p:nvGraphicFramePr>
          <p:cNvPr id="246" name="Google Shape;246;p35"/>
          <p:cNvGraphicFramePr/>
          <p:nvPr/>
        </p:nvGraphicFramePr>
        <p:xfrm>
          <a:off x="1143000" y="129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{53AE52E0-97E2-4C15-9188-E2D69C4C940E}</a:tableStyleId>
              </a:tblPr>
              <a:tblGrid>
                <a:gridCol w="2499775"/>
                <a:gridCol w="2499775"/>
                <a:gridCol w="2499775"/>
              </a:tblGrid>
              <a:tr h="486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Anomaly</a:t>
                      </a:r>
                      <a:endParaRPr sz="2000" u="none" cap="none" strike="noStrike"/>
                    </a:p>
                  </a:txBody>
                  <a:tcPr marT="45725" marB="45725" marR="83325" marL="833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explanation</a:t>
                      </a:r>
                      <a:endParaRPr sz="2000" u="none" cap="none" strike="noStrike"/>
                    </a:p>
                  </a:txBody>
                  <a:tcPr marT="45725" marB="45725" marR="83325" marL="833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Effect of Anomaly</a:t>
                      </a:r>
                      <a:endParaRPr sz="2000" u="none" cap="none" strike="noStrike"/>
                    </a:p>
                  </a:txBody>
                  <a:tcPr marT="45725" marB="45725" marR="83325" marL="83325"/>
                </a:tc>
              </a:tr>
              <a:tr h="486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~d</a:t>
                      </a:r>
                      <a:endParaRPr sz="2000" u="none" cap="none" strike="noStrike"/>
                    </a:p>
                  </a:txBody>
                  <a:tcPr marT="45725" marB="45725" marR="83325" marL="833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First definition</a:t>
                      </a:r>
                      <a:endParaRPr sz="2000" u="none" cap="none" strike="noStrike"/>
                    </a:p>
                  </a:txBody>
                  <a:tcPr marT="45725" marB="45725" marR="83325" marL="833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Normal situation, Allowed.</a:t>
                      </a:r>
                      <a:endParaRPr sz="2000" u="none" cap="none" strike="noStrike"/>
                    </a:p>
                  </a:txBody>
                  <a:tcPr marT="45725" marB="45725" marR="83325" marL="83325"/>
                </a:tc>
              </a:tr>
              <a:tr h="840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~u</a:t>
                      </a:r>
                      <a:endParaRPr sz="2000" u="none" cap="none" strike="noStrike"/>
                    </a:p>
                  </a:txBody>
                  <a:tcPr marT="45725" marB="45725" marR="83325" marL="833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First Use</a:t>
                      </a:r>
                      <a:endParaRPr sz="2000" u="none" cap="none" strike="noStrike"/>
                    </a:p>
                  </a:txBody>
                  <a:tcPr marT="45725" marB="45725" marR="83325" marL="833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solidFill>
                            <a:srgbClr val="FF0000"/>
                          </a:solidFill>
                        </a:rPr>
                        <a:t>Data is used without defining it. Potential bug</a:t>
                      </a:r>
                      <a:r>
                        <a:rPr lang="en-IN" sz="2000" u="none" cap="none" strike="noStrike"/>
                        <a:t>.</a:t>
                      </a:r>
                      <a:endParaRPr sz="2000" u="none" cap="none" strike="noStrike"/>
                    </a:p>
                  </a:txBody>
                  <a:tcPr marT="45725" marB="45725" marR="83325" marL="83325"/>
                </a:tc>
              </a:tr>
              <a:tr h="840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~k</a:t>
                      </a:r>
                      <a:endParaRPr sz="2000" u="none" cap="none" strike="noStrike"/>
                    </a:p>
                  </a:txBody>
                  <a:tcPr marT="45725" marB="45725" marR="83325" marL="833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First Kill</a:t>
                      </a:r>
                      <a:endParaRPr sz="2000" u="none" cap="none" strike="noStrike"/>
                    </a:p>
                  </a:txBody>
                  <a:tcPr marT="45725" marB="45725" marR="83325" marL="833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solidFill>
                            <a:srgbClr val="FF0000"/>
                          </a:solidFill>
                        </a:rPr>
                        <a:t>Data is killed before defining it, Potential bug.</a:t>
                      </a:r>
                      <a:endParaRPr sz="20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83325" marL="83325"/>
                </a:tc>
              </a:tr>
              <a:tr h="486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D~</a:t>
                      </a:r>
                      <a:endParaRPr sz="2000" u="none" cap="none" strike="noStrike"/>
                    </a:p>
                  </a:txBody>
                  <a:tcPr marT="45725" marB="45725" marR="83325" marL="833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Define last</a:t>
                      </a:r>
                      <a:endParaRPr sz="2000" u="none" cap="none" strike="noStrike"/>
                    </a:p>
                  </a:txBody>
                  <a:tcPr marT="45725" marB="45725" marR="83325" marL="833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solidFill>
                            <a:srgbClr val="FF0000"/>
                          </a:solidFill>
                        </a:rPr>
                        <a:t>Potential bug.</a:t>
                      </a:r>
                      <a:endParaRPr sz="20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83325" marL="83325"/>
                </a:tc>
              </a:tr>
              <a:tr h="486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U~</a:t>
                      </a:r>
                      <a:endParaRPr sz="2000" u="none" cap="none" strike="noStrike"/>
                    </a:p>
                  </a:txBody>
                  <a:tcPr marT="45725" marB="45725" marR="83325" marL="833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Use last</a:t>
                      </a:r>
                      <a:endParaRPr sz="2000" u="none" cap="none" strike="noStrike"/>
                    </a:p>
                  </a:txBody>
                  <a:tcPr marT="45725" marB="45725" marR="83325" marL="833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Normal case, Allowed.</a:t>
                      </a:r>
                      <a:endParaRPr sz="2000" u="none" cap="none" strike="noStrike"/>
                    </a:p>
                  </a:txBody>
                  <a:tcPr marT="45725" marB="45725" marR="83325" marL="83325"/>
                </a:tc>
              </a:tr>
              <a:tr h="486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K~</a:t>
                      </a:r>
                      <a:endParaRPr sz="2000" u="none" cap="none" strike="noStrike"/>
                    </a:p>
                  </a:txBody>
                  <a:tcPr marT="45725" marB="45725" marR="83325" marL="833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Kill last</a:t>
                      </a:r>
                      <a:endParaRPr sz="2000" u="none" cap="none" strike="noStrike"/>
                    </a:p>
                  </a:txBody>
                  <a:tcPr marT="45725" marB="45725" marR="83325" marL="833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Normal case, Allowed.</a:t>
                      </a:r>
                      <a:endParaRPr sz="2000" u="none" cap="none" strike="noStrike"/>
                    </a:p>
                  </a:txBody>
                  <a:tcPr marT="45725" marB="45725" marR="83325" marL="83325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6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Some Terminologies</a:t>
            </a:r>
            <a:endParaRPr/>
          </a:p>
        </p:txBody>
      </p:sp>
      <p:sp>
        <p:nvSpPr>
          <p:cNvPr id="252" name="Google Shape;252;p36"/>
          <p:cNvSpPr txBox="1"/>
          <p:nvPr>
            <p:ph idx="1" type="body"/>
          </p:nvPr>
        </p:nvSpPr>
        <p:spPr>
          <a:xfrm>
            <a:off x="1295400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IN"/>
              <a:t>Suppose P is a program that has a graph G (P) and a set of variables V. The graph has a single entry and exit node.</a:t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b="1" i="1" lang="en-IN" sz="2800"/>
              <a:t>Definition node </a:t>
            </a:r>
            <a:r>
              <a:rPr lang="en-IN" sz="2800"/>
              <a:t>Defining a variable means assigning value to a variable for the very first time in a program. For example, input statements, assignment statements, loop control statements, procedure calls, etc.</a:t>
            </a:r>
            <a:endParaRPr/>
          </a:p>
          <a:p>
            <a:pPr indent="-14122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b="1" i="1" sz="2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b="1" i="1" lang="en-IN"/>
              <a:t>Usage node </a:t>
            </a:r>
            <a:r>
              <a:rPr lang="en-IN"/>
              <a:t>It means the variable has been used in some statement of the program. Node n that belongs to G(p) is usage node of variable </a:t>
            </a:r>
            <a:r>
              <a:rPr i="1" lang="en-IN"/>
              <a:t>v</a:t>
            </a:r>
            <a:r>
              <a:rPr lang="en-IN"/>
              <a:t>, if the value of variable v is used at the statements corresponding to node n.</a:t>
            </a:r>
            <a:endParaRPr/>
          </a:p>
          <a:p>
            <a:pPr indent="-120903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sp>
        <p:nvSpPr>
          <p:cNvPr id="258" name="Google Shape;258;p37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/>
              <a:t>Some Terminologies         contd…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8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A usage node can be of the following two types:</a:t>
            </a:r>
            <a:endParaRPr/>
          </a:p>
          <a:p>
            <a:pPr indent="-514350" lvl="0" marL="51435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arenR"/>
            </a:pPr>
            <a:r>
              <a:rPr lang="en-IN"/>
              <a:t>Predicate usage Node: If usage node n is a predicate node, then </a:t>
            </a:r>
            <a:r>
              <a:rPr b="1" lang="en-IN"/>
              <a:t>n</a:t>
            </a:r>
            <a:r>
              <a:rPr lang="en-IN"/>
              <a:t> is a predicate usage node.</a:t>
            </a:r>
            <a:endParaRPr/>
          </a:p>
          <a:p>
            <a:pPr indent="-514350" lvl="0" marL="51435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arenR"/>
            </a:pPr>
            <a:r>
              <a:rPr lang="en-IN"/>
              <a:t>Computation Usage Node: If usage node </a:t>
            </a:r>
            <a:r>
              <a:rPr b="1" lang="en-IN"/>
              <a:t>n</a:t>
            </a:r>
            <a:r>
              <a:rPr lang="en-IN"/>
              <a:t> corresponds to a computation statement in a program other than predicate, then it is called a computation usage node.</a:t>
            </a:r>
            <a:endParaRPr/>
          </a:p>
        </p:txBody>
      </p:sp>
      <p:sp>
        <p:nvSpPr>
          <p:cNvPr id="264" name="Google Shape;264;p38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/>
              <a:t>Some Terminologies         contd…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9"/>
          <p:cNvSpPr txBox="1"/>
          <p:nvPr>
            <p:ph idx="1" type="body"/>
          </p:nvPr>
        </p:nvSpPr>
        <p:spPr>
          <a:xfrm>
            <a:off x="914400" y="1295400"/>
            <a:ext cx="80010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Char char="⚫"/>
            </a:pPr>
            <a:r>
              <a:rPr b="1" i="1" lang="en-IN"/>
              <a:t>Loop-free path segment </a:t>
            </a:r>
            <a:r>
              <a:rPr lang="en-IN"/>
              <a:t>It is a path segment for which every node is visited once at most.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b="1" i="1" lang="en-IN"/>
              <a:t>Simple path segment </a:t>
            </a:r>
            <a:r>
              <a:rPr lang="en-IN"/>
              <a:t>It is a path segment in which at most one node is visited twice. A simple path segment is either loop-free or if there is a loop, only one node is involved.</a:t>
            </a:r>
            <a:endParaRPr/>
          </a:p>
          <a:p>
            <a:pPr indent="-145287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b="1" i="1" lang="en-IN"/>
              <a:t>Definition-use path (du-path) </a:t>
            </a:r>
            <a:r>
              <a:rPr lang="en-IN"/>
              <a:t>A du-path with respect to a variable v is a path between the definition node and usage node of that variable, Usage node can either be a p-usage or a c-usage node.</a:t>
            </a:r>
            <a:endParaRPr/>
          </a:p>
          <a:p>
            <a:pPr indent="-145287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</p:txBody>
      </p:sp>
      <p:sp>
        <p:nvSpPr>
          <p:cNvPr id="270" name="Google Shape;270;p39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/>
              <a:t>Some Terminologies         contd…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0"/>
          <p:cNvSpPr txBox="1"/>
          <p:nvPr>
            <p:ph idx="1" type="body"/>
          </p:nvPr>
        </p:nvSpPr>
        <p:spPr>
          <a:xfrm>
            <a:off x="789709" y="457200"/>
            <a:ext cx="8382000" cy="6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b="1" i="1" lang="en-IN" sz="2800"/>
              <a:t>Definition-clear path (dc-path) </a:t>
            </a:r>
            <a:r>
              <a:rPr lang="en-IN" sz="2800"/>
              <a:t>A dc-path with respect to a variable v is a path between the definition node and the usage node such that no other node in the path is a defining node of variable </a:t>
            </a:r>
            <a:r>
              <a:rPr i="1" lang="en-IN" sz="2800"/>
              <a:t>v</a:t>
            </a:r>
            <a:r>
              <a:rPr lang="en-IN" sz="2800"/>
              <a:t>.</a:t>
            </a:r>
            <a:endParaRPr/>
          </a:p>
          <a:p>
            <a:pPr indent="-141223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sz="2800"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IN" sz="2800"/>
              <a:t>The du paths which are not dc paths are important, as these are potential spots for testing persons.</a:t>
            </a:r>
            <a:endParaRPr/>
          </a:p>
          <a:p>
            <a:pPr indent="-141223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sz="2800"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IN" sz="2800"/>
              <a:t>Those du-paths which are definition-clear are easy to test in comparison to du-paths which are not dc-paths.</a:t>
            </a:r>
            <a:endParaRPr/>
          </a:p>
          <a:p>
            <a:pPr indent="-141223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sz="2800"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>
                <a:solidFill>
                  <a:srgbClr val="FF0000"/>
                </a:solidFill>
              </a:rPr>
              <a:t>The  du-paths which are not dc-paths need more attention.</a:t>
            </a:r>
            <a:endParaRPr sz="2400">
              <a:solidFill>
                <a:srgbClr val="FF0000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sz="2800"/>
          </a:p>
        </p:txBody>
      </p:sp>
      <p:sp>
        <p:nvSpPr>
          <p:cNvPr id="276" name="Google Shape;276;p40"/>
          <p:cNvSpPr txBox="1"/>
          <p:nvPr>
            <p:ph type="title"/>
          </p:nvPr>
        </p:nvSpPr>
        <p:spPr>
          <a:xfrm>
            <a:off x="1066800" y="0"/>
            <a:ext cx="749808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800"/>
              <a:buFont typeface="Gill Sans"/>
              <a:buNone/>
            </a:pPr>
            <a:r>
              <a:rPr lang="en-IN" sz="2800"/>
              <a:t>Some Terminologies         contd…</a:t>
            </a:r>
            <a:endParaRPr sz="2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1"/>
          <p:cNvSpPr txBox="1"/>
          <p:nvPr>
            <p:ph type="title"/>
          </p:nvPr>
        </p:nvSpPr>
        <p:spPr>
          <a:xfrm>
            <a:off x="1143000" y="152400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Static Data Flow Testing</a:t>
            </a:r>
            <a:endParaRPr/>
          </a:p>
        </p:txBody>
      </p:sp>
      <p:sp>
        <p:nvSpPr>
          <p:cNvPr id="282" name="Google Shape;282;p41"/>
          <p:cNvSpPr txBox="1"/>
          <p:nvPr>
            <p:ph idx="1" type="body"/>
          </p:nvPr>
        </p:nvSpPr>
        <p:spPr>
          <a:xfrm>
            <a:off x="1143000" y="1143000"/>
            <a:ext cx="78486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82296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IN"/>
              <a:t>With static analysis, the source code is analysed without executing it.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IN"/>
              <a:t>EXAMPLE: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IN"/>
              <a:t>Consider a program for calculating the gross salary of an employee in an organization. If his basic salary &lt; 1500, then HRA=10% of the Basic and DA=90% of basic. If his salary &gt;= 1500, then HRA=500 and DA=98% of basic. Calculate the gross salary.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2"/>
          <p:cNvSpPr txBox="1"/>
          <p:nvPr>
            <p:ph idx="1" type="body"/>
          </p:nvPr>
        </p:nvSpPr>
        <p:spPr>
          <a:xfrm>
            <a:off x="1285253" y="306903"/>
            <a:ext cx="7858747" cy="60176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       main()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       {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AutoNum type="arabicPeriod"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float bs, gs, da, hra=0;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AutoNum type="arabicPeriod"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printf(“Enter basic salary”);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AutoNum type="arabicPeriod"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scanf(“%f”,&amp;bs);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AutoNum type="arabicPeriod"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if(bs &lt; 1500)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AutoNum type="arabicPeriod"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{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AutoNum type="arabicPeriod"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     hra=bs * 10/100;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AutoNum type="arabicPeriod"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     da= bs * 90/100;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AutoNum type="arabicPeriod"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AutoNum type="arabicPeriod"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else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AutoNum type="arabicPeriod"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{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AutoNum type="arabicPeriod"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      hra = 500;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AutoNum type="arabicPeriod"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      da= bs * 98/100;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AutoNum type="arabicPeriod"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AutoNum type="arabicPeriod"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 gs= bs+ hra+ da;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AutoNum type="arabicPeriod"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 printf(“Gross Salary =  Rs. %f”, gs);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AutoNum type="arabicPeriod"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}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42"/>
          <p:cNvSpPr txBox="1"/>
          <p:nvPr/>
        </p:nvSpPr>
        <p:spPr>
          <a:xfrm>
            <a:off x="5867400" y="2286000"/>
            <a:ext cx="28194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Find out the define-use-kill patterns for all the variables in the program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3"/>
          <p:cNvSpPr txBox="1"/>
          <p:nvPr>
            <p:ph type="title"/>
          </p:nvPr>
        </p:nvSpPr>
        <p:spPr>
          <a:xfrm>
            <a:off x="1143000" y="381000"/>
            <a:ext cx="8229600" cy="595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/>
              <a:t>Solution</a:t>
            </a:r>
            <a:endParaRPr/>
          </a:p>
        </p:txBody>
      </p:sp>
      <p:graphicFrame>
        <p:nvGraphicFramePr>
          <p:cNvPr id="294" name="Google Shape;294;p43"/>
          <p:cNvGraphicFramePr/>
          <p:nvPr/>
        </p:nvGraphicFramePr>
        <p:xfrm>
          <a:off x="1143000" y="1981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{D668A6E2-4A60-4244-80A6-6F81B79FA2EE}</a:tableStyleId>
              </a:tblPr>
              <a:tblGrid>
                <a:gridCol w="1905000"/>
                <a:gridCol w="3022600"/>
                <a:gridCol w="2463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Pattern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Line Number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Explanation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~d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3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Normal case. Allowed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du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3-4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Normal case. Allowed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uu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4-6,6-7,7-12,12-14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Normal case. Allowed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uk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14-16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Normal case. Allowed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K~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16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Normal case. Allowed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95" name="Google Shape;295;p43"/>
          <p:cNvSpPr txBox="1"/>
          <p:nvPr/>
        </p:nvSpPr>
        <p:spPr>
          <a:xfrm>
            <a:off x="2895600" y="4832866"/>
            <a:ext cx="38618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Define-use-kill patterns for variable </a:t>
            </a: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‘bs’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4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2209800"/>
            <a:ext cx="784860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4"/>
          <p:cNvSpPr txBox="1"/>
          <p:nvPr/>
        </p:nvSpPr>
        <p:spPr>
          <a:xfrm>
            <a:off x="2819400" y="5410200"/>
            <a:ext cx="38409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Define-use-kill patterns for variable </a:t>
            </a: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‘gs’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2" name="Google Shape;302;p44"/>
          <p:cNvSpPr txBox="1"/>
          <p:nvPr>
            <p:ph type="title"/>
          </p:nvPr>
        </p:nvSpPr>
        <p:spPr>
          <a:xfrm>
            <a:off x="1219200" y="228600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Solution                   cont…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5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 </a:t>
            </a:r>
            <a:endParaRPr/>
          </a:p>
        </p:txBody>
      </p:sp>
      <p:graphicFrame>
        <p:nvGraphicFramePr>
          <p:cNvPr id="308" name="Google Shape;308;p45"/>
          <p:cNvGraphicFramePr/>
          <p:nvPr/>
        </p:nvGraphicFramePr>
        <p:xfrm>
          <a:off x="1295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{D668A6E2-4A60-4244-80A6-6F81B79FA2EE}</a:tableStyleId>
              </a:tblPr>
              <a:tblGrid>
                <a:gridCol w="1905000"/>
                <a:gridCol w="3022600"/>
                <a:gridCol w="2463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Pattern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Line Number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Explanation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~d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Normal case. Allowed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du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7-14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Normal case. Allowed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uk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14-16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Normal case. Allowed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K~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Normal case. Allowed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09" name="Google Shape;309;p45"/>
          <p:cNvSpPr txBox="1"/>
          <p:nvPr/>
        </p:nvSpPr>
        <p:spPr>
          <a:xfrm>
            <a:off x="2590800" y="5257800"/>
            <a:ext cx="38797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Define-use-kill patterns for variable </a:t>
            </a: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‘da’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0" name="Google Shape;310;p45"/>
          <p:cNvSpPr txBox="1"/>
          <p:nvPr/>
        </p:nvSpPr>
        <p:spPr>
          <a:xfrm>
            <a:off x="1219200" y="228600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 sz="4300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Solution                   cont…</a:t>
            </a:r>
            <a:endParaRPr sz="4300">
              <a:solidFill>
                <a:srgbClr val="562214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4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1" y="1600200"/>
            <a:ext cx="7539462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6"/>
          <p:cNvSpPr txBox="1"/>
          <p:nvPr/>
        </p:nvSpPr>
        <p:spPr>
          <a:xfrm>
            <a:off x="1252737" y="5943600"/>
            <a:ext cx="78912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From the above static data flow testing, only one bug is found, i.e in variable  HRA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of double definition. 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7" name="Google Shape;317;p46"/>
          <p:cNvSpPr txBox="1"/>
          <p:nvPr/>
        </p:nvSpPr>
        <p:spPr>
          <a:xfrm>
            <a:off x="2763982" y="4831139"/>
            <a:ext cx="39656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Define-use-kill patterns for variable </a:t>
            </a: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‘hra’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8" name="Google Shape;318;p46"/>
          <p:cNvSpPr txBox="1"/>
          <p:nvPr>
            <p:ph type="title"/>
          </p:nvPr>
        </p:nvSpPr>
        <p:spPr>
          <a:xfrm>
            <a:off x="1252737" y="274638"/>
            <a:ext cx="768095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Solution                     cont…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7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Summary</a:t>
            </a:r>
            <a:endParaRPr/>
          </a:p>
        </p:txBody>
      </p:sp>
      <p:sp>
        <p:nvSpPr>
          <p:cNvPr id="324" name="Google Shape;324;p47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Discussed the basic concepts of data flow testing.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Explained DU Chain.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Presented the different states of a data object.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Explained the different data-flow anomalies.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Explained static data flow testing with an example.</a:t>
            </a:r>
            <a:endParaRPr/>
          </a:p>
          <a:p>
            <a:pPr indent="-1209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8"/>
          <p:cNvSpPr txBox="1"/>
          <p:nvPr/>
        </p:nvSpPr>
        <p:spPr>
          <a:xfrm>
            <a:off x="1127760" y="279401"/>
            <a:ext cx="7863840" cy="861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9300" lIns="15100" spcFirstLastPara="1" rIns="15100" wrap="square" tIns="39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800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References </a:t>
            </a:r>
            <a:endParaRPr/>
          </a:p>
        </p:txBody>
      </p:sp>
      <p:sp>
        <p:nvSpPr>
          <p:cNvPr id="330" name="Google Shape;330;p48"/>
          <p:cNvSpPr/>
          <p:nvPr/>
        </p:nvSpPr>
        <p:spPr>
          <a:xfrm>
            <a:off x="1143000" y="1397000"/>
            <a:ext cx="7848600" cy="3488946"/>
          </a:xfrm>
          <a:prstGeom prst="rect">
            <a:avLst/>
          </a:prstGeom>
          <a:noFill/>
          <a:ln>
            <a:noFill/>
          </a:ln>
        </p:spPr>
        <p:txBody>
          <a:bodyPr anchorCtr="0" anchor="t" bIns="51200" lIns="102400" spcFirstLastPara="1" rIns="102400" wrap="square" tIns="51200">
            <a:noAutofit/>
          </a:bodyPr>
          <a:lstStyle/>
          <a:p>
            <a:pPr indent="-384015" lvl="0" marL="38401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ill Sans"/>
              <a:buAutoNum type="arabicPeriod"/>
            </a:pPr>
            <a:r>
              <a:rPr lang="en-IN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Rajib Mall, Fundamentals of Software Engineering, (Chapter – 10), Fifth Edition, PHI Learning Pvt. Ltd., 2018.</a:t>
            </a:r>
            <a:endParaRPr/>
          </a:p>
          <a:p>
            <a:pPr indent="-384015" lvl="0" marL="38401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ill Sans"/>
              <a:buAutoNum type="arabicPeriod"/>
            </a:pPr>
            <a:r>
              <a:rPr lang="en-IN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Naresh Chauhan, Software Testing: Principles and Practices, (Chapter – 5), Second Edition, Oxford University Press,  2016.</a:t>
            </a:r>
            <a:endParaRPr/>
          </a:p>
          <a:p>
            <a:pPr indent="-206215" lvl="0" marL="38401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ill San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9"/>
          <p:cNvSpPr txBox="1"/>
          <p:nvPr>
            <p:ph type="title"/>
          </p:nvPr>
        </p:nvSpPr>
        <p:spPr>
          <a:xfrm>
            <a:off x="2743200" y="2133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5400"/>
              <a:buFont typeface="Gill Sans"/>
              <a:buNone/>
            </a:pPr>
            <a:r>
              <a:rPr lang="en-IN" sz="5400"/>
              <a:t>Thank you</a:t>
            </a:r>
            <a:endParaRPr sz="5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