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6858000" cy="9144000"/>
  <p:embeddedFontLst>
    <p:embeddedFont>
      <p:font typeface="Arial Black"/>
      <p:regular r:id="rId45"/>
    </p:embeddedFont>
    <p:embeddedFont>
      <p:font typeface="Gill Sans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2BAE44-1ED2-4A0E-8C89-C92C0884A708}">
  <a:tblStyle styleId="{742BAE44-1ED2-4A0E-8C89-C92C0884A708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fill>
          <a:solidFill>
            <a:srgbClr val="CCDBE1"/>
          </a:solidFill>
        </a:fill>
      </a:tcStyle>
    </a:band1H>
    <a:band2H>
      <a:tcTxStyle/>
    </a:band2H>
    <a:band1V>
      <a:tcTxStyle/>
      <a:tcStyle>
        <a:fill>
          <a:solidFill>
            <a:srgbClr val="CCDBE1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GillSans-regular.fntdata"/><Relationship Id="rId23" Type="http://schemas.openxmlformats.org/officeDocument/2006/relationships/slide" Target="slides/slide17.xml"/><Relationship Id="rId45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GillSans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990600" y="303213"/>
            <a:ext cx="4875213" cy="3656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8" name="Google Shape;98;p1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990600" y="303213"/>
            <a:ext cx="4875213" cy="3656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" name="Google Shape;113;p3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303213"/>
            <a:ext cx="4875213" cy="3656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1" name="Google Shape;121;p4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303213"/>
            <a:ext cx="4875213" cy="3656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9" name="Google Shape;129;p5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:notes"/>
          <p:cNvSpPr/>
          <p:nvPr>
            <p:ph idx="2" type="sldImg"/>
          </p:nvPr>
        </p:nvSpPr>
        <p:spPr>
          <a:xfrm>
            <a:off x="990600" y="303213"/>
            <a:ext cx="4875213" cy="3656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7" name="Google Shape;407;p36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08" name="Google Shape;40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1" name="Google Shape;81;p10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" name="Google Shape;82;p10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4846637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9985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" name="Google Shape;8;p1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914400" y="549275"/>
            <a:ext cx="7720013" cy="141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b="1" lang="en-IN" sz="4800"/>
              <a:t> Black-box testing techniques</a:t>
            </a:r>
            <a:br>
              <a:rPr lang="en-IN" sz="4800"/>
            </a:br>
            <a:r>
              <a:rPr lang="en-IN" sz="4800"/>
              <a:t>					</a:t>
            </a:r>
            <a:endParaRPr b="1" sz="3100"/>
          </a:p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371600" y="3124200"/>
            <a:ext cx="6858000" cy="175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Durga Prasad Mohapatra</a:t>
            </a:r>
            <a:endParaRPr b="1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Professor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Dept. of CSE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NIT Rourkela</a:t>
            </a:r>
            <a:endParaRPr b="1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 </a:t>
            </a:r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20"/>
              <a:buNone/>
            </a:pPr>
            <a:r>
              <a:rPr lang="en-IN" sz="5400"/>
              <a:t>Boundary Value Analysis</a:t>
            </a:r>
            <a:endParaRPr sz="5400"/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5400"/>
              <a:buFont typeface="Gill Sans"/>
              <a:buNone/>
            </a:pPr>
            <a:r>
              <a:rPr lang="en-IN" sz="5400"/>
              <a:t>Boundary Value Analysis</a:t>
            </a:r>
            <a:endParaRPr/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685800" y="1371600"/>
            <a:ext cx="7770813" cy="49418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Some typical</a:t>
            </a:r>
            <a:r>
              <a:rPr lang="en-IN" sz="3600"/>
              <a:t> </a:t>
            </a:r>
            <a:r>
              <a:rPr lang="en-IN"/>
              <a:t>programming errors occur: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at boundaries of equivalence classes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IN" sz="3200">
                <a:solidFill>
                  <a:srgbClr val="0000FF"/>
                </a:solidFill>
              </a:rPr>
              <a:t>might be purely due to psychological factors. 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Programmers often fail to see: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Char char="◦"/>
            </a:pPr>
            <a:r>
              <a:rPr lang="en-IN" sz="3200">
                <a:solidFill>
                  <a:srgbClr val="0000FF"/>
                </a:solidFill>
              </a:rPr>
              <a:t>special processing required at the boundaries of equivalence classes.</a:t>
            </a:r>
            <a:r>
              <a:rPr lang="en-IN" sz="3600">
                <a:solidFill>
                  <a:srgbClr val="FFFF00"/>
                </a:solidFill>
              </a:rPr>
              <a:t> </a:t>
            </a:r>
            <a:endParaRPr/>
          </a:p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5400"/>
              <a:buFont typeface="Gill Sans"/>
              <a:buNone/>
            </a:pPr>
            <a:r>
              <a:rPr lang="en-IN" sz="5400"/>
              <a:t>Boundary Value Analysis</a:t>
            </a:r>
            <a:endParaRPr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20"/>
              <a:buChar char="⚫"/>
            </a:pPr>
            <a:r>
              <a:rPr lang="en-IN" sz="4400"/>
              <a:t>Programmers may </a:t>
            </a:r>
            <a:r>
              <a:rPr lang="en-IN" sz="4000"/>
              <a:t>improperly </a:t>
            </a:r>
            <a:r>
              <a:rPr lang="en-IN" sz="4400"/>
              <a:t>use &lt; instead of &lt;=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520"/>
              <a:buChar char="⚫"/>
            </a:pPr>
            <a:r>
              <a:rPr lang="en-IN" sz="4400"/>
              <a:t>Boundary value analysis:</a:t>
            </a:r>
            <a:endParaRPr/>
          </a:p>
          <a:p>
            <a:pPr indent="-254000" lvl="1" marL="64008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4000"/>
              <a:buChar char="◦"/>
            </a:pPr>
            <a:r>
              <a:rPr lang="en-IN" sz="4000">
                <a:solidFill>
                  <a:srgbClr val="0000FF"/>
                </a:solidFill>
              </a:rPr>
              <a:t>select test cases at the boundaries of different equivalence classes</a:t>
            </a:r>
            <a:r>
              <a:rPr lang="en-IN" sz="4000">
                <a:solidFill>
                  <a:srgbClr val="FFFF00"/>
                </a:solidFill>
              </a:rPr>
              <a:t>. </a:t>
            </a:r>
            <a:endParaRPr/>
          </a:p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406400" y="228601"/>
            <a:ext cx="77708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8000"/>
              <a:t>Example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533400" y="1066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For a function that computes the square root of an integer in the range of 1 and 5000: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◦"/>
            </a:pPr>
            <a:r>
              <a:rPr lang="en-IN" sz="3600">
                <a:solidFill>
                  <a:srgbClr val="0000FF"/>
                </a:solidFill>
              </a:rPr>
              <a:t>test cases must include the values {0,1,5000,5001} along with the values obtained from Equivalence partitioning.</a:t>
            </a:r>
            <a:endParaRPr sz="3600">
              <a:solidFill>
                <a:srgbClr val="0000FF"/>
              </a:solidFill>
            </a:endParaRPr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5" name="Google Shape;135;p17"/>
          <p:cNvCxnSpPr/>
          <p:nvPr/>
        </p:nvCxnSpPr>
        <p:spPr>
          <a:xfrm>
            <a:off x="2667000" y="5181600"/>
            <a:ext cx="4191000" cy="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7"/>
          <p:cNvSpPr txBox="1"/>
          <p:nvPr/>
        </p:nvSpPr>
        <p:spPr>
          <a:xfrm>
            <a:off x="2514600" y="4724400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324600" y="4662488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138" name="Google Shape;138;p17"/>
          <p:cNvCxnSpPr/>
          <p:nvPr/>
        </p:nvCxnSpPr>
        <p:spPr>
          <a:xfrm>
            <a:off x="28194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29718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7"/>
          <p:cNvCxnSpPr/>
          <p:nvPr/>
        </p:nvCxnSpPr>
        <p:spPr>
          <a:xfrm>
            <a:off x="31242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7"/>
          <p:cNvCxnSpPr/>
          <p:nvPr/>
        </p:nvCxnSpPr>
        <p:spPr>
          <a:xfrm>
            <a:off x="32766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7"/>
          <p:cNvCxnSpPr/>
          <p:nvPr/>
        </p:nvCxnSpPr>
        <p:spPr>
          <a:xfrm>
            <a:off x="34290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7"/>
          <p:cNvCxnSpPr/>
          <p:nvPr/>
        </p:nvCxnSpPr>
        <p:spPr>
          <a:xfrm>
            <a:off x="35814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7"/>
          <p:cNvCxnSpPr/>
          <p:nvPr/>
        </p:nvCxnSpPr>
        <p:spPr>
          <a:xfrm>
            <a:off x="37338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7"/>
          <p:cNvCxnSpPr/>
          <p:nvPr/>
        </p:nvCxnSpPr>
        <p:spPr>
          <a:xfrm>
            <a:off x="38862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7"/>
          <p:cNvCxnSpPr/>
          <p:nvPr/>
        </p:nvCxnSpPr>
        <p:spPr>
          <a:xfrm>
            <a:off x="40386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7"/>
          <p:cNvCxnSpPr/>
          <p:nvPr/>
        </p:nvCxnSpPr>
        <p:spPr>
          <a:xfrm>
            <a:off x="41910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7"/>
          <p:cNvCxnSpPr/>
          <p:nvPr/>
        </p:nvCxnSpPr>
        <p:spPr>
          <a:xfrm>
            <a:off x="43434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7"/>
          <p:cNvCxnSpPr/>
          <p:nvPr/>
        </p:nvCxnSpPr>
        <p:spPr>
          <a:xfrm>
            <a:off x="44958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46482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7"/>
          <p:cNvCxnSpPr/>
          <p:nvPr/>
        </p:nvCxnSpPr>
        <p:spPr>
          <a:xfrm>
            <a:off x="48006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49530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51054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52578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54102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55626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7"/>
          <p:cNvCxnSpPr/>
          <p:nvPr/>
        </p:nvCxnSpPr>
        <p:spPr>
          <a:xfrm>
            <a:off x="57150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58674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60198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7"/>
          <p:cNvCxnSpPr/>
          <p:nvPr/>
        </p:nvCxnSpPr>
        <p:spPr>
          <a:xfrm>
            <a:off x="61722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63246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64770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7"/>
          <p:cNvCxnSpPr/>
          <p:nvPr/>
        </p:nvCxnSpPr>
        <p:spPr>
          <a:xfrm>
            <a:off x="66294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7"/>
          <p:cNvCxnSpPr/>
          <p:nvPr/>
        </p:nvCxnSpPr>
        <p:spPr>
          <a:xfrm>
            <a:off x="6781800" y="5105400"/>
            <a:ext cx="0" cy="152400"/>
          </a:xfrm>
          <a:prstGeom prst="straightConnector1">
            <a:avLst/>
          </a:pr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5" name="Google Shape;165;p17"/>
          <p:cNvGrpSpPr/>
          <p:nvPr/>
        </p:nvGrpSpPr>
        <p:grpSpPr>
          <a:xfrm>
            <a:off x="4203700" y="4703763"/>
            <a:ext cx="747713" cy="400050"/>
            <a:chOff x="2648" y="2963"/>
            <a:chExt cx="471" cy="252"/>
          </a:xfrm>
        </p:grpSpPr>
        <p:sp>
          <p:nvSpPr>
            <p:cNvPr id="166" name="Google Shape;166;p17"/>
            <p:cNvSpPr/>
            <p:nvPr/>
          </p:nvSpPr>
          <p:spPr>
            <a:xfrm>
              <a:off x="2648" y="3038"/>
              <a:ext cx="107" cy="177"/>
            </a:xfrm>
            <a:custGeom>
              <a:rect b="b" l="l" r="r" t="t"/>
              <a:pathLst>
                <a:path extrusionOk="0" h="786" w="477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2779" y="3038"/>
              <a:ext cx="87" cy="177"/>
            </a:xfrm>
            <a:custGeom>
              <a:rect b="b" l="l" r="r" t="t"/>
              <a:pathLst>
                <a:path extrusionOk="0" h="786" w="39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2887" y="2963"/>
              <a:ext cx="41" cy="252"/>
            </a:xfrm>
            <a:custGeom>
              <a:rect b="b" l="l" r="r" t="t"/>
              <a:pathLst>
                <a:path extrusionOk="0" h="1117" w="186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2955" y="2963"/>
              <a:ext cx="41" cy="252"/>
            </a:xfrm>
            <a:custGeom>
              <a:rect b="b" l="l" r="r" t="t"/>
              <a:pathLst>
                <a:path extrusionOk="0" h="1117" w="184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3022" y="2963"/>
              <a:ext cx="97" cy="252"/>
            </a:xfrm>
            <a:custGeom>
              <a:rect b="b" l="l" r="r" t="t"/>
              <a:pathLst>
                <a:path extrusionOk="0" h="1117" w="431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1524000" y="5008563"/>
            <a:ext cx="990601" cy="401638"/>
            <a:chOff x="960" y="3155"/>
            <a:chExt cx="624" cy="253"/>
          </a:xfrm>
        </p:grpSpPr>
        <p:sp>
          <p:nvSpPr>
            <p:cNvPr id="172" name="Google Shape;172;p17"/>
            <p:cNvSpPr/>
            <p:nvPr/>
          </p:nvSpPr>
          <p:spPr>
            <a:xfrm>
              <a:off x="960" y="3155"/>
              <a:ext cx="54" cy="252"/>
            </a:xfrm>
            <a:custGeom>
              <a:rect b="b" l="l" r="r" t="t"/>
              <a:pathLst>
                <a:path extrusionOk="0" h="1116" w="242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1035" y="3231"/>
              <a:ext cx="103" cy="177"/>
            </a:xfrm>
            <a:custGeom>
              <a:rect b="b" l="l" r="r" t="t"/>
              <a:pathLst>
                <a:path extrusionOk="0" h="783" w="458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1141" y="3231"/>
              <a:ext cx="101" cy="177"/>
            </a:xfrm>
            <a:custGeom>
              <a:rect b="b" l="l" r="r" t="t"/>
              <a:pathLst>
                <a:path extrusionOk="0" h="783" w="448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1264" y="3231"/>
              <a:ext cx="82" cy="177"/>
            </a:xfrm>
            <a:custGeom>
              <a:rect b="b" l="l" r="r" t="t"/>
              <a:pathLst>
                <a:path extrusionOk="0" h="783" w="366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1365" y="3155"/>
              <a:ext cx="38" cy="252"/>
            </a:xfrm>
            <a:custGeom>
              <a:rect b="b" l="l" r="r" t="t"/>
              <a:pathLst>
                <a:path extrusionOk="0" h="1116" w="173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1429" y="3155"/>
              <a:ext cx="38" cy="252"/>
            </a:xfrm>
            <a:custGeom>
              <a:rect b="b" l="l" r="r" t="t"/>
              <a:pathLst>
                <a:path extrusionOk="0" h="1116" w="174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1493" y="3155"/>
              <a:ext cx="91" cy="252"/>
            </a:xfrm>
            <a:custGeom>
              <a:rect b="b" l="l" r="r" t="t"/>
              <a:pathLst>
                <a:path extrusionOk="0" h="1116" w="404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179" name="Google Shape;179;p17"/>
          <p:cNvGrpSpPr/>
          <p:nvPr/>
        </p:nvGrpSpPr>
        <p:grpSpPr>
          <a:xfrm>
            <a:off x="7010400" y="5084763"/>
            <a:ext cx="990601" cy="400050"/>
            <a:chOff x="4416" y="3203"/>
            <a:chExt cx="624" cy="252"/>
          </a:xfrm>
        </p:grpSpPr>
        <p:sp>
          <p:nvSpPr>
            <p:cNvPr id="180" name="Google Shape;180;p17"/>
            <p:cNvSpPr/>
            <p:nvPr/>
          </p:nvSpPr>
          <p:spPr>
            <a:xfrm>
              <a:off x="4416" y="3203"/>
              <a:ext cx="54" cy="252"/>
            </a:xfrm>
            <a:custGeom>
              <a:rect b="b" l="l" r="r" t="t"/>
              <a:pathLst>
                <a:path extrusionOk="0" h="1117" w="242">
                  <a:moveTo>
                    <a:pt x="6" y="0"/>
                  </a:moveTo>
                  <a:lnTo>
                    <a:pt x="234" y="0"/>
                  </a:lnTo>
                  <a:lnTo>
                    <a:pt x="241" y="9"/>
                  </a:lnTo>
                  <a:lnTo>
                    <a:pt x="241" y="64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1"/>
                  </a:lnTo>
                  <a:lnTo>
                    <a:pt x="234" y="1041"/>
                  </a:lnTo>
                  <a:lnTo>
                    <a:pt x="241" y="1050"/>
                  </a:lnTo>
                  <a:lnTo>
                    <a:pt x="241" y="1105"/>
                  </a:lnTo>
                  <a:lnTo>
                    <a:pt x="234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80" y="1041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4491" y="3278"/>
              <a:ext cx="103" cy="177"/>
            </a:xfrm>
            <a:custGeom>
              <a:rect b="b" l="l" r="r" t="t"/>
              <a:pathLst>
                <a:path extrusionOk="0" h="786" w="458">
                  <a:moveTo>
                    <a:pt x="6" y="0"/>
                  </a:moveTo>
                  <a:lnTo>
                    <a:pt x="120" y="0"/>
                  </a:lnTo>
                  <a:lnTo>
                    <a:pt x="127" y="10"/>
                  </a:lnTo>
                  <a:lnTo>
                    <a:pt x="127" y="124"/>
                  </a:lnTo>
                  <a:lnTo>
                    <a:pt x="163" y="124"/>
                  </a:lnTo>
                  <a:lnTo>
                    <a:pt x="163" y="66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10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10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6"/>
                  </a:lnTo>
                  <a:lnTo>
                    <a:pt x="380" y="124"/>
                  </a:lnTo>
                  <a:lnTo>
                    <a:pt x="415" y="124"/>
                  </a:lnTo>
                  <a:lnTo>
                    <a:pt x="422" y="132"/>
                  </a:lnTo>
                  <a:lnTo>
                    <a:pt x="422" y="710"/>
                  </a:lnTo>
                  <a:lnTo>
                    <a:pt x="452" y="710"/>
                  </a:lnTo>
                  <a:lnTo>
                    <a:pt x="457" y="719"/>
                  </a:lnTo>
                  <a:lnTo>
                    <a:pt x="457" y="774"/>
                  </a:lnTo>
                  <a:lnTo>
                    <a:pt x="452" y="785"/>
                  </a:lnTo>
                  <a:lnTo>
                    <a:pt x="296" y="785"/>
                  </a:lnTo>
                  <a:lnTo>
                    <a:pt x="290" y="774"/>
                  </a:lnTo>
                  <a:lnTo>
                    <a:pt x="290" y="719"/>
                  </a:lnTo>
                  <a:lnTo>
                    <a:pt x="296" y="710"/>
                  </a:lnTo>
                  <a:lnTo>
                    <a:pt x="332" y="710"/>
                  </a:lnTo>
                  <a:lnTo>
                    <a:pt x="332" y="198"/>
                  </a:lnTo>
                  <a:lnTo>
                    <a:pt x="296" y="198"/>
                  </a:lnTo>
                  <a:lnTo>
                    <a:pt x="290" y="188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8"/>
                  </a:lnTo>
                  <a:lnTo>
                    <a:pt x="163" y="198"/>
                  </a:lnTo>
                  <a:lnTo>
                    <a:pt x="127" y="198"/>
                  </a:lnTo>
                  <a:lnTo>
                    <a:pt x="127" y="710"/>
                  </a:lnTo>
                  <a:lnTo>
                    <a:pt x="163" y="710"/>
                  </a:lnTo>
                  <a:lnTo>
                    <a:pt x="170" y="719"/>
                  </a:lnTo>
                  <a:lnTo>
                    <a:pt x="170" y="774"/>
                  </a:lnTo>
                  <a:lnTo>
                    <a:pt x="163" y="785"/>
                  </a:lnTo>
                  <a:lnTo>
                    <a:pt x="6" y="785"/>
                  </a:lnTo>
                  <a:lnTo>
                    <a:pt x="0" y="774"/>
                  </a:lnTo>
                  <a:lnTo>
                    <a:pt x="0" y="719"/>
                  </a:lnTo>
                  <a:lnTo>
                    <a:pt x="6" y="710"/>
                  </a:lnTo>
                  <a:lnTo>
                    <a:pt x="43" y="710"/>
                  </a:lnTo>
                  <a:lnTo>
                    <a:pt x="43" y="66"/>
                  </a:lnTo>
                  <a:lnTo>
                    <a:pt x="6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4597" y="3278"/>
              <a:ext cx="101" cy="177"/>
            </a:xfrm>
            <a:custGeom>
              <a:rect b="b" l="l" r="r" t="t"/>
              <a:pathLst>
                <a:path extrusionOk="0" h="786" w="448">
                  <a:moveTo>
                    <a:pt x="6" y="0"/>
                  </a:moveTo>
                  <a:lnTo>
                    <a:pt x="157" y="0"/>
                  </a:lnTo>
                  <a:lnTo>
                    <a:pt x="163" y="10"/>
                  </a:lnTo>
                  <a:lnTo>
                    <a:pt x="163" y="55"/>
                  </a:lnTo>
                  <a:lnTo>
                    <a:pt x="157" y="66"/>
                  </a:lnTo>
                  <a:lnTo>
                    <a:pt x="128" y="66"/>
                  </a:lnTo>
                  <a:lnTo>
                    <a:pt x="128" y="188"/>
                  </a:lnTo>
                  <a:lnTo>
                    <a:pt x="157" y="188"/>
                  </a:lnTo>
                  <a:lnTo>
                    <a:pt x="163" y="198"/>
                  </a:lnTo>
                  <a:lnTo>
                    <a:pt x="163" y="388"/>
                  </a:lnTo>
                  <a:lnTo>
                    <a:pt x="197" y="388"/>
                  </a:lnTo>
                  <a:lnTo>
                    <a:pt x="203" y="397"/>
                  </a:lnTo>
                  <a:lnTo>
                    <a:pt x="203" y="578"/>
                  </a:lnTo>
                  <a:lnTo>
                    <a:pt x="238" y="578"/>
                  </a:lnTo>
                  <a:lnTo>
                    <a:pt x="238" y="529"/>
                  </a:lnTo>
                  <a:lnTo>
                    <a:pt x="244" y="520"/>
                  </a:lnTo>
                  <a:lnTo>
                    <a:pt x="278" y="520"/>
                  </a:lnTo>
                  <a:lnTo>
                    <a:pt x="278" y="330"/>
                  </a:lnTo>
                  <a:lnTo>
                    <a:pt x="285" y="320"/>
                  </a:lnTo>
                  <a:lnTo>
                    <a:pt x="319" y="320"/>
                  </a:lnTo>
                  <a:lnTo>
                    <a:pt x="319" y="66"/>
                  </a:lnTo>
                  <a:lnTo>
                    <a:pt x="285" y="66"/>
                  </a:lnTo>
                  <a:lnTo>
                    <a:pt x="278" y="55"/>
                  </a:lnTo>
                  <a:lnTo>
                    <a:pt x="278" y="10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10"/>
                  </a:lnTo>
                  <a:lnTo>
                    <a:pt x="447" y="55"/>
                  </a:lnTo>
                  <a:lnTo>
                    <a:pt x="440" y="66"/>
                  </a:lnTo>
                  <a:lnTo>
                    <a:pt x="406" y="66"/>
                  </a:lnTo>
                  <a:lnTo>
                    <a:pt x="406" y="124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20"/>
                  </a:lnTo>
                  <a:lnTo>
                    <a:pt x="359" y="330"/>
                  </a:lnTo>
                  <a:lnTo>
                    <a:pt x="325" y="330"/>
                  </a:lnTo>
                  <a:lnTo>
                    <a:pt x="325" y="520"/>
                  </a:lnTo>
                  <a:lnTo>
                    <a:pt x="319" y="529"/>
                  </a:lnTo>
                  <a:lnTo>
                    <a:pt x="285" y="529"/>
                  </a:lnTo>
                  <a:lnTo>
                    <a:pt x="285" y="710"/>
                  </a:lnTo>
                  <a:lnTo>
                    <a:pt x="278" y="719"/>
                  </a:lnTo>
                  <a:lnTo>
                    <a:pt x="244" y="719"/>
                  </a:lnTo>
                  <a:lnTo>
                    <a:pt x="244" y="774"/>
                  </a:lnTo>
                  <a:lnTo>
                    <a:pt x="238" y="785"/>
                  </a:lnTo>
                  <a:lnTo>
                    <a:pt x="203" y="785"/>
                  </a:lnTo>
                  <a:lnTo>
                    <a:pt x="197" y="774"/>
                  </a:lnTo>
                  <a:lnTo>
                    <a:pt x="197" y="719"/>
                  </a:lnTo>
                  <a:lnTo>
                    <a:pt x="163" y="719"/>
                  </a:lnTo>
                  <a:lnTo>
                    <a:pt x="157" y="710"/>
                  </a:lnTo>
                  <a:lnTo>
                    <a:pt x="157" y="587"/>
                  </a:lnTo>
                  <a:lnTo>
                    <a:pt x="128" y="587"/>
                  </a:lnTo>
                  <a:lnTo>
                    <a:pt x="121" y="578"/>
                  </a:lnTo>
                  <a:lnTo>
                    <a:pt x="121" y="397"/>
                  </a:lnTo>
                  <a:lnTo>
                    <a:pt x="87" y="397"/>
                  </a:lnTo>
                  <a:lnTo>
                    <a:pt x="81" y="388"/>
                  </a:lnTo>
                  <a:lnTo>
                    <a:pt x="81" y="198"/>
                  </a:lnTo>
                  <a:lnTo>
                    <a:pt x="46" y="198"/>
                  </a:lnTo>
                  <a:lnTo>
                    <a:pt x="40" y="188"/>
                  </a:lnTo>
                  <a:lnTo>
                    <a:pt x="40" y="66"/>
                  </a:lnTo>
                  <a:lnTo>
                    <a:pt x="6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4720" y="3278"/>
              <a:ext cx="82" cy="177"/>
            </a:xfrm>
            <a:custGeom>
              <a:rect b="b" l="l" r="r" t="t"/>
              <a:pathLst>
                <a:path extrusionOk="0" h="786" w="366">
                  <a:moveTo>
                    <a:pt x="203" y="330"/>
                  </a:moveTo>
                  <a:lnTo>
                    <a:pt x="238" y="330"/>
                  </a:lnTo>
                  <a:lnTo>
                    <a:pt x="238" y="578"/>
                  </a:lnTo>
                  <a:lnTo>
                    <a:pt x="203" y="578"/>
                  </a:lnTo>
                  <a:lnTo>
                    <a:pt x="198" y="587"/>
                  </a:lnTo>
                  <a:lnTo>
                    <a:pt x="198" y="642"/>
                  </a:lnTo>
                  <a:lnTo>
                    <a:pt x="86" y="642"/>
                  </a:lnTo>
                  <a:lnTo>
                    <a:pt x="86" y="463"/>
                  </a:lnTo>
                  <a:lnTo>
                    <a:pt x="117" y="463"/>
                  </a:lnTo>
                  <a:lnTo>
                    <a:pt x="122" y="452"/>
                  </a:lnTo>
                  <a:lnTo>
                    <a:pt x="122" y="397"/>
                  </a:lnTo>
                  <a:lnTo>
                    <a:pt x="198" y="397"/>
                  </a:lnTo>
                  <a:lnTo>
                    <a:pt x="203" y="388"/>
                  </a:lnTo>
                  <a:lnTo>
                    <a:pt x="203" y="330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10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6"/>
                  </a:lnTo>
                  <a:lnTo>
                    <a:pt x="324" y="710"/>
                  </a:lnTo>
                  <a:lnTo>
                    <a:pt x="359" y="710"/>
                  </a:lnTo>
                  <a:lnTo>
                    <a:pt x="365" y="719"/>
                  </a:lnTo>
                  <a:lnTo>
                    <a:pt x="365" y="774"/>
                  </a:lnTo>
                  <a:lnTo>
                    <a:pt x="359" y="785"/>
                  </a:lnTo>
                  <a:lnTo>
                    <a:pt x="284" y="785"/>
                  </a:lnTo>
                  <a:lnTo>
                    <a:pt x="279" y="774"/>
                  </a:lnTo>
                  <a:lnTo>
                    <a:pt x="279" y="719"/>
                  </a:lnTo>
                  <a:lnTo>
                    <a:pt x="243" y="719"/>
                  </a:lnTo>
                  <a:lnTo>
                    <a:pt x="238" y="710"/>
                  </a:lnTo>
                  <a:lnTo>
                    <a:pt x="238" y="653"/>
                  </a:lnTo>
                  <a:lnTo>
                    <a:pt x="203" y="653"/>
                  </a:lnTo>
                  <a:lnTo>
                    <a:pt x="203" y="710"/>
                  </a:lnTo>
                  <a:lnTo>
                    <a:pt x="198" y="719"/>
                  </a:lnTo>
                  <a:lnTo>
                    <a:pt x="162" y="719"/>
                  </a:lnTo>
                  <a:lnTo>
                    <a:pt x="162" y="774"/>
                  </a:lnTo>
                  <a:lnTo>
                    <a:pt x="157" y="785"/>
                  </a:lnTo>
                  <a:lnTo>
                    <a:pt x="46" y="785"/>
                  </a:lnTo>
                  <a:lnTo>
                    <a:pt x="41" y="774"/>
                  </a:lnTo>
                  <a:lnTo>
                    <a:pt x="41" y="719"/>
                  </a:lnTo>
                  <a:lnTo>
                    <a:pt x="5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80" y="388"/>
                  </a:lnTo>
                  <a:lnTo>
                    <a:pt x="80" y="330"/>
                  </a:lnTo>
                  <a:lnTo>
                    <a:pt x="86" y="320"/>
                  </a:lnTo>
                  <a:lnTo>
                    <a:pt x="157" y="320"/>
                  </a:lnTo>
                  <a:lnTo>
                    <a:pt x="157" y="264"/>
                  </a:lnTo>
                  <a:lnTo>
                    <a:pt x="162" y="256"/>
                  </a:lnTo>
                  <a:lnTo>
                    <a:pt x="238" y="256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4"/>
                  </a:lnTo>
                  <a:lnTo>
                    <a:pt x="198" y="66"/>
                  </a:lnTo>
                  <a:lnTo>
                    <a:pt x="122" y="66"/>
                  </a:lnTo>
                  <a:lnTo>
                    <a:pt x="122" y="188"/>
                  </a:lnTo>
                  <a:lnTo>
                    <a:pt x="117" y="198"/>
                  </a:lnTo>
                  <a:lnTo>
                    <a:pt x="46" y="198"/>
                  </a:lnTo>
                  <a:lnTo>
                    <a:pt x="41" y="188"/>
                  </a:lnTo>
                  <a:lnTo>
                    <a:pt x="41" y="66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1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4821" y="3203"/>
              <a:ext cx="38" cy="252"/>
            </a:xfrm>
            <a:custGeom>
              <a:rect b="b" l="l" r="r" t="t"/>
              <a:pathLst>
                <a:path extrusionOk="0" h="1117" w="173">
                  <a:moveTo>
                    <a:pt x="6" y="0"/>
                  </a:moveTo>
                  <a:lnTo>
                    <a:pt x="123" y="0"/>
                  </a:lnTo>
                  <a:lnTo>
                    <a:pt x="129" y="9"/>
                  </a:lnTo>
                  <a:lnTo>
                    <a:pt x="129" y="1041"/>
                  </a:lnTo>
                  <a:lnTo>
                    <a:pt x="166" y="1041"/>
                  </a:lnTo>
                  <a:lnTo>
                    <a:pt x="172" y="1050"/>
                  </a:lnTo>
                  <a:lnTo>
                    <a:pt x="172" y="1105"/>
                  </a:lnTo>
                  <a:lnTo>
                    <a:pt x="166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3" y="1041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4885" y="3203"/>
              <a:ext cx="38" cy="252"/>
            </a:xfrm>
            <a:custGeom>
              <a:rect b="b" l="l" r="r" t="t"/>
              <a:pathLst>
                <a:path extrusionOk="0" h="1117" w="174">
                  <a:moveTo>
                    <a:pt x="7" y="331"/>
                  </a:moveTo>
                  <a:lnTo>
                    <a:pt x="123" y="331"/>
                  </a:lnTo>
                  <a:lnTo>
                    <a:pt x="128" y="341"/>
                  </a:lnTo>
                  <a:lnTo>
                    <a:pt x="128" y="1041"/>
                  </a:lnTo>
                  <a:lnTo>
                    <a:pt x="165" y="1041"/>
                  </a:lnTo>
                  <a:lnTo>
                    <a:pt x="173" y="1050"/>
                  </a:lnTo>
                  <a:lnTo>
                    <a:pt x="173" y="1105"/>
                  </a:lnTo>
                  <a:lnTo>
                    <a:pt x="165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3" y="1041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7" y="331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9"/>
                  </a:lnTo>
                  <a:lnTo>
                    <a:pt x="128" y="132"/>
                  </a:lnTo>
                  <a:lnTo>
                    <a:pt x="123" y="141"/>
                  </a:lnTo>
                  <a:lnTo>
                    <a:pt x="49" y="141"/>
                  </a:lnTo>
                  <a:lnTo>
                    <a:pt x="43" y="132"/>
                  </a:lnTo>
                  <a:lnTo>
                    <a:pt x="43" y="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4949" y="3203"/>
              <a:ext cx="91" cy="252"/>
            </a:xfrm>
            <a:custGeom>
              <a:rect b="b" l="l" r="r" t="t"/>
              <a:pathLst>
                <a:path extrusionOk="0" h="1117" w="404">
                  <a:moveTo>
                    <a:pt x="162" y="397"/>
                  </a:moveTo>
                  <a:lnTo>
                    <a:pt x="237" y="397"/>
                  </a:lnTo>
                  <a:lnTo>
                    <a:pt x="237" y="455"/>
                  </a:lnTo>
                  <a:lnTo>
                    <a:pt x="241" y="463"/>
                  </a:lnTo>
                  <a:lnTo>
                    <a:pt x="276" y="463"/>
                  </a:lnTo>
                  <a:lnTo>
                    <a:pt x="276" y="973"/>
                  </a:lnTo>
                  <a:lnTo>
                    <a:pt x="241" y="973"/>
                  </a:lnTo>
                  <a:lnTo>
                    <a:pt x="237" y="984"/>
                  </a:lnTo>
                  <a:lnTo>
                    <a:pt x="237" y="1041"/>
                  </a:lnTo>
                  <a:lnTo>
                    <a:pt x="162" y="1041"/>
                  </a:lnTo>
                  <a:lnTo>
                    <a:pt x="162" y="984"/>
                  </a:lnTo>
                  <a:lnTo>
                    <a:pt x="156" y="973"/>
                  </a:lnTo>
                  <a:lnTo>
                    <a:pt x="122" y="973"/>
                  </a:lnTo>
                  <a:lnTo>
                    <a:pt x="122" y="918"/>
                  </a:lnTo>
                  <a:lnTo>
                    <a:pt x="116" y="909"/>
                  </a:lnTo>
                  <a:lnTo>
                    <a:pt x="86" y="909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19"/>
                  </a:lnTo>
                  <a:lnTo>
                    <a:pt x="122" y="463"/>
                  </a:lnTo>
                  <a:lnTo>
                    <a:pt x="156" y="463"/>
                  </a:lnTo>
                  <a:lnTo>
                    <a:pt x="162" y="455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9"/>
                  </a:lnTo>
                  <a:lnTo>
                    <a:pt x="362" y="1041"/>
                  </a:lnTo>
                  <a:lnTo>
                    <a:pt x="398" y="1041"/>
                  </a:lnTo>
                  <a:lnTo>
                    <a:pt x="403" y="1050"/>
                  </a:lnTo>
                  <a:lnTo>
                    <a:pt x="403" y="1105"/>
                  </a:lnTo>
                  <a:lnTo>
                    <a:pt x="398" y="1116"/>
                  </a:lnTo>
                  <a:lnTo>
                    <a:pt x="322" y="1116"/>
                  </a:lnTo>
                  <a:lnTo>
                    <a:pt x="317" y="1105"/>
                  </a:lnTo>
                  <a:lnTo>
                    <a:pt x="317" y="1050"/>
                  </a:lnTo>
                  <a:lnTo>
                    <a:pt x="281" y="1050"/>
                  </a:lnTo>
                  <a:lnTo>
                    <a:pt x="281" y="1105"/>
                  </a:lnTo>
                  <a:lnTo>
                    <a:pt x="276" y="1116"/>
                  </a:lnTo>
                  <a:lnTo>
                    <a:pt x="122" y="1116"/>
                  </a:lnTo>
                  <a:lnTo>
                    <a:pt x="116" y="1105"/>
                  </a:lnTo>
                  <a:lnTo>
                    <a:pt x="116" y="1050"/>
                  </a:lnTo>
                  <a:lnTo>
                    <a:pt x="46" y="1050"/>
                  </a:lnTo>
                  <a:lnTo>
                    <a:pt x="41" y="1041"/>
                  </a:lnTo>
                  <a:lnTo>
                    <a:pt x="41" y="918"/>
                  </a:lnTo>
                  <a:lnTo>
                    <a:pt x="5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5" y="519"/>
                  </a:lnTo>
                  <a:lnTo>
                    <a:pt x="41" y="519"/>
                  </a:lnTo>
                  <a:lnTo>
                    <a:pt x="41" y="397"/>
                  </a:lnTo>
                  <a:lnTo>
                    <a:pt x="46" y="386"/>
                  </a:lnTo>
                  <a:lnTo>
                    <a:pt x="116" y="386"/>
                  </a:lnTo>
                  <a:lnTo>
                    <a:pt x="116" y="341"/>
                  </a:lnTo>
                  <a:lnTo>
                    <a:pt x="122" y="331"/>
                  </a:lnTo>
                  <a:lnTo>
                    <a:pt x="237" y="331"/>
                  </a:lnTo>
                  <a:lnTo>
                    <a:pt x="241" y="341"/>
                  </a:lnTo>
                  <a:lnTo>
                    <a:pt x="241" y="386"/>
                  </a:lnTo>
                  <a:lnTo>
                    <a:pt x="276" y="386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4"/>
                  </a:lnTo>
                  <a:lnTo>
                    <a:pt x="237" y="9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381000" y="381000"/>
            <a:ext cx="784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BOUNDARY VALUE ANALYSIS (BVA)</a:t>
            </a:r>
            <a:endParaRPr/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BVA offers several methods to design test cases. Following are the few methods used: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b="1" lang="en-IN"/>
              <a:t>1.</a:t>
            </a:r>
            <a:r>
              <a:rPr lang="en-IN"/>
              <a:t> BOUNDARY VALUE CHECKING (BVC)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b="1" lang="en-IN"/>
              <a:t>2. </a:t>
            </a:r>
            <a:r>
              <a:rPr lang="en-IN"/>
              <a:t>ROBUSTNESS TESTING METHOD</a:t>
            </a:r>
            <a:endParaRPr b="1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b="1" lang="en-IN"/>
              <a:t>3. </a:t>
            </a:r>
            <a:r>
              <a:rPr lang="en-IN"/>
              <a:t>WORST-CASE TESTING METHOD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b="1" lang="en-IN"/>
              <a:t>4. </a:t>
            </a:r>
            <a:r>
              <a:rPr lang="en-IN"/>
              <a:t>ROBUST WORST-CASE TESTING METHOD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 b="1"/>
          </a:p>
        </p:txBody>
      </p:sp>
      <p:sp>
        <p:nvSpPr>
          <p:cNvPr id="193" name="Google Shape;193;p1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BOUNDARY VALUE CHECKING (BVC)</a:t>
            </a:r>
            <a:endParaRPr/>
          </a:p>
        </p:txBody>
      </p:sp>
      <p:sp>
        <p:nvSpPr>
          <p:cNvPr id="199" name="Google Shape;199;p1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In this method, the test cases are designed by holding one variable at its extreme value and other variables at their nominal values in the input domain.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 variable at its extreme value can be selected at:</a:t>
            </a:r>
            <a:endParaRPr/>
          </a:p>
        </p:txBody>
      </p:sp>
      <p:sp>
        <p:nvSpPr>
          <p:cNvPr id="200" name="Google Shape;200;p1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BOUNDARY VALUE CHECKING (BVC)</a:t>
            </a:r>
            <a:endParaRPr/>
          </a:p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(a) Minimum value (Min)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 (b) Value just above the minimum value (Min+ 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(c) Maximum value (Max)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(d) Value just below the maximum value (Max−)</a:t>
            </a:r>
            <a:endParaRPr/>
          </a:p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BOUNDARY VALUE CHECKING (BVC)</a:t>
            </a:r>
            <a:endParaRPr/>
          </a:p>
        </p:txBody>
      </p:sp>
      <p:sp>
        <p:nvSpPr>
          <p:cNvPr id="213" name="Google Shape;213;p2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Let us take the example of two variables, A and B.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If we consider all the above combinations with nominal values, then following test cases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IN" sz="2400"/>
              <a:t>    (see Fig. 1) can be designed: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1. Anom, Bmin              2. Anom, Bmin+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3. Anom, Bmax             4. Anom, Bmax–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5. Amin, Bnom              6. Amin+, Bnom</a:t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7. Amax, Bnom 	         8. Amax–, Bnom </a:t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9. Anom, Bnom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  <p:sp>
        <p:nvSpPr>
          <p:cNvPr id="214" name="Google Shape;214;p2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4064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BOUNDARY VALUE CHECKING (BVC)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                                                                                 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           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         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            Fig 1: Boundary Value Checking</a:t>
            </a:r>
            <a:endParaRPr/>
          </a:p>
        </p:txBody>
      </p:sp>
      <p:sp>
        <p:nvSpPr>
          <p:cNvPr id="221" name="Google Shape;221;p2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76400"/>
            <a:ext cx="46482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BOUNDARY VALUE CHECKING (BVC)</a:t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can be generalized that for n variables in a module, 4n + 1 test cases can be designed with boundary value checking method.</a:t>
            </a:r>
            <a:endParaRPr/>
          </a:p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200"/>
              <a:buFont typeface="Gill Sans"/>
              <a:buNone/>
            </a:pPr>
            <a:r>
              <a:rPr lang="en-IN" sz="3200"/>
              <a:t>ROBUSTNESS TESTING METHOD</a:t>
            </a:r>
            <a:endParaRPr/>
          </a:p>
        </p:txBody>
      </p:sp>
      <p:sp>
        <p:nvSpPr>
          <p:cNvPr id="235" name="Google Shape;235;p2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54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 idea of BVC can be extended such that boundary values are exceeded as: 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1. A value just greater than the Maximum value (Max+) 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2. A value just less than Minimum value (Min−) </a:t>
            </a:r>
            <a:endParaRPr/>
          </a:p>
        </p:txBody>
      </p:sp>
      <p:sp>
        <p:nvSpPr>
          <p:cNvPr id="236" name="Google Shape;236;p2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200"/>
              <a:buFont typeface="Gill Sans"/>
              <a:buNone/>
            </a:pPr>
            <a:r>
              <a:rPr lang="en-IN" sz="3200"/>
              <a:t>ROBUSTNESS TESTING METHOD</a:t>
            </a:r>
            <a:endParaRPr/>
          </a:p>
        </p:txBody>
      </p:sp>
      <p:sp>
        <p:nvSpPr>
          <p:cNvPr id="242" name="Google Shape;242;p2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When test cases are designed considering the above points in addition to BVC, it is called robustness testing.</a:t>
            </a:r>
            <a:endParaRPr/>
          </a:p>
          <a:p>
            <a:pPr indent="-14122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Let us take the previous example again. Add the following test cases to the list of 9 test cases designed in BVC:</a:t>
            </a:r>
            <a:endParaRPr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 10. Amax+, Bnom 	11. Amin–, Bnom</a:t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12. Anom, Bmax+          13. Anom, Bmin–</a:t>
            </a:r>
            <a:endParaRPr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ROBUSTNESS TESTING METHOD</a:t>
            </a:r>
            <a:endParaRPr/>
          </a:p>
        </p:txBody>
      </p:sp>
      <p:sp>
        <p:nvSpPr>
          <p:cNvPr id="249" name="Google Shape;249;p2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090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can be generalized that for n input variables in a module, 6n + 1 test cases can be designed with robustness testing.</a:t>
            </a:r>
            <a:endParaRPr/>
          </a:p>
        </p:txBody>
      </p:sp>
      <p:sp>
        <p:nvSpPr>
          <p:cNvPr id="250" name="Google Shape;250;p2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WORST-CASE TESTING METHOD</a:t>
            </a:r>
            <a:endParaRPr/>
          </a:p>
        </p:txBody>
      </p:sp>
      <p:sp>
        <p:nvSpPr>
          <p:cNvPr id="256" name="Google Shape;256;p2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We can again extend the concept of BVC by assuming more than one variable on the boundary.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 It is called worst-case testing method.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Again, take the previous example of two variables, A and B. We can add the following test cases to the list of 9 test cases designed in BVC as:</a:t>
            </a:r>
            <a:endParaRPr/>
          </a:p>
        </p:txBody>
      </p:sp>
      <p:sp>
        <p:nvSpPr>
          <p:cNvPr id="257" name="Google Shape;257;p2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WORST-CASE TESTING METHOD</a:t>
            </a:r>
            <a:endParaRPr/>
          </a:p>
        </p:txBody>
      </p:sp>
      <p:sp>
        <p:nvSpPr>
          <p:cNvPr id="263" name="Google Shape;263;p2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10. Amin, Bmin 		11. Amin+, Bmin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12. Amin, Bmin+	         13. Amin+, Bmin+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14. Amax, Bmin           15. Amax–, Bmin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16. Amax, Bmin+         17. Amax–, Bmin+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18. Amin, Bmax            19. Amin+, Bmax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20. Amin, Bmax–          21. Amin+,Bmax–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22. Amax, Bmax           23. Amax–, Bmax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IN" sz="2800"/>
              <a:t>24. Amax, Bmax–         25. Amax–,Bmax– </a:t>
            </a:r>
            <a:endParaRPr/>
          </a:p>
        </p:txBody>
      </p:sp>
      <p:sp>
        <p:nvSpPr>
          <p:cNvPr id="264" name="Google Shape;264;p2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406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 sz="4400"/>
              <a:t>WORST-CASE TESTING METHOD</a:t>
            </a:r>
            <a:endParaRPr/>
          </a:p>
        </p:txBody>
      </p:sp>
      <p:sp>
        <p:nvSpPr>
          <p:cNvPr id="270" name="Google Shape;270;p2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can be generalized that for n input variables in a module, 5</a:t>
            </a:r>
            <a:r>
              <a:rPr baseline="30000" lang="en-IN"/>
              <a:t>n</a:t>
            </a:r>
            <a:r>
              <a:rPr lang="en-IN"/>
              <a:t> test cases can be designed with worst-case testing.</a:t>
            </a:r>
            <a:endParaRPr/>
          </a:p>
        </p:txBody>
      </p:sp>
      <p:sp>
        <p:nvSpPr>
          <p:cNvPr id="271" name="Google Shape;271;p2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ROBUST WORST-CASE TESTING METHOD</a:t>
            </a:r>
            <a:endParaRPr/>
          </a:p>
        </p:txBody>
      </p:sp>
      <p:sp>
        <p:nvSpPr>
          <p:cNvPr id="277" name="Google Shape;277;p3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In the previous method, the extreme values of a variable considered are of BVC only.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 worst case can be further extended if we consider robustness also, that is,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in worst case testing  if we consider the extreme values of the variables as in robustness testing method covered in Robustness Testing</a:t>
            </a:r>
            <a:endParaRPr/>
          </a:p>
        </p:txBody>
      </p:sp>
      <p:sp>
        <p:nvSpPr>
          <p:cNvPr id="278" name="Google Shape;278;p3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ROBUST WORST-CASE TESTING METHOD</a:t>
            </a:r>
            <a:endParaRPr/>
          </a:p>
        </p:txBody>
      </p:sp>
      <p:sp>
        <p:nvSpPr>
          <p:cNvPr id="284" name="Google Shape;284;p3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Again take the example of two variables, A and B. We can add the following test cases to the list of 25 test cases designed in previous section.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26. Amin-, Bmin-        28. Amin, Bmin- 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27. Amin-, Bmin         29. Amin-, Bmin+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30. Amin+, Bmin-        31. Amin-, Bmax  </a:t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 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285" name="Google Shape;285;p3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800"/>
              <a:buFont typeface="Gill Sans"/>
              <a:buNone/>
            </a:pPr>
            <a:r>
              <a:t/>
            </a:r>
            <a:endParaRPr sz="4800"/>
          </a:p>
        </p:txBody>
      </p:sp>
      <p:sp>
        <p:nvSpPr>
          <p:cNvPr id="291" name="Google Shape;291;p32"/>
          <p:cNvSpPr txBox="1"/>
          <p:nvPr>
            <p:ph idx="1" type="body"/>
          </p:nvPr>
        </p:nvSpPr>
        <p:spPr>
          <a:xfrm>
            <a:off x="609600" y="1219200"/>
            <a:ext cx="8178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32. Amax, Bmin-        33. Amin-, Bmax- 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34. Amax-, Bmin-       35. Amax+,Bmax+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36. Amax+, Bmin       37. Amin, Bmin+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38. Amax+, Bmin+     39. Amax+,Bmax+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40. Amax+,Bmax 	     41. Amax, Bmax+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42. Amax+,Bmax-      43. Amax-, Bmax+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44. Amax+,Bnom       45. Anom, Bmax+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46. Amin-,Bnom 	     47. Anom, Bmin-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48. Amax+,Bmin-       49. Amin-, Bmax+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 b="1"/>
          </a:p>
        </p:txBody>
      </p:sp>
      <p:sp>
        <p:nvSpPr>
          <p:cNvPr id="292" name="Google Shape;292;p3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Example </a:t>
            </a:r>
            <a:endParaRPr/>
          </a:p>
        </p:txBody>
      </p:sp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A program reads an integer number within the range [1,100] and determines whether it is a prime number or not. Design test cases for this program using BVC, robust testing, and worst-case testing methods.</a:t>
            </a:r>
            <a:endParaRPr/>
          </a:p>
        </p:txBody>
      </p:sp>
      <p:sp>
        <p:nvSpPr>
          <p:cNvPr id="299" name="Google Shape;299;p3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  Test cases using BVC</a:t>
            </a:r>
            <a:endParaRPr/>
          </a:p>
        </p:txBody>
      </p:sp>
      <p:sp>
        <p:nvSpPr>
          <p:cNvPr id="305" name="Google Shape;305;p3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Since there is one variable, the total number of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test cases will be 4n + 1 = 5.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In our example, the set of minimum and maximum values is shown below:</a:t>
            </a:r>
            <a:endParaRPr/>
          </a:p>
        </p:txBody>
      </p:sp>
      <p:sp>
        <p:nvSpPr>
          <p:cNvPr id="306" name="Google Shape;306;p3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Min value = 1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Min+ value = 2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Max value = 100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Max– value = 99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Nominal value = 50–55</a:t>
            </a:r>
            <a:endParaRPr/>
          </a:p>
        </p:txBody>
      </p:sp>
      <p:sp>
        <p:nvSpPr>
          <p:cNvPr id="313" name="Google Shape;313;p3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319" name="Google Shape;319;p3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Using these values, test cases can be designed as shown below:</a:t>
            </a:r>
            <a:endParaRPr/>
          </a:p>
        </p:txBody>
      </p:sp>
      <p:sp>
        <p:nvSpPr>
          <p:cNvPr id="320" name="Google Shape;320;p3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21" name="Google Shape;321;p36"/>
          <p:cNvGraphicFramePr/>
          <p:nvPr/>
        </p:nvGraphicFramePr>
        <p:xfrm>
          <a:off x="1371600" y="297179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{742BAE44-1ED2-4A0E-8C89-C92C0884A708}</a:tableStyleId>
              </a:tblPr>
              <a:tblGrid>
                <a:gridCol w="2421475"/>
                <a:gridCol w="2421475"/>
                <a:gridCol w="2421475"/>
              </a:tblGrid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Test Case ID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Integer Variable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Expected Output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Not a 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Not a 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Not a 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Test cases using robust testing</a:t>
            </a:r>
            <a:endParaRPr/>
          </a:p>
        </p:txBody>
      </p:sp>
      <p:sp>
        <p:nvSpPr>
          <p:cNvPr id="327" name="Google Shape;327;p3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Since there is one variable, the total number of test cases will be 6n + 1 = 7. The set of boundary values is shown below: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328" name="Google Shape;328;p3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334" name="Google Shape;334;p3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Min value = 1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Min– value = 0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Min+ value = 2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Max value = 100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Max− value = 99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Max+ value = 101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Nominal value = 50–55</a:t>
            </a:r>
            <a:endParaRPr/>
          </a:p>
        </p:txBody>
      </p:sp>
      <p:sp>
        <p:nvSpPr>
          <p:cNvPr id="335" name="Google Shape;335;p3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Using these values, test cases can be designed as shown below: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342" name="Google Shape;342;p3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43" name="Google Shape;343;p39"/>
          <p:cNvGraphicFramePr/>
          <p:nvPr/>
        </p:nvGraphicFramePr>
        <p:xfrm>
          <a:off x="1295400" y="27432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{742BAE44-1ED2-4A0E-8C89-C92C0884A708}</a:tableStyleId>
              </a:tblPr>
              <a:tblGrid>
                <a:gridCol w="1828800"/>
                <a:gridCol w="2514600"/>
                <a:gridCol w="29597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Test Case ID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Integer Variable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Expected Output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Invalid input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Not a 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Not a 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Not a 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Invalid input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7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Prime number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Test cases using worst-case testing </a:t>
            </a:r>
            <a:endParaRPr/>
          </a:p>
        </p:txBody>
      </p:sp>
      <p:sp>
        <p:nvSpPr>
          <p:cNvPr id="349" name="Google Shape;349;p4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Since there is one variable, the total number of test cases will be 5</a:t>
            </a:r>
            <a:r>
              <a:rPr baseline="30000" lang="en-IN"/>
              <a:t>n</a:t>
            </a:r>
            <a:r>
              <a:rPr lang="en-IN"/>
              <a:t> = 5. 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Therefore, the number of test cases will be same as BVC.</a:t>
            </a:r>
            <a:endParaRPr/>
          </a:p>
        </p:txBody>
      </p:sp>
      <p:sp>
        <p:nvSpPr>
          <p:cNvPr id="350" name="Google Shape;350;p4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Example </a:t>
            </a:r>
            <a:endParaRPr/>
          </a:p>
        </p:txBody>
      </p:sp>
      <p:sp>
        <p:nvSpPr>
          <p:cNvPr id="356" name="Google Shape;356;p4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A program computes a</a:t>
            </a:r>
            <a:r>
              <a:rPr baseline="30000" lang="en-IN"/>
              <a:t>b </a:t>
            </a:r>
            <a:r>
              <a:rPr lang="en-IN"/>
              <a:t>where a lies in the range [1,10] and b within [1,5].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Design test cases for this program using BVC, robust testing, and worst-case testing methods.</a:t>
            </a:r>
            <a:endParaRPr/>
          </a:p>
        </p:txBody>
      </p:sp>
      <p:sp>
        <p:nvSpPr>
          <p:cNvPr id="357" name="Google Shape;357;p4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Test cases using BVC</a:t>
            </a:r>
            <a:endParaRPr/>
          </a:p>
        </p:txBody>
      </p:sp>
      <p:sp>
        <p:nvSpPr>
          <p:cNvPr id="363" name="Google Shape;363;p4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Since there are two variables, a and b, the total number of test cases will be 4n + 1 = 9. The set of boundary values is shown below:</a:t>
            </a:r>
            <a:endParaRPr/>
          </a:p>
        </p:txBody>
      </p:sp>
      <p:sp>
        <p:nvSpPr>
          <p:cNvPr id="364" name="Google Shape;364;p4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65" name="Google Shape;365;p42"/>
          <p:cNvGraphicFramePr/>
          <p:nvPr/>
        </p:nvGraphicFramePr>
        <p:xfrm>
          <a:off x="1981200" y="30480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{742BAE44-1ED2-4A0E-8C89-C92C0884A708}</a:tableStyleId>
              </a:tblPr>
              <a:tblGrid>
                <a:gridCol w="1955800"/>
                <a:gridCol w="1956425"/>
                <a:gridCol w="19564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a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b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Min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Min+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Max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Max−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Nominal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200"/>
              <a:buFont typeface="Gill Sans"/>
              <a:buNone/>
            </a:pPr>
            <a:r>
              <a:rPr lang="en-IN" sz="3200"/>
              <a:t>Using these values, test cases can be designed as shown below:</a:t>
            </a:r>
            <a:br>
              <a:rPr lang="en-IN" sz="3200"/>
            </a:br>
            <a:endParaRPr sz="3200"/>
          </a:p>
        </p:txBody>
      </p:sp>
      <p:sp>
        <p:nvSpPr>
          <p:cNvPr id="371" name="Google Shape;371;p4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090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372" name="Google Shape;372;p4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73" name="Google Shape;373;p43"/>
          <p:cNvGraphicFramePr/>
          <p:nvPr/>
        </p:nvGraphicFramePr>
        <p:xfrm>
          <a:off x="1447800" y="20574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{742BAE44-1ED2-4A0E-8C89-C92C0884A708}</a:tableStyleId>
              </a:tblPr>
              <a:tblGrid>
                <a:gridCol w="1768250"/>
                <a:gridCol w="1768250"/>
                <a:gridCol w="1769025"/>
                <a:gridCol w="17690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Test Case ID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a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b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Expected Output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8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729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7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625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8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3125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Test cases using robust testing </a:t>
            </a:r>
            <a:endParaRPr/>
          </a:p>
        </p:txBody>
      </p:sp>
      <p:sp>
        <p:nvSpPr>
          <p:cNvPr id="379" name="Google Shape;379;p4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Since there are two variables, a and b, the total number of test cases will be  6n + 1 = 13. </a:t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set of boundary values is shown below:</a:t>
            </a:r>
            <a:endParaRPr/>
          </a:p>
        </p:txBody>
      </p:sp>
      <p:sp>
        <p:nvSpPr>
          <p:cNvPr id="380" name="Google Shape;380;p4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81" name="Google Shape;381;p44"/>
          <p:cNvGraphicFramePr/>
          <p:nvPr/>
        </p:nvGraphicFramePr>
        <p:xfrm>
          <a:off x="1981200" y="30480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{742BAE44-1ED2-4A0E-8C89-C92C0884A708}</a:tableStyleId>
              </a:tblPr>
              <a:tblGrid>
                <a:gridCol w="1955800"/>
                <a:gridCol w="1956425"/>
                <a:gridCol w="19564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 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Min value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Min– value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Min+ value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Max value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10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Max+ value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11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Max− value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Nominal value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/>
          <p:cNvSpPr txBox="1"/>
          <p:nvPr>
            <p:ph type="title"/>
          </p:nvPr>
        </p:nvSpPr>
        <p:spPr>
          <a:xfrm>
            <a:off x="1447800" y="381000"/>
            <a:ext cx="749808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800"/>
              <a:buFont typeface="Gill Sans"/>
              <a:buNone/>
            </a:pPr>
            <a:r>
              <a:rPr lang="en-IN" sz="2800"/>
              <a:t>Using these values, test cases can be designed as shown below:</a:t>
            </a:r>
            <a:br>
              <a:rPr lang="en-IN" sz="2800"/>
            </a:br>
            <a:endParaRPr sz="2800"/>
          </a:p>
        </p:txBody>
      </p:sp>
      <p:sp>
        <p:nvSpPr>
          <p:cNvPr id="387" name="Google Shape;387;p4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388" name="Google Shape;388;p4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89" name="Google Shape;389;p45"/>
          <p:cNvGraphicFramePr/>
          <p:nvPr/>
        </p:nvGraphicFramePr>
        <p:xfrm>
          <a:off x="1447800" y="14478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{742BAE44-1ED2-4A0E-8C89-C92C0884A708}</a:tableStyleId>
              </a:tblPr>
              <a:tblGrid>
                <a:gridCol w="1771275"/>
                <a:gridCol w="1771275"/>
                <a:gridCol w="1772025"/>
                <a:gridCol w="17720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Test Case ID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a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b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Expected output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Invalid input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8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Invalid input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729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7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Invalid input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8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625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3125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Invalid input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125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/>
          <p:nvPr>
            <p:ph type="title"/>
          </p:nvPr>
        </p:nvSpPr>
        <p:spPr>
          <a:xfrm>
            <a:off x="1435608" y="274638"/>
            <a:ext cx="749808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800"/>
              <a:buFont typeface="Gill Sans"/>
              <a:buNone/>
            </a:pPr>
            <a:r>
              <a:rPr lang="en-IN" sz="2800"/>
              <a:t>Test cases using worst-case testing </a:t>
            </a:r>
            <a:endParaRPr/>
          </a:p>
        </p:txBody>
      </p:sp>
      <p:sp>
        <p:nvSpPr>
          <p:cNvPr id="395" name="Google Shape;395;p4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⚫"/>
            </a:pPr>
            <a:r>
              <a:rPr lang="en-IN" sz="2000"/>
              <a:t>Since there are two variables, a and b, the total number of test cases will be 5</a:t>
            </a:r>
            <a:r>
              <a:rPr baseline="30000" lang="en-IN" sz="2000"/>
              <a:t>n</a:t>
            </a:r>
            <a:r>
              <a:rPr lang="en-IN" sz="2000"/>
              <a:t> = 25.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⚫"/>
            </a:pPr>
            <a:r>
              <a:rPr lang="en-IN" sz="2000"/>
              <a:t>The set of boundary values is shown below:</a:t>
            </a:r>
            <a:endParaRPr sz="2000"/>
          </a:p>
        </p:txBody>
      </p:sp>
      <p:sp>
        <p:nvSpPr>
          <p:cNvPr id="396" name="Google Shape;396;p4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97" name="Google Shape;397;p46"/>
          <p:cNvGraphicFramePr/>
          <p:nvPr/>
        </p:nvGraphicFramePr>
        <p:xfrm>
          <a:off x="1828800" y="32004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{742BAE44-1ED2-4A0E-8C89-C92C0884A708}</a:tableStyleId>
              </a:tblPr>
              <a:tblGrid>
                <a:gridCol w="2133150"/>
                <a:gridCol w="2133825"/>
                <a:gridCol w="21338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a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b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Min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Min+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Max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10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Max−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9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Nominal 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/>
          <p:nvPr>
            <p:ph type="title"/>
          </p:nvPr>
        </p:nvSpPr>
        <p:spPr>
          <a:xfrm>
            <a:off x="1066800" y="381000"/>
            <a:ext cx="74980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Font typeface="Gill Sans"/>
              <a:buNone/>
            </a:pPr>
            <a:r>
              <a:rPr lang="en-IN" sz="1800"/>
              <a:t>There may be more than one variable at extreme values in this case.</a:t>
            </a:r>
            <a:br>
              <a:rPr lang="en-IN" sz="1800"/>
            </a:br>
            <a:r>
              <a:rPr lang="en-IN" sz="1800"/>
              <a:t>Therefore, test cases can be designed as shown below :</a:t>
            </a:r>
            <a:br>
              <a:rPr lang="en-IN" sz="1800"/>
            </a:br>
            <a:br>
              <a:rPr lang="en-IN" sz="1800"/>
            </a:br>
            <a:endParaRPr sz="1800"/>
          </a:p>
        </p:txBody>
      </p:sp>
      <p:sp>
        <p:nvSpPr>
          <p:cNvPr id="403" name="Google Shape;403;p4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04" name="Google Shape;404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838200"/>
            <a:ext cx="61722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"/>
          <p:cNvSpPr txBox="1"/>
          <p:nvPr>
            <p:ph type="title"/>
          </p:nvPr>
        </p:nvSpPr>
        <p:spPr>
          <a:xfrm>
            <a:off x="1143000" y="228600"/>
            <a:ext cx="7770813" cy="115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5400"/>
              <a:buFont typeface="Gill Sans"/>
              <a:buNone/>
            </a:pPr>
            <a:r>
              <a:rPr lang="en-IN" sz="5400"/>
              <a:t>Summary</a:t>
            </a:r>
            <a:endParaRPr sz="5400"/>
          </a:p>
        </p:txBody>
      </p:sp>
      <p:sp>
        <p:nvSpPr>
          <p:cNvPr id="411" name="Google Shape;411;p48"/>
          <p:cNvSpPr txBox="1"/>
          <p:nvPr>
            <p:ph idx="1" type="body"/>
          </p:nvPr>
        </p:nvSpPr>
        <p:spPr>
          <a:xfrm>
            <a:off x="685800" y="1371600"/>
            <a:ext cx="8153400" cy="4430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We discussed black-box test case design using:</a:t>
            </a:r>
            <a:endParaRPr sz="4000"/>
          </a:p>
          <a:p>
            <a:pPr indent="-237744" lvl="1" marL="6400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◦"/>
            </a:pPr>
            <a:r>
              <a:rPr lang="en-IN" sz="3600">
                <a:solidFill>
                  <a:srgbClr val="0000FF"/>
                </a:solidFill>
              </a:rPr>
              <a:t>boundary value analysis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Explained BVA with some examples.</a:t>
            </a:r>
            <a:endParaRPr sz="4000"/>
          </a:p>
        </p:txBody>
      </p:sp>
      <p:sp>
        <p:nvSpPr>
          <p:cNvPr id="412" name="Google Shape;412;p4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/>
          <p:nvPr/>
        </p:nvSpPr>
        <p:spPr>
          <a:xfrm>
            <a:off x="1127760" y="279401"/>
            <a:ext cx="7863840" cy="86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9300" lIns="15100" spcFirstLastPara="1" rIns="15100" wrap="square" tIns="39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418" name="Google Shape;418;p49"/>
          <p:cNvSpPr/>
          <p:nvPr/>
        </p:nvSpPr>
        <p:spPr>
          <a:xfrm>
            <a:off x="1143000" y="1397000"/>
            <a:ext cx="7848600" cy="3488946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00" spcFirstLastPara="1" rIns="102400" wrap="square" tIns="51200">
            <a:noAutofit/>
          </a:bodyPr>
          <a:lstStyle/>
          <a:p>
            <a:pPr indent="-3840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IN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Rajib Mall, Fundamentals of Software Engineering, (Chapter – 10), Fifth Edition, PHI Learning Pvt. Ltd., 2018.</a:t>
            </a:r>
            <a:endParaRPr/>
          </a:p>
          <a:p>
            <a:pPr indent="-3840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IN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Naresh Chauhan, Software Testing: Principles and Practices, (Chapter – 4), Second Edition, Oxford University Press,  2016.</a:t>
            </a:r>
            <a:endParaRPr/>
          </a:p>
          <a:p>
            <a:pPr indent="-2062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0"/>
          <p:cNvSpPr txBox="1"/>
          <p:nvPr>
            <p:ph type="title"/>
          </p:nvPr>
        </p:nvSpPr>
        <p:spPr>
          <a:xfrm>
            <a:off x="424800" y="-303872"/>
            <a:ext cx="8223840" cy="1774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1450" lIns="82925" spcFirstLastPara="1" rIns="82925" wrap="square" tIns="414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600"/>
              <a:buFont typeface="Gill Sans"/>
              <a:buNone/>
            </a:pPr>
            <a:r>
              <a:rPr lang="en-IN" sz="6600"/>
              <a:t> </a:t>
            </a:r>
            <a:endParaRPr/>
          </a:p>
        </p:txBody>
      </p:sp>
      <p:sp>
        <p:nvSpPr>
          <p:cNvPr id="424" name="Google Shape;424;p50"/>
          <p:cNvSpPr txBox="1"/>
          <p:nvPr>
            <p:ph idx="1" type="body"/>
          </p:nvPr>
        </p:nvSpPr>
        <p:spPr>
          <a:xfrm>
            <a:off x="348480" y="1307657"/>
            <a:ext cx="8516160" cy="47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41450" lIns="82925" spcFirstLastPara="1" rIns="82925" wrap="square" tIns="41450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t/>
            </a:r>
            <a:endParaRPr sz="4400"/>
          </a:p>
          <a:p>
            <a:pPr indent="0" lvl="0" marL="0" rtl="0" algn="l">
              <a:lnSpc>
                <a:spcPct val="105000"/>
              </a:lnSpc>
              <a:spcBef>
                <a:spcPts val="220"/>
              </a:spcBef>
              <a:spcAft>
                <a:spcPts val="0"/>
              </a:spcAft>
              <a:buSzPts val="3520"/>
              <a:buNone/>
            </a:pPr>
            <a:r>
              <a:t/>
            </a:r>
            <a:endParaRPr sz="4400"/>
          </a:p>
          <a:p>
            <a:pPr indent="0" lvl="0" marL="0" rtl="0" algn="l">
              <a:lnSpc>
                <a:spcPct val="105000"/>
              </a:lnSpc>
              <a:spcBef>
                <a:spcPts val="220"/>
              </a:spcBef>
              <a:spcAft>
                <a:spcPts val="0"/>
              </a:spcAft>
              <a:buSzPts val="3520"/>
              <a:buNone/>
            </a:pPr>
            <a:r>
              <a:t/>
            </a:r>
            <a:endParaRPr sz="4400"/>
          </a:p>
          <a:p>
            <a:pPr indent="0" lvl="0" marL="0" rtl="0" algn="l">
              <a:lnSpc>
                <a:spcPct val="105000"/>
              </a:lnSpc>
              <a:spcBef>
                <a:spcPts val="220"/>
              </a:spcBef>
              <a:spcAft>
                <a:spcPts val="0"/>
              </a:spcAft>
              <a:buSzPts val="3520"/>
              <a:buNone/>
            </a:pPr>
            <a:r>
              <a:rPr lang="en-IN" sz="4400"/>
              <a:t>				</a:t>
            </a:r>
            <a:r>
              <a:rPr b="1" lang="en-IN" sz="4400"/>
              <a:t>Thank You</a:t>
            </a:r>
            <a:endParaRPr/>
          </a:p>
        </p:txBody>
      </p:sp>
      <p:sp>
        <p:nvSpPr>
          <p:cNvPr id="425" name="Google Shape;425;p5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1450" lIns="82925" spcFirstLastPara="1" rIns="82925" wrap="square" tIns="4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