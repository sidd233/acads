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y="3460750" cx="4610100"/>
  <p:notesSz cx="4610100" cy="3460750"/>
  <p:embeddedFontLst>
    <p:embeddedFont>
      <p:font typeface="Tahoma"/>
      <p:regular r:id="rId69"/>
      <p:bold r:id="rId70"/>
    </p:embeddedFont>
    <p:embeddedFont>
      <p:font typeface="Palatino Linotype"/>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AC71C73-6B6B-4569-8988-B1D10037DF7B}">
  <a:tblStyle styleId="{AAC71C73-6B6B-4569-8988-B1D10037DF7B}"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PalatinoLinotype-italic.fntdata"/><Relationship Id="rId72" Type="http://schemas.openxmlformats.org/officeDocument/2006/relationships/font" Target="fonts/PalatinoLinotype-bold.fntdata"/><Relationship Id="rId31" Type="http://schemas.openxmlformats.org/officeDocument/2006/relationships/slide" Target="slides/slide25.xml"/><Relationship Id="rId30" Type="http://schemas.openxmlformats.org/officeDocument/2006/relationships/slide" Target="slides/slide24.xml"/><Relationship Id="rId74" Type="http://schemas.openxmlformats.org/officeDocument/2006/relationships/font" Target="fonts/PalatinoLinotype-boldItalic.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PalatinoLinotype-regular.fntdata"/><Relationship Id="rId70" Type="http://schemas.openxmlformats.org/officeDocument/2006/relationships/font" Target="fonts/Tahoma-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Tahoma-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461000" y="1643850"/>
            <a:ext cx="3688075" cy="15573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1: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5: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6: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7: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8: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9: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9: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0: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1: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1: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2: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2: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3: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3: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4: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4: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5: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5: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6: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6: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7: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7: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8: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8: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9: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9: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20: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0: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21: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1: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22: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2: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3: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3: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24: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4: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25: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5: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26: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6: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27: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7: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28: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8: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29: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9: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30: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0: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31: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1: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32: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2: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33: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3: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34: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4: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35: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5: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36: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6: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37: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7: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38: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8: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39: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39: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40: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40: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41: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41: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42: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42: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43: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43: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44: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44: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45: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45: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46: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46: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47: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47: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48: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48: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49: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49: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50: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50: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51: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51: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52: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52: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53: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53: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54: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54: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55: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55: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56: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56: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p57: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57: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p58: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58: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p59: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59: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p60: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60: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p61: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61: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p62:notes"/>
          <p:cNvSpPr txBox="1"/>
          <p:nvPr>
            <p:ph idx="1" type="body"/>
          </p:nvPr>
        </p:nvSpPr>
        <p:spPr>
          <a:xfrm>
            <a:off x="461000" y="1643850"/>
            <a:ext cx="3688075" cy="15573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62:notes"/>
          <p:cNvSpPr/>
          <p:nvPr>
            <p:ph idx="2" type="sldImg"/>
          </p:nvPr>
        </p:nvSpPr>
        <p:spPr>
          <a:xfrm>
            <a:off x="768500" y="259550"/>
            <a:ext cx="3073550" cy="12977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2"/>
          <p:cNvSpPr txBox="1"/>
          <p:nvPr>
            <p:ph type="title"/>
          </p:nvPr>
        </p:nvSpPr>
        <p:spPr>
          <a:xfrm>
            <a:off x="421398" y="971750"/>
            <a:ext cx="3767302" cy="68008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
          <p:cNvSpPr txBox="1"/>
          <p:nvPr>
            <p:ph idx="1" type="body"/>
          </p:nvPr>
        </p:nvSpPr>
        <p:spPr>
          <a:xfrm>
            <a:off x="349059" y="1124849"/>
            <a:ext cx="3911981" cy="155384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100">
                <a:solidFill>
                  <a:schemeClr val="dk1"/>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 name="Google Shape;46;p2"/>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6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
          <p:cNvSpPr txBox="1"/>
          <p:nvPr>
            <p:ph idx="10" type="dt"/>
          </p:nvPr>
        </p:nvSpPr>
        <p:spPr>
          <a:xfrm>
            <a:off x="230505" y="3218497"/>
            <a:ext cx="1060323" cy="17303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lvl1pPr indent="0" lvl="0" marL="25400" marR="0" algn="l">
              <a:lnSpc>
                <a:spcPct val="114166"/>
              </a:lnSpc>
              <a:spcBef>
                <a:spcPts val="0"/>
              </a:spcBef>
              <a:buNone/>
              <a:defRPr b="1" i="0" sz="600">
                <a:solidFill>
                  <a:schemeClr val="lt1"/>
                </a:solidFill>
                <a:latin typeface="Arial"/>
                <a:ea typeface="Arial"/>
                <a:cs typeface="Arial"/>
                <a:sym typeface="Arial"/>
              </a:defRPr>
            </a:lvl1pPr>
            <a:lvl2pPr indent="0" lvl="1" marL="25400" marR="0" algn="l">
              <a:lnSpc>
                <a:spcPct val="114166"/>
              </a:lnSpc>
              <a:spcBef>
                <a:spcPts val="0"/>
              </a:spcBef>
              <a:buNone/>
              <a:defRPr b="1" i="0" sz="600">
                <a:solidFill>
                  <a:schemeClr val="lt1"/>
                </a:solidFill>
                <a:latin typeface="Arial"/>
                <a:ea typeface="Arial"/>
                <a:cs typeface="Arial"/>
                <a:sym typeface="Arial"/>
              </a:defRPr>
            </a:lvl2pPr>
            <a:lvl3pPr indent="0" lvl="2" marL="25400" marR="0" algn="l">
              <a:lnSpc>
                <a:spcPct val="114166"/>
              </a:lnSpc>
              <a:spcBef>
                <a:spcPts val="0"/>
              </a:spcBef>
              <a:buNone/>
              <a:defRPr b="1" i="0" sz="600">
                <a:solidFill>
                  <a:schemeClr val="lt1"/>
                </a:solidFill>
                <a:latin typeface="Arial"/>
                <a:ea typeface="Arial"/>
                <a:cs typeface="Arial"/>
                <a:sym typeface="Arial"/>
              </a:defRPr>
            </a:lvl3pPr>
            <a:lvl4pPr indent="0" lvl="3" marL="25400" marR="0" algn="l">
              <a:lnSpc>
                <a:spcPct val="114166"/>
              </a:lnSpc>
              <a:spcBef>
                <a:spcPts val="0"/>
              </a:spcBef>
              <a:buNone/>
              <a:defRPr b="1" i="0" sz="600">
                <a:solidFill>
                  <a:schemeClr val="lt1"/>
                </a:solidFill>
                <a:latin typeface="Arial"/>
                <a:ea typeface="Arial"/>
                <a:cs typeface="Arial"/>
                <a:sym typeface="Arial"/>
              </a:defRPr>
            </a:lvl4pPr>
            <a:lvl5pPr indent="0" lvl="4" marL="25400" marR="0" algn="l">
              <a:lnSpc>
                <a:spcPct val="114166"/>
              </a:lnSpc>
              <a:spcBef>
                <a:spcPts val="0"/>
              </a:spcBef>
              <a:buNone/>
              <a:defRPr b="1" i="0" sz="600">
                <a:solidFill>
                  <a:schemeClr val="lt1"/>
                </a:solidFill>
                <a:latin typeface="Arial"/>
                <a:ea typeface="Arial"/>
                <a:cs typeface="Arial"/>
                <a:sym typeface="Arial"/>
              </a:defRPr>
            </a:lvl5pPr>
            <a:lvl6pPr indent="0" lvl="5" marL="25400" marR="0" algn="l">
              <a:lnSpc>
                <a:spcPct val="114166"/>
              </a:lnSpc>
              <a:spcBef>
                <a:spcPts val="0"/>
              </a:spcBef>
              <a:buNone/>
              <a:defRPr b="1" i="0" sz="600">
                <a:solidFill>
                  <a:schemeClr val="lt1"/>
                </a:solidFill>
                <a:latin typeface="Arial"/>
                <a:ea typeface="Arial"/>
                <a:cs typeface="Arial"/>
                <a:sym typeface="Arial"/>
              </a:defRPr>
            </a:lvl6pPr>
            <a:lvl7pPr indent="0" lvl="6" marL="25400" marR="0" algn="l">
              <a:lnSpc>
                <a:spcPct val="114166"/>
              </a:lnSpc>
              <a:spcBef>
                <a:spcPts val="0"/>
              </a:spcBef>
              <a:buNone/>
              <a:defRPr b="1" i="0" sz="600">
                <a:solidFill>
                  <a:schemeClr val="lt1"/>
                </a:solidFill>
                <a:latin typeface="Arial"/>
                <a:ea typeface="Arial"/>
                <a:cs typeface="Arial"/>
                <a:sym typeface="Arial"/>
              </a:defRPr>
            </a:lvl7pPr>
            <a:lvl8pPr indent="0" lvl="7" marL="25400" marR="0" algn="l">
              <a:lnSpc>
                <a:spcPct val="114166"/>
              </a:lnSpc>
              <a:spcBef>
                <a:spcPts val="0"/>
              </a:spcBef>
              <a:buNone/>
              <a:defRPr b="1" i="0" sz="600">
                <a:solidFill>
                  <a:schemeClr val="lt1"/>
                </a:solidFill>
                <a:latin typeface="Arial"/>
                <a:ea typeface="Arial"/>
                <a:cs typeface="Arial"/>
                <a:sym typeface="Arial"/>
              </a:defRPr>
            </a:lvl8pPr>
            <a:lvl9pPr indent="0" lvl="8" marL="25400" marR="0" algn="l">
              <a:lnSpc>
                <a:spcPct val="114166"/>
              </a:lnSpc>
              <a:spcBef>
                <a:spcPts val="0"/>
              </a:spcBef>
              <a:buNone/>
              <a:defRPr b="1" i="0" sz="600">
                <a:solidFill>
                  <a:schemeClr val="lt1"/>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US"/>
              <a:t>‹#›</a:t>
            </a:fld>
            <a:r>
              <a:rPr lang="en-US"/>
              <a:t>/35</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9" name="Shape 49"/>
        <p:cNvGrpSpPr/>
        <p:nvPr/>
      </p:nvGrpSpPr>
      <p:grpSpPr>
        <a:xfrm>
          <a:off x="0" y="0"/>
          <a:ext cx="0" cy="0"/>
          <a:chOff x="0" y="0"/>
          <a:chExt cx="0" cy="0"/>
        </a:xfrm>
      </p:grpSpPr>
      <p:sp>
        <p:nvSpPr>
          <p:cNvPr id="50" name="Google Shape;50;p3"/>
          <p:cNvSpPr txBox="1"/>
          <p:nvPr>
            <p:ph type="title"/>
          </p:nvPr>
        </p:nvSpPr>
        <p:spPr>
          <a:xfrm>
            <a:off x="421398" y="971750"/>
            <a:ext cx="3767302" cy="68008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6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
          <p:cNvSpPr txBox="1"/>
          <p:nvPr>
            <p:ph idx="10" type="dt"/>
          </p:nvPr>
        </p:nvSpPr>
        <p:spPr>
          <a:xfrm>
            <a:off x="230505" y="3218497"/>
            <a:ext cx="1060323" cy="17303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lvl1pPr indent="0" lvl="0" marL="25400" marR="0" algn="l">
              <a:lnSpc>
                <a:spcPct val="114166"/>
              </a:lnSpc>
              <a:spcBef>
                <a:spcPts val="0"/>
              </a:spcBef>
              <a:buNone/>
              <a:defRPr b="1" i="0" sz="600">
                <a:solidFill>
                  <a:schemeClr val="lt1"/>
                </a:solidFill>
                <a:latin typeface="Arial"/>
                <a:ea typeface="Arial"/>
                <a:cs typeface="Arial"/>
                <a:sym typeface="Arial"/>
              </a:defRPr>
            </a:lvl1pPr>
            <a:lvl2pPr indent="0" lvl="1" marL="25400" marR="0" algn="l">
              <a:lnSpc>
                <a:spcPct val="114166"/>
              </a:lnSpc>
              <a:spcBef>
                <a:spcPts val="0"/>
              </a:spcBef>
              <a:buNone/>
              <a:defRPr b="1" i="0" sz="600">
                <a:solidFill>
                  <a:schemeClr val="lt1"/>
                </a:solidFill>
                <a:latin typeface="Arial"/>
                <a:ea typeface="Arial"/>
                <a:cs typeface="Arial"/>
                <a:sym typeface="Arial"/>
              </a:defRPr>
            </a:lvl2pPr>
            <a:lvl3pPr indent="0" lvl="2" marL="25400" marR="0" algn="l">
              <a:lnSpc>
                <a:spcPct val="114166"/>
              </a:lnSpc>
              <a:spcBef>
                <a:spcPts val="0"/>
              </a:spcBef>
              <a:buNone/>
              <a:defRPr b="1" i="0" sz="600">
                <a:solidFill>
                  <a:schemeClr val="lt1"/>
                </a:solidFill>
                <a:latin typeface="Arial"/>
                <a:ea typeface="Arial"/>
                <a:cs typeface="Arial"/>
                <a:sym typeface="Arial"/>
              </a:defRPr>
            </a:lvl3pPr>
            <a:lvl4pPr indent="0" lvl="3" marL="25400" marR="0" algn="l">
              <a:lnSpc>
                <a:spcPct val="114166"/>
              </a:lnSpc>
              <a:spcBef>
                <a:spcPts val="0"/>
              </a:spcBef>
              <a:buNone/>
              <a:defRPr b="1" i="0" sz="600">
                <a:solidFill>
                  <a:schemeClr val="lt1"/>
                </a:solidFill>
                <a:latin typeface="Arial"/>
                <a:ea typeface="Arial"/>
                <a:cs typeface="Arial"/>
                <a:sym typeface="Arial"/>
              </a:defRPr>
            </a:lvl4pPr>
            <a:lvl5pPr indent="0" lvl="4" marL="25400" marR="0" algn="l">
              <a:lnSpc>
                <a:spcPct val="114166"/>
              </a:lnSpc>
              <a:spcBef>
                <a:spcPts val="0"/>
              </a:spcBef>
              <a:buNone/>
              <a:defRPr b="1" i="0" sz="600">
                <a:solidFill>
                  <a:schemeClr val="lt1"/>
                </a:solidFill>
                <a:latin typeface="Arial"/>
                <a:ea typeface="Arial"/>
                <a:cs typeface="Arial"/>
                <a:sym typeface="Arial"/>
              </a:defRPr>
            </a:lvl5pPr>
            <a:lvl6pPr indent="0" lvl="5" marL="25400" marR="0" algn="l">
              <a:lnSpc>
                <a:spcPct val="114166"/>
              </a:lnSpc>
              <a:spcBef>
                <a:spcPts val="0"/>
              </a:spcBef>
              <a:buNone/>
              <a:defRPr b="1" i="0" sz="600">
                <a:solidFill>
                  <a:schemeClr val="lt1"/>
                </a:solidFill>
                <a:latin typeface="Arial"/>
                <a:ea typeface="Arial"/>
                <a:cs typeface="Arial"/>
                <a:sym typeface="Arial"/>
              </a:defRPr>
            </a:lvl6pPr>
            <a:lvl7pPr indent="0" lvl="6" marL="25400" marR="0" algn="l">
              <a:lnSpc>
                <a:spcPct val="114166"/>
              </a:lnSpc>
              <a:spcBef>
                <a:spcPts val="0"/>
              </a:spcBef>
              <a:buNone/>
              <a:defRPr b="1" i="0" sz="600">
                <a:solidFill>
                  <a:schemeClr val="lt1"/>
                </a:solidFill>
                <a:latin typeface="Arial"/>
                <a:ea typeface="Arial"/>
                <a:cs typeface="Arial"/>
                <a:sym typeface="Arial"/>
              </a:defRPr>
            </a:lvl7pPr>
            <a:lvl8pPr indent="0" lvl="7" marL="25400" marR="0" algn="l">
              <a:lnSpc>
                <a:spcPct val="114166"/>
              </a:lnSpc>
              <a:spcBef>
                <a:spcPts val="0"/>
              </a:spcBef>
              <a:buNone/>
              <a:defRPr b="1" i="0" sz="600">
                <a:solidFill>
                  <a:schemeClr val="lt1"/>
                </a:solidFill>
                <a:latin typeface="Arial"/>
                <a:ea typeface="Arial"/>
                <a:cs typeface="Arial"/>
                <a:sym typeface="Arial"/>
              </a:defRPr>
            </a:lvl8pPr>
            <a:lvl9pPr indent="0" lvl="8" marL="25400" marR="0" algn="l">
              <a:lnSpc>
                <a:spcPct val="114166"/>
              </a:lnSpc>
              <a:spcBef>
                <a:spcPts val="0"/>
              </a:spcBef>
              <a:buNone/>
              <a:defRPr b="1" i="0" sz="600">
                <a:solidFill>
                  <a:schemeClr val="lt1"/>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US"/>
              <a:t>‹#›</a:t>
            </a:fld>
            <a:r>
              <a:rPr lang="en-US"/>
              <a:t>/35</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4" name="Shape 54"/>
        <p:cNvGrpSpPr/>
        <p:nvPr/>
      </p:nvGrpSpPr>
      <p:grpSpPr>
        <a:xfrm>
          <a:off x="0" y="0"/>
          <a:ext cx="0" cy="0"/>
          <a:chOff x="0" y="0"/>
          <a:chExt cx="0" cy="0"/>
        </a:xfrm>
      </p:grpSpPr>
      <p:sp>
        <p:nvSpPr>
          <p:cNvPr id="55" name="Google Shape;55;p4"/>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6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
          <p:cNvSpPr txBox="1"/>
          <p:nvPr>
            <p:ph idx="10" type="dt"/>
          </p:nvPr>
        </p:nvSpPr>
        <p:spPr>
          <a:xfrm>
            <a:off x="230505" y="3218497"/>
            <a:ext cx="1060323" cy="17303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lvl1pPr indent="0" lvl="0" marL="25400" marR="0" algn="l">
              <a:lnSpc>
                <a:spcPct val="114166"/>
              </a:lnSpc>
              <a:spcBef>
                <a:spcPts val="0"/>
              </a:spcBef>
              <a:buNone/>
              <a:defRPr b="1" i="0" sz="600">
                <a:solidFill>
                  <a:schemeClr val="lt1"/>
                </a:solidFill>
                <a:latin typeface="Arial"/>
                <a:ea typeface="Arial"/>
                <a:cs typeface="Arial"/>
                <a:sym typeface="Arial"/>
              </a:defRPr>
            </a:lvl1pPr>
            <a:lvl2pPr indent="0" lvl="1" marL="25400" marR="0" algn="l">
              <a:lnSpc>
                <a:spcPct val="114166"/>
              </a:lnSpc>
              <a:spcBef>
                <a:spcPts val="0"/>
              </a:spcBef>
              <a:buNone/>
              <a:defRPr b="1" i="0" sz="600">
                <a:solidFill>
                  <a:schemeClr val="lt1"/>
                </a:solidFill>
                <a:latin typeface="Arial"/>
                <a:ea typeface="Arial"/>
                <a:cs typeface="Arial"/>
                <a:sym typeface="Arial"/>
              </a:defRPr>
            </a:lvl2pPr>
            <a:lvl3pPr indent="0" lvl="2" marL="25400" marR="0" algn="l">
              <a:lnSpc>
                <a:spcPct val="114166"/>
              </a:lnSpc>
              <a:spcBef>
                <a:spcPts val="0"/>
              </a:spcBef>
              <a:buNone/>
              <a:defRPr b="1" i="0" sz="600">
                <a:solidFill>
                  <a:schemeClr val="lt1"/>
                </a:solidFill>
                <a:latin typeface="Arial"/>
                <a:ea typeface="Arial"/>
                <a:cs typeface="Arial"/>
                <a:sym typeface="Arial"/>
              </a:defRPr>
            </a:lvl3pPr>
            <a:lvl4pPr indent="0" lvl="3" marL="25400" marR="0" algn="l">
              <a:lnSpc>
                <a:spcPct val="114166"/>
              </a:lnSpc>
              <a:spcBef>
                <a:spcPts val="0"/>
              </a:spcBef>
              <a:buNone/>
              <a:defRPr b="1" i="0" sz="600">
                <a:solidFill>
                  <a:schemeClr val="lt1"/>
                </a:solidFill>
                <a:latin typeface="Arial"/>
                <a:ea typeface="Arial"/>
                <a:cs typeface="Arial"/>
                <a:sym typeface="Arial"/>
              </a:defRPr>
            </a:lvl4pPr>
            <a:lvl5pPr indent="0" lvl="4" marL="25400" marR="0" algn="l">
              <a:lnSpc>
                <a:spcPct val="114166"/>
              </a:lnSpc>
              <a:spcBef>
                <a:spcPts val="0"/>
              </a:spcBef>
              <a:buNone/>
              <a:defRPr b="1" i="0" sz="600">
                <a:solidFill>
                  <a:schemeClr val="lt1"/>
                </a:solidFill>
                <a:latin typeface="Arial"/>
                <a:ea typeface="Arial"/>
                <a:cs typeface="Arial"/>
                <a:sym typeface="Arial"/>
              </a:defRPr>
            </a:lvl5pPr>
            <a:lvl6pPr indent="0" lvl="5" marL="25400" marR="0" algn="l">
              <a:lnSpc>
                <a:spcPct val="114166"/>
              </a:lnSpc>
              <a:spcBef>
                <a:spcPts val="0"/>
              </a:spcBef>
              <a:buNone/>
              <a:defRPr b="1" i="0" sz="600">
                <a:solidFill>
                  <a:schemeClr val="lt1"/>
                </a:solidFill>
                <a:latin typeface="Arial"/>
                <a:ea typeface="Arial"/>
                <a:cs typeface="Arial"/>
                <a:sym typeface="Arial"/>
              </a:defRPr>
            </a:lvl6pPr>
            <a:lvl7pPr indent="0" lvl="6" marL="25400" marR="0" algn="l">
              <a:lnSpc>
                <a:spcPct val="114166"/>
              </a:lnSpc>
              <a:spcBef>
                <a:spcPts val="0"/>
              </a:spcBef>
              <a:buNone/>
              <a:defRPr b="1" i="0" sz="600">
                <a:solidFill>
                  <a:schemeClr val="lt1"/>
                </a:solidFill>
                <a:latin typeface="Arial"/>
                <a:ea typeface="Arial"/>
                <a:cs typeface="Arial"/>
                <a:sym typeface="Arial"/>
              </a:defRPr>
            </a:lvl7pPr>
            <a:lvl8pPr indent="0" lvl="7" marL="25400" marR="0" algn="l">
              <a:lnSpc>
                <a:spcPct val="114166"/>
              </a:lnSpc>
              <a:spcBef>
                <a:spcPts val="0"/>
              </a:spcBef>
              <a:buNone/>
              <a:defRPr b="1" i="0" sz="600">
                <a:solidFill>
                  <a:schemeClr val="lt1"/>
                </a:solidFill>
                <a:latin typeface="Arial"/>
                <a:ea typeface="Arial"/>
                <a:cs typeface="Arial"/>
                <a:sym typeface="Arial"/>
              </a:defRPr>
            </a:lvl8pPr>
            <a:lvl9pPr indent="0" lvl="8" marL="25400" marR="0" algn="l">
              <a:lnSpc>
                <a:spcPct val="114166"/>
              </a:lnSpc>
              <a:spcBef>
                <a:spcPts val="0"/>
              </a:spcBef>
              <a:buNone/>
              <a:defRPr b="1" i="0" sz="600">
                <a:solidFill>
                  <a:schemeClr val="lt1"/>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US"/>
              <a:t>‹#›</a:t>
            </a:fld>
            <a:r>
              <a:rPr lang="en-US"/>
              <a:t>/35</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8" name="Shape 58"/>
        <p:cNvGrpSpPr/>
        <p:nvPr/>
      </p:nvGrpSpPr>
      <p:grpSpPr>
        <a:xfrm>
          <a:off x="0" y="0"/>
          <a:ext cx="0" cy="0"/>
          <a:chOff x="0" y="0"/>
          <a:chExt cx="0" cy="0"/>
        </a:xfrm>
      </p:grpSpPr>
      <p:sp>
        <p:nvSpPr>
          <p:cNvPr id="59" name="Google Shape;59;p5"/>
          <p:cNvSpPr txBox="1"/>
          <p:nvPr>
            <p:ph type="ctrTitle"/>
          </p:nvPr>
        </p:nvSpPr>
        <p:spPr>
          <a:xfrm>
            <a:off x="345757" y="1072832"/>
            <a:ext cx="3918585" cy="72675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
          <p:cNvSpPr txBox="1"/>
          <p:nvPr>
            <p:ph idx="1" type="subTitle"/>
          </p:nvPr>
        </p:nvSpPr>
        <p:spPr>
          <a:xfrm>
            <a:off x="691515" y="1938020"/>
            <a:ext cx="3227070" cy="86518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5"/>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6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5"/>
          <p:cNvSpPr txBox="1"/>
          <p:nvPr>
            <p:ph idx="10" type="dt"/>
          </p:nvPr>
        </p:nvSpPr>
        <p:spPr>
          <a:xfrm>
            <a:off x="230505" y="3218497"/>
            <a:ext cx="1060323" cy="17303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lvl1pPr indent="0" lvl="0" marL="25400" marR="0" algn="l">
              <a:lnSpc>
                <a:spcPct val="114166"/>
              </a:lnSpc>
              <a:spcBef>
                <a:spcPts val="0"/>
              </a:spcBef>
              <a:buNone/>
              <a:defRPr b="1" i="0" sz="600">
                <a:solidFill>
                  <a:schemeClr val="lt1"/>
                </a:solidFill>
                <a:latin typeface="Arial"/>
                <a:ea typeface="Arial"/>
                <a:cs typeface="Arial"/>
                <a:sym typeface="Arial"/>
              </a:defRPr>
            </a:lvl1pPr>
            <a:lvl2pPr indent="0" lvl="1" marL="25400" marR="0" algn="l">
              <a:lnSpc>
                <a:spcPct val="114166"/>
              </a:lnSpc>
              <a:spcBef>
                <a:spcPts val="0"/>
              </a:spcBef>
              <a:buNone/>
              <a:defRPr b="1" i="0" sz="600">
                <a:solidFill>
                  <a:schemeClr val="lt1"/>
                </a:solidFill>
                <a:latin typeface="Arial"/>
                <a:ea typeface="Arial"/>
                <a:cs typeface="Arial"/>
                <a:sym typeface="Arial"/>
              </a:defRPr>
            </a:lvl2pPr>
            <a:lvl3pPr indent="0" lvl="2" marL="25400" marR="0" algn="l">
              <a:lnSpc>
                <a:spcPct val="114166"/>
              </a:lnSpc>
              <a:spcBef>
                <a:spcPts val="0"/>
              </a:spcBef>
              <a:buNone/>
              <a:defRPr b="1" i="0" sz="600">
                <a:solidFill>
                  <a:schemeClr val="lt1"/>
                </a:solidFill>
                <a:latin typeface="Arial"/>
                <a:ea typeface="Arial"/>
                <a:cs typeface="Arial"/>
                <a:sym typeface="Arial"/>
              </a:defRPr>
            </a:lvl3pPr>
            <a:lvl4pPr indent="0" lvl="3" marL="25400" marR="0" algn="l">
              <a:lnSpc>
                <a:spcPct val="114166"/>
              </a:lnSpc>
              <a:spcBef>
                <a:spcPts val="0"/>
              </a:spcBef>
              <a:buNone/>
              <a:defRPr b="1" i="0" sz="600">
                <a:solidFill>
                  <a:schemeClr val="lt1"/>
                </a:solidFill>
                <a:latin typeface="Arial"/>
                <a:ea typeface="Arial"/>
                <a:cs typeface="Arial"/>
                <a:sym typeface="Arial"/>
              </a:defRPr>
            </a:lvl4pPr>
            <a:lvl5pPr indent="0" lvl="4" marL="25400" marR="0" algn="l">
              <a:lnSpc>
                <a:spcPct val="114166"/>
              </a:lnSpc>
              <a:spcBef>
                <a:spcPts val="0"/>
              </a:spcBef>
              <a:buNone/>
              <a:defRPr b="1" i="0" sz="600">
                <a:solidFill>
                  <a:schemeClr val="lt1"/>
                </a:solidFill>
                <a:latin typeface="Arial"/>
                <a:ea typeface="Arial"/>
                <a:cs typeface="Arial"/>
                <a:sym typeface="Arial"/>
              </a:defRPr>
            </a:lvl5pPr>
            <a:lvl6pPr indent="0" lvl="5" marL="25400" marR="0" algn="l">
              <a:lnSpc>
                <a:spcPct val="114166"/>
              </a:lnSpc>
              <a:spcBef>
                <a:spcPts val="0"/>
              </a:spcBef>
              <a:buNone/>
              <a:defRPr b="1" i="0" sz="600">
                <a:solidFill>
                  <a:schemeClr val="lt1"/>
                </a:solidFill>
                <a:latin typeface="Arial"/>
                <a:ea typeface="Arial"/>
                <a:cs typeface="Arial"/>
                <a:sym typeface="Arial"/>
              </a:defRPr>
            </a:lvl6pPr>
            <a:lvl7pPr indent="0" lvl="6" marL="25400" marR="0" algn="l">
              <a:lnSpc>
                <a:spcPct val="114166"/>
              </a:lnSpc>
              <a:spcBef>
                <a:spcPts val="0"/>
              </a:spcBef>
              <a:buNone/>
              <a:defRPr b="1" i="0" sz="600">
                <a:solidFill>
                  <a:schemeClr val="lt1"/>
                </a:solidFill>
                <a:latin typeface="Arial"/>
                <a:ea typeface="Arial"/>
                <a:cs typeface="Arial"/>
                <a:sym typeface="Arial"/>
              </a:defRPr>
            </a:lvl7pPr>
            <a:lvl8pPr indent="0" lvl="7" marL="25400" marR="0" algn="l">
              <a:lnSpc>
                <a:spcPct val="114166"/>
              </a:lnSpc>
              <a:spcBef>
                <a:spcPts val="0"/>
              </a:spcBef>
              <a:buNone/>
              <a:defRPr b="1" i="0" sz="600">
                <a:solidFill>
                  <a:schemeClr val="lt1"/>
                </a:solidFill>
                <a:latin typeface="Arial"/>
                <a:ea typeface="Arial"/>
                <a:cs typeface="Arial"/>
                <a:sym typeface="Arial"/>
              </a:defRPr>
            </a:lvl8pPr>
            <a:lvl9pPr indent="0" lvl="8" marL="25400" marR="0" algn="l">
              <a:lnSpc>
                <a:spcPct val="114166"/>
              </a:lnSpc>
              <a:spcBef>
                <a:spcPts val="0"/>
              </a:spcBef>
              <a:buNone/>
              <a:defRPr b="1" i="0" sz="600">
                <a:solidFill>
                  <a:schemeClr val="lt1"/>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US"/>
              <a:t>‹#›</a:t>
            </a:fld>
            <a:r>
              <a:rPr lang="en-US"/>
              <a:t>/35</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4" name="Shape 64"/>
        <p:cNvGrpSpPr/>
        <p:nvPr/>
      </p:nvGrpSpPr>
      <p:grpSpPr>
        <a:xfrm>
          <a:off x="0" y="0"/>
          <a:ext cx="0" cy="0"/>
          <a:chOff x="0" y="0"/>
          <a:chExt cx="0" cy="0"/>
        </a:xfrm>
      </p:grpSpPr>
      <p:sp>
        <p:nvSpPr>
          <p:cNvPr id="65" name="Google Shape;65;p6"/>
          <p:cNvSpPr txBox="1"/>
          <p:nvPr>
            <p:ph type="title"/>
          </p:nvPr>
        </p:nvSpPr>
        <p:spPr>
          <a:xfrm>
            <a:off x="421398" y="971750"/>
            <a:ext cx="3767302" cy="68008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6"/>
          <p:cNvSpPr txBox="1"/>
          <p:nvPr>
            <p:ph idx="1" type="body"/>
          </p:nvPr>
        </p:nvSpPr>
        <p:spPr>
          <a:xfrm>
            <a:off x="230505" y="795972"/>
            <a:ext cx="2005393" cy="228409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7" name="Google Shape;67;p6"/>
          <p:cNvSpPr txBox="1"/>
          <p:nvPr>
            <p:ph idx="2" type="body"/>
          </p:nvPr>
        </p:nvSpPr>
        <p:spPr>
          <a:xfrm>
            <a:off x="2374201" y="795972"/>
            <a:ext cx="2005393" cy="228409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8" name="Google Shape;68;p6"/>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6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
          <p:cNvSpPr txBox="1"/>
          <p:nvPr>
            <p:ph idx="10" type="dt"/>
          </p:nvPr>
        </p:nvSpPr>
        <p:spPr>
          <a:xfrm>
            <a:off x="230505" y="3218497"/>
            <a:ext cx="1060323" cy="17303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lvl1pPr indent="0" lvl="0" marL="25400" marR="0" algn="l">
              <a:lnSpc>
                <a:spcPct val="114166"/>
              </a:lnSpc>
              <a:spcBef>
                <a:spcPts val="0"/>
              </a:spcBef>
              <a:buNone/>
              <a:defRPr b="1" i="0" sz="600">
                <a:solidFill>
                  <a:schemeClr val="lt1"/>
                </a:solidFill>
                <a:latin typeface="Arial"/>
                <a:ea typeface="Arial"/>
                <a:cs typeface="Arial"/>
                <a:sym typeface="Arial"/>
              </a:defRPr>
            </a:lvl1pPr>
            <a:lvl2pPr indent="0" lvl="1" marL="25400" marR="0" algn="l">
              <a:lnSpc>
                <a:spcPct val="114166"/>
              </a:lnSpc>
              <a:spcBef>
                <a:spcPts val="0"/>
              </a:spcBef>
              <a:buNone/>
              <a:defRPr b="1" i="0" sz="600">
                <a:solidFill>
                  <a:schemeClr val="lt1"/>
                </a:solidFill>
                <a:latin typeface="Arial"/>
                <a:ea typeface="Arial"/>
                <a:cs typeface="Arial"/>
                <a:sym typeface="Arial"/>
              </a:defRPr>
            </a:lvl2pPr>
            <a:lvl3pPr indent="0" lvl="2" marL="25400" marR="0" algn="l">
              <a:lnSpc>
                <a:spcPct val="114166"/>
              </a:lnSpc>
              <a:spcBef>
                <a:spcPts val="0"/>
              </a:spcBef>
              <a:buNone/>
              <a:defRPr b="1" i="0" sz="600">
                <a:solidFill>
                  <a:schemeClr val="lt1"/>
                </a:solidFill>
                <a:latin typeface="Arial"/>
                <a:ea typeface="Arial"/>
                <a:cs typeface="Arial"/>
                <a:sym typeface="Arial"/>
              </a:defRPr>
            </a:lvl3pPr>
            <a:lvl4pPr indent="0" lvl="3" marL="25400" marR="0" algn="l">
              <a:lnSpc>
                <a:spcPct val="114166"/>
              </a:lnSpc>
              <a:spcBef>
                <a:spcPts val="0"/>
              </a:spcBef>
              <a:buNone/>
              <a:defRPr b="1" i="0" sz="600">
                <a:solidFill>
                  <a:schemeClr val="lt1"/>
                </a:solidFill>
                <a:latin typeface="Arial"/>
                <a:ea typeface="Arial"/>
                <a:cs typeface="Arial"/>
                <a:sym typeface="Arial"/>
              </a:defRPr>
            </a:lvl4pPr>
            <a:lvl5pPr indent="0" lvl="4" marL="25400" marR="0" algn="l">
              <a:lnSpc>
                <a:spcPct val="114166"/>
              </a:lnSpc>
              <a:spcBef>
                <a:spcPts val="0"/>
              </a:spcBef>
              <a:buNone/>
              <a:defRPr b="1" i="0" sz="600">
                <a:solidFill>
                  <a:schemeClr val="lt1"/>
                </a:solidFill>
                <a:latin typeface="Arial"/>
                <a:ea typeface="Arial"/>
                <a:cs typeface="Arial"/>
                <a:sym typeface="Arial"/>
              </a:defRPr>
            </a:lvl5pPr>
            <a:lvl6pPr indent="0" lvl="5" marL="25400" marR="0" algn="l">
              <a:lnSpc>
                <a:spcPct val="114166"/>
              </a:lnSpc>
              <a:spcBef>
                <a:spcPts val="0"/>
              </a:spcBef>
              <a:buNone/>
              <a:defRPr b="1" i="0" sz="600">
                <a:solidFill>
                  <a:schemeClr val="lt1"/>
                </a:solidFill>
                <a:latin typeface="Arial"/>
                <a:ea typeface="Arial"/>
                <a:cs typeface="Arial"/>
                <a:sym typeface="Arial"/>
              </a:defRPr>
            </a:lvl6pPr>
            <a:lvl7pPr indent="0" lvl="6" marL="25400" marR="0" algn="l">
              <a:lnSpc>
                <a:spcPct val="114166"/>
              </a:lnSpc>
              <a:spcBef>
                <a:spcPts val="0"/>
              </a:spcBef>
              <a:buNone/>
              <a:defRPr b="1" i="0" sz="600">
                <a:solidFill>
                  <a:schemeClr val="lt1"/>
                </a:solidFill>
                <a:latin typeface="Arial"/>
                <a:ea typeface="Arial"/>
                <a:cs typeface="Arial"/>
                <a:sym typeface="Arial"/>
              </a:defRPr>
            </a:lvl7pPr>
            <a:lvl8pPr indent="0" lvl="7" marL="25400" marR="0" algn="l">
              <a:lnSpc>
                <a:spcPct val="114166"/>
              </a:lnSpc>
              <a:spcBef>
                <a:spcPts val="0"/>
              </a:spcBef>
              <a:buNone/>
              <a:defRPr b="1" i="0" sz="600">
                <a:solidFill>
                  <a:schemeClr val="lt1"/>
                </a:solidFill>
                <a:latin typeface="Arial"/>
                <a:ea typeface="Arial"/>
                <a:cs typeface="Arial"/>
                <a:sym typeface="Arial"/>
              </a:defRPr>
            </a:lvl8pPr>
            <a:lvl9pPr indent="0" lvl="8" marL="25400" marR="0" algn="l">
              <a:lnSpc>
                <a:spcPct val="114166"/>
              </a:lnSpc>
              <a:spcBef>
                <a:spcPts val="0"/>
              </a:spcBef>
              <a:buNone/>
              <a:defRPr b="1" i="0" sz="600">
                <a:solidFill>
                  <a:schemeClr val="lt1"/>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US"/>
              <a:t>‹#›</a:t>
            </a:fld>
            <a:r>
              <a:rPr lang="en-US"/>
              <a:t>/35</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4285264" y="2898327"/>
            <a:ext cx="280579" cy="282401"/>
          </a:xfrm>
          <a:prstGeom prst="rect">
            <a:avLst/>
          </a:prstGeom>
          <a:blipFill rotWithShape="1">
            <a:blip r:embed="rId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 name="Google Shape;7;p1"/>
          <p:cNvSpPr/>
          <p:nvPr/>
        </p:nvSpPr>
        <p:spPr>
          <a:xfrm>
            <a:off x="3046680" y="3245103"/>
            <a:ext cx="43180" cy="30480"/>
          </a:xfrm>
          <a:custGeom>
            <a:rect b="b" l="l" r="r" t="t"/>
            <a:pathLst>
              <a:path extrusionOk="0" h="30479" w="43180">
                <a:moveTo>
                  <a:pt x="0" y="30366"/>
                </a:moveTo>
                <a:lnTo>
                  <a:pt x="43019" y="30366"/>
                </a:lnTo>
                <a:lnTo>
                  <a:pt x="43019" y="0"/>
                </a:lnTo>
                <a:lnTo>
                  <a:pt x="0" y="0"/>
                </a:lnTo>
                <a:lnTo>
                  <a:pt x="0" y="30366"/>
                </a:lnTo>
                <a:close/>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 name="Google Shape;8;p1"/>
          <p:cNvSpPr/>
          <p:nvPr/>
        </p:nvSpPr>
        <p:spPr>
          <a:xfrm>
            <a:off x="2967063" y="3241141"/>
            <a:ext cx="25400" cy="38100"/>
          </a:xfrm>
          <a:custGeom>
            <a:rect b="b" l="l" r="r" t="t"/>
            <a:pathLst>
              <a:path extrusionOk="0" h="38100" w="25400">
                <a:moveTo>
                  <a:pt x="25400" y="0"/>
                </a:moveTo>
                <a:lnTo>
                  <a:pt x="0" y="19050"/>
                </a:lnTo>
                <a:lnTo>
                  <a:pt x="25400" y="38100"/>
                </a:lnTo>
                <a:lnTo>
                  <a:pt x="25400" y="0"/>
                </a:lnTo>
                <a:close/>
              </a:path>
            </a:pathLst>
          </a:custGeom>
          <a:solidFill>
            <a:srgbClr val="EDD0D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 name="Google Shape;9;p1"/>
          <p:cNvSpPr/>
          <p:nvPr/>
        </p:nvSpPr>
        <p:spPr>
          <a:xfrm>
            <a:off x="3144865" y="3241141"/>
            <a:ext cx="25400" cy="38100"/>
          </a:xfrm>
          <a:custGeom>
            <a:rect b="b" l="l" r="r" t="t"/>
            <a:pathLst>
              <a:path extrusionOk="0" h="38100" w="25400">
                <a:moveTo>
                  <a:pt x="0" y="0"/>
                </a:moveTo>
                <a:lnTo>
                  <a:pt x="0" y="38100"/>
                </a:lnTo>
                <a:lnTo>
                  <a:pt x="25400" y="19050"/>
                </a:lnTo>
                <a:lnTo>
                  <a:pt x="0" y="0"/>
                </a:lnTo>
                <a:close/>
              </a:path>
            </a:pathLst>
          </a:custGeom>
          <a:solidFill>
            <a:srgbClr val="EDD0D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 name="Google Shape;10;p1"/>
          <p:cNvSpPr/>
          <p:nvPr/>
        </p:nvSpPr>
        <p:spPr>
          <a:xfrm>
            <a:off x="3305695" y="3255225"/>
            <a:ext cx="43180" cy="30480"/>
          </a:xfrm>
          <a:custGeom>
            <a:rect b="b" l="l" r="r" t="t"/>
            <a:pathLst>
              <a:path extrusionOk="0" h="30479" w="43179">
                <a:moveTo>
                  <a:pt x="0" y="30366"/>
                </a:moveTo>
                <a:lnTo>
                  <a:pt x="43019" y="30366"/>
                </a:lnTo>
                <a:lnTo>
                  <a:pt x="43019" y="0"/>
                </a:lnTo>
                <a:lnTo>
                  <a:pt x="0" y="0"/>
                </a:lnTo>
                <a:lnTo>
                  <a:pt x="0" y="30366"/>
                </a:lnTo>
                <a:close/>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 name="Google Shape;11;p1"/>
          <p:cNvSpPr/>
          <p:nvPr/>
        </p:nvSpPr>
        <p:spPr>
          <a:xfrm>
            <a:off x="3316186" y="3244951"/>
            <a:ext cx="43180" cy="30480"/>
          </a:xfrm>
          <a:custGeom>
            <a:rect b="b" l="l" r="r" t="t"/>
            <a:pathLst>
              <a:path extrusionOk="0" h="30479" w="43179">
                <a:moveTo>
                  <a:pt x="0" y="10160"/>
                </a:moveTo>
                <a:lnTo>
                  <a:pt x="0" y="0"/>
                </a:lnTo>
                <a:lnTo>
                  <a:pt x="43180" y="0"/>
                </a:lnTo>
                <a:lnTo>
                  <a:pt x="43180" y="30480"/>
                </a:lnTo>
                <a:lnTo>
                  <a:pt x="33020" y="30480"/>
                </a:lnTo>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 name="Google Shape;12;p1"/>
          <p:cNvSpPr/>
          <p:nvPr/>
        </p:nvSpPr>
        <p:spPr>
          <a:xfrm>
            <a:off x="3326347" y="3234791"/>
            <a:ext cx="43180" cy="30480"/>
          </a:xfrm>
          <a:custGeom>
            <a:rect b="b" l="l" r="r" t="t"/>
            <a:pathLst>
              <a:path extrusionOk="0" h="30479" w="43179">
                <a:moveTo>
                  <a:pt x="0" y="10160"/>
                </a:moveTo>
                <a:lnTo>
                  <a:pt x="0" y="0"/>
                </a:lnTo>
                <a:lnTo>
                  <a:pt x="43180" y="0"/>
                </a:lnTo>
                <a:lnTo>
                  <a:pt x="43180" y="30480"/>
                </a:lnTo>
                <a:lnTo>
                  <a:pt x="33020" y="30480"/>
                </a:lnTo>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
          <p:cNvSpPr/>
          <p:nvPr/>
        </p:nvSpPr>
        <p:spPr>
          <a:xfrm>
            <a:off x="3242526" y="3241141"/>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EDD0D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1"/>
          <p:cNvSpPr/>
          <p:nvPr/>
        </p:nvSpPr>
        <p:spPr>
          <a:xfrm>
            <a:off x="3606877" y="3247491"/>
            <a:ext cx="38100" cy="0"/>
          </a:xfrm>
          <a:custGeom>
            <a:rect b="b" l="l" r="r" t="t"/>
            <a:pathLst>
              <a:path extrusionOk="0" h="120000" w="38100">
                <a:moveTo>
                  <a:pt x="0" y="0"/>
                </a:moveTo>
                <a:lnTo>
                  <a:pt x="38100" y="0"/>
                </a:lnTo>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 name="Google Shape;15;p1"/>
          <p:cNvSpPr/>
          <p:nvPr/>
        </p:nvSpPr>
        <p:spPr>
          <a:xfrm>
            <a:off x="3517976" y="3241141"/>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EDD0D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1"/>
          <p:cNvSpPr/>
          <p:nvPr/>
        </p:nvSpPr>
        <p:spPr>
          <a:xfrm>
            <a:off x="3594177" y="3234791"/>
            <a:ext cx="38100" cy="0"/>
          </a:xfrm>
          <a:custGeom>
            <a:rect b="b" l="l" r="r" t="t"/>
            <a:pathLst>
              <a:path extrusionOk="0" h="120000" w="38100">
                <a:moveTo>
                  <a:pt x="0" y="0"/>
                </a:moveTo>
                <a:lnTo>
                  <a:pt x="38100" y="0"/>
                </a:lnTo>
              </a:path>
            </a:pathLst>
          </a:custGeom>
          <a:noFill/>
          <a:ln cap="flat" cmpd="sng" w="9525">
            <a:solidFill>
              <a:srgbClr val="EDD0D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 name="Google Shape;17;p1"/>
          <p:cNvSpPr/>
          <p:nvPr/>
        </p:nvSpPr>
        <p:spPr>
          <a:xfrm>
            <a:off x="3606877" y="3260191"/>
            <a:ext cx="38100" cy="0"/>
          </a:xfrm>
          <a:custGeom>
            <a:rect b="b" l="l" r="r" t="t"/>
            <a:pathLst>
              <a:path extrusionOk="0" h="120000" w="38100">
                <a:moveTo>
                  <a:pt x="0" y="0"/>
                </a:moveTo>
                <a:lnTo>
                  <a:pt x="38100" y="0"/>
                </a:lnTo>
              </a:path>
            </a:pathLst>
          </a:custGeom>
          <a:noFill/>
          <a:ln cap="flat" cmpd="sng" w="9525">
            <a:solidFill>
              <a:srgbClr val="EDD0D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 name="Google Shape;18;p1"/>
          <p:cNvSpPr/>
          <p:nvPr/>
        </p:nvSpPr>
        <p:spPr>
          <a:xfrm>
            <a:off x="3594177" y="3272891"/>
            <a:ext cx="38100" cy="0"/>
          </a:xfrm>
          <a:custGeom>
            <a:rect b="b" l="l" r="r" t="t"/>
            <a:pathLst>
              <a:path extrusionOk="0" h="120000" w="38100">
                <a:moveTo>
                  <a:pt x="0" y="0"/>
                </a:moveTo>
                <a:lnTo>
                  <a:pt x="38100" y="0"/>
                </a:lnTo>
              </a:path>
            </a:pathLst>
          </a:custGeom>
          <a:noFill/>
          <a:ln cap="flat" cmpd="sng" w="9525">
            <a:solidFill>
              <a:srgbClr val="EDD0D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 name="Google Shape;19;p1"/>
          <p:cNvSpPr/>
          <p:nvPr/>
        </p:nvSpPr>
        <p:spPr>
          <a:xfrm>
            <a:off x="3606877" y="3285591"/>
            <a:ext cx="38100" cy="0"/>
          </a:xfrm>
          <a:custGeom>
            <a:rect b="b" l="l" r="r" t="t"/>
            <a:pathLst>
              <a:path extrusionOk="0" h="120000" w="38100">
                <a:moveTo>
                  <a:pt x="0" y="0"/>
                </a:moveTo>
                <a:lnTo>
                  <a:pt x="38100" y="0"/>
                </a:lnTo>
              </a:path>
            </a:pathLst>
          </a:custGeom>
          <a:noFill/>
          <a:ln cap="flat" cmpd="sng" w="9525">
            <a:solidFill>
              <a:srgbClr val="EDD0D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3869640" y="3234791"/>
            <a:ext cx="38100" cy="0"/>
          </a:xfrm>
          <a:custGeom>
            <a:rect b="b" l="l" r="r" t="t"/>
            <a:pathLst>
              <a:path extrusionOk="0" h="120000" w="38100">
                <a:moveTo>
                  <a:pt x="0" y="0"/>
                </a:moveTo>
                <a:lnTo>
                  <a:pt x="38100" y="0"/>
                </a:lnTo>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 name="Google Shape;21;p1"/>
          <p:cNvSpPr/>
          <p:nvPr/>
        </p:nvSpPr>
        <p:spPr>
          <a:xfrm>
            <a:off x="3882340" y="3247491"/>
            <a:ext cx="38100" cy="0"/>
          </a:xfrm>
          <a:custGeom>
            <a:rect b="b" l="l" r="r" t="t"/>
            <a:pathLst>
              <a:path extrusionOk="0" h="120000" w="38100">
                <a:moveTo>
                  <a:pt x="0" y="0"/>
                </a:moveTo>
                <a:lnTo>
                  <a:pt x="38100" y="0"/>
                </a:lnTo>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1"/>
          <p:cNvSpPr/>
          <p:nvPr/>
        </p:nvSpPr>
        <p:spPr>
          <a:xfrm>
            <a:off x="3882340" y="3260191"/>
            <a:ext cx="38100" cy="0"/>
          </a:xfrm>
          <a:custGeom>
            <a:rect b="b" l="l" r="r" t="t"/>
            <a:pathLst>
              <a:path extrusionOk="0" h="120000" w="38100">
                <a:moveTo>
                  <a:pt x="0" y="0"/>
                </a:moveTo>
                <a:lnTo>
                  <a:pt x="38100" y="0"/>
                </a:lnTo>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 name="Google Shape;23;p1"/>
          <p:cNvSpPr/>
          <p:nvPr/>
        </p:nvSpPr>
        <p:spPr>
          <a:xfrm>
            <a:off x="3793439" y="3241141"/>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EDD0D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 name="Google Shape;24;p1"/>
          <p:cNvSpPr/>
          <p:nvPr/>
        </p:nvSpPr>
        <p:spPr>
          <a:xfrm>
            <a:off x="3869640" y="3272891"/>
            <a:ext cx="38100" cy="0"/>
          </a:xfrm>
          <a:custGeom>
            <a:rect b="b" l="l" r="r" t="t"/>
            <a:pathLst>
              <a:path extrusionOk="0" h="120000" w="38100">
                <a:moveTo>
                  <a:pt x="0" y="0"/>
                </a:moveTo>
                <a:lnTo>
                  <a:pt x="38100" y="0"/>
                </a:lnTo>
              </a:path>
            </a:pathLst>
          </a:custGeom>
          <a:noFill/>
          <a:ln cap="flat" cmpd="sng" w="9525">
            <a:solidFill>
              <a:srgbClr val="EDD0D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 name="Google Shape;25;p1"/>
          <p:cNvSpPr/>
          <p:nvPr/>
        </p:nvSpPr>
        <p:spPr>
          <a:xfrm>
            <a:off x="3882340" y="3285591"/>
            <a:ext cx="38100" cy="0"/>
          </a:xfrm>
          <a:custGeom>
            <a:rect b="b" l="l" r="r" t="t"/>
            <a:pathLst>
              <a:path extrusionOk="0" h="120000" w="38100">
                <a:moveTo>
                  <a:pt x="0" y="0"/>
                </a:moveTo>
                <a:lnTo>
                  <a:pt x="38100" y="0"/>
                </a:lnTo>
              </a:path>
            </a:pathLst>
          </a:custGeom>
          <a:noFill/>
          <a:ln cap="flat" cmpd="sng" w="9525">
            <a:solidFill>
              <a:srgbClr val="EDD0D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 name="Google Shape;26;p1"/>
          <p:cNvSpPr/>
          <p:nvPr/>
        </p:nvSpPr>
        <p:spPr>
          <a:xfrm>
            <a:off x="4145090" y="3234791"/>
            <a:ext cx="38100" cy="0"/>
          </a:xfrm>
          <a:custGeom>
            <a:rect b="b" l="l" r="r" t="t"/>
            <a:pathLst>
              <a:path extrusionOk="0" h="120000" w="38100">
                <a:moveTo>
                  <a:pt x="0" y="0"/>
                </a:moveTo>
                <a:lnTo>
                  <a:pt x="38100" y="0"/>
                </a:lnTo>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 name="Google Shape;27;p1"/>
          <p:cNvSpPr/>
          <p:nvPr/>
        </p:nvSpPr>
        <p:spPr>
          <a:xfrm>
            <a:off x="4157790" y="3247491"/>
            <a:ext cx="38100" cy="0"/>
          </a:xfrm>
          <a:custGeom>
            <a:rect b="b" l="l" r="r" t="t"/>
            <a:pathLst>
              <a:path extrusionOk="0" h="120000" w="38100">
                <a:moveTo>
                  <a:pt x="0" y="0"/>
                </a:moveTo>
                <a:lnTo>
                  <a:pt x="38100" y="0"/>
                </a:lnTo>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 name="Google Shape;28;p1"/>
          <p:cNvSpPr/>
          <p:nvPr/>
        </p:nvSpPr>
        <p:spPr>
          <a:xfrm>
            <a:off x="4157790" y="3260191"/>
            <a:ext cx="38100" cy="0"/>
          </a:xfrm>
          <a:custGeom>
            <a:rect b="b" l="l" r="r" t="t"/>
            <a:pathLst>
              <a:path extrusionOk="0" h="120000" w="38100">
                <a:moveTo>
                  <a:pt x="0" y="0"/>
                </a:moveTo>
                <a:lnTo>
                  <a:pt x="38100" y="0"/>
                </a:lnTo>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 name="Google Shape;29;p1"/>
          <p:cNvSpPr/>
          <p:nvPr/>
        </p:nvSpPr>
        <p:spPr>
          <a:xfrm>
            <a:off x="4145090" y="3272891"/>
            <a:ext cx="38100" cy="0"/>
          </a:xfrm>
          <a:custGeom>
            <a:rect b="b" l="l" r="r" t="t"/>
            <a:pathLst>
              <a:path extrusionOk="0" h="120000" w="38100">
                <a:moveTo>
                  <a:pt x="0" y="0"/>
                </a:moveTo>
                <a:lnTo>
                  <a:pt x="38100" y="0"/>
                </a:lnTo>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1"/>
          <p:cNvSpPr/>
          <p:nvPr/>
        </p:nvSpPr>
        <p:spPr>
          <a:xfrm>
            <a:off x="4157790" y="3285591"/>
            <a:ext cx="38100" cy="0"/>
          </a:xfrm>
          <a:custGeom>
            <a:rect b="b" l="l" r="r" t="t"/>
            <a:pathLst>
              <a:path extrusionOk="0" h="120000" w="38100">
                <a:moveTo>
                  <a:pt x="0" y="0"/>
                </a:moveTo>
                <a:lnTo>
                  <a:pt x="38100" y="0"/>
                </a:lnTo>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 name="Google Shape;31;p1"/>
          <p:cNvSpPr/>
          <p:nvPr/>
        </p:nvSpPr>
        <p:spPr>
          <a:xfrm>
            <a:off x="4451033" y="3265271"/>
            <a:ext cx="20320" cy="20320"/>
          </a:xfrm>
          <a:custGeom>
            <a:rect b="b" l="l" r="r" t="t"/>
            <a:pathLst>
              <a:path extrusionOk="0" h="20320" w="20320">
                <a:moveTo>
                  <a:pt x="0" y="0"/>
                </a:moveTo>
                <a:lnTo>
                  <a:pt x="20320" y="20320"/>
                </a:lnTo>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 name="Google Shape;32;p1"/>
          <p:cNvSpPr/>
          <p:nvPr/>
        </p:nvSpPr>
        <p:spPr>
          <a:xfrm>
            <a:off x="4423969" y="3238776"/>
            <a:ext cx="30480" cy="30480"/>
          </a:xfrm>
          <a:custGeom>
            <a:rect b="b" l="l" r="r" t="t"/>
            <a:pathLst>
              <a:path extrusionOk="0" h="30479" w="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1"/>
          <p:cNvSpPr/>
          <p:nvPr/>
        </p:nvSpPr>
        <p:spPr>
          <a:xfrm>
            <a:off x="4344352" y="3234791"/>
            <a:ext cx="50800" cy="50800"/>
          </a:xfrm>
          <a:custGeom>
            <a:rect b="b" l="l" r="r" t="t"/>
            <a:pathLst>
              <a:path extrusionOk="0" h="50800" w="50800">
                <a:moveTo>
                  <a:pt x="25400" y="50800"/>
                </a:moveTo>
                <a:lnTo>
                  <a:pt x="35160" y="48796"/>
                </a:lnTo>
                <a:lnTo>
                  <a:pt x="43248" y="43339"/>
                </a:lnTo>
                <a:lnTo>
                  <a:pt x="48762" y="35262"/>
                </a:lnTo>
                <a:lnTo>
                  <a:pt x="50800" y="25400"/>
                </a:lnTo>
                <a:lnTo>
                  <a:pt x="48796" y="15537"/>
                </a:lnTo>
                <a:lnTo>
                  <a:pt x="43339" y="7461"/>
                </a:lnTo>
                <a:lnTo>
                  <a:pt x="35262" y="2004"/>
                </a:lnTo>
                <a:lnTo>
                  <a:pt x="25400" y="0"/>
                </a:lnTo>
                <a:lnTo>
                  <a:pt x="15537" y="2004"/>
                </a:lnTo>
                <a:lnTo>
                  <a:pt x="7461" y="7461"/>
                </a:lnTo>
                <a:lnTo>
                  <a:pt x="2004" y="15537"/>
                </a:lnTo>
                <a:lnTo>
                  <a:pt x="0" y="25400"/>
                </a:lnTo>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1"/>
          <p:cNvSpPr/>
          <p:nvPr/>
        </p:nvSpPr>
        <p:spPr>
          <a:xfrm>
            <a:off x="4329112" y="3252571"/>
            <a:ext cx="30480" cy="12700"/>
          </a:xfrm>
          <a:custGeom>
            <a:rect b="b" l="l" r="r" t="t"/>
            <a:pathLst>
              <a:path extrusionOk="0" h="12700" w="30479">
                <a:moveTo>
                  <a:pt x="30480" y="0"/>
                </a:moveTo>
                <a:lnTo>
                  <a:pt x="15240" y="12699"/>
                </a:lnTo>
                <a:lnTo>
                  <a:pt x="0" y="0"/>
                </a:lnTo>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 name="Google Shape;35;p1"/>
          <p:cNvSpPr/>
          <p:nvPr/>
        </p:nvSpPr>
        <p:spPr>
          <a:xfrm>
            <a:off x="4496754" y="3234791"/>
            <a:ext cx="50800" cy="50800"/>
          </a:xfrm>
          <a:custGeom>
            <a:rect b="b" l="l" r="r" t="t"/>
            <a:pathLst>
              <a:path extrusionOk="0" h="50800" w="50800">
                <a:moveTo>
                  <a:pt x="25400" y="50800"/>
                </a:moveTo>
                <a:lnTo>
                  <a:pt x="15537" y="48796"/>
                </a:lnTo>
                <a:lnTo>
                  <a:pt x="7461" y="43339"/>
                </a:lnTo>
                <a:lnTo>
                  <a:pt x="2004" y="35262"/>
                </a:lnTo>
                <a:lnTo>
                  <a:pt x="0" y="25400"/>
                </a:lnTo>
                <a:lnTo>
                  <a:pt x="2004" y="15537"/>
                </a:lnTo>
                <a:lnTo>
                  <a:pt x="7461" y="7461"/>
                </a:lnTo>
                <a:lnTo>
                  <a:pt x="15537" y="2004"/>
                </a:lnTo>
                <a:lnTo>
                  <a:pt x="25400" y="0"/>
                </a:lnTo>
                <a:lnTo>
                  <a:pt x="35262" y="2004"/>
                </a:lnTo>
                <a:lnTo>
                  <a:pt x="43339" y="7461"/>
                </a:lnTo>
                <a:lnTo>
                  <a:pt x="48796" y="15537"/>
                </a:lnTo>
                <a:lnTo>
                  <a:pt x="50800" y="25400"/>
                </a:lnTo>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1"/>
          <p:cNvSpPr/>
          <p:nvPr/>
        </p:nvSpPr>
        <p:spPr>
          <a:xfrm>
            <a:off x="4532315" y="3252571"/>
            <a:ext cx="30480" cy="12700"/>
          </a:xfrm>
          <a:custGeom>
            <a:rect b="b" l="l" r="r" t="t"/>
            <a:pathLst>
              <a:path extrusionOk="0" h="12700" w="30479">
                <a:moveTo>
                  <a:pt x="30480" y="0"/>
                </a:moveTo>
                <a:lnTo>
                  <a:pt x="15240" y="12699"/>
                </a:lnTo>
                <a:lnTo>
                  <a:pt x="0" y="0"/>
                </a:lnTo>
              </a:path>
            </a:pathLst>
          </a:custGeom>
          <a:noFill/>
          <a:ln cap="flat" cmpd="sng" w="9525">
            <a:solidFill>
              <a:srgbClr val="DCA2A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1"/>
          <p:cNvSpPr/>
          <p:nvPr/>
        </p:nvSpPr>
        <p:spPr>
          <a:xfrm>
            <a:off x="0"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1"/>
          <p:cNvSpPr txBox="1"/>
          <p:nvPr>
            <p:ph type="title"/>
          </p:nvPr>
        </p:nvSpPr>
        <p:spPr>
          <a:xfrm>
            <a:off x="421398" y="971750"/>
            <a:ext cx="3767302" cy="68008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14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9" name="Google Shape;39;p1"/>
          <p:cNvSpPr txBox="1"/>
          <p:nvPr>
            <p:ph idx="1" type="body"/>
          </p:nvPr>
        </p:nvSpPr>
        <p:spPr>
          <a:xfrm>
            <a:off x="349059" y="1124849"/>
            <a:ext cx="3911981" cy="155384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40" name="Google Shape;40;p1"/>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600">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1"/>
          <p:cNvSpPr txBox="1"/>
          <p:nvPr>
            <p:ph idx="10" type="dt"/>
          </p:nvPr>
        </p:nvSpPr>
        <p:spPr>
          <a:xfrm>
            <a:off x="230505" y="3218497"/>
            <a:ext cx="1060323" cy="173037"/>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p1"/>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lvl1pPr indent="0" lvl="0" marL="25400" marR="0" rtl="0" algn="l">
              <a:lnSpc>
                <a:spcPct val="114166"/>
              </a:lnSpc>
              <a:spcBef>
                <a:spcPts val="0"/>
              </a:spcBef>
              <a:buNone/>
              <a:defRPr b="1" i="0" sz="600" u="none">
                <a:solidFill>
                  <a:schemeClr val="lt1"/>
                </a:solidFill>
                <a:latin typeface="Arial"/>
                <a:ea typeface="Arial"/>
                <a:cs typeface="Arial"/>
                <a:sym typeface="Arial"/>
              </a:defRPr>
            </a:lvl1pPr>
            <a:lvl2pPr indent="0" lvl="1" marL="25400" marR="0" rtl="0" algn="l">
              <a:lnSpc>
                <a:spcPct val="114166"/>
              </a:lnSpc>
              <a:spcBef>
                <a:spcPts val="0"/>
              </a:spcBef>
              <a:buNone/>
              <a:defRPr b="1" i="0" sz="600" u="none">
                <a:solidFill>
                  <a:schemeClr val="lt1"/>
                </a:solidFill>
                <a:latin typeface="Arial"/>
                <a:ea typeface="Arial"/>
                <a:cs typeface="Arial"/>
                <a:sym typeface="Arial"/>
              </a:defRPr>
            </a:lvl2pPr>
            <a:lvl3pPr indent="0" lvl="2" marL="25400" marR="0" rtl="0" algn="l">
              <a:lnSpc>
                <a:spcPct val="114166"/>
              </a:lnSpc>
              <a:spcBef>
                <a:spcPts val="0"/>
              </a:spcBef>
              <a:buNone/>
              <a:defRPr b="1" i="0" sz="600" u="none">
                <a:solidFill>
                  <a:schemeClr val="lt1"/>
                </a:solidFill>
                <a:latin typeface="Arial"/>
                <a:ea typeface="Arial"/>
                <a:cs typeface="Arial"/>
                <a:sym typeface="Arial"/>
              </a:defRPr>
            </a:lvl3pPr>
            <a:lvl4pPr indent="0" lvl="3" marL="25400" marR="0" rtl="0" algn="l">
              <a:lnSpc>
                <a:spcPct val="114166"/>
              </a:lnSpc>
              <a:spcBef>
                <a:spcPts val="0"/>
              </a:spcBef>
              <a:buNone/>
              <a:defRPr b="1" i="0" sz="600" u="none">
                <a:solidFill>
                  <a:schemeClr val="lt1"/>
                </a:solidFill>
                <a:latin typeface="Arial"/>
                <a:ea typeface="Arial"/>
                <a:cs typeface="Arial"/>
                <a:sym typeface="Arial"/>
              </a:defRPr>
            </a:lvl4pPr>
            <a:lvl5pPr indent="0" lvl="4" marL="25400" marR="0" rtl="0" algn="l">
              <a:lnSpc>
                <a:spcPct val="114166"/>
              </a:lnSpc>
              <a:spcBef>
                <a:spcPts val="0"/>
              </a:spcBef>
              <a:buNone/>
              <a:defRPr b="1" i="0" sz="600" u="none">
                <a:solidFill>
                  <a:schemeClr val="lt1"/>
                </a:solidFill>
                <a:latin typeface="Arial"/>
                <a:ea typeface="Arial"/>
                <a:cs typeface="Arial"/>
                <a:sym typeface="Arial"/>
              </a:defRPr>
            </a:lvl5pPr>
            <a:lvl6pPr indent="0" lvl="5" marL="25400" marR="0" rtl="0" algn="l">
              <a:lnSpc>
                <a:spcPct val="114166"/>
              </a:lnSpc>
              <a:spcBef>
                <a:spcPts val="0"/>
              </a:spcBef>
              <a:buNone/>
              <a:defRPr b="1" i="0" sz="600" u="none">
                <a:solidFill>
                  <a:schemeClr val="lt1"/>
                </a:solidFill>
                <a:latin typeface="Arial"/>
                <a:ea typeface="Arial"/>
                <a:cs typeface="Arial"/>
                <a:sym typeface="Arial"/>
              </a:defRPr>
            </a:lvl6pPr>
            <a:lvl7pPr indent="0" lvl="6" marL="25400" marR="0" rtl="0" algn="l">
              <a:lnSpc>
                <a:spcPct val="114166"/>
              </a:lnSpc>
              <a:spcBef>
                <a:spcPts val="0"/>
              </a:spcBef>
              <a:buNone/>
              <a:defRPr b="1" i="0" sz="600" u="none">
                <a:solidFill>
                  <a:schemeClr val="lt1"/>
                </a:solidFill>
                <a:latin typeface="Arial"/>
                <a:ea typeface="Arial"/>
                <a:cs typeface="Arial"/>
                <a:sym typeface="Arial"/>
              </a:defRPr>
            </a:lvl7pPr>
            <a:lvl8pPr indent="0" lvl="7" marL="25400" marR="0" rtl="0" algn="l">
              <a:lnSpc>
                <a:spcPct val="114166"/>
              </a:lnSpc>
              <a:spcBef>
                <a:spcPts val="0"/>
              </a:spcBef>
              <a:buNone/>
              <a:defRPr b="1" i="0" sz="600" u="none">
                <a:solidFill>
                  <a:schemeClr val="lt1"/>
                </a:solidFill>
                <a:latin typeface="Arial"/>
                <a:ea typeface="Arial"/>
                <a:cs typeface="Arial"/>
                <a:sym typeface="Arial"/>
              </a:defRPr>
            </a:lvl8pPr>
            <a:lvl9pPr indent="0" lvl="8" marL="25400" marR="0" rtl="0" algn="l">
              <a:lnSpc>
                <a:spcPct val="114166"/>
              </a:lnSpc>
              <a:spcBef>
                <a:spcPts val="0"/>
              </a:spcBef>
              <a:buNone/>
              <a:defRPr b="1" i="0" sz="600" u="none">
                <a:solidFill>
                  <a:schemeClr val="lt1"/>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US"/>
              <a:t>‹#›</a:t>
            </a:fld>
            <a:r>
              <a:rPr lang="en-US"/>
              <a:t>/35</a:t>
            </a:r>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image" Target="../media/image14.png"/><Relationship Id="rId5" Type="http://schemas.openxmlformats.org/officeDocument/2006/relationships/slide" Target="/ppt/slides/slide52.xml"/><Relationship Id="rId6" Type="http://schemas.openxmlformats.org/officeDocument/2006/relationships/image" Target="../media/image9.png"/><Relationship Id="rId7" Type="http://schemas.openxmlformats.org/officeDocument/2006/relationships/image" Target="../media/image2.png"/><Relationship Id="rId8"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13.xml"/><Relationship Id="rId11" Type="http://schemas.openxmlformats.org/officeDocument/2006/relationships/image" Target="../media/image6.png"/><Relationship Id="rId10" Type="http://schemas.openxmlformats.org/officeDocument/2006/relationships/slide" Target="/ppt/slides/slide13.xml"/><Relationship Id="rId12" Type="http://schemas.openxmlformats.org/officeDocument/2006/relationships/slide" Target="/ppt/slides/slide52.xml"/><Relationship Id="rId9" Type="http://schemas.openxmlformats.org/officeDocument/2006/relationships/image" Target="../media/image3.png"/><Relationship Id="rId5" Type="http://schemas.openxmlformats.org/officeDocument/2006/relationships/slide" Target="/ppt/slides/slide52.xml"/><Relationship Id="rId6" Type="http://schemas.openxmlformats.org/officeDocument/2006/relationships/image" Target="../media/image12.png"/><Relationship Id="rId7" Type="http://schemas.openxmlformats.org/officeDocument/2006/relationships/image" Target="../media/image11.png"/><Relationship Id="rId8" Type="http://schemas.openxmlformats.org/officeDocument/2006/relationships/slide" Target="/ppt/slid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5.png"/><Relationship Id="rId11" Type="http://schemas.openxmlformats.org/officeDocument/2006/relationships/image" Target="../media/image7.png"/><Relationship Id="rId10" Type="http://schemas.openxmlformats.org/officeDocument/2006/relationships/image" Target="../media/image17.png"/><Relationship Id="rId12" Type="http://schemas.openxmlformats.org/officeDocument/2006/relationships/image" Target="../media/image13.png"/><Relationship Id="rId9" Type="http://schemas.openxmlformats.org/officeDocument/2006/relationships/image" Target="../media/image19.png"/><Relationship Id="rId5" Type="http://schemas.openxmlformats.org/officeDocument/2006/relationships/image" Target="../media/image4.png"/><Relationship Id="rId6" Type="http://schemas.openxmlformats.org/officeDocument/2006/relationships/image" Target="../media/image10.png"/><Relationship Id="rId7" Type="http://schemas.openxmlformats.org/officeDocument/2006/relationships/image" Target="../media/image5.png"/><Relationship Id="rId8"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slide" Target="/ppt/slides/slide3.xml"/><Relationship Id="rId4" Type="http://schemas.openxmlformats.org/officeDocument/2006/relationships/slide" Target="/ppt/slides/slide13.xml"/><Relationship Id="rId5" Type="http://schemas.openxmlformats.org/officeDocument/2006/relationships/slide" Target="/ppt/slides/slide52.xml"/><Relationship Id="rId6" Type="http://schemas.openxmlformats.org/officeDocument/2006/relationships/image" Target="../media/image31.png"/><Relationship Id="rId7"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slide" Target="/ppt/slides/slide3.xml"/><Relationship Id="rId4" Type="http://schemas.openxmlformats.org/officeDocument/2006/relationships/slide" Target="/ppt/slides/slide13.xml"/><Relationship Id="rId5" Type="http://schemas.openxmlformats.org/officeDocument/2006/relationships/slide" Target="/ppt/slides/slide52.xml"/><Relationship Id="rId6"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slide" Target="/ppt/slides/slide3.xml"/><Relationship Id="rId4" Type="http://schemas.openxmlformats.org/officeDocument/2006/relationships/slide" Target="/ppt/slides/slide13.xml"/><Relationship Id="rId5" Type="http://schemas.openxmlformats.org/officeDocument/2006/relationships/slide" Target="/ppt/slides/slide52.xml"/><Relationship Id="rId6" Type="http://schemas.openxmlformats.org/officeDocument/2006/relationships/image" Target="../media/image16.png"/><Relationship Id="rId7" Type="http://schemas.openxmlformats.org/officeDocument/2006/relationships/image" Target="../media/image19.png"/><Relationship Id="rId8"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image" Target="../media/image25.png"/><Relationship Id="rId5" Type="http://schemas.openxmlformats.org/officeDocument/2006/relationships/slide" Target="/ppt/slides/slide52.xml"/><Relationship Id="rId6" Type="http://schemas.openxmlformats.org/officeDocument/2006/relationships/image" Target="../media/image20.png"/><Relationship Id="rId7" Type="http://schemas.openxmlformats.org/officeDocument/2006/relationships/image" Target="../media/image17.png"/><Relationship Id="rId8"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image" Target="../media/image17.png"/><Relationship Id="rId5" Type="http://schemas.openxmlformats.org/officeDocument/2006/relationships/slide" Target="/ppt/slides/slide52.xml"/><Relationship Id="rId6" Type="http://schemas.openxmlformats.org/officeDocument/2006/relationships/image" Target="../media/image29.png"/><Relationship Id="rId7" Type="http://schemas.openxmlformats.org/officeDocument/2006/relationships/image" Target="../media/image21.png"/><Relationship Id="rId8"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slide" Target="/ppt/slides/slide3.xml"/><Relationship Id="rId4" Type="http://schemas.openxmlformats.org/officeDocument/2006/relationships/slide" Target="/ppt/slides/slide13.xml"/><Relationship Id="rId5" Type="http://schemas.openxmlformats.org/officeDocument/2006/relationships/slide" Target="/ppt/slides/slide52.xml"/><Relationship Id="rId6" Type="http://schemas.openxmlformats.org/officeDocument/2006/relationships/image" Target="../media/image24.png"/><Relationship Id="rId7" Type="http://schemas.openxmlformats.org/officeDocument/2006/relationships/image" Target="../media/image3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slide" Target="/ppt/slides/slide3.xml"/><Relationship Id="rId4" Type="http://schemas.openxmlformats.org/officeDocument/2006/relationships/slide" Target="/ppt/slides/slide13.xml"/><Relationship Id="rId5" Type="http://schemas.openxmlformats.org/officeDocument/2006/relationships/slide" Target="/ppt/slides/slide52.xml"/><Relationship Id="rId6" Type="http://schemas.openxmlformats.org/officeDocument/2006/relationships/image" Target="../media/image24.png"/><Relationship Id="rId7" Type="http://schemas.openxmlformats.org/officeDocument/2006/relationships/image" Target="../media/image2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slide" Target="/ppt/slides/slide3.xml"/><Relationship Id="rId4" Type="http://schemas.openxmlformats.org/officeDocument/2006/relationships/slide" Target="/ppt/slides/slide13.xml"/><Relationship Id="rId5" Type="http://schemas.openxmlformats.org/officeDocument/2006/relationships/slide" Target="/ppt/slides/slide52.xml"/><Relationship Id="rId6" Type="http://schemas.openxmlformats.org/officeDocument/2006/relationships/image" Target="../media/image24.png"/><Relationship Id="rId7" Type="http://schemas.openxmlformats.org/officeDocument/2006/relationships/image" Target="../media/image33.jpg"/></Relationships>
</file>

<file path=ppt/slides/_rels/slide13.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24.png"/><Relationship Id="rId13" Type="http://schemas.openxmlformats.org/officeDocument/2006/relationships/image" Target="../media/image28.png"/><Relationship Id="rId12" Type="http://schemas.openxmlformats.org/officeDocument/2006/relationships/image" Target="../media/image15.png"/><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15" Type="http://schemas.openxmlformats.org/officeDocument/2006/relationships/slide" Target="/ppt/slides/slide1.xml"/><Relationship Id="rId14" Type="http://schemas.openxmlformats.org/officeDocument/2006/relationships/image" Target="../media/image43.png"/><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14.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23.png"/><Relationship Id="rId13" Type="http://schemas.openxmlformats.org/officeDocument/2006/relationships/image" Target="../media/image35.png"/><Relationship Id="rId12" Type="http://schemas.openxmlformats.org/officeDocument/2006/relationships/image" Target="../media/image2.png"/><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15" Type="http://schemas.openxmlformats.org/officeDocument/2006/relationships/slide" Target="/ppt/slides/slide1.xml"/><Relationship Id="rId14" Type="http://schemas.openxmlformats.org/officeDocument/2006/relationships/image" Target="../media/image30.png"/><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15.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32.png"/><Relationship Id="rId13" Type="http://schemas.openxmlformats.org/officeDocument/2006/relationships/image" Target="../media/image28.png"/><Relationship Id="rId12" Type="http://schemas.openxmlformats.org/officeDocument/2006/relationships/image" Target="../media/image49.png"/><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15" Type="http://schemas.openxmlformats.org/officeDocument/2006/relationships/slide" Target="/ppt/slides/slide1.xml"/><Relationship Id="rId14" Type="http://schemas.openxmlformats.org/officeDocument/2006/relationships/image" Target="../media/image38.png"/><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16.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36.png"/><Relationship Id="rId13" Type="http://schemas.openxmlformats.org/officeDocument/2006/relationships/image" Target="../media/image40.png"/><Relationship Id="rId12" Type="http://schemas.openxmlformats.org/officeDocument/2006/relationships/image" Target="../media/image15.png"/><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15" Type="http://schemas.openxmlformats.org/officeDocument/2006/relationships/slide" Target="/ppt/slides/slide1.xml"/><Relationship Id="rId14" Type="http://schemas.openxmlformats.org/officeDocument/2006/relationships/image" Target="../media/image37.png"/><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17.xml.rels><?xml version="1.0" encoding="UTF-8" standalone="yes"?><Relationships xmlns="http://schemas.openxmlformats.org/package/2006/relationships"><Relationship Id="rId11" Type="http://schemas.openxmlformats.org/officeDocument/2006/relationships/image" Target="../media/image48.png"/><Relationship Id="rId10" Type="http://schemas.openxmlformats.org/officeDocument/2006/relationships/image" Target="../media/image47.png"/><Relationship Id="rId13" Type="http://schemas.openxmlformats.org/officeDocument/2006/relationships/image" Target="../media/image51.png"/><Relationship Id="rId12" Type="http://schemas.openxmlformats.org/officeDocument/2006/relationships/image" Target="../media/image50.png"/><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15" Type="http://schemas.openxmlformats.org/officeDocument/2006/relationships/image" Target="../media/image19.png"/><Relationship Id="rId14" Type="http://schemas.openxmlformats.org/officeDocument/2006/relationships/image" Target="../media/image46.png"/><Relationship Id="rId16" Type="http://schemas.openxmlformats.org/officeDocument/2006/relationships/slide" Target="/ppt/slides/slide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18.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39.png"/><Relationship Id="rId13" Type="http://schemas.openxmlformats.org/officeDocument/2006/relationships/image" Target="../media/image41.png"/><Relationship Id="rId12" Type="http://schemas.openxmlformats.org/officeDocument/2006/relationships/image" Target="../media/image5.png"/><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15" Type="http://schemas.openxmlformats.org/officeDocument/2006/relationships/slide" Target="/ppt/slides/slide1.xml"/><Relationship Id="rId14" Type="http://schemas.openxmlformats.org/officeDocument/2006/relationships/image" Target="../media/image53.png"/><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19.xml.rels><?xml version="1.0" encoding="UTF-8" standalone="yes"?><Relationships xmlns="http://schemas.openxmlformats.org/package/2006/relationships"><Relationship Id="rId11" Type="http://schemas.openxmlformats.org/officeDocument/2006/relationships/image" Target="../media/image45.jpg"/><Relationship Id="rId10" Type="http://schemas.openxmlformats.org/officeDocument/2006/relationships/image" Target="../media/image5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20.xml.rels><?xml version="1.0" encoding="UTF-8" standalone="yes"?><Relationships xmlns="http://schemas.openxmlformats.org/package/2006/relationships"><Relationship Id="rId11" Type="http://schemas.openxmlformats.org/officeDocument/2006/relationships/image" Target="../media/image44.png"/><Relationship Id="rId10" Type="http://schemas.openxmlformats.org/officeDocument/2006/relationships/image" Target="../media/image42.png"/><Relationship Id="rId13" Type="http://schemas.openxmlformats.org/officeDocument/2006/relationships/slide" Target="/ppt/slides/slide1.xml"/><Relationship Id="rId12" Type="http://schemas.openxmlformats.org/officeDocument/2006/relationships/image" Target="../media/image19.png"/><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21.xml.rels><?xml version="1.0" encoding="UTF-8" standalone="yes"?><Relationships xmlns="http://schemas.openxmlformats.org/package/2006/relationships"><Relationship Id="rId11" Type="http://schemas.openxmlformats.org/officeDocument/2006/relationships/image" Target="../media/image17.pn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22.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23.xml.rels><?xml version="1.0" encoding="UTF-8" standalone="yes"?><Relationships xmlns="http://schemas.openxmlformats.org/package/2006/relationships"><Relationship Id="rId11" Type="http://schemas.openxmlformats.org/officeDocument/2006/relationships/image" Target="../media/image15.png"/><Relationship Id="rId10" Type="http://schemas.openxmlformats.org/officeDocument/2006/relationships/image" Target="../media/image42.png"/><Relationship Id="rId13" Type="http://schemas.openxmlformats.org/officeDocument/2006/relationships/image" Target="../media/image4.png"/><Relationship Id="rId12" Type="http://schemas.openxmlformats.org/officeDocument/2006/relationships/image" Target="../media/image58.png"/><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15" Type="http://schemas.openxmlformats.org/officeDocument/2006/relationships/image" Target="../media/image17.png"/><Relationship Id="rId14" Type="http://schemas.openxmlformats.org/officeDocument/2006/relationships/image" Target="../media/image57.png"/><Relationship Id="rId17" Type="http://schemas.openxmlformats.org/officeDocument/2006/relationships/slide" Target="/ppt/slides/slide1.xml"/><Relationship Id="rId16" Type="http://schemas.openxmlformats.org/officeDocument/2006/relationships/image" Target="../media/image19.png"/><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24.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59.png"/><Relationship Id="rId13" Type="http://schemas.openxmlformats.org/officeDocument/2006/relationships/image" Target="../media/image63.png"/><Relationship Id="rId12" Type="http://schemas.openxmlformats.org/officeDocument/2006/relationships/image" Target="../media/image58.png"/><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15" Type="http://schemas.openxmlformats.org/officeDocument/2006/relationships/image" Target="../media/image19.png"/><Relationship Id="rId14" Type="http://schemas.openxmlformats.org/officeDocument/2006/relationships/image" Target="../media/image61.png"/><Relationship Id="rId17" Type="http://schemas.openxmlformats.org/officeDocument/2006/relationships/image" Target="../media/image21.png"/><Relationship Id="rId16" Type="http://schemas.openxmlformats.org/officeDocument/2006/relationships/image" Target="../media/image73.png"/><Relationship Id="rId5" Type="http://schemas.openxmlformats.org/officeDocument/2006/relationships/slide" Target="/ppt/slides/slide52.xml"/><Relationship Id="rId6" Type="http://schemas.openxmlformats.org/officeDocument/2006/relationships/slide" Target="/ppt/slides/slide17.xml"/><Relationship Id="rId18" Type="http://schemas.openxmlformats.org/officeDocument/2006/relationships/slide" Target="/ppt/slides/slide1.xml"/><Relationship Id="rId7" Type="http://schemas.openxmlformats.org/officeDocument/2006/relationships/slide" Target="/ppt/slides/slide18.xml"/><Relationship Id="rId8" Type="http://schemas.openxmlformats.org/officeDocument/2006/relationships/slide" Target="/ppt/slides/slide23.xml"/></Relationships>
</file>

<file path=ppt/slides/_rels/slide25.xml.rels><?xml version="1.0" encoding="UTF-8" standalone="yes"?><Relationships xmlns="http://schemas.openxmlformats.org/package/2006/relationships"><Relationship Id="rId11" Type="http://schemas.openxmlformats.org/officeDocument/2006/relationships/image" Target="../media/image60.jpg"/><Relationship Id="rId10" Type="http://schemas.openxmlformats.org/officeDocument/2006/relationships/image" Target="../media/image6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26.xml.rels><?xml version="1.0" encoding="UTF-8" standalone="yes"?><Relationships xmlns="http://schemas.openxmlformats.org/package/2006/relationships"><Relationship Id="rId11" Type="http://schemas.openxmlformats.org/officeDocument/2006/relationships/image" Target="../media/image55.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27.xml.rels><?xml version="1.0" encoding="UTF-8" standalone="yes"?><Relationships xmlns="http://schemas.openxmlformats.org/package/2006/relationships"><Relationship Id="rId11" Type="http://schemas.openxmlformats.org/officeDocument/2006/relationships/image" Target="../media/image54.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28.xml.rels><?xml version="1.0" encoding="UTF-8" standalone="yes"?><Relationships xmlns="http://schemas.openxmlformats.org/package/2006/relationships"><Relationship Id="rId11" Type="http://schemas.openxmlformats.org/officeDocument/2006/relationships/image" Target="../media/image64.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29.xml.rels><?xml version="1.0" encoding="UTF-8" standalone="yes"?><Relationships xmlns="http://schemas.openxmlformats.org/package/2006/relationships"><Relationship Id="rId11" Type="http://schemas.openxmlformats.org/officeDocument/2006/relationships/image" Target="../media/image56.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30.xml.rels><?xml version="1.0" encoding="UTF-8" standalone="yes"?><Relationships xmlns="http://schemas.openxmlformats.org/package/2006/relationships"><Relationship Id="rId11" Type="http://schemas.openxmlformats.org/officeDocument/2006/relationships/image" Target="../media/image68.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31.xml.rels><?xml version="1.0" encoding="UTF-8" standalone="yes"?><Relationships xmlns="http://schemas.openxmlformats.org/package/2006/relationships"><Relationship Id="rId11" Type="http://schemas.openxmlformats.org/officeDocument/2006/relationships/image" Target="../media/image75.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32.xml.rels><?xml version="1.0" encoding="UTF-8" standalone="yes"?><Relationships xmlns="http://schemas.openxmlformats.org/package/2006/relationships"><Relationship Id="rId11" Type="http://schemas.openxmlformats.org/officeDocument/2006/relationships/image" Target="../media/image66.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33.xml.rels><?xml version="1.0" encoding="UTF-8" standalone="yes"?><Relationships xmlns="http://schemas.openxmlformats.org/package/2006/relationships"><Relationship Id="rId11" Type="http://schemas.openxmlformats.org/officeDocument/2006/relationships/image" Target="../media/image95.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34.xml.rels><?xml version="1.0" encoding="UTF-8" standalone="yes"?><Relationships xmlns="http://schemas.openxmlformats.org/package/2006/relationships"><Relationship Id="rId11" Type="http://schemas.openxmlformats.org/officeDocument/2006/relationships/image" Target="../media/image72.jpg"/><Relationship Id="rId10" Type="http://schemas.openxmlformats.org/officeDocument/2006/relationships/image" Target="../media/image70.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35.xml.rels><?xml version="1.0" encoding="UTF-8" standalone="yes"?><Relationships xmlns="http://schemas.openxmlformats.org/package/2006/relationships"><Relationship Id="rId11" Type="http://schemas.openxmlformats.org/officeDocument/2006/relationships/image" Target="../media/image65.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36.xml.rels><?xml version="1.0" encoding="UTF-8" standalone="yes"?><Relationships xmlns="http://schemas.openxmlformats.org/package/2006/relationships"><Relationship Id="rId11" Type="http://schemas.openxmlformats.org/officeDocument/2006/relationships/image" Target="../media/image67.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37.xml.rels><?xml version="1.0" encoding="UTF-8" standalone="yes"?><Relationships xmlns="http://schemas.openxmlformats.org/package/2006/relationships"><Relationship Id="rId11" Type="http://schemas.openxmlformats.org/officeDocument/2006/relationships/image" Target="../media/image77.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38.xml.rels><?xml version="1.0" encoding="UTF-8" standalone="yes"?><Relationships xmlns="http://schemas.openxmlformats.org/package/2006/relationships"><Relationship Id="rId11" Type="http://schemas.openxmlformats.org/officeDocument/2006/relationships/image" Target="../media/image69.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39.xml.rels><?xml version="1.0" encoding="UTF-8" standalone="yes"?><Relationships xmlns="http://schemas.openxmlformats.org/package/2006/relationships"><Relationship Id="rId11" Type="http://schemas.openxmlformats.org/officeDocument/2006/relationships/image" Target="../media/image74.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40.xml.rels><?xml version="1.0" encoding="UTF-8" standalone="yes"?><Relationships xmlns="http://schemas.openxmlformats.org/package/2006/relationships"><Relationship Id="rId11" Type="http://schemas.openxmlformats.org/officeDocument/2006/relationships/image" Target="../media/image82.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41.xml.rels><?xml version="1.0" encoding="UTF-8" standalone="yes"?><Relationships xmlns="http://schemas.openxmlformats.org/package/2006/relationships"><Relationship Id="rId11" Type="http://schemas.openxmlformats.org/officeDocument/2006/relationships/image" Target="../media/image79.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42.xml.rels><?xml version="1.0" encoding="UTF-8" standalone="yes"?><Relationships xmlns="http://schemas.openxmlformats.org/package/2006/relationships"><Relationship Id="rId11" Type="http://schemas.openxmlformats.org/officeDocument/2006/relationships/image" Target="../media/image78.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43.xml.rels><?xml version="1.0" encoding="UTF-8" standalone="yes"?><Relationships xmlns="http://schemas.openxmlformats.org/package/2006/relationships"><Relationship Id="rId11" Type="http://schemas.openxmlformats.org/officeDocument/2006/relationships/image" Target="../media/image102.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44.xml.rels><?xml version="1.0" encoding="UTF-8" standalone="yes"?><Relationships xmlns="http://schemas.openxmlformats.org/package/2006/relationships"><Relationship Id="rId11" Type="http://schemas.openxmlformats.org/officeDocument/2006/relationships/image" Target="../media/image71.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45.xml.rels><?xml version="1.0" encoding="UTF-8" standalone="yes"?><Relationships xmlns="http://schemas.openxmlformats.org/package/2006/relationships"><Relationship Id="rId11" Type="http://schemas.openxmlformats.org/officeDocument/2006/relationships/image" Target="../media/image76.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46.xml.rels><?xml version="1.0" encoding="UTF-8" standalone="yes"?><Relationships xmlns="http://schemas.openxmlformats.org/package/2006/relationships"><Relationship Id="rId11" Type="http://schemas.openxmlformats.org/officeDocument/2006/relationships/image" Target="../media/image80.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47.xml.rels><?xml version="1.0" encoding="UTF-8" standalone="yes"?><Relationships xmlns="http://schemas.openxmlformats.org/package/2006/relationships"><Relationship Id="rId11" Type="http://schemas.openxmlformats.org/officeDocument/2006/relationships/image" Target="../media/image92.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48.xml.rels><?xml version="1.0" encoding="UTF-8" standalone="yes"?><Relationships xmlns="http://schemas.openxmlformats.org/package/2006/relationships"><Relationship Id="rId11" Type="http://schemas.openxmlformats.org/officeDocument/2006/relationships/image" Target="../media/image97.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49.xml.rels><?xml version="1.0" encoding="UTF-8" standalone="yes"?><Relationships xmlns="http://schemas.openxmlformats.org/package/2006/relationships"><Relationship Id="rId11" Type="http://schemas.openxmlformats.org/officeDocument/2006/relationships/image" Target="../media/image81.jpg"/><Relationship Id="rId10" Type="http://schemas.openxmlformats.org/officeDocument/2006/relationships/image" Target="../media/image42.png"/><Relationship Id="rId12"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50.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42.png"/><Relationship Id="rId13" Type="http://schemas.openxmlformats.org/officeDocument/2006/relationships/image" Target="../media/image4.png"/><Relationship Id="rId12" Type="http://schemas.openxmlformats.org/officeDocument/2006/relationships/image" Target="../media/image58.png"/><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15" Type="http://schemas.openxmlformats.org/officeDocument/2006/relationships/image" Target="../media/image19.png"/><Relationship Id="rId14" Type="http://schemas.openxmlformats.org/officeDocument/2006/relationships/image" Target="../media/image85.png"/><Relationship Id="rId16" Type="http://schemas.openxmlformats.org/officeDocument/2006/relationships/slide" Target="/ppt/slides/slide1.xml"/><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51.xml.rels><?xml version="1.0" encoding="UTF-8" standalone="yes"?><Relationships xmlns="http://schemas.openxmlformats.org/package/2006/relationships"><Relationship Id="rId11" Type="http://schemas.openxmlformats.org/officeDocument/2006/relationships/image" Target="../media/image87.png"/><Relationship Id="rId10" Type="http://schemas.openxmlformats.org/officeDocument/2006/relationships/image" Target="../media/image89.png"/><Relationship Id="rId13" Type="http://schemas.openxmlformats.org/officeDocument/2006/relationships/image" Target="../media/image4.png"/><Relationship Id="rId12" Type="http://schemas.openxmlformats.org/officeDocument/2006/relationships/image" Target="../media/image84.png"/><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51.xml"/><Relationship Id="rId15" Type="http://schemas.openxmlformats.org/officeDocument/2006/relationships/image" Target="../media/image19.png"/><Relationship Id="rId14" Type="http://schemas.openxmlformats.org/officeDocument/2006/relationships/image" Target="../media/image93.png"/><Relationship Id="rId17" Type="http://schemas.openxmlformats.org/officeDocument/2006/relationships/slide" Target="/ppt/slides/slide1.xml"/><Relationship Id="rId16" Type="http://schemas.openxmlformats.org/officeDocument/2006/relationships/image" Target="../media/image88.png"/><Relationship Id="rId5" Type="http://schemas.openxmlformats.org/officeDocument/2006/relationships/slide" Target="/ppt/slides/slide52.xml"/><Relationship Id="rId6" Type="http://schemas.openxmlformats.org/officeDocument/2006/relationships/slide" Target="/ppt/slides/slide17.xml"/><Relationship Id="rId7" Type="http://schemas.openxmlformats.org/officeDocument/2006/relationships/slide" Target="/ppt/slides/slide18.xml"/><Relationship Id="rId8" Type="http://schemas.openxmlformats.org/officeDocument/2006/relationships/slide" Target="/ppt/slides/slide23.xml"/></Relationships>
</file>

<file path=ppt/slides/_rels/slide52.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86.png"/><Relationship Id="rId13" Type="http://schemas.openxmlformats.org/officeDocument/2006/relationships/image" Target="../media/image15.png"/><Relationship Id="rId12" Type="http://schemas.openxmlformats.org/officeDocument/2006/relationships/image" Target="../media/image83.png"/><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image" Target="../media/image99.png"/><Relationship Id="rId15" Type="http://schemas.openxmlformats.org/officeDocument/2006/relationships/image" Target="../media/image19.png"/><Relationship Id="rId14" Type="http://schemas.openxmlformats.org/officeDocument/2006/relationships/image" Target="../media/image94.png"/><Relationship Id="rId17" Type="http://schemas.openxmlformats.org/officeDocument/2006/relationships/slide" Target="/ppt/slides/slide1.xml"/><Relationship Id="rId16" Type="http://schemas.openxmlformats.org/officeDocument/2006/relationships/image" Target="../media/image17.png"/><Relationship Id="rId5" Type="http://schemas.openxmlformats.org/officeDocument/2006/relationships/slide" Target="/ppt/slides/slide52.xml"/><Relationship Id="rId6" Type="http://schemas.openxmlformats.org/officeDocument/2006/relationships/slide" Target="/ppt/slides/slide52.xml"/><Relationship Id="rId7" Type="http://schemas.openxmlformats.org/officeDocument/2006/relationships/slide" Target="/ppt/slides/slide54.xml"/><Relationship Id="rId8" Type="http://schemas.openxmlformats.org/officeDocument/2006/relationships/slide" Target="/ppt/slides/slide55.xml"/></Relationships>
</file>

<file path=ppt/slides/_rels/slide53.xml.rels><?xml version="1.0" encoding="UTF-8" standalone="yes"?><Relationships xmlns="http://schemas.openxmlformats.org/package/2006/relationships"><Relationship Id="rId10" Type="http://schemas.openxmlformats.org/officeDocument/2006/relationships/slide" Target="/ppt/slides/slide1.xml"/><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image" Target="../media/image107.png"/><Relationship Id="rId5" Type="http://schemas.openxmlformats.org/officeDocument/2006/relationships/slide" Target="/ppt/slides/slide52.xml"/><Relationship Id="rId6" Type="http://schemas.openxmlformats.org/officeDocument/2006/relationships/slide" Target="/ppt/slides/slide52.xml"/><Relationship Id="rId7" Type="http://schemas.openxmlformats.org/officeDocument/2006/relationships/slide" Target="/ppt/slides/slide54.xml"/><Relationship Id="rId8" Type="http://schemas.openxmlformats.org/officeDocument/2006/relationships/slide" Target="/ppt/slides/slide55.xml"/></Relationships>
</file>

<file path=ppt/slides/_rels/slide54.xml.rels><?xml version="1.0" encoding="UTF-8" standalone="yes"?><Relationships xmlns="http://schemas.openxmlformats.org/package/2006/relationships"><Relationship Id="rId20" Type="http://schemas.openxmlformats.org/officeDocument/2006/relationships/slide" Target="/ppt/slides/slide1.xml"/><Relationship Id="rId11" Type="http://schemas.openxmlformats.org/officeDocument/2006/relationships/slide" Target="/ppt/slides/slide60.xml"/><Relationship Id="rId10" Type="http://schemas.openxmlformats.org/officeDocument/2006/relationships/slide" Target="/ppt/slides/slide59.xml"/><Relationship Id="rId13" Type="http://schemas.openxmlformats.org/officeDocument/2006/relationships/slide" Target="/ppt/slides/slide59.xml"/><Relationship Id="rId12" Type="http://schemas.openxmlformats.org/officeDocument/2006/relationships/slide" Target="/ppt/slides/slide59.xml"/><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image" Target="../media/image24.png"/><Relationship Id="rId15" Type="http://schemas.openxmlformats.org/officeDocument/2006/relationships/slide" Target="/ppt/slides/slide60.xml"/><Relationship Id="rId14" Type="http://schemas.openxmlformats.org/officeDocument/2006/relationships/slide" Target="/ppt/slides/slide60.xml"/><Relationship Id="rId17" Type="http://schemas.openxmlformats.org/officeDocument/2006/relationships/slide" Target="/ppt/slides/slide59.xml"/><Relationship Id="rId16" Type="http://schemas.openxmlformats.org/officeDocument/2006/relationships/slide" Target="/ppt/slides/slide60.xml"/><Relationship Id="rId5" Type="http://schemas.openxmlformats.org/officeDocument/2006/relationships/slide" Target="/ppt/slides/slide52.xml"/><Relationship Id="rId19" Type="http://schemas.openxmlformats.org/officeDocument/2006/relationships/slide" Target="/ppt/slides/slide61.xml"/><Relationship Id="rId6" Type="http://schemas.openxmlformats.org/officeDocument/2006/relationships/slide" Target="/ppt/slides/slide52.xml"/><Relationship Id="rId18" Type="http://schemas.openxmlformats.org/officeDocument/2006/relationships/slide" Target="/ppt/slides/slide61.xml"/><Relationship Id="rId7" Type="http://schemas.openxmlformats.org/officeDocument/2006/relationships/slide" Target="/ppt/slides/slide54.xml"/><Relationship Id="rId8" Type="http://schemas.openxmlformats.org/officeDocument/2006/relationships/slide" Target="/ppt/slides/slide55.xml"/></Relationships>
</file>

<file path=ppt/slides/_rels/slide55.xml.rels><?xml version="1.0" encoding="UTF-8" standalone="yes"?><Relationships xmlns="http://schemas.openxmlformats.org/package/2006/relationships"><Relationship Id="rId20" Type="http://schemas.openxmlformats.org/officeDocument/2006/relationships/slide" Target="/ppt/slides/slide1.xml"/><Relationship Id="rId11" Type="http://schemas.openxmlformats.org/officeDocument/2006/relationships/slide" Target="/ppt/slides/slide60.xml"/><Relationship Id="rId10" Type="http://schemas.openxmlformats.org/officeDocument/2006/relationships/slide" Target="/ppt/slides/slide59.xml"/><Relationship Id="rId13" Type="http://schemas.openxmlformats.org/officeDocument/2006/relationships/slide" Target="/ppt/slides/slide59.xml"/><Relationship Id="rId12" Type="http://schemas.openxmlformats.org/officeDocument/2006/relationships/slide" Target="/ppt/slides/slide59.xml"/><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image" Target="../media/image24.png"/><Relationship Id="rId15" Type="http://schemas.openxmlformats.org/officeDocument/2006/relationships/slide" Target="/ppt/slides/slide60.xml"/><Relationship Id="rId14" Type="http://schemas.openxmlformats.org/officeDocument/2006/relationships/slide" Target="/ppt/slides/slide60.xml"/><Relationship Id="rId17" Type="http://schemas.openxmlformats.org/officeDocument/2006/relationships/slide" Target="/ppt/slides/slide59.xml"/><Relationship Id="rId16" Type="http://schemas.openxmlformats.org/officeDocument/2006/relationships/slide" Target="/ppt/slides/slide60.xml"/><Relationship Id="rId5" Type="http://schemas.openxmlformats.org/officeDocument/2006/relationships/slide" Target="/ppt/slides/slide52.xml"/><Relationship Id="rId19" Type="http://schemas.openxmlformats.org/officeDocument/2006/relationships/slide" Target="/ppt/slides/slide61.xml"/><Relationship Id="rId6" Type="http://schemas.openxmlformats.org/officeDocument/2006/relationships/slide" Target="/ppt/slides/slide52.xml"/><Relationship Id="rId18" Type="http://schemas.openxmlformats.org/officeDocument/2006/relationships/slide" Target="/ppt/slides/slide61.xml"/><Relationship Id="rId7" Type="http://schemas.openxmlformats.org/officeDocument/2006/relationships/slide" Target="/ppt/slides/slide54.xml"/><Relationship Id="rId8" Type="http://schemas.openxmlformats.org/officeDocument/2006/relationships/slide" Target="/ppt/slides/slide55.xml"/></Relationships>
</file>

<file path=ppt/slides/_rels/slide56.xml.rels><?xml version="1.0" encoding="UTF-8" standalone="yes"?><Relationships xmlns="http://schemas.openxmlformats.org/package/2006/relationships"><Relationship Id="rId11" Type="http://schemas.openxmlformats.org/officeDocument/2006/relationships/slide" Target="/ppt/slides/slide1.xml"/><Relationship Id="rId10" Type="http://schemas.openxmlformats.org/officeDocument/2006/relationships/image" Target="../media/image101.png"/><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image" Target="../media/image96.png"/><Relationship Id="rId5" Type="http://schemas.openxmlformats.org/officeDocument/2006/relationships/slide" Target="/ppt/slides/slide52.xml"/><Relationship Id="rId6" Type="http://schemas.openxmlformats.org/officeDocument/2006/relationships/image" Target="../media/image91.png"/><Relationship Id="rId7" Type="http://schemas.openxmlformats.org/officeDocument/2006/relationships/image" Target="../media/image90.png"/><Relationship Id="rId8" Type="http://schemas.openxmlformats.org/officeDocument/2006/relationships/image" Target="../media/image100.png"/></Relationships>
</file>

<file path=ppt/slides/_rels/slide57.xml.rels><?xml version="1.0" encoding="UTF-8" standalone="yes"?><Relationships xmlns="http://schemas.openxmlformats.org/package/2006/relationships"><Relationship Id="rId11" Type="http://schemas.openxmlformats.org/officeDocument/2006/relationships/slide" Target="/ppt/slides/slide1.xml"/><Relationship Id="rId10" Type="http://schemas.openxmlformats.org/officeDocument/2006/relationships/image" Target="../media/image103.png"/><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image" Target="../media/image98.png"/><Relationship Id="rId5" Type="http://schemas.openxmlformats.org/officeDocument/2006/relationships/slide" Target="/ppt/slides/slide52.xml"/><Relationship Id="rId6" Type="http://schemas.openxmlformats.org/officeDocument/2006/relationships/image" Target="../media/image91.png"/><Relationship Id="rId7" Type="http://schemas.openxmlformats.org/officeDocument/2006/relationships/image" Target="../media/image109.png"/><Relationship Id="rId8" Type="http://schemas.openxmlformats.org/officeDocument/2006/relationships/image" Target="../media/image96.png"/></Relationships>
</file>

<file path=ppt/slides/_rels/slide58.xml.rels><?xml version="1.0" encoding="UTF-8" standalone="yes"?><Relationships xmlns="http://schemas.openxmlformats.org/package/2006/relationships"><Relationship Id="rId10" Type="http://schemas.openxmlformats.org/officeDocument/2006/relationships/slide" Target="/ppt/slides/slide1.xml"/><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image" Target="../media/image101.png"/><Relationship Id="rId5" Type="http://schemas.openxmlformats.org/officeDocument/2006/relationships/slide" Target="/ppt/slides/slide52.xml"/><Relationship Id="rId6" Type="http://schemas.openxmlformats.org/officeDocument/2006/relationships/image" Target="../media/image91.png"/><Relationship Id="rId7" Type="http://schemas.openxmlformats.org/officeDocument/2006/relationships/image" Target="../media/image105.png"/><Relationship Id="rId8" Type="http://schemas.openxmlformats.org/officeDocument/2006/relationships/image" Target="../media/image104.png"/></Relationships>
</file>

<file path=ppt/slides/_rels/slide59.xml.rels><?xml version="1.0" encoding="UTF-8" standalone="yes"?><Relationships xmlns="http://schemas.openxmlformats.org/package/2006/relationships"><Relationship Id="rId11" Type="http://schemas.openxmlformats.org/officeDocument/2006/relationships/slide" Target="/ppt/slides/slide1.xml"/><Relationship Id="rId10" Type="http://schemas.openxmlformats.org/officeDocument/2006/relationships/image" Target="../media/image96.png"/><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image" Target="../media/image101.png"/><Relationship Id="rId5" Type="http://schemas.openxmlformats.org/officeDocument/2006/relationships/slide" Target="/ppt/slides/slide52.xml"/><Relationship Id="rId6" Type="http://schemas.openxmlformats.org/officeDocument/2006/relationships/image" Target="../media/image91.png"/><Relationship Id="rId7" Type="http://schemas.openxmlformats.org/officeDocument/2006/relationships/image" Target="../media/image108.png"/><Relationship Id="rId8" Type="http://schemas.openxmlformats.org/officeDocument/2006/relationships/image" Target="../media/image11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1.xml"/><Relationship Id="rId5" Type="http://schemas.openxmlformats.org/officeDocument/2006/relationships/slide" Target="/ppt/slides/slide52.xml"/><Relationship Id="rId6" Type="http://schemas.openxmlformats.org/officeDocument/2006/relationships/image" Target="../media/image91.png"/><Relationship Id="rId7" Type="http://schemas.openxmlformats.org/officeDocument/2006/relationships/image" Target="../media/image108.png"/><Relationship Id="rId8" Type="http://schemas.openxmlformats.org/officeDocument/2006/relationships/image" Target="../media/image10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slide" Target="/ppt/slides/slide3.xml"/><Relationship Id="rId4" Type="http://schemas.openxmlformats.org/officeDocument/2006/relationships/slide" Target="/ppt/slides/slide13.xml"/><Relationship Id="rId9" Type="http://schemas.openxmlformats.org/officeDocument/2006/relationships/slide" Target="/ppt/slides/slide1.xml"/><Relationship Id="rId5" Type="http://schemas.openxmlformats.org/officeDocument/2006/relationships/slide" Target="/ppt/slides/slide52.xml"/><Relationship Id="rId6" Type="http://schemas.openxmlformats.org/officeDocument/2006/relationships/image" Target="../media/image91.png"/><Relationship Id="rId7" Type="http://schemas.openxmlformats.org/officeDocument/2006/relationships/image" Target="../media/image108.png"/><Relationship Id="rId8" Type="http://schemas.openxmlformats.org/officeDocument/2006/relationships/image" Target="../media/image9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slide" Target="/ppt/slides/slide3.xml"/><Relationship Id="rId4" Type="http://schemas.openxmlformats.org/officeDocument/2006/relationships/slide" Target="/ppt/slides/slide13.xml"/><Relationship Id="rId5" Type="http://schemas.openxmlformats.org/officeDocument/2006/relationships/slide" Target="/ppt/slides/slide52.xml"/><Relationship Id="rId6" Type="http://schemas.openxmlformats.org/officeDocument/2006/relationships/image" Target="../media/image106.png"/><Relationship Id="rId7" Type="http://schemas.openxmlformats.org/officeDocument/2006/relationships/slide" Target="/ppt/slides/slide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7"/>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76" name="Google Shape;76;p7"/>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 name="Google Shape;77;p7"/>
          <p:cNvSpPr/>
          <p:nvPr/>
        </p:nvSpPr>
        <p:spPr>
          <a:xfrm>
            <a:off x="0" y="400215"/>
            <a:ext cx="4608004" cy="50609"/>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7"/>
          <p:cNvSpPr/>
          <p:nvPr/>
        </p:nvSpPr>
        <p:spPr>
          <a:xfrm>
            <a:off x="309193" y="919962"/>
            <a:ext cx="3989704" cy="82550"/>
          </a:xfrm>
          <a:custGeom>
            <a:rect b="b" l="l" r="r" t="t"/>
            <a:pathLst>
              <a:path extrusionOk="0" h="82550" w="3989704">
                <a:moveTo>
                  <a:pt x="3938852" y="0"/>
                </a:moveTo>
                <a:lnTo>
                  <a:pt x="50800" y="0"/>
                </a:lnTo>
                <a:lnTo>
                  <a:pt x="31075" y="4008"/>
                </a:lnTo>
                <a:lnTo>
                  <a:pt x="14922" y="14922"/>
                </a:lnTo>
                <a:lnTo>
                  <a:pt x="4008" y="31075"/>
                </a:lnTo>
                <a:lnTo>
                  <a:pt x="0" y="50800"/>
                </a:lnTo>
                <a:lnTo>
                  <a:pt x="0" y="82384"/>
                </a:lnTo>
                <a:lnTo>
                  <a:pt x="3989652" y="82384"/>
                </a:lnTo>
                <a:lnTo>
                  <a:pt x="3989652" y="50800"/>
                </a:lnTo>
                <a:lnTo>
                  <a:pt x="3985644" y="31075"/>
                </a:lnTo>
                <a:lnTo>
                  <a:pt x="3974729" y="14922"/>
                </a:lnTo>
                <a:lnTo>
                  <a:pt x="3958576" y="4008"/>
                </a:lnTo>
                <a:lnTo>
                  <a:pt x="3938852" y="0"/>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7"/>
          <p:cNvSpPr/>
          <p:nvPr/>
        </p:nvSpPr>
        <p:spPr>
          <a:xfrm>
            <a:off x="359994" y="1655114"/>
            <a:ext cx="101600" cy="1016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7"/>
          <p:cNvSpPr/>
          <p:nvPr/>
        </p:nvSpPr>
        <p:spPr>
          <a:xfrm>
            <a:off x="410794" y="1642414"/>
            <a:ext cx="3938802" cy="114300"/>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 name="Google Shape;81;p7"/>
          <p:cNvSpPr/>
          <p:nvPr/>
        </p:nvSpPr>
        <p:spPr>
          <a:xfrm>
            <a:off x="4298846" y="970533"/>
            <a:ext cx="50751" cy="684580"/>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7"/>
          <p:cNvSpPr/>
          <p:nvPr/>
        </p:nvSpPr>
        <p:spPr>
          <a:xfrm>
            <a:off x="309193" y="964388"/>
            <a:ext cx="3989704" cy="741680"/>
          </a:xfrm>
          <a:custGeom>
            <a:rect b="b" l="l" r="r" t="t"/>
            <a:pathLst>
              <a:path extrusionOk="0" h="741680" w="3989704">
                <a:moveTo>
                  <a:pt x="3989652" y="0"/>
                </a:moveTo>
                <a:lnTo>
                  <a:pt x="0" y="0"/>
                </a:lnTo>
                <a:lnTo>
                  <a:pt x="0" y="690726"/>
                </a:lnTo>
                <a:lnTo>
                  <a:pt x="4008" y="710451"/>
                </a:lnTo>
                <a:lnTo>
                  <a:pt x="14922" y="726604"/>
                </a:lnTo>
                <a:lnTo>
                  <a:pt x="31075" y="737518"/>
                </a:lnTo>
                <a:lnTo>
                  <a:pt x="50800" y="741527"/>
                </a:lnTo>
                <a:lnTo>
                  <a:pt x="3938852" y="741527"/>
                </a:lnTo>
                <a:lnTo>
                  <a:pt x="3958576" y="737518"/>
                </a:lnTo>
                <a:lnTo>
                  <a:pt x="3974729" y="726604"/>
                </a:lnTo>
                <a:lnTo>
                  <a:pt x="3985644" y="710451"/>
                </a:lnTo>
                <a:lnTo>
                  <a:pt x="3989652" y="690726"/>
                </a:lnTo>
                <a:lnTo>
                  <a:pt x="3989652" y="0"/>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 name="Google Shape;83;p7"/>
          <p:cNvSpPr/>
          <p:nvPr/>
        </p:nvSpPr>
        <p:spPr>
          <a:xfrm>
            <a:off x="4298846" y="1008625"/>
            <a:ext cx="0" cy="666115"/>
          </a:xfrm>
          <a:custGeom>
            <a:rect b="b" l="l" r="r" t="t"/>
            <a:pathLst>
              <a:path extrusionOk="0" h="666114" w="120000">
                <a:moveTo>
                  <a:pt x="0" y="665539"/>
                </a:moveTo>
                <a:lnTo>
                  <a:pt x="0" y="0"/>
                </a:lnTo>
              </a:path>
            </a:pathLst>
          </a:custGeom>
          <a:noFill/>
          <a:ln cap="flat" cmpd="sng" w="9525">
            <a:solidFill>
              <a:srgbClr val="7F7F7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7"/>
          <p:cNvSpPr/>
          <p:nvPr/>
        </p:nvSpPr>
        <p:spPr>
          <a:xfrm>
            <a:off x="4298846" y="995925"/>
            <a:ext cx="0" cy="12700"/>
          </a:xfrm>
          <a:custGeom>
            <a:rect b="b" l="l" r="r" t="t"/>
            <a:pathLst>
              <a:path extrusionOk="0" h="12700" w="120000">
                <a:moveTo>
                  <a:pt x="0" y="12700"/>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7"/>
          <p:cNvSpPr/>
          <p:nvPr/>
        </p:nvSpPr>
        <p:spPr>
          <a:xfrm>
            <a:off x="4298846" y="983225"/>
            <a:ext cx="0" cy="12700"/>
          </a:xfrm>
          <a:custGeom>
            <a:rect b="b" l="l" r="r" t="t"/>
            <a:pathLst>
              <a:path extrusionOk="0" h="12700" w="120000">
                <a:moveTo>
                  <a:pt x="0" y="12699"/>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7"/>
          <p:cNvSpPr/>
          <p:nvPr/>
        </p:nvSpPr>
        <p:spPr>
          <a:xfrm>
            <a:off x="4298846" y="970525"/>
            <a:ext cx="0" cy="12700"/>
          </a:xfrm>
          <a:custGeom>
            <a:rect b="b" l="l" r="r" t="t"/>
            <a:pathLst>
              <a:path extrusionOk="0" h="12700" w="120000">
                <a:moveTo>
                  <a:pt x="0" y="12699"/>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7"/>
          <p:cNvSpPr txBox="1"/>
          <p:nvPr>
            <p:ph type="title"/>
          </p:nvPr>
        </p:nvSpPr>
        <p:spPr>
          <a:xfrm>
            <a:off x="421398" y="971750"/>
            <a:ext cx="3767302" cy="644728"/>
          </a:xfrm>
          <a:prstGeom prst="rect">
            <a:avLst/>
          </a:prstGeom>
          <a:noFill/>
          <a:ln>
            <a:noFill/>
          </a:ln>
        </p:spPr>
        <p:txBody>
          <a:bodyPr anchorCtr="0" anchor="t" bIns="0" lIns="0" spcFirstLastPara="1" rIns="0" wrap="square" tIns="2525">
            <a:spAutoFit/>
          </a:bodyPr>
          <a:lstStyle/>
          <a:p>
            <a:pPr indent="0" lvl="0" marL="9525" marR="5080" rtl="0" algn="ctr">
              <a:lnSpc>
                <a:spcPct val="106700"/>
              </a:lnSpc>
              <a:spcBef>
                <a:spcPts val="0"/>
              </a:spcBef>
              <a:spcAft>
                <a:spcPts val="0"/>
              </a:spcAft>
              <a:buNone/>
            </a:pPr>
            <a:r>
              <a:rPr lang="en-US"/>
              <a:t>Concolic Testing: A modern software testing  technique</a:t>
            </a:r>
            <a:br>
              <a:rPr lang="en-US"/>
            </a:br>
            <a:endParaRPr sz="1100">
              <a:latin typeface="Arial"/>
              <a:ea typeface="Arial"/>
              <a:cs typeface="Arial"/>
              <a:sym typeface="Arial"/>
            </a:endParaRPr>
          </a:p>
        </p:txBody>
      </p:sp>
      <p:sp>
        <p:nvSpPr>
          <p:cNvPr id="88" name="Google Shape;88;p7"/>
          <p:cNvSpPr txBox="1"/>
          <p:nvPr/>
        </p:nvSpPr>
        <p:spPr>
          <a:xfrm>
            <a:off x="1348739" y="1915997"/>
            <a:ext cx="1911985" cy="663002"/>
          </a:xfrm>
          <a:prstGeom prst="rect">
            <a:avLst/>
          </a:prstGeom>
          <a:noFill/>
          <a:ln>
            <a:noFill/>
          </a:ln>
        </p:spPr>
        <p:txBody>
          <a:bodyPr anchorCtr="0" anchor="t" bIns="0" lIns="0" spcFirstLastPara="1" rIns="0" wrap="square" tIns="11425">
            <a:spAutoFit/>
          </a:bodyPr>
          <a:lstStyle/>
          <a:p>
            <a:pPr indent="0" lvl="0" marL="0" marR="0" rtl="0" algn="ctr">
              <a:lnSpc>
                <a:spcPct val="100000"/>
              </a:lnSpc>
              <a:spcBef>
                <a:spcPts val="0"/>
              </a:spcBef>
              <a:spcAft>
                <a:spcPts val="0"/>
              </a:spcAft>
              <a:buNone/>
            </a:pPr>
            <a:r>
              <a:rPr b="1" lang="en-US" sz="1100">
                <a:solidFill>
                  <a:schemeClr val="dk1"/>
                </a:solidFill>
                <a:latin typeface="Arial"/>
                <a:ea typeface="Arial"/>
                <a:cs typeface="Arial"/>
                <a:sym typeface="Arial"/>
              </a:rPr>
              <a:t>Dr. Durga Prasad Mohapatra</a:t>
            </a:r>
            <a:endParaRPr b="1" sz="1100">
              <a:solidFill>
                <a:schemeClr val="dk1"/>
              </a:solidFill>
              <a:latin typeface="Arial"/>
              <a:ea typeface="Arial"/>
              <a:cs typeface="Arial"/>
              <a:sym typeface="Arial"/>
            </a:endParaRPr>
          </a:p>
          <a:p>
            <a:pPr indent="0" lvl="0" marL="0" marR="0" rtl="0" algn="ctr">
              <a:lnSpc>
                <a:spcPct val="100000"/>
              </a:lnSpc>
              <a:spcBef>
                <a:spcPts val="90"/>
              </a:spcBef>
              <a:spcAft>
                <a:spcPts val="0"/>
              </a:spcAft>
              <a:buNone/>
            </a:pPr>
            <a:r>
              <a:rPr b="1" lang="en-US" sz="1100">
                <a:solidFill>
                  <a:schemeClr val="dk1"/>
                </a:solidFill>
                <a:latin typeface="Arial"/>
                <a:ea typeface="Arial"/>
                <a:cs typeface="Arial"/>
                <a:sym typeface="Arial"/>
              </a:rPr>
              <a:t>Professor</a:t>
            </a:r>
            <a:endParaRPr sz="1250">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800">
                <a:solidFill>
                  <a:schemeClr val="dk1"/>
                </a:solidFill>
                <a:latin typeface="Arial"/>
                <a:ea typeface="Arial"/>
                <a:cs typeface="Arial"/>
                <a:sym typeface="Arial"/>
              </a:rPr>
              <a:t>Department of CSE, NIT Rourkela</a:t>
            </a:r>
            <a:endParaRPr sz="800">
              <a:solidFill>
                <a:schemeClr val="dk1"/>
              </a:solidFill>
              <a:latin typeface="Arial"/>
              <a:ea typeface="Arial"/>
              <a:cs typeface="Arial"/>
              <a:sym typeface="Arial"/>
            </a:endParaRPr>
          </a:p>
          <a:p>
            <a:pPr indent="0" lvl="0" marL="0" marR="0" rtl="0" algn="l">
              <a:lnSpc>
                <a:spcPct val="100000"/>
              </a:lnSpc>
              <a:spcBef>
                <a:spcPts val="25"/>
              </a:spcBef>
              <a:spcAft>
                <a:spcPts val="0"/>
              </a:spcAft>
              <a:buNone/>
            </a:pPr>
            <a:r>
              <a:t/>
            </a:r>
            <a:endParaRPr sz="1150">
              <a:solidFill>
                <a:schemeClr val="dk1"/>
              </a:solidFill>
              <a:latin typeface="Times New Roman"/>
              <a:ea typeface="Times New Roman"/>
              <a:cs typeface="Times New Roman"/>
              <a:sym typeface="Times New Roman"/>
            </a:endParaRPr>
          </a:p>
        </p:txBody>
      </p:sp>
      <p:sp>
        <p:nvSpPr>
          <p:cNvPr id="89" name="Google Shape;89;p7"/>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7"/>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7"/>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7"/>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fld id="{00000000-1234-1234-1234-123412341234}" type="slidenum">
              <a:rPr lang="en-US"/>
              <a:t>‹#›</a:t>
            </a:fld>
            <a:r>
              <a:rPr lang="en-US"/>
              <a:t>/35</a:t>
            </a:r>
            <a:endParaRPr/>
          </a:p>
        </p:txBody>
      </p:sp>
      <p:sp>
        <p:nvSpPr>
          <p:cNvPr id="93" name="Google Shape;93;p7"/>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94" name="Google Shape;94;p7"/>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8"/>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100" name="Google Shape;100;p8"/>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8"/>
          <p:cNvSpPr/>
          <p:nvPr/>
        </p:nvSpPr>
        <p:spPr>
          <a:xfrm>
            <a:off x="0" y="400210"/>
            <a:ext cx="4608004" cy="308729"/>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8"/>
          <p:cNvSpPr txBox="1"/>
          <p:nvPr>
            <p:ph type="title"/>
          </p:nvPr>
        </p:nvSpPr>
        <p:spPr>
          <a:xfrm>
            <a:off x="0" y="465957"/>
            <a:ext cx="4608195" cy="162560"/>
          </a:xfrm>
          <a:prstGeom prst="rect">
            <a:avLst/>
          </a:prstGeom>
          <a:noFill/>
          <a:ln>
            <a:noFill/>
          </a:ln>
        </p:spPr>
        <p:txBody>
          <a:bodyPr anchorCtr="0" anchor="t" bIns="0" lIns="0" spcFirstLastPara="1" rIns="0" wrap="square" tIns="12050">
            <a:spAutoFit/>
          </a:bodyPr>
          <a:lstStyle/>
          <a:p>
            <a:pPr indent="0" lvl="0" marL="167005" rtl="0" algn="l">
              <a:lnSpc>
                <a:spcPct val="100000"/>
              </a:lnSpc>
              <a:spcBef>
                <a:spcPts val="0"/>
              </a:spcBef>
              <a:spcAft>
                <a:spcPts val="0"/>
              </a:spcAft>
              <a:buNone/>
            </a:pPr>
            <a:r>
              <a:rPr b="0" lang="en-US" sz="900">
                <a:latin typeface="Arial"/>
                <a:ea typeface="Arial"/>
                <a:cs typeface="Arial"/>
                <a:sym typeface="Arial"/>
              </a:rPr>
              <a:t>Seminar Outline</a:t>
            </a:r>
            <a:endParaRPr sz="900">
              <a:latin typeface="Arial"/>
              <a:ea typeface="Arial"/>
              <a:cs typeface="Arial"/>
              <a:sym typeface="Arial"/>
            </a:endParaRPr>
          </a:p>
        </p:txBody>
      </p:sp>
      <p:sp>
        <p:nvSpPr>
          <p:cNvPr id="103" name="Google Shape;103;p8"/>
          <p:cNvSpPr/>
          <p:nvPr/>
        </p:nvSpPr>
        <p:spPr>
          <a:xfrm>
            <a:off x="265125" y="1349070"/>
            <a:ext cx="160096" cy="160096"/>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8"/>
          <p:cNvSpPr txBox="1"/>
          <p:nvPr/>
        </p:nvSpPr>
        <p:spPr>
          <a:xfrm>
            <a:off x="304634" y="1358301"/>
            <a:ext cx="742315"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baseline="30000" lang="en-US" sz="1200">
                <a:solidFill>
                  <a:srgbClr val="F6E7E7"/>
                </a:solidFill>
                <a:latin typeface="Arial"/>
                <a:ea typeface="Arial"/>
                <a:cs typeface="Arial"/>
                <a:sym typeface="Arial"/>
              </a:rPr>
              <a:t>1 </a:t>
            </a:r>
            <a:r>
              <a:rPr lang="en-US" sz="800" u="sng">
                <a:solidFill>
                  <a:schemeClr val="hlink"/>
                </a:solidFill>
                <a:latin typeface="Arial"/>
                <a:ea typeface="Arial"/>
                <a:cs typeface="Arial"/>
                <a:sym typeface="Arial"/>
                <a:hlinkClick action="ppaction://hlinksldjump" r:id="rId8"/>
              </a:rPr>
              <a:t>Introduction</a:t>
            </a:r>
            <a:endParaRPr sz="800">
              <a:solidFill>
                <a:schemeClr val="dk1"/>
              </a:solidFill>
              <a:latin typeface="Arial"/>
              <a:ea typeface="Arial"/>
              <a:cs typeface="Arial"/>
              <a:sym typeface="Arial"/>
            </a:endParaRPr>
          </a:p>
        </p:txBody>
      </p:sp>
      <p:sp>
        <p:nvSpPr>
          <p:cNvPr id="105" name="Google Shape;105;p8"/>
          <p:cNvSpPr/>
          <p:nvPr/>
        </p:nvSpPr>
        <p:spPr>
          <a:xfrm>
            <a:off x="265125" y="1813039"/>
            <a:ext cx="160096" cy="160096"/>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8"/>
          <p:cNvSpPr txBox="1"/>
          <p:nvPr/>
        </p:nvSpPr>
        <p:spPr>
          <a:xfrm>
            <a:off x="304634" y="1814320"/>
            <a:ext cx="81280"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800">
                <a:solidFill>
                  <a:srgbClr val="F6E7E7"/>
                </a:solidFill>
                <a:latin typeface="Arial"/>
                <a:ea typeface="Arial"/>
                <a:cs typeface="Arial"/>
                <a:sym typeface="Arial"/>
              </a:rPr>
              <a:t>2</a:t>
            </a:r>
            <a:endParaRPr sz="800">
              <a:solidFill>
                <a:schemeClr val="dk1"/>
              </a:solidFill>
              <a:latin typeface="Arial"/>
              <a:ea typeface="Arial"/>
              <a:cs typeface="Arial"/>
              <a:sym typeface="Arial"/>
            </a:endParaRPr>
          </a:p>
        </p:txBody>
      </p:sp>
      <p:sp>
        <p:nvSpPr>
          <p:cNvPr id="107" name="Google Shape;107;p8"/>
          <p:cNvSpPr txBox="1"/>
          <p:nvPr/>
        </p:nvSpPr>
        <p:spPr>
          <a:xfrm>
            <a:off x="471017" y="1822271"/>
            <a:ext cx="869315"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800" u="sng">
                <a:solidFill>
                  <a:schemeClr val="hlink"/>
                </a:solidFill>
                <a:latin typeface="Arial"/>
                <a:ea typeface="Arial"/>
                <a:cs typeface="Arial"/>
                <a:sym typeface="Arial"/>
                <a:hlinkClick action="ppaction://hlinksldjump" r:id="rId10"/>
              </a:rPr>
              <a:t>Fundamental Ideas</a:t>
            </a:r>
            <a:endParaRPr sz="800">
              <a:solidFill>
                <a:schemeClr val="dk1"/>
              </a:solidFill>
              <a:latin typeface="Arial"/>
              <a:ea typeface="Arial"/>
              <a:cs typeface="Arial"/>
              <a:sym typeface="Arial"/>
            </a:endParaRPr>
          </a:p>
        </p:txBody>
      </p:sp>
      <p:sp>
        <p:nvSpPr>
          <p:cNvPr id="108" name="Google Shape;108;p8"/>
          <p:cNvSpPr/>
          <p:nvPr/>
        </p:nvSpPr>
        <p:spPr>
          <a:xfrm>
            <a:off x="265125" y="2277008"/>
            <a:ext cx="160096" cy="160096"/>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8"/>
          <p:cNvSpPr txBox="1"/>
          <p:nvPr/>
        </p:nvSpPr>
        <p:spPr>
          <a:xfrm>
            <a:off x="304634" y="2286240"/>
            <a:ext cx="1273810"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baseline="30000" lang="en-US" sz="1200">
                <a:solidFill>
                  <a:srgbClr val="F6E7E7"/>
                </a:solidFill>
                <a:latin typeface="Arial"/>
                <a:ea typeface="Arial"/>
                <a:cs typeface="Arial"/>
                <a:sym typeface="Arial"/>
              </a:rPr>
              <a:t>3 </a:t>
            </a:r>
            <a:r>
              <a:rPr lang="en-US" sz="800" u="sng">
                <a:solidFill>
                  <a:schemeClr val="hlink"/>
                </a:solidFill>
                <a:latin typeface="Arial"/>
                <a:ea typeface="Arial"/>
                <a:cs typeface="Arial"/>
                <a:sym typeface="Arial"/>
                <a:hlinkClick action="ppaction://hlinksldjump" r:id="rId12"/>
              </a:rPr>
              <a:t>Survey of Related works</a:t>
            </a:r>
            <a:endParaRPr sz="800">
              <a:solidFill>
                <a:schemeClr val="dk1"/>
              </a:solidFill>
              <a:latin typeface="Arial"/>
              <a:ea typeface="Arial"/>
              <a:cs typeface="Arial"/>
              <a:sym typeface="Arial"/>
            </a:endParaRPr>
          </a:p>
        </p:txBody>
      </p:sp>
      <p:sp>
        <p:nvSpPr>
          <p:cNvPr id="110" name="Google Shape;110;p8"/>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8"/>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8"/>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8"/>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fld id="{00000000-1234-1234-1234-123412341234}" type="slidenum">
              <a:rPr lang="en-US"/>
              <a:t>‹#›</a:t>
            </a:fld>
            <a:r>
              <a:rPr lang="en-US"/>
              <a:t>/35</a:t>
            </a:r>
            <a:endParaRPr/>
          </a:p>
        </p:txBody>
      </p:sp>
      <p:sp>
        <p:nvSpPr>
          <p:cNvPr id="114" name="Google Shape;114;p8"/>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115" name="Google Shape;115;p8"/>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9"/>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9"/>
          <p:cNvSpPr/>
          <p:nvPr/>
        </p:nvSpPr>
        <p:spPr>
          <a:xfrm>
            <a:off x="0" y="400210"/>
            <a:ext cx="4608004" cy="308729"/>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9"/>
          <p:cNvSpPr txBox="1"/>
          <p:nvPr>
            <p:ph type="title"/>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rtl="0" algn="l">
              <a:lnSpc>
                <a:spcPct val="100000"/>
              </a:lnSpc>
              <a:spcBef>
                <a:spcPts val="0"/>
              </a:spcBef>
              <a:spcAft>
                <a:spcPts val="0"/>
              </a:spcAft>
              <a:buNone/>
            </a:pPr>
            <a:r>
              <a:rPr b="0" lang="en-US">
                <a:latin typeface="Tahoma"/>
                <a:ea typeface="Tahoma"/>
                <a:cs typeface="Tahoma"/>
                <a:sym typeface="Tahoma"/>
              </a:rPr>
              <a:t>Introduction</a:t>
            </a:r>
            <a:endParaRPr/>
          </a:p>
        </p:txBody>
      </p:sp>
      <p:sp>
        <p:nvSpPr>
          <p:cNvPr id="123" name="Google Shape;123;p9"/>
          <p:cNvSpPr/>
          <p:nvPr/>
        </p:nvSpPr>
        <p:spPr>
          <a:xfrm>
            <a:off x="309193" y="918323"/>
            <a:ext cx="3989704" cy="82550"/>
          </a:xfrm>
          <a:custGeom>
            <a:rect b="b" l="l" r="r" t="t"/>
            <a:pathLst>
              <a:path extrusionOk="0" h="82550" w="3989704">
                <a:moveTo>
                  <a:pt x="3938852" y="0"/>
                </a:moveTo>
                <a:lnTo>
                  <a:pt x="50800" y="0"/>
                </a:lnTo>
                <a:lnTo>
                  <a:pt x="31075" y="4008"/>
                </a:lnTo>
                <a:lnTo>
                  <a:pt x="14922" y="14922"/>
                </a:lnTo>
                <a:lnTo>
                  <a:pt x="4008" y="31075"/>
                </a:lnTo>
                <a:lnTo>
                  <a:pt x="0" y="50800"/>
                </a:lnTo>
                <a:lnTo>
                  <a:pt x="0" y="82384"/>
                </a:lnTo>
                <a:lnTo>
                  <a:pt x="3989652" y="82384"/>
                </a:lnTo>
                <a:lnTo>
                  <a:pt x="3989652" y="50800"/>
                </a:lnTo>
                <a:lnTo>
                  <a:pt x="3985644" y="31075"/>
                </a:lnTo>
                <a:lnTo>
                  <a:pt x="3974729" y="14922"/>
                </a:lnTo>
                <a:lnTo>
                  <a:pt x="3958576" y="4008"/>
                </a:lnTo>
                <a:lnTo>
                  <a:pt x="39388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9"/>
          <p:cNvSpPr/>
          <p:nvPr/>
        </p:nvSpPr>
        <p:spPr>
          <a:xfrm>
            <a:off x="359994" y="1104836"/>
            <a:ext cx="101600" cy="1016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9"/>
          <p:cNvSpPr/>
          <p:nvPr/>
        </p:nvSpPr>
        <p:spPr>
          <a:xfrm>
            <a:off x="410794" y="1092136"/>
            <a:ext cx="3938802" cy="1143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9"/>
          <p:cNvSpPr/>
          <p:nvPr/>
        </p:nvSpPr>
        <p:spPr>
          <a:xfrm>
            <a:off x="4298846" y="968883"/>
            <a:ext cx="50751" cy="135953"/>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9"/>
          <p:cNvSpPr/>
          <p:nvPr/>
        </p:nvSpPr>
        <p:spPr>
          <a:xfrm>
            <a:off x="309193" y="962751"/>
            <a:ext cx="3989704" cy="193040"/>
          </a:xfrm>
          <a:custGeom>
            <a:rect b="b" l="l" r="r" t="t"/>
            <a:pathLst>
              <a:path extrusionOk="0" h="193040" w="3989704">
                <a:moveTo>
                  <a:pt x="3989652" y="0"/>
                </a:moveTo>
                <a:lnTo>
                  <a:pt x="0" y="0"/>
                </a:lnTo>
                <a:lnTo>
                  <a:pt x="0" y="142084"/>
                </a:lnTo>
                <a:lnTo>
                  <a:pt x="4008" y="161809"/>
                </a:lnTo>
                <a:lnTo>
                  <a:pt x="14922" y="177962"/>
                </a:lnTo>
                <a:lnTo>
                  <a:pt x="31075" y="188876"/>
                </a:lnTo>
                <a:lnTo>
                  <a:pt x="50800" y="192885"/>
                </a:lnTo>
                <a:lnTo>
                  <a:pt x="3938852" y="192885"/>
                </a:lnTo>
                <a:lnTo>
                  <a:pt x="3958576" y="188876"/>
                </a:lnTo>
                <a:lnTo>
                  <a:pt x="3974729" y="177962"/>
                </a:lnTo>
                <a:lnTo>
                  <a:pt x="3985644" y="161809"/>
                </a:lnTo>
                <a:lnTo>
                  <a:pt x="3989652" y="142084"/>
                </a:lnTo>
                <a:lnTo>
                  <a:pt x="39896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9"/>
          <p:cNvSpPr/>
          <p:nvPr/>
        </p:nvSpPr>
        <p:spPr>
          <a:xfrm>
            <a:off x="4298846" y="1006989"/>
            <a:ext cx="0" cy="117475"/>
          </a:xfrm>
          <a:custGeom>
            <a:rect b="b" l="l" r="r" t="t"/>
            <a:pathLst>
              <a:path extrusionOk="0" h="117475" w="120000">
                <a:moveTo>
                  <a:pt x="0" y="116897"/>
                </a:moveTo>
                <a:lnTo>
                  <a:pt x="0" y="0"/>
                </a:lnTo>
              </a:path>
            </a:pathLst>
          </a:custGeom>
          <a:noFill/>
          <a:ln cap="flat" cmpd="sng" w="9525">
            <a:solidFill>
              <a:srgbClr val="7F7F7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9"/>
          <p:cNvSpPr/>
          <p:nvPr/>
        </p:nvSpPr>
        <p:spPr>
          <a:xfrm>
            <a:off x="4298846" y="994289"/>
            <a:ext cx="0" cy="12700"/>
          </a:xfrm>
          <a:custGeom>
            <a:rect b="b" l="l" r="r" t="t"/>
            <a:pathLst>
              <a:path extrusionOk="0" h="12700" w="120000">
                <a:moveTo>
                  <a:pt x="0" y="12700"/>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9"/>
          <p:cNvSpPr/>
          <p:nvPr/>
        </p:nvSpPr>
        <p:spPr>
          <a:xfrm>
            <a:off x="4298846" y="981589"/>
            <a:ext cx="0" cy="12700"/>
          </a:xfrm>
          <a:custGeom>
            <a:rect b="b" l="l" r="r" t="t"/>
            <a:pathLst>
              <a:path extrusionOk="0" h="12700" w="120000">
                <a:moveTo>
                  <a:pt x="0" y="12700"/>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9"/>
          <p:cNvSpPr/>
          <p:nvPr/>
        </p:nvSpPr>
        <p:spPr>
          <a:xfrm>
            <a:off x="4298846" y="968889"/>
            <a:ext cx="0" cy="12700"/>
          </a:xfrm>
          <a:custGeom>
            <a:rect b="b" l="l" r="r" t="t"/>
            <a:pathLst>
              <a:path extrusionOk="0" h="12700" w="120000">
                <a:moveTo>
                  <a:pt x="0" y="12700"/>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9"/>
          <p:cNvSpPr/>
          <p:nvPr/>
        </p:nvSpPr>
        <p:spPr>
          <a:xfrm>
            <a:off x="309193" y="1307553"/>
            <a:ext cx="3989704" cy="82550"/>
          </a:xfrm>
          <a:custGeom>
            <a:rect b="b" l="l" r="r" t="t"/>
            <a:pathLst>
              <a:path extrusionOk="0" h="82550" w="3989704">
                <a:moveTo>
                  <a:pt x="3938852" y="0"/>
                </a:moveTo>
                <a:lnTo>
                  <a:pt x="50800" y="0"/>
                </a:lnTo>
                <a:lnTo>
                  <a:pt x="31075" y="4008"/>
                </a:lnTo>
                <a:lnTo>
                  <a:pt x="14922" y="14922"/>
                </a:lnTo>
                <a:lnTo>
                  <a:pt x="4008" y="31075"/>
                </a:lnTo>
                <a:lnTo>
                  <a:pt x="0" y="50800"/>
                </a:lnTo>
                <a:lnTo>
                  <a:pt x="0" y="82384"/>
                </a:lnTo>
                <a:lnTo>
                  <a:pt x="3989652" y="82384"/>
                </a:lnTo>
                <a:lnTo>
                  <a:pt x="3989652" y="50800"/>
                </a:lnTo>
                <a:lnTo>
                  <a:pt x="3985644" y="31075"/>
                </a:lnTo>
                <a:lnTo>
                  <a:pt x="3974729" y="14922"/>
                </a:lnTo>
                <a:lnTo>
                  <a:pt x="3958576" y="4008"/>
                </a:lnTo>
                <a:lnTo>
                  <a:pt x="39388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9"/>
          <p:cNvSpPr/>
          <p:nvPr/>
        </p:nvSpPr>
        <p:spPr>
          <a:xfrm>
            <a:off x="359994" y="1876171"/>
            <a:ext cx="101600" cy="1016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9"/>
          <p:cNvSpPr/>
          <p:nvPr/>
        </p:nvSpPr>
        <p:spPr>
          <a:xfrm>
            <a:off x="410794" y="1863470"/>
            <a:ext cx="3938802" cy="1143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9"/>
          <p:cNvSpPr/>
          <p:nvPr/>
        </p:nvSpPr>
        <p:spPr>
          <a:xfrm>
            <a:off x="4298846" y="1358125"/>
            <a:ext cx="50751" cy="518045"/>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9"/>
          <p:cNvSpPr/>
          <p:nvPr/>
        </p:nvSpPr>
        <p:spPr>
          <a:xfrm>
            <a:off x="309193" y="1351974"/>
            <a:ext cx="3989704" cy="575310"/>
          </a:xfrm>
          <a:custGeom>
            <a:rect b="b" l="l" r="r" t="t"/>
            <a:pathLst>
              <a:path extrusionOk="0" h="575310" w="3989704">
                <a:moveTo>
                  <a:pt x="3989652" y="0"/>
                </a:moveTo>
                <a:lnTo>
                  <a:pt x="0" y="0"/>
                </a:lnTo>
                <a:lnTo>
                  <a:pt x="0" y="524196"/>
                </a:lnTo>
                <a:lnTo>
                  <a:pt x="4008" y="543921"/>
                </a:lnTo>
                <a:lnTo>
                  <a:pt x="14922" y="560074"/>
                </a:lnTo>
                <a:lnTo>
                  <a:pt x="31075" y="570988"/>
                </a:lnTo>
                <a:lnTo>
                  <a:pt x="50800" y="574997"/>
                </a:lnTo>
                <a:lnTo>
                  <a:pt x="3938852" y="574997"/>
                </a:lnTo>
                <a:lnTo>
                  <a:pt x="3958576" y="570988"/>
                </a:lnTo>
                <a:lnTo>
                  <a:pt x="3974729" y="560074"/>
                </a:lnTo>
                <a:lnTo>
                  <a:pt x="3985644" y="543921"/>
                </a:lnTo>
                <a:lnTo>
                  <a:pt x="3989652" y="524196"/>
                </a:lnTo>
                <a:lnTo>
                  <a:pt x="39896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9"/>
          <p:cNvSpPr/>
          <p:nvPr/>
        </p:nvSpPr>
        <p:spPr>
          <a:xfrm>
            <a:off x="4298846" y="1396211"/>
            <a:ext cx="0" cy="499109"/>
          </a:xfrm>
          <a:custGeom>
            <a:rect b="b" l="l" r="r" t="t"/>
            <a:pathLst>
              <a:path extrusionOk="0" h="499110" w="120000">
                <a:moveTo>
                  <a:pt x="0" y="499009"/>
                </a:moveTo>
                <a:lnTo>
                  <a:pt x="0" y="0"/>
                </a:lnTo>
              </a:path>
            </a:pathLst>
          </a:custGeom>
          <a:noFill/>
          <a:ln cap="flat" cmpd="sng" w="9525">
            <a:solidFill>
              <a:srgbClr val="7F7F7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9"/>
          <p:cNvSpPr/>
          <p:nvPr/>
        </p:nvSpPr>
        <p:spPr>
          <a:xfrm>
            <a:off x="4298846" y="1383511"/>
            <a:ext cx="0" cy="12700"/>
          </a:xfrm>
          <a:custGeom>
            <a:rect b="b" l="l" r="r" t="t"/>
            <a:pathLst>
              <a:path extrusionOk="0" h="12700" w="120000">
                <a:moveTo>
                  <a:pt x="0" y="12700"/>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9"/>
          <p:cNvSpPr/>
          <p:nvPr/>
        </p:nvSpPr>
        <p:spPr>
          <a:xfrm>
            <a:off x="4298846" y="1370811"/>
            <a:ext cx="0" cy="12700"/>
          </a:xfrm>
          <a:custGeom>
            <a:rect b="b" l="l" r="r" t="t"/>
            <a:pathLst>
              <a:path extrusionOk="0" h="12700" w="120000">
                <a:moveTo>
                  <a:pt x="0" y="12700"/>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9"/>
          <p:cNvSpPr/>
          <p:nvPr/>
        </p:nvSpPr>
        <p:spPr>
          <a:xfrm>
            <a:off x="4298846" y="1358111"/>
            <a:ext cx="0" cy="12700"/>
          </a:xfrm>
          <a:custGeom>
            <a:rect b="b" l="l" r="r" t="t"/>
            <a:pathLst>
              <a:path extrusionOk="0" h="12700" w="120000">
                <a:moveTo>
                  <a:pt x="0" y="12700"/>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9"/>
          <p:cNvSpPr/>
          <p:nvPr/>
        </p:nvSpPr>
        <p:spPr>
          <a:xfrm>
            <a:off x="502551" y="1405699"/>
            <a:ext cx="65265" cy="65265"/>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9"/>
          <p:cNvSpPr/>
          <p:nvPr/>
        </p:nvSpPr>
        <p:spPr>
          <a:xfrm>
            <a:off x="502551" y="1615732"/>
            <a:ext cx="65265" cy="65265"/>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9"/>
          <p:cNvSpPr/>
          <p:nvPr/>
        </p:nvSpPr>
        <p:spPr>
          <a:xfrm>
            <a:off x="309193" y="2078900"/>
            <a:ext cx="3989704" cy="82550"/>
          </a:xfrm>
          <a:custGeom>
            <a:rect b="b" l="l" r="r" t="t"/>
            <a:pathLst>
              <a:path extrusionOk="0" h="82550" w="3989704">
                <a:moveTo>
                  <a:pt x="3938852" y="0"/>
                </a:moveTo>
                <a:lnTo>
                  <a:pt x="50800" y="0"/>
                </a:lnTo>
                <a:lnTo>
                  <a:pt x="31075" y="4008"/>
                </a:lnTo>
                <a:lnTo>
                  <a:pt x="14922" y="14922"/>
                </a:lnTo>
                <a:lnTo>
                  <a:pt x="4008" y="31075"/>
                </a:lnTo>
                <a:lnTo>
                  <a:pt x="0" y="50800"/>
                </a:lnTo>
                <a:lnTo>
                  <a:pt x="0" y="82384"/>
                </a:lnTo>
                <a:lnTo>
                  <a:pt x="3989652" y="82384"/>
                </a:lnTo>
                <a:lnTo>
                  <a:pt x="3989652" y="50800"/>
                </a:lnTo>
                <a:lnTo>
                  <a:pt x="3985644" y="31075"/>
                </a:lnTo>
                <a:lnTo>
                  <a:pt x="3974729" y="14922"/>
                </a:lnTo>
                <a:lnTo>
                  <a:pt x="3958576" y="4008"/>
                </a:lnTo>
                <a:lnTo>
                  <a:pt x="39388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9"/>
          <p:cNvSpPr/>
          <p:nvPr/>
        </p:nvSpPr>
        <p:spPr>
          <a:xfrm>
            <a:off x="359994" y="3029623"/>
            <a:ext cx="101600" cy="101600"/>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9"/>
          <p:cNvSpPr/>
          <p:nvPr/>
        </p:nvSpPr>
        <p:spPr>
          <a:xfrm>
            <a:off x="410794" y="3016923"/>
            <a:ext cx="3938802" cy="1143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9"/>
          <p:cNvSpPr/>
          <p:nvPr/>
        </p:nvSpPr>
        <p:spPr>
          <a:xfrm>
            <a:off x="4298846" y="2129459"/>
            <a:ext cx="50751" cy="900163"/>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9"/>
          <p:cNvSpPr/>
          <p:nvPr/>
        </p:nvSpPr>
        <p:spPr>
          <a:xfrm>
            <a:off x="309193" y="2123314"/>
            <a:ext cx="3989704" cy="957580"/>
          </a:xfrm>
          <a:custGeom>
            <a:rect b="b" l="l" r="r" t="t"/>
            <a:pathLst>
              <a:path extrusionOk="0" h="957580" w="3989704">
                <a:moveTo>
                  <a:pt x="3989652" y="0"/>
                </a:moveTo>
                <a:lnTo>
                  <a:pt x="0" y="0"/>
                </a:lnTo>
                <a:lnTo>
                  <a:pt x="0" y="906309"/>
                </a:lnTo>
                <a:lnTo>
                  <a:pt x="4008" y="926033"/>
                </a:lnTo>
                <a:lnTo>
                  <a:pt x="14922" y="942186"/>
                </a:lnTo>
                <a:lnTo>
                  <a:pt x="31075" y="953100"/>
                </a:lnTo>
                <a:lnTo>
                  <a:pt x="50800" y="957109"/>
                </a:lnTo>
                <a:lnTo>
                  <a:pt x="3938852" y="957109"/>
                </a:lnTo>
                <a:lnTo>
                  <a:pt x="3958576" y="953100"/>
                </a:lnTo>
                <a:lnTo>
                  <a:pt x="3974729" y="942186"/>
                </a:lnTo>
                <a:lnTo>
                  <a:pt x="3985644" y="926033"/>
                </a:lnTo>
                <a:lnTo>
                  <a:pt x="3989652" y="906309"/>
                </a:lnTo>
                <a:lnTo>
                  <a:pt x="39896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9"/>
          <p:cNvSpPr/>
          <p:nvPr/>
        </p:nvSpPr>
        <p:spPr>
          <a:xfrm>
            <a:off x="4298846" y="2167551"/>
            <a:ext cx="0" cy="881380"/>
          </a:xfrm>
          <a:custGeom>
            <a:rect b="b" l="l" r="r" t="t"/>
            <a:pathLst>
              <a:path extrusionOk="0" h="881380" w="120000">
                <a:moveTo>
                  <a:pt x="0" y="881121"/>
                </a:moveTo>
                <a:lnTo>
                  <a:pt x="0" y="0"/>
                </a:lnTo>
              </a:path>
            </a:pathLst>
          </a:custGeom>
          <a:noFill/>
          <a:ln cap="flat" cmpd="sng" w="9525">
            <a:solidFill>
              <a:srgbClr val="7F7F7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9"/>
          <p:cNvSpPr/>
          <p:nvPr/>
        </p:nvSpPr>
        <p:spPr>
          <a:xfrm>
            <a:off x="4298846" y="2154851"/>
            <a:ext cx="0" cy="12700"/>
          </a:xfrm>
          <a:custGeom>
            <a:rect b="b" l="l" r="r" t="t"/>
            <a:pathLst>
              <a:path extrusionOk="0" h="12700" w="120000">
                <a:moveTo>
                  <a:pt x="0" y="12699"/>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9"/>
          <p:cNvSpPr/>
          <p:nvPr/>
        </p:nvSpPr>
        <p:spPr>
          <a:xfrm>
            <a:off x="4298846" y="2142151"/>
            <a:ext cx="0" cy="12700"/>
          </a:xfrm>
          <a:custGeom>
            <a:rect b="b" l="l" r="r" t="t"/>
            <a:pathLst>
              <a:path extrusionOk="0" h="12700" w="120000">
                <a:moveTo>
                  <a:pt x="0" y="12699"/>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9"/>
          <p:cNvSpPr/>
          <p:nvPr/>
        </p:nvSpPr>
        <p:spPr>
          <a:xfrm>
            <a:off x="4298846" y="2129451"/>
            <a:ext cx="0" cy="12700"/>
          </a:xfrm>
          <a:custGeom>
            <a:rect b="b" l="l" r="r" t="t"/>
            <a:pathLst>
              <a:path extrusionOk="0" h="12700" w="120000">
                <a:moveTo>
                  <a:pt x="0" y="12699"/>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9"/>
          <p:cNvSpPr/>
          <p:nvPr/>
        </p:nvSpPr>
        <p:spPr>
          <a:xfrm>
            <a:off x="502551" y="2177046"/>
            <a:ext cx="65265" cy="65265"/>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9"/>
          <p:cNvSpPr/>
          <p:nvPr/>
        </p:nvSpPr>
        <p:spPr>
          <a:xfrm>
            <a:off x="502551" y="2387079"/>
            <a:ext cx="65265" cy="65265"/>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9"/>
          <p:cNvSpPr/>
          <p:nvPr/>
        </p:nvSpPr>
        <p:spPr>
          <a:xfrm>
            <a:off x="502551" y="2769184"/>
            <a:ext cx="65265" cy="65265"/>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9"/>
          <p:cNvSpPr txBox="1"/>
          <p:nvPr/>
        </p:nvSpPr>
        <p:spPr>
          <a:xfrm>
            <a:off x="624382" y="933016"/>
            <a:ext cx="3548379" cy="2116455"/>
          </a:xfrm>
          <a:prstGeom prst="rect">
            <a:avLst/>
          </a:prstGeom>
          <a:noFill/>
          <a:ln>
            <a:noFill/>
          </a:ln>
        </p:spPr>
        <p:txBody>
          <a:bodyPr anchorCtr="0" anchor="t" bIns="0" lIns="0" spcFirstLastPara="1" rIns="0" wrap="square" tIns="11425">
            <a:spAutoFit/>
          </a:bodyPr>
          <a:lstStyle/>
          <a:p>
            <a:pPr indent="0" lvl="0" marL="207009" marR="0" rtl="0" algn="l">
              <a:lnSpc>
                <a:spcPct val="100000"/>
              </a:lnSpc>
              <a:spcBef>
                <a:spcPts val="0"/>
              </a:spcBef>
              <a:spcAft>
                <a:spcPts val="0"/>
              </a:spcAft>
              <a:buNone/>
            </a:pPr>
            <a:r>
              <a:rPr b="1" lang="en-US" sz="1100">
                <a:solidFill>
                  <a:schemeClr val="dk1"/>
                </a:solidFill>
                <a:latin typeface="Arial"/>
                <a:ea typeface="Arial"/>
                <a:cs typeface="Arial"/>
                <a:sym typeface="Arial"/>
              </a:rPr>
              <a:t>Software Testing </a:t>
            </a:r>
            <a:r>
              <a:rPr lang="en-US" sz="1100">
                <a:solidFill>
                  <a:schemeClr val="dk1"/>
                </a:solidFill>
                <a:latin typeface="Arial"/>
                <a:ea typeface="Arial"/>
                <a:cs typeface="Arial"/>
                <a:sym typeface="Arial"/>
              </a:rPr>
              <a:t>is an important phase in SDLC.</a:t>
            </a:r>
            <a:endParaRPr sz="1100">
              <a:solidFill>
                <a:schemeClr val="dk1"/>
              </a:solidFill>
              <a:latin typeface="Arial"/>
              <a:ea typeface="Arial"/>
              <a:cs typeface="Arial"/>
              <a:sym typeface="Arial"/>
            </a:endParaRPr>
          </a:p>
          <a:p>
            <a:pPr indent="0" lvl="0" marL="0" marR="0" rtl="0" algn="l">
              <a:lnSpc>
                <a:spcPct val="100000"/>
              </a:lnSpc>
              <a:spcBef>
                <a:spcPts val="20"/>
              </a:spcBef>
              <a:spcAft>
                <a:spcPts val="0"/>
              </a:spcAft>
              <a:buNone/>
            </a:pPr>
            <a:r>
              <a:t/>
            </a:r>
            <a:endParaRPr sz="1500">
              <a:solidFill>
                <a:schemeClr val="dk1"/>
              </a:solidFill>
              <a:latin typeface="Times New Roman"/>
              <a:ea typeface="Times New Roman"/>
              <a:cs typeface="Times New Roman"/>
              <a:sym typeface="Times New Roman"/>
            </a:endParaRPr>
          </a:p>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Helps to achieve software dependability and improve quality.</a:t>
            </a:r>
            <a:endParaRPr sz="1100">
              <a:solidFill>
                <a:schemeClr val="dk1"/>
              </a:solidFill>
              <a:latin typeface="Arial"/>
              <a:ea typeface="Arial"/>
              <a:cs typeface="Arial"/>
              <a:sym typeface="Arial"/>
            </a:endParaRPr>
          </a:p>
          <a:p>
            <a:pPr indent="0" lvl="0" marL="12700" marR="666750" rtl="0" algn="l">
              <a:lnSpc>
                <a:spcPct val="102600"/>
              </a:lnSpc>
              <a:spcBef>
                <a:spcPts val="300"/>
              </a:spcBef>
              <a:spcAft>
                <a:spcPts val="0"/>
              </a:spcAft>
              <a:buNone/>
            </a:pPr>
            <a:r>
              <a:rPr lang="en-US" sz="1100">
                <a:solidFill>
                  <a:schemeClr val="dk1"/>
                </a:solidFill>
                <a:latin typeface="Arial"/>
                <a:ea typeface="Arial"/>
                <a:cs typeface="Arial"/>
                <a:sym typeface="Arial"/>
              </a:rPr>
              <a:t>Time consuming: Approximately 40% of software  development time is devoted to testing.</a:t>
            </a:r>
            <a:endParaRPr sz="1100">
              <a:solidFill>
                <a:schemeClr val="dk1"/>
              </a:solidFill>
              <a:latin typeface="Arial"/>
              <a:ea typeface="Arial"/>
              <a:cs typeface="Arial"/>
              <a:sym typeface="Arial"/>
            </a:endParaRPr>
          </a:p>
          <a:p>
            <a:pPr indent="0" lvl="0" marL="0" marR="0" rtl="0" algn="l">
              <a:lnSpc>
                <a:spcPct val="100000"/>
              </a:lnSpc>
              <a:spcBef>
                <a:spcPts val="20"/>
              </a:spcBef>
              <a:spcAft>
                <a:spcPts val="0"/>
              </a:spcAft>
              <a:buNone/>
            </a:pPr>
            <a:r>
              <a:t/>
            </a:r>
            <a:endParaRPr sz="1500">
              <a:solidFill>
                <a:schemeClr val="dk1"/>
              </a:solidFill>
              <a:latin typeface="Times New Roman"/>
              <a:ea typeface="Times New Roman"/>
              <a:cs typeface="Times New Roman"/>
              <a:sym typeface="Times New Roman"/>
            </a:endParaRPr>
          </a:p>
          <a:p>
            <a:pPr indent="0" lvl="0" marL="12700" marR="0" rtl="0" algn="l">
              <a:lnSpc>
                <a:spcPct val="100000"/>
              </a:lnSpc>
              <a:spcBef>
                <a:spcPts val="0"/>
              </a:spcBef>
              <a:spcAft>
                <a:spcPts val="0"/>
              </a:spcAft>
              <a:buNone/>
            </a:pPr>
            <a:r>
              <a:rPr lang="en-US" sz="1100">
                <a:solidFill>
                  <a:schemeClr val="dk1"/>
                </a:solidFill>
                <a:latin typeface="Arial"/>
                <a:ea typeface="Arial"/>
                <a:cs typeface="Arial"/>
                <a:sym typeface="Arial"/>
              </a:rPr>
              <a:t>Testing can be done in two ways – Manual vs. Automated.</a:t>
            </a:r>
            <a:endParaRPr sz="1100">
              <a:solidFill>
                <a:schemeClr val="dk1"/>
              </a:solidFill>
              <a:latin typeface="Arial"/>
              <a:ea typeface="Arial"/>
              <a:cs typeface="Arial"/>
              <a:sym typeface="Arial"/>
            </a:endParaRPr>
          </a:p>
          <a:p>
            <a:pPr indent="0" lvl="0" marL="12700" marR="15875" rtl="0" algn="l">
              <a:lnSpc>
                <a:spcPct val="102600"/>
              </a:lnSpc>
              <a:spcBef>
                <a:spcPts val="300"/>
              </a:spcBef>
              <a:spcAft>
                <a:spcPts val="0"/>
              </a:spcAft>
              <a:buNone/>
            </a:pPr>
            <a:r>
              <a:rPr b="1" lang="en-US" sz="1100">
                <a:solidFill>
                  <a:schemeClr val="dk1"/>
                </a:solidFill>
                <a:latin typeface="Arial"/>
                <a:ea typeface="Arial"/>
                <a:cs typeface="Arial"/>
                <a:sym typeface="Arial"/>
              </a:rPr>
              <a:t>An automation tool </a:t>
            </a:r>
            <a:r>
              <a:rPr lang="en-US" sz="1100">
                <a:solidFill>
                  <a:schemeClr val="dk1"/>
                </a:solidFill>
                <a:latin typeface="Arial"/>
                <a:ea typeface="Arial"/>
                <a:cs typeface="Arial"/>
                <a:sym typeface="Arial"/>
              </a:rPr>
              <a:t>for test case generation can effectively  reduce the time required in testing.</a:t>
            </a:r>
            <a:endParaRPr sz="1100">
              <a:solidFill>
                <a:schemeClr val="dk1"/>
              </a:solidFill>
              <a:latin typeface="Arial"/>
              <a:ea typeface="Arial"/>
              <a:cs typeface="Arial"/>
              <a:sym typeface="Arial"/>
            </a:endParaRPr>
          </a:p>
          <a:p>
            <a:pPr indent="0" lvl="0" marL="12700" marR="5080" rtl="0" algn="l">
              <a:lnSpc>
                <a:spcPct val="102699"/>
              </a:lnSpc>
              <a:spcBef>
                <a:spcPts val="295"/>
              </a:spcBef>
              <a:spcAft>
                <a:spcPts val="0"/>
              </a:spcAft>
              <a:buNone/>
            </a:pPr>
            <a:r>
              <a:rPr b="1" lang="en-US" sz="1100">
                <a:solidFill>
                  <a:schemeClr val="dk1"/>
                </a:solidFill>
                <a:latin typeface="Arial"/>
                <a:ea typeface="Arial"/>
                <a:cs typeface="Arial"/>
                <a:sym typeface="Arial"/>
              </a:rPr>
              <a:t>Automation tool </a:t>
            </a:r>
            <a:r>
              <a:rPr lang="en-US" sz="1100">
                <a:solidFill>
                  <a:schemeClr val="dk1"/>
                </a:solidFill>
                <a:latin typeface="Arial"/>
                <a:ea typeface="Arial"/>
                <a:cs typeface="Arial"/>
                <a:sym typeface="Arial"/>
              </a:rPr>
              <a:t>can be designed to generate test cases for  different test coverage criteria.</a:t>
            </a:r>
            <a:endParaRPr sz="1100">
              <a:solidFill>
                <a:schemeClr val="dk1"/>
              </a:solidFill>
              <a:latin typeface="Arial"/>
              <a:ea typeface="Arial"/>
              <a:cs typeface="Arial"/>
              <a:sym typeface="Arial"/>
            </a:endParaRPr>
          </a:p>
        </p:txBody>
      </p:sp>
      <p:sp>
        <p:nvSpPr>
          <p:cNvPr id="156" name="Google Shape;156;p9"/>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9"/>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9"/>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9"/>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fld id="{00000000-1234-1234-1234-123412341234}" type="slidenum">
              <a:rPr lang="en-US"/>
              <a:t>‹#›</a:t>
            </a:fld>
            <a:r>
              <a:rPr lang="en-US"/>
              <a:t>/35</a:t>
            </a:r>
            <a:endParaRPr/>
          </a:p>
        </p:txBody>
      </p:sp>
      <p:sp>
        <p:nvSpPr>
          <p:cNvPr id="160" name="Google Shape;160;p9"/>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161" name="Google Shape;161;p9"/>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0"/>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167" name="Google Shape;167;p10"/>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10"/>
          <p:cNvSpPr/>
          <p:nvPr/>
        </p:nvSpPr>
        <p:spPr>
          <a:xfrm>
            <a:off x="0" y="400210"/>
            <a:ext cx="4608004" cy="308729"/>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10"/>
          <p:cNvSpPr txBox="1"/>
          <p:nvPr>
            <p:ph type="title"/>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rtl="0" algn="l">
              <a:lnSpc>
                <a:spcPct val="100000"/>
              </a:lnSpc>
              <a:spcBef>
                <a:spcPts val="0"/>
              </a:spcBef>
              <a:spcAft>
                <a:spcPts val="0"/>
              </a:spcAft>
              <a:buNone/>
            </a:pPr>
            <a:r>
              <a:rPr b="0" lang="en-US">
                <a:latin typeface="Tahoma"/>
                <a:ea typeface="Tahoma"/>
                <a:cs typeface="Tahoma"/>
                <a:sym typeface="Tahoma"/>
              </a:rPr>
              <a:t>Reliability and Coverage Model -By Prof. Aditya Mathur</a:t>
            </a:r>
            <a:endParaRPr/>
          </a:p>
        </p:txBody>
      </p:sp>
      <p:sp>
        <p:nvSpPr>
          <p:cNvPr id="170" name="Google Shape;170;p10"/>
          <p:cNvSpPr/>
          <p:nvPr/>
        </p:nvSpPr>
        <p:spPr>
          <a:xfrm>
            <a:off x="556430" y="872399"/>
            <a:ext cx="3438966" cy="191892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10"/>
          <p:cNvSpPr txBox="1"/>
          <p:nvPr/>
        </p:nvSpPr>
        <p:spPr>
          <a:xfrm>
            <a:off x="1397800" y="2895020"/>
            <a:ext cx="1812289"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rgbClr val="A91717"/>
                </a:solidFill>
                <a:latin typeface="Arial"/>
                <a:ea typeface="Arial"/>
                <a:cs typeface="Arial"/>
                <a:sym typeface="Arial"/>
              </a:rPr>
              <a:t>Figure 1: </a:t>
            </a:r>
            <a:r>
              <a:rPr lang="en-US" sz="1000">
                <a:solidFill>
                  <a:schemeClr val="dk1"/>
                </a:solidFill>
                <a:latin typeface="Arial"/>
                <a:ea typeface="Arial"/>
                <a:cs typeface="Arial"/>
                <a:sym typeface="Arial"/>
              </a:rPr>
              <a:t>Reliability and Coverage</a:t>
            </a:r>
            <a:endParaRPr sz="1000">
              <a:solidFill>
                <a:schemeClr val="dk1"/>
              </a:solidFill>
              <a:latin typeface="Arial"/>
              <a:ea typeface="Arial"/>
              <a:cs typeface="Arial"/>
              <a:sym typeface="Arial"/>
            </a:endParaRPr>
          </a:p>
        </p:txBody>
      </p:sp>
      <p:sp>
        <p:nvSpPr>
          <p:cNvPr id="172" name="Google Shape;172;p10"/>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10"/>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10"/>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10"/>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fld id="{00000000-1234-1234-1234-123412341234}" type="slidenum">
              <a:rPr lang="en-US"/>
              <a:t>‹#›</a:t>
            </a:fld>
            <a:r>
              <a:rPr lang="en-US"/>
              <a:t>/35</a:t>
            </a:r>
            <a:endParaRPr/>
          </a:p>
        </p:txBody>
      </p:sp>
      <p:sp>
        <p:nvSpPr>
          <p:cNvPr id="176" name="Google Shape;176;p10"/>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177" name="Google Shape;177;p10"/>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1"/>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183" name="Google Shape;183;p11"/>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11"/>
          <p:cNvSpPr/>
          <p:nvPr/>
        </p:nvSpPr>
        <p:spPr>
          <a:xfrm>
            <a:off x="0" y="400210"/>
            <a:ext cx="4608004" cy="308729"/>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11"/>
          <p:cNvSpPr txBox="1"/>
          <p:nvPr>
            <p:ph type="title"/>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rtl="0" algn="l">
              <a:lnSpc>
                <a:spcPct val="100000"/>
              </a:lnSpc>
              <a:spcBef>
                <a:spcPts val="0"/>
              </a:spcBef>
              <a:spcAft>
                <a:spcPts val="0"/>
              </a:spcAft>
              <a:buNone/>
            </a:pPr>
            <a:r>
              <a:rPr b="0" lang="en-US">
                <a:latin typeface="Tahoma"/>
                <a:ea typeface="Tahoma"/>
                <a:cs typeface="Tahoma"/>
                <a:sym typeface="Tahoma"/>
              </a:rPr>
              <a:t>Software Testing</a:t>
            </a:r>
            <a:endParaRPr/>
          </a:p>
        </p:txBody>
      </p:sp>
      <p:sp>
        <p:nvSpPr>
          <p:cNvPr id="186" name="Google Shape;186;p11"/>
          <p:cNvSpPr txBox="1"/>
          <p:nvPr>
            <p:ph idx="1" type="body"/>
          </p:nvPr>
        </p:nvSpPr>
        <p:spPr>
          <a:xfrm>
            <a:off x="349059" y="1124849"/>
            <a:ext cx="3911981" cy="1084337"/>
          </a:xfrm>
          <a:prstGeom prst="rect">
            <a:avLst/>
          </a:prstGeom>
          <a:noFill/>
          <a:ln>
            <a:noFill/>
          </a:ln>
        </p:spPr>
        <p:txBody>
          <a:bodyPr anchorCtr="0" anchor="t" bIns="0" lIns="0" spcFirstLastPara="1" rIns="0" wrap="square" tIns="221850">
            <a:spAutoFit/>
          </a:bodyPr>
          <a:lstStyle/>
          <a:p>
            <a:pPr indent="0" lvl="0" marL="10795" marR="5080" rtl="0" algn="just">
              <a:lnSpc>
                <a:spcPct val="102600"/>
              </a:lnSpc>
              <a:spcBef>
                <a:spcPts val="0"/>
              </a:spcBef>
              <a:spcAft>
                <a:spcPts val="0"/>
              </a:spcAft>
              <a:buNone/>
            </a:pPr>
            <a:r>
              <a:rPr i="1" lang="en-US">
                <a:latin typeface="Trebuchet MS"/>
                <a:ea typeface="Trebuchet MS"/>
                <a:cs typeface="Trebuchet MS"/>
                <a:sym typeface="Trebuchet MS"/>
              </a:rPr>
              <a:t>“No product of human intellect comes out right the first time. We  rewrite sentences, rip out knitting stitches, replant gardens,  remodel houses, and repair bridges. Why should software be any  different?”</a:t>
            </a:r>
            <a:endParaRPr/>
          </a:p>
          <a:p>
            <a:pPr indent="0" lvl="0" marL="10795" marR="347345" rtl="0" algn="just">
              <a:lnSpc>
                <a:spcPct val="102600"/>
              </a:lnSpc>
              <a:spcBef>
                <a:spcPts val="0"/>
              </a:spcBef>
              <a:spcAft>
                <a:spcPts val="0"/>
              </a:spcAft>
              <a:buNone/>
            </a:pPr>
            <a:r>
              <a:rPr b="1" lang="en-US">
                <a:latin typeface="Arial"/>
                <a:ea typeface="Arial"/>
                <a:cs typeface="Arial"/>
                <a:sym typeface="Arial"/>
              </a:rPr>
              <a:t>- By Wiener, Ruth: Digital Woes, Why We Should Not  Depend on Software.</a:t>
            </a:r>
            <a:endParaRPr/>
          </a:p>
        </p:txBody>
      </p:sp>
      <p:sp>
        <p:nvSpPr>
          <p:cNvPr id="187" name="Google Shape;187;p11"/>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11"/>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11"/>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11"/>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fld id="{00000000-1234-1234-1234-123412341234}" type="slidenum">
              <a:rPr lang="en-US"/>
              <a:t>‹#›</a:t>
            </a:fld>
            <a:r>
              <a:rPr lang="en-US"/>
              <a:t>/35</a:t>
            </a:r>
            <a:endParaRPr/>
          </a:p>
        </p:txBody>
      </p:sp>
      <p:sp>
        <p:nvSpPr>
          <p:cNvPr id="191" name="Google Shape;191;p11"/>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192" name="Google Shape;192;p11"/>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2"/>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198" name="Google Shape;198;p12"/>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12"/>
          <p:cNvSpPr/>
          <p:nvPr/>
        </p:nvSpPr>
        <p:spPr>
          <a:xfrm>
            <a:off x="0" y="400210"/>
            <a:ext cx="4608004" cy="308729"/>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12"/>
          <p:cNvSpPr txBox="1"/>
          <p:nvPr>
            <p:ph type="title"/>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rtl="0" algn="l">
              <a:lnSpc>
                <a:spcPct val="100000"/>
              </a:lnSpc>
              <a:spcBef>
                <a:spcPts val="0"/>
              </a:spcBef>
              <a:spcAft>
                <a:spcPts val="0"/>
              </a:spcAft>
              <a:buNone/>
            </a:pPr>
            <a:r>
              <a:rPr b="0" lang="en-US">
                <a:latin typeface="Tahoma"/>
                <a:ea typeface="Tahoma"/>
                <a:cs typeface="Tahoma"/>
                <a:sym typeface="Tahoma"/>
              </a:rPr>
              <a:t>Software Testing</a:t>
            </a:r>
            <a:endParaRPr/>
          </a:p>
        </p:txBody>
      </p:sp>
      <p:sp>
        <p:nvSpPr>
          <p:cNvPr id="201" name="Google Shape;201;p12"/>
          <p:cNvSpPr/>
          <p:nvPr/>
        </p:nvSpPr>
        <p:spPr>
          <a:xfrm>
            <a:off x="502551" y="1270343"/>
            <a:ext cx="65265" cy="65265"/>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12"/>
          <p:cNvSpPr/>
          <p:nvPr/>
        </p:nvSpPr>
        <p:spPr>
          <a:xfrm>
            <a:off x="502551" y="1652447"/>
            <a:ext cx="65265" cy="65265"/>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12"/>
          <p:cNvSpPr/>
          <p:nvPr/>
        </p:nvSpPr>
        <p:spPr>
          <a:xfrm>
            <a:off x="502551" y="2206637"/>
            <a:ext cx="65265" cy="65265"/>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12"/>
          <p:cNvSpPr txBox="1"/>
          <p:nvPr>
            <p:ph idx="1" type="body"/>
          </p:nvPr>
        </p:nvSpPr>
        <p:spPr>
          <a:xfrm>
            <a:off x="349059" y="1124849"/>
            <a:ext cx="3911981" cy="1553845"/>
          </a:xfrm>
          <a:prstGeom prst="rect">
            <a:avLst/>
          </a:prstGeom>
          <a:noFill/>
          <a:ln>
            <a:noFill/>
          </a:ln>
        </p:spPr>
        <p:txBody>
          <a:bodyPr anchorCtr="0" anchor="t" bIns="0" lIns="0" spcFirstLastPara="1" rIns="0" wrap="square" tIns="69025">
            <a:spAutoFit/>
          </a:bodyPr>
          <a:lstStyle/>
          <a:p>
            <a:pPr indent="0" lvl="0" marL="287655" marR="5080" rtl="0" algn="l">
              <a:lnSpc>
                <a:spcPct val="102699"/>
              </a:lnSpc>
              <a:spcBef>
                <a:spcPts val="0"/>
              </a:spcBef>
              <a:spcAft>
                <a:spcPts val="0"/>
              </a:spcAft>
              <a:buNone/>
            </a:pPr>
            <a:r>
              <a:rPr lang="en-US"/>
              <a:t>The purpose of the verification process is to detect and report  errors that have been introduced in the development process.</a:t>
            </a:r>
            <a:endParaRPr/>
          </a:p>
          <a:p>
            <a:pPr indent="0" lvl="0" marL="287655" marR="407669" rtl="0" algn="l">
              <a:lnSpc>
                <a:spcPct val="102600"/>
              </a:lnSpc>
              <a:spcBef>
                <a:spcPts val="300"/>
              </a:spcBef>
              <a:spcAft>
                <a:spcPts val="0"/>
              </a:spcAft>
              <a:buNone/>
            </a:pPr>
            <a:r>
              <a:rPr lang="en-US"/>
              <a:t>The verification process must ensure that the produced  software implements intended function completely and  correctly, while avoiding unintended function.</a:t>
            </a:r>
            <a:endParaRPr/>
          </a:p>
          <a:p>
            <a:pPr indent="0" lvl="0" marL="287655" marR="14604" rtl="0" algn="l">
              <a:lnSpc>
                <a:spcPct val="102600"/>
              </a:lnSpc>
              <a:spcBef>
                <a:spcPts val="300"/>
              </a:spcBef>
              <a:spcAft>
                <a:spcPts val="0"/>
              </a:spcAft>
              <a:buNone/>
            </a:pPr>
            <a:r>
              <a:rPr lang="en-US"/>
              <a:t>Verification is an integral process, which is coupled with every  development step. Testing quality at the end of the life cycle  is impractical.</a:t>
            </a:r>
            <a:endParaRPr/>
          </a:p>
        </p:txBody>
      </p:sp>
      <p:sp>
        <p:nvSpPr>
          <p:cNvPr id="205" name="Google Shape;205;p12"/>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12"/>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12"/>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12"/>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fld id="{00000000-1234-1234-1234-123412341234}" type="slidenum">
              <a:rPr lang="en-US"/>
              <a:t>‹#›</a:t>
            </a:fld>
            <a:r>
              <a:rPr lang="en-US"/>
              <a:t>/35</a:t>
            </a:r>
            <a:endParaRPr/>
          </a:p>
        </p:txBody>
      </p:sp>
      <p:sp>
        <p:nvSpPr>
          <p:cNvPr id="209" name="Google Shape;209;p12"/>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210" name="Google Shape;210;p12"/>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3"/>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216" name="Google Shape;216;p13"/>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13"/>
          <p:cNvSpPr/>
          <p:nvPr/>
        </p:nvSpPr>
        <p:spPr>
          <a:xfrm>
            <a:off x="0" y="400210"/>
            <a:ext cx="4608004" cy="308729"/>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13"/>
          <p:cNvSpPr txBox="1"/>
          <p:nvPr>
            <p:ph type="title"/>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rtl="0" algn="l">
              <a:lnSpc>
                <a:spcPct val="100000"/>
              </a:lnSpc>
              <a:spcBef>
                <a:spcPts val="0"/>
              </a:spcBef>
              <a:spcAft>
                <a:spcPts val="0"/>
              </a:spcAft>
              <a:buNone/>
            </a:pPr>
            <a:r>
              <a:rPr b="0" lang="en-US">
                <a:latin typeface="Tahoma"/>
                <a:ea typeface="Tahoma"/>
                <a:cs typeface="Tahoma"/>
                <a:sym typeface="Tahoma"/>
              </a:rPr>
              <a:t>Software Testing: Coverage</a:t>
            </a:r>
            <a:endParaRPr/>
          </a:p>
        </p:txBody>
      </p:sp>
      <p:sp>
        <p:nvSpPr>
          <p:cNvPr id="219" name="Google Shape;219;p13"/>
          <p:cNvSpPr/>
          <p:nvPr/>
        </p:nvSpPr>
        <p:spPr>
          <a:xfrm>
            <a:off x="502551" y="1063853"/>
            <a:ext cx="65265" cy="65265"/>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13"/>
          <p:cNvSpPr/>
          <p:nvPr/>
        </p:nvSpPr>
        <p:spPr>
          <a:xfrm>
            <a:off x="502551" y="1790115"/>
            <a:ext cx="65265" cy="65265"/>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13"/>
          <p:cNvSpPr/>
          <p:nvPr/>
        </p:nvSpPr>
        <p:spPr>
          <a:xfrm>
            <a:off x="502551" y="2344293"/>
            <a:ext cx="65265" cy="65265"/>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13"/>
          <p:cNvSpPr txBox="1"/>
          <p:nvPr/>
        </p:nvSpPr>
        <p:spPr>
          <a:xfrm>
            <a:off x="624395" y="980400"/>
            <a:ext cx="3636010" cy="1988820"/>
          </a:xfrm>
          <a:prstGeom prst="rect">
            <a:avLst/>
          </a:prstGeom>
          <a:noFill/>
          <a:ln>
            <a:noFill/>
          </a:ln>
        </p:spPr>
        <p:txBody>
          <a:bodyPr anchorCtr="0" anchor="t" bIns="0" lIns="0" spcFirstLastPara="1" rIns="0" wrap="square" tIns="6975">
            <a:spAutoFit/>
          </a:bodyPr>
          <a:lstStyle/>
          <a:p>
            <a:pPr indent="0" lvl="0" marL="12700" marR="187960" rtl="0" algn="l">
              <a:lnSpc>
                <a:spcPct val="102600"/>
              </a:lnSpc>
              <a:spcBef>
                <a:spcPts val="0"/>
              </a:spcBef>
              <a:spcAft>
                <a:spcPts val="0"/>
              </a:spcAft>
              <a:buNone/>
            </a:pPr>
            <a:r>
              <a:rPr lang="en-US" sz="1100">
                <a:solidFill>
                  <a:schemeClr val="dk1"/>
                </a:solidFill>
                <a:latin typeface="Arial"/>
                <a:ea typeface="Arial"/>
                <a:cs typeface="Arial"/>
                <a:sym typeface="Arial"/>
              </a:rPr>
              <a:t>Coverage refers to the extent to which a given verification  activity has satisfied its objectives: in essence, providing an  exit criteria for when to stop. That is, what is “enough”is  defined in terms of coverage.</a:t>
            </a:r>
            <a:endParaRPr sz="1100">
              <a:solidFill>
                <a:schemeClr val="dk1"/>
              </a:solidFill>
              <a:latin typeface="Arial"/>
              <a:ea typeface="Arial"/>
              <a:cs typeface="Arial"/>
              <a:sym typeface="Arial"/>
            </a:endParaRPr>
          </a:p>
          <a:p>
            <a:pPr indent="0" lvl="0" marL="12700" marR="5080" rtl="0" algn="l">
              <a:lnSpc>
                <a:spcPct val="102600"/>
              </a:lnSpc>
              <a:spcBef>
                <a:spcPts val="300"/>
              </a:spcBef>
              <a:spcAft>
                <a:spcPts val="0"/>
              </a:spcAft>
              <a:buNone/>
            </a:pPr>
            <a:r>
              <a:rPr lang="en-US" sz="1100">
                <a:solidFill>
                  <a:schemeClr val="dk1"/>
                </a:solidFill>
                <a:latin typeface="Arial"/>
                <a:ea typeface="Arial"/>
                <a:cs typeface="Arial"/>
                <a:sym typeface="Arial"/>
              </a:rPr>
              <a:t>Coverage is a measure, not a method or a test. As a measure,  coverage is usually expressed as the percentage of an activity  that is accomplished.</a:t>
            </a:r>
            <a:endParaRPr sz="1100">
              <a:solidFill>
                <a:schemeClr val="dk1"/>
              </a:solidFill>
              <a:latin typeface="Arial"/>
              <a:ea typeface="Arial"/>
              <a:cs typeface="Arial"/>
              <a:sym typeface="Arial"/>
            </a:endParaRPr>
          </a:p>
          <a:p>
            <a:pPr indent="0" lvl="0" marL="12700" marR="93345" rtl="0" algn="l">
              <a:lnSpc>
                <a:spcPct val="102600"/>
              </a:lnSpc>
              <a:spcBef>
                <a:spcPts val="300"/>
              </a:spcBef>
              <a:spcAft>
                <a:spcPts val="0"/>
              </a:spcAft>
              <a:buNone/>
            </a:pPr>
            <a:r>
              <a:rPr b="1" lang="en-US" sz="1100">
                <a:solidFill>
                  <a:schemeClr val="dk1"/>
                </a:solidFill>
                <a:latin typeface="Arial"/>
                <a:ea typeface="Arial"/>
                <a:cs typeface="Arial"/>
                <a:sym typeface="Arial"/>
              </a:rPr>
              <a:t>Our goal, then, should be to provide enough testing to  ensure that the probability of failure due to hibernating  bugs is low enough to accept. “Enough”implies  judgment.</a:t>
            </a:r>
            <a:endParaRPr sz="1100">
              <a:solidFill>
                <a:schemeClr val="dk1"/>
              </a:solidFill>
              <a:latin typeface="Arial"/>
              <a:ea typeface="Arial"/>
              <a:cs typeface="Arial"/>
              <a:sym typeface="Arial"/>
            </a:endParaRPr>
          </a:p>
        </p:txBody>
      </p:sp>
      <p:sp>
        <p:nvSpPr>
          <p:cNvPr id="223" name="Google Shape;223;p13"/>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13"/>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3"/>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13"/>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fld id="{00000000-1234-1234-1234-123412341234}" type="slidenum">
              <a:rPr lang="en-US"/>
              <a:t>‹#›</a:t>
            </a:fld>
            <a:r>
              <a:rPr lang="en-US"/>
              <a:t>/35</a:t>
            </a:r>
            <a:endParaRPr/>
          </a:p>
        </p:txBody>
      </p:sp>
      <p:sp>
        <p:nvSpPr>
          <p:cNvPr id="227" name="Google Shape;227;p13"/>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228" name="Google Shape;228;p13"/>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4"/>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234" name="Google Shape;234;p14"/>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14"/>
          <p:cNvSpPr/>
          <p:nvPr/>
        </p:nvSpPr>
        <p:spPr>
          <a:xfrm>
            <a:off x="0" y="400210"/>
            <a:ext cx="4608004" cy="308729"/>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14"/>
          <p:cNvSpPr txBox="1"/>
          <p:nvPr>
            <p:ph type="title"/>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rtl="0" algn="l">
              <a:lnSpc>
                <a:spcPct val="100000"/>
              </a:lnSpc>
              <a:spcBef>
                <a:spcPts val="0"/>
              </a:spcBef>
              <a:spcAft>
                <a:spcPts val="0"/>
              </a:spcAft>
              <a:buNone/>
            </a:pPr>
            <a:r>
              <a:rPr b="0" lang="en-US">
                <a:latin typeface="Tahoma"/>
                <a:ea typeface="Tahoma"/>
                <a:cs typeface="Tahoma"/>
                <a:sym typeface="Tahoma"/>
              </a:rPr>
              <a:t>RTCA/DO178-B/C standards</a:t>
            </a:r>
            <a:endParaRPr/>
          </a:p>
        </p:txBody>
      </p:sp>
      <p:sp>
        <p:nvSpPr>
          <p:cNvPr id="237" name="Google Shape;237;p14"/>
          <p:cNvSpPr/>
          <p:nvPr/>
        </p:nvSpPr>
        <p:spPr>
          <a:xfrm>
            <a:off x="502551" y="1252080"/>
            <a:ext cx="65265" cy="65265"/>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14"/>
          <p:cNvSpPr/>
          <p:nvPr/>
        </p:nvSpPr>
        <p:spPr>
          <a:xfrm>
            <a:off x="502551" y="1462112"/>
            <a:ext cx="65265" cy="65265"/>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14"/>
          <p:cNvSpPr/>
          <p:nvPr/>
        </p:nvSpPr>
        <p:spPr>
          <a:xfrm>
            <a:off x="502551" y="1844217"/>
            <a:ext cx="65265" cy="65265"/>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14"/>
          <p:cNvSpPr/>
          <p:nvPr/>
        </p:nvSpPr>
        <p:spPr>
          <a:xfrm>
            <a:off x="502551" y="2226335"/>
            <a:ext cx="65265" cy="65265"/>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14"/>
          <p:cNvSpPr txBox="1"/>
          <p:nvPr>
            <p:ph idx="1" type="body"/>
          </p:nvPr>
        </p:nvSpPr>
        <p:spPr>
          <a:xfrm>
            <a:off x="349059" y="1124849"/>
            <a:ext cx="3911981" cy="1553845"/>
          </a:xfrm>
          <a:prstGeom prst="rect">
            <a:avLst/>
          </a:prstGeom>
          <a:noFill/>
          <a:ln>
            <a:noFill/>
          </a:ln>
        </p:spPr>
        <p:txBody>
          <a:bodyPr anchorCtr="0" anchor="t" bIns="0" lIns="0" spcFirstLastPara="1" rIns="0" wrap="square" tIns="55225">
            <a:spAutoFit/>
          </a:bodyPr>
          <a:lstStyle/>
          <a:p>
            <a:pPr indent="0" lvl="0" marL="287655" rtl="0" algn="l">
              <a:lnSpc>
                <a:spcPct val="100000"/>
              </a:lnSpc>
              <a:spcBef>
                <a:spcPts val="0"/>
              </a:spcBef>
              <a:spcAft>
                <a:spcPts val="0"/>
              </a:spcAft>
              <a:buNone/>
            </a:pPr>
            <a:r>
              <a:rPr lang="en-US"/>
              <a:t>RTCA stands for Radio Technical Commission for Aeronautics.</a:t>
            </a:r>
            <a:endParaRPr/>
          </a:p>
          <a:p>
            <a:pPr indent="0" lvl="0" marL="287655" marR="78105" rtl="0" algn="l">
              <a:lnSpc>
                <a:spcPct val="102699"/>
              </a:lnSpc>
              <a:spcBef>
                <a:spcPts val="295"/>
              </a:spcBef>
              <a:spcAft>
                <a:spcPts val="0"/>
              </a:spcAft>
              <a:buNone/>
            </a:pPr>
            <a:r>
              <a:rPr lang="en-US"/>
              <a:t>DO-178B (and DO-278) are used to assure safety of avionics  software.</a:t>
            </a:r>
            <a:endParaRPr/>
          </a:p>
          <a:p>
            <a:pPr indent="0" lvl="0" marL="287655" marR="171450" rtl="0" algn="l">
              <a:lnSpc>
                <a:spcPct val="102600"/>
              </a:lnSpc>
              <a:spcBef>
                <a:spcPts val="300"/>
              </a:spcBef>
              <a:spcAft>
                <a:spcPts val="0"/>
              </a:spcAft>
              <a:buNone/>
            </a:pPr>
            <a:r>
              <a:rPr lang="en-US"/>
              <a:t>DO-178C includes the coverage analysis of Object-Oriented  Programs used in safety of avionics software.</a:t>
            </a:r>
            <a:endParaRPr/>
          </a:p>
          <a:p>
            <a:pPr indent="0" lvl="0" marL="287655" marR="62864" rtl="0" algn="l">
              <a:lnSpc>
                <a:spcPct val="102600"/>
              </a:lnSpc>
              <a:spcBef>
                <a:spcPts val="300"/>
              </a:spcBef>
              <a:spcAft>
                <a:spcPts val="0"/>
              </a:spcAft>
              <a:buNone/>
            </a:pPr>
            <a:r>
              <a:rPr lang="en-US"/>
              <a:t>These documents provide guidance in the areas of SW  development, configuration management, verification and the  interface to approval authorities (e.g., FAA, EASA).</a:t>
            </a:r>
            <a:endParaRPr/>
          </a:p>
        </p:txBody>
      </p:sp>
      <p:sp>
        <p:nvSpPr>
          <p:cNvPr id="242" name="Google Shape;242;p14"/>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4"/>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14"/>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14"/>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fld id="{00000000-1234-1234-1234-123412341234}" type="slidenum">
              <a:rPr lang="en-US"/>
              <a:t>‹#›</a:t>
            </a:fld>
            <a:r>
              <a:rPr lang="en-US"/>
              <a:t>/35</a:t>
            </a:r>
            <a:endParaRPr/>
          </a:p>
        </p:txBody>
      </p:sp>
      <p:sp>
        <p:nvSpPr>
          <p:cNvPr id="246" name="Google Shape;246;p14"/>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247" name="Google Shape;247;p14"/>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5"/>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253" name="Google Shape;253;p15"/>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15"/>
          <p:cNvSpPr/>
          <p:nvPr/>
        </p:nvSpPr>
        <p:spPr>
          <a:xfrm>
            <a:off x="0" y="400210"/>
            <a:ext cx="4608004" cy="308729"/>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15"/>
          <p:cNvSpPr txBox="1"/>
          <p:nvPr>
            <p:ph type="title"/>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rtl="0" algn="l">
              <a:lnSpc>
                <a:spcPct val="100000"/>
              </a:lnSpc>
              <a:spcBef>
                <a:spcPts val="0"/>
              </a:spcBef>
              <a:spcAft>
                <a:spcPts val="0"/>
              </a:spcAft>
              <a:buNone/>
            </a:pPr>
            <a:r>
              <a:rPr b="0" lang="en-US">
                <a:latin typeface="Tahoma"/>
                <a:ea typeface="Tahoma"/>
                <a:cs typeface="Tahoma"/>
                <a:sym typeface="Tahoma"/>
              </a:rPr>
              <a:t>Levels of Software</a:t>
            </a:r>
            <a:endParaRPr/>
          </a:p>
        </p:txBody>
      </p:sp>
      <p:sp>
        <p:nvSpPr>
          <p:cNvPr id="256" name="Google Shape;256;p15"/>
          <p:cNvSpPr/>
          <p:nvPr/>
        </p:nvSpPr>
        <p:spPr>
          <a:xfrm>
            <a:off x="386088" y="1028956"/>
            <a:ext cx="3735807" cy="1740338"/>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15"/>
          <p:cNvSpPr txBox="1"/>
          <p:nvPr/>
        </p:nvSpPr>
        <p:spPr>
          <a:xfrm>
            <a:off x="1555521" y="3032181"/>
            <a:ext cx="1497330"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rgbClr val="A91717"/>
                </a:solidFill>
                <a:latin typeface="Arial"/>
                <a:ea typeface="Arial"/>
                <a:cs typeface="Arial"/>
                <a:sym typeface="Arial"/>
              </a:rPr>
              <a:t>Figure 2: </a:t>
            </a:r>
            <a:r>
              <a:rPr lang="en-US" sz="1000">
                <a:solidFill>
                  <a:schemeClr val="dk1"/>
                </a:solidFill>
                <a:latin typeface="Arial"/>
                <a:ea typeface="Arial"/>
                <a:cs typeface="Arial"/>
                <a:sym typeface="Arial"/>
              </a:rPr>
              <a:t>Levels of Software</a:t>
            </a:r>
            <a:endParaRPr sz="1000">
              <a:solidFill>
                <a:schemeClr val="dk1"/>
              </a:solidFill>
              <a:latin typeface="Arial"/>
              <a:ea typeface="Arial"/>
              <a:cs typeface="Arial"/>
              <a:sym typeface="Arial"/>
            </a:endParaRPr>
          </a:p>
        </p:txBody>
      </p:sp>
      <p:sp>
        <p:nvSpPr>
          <p:cNvPr id="258" name="Google Shape;258;p15"/>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5"/>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5"/>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15"/>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fld id="{00000000-1234-1234-1234-123412341234}" type="slidenum">
              <a:rPr lang="en-US"/>
              <a:t>‹#›</a:t>
            </a:fld>
            <a:r>
              <a:rPr lang="en-US"/>
              <a:t>/35</a:t>
            </a:r>
            <a:endParaRPr/>
          </a:p>
        </p:txBody>
      </p:sp>
      <p:sp>
        <p:nvSpPr>
          <p:cNvPr id="262" name="Google Shape;262;p15"/>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263" name="Google Shape;263;p15"/>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6"/>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269" name="Google Shape;269;p16"/>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16"/>
          <p:cNvSpPr/>
          <p:nvPr/>
        </p:nvSpPr>
        <p:spPr>
          <a:xfrm>
            <a:off x="0" y="400210"/>
            <a:ext cx="4608004" cy="308729"/>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16"/>
          <p:cNvSpPr txBox="1"/>
          <p:nvPr>
            <p:ph type="title"/>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rtl="0" algn="l">
              <a:lnSpc>
                <a:spcPct val="100000"/>
              </a:lnSpc>
              <a:spcBef>
                <a:spcPts val="0"/>
              </a:spcBef>
              <a:spcAft>
                <a:spcPts val="0"/>
              </a:spcAft>
              <a:buNone/>
            </a:pPr>
            <a:r>
              <a:rPr b="0" lang="en-US">
                <a:latin typeface="Tahoma"/>
                <a:ea typeface="Tahoma"/>
                <a:cs typeface="Tahoma"/>
                <a:sym typeface="Tahoma"/>
              </a:rPr>
              <a:t>Relation of Coverages</a:t>
            </a:r>
            <a:endParaRPr/>
          </a:p>
        </p:txBody>
      </p:sp>
      <p:sp>
        <p:nvSpPr>
          <p:cNvPr id="272" name="Google Shape;272;p16"/>
          <p:cNvSpPr/>
          <p:nvPr/>
        </p:nvSpPr>
        <p:spPr>
          <a:xfrm>
            <a:off x="918033" y="1017197"/>
            <a:ext cx="2625530" cy="169506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16"/>
          <p:cNvSpPr txBox="1"/>
          <p:nvPr/>
        </p:nvSpPr>
        <p:spPr>
          <a:xfrm>
            <a:off x="1459483" y="2817627"/>
            <a:ext cx="1689100"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rgbClr val="A91717"/>
                </a:solidFill>
                <a:latin typeface="Arial"/>
                <a:ea typeface="Arial"/>
                <a:cs typeface="Arial"/>
                <a:sym typeface="Arial"/>
              </a:rPr>
              <a:t>Figure 3: </a:t>
            </a:r>
            <a:r>
              <a:rPr lang="en-US" sz="1000">
                <a:solidFill>
                  <a:schemeClr val="dk1"/>
                </a:solidFill>
                <a:latin typeface="Arial"/>
                <a:ea typeface="Arial"/>
                <a:cs typeface="Arial"/>
                <a:sym typeface="Arial"/>
              </a:rPr>
              <a:t>Relation of Coverages</a:t>
            </a:r>
            <a:endParaRPr sz="1000">
              <a:solidFill>
                <a:schemeClr val="dk1"/>
              </a:solidFill>
              <a:latin typeface="Arial"/>
              <a:ea typeface="Arial"/>
              <a:cs typeface="Arial"/>
              <a:sym typeface="Arial"/>
            </a:endParaRPr>
          </a:p>
        </p:txBody>
      </p:sp>
      <p:sp>
        <p:nvSpPr>
          <p:cNvPr id="274" name="Google Shape;274;p16"/>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6"/>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16"/>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6"/>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fld id="{00000000-1234-1234-1234-123412341234}" type="slidenum">
              <a:rPr lang="en-US"/>
              <a:t>‹#›</a:t>
            </a:fld>
            <a:r>
              <a:rPr lang="en-US"/>
              <a:t>/35</a:t>
            </a:r>
            <a:endParaRPr/>
          </a:p>
        </p:txBody>
      </p:sp>
      <p:sp>
        <p:nvSpPr>
          <p:cNvPr id="278" name="Google Shape;278;p16"/>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279" name="Google Shape;279;p16"/>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7"/>
          <p:cNvSpPr txBox="1"/>
          <p:nvPr>
            <p:ph type="title"/>
          </p:nvPr>
        </p:nvSpPr>
        <p:spPr>
          <a:xfrm>
            <a:off x="400050" y="511175"/>
            <a:ext cx="3767302" cy="430887"/>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US"/>
              <a:t>LCSAJ</a:t>
            </a:r>
            <a:r>
              <a:rPr lang="en-US" sz="1100">
                <a:solidFill>
                  <a:schemeClr val="dk1"/>
                </a:solidFill>
              </a:rPr>
              <a:t> </a:t>
            </a:r>
            <a:r>
              <a:rPr b="0" lang="en-US" sz="2800">
                <a:solidFill>
                  <a:schemeClr val="dk1"/>
                </a:solidFill>
              </a:rPr>
              <a:t>LCSAJ Coverage</a:t>
            </a:r>
            <a:endParaRPr/>
          </a:p>
        </p:txBody>
      </p:sp>
      <p:sp>
        <p:nvSpPr>
          <p:cNvPr id="285" name="Google Shape;285;p17"/>
          <p:cNvSpPr txBox="1"/>
          <p:nvPr>
            <p:ph idx="1" type="body"/>
          </p:nvPr>
        </p:nvSpPr>
        <p:spPr>
          <a:xfrm>
            <a:off x="400050" y="1044575"/>
            <a:ext cx="4038600" cy="1828800"/>
          </a:xfrm>
          <a:prstGeom prst="rect">
            <a:avLst/>
          </a:prstGeom>
          <a:noFill/>
          <a:ln>
            <a:noFill/>
          </a:ln>
        </p:spPr>
        <p:txBody>
          <a:bodyPr anchorCtr="0" anchor="t" bIns="0" lIns="0" spcFirstLastPara="1" rIns="0" wrap="square" tIns="0">
            <a:spAutoFit/>
          </a:bodyPr>
          <a:lstStyle/>
          <a:p>
            <a:pPr indent="-88900" lvl="0" marL="0" rtl="0" algn="just">
              <a:spcBef>
                <a:spcPts val="0"/>
              </a:spcBef>
              <a:spcAft>
                <a:spcPts val="0"/>
              </a:spcAft>
              <a:buClr>
                <a:schemeClr val="dk1"/>
              </a:buClr>
              <a:buSzPts val="1400"/>
              <a:buFont typeface="Arial"/>
              <a:buChar char="•"/>
            </a:pPr>
            <a:r>
              <a:rPr b="1" lang="en-US" sz="1400"/>
              <a:t> LCSAJ</a:t>
            </a:r>
            <a:r>
              <a:rPr lang="en-US" sz="1400"/>
              <a:t> stands for Linear Code Sequence and Jump.</a:t>
            </a:r>
            <a:endParaRPr/>
          </a:p>
          <a:p>
            <a:pPr indent="-88900" lvl="0" marL="0" rtl="0" algn="just">
              <a:spcBef>
                <a:spcPts val="0"/>
              </a:spcBef>
              <a:spcAft>
                <a:spcPts val="0"/>
              </a:spcAft>
              <a:buClr>
                <a:schemeClr val="dk1"/>
              </a:buClr>
              <a:buSzPts val="1400"/>
              <a:buFont typeface="Arial"/>
              <a:buChar char="•"/>
            </a:pPr>
            <a:r>
              <a:rPr lang="en-US" sz="1400"/>
              <a:t>  It is a white box </a:t>
            </a:r>
            <a:r>
              <a:rPr b="1" lang="en-US" sz="1400"/>
              <a:t>testing</a:t>
            </a:r>
            <a:r>
              <a:rPr lang="en-US" sz="1400"/>
              <a:t> technique to identify the </a:t>
            </a:r>
            <a:r>
              <a:rPr b="1" lang="en-US" sz="1400"/>
              <a:t>code</a:t>
            </a:r>
            <a:r>
              <a:rPr lang="en-US" sz="1400"/>
              <a:t> </a:t>
            </a:r>
            <a:r>
              <a:rPr b="1" lang="en-US" sz="1400"/>
              <a:t>coverage</a:t>
            </a:r>
            <a:r>
              <a:rPr lang="en-US" sz="1400"/>
              <a:t>. </a:t>
            </a:r>
            <a:endParaRPr/>
          </a:p>
          <a:p>
            <a:pPr indent="-88900" lvl="0" marL="0" rtl="0" algn="just">
              <a:spcBef>
                <a:spcPts val="0"/>
              </a:spcBef>
              <a:spcAft>
                <a:spcPts val="0"/>
              </a:spcAft>
              <a:buClr>
                <a:schemeClr val="dk1"/>
              </a:buClr>
              <a:buSzPts val="1400"/>
              <a:buFont typeface="Arial"/>
              <a:buChar char="•"/>
            </a:pPr>
            <a:r>
              <a:rPr lang="en-US" sz="1400"/>
              <a:t>  It begins at the start of the program or branch and ends at the end of the program or the branch. </a:t>
            </a:r>
            <a:endParaRPr/>
          </a:p>
          <a:p>
            <a:pPr indent="-88900" lvl="0" marL="0" rtl="0" algn="just">
              <a:spcBef>
                <a:spcPts val="0"/>
              </a:spcBef>
              <a:spcAft>
                <a:spcPts val="0"/>
              </a:spcAft>
              <a:buClr>
                <a:schemeClr val="dk1"/>
              </a:buClr>
              <a:buSzPts val="1400"/>
              <a:buFont typeface="Arial"/>
              <a:buChar char="•"/>
            </a:pPr>
            <a:r>
              <a:rPr b="1" lang="en-US" sz="1400"/>
              <a:t>LCSAJ</a:t>
            </a:r>
            <a:r>
              <a:rPr lang="en-US" sz="1400"/>
              <a:t> is ordinarily equivalent to </a:t>
            </a:r>
            <a:r>
              <a:rPr b="1" lang="en-US" sz="1400"/>
              <a:t>statement</a:t>
            </a:r>
            <a:r>
              <a:rPr lang="en-US" sz="1400"/>
              <a:t> </a:t>
            </a:r>
            <a:r>
              <a:rPr b="1" lang="en-US" sz="1400"/>
              <a:t>coverage</a:t>
            </a:r>
            <a:r>
              <a:rPr lang="en-US" sz="1400"/>
              <a:t>.</a:t>
            </a:r>
            <a:endParaRPr sz="1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8"/>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291" name="Google Shape;291;p18"/>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8"/>
          <p:cNvSpPr/>
          <p:nvPr/>
        </p:nvSpPr>
        <p:spPr>
          <a:xfrm>
            <a:off x="0" y="400210"/>
            <a:ext cx="4608004" cy="308729"/>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18"/>
          <p:cNvSpPr txBox="1"/>
          <p:nvPr>
            <p:ph type="title"/>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rtl="0" algn="l">
              <a:lnSpc>
                <a:spcPct val="100000"/>
              </a:lnSpc>
              <a:spcBef>
                <a:spcPts val="0"/>
              </a:spcBef>
              <a:spcAft>
                <a:spcPts val="0"/>
              </a:spcAft>
              <a:buNone/>
            </a:pPr>
            <a:r>
              <a:rPr b="0" lang="en-US">
                <a:latin typeface="Tahoma"/>
                <a:ea typeface="Tahoma"/>
                <a:cs typeface="Tahoma"/>
                <a:sym typeface="Tahoma"/>
              </a:rPr>
              <a:t>Types of Structural Coverage</a:t>
            </a:r>
            <a:endParaRPr/>
          </a:p>
        </p:txBody>
      </p:sp>
      <p:sp>
        <p:nvSpPr>
          <p:cNvPr id="294" name="Google Shape;294;p18"/>
          <p:cNvSpPr/>
          <p:nvPr/>
        </p:nvSpPr>
        <p:spPr>
          <a:xfrm>
            <a:off x="431088" y="1044684"/>
            <a:ext cx="3665815" cy="1938635"/>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18"/>
          <p:cNvSpPr txBox="1"/>
          <p:nvPr/>
        </p:nvSpPr>
        <p:spPr>
          <a:xfrm>
            <a:off x="1880971" y="3089254"/>
            <a:ext cx="846455"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rgbClr val="A91717"/>
                </a:solidFill>
                <a:latin typeface="Arial"/>
                <a:ea typeface="Arial"/>
                <a:cs typeface="Arial"/>
                <a:sym typeface="Arial"/>
              </a:rPr>
              <a:t>Figure 4: </a:t>
            </a:r>
            <a:r>
              <a:rPr lang="en-US" sz="1000">
                <a:solidFill>
                  <a:schemeClr val="dk1"/>
                </a:solidFill>
                <a:latin typeface="Arial"/>
                <a:ea typeface="Arial"/>
                <a:cs typeface="Arial"/>
                <a:sym typeface="Arial"/>
              </a:rPr>
              <a:t>Types</a:t>
            </a:r>
            <a:endParaRPr sz="1000">
              <a:solidFill>
                <a:schemeClr val="dk1"/>
              </a:solidFill>
              <a:latin typeface="Arial"/>
              <a:ea typeface="Arial"/>
              <a:cs typeface="Arial"/>
              <a:sym typeface="Arial"/>
            </a:endParaRPr>
          </a:p>
        </p:txBody>
      </p:sp>
      <p:sp>
        <p:nvSpPr>
          <p:cNvPr id="296" name="Google Shape;296;p18"/>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18"/>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8"/>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18"/>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fld id="{00000000-1234-1234-1234-123412341234}" type="slidenum">
              <a:rPr lang="en-US"/>
              <a:t>‹#›</a:t>
            </a:fld>
            <a:r>
              <a:rPr lang="en-US"/>
              <a:t>/35</a:t>
            </a:r>
            <a:endParaRPr/>
          </a:p>
        </p:txBody>
      </p:sp>
      <p:sp>
        <p:nvSpPr>
          <p:cNvPr id="300" name="Google Shape;300;p18"/>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301" name="Google Shape;301;p18"/>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9"/>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307" name="Google Shape;307;p19"/>
          <p:cNvSpPr txBox="1"/>
          <p:nvPr/>
        </p:nvSpPr>
        <p:spPr>
          <a:xfrm>
            <a:off x="2303995" y="0"/>
            <a:ext cx="2304415" cy="40068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308" name="Google Shape;308;p19"/>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19"/>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Definitions</a:t>
            </a:r>
            <a:endParaRPr sz="1400">
              <a:solidFill>
                <a:schemeClr val="dk1"/>
              </a:solidFill>
              <a:latin typeface="Tahoma"/>
              <a:ea typeface="Tahoma"/>
              <a:cs typeface="Tahoma"/>
              <a:sym typeface="Tahoma"/>
            </a:endParaRPr>
          </a:p>
        </p:txBody>
      </p:sp>
      <p:sp>
        <p:nvSpPr>
          <p:cNvPr id="310" name="Google Shape;310;p19"/>
          <p:cNvSpPr/>
          <p:nvPr/>
        </p:nvSpPr>
        <p:spPr>
          <a:xfrm>
            <a:off x="309193" y="1268424"/>
            <a:ext cx="3989704" cy="202565"/>
          </a:xfrm>
          <a:custGeom>
            <a:rect b="b" l="l" r="r" t="t"/>
            <a:pathLst>
              <a:path extrusionOk="0" h="202565" w="3989704">
                <a:moveTo>
                  <a:pt x="3938852" y="0"/>
                </a:moveTo>
                <a:lnTo>
                  <a:pt x="50800" y="0"/>
                </a:lnTo>
                <a:lnTo>
                  <a:pt x="31075" y="4008"/>
                </a:lnTo>
                <a:lnTo>
                  <a:pt x="14922" y="14922"/>
                </a:lnTo>
                <a:lnTo>
                  <a:pt x="4008" y="31075"/>
                </a:lnTo>
                <a:lnTo>
                  <a:pt x="0" y="50800"/>
                </a:lnTo>
                <a:lnTo>
                  <a:pt x="0" y="201952"/>
                </a:lnTo>
                <a:lnTo>
                  <a:pt x="3989652" y="201952"/>
                </a:lnTo>
                <a:lnTo>
                  <a:pt x="3989652" y="50800"/>
                </a:lnTo>
                <a:lnTo>
                  <a:pt x="3985644" y="31075"/>
                </a:lnTo>
                <a:lnTo>
                  <a:pt x="3974729" y="14922"/>
                </a:lnTo>
                <a:lnTo>
                  <a:pt x="3958576" y="4008"/>
                </a:lnTo>
                <a:lnTo>
                  <a:pt x="3938852" y="0"/>
                </a:lnTo>
                <a:close/>
              </a:path>
            </a:pathLst>
          </a:custGeom>
          <a:solidFill>
            <a:srgbClr val="7E11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9"/>
          <p:cNvSpPr/>
          <p:nvPr/>
        </p:nvSpPr>
        <p:spPr>
          <a:xfrm>
            <a:off x="309194" y="1457718"/>
            <a:ext cx="3989651" cy="50609"/>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19"/>
          <p:cNvSpPr/>
          <p:nvPr/>
        </p:nvSpPr>
        <p:spPr>
          <a:xfrm>
            <a:off x="359994" y="2504465"/>
            <a:ext cx="101600" cy="101600"/>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19"/>
          <p:cNvSpPr/>
          <p:nvPr/>
        </p:nvSpPr>
        <p:spPr>
          <a:xfrm>
            <a:off x="410794" y="2491765"/>
            <a:ext cx="3938802" cy="114300"/>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19"/>
          <p:cNvSpPr/>
          <p:nvPr/>
        </p:nvSpPr>
        <p:spPr>
          <a:xfrm>
            <a:off x="4298846" y="1312659"/>
            <a:ext cx="50751" cy="1191806"/>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19"/>
          <p:cNvSpPr/>
          <p:nvPr/>
        </p:nvSpPr>
        <p:spPr>
          <a:xfrm>
            <a:off x="309193" y="1501995"/>
            <a:ext cx="3989704" cy="1053465"/>
          </a:xfrm>
          <a:custGeom>
            <a:rect b="b" l="l" r="r" t="t"/>
            <a:pathLst>
              <a:path extrusionOk="0" h="1053464" w="3989704">
                <a:moveTo>
                  <a:pt x="3989652" y="0"/>
                </a:moveTo>
                <a:lnTo>
                  <a:pt x="0" y="0"/>
                </a:lnTo>
                <a:lnTo>
                  <a:pt x="0" y="1002469"/>
                </a:lnTo>
                <a:lnTo>
                  <a:pt x="4008" y="1022194"/>
                </a:lnTo>
                <a:lnTo>
                  <a:pt x="14922" y="1038347"/>
                </a:lnTo>
                <a:lnTo>
                  <a:pt x="31075" y="1049261"/>
                </a:lnTo>
                <a:lnTo>
                  <a:pt x="50800" y="1053270"/>
                </a:lnTo>
                <a:lnTo>
                  <a:pt x="3938852" y="1053270"/>
                </a:lnTo>
                <a:lnTo>
                  <a:pt x="3958576" y="1049261"/>
                </a:lnTo>
                <a:lnTo>
                  <a:pt x="3974729" y="1038347"/>
                </a:lnTo>
                <a:lnTo>
                  <a:pt x="3985644" y="1022194"/>
                </a:lnTo>
                <a:lnTo>
                  <a:pt x="3989652" y="1002469"/>
                </a:lnTo>
                <a:lnTo>
                  <a:pt x="39896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19"/>
          <p:cNvSpPr/>
          <p:nvPr/>
        </p:nvSpPr>
        <p:spPr>
          <a:xfrm>
            <a:off x="4298846" y="1350748"/>
            <a:ext cx="0" cy="1172845"/>
          </a:xfrm>
          <a:custGeom>
            <a:rect b="b" l="l" r="r" t="t"/>
            <a:pathLst>
              <a:path extrusionOk="0" h="1172845" w="120000">
                <a:moveTo>
                  <a:pt x="0" y="1172766"/>
                </a:moveTo>
                <a:lnTo>
                  <a:pt x="0" y="0"/>
                </a:lnTo>
              </a:path>
            </a:pathLst>
          </a:custGeom>
          <a:noFill/>
          <a:ln cap="flat" cmpd="sng" w="9525">
            <a:solidFill>
              <a:srgbClr val="7F7F7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19"/>
          <p:cNvSpPr/>
          <p:nvPr/>
        </p:nvSpPr>
        <p:spPr>
          <a:xfrm>
            <a:off x="4298846" y="1338048"/>
            <a:ext cx="0" cy="12700"/>
          </a:xfrm>
          <a:custGeom>
            <a:rect b="b" l="l" r="r" t="t"/>
            <a:pathLst>
              <a:path extrusionOk="0" h="12700" w="120000">
                <a:moveTo>
                  <a:pt x="0" y="12700"/>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19"/>
          <p:cNvSpPr/>
          <p:nvPr/>
        </p:nvSpPr>
        <p:spPr>
          <a:xfrm>
            <a:off x="4298846" y="1325348"/>
            <a:ext cx="0" cy="12700"/>
          </a:xfrm>
          <a:custGeom>
            <a:rect b="b" l="l" r="r" t="t"/>
            <a:pathLst>
              <a:path extrusionOk="0" h="12700" w="120000">
                <a:moveTo>
                  <a:pt x="0" y="12700"/>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19"/>
          <p:cNvSpPr/>
          <p:nvPr/>
        </p:nvSpPr>
        <p:spPr>
          <a:xfrm>
            <a:off x="4298846" y="1312648"/>
            <a:ext cx="0" cy="12700"/>
          </a:xfrm>
          <a:custGeom>
            <a:rect b="b" l="l" r="r" t="t"/>
            <a:pathLst>
              <a:path extrusionOk="0" h="12700" w="120000">
                <a:moveTo>
                  <a:pt x="0" y="12700"/>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19"/>
          <p:cNvSpPr txBox="1"/>
          <p:nvPr/>
        </p:nvSpPr>
        <p:spPr>
          <a:xfrm>
            <a:off x="347294" y="1212352"/>
            <a:ext cx="3914140" cy="1312545"/>
          </a:xfrm>
          <a:prstGeom prst="rect">
            <a:avLst/>
          </a:prstGeom>
          <a:noFill/>
          <a:ln>
            <a:noFill/>
          </a:ln>
        </p:spPr>
        <p:txBody>
          <a:bodyPr anchorCtr="0" anchor="t" bIns="0" lIns="0" spcFirstLastPara="1" rIns="0" wrap="square" tIns="58400">
            <a:spAutoFit/>
          </a:bodyPr>
          <a:lstStyle/>
          <a:p>
            <a:pPr indent="0" lvl="0" marL="12700" marR="0" rtl="0" algn="l">
              <a:lnSpc>
                <a:spcPct val="100000"/>
              </a:lnSpc>
              <a:spcBef>
                <a:spcPts val="0"/>
              </a:spcBef>
              <a:spcAft>
                <a:spcPts val="0"/>
              </a:spcAft>
              <a:buNone/>
            </a:pPr>
            <a:r>
              <a:rPr lang="en-US" sz="1100">
                <a:solidFill>
                  <a:srgbClr val="FFFFFF"/>
                </a:solidFill>
                <a:latin typeface="Arial"/>
                <a:ea typeface="Arial"/>
                <a:cs typeface="Arial"/>
                <a:sym typeface="Arial"/>
              </a:rPr>
              <a:t>Predicate / Boolean Expression</a:t>
            </a:r>
            <a:endParaRPr sz="1100">
              <a:solidFill>
                <a:schemeClr val="dk1"/>
              </a:solidFill>
              <a:latin typeface="Arial"/>
              <a:ea typeface="Arial"/>
              <a:cs typeface="Arial"/>
              <a:sym typeface="Arial"/>
            </a:endParaRPr>
          </a:p>
          <a:p>
            <a:pPr indent="0" lvl="0" marL="12700" marR="325120" rtl="0" algn="l">
              <a:lnSpc>
                <a:spcPct val="102600"/>
              </a:lnSpc>
              <a:spcBef>
                <a:spcPts val="320"/>
              </a:spcBef>
              <a:spcAft>
                <a:spcPts val="0"/>
              </a:spcAft>
              <a:buNone/>
            </a:pPr>
            <a:r>
              <a:rPr b="1" lang="en-US" sz="1100">
                <a:solidFill>
                  <a:schemeClr val="dk1"/>
                </a:solidFill>
                <a:latin typeface="Arial"/>
                <a:ea typeface="Arial"/>
                <a:cs typeface="Arial"/>
                <a:sym typeface="Arial"/>
              </a:rPr>
              <a:t>A predicate is an expression that evaluates to a boolean  value, and which is required for our approach.</a:t>
            </a:r>
            <a:endParaRPr sz="1100">
              <a:solidFill>
                <a:schemeClr val="dk1"/>
              </a:solidFill>
              <a:latin typeface="Arial"/>
              <a:ea typeface="Arial"/>
              <a:cs typeface="Arial"/>
              <a:sym typeface="Arial"/>
            </a:endParaRPr>
          </a:p>
          <a:p>
            <a:pPr indent="0" lvl="0" marL="12700" marR="5080" rtl="0" algn="l">
              <a:lnSpc>
                <a:spcPct val="102600"/>
              </a:lnSpc>
              <a:spcBef>
                <a:spcPts val="0"/>
              </a:spcBef>
              <a:spcAft>
                <a:spcPts val="0"/>
              </a:spcAft>
              <a:buNone/>
            </a:pPr>
            <a:r>
              <a:rPr lang="en-US" sz="1100">
                <a:solidFill>
                  <a:schemeClr val="dk1"/>
                </a:solidFill>
                <a:latin typeface="Arial"/>
                <a:ea typeface="Arial"/>
                <a:cs typeface="Arial"/>
                <a:sym typeface="Arial"/>
              </a:rPr>
              <a:t>A simple example is: ((</a:t>
            </a:r>
            <a:r>
              <a:rPr i="1" lang="en-US" sz="1100">
                <a:solidFill>
                  <a:schemeClr val="dk1"/>
                </a:solidFill>
                <a:latin typeface="Trebuchet MS"/>
                <a:ea typeface="Trebuchet MS"/>
                <a:cs typeface="Trebuchet MS"/>
                <a:sym typeface="Trebuchet MS"/>
              </a:rPr>
              <a:t>a </a:t>
            </a:r>
            <a:r>
              <a:rPr i="1" lang="en-US" sz="1100">
                <a:solidFill>
                  <a:schemeClr val="dk1"/>
                </a:solidFill>
                <a:latin typeface="Verdana"/>
                <a:ea typeface="Verdana"/>
                <a:cs typeface="Verdana"/>
                <a:sym typeface="Verdana"/>
              </a:rPr>
              <a:t>&gt; </a:t>
            </a:r>
            <a:r>
              <a:rPr i="1" lang="en-US" sz="1100">
                <a:solidFill>
                  <a:schemeClr val="dk1"/>
                </a:solidFill>
                <a:latin typeface="Trebuchet MS"/>
                <a:ea typeface="Trebuchet MS"/>
                <a:cs typeface="Trebuchet MS"/>
                <a:sym typeface="Trebuchet MS"/>
              </a:rPr>
              <a:t>b</a:t>
            </a:r>
            <a:r>
              <a:rPr lang="en-US" sz="1100">
                <a:solidFill>
                  <a:schemeClr val="dk1"/>
                </a:solidFill>
                <a:latin typeface="Arial"/>
                <a:ea typeface="Arial"/>
                <a:cs typeface="Arial"/>
                <a:sym typeface="Arial"/>
              </a:rPr>
              <a:t>) </a:t>
            </a:r>
            <a:r>
              <a:rPr i="1" lang="en-US" sz="1100">
                <a:solidFill>
                  <a:schemeClr val="dk1"/>
                </a:solidFill>
                <a:latin typeface="Palatino Linotype"/>
                <a:ea typeface="Palatino Linotype"/>
                <a:cs typeface="Palatino Linotype"/>
                <a:sym typeface="Palatino Linotype"/>
              </a:rPr>
              <a:t>∨ </a:t>
            </a:r>
            <a:r>
              <a:rPr i="1" lang="en-US" sz="1100">
                <a:solidFill>
                  <a:schemeClr val="dk1"/>
                </a:solidFill>
                <a:latin typeface="Trebuchet MS"/>
                <a:ea typeface="Trebuchet MS"/>
                <a:cs typeface="Trebuchet MS"/>
                <a:sym typeface="Trebuchet MS"/>
              </a:rPr>
              <a:t>C </a:t>
            </a:r>
            <a:r>
              <a:rPr lang="en-US" sz="1100">
                <a:solidFill>
                  <a:schemeClr val="dk1"/>
                </a:solidFill>
                <a:latin typeface="Arial"/>
                <a:ea typeface="Arial"/>
                <a:cs typeface="Arial"/>
                <a:sym typeface="Arial"/>
              </a:rPr>
              <a:t>) </a:t>
            </a:r>
            <a:r>
              <a:rPr i="1" lang="en-US" sz="1100">
                <a:solidFill>
                  <a:schemeClr val="dk1"/>
                </a:solidFill>
                <a:latin typeface="Palatino Linotype"/>
                <a:ea typeface="Palatino Linotype"/>
                <a:cs typeface="Palatino Linotype"/>
                <a:sym typeface="Palatino Linotype"/>
              </a:rPr>
              <a:t>∧ </a:t>
            </a:r>
            <a:r>
              <a:rPr i="1" lang="en-US" sz="1100">
                <a:solidFill>
                  <a:schemeClr val="dk1"/>
                </a:solidFill>
                <a:latin typeface="Trebuchet MS"/>
                <a:ea typeface="Trebuchet MS"/>
                <a:cs typeface="Trebuchet MS"/>
                <a:sym typeface="Trebuchet MS"/>
              </a:rPr>
              <a:t>p</a:t>
            </a:r>
            <a:r>
              <a:rPr lang="en-US" sz="1100">
                <a:solidFill>
                  <a:schemeClr val="dk1"/>
                </a:solidFill>
                <a:latin typeface="Arial"/>
                <a:ea typeface="Arial"/>
                <a:cs typeface="Arial"/>
                <a:sym typeface="Arial"/>
              </a:rPr>
              <a:t>(</a:t>
            </a:r>
            <a:r>
              <a:rPr i="1" lang="en-US" sz="1100">
                <a:solidFill>
                  <a:schemeClr val="dk1"/>
                </a:solidFill>
                <a:latin typeface="Trebuchet MS"/>
                <a:ea typeface="Trebuchet MS"/>
                <a:cs typeface="Trebuchet MS"/>
                <a:sym typeface="Trebuchet MS"/>
              </a:rPr>
              <a:t>x </a:t>
            </a:r>
            <a:r>
              <a:rPr lang="en-US" sz="1100">
                <a:solidFill>
                  <a:schemeClr val="dk1"/>
                </a:solidFill>
                <a:latin typeface="Arial"/>
                <a:ea typeface="Arial"/>
                <a:cs typeface="Arial"/>
                <a:sym typeface="Arial"/>
              </a:rPr>
              <a:t>). Predicates may contain  boolean variables, non-boolean variables that are compared with  relational operators, and calls to function that return a  boolean  value, all three of which may be joined with logical operators.</a:t>
            </a:r>
            <a:endParaRPr sz="1100">
              <a:solidFill>
                <a:schemeClr val="dk1"/>
              </a:solidFill>
              <a:latin typeface="Arial"/>
              <a:ea typeface="Arial"/>
              <a:cs typeface="Arial"/>
              <a:sym typeface="Arial"/>
            </a:endParaRPr>
          </a:p>
        </p:txBody>
      </p:sp>
      <p:sp>
        <p:nvSpPr>
          <p:cNvPr id="321" name="Google Shape;321;p19"/>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19"/>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19"/>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19"/>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12/35</a:t>
            </a:r>
            <a:endParaRPr sz="600">
              <a:solidFill>
                <a:schemeClr val="dk1"/>
              </a:solidFill>
              <a:latin typeface="Arial"/>
              <a:ea typeface="Arial"/>
              <a:cs typeface="Arial"/>
              <a:sym typeface="Arial"/>
            </a:endParaRPr>
          </a:p>
        </p:txBody>
      </p:sp>
      <p:sp>
        <p:nvSpPr>
          <p:cNvPr id="325" name="Google Shape;325;p19"/>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326" name="Google Shape;326;p19"/>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5"/>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0"/>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332" name="Google Shape;332;p20"/>
          <p:cNvSpPr txBox="1"/>
          <p:nvPr/>
        </p:nvSpPr>
        <p:spPr>
          <a:xfrm>
            <a:off x="2303995" y="0"/>
            <a:ext cx="2304415" cy="40068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333" name="Google Shape;333;p20"/>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20"/>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Definitions</a:t>
            </a:r>
            <a:endParaRPr sz="1400">
              <a:solidFill>
                <a:schemeClr val="dk1"/>
              </a:solidFill>
              <a:latin typeface="Tahoma"/>
              <a:ea typeface="Tahoma"/>
              <a:cs typeface="Tahoma"/>
              <a:sym typeface="Tahoma"/>
            </a:endParaRPr>
          </a:p>
        </p:txBody>
      </p:sp>
      <p:sp>
        <p:nvSpPr>
          <p:cNvPr id="335" name="Google Shape;335;p20"/>
          <p:cNvSpPr/>
          <p:nvPr/>
        </p:nvSpPr>
        <p:spPr>
          <a:xfrm>
            <a:off x="309193" y="1488769"/>
            <a:ext cx="3989704" cy="186690"/>
          </a:xfrm>
          <a:custGeom>
            <a:rect b="b" l="l" r="r" t="t"/>
            <a:pathLst>
              <a:path extrusionOk="0" h="186689" w="3989704">
                <a:moveTo>
                  <a:pt x="3938852" y="0"/>
                </a:moveTo>
                <a:lnTo>
                  <a:pt x="50800" y="0"/>
                </a:lnTo>
                <a:lnTo>
                  <a:pt x="31075" y="4008"/>
                </a:lnTo>
                <a:lnTo>
                  <a:pt x="14922" y="14922"/>
                </a:lnTo>
                <a:lnTo>
                  <a:pt x="4008" y="31075"/>
                </a:lnTo>
                <a:lnTo>
                  <a:pt x="0" y="50800"/>
                </a:lnTo>
                <a:lnTo>
                  <a:pt x="0" y="186558"/>
                </a:lnTo>
                <a:lnTo>
                  <a:pt x="3989652" y="186558"/>
                </a:lnTo>
                <a:lnTo>
                  <a:pt x="3989652" y="50800"/>
                </a:lnTo>
                <a:lnTo>
                  <a:pt x="3985644" y="31075"/>
                </a:lnTo>
                <a:lnTo>
                  <a:pt x="3974729" y="14922"/>
                </a:lnTo>
                <a:lnTo>
                  <a:pt x="3958576" y="4008"/>
                </a:lnTo>
                <a:lnTo>
                  <a:pt x="3938852" y="0"/>
                </a:lnTo>
                <a:close/>
              </a:path>
            </a:pathLst>
          </a:custGeom>
          <a:solidFill>
            <a:srgbClr val="7E11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20"/>
          <p:cNvSpPr/>
          <p:nvPr/>
        </p:nvSpPr>
        <p:spPr>
          <a:xfrm>
            <a:off x="309194" y="1662671"/>
            <a:ext cx="3989651" cy="50609"/>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20"/>
          <p:cNvSpPr/>
          <p:nvPr/>
        </p:nvSpPr>
        <p:spPr>
          <a:xfrm>
            <a:off x="359994" y="2173947"/>
            <a:ext cx="101600" cy="101600"/>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20"/>
          <p:cNvSpPr/>
          <p:nvPr/>
        </p:nvSpPr>
        <p:spPr>
          <a:xfrm>
            <a:off x="410794" y="2161247"/>
            <a:ext cx="3938802" cy="114300"/>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20"/>
          <p:cNvSpPr/>
          <p:nvPr/>
        </p:nvSpPr>
        <p:spPr>
          <a:xfrm>
            <a:off x="4298846" y="1533004"/>
            <a:ext cx="50751" cy="640943"/>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20"/>
          <p:cNvSpPr/>
          <p:nvPr/>
        </p:nvSpPr>
        <p:spPr>
          <a:xfrm>
            <a:off x="309193" y="1706951"/>
            <a:ext cx="3989704" cy="518159"/>
          </a:xfrm>
          <a:custGeom>
            <a:rect b="b" l="l" r="r" t="t"/>
            <a:pathLst>
              <a:path extrusionOk="0" h="518160" w="3989704">
                <a:moveTo>
                  <a:pt x="3989652" y="0"/>
                </a:moveTo>
                <a:lnTo>
                  <a:pt x="0" y="0"/>
                </a:lnTo>
                <a:lnTo>
                  <a:pt x="0" y="466996"/>
                </a:lnTo>
                <a:lnTo>
                  <a:pt x="4008" y="486720"/>
                </a:lnTo>
                <a:lnTo>
                  <a:pt x="14922" y="502873"/>
                </a:lnTo>
                <a:lnTo>
                  <a:pt x="31075" y="513788"/>
                </a:lnTo>
                <a:lnTo>
                  <a:pt x="50800" y="517796"/>
                </a:lnTo>
                <a:lnTo>
                  <a:pt x="3938852" y="517796"/>
                </a:lnTo>
                <a:lnTo>
                  <a:pt x="3958576" y="513788"/>
                </a:lnTo>
                <a:lnTo>
                  <a:pt x="3974729" y="502873"/>
                </a:lnTo>
                <a:lnTo>
                  <a:pt x="3985644" y="486720"/>
                </a:lnTo>
                <a:lnTo>
                  <a:pt x="3989652" y="466996"/>
                </a:lnTo>
                <a:lnTo>
                  <a:pt x="39896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20"/>
          <p:cNvSpPr/>
          <p:nvPr/>
        </p:nvSpPr>
        <p:spPr>
          <a:xfrm>
            <a:off x="4298846" y="1571098"/>
            <a:ext cx="0" cy="622300"/>
          </a:xfrm>
          <a:custGeom>
            <a:rect b="b" l="l" r="r" t="t"/>
            <a:pathLst>
              <a:path extrusionOk="0" h="622300" w="120000">
                <a:moveTo>
                  <a:pt x="0" y="621898"/>
                </a:moveTo>
                <a:lnTo>
                  <a:pt x="0" y="0"/>
                </a:lnTo>
              </a:path>
            </a:pathLst>
          </a:custGeom>
          <a:noFill/>
          <a:ln cap="flat" cmpd="sng" w="9525">
            <a:solidFill>
              <a:srgbClr val="7F7F7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20"/>
          <p:cNvSpPr/>
          <p:nvPr/>
        </p:nvSpPr>
        <p:spPr>
          <a:xfrm>
            <a:off x="4298846" y="1558398"/>
            <a:ext cx="0" cy="12700"/>
          </a:xfrm>
          <a:custGeom>
            <a:rect b="b" l="l" r="r" t="t"/>
            <a:pathLst>
              <a:path extrusionOk="0" h="12700" w="120000">
                <a:moveTo>
                  <a:pt x="0" y="12699"/>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20"/>
          <p:cNvSpPr/>
          <p:nvPr/>
        </p:nvSpPr>
        <p:spPr>
          <a:xfrm>
            <a:off x="4298846" y="1545698"/>
            <a:ext cx="0" cy="12700"/>
          </a:xfrm>
          <a:custGeom>
            <a:rect b="b" l="l" r="r" t="t"/>
            <a:pathLst>
              <a:path extrusionOk="0" h="12700" w="120000">
                <a:moveTo>
                  <a:pt x="0" y="12699"/>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20"/>
          <p:cNvSpPr/>
          <p:nvPr/>
        </p:nvSpPr>
        <p:spPr>
          <a:xfrm>
            <a:off x="4298846" y="1532998"/>
            <a:ext cx="0" cy="12700"/>
          </a:xfrm>
          <a:custGeom>
            <a:rect b="b" l="l" r="r" t="t"/>
            <a:pathLst>
              <a:path extrusionOk="0" h="12700" w="120000">
                <a:moveTo>
                  <a:pt x="0" y="12699"/>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 name="Google Shape;345;p20"/>
          <p:cNvSpPr txBox="1"/>
          <p:nvPr/>
        </p:nvSpPr>
        <p:spPr>
          <a:xfrm>
            <a:off x="347294" y="1425013"/>
            <a:ext cx="3881754" cy="796290"/>
          </a:xfrm>
          <a:prstGeom prst="rect">
            <a:avLst/>
          </a:prstGeom>
          <a:noFill/>
          <a:ln>
            <a:noFill/>
          </a:ln>
        </p:spPr>
        <p:txBody>
          <a:bodyPr anchorCtr="0" anchor="t" bIns="0" lIns="0" spcFirstLastPara="1" rIns="0" wrap="square" tIns="58400">
            <a:spAutoFit/>
          </a:bodyPr>
          <a:lstStyle/>
          <a:p>
            <a:pPr indent="0" lvl="0" marL="12700" marR="0" rtl="0" algn="l">
              <a:lnSpc>
                <a:spcPct val="100000"/>
              </a:lnSpc>
              <a:spcBef>
                <a:spcPts val="0"/>
              </a:spcBef>
              <a:spcAft>
                <a:spcPts val="0"/>
              </a:spcAft>
              <a:buNone/>
            </a:pPr>
            <a:r>
              <a:rPr lang="en-US" sz="1100">
                <a:solidFill>
                  <a:srgbClr val="FFFFFF"/>
                </a:solidFill>
                <a:latin typeface="Arial"/>
                <a:ea typeface="Arial"/>
                <a:cs typeface="Arial"/>
                <a:sym typeface="Arial"/>
              </a:rPr>
              <a:t>Predicate Coverage</a:t>
            </a:r>
            <a:endParaRPr sz="1100">
              <a:solidFill>
                <a:schemeClr val="dk1"/>
              </a:solidFill>
              <a:latin typeface="Arial"/>
              <a:ea typeface="Arial"/>
              <a:cs typeface="Arial"/>
              <a:sym typeface="Arial"/>
            </a:endParaRPr>
          </a:p>
          <a:p>
            <a:pPr indent="0" lvl="0" marL="12700" marR="5080" rtl="0" algn="l">
              <a:lnSpc>
                <a:spcPct val="102600"/>
              </a:lnSpc>
              <a:spcBef>
                <a:spcPts val="320"/>
              </a:spcBef>
              <a:spcAft>
                <a:spcPts val="0"/>
              </a:spcAft>
              <a:buNone/>
            </a:pPr>
            <a:r>
              <a:rPr lang="en-US" sz="1100">
                <a:solidFill>
                  <a:schemeClr val="dk1"/>
                </a:solidFill>
                <a:latin typeface="Arial"/>
                <a:ea typeface="Arial"/>
                <a:cs typeface="Arial"/>
                <a:sym typeface="Arial"/>
              </a:rPr>
              <a:t>For each p</a:t>
            </a:r>
            <a:r>
              <a:rPr i="1" lang="en-US" sz="1100">
                <a:solidFill>
                  <a:schemeClr val="dk1"/>
                </a:solidFill>
                <a:latin typeface="Verdana"/>
                <a:ea typeface="Verdana"/>
                <a:cs typeface="Verdana"/>
                <a:sym typeface="Verdana"/>
              </a:rPr>
              <a:t> ∈  </a:t>
            </a:r>
            <a:r>
              <a:rPr lang="en-US" sz="1100">
                <a:solidFill>
                  <a:schemeClr val="dk1"/>
                </a:solidFill>
                <a:latin typeface="Arial"/>
                <a:ea typeface="Arial"/>
                <a:cs typeface="Arial"/>
                <a:sym typeface="Arial"/>
              </a:rPr>
              <a:t>P, Test Requirement (TR) for predicate coverage  contains two requirements: p evaluates to true, and p evaluates to  false.</a:t>
            </a:r>
            <a:endParaRPr sz="1100">
              <a:solidFill>
                <a:schemeClr val="dk1"/>
              </a:solidFill>
              <a:latin typeface="Arial"/>
              <a:ea typeface="Arial"/>
              <a:cs typeface="Arial"/>
              <a:sym typeface="Arial"/>
            </a:endParaRPr>
          </a:p>
        </p:txBody>
      </p:sp>
      <p:sp>
        <p:nvSpPr>
          <p:cNvPr id="346" name="Google Shape;346;p20"/>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20"/>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20"/>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20"/>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12/35</a:t>
            </a:r>
            <a:endParaRPr sz="600">
              <a:solidFill>
                <a:schemeClr val="dk1"/>
              </a:solidFill>
              <a:latin typeface="Arial"/>
              <a:ea typeface="Arial"/>
              <a:cs typeface="Arial"/>
              <a:sym typeface="Arial"/>
            </a:endParaRPr>
          </a:p>
        </p:txBody>
      </p:sp>
      <p:sp>
        <p:nvSpPr>
          <p:cNvPr id="350" name="Google Shape;350;p20"/>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351" name="Google Shape;351;p20"/>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5"/>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1"/>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357" name="Google Shape;357;p21"/>
          <p:cNvSpPr txBox="1"/>
          <p:nvPr/>
        </p:nvSpPr>
        <p:spPr>
          <a:xfrm>
            <a:off x="2303995" y="0"/>
            <a:ext cx="2304415" cy="40068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358" name="Google Shape;358;p21"/>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21"/>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Definitions</a:t>
            </a:r>
            <a:endParaRPr sz="1400">
              <a:solidFill>
                <a:schemeClr val="dk1"/>
              </a:solidFill>
              <a:latin typeface="Tahoma"/>
              <a:ea typeface="Tahoma"/>
              <a:cs typeface="Tahoma"/>
              <a:sym typeface="Tahoma"/>
            </a:endParaRPr>
          </a:p>
        </p:txBody>
      </p:sp>
      <p:sp>
        <p:nvSpPr>
          <p:cNvPr id="360" name="Google Shape;360;p21"/>
          <p:cNvSpPr/>
          <p:nvPr/>
        </p:nvSpPr>
        <p:spPr>
          <a:xfrm>
            <a:off x="309193" y="1334172"/>
            <a:ext cx="3989704" cy="202565"/>
          </a:xfrm>
          <a:custGeom>
            <a:rect b="b" l="l" r="r" t="t"/>
            <a:pathLst>
              <a:path extrusionOk="0" h="202565" w="3989704">
                <a:moveTo>
                  <a:pt x="3938852" y="0"/>
                </a:moveTo>
                <a:lnTo>
                  <a:pt x="50800" y="0"/>
                </a:lnTo>
                <a:lnTo>
                  <a:pt x="31075" y="4008"/>
                </a:lnTo>
                <a:lnTo>
                  <a:pt x="14922" y="14922"/>
                </a:lnTo>
                <a:lnTo>
                  <a:pt x="4008" y="31075"/>
                </a:lnTo>
                <a:lnTo>
                  <a:pt x="0" y="50800"/>
                </a:lnTo>
                <a:lnTo>
                  <a:pt x="0" y="201952"/>
                </a:lnTo>
                <a:lnTo>
                  <a:pt x="3989652" y="201952"/>
                </a:lnTo>
                <a:lnTo>
                  <a:pt x="3989652" y="50800"/>
                </a:lnTo>
                <a:lnTo>
                  <a:pt x="3985644" y="31075"/>
                </a:lnTo>
                <a:lnTo>
                  <a:pt x="3974729" y="14922"/>
                </a:lnTo>
                <a:lnTo>
                  <a:pt x="3958576" y="4008"/>
                </a:lnTo>
                <a:lnTo>
                  <a:pt x="3938852" y="0"/>
                </a:lnTo>
                <a:close/>
              </a:path>
            </a:pathLst>
          </a:custGeom>
          <a:solidFill>
            <a:srgbClr val="7E11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21"/>
          <p:cNvSpPr/>
          <p:nvPr/>
        </p:nvSpPr>
        <p:spPr>
          <a:xfrm>
            <a:off x="309194" y="1523479"/>
            <a:ext cx="3989651" cy="50609"/>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21"/>
          <p:cNvSpPr/>
          <p:nvPr/>
        </p:nvSpPr>
        <p:spPr>
          <a:xfrm>
            <a:off x="359994" y="2405837"/>
            <a:ext cx="101600" cy="101600"/>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21"/>
          <p:cNvSpPr/>
          <p:nvPr/>
        </p:nvSpPr>
        <p:spPr>
          <a:xfrm>
            <a:off x="410794" y="2393137"/>
            <a:ext cx="3938802" cy="114300"/>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21"/>
          <p:cNvSpPr/>
          <p:nvPr/>
        </p:nvSpPr>
        <p:spPr>
          <a:xfrm>
            <a:off x="4298846" y="1378407"/>
            <a:ext cx="50751" cy="1027430"/>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21"/>
          <p:cNvSpPr/>
          <p:nvPr/>
        </p:nvSpPr>
        <p:spPr>
          <a:xfrm>
            <a:off x="309193" y="1567747"/>
            <a:ext cx="3989704" cy="889000"/>
          </a:xfrm>
          <a:custGeom>
            <a:rect b="b" l="l" r="r" t="t"/>
            <a:pathLst>
              <a:path extrusionOk="0" h="889000" w="3989704">
                <a:moveTo>
                  <a:pt x="3989652" y="0"/>
                </a:moveTo>
                <a:lnTo>
                  <a:pt x="0" y="0"/>
                </a:lnTo>
                <a:lnTo>
                  <a:pt x="0" y="838089"/>
                </a:lnTo>
                <a:lnTo>
                  <a:pt x="4008" y="857814"/>
                </a:lnTo>
                <a:lnTo>
                  <a:pt x="14922" y="873967"/>
                </a:lnTo>
                <a:lnTo>
                  <a:pt x="31075" y="884881"/>
                </a:lnTo>
                <a:lnTo>
                  <a:pt x="50800" y="888890"/>
                </a:lnTo>
                <a:lnTo>
                  <a:pt x="3938852" y="888890"/>
                </a:lnTo>
                <a:lnTo>
                  <a:pt x="3958576" y="884881"/>
                </a:lnTo>
                <a:lnTo>
                  <a:pt x="3974729" y="873967"/>
                </a:lnTo>
                <a:lnTo>
                  <a:pt x="3985644" y="857814"/>
                </a:lnTo>
                <a:lnTo>
                  <a:pt x="3989652" y="838089"/>
                </a:lnTo>
                <a:lnTo>
                  <a:pt x="39896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21"/>
          <p:cNvSpPr/>
          <p:nvPr/>
        </p:nvSpPr>
        <p:spPr>
          <a:xfrm>
            <a:off x="4298846" y="1416500"/>
            <a:ext cx="0" cy="1009015"/>
          </a:xfrm>
          <a:custGeom>
            <a:rect b="b" l="l" r="r" t="t"/>
            <a:pathLst>
              <a:path extrusionOk="0" h="1009014" w="120000">
                <a:moveTo>
                  <a:pt x="0" y="1008386"/>
                </a:moveTo>
                <a:lnTo>
                  <a:pt x="0" y="0"/>
                </a:lnTo>
              </a:path>
            </a:pathLst>
          </a:custGeom>
          <a:noFill/>
          <a:ln cap="flat" cmpd="sng" w="9525">
            <a:solidFill>
              <a:srgbClr val="7F7F7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21"/>
          <p:cNvSpPr/>
          <p:nvPr/>
        </p:nvSpPr>
        <p:spPr>
          <a:xfrm>
            <a:off x="4298846" y="1403800"/>
            <a:ext cx="0" cy="12700"/>
          </a:xfrm>
          <a:custGeom>
            <a:rect b="b" l="l" r="r" t="t"/>
            <a:pathLst>
              <a:path extrusionOk="0" h="12700" w="120000">
                <a:moveTo>
                  <a:pt x="0" y="12699"/>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21"/>
          <p:cNvSpPr/>
          <p:nvPr/>
        </p:nvSpPr>
        <p:spPr>
          <a:xfrm>
            <a:off x="4298846" y="1391100"/>
            <a:ext cx="0" cy="12700"/>
          </a:xfrm>
          <a:custGeom>
            <a:rect b="b" l="l" r="r" t="t"/>
            <a:pathLst>
              <a:path extrusionOk="0" h="12700" w="120000">
                <a:moveTo>
                  <a:pt x="0" y="12699"/>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21"/>
          <p:cNvSpPr/>
          <p:nvPr/>
        </p:nvSpPr>
        <p:spPr>
          <a:xfrm>
            <a:off x="4298846" y="1378400"/>
            <a:ext cx="0" cy="12700"/>
          </a:xfrm>
          <a:custGeom>
            <a:rect b="b" l="l" r="r" t="t"/>
            <a:pathLst>
              <a:path extrusionOk="0" h="12700" w="120000">
                <a:moveTo>
                  <a:pt x="0" y="12699"/>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21"/>
          <p:cNvSpPr txBox="1"/>
          <p:nvPr/>
        </p:nvSpPr>
        <p:spPr>
          <a:xfrm>
            <a:off x="347294" y="1278100"/>
            <a:ext cx="3802379" cy="1140460"/>
          </a:xfrm>
          <a:prstGeom prst="rect">
            <a:avLst/>
          </a:prstGeom>
          <a:noFill/>
          <a:ln>
            <a:noFill/>
          </a:ln>
        </p:spPr>
        <p:txBody>
          <a:bodyPr anchorCtr="0" anchor="t" bIns="0" lIns="0" spcFirstLastPara="1" rIns="0" wrap="square" tIns="58400">
            <a:spAutoFit/>
          </a:bodyPr>
          <a:lstStyle/>
          <a:p>
            <a:pPr indent="0" lvl="0" marL="12700" marR="0" rtl="0" algn="l">
              <a:lnSpc>
                <a:spcPct val="100000"/>
              </a:lnSpc>
              <a:spcBef>
                <a:spcPts val="0"/>
              </a:spcBef>
              <a:spcAft>
                <a:spcPts val="0"/>
              </a:spcAft>
              <a:buNone/>
            </a:pPr>
            <a:r>
              <a:rPr lang="en-US" sz="1100">
                <a:solidFill>
                  <a:srgbClr val="FFFFFF"/>
                </a:solidFill>
                <a:latin typeface="Arial"/>
                <a:ea typeface="Arial"/>
                <a:cs typeface="Arial"/>
                <a:sym typeface="Arial"/>
              </a:rPr>
              <a:t>Clause / Atomic Condition</a:t>
            </a:r>
            <a:endParaRPr sz="1100">
              <a:solidFill>
                <a:schemeClr val="dk1"/>
              </a:solidFill>
              <a:latin typeface="Arial"/>
              <a:ea typeface="Arial"/>
              <a:cs typeface="Arial"/>
              <a:sym typeface="Arial"/>
            </a:endParaRPr>
          </a:p>
          <a:p>
            <a:pPr indent="0" lvl="0" marL="12700" marR="224154" rtl="0" algn="l">
              <a:lnSpc>
                <a:spcPct val="102600"/>
              </a:lnSpc>
              <a:spcBef>
                <a:spcPts val="320"/>
              </a:spcBef>
              <a:spcAft>
                <a:spcPts val="0"/>
              </a:spcAft>
              <a:buNone/>
            </a:pPr>
            <a:r>
              <a:rPr b="1" lang="en-US" sz="1100">
                <a:solidFill>
                  <a:schemeClr val="dk1"/>
                </a:solidFill>
                <a:latin typeface="Arial"/>
                <a:ea typeface="Arial"/>
                <a:cs typeface="Arial"/>
                <a:sym typeface="Arial"/>
              </a:rPr>
              <a:t>A clause is a predicate that does not contain any of the  logical operators.</a:t>
            </a:r>
            <a:endParaRPr sz="1100">
              <a:solidFill>
                <a:schemeClr val="dk1"/>
              </a:solidFill>
              <a:latin typeface="Arial"/>
              <a:ea typeface="Arial"/>
              <a:cs typeface="Arial"/>
              <a:sym typeface="Arial"/>
            </a:endParaRPr>
          </a:p>
          <a:p>
            <a:pPr indent="0" lvl="0" marL="12700" marR="5080" rtl="0" algn="l">
              <a:lnSpc>
                <a:spcPct val="102600"/>
              </a:lnSpc>
              <a:spcBef>
                <a:spcPts val="0"/>
              </a:spcBef>
              <a:spcAft>
                <a:spcPts val="0"/>
              </a:spcAft>
              <a:buNone/>
            </a:pPr>
            <a:r>
              <a:rPr lang="en-US" sz="1100">
                <a:solidFill>
                  <a:schemeClr val="dk1"/>
                </a:solidFill>
                <a:latin typeface="Arial"/>
                <a:ea typeface="Arial"/>
                <a:cs typeface="Arial"/>
                <a:sym typeface="Arial"/>
              </a:rPr>
              <a:t>The predicate ((</a:t>
            </a:r>
            <a:r>
              <a:rPr i="1" lang="en-US" sz="1100">
                <a:solidFill>
                  <a:schemeClr val="dk1"/>
                </a:solidFill>
                <a:latin typeface="Trebuchet MS"/>
                <a:ea typeface="Trebuchet MS"/>
                <a:cs typeface="Trebuchet MS"/>
                <a:sym typeface="Trebuchet MS"/>
              </a:rPr>
              <a:t>a </a:t>
            </a:r>
            <a:r>
              <a:rPr i="1" lang="en-US" sz="1100">
                <a:solidFill>
                  <a:schemeClr val="dk1"/>
                </a:solidFill>
                <a:latin typeface="Verdana"/>
                <a:ea typeface="Verdana"/>
                <a:cs typeface="Verdana"/>
                <a:sym typeface="Verdana"/>
              </a:rPr>
              <a:t>&gt; </a:t>
            </a:r>
            <a:r>
              <a:rPr i="1" lang="en-US" sz="1100">
                <a:solidFill>
                  <a:schemeClr val="dk1"/>
                </a:solidFill>
                <a:latin typeface="Trebuchet MS"/>
                <a:ea typeface="Trebuchet MS"/>
                <a:cs typeface="Trebuchet MS"/>
                <a:sym typeface="Trebuchet MS"/>
              </a:rPr>
              <a:t>b</a:t>
            </a:r>
            <a:r>
              <a:rPr lang="en-US" sz="1100">
                <a:solidFill>
                  <a:schemeClr val="dk1"/>
                </a:solidFill>
                <a:latin typeface="Arial"/>
                <a:ea typeface="Arial"/>
                <a:cs typeface="Arial"/>
                <a:sym typeface="Arial"/>
              </a:rPr>
              <a:t>) </a:t>
            </a:r>
            <a:r>
              <a:rPr i="1" lang="en-US" sz="1100">
                <a:solidFill>
                  <a:schemeClr val="dk1"/>
                </a:solidFill>
                <a:latin typeface="Palatino Linotype"/>
                <a:ea typeface="Palatino Linotype"/>
                <a:cs typeface="Palatino Linotype"/>
                <a:sym typeface="Palatino Linotype"/>
              </a:rPr>
              <a:t>∨ </a:t>
            </a:r>
            <a:r>
              <a:rPr i="1" lang="en-US" sz="1100">
                <a:solidFill>
                  <a:schemeClr val="dk1"/>
                </a:solidFill>
                <a:latin typeface="Trebuchet MS"/>
                <a:ea typeface="Trebuchet MS"/>
                <a:cs typeface="Trebuchet MS"/>
                <a:sym typeface="Trebuchet MS"/>
              </a:rPr>
              <a:t>C </a:t>
            </a:r>
            <a:r>
              <a:rPr lang="en-US" sz="1100">
                <a:solidFill>
                  <a:schemeClr val="dk1"/>
                </a:solidFill>
                <a:latin typeface="Arial"/>
                <a:ea typeface="Arial"/>
                <a:cs typeface="Arial"/>
                <a:sym typeface="Arial"/>
              </a:rPr>
              <a:t>) </a:t>
            </a:r>
            <a:r>
              <a:rPr i="1" lang="en-US" sz="1100">
                <a:solidFill>
                  <a:schemeClr val="dk1"/>
                </a:solidFill>
                <a:latin typeface="Palatino Linotype"/>
                <a:ea typeface="Palatino Linotype"/>
                <a:cs typeface="Palatino Linotype"/>
                <a:sym typeface="Palatino Linotype"/>
              </a:rPr>
              <a:t>∧ </a:t>
            </a:r>
            <a:r>
              <a:rPr i="1" lang="en-US" sz="1100">
                <a:solidFill>
                  <a:schemeClr val="dk1"/>
                </a:solidFill>
                <a:latin typeface="Trebuchet MS"/>
                <a:ea typeface="Trebuchet MS"/>
                <a:cs typeface="Trebuchet MS"/>
                <a:sym typeface="Trebuchet MS"/>
              </a:rPr>
              <a:t>p</a:t>
            </a:r>
            <a:r>
              <a:rPr lang="en-US" sz="1100">
                <a:solidFill>
                  <a:schemeClr val="dk1"/>
                </a:solidFill>
                <a:latin typeface="Arial"/>
                <a:ea typeface="Arial"/>
                <a:cs typeface="Arial"/>
                <a:sym typeface="Arial"/>
              </a:rPr>
              <a:t>(</a:t>
            </a:r>
            <a:r>
              <a:rPr i="1" lang="en-US" sz="1100">
                <a:solidFill>
                  <a:schemeClr val="dk1"/>
                </a:solidFill>
                <a:latin typeface="Trebuchet MS"/>
                <a:ea typeface="Trebuchet MS"/>
                <a:cs typeface="Trebuchet MS"/>
                <a:sym typeface="Trebuchet MS"/>
              </a:rPr>
              <a:t>x </a:t>
            </a:r>
            <a:r>
              <a:rPr lang="en-US" sz="1100">
                <a:solidFill>
                  <a:schemeClr val="dk1"/>
                </a:solidFill>
                <a:latin typeface="Arial"/>
                <a:ea typeface="Arial"/>
                <a:cs typeface="Arial"/>
                <a:sym typeface="Arial"/>
              </a:rPr>
              <a:t>) contains three clauses; a  relational expression (</a:t>
            </a:r>
            <a:r>
              <a:rPr i="1" lang="en-US" sz="1100">
                <a:solidFill>
                  <a:schemeClr val="dk1"/>
                </a:solidFill>
                <a:latin typeface="Trebuchet MS"/>
                <a:ea typeface="Trebuchet MS"/>
                <a:cs typeface="Trebuchet MS"/>
                <a:sym typeface="Trebuchet MS"/>
              </a:rPr>
              <a:t>a </a:t>
            </a:r>
            <a:r>
              <a:rPr i="1" lang="en-US" sz="1100">
                <a:solidFill>
                  <a:schemeClr val="dk1"/>
                </a:solidFill>
                <a:latin typeface="Verdana"/>
                <a:ea typeface="Verdana"/>
                <a:cs typeface="Verdana"/>
                <a:sym typeface="Verdana"/>
              </a:rPr>
              <a:t>&gt; </a:t>
            </a:r>
            <a:r>
              <a:rPr i="1" lang="en-US" sz="1100">
                <a:solidFill>
                  <a:schemeClr val="dk1"/>
                </a:solidFill>
                <a:latin typeface="Trebuchet MS"/>
                <a:ea typeface="Trebuchet MS"/>
                <a:cs typeface="Trebuchet MS"/>
                <a:sym typeface="Trebuchet MS"/>
              </a:rPr>
              <a:t>b</a:t>
            </a:r>
            <a:r>
              <a:rPr lang="en-US" sz="1100">
                <a:solidFill>
                  <a:schemeClr val="dk1"/>
                </a:solidFill>
                <a:latin typeface="Arial"/>
                <a:ea typeface="Arial"/>
                <a:cs typeface="Arial"/>
                <a:sym typeface="Arial"/>
              </a:rPr>
              <a:t>), a  boolean variable C and a boolean  function call p(x).</a:t>
            </a:r>
            <a:endParaRPr/>
          </a:p>
        </p:txBody>
      </p:sp>
      <p:sp>
        <p:nvSpPr>
          <p:cNvPr id="371" name="Google Shape;371;p21"/>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21"/>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21"/>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21"/>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12/35</a:t>
            </a:r>
            <a:endParaRPr sz="600">
              <a:solidFill>
                <a:schemeClr val="dk1"/>
              </a:solidFill>
              <a:latin typeface="Arial"/>
              <a:ea typeface="Arial"/>
              <a:cs typeface="Arial"/>
              <a:sym typeface="Arial"/>
            </a:endParaRPr>
          </a:p>
        </p:txBody>
      </p:sp>
      <p:sp>
        <p:nvSpPr>
          <p:cNvPr id="375" name="Google Shape;375;p21"/>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376" name="Google Shape;376;p21"/>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5"/>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2"/>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382" name="Google Shape;382;p22"/>
          <p:cNvSpPr txBox="1"/>
          <p:nvPr/>
        </p:nvSpPr>
        <p:spPr>
          <a:xfrm>
            <a:off x="2303995" y="0"/>
            <a:ext cx="2304415" cy="40068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383" name="Google Shape;383;p22"/>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22"/>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Definitions</a:t>
            </a:r>
            <a:endParaRPr sz="1400">
              <a:solidFill>
                <a:schemeClr val="dk1"/>
              </a:solidFill>
              <a:latin typeface="Tahoma"/>
              <a:ea typeface="Tahoma"/>
              <a:cs typeface="Tahoma"/>
              <a:sym typeface="Tahoma"/>
            </a:endParaRPr>
          </a:p>
        </p:txBody>
      </p:sp>
      <p:sp>
        <p:nvSpPr>
          <p:cNvPr id="385" name="Google Shape;385;p22"/>
          <p:cNvSpPr/>
          <p:nvPr/>
        </p:nvSpPr>
        <p:spPr>
          <a:xfrm>
            <a:off x="309193" y="1553755"/>
            <a:ext cx="3989704" cy="186690"/>
          </a:xfrm>
          <a:custGeom>
            <a:rect b="b" l="l" r="r" t="t"/>
            <a:pathLst>
              <a:path extrusionOk="0" h="186689" w="3989704">
                <a:moveTo>
                  <a:pt x="3938852" y="0"/>
                </a:moveTo>
                <a:lnTo>
                  <a:pt x="50800" y="0"/>
                </a:lnTo>
                <a:lnTo>
                  <a:pt x="31075" y="4008"/>
                </a:lnTo>
                <a:lnTo>
                  <a:pt x="14922" y="14922"/>
                </a:lnTo>
                <a:lnTo>
                  <a:pt x="4008" y="31075"/>
                </a:lnTo>
                <a:lnTo>
                  <a:pt x="0" y="50800"/>
                </a:lnTo>
                <a:lnTo>
                  <a:pt x="0" y="186558"/>
                </a:lnTo>
                <a:lnTo>
                  <a:pt x="3989652" y="186558"/>
                </a:lnTo>
                <a:lnTo>
                  <a:pt x="3989652" y="50800"/>
                </a:lnTo>
                <a:lnTo>
                  <a:pt x="3985644" y="31075"/>
                </a:lnTo>
                <a:lnTo>
                  <a:pt x="3974729" y="14922"/>
                </a:lnTo>
                <a:lnTo>
                  <a:pt x="3958576" y="4008"/>
                </a:lnTo>
                <a:lnTo>
                  <a:pt x="3938852" y="0"/>
                </a:lnTo>
                <a:close/>
              </a:path>
            </a:pathLst>
          </a:custGeom>
          <a:solidFill>
            <a:srgbClr val="7E11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22"/>
          <p:cNvSpPr/>
          <p:nvPr/>
        </p:nvSpPr>
        <p:spPr>
          <a:xfrm>
            <a:off x="309194" y="1727657"/>
            <a:ext cx="3989651" cy="50609"/>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22"/>
          <p:cNvSpPr/>
          <p:nvPr/>
        </p:nvSpPr>
        <p:spPr>
          <a:xfrm>
            <a:off x="359994" y="2076475"/>
            <a:ext cx="101600" cy="101600"/>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22"/>
          <p:cNvSpPr/>
          <p:nvPr/>
        </p:nvSpPr>
        <p:spPr>
          <a:xfrm>
            <a:off x="410794" y="2063775"/>
            <a:ext cx="3938802" cy="114300"/>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22"/>
          <p:cNvSpPr/>
          <p:nvPr/>
        </p:nvSpPr>
        <p:spPr>
          <a:xfrm>
            <a:off x="4298846" y="1597990"/>
            <a:ext cx="50751" cy="478485"/>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22"/>
          <p:cNvSpPr/>
          <p:nvPr/>
        </p:nvSpPr>
        <p:spPr>
          <a:xfrm>
            <a:off x="309193" y="1771935"/>
            <a:ext cx="3989704" cy="355600"/>
          </a:xfrm>
          <a:custGeom>
            <a:rect b="b" l="l" r="r" t="t"/>
            <a:pathLst>
              <a:path extrusionOk="0" h="355600" w="3989704">
                <a:moveTo>
                  <a:pt x="3989652" y="0"/>
                </a:moveTo>
                <a:lnTo>
                  <a:pt x="0" y="0"/>
                </a:lnTo>
                <a:lnTo>
                  <a:pt x="0" y="304540"/>
                </a:lnTo>
                <a:lnTo>
                  <a:pt x="4008" y="324265"/>
                </a:lnTo>
                <a:lnTo>
                  <a:pt x="14922" y="340417"/>
                </a:lnTo>
                <a:lnTo>
                  <a:pt x="31075" y="351332"/>
                </a:lnTo>
                <a:lnTo>
                  <a:pt x="50800" y="355340"/>
                </a:lnTo>
                <a:lnTo>
                  <a:pt x="3938852" y="355340"/>
                </a:lnTo>
                <a:lnTo>
                  <a:pt x="3958576" y="351332"/>
                </a:lnTo>
                <a:lnTo>
                  <a:pt x="3974729" y="340417"/>
                </a:lnTo>
                <a:lnTo>
                  <a:pt x="3985644" y="324265"/>
                </a:lnTo>
                <a:lnTo>
                  <a:pt x="3989652" y="304540"/>
                </a:lnTo>
                <a:lnTo>
                  <a:pt x="39896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22"/>
          <p:cNvSpPr/>
          <p:nvPr/>
        </p:nvSpPr>
        <p:spPr>
          <a:xfrm>
            <a:off x="4298846" y="1636082"/>
            <a:ext cx="0" cy="459740"/>
          </a:xfrm>
          <a:custGeom>
            <a:rect b="b" l="l" r="r" t="t"/>
            <a:pathLst>
              <a:path extrusionOk="0" h="459739" w="120000">
                <a:moveTo>
                  <a:pt x="0" y="459443"/>
                </a:moveTo>
                <a:lnTo>
                  <a:pt x="0" y="0"/>
                </a:lnTo>
              </a:path>
            </a:pathLst>
          </a:custGeom>
          <a:noFill/>
          <a:ln cap="flat" cmpd="sng" w="9525">
            <a:solidFill>
              <a:srgbClr val="7F7F7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22"/>
          <p:cNvSpPr/>
          <p:nvPr/>
        </p:nvSpPr>
        <p:spPr>
          <a:xfrm>
            <a:off x="4298846" y="1623382"/>
            <a:ext cx="0" cy="12700"/>
          </a:xfrm>
          <a:custGeom>
            <a:rect b="b" l="l" r="r" t="t"/>
            <a:pathLst>
              <a:path extrusionOk="0" h="12700" w="120000">
                <a:moveTo>
                  <a:pt x="0" y="12699"/>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22"/>
          <p:cNvSpPr/>
          <p:nvPr/>
        </p:nvSpPr>
        <p:spPr>
          <a:xfrm>
            <a:off x="4298846" y="1610682"/>
            <a:ext cx="0" cy="12700"/>
          </a:xfrm>
          <a:custGeom>
            <a:rect b="b" l="l" r="r" t="t"/>
            <a:pathLst>
              <a:path extrusionOk="0" h="12700" w="120000">
                <a:moveTo>
                  <a:pt x="0" y="12699"/>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22"/>
          <p:cNvSpPr/>
          <p:nvPr/>
        </p:nvSpPr>
        <p:spPr>
          <a:xfrm>
            <a:off x="4298846" y="1597982"/>
            <a:ext cx="0" cy="12700"/>
          </a:xfrm>
          <a:custGeom>
            <a:rect b="b" l="l" r="r" t="t"/>
            <a:pathLst>
              <a:path extrusionOk="0" h="12700" w="120000">
                <a:moveTo>
                  <a:pt x="0" y="12699"/>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22"/>
          <p:cNvSpPr txBox="1"/>
          <p:nvPr/>
        </p:nvSpPr>
        <p:spPr>
          <a:xfrm>
            <a:off x="347294" y="1497670"/>
            <a:ext cx="3876675" cy="608330"/>
          </a:xfrm>
          <a:prstGeom prst="rect">
            <a:avLst/>
          </a:prstGeom>
          <a:noFill/>
          <a:ln>
            <a:noFill/>
          </a:ln>
        </p:spPr>
        <p:txBody>
          <a:bodyPr anchorCtr="0" anchor="t" bIns="0" lIns="0" spcFirstLastPara="1" rIns="0" wrap="square" tIns="50800">
            <a:spAutoFit/>
          </a:bodyPr>
          <a:lstStyle/>
          <a:p>
            <a:pPr indent="0" lvl="0" marL="12700" marR="0" rtl="0" algn="l">
              <a:lnSpc>
                <a:spcPct val="100000"/>
              </a:lnSpc>
              <a:spcBef>
                <a:spcPts val="0"/>
              </a:spcBef>
              <a:spcAft>
                <a:spcPts val="0"/>
              </a:spcAft>
              <a:buNone/>
            </a:pPr>
            <a:r>
              <a:rPr lang="en-US" sz="1100">
                <a:solidFill>
                  <a:srgbClr val="FFFFFF"/>
                </a:solidFill>
                <a:latin typeface="Arial"/>
                <a:ea typeface="Arial"/>
                <a:cs typeface="Arial"/>
                <a:sym typeface="Arial"/>
              </a:rPr>
              <a:t>Clause Coverage</a:t>
            </a:r>
            <a:endParaRPr sz="1100">
              <a:solidFill>
                <a:schemeClr val="dk1"/>
              </a:solidFill>
              <a:latin typeface="Arial"/>
              <a:ea typeface="Arial"/>
              <a:cs typeface="Arial"/>
              <a:sym typeface="Arial"/>
            </a:endParaRPr>
          </a:p>
          <a:p>
            <a:pPr indent="0" lvl="0" marL="12700" marR="5080" rtl="0" algn="l">
              <a:lnSpc>
                <a:spcPct val="102600"/>
              </a:lnSpc>
              <a:spcBef>
                <a:spcPts val="260"/>
              </a:spcBef>
              <a:spcAft>
                <a:spcPts val="0"/>
              </a:spcAft>
              <a:buNone/>
            </a:pPr>
            <a:r>
              <a:rPr lang="en-US" sz="1100">
                <a:solidFill>
                  <a:schemeClr val="dk1"/>
                </a:solidFill>
                <a:latin typeface="Arial"/>
                <a:ea typeface="Arial"/>
                <a:cs typeface="Arial"/>
                <a:sym typeface="Arial"/>
              </a:rPr>
              <a:t>For each c </a:t>
            </a:r>
            <a:r>
              <a:rPr i="1" lang="en-US" sz="1100">
                <a:solidFill>
                  <a:schemeClr val="dk1"/>
                </a:solidFill>
                <a:latin typeface="Verdana"/>
                <a:ea typeface="Verdana"/>
                <a:cs typeface="Verdana"/>
                <a:sym typeface="Verdana"/>
              </a:rPr>
              <a:t>∈  </a:t>
            </a:r>
            <a:r>
              <a:rPr lang="en-US" sz="1100">
                <a:solidFill>
                  <a:schemeClr val="dk1"/>
                </a:solidFill>
                <a:latin typeface="Arial"/>
                <a:ea typeface="Arial"/>
                <a:cs typeface="Arial"/>
                <a:sym typeface="Arial"/>
              </a:rPr>
              <a:t>C, TR for clause coverage contains two requirements:  c evaluates to true, and c evaluates to false.</a:t>
            </a:r>
            <a:endParaRPr sz="1100">
              <a:solidFill>
                <a:schemeClr val="dk1"/>
              </a:solidFill>
              <a:latin typeface="Arial"/>
              <a:ea typeface="Arial"/>
              <a:cs typeface="Arial"/>
              <a:sym typeface="Arial"/>
            </a:endParaRPr>
          </a:p>
        </p:txBody>
      </p:sp>
      <p:sp>
        <p:nvSpPr>
          <p:cNvPr id="396" name="Google Shape;396;p22"/>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22"/>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22"/>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22"/>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12/35</a:t>
            </a:r>
            <a:endParaRPr sz="600">
              <a:solidFill>
                <a:schemeClr val="dk1"/>
              </a:solidFill>
              <a:latin typeface="Arial"/>
              <a:ea typeface="Arial"/>
              <a:cs typeface="Arial"/>
              <a:sym typeface="Arial"/>
            </a:endParaRPr>
          </a:p>
        </p:txBody>
      </p:sp>
      <p:sp>
        <p:nvSpPr>
          <p:cNvPr id="400" name="Google Shape;400;p22"/>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401" name="Google Shape;401;p22"/>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5"/>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3"/>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407" name="Google Shape;407;p23"/>
          <p:cNvSpPr txBox="1"/>
          <p:nvPr/>
        </p:nvSpPr>
        <p:spPr>
          <a:xfrm>
            <a:off x="2303995" y="0"/>
            <a:ext cx="2304415" cy="40068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408" name="Google Shape;408;p23"/>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23"/>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Definitions</a:t>
            </a:r>
            <a:endParaRPr sz="1400">
              <a:solidFill>
                <a:schemeClr val="dk1"/>
              </a:solidFill>
              <a:latin typeface="Tahoma"/>
              <a:ea typeface="Tahoma"/>
              <a:cs typeface="Tahoma"/>
              <a:sym typeface="Tahoma"/>
            </a:endParaRPr>
          </a:p>
        </p:txBody>
      </p:sp>
      <p:sp>
        <p:nvSpPr>
          <p:cNvPr id="410" name="Google Shape;410;p23"/>
          <p:cNvSpPr/>
          <p:nvPr/>
        </p:nvSpPr>
        <p:spPr>
          <a:xfrm>
            <a:off x="309193" y="1270177"/>
            <a:ext cx="3989704" cy="186690"/>
          </a:xfrm>
          <a:custGeom>
            <a:rect b="b" l="l" r="r" t="t"/>
            <a:pathLst>
              <a:path extrusionOk="0" h="186690" w="3989704">
                <a:moveTo>
                  <a:pt x="3938852" y="0"/>
                </a:moveTo>
                <a:lnTo>
                  <a:pt x="50800" y="0"/>
                </a:lnTo>
                <a:lnTo>
                  <a:pt x="31075" y="4008"/>
                </a:lnTo>
                <a:lnTo>
                  <a:pt x="14922" y="14922"/>
                </a:lnTo>
                <a:lnTo>
                  <a:pt x="4008" y="31075"/>
                </a:lnTo>
                <a:lnTo>
                  <a:pt x="0" y="50800"/>
                </a:lnTo>
                <a:lnTo>
                  <a:pt x="0" y="186558"/>
                </a:lnTo>
                <a:lnTo>
                  <a:pt x="3989652" y="186558"/>
                </a:lnTo>
                <a:lnTo>
                  <a:pt x="3989652" y="50800"/>
                </a:lnTo>
                <a:lnTo>
                  <a:pt x="3985644" y="31075"/>
                </a:lnTo>
                <a:lnTo>
                  <a:pt x="3974729" y="14922"/>
                </a:lnTo>
                <a:lnTo>
                  <a:pt x="3958576" y="4008"/>
                </a:lnTo>
                <a:lnTo>
                  <a:pt x="3938852" y="0"/>
                </a:lnTo>
                <a:close/>
              </a:path>
            </a:pathLst>
          </a:custGeom>
          <a:solidFill>
            <a:srgbClr val="7E11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23"/>
          <p:cNvSpPr/>
          <p:nvPr/>
        </p:nvSpPr>
        <p:spPr>
          <a:xfrm>
            <a:off x="309194" y="1444079"/>
            <a:ext cx="3989651" cy="50609"/>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p23"/>
          <p:cNvSpPr/>
          <p:nvPr/>
        </p:nvSpPr>
        <p:spPr>
          <a:xfrm>
            <a:off x="359994" y="2501836"/>
            <a:ext cx="101600" cy="101600"/>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23"/>
          <p:cNvSpPr/>
          <p:nvPr/>
        </p:nvSpPr>
        <p:spPr>
          <a:xfrm>
            <a:off x="410794" y="2489136"/>
            <a:ext cx="3938802" cy="114300"/>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23"/>
          <p:cNvSpPr/>
          <p:nvPr/>
        </p:nvSpPr>
        <p:spPr>
          <a:xfrm>
            <a:off x="4298846" y="1314411"/>
            <a:ext cx="50751" cy="1187424"/>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23"/>
          <p:cNvSpPr/>
          <p:nvPr/>
        </p:nvSpPr>
        <p:spPr>
          <a:xfrm>
            <a:off x="309193" y="1488348"/>
            <a:ext cx="3989704" cy="1064895"/>
          </a:xfrm>
          <a:custGeom>
            <a:rect b="b" l="l" r="r" t="t"/>
            <a:pathLst>
              <a:path extrusionOk="0" h="1064895" w="3989704">
                <a:moveTo>
                  <a:pt x="3989652" y="0"/>
                </a:moveTo>
                <a:lnTo>
                  <a:pt x="0" y="0"/>
                </a:lnTo>
                <a:lnTo>
                  <a:pt x="0" y="1013488"/>
                </a:lnTo>
                <a:lnTo>
                  <a:pt x="4008" y="1033212"/>
                </a:lnTo>
                <a:lnTo>
                  <a:pt x="14922" y="1049365"/>
                </a:lnTo>
                <a:lnTo>
                  <a:pt x="31075" y="1060280"/>
                </a:lnTo>
                <a:lnTo>
                  <a:pt x="50800" y="1064288"/>
                </a:lnTo>
                <a:lnTo>
                  <a:pt x="3938852" y="1064288"/>
                </a:lnTo>
                <a:lnTo>
                  <a:pt x="3958576" y="1060280"/>
                </a:lnTo>
                <a:lnTo>
                  <a:pt x="3974729" y="1049365"/>
                </a:lnTo>
                <a:lnTo>
                  <a:pt x="3985644" y="1033212"/>
                </a:lnTo>
                <a:lnTo>
                  <a:pt x="3989652" y="1013488"/>
                </a:lnTo>
                <a:lnTo>
                  <a:pt x="39896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23"/>
          <p:cNvSpPr/>
          <p:nvPr/>
        </p:nvSpPr>
        <p:spPr>
          <a:xfrm>
            <a:off x="4298846" y="1352495"/>
            <a:ext cx="0" cy="1168400"/>
          </a:xfrm>
          <a:custGeom>
            <a:rect b="b" l="l" r="r" t="t"/>
            <a:pathLst>
              <a:path extrusionOk="0" h="1168400" w="120000">
                <a:moveTo>
                  <a:pt x="0" y="1168390"/>
                </a:moveTo>
                <a:lnTo>
                  <a:pt x="0" y="0"/>
                </a:lnTo>
              </a:path>
            </a:pathLst>
          </a:custGeom>
          <a:noFill/>
          <a:ln cap="flat" cmpd="sng" w="9525">
            <a:solidFill>
              <a:srgbClr val="7F7F7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23"/>
          <p:cNvSpPr/>
          <p:nvPr/>
        </p:nvSpPr>
        <p:spPr>
          <a:xfrm>
            <a:off x="4298846" y="1339795"/>
            <a:ext cx="0" cy="12700"/>
          </a:xfrm>
          <a:custGeom>
            <a:rect b="b" l="l" r="r" t="t"/>
            <a:pathLst>
              <a:path extrusionOk="0" h="12700" w="120000">
                <a:moveTo>
                  <a:pt x="0" y="12700"/>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23"/>
          <p:cNvSpPr/>
          <p:nvPr/>
        </p:nvSpPr>
        <p:spPr>
          <a:xfrm>
            <a:off x="4298846" y="1327095"/>
            <a:ext cx="0" cy="12700"/>
          </a:xfrm>
          <a:custGeom>
            <a:rect b="b" l="l" r="r" t="t"/>
            <a:pathLst>
              <a:path extrusionOk="0" h="12700" w="120000">
                <a:moveTo>
                  <a:pt x="0" y="12700"/>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23"/>
          <p:cNvSpPr/>
          <p:nvPr/>
        </p:nvSpPr>
        <p:spPr>
          <a:xfrm>
            <a:off x="4298846" y="1314395"/>
            <a:ext cx="0" cy="12700"/>
          </a:xfrm>
          <a:custGeom>
            <a:rect b="b" l="l" r="r" t="t"/>
            <a:pathLst>
              <a:path extrusionOk="0" h="12700" w="120000">
                <a:moveTo>
                  <a:pt x="0" y="12700"/>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23"/>
          <p:cNvSpPr/>
          <p:nvPr/>
        </p:nvSpPr>
        <p:spPr>
          <a:xfrm>
            <a:off x="502551" y="1542084"/>
            <a:ext cx="65265" cy="65265"/>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23"/>
          <p:cNvSpPr/>
          <p:nvPr/>
        </p:nvSpPr>
        <p:spPr>
          <a:xfrm>
            <a:off x="502551" y="2096262"/>
            <a:ext cx="65265" cy="65265"/>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23"/>
          <p:cNvSpPr txBox="1"/>
          <p:nvPr/>
        </p:nvSpPr>
        <p:spPr>
          <a:xfrm>
            <a:off x="347294" y="1214117"/>
            <a:ext cx="3844290" cy="1334770"/>
          </a:xfrm>
          <a:prstGeom prst="rect">
            <a:avLst/>
          </a:prstGeom>
          <a:noFill/>
          <a:ln>
            <a:noFill/>
          </a:ln>
        </p:spPr>
        <p:txBody>
          <a:bodyPr anchorCtr="0" anchor="t" bIns="0" lIns="0" spcFirstLastPara="1" rIns="0" wrap="square" tIns="50800">
            <a:spAutoFit/>
          </a:bodyPr>
          <a:lstStyle/>
          <a:p>
            <a:pPr indent="0" lvl="0" marL="12700" marR="0" rtl="0" algn="l">
              <a:lnSpc>
                <a:spcPct val="100000"/>
              </a:lnSpc>
              <a:spcBef>
                <a:spcPts val="0"/>
              </a:spcBef>
              <a:spcAft>
                <a:spcPts val="0"/>
              </a:spcAft>
              <a:buNone/>
            </a:pPr>
            <a:r>
              <a:rPr lang="en-US" sz="1100">
                <a:solidFill>
                  <a:srgbClr val="FFFFFF"/>
                </a:solidFill>
                <a:latin typeface="Arial"/>
                <a:ea typeface="Arial"/>
                <a:cs typeface="Arial"/>
                <a:sym typeface="Arial"/>
              </a:rPr>
              <a:t>Statement Coverage</a:t>
            </a:r>
            <a:endParaRPr sz="1100">
              <a:solidFill>
                <a:schemeClr val="dk1"/>
              </a:solidFill>
              <a:latin typeface="Arial"/>
              <a:ea typeface="Arial"/>
              <a:cs typeface="Arial"/>
              <a:sym typeface="Arial"/>
            </a:endParaRPr>
          </a:p>
          <a:p>
            <a:pPr indent="0" lvl="0" marL="289560" marR="95885" rtl="0" algn="l">
              <a:lnSpc>
                <a:spcPct val="102600"/>
              </a:lnSpc>
              <a:spcBef>
                <a:spcPts val="260"/>
              </a:spcBef>
              <a:spcAft>
                <a:spcPts val="0"/>
              </a:spcAft>
              <a:buNone/>
            </a:pPr>
            <a:r>
              <a:rPr lang="en-US" sz="1100">
                <a:solidFill>
                  <a:schemeClr val="dk1"/>
                </a:solidFill>
                <a:latin typeface="Arial"/>
                <a:ea typeface="Arial"/>
                <a:cs typeface="Arial"/>
                <a:sym typeface="Arial"/>
              </a:rPr>
              <a:t>The statement coverage based strategy aims to design the  test cases so as to execute every statement in a program at  least once.</a:t>
            </a:r>
            <a:endParaRPr sz="1100">
              <a:solidFill>
                <a:schemeClr val="dk1"/>
              </a:solidFill>
              <a:latin typeface="Arial"/>
              <a:ea typeface="Arial"/>
              <a:cs typeface="Arial"/>
              <a:sym typeface="Arial"/>
            </a:endParaRPr>
          </a:p>
          <a:p>
            <a:pPr indent="0" lvl="0" marL="289560" marR="5080" rtl="0" algn="l">
              <a:lnSpc>
                <a:spcPct val="102600"/>
              </a:lnSpc>
              <a:spcBef>
                <a:spcPts val="300"/>
              </a:spcBef>
              <a:spcAft>
                <a:spcPts val="0"/>
              </a:spcAft>
              <a:buNone/>
            </a:pPr>
            <a:r>
              <a:rPr lang="en-US" sz="1100">
                <a:solidFill>
                  <a:schemeClr val="dk1"/>
                </a:solidFill>
                <a:latin typeface="Arial"/>
                <a:ea typeface="Arial"/>
                <a:cs typeface="Arial"/>
                <a:sym typeface="Arial"/>
              </a:rPr>
              <a:t>The principle idea governing the statement coverage strategy  is that a unless a statement is executed, there is no way to  determine whether as error exists in that statement.</a:t>
            </a:r>
            <a:endParaRPr sz="1100">
              <a:solidFill>
                <a:schemeClr val="dk1"/>
              </a:solidFill>
              <a:latin typeface="Arial"/>
              <a:ea typeface="Arial"/>
              <a:cs typeface="Arial"/>
              <a:sym typeface="Arial"/>
            </a:endParaRPr>
          </a:p>
        </p:txBody>
      </p:sp>
      <p:sp>
        <p:nvSpPr>
          <p:cNvPr id="423" name="Google Shape;423;p23"/>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23"/>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23"/>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23"/>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13/35</a:t>
            </a:r>
            <a:endParaRPr/>
          </a:p>
        </p:txBody>
      </p:sp>
      <p:sp>
        <p:nvSpPr>
          <p:cNvPr id="427" name="Google Shape;427;p23"/>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428" name="Google Shape;428;p23"/>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6"/>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4"/>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434" name="Google Shape;434;p24"/>
          <p:cNvSpPr txBox="1"/>
          <p:nvPr/>
        </p:nvSpPr>
        <p:spPr>
          <a:xfrm>
            <a:off x="2303995" y="0"/>
            <a:ext cx="2304415" cy="40068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435" name="Google Shape;435;p24"/>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24"/>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Definitions</a:t>
            </a:r>
            <a:endParaRPr sz="1400">
              <a:solidFill>
                <a:schemeClr val="dk1"/>
              </a:solidFill>
              <a:latin typeface="Tahoma"/>
              <a:ea typeface="Tahoma"/>
              <a:cs typeface="Tahoma"/>
              <a:sym typeface="Tahoma"/>
            </a:endParaRPr>
          </a:p>
        </p:txBody>
      </p:sp>
      <p:sp>
        <p:nvSpPr>
          <p:cNvPr id="437" name="Google Shape;437;p24"/>
          <p:cNvSpPr/>
          <p:nvPr/>
        </p:nvSpPr>
        <p:spPr>
          <a:xfrm>
            <a:off x="309193" y="1478000"/>
            <a:ext cx="3989704" cy="186690"/>
          </a:xfrm>
          <a:custGeom>
            <a:rect b="b" l="l" r="r" t="t"/>
            <a:pathLst>
              <a:path extrusionOk="0" h="186689" w="3989704">
                <a:moveTo>
                  <a:pt x="3938852" y="0"/>
                </a:moveTo>
                <a:lnTo>
                  <a:pt x="50800" y="0"/>
                </a:lnTo>
                <a:lnTo>
                  <a:pt x="31075" y="4008"/>
                </a:lnTo>
                <a:lnTo>
                  <a:pt x="14922" y="14922"/>
                </a:lnTo>
                <a:lnTo>
                  <a:pt x="4008" y="31075"/>
                </a:lnTo>
                <a:lnTo>
                  <a:pt x="0" y="50800"/>
                </a:lnTo>
                <a:lnTo>
                  <a:pt x="0" y="186558"/>
                </a:lnTo>
                <a:lnTo>
                  <a:pt x="3989652" y="186558"/>
                </a:lnTo>
                <a:lnTo>
                  <a:pt x="3989652" y="50800"/>
                </a:lnTo>
                <a:lnTo>
                  <a:pt x="3985644" y="31075"/>
                </a:lnTo>
                <a:lnTo>
                  <a:pt x="3974729" y="14922"/>
                </a:lnTo>
                <a:lnTo>
                  <a:pt x="3958576" y="4008"/>
                </a:lnTo>
                <a:lnTo>
                  <a:pt x="3938852" y="0"/>
                </a:lnTo>
                <a:close/>
              </a:path>
            </a:pathLst>
          </a:custGeom>
          <a:solidFill>
            <a:srgbClr val="7E11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24"/>
          <p:cNvSpPr/>
          <p:nvPr/>
        </p:nvSpPr>
        <p:spPr>
          <a:xfrm>
            <a:off x="309194" y="1651901"/>
            <a:ext cx="3989651" cy="50609"/>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24"/>
          <p:cNvSpPr/>
          <p:nvPr/>
        </p:nvSpPr>
        <p:spPr>
          <a:xfrm>
            <a:off x="359994" y="2190115"/>
            <a:ext cx="101600" cy="101600"/>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24"/>
          <p:cNvSpPr/>
          <p:nvPr/>
        </p:nvSpPr>
        <p:spPr>
          <a:xfrm>
            <a:off x="410794" y="2177414"/>
            <a:ext cx="3938802" cy="114300"/>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24"/>
          <p:cNvSpPr/>
          <p:nvPr/>
        </p:nvSpPr>
        <p:spPr>
          <a:xfrm>
            <a:off x="4298846" y="1522234"/>
            <a:ext cx="50751" cy="667880"/>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24"/>
          <p:cNvSpPr/>
          <p:nvPr/>
        </p:nvSpPr>
        <p:spPr>
          <a:xfrm>
            <a:off x="309193" y="1696179"/>
            <a:ext cx="3989704" cy="544830"/>
          </a:xfrm>
          <a:custGeom>
            <a:rect b="b" l="l" r="r" t="t"/>
            <a:pathLst>
              <a:path extrusionOk="0" h="544830" w="3989704">
                <a:moveTo>
                  <a:pt x="3989652" y="0"/>
                </a:moveTo>
                <a:lnTo>
                  <a:pt x="0" y="0"/>
                </a:lnTo>
                <a:lnTo>
                  <a:pt x="0" y="493935"/>
                </a:lnTo>
                <a:lnTo>
                  <a:pt x="4008" y="513660"/>
                </a:lnTo>
                <a:lnTo>
                  <a:pt x="14922" y="529813"/>
                </a:lnTo>
                <a:lnTo>
                  <a:pt x="31075" y="540727"/>
                </a:lnTo>
                <a:lnTo>
                  <a:pt x="50800" y="544735"/>
                </a:lnTo>
                <a:lnTo>
                  <a:pt x="3938852" y="544735"/>
                </a:lnTo>
                <a:lnTo>
                  <a:pt x="3958576" y="540727"/>
                </a:lnTo>
                <a:lnTo>
                  <a:pt x="3974729" y="529813"/>
                </a:lnTo>
                <a:lnTo>
                  <a:pt x="3985644" y="513660"/>
                </a:lnTo>
                <a:lnTo>
                  <a:pt x="3989652" y="493935"/>
                </a:lnTo>
                <a:lnTo>
                  <a:pt x="39896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24"/>
          <p:cNvSpPr/>
          <p:nvPr/>
        </p:nvSpPr>
        <p:spPr>
          <a:xfrm>
            <a:off x="4298846" y="1560326"/>
            <a:ext cx="0" cy="648970"/>
          </a:xfrm>
          <a:custGeom>
            <a:rect b="b" l="l" r="r" t="t"/>
            <a:pathLst>
              <a:path extrusionOk="0" h="648969" w="120000">
                <a:moveTo>
                  <a:pt x="0" y="648838"/>
                </a:moveTo>
                <a:lnTo>
                  <a:pt x="0" y="0"/>
                </a:lnTo>
              </a:path>
            </a:pathLst>
          </a:custGeom>
          <a:noFill/>
          <a:ln cap="flat" cmpd="sng" w="9525">
            <a:solidFill>
              <a:srgbClr val="7F7F7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24"/>
          <p:cNvSpPr/>
          <p:nvPr/>
        </p:nvSpPr>
        <p:spPr>
          <a:xfrm>
            <a:off x="4298846" y="1547626"/>
            <a:ext cx="0" cy="12700"/>
          </a:xfrm>
          <a:custGeom>
            <a:rect b="b" l="l" r="r" t="t"/>
            <a:pathLst>
              <a:path extrusionOk="0" h="12700" w="120000">
                <a:moveTo>
                  <a:pt x="0" y="12700"/>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24"/>
          <p:cNvSpPr/>
          <p:nvPr/>
        </p:nvSpPr>
        <p:spPr>
          <a:xfrm>
            <a:off x="4298846" y="1534926"/>
            <a:ext cx="0" cy="12700"/>
          </a:xfrm>
          <a:custGeom>
            <a:rect b="b" l="l" r="r" t="t"/>
            <a:pathLst>
              <a:path extrusionOk="0" h="12700" w="120000">
                <a:moveTo>
                  <a:pt x="0" y="12700"/>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24"/>
          <p:cNvSpPr/>
          <p:nvPr/>
        </p:nvSpPr>
        <p:spPr>
          <a:xfrm>
            <a:off x="4298846" y="1522226"/>
            <a:ext cx="0" cy="12700"/>
          </a:xfrm>
          <a:custGeom>
            <a:rect b="b" l="l" r="r" t="t"/>
            <a:pathLst>
              <a:path extrusionOk="0" h="12700" w="120000">
                <a:moveTo>
                  <a:pt x="0" y="12700"/>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24"/>
          <p:cNvSpPr txBox="1"/>
          <p:nvPr/>
        </p:nvSpPr>
        <p:spPr>
          <a:xfrm>
            <a:off x="347294" y="1421915"/>
            <a:ext cx="3912870" cy="780415"/>
          </a:xfrm>
          <a:prstGeom prst="rect">
            <a:avLst/>
          </a:prstGeom>
          <a:noFill/>
          <a:ln>
            <a:noFill/>
          </a:ln>
        </p:spPr>
        <p:txBody>
          <a:bodyPr anchorCtr="0" anchor="t" bIns="0" lIns="0" spcFirstLastPara="1" rIns="0" wrap="square" tIns="50800">
            <a:spAutoFit/>
          </a:bodyPr>
          <a:lstStyle/>
          <a:p>
            <a:pPr indent="0" lvl="0" marL="12700" marR="0" rtl="0" algn="l">
              <a:lnSpc>
                <a:spcPct val="100000"/>
              </a:lnSpc>
              <a:spcBef>
                <a:spcPts val="0"/>
              </a:spcBef>
              <a:spcAft>
                <a:spcPts val="0"/>
              </a:spcAft>
              <a:buNone/>
            </a:pPr>
            <a:r>
              <a:rPr lang="en-US" sz="1100">
                <a:solidFill>
                  <a:srgbClr val="FFFFFF"/>
                </a:solidFill>
                <a:latin typeface="Arial"/>
                <a:ea typeface="Arial"/>
                <a:cs typeface="Arial"/>
                <a:sym typeface="Arial"/>
              </a:rPr>
              <a:t>Branch Coverage</a:t>
            </a:r>
            <a:endParaRPr sz="1100">
              <a:solidFill>
                <a:schemeClr val="dk1"/>
              </a:solidFill>
              <a:latin typeface="Arial"/>
              <a:ea typeface="Arial"/>
              <a:cs typeface="Arial"/>
              <a:sym typeface="Arial"/>
            </a:endParaRPr>
          </a:p>
          <a:p>
            <a:pPr indent="0" lvl="0" marL="12700" marR="5080" rtl="0" algn="l">
              <a:lnSpc>
                <a:spcPct val="102600"/>
              </a:lnSpc>
              <a:spcBef>
                <a:spcPts val="260"/>
              </a:spcBef>
              <a:spcAft>
                <a:spcPts val="0"/>
              </a:spcAft>
              <a:buNone/>
            </a:pPr>
            <a:r>
              <a:rPr lang="en-US" sz="1100">
                <a:solidFill>
                  <a:schemeClr val="dk1"/>
                </a:solidFill>
                <a:latin typeface="Arial"/>
                <a:ea typeface="Arial"/>
                <a:cs typeface="Arial"/>
                <a:sym typeface="Arial"/>
              </a:rPr>
              <a:t>Each decision should take all possible outcomes at least once either  true or false.</a:t>
            </a:r>
            <a:endParaRPr sz="1100">
              <a:solidFill>
                <a:schemeClr val="dk1"/>
              </a:solidFill>
              <a:latin typeface="Arial"/>
              <a:ea typeface="Arial"/>
              <a:cs typeface="Arial"/>
              <a:sym typeface="Arial"/>
            </a:endParaRPr>
          </a:p>
          <a:p>
            <a:pPr indent="0" lvl="0" marL="12700" marR="0" rtl="0" algn="l">
              <a:lnSpc>
                <a:spcPct val="100000"/>
              </a:lnSpc>
              <a:spcBef>
                <a:spcPts val="35"/>
              </a:spcBef>
              <a:spcAft>
                <a:spcPts val="0"/>
              </a:spcAft>
              <a:buNone/>
            </a:pPr>
            <a:r>
              <a:rPr lang="en-US" sz="1100">
                <a:solidFill>
                  <a:schemeClr val="dk1"/>
                </a:solidFill>
                <a:latin typeface="Arial"/>
                <a:ea typeface="Arial"/>
                <a:cs typeface="Arial"/>
                <a:sym typeface="Arial"/>
              </a:rPr>
              <a:t>For example if(m </a:t>
            </a:r>
            <a:r>
              <a:rPr i="1" lang="en-US" sz="1100">
                <a:solidFill>
                  <a:schemeClr val="dk1"/>
                </a:solidFill>
                <a:latin typeface="Verdana"/>
                <a:ea typeface="Verdana"/>
                <a:cs typeface="Verdana"/>
                <a:sym typeface="Verdana"/>
              </a:rPr>
              <a:t>&gt;</a:t>
            </a:r>
            <a:r>
              <a:rPr lang="en-US" sz="1100">
                <a:solidFill>
                  <a:schemeClr val="dk1"/>
                </a:solidFill>
                <a:latin typeface="Arial"/>
                <a:ea typeface="Arial"/>
                <a:cs typeface="Arial"/>
                <a:sym typeface="Arial"/>
              </a:rPr>
              <a:t>n), the test cases are (1) m</a:t>
            </a:r>
            <a:r>
              <a:rPr i="1" lang="en-US" sz="1100">
                <a:solidFill>
                  <a:schemeClr val="dk1"/>
                </a:solidFill>
                <a:latin typeface="Verdana"/>
                <a:ea typeface="Verdana"/>
                <a:cs typeface="Verdana"/>
                <a:sym typeface="Verdana"/>
              </a:rPr>
              <a:t>&lt;</a:t>
            </a:r>
            <a:r>
              <a:rPr lang="en-US" sz="1100">
                <a:solidFill>
                  <a:schemeClr val="dk1"/>
                </a:solidFill>
                <a:latin typeface="Arial"/>
                <a:ea typeface="Arial"/>
                <a:cs typeface="Arial"/>
                <a:sym typeface="Arial"/>
              </a:rPr>
              <a:t>=n, (2) m</a:t>
            </a:r>
            <a:r>
              <a:rPr i="1" lang="en-US" sz="1100">
                <a:solidFill>
                  <a:schemeClr val="dk1"/>
                </a:solidFill>
                <a:latin typeface="Verdana"/>
                <a:ea typeface="Verdana"/>
                <a:cs typeface="Verdana"/>
                <a:sym typeface="Verdana"/>
              </a:rPr>
              <a:t>&gt;</a:t>
            </a:r>
            <a:r>
              <a:rPr lang="en-US" sz="1100">
                <a:solidFill>
                  <a:schemeClr val="dk1"/>
                </a:solidFill>
                <a:latin typeface="Arial"/>
                <a:ea typeface="Arial"/>
                <a:cs typeface="Arial"/>
                <a:sym typeface="Arial"/>
              </a:rPr>
              <a:t>n</a:t>
            </a:r>
            <a:endParaRPr sz="1100">
              <a:solidFill>
                <a:schemeClr val="dk1"/>
              </a:solidFill>
              <a:latin typeface="Arial"/>
              <a:ea typeface="Arial"/>
              <a:cs typeface="Arial"/>
              <a:sym typeface="Arial"/>
            </a:endParaRPr>
          </a:p>
        </p:txBody>
      </p:sp>
      <p:sp>
        <p:nvSpPr>
          <p:cNvPr id="448" name="Google Shape;448;p24"/>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24"/>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24"/>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24"/>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14/35</a:t>
            </a:r>
            <a:endParaRPr/>
          </a:p>
        </p:txBody>
      </p:sp>
      <p:sp>
        <p:nvSpPr>
          <p:cNvPr id="452" name="Google Shape;452;p24"/>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453" name="Google Shape;453;p24"/>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5"/>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25"/>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459" name="Google Shape;459;p25"/>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460" name="Google Shape;460;p25"/>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25"/>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Example</a:t>
            </a:r>
            <a:endParaRPr sz="1400">
              <a:solidFill>
                <a:schemeClr val="dk1"/>
              </a:solidFill>
              <a:latin typeface="Tahoma"/>
              <a:ea typeface="Tahoma"/>
              <a:cs typeface="Tahoma"/>
              <a:sym typeface="Tahoma"/>
            </a:endParaRPr>
          </a:p>
        </p:txBody>
      </p:sp>
      <p:sp>
        <p:nvSpPr>
          <p:cNvPr id="462" name="Google Shape;462;p25"/>
          <p:cNvSpPr/>
          <p:nvPr/>
        </p:nvSpPr>
        <p:spPr>
          <a:xfrm>
            <a:off x="1526413" y="1162542"/>
            <a:ext cx="1555180" cy="1216230"/>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25"/>
          <p:cNvSpPr txBox="1"/>
          <p:nvPr/>
        </p:nvSpPr>
        <p:spPr>
          <a:xfrm>
            <a:off x="1090891" y="2434404"/>
            <a:ext cx="2426335"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rgbClr val="A91717"/>
                </a:solidFill>
                <a:latin typeface="Arial"/>
                <a:ea typeface="Arial"/>
                <a:cs typeface="Arial"/>
                <a:sym typeface="Arial"/>
              </a:rPr>
              <a:t>Figure 5: </a:t>
            </a:r>
            <a:r>
              <a:rPr lang="en-US" sz="1000">
                <a:solidFill>
                  <a:schemeClr val="dk1"/>
                </a:solidFill>
                <a:latin typeface="Arial"/>
                <a:ea typeface="Arial"/>
                <a:cs typeface="Arial"/>
                <a:sym typeface="Arial"/>
              </a:rPr>
              <a:t>Euclid’s GCD computation program</a:t>
            </a:r>
            <a:endParaRPr sz="1000">
              <a:solidFill>
                <a:schemeClr val="dk1"/>
              </a:solidFill>
              <a:latin typeface="Arial"/>
              <a:ea typeface="Arial"/>
              <a:cs typeface="Arial"/>
              <a:sym typeface="Arial"/>
            </a:endParaRPr>
          </a:p>
        </p:txBody>
      </p:sp>
      <p:sp>
        <p:nvSpPr>
          <p:cNvPr id="464" name="Google Shape;464;p25"/>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25"/>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25"/>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25"/>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15/35</a:t>
            </a:r>
            <a:endParaRPr/>
          </a:p>
        </p:txBody>
      </p:sp>
      <p:sp>
        <p:nvSpPr>
          <p:cNvPr id="468" name="Google Shape;468;p25"/>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469" name="Google Shape;469;p25"/>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26"/>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475" name="Google Shape;475;p26"/>
          <p:cNvSpPr txBox="1"/>
          <p:nvPr/>
        </p:nvSpPr>
        <p:spPr>
          <a:xfrm>
            <a:off x="2303995" y="0"/>
            <a:ext cx="2304415" cy="40068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476" name="Google Shape;476;p26"/>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26"/>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Test cases for Statement Coverage</a:t>
            </a:r>
            <a:endParaRPr sz="1400">
              <a:solidFill>
                <a:schemeClr val="dk1"/>
              </a:solidFill>
              <a:latin typeface="Tahoma"/>
              <a:ea typeface="Tahoma"/>
              <a:cs typeface="Tahoma"/>
              <a:sym typeface="Tahoma"/>
            </a:endParaRPr>
          </a:p>
        </p:txBody>
      </p:sp>
      <p:sp>
        <p:nvSpPr>
          <p:cNvPr id="478" name="Google Shape;478;p26"/>
          <p:cNvSpPr/>
          <p:nvPr/>
        </p:nvSpPr>
        <p:spPr>
          <a:xfrm>
            <a:off x="502551" y="1365135"/>
            <a:ext cx="65265" cy="65265"/>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26"/>
          <p:cNvSpPr/>
          <p:nvPr/>
        </p:nvSpPr>
        <p:spPr>
          <a:xfrm>
            <a:off x="502551" y="2091385"/>
            <a:ext cx="65265" cy="65265"/>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26"/>
          <p:cNvSpPr txBox="1"/>
          <p:nvPr/>
        </p:nvSpPr>
        <p:spPr>
          <a:xfrm>
            <a:off x="624395" y="1281682"/>
            <a:ext cx="3531870" cy="1262380"/>
          </a:xfrm>
          <a:prstGeom prst="rect">
            <a:avLst/>
          </a:prstGeom>
          <a:noFill/>
          <a:ln>
            <a:noFill/>
          </a:ln>
        </p:spPr>
        <p:txBody>
          <a:bodyPr anchorCtr="0" anchor="t" bIns="0" lIns="0" spcFirstLastPara="1" rIns="0" wrap="square" tIns="6975">
            <a:spAutoFit/>
          </a:bodyPr>
          <a:lstStyle/>
          <a:p>
            <a:pPr indent="0" lvl="0" marL="12700" marR="5080" rtl="0" algn="l">
              <a:lnSpc>
                <a:spcPct val="102600"/>
              </a:lnSpc>
              <a:spcBef>
                <a:spcPts val="0"/>
              </a:spcBef>
              <a:spcAft>
                <a:spcPts val="0"/>
              </a:spcAft>
              <a:buNone/>
            </a:pPr>
            <a:r>
              <a:rPr lang="en-US" sz="1100">
                <a:solidFill>
                  <a:schemeClr val="dk1"/>
                </a:solidFill>
                <a:latin typeface="Arial"/>
                <a:ea typeface="Arial"/>
                <a:cs typeface="Arial"/>
                <a:sym typeface="Arial"/>
              </a:rPr>
              <a:t>To design the test cases for the statement coverage, the  conditional expression of the while statements needs to be  made true and the conditional expression of the if statement  needs to be made both true and false.</a:t>
            </a:r>
            <a:endParaRPr sz="1100">
              <a:solidFill>
                <a:schemeClr val="dk1"/>
              </a:solidFill>
              <a:latin typeface="Arial"/>
              <a:ea typeface="Arial"/>
              <a:cs typeface="Arial"/>
              <a:sym typeface="Arial"/>
            </a:endParaRPr>
          </a:p>
          <a:p>
            <a:pPr indent="0" lvl="0" marL="12700" marR="115570" rtl="0" algn="l">
              <a:lnSpc>
                <a:spcPct val="102600"/>
              </a:lnSpc>
              <a:spcBef>
                <a:spcPts val="300"/>
              </a:spcBef>
              <a:spcAft>
                <a:spcPts val="0"/>
              </a:spcAft>
              <a:buNone/>
            </a:pPr>
            <a:r>
              <a:rPr lang="en-US" sz="1100">
                <a:solidFill>
                  <a:schemeClr val="dk1"/>
                </a:solidFill>
                <a:latin typeface="Arial"/>
                <a:ea typeface="Arial"/>
                <a:cs typeface="Arial"/>
                <a:sym typeface="Arial"/>
              </a:rPr>
              <a:t>By choosing the test set </a:t>
            </a:r>
            <a:r>
              <a:rPr i="1" lang="en-US" sz="1100">
                <a:solidFill>
                  <a:schemeClr val="dk1"/>
                </a:solidFill>
                <a:latin typeface="Palatino Linotype"/>
                <a:ea typeface="Palatino Linotype"/>
                <a:cs typeface="Palatino Linotype"/>
                <a:sym typeface="Palatino Linotype"/>
              </a:rPr>
              <a:t>{</a:t>
            </a:r>
            <a:r>
              <a:rPr lang="en-US" sz="1100">
                <a:solidFill>
                  <a:schemeClr val="dk1"/>
                </a:solidFill>
                <a:latin typeface="Arial"/>
                <a:ea typeface="Arial"/>
                <a:cs typeface="Arial"/>
                <a:sym typeface="Arial"/>
              </a:rPr>
              <a:t>(x=3,y=3),  (x=4,y=3),(x=3,y=4)</a:t>
            </a:r>
            <a:r>
              <a:rPr i="1" lang="en-US" sz="1100">
                <a:solidFill>
                  <a:schemeClr val="dk1"/>
                </a:solidFill>
                <a:latin typeface="Palatino Linotype"/>
                <a:ea typeface="Palatino Linotype"/>
                <a:cs typeface="Palatino Linotype"/>
                <a:sym typeface="Palatino Linotype"/>
              </a:rPr>
              <a:t>}</a:t>
            </a:r>
            <a:r>
              <a:rPr lang="en-US" sz="1100">
                <a:solidFill>
                  <a:schemeClr val="dk1"/>
                </a:solidFill>
                <a:latin typeface="Arial"/>
                <a:ea typeface="Arial"/>
                <a:cs typeface="Arial"/>
                <a:sym typeface="Arial"/>
              </a:rPr>
              <a:t>, all the statements of the program  would be executed at-least once.</a:t>
            </a:r>
            <a:endParaRPr sz="1100">
              <a:solidFill>
                <a:schemeClr val="dk1"/>
              </a:solidFill>
              <a:latin typeface="Arial"/>
              <a:ea typeface="Arial"/>
              <a:cs typeface="Arial"/>
              <a:sym typeface="Arial"/>
            </a:endParaRPr>
          </a:p>
        </p:txBody>
      </p:sp>
      <p:sp>
        <p:nvSpPr>
          <p:cNvPr id="481" name="Google Shape;481;p26"/>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26"/>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3" name="Google Shape;483;p26"/>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26"/>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16/35</a:t>
            </a:r>
            <a:endParaRPr/>
          </a:p>
        </p:txBody>
      </p:sp>
      <p:sp>
        <p:nvSpPr>
          <p:cNvPr id="485" name="Google Shape;485;p26"/>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486" name="Google Shape;486;p26"/>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3"/>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27"/>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492" name="Google Shape;492;p27"/>
          <p:cNvSpPr txBox="1"/>
          <p:nvPr/>
        </p:nvSpPr>
        <p:spPr>
          <a:xfrm>
            <a:off x="2303995" y="0"/>
            <a:ext cx="2304415" cy="40068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493" name="Google Shape;493;p27"/>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27"/>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Test cases for Statement Coverage</a:t>
            </a:r>
            <a:endParaRPr sz="1400">
              <a:solidFill>
                <a:schemeClr val="dk1"/>
              </a:solidFill>
              <a:latin typeface="Tahoma"/>
              <a:ea typeface="Tahoma"/>
              <a:cs typeface="Tahoma"/>
              <a:sym typeface="Tahoma"/>
            </a:endParaRPr>
          </a:p>
        </p:txBody>
      </p:sp>
      <p:sp>
        <p:nvSpPr>
          <p:cNvPr id="495" name="Google Shape;495;p27"/>
          <p:cNvSpPr/>
          <p:nvPr/>
        </p:nvSpPr>
        <p:spPr>
          <a:xfrm>
            <a:off x="502551" y="1710613"/>
            <a:ext cx="65265" cy="65265"/>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p27"/>
          <p:cNvSpPr txBox="1"/>
          <p:nvPr/>
        </p:nvSpPr>
        <p:spPr>
          <a:xfrm>
            <a:off x="624395" y="1627160"/>
            <a:ext cx="3591560" cy="363855"/>
          </a:xfrm>
          <a:prstGeom prst="rect">
            <a:avLst/>
          </a:prstGeom>
          <a:noFill/>
          <a:ln>
            <a:noFill/>
          </a:ln>
        </p:spPr>
        <p:txBody>
          <a:bodyPr anchorCtr="0" anchor="t" bIns="0" lIns="0" spcFirstLastPara="1" rIns="0" wrap="square" tIns="6975">
            <a:spAutoFit/>
          </a:bodyPr>
          <a:lstStyle/>
          <a:p>
            <a:pPr indent="0" lvl="0" marL="12700" marR="5080" rtl="0" algn="l">
              <a:lnSpc>
                <a:spcPct val="102600"/>
              </a:lnSpc>
              <a:spcBef>
                <a:spcPts val="0"/>
              </a:spcBef>
              <a:spcAft>
                <a:spcPts val="0"/>
              </a:spcAft>
              <a:buNone/>
            </a:pPr>
            <a:r>
              <a:rPr lang="en-US" sz="1100">
                <a:solidFill>
                  <a:schemeClr val="dk1"/>
                </a:solidFill>
                <a:latin typeface="Arial"/>
                <a:ea typeface="Arial"/>
                <a:cs typeface="Arial"/>
                <a:sym typeface="Arial"/>
              </a:rPr>
              <a:t>For the GCD program, the test cases for branch coverage can  be </a:t>
            </a:r>
            <a:r>
              <a:rPr i="1" lang="en-US" sz="1100">
                <a:solidFill>
                  <a:schemeClr val="dk1"/>
                </a:solidFill>
                <a:latin typeface="Palatino Linotype"/>
                <a:ea typeface="Palatino Linotype"/>
                <a:cs typeface="Palatino Linotype"/>
                <a:sym typeface="Palatino Linotype"/>
              </a:rPr>
              <a:t>{</a:t>
            </a:r>
            <a:r>
              <a:rPr lang="en-US" sz="1100">
                <a:solidFill>
                  <a:schemeClr val="dk1"/>
                </a:solidFill>
                <a:latin typeface="Arial"/>
                <a:ea typeface="Arial"/>
                <a:cs typeface="Arial"/>
                <a:sym typeface="Arial"/>
              </a:rPr>
              <a:t>(x=3,y=3), (x=3,y=2), (x=4,y=3),(x=3,y=4)</a:t>
            </a:r>
            <a:r>
              <a:rPr i="1" lang="en-US" sz="1100">
                <a:solidFill>
                  <a:schemeClr val="dk1"/>
                </a:solidFill>
                <a:latin typeface="Palatino Linotype"/>
                <a:ea typeface="Palatino Linotype"/>
                <a:cs typeface="Palatino Linotype"/>
                <a:sym typeface="Palatino Linotype"/>
              </a:rPr>
              <a:t>}</a:t>
            </a:r>
            <a:r>
              <a:rPr lang="en-US" sz="1100">
                <a:solidFill>
                  <a:schemeClr val="dk1"/>
                </a:solidFill>
                <a:latin typeface="Arial"/>
                <a:ea typeface="Arial"/>
                <a:cs typeface="Arial"/>
                <a:sym typeface="Arial"/>
              </a:rPr>
              <a:t>.</a:t>
            </a:r>
            <a:endParaRPr sz="1100">
              <a:solidFill>
                <a:schemeClr val="dk1"/>
              </a:solidFill>
              <a:latin typeface="Arial"/>
              <a:ea typeface="Arial"/>
              <a:cs typeface="Arial"/>
              <a:sym typeface="Arial"/>
            </a:endParaRPr>
          </a:p>
        </p:txBody>
      </p:sp>
      <p:sp>
        <p:nvSpPr>
          <p:cNvPr id="497" name="Google Shape;497;p27"/>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27"/>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27"/>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27"/>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17/35</a:t>
            </a:r>
            <a:endParaRPr/>
          </a:p>
        </p:txBody>
      </p:sp>
      <p:sp>
        <p:nvSpPr>
          <p:cNvPr id="501" name="Google Shape;501;p27"/>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502" name="Google Shape;502;p27"/>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28"/>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508" name="Google Shape;508;p28"/>
          <p:cNvSpPr txBox="1"/>
          <p:nvPr/>
        </p:nvSpPr>
        <p:spPr>
          <a:xfrm>
            <a:off x="2303995" y="0"/>
            <a:ext cx="2304415" cy="40068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509" name="Google Shape;509;p28"/>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28"/>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Observation</a:t>
            </a:r>
            <a:endParaRPr sz="1400">
              <a:solidFill>
                <a:schemeClr val="dk1"/>
              </a:solidFill>
              <a:latin typeface="Tahoma"/>
              <a:ea typeface="Tahoma"/>
              <a:cs typeface="Tahoma"/>
              <a:sym typeface="Tahoma"/>
            </a:endParaRPr>
          </a:p>
        </p:txBody>
      </p:sp>
      <p:sp>
        <p:nvSpPr>
          <p:cNvPr id="511" name="Google Shape;511;p28"/>
          <p:cNvSpPr/>
          <p:nvPr/>
        </p:nvSpPr>
        <p:spPr>
          <a:xfrm>
            <a:off x="502551" y="1560842"/>
            <a:ext cx="65265" cy="65265"/>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28"/>
          <p:cNvSpPr/>
          <p:nvPr/>
        </p:nvSpPr>
        <p:spPr>
          <a:xfrm>
            <a:off x="502551" y="1942960"/>
            <a:ext cx="65265" cy="65265"/>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28"/>
          <p:cNvSpPr txBox="1"/>
          <p:nvPr/>
        </p:nvSpPr>
        <p:spPr>
          <a:xfrm>
            <a:off x="624395" y="1477402"/>
            <a:ext cx="3482975" cy="746125"/>
          </a:xfrm>
          <a:prstGeom prst="rect">
            <a:avLst/>
          </a:prstGeom>
          <a:noFill/>
          <a:ln>
            <a:noFill/>
          </a:ln>
        </p:spPr>
        <p:txBody>
          <a:bodyPr anchorCtr="0" anchor="t" bIns="0" lIns="0" spcFirstLastPara="1" rIns="0" wrap="square" tIns="6975">
            <a:spAutoFit/>
          </a:bodyPr>
          <a:lstStyle/>
          <a:p>
            <a:pPr indent="0" lvl="0" marL="12700" marR="138430" rtl="0" algn="l">
              <a:lnSpc>
                <a:spcPct val="102600"/>
              </a:lnSpc>
              <a:spcBef>
                <a:spcPts val="0"/>
              </a:spcBef>
              <a:spcAft>
                <a:spcPts val="0"/>
              </a:spcAft>
              <a:buNone/>
            </a:pPr>
            <a:r>
              <a:rPr lang="en-US" sz="1100">
                <a:solidFill>
                  <a:schemeClr val="dk1"/>
                </a:solidFill>
                <a:latin typeface="Arial"/>
                <a:ea typeface="Arial"/>
                <a:cs typeface="Arial"/>
                <a:sym typeface="Arial"/>
              </a:rPr>
              <a:t>It is easy to show that branch coverage based testing is a  stronger testing than statement coverage-based testing.</a:t>
            </a:r>
            <a:endParaRPr sz="1100">
              <a:solidFill>
                <a:schemeClr val="dk1"/>
              </a:solidFill>
              <a:latin typeface="Arial"/>
              <a:ea typeface="Arial"/>
              <a:cs typeface="Arial"/>
              <a:sym typeface="Arial"/>
            </a:endParaRPr>
          </a:p>
          <a:p>
            <a:pPr indent="0" lvl="0" marL="12700" marR="5080" rtl="0" algn="l">
              <a:lnSpc>
                <a:spcPct val="102600"/>
              </a:lnSpc>
              <a:spcBef>
                <a:spcPts val="300"/>
              </a:spcBef>
              <a:spcAft>
                <a:spcPts val="0"/>
              </a:spcAft>
              <a:buNone/>
            </a:pPr>
            <a:r>
              <a:rPr lang="en-US" sz="1100">
                <a:solidFill>
                  <a:schemeClr val="dk1"/>
                </a:solidFill>
                <a:latin typeface="Arial"/>
                <a:ea typeface="Arial"/>
                <a:cs typeface="Arial"/>
                <a:sym typeface="Arial"/>
              </a:rPr>
              <a:t>We can prove this by showing that branch coverage ensures  statement coverage, but not vice-versa.</a:t>
            </a:r>
            <a:endParaRPr sz="1100">
              <a:solidFill>
                <a:schemeClr val="dk1"/>
              </a:solidFill>
              <a:latin typeface="Arial"/>
              <a:ea typeface="Arial"/>
              <a:cs typeface="Arial"/>
              <a:sym typeface="Arial"/>
            </a:endParaRPr>
          </a:p>
        </p:txBody>
      </p:sp>
      <p:sp>
        <p:nvSpPr>
          <p:cNvPr id="514" name="Google Shape;514;p28"/>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5" name="Google Shape;515;p28"/>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28"/>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28"/>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18/35</a:t>
            </a:r>
            <a:endParaRPr/>
          </a:p>
        </p:txBody>
      </p:sp>
      <p:sp>
        <p:nvSpPr>
          <p:cNvPr id="518" name="Google Shape;518;p28"/>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519" name="Google Shape;519;p28"/>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29"/>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525" name="Google Shape;525;p29"/>
          <p:cNvSpPr txBox="1"/>
          <p:nvPr/>
        </p:nvSpPr>
        <p:spPr>
          <a:xfrm>
            <a:off x="2303995" y="0"/>
            <a:ext cx="2304415" cy="40068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526" name="Google Shape;526;p29"/>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29"/>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Definitions</a:t>
            </a:r>
            <a:endParaRPr sz="1400">
              <a:solidFill>
                <a:schemeClr val="dk1"/>
              </a:solidFill>
              <a:latin typeface="Tahoma"/>
              <a:ea typeface="Tahoma"/>
              <a:cs typeface="Tahoma"/>
              <a:sym typeface="Tahoma"/>
            </a:endParaRPr>
          </a:p>
        </p:txBody>
      </p:sp>
      <p:sp>
        <p:nvSpPr>
          <p:cNvPr id="528" name="Google Shape;528;p29"/>
          <p:cNvSpPr/>
          <p:nvPr/>
        </p:nvSpPr>
        <p:spPr>
          <a:xfrm>
            <a:off x="309193" y="1068425"/>
            <a:ext cx="3989704" cy="165100"/>
          </a:xfrm>
          <a:custGeom>
            <a:rect b="b" l="l" r="r" t="t"/>
            <a:pathLst>
              <a:path extrusionOk="0" h="165100" w="3989704">
                <a:moveTo>
                  <a:pt x="3938852" y="0"/>
                </a:moveTo>
                <a:lnTo>
                  <a:pt x="50800" y="0"/>
                </a:lnTo>
                <a:lnTo>
                  <a:pt x="31075" y="4008"/>
                </a:lnTo>
                <a:lnTo>
                  <a:pt x="14922" y="14922"/>
                </a:lnTo>
                <a:lnTo>
                  <a:pt x="4008" y="31075"/>
                </a:lnTo>
                <a:lnTo>
                  <a:pt x="0" y="50800"/>
                </a:lnTo>
                <a:lnTo>
                  <a:pt x="0" y="164627"/>
                </a:lnTo>
                <a:lnTo>
                  <a:pt x="3989652" y="164627"/>
                </a:lnTo>
                <a:lnTo>
                  <a:pt x="3989652" y="50800"/>
                </a:lnTo>
                <a:lnTo>
                  <a:pt x="3985644" y="31075"/>
                </a:lnTo>
                <a:lnTo>
                  <a:pt x="3974729" y="14922"/>
                </a:lnTo>
                <a:lnTo>
                  <a:pt x="3958576" y="4008"/>
                </a:lnTo>
                <a:lnTo>
                  <a:pt x="3938852" y="0"/>
                </a:lnTo>
                <a:close/>
              </a:path>
            </a:pathLst>
          </a:custGeom>
          <a:solidFill>
            <a:srgbClr val="7E11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 name="Google Shape;529;p29"/>
          <p:cNvSpPr/>
          <p:nvPr/>
        </p:nvSpPr>
        <p:spPr>
          <a:xfrm>
            <a:off x="359994" y="2804452"/>
            <a:ext cx="101600" cy="101600"/>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29"/>
          <p:cNvSpPr/>
          <p:nvPr/>
        </p:nvSpPr>
        <p:spPr>
          <a:xfrm>
            <a:off x="309194" y="1112672"/>
            <a:ext cx="4040403" cy="158343"/>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1" name="Google Shape;531;p29"/>
          <p:cNvSpPr/>
          <p:nvPr/>
        </p:nvSpPr>
        <p:spPr>
          <a:xfrm>
            <a:off x="410794" y="2791752"/>
            <a:ext cx="3938802" cy="114300"/>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29"/>
          <p:cNvSpPr/>
          <p:nvPr/>
        </p:nvSpPr>
        <p:spPr>
          <a:xfrm>
            <a:off x="4298846" y="1163442"/>
            <a:ext cx="50751" cy="1641009"/>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 name="Google Shape;533;p29"/>
          <p:cNvSpPr/>
          <p:nvPr/>
        </p:nvSpPr>
        <p:spPr>
          <a:xfrm>
            <a:off x="309193" y="1264664"/>
            <a:ext cx="3989704" cy="1590675"/>
          </a:xfrm>
          <a:custGeom>
            <a:rect b="b" l="l" r="r" t="t"/>
            <a:pathLst>
              <a:path extrusionOk="0" h="1590675" w="3989704">
                <a:moveTo>
                  <a:pt x="3989652" y="0"/>
                </a:moveTo>
                <a:lnTo>
                  <a:pt x="0" y="0"/>
                </a:lnTo>
                <a:lnTo>
                  <a:pt x="0" y="1539788"/>
                </a:lnTo>
                <a:lnTo>
                  <a:pt x="4008" y="1559512"/>
                </a:lnTo>
                <a:lnTo>
                  <a:pt x="14922" y="1575665"/>
                </a:lnTo>
                <a:lnTo>
                  <a:pt x="31075" y="1586580"/>
                </a:lnTo>
                <a:lnTo>
                  <a:pt x="50800" y="1590588"/>
                </a:lnTo>
                <a:lnTo>
                  <a:pt x="3938852" y="1590588"/>
                </a:lnTo>
                <a:lnTo>
                  <a:pt x="3958576" y="1586580"/>
                </a:lnTo>
                <a:lnTo>
                  <a:pt x="3974729" y="1575665"/>
                </a:lnTo>
                <a:lnTo>
                  <a:pt x="3985644" y="1559512"/>
                </a:lnTo>
                <a:lnTo>
                  <a:pt x="3989652" y="1539788"/>
                </a:lnTo>
                <a:lnTo>
                  <a:pt x="39896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29"/>
          <p:cNvSpPr/>
          <p:nvPr/>
        </p:nvSpPr>
        <p:spPr>
          <a:xfrm>
            <a:off x="4298846" y="1150742"/>
            <a:ext cx="0" cy="1673225"/>
          </a:xfrm>
          <a:custGeom>
            <a:rect b="b" l="l" r="r" t="t"/>
            <a:pathLst>
              <a:path extrusionOk="0" h="1673225" w="120000">
                <a:moveTo>
                  <a:pt x="0" y="1672759"/>
                </a:moveTo>
                <a:lnTo>
                  <a:pt x="0" y="0"/>
                </a:lnTo>
              </a:path>
            </a:pathLst>
          </a:custGeom>
          <a:noFill/>
          <a:ln cap="flat" cmpd="sng" w="9525">
            <a:solidFill>
              <a:srgbClr val="7F7F7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29"/>
          <p:cNvSpPr/>
          <p:nvPr/>
        </p:nvSpPr>
        <p:spPr>
          <a:xfrm>
            <a:off x="4298846" y="1138042"/>
            <a:ext cx="0" cy="12700"/>
          </a:xfrm>
          <a:custGeom>
            <a:rect b="b" l="l" r="r" t="t"/>
            <a:pathLst>
              <a:path extrusionOk="0" h="12700" w="120000">
                <a:moveTo>
                  <a:pt x="0" y="12700"/>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6" name="Google Shape;536;p29"/>
          <p:cNvSpPr/>
          <p:nvPr/>
        </p:nvSpPr>
        <p:spPr>
          <a:xfrm>
            <a:off x="4298846" y="1125342"/>
            <a:ext cx="0" cy="12700"/>
          </a:xfrm>
          <a:custGeom>
            <a:rect b="b" l="l" r="r" t="t"/>
            <a:pathLst>
              <a:path extrusionOk="0" h="12700" w="120000">
                <a:moveTo>
                  <a:pt x="0" y="12700"/>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29"/>
          <p:cNvSpPr/>
          <p:nvPr/>
        </p:nvSpPr>
        <p:spPr>
          <a:xfrm>
            <a:off x="4298846" y="1112642"/>
            <a:ext cx="0" cy="12700"/>
          </a:xfrm>
          <a:custGeom>
            <a:rect b="b" l="l" r="r" t="t"/>
            <a:pathLst>
              <a:path extrusionOk="0" h="12700" w="120000">
                <a:moveTo>
                  <a:pt x="0" y="12700"/>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29"/>
          <p:cNvSpPr/>
          <p:nvPr/>
        </p:nvSpPr>
        <p:spPr>
          <a:xfrm>
            <a:off x="502551" y="1301280"/>
            <a:ext cx="65265" cy="65265"/>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29"/>
          <p:cNvSpPr/>
          <p:nvPr/>
        </p:nvSpPr>
        <p:spPr>
          <a:xfrm>
            <a:off x="502551" y="1680857"/>
            <a:ext cx="65265" cy="65265"/>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29"/>
          <p:cNvSpPr/>
          <p:nvPr/>
        </p:nvSpPr>
        <p:spPr>
          <a:xfrm>
            <a:off x="502551" y="1923783"/>
            <a:ext cx="65265" cy="65265"/>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 name="Google Shape;541;p29"/>
          <p:cNvSpPr/>
          <p:nvPr/>
        </p:nvSpPr>
        <p:spPr>
          <a:xfrm>
            <a:off x="502551" y="2189480"/>
            <a:ext cx="65265" cy="65265"/>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29"/>
          <p:cNvSpPr/>
          <p:nvPr/>
        </p:nvSpPr>
        <p:spPr>
          <a:xfrm>
            <a:off x="502551" y="2455189"/>
            <a:ext cx="65265" cy="65265"/>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29"/>
          <p:cNvSpPr txBox="1"/>
          <p:nvPr/>
        </p:nvSpPr>
        <p:spPr>
          <a:xfrm>
            <a:off x="334594" y="1012219"/>
            <a:ext cx="3950970" cy="1531830"/>
          </a:xfrm>
          <a:prstGeom prst="rect">
            <a:avLst/>
          </a:prstGeom>
          <a:noFill/>
          <a:ln>
            <a:noFill/>
          </a:ln>
        </p:spPr>
        <p:txBody>
          <a:bodyPr anchorCtr="0" anchor="t" bIns="0" lIns="0" spcFirstLastPara="1" rIns="0" wrap="square" tIns="59050">
            <a:spAutoFit/>
          </a:bodyPr>
          <a:lstStyle/>
          <a:p>
            <a:pPr indent="0" lvl="0" marL="25400" marR="0" rtl="0" algn="l">
              <a:lnSpc>
                <a:spcPct val="100000"/>
              </a:lnSpc>
              <a:spcBef>
                <a:spcPts val="0"/>
              </a:spcBef>
              <a:spcAft>
                <a:spcPts val="0"/>
              </a:spcAft>
              <a:buNone/>
            </a:pPr>
            <a:r>
              <a:rPr lang="en-US" sz="900">
                <a:solidFill>
                  <a:srgbClr val="FFFFFF"/>
                </a:solidFill>
                <a:latin typeface="Arial"/>
                <a:ea typeface="Arial"/>
                <a:cs typeface="Arial"/>
                <a:sym typeface="Arial"/>
              </a:rPr>
              <a:t>Concolic Testing</a:t>
            </a:r>
            <a:endParaRPr sz="900">
              <a:solidFill>
                <a:schemeClr val="dk1"/>
              </a:solidFill>
              <a:latin typeface="Arial"/>
              <a:ea typeface="Arial"/>
              <a:cs typeface="Arial"/>
              <a:sym typeface="Arial"/>
            </a:endParaRPr>
          </a:p>
          <a:p>
            <a:pPr indent="0" lvl="0" marL="302260" marR="43180" rtl="0" algn="l">
              <a:lnSpc>
                <a:spcPct val="100000"/>
              </a:lnSpc>
              <a:spcBef>
                <a:spcPts val="545"/>
              </a:spcBef>
              <a:spcAft>
                <a:spcPts val="0"/>
              </a:spcAft>
              <a:buNone/>
            </a:pPr>
            <a:r>
              <a:rPr lang="en-US" sz="900">
                <a:solidFill>
                  <a:schemeClr val="dk1"/>
                </a:solidFill>
                <a:latin typeface="Arial"/>
                <a:ea typeface="Arial"/>
                <a:cs typeface="Arial"/>
                <a:sym typeface="Arial"/>
              </a:rPr>
              <a:t>The concept of CONCOLIC testing combines the CONCrete constraints  execution and symBOLIC constraints execution to automatically generate  test cases for full path coverage.</a:t>
            </a:r>
            <a:endParaRPr sz="900">
              <a:solidFill>
                <a:schemeClr val="dk1"/>
              </a:solidFill>
              <a:latin typeface="Arial"/>
              <a:ea typeface="Arial"/>
              <a:cs typeface="Arial"/>
              <a:sym typeface="Arial"/>
            </a:endParaRPr>
          </a:p>
          <a:p>
            <a:pPr indent="0" lvl="0" marL="302260" marR="89535" rtl="0" algn="l">
              <a:lnSpc>
                <a:spcPct val="100000"/>
              </a:lnSpc>
              <a:spcBef>
                <a:spcPts val="285"/>
              </a:spcBef>
              <a:spcAft>
                <a:spcPts val="0"/>
              </a:spcAft>
              <a:buNone/>
            </a:pPr>
            <a:r>
              <a:rPr lang="en-US" sz="900">
                <a:solidFill>
                  <a:schemeClr val="dk1"/>
                </a:solidFill>
                <a:latin typeface="Arial"/>
                <a:ea typeface="Arial"/>
                <a:cs typeface="Arial"/>
                <a:sym typeface="Arial"/>
              </a:rPr>
              <a:t>This testing generates test suites by executing the program with random  values.</a:t>
            </a:r>
            <a:endParaRPr sz="900">
              <a:solidFill>
                <a:schemeClr val="dk1"/>
              </a:solidFill>
              <a:latin typeface="Arial"/>
              <a:ea typeface="Arial"/>
              <a:cs typeface="Arial"/>
              <a:sym typeface="Arial"/>
            </a:endParaRPr>
          </a:p>
          <a:p>
            <a:pPr indent="0" lvl="0" marL="302260" marR="385445" rtl="0" algn="l">
              <a:lnSpc>
                <a:spcPct val="100000"/>
              </a:lnSpc>
              <a:spcBef>
                <a:spcPts val="114"/>
              </a:spcBef>
              <a:spcAft>
                <a:spcPts val="0"/>
              </a:spcAft>
              <a:buNone/>
            </a:pPr>
            <a:r>
              <a:rPr lang="en-US" sz="900">
                <a:solidFill>
                  <a:schemeClr val="dk1"/>
                </a:solidFill>
                <a:latin typeface="Arial"/>
                <a:ea typeface="Arial"/>
                <a:cs typeface="Arial"/>
                <a:sym typeface="Arial"/>
              </a:rPr>
              <a:t>At execution time both concrete and symbolic values are saved for  execution path.</a:t>
            </a:r>
            <a:endParaRPr baseline="30000" sz="1350">
              <a:solidFill>
                <a:schemeClr val="dk1"/>
              </a:solidFill>
              <a:latin typeface="Arial"/>
              <a:ea typeface="Arial"/>
              <a:cs typeface="Arial"/>
              <a:sym typeface="Arial"/>
            </a:endParaRPr>
          </a:p>
          <a:p>
            <a:pPr indent="0" lvl="0" marL="302260" marR="144145" rtl="0" algn="l">
              <a:lnSpc>
                <a:spcPct val="74074"/>
              </a:lnSpc>
              <a:spcBef>
                <a:spcPts val="95"/>
              </a:spcBef>
              <a:spcAft>
                <a:spcPts val="0"/>
              </a:spcAft>
              <a:buNone/>
            </a:pPr>
            <a:r>
              <a:rPr lang="en-US" sz="900">
                <a:solidFill>
                  <a:schemeClr val="dk1"/>
                </a:solidFill>
                <a:latin typeface="Arial"/>
                <a:ea typeface="Arial"/>
                <a:cs typeface="Arial"/>
                <a:sym typeface="Arial"/>
              </a:rPr>
              <a:t>During execution, the variables are stored in some symbolic values such  </a:t>
            </a:r>
            <a:r>
              <a:rPr baseline="30000" lang="en-US" sz="1350">
                <a:solidFill>
                  <a:schemeClr val="dk1"/>
                </a:solidFill>
                <a:latin typeface="Arial"/>
                <a:ea typeface="Arial"/>
                <a:cs typeface="Arial"/>
                <a:sym typeface="Arial"/>
              </a:rPr>
              <a:t>as x</a:t>
            </a:r>
            <a:r>
              <a:rPr lang="en-US" sz="600">
                <a:solidFill>
                  <a:schemeClr val="dk1"/>
                </a:solidFill>
                <a:latin typeface="Arial"/>
                <a:ea typeface="Arial"/>
                <a:cs typeface="Arial"/>
                <a:sym typeface="Arial"/>
              </a:rPr>
              <a:t>0</a:t>
            </a:r>
            <a:r>
              <a:rPr baseline="30000" lang="en-US" sz="1350">
                <a:solidFill>
                  <a:schemeClr val="dk1"/>
                </a:solidFill>
                <a:latin typeface="Arial"/>
                <a:ea typeface="Arial"/>
                <a:cs typeface="Arial"/>
                <a:sym typeface="Arial"/>
              </a:rPr>
              <a:t>, and y</a:t>
            </a:r>
            <a:r>
              <a:rPr lang="en-US" sz="600">
                <a:solidFill>
                  <a:schemeClr val="dk1"/>
                </a:solidFill>
                <a:latin typeface="Arial"/>
                <a:ea typeface="Arial"/>
                <a:cs typeface="Arial"/>
                <a:sym typeface="Arial"/>
              </a:rPr>
              <a:t>0</a:t>
            </a:r>
            <a:r>
              <a:rPr baseline="30000" lang="en-US" sz="1350">
                <a:solidFill>
                  <a:schemeClr val="dk1"/>
                </a:solidFill>
                <a:latin typeface="Arial"/>
                <a:ea typeface="Arial"/>
                <a:cs typeface="Arial"/>
                <a:sym typeface="Arial"/>
              </a:rPr>
              <a:t>, instead of x and y.</a:t>
            </a:r>
            <a:endParaRPr baseline="30000" sz="1350">
              <a:solidFill>
                <a:schemeClr val="dk1"/>
              </a:solidFill>
              <a:latin typeface="Arial"/>
              <a:ea typeface="Arial"/>
              <a:cs typeface="Arial"/>
              <a:sym typeface="Arial"/>
            </a:endParaRPr>
          </a:p>
          <a:p>
            <a:pPr indent="0" lvl="0" marL="302260" marR="0" rtl="0" algn="l">
              <a:lnSpc>
                <a:spcPct val="118888"/>
              </a:lnSpc>
              <a:spcBef>
                <a:spcPts val="0"/>
              </a:spcBef>
              <a:spcAft>
                <a:spcPts val="0"/>
              </a:spcAft>
              <a:buNone/>
            </a:pPr>
            <a:r>
              <a:rPr lang="en-US" sz="900">
                <a:solidFill>
                  <a:schemeClr val="dk1"/>
                </a:solidFill>
                <a:latin typeface="Arial"/>
                <a:ea typeface="Arial"/>
                <a:cs typeface="Arial"/>
                <a:sym typeface="Arial"/>
              </a:rPr>
              <a:t>The next iteration of the process forces the selection of different paths.</a:t>
            </a:r>
            <a:endParaRPr sz="900">
              <a:solidFill>
                <a:schemeClr val="dk1"/>
              </a:solidFill>
              <a:latin typeface="Arial"/>
              <a:ea typeface="Arial"/>
              <a:cs typeface="Arial"/>
              <a:sym typeface="Arial"/>
            </a:endParaRPr>
          </a:p>
        </p:txBody>
      </p:sp>
      <p:sp>
        <p:nvSpPr>
          <p:cNvPr id="544" name="Google Shape;544;p29"/>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29"/>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29"/>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29"/>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19/35</a:t>
            </a:r>
            <a:endParaRPr/>
          </a:p>
        </p:txBody>
      </p:sp>
      <p:sp>
        <p:nvSpPr>
          <p:cNvPr id="548" name="Google Shape;548;p29"/>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549" name="Google Shape;549;p29"/>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7"/>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30"/>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555" name="Google Shape;555;p30"/>
          <p:cNvSpPr txBox="1"/>
          <p:nvPr/>
        </p:nvSpPr>
        <p:spPr>
          <a:xfrm>
            <a:off x="2303995" y="0"/>
            <a:ext cx="2304415" cy="40068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556" name="Google Shape;556;p30"/>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7" name="Google Shape;557;p30"/>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Definitions</a:t>
            </a:r>
            <a:endParaRPr sz="1400">
              <a:solidFill>
                <a:schemeClr val="dk1"/>
              </a:solidFill>
              <a:latin typeface="Tahoma"/>
              <a:ea typeface="Tahoma"/>
              <a:cs typeface="Tahoma"/>
              <a:sym typeface="Tahoma"/>
            </a:endParaRPr>
          </a:p>
        </p:txBody>
      </p:sp>
      <p:sp>
        <p:nvSpPr>
          <p:cNvPr id="558" name="Google Shape;558;p30"/>
          <p:cNvSpPr/>
          <p:nvPr/>
        </p:nvSpPr>
        <p:spPr>
          <a:xfrm>
            <a:off x="309193" y="1287068"/>
            <a:ext cx="3989704" cy="165100"/>
          </a:xfrm>
          <a:custGeom>
            <a:rect b="b" l="l" r="r" t="t"/>
            <a:pathLst>
              <a:path extrusionOk="0" h="165100" w="3989704">
                <a:moveTo>
                  <a:pt x="3938852" y="0"/>
                </a:moveTo>
                <a:lnTo>
                  <a:pt x="50800" y="0"/>
                </a:lnTo>
                <a:lnTo>
                  <a:pt x="31075" y="4008"/>
                </a:lnTo>
                <a:lnTo>
                  <a:pt x="14922" y="14922"/>
                </a:lnTo>
                <a:lnTo>
                  <a:pt x="4008" y="31075"/>
                </a:lnTo>
                <a:lnTo>
                  <a:pt x="0" y="50800"/>
                </a:lnTo>
                <a:lnTo>
                  <a:pt x="0" y="164627"/>
                </a:lnTo>
                <a:lnTo>
                  <a:pt x="3989652" y="164627"/>
                </a:lnTo>
                <a:lnTo>
                  <a:pt x="3989652" y="50800"/>
                </a:lnTo>
                <a:lnTo>
                  <a:pt x="3985644" y="31075"/>
                </a:lnTo>
                <a:lnTo>
                  <a:pt x="3974729" y="14922"/>
                </a:lnTo>
                <a:lnTo>
                  <a:pt x="3958576" y="4008"/>
                </a:lnTo>
                <a:lnTo>
                  <a:pt x="3938852" y="0"/>
                </a:lnTo>
                <a:close/>
              </a:path>
            </a:pathLst>
          </a:custGeom>
          <a:solidFill>
            <a:srgbClr val="7E11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30"/>
          <p:cNvSpPr/>
          <p:nvPr/>
        </p:nvSpPr>
        <p:spPr>
          <a:xfrm>
            <a:off x="359994" y="2476500"/>
            <a:ext cx="101600" cy="101600"/>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30"/>
          <p:cNvSpPr/>
          <p:nvPr/>
        </p:nvSpPr>
        <p:spPr>
          <a:xfrm>
            <a:off x="309194" y="1331302"/>
            <a:ext cx="4040403" cy="158343"/>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30"/>
          <p:cNvSpPr/>
          <p:nvPr/>
        </p:nvSpPr>
        <p:spPr>
          <a:xfrm>
            <a:off x="410794" y="2463800"/>
            <a:ext cx="3938802" cy="114300"/>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30"/>
          <p:cNvSpPr/>
          <p:nvPr/>
        </p:nvSpPr>
        <p:spPr>
          <a:xfrm>
            <a:off x="4298846" y="1382087"/>
            <a:ext cx="50751" cy="1094412"/>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30"/>
          <p:cNvSpPr/>
          <p:nvPr/>
        </p:nvSpPr>
        <p:spPr>
          <a:xfrm>
            <a:off x="309193" y="1483309"/>
            <a:ext cx="3989704" cy="1044575"/>
          </a:xfrm>
          <a:custGeom>
            <a:rect b="b" l="l" r="r" t="t"/>
            <a:pathLst>
              <a:path extrusionOk="0" h="1044575" w="3989704">
                <a:moveTo>
                  <a:pt x="3989652" y="0"/>
                </a:moveTo>
                <a:lnTo>
                  <a:pt x="0" y="0"/>
                </a:lnTo>
                <a:lnTo>
                  <a:pt x="0" y="993190"/>
                </a:lnTo>
                <a:lnTo>
                  <a:pt x="4008" y="1012915"/>
                </a:lnTo>
                <a:lnTo>
                  <a:pt x="14922" y="1029068"/>
                </a:lnTo>
                <a:lnTo>
                  <a:pt x="31075" y="1039982"/>
                </a:lnTo>
                <a:lnTo>
                  <a:pt x="50800" y="1043991"/>
                </a:lnTo>
                <a:lnTo>
                  <a:pt x="3938852" y="1043991"/>
                </a:lnTo>
                <a:lnTo>
                  <a:pt x="3958576" y="1039982"/>
                </a:lnTo>
                <a:lnTo>
                  <a:pt x="3974729" y="1029068"/>
                </a:lnTo>
                <a:lnTo>
                  <a:pt x="3985644" y="1012915"/>
                </a:lnTo>
                <a:lnTo>
                  <a:pt x="3989652" y="993190"/>
                </a:lnTo>
                <a:lnTo>
                  <a:pt x="39896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30"/>
          <p:cNvSpPr/>
          <p:nvPr/>
        </p:nvSpPr>
        <p:spPr>
          <a:xfrm>
            <a:off x="4298846" y="1369387"/>
            <a:ext cx="0" cy="1126490"/>
          </a:xfrm>
          <a:custGeom>
            <a:rect b="b" l="l" r="r" t="t"/>
            <a:pathLst>
              <a:path extrusionOk="0" h="1126489" w="120000">
                <a:moveTo>
                  <a:pt x="0" y="1126162"/>
                </a:moveTo>
                <a:lnTo>
                  <a:pt x="0" y="0"/>
                </a:lnTo>
              </a:path>
            </a:pathLst>
          </a:custGeom>
          <a:noFill/>
          <a:ln cap="flat" cmpd="sng" w="9525">
            <a:solidFill>
              <a:srgbClr val="7F7F7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30"/>
          <p:cNvSpPr/>
          <p:nvPr/>
        </p:nvSpPr>
        <p:spPr>
          <a:xfrm>
            <a:off x="4298846" y="1356687"/>
            <a:ext cx="0" cy="12700"/>
          </a:xfrm>
          <a:custGeom>
            <a:rect b="b" l="l" r="r" t="t"/>
            <a:pathLst>
              <a:path extrusionOk="0" h="12700" w="120000">
                <a:moveTo>
                  <a:pt x="0" y="12700"/>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6" name="Google Shape;566;p30"/>
          <p:cNvSpPr/>
          <p:nvPr/>
        </p:nvSpPr>
        <p:spPr>
          <a:xfrm>
            <a:off x="4298846" y="1343987"/>
            <a:ext cx="0" cy="12700"/>
          </a:xfrm>
          <a:custGeom>
            <a:rect b="b" l="l" r="r" t="t"/>
            <a:pathLst>
              <a:path extrusionOk="0" h="12700" w="120000">
                <a:moveTo>
                  <a:pt x="0" y="12700"/>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30"/>
          <p:cNvSpPr/>
          <p:nvPr/>
        </p:nvSpPr>
        <p:spPr>
          <a:xfrm>
            <a:off x="4298846" y="1331287"/>
            <a:ext cx="0" cy="12700"/>
          </a:xfrm>
          <a:custGeom>
            <a:rect b="b" l="l" r="r" t="t"/>
            <a:pathLst>
              <a:path extrusionOk="0" h="12700" w="120000">
                <a:moveTo>
                  <a:pt x="0" y="12700"/>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30"/>
          <p:cNvSpPr/>
          <p:nvPr/>
        </p:nvSpPr>
        <p:spPr>
          <a:xfrm>
            <a:off x="502551" y="1519910"/>
            <a:ext cx="65265" cy="65265"/>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30"/>
          <p:cNvSpPr/>
          <p:nvPr/>
        </p:nvSpPr>
        <p:spPr>
          <a:xfrm>
            <a:off x="502551" y="1899488"/>
            <a:ext cx="65265" cy="65265"/>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30"/>
          <p:cNvSpPr/>
          <p:nvPr/>
        </p:nvSpPr>
        <p:spPr>
          <a:xfrm>
            <a:off x="502551" y="2165197"/>
            <a:ext cx="65265" cy="65265"/>
          </a:xfrm>
          <a:prstGeom prst="rect">
            <a:avLst/>
          </a:prstGeom>
          <a:blipFill rotWithShape="1">
            <a:blip r:embed="rId1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30"/>
          <p:cNvSpPr txBox="1"/>
          <p:nvPr/>
        </p:nvSpPr>
        <p:spPr>
          <a:xfrm>
            <a:off x="347294" y="1230875"/>
            <a:ext cx="3913504" cy="1265555"/>
          </a:xfrm>
          <a:prstGeom prst="rect">
            <a:avLst/>
          </a:prstGeom>
          <a:noFill/>
          <a:ln>
            <a:noFill/>
          </a:ln>
        </p:spPr>
        <p:txBody>
          <a:bodyPr anchorCtr="0" anchor="t" bIns="0" lIns="0" spcFirstLastPara="1" rIns="0" wrap="square" tIns="59050">
            <a:spAutoFit/>
          </a:bodyPr>
          <a:lstStyle/>
          <a:p>
            <a:pPr indent="0" lvl="0" marL="12700" marR="0" rtl="0" algn="l">
              <a:lnSpc>
                <a:spcPct val="100000"/>
              </a:lnSpc>
              <a:spcBef>
                <a:spcPts val="0"/>
              </a:spcBef>
              <a:spcAft>
                <a:spcPts val="0"/>
              </a:spcAft>
              <a:buNone/>
            </a:pPr>
            <a:r>
              <a:rPr lang="en-US" sz="900">
                <a:solidFill>
                  <a:srgbClr val="FFFFFF"/>
                </a:solidFill>
                <a:latin typeface="Arial"/>
                <a:ea typeface="Arial"/>
                <a:cs typeface="Arial"/>
                <a:sym typeface="Arial"/>
              </a:rPr>
              <a:t>Concolic Testing</a:t>
            </a:r>
            <a:endParaRPr sz="900">
              <a:solidFill>
                <a:schemeClr val="dk1"/>
              </a:solidFill>
              <a:latin typeface="Arial"/>
              <a:ea typeface="Arial"/>
              <a:cs typeface="Arial"/>
              <a:sym typeface="Arial"/>
            </a:endParaRPr>
          </a:p>
          <a:p>
            <a:pPr indent="0" lvl="0" marL="289560" marR="267970" rtl="0" algn="l">
              <a:lnSpc>
                <a:spcPct val="100000"/>
              </a:lnSpc>
              <a:spcBef>
                <a:spcPts val="545"/>
              </a:spcBef>
              <a:spcAft>
                <a:spcPts val="0"/>
              </a:spcAft>
              <a:buNone/>
            </a:pPr>
            <a:r>
              <a:rPr lang="en-US" sz="900">
                <a:solidFill>
                  <a:schemeClr val="dk1"/>
                </a:solidFill>
                <a:latin typeface="Arial"/>
                <a:ea typeface="Arial"/>
                <a:cs typeface="Arial"/>
                <a:sym typeface="Arial"/>
              </a:rPr>
              <a:t>The tester selects a value from the path constraints and negates the  values to create a new path value. Then the tester finds concrete  constraints to satisfy the new path values.</a:t>
            </a:r>
            <a:endParaRPr sz="900">
              <a:solidFill>
                <a:schemeClr val="dk1"/>
              </a:solidFill>
              <a:latin typeface="Arial"/>
              <a:ea typeface="Arial"/>
              <a:cs typeface="Arial"/>
              <a:sym typeface="Arial"/>
            </a:endParaRPr>
          </a:p>
          <a:p>
            <a:pPr indent="0" lvl="0" marL="289560" marR="61594" rtl="0" algn="l">
              <a:lnSpc>
                <a:spcPct val="100000"/>
              </a:lnSpc>
              <a:spcBef>
                <a:spcPts val="285"/>
              </a:spcBef>
              <a:spcAft>
                <a:spcPts val="0"/>
              </a:spcAft>
              <a:buNone/>
            </a:pPr>
            <a:r>
              <a:rPr lang="en-US" sz="900">
                <a:solidFill>
                  <a:schemeClr val="dk1"/>
                </a:solidFill>
                <a:latin typeface="Arial"/>
                <a:ea typeface="Arial"/>
                <a:cs typeface="Arial"/>
                <a:sym typeface="Arial"/>
              </a:rPr>
              <a:t>The selection of values is responsible by the Constraint Solver which is a  part of Concolic tester.</a:t>
            </a:r>
            <a:endParaRPr sz="900">
              <a:solidFill>
                <a:schemeClr val="dk1"/>
              </a:solidFill>
              <a:latin typeface="Arial"/>
              <a:ea typeface="Arial"/>
              <a:cs typeface="Arial"/>
              <a:sym typeface="Arial"/>
            </a:endParaRPr>
          </a:p>
          <a:p>
            <a:pPr indent="0" lvl="0" marL="289560" marR="5080" rtl="0" algn="just">
              <a:lnSpc>
                <a:spcPct val="100000"/>
              </a:lnSpc>
              <a:spcBef>
                <a:spcPts val="295"/>
              </a:spcBef>
              <a:spcAft>
                <a:spcPts val="0"/>
              </a:spcAft>
              <a:buNone/>
            </a:pPr>
            <a:r>
              <a:rPr lang="en-US" sz="900">
                <a:solidFill>
                  <a:schemeClr val="dk1"/>
                </a:solidFill>
                <a:latin typeface="Arial"/>
                <a:ea typeface="Arial"/>
                <a:cs typeface="Arial"/>
                <a:sym typeface="Arial"/>
              </a:rPr>
              <a:t>These constraints are inputs for all next executions. This concolic testing  is performed iteratively until exceeds the threshold value or sufficient code  coverage is obtained.</a:t>
            </a:r>
            <a:endParaRPr sz="900">
              <a:solidFill>
                <a:schemeClr val="dk1"/>
              </a:solidFill>
              <a:latin typeface="Arial"/>
              <a:ea typeface="Arial"/>
              <a:cs typeface="Arial"/>
              <a:sym typeface="Arial"/>
            </a:endParaRPr>
          </a:p>
        </p:txBody>
      </p:sp>
      <p:sp>
        <p:nvSpPr>
          <p:cNvPr id="572" name="Google Shape;572;p30"/>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30"/>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30"/>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5" name="Google Shape;575;p30"/>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20/35</a:t>
            </a:r>
            <a:endParaRPr/>
          </a:p>
        </p:txBody>
      </p:sp>
      <p:sp>
        <p:nvSpPr>
          <p:cNvPr id="576" name="Google Shape;576;p30"/>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577" name="Google Shape;577;p30"/>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8"/>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31"/>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583" name="Google Shape;583;p31"/>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584" name="Google Shape;584;p31"/>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31"/>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586" name="Google Shape;586;p31"/>
          <p:cNvSpPr/>
          <p:nvPr/>
        </p:nvSpPr>
        <p:spPr>
          <a:xfrm>
            <a:off x="359994" y="813244"/>
            <a:ext cx="3183731" cy="1113472"/>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31"/>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8" name="Google Shape;588;p31"/>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31"/>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31"/>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591" name="Google Shape;591;p31"/>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592" name="Google Shape;592;p31"/>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32"/>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598" name="Google Shape;598;p32"/>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599" name="Google Shape;599;p32"/>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0" name="Google Shape;600;p32"/>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601" name="Google Shape;601;p32"/>
          <p:cNvSpPr/>
          <p:nvPr/>
        </p:nvSpPr>
        <p:spPr>
          <a:xfrm>
            <a:off x="359994" y="823728"/>
            <a:ext cx="3147059" cy="1410176"/>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32"/>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3" name="Google Shape;603;p32"/>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4" name="Google Shape;604;p32"/>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5" name="Google Shape;605;p32"/>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606" name="Google Shape;606;p32"/>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607" name="Google Shape;607;p32"/>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33"/>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613" name="Google Shape;613;p33"/>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614" name="Google Shape;614;p33"/>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5" name="Google Shape;615;p33"/>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616" name="Google Shape;616;p33"/>
          <p:cNvSpPr/>
          <p:nvPr/>
        </p:nvSpPr>
        <p:spPr>
          <a:xfrm>
            <a:off x="359994" y="812298"/>
            <a:ext cx="3180397" cy="1116806"/>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7" name="Google Shape;617;p33"/>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8" name="Google Shape;618;p33"/>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9" name="Google Shape;619;p33"/>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0" name="Google Shape;620;p33"/>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621" name="Google Shape;621;p33"/>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622" name="Google Shape;622;p33"/>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34"/>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628" name="Google Shape;628;p34"/>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629" name="Google Shape;629;p34"/>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p34"/>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631" name="Google Shape;631;p34"/>
          <p:cNvSpPr/>
          <p:nvPr/>
        </p:nvSpPr>
        <p:spPr>
          <a:xfrm>
            <a:off x="359994" y="819918"/>
            <a:ext cx="3190398" cy="1123473"/>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34"/>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3" name="Google Shape;633;p34"/>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4" name="Google Shape;634;p34"/>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34"/>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636" name="Google Shape;636;p34"/>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637" name="Google Shape;637;p34"/>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35"/>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643" name="Google Shape;643;p35"/>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644" name="Google Shape;644;p35"/>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5" name="Google Shape;645;p35"/>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646" name="Google Shape;646;p35"/>
          <p:cNvSpPr/>
          <p:nvPr/>
        </p:nvSpPr>
        <p:spPr>
          <a:xfrm>
            <a:off x="359994" y="823728"/>
            <a:ext cx="3173729" cy="1973579"/>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7" name="Google Shape;647;p35"/>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35"/>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9" name="Google Shape;649;p35"/>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35"/>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651" name="Google Shape;651;p35"/>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652" name="Google Shape;652;p35"/>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36"/>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658" name="Google Shape;658;p36"/>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659" name="Google Shape;659;p36"/>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 name="Google Shape;660;p36"/>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661" name="Google Shape;661;p36"/>
          <p:cNvSpPr/>
          <p:nvPr/>
        </p:nvSpPr>
        <p:spPr>
          <a:xfrm>
            <a:off x="359994" y="821823"/>
            <a:ext cx="3160394" cy="1970246"/>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36"/>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3" name="Google Shape;663;p36"/>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36"/>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 name="Google Shape;665;p36"/>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666" name="Google Shape;666;p36"/>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667" name="Google Shape;667;p36"/>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37"/>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673" name="Google Shape;673;p37"/>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674" name="Google Shape;674;p37"/>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5" name="Google Shape;675;p37"/>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676" name="Google Shape;676;p37"/>
          <p:cNvSpPr/>
          <p:nvPr/>
        </p:nvSpPr>
        <p:spPr>
          <a:xfrm>
            <a:off x="359994" y="819918"/>
            <a:ext cx="3170396" cy="1983581"/>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7" name="Google Shape;677;p37"/>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8" name="Google Shape;678;p37"/>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9" name="Google Shape;679;p37"/>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37"/>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681" name="Google Shape;681;p37"/>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682" name="Google Shape;682;p37"/>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38"/>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688" name="Google Shape;688;p38"/>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689" name="Google Shape;689;p38"/>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0" name="Google Shape;690;p38"/>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691" name="Google Shape;691;p38"/>
          <p:cNvSpPr/>
          <p:nvPr/>
        </p:nvSpPr>
        <p:spPr>
          <a:xfrm>
            <a:off x="359994" y="818013"/>
            <a:ext cx="3173729" cy="1973579"/>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2" name="Google Shape;692;p38"/>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3" name="Google Shape;693;p38"/>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4" name="Google Shape;694;p38"/>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5" name="Google Shape;695;p38"/>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696" name="Google Shape;696;p38"/>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697" name="Google Shape;697;p38"/>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39"/>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703" name="Google Shape;703;p39"/>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704" name="Google Shape;704;p39"/>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5" name="Google Shape;705;p39"/>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706" name="Google Shape;706;p39"/>
          <p:cNvSpPr/>
          <p:nvPr/>
        </p:nvSpPr>
        <p:spPr>
          <a:xfrm>
            <a:off x="359994" y="817054"/>
            <a:ext cx="3167062" cy="1930241"/>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7" name="Google Shape;707;p39"/>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8" name="Google Shape;708;p39"/>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9" name="Google Shape;709;p39"/>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39"/>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711" name="Google Shape;711;p39"/>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712" name="Google Shape;712;p39"/>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40"/>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718" name="Google Shape;718;p40"/>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719" name="Google Shape;719;p40"/>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0" name="Google Shape;720;p40"/>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721" name="Google Shape;721;p40"/>
          <p:cNvSpPr/>
          <p:nvPr/>
        </p:nvSpPr>
        <p:spPr>
          <a:xfrm>
            <a:off x="359994" y="814203"/>
            <a:ext cx="3173729" cy="1940242"/>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2" name="Google Shape;722;p40"/>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3" name="Google Shape;723;p40"/>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4" name="Google Shape;724;p40"/>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5" name="Google Shape;725;p40"/>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726" name="Google Shape;726;p40"/>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727" name="Google Shape;727;p40"/>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41"/>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733" name="Google Shape;733;p41"/>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734" name="Google Shape;734;p41"/>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5" name="Google Shape;735;p41"/>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736" name="Google Shape;736;p41"/>
          <p:cNvSpPr/>
          <p:nvPr/>
        </p:nvSpPr>
        <p:spPr>
          <a:xfrm>
            <a:off x="359994" y="821823"/>
            <a:ext cx="3180397" cy="1926907"/>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7" name="Google Shape;737;p41"/>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8" name="Google Shape;738;p41"/>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9" name="Google Shape;739;p41"/>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0" name="Google Shape;740;p41"/>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741" name="Google Shape;741;p41"/>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742" name="Google Shape;742;p41"/>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42"/>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748" name="Google Shape;748;p42"/>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749" name="Google Shape;749;p42"/>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0" name="Google Shape;750;p42"/>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751" name="Google Shape;751;p42"/>
          <p:cNvSpPr/>
          <p:nvPr/>
        </p:nvSpPr>
        <p:spPr>
          <a:xfrm>
            <a:off x="359994" y="827538"/>
            <a:ext cx="3177063" cy="1930241"/>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2" name="Google Shape;752;p42"/>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3" name="Google Shape;753;p42"/>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4" name="Google Shape;754;p42"/>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5" name="Google Shape;755;p42"/>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756" name="Google Shape;756;p42"/>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757" name="Google Shape;757;p42"/>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43"/>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763" name="Google Shape;763;p43"/>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764" name="Google Shape;764;p43"/>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5" name="Google Shape;765;p43"/>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766" name="Google Shape;766;p43"/>
          <p:cNvSpPr/>
          <p:nvPr/>
        </p:nvSpPr>
        <p:spPr>
          <a:xfrm>
            <a:off x="359994" y="818959"/>
            <a:ext cx="3147059" cy="1970246"/>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7" name="Google Shape;767;p43"/>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8" name="Google Shape;768;p43"/>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9" name="Google Shape;769;p43"/>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0" name="Google Shape;770;p43"/>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771" name="Google Shape;771;p43"/>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772" name="Google Shape;772;p43"/>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44"/>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778" name="Google Shape;778;p44"/>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779" name="Google Shape;779;p44"/>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0" name="Google Shape;780;p44"/>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781" name="Google Shape;781;p44"/>
          <p:cNvSpPr/>
          <p:nvPr/>
        </p:nvSpPr>
        <p:spPr>
          <a:xfrm>
            <a:off x="359994" y="813244"/>
            <a:ext cx="3167062" cy="1980247"/>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2" name="Google Shape;782;p44"/>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3" name="Google Shape;783;p44"/>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4" name="Google Shape;784;p44"/>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5" name="Google Shape;785;p44"/>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786" name="Google Shape;786;p44"/>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787" name="Google Shape;787;p44"/>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45"/>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793" name="Google Shape;793;p45"/>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794" name="Google Shape;794;p45"/>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5" name="Google Shape;795;p45"/>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796" name="Google Shape;796;p45"/>
          <p:cNvSpPr/>
          <p:nvPr/>
        </p:nvSpPr>
        <p:spPr>
          <a:xfrm>
            <a:off x="359994" y="817054"/>
            <a:ext cx="3180397" cy="1970246"/>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7" name="Google Shape;797;p45"/>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8" name="Google Shape;798;p45"/>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9" name="Google Shape;799;p45"/>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0" name="Google Shape;800;p45"/>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801" name="Google Shape;801;p45"/>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802" name="Google Shape;802;p45"/>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46"/>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808" name="Google Shape;808;p46"/>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809" name="Google Shape;809;p46"/>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0" name="Google Shape;810;p46"/>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811" name="Google Shape;811;p46"/>
          <p:cNvSpPr/>
          <p:nvPr/>
        </p:nvSpPr>
        <p:spPr>
          <a:xfrm>
            <a:off x="359994" y="815149"/>
            <a:ext cx="3153727" cy="1986914"/>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2" name="Google Shape;812;p46"/>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3" name="Google Shape;813;p46"/>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4" name="Google Shape;814;p46"/>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5" name="Google Shape;815;p46"/>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816" name="Google Shape;816;p46"/>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817" name="Google Shape;817;p46"/>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47"/>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823" name="Google Shape;823;p47"/>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824" name="Google Shape;824;p47"/>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5" name="Google Shape;825;p47"/>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826" name="Google Shape;826;p47"/>
          <p:cNvSpPr/>
          <p:nvPr/>
        </p:nvSpPr>
        <p:spPr>
          <a:xfrm>
            <a:off x="359994" y="812298"/>
            <a:ext cx="3190398" cy="2183606"/>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7" name="Google Shape;827;p47"/>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8" name="Google Shape;828;p47"/>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9" name="Google Shape;829;p47"/>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0" name="Google Shape;830;p47"/>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831" name="Google Shape;831;p47"/>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832" name="Google Shape;832;p47"/>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48"/>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838" name="Google Shape;838;p48"/>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839" name="Google Shape;839;p48"/>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0" name="Google Shape;840;p48"/>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841" name="Google Shape;841;p48"/>
          <p:cNvSpPr/>
          <p:nvPr/>
        </p:nvSpPr>
        <p:spPr>
          <a:xfrm>
            <a:off x="359994" y="816108"/>
            <a:ext cx="3180397" cy="2183606"/>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2" name="Google Shape;842;p48"/>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3" name="Google Shape;843;p48"/>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4" name="Google Shape;844;p48"/>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5" name="Google Shape;845;p48"/>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846" name="Google Shape;846;p48"/>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847" name="Google Shape;847;p48"/>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49"/>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853" name="Google Shape;853;p49"/>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854" name="Google Shape;854;p49"/>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5" name="Google Shape;855;p49"/>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856" name="Google Shape;856;p49"/>
          <p:cNvSpPr/>
          <p:nvPr/>
        </p:nvSpPr>
        <p:spPr>
          <a:xfrm>
            <a:off x="359994" y="830389"/>
            <a:ext cx="3170396" cy="2180272"/>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7" name="Google Shape;857;p49"/>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8" name="Google Shape;858;p49"/>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9" name="Google Shape;859;p49"/>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0" name="Google Shape;860;p49"/>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861" name="Google Shape;861;p49"/>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862" name="Google Shape;862;p49"/>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50"/>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868" name="Google Shape;868;p50"/>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869" name="Google Shape;869;p50"/>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0" name="Google Shape;870;p50"/>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871" name="Google Shape;871;p50"/>
          <p:cNvSpPr/>
          <p:nvPr/>
        </p:nvSpPr>
        <p:spPr>
          <a:xfrm>
            <a:off x="359994" y="826579"/>
            <a:ext cx="3147059" cy="2170271"/>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2" name="Google Shape;872;p50"/>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3" name="Google Shape;873;p50"/>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4" name="Google Shape;874;p50"/>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5" name="Google Shape;875;p50"/>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876" name="Google Shape;876;p50"/>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877" name="Google Shape;877;p50"/>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51"/>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883" name="Google Shape;883;p51"/>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884" name="Google Shape;884;p51"/>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5" name="Google Shape;885;p51"/>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886" name="Google Shape;886;p51"/>
          <p:cNvSpPr/>
          <p:nvPr/>
        </p:nvSpPr>
        <p:spPr>
          <a:xfrm>
            <a:off x="359994" y="810393"/>
            <a:ext cx="3173729" cy="2190273"/>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7" name="Google Shape;887;p51"/>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8" name="Google Shape;888;p51"/>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9" name="Google Shape;889;p51"/>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0" name="Google Shape;890;p51"/>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891" name="Google Shape;891;p51"/>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892" name="Google Shape;892;p51"/>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52"/>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898" name="Google Shape;898;p52"/>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899" name="Google Shape;899;p52"/>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0" name="Google Shape;900;p52"/>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901" name="Google Shape;901;p52"/>
          <p:cNvSpPr/>
          <p:nvPr/>
        </p:nvSpPr>
        <p:spPr>
          <a:xfrm>
            <a:off x="359994" y="814203"/>
            <a:ext cx="3173729" cy="2186940"/>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2" name="Google Shape;902;p52"/>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3" name="Google Shape;903;p52"/>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4" name="Google Shape;904;p52"/>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5" name="Google Shape;905;p52"/>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906" name="Google Shape;906;p52"/>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907" name="Google Shape;907;p52"/>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53"/>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913" name="Google Shape;913;p53"/>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914" name="Google Shape;914;p53"/>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5" name="Google Shape;915;p53"/>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916" name="Google Shape;916;p53"/>
          <p:cNvSpPr/>
          <p:nvPr/>
        </p:nvSpPr>
        <p:spPr>
          <a:xfrm>
            <a:off x="359994" y="813244"/>
            <a:ext cx="3183731" cy="2193607"/>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7" name="Google Shape;917;p53"/>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8" name="Google Shape;918;p53"/>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9" name="Google Shape;919;p53"/>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0" name="Google Shape;920;p53"/>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921" name="Google Shape;921;p53"/>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922" name="Google Shape;922;p53"/>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54"/>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928" name="Google Shape;928;p54"/>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929" name="Google Shape;929;p54"/>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0" name="Google Shape;930;p54"/>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931" name="Google Shape;931;p54"/>
          <p:cNvSpPr/>
          <p:nvPr/>
        </p:nvSpPr>
        <p:spPr>
          <a:xfrm>
            <a:off x="359994" y="829443"/>
            <a:ext cx="3163728" cy="2176938"/>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2" name="Google Shape;932;p54"/>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3" name="Google Shape;933;p54"/>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4" name="Google Shape;934;p54"/>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5" name="Google Shape;935;p54"/>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936" name="Google Shape;936;p54"/>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937" name="Google Shape;937;p54"/>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55"/>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943" name="Google Shape;943;p55"/>
          <p:cNvSpPr txBox="1"/>
          <p:nvPr/>
        </p:nvSpPr>
        <p:spPr>
          <a:xfrm>
            <a:off x="2303995" y="0"/>
            <a:ext cx="2304415" cy="40322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944" name="Google Shape;944;p55"/>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5" name="Google Shape;945;p55"/>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Testing Example</a:t>
            </a:r>
            <a:endParaRPr sz="1400">
              <a:solidFill>
                <a:schemeClr val="dk1"/>
              </a:solidFill>
              <a:latin typeface="Tahoma"/>
              <a:ea typeface="Tahoma"/>
              <a:cs typeface="Tahoma"/>
              <a:sym typeface="Tahoma"/>
            </a:endParaRPr>
          </a:p>
        </p:txBody>
      </p:sp>
      <p:sp>
        <p:nvSpPr>
          <p:cNvPr id="946" name="Google Shape;946;p55"/>
          <p:cNvSpPr/>
          <p:nvPr/>
        </p:nvSpPr>
        <p:spPr>
          <a:xfrm>
            <a:off x="359994" y="815149"/>
            <a:ext cx="3187065" cy="2190273"/>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7" name="Google Shape;947;p55"/>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8" name="Google Shape;948;p55"/>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9" name="Google Shape;949;p55"/>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0" name="Google Shape;950;p55"/>
          <p:cNvSpPr txBox="1"/>
          <p:nvPr/>
        </p:nvSpPr>
        <p:spPr>
          <a:xfrm>
            <a:off x="141160" y="3344944"/>
            <a:ext cx="234315"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a:solidFill>
                  <a:srgbClr val="FFFFFF"/>
                </a:solidFill>
                <a:latin typeface="Arial"/>
                <a:ea typeface="Arial"/>
                <a:cs typeface="Arial"/>
                <a:sym typeface="Arial"/>
              </a:rPr>
              <a:t>21/35</a:t>
            </a:r>
            <a:endParaRPr sz="600">
              <a:solidFill>
                <a:schemeClr val="dk1"/>
              </a:solidFill>
              <a:latin typeface="Arial"/>
              <a:ea typeface="Arial"/>
              <a:cs typeface="Arial"/>
              <a:sym typeface="Arial"/>
            </a:endParaRPr>
          </a:p>
        </p:txBody>
      </p:sp>
      <p:sp>
        <p:nvSpPr>
          <p:cNvPr id="951" name="Google Shape;951;p55"/>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952" name="Google Shape;952;p55"/>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2"/>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56"/>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958" name="Google Shape;958;p56"/>
          <p:cNvSpPr txBox="1"/>
          <p:nvPr/>
        </p:nvSpPr>
        <p:spPr>
          <a:xfrm>
            <a:off x="2303995" y="0"/>
            <a:ext cx="2304415" cy="40068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959" name="Google Shape;959;p56"/>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0" name="Google Shape;960;p56"/>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Definitions</a:t>
            </a:r>
            <a:endParaRPr sz="1400">
              <a:solidFill>
                <a:schemeClr val="dk1"/>
              </a:solidFill>
              <a:latin typeface="Tahoma"/>
              <a:ea typeface="Tahoma"/>
              <a:cs typeface="Tahoma"/>
              <a:sym typeface="Tahoma"/>
            </a:endParaRPr>
          </a:p>
        </p:txBody>
      </p:sp>
      <p:sp>
        <p:nvSpPr>
          <p:cNvPr id="961" name="Google Shape;961;p56"/>
          <p:cNvSpPr/>
          <p:nvPr/>
        </p:nvSpPr>
        <p:spPr>
          <a:xfrm>
            <a:off x="309193" y="1148867"/>
            <a:ext cx="3989704" cy="165100"/>
          </a:xfrm>
          <a:custGeom>
            <a:rect b="b" l="l" r="r" t="t"/>
            <a:pathLst>
              <a:path extrusionOk="0" h="165100" w="3989704">
                <a:moveTo>
                  <a:pt x="3938852" y="0"/>
                </a:moveTo>
                <a:lnTo>
                  <a:pt x="50800" y="0"/>
                </a:lnTo>
                <a:lnTo>
                  <a:pt x="31075" y="4008"/>
                </a:lnTo>
                <a:lnTo>
                  <a:pt x="14922" y="14922"/>
                </a:lnTo>
                <a:lnTo>
                  <a:pt x="4008" y="31075"/>
                </a:lnTo>
                <a:lnTo>
                  <a:pt x="0" y="50800"/>
                </a:lnTo>
                <a:lnTo>
                  <a:pt x="0" y="164627"/>
                </a:lnTo>
                <a:lnTo>
                  <a:pt x="3989652" y="164627"/>
                </a:lnTo>
                <a:lnTo>
                  <a:pt x="3989652" y="50800"/>
                </a:lnTo>
                <a:lnTo>
                  <a:pt x="3985644" y="31075"/>
                </a:lnTo>
                <a:lnTo>
                  <a:pt x="3974729" y="14922"/>
                </a:lnTo>
                <a:lnTo>
                  <a:pt x="3958576" y="4008"/>
                </a:lnTo>
                <a:lnTo>
                  <a:pt x="3938852" y="0"/>
                </a:lnTo>
                <a:close/>
              </a:path>
            </a:pathLst>
          </a:custGeom>
          <a:solidFill>
            <a:srgbClr val="7E11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2" name="Google Shape;962;p56"/>
          <p:cNvSpPr/>
          <p:nvPr/>
        </p:nvSpPr>
        <p:spPr>
          <a:xfrm>
            <a:off x="359994" y="1708200"/>
            <a:ext cx="101600" cy="101600"/>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3" name="Google Shape;963;p56"/>
          <p:cNvSpPr/>
          <p:nvPr/>
        </p:nvSpPr>
        <p:spPr>
          <a:xfrm>
            <a:off x="309194" y="1193101"/>
            <a:ext cx="4040403" cy="158343"/>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4" name="Google Shape;964;p56"/>
          <p:cNvSpPr/>
          <p:nvPr/>
        </p:nvSpPr>
        <p:spPr>
          <a:xfrm>
            <a:off x="410794" y="1695500"/>
            <a:ext cx="3938802" cy="114300"/>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5" name="Google Shape;965;p56"/>
          <p:cNvSpPr/>
          <p:nvPr/>
        </p:nvSpPr>
        <p:spPr>
          <a:xfrm>
            <a:off x="4286250" y="1243893"/>
            <a:ext cx="76200" cy="715082"/>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6" name="Google Shape;966;p56"/>
          <p:cNvSpPr/>
          <p:nvPr/>
        </p:nvSpPr>
        <p:spPr>
          <a:xfrm>
            <a:off x="309193" y="1345115"/>
            <a:ext cx="3989704" cy="414020"/>
          </a:xfrm>
          <a:custGeom>
            <a:rect b="b" l="l" r="r" t="t"/>
            <a:pathLst>
              <a:path extrusionOk="0" h="414019" w="3989704">
                <a:moveTo>
                  <a:pt x="3989652" y="0"/>
                </a:moveTo>
                <a:lnTo>
                  <a:pt x="0" y="0"/>
                </a:lnTo>
                <a:lnTo>
                  <a:pt x="0" y="363085"/>
                </a:lnTo>
                <a:lnTo>
                  <a:pt x="4008" y="382810"/>
                </a:lnTo>
                <a:lnTo>
                  <a:pt x="14922" y="398963"/>
                </a:lnTo>
                <a:lnTo>
                  <a:pt x="31075" y="409877"/>
                </a:lnTo>
                <a:lnTo>
                  <a:pt x="50800" y="413886"/>
                </a:lnTo>
                <a:lnTo>
                  <a:pt x="3938852" y="413886"/>
                </a:lnTo>
                <a:lnTo>
                  <a:pt x="3958576" y="409877"/>
                </a:lnTo>
                <a:lnTo>
                  <a:pt x="3974729" y="398963"/>
                </a:lnTo>
                <a:lnTo>
                  <a:pt x="3985644" y="382810"/>
                </a:lnTo>
                <a:lnTo>
                  <a:pt x="3989652" y="363085"/>
                </a:lnTo>
                <a:lnTo>
                  <a:pt x="39896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7" name="Google Shape;967;p56"/>
          <p:cNvSpPr/>
          <p:nvPr/>
        </p:nvSpPr>
        <p:spPr>
          <a:xfrm>
            <a:off x="4298846" y="1231193"/>
            <a:ext cx="0" cy="496570"/>
          </a:xfrm>
          <a:custGeom>
            <a:rect b="b" l="l" r="r" t="t"/>
            <a:pathLst>
              <a:path extrusionOk="0" h="496569" w="120000">
                <a:moveTo>
                  <a:pt x="0" y="496057"/>
                </a:moveTo>
                <a:lnTo>
                  <a:pt x="0" y="0"/>
                </a:lnTo>
              </a:path>
            </a:pathLst>
          </a:custGeom>
          <a:noFill/>
          <a:ln cap="flat" cmpd="sng" w="9525">
            <a:solidFill>
              <a:srgbClr val="7F7F7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8" name="Google Shape;968;p56"/>
          <p:cNvSpPr/>
          <p:nvPr/>
        </p:nvSpPr>
        <p:spPr>
          <a:xfrm>
            <a:off x="4298846" y="1218493"/>
            <a:ext cx="0" cy="12700"/>
          </a:xfrm>
          <a:custGeom>
            <a:rect b="b" l="l" r="r" t="t"/>
            <a:pathLst>
              <a:path extrusionOk="0" h="12700" w="120000">
                <a:moveTo>
                  <a:pt x="0" y="12700"/>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9" name="Google Shape;969;p56"/>
          <p:cNvSpPr/>
          <p:nvPr/>
        </p:nvSpPr>
        <p:spPr>
          <a:xfrm>
            <a:off x="4298846" y="1205793"/>
            <a:ext cx="0" cy="12700"/>
          </a:xfrm>
          <a:custGeom>
            <a:rect b="b" l="l" r="r" t="t"/>
            <a:pathLst>
              <a:path extrusionOk="0" h="12700" w="120000">
                <a:moveTo>
                  <a:pt x="0" y="12700"/>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0" name="Google Shape;970;p56"/>
          <p:cNvSpPr/>
          <p:nvPr/>
        </p:nvSpPr>
        <p:spPr>
          <a:xfrm>
            <a:off x="4298846" y="1193093"/>
            <a:ext cx="0" cy="12700"/>
          </a:xfrm>
          <a:custGeom>
            <a:rect b="b" l="l" r="r" t="t"/>
            <a:pathLst>
              <a:path extrusionOk="0" h="12700" w="120000">
                <a:moveTo>
                  <a:pt x="0" y="12700"/>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1" name="Google Shape;971;p56"/>
          <p:cNvSpPr/>
          <p:nvPr/>
        </p:nvSpPr>
        <p:spPr>
          <a:xfrm>
            <a:off x="502551" y="1381709"/>
            <a:ext cx="65265" cy="65265"/>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2" name="Google Shape;972;p56"/>
          <p:cNvSpPr/>
          <p:nvPr/>
        </p:nvSpPr>
        <p:spPr>
          <a:xfrm>
            <a:off x="502551" y="1624634"/>
            <a:ext cx="65265" cy="65265"/>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3" name="Google Shape;973;p56"/>
          <p:cNvSpPr txBox="1"/>
          <p:nvPr/>
        </p:nvSpPr>
        <p:spPr>
          <a:xfrm>
            <a:off x="347294" y="1092648"/>
            <a:ext cx="3912235" cy="1245341"/>
          </a:xfrm>
          <a:prstGeom prst="rect">
            <a:avLst/>
          </a:prstGeom>
          <a:noFill/>
          <a:ln>
            <a:noFill/>
          </a:ln>
        </p:spPr>
        <p:txBody>
          <a:bodyPr anchorCtr="0" anchor="t" bIns="0" lIns="0" spcFirstLastPara="1" rIns="0" wrap="square" tIns="59050">
            <a:spAutoFit/>
          </a:bodyPr>
          <a:lstStyle/>
          <a:p>
            <a:pPr indent="0" lvl="0" marL="12700" marR="0" rtl="0" algn="l">
              <a:lnSpc>
                <a:spcPct val="100000"/>
              </a:lnSpc>
              <a:spcBef>
                <a:spcPts val="0"/>
              </a:spcBef>
              <a:spcAft>
                <a:spcPts val="0"/>
              </a:spcAft>
              <a:buNone/>
            </a:pPr>
            <a:r>
              <a:rPr lang="en-US" sz="900">
                <a:solidFill>
                  <a:srgbClr val="FFFFFF"/>
                </a:solidFill>
                <a:latin typeface="Arial"/>
                <a:ea typeface="Arial"/>
                <a:cs typeface="Arial"/>
                <a:sym typeface="Arial"/>
              </a:rPr>
              <a:t>Concolic Testing: Final report</a:t>
            </a:r>
            <a:endParaRPr sz="900">
              <a:solidFill>
                <a:schemeClr val="dk1"/>
              </a:solidFill>
              <a:latin typeface="Arial"/>
              <a:ea typeface="Arial"/>
              <a:cs typeface="Arial"/>
              <a:sym typeface="Arial"/>
            </a:endParaRPr>
          </a:p>
          <a:p>
            <a:pPr indent="0" lvl="0" marL="289560" marR="423544" rtl="0" algn="l">
              <a:lnSpc>
                <a:spcPct val="66400"/>
              </a:lnSpc>
              <a:spcBef>
                <a:spcPts val="725"/>
              </a:spcBef>
              <a:spcAft>
                <a:spcPts val="0"/>
              </a:spcAft>
              <a:buNone/>
            </a:pPr>
            <a:r>
              <a:rPr lang="en-US" sz="900">
                <a:solidFill>
                  <a:schemeClr val="dk1"/>
                </a:solidFill>
                <a:latin typeface="Arial"/>
                <a:ea typeface="Arial"/>
                <a:cs typeface="Arial"/>
                <a:sym typeface="Arial"/>
              </a:rPr>
              <a:t>Concolic testing technique explored total 3 paths for the example  program.</a:t>
            </a:r>
            <a:endParaRPr sz="900">
              <a:solidFill>
                <a:schemeClr val="dk1"/>
              </a:solidFill>
              <a:latin typeface="Arial"/>
              <a:ea typeface="Arial"/>
              <a:cs typeface="Arial"/>
              <a:sym typeface="Arial"/>
            </a:endParaRPr>
          </a:p>
          <a:p>
            <a:pPr indent="0" lvl="0" marL="289560" marR="0" rtl="0" algn="l">
              <a:lnSpc>
                <a:spcPct val="100000"/>
              </a:lnSpc>
              <a:spcBef>
                <a:spcPts val="114"/>
              </a:spcBef>
              <a:spcAft>
                <a:spcPts val="0"/>
              </a:spcAft>
              <a:buNone/>
            </a:pPr>
            <a:r>
              <a:rPr lang="en-US" sz="900">
                <a:solidFill>
                  <a:schemeClr val="dk1"/>
                </a:solidFill>
                <a:latin typeface="Arial"/>
                <a:ea typeface="Arial"/>
                <a:cs typeface="Arial"/>
                <a:sym typeface="Arial"/>
              </a:rPr>
              <a:t>It has generated total three test cases for the variables x and y. These are shown in Table 1.</a:t>
            </a:r>
            <a:endParaRPr sz="9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9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250">
              <a:solidFill>
                <a:schemeClr val="dk1"/>
              </a:solidFill>
              <a:latin typeface="Times New Roman"/>
              <a:ea typeface="Times New Roman"/>
              <a:cs typeface="Times New Roman"/>
              <a:sym typeface="Times New Roman"/>
            </a:endParaRPr>
          </a:p>
          <a:p>
            <a:pPr indent="0" lvl="0" marL="1270" marR="0" rtl="0" algn="ctr">
              <a:lnSpc>
                <a:spcPct val="100000"/>
              </a:lnSpc>
              <a:spcBef>
                <a:spcPts val="0"/>
              </a:spcBef>
              <a:spcAft>
                <a:spcPts val="0"/>
              </a:spcAft>
              <a:buNone/>
            </a:pPr>
            <a:r>
              <a:rPr lang="en-US" sz="1000">
                <a:solidFill>
                  <a:srgbClr val="A91717"/>
                </a:solidFill>
                <a:latin typeface="Arial"/>
                <a:ea typeface="Arial"/>
                <a:cs typeface="Arial"/>
                <a:sym typeface="Arial"/>
              </a:rPr>
              <a:t>Table  1: </a:t>
            </a:r>
            <a:r>
              <a:rPr lang="en-US" sz="1000">
                <a:solidFill>
                  <a:schemeClr val="dk1"/>
                </a:solidFill>
                <a:latin typeface="Arial"/>
                <a:ea typeface="Arial"/>
                <a:cs typeface="Arial"/>
                <a:sym typeface="Arial"/>
              </a:rPr>
              <a:t>Test cases</a:t>
            </a:r>
            <a:endParaRPr sz="1000">
              <a:solidFill>
                <a:schemeClr val="dk1"/>
              </a:solidFill>
              <a:latin typeface="Arial"/>
              <a:ea typeface="Arial"/>
              <a:cs typeface="Arial"/>
              <a:sym typeface="Arial"/>
            </a:endParaRPr>
          </a:p>
        </p:txBody>
      </p:sp>
      <p:graphicFrame>
        <p:nvGraphicFramePr>
          <p:cNvPr id="974" name="Google Shape;974;p56"/>
          <p:cNvGraphicFramePr/>
          <p:nvPr/>
        </p:nvGraphicFramePr>
        <p:xfrm>
          <a:off x="1427200" y="2303106"/>
          <a:ext cx="3000000" cy="3000000"/>
        </p:xfrm>
        <a:graphic>
          <a:graphicData uri="http://schemas.openxmlformats.org/drawingml/2006/table">
            <a:tbl>
              <a:tblPr bandRow="1" firstRow="1">
                <a:noFill/>
                <a:tableStyleId>{AAC71C73-6B6B-4569-8988-B1D10037DF7B}</a:tableStyleId>
              </a:tblPr>
              <a:tblGrid>
                <a:gridCol w="653425"/>
                <a:gridCol w="365125"/>
                <a:gridCol w="365125"/>
                <a:gridCol w="365125"/>
              </a:tblGrid>
              <a:tr h="111475">
                <a:tc>
                  <a:txBody>
                    <a:bodyPr/>
                    <a:lstStyle/>
                    <a:p>
                      <a:pPr indent="0" lvl="0" marL="0" marR="0" rtl="0" algn="ctr">
                        <a:lnSpc>
                          <a:spcPct val="86666"/>
                        </a:lnSpc>
                        <a:spcBef>
                          <a:spcPts val="0"/>
                        </a:spcBef>
                        <a:spcAft>
                          <a:spcPts val="0"/>
                        </a:spcAft>
                        <a:buNone/>
                      </a:pPr>
                      <a:r>
                        <a:rPr lang="en-US" sz="900" u="none" cap="none" strike="noStrike">
                          <a:latin typeface="Arial"/>
                          <a:ea typeface="Arial"/>
                          <a:cs typeface="Arial"/>
                          <a:sym typeface="Arial"/>
                        </a:rPr>
                        <a:t>Test cases</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86666"/>
                        </a:lnSpc>
                        <a:spcBef>
                          <a:spcPts val="0"/>
                        </a:spcBef>
                        <a:spcAft>
                          <a:spcPts val="0"/>
                        </a:spcAft>
                        <a:buNone/>
                      </a:pPr>
                      <a:r>
                        <a:rPr lang="en-US" sz="900" u="none" cap="none" strike="noStrike">
                          <a:latin typeface="Arial"/>
                          <a:ea typeface="Arial"/>
                          <a:cs typeface="Arial"/>
                          <a:sym typeface="Arial"/>
                        </a:rPr>
                        <a:t>TC1</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86666"/>
                        </a:lnSpc>
                        <a:spcBef>
                          <a:spcPts val="0"/>
                        </a:spcBef>
                        <a:spcAft>
                          <a:spcPts val="0"/>
                        </a:spcAft>
                        <a:buNone/>
                      </a:pPr>
                      <a:r>
                        <a:rPr lang="en-US" sz="900" u="none" cap="none" strike="noStrike">
                          <a:latin typeface="Arial"/>
                          <a:ea typeface="Arial"/>
                          <a:cs typeface="Arial"/>
                          <a:sym typeface="Arial"/>
                        </a:rPr>
                        <a:t>TC2</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86666"/>
                        </a:lnSpc>
                        <a:spcBef>
                          <a:spcPts val="0"/>
                        </a:spcBef>
                        <a:spcAft>
                          <a:spcPts val="0"/>
                        </a:spcAft>
                        <a:buNone/>
                      </a:pPr>
                      <a:r>
                        <a:rPr lang="en-US" sz="900" u="none" cap="none" strike="noStrike">
                          <a:latin typeface="Arial"/>
                          <a:ea typeface="Arial"/>
                          <a:cs typeface="Arial"/>
                          <a:sym typeface="Arial"/>
                        </a:rPr>
                        <a:t>TC3</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6900">
                <a:tc>
                  <a:txBody>
                    <a:bodyPr/>
                    <a:lstStyle/>
                    <a:p>
                      <a:pPr indent="0" lvl="0" marL="0" marR="0" rtl="0" algn="ctr">
                        <a:lnSpc>
                          <a:spcPct val="82222"/>
                        </a:lnSpc>
                        <a:spcBef>
                          <a:spcPts val="0"/>
                        </a:spcBef>
                        <a:spcAft>
                          <a:spcPts val="0"/>
                        </a:spcAft>
                        <a:buNone/>
                      </a:pPr>
                      <a:r>
                        <a:rPr lang="en-US" sz="900" u="none" cap="none" strike="noStrike">
                          <a:latin typeface="Arial"/>
                          <a:ea typeface="Arial"/>
                          <a:cs typeface="Arial"/>
                          <a:sym typeface="Arial"/>
                        </a:rPr>
                        <a:t>x</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82222"/>
                        </a:lnSpc>
                        <a:spcBef>
                          <a:spcPts val="0"/>
                        </a:spcBef>
                        <a:spcAft>
                          <a:spcPts val="0"/>
                        </a:spcAft>
                        <a:buNone/>
                      </a:pPr>
                      <a:r>
                        <a:rPr lang="en-US" sz="900" u="none" cap="none" strike="noStrike">
                          <a:latin typeface="Arial"/>
                          <a:ea typeface="Arial"/>
                          <a:cs typeface="Arial"/>
                          <a:sym typeface="Arial"/>
                        </a:rPr>
                        <a:t>5</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82222"/>
                        </a:lnSpc>
                        <a:spcBef>
                          <a:spcPts val="0"/>
                        </a:spcBef>
                        <a:spcAft>
                          <a:spcPts val="0"/>
                        </a:spcAft>
                        <a:buNone/>
                      </a:pPr>
                      <a:r>
                        <a:rPr lang="en-US" sz="900" u="none" cap="none" strike="noStrike">
                          <a:latin typeface="Arial"/>
                          <a:ea typeface="Arial"/>
                          <a:cs typeface="Arial"/>
                          <a:sym typeface="Arial"/>
                        </a:rPr>
                        <a:t>20</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82222"/>
                        </a:lnSpc>
                        <a:spcBef>
                          <a:spcPts val="0"/>
                        </a:spcBef>
                        <a:spcAft>
                          <a:spcPts val="0"/>
                        </a:spcAft>
                        <a:buNone/>
                      </a:pPr>
                      <a:r>
                        <a:rPr lang="en-US" sz="900" u="none" cap="none" strike="noStrike">
                          <a:latin typeface="Arial"/>
                          <a:ea typeface="Arial"/>
                          <a:cs typeface="Arial"/>
                          <a:sym typeface="Arial"/>
                        </a:rPr>
                        <a:t>100</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6900">
                <a:tc>
                  <a:txBody>
                    <a:bodyPr/>
                    <a:lstStyle/>
                    <a:p>
                      <a:pPr indent="0" lvl="0" marL="0" marR="0" rtl="0" algn="ctr">
                        <a:lnSpc>
                          <a:spcPct val="82222"/>
                        </a:lnSpc>
                        <a:spcBef>
                          <a:spcPts val="0"/>
                        </a:spcBef>
                        <a:spcAft>
                          <a:spcPts val="0"/>
                        </a:spcAft>
                        <a:buNone/>
                      </a:pPr>
                      <a:r>
                        <a:rPr lang="en-US" sz="900" u="none" cap="none" strike="noStrike">
                          <a:latin typeface="Arial"/>
                          <a:ea typeface="Arial"/>
                          <a:cs typeface="Arial"/>
                          <a:sym typeface="Arial"/>
                        </a:rPr>
                        <a:t>y</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82222"/>
                        </a:lnSpc>
                        <a:spcBef>
                          <a:spcPts val="0"/>
                        </a:spcBef>
                        <a:spcAft>
                          <a:spcPts val="0"/>
                        </a:spcAft>
                        <a:buNone/>
                      </a:pPr>
                      <a:r>
                        <a:rPr lang="en-US" sz="900" u="none" cap="none" strike="noStrike">
                          <a:latin typeface="Arial"/>
                          <a:ea typeface="Arial"/>
                          <a:cs typeface="Arial"/>
                          <a:sym typeface="Arial"/>
                        </a:rPr>
                        <a:t>10</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82222"/>
                        </a:lnSpc>
                        <a:spcBef>
                          <a:spcPts val="0"/>
                        </a:spcBef>
                        <a:spcAft>
                          <a:spcPts val="0"/>
                        </a:spcAft>
                        <a:buNone/>
                      </a:pPr>
                      <a:r>
                        <a:rPr lang="en-US" sz="900" u="none" cap="none" strike="noStrike">
                          <a:latin typeface="Arial"/>
                          <a:ea typeface="Arial"/>
                          <a:cs typeface="Arial"/>
                          <a:sym typeface="Arial"/>
                        </a:rPr>
                        <a:t>3</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82222"/>
                        </a:lnSpc>
                        <a:spcBef>
                          <a:spcPts val="0"/>
                        </a:spcBef>
                        <a:spcAft>
                          <a:spcPts val="0"/>
                        </a:spcAft>
                        <a:buNone/>
                      </a:pPr>
                      <a:r>
                        <a:rPr lang="en-US" sz="900" u="none" cap="none" strike="noStrike">
                          <a:latin typeface="Arial"/>
                          <a:ea typeface="Arial"/>
                          <a:cs typeface="Arial"/>
                          <a:sym typeface="Arial"/>
                        </a:rPr>
                        <a:t>4</a:t>
                      </a:r>
                      <a:endParaRPr sz="9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975" name="Google Shape;975;p56"/>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6" name="Google Shape;976;p56"/>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7" name="Google Shape;977;p56"/>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8" name="Google Shape;978;p56"/>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22/35</a:t>
            </a:r>
            <a:endParaRPr/>
          </a:p>
        </p:txBody>
      </p:sp>
      <p:sp>
        <p:nvSpPr>
          <p:cNvPr id="979" name="Google Shape;979;p56"/>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980" name="Google Shape;980;p56"/>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6"/>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57"/>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FFFFF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986" name="Google Shape;986;p57"/>
          <p:cNvSpPr txBox="1"/>
          <p:nvPr/>
        </p:nvSpPr>
        <p:spPr>
          <a:xfrm>
            <a:off x="2303995" y="0"/>
            <a:ext cx="2304415" cy="400685"/>
          </a:xfrm>
          <a:prstGeom prst="rect">
            <a:avLst/>
          </a:prstGeom>
          <a:solidFill>
            <a:srgbClr val="A91717"/>
          </a:solidFill>
          <a:ln>
            <a:noFill/>
          </a:ln>
        </p:spPr>
        <p:txBody>
          <a:bodyPr anchorCtr="0" anchor="t" bIns="0" lIns="0" spcFirstLastPara="1" rIns="0" wrap="square" tIns="22225">
            <a:spAutoFit/>
          </a:bodyPr>
          <a:lstStyle/>
          <a:p>
            <a:pPr indent="0" lvl="0" marL="107950" marR="147574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Statement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7"/>
              </a:rPr>
              <a:t>Branch Coverage </a:t>
            </a:r>
            <a:r>
              <a:rPr b="1" lang="en-US" sz="600">
                <a:solidFill>
                  <a:srgbClr val="D48B8B"/>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8"/>
              </a:rPr>
              <a:t>Concolic Testing</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Distributed Concolic Testing</a:t>
            </a:r>
            <a:endParaRPr sz="600">
              <a:solidFill>
                <a:schemeClr val="dk1"/>
              </a:solidFill>
              <a:latin typeface="Arial"/>
              <a:ea typeface="Arial"/>
              <a:cs typeface="Arial"/>
              <a:sym typeface="Arial"/>
            </a:endParaRPr>
          </a:p>
        </p:txBody>
      </p:sp>
      <p:sp>
        <p:nvSpPr>
          <p:cNvPr id="987" name="Google Shape;987;p57"/>
          <p:cNvSpPr/>
          <p:nvPr/>
        </p:nvSpPr>
        <p:spPr>
          <a:xfrm>
            <a:off x="0" y="400210"/>
            <a:ext cx="4608004" cy="308729"/>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8" name="Google Shape;988;p57"/>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Definitions</a:t>
            </a:r>
            <a:endParaRPr sz="1400">
              <a:solidFill>
                <a:schemeClr val="dk1"/>
              </a:solidFill>
              <a:latin typeface="Tahoma"/>
              <a:ea typeface="Tahoma"/>
              <a:cs typeface="Tahoma"/>
              <a:sym typeface="Tahoma"/>
            </a:endParaRPr>
          </a:p>
        </p:txBody>
      </p:sp>
      <p:sp>
        <p:nvSpPr>
          <p:cNvPr id="989" name="Google Shape;989;p57"/>
          <p:cNvSpPr/>
          <p:nvPr/>
        </p:nvSpPr>
        <p:spPr>
          <a:xfrm>
            <a:off x="309193" y="1246098"/>
            <a:ext cx="3989704" cy="165100"/>
          </a:xfrm>
          <a:custGeom>
            <a:rect b="b" l="l" r="r" t="t"/>
            <a:pathLst>
              <a:path extrusionOk="0" h="165100" w="3989704">
                <a:moveTo>
                  <a:pt x="3938852" y="0"/>
                </a:moveTo>
                <a:lnTo>
                  <a:pt x="50800" y="0"/>
                </a:lnTo>
                <a:lnTo>
                  <a:pt x="31075" y="4008"/>
                </a:lnTo>
                <a:lnTo>
                  <a:pt x="14922" y="14922"/>
                </a:lnTo>
                <a:lnTo>
                  <a:pt x="4008" y="31075"/>
                </a:lnTo>
                <a:lnTo>
                  <a:pt x="0" y="50800"/>
                </a:lnTo>
                <a:lnTo>
                  <a:pt x="0" y="164627"/>
                </a:lnTo>
                <a:lnTo>
                  <a:pt x="3989652" y="164627"/>
                </a:lnTo>
                <a:lnTo>
                  <a:pt x="3989652" y="50800"/>
                </a:lnTo>
                <a:lnTo>
                  <a:pt x="3985644" y="31075"/>
                </a:lnTo>
                <a:lnTo>
                  <a:pt x="3974729" y="14922"/>
                </a:lnTo>
                <a:lnTo>
                  <a:pt x="3958576" y="4008"/>
                </a:lnTo>
                <a:lnTo>
                  <a:pt x="3938852" y="0"/>
                </a:lnTo>
                <a:close/>
              </a:path>
            </a:pathLst>
          </a:custGeom>
          <a:solidFill>
            <a:srgbClr val="7E111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0" name="Google Shape;990;p57"/>
          <p:cNvSpPr/>
          <p:nvPr/>
        </p:nvSpPr>
        <p:spPr>
          <a:xfrm>
            <a:off x="359994" y="2537955"/>
            <a:ext cx="101600" cy="101600"/>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1" name="Google Shape;991;p57"/>
          <p:cNvSpPr/>
          <p:nvPr/>
        </p:nvSpPr>
        <p:spPr>
          <a:xfrm>
            <a:off x="309194" y="1290332"/>
            <a:ext cx="4040403" cy="158356"/>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2" name="Google Shape;992;p57"/>
          <p:cNvSpPr/>
          <p:nvPr/>
        </p:nvSpPr>
        <p:spPr>
          <a:xfrm>
            <a:off x="410794" y="2525255"/>
            <a:ext cx="3938802" cy="114300"/>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3" name="Google Shape;993;p57"/>
          <p:cNvSpPr/>
          <p:nvPr/>
        </p:nvSpPr>
        <p:spPr>
          <a:xfrm>
            <a:off x="4298846" y="1341121"/>
            <a:ext cx="50751" cy="1196834"/>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4" name="Google Shape;994;p57"/>
          <p:cNvSpPr/>
          <p:nvPr/>
        </p:nvSpPr>
        <p:spPr>
          <a:xfrm>
            <a:off x="309193" y="1442343"/>
            <a:ext cx="3989704" cy="1146810"/>
          </a:xfrm>
          <a:custGeom>
            <a:rect b="b" l="l" r="r" t="t"/>
            <a:pathLst>
              <a:path extrusionOk="0" h="1146810" w="3989704">
                <a:moveTo>
                  <a:pt x="3989652" y="0"/>
                </a:moveTo>
                <a:lnTo>
                  <a:pt x="0" y="0"/>
                </a:lnTo>
                <a:lnTo>
                  <a:pt x="0" y="1095612"/>
                </a:lnTo>
                <a:lnTo>
                  <a:pt x="4008" y="1115337"/>
                </a:lnTo>
                <a:lnTo>
                  <a:pt x="14922" y="1131490"/>
                </a:lnTo>
                <a:lnTo>
                  <a:pt x="31075" y="1142404"/>
                </a:lnTo>
                <a:lnTo>
                  <a:pt x="50800" y="1146412"/>
                </a:lnTo>
                <a:lnTo>
                  <a:pt x="3938852" y="1146412"/>
                </a:lnTo>
                <a:lnTo>
                  <a:pt x="3958576" y="1142404"/>
                </a:lnTo>
                <a:lnTo>
                  <a:pt x="3974729" y="1131490"/>
                </a:lnTo>
                <a:lnTo>
                  <a:pt x="3985644" y="1115337"/>
                </a:lnTo>
                <a:lnTo>
                  <a:pt x="3989652" y="1095612"/>
                </a:lnTo>
                <a:lnTo>
                  <a:pt x="39896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5" name="Google Shape;995;p57"/>
          <p:cNvSpPr/>
          <p:nvPr/>
        </p:nvSpPr>
        <p:spPr>
          <a:xfrm>
            <a:off x="4298846" y="1328421"/>
            <a:ext cx="0" cy="1228725"/>
          </a:xfrm>
          <a:custGeom>
            <a:rect b="b" l="l" r="r" t="t"/>
            <a:pathLst>
              <a:path extrusionOk="0" h="1228725" w="120000">
                <a:moveTo>
                  <a:pt x="0" y="1228583"/>
                </a:moveTo>
                <a:lnTo>
                  <a:pt x="0" y="0"/>
                </a:lnTo>
              </a:path>
            </a:pathLst>
          </a:custGeom>
          <a:noFill/>
          <a:ln cap="flat" cmpd="sng" w="9525">
            <a:solidFill>
              <a:srgbClr val="7F7F7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6" name="Google Shape;996;p57"/>
          <p:cNvSpPr/>
          <p:nvPr/>
        </p:nvSpPr>
        <p:spPr>
          <a:xfrm>
            <a:off x="4298846" y="1315721"/>
            <a:ext cx="0" cy="12700"/>
          </a:xfrm>
          <a:custGeom>
            <a:rect b="b" l="l" r="r" t="t"/>
            <a:pathLst>
              <a:path extrusionOk="0" h="12700" w="120000">
                <a:moveTo>
                  <a:pt x="0" y="12700"/>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7" name="Google Shape;997;p57"/>
          <p:cNvSpPr/>
          <p:nvPr/>
        </p:nvSpPr>
        <p:spPr>
          <a:xfrm>
            <a:off x="4298846" y="1303021"/>
            <a:ext cx="0" cy="12700"/>
          </a:xfrm>
          <a:custGeom>
            <a:rect b="b" l="l" r="r" t="t"/>
            <a:pathLst>
              <a:path extrusionOk="0" h="12700" w="120000">
                <a:moveTo>
                  <a:pt x="0" y="12700"/>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8" name="Google Shape;998;p57"/>
          <p:cNvSpPr/>
          <p:nvPr/>
        </p:nvSpPr>
        <p:spPr>
          <a:xfrm>
            <a:off x="4298846" y="1290321"/>
            <a:ext cx="0" cy="12700"/>
          </a:xfrm>
          <a:custGeom>
            <a:rect b="b" l="l" r="r" t="t"/>
            <a:pathLst>
              <a:path extrusionOk="0" h="12700" w="120000">
                <a:moveTo>
                  <a:pt x="0" y="12700"/>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9" name="Google Shape;999;p57"/>
          <p:cNvSpPr/>
          <p:nvPr/>
        </p:nvSpPr>
        <p:spPr>
          <a:xfrm>
            <a:off x="502551" y="1485265"/>
            <a:ext cx="65265" cy="65265"/>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0" name="Google Shape;1000;p57"/>
          <p:cNvSpPr/>
          <p:nvPr/>
        </p:nvSpPr>
        <p:spPr>
          <a:xfrm>
            <a:off x="502551" y="1848396"/>
            <a:ext cx="65265" cy="65265"/>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1" name="Google Shape;1001;p57"/>
          <p:cNvSpPr/>
          <p:nvPr/>
        </p:nvSpPr>
        <p:spPr>
          <a:xfrm>
            <a:off x="502551" y="2114105"/>
            <a:ext cx="65265" cy="65265"/>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2" name="Google Shape;1002;p57"/>
          <p:cNvSpPr txBox="1"/>
          <p:nvPr/>
        </p:nvSpPr>
        <p:spPr>
          <a:xfrm>
            <a:off x="347294" y="1183567"/>
            <a:ext cx="3827145" cy="1374140"/>
          </a:xfrm>
          <a:prstGeom prst="rect">
            <a:avLst/>
          </a:prstGeom>
          <a:noFill/>
          <a:ln>
            <a:noFill/>
          </a:ln>
        </p:spPr>
        <p:txBody>
          <a:bodyPr anchorCtr="0" anchor="t" bIns="0" lIns="0" spcFirstLastPara="1" rIns="0" wrap="square" tIns="65400">
            <a:spAutoFit/>
          </a:bodyPr>
          <a:lstStyle/>
          <a:p>
            <a:pPr indent="0" lvl="0" marL="12700" marR="0" rtl="0" algn="l">
              <a:lnSpc>
                <a:spcPct val="100000"/>
              </a:lnSpc>
              <a:spcBef>
                <a:spcPts val="0"/>
              </a:spcBef>
              <a:spcAft>
                <a:spcPts val="0"/>
              </a:spcAft>
              <a:buNone/>
            </a:pPr>
            <a:r>
              <a:rPr lang="en-US" sz="900">
                <a:solidFill>
                  <a:srgbClr val="FFFFFF"/>
                </a:solidFill>
                <a:latin typeface="Arial"/>
                <a:ea typeface="Arial"/>
                <a:cs typeface="Arial"/>
                <a:sym typeface="Arial"/>
              </a:rPr>
              <a:t>Distributed Concolic Testing</a:t>
            </a:r>
            <a:endParaRPr sz="900">
              <a:solidFill>
                <a:schemeClr val="dk1"/>
              </a:solidFill>
              <a:latin typeface="Arial"/>
              <a:ea typeface="Arial"/>
              <a:cs typeface="Arial"/>
              <a:sym typeface="Arial"/>
            </a:endParaRPr>
          </a:p>
          <a:p>
            <a:pPr indent="0" lvl="0" marL="289560" marR="288290" rtl="0" algn="l">
              <a:lnSpc>
                <a:spcPct val="85300"/>
              </a:lnSpc>
              <a:spcBef>
                <a:spcPts val="570"/>
              </a:spcBef>
              <a:spcAft>
                <a:spcPts val="0"/>
              </a:spcAft>
              <a:buNone/>
            </a:pPr>
            <a:r>
              <a:rPr i="1" lang="en-US" sz="900">
                <a:solidFill>
                  <a:schemeClr val="dk1"/>
                </a:solidFill>
                <a:latin typeface="Arial"/>
                <a:ea typeface="Arial"/>
                <a:cs typeface="Arial"/>
                <a:sym typeface="Arial"/>
              </a:rPr>
              <a:t>Distributed Concolic Testing (DCT) </a:t>
            </a:r>
            <a:r>
              <a:rPr lang="en-US" sz="900">
                <a:solidFill>
                  <a:schemeClr val="dk1"/>
                </a:solidFill>
                <a:latin typeface="Arial"/>
                <a:ea typeface="Arial"/>
                <a:cs typeface="Arial"/>
                <a:sym typeface="Arial"/>
              </a:rPr>
              <a:t>is an extension of the original  concolic testing approach that uses several computing nodes in a  distributed manner.</a:t>
            </a:r>
            <a:endParaRPr sz="900">
              <a:solidFill>
                <a:schemeClr val="dk1"/>
              </a:solidFill>
              <a:latin typeface="Arial"/>
              <a:ea typeface="Arial"/>
              <a:cs typeface="Arial"/>
              <a:sym typeface="Arial"/>
            </a:endParaRPr>
          </a:p>
          <a:p>
            <a:pPr indent="0" lvl="0" marL="289560" marR="309245" rtl="0" algn="l">
              <a:lnSpc>
                <a:spcPct val="100000"/>
              </a:lnSpc>
              <a:spcBef>
                <a:spcPts val="120"/>
              </a:spcBef>
              <a:spcAft>
                <a:spcPts val="0"/>
              </a:spcAft>
              <a:buNone/>
            </a:pPr>
            <a:r>
              <a:rPr lang="en-US" sz="900">
                <a:solidFill>
                  <a:schemeClr val="dk1"/>
                </a:solidFill>
                <a:latin typeface="Arial"/>
                <a:ea typeface="Arial"/>
                <a:cs typeface="Arial"/>
                <a:sym typeface="Arial"/>
              </a:rPr>
              <a:t>It significantly reduces the time to generate test cases with better  efficiency.</a:t>
            </a:r>
            <a:endParaRPr sz="900">
              <a:solidFill>
                <a:schemeClr val="dk1"/>
              </a:solidFill>
              <a:latin typeface="Arial"/>
              <a:ea typeface="Arial"/>
              <a:cs typeface="Arial"/>
              <a:sym typeface="Arial"/>
            </a:endParaRPr>
          </a:p>
          <a:p>
            <a:pPr indent="0" lvl="0" marL="289560" marR="5080" rtl="0" algn="l">
              <a:lnSpc>
                <a:spcPct val="82700"/>
              </a:lnSpc>
              <a:spcBef>
                <a:spcPts val="295"/>
              </a:spcBef>
              <a:spcAft>
                <a:spcPts val="0"/>
              </a:spcAft>
              <a:buNone/>
            </a:pPr>
            <a:r>
              <a:rPr lang="en-US" sz="900">
                <a:solidFill>
                  <a:schemeClr val="dk1"/>
                </a:solidFill>
                <a:latin typeface="Arial"/>
                <a:ea typeface="Arial"/>
                <a:cs typeface="Arial"/>
                <a:sym typeface="Arial"/>
              </a:rPr>
              <a:t>Concolic testing is the combination of concrete and symbolic testing. In  addition, distributed concolic testing is scalable and achieves a linear  speedup by using a large number of computing nodes for test case  generation.</a:t>
            </a:r>
            <a:endParaRPr sz="900">
              <a:solidFill>
                <a:schemeClr val="dk1"/>
              </a:solidFill>
              <a:latin typeface="Arial"/>
              <a:ea typeface="Arial"/>
              <a:cs typeface="Arial"/>
              <a:sym typeface="Arial"/>
            </a:endParaRPr>
          </a:p>
        </p:txBody>
      </p:sp>
      <p:sp>
        <p:nvSpPr>
          <p:cNvPr id="1003" name="Google Shape;1003;p57"/>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4" name="Google Shape;1004;p57"/>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5" name="Google Shape;1005;p57"/>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6" name="Google Shape;1006;p57"/>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23/35</a:t>
            </a:r>
            <a:endParaRPr/>
          </a:p>
        </p:txBody>
      </p:sp>
      <p:sp>
        <p:nvSpPr>
          <p:cNvPr id="1007" name="Google Shape;1007;p57"/>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1008" name="Google Shape;1008;p57"/>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7"/>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58"/>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1014" name="Google Shape;1014;p58"/>
          <p:cNvSpPr txBox="1"/>
          <p:nvPr/>
        </p:nvSpPr>
        <p:spPr>
          <a:xfrm>
            <a:off x="2303995" y="0"/>
            <a:ext cx="2304415" cy="400685"/>
          </a:xfrm>
          <a:prstGeom prst="rect">
            <a:avLst/>
          </a:prstGeom>
          <a:solidFill>
            <a:srgbClr val="A91717"/>
          </a:solidFill>
          <a:ln>
            <a:noFill/>
          </a:ln>
        </p:spPr>
        <p:txBody>
          <a:bodyPr anchorCtr="0" anchor="t" bIns="0" lIns="0" spcFirstLastPara="1" rIns="0" wrap="square" tIns="64750">
            <a:spAutoFit/>
          </a:bodyPr>
          <a:lstStyle/>
          <a:p>
            <a:pPr indent="0" lvl="0" marL="107950" marR="120015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Concolic Testers </a:t>
            </a:r>
            <a:r>
              <a:rPr b="1" lang="en-US" sz="600" u="sng">
                <a:solidFill>
                  <a:schemeClr val="hlink"/>
                </a:solidFill>
                <a:latin typeface="Arial"/>
                <a:ea typeface="Arial"/>
                <a:cs typeface="Arial"/>
                <a:sym typeface="Arial"/>
                <a:hlinkClick action="ppaction://hlinksldjump" r:id="rId7"/>
              </a:rPr>
              <a:t> Comparison of related works</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8"/>
              </a:rPr>
              <a:t>Characteristics of different approaches</a:t>
            </a:r>
            <a:endParaRPr sz="600">
              <a:solidFill>
                <a:schemeClr val="dk1"/>
              </a:solidFill>
              <a:latin typeface="Arial"/>
              <a:ea typeface="Arial"/>
              <a:cs typeface="Arial"/>
              <a:sym typeface="Arial"/>
            </a:endParaRPr>
          </a:p>
        </p:txBody>
      </p:sp>
      <p:sp>
        <p:nvSpPr>
          <p:cNvPr id="1015" name="Google Shape;1015;p58"/>
          <p:cNvSpPr/>
          <p:nvPr/>
        </p:nvSpPr>
        <p:spPr>
          <a:xfrm>
            <a:off x="0" y="400210"/>
            <a:ext cx="4608004" cy="308729"/>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6" name="Google Shape;1016;p58"/>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Testers</a:t>
            </a:r>
            <a:endParaRPr sz="1400">
              <a:solidFill>
                <a:schemeClr val="dk1"/>
              </a:solidFill>
              <a:latin typeface="Tahoma"/>
              <a:ea typeface="Tahoma"/>
              <a:cs typeface="Tahoma"/>
              <a:sym typeface="Tahoma"/>
            </a:endParaRPr>
          </a:p>
        </p:txBody>
      </p:sp>
      <p:sp>
        <p:nvSpPr>
          <p:cNvPr id="1017" name="Google Shape;1017;p58"/>
          <p:cNvSpPr/>
          <p:nvPr/>
        </p:nvSpPr>
        <p:spPr>
          <a:xfrm>
            <a:off x="309193" y="997698"/>
            <a:ext cx="3989704" cy="82550"/>
          </a:xfrm>
          <a:custGeom>
            <a:rect b="b" l="l" r="r" t="t"/>
            <a:pathLst>
              <a:path extrusionOk="0" h="82550" w="3989704">
                <a:moveTo>
                  <a:pt x="3938852" y="0"/>
                </a:moveTo>
                <a:lnTo>
                  <a:pt x="50800" y="0"/>
                </a:lnTo>
                <a:lnTo>
                  <a:pt x="31075" y="4008"/>
                </a:lnTo>
                <a:lnTo>
                  <a:pt x="14922" y="14922"/>
                </a:lnTo>
                <a:lnTo>
                  <a:pt x="4008" y="31075"/>
                </a:lnTo>
                <a:lnTo>
                  <a:pt x="0" y="50800"/>
                </a:lnTo>
                <a:lnTo>
                  <a:pt x="0" y="82384"/>
                </a:lnTo>
                <a:lnTo>
                  <a:pt x="3989652" y="82384"/>
                </a:lnTo>
                <a:lnTo>
                  <a:pt x="3989652" y="50800"/>
                </a:lnTo>
                <a:lnTo>
                  <a:pt x="3985644" y="31075"/>
                </a:lnTo>
                <a:lnTo>
                  <a:pt x="3974729" y="14922"/>
                </a:lnTo>
                <a:lnTo>
                  <a:pt x="3958576" y="4008"/>
                </a:lnTo>
                <a:lnTo>
                  <a:pt x="39388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8" name="Google Shape;1018;p58"/>
          <p:cNvSpPr/>
          <p:nvPr/>
        </p:nvSpPr>
        <p:spPr>
          <a:xfrm>
            <a:off x="359994" y="1708124"/>
            <a:ext cx="101600" cy="101600"/>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9" name="Google Shape;1019;p58"/>
          <p:cNvSpPr/>
          <p:nvPr/>
        </p:nvSpPr>
        <p:spPr>
          <a:xfrm>
            <a:off x="410794" y="1695424"/>
            <a:ext cx="3938802" cy="114300"/>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0" name="Google Shape;1020;p58"/>
          <p:cNvSpPr/>
          <p:nvPr/>
        </p:nvSpPr>
        <p:spPr>
          <a:xfrm>
            <a:off x="4298846" y="1048258"/>
            <a:ext cx="50751" cy="659866"/>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1" name="Google Shape;1021;p58"/>
          <p:cNvSpPr/>
          <p:nvPr/>
        </p:nvSpPr>
        <p:spPr>
          <a:xfrm>
            <a:off x="309193" y="1042112"/>
            <a:ext cx="3989704" cy="716915"/>
          </a:xfrm>
          <a:custGeom>
            <a:rect b="b" l="l" r="r" t="t"/>
            <a:pathLst>
              <a:path extrusionOk="0" h="716914" w="3989704">
                <a:moveTo>
                  <a:pt x="3989652" y="0"/>
                </a:moveTo>
                <a:lnTo>
                  <a:pt x="0" y="0"/>
                </a:lnTo>
                <a:lnTo>
                  <a:pt x="0" y="666012"/>
                </a:lnTo>
                <a:lnTo>
                  <a:pt x="4008" y="685737"/>
                </a:lnTo>
                <a:lnTo>
                  <a:pt x="14922" y="701890"/>
                </a:lnTo>
                <a:lnTo>
                  <a:pt x="31075" y="712804"/>
                </a:lnTo>
                <a:lnTo>
                  <a:pt x="50800" y="716813"/>
                </a:lnTo>
                <a:lnTo>
                  <a:pt x="3938852" y="716813"/>
                </a:lnTo>
                <a:lnTo>
                  <a:pt x="3958576" y="712804"/>
                </a:lnTo>
                <a:lnTo>
                  <a:pt x="3974729" y="701890"/>
                </a:lnTo>
                <a:lnTo>
                  <a:pt x="3985644" y="685737"/>
                </a:lnTo>
                <a:lnTo>
                  <a:pt x="3989652" y="666012"/>
                </a:lnTo>
                <a:lnTo>
                  <a:pt x="39896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2" name="Google Shape;1022;p58"/>
          <p:cNvSpPr/>
          <p:nvPr/>
        </p:nvSpPr>
        <p:spPr>
          <a:xfrm>
            <a:off x="4298846" y="1086349"/>
            <a:ext cx="0" cy="641350"/>
          </a:xfrm>
          <a:custGeom>
            <a:rect b="b" l="l" r="r" t="t"/>
            <a:pathLst>
              <a:path extrusionOk="0" h="641350" w="120000">
                <a:moveTo>
                  <a:pt x="0" y="640825"/>
                </a:moveTo>
                <a:lnTo>
                  <a:pt x="0" y="0"/>
                </a:lnTo>
              </a:path>
            </a:pathLst>
          </a:custGeom>
          <a:noFill/>
          <a:ln cap="flat" cmpd="sng" w="9525">
            <a:solidFill>
              <a:srgbClr val="7F7F7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3" name="Google Shape;1023;p58"/>
          <p:cNvSpPr/>
          <p:nvPr/>
        </p:nvSpPr>
        <p:spPr>
          <a:xfrm>
            <a:off x="4298846" y="1073649"/>
            <a:ext cx="0" cy="12700"/>
          </a:xfrm>
          <a:custGeom>
            <a:rect b="b" l="l" r="r" t="t"/>
            <a:pathLst>
              <a:path extrusionOk="0" h="12700" w="120000">
                <a:moveTo>
                  <a:pt x="0" y="12699"/>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4" name="Google Shape;1024;p58"/>
          <p:cNvSpPr/>
          <p:nvPr/>
        </p:nvSpPr>
        <p:spPr>
          <a:xfrm>
            <a:off x="4298846" y="1060949"/>
            <a:ext cx="0" cy="12700"/>
          </a:xfrm>
          <a:custGeom>
            <a:rect b="b" l="l" r="r" t="t"/>
            <a:pathLst>
              <a:path extrusionOk="0" h="12700" w="120000">
                <a:moveTo>
                  <a:pt x="0" y="12699"/>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5" name="Google Shape;1025;p58"/>
          <p:cNvSpPr/>
          <p:nvPr/>
        </p:nvSpPr>
        <p:spPr>
          <a:xfrm>
            <a:off x="4298846" y="1048249"/>
            <a:ext cx="0" cy="12700"/>
          </a:xfrm>
          <a:custGeom>
            <a:rect b="b" l="l" r="r" t="t"/>
            <a:pathLst>
              <a:path extrusionOk="0" h="12700" w="120000">
                <a:moveTo>
                  <a:pt x="0" y="12699"/>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6" name="Google Shape;1026;p58"/>
          <p:cNvSpPr/>
          <p:nvPr/>
        </p:nvSpPr>
        <p:spPr>
          <a:xfrm>
            <a:off x="309193" y="1910854"/>
            <a:ext cx="3989704" cy="82550"/>
          </a:xfrm>
          <a:custGeom>
            <a:rect b="b" l="l" r="r" t="t"/>
            <a:pathLst>
              <a:path extrusionOk="0" h="82550" w="3989704">
                <a:moveTo>
                  <a:pt x="3938852" y="0"/>
                </a:moveTo>
                <a:lnTo>
                  <a:pt x="50800" y="0"/>
                </a:lnTo>
                <a:lnTo>
                  <a:pt x="31075" y="4008"/>
                </a:lnTo>
                <a:lnTo>
                  <a:pt x="14922" y="14922"/>
                </a:lnTo>
                <a:lnTo>
                  <a:pt x="4008" y="31075"/>
                </a:lnTo>
                <a:lnTo>
                  <a:pt x="0" y="50800"/>
                </a:lnTo>
                <a:lnTo>
                  <a:pt x="0" y="82384"/>
                </a:lnTo>
                <a:lnTo>
                  <a:pt x="3989652" y="82384"/>
                </a:lnTo>
                <a:lnTo>
                  <a:pt x="3989652" y="50800"/>
                </a:lnTo>
                <a:lnTo>
                  <a:pt x="3985644" y="31075"/>
                </a:lnTo>
                <a:lnTo>
                  <a:pt x="3974729" y="14922"/>
                </a:lnTo>
                <a:lnTo>
                  <a:pt x="3958576" y="4008"/>
                </a:lnTo>
                <a:lnTo>
                  <a:pt x="39388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7" name="Google Shape;1027;p58"/>
          <p:cNvSpPr/>
          <p:nvPr/>
        </p:nvSpPr>
        <p:spPr>
          <a:xfrm>
            <a:off x="359994" y="2910547"/>
            <a:ext cx="101600" cy="101600"/>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8" name="Google Shape;1028;p58"/>
          <p:cNvSpPr/>
          <p:nvPr/>
        </p:nvSpPr>
        <p:spPr>
          <a:xfrm>
            <a:off x="410794" y="2897847"/>
            <a:ext cx="3938802" cy="114300"/>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9" name="Google Shape;1029;p58"/>
          <p:cNvSpPr/>
          <p:nvPr/>
        </p:nvSpPr>
        <p:spPr>
          <a:xfrm>
            <a:off x="4298846" y="1961413"/>
            <a:ext cx="50751" cy="949134"/>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0" name="Google Shape;1030;p58"/>
          <p:cNvSpPr/>
          <p:nvPr/>
        </p:nvSpPr>
        <p:spPr>
          <a:xfrm>
            <a:off x="309193" y="1955262"/>
            <a:ext cx="3989704" cy="1006475"/>
          </a:xfrm>
          <a:custGeom>
            <a:rect b="b" l="l" r="r" t="t"/>
            <a:pathLst>
              <a:path extrusionOk="0" h="1006475" w="3989704">
                <a:moveTo>
                  <a:pt x="3989652" y="0"/>
                </a:moveTo>
                <a:lnTo>
                  <a:pt x="0" y="0"/>
                </a:lnTo>
                <a:lnTo>
                  <a:pt x="0" y="955285"/>
                </a:lnTo>
                <a:lnTo>
                  <a:pt x="4008" y="975010"/>
                </a:lnTo>
                <a:lnTo>
                  <a:pt x="14922" y="991163"/>
                </a:lnTo>
                <a:lnTo>
                  <a:pt x="31075" y="1002077"/>
                </a:lnTo>
                <a:lnTo>
                  <a:pt x="50800" y="1006085"/>
                </a:lnTo>
                <a:lnTo>
                  <a:pt x="3938852" y="1006085"/>
                </a:lnTo>
                <a:lnTo>
                  <a:pt x="3958576" y="1002077"/>
                </a:lnTo>
                <a:lnTo>
                  <a:pt x="3974729" y="991163"/>
                </a:lnTo>
                <a:lnTo>
                  <a:pt x="3985644" y="975010"/>
                </a:lnTo>
                <a:lnTo>
                  <a:pt x="3989652" y="955285"/>
                </a:lnTo>
                <a:lnTo>
                  <a:pt x="3989652" y="0"/>
                </a:lnTo>
                <a:close/>
              </a:path>
            </a:pathLst>
          </a:custGeom>
          <a:solidFill>
            <a:srgbClr val="F2E7E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1" name="Google Shape;1031;p58"/>
          <p:cNvSpPr/>
          <p:nvPr/>
        </p:nvSpPr>
        <p:spPr>
          <a:xfrm>
            <a:off x="4298846" y="1999499"/>
            <a:ext cx="0" cy="930275"/>
          </a:xfrm>
          <a:custGeom>
            <a:rect b="b" l="l" r="r" t="t"/>
            <a:pathLst>
              <a:path extrusionOk="0" h="930275" w="120000">
                <a:moveTo>
                  <a:pt x="0" y="930098"/>
                </a:moveTo>
                <a:lnTo>
                  <a:pt x="0" y="0"/>
                </a:lnTo>
              </a:path>
            </a:pathLst>
          </a:custGeom>
          <a:noFill/>
          <a:ln cap="flat" cmpd="sng" w="9525">
            <a:solidFill>
              <a:srgbClr val="7F7F7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2" name="Google Shape;1032;p58"/>
          <p:cNvSpPr/>
          <p:nvPr/>
        </p:nvSpPr>
        <p:spPr>
          <a:xfrm>
            <a:off x="4298846" y="1986799"/>
            <a:ext cx="0" cy="12700"/>
          </a:xfrm>
          <a:custGeom>
            <a:rect b="b" l="l" r="r" t="t"/>
            <a:pathLst>
              <a:path extrusionOk="0" h="12700" w="120000">
                <a:moveTo>
                  <a:pt x="0" y="12699"/>
                </a:moveTo>
                <a:lnTo>
                  <a:pt x="0" y="0"/>
                </a:lnTo>
              </a:path>
            </a:pathLst>
          </a:custGeom>
          <a:noFill/>
          <a:ln cap="flat" cmpd="sng" w="9525">
            <a:solidFill>
              <a:srgbClr val="AFAFA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3" name="Google Shape;1033;p58"/>
          <p:cNvSpPr/>
          <p:nvPr/>
        </p:nvSpPr>
        <p:spPr>
          <a:xfrm>
            <a:off x="4298846" y="1974099"/>
            <a:ext cx="0" cy="12700"/>
          </a:xfrm>
          <a:custGeom>
            <a:rect b="b" l="l" r="r" t="t"/>
            <a:pathLst>
              <a:path extrusionOk="0" h="12700" w="120000">
                <a:moveTo>
                  <a:pt x="0" y="12699"/>
                </a:moveTo>
                <a:lnTo>
                  <a:pt x="0" y="0"/>
                </a:lnTo>
              </a:path>
            </a:pathLst>
          </a:custGeom>
          <a:noFill/>
          <a:ln cap="flat" cmpd="sng" w="9525">
            <a:solidFill>
              <a:srgbClr val="CECEC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4" name="Google Shape;1034;p58"/>
          <p:cNvSpPr/>
          <p:nvPr/>
        </p:nvSpPr>
        <p:spPr>
          <a:xfrm>
            <a:off x="4298846" y="1961399"/>
            <a:ext cx="0" cy="12700"/>
          </a:xfrm>
          <a:custGeom>
            <a:rect b="b" l="l" r="r" t="t"/>
            <a:pathLst>
              <a:path extrusionOk="0" h="12700" w="120000">
                <a:moveTo>
                  <a:pt x="0" y="12699"/>
                </a:moveTo>
                <a:lnTo>
                  <a:pt x="0" y="0"/>
                </a:lnTo>
              </a:path>
            </a:pathLst>
          </a:custGeom>
          <a:noFill/>
          <a:ln cap="flat" cmpd="sng" w="9525">
            <a:solidFill>
              <a:srgbClr val="EFEFE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5" name="Google Shape;1035;p58"/>
          <p:cNvSpPr/>
          <p:nvPr/>
        </p:nvSpPr>
        <p:spPr>
          <a:xfrm>
            <a:off x="502551" y="2219032"/>
            <a:ext cx="65265" cy="65265"/>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6" name="Google Shape;1036;p58"/>
          <p:cNvSpPr/>
          <p:nvPr/>
        </p:nvSpPr>
        <p:spPr>
          <a:xfrm>
            <a:off x="502551" y="2429065"/>
            <a:ext cx="65265" cy="65265"/>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7" name="Google Shape;1037;p58"/>
          <p:cNvSpPr/>
          <p:nvPr/>
        </p:nvSpPr>
        <p:spPr>
          <a:xfrm>
            <a:off x="502551" y="2639098"/>
            <a:ext cx="65265" cy="65265"/>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8" name="Google Shape;1038;p58"/>
          <p:cNvSpPr/>
          <p:nvPr/>
        </p:nvSpPr>
        <p:spPr>
          <a:xfrm>
            <a:off x="502551" y="2849130"/>
            <a:ext cx="65265" cy="65265"/>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9" name="Google Shape;1039;p58"/>
          <p:cNvSpPr txBox="1"/>
          <p:nvPr/>
        </p:nvSpPr>
        <p:spPr>
          <a:xfrm>
            <a:off x="347294" y="1012391"/>
            <a:ext cx="3780790" cy="1945005"/>
          </a:xfrm>
          <a:prstGeom prst="rect">
            <a:avLst/>
          </a:prstGeom>
          <a:noFill/>
          <a:ln>
            <a:noFill/>
          </a:ln>
        </p:spPr>
        <p:txBody>
          <a:bodyPr anchorCtr="0" anchor="t" bIns="0" lIns="0" spcFirstLastPara="1" rIns="0" wrap="square" tIns="6975">
            <a:spAutoFit/>
          </a:bodyPr>
          <a:lstStyle/>
          <a:p>
            <a:pPr indent="0" lvl="0" marL="12700" marR="5080" rtl="0" algn="l">
              <a:lnSpc>
                <a:spcPct val="102600"/>
              </a:lnSpc>
              <a:spcBef>
                <a:spcPts val="0"/>
              </a:spcBef>
              <a:spcAft>
                <a:spcPts val="0"/>
              </a:spcAft>
              <a:buNone/>
            </a:pPr>
            <a:r>
              <a:rPr lang="en-US" sz="1100">
                <a:solidFill>
                  <a:schemeClr val="dk1"/>
                </a:solidFill>
                <a:latin typeface="Arial"/>
                <a:ea typeface="Arial"/>
                <a:cs typeface="Arial"/>
                <a:sym typeface="Arial"/>
              </a:rPr>
              <a:t>In Table 1, we have compared concolic testing tools with respect  to the following parameters/features: 1) variables types; 2)  pointers; 3) native calls; 4) non-linear arithmetic operations; 5)  bitwise operations; 6) array offsets and 7) function pointers.</a:t>
            </a:r>
            <a:endParaRPr sz="1100">
              <a:solidFill>
                <a:schemeClr val="dk1"/>
              </a:solidFill>
              <a:latin typeface="Arial"/>
              <a:ea typeface="Arial"/>
              <a:cs typeface="Arial"/>
              <a:sym typeface="Arial"/>
            </a:endParaRPr>
          </a:p>
          <a:p>
            <a:pPr indent="0" lvl="0" marL="0" marR="0" rtl="0" algn="l">
              <a:lnSpc>
                <a:spcPct val="100000"/>
              </a:lnSpc>
              <a:spcBef>
                <a:spcPts val="35"/>
              </a:spcBef>
              <a:spcAft>
                <a:spcPts val="0"/>
              </a:spcAft>
              <a:buNone/>
            </a:pPr>
            <a:r>
              <a:t/>
            </a:r>
            <a:endParaRPr sz="1250">
              <a:solidFill>
                <a:schemeClr val="dk1"/>
              </a:solidFill>
              <a:latin typeface="Times New Roman"/>
              <a:ea typeface="Times New Roman"/>
              <a:cs typeface="Times New Roman"/>
              <a:sym typeface="Times New Roman"/>
            </a:endParaRPr>
          </a:p>
          <a:p>
            <a:pPr indent="-277494" lvl="0" marL="289560" marR="643890" rtl="0" algn="l">
              <a:lnSpc>
                <a:spcPct val="125299"/>
              </a:lnSpc>
              <a:spcBef>
                <a:spcPts val="0"/>
              </a:spcBef>
              <a:spcAft>
                <a:spcPts val="0"/>
              </a:spcAft>
              <a:buNone/>
            </a:pPr>
            <a:r>
              <a:rPr lang="en-US" sz="1100">
                <a:solidFill>
                  <a:schemeClr val="dk1"/>
                </a:solidFill>
                <a:latin typeface="Arial"/>
                <a:ea typeface="Arial"/>
                <a:cs typeface="Arial"/>
                <a:sym typeface="Arial"/>
              </a:rPr>
              <a:t>The abbreviation used in Table 1 are the following:  “Y ”means the tool supports the feature.  “N”means the tool does not support the feature.</a:t>
            </a:r>
            <a:endParaRPr sz="1100">
              <a:solidFill>
                <a:schemeClr val="dk1"/>
              </a:solidFill>
              <a:latin typeface="Arial"/>
              <a:ea typeface="Arial"/>
              <a:cs typeface="Arial"/>
              <a:sym typeface="Arial"/>
            </a:endParaRPr>
          </a:p>
          <a:p>
            <a:pPr indent="0" lvl="0" marL="289560" marR="443230" rtl="0" algn="l">
              <a:lnSpc>
                <a:spcPct val="125299"/>
              </a:lnSpc>
              <a:spcBef>
                <a:spcPts val="0"/>
              </a:spcBef>
              <a:spcAft>
                <a:spcPts val="0"/>
              </a:spcAft>
              <a:buNone/>
            </a:pPr>
            <a:r>
              <a:rPr lang="en-US" sz="1100">
                <a:solidFill>
                  <a:schemeClr val="dk1"/>
                </a:solidFill>
                <a:latin typeface="Arial"/>
                <a:ea typeface="Arial"/>
                <a:cs typeface="Arial"/>
                <a:sym typeface="Arial"/>
              </a:rPr>
              <a:t>“P”means the tool can partially support the feature.  “NA”means unknown.</a:t>
            </a:r>
            <a:endParaRPr sz="1100">
              <a:solidFill>
                <a:schemeClr val="dk1"/>
              </a:solidFill>
              <a:latin typeface="Arial"/>
              <a:ea typeface="Arial"/>
              <a:cs typeface="Arial"/>
              <a:sym typeface="Arial"/>
            </a:endParaRPr>
          </a:p>
        </p:txBody>
      </p:sp>
      <p:sp>
        <p:nvSpPr>
          <p:cNvPr id="1040" name="Google Shape;1040;p58"/>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1" name="Google Shape;1041;p58"/>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2" name="Google Shape;1042;p58"/>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3" name="Google Shape;1043;p58"/>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24/35</a:t>
            </a:r>
            <a:endParaRPr/>
          </a:p>
        </p:txBody>
      </p:sp>
      <p:sp>
        <p:nvSpPr>
          <p:cNvPr id="1044" name="Google Shape;1044;p58"/>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1045" name="Google Shape;1045;p58"/>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7"/>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59"/>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1051" name="Google Shape;1051;p59"/>
          <p:cNvSpPr txBox="1"/>
          <p:nvPr/>
        </p:nvSpPr>
        <p:spPr>
          <a:xfrm>
            <a:off x="2303995" y="0"/>
            <a:ext cx="2304415" cy="403225"/>
          </a:xfrm>
          <a:prstGeom prst="rect">
            <a:avLst/>
          </a:prstGeom>
          <a:solidFill>
            <a:srgbClr val="A91717"/>
          </a:solidFill>
          <a:ln>
            <a:noFill/>
          </a:ln>
        </p:spPr>
        <p:txBody>
          <a:bodyPr anchorCtr="0" anchor="t" bIns="0" lIns="0" spcFirstLastPara="1" rIns="0" wrap="square" tIns="64750">
            <a:spAutoFit/>
          </a:bodyPr>
          <a:lstStyle/>
          <a:p>
            <a:pPr indent="0" lvl="0" marL="107950" marR="120015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Concolic Testers </a:t>
            </a:r>
            <a:r>
              <a:rPr b="1" lang="en-US" sz="600" u="sng">
                <a:solidFill>
                  <a:schemeClr val="hlink"/>
                </a:solidFill>
                <a:latin typeface="Arial"/>
                <a:ea typeface="Arial"/>
                <a:cs typeface="Arial"/>
                <a:sym typeface="Arial"/>
                <a:hlinkClick action="ppaction://hlinksldjump" r:id="rId7"/>
              </a:rPr>
              <a:t> Comparison of related works</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8"/>
              </a:rPr>
              <a:t>Characteristics of different approaches</a:t>
            </a:r>
            <a:endParaRPr sz="600">
              <a:solidFill>
                <a:schemeClr val="dk1"/>
              </a:solidFill>
              <a:latin typeface="Arial"/>
              <a:ea typeface="Arial"/>
              <a:cs typeface="Arial"/>
              <a:sym typeface="Arial"/>
            </a:endParaRPr>
          </a:p>
        </p:txBody>
      </p:sp>
      <p:sp>
        <p:nvSpPr>
          <p:cNvPr id="1052" name="Google Shape;1052;p59"/>
          <p:cNvSpPr/>
          <p:nvPr/>
        </p:nvSpPr>
        <p:spPr>
          <a:xfrm>
            <a:off x="0" y="400210"/>
            <a:ext cx="4608004" cy="308729"/>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3" name="Google Shape;1053;p59"/>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Concolic Testers</a:t>
            </a:r>
            <a:endParaRPr sz="1400">
              <a:solidFill>
                <a:schemeClr val="dk1"/>
              </a:solidFill>
              <a:latin typeface="Tahoma"/>
              <a:ea typeface="Tahoma"/>
              <a:cs typeface="Tahoma"/>
              <a:sym typeface="Tahoma"/>
            </a:endParaRPr>
          </a:p>
        </p:txBody>
      </p:sp>
      <p:sp>
        <p:nvSpPr>
          <p:cNvPr id="1054" name="Google Shape;1054;p59"/>
          <p:cNvSpPr txBox="1"/>
          <p:nvPr/>
        </p:nvSpPr>
        <p:spPr>
          <a:xfrm>
            <a:off x="761745" y="1059731"/>
            <a:ext cx="3084195"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rgbClr val="A91717"/>
                </a:solidFill>
                <a:latin typeface="Arial"/>
                <a:ea typeface="Arial"/>
                <a:cs typeface="Arial"/>
                <a:sym typeface="Arial"/>
              </a:rPr>
              <a:t>Table 2: </a:t>
            </a:r>
            <a:r>
              <a:rPr lang="en-US" sz="1000">
                <a:solidFill>
                  <a:schemeClr val="dk1"/>
                </a:solidFill>
                <a:latin typeface="Arial"/>
                <a:ea typeface="Arial"/>
                <a:cs typeface="Arial"/>
                <a:sym typeface="Arial"/>
              </a:rPr>
              <a:t>Summary of concolic tester with their properties.</a:t>
            </a:r>
            <a:endParaRPr sz="1000">
              <a:solidFill>
                <a:schemeClr val="dk1"/>
              </a:solidFill>
              <a:latin typeface="Arial"/>
              <a:ea typeface="Arial"/>
              <a:cs typeface="Arial"/>
              <a:sym typeface="Arial"/>
            </a:endParaRPr>
          </a:p>
        </p:txBody>
      </p:sp>
      <p:sp>
        <p:nvSpPr>
          <p:cNvPr id="1055" name="Google Shape;1055;p59"/>
          <p:cNvSpPr/>
          <p:nvPr/>
        </p:nvSpPr>
        <p:spPr>
          <a:xfrm>
            <a:off x="1717086" y="1752759"/>
            <a:ext cx="13335" cy="0"/>
          </a:xfrm>
          <a:custGeom>
            <a:rect b="b" l="l" r="r" t="t"/>
            <a:pathLst>
              <a:path extrusionOk="0" h="120000" w="13335">
                <a:moveTo>
                  <a:pt x="0" y="0"/>
                </a:moveTo>
                <a:lnTo>
                  <a:pt x="13263"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6" name="Google Shape;1056;p59"/>
          <p:cNvSpPr/>
          <p:nvPr/>
        </p:nvSpPr>
        <p:spPr>
          <a:xfrm>
            <a:off x="1717086" y="1840799"/>
            <a:ext cx="13335" cy="0"/>
          </a:xfrm>
          <a:custGeom>
            <a:rect b="b" l="l" r="r" t="t"/>
            <a:pathLst>
              <a:path extrusionOk="0" h="120000" w="13335">
                <a:moveTo>
                  <a:pt x="0" y="0"/>
                </a:moveTo>
                <a:lnTo>
                  <a:pt x="13263"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7" name="Google Shape;1057;p59"/>
          <p:cNvSpPr/>
          <p:nvPr/>
        </p:nvSpPr>
        <p:spPr>
          <a:xfrm>
            <a:off x="1717086" y="1928833"/>
            <a:ext cx="13335" cy="0"/>
          </a:xfrm>
          <a:custGeom>
            <a:rect b="b" l="l" r="r" t="t"/>
            <a:pathLst>
              <a:path extrusionOk="0" h="120000" w="13335">
                <a:moveTo>
                  <a:pt x="0" y="0"/>
                </a:moveTo>
                <a:lnTo>
                  <a:pt x="13263"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1058" name="Google Shape;1058;p59"/>
          <p:cNvGraphicFramePr/>
          <p:nvPr/>
        </p:nvGraphicFramePr>
        <p:xfrm>
          <a:off x="359187" y="1517808"/>
          <a:ext cx="3000000" cy="3000000"/>
        </p:xfrm>
        <a:graphic>
          <a:graphicData uri="http://schemas.openxmlformats.org/drawingml/2006/table">
            <a:tbl>
              <a:tblPr bandRow="1" firstRow="1">
                <a:noFill/>
                <a:tableStyleId>{AAC71C73-6B6B-4569-8988-B1D10037DF7B}</a:tableStyleId>
              </a:tblPr>
              <a:tblGrid>
                <a:gridCol w="377200"/>
                <a:gridCol w="379100"/>
                <a:gridCol w="452125"/>
                <a:gridCol w="418475"/>
                <a:gridCol w="297175"/>
                <a:gridCol w="280025"/>
                <a:gridCol w="280025"/>
                <a:gridCol w="546100"/>
                <a:gridCol w="280025"/>
                <a:gridCol w="280025"/>
                <a:gridCol w="373375"/>
              </a:tblGrid>
              <a:tr h="173775">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Tool</a:t>
                      </a:r>
                      <a:endParaRPr sz="500" u="none" cap="none" strike="noStrike">
                        <a:latin typeface="Arial"/>
                        <a:ea typeface="Arial"/>
                        <a:cs typeface="Arial"/>
                        <a:sym typeface="Arial"/>
                      </a:endParaRPr>
                    </a:p>
                    <a:p>
                      <a:pPr indent="0" lvl="0" marL="0" marR="0" rtl="0" algn="ctr">
                        <a:lnSpc>
                          <a:spcPct val="100000"/>
                        </a:lnSpc>
                        <a:spcBef>
                          <a:spcPts val="75"/>
                        </a:spcBef>
                        <a:spcAft>
                          <a:spcPts val="0"/>
                        </a:spcAft>
                        <a:buNone/>
                      </a:pPr>
                      <a:r>
                        <a:rPr b="1" lang="en-US" sz="500" u="none" cap="none" strike="noStrike">
                          <a:latin typeface="Arial"/>
                          <a:ea typeface="Arial"/>
                          <a:cs typeface="Arial"/>
                          <a:sym typeface="Arial"/>
                        </a:rPr>
                        <a:t>Name</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8740" marR="0" rtl="0" algn="l">
                        <a:lnSpc>
                          <a:spcPct val="116000"/>
                        </a:lnSpc>
                        <a:spcBef>
                          <a:spcPts val="0"/>
                        </a:spcBef>
                        <a:spcAft>
                          <a:spcPts val="0"/>
                        </a:spcAft>
                        <a:buNone/>
                      </a:pPr>
                      <a:r>
                        <a:rPr b="1" lang="en-US" sz="500" u="none" cap="none" strike="noStrike">
                          <a:latin typeface="Arial"/>
                          <a:ea typeface="Arial"/>
                          <a:cs typeface="Arial"/>
                          <a:sym typeface="Arial"/>
                        </a:rPr>
                        <a:t>Supporting</a:t>
                      </a:r>
                      <a:endParaRPr sz="500" u="none" cap="none" strike="noStrike">
                        <a:latin typeface="Arial"/>
                        <a:ea typeface="Arial"/>
                        <a:cs typeface="Arial"/>
                        <a:sym typeface="Arial"/>
                      </a:endParaRPr>
                    </a:p>
                    <a:p>
                      <a:pPr indent="0" lvl="0" marL="92710" marR="0" rtl="0" algn="l">
                        <a:lnSpc>
                          <a:spcPct val="100000"/>
                        </a:lnSpc>
                        <a:spcBef>
                          <a:spcPts val="75"/>
                        </a:spcBef>
                        <a:spcAft>
                          <a:spcPts val="0"/>
                        </a:spcAft>
                        <a:buNone/>
                      </a:pPr>
                      <a:r>
                        <a:rPr b="1" lang="en-US" sz="500" u="none" cap="none" strike="noStrike">
                          <a:latin typeface="Arial"/>
                          <a:ea typeface="Arial"/>
                          <a:cs typeface="Arial"/>
                          <a:sym typeface="Arial"/>
                        </a:rPr>
                        <a:t>Language</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14935" marR="0" rtl="0" algn="l">
                        <a:lnSpc>
                          <a:spcPct val="116000"/>
                        </a:lnSpc>
                        <a:spcBef>
                          <a:spcPts val="0"/>
                        </a:spcBef>
                        <a:spcAft>
                          <a:spcPts val="0"/>
                        </a:spcAft>
                        <a:buNone/>
                      </a:pPr>
                      <a:r>
                        <a:rPr b="1" lang="en-US" sz="500" u="none" cap="none" strike="noStrike">
                          <a:latin typeface="Arial"/>
                          <a:ea typeface="Arial"/>
                          <a:cs typeface="Arial"/>
                          <a:sym typeface="Arial"/>
                        </a:rPr>
                        <a:t>Supporting</a:t>
                      </a:r>
                      <a:endParaRPr sz="500" u="none" cap="none" strike="noStrike">
                        <a:latin typeface="Arial"/>
                        <a:ea typeface="Arial"/>
                        <a:cs typeface="Arial"/>
                        <a:sym typeface="Arial"/>
                      </a:endParaRPr>
                    </a:p>
                    <a:p>
                      <a:pPr indent="0" lvl="0" marL="137795" marR="0" rtl="0" algn="l">
                        <a:lnSpc>
                          <a:spcPct val="100000"/>
                        </a:lnSpc>
                        <a:spcBef>
                          <a:spcPts val="75"/>
                        </a:spcBef>
                        <a:spcAft>
                          <a:spcPts val="0"/>
                        </a:spcAft>
                        <a:buNone/>
                      </a:pPr>
                      <a:r>
                        <a:rPr b="1" lang="en-US" sz="500" u="none" cap="none" strike="noStrike">
                          <a:latin typeface="Arial"/>
                          <a:ea typeface="Arial"/>
                          <a:cs typeface="Arial"/>
                          <a:sym typeface="Arial"/>
                        </a:rPr>
                        <a:t>Platform</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Support</a:t>
                      </a:r>
                      <a:endParaRPr sz="500" u="none" cap="none" strike="noStrike">
                        <a:latin typeface="Arial"/>
                        <a:ea typeface="Arial"/>
                        <a:cs typeface="Arial"/>
                        <a:sym typeface="Arial"/>
                      </a:endParaRPr>
                    </a:p>
                    <a:p>
                      <a:pPr indent="0" lvl="0" marL="0" marR="0" rtl="0" algn="ctr">
                        <a:lnSpc>
                          <a:spcPct val="100000"/>
                        </a:lnSpc>
                        <a:spcBef>
                          <a:spcPts val="75"/>
                        </a:spcBef>
                        <a:spcAft>
                          <a:spcPts val="0"/>
                        </a:spcAft>
                        <a:buNone/>
                      </a:pPr>
                      <a:r>
                        <a:rPr b="1" lang="en-US" sz="500" u="none" cap="none" strike="noStrike">
                          <a:latin typeface="Arial"/>
                          <a:ea typeface="Arial"/>
                          <a:cs typeface="Arial"/>
                          <a:sym typeface="Arial"/>
                        </a:rPr>
                        <a:t>Constraints Solver</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2384" marR="0" rtl="0" algn="l">
                        <a:lnSpc>
                          <a:spcPct val="116000"/>
                        </a:lnSpc>
                        <a:spcBef>
                          <a:spcPts val="0"/>
                        </a:spcBef>
                        <a:spcAft>
                          <a:spcPts val="0"/>
                        </a:spcAft>
                        <a:buNone/>
                      </a:pPr>
                      <a:r>
                        <a:rPr b="1" lang="en-US" sz="500" u="none" cap="none" strike="noStrike">
                          <a:latin typeface="Arial"/>
                          <a:ea typeface="Arial"/>
                          <a:cs typeface="Arial"/>
                          <a:sym typeface="Arial"/>
                        </a:rPr>
                        <a:t>Support for</a:t>
                      </a:r>
                      <a:endParaRPr sz="500" u="none" cap="none" strike="noStrike">
                        <a:latin typeface="Arial"/>
                        <a:ea typeface="Arial"/>
                        <a:cs typeface="Arial"/>
                        <a:sym typeface="Arial"/>
                      </a:endParaRPr>
                    </a:p>
                    <a:p>
                      <a:pPr indent="0" lvl="0" marL="24130" marR="0" rtl="0" algn="l">
                        <a:lnSpc>
                          <a:spcPct val="100000"/>
                        </a:lnSpc>
                        <a:spcBef>
                          <a:spcPts val="75"/>
                        </a:spcBef>
                        <a:spcAft>
                          <a:spcPts val="0"/>
                        </a:spcAft>
                        <a:buNone/>
                      </a:pPr>
                      <a:r>
                        <a:rPr b="1" lang="en-US" sz="500" u="none" cap="none" strike="noStrike">
                          <a:latin typeface="Arial"/>
                          <a:ea typeface="Arial"/>
                          <a:cs typeface="Arial"/>
                          <a:sym typeface="Arial"/>
                        </a:rPr>
                        <a:t>float/double</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4130" marR="0" rtl="0" algn="l">
                        <a:lnSpc>
                          <a:spcPct val="116000"/>
                        </a:lnSpc>
                        <a:spcBef>
                          <a:spcPts val="0"/>
                        </a:spcBef>
                        <a:spcAft>
                          <a:spcPts val="0"/>
                        </a:spcAft>
                        <a:buNone/>
                      </a:pPr>
                      <a:r>
                        <a:rPr b="1" lang="en-US" sz="500" u="none" cap="none" strike="noStrike">
                          <a:latin typeface="Arial"/>
                          <a:ea typeface="Arial"/>
                          <a:cs typeface="Arial"/>
                          <a:sym typeface="Arial"/>
                        </a:rPr>
                        <a:t>Support for</a:t>
                      </a:r>
                      <a:endParaRPr sz="500" u="none" cap="none" strike="noStrike">
                        <a:latin typeface="Arial"/>
                        <a:ea typeface="Arial"/>
                        <a:cs typeface="Arial"/>
                        <a:sym typeface="Arial"/>
                      </a:endParaRPr>
                    </a:p>
                    <a:p>
                      <a:pPr indent="0" lvl="0" marL="67310" marR="0" rtl="0" algn="l">
                        <a:lnSpc>
                          <a:spcPct val="100000"/>
                        </a:lnSpc>
                        <a:spcBef>
                          <a:spcPts val="75"/>
                        </a:spcBef>
                        <a:spcAft>
                          <a:spcPts val="0"/>
                        </a:spcAft>
                        <a:buNone/>
                      </a:pPr>
                      <a:r>
                        <a:rPr b="1" lang="en-US" sz="500" u="none" cap="none" strike="noStrike">
                          <a:latin typeface="Arial"/>
                          <a:ea typeface="Arial"/>
                          <a:cs typeface="Arial"/>
                          <a:sym typeface="Arial"/>
                        </a:rPr>
                        <a:t>pointer</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4130" marR="0" rtl="0" algn="l">
                        <a:lnSpc>
                          <a:spcPct val="116000"/>
                        </a:lnSpc>
                        <a:spcBef>
                          <a:spcPts val="0"/>
                        </a:spcBef>
                        <a:spcAft>
                          <a:spcPts val="0"/>
                        </a:spcAft>
                        <a:buNone/>
                      </a:pPr>
                      <a:r>
                        <a:rPr b="1" lang="en-US" sz="500" u="none" cap="none" strike="noStrike">
                          <a:latin typeface="Arial"/>
                          <a:ea typeface="Arial"/>
                          <a:cs typeface="Arial"/>
                          <a:sym typeface="Arial"/>
                        </a:rPr>
                        <a:t>Support for</a:t>
                      </a:r>
                      <a:endParaRPr sz="500" u="none" cap="none" strike="noStrike">
                        <a:latin typeface="Arial"/>
                        <a:ea typeface="Arial"/>
                        <a:cs typeface="Arial"/>
                        <a:sym typeface="Arial"/>
                      </a:endParaRPr>
                    </a:p>
                    <a:p>
                      <a:pPr indent="0" lvl="0" marL="36830" marR="0" rtl="0" algn="l">
                        <a:lnSpc>
                          <a:spcPct val="100000"/>
                        </a:lnSpc>
                        <a:spcBef>
                          <a:spcPts val="75"/>
                        </a:spcBef>
                        <a:spcAft>
                          <a:spcPts val="0"/>
                        </a:spcAft>
                        <a:buNone/>
                      </a:pPr>
                      <a:r>
                        <a:rPr b="1" lang="en-US" sz="500" u="none" cap="none" strike="noStrike">
                          <a:latin typeface="Arial"/>
                          <a:ea typeface="Arial"/>
                          <a:cs typeface="Arial"/>
                          <a:sym typeface="Arial"/>
                        </a:rPr>
                        <a:t>native call</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Support for</a:t>
                      </a:r>
                      <a:endParaRPr sz="500" u="none" cap="none" strike="noStrike">
                        <a:latin typeface="Arial"/>
                        <a:ea typeface="Arial"/>
                        <a:cs typeface="Arial"/>
                        <a:sym typeface="Arial"/>
                      </a:endParaRPr>
                    </a:p>
                    <a:p>
                      <a:pPr indent="0" lvl="0" marL="0" marR="0" rtl="0" algn="ctr">
                        <a:lnSpc>
                          <a:spcPct val="100000"/>
                        </a:lnSpc>
                        <a:spcBef>
                          <a:spcPts val="75"/>
                        </a:spcBef>
                        <a:spcAft>
                          <a:spcPts val="0"/>
                        </a:spcAft>
                        <a:buNone/>
                      </a:pPr>
                      <a:r>
                        <a:rPr b="1" lang="en-US" sz="500" u="none" cap="none" strike="noStrike">
                          <a:latin typeface="Arial"/>
                          <a:ea typeface="Arial"/>
                          <a:cs typeface="Arial"/>
                          <a:sym typeface="Arial"/>
                        </a:rPr>
                        <a:t>non-linear arithmetic op.</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4130" marR="0" rtl="0" algn="l">
                        <a:lnSpc>
                          <a:spcPct val="116000"/>
                        </a:lnSpc>
                        <a:spcBef>
                          <a:spcPts val="0"/>
                        </a:spcBef>
                        <a:spcAft>
                          <a:spcPts val="0"/>
                        </a:spcAft>
                        <a:buNone/>
                      </a:pPr>
                      <a:r>
                        <a:rPr b="1" lang="en-US" sz="500" u="none" cap="none" strike="noStrike">
                          <a:latin typeface="Arial"/>
                          <a:ea typeface="Arial"/>
                          <a:cs typeface="Arial"/>
                          <a:sym typeface="Arial"/>
                        </a:rPr>
                        <a:t>Support for</a:t>
                      </a:r>
                      <a:endParaRPr sz="500" u="none" cap="none" strike="noStrike">
                        <a:latin typeface="Arial"/>
                        <a:ea typeface="Arial"/>
                        <a:cs typeface="Arial"/>
                        <a:sym typeface="Arial"/>
                      </a:endParaRPr>
                    </a:p>
                    <a:p>
                      <a:pPr indent="0" lvl="0" marL="31115" marR="0" rtl="0" algn="l">
                        <a:lnSpc>
                          <a:spcPct val="100000"/>
                        </a:lnSpc>
                        <a:spcBef>
                          <a:spcPts val="75"/>
                        </a:spcBef>
                        <a:spcAft>
                          <a:spcPts val="0"/>
                        </a:spcAft>
                        <a:buNone/>
                      </a:pPr>
                      <a:r>
                        <a:rPr b="1" lang="en-US" sz="500" u="none" cap="none" strike="noStrike">
                          <a:latin typeface="Arial"/>
                          <a:ea typeface="Arial"/>
                          <a:cs typeface="Arial"/>
                          <a:sym typeface="Arial"/>
                        </a:rPr>
                        <a:t>bitwise op.</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4130" marR="0" rtl="0" algn="l">
                        <a:lnSpc>
                          <a:spcPct val="116000"/>
                        </a:lnSpc>
                        <a:spcBef>
                          <a:spcPts val="0"/>
                        </a:spcBef>
                        <a:spcAft>
                          <a:spcPts val="0"/>
                        </a:spcAft>
                        <a:buNone/>
                      </a:pPr>
                      <a:r>
                        <a:rPr b="1" lang="en-US" sz="500" u="none" cap="none" strike="noStrike">
                          <a:latin typeface="Arial"/>
                          <a:ea typeface="Arial"/>
                          <a:cs typeface="Arial"/>
                          <a:sym typeface="Arial"/>
                        </a:rPr>
                        <a:t>Support for</a:t>
                      </a:r>
                      <a:endParaRPr sz="500" u="none" cap="none" strike="noStrike">
                        <a:latin typeface="Arial"/>
                        <a:ea typeface="Arial"/>
                        <a:cs typeface="Arial"/>
                        <a:sym typeface="Arial"/>
                      </a:endParaRPr>
                    </a:p>
                    <a:p>
                      <a:pPr indent="0" lvl="0" marL="83820" marR="0" rtl="0" algn="l">
                        <a:lnSpc>
                          <a:spcPct val="100000"/>
                        </a:lnSpc>
                        <a:spcBef>
                          <a:spcPts val="75"/>
                        </a:spcBef>
                        <a:spcAft>
                          <a:spcPts val="0"/>
                        </a:spcAft>
                        <a:buNone/>
                      </a:pPr>
                      <a:r>
                        <a:rPr b="1" lang="en-US" sz="500" u="none" cap="none" strike="noStrike">
                          <a:latin typeface="Arial"/>
                          <a:ea typeface="Arial"/>
                          <a:cs typeface="Arial"/>
                          <a:sym typeface="Arial"/>
                        </a:rPr>
                        <a:t>offset</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0485" marR="0" rtl="0" algn="l">
                        <a:lnSpc>
                          <a:spcPct val="116000"/>
                        </a:lnSpc>
                        <a:spcBef>
                          <a:spcPts val="0"/>
                        </a:spcBef>
                        <a:spcAft>
                          <a:spcPts val="0"/>
                        </a:spcAft>
                        <a:buNone/>
                      </a:pPr>
                      <a:r>
                        <a:rPr b="1" lang="en-US" sz="500" u="none" cap="none" strike="noStrike">
                          <a:latin typeface="Arial"/>
                          <a:ea typeface="Arial"/>
                          <a:cs typeface="Arial"/>
                          <a:sym typeface="Arial"/>
                        </a:rPr>
                        <a:t>Support for</a:t>
                      </a:r>
                      <a:endParaRPr sz="500" u="none" cap="none" strike="noStrike">
                        <a:latin typeface="Arial"/>
                        <a:ea typeface="Arial"/>
                        <a:cs typeface="Arial"/>
                        <a:sym typeface="Arial"/>
                      </a:endParaRPr>
                    </a:p>
                    <a:p>
                      <a:pPr indent="0" lvl="0" marL="24130" marR="0" rtl="0" algn="l">
                        <a:lnSpc>
                          <a:spcPct val="100000"/>
                        </a:lnSpc>
                        <a:spcBef>
                          <a:spcPts val="75"/>
                        </a:spcBef>
                        <a:spcAft>
                          <a:spcPts val="0"/>
                        </a:spcAft>
                        <a:buNone/>
                      </a:pPr>
                      <a:r>
                        <a:rPr b="1" lang="en-US" sz="500" u="none" cap="none" strike="noStrike">
                          <a:latin typeface="Arial"/>
                          <a:ea typeface="Arial"/>
                          <a:cs typeface="Arial"/>
                          <a:sym typeface="Arial"/>
                        </a:rPr>
                        <a:t>function pointer</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8050">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DART</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C</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LP SOLVER</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2080" marR="0" rtl="0" algn="l">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23825" marR="0" rtl="0" algn="l">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8025">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SMART</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C</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LINUX</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LP SOLVER</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2080" marR="0" rtl="0" algn="l">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23825" marR="0" rtl="0" algn="l">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8050">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CUTE</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C</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LINUX</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LP SOLVER</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2080" marR="0" rtl="0" algn="l">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Y</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23825" marR="0" rtl="0" algn="l">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8050">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jCUTE</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JAVA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LINUX/WINDOWS</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0175" marR="0" rtl="0" algn="l">
                        <a:lnSpc>
                          <a:spcPct val="116000"/>
                        </a:lnSpc>
                        <a:spcBef>
                          <a:spcPts val="0"/>
                        </a:spcBef>
                        <a:spcAft>
                          <a:spcPts val="0"/>
                        </a:spcAft>
                        <a:buNone/>
                      </a:pPr>
                      <a:r>
                        <a:rPr b="1"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21920" marR="0" rtl="0" algn="l">
                        <a:lnSpc>
                          <a:spcPct val="116000"/>
                        </a:lnSpc>
                        <a:spcBef>
                          <a:spcPts val="0"/>
                        </a:spcBef>
                        <a:spcAft>
                          <a:spcPts val="0"/>
                        </a:spcAft>
                        <a:buNone/>
                      </a:pPr>
                      <a:r>
                        <a:rPr b="1"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8025">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CREST</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C</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LINUX</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YICES</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0175" marR="0" rtl="0" algn="l">
                        <a:lnSpc>
                          <a:spcPct val="116000"/>
                        </a:lnSpc>
                        <a:spcBef>
                          <a:spcPts val="0"/>
                        </a:spcBef>
                        <a:spcAft>
                          <a:spcPts val="0"/>
                        </a:spcAft>
                        <a:buNone/>
                      </a:pPr>
                      <a:r>
                        <a:rPr b="1"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5875" marR="0" rtl="0" algn="ctr">
                        <a:lnSpc>
                          <a:spcPct val="116000"/>
                        </a:lnSpc>
                        <a:spcBef>
                          <a:spcPts val="0"/>
                        </a:spcBef>
                        <a:spcAft>
                          <a:spcPts val="0"/>
                        </a:spcAft>
                        <a:buNone/>
                      </a:pPr>
                      <a:r>
                        <a:rPr b="1"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P</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P</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21920" marR="0" rtl="0" algn="l">
                        <a:lnSpc>
                          <a:spcPct val="116000"/>
                        </a:lnSpc>
                        <a:spcBef>
                          <a:spcPts val="0"/>
                        </a:spcBef>
                        <a:spcAft>
                          <a:spcPts val="0"/>
                        </a:spcAft>
                        <a:buNone/>
                      </a:pPr>
                      <a:r>
                        <a:rPr b="1"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8050">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EXE</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C</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LINUX</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STP</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2080" marR="0" rtl="0" algn="l">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Y</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Y</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Y</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25095" marR="0" rtl="0" algn="l">
                        <a:lnSpc>
                          <a:spcPct val="116000"/>
                        </a:lnSpc>
                        <a:spcBef>
                          <a:spcPts val="0"/>
                        </a:spcBef>
                        <a:spcAft>
                          <a:spcPts val="0"/>
                        </a:spcAft>
                        <a:buNone/>
                      </a:pPr>
                      <a:r>
                        <a:rPr lang="en-US" sz="500" u="none" cap="none" strike="noStrike">
                          <a:latin typeface="Arial"/>
                          <a:ea typeface="Arial"/>
                          <a:cs typeface="Arial"/>
                          <a:sym typeface="Arial"/>
                        </a:rPr>
                        <a:t>Y</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8050">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KLEE</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C</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LINUX</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STP</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2080" marR="0" rtl="0" algn="l">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Y</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P</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Y</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Y</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25095" marR="0" rtl="0" algn="l">
                        <a:lnSpc>
                          <a:spcPct val="116000"/>
                        </a:lnSpc>
                        <a:spcBef>
                          <a:spcPts val="0"/>
                        </a:spcBef>
                        <a:spcAft>
                          <a:spcPts val="0"/>
                        </a:spcAft>
                        <a:buNone/>
                      </a:pPr>
                      <a:r>
                        <a:rPr lang="en-US" sz="500" u="none" cap="none" strike="noStrike">
                          <a:latin typeface="Arial"/>
                          <a:ea typeface="Arial"/>
                          <a:cs typeface="Arial"/>
                          <a:sym typeface="Arial"/>
                        </a:rPr>
                        <a:t>Y</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8025">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RWSET</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C</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LINUX</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STP</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2080" marR="0" rtl="0" algn="l">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Y</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Y</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Y</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25095" marR="0" rtl="0" algn="l">
                        <a:lnSpc>
                          <a:spcPct val="116000"/>
                        </a:lnSpc>
                        <a:spcBef>
                          <a:spcPts val="0"/>
                        </a:spcBef>
                        <a:spcAft>
                          <a:spcPts val="0"/>
                        </a:spcAft>
                        <a:buNone/>
                      </a:pPr>
                      <a:r>
                        <a:rPr lang="en-US" sz="500" u="none" cap="none" strike="noStrike">
                          <a:latin typeface="Arial"/>
                          <a:ea typeface="Arial"/>
                          <a:cs typeface="Arial"/>
                          <a:sym typeface="Arial"/>
                        </a:rPr>
                        <a:t>Y</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8050">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jFUZZ</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JAVA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LINUX</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BUILT ON JPF</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2080" marR="0" rtl="0" algn="l">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0" rtl="0" algn="l">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8050">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PATH CRAWLER</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C</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17475" marR="0" rtl="0" algn="l">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0" rtl="0" algn="l">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8025">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PEX</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.NET</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WINDOWS</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Z3</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2080" marR="0" rtl="0" algn="l">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0" rtl="0" algn="l">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8050">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SAGE</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MACHINE CODE</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WINDOWS</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DISOLVER</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17475" marR="0" rtl="0" algn="l">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Y</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0" rtl="0" algn="l">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8050">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APOLLO</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PHP</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WINDOWS</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CHOCO</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17475" marR="0" rtl="0" algn="l">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9220" marR="0" rtl="0" algn="l">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8025">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SCORE</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C</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LINIX</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Z3 SMT Solver</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1445" marR="0" rtl="0" algn="l">
                        <a:lnSpc>
                          <a:spcPct val="116000"/>
                        </a:lnSpc>
                        <a:spcBef>
                          <a:spcPts val="0"/>
                        </a:spcBef>
                        <a:spcAft>
                          <a:spcPts val="0"/>
                        </a:spcAft>
                        <a:buNone/>
                      </a:pPr>
                      <a:r>
                        <a:rPr b="1" lang="en-US" sz="500" u="none" cap="none" strike="noStrike">
                          <a:latin typeface="Arial"/>
                          <a:ea typeface="Arial"/>
                          <a:cs typeface="Arial"/>
                          <a:sym typeface="Arial"/>
                        </a:rPr>
                        <a:t>Y</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Y</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N</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06045" marR="0" rtl="0" algn="l">
                        <a:lnSpc>
                          <a:spcPct val="116000"/>
                        </a:lnSpc>
                        <a:spcBef>
                          <a:spcPts val="0"/>
                        </a:spcBef>
                        <a:spcAft>
                          <a:spcPts val="0"/>
                        </a:spcAft>
                        <a:buNone/>
                      </a:pPr>
                      <a:r>
                        <a:rPr b="1"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6000"/>
                        </a:lnSpc>
                        <a:spcBef>
                          <a:spcPts val="0"/>
                        </a:spcBef>
                        <a:spcAft>
                          <a:spcPts val="0"/>
                        </a:spcAft>
                        <a:buNone/>
                      </a:pPr>
                      <a:r>
                        <a:rPr b="1" lang="en-US" sz="500" u="none" cap="none" strike="noStrike">
                          <a:latin typeface="Arial"/>
                          <a:ea typeface="Arial"/>
                          <a:cs typeface="Arial"/>
                          <a:sym typeface="Arial"/>
                        </a:rPr>
                        <a:t>NA</a:t>
                      </a:r>
                      <a:endParaRPr sz="5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059" name="Google Shape;1059;p59"/>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0" name="Google Shape;1060;p59"/>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1" name="Google Shape;1061;p59"/>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2" name="Google Shape;1062;p59"/>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25/35</a:t>
            </a:r>
            <a:endParaRPr/>
          </a:p>
        </p:txBody>
      </p:sp>
      <p:sp>
        <p:nvSpPr>
          <p:cNvPr id="1063" name="Google Shape;1063;p59"/>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1064" name="Google Shape;1064;p59"/>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0"/>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60"/>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1070" name="Google Shape;1070;p60"/>
          <p:cNvSpPr txBox="1"/>
          <p:nvPr/>
        </p:nvSpPr>
        <p:spPr>
          <a:xfrm>
            <a:off x="2303995" y="0"/>
            <a:ext cx="2304415" cy="403225"/>
          </a:xfrm>
          <a:prstGeom prst="rect">
            <a:avLst/>
          </a:prstGeom>
          <a:solidFill>
            <a:srgbClr val="A91717"/>
          </a:solidFill>
          <a:ln>
            <a:noFill/>
          </a:ln>
        </p:spPr>
        <p:txBody>
          <a:bodyPr anchorCtr="0" anchor="t" bIns="0" lIns="0" spcFirstLastPara="1" rIns="0" wrap="square" tIns="64750">
            <a:spAutoFit/>
          </a:bodyPr>
          <a:lstStyle/>
          <a:p>
            <a:pPr indent="0" lvl="0" marL="107950" marR="120015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Concolic Testers </a:t>
            </a:r>
            <a:r>
              <a:rPr b="1" lang="en-US" sz="600" u="sng">
                <a:solidFill>
                  <a:schemeClr val="hlink"/>
                </a:solidFill>
                <a:latin typeface="Arial"/>
                <a:ea typeface="Arial"/>
                <a:cs typeface="Arial"/>
                <a:sym typeface="Arial"/>
                <a:hlinkClick action="ppaction://hlinksldjump" r:id="rId7"/>
              </a:rPr>
              <a:t> Comparison of related works</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8"/>
              </a:rPr>
              <a:t>Characteristics of different approaches</a:t>
            </a:r>
            <a:endParaRPr sz="600">
              <a:solidFill>
                <a:schemeClr val="dk1"/>
              </a:solidFill>
              <a:latin typeface="Arial"/>
              <a:ea typeface="Arial"/>
              <a:cs typeface="Arial"/>
              <a:sym typeface="Arial"/>
            </a:endParaRPr>
          </a:p>
        </p:txBody>
      </p:sp>
      <p:sp>
        <p:nvSpPr>
          <p:cNvPr id="1071" name="Google Shape;1071;p60"/>
          <p:cNvSpPr/>
          <p:nvPr/>
        </p:nvSpPr>
        <p:spPr>
          <a:xfrm>
            <a:off x="0" y="400210"/>
            <a:ext cx="4608004" cy="308729"/>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2" name="Google Shape;1072;p60"/>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Comparison of related works</a:t>
            </a:r>
            <a:endParaRPr sz="1400">
              <a:solidFill>
                <a:schemeClr val="dk1"/>
              </a:solidFill>
              <a:latin typeface="Tahoma"/>
              <a:ea typeface="Tahoma"/>
              <a:cs typeface="Tahoma"/>
              <a:sym typeface="Tahoma"/>
            </a:endParaRPr>
          </a:p>
        </p:txBody>
      </p:sp>
      <p:sp>
        <p:nvSpPr>
          <p:cNvPr id="1073" name="Google Shape;1073;p60"/>
          <p:cNvSpPr txBox="1"/>
          <p:nvPr/>
        </p:nvSpPr>
        <p:spPr>
          <a:xfrm>
            <a:off x="818680" y="957712"/>
            <a:ext cx="2970530"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rgbClr val="A91717"/>
                </a:solidFill>
                <a:latin typeface="Arial"/>
                <a:ea typeface="Arial"/>
                <a:cs typeface="Arial"/>
                <a:sym typeface="Arial"/>
              </a:rPr>
              <a:t>Table 3: </a:t>
            </a:r>
            <a:r>
              <a:rPr lang="en-US" sz="1000">
                <a:solidFill>
                  <a:schemeClr val="dk1"/>
                </a:solidFill>
                <a:latin typeface="Arial"/>
                <a:ea typeface="Arial"/>
                <a:cs typeface="Arial"/>
                <a:sym typeface="Arial"/>
              </a:rPr>
              <a:t>Summary of different work on concolic testing.</a:t>
            </a:r>
            <a:endParaRPr sz="1000">
              <a:solidFill>
                <a:schemeClr val="dk1"/>
              </a:solidFill>
              <a:latin typeface="Arial"/>
              <a:ea typeface="Arial"/>
              <a:cs typeface="Arial"/>
              <a:sym typeface="Arial"/>
            </a:endParaRPr>
          </a:p>
        </p:txBody>
      </p:sp>
      <p:graphicFrame>
        <p:nvGraphicFramePr>
          <p:cNvPr id="1074" name="Google Shape;1074;p60"/>
          <p:cNvGraphicFramePr/>
          <p:nvPr/>
        </p:nvGraphicFramePr>
        <p:xfrm>
          <a:off x="502434" y="1243710"/>
          <a:ext cx="3000000" cy="3000000"/>
        </p:xfrm>
        <a:graphic>
          <a:graphicData uri="http://schemas.openxmlformats.org/drawingml/2006/table">
            <a:tbl>
              <a:tblPr bandRow="1" firstRow="1">
                <a:noFill/>
                <a:tableStyleId>{AAC71C73-6B6B-4569-8988-B1D10037DF7B}</a:tableStyleId>
              </a:tblPr>
              <a:tblGrid>
                <a:gridCol w="290200"/>
                <a:gridCol w="593725"/>
                <a:gridCol w="829950"/>
                <a:gridCol w="584825"/>
                <a:gridCol w="748675"/>
                <a:gridCol w="553725"/>
              </a:tblGrid>
              <a:tr h="183300">
                <a:tc>
                  <a:txBody>
                    <a:bodyPr/>
                    <a:lstStyle/>
                    <a:p>
                      <a:pPr indent="0" lvl="0" marL="0" marR="0" rtl="0" algn="ctr">
                        <a:lnSpc>
                          <a:spcPct val="112727"/>
                        </a:lnSpc>
                        <a:spcBef>
                          <a:spcPts val="0"/>
                        </a:spcBef>
                        <a:spcAft>
                          <a:spcPts val="0"/>
                        </a:spcAft>
                        <a:buNone/>
                      </a:pPr>
                      <a:r>
                        <a:rPr b="1" lang="en-US" sz="550" u="none" cap="none" strike="noStrike">
                          <a:latin typeface="Arial"/>
                          <a:ea typeface="Arial"/>
                          <a:cs typeface="Arial"/>
                          <a:sym typeface="Arial"/>
                        </a:rPr>
                        <a:t>S.No</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42240" marR="0" rtl="0" algn="l">
                        <a:lnSpc>
                          <a:spcPct val="112727"/>
                        </a:lnSpc>
                        <a:spcBef>
                          <a:spcPts val="0"/>
                        </a:spcBef>
                        <a:spcAft>
                          <a:spcPts val="0"/>
                        </a:spcAft>
                        <a:buNone/>
                      </a:pPr>
                      <a:r>
                        <a:rPr b="1" lang="en-US" sz="550" u="none" cap="none" strike="noStrike">
                          <a:latin typeface="Arial"/>
                          <a:ea typeface="Arial"/>
                          <a:cs typeface="Arial"/>
                          <a:sym typeface="Arial"/>
                        </a:rPr>
                        <a:t>Authors</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b="1" lang="en-US" sz="550" u="none" cap="none" strike="noStrike">
                          <a:latin typeface="Arial"/>
                          <a:ea typeface="Arial"/>
                          <a:cs typeface="Arial"/>
                          <a:sym typeface="Arial"/>
                        </a:rPr>
                        <a:t>Testing</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b="1" lang="en-US" sz="550" u="none" cap="none" strike="noStrike">
                          <a:latin typeface="Arial"/>
                          <a:ea typeface="Arial"/>
                          <a:cs typeface="Arial"/>
                          <a:sym typeface="Arial"/>
                        </a:rPr>
                        <a:t>Type</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b="1" lang="en-US" sz="550" u="none" cap="none" strike="noStrike">
                          <a:latin typeface="Arial"/>
                          <a:ea typeface="Arial"/>
                          <a:cs typeface="Arial"/>
                          <a:sym typeface="Arial"/>
                        </a:rPr>
                        <a:t>FrameWork</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b="1" lang="en-US" sz="550" u="none" cap="none" strike="noStrike">
                          <a:latin typeface="Arial"/>
                          <a:ea typeface="Arial"/>
                          <a:cs typeface="Arial"/>
                          <a:sym typeface="Arial"/>
                        </a:rPr>
                        <a:t>Type</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b="1" lang="en-US" sz="550" u="none" cap="none" strike="noStrike">
                          <a:latin typeface="Arial"/>
                          <a:ea typeface="Arial"/>
                          <a:cs typeface="Arial"/>
                          <a:sym typeface="Arial"/>
                        </a:rPr>
                        <a:t>Input</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b="1" lang="en-US" sz="550" u="none" cap="none" strike="noStrike">
                          <a:latin typeface="Arial"/>
                          <a:ea typeface="Arial"/>
                          <a:cs typeface="Arial"/>
                          <a:sym typeface="Arial"/>
                        </a:rPr>
                        <a:t>Type</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33985" marR="0" rtl="0" algn="l">
                        <a:lnSpc>
                          <a:spcPct val="112727"/>
                        </a:lnSpc>
                        <a:spcBef>
                          <a:spcPts val="0"/>
                        </a:spcBef>
                        <a:spcAft>
                          <a:spcPts val="0"/>
                        </a:spcAft>
                        <a:buNone/>
                      </a:pPr>
                      <a:r>
                        <a:rPr b="1" lang="en-US" sz="550" u="none" cap="none" strike="noStrike">
                          <a:latin typeface="Arial"/>
                          <a:ea typeface="Arial"/>
                          <a:cs typeface="Arial"/>
                          <a:sym typeface="Arial"/>
                        </a:rPr>
                        <a:t>Output</a:t>
                      </a:r>
                      <a:endParaRPr sz="550" u="none" cap="none" strike="noStrike">
                        <a:latin typeface="Arial"/>
                        <a:ea typeface="Arial"/>
                        <a:cs typeface="Arial"/>
                        <a:sym typeface="Arial"/>
                      </a:endParaRPr>
                    </a:p>
                    <a:p>
                      <a:pPr indent="0" lvl="0" marL="179070" marR="0" rtl="0" algn="l">
                        <a:lnSpc>
                          <a:spcPct val="100000"/>
                        </a:lnSpc>
                        <a:spcBef>
                          <a:spcPts val="50"/>
                        </a:spcBef>
                        <a:spcAft>
                          <a:spcPts val="0"/>
                        </a:spcAft>
                        <a:buNone/>
                      </a:pPr>
                      <a:r>
                        <a:rPr b="1" lang="en-US" sz="550" u="none" cap="none" strike="noStrike">
                          <a:latin typeface="Arial"/>
                          <a:ea typeface="Arial"/>
                          <a:cs typeface="Arial"/>
                          <a:sym typeface="Arial"/>
                        </a:rPr>
                        <a:t>Type</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3300">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1</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Das</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et al. </a:t>
                      </a:r>
                      <a:r>
                        <a:rPr lang="en-US" sz="550" u="sng" cap="none" strike="noStrike">
                          <a:solidFill>
                            <a:schemeClr val="hlink"/>
                          </a:solidFill>
                          <a:latin typeface="Arial"/>
                          <a:ea typeface="Arial"/>
                          <a:cs typeface="Arial"/>
                          <a:sym typeface="Arial"/>
                          <a:hlinkClick action="ppaction://hlinksldjump" r:id="rId10"/>
                        </a:rPr>
                        <a:t>[16]</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Concolic Testing,</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MC/DC</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BCT,CREST,</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CA</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C-Program</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MC/DC%</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3300">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2</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Bokil</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et al. </a:t>
                      </a:r>
                      <a:r>
                        <a:rPr lang="en-US" sz="550" u="sng" cap="none" strike="noStrike">
                          <a:solidFill>
                            <a:schemeClr val="hlink"/>
                          </a:solidFill>
                          <a:latin typeface="Arial"/>
                          <a:ea typeface="Arial"/>
                          <a:cs typeface="Arial"/>
                          <a:sym typeface="Arial"/>
                          <a:hlinkClick action="ppaction://hlinksldjump" r:id="rId11"/>
                        </a:rPr>
                        <a:t>[24]</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SC, DC,</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BC,MC/DC</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125095" rtl="0" algn="r">
                        <a:lnSpc>
                          <a:spcPct val="112727"/>
                        </a:lnSpc>
                        <a:spcBef>
                          <a:spcPts val="0"/>
                        </a:spcBef>
                        <a:spcAft>
                          <a:spcPts val="0"/>
                        </a:spcAft>
                        <a:buNone/>
                      </a:pPr>
                      <a:r>
                        <a:rPr lang="en-US" sz="550" u="none" cap="none" strike="noStrike">
                          <a:latin typeface="Arial"/>
                          <a:ea typeface="Arial"/>
                          <a:cs typeface="Arial"/>
                          <a:sym typeface="Arial"/>
                        </a:rPr>
                        <a:t>AutoGen</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C-Program</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Test data,</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Time</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3300">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3</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Kim</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et al. </a:t>
                      </a:r>
                      <a:r>
                        <a:rPr lang="en-US" sz="550" u="sng" cap="none" strike="noStrike">
                          <a:solidFill>
                            <a:schemeClr val="hlink"/>
                          </a:solidFill>
                          <a:latin typeface="Arial"/>
                          <a:ea typeface="Arial"/>
                          <a:cs typeface="Arial"/>
                          <a:sym typeface="Arial"/>
                          <a:hlinkClick action="ppaction://hlinksldjump" r:id="rId12"/>
                        </a:rPr>
                        <a:t>[20]</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HCT</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SMT Solver,</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CREST</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Flash storage</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Platform Software</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Reduction</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Ratio</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3300">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4</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13029" marR="0" rtl="0" algn="l">
                        <a:lnSpc>
                          <a:spcPct val="112727"/>
                        </a:lnSpc>
                        <a:spcBef>
                          <a:spcPts val="0"/>
                        </a:spcBef>
                        <a:spcAft>
                          <a:spcPts val="0"/>
                        </a:spcAft>
                        <a:buNone/>
                      </a:pPr>
                      <a:r>
                        <a:rPr lang="en-US" sz="550" u="none" cap="none" strike="noStrike">
                          <a:latin typeface="Arial"/>
                          <a:ea typeface="Arial"/>
                          <a:cs typeface="Arial"/>
                          <a:sym typeface="Arial"/>
                        </a:rPr>
                        <a:t>Majumdar</a:t>
                      </a:r>
                      <a:endParaRPr sz="550" u="none" cap="none" strike="noStrike">
                        <a:latin typeface="Arial"/>
                        <a:ea typeface="Arial"/>
                        <a:cs typeface="Arial"/>
                        <a:sym typeface="Arial"/>
                      </a:endParaRPr>
                    </a:p>
                    <a:p>
                      <a:pPr indent="0" lvl="0" marL="116839" marR="0" rtl="0" algn="l">
                        <a:lnSpc>
                          <a:spcPct val="100000"/>
                        </a:lnSpc>
                        <a:spcBef>
                          <a:spcPts val="50"/>
                        </a:spcBef>
                        <a:spcAft>
                          <a:spcPts val="0"/>
                        </a:spcAft>
                        <a:buNone/>
                      </a:pPr>
                      <a:r>
                        <a:rPr lang="en-US" sz="550" u="none" cap="none" strike="noStrike">
                          <a:latin typeface="Arial"/>
                          <a:ea typeface="Arial"/>
                          <a:cs typeface="Arial"/>
                          <a:sym typeface="Arial"/>
                        </a:rPr>
                        <a:t>et al. </a:t>
                      </a:r>
                      <a:r>
                        <a:rPr lang="en-US" sz="550" u="sng" cap="none" strike="noStrike">
                          <a:solidFill>
                            <a:schemeClr val="hlink"/>
                          </a:solidFill>
                          <a:latin typeface="Arial"/>
                          <a:ea typeface="Arial"/>
                          <a:cs typeface="Arial"/>
                          <a:sym typeface="Arial"/>
                          <a:hlinkClick action="ppaction://hlinksldjump" r:id="rId13"/>
                        </a:rPr>
                        <a:t>[17]</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HCT, BC</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171450" rtl="0" algn="r">
                        <a:lnSpc>
                          <a:spcPct val="112727"/>
                        </a:lnSpc>
                        <a:spcBef>
                          <a:spcPts val="0"/>
                        </a:spcBef>
                        <a:spcAft>
                          <a:spcPts val="0"/>
                        </a:spcAft>
                        <a:buNone/>
                      </a:pPr>
                      <a:r>
                        <a:rPr lang="en-US" sz="550" u="none" cap="none" strike="noStrike">
                          <a:latin typeface="Arial"/>
                          <a:ea typeface="Arial"/>
                          <a:cs typeface="Arial"/>
                          <a:sym typeface="Arial"/>
                        </a:rPr>
                        <a:t>CUTE</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17170" marR="0" rtl="0" algn="l">
                        <a:lnSpc>
                          <a:spcPct val="112727"/>
                        </a:lnSpc>
                        <a:spcBef>
                          <a:spcPts val="0"/>
                        </a:spcBef>
                        <a:spcAft>
                          <a:spcPts val="0"/>
                        </a:spcAft>
                        <a:buNone/>
                      </a:pPr>
                      <a:r>
                        <a:rPr lang="en-US" sz="550" u="none" cap="none" strike="noStrike">
                          <a:latin typeface="Arial"/>
                          <a:ea typeface="Arial"/>
                          <a:cs typeface="Arial"/>
                          <a:sym typeface="Arial"/>
                        </a:rPr>
                        <a:t>Editor in</a:t>
                      </a:r>
                      <a:endParaRPr sz="550" u="none" cap="none" strike="noStrike">
                        <a:latin typeface="Arial"/>
                        <a:ea typeface="Arial"/>
                        <a:cs typeface="Arial"/>
                        <a:sym typeface="Arial"/>
                      </a:endParaRPr>
                    </a:p>
                    <a:p>
                      <a:pPr indent="0" lvl="0" marL="159385" marR="0" rtl="0" algn="l">
                        <a:lnSpc>
                          <a:spcPct val="100000"/>
                        </a:lnSpc>
                        <a:spcBef>
                          <a:spcPts val="50"/>
                        </a:spcBef>
                        <a:spcAft>
                          <a:spcPts val="0"/>
                        </a:spcAft>
                        <a:buNone/>
                      </a:pPr>
                      <a:r>
                        <a:rPr lang="en-US" sz="550" u="none" cap="none" strike="noStrike">
                          <a:latin typeface="Arial"/>
                          <a:ea typeface="Arial"/>
                          <a:cs typeface="Arial"/>
                          <a:sym typeface="Arial"/>
                        </a:rPr>
                        <a:t>C-Language</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Test Cases</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3300">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5</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63830" marR="0" rtl="0" algn="l">
                        <a:lnSpc>
                          <a:spcPct val="112727"/>
                        </a:lnSpc>
                        <a:spcBef>
                          <a:spcPts val="0"/>
                        </a:spcBef>
                        <a:spcAft>
                          <a:spcPts val="0"/>
                        </a:spcAft>
                        <a:buNone/>
                      </a:pPr>
                      <a:r>
                        <a:rPr lang="en-US" sz="550" u="none" cap="none" strike="noStrike">
                          <a:latin typeface="Arial"/>
                          <a:ea typeface="Arial"/>
                          <a:cs typeface="Arial"/>
                          <a:sym typeface="Arial"/>
                        </a:rPr>
                        <a:t>Burnim</a:t>
                      </a:r>
                      <a:endParaRPr sz="550" u="none" cap="none" strike="noStrike">
                        <a:latin typeface="Arial"/>
                        <a:ea typeface="Arial"/>
                        <a:cs typeface="Arial"/>
                        <a:sym typeface="Arial"/>
                      </a:endParaRPr>
                    </a:p>
                    <a:p>
                      <a:pPr indent="0" lvl="0" marL="116839" marR="0" rtl="0" algn="l">
                        <a:lnSpc>
                          <a:spcPct val="100000"/>
                        </a:lnSpc>
                        <a:spcBef>
                          <a:spcPts val="50"/>
                        </a:spcBef>
                        <a:spcAft>
                          <a:spcPts val="0"/>
                        </a:spcAft>
                        <a:buNone/>
                      </a:pPr>
                      <a:r>
                        <a:rPr lang="en-US" sz="550" u="none" cap="none" strike="noStrike">
                          <a:latin typeface="Arial"/>
                          <a:ea typeface="Arial"/>
                          <a:cs typeface="Arial"/>
                          <a:sym typeface="Arial"/>
                        </a:rPr>
                        <a:t>et al. </a:t>
                      </a:r>
                      <a:r>
                        <a:rPr lang="en-US" sz="550" u="sng" cap="none" strike="noStrike">
                          <a:solidFill>
                            <a:schemeClr val="hlink"/>
                          </a:solidFill>
                          <a:latin typeface="Arial"/>
                          <a:ea typeface="Arial"/>
                          <a:cs typeface="Arial"/>
                          <a:sym typeface="Arial"/>
                          <a:hlinkClick action="ppaction://hlinksldjump" r:id="rId14"/>
                        </a:rPr>
                        <a:t>[21]</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Heuristics Concolic</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Testing, BC</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149860" rtl="0" algn="r">
                        <a:lnSpc>
                          <a:spcPct val="112727"/>
                        </a:lnSpc>
                        <a:spcBef>
                          <a:spcPts val="0"/>
                        </a:spcBef>
                        <a:spcAft>
                          <a:spcPts val="0"/>
                        </a:spcAft>
                        <a:buNone/>
                      </a:pPr>
                      <a:r>
                        <a:rPr lang="en-US" sz="550" u="none" cap="none" strike="noStrike">
                          <a:latin typeface="Arial"/>
                          <a:ea typeface="Arial"/>
                          <a:cs typeface="Arial"/>
                          <a:sym typeface="Arial"/>
                        </a:rPr>
                        <a:t>CREST</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Software</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Application in C</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47955" marR="0" rtl="0" algn="l">
                        <a:lnSpc>
                          <a:spcPct val="112727"/>
                        </a:lnSpc>
                        <a:spcBef>
                          <a:spcPts val="0"/>
                        </a:spcBef>
                        <a:spcAft>
                          <a:spcPts val="0"/>
                        </a:spcAft>
                        <a:buNone/>
                      </a:pPr>
                      <a:r>
                        <a:rPr lang="en-US" sz="550" u="none" cap="none" strike="noStrike">
                          <a:latin typeface="Arial"/>
                          <a:ea typeface="Arial"/>
                          <a:cs typeface="Arial"/>
                          <a:sym typeface="Arial"/>
                        </a:rPr>
                        <a:t>Branch</a:t>
                      </a:r>
                      <a:endParaRPr sz="550" u="none" cap="none" strike="noStrike">
                        <a:latin typeface="Arial"/>
                        <a:ea typeface="Arial"/>
                        <a:cs typeface="Arial"/>
                        <a:sym typeface="Arial"/>
                      </a:endParaRPr>
                    </a:p>
                    <a:p>
                      <a:pPr indent="0" lvl="0" marL="131445" marR="0" rtl="0" algn="l">
                        <a:lnSpc>
                          <a:spcPct val="100000"/>
                        </a:lnSpc>
                        <a:spcBef>
                          <a:spcPts val="50"/>
                        </a:spcBef>
                        <a:spcAft>
                          <a:spcPts val="0"/>
                        </a:spcAft>
                        <a:buNone/>
                      </a:pPr>
                      <a:r>
                        <a:rPr lang="en-US" sz="550" u="none" cap="none" strike="noStrike">
                          <a:latin typeface="Arial"/>
                          <a:ea typeface="Arial"/>
                          <a:cs typeface="Arial"/>
                          <a:sym typeface="Arial"/>
                        </a:rPr>
                        <a:t>Covered</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3300">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6</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Kim</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et al. </a:t>
                      </a:r>
                      <a:r>
                        <a:rPr lang="en-US" sz="550" u="sng" cap="none" strike="noStrike">
                          <a:solidFill>
                            <a:schemeClr val="hlink"/>
                          </a:solidFill>
                          <a:latin typeface="Arial"/>
                          <a:ea typeface="Arial"/>
                          <a:cs typeface="Arial"/>
                          <a:sym typeface="Arial"/>
                          <a:hlinkClick action="ppaction://hlinksldjump" r:id="rId15"/>
                        </a:rPr>
                        <a:t>[23]</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Concolic Testing</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149860" rtl="0" algn="r">
                        <a:lnSpc>
                          <a:spcPct val="112727"/>
                        </a:lnSpc>
                        <a:spcBef>
                          <a:spcPts val="0"/>
                        </a:spcBef>
                        <a:spcAft>
                          <a:spcPts val="0"/>
                        </a:spcAft>
                        <a:buNone/>
                      </a:pPr>
                      <a:r>
                        <a:rPr lang="en-US" sz="550" u="none" cap="none" strike="noStrike">
                          <a:latin typeface="Arial"/>
                          <a:ea typeface="Arial"/>
                          <a:cs typeface="Arial"/>
                          <a:sym typeface="Arial"/>
                        </a:rPr>
                        <a:t>CREST</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42875" marR="0" rtl="0" algn="l">
                        <a:lnSpc>
                          <a:spcPct val="112727"/>
                        </a:lnSpc>
                        <a:spcBef>
                          <a:spcPts val="0"/>
                        </a:spcBef>
                        <a:spcAft>
                          <a:spcPts val="0"/>
                        </a:spcAft>
                        <a:buNone/>
                      </a:pPr>
                      <a:r>
                        <a:rPr lang="en-US" sz="550" u="none" cap="none" strike="noStrike">
                          <a:latin typeface="Arial"/>
                          <a:ea typeface="Arial"/>
                          <a:cs typeface="Arial"/>
                          <a:sym typeface="Arial"/>
                        </a:rPr>
                        <a:t>Embedded C</a:t>
                      </a:r>
                      <a:endParaRPr sz="550" u="none" cap="none" strike="noStrike">
                        <a:latin typeface="Arial"/>
                        <a:ea typeface="Arial"/>
                        <a:cs typeface="Arial"/>
                        <a:sym typeface="Arial"/>
                      </a:endParaRPr>
                    </a:p>
                    <a:p>
                      <a:pPr indent="0" lvl="0" marL="169545" marR="0" rtl="0" algn="l">
                        <a:lnSpc>
                          <a:spcPct val="100000"/>
                        </a:lnSpc>
                        <a:spcBef>
                          <a:spcPts val="50"/>
                        </a:spcBef>
                        <a:spcAft>
                          <a:spcPts val="0"/>
                        </a:spcAft>
                        <a:buNone/>
                      </a:pPr>
                      <a:r>
                        <a:rPr lang="en-US" sz="550" u="none" cap="none" strike="noStrike">
                          <a:latin typeface="Arial"/>
                          <a:ea typeface="Arial"/>
                          <a:cs typeface="Arial"/>
                          <a:sym typeface="Arial"/>
                        </a:rPr>
                        <a:t>Application</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47955" marR="0" rtl="0" algn="l">
                        <a:lnSpc>
                          <a:spcPct val="112727"/>
                        </a:lnSpc>
                        <a:spcBef>
                          <a:spcPts val="0"/>
                        </a:spcBef>
                        <a:spcAft>
                          <a:spcPts val="0"/>
                        </a:spcAft>
                        <a:buNone/>
                      </a:pPr>
                      <a:r>
                        <a:rPr lang="en-US" sz="550" u="none" cap="none" strike="noStrike">
                          <a:latin typeface="Arial"/>
                          <a:ea typeface="Arial"/>
                          <a:cs typeface="Arial"/>
                          <a:sym typeface="Arial"/>
                        </a:rPr>
                        <a:t>Branch</a:t>
                      </a:r>
                      <a:endParaRPr sz="550" u="none" cap="none" strike="noStrike">
                        <a:latin typeface="Arial"/>
                        <a:ea typeface="Arial"/>
                        <a:cs typeface="Arial"/>
                        <a:sym typeface="Arial"/>
                      </a:endParaRPr>
                    </a:p>
                    <a:p>
                      <a:pPr indent="0" lvl="0" marL="131445" marR="0" rtl="0" algn="l">
                        <a:lnSpc>
                          <a:spcPct val="100000"/>
                        </a:lnSpc>
                        <a:spcBef>
                          <a:spcPts val="50"/>
                        </a:spcBef>
                        <a:spcAft>
                          <a:spcPts val="0"/>
                        </a:spcAft>
                        <a:buNone/>
                      </a:pPr>
                      <a:r>
                        <a:rPr lang="en-US" sz="550" u="none" cap="none" strike="noStrike">
                          <a:latin typeface="Arial"/>
                          <a:ea typeface="Arial"/>
                          <a:cs typeface="Arial"/>
                          <a:sym typeface="Arial"/>
                        </a:rPr>
                        <a:t>Covered</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3300">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7</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Kim</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et al. </a:t>
                      </a:r>
                      <a:r>
                        <a:rPr lang="en-US" sz="550" u="sng" cap="none" strike="noStrike">
                          <a:solidFill>
                            <a:schemeClr val="hlink"/>
                          </a:solidFill>
                          <a:latin typeface="Arial"/>
                          <a:ea typeface="Arial"/>
                          <a:cs typeface="Arial"/>
                          <a:sym typeface="Arial"/>
                          <a:hlinkClick action="ppaction://hlinksldjump" r:id="rId16"/>
                        </a:rPr>
                        <a:t>[22]</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Concolic Testing</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110489" rtl="0" algn="r">
                        <a:lnSpc>
                          <a:spcPct val="112727"/>
                        </a:lnSpc>
                        <a:spcBef>
                          <a:spcPts val="0"/>
                        </a:spcBef>
                        <a:spcAft>
                          <a:spcPts val="0"/>
                        </a:spcAft>
                        <a:buNone/>
                      </a:pPr>
                      <a:r>
                        <a:rPr lang="en-US" sz="550" u="none" cap="none" strike="noStrike">
                          <a:latin typeface="Arial"/>
                          <a:ea typeface="Arial"/>
                          <a:cs typeface="Arial"/>
                          <a:sym typeface="Arial"/>
                        </a:rPr>
                        <a:t>CONBOL</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84785" marR="0" rtl="0" algn="l">
                        <a:lnSpc>
                          <a:spcPct val="112727"/>
                        </a:lnSpc>
                        <a:spcBef>
                          <a:spcPts val="0"/>
                        </a:spcBef>
                        <a:spcAft>
                          <a:spcPts val="0"/>
                        </a:spcAft>
                        <a:buNone/>
                      </a:pPr>
                      <a:r>
                        <a:rPr lang="en-US" sz="550" u="none" cap="none" strike="noStrike">
                          <a:latin typeface="Arial"/>
                          <a:ea typeface="Arial"/>
                          <a:cs typeface="Arial"/>
                          <a:sym typeface="Arial"/>
                        </a:rPr>
                        <a:t>Embedded</a:t>
                      </a:r>
                      <a:endParaRPr sz="550" u="none" cap="none" strike="noStrike">
                        <a:latin typeface="Arial"/>
                        <a:ea typeface="Arial"/>
                        <a:cs typeface="Arial"/>
                        <a:sym typeface="Arial"/>
                      </a:endParaRPr>
                    </a:p>
                    <a:p>
                      <a:pPr indent="0" lvl="0" marL="218440" marR="0" rtl="0" algn="l">
                        <a:lnSpc>
                          <a:spcPct val="100000"/>
                        </a:lnSpc>
                        <a:spcBef>
                          <a:spcPts val="50"/>
                        </a:spcBef>
                        <a:spcAft>
                          <a:spcPts val="0"/>
                        </a:spcAft>
                        <a:buNone/>
                      </a:pPr>
                      <a:r>
                        <a:rPr lang="en-US" sz="550" u="none" cap="none" strike="noStrike">
                          <a:latin typeface="Arial"/>
                          <a:ea typeface="Arial"/>
                          <a:cs typeface="Arial"/>
                          <a:sym typeface="Arial"/>
                        </a:rPr>
                        <a:t>Software</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2085" marR="0" rtl="0" algn="l">
                        <a:lnSpc>
                          <a:spcPct val="112727"/>
                        </a:lnSpc>
                        <a:spcBef>
                          <a:spcPts val="0"/>
                        </a:spcBef>
                        <a:spcAft>
                          <a:spcPts val="0"/>
                        </a:spcAft>
                        <a:buNone/>
                      </a:pPr>
                      <a:r>
                        <a:rPr lang="en-US" sz="550" u="none" cap="none" strike="noStrike">
                          <a:latin typeface="Arial"/>
                          <a:ea typeface="Arial"/>
                          <a:cs typeface="Arial"/>
                          <a:sym typeface="Arial"/>
                        </a:rPr>
                        <a:t>BC%,</a:t>
                      </a:r>
                      <a:endParaRPr sz="550" u="none" cap="none" strike="noStrike">
                        <a:latin typeface="Arial"/>
                        <a:ea typeface="Arial"/>
                        <a:cs typeface="Arial"/>
                        <a:sym typeface="Arial"/>
                      </a:endParaRPr>
                    </a:p>
                    <a:p>
                      <a:pPr indent="0" lvl="0" marL="182880" marR="0" rtl="0" algn="l">
                        <a:lnSpc>
                          <a:spcPct val="100000"/>
                        </a:lnSpc>
                        <a:spcBef>
                          <a:spcPts val="50"/>
                        </a:spcBef>
                        <a:spcAft>
                          <a:spcPts val="0"/>
                        </a:spcAft>
                        <a:buNone/>
                      </a:pPr>
                      <a:r>
                        <a:rPr lang="en-US" sz="550" u="none" cap="none" strike="noStrike">
                          <a:latin typeface="Arial"/>
                          <a:ea typeface="Arial"/>
                          <a:cs typeface="Arial"/>
                          <a:sym typeface="Arial"/>
                        </a:rPr>
                        <a:t>Time</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3300">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8</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Kim</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et al. </a:t>
                      </a:r>
                      <a:r>
                        <a:rPr lang="en-US" sz="550" u="sng" cap="none" strike="noStrike">
                          <a:solidFill>
                            <a:schemeClr val="hlink"/>
                          </a:solidFill>
                          <a:latin typeface="Arial"/>
                          <a:ea typeface="Arial"/>
                          <a:cs typeface="Arial"/>
                          <a:sym typeface="Arial"/>
                          <a:hlinkClick action="ppaction://hlinksldjump" r:id="rId17"/>
                        </a:rPr>
                        <a:t>[19, </a:t>
                      </a:r>
                      <a:r>
                        <a:rPr lang="en-US" sz="550" u="sng" cap="none" strike="noStrike">
                          <a:solidFill>
                            <a:schemeClr val="hlink"/>
                          </a:solidFill>
                          <a:latin typeface="Arial"/>
                          <a:ea typeface="Arial"/>
                          <a:cs typeface="Arial"/>
                          <a:sym typeface="Arial"/>
                          <a:hlinkClick action="ppaction://hlinksldjump" r:id="rId18"/>
                        </a:rPr>
                        <a:t>25]</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Distributed Concolic</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Testing</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146685" rtl="0" algn="r">
                        <a:lnSpc>
                          <a:spcPct val="112727"/>
                        </a:lnSpc>
                        <a:spcBef>
                          <a:spcPts val="0"/>
                        </a:spcBef>
                        <a:spcAft>
                          <a:spcPts val="0"/>
                        </a:spcAft>
                        <a:buNone/>
                      </a:pPr>
                      <a:r>
                        <a:rPr lang="en-US" sz="550" u="none" cap="none" strike="noStrike">
                          <a:latin typeface="Arial"/>
                          <a:ea typeface="Arial"/>
                          <a:cs typeface="Arial"/>
                          <a:sym typeface="Arial"/>
                        </a:rPr>
                        <a:t>SCORE</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Embedded C</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Program</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BC%,</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Effectiveness</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3300">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9</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Sen</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et al. </a:t>
                      </a:r>
                      <a:r>
                        <a:rPr lang="en-US" sz="550" u="sng" cap="none" strike="noStrike">
                          <a:solidFill>
                            <a:schemeClr val="hlink"/>
                          </a:solidFill>
                          <a:latin typeface="Arial"/>
                          <a:ea typeface="Arial"/>
                          <a:cs typeface="Arial"/>
                          <a:sym typeface="Arial"/>
                          <a:hlinkClick action="ppaction://hlinksldjump" r:id="rId19"/>
                        </a:rPr>
                        <a:t>[26]</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2727"/>
                        </a:lnSpc>
                        <a:spcBef>
                          <a:spcPts val="0"/>
                        </a:spcBef>
                        <a:spcAft>
                          <a:spcPts val="0"/>
                        </a:spcAft>
                        <a:buNone/>
                      </a:pPr>
                      <a:r>
                        <a:rPr lang="en-US" sz="550" u="none" cap="none" strike="noStrike">
                          <a:latin typeface="Arial"/>
                          <a:ea typeface="Arial"/>
                          <a:cs typeface="Arial"/>
                          <a:sym typeface="Arial"/>
                        </a:rPr>
                        <a:t>Concolic Testing,</a:t>
                      </a:r>
                      <a:endParaRPr sz="550" u="none" cap="none" strike="noStrike">
                        <a:latin typeface="Arial"/>
                        <a:ea typeface="Arial"/>
                        <a:cs typeface="Arial"/>
                        <a:sym typeface="Arial"/>
                      </a:endParaRPr>
                    </a:p>
                    <a:p>
                      <a:pPr indent="0" lvl="0" marL="0" marR="0" rtl="0" algn="ctr">
                        <a:lnSpc>
                          <a:spcPct val="100000"/>
                        </a:lnSpc>
                        <a:spcBef>
                          <a:spcPts val="50"/>
                        </a:spcBef>
                        <a:spcAft>
                          <a:spcPts val="0"/>
                        </a:spcAft>
                        <a:buNone/>
                      </a:pPr>
                      <a:r>
                        <a:rPr lang="en-US" sz="550" u="none" cap="none" strike="noStrike">
                          <a:latin typeface="Arial"/>
                          <a:ea typeface="Arial"/>
                          <a:cs typeface="Arial"/>
                          <a:sym typeface="Arial"/>
                        </a:rPr>
                        <a:t>BC</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67005" marR="0" rtl="0" algn="l">
                        <a:lnSpc>
                          <a:spcPct val="112727"/>
                        </a:lnSpc>
                        <a:spcBef>
                          <a:spcPts val="0"/>
                        </a:spcBef>
                        <a:spcAft>
                          <a:spcPts val="0"/>
                        </a:spcAft>
                        <a:buNone/>
                      </a:pPr>
                      <a:r>
                        <a:rPr lang="en-US" sz="550" u="none" cap="none" strike="noStrike">
                          <a:latin typeface="Arial"/>
                          <a:ea typeface="Arial"/>
                          <a:cs typeface="Arial"/>
                          <a:sym typeface="Arial"/>
                        </a:rPr>
                        <a:t>CUTE,</a:t>
                      </a:r>
                      <a:endParaRPr sz="550" u="none" cap="none" strike="noStrike">
                        <a:latin typeface="Arial"/>
                        <a:ea typeface="Arial"/>
                        <a:cs typeface="Arial"/>
                        <a:sym typeface="Arial"/>
                      </a:endParaRPr>
                    </a:p>
                    <a:p>
                      <a:pPr indent="0" lvl="0" marL="158750" marR="0" rtl="0" algn="l">
                        <a:lnSpc>
                          <a:spcPct val="100000"/>
                        </a:lnSpc>
                        <a:spcBef>
                          <a:spcPts val="50"/>
                        </a:spcBef>
                        <a:spcAft>
                          <a:spcPts val="0"/>
                        </a:spcAft>
                        <a:buNone/>
                      </a:pPr>
                      <a:r>
                        <a:rPr lang="en-US" sz="550" u="none" cap="none" strike="noStrike">
                          <a:latin typeface="Arial"/>
                          <a:ea typeface="Arial"/>
                          <a:cs typeface="Arial"/>
                          <a:sym typeface="Arial"/>
                        </a:rPr>
                        <a:t>JCUTE</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170180" marR="0" rtl="0" algn="l">
                        <a:lnSpc>
                          <a:spcPct val="112727"/>
                        </a:lnSpc>
                        <a:spcBef>
                          <a:spcPts val="0"/>
                        </a:spcBef>
                        <a:spcAft>
                          <a:spcPts val="0"/>
                        </a:spcAft>
                        <a:buNone/>
                      </a:pPr>
                      <a:r>
                        <a:rPr lang="en-US" sz="550" u="none" cap="none" strike="noStrike">
                          <a:latin typeface="Arial"/>
                          <a:ea typeface="Arial"/>
                          <a:cs typeface="Arial"/>
                          <a:sym typeface="Arial"/>
                        </a:rPr>
                        <a:t>C and Java</a:t>
                      </a:r>
                      <a:endParaRPr sz="550" u="none" cap="none" strike="noStrike">
                        <a:latin typeface="Arial"/>
                        <a:ea typeface="Arial"/>
                        <a:cs typeface="Arial"/>
                        <a:sym typeface="Arial"/>
                      </a:endParaRPr>
                    </a:p>
                    <a:p>
                      <a:pPr indent="0" lvl="0" marL="201930" marR="0" rtl="0" algn="l">
                        <a:lnSpc>
                          <a:spcPct val="100000"/>
                        </a:lnSpc>
                        <a:spcBef>
                          <a:spcPts val="50"/>
                        </a:spcBef>
                        <a:spcAft>
                          <a:spcPts val="0"/>
                        </a:spcAft>
                        <a:buNone/>
                      </a:pPr>
                      <a:r>
                        <a:rPr lang="en-US" sz="550" u="none" cap="none" strike="noStrike">
                          <a:latin typeface="Arial"/>
                          <a:ea typeface="Arial"/>
                          <a:cs typeface="Arial"/>
                          <a:sym typeface="Arial"/>
                        </a:rPr>
                        <a:t>Programs</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1755" marR="0" rtl="0" algn="l">
                        <a:lnSpc>
                          <a:spcPct val="112727"/>
                        </a:lnSpc>
                        <a:spcBef>
                          <a:spcPts val="0"/>
                        </a:spcBef>
                        <a:spcAft>
                          <a:spcPts val="0"/>
                        </a:spcAft>
                        <a:buNone/>
                      </a:pPr>
                      <a:r>
                        <a:rPr lang="en-US" sz="550" u="none" cap="none" strike="noStrike">
                          <a:latin typeface="Arial"/>
                          <a:ea typeface="Arial"/>
                          <a:cs typeface="Arial"/>
                          <a:sym typeface="Arial"/>
                        </a:rPr>
                        <a:t>Test Cases,</a:t>
                      </a:r>
                      <a:endParaRPr sz="550" u="none" cap="none" strike="noStrike">
                        <a:latin typeface="Arial"/>
                        <a:ea typeface="Arial"/>
                        <a:cs typeface="Arial"/>
                        <a:sym typeface="Arial"/>
                      </a:endParaRPr>
                    </a:p>
                    <a:p>
                      <a:pPr indent="0" lvl="0" marL="64135" marR="0" rtl="0" algn="l">
                        <a:lnSpc>
                          <a:spcPct val="100000"/>
                        </a:lnSpc>
                        <a:spcBef>
                          <a:spcPts val="50"/>
                        </a:spcBef>
                        <a:spcAft>
                          <a:spcPts val="0"/>
                        </a:spcAft>
                        <a:buNone/>
                      </a:pPr>
                      <a:r>
                        <a:rPr lang="en-US" sz="550" u="none" cap="none" strike="noStrike">
                          <a:latin typeface="Arial"/>
                          <a:ea typeface="Arial"/>
                          <a:cs typeface="Arial"/>
                          <a:sym typeface="Arial"/>
                        </a:rPr>
                        <a:t>BC%, Time</a:t>
                      </a:r>
                      <a:endParaRPr sz="55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075" name="Google Shape;1075;p60"/>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6" name="Google Shape;1076;p60"/>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7" name="Google Shape;1077;p60"/>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8" name="Google Shape;1078;p60"/>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26/35</a:t>
            </a:r>
            <a:endParaRPr/>
          </a:p>
        </p:txBody>
      </p:sp>
      <p:sp>
        <p:nvSpPr>
          <p:cNvPr id="1079" name="Google Shape;1079;p60"/>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1080" name="Google Shape;1080;p60"/>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20"/>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61"/>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1086" name="Google Shape;1086;p61"/>
          <p:cNvSpPr txBox="1"/>
          <p:nvPr/>
        </p:nvSpPr>
        <p:spPr>
          <a:xfrm>
            <a:off x="2303995" y="0"/>
            <a:ext cx="2304415" cy="400685"/>
          </a:xfrm>
          <a:prstGeom prst="rect">
            <a:avLst/>
          </a:prstGeom>
          <a:solidFill>
            <a:srgbClr val="A91717"/>
          </a:solidFill>
          <a:ln>
            <a:noFill/>
          </a:ln>
        </p:spPr>
        <p:txBody>
          <a:bodyPr anchorCtr="0" anchor="t" bIns="0" lIns="0" spcFirstLastPara="1" rIns="0" wrap="square" tIns="64750">
            <a:spAutoFit/>
          </a:bodyPr>
          <a:lstStyle/>
          <a:p>
            <a:pPr indent="0" lvl="0" marL="107950" marR="1200150" rtl="0" algn="l">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6"/>
              </a:rPr>
              <a:t>Concolic Testers </a:t>
            </a:r>
            <a:r>
              <a:rPr b="1" lang="en-US" sz="600" u="sng">
                <a:solidFill>
                  <a:schemeClr val="hlink"/>
                </a:solidFill>
                <a:latin typeface="Arial"/>
                <a:ea typeface="Arial"/>
                <a:cs typeface="Arial"/>
                <a:sym typeface="Arial"/>
                <a:hlinkClick action="ppaction://hlinksldjump" r:id="rId7"/>
              </a:rPr>
              <a:t> Comparison of related works</a:t>
            </a:r>
            <a:endParaRPr sz="600">
              <a:solidFill>
                <a:schemeClr val="dk1"/>
              </a:solidFill>
              <a:latin typeface="Arial"/>
              <a:ea typeface="Arial"/>
              <a:cs typeface="Arial"/>
              <a:sym typeface="Arial"/>
            </a:endParaRPr>
          </a:p>
          <a:p>
            <a:pPr indent="0" lvl="0" marL="107950" marR="0" rtl="0" algn="l">
              <a:lnSpc>
                <a:spcPct val="108333"/>
              </a:lnSpc>
              <a:spcBef>
                <a:spcPts val="0"/>
              </a:spcBef>
              <a:spcAft>
                <a:spcPts val="0"/>
              </a:spcAft>
              <a:buNone/>
            </a:pPr>
            <a:r>
              <a:rPr b="1" lang="en-US" sz="600" u="sng">
                <a:solidFill>
                  <a:schemeClr val="hlink"/>
                </a:solidFill>
                <a:latin typeface="Arial"/>
                <a:ea typeface="Arial"/>
                <a:cs typeface="Arial"/>
                <a:sym typeface="Arial"/>
                <a:hlinkClick action="ppaction://hlinksldjump" r:id="rId8"/>
              </a:rPr>
              <a:t>Characteristics of different approaches</a:t>
            </a:r>
            <a:endParaRPr sz="600">
              <a:solidFill>
                <a:schemeClr val="dk1"/>
              </a:solidFill>
              <a:latin typeface="Arial"/>
              <a:ea typeface="Arial"/>
              <a:cs typeface="Arial"/>
              <a:sym typeface="Arial"/>
            </a:endParaRPr>
          </a:p>
        </p:txBody>
      </p:sp>
      <p:sp>
        <p:nvSpPr>
          <p:cNvPr id="1087" name="Google Shape;1087;p61"/>
          <p:cNvSpPr/>
          <p:nvPr/>
        </p:nvSpPr>
        <p:spPr>
          <a:xfrm>
            <a:off x="0" y="400210"/>
            <a:ext cx="4608004" cy="308729"/>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8" name="Google Shape;1088;p61"/>
          <p:cNvSpPr txBox="1"/>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marR="0" rtl="0" algn="l">
              <a:lnSpc>
                <a:spcPct val="100000"/>
              </a:lnSpc>
              <a:spcBef>
                <a:spcPts val="0"/>
              </a:spcBef>
              <a:spcAft>
                <a:spcPts val="0"/>
              </a:spcAft>
              <a:buNone/>
            </a:pPr>
            <a:r>
              <a:rPr lang="en-US" sz="1400">
                <a:solidFill>
                  <a:srgbClr val="FFFFFF"/>
                </a:solidFill>
                <a:latin typeface="Tahoma"/>
                <a:ea typeface="Tahoma"/>
                <a:cs typeface="Tahoma"/>
                <a:sym typeface="Tahoma"/>
              </a:rPr>
              <a:t>Characteristics of different approaches</a:t>
            </a:r>
            <a:endParaRPr sz="1400">
              <a:solidFill>
                <a:schemeClr val="dk1"/>
              </a:solidFill>
              <a:latin typeface="Tahoma"/>
              <a:ea typeface="Tahoma"/>
              <a:cs typeface="Tahoma"/>
              <a:sym typeface="Tahoma"/>
            </a:endParaRPr>
          </a:p>
        </p:txBody>
      </p:sp>
      <p:sp>
        <p:nvSpPr>
          <p:cNvPr id="1089" name="Google Shape;1089;p61"/>
          <p:cNvSpPr txBox="1"/>
          <p:nvPr/>
        </p:nvSpPr>
        <p:spPr>
          <a:xfrm>
            <a:off x="515366" y="968888"/>
            <a:ext cx="3577590"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rgbClr val="A91717"/>
                </a:solidFill>
                <a:latin typeface="Arial"/>
                <a:ea typeface="Arial"/>
                <a:cs typeface="Arial"/>
                <a:sym typeface="Arial"/>
              </a:rPr>
              <a:t>Table 4: </a:t>
            </a:r>
            <a:r>
              <a:rPr lang="en-US" sz="1000">
                <a:solidFill>
                  <a:schemeClr val="dk1"/>
                </a:solidFill>
                <a:latin typeface="Arial"/>
                <a:ea typeface="Arial"/>
                <a:cs typeface="Arial"/>
                <a:sym typeface="Arial"/>
              </a:rPr>
              <a:t>Characteristics of different approaches on concolic testing.</a:t>
            </a:r>
            <a:endParaRPr sz="1000">
              <a:solidFill>
                <a:schemeClr val="dk1"/>
              </a:solidFill>
              <a:latin typeface="Arial"/>
              <a:ea typeface="Arial"/>
              <a:cs typeface="Arial"/>
              <a:sym typeface="Arial"/>
            </a:endParaRPr>
          </a:p>
        </p:txBody>
      </p:sp>
      <p:graphicFrame>
        <p:nvGraphicFramePr>
          <p:cNvPr id="1090" name="Google Shape;1090;p61"/>
          <p:cNvGraphicFramePr/>
          <p:nvPr/>
        </p:nvGraphicFramePr>
        <p:xfrm>
          <a:off x="502450" y="1254880"/>
          <a:ext cx="3000000" cy="3000000"/>
        </p:xfrm>
        <a:graphic>
          <a:graphicData uri="http://schemas.openxmlformats.org/drawingml/2006/table">
            <a:tbl>
              <a:tblPr bandRow="1" firstRow="1">
                <a:noFill/>
                <a:tableStyleId>{AAC71C73-6B6B-4569-8988-B1D10037DF7B}</a:tableStyleId>
              </a:tblPr>
              <a:tblGrid>
                <a:gridCol w="304175"/>
                <a:gridCol w="828050"/>
                <a:gridCol w="684525"/>
                <a:gridCol w="534025"/>
                <a:gridCol w="758200"/>
                <a:gridCol w="488950"/>
              </a:tblGrid>
              <a:tr h="324000">
                <a:tc>
                  <a:txBody>
                    <a:bodyPr/>
                    <a:lstStyle/>
                    <a:p>
                      <a:pPr indent="0" lvl="0" marL="0" marR="0" rtl="0" algn="ctr">
                        <a:lnSpc>
                          <a:spcPct val="110000"/>
                        </a:lnSpc>
                        <a:spcBef>
                          <a:spcPts val="0"/>
                        </a:spcBef>
                        <a:spcAft>
                          <a:spcPts val="0"/>
                        </a:spcAft>
                        <a:buNone/>
                      </a:pPr>
                      <a:r>
                        <a:rPr b="1" lang="en-US" sz="1000" u="none" cap="none" strike="noStrike">
                          <a:latin typeface="Arial"/>
                          <a:ea typeface="Arial"/>
                          <a:cs typeface="Arial"/>
                          <a:sym typeface="Arial"/>
                        </a:rPr>
                        <a:t>Sl.No</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b="1" lang="en-US" sz="1000" u="none" cap="none" strike="noStrike">
                          <a:latin typeface="Arial"/>
                          <a:ea typeface="Arial"/>
                          <a:cs typeface="Arial"/>
                          <a:sym typeface="Arial"/>
                        </a:rPr>
                        <a:t>Authors</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b="1" lang="en-US" sz="1000" u="none" cap="none" strike="noStrike">
                          <a:latin typeface="Arial"/>
                          <a:ea typeface="Arial"/>
                          <a:cs typeface="Arial"/>
                          <a:sym typeface="Arial"/>
                        </a:rPr>
                        <a:t>Generated Test</a:t>
                      </a:r>
                      <a:endParaRPr sz="1000" u="none" cap="none" strike="noStrike">
                        <a:latin typeface="Arial"/>
                        <a:ea typeface="Arial"/>
                        <a:cs typeface="Arial"/>
                        <a:sym typeface="Arial"/>
                      </a:endParaRPr>
                    </a:p>
                    <a:p>
                      <a:pPr indent="0" lvl="0" marL="0" marR="0" rtl="0" algn="ctr">
                        <a:lnSpc>
                          <a:spcPct val="100000"/>
                        </a:lnSpc>
                        <a:spcBef>
                          <a:spcPts val="55"/>
                        </a:spcBef>
                        <a:spcAft>
                          <a:spcPts val="0"/>
                        </a:spcAft>
                        <a:buNone/>
                      </a:pPr>
                      <a:r>
                        <a:rPr b="1" lang="en-US" sz="1000" u="none" cap="none" strike="noStrike">
                          <a:latin typeface="Arial"/>
                          <a:ea typeface="Arial"/>
                          <a:cs typeface="Arial"/>
                          <a:sym typeface="Arial"/>
                        </a:rPr>
                        <a:t>Cases</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6675" marR="0" rtl="0" algn="l">
                        <a:lnSpc>
                          <a:spcPct val="110000"/>
                        </a:lnSpc>
                        <a:spcBef>
                          <a:spcPts val="0"/>
                        </a:spcBef>
                        <a:spcAft>
                          <a:spcPts val="0"/>
                        </a:spcAft>
                        <a:buNone/>
                      </a:pPr>
                      <a:r>
                        <a:rPr b="1" lang="en-US" sz="1000" u="none" cap="none" strike="noStrike">
                          <a:latin typeface="Arial"/>
                          <a:ea typeface="Arial"/>
                          <a:cs typeface="Arial"/>
                          <a:sym typeface="Arial"/>
                        </a:rPr>
                        <a:t>Measuring</a:t>
                      </a:r>
                      <a:endParaRPr sz="1000" u="none" cap="none" strike="noStrike">
                        <a:latin typeface="Arial"/>
                        <a:ea typeface="Arial"/>
                        <a:cs typeface="Arial"/>
                        <a:sym typeface="Arial"/>
                      </a:endParaRPr>
                    </a:p>
                    <a:p>
                      <a:pPr indent="0" lvl="0" marL="45720" marR="0" rtl="0" algn="l">
                        <a:lnSpc>
                          <a:spcPct val="100000"/>
                        </a:lnSpc>
                        <a:spcBef>
                          <a:spcPts val="55"/>
                        </a:spcBef>
                        <a:spcAft>
                          <a:spcPts val="0"/>
                        </a:spcAft>
                        <a:buNone/>
                      </a:pPr>
                      <a:r>
                        <a:rPr b="1" lang="en-US" sz="1000" u="none" cap="none" strike="noStrike">
                          <a:latin typeface="Arial"/>
                          <a:ea typeface="Arial"/>
                          <a:cs typeface="Arial"/>
                          <a:sym typeface="Arial"/>
                        </a:rPr>
                        <a:t>Coverage%</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b="1" lang="en-US" sz="1000" u="none" cap="none" strike="noStrike">
                          <a:latin typeface="Arial"/>
                          <a:ea typeface="Arial"/>
                          <a:cs typeface="Arial"/>
                          <a:sym typeface="Arial"/>
                        </a:rPr>
                        <a:t>Determined</a:t>
                      </a:r>
                      <a:endParaRPr sz="1000" u="none" cap="none" strike="noStrike">
                        <a:latin typeface="Arial"/>
                        <a:ea typeface="Arial"/>
                        <a:cs typeface="Arial"/>
                        <a:sym typeface="Arial"/>
                      </a:endParaRPr>
                    </a:p>
                    <a:p>
                      <a:pPr indent="0" lvl="0" marL="0" marR="0" rtl="0" algn="ctr">
                        <a:lnSpc>
                          <a:spcPct val="100000"/>
                        </a:lnSpc>
                        <a:spcBef>
                          <a:spcPts val="55"/>
                        </a:spcBef>
                        <a:spcAft>
                          <a:spcPts val="0"/>
                        </a:spcAft>
                        <a:buNone/>
                      </a:pPr>
                      <a:r>
                        <a:rPr b="1" lang="en-US" sz="1000" u="none" cap="none" strike="noStrike">
                          <a:latin typeface="Arial"/>
                          <a:ea typeface="Arial"/>
                          <a:cs typeface="Arial"/>
                          <a:sym typeface="Arial"/>
                        </a:rPr>
                        <a:t>Time Constraints</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b="1" lang="en-US" sz="1000" u="none" cap="none" strike="noStrike">
                          <a:latin typeface="Arial"/>
                          <a:ea typeface="Arial"/>
                          <a:cs typeface="Arial"/>
                          <a:sym typeface="Arial"/>
                        </a:rPr>
                        <a:t>Computed</a:t>
                      </a:r>
                      <a:endParaRPr sz="1000" u="none" cap="none" strike="noStrike">
                        <a:latin typeface="Arial"/>
                        <a:ea typeface="Arial"/>
                        <a:cs typeface="Arial"/>
                        <a:sym typeface="Arial"/>
                      </a:endParaRPr>
                    </a:p>
                    <a:p>
                      <a:pPr indent="0" lvl="0" marL="0" marR="0" rtl="0" algn="ctr">
                        <a:lnSpc>
                          <a:spcPct val="100000"/>
                        </a:lnSpc>
                        <a:spcBef>
                          <a:spcPts val="55"/>
                        </a:spcBef>
                        <a:spcAft>
                          <a:spcPts val="0"/>
                        </a:spcAft>
                        <a:buNone/>
                      </a:pPr>
                      <a:r>
                        <a:rPr b="1" lang="en-US" sz="1000" u="none" cap="none" strike="noStrike">
                          <a:latin typeface="Arial"/>
                          <a:ea typeface="Arial"/>
                          <a:cs typeface="Arial"/>
                          <a:sym typeface="Arial"/>
                        </a:rPr>
                        <a:t>Speed</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64350">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1</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Das et al. </a:t>
                      </a:r>
                      <a:r>
                        <a:rPr lang="en-US" sz="1000" u="sng" cap="none" strike="noStrike">
                          <a:solidFill>
                            <a:schemeClr val="hlink"/>
                          </a:solidFill>
                          <a:latin typeface="Arial"/>
                          <a:ea typeface="Arial"/>
                          <a:cs typeface="Arial"/>
                          <a:sym typeface="Arial"/>
                          <a:hlinkClick action="ppaction://hlinksldjump" r:id="rId10"/>
                        </a:rPr>
                        <a:t>[16]</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Lucida Sans"/>
                          <a:ea typeface="Lucida Sans"/>
                          <a:cs typeface="Lucida Sans"/>
                          <a:sym typeface="Lucida Sans"/>
                        </a:rPr>
                        <a:t>C</a:t>
                      </a:r>
                      <a:endParaRPr sz="1000" u="none" cap="none" strike="noStrike">
                        <a:latin typeface="Lucida Sans"/>
                        <a:ea typeface="Lucida Sans"/>
                        <a:cs typeface="Lucida Sans"/>
                        <a:sym typeface="Lucida Sans"/>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Lucida Sans"/>
                          <a:ea typeface="Lucida Sans"/>
                          <a:cs typeface="Lucida Sans"/>
                          <a:sym typeface="Lucida Sans"/>
                        </a:rPr>
                        <a:t>C</a:t>
                      </a:r>
                      <a:endParaRPr sz="1000" u="none" cap="none" strike="noStrike">
                        <a:latin typeface="Lucida Sans"/>
                        <a:ea typeface="Lucida Sans"/>
                        <a:cs typeface="Lucida Sans"/>
                        <a:sym typeface="Lucida Sans"/>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64350">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2</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Bokil et al. </a:t>
                      </a:r>
                      <a:r>
                        <a:rPr lang="en-US" sz="1000" u="sng" cap="none" strike="noStrike">
                          <a:solidFill>
                            <a:schemeClr val="hlink"/>
                          </a:solidFill>
                          <a:latin typeface="Arial"/>
                          <a:ea typeface="Arial"/>
                          <a:cs typeface="Arial"/>
                          <a:sym typeface="Arial"/>
                          <a:hlinkClick action="ppaction://hlinksldjump" r:id="rId11"/>
                        </a:rPr>
                        <a:t>[24]</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Lucida Sans"/>
                          <a:ea typeface="Lucida Sans"/>
                          <a:cs typeface="Lucida Sans"/>
                          <a:sym typeface="Lucida Sans"/>
                        </a:rPr>
                        <a:t>C</a:t>
                      </a:r>
                      <a:endParaRPr sz="1000" u="none" cap="none" strike="noStrike">
                        <a:latin typeface="Lucida Sans"/>
                        <a:ea typeface="Lucida Sans"/>
                        <a:cs typeface="Lucida Sans"/>
                        <a:sym typeface="Lucida Sans"/>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Lucida Sans"/>
                          <a:ea typeface="Lucida Sans"/>
                          <a:cs typeface="Lucida Sans"/>
                          <a:sym typeface="Lucida Sans"/>
                        </a:rPr>
                        <a:t>C</a:t>
                      </a:r>
                      <a:endParaRPr sz="1000" u="none" cap="none" strike="noStrike">
                        <a:latin typeface="Lucida Sans"/>
                        <a:ea typeface="Lucida Sans"/>
                        <a:cs typeface="Lucida Sans"/>
                        <a:sym typeface="Lucida Sans"/>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64350">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3</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Kim et al. </a:t>
                      </a:r>
                      <a:r>
                        <a:rPr lang="en-US" sz="1000" u="sng" cap="none" strike="noStrike">
                          <a:solidFill>
                            <a:schemeClr val="hlink"/>
                          </a:solidFill>
                          <a:latin typeface="Arial"/>
                          <a:ea typeface="Arial"/>
                          <a:cs typeface="Arial"/>
                          <a:sym typeface="Arial"/>
                          <a:hlinkClick action="ppaction://hlinksldjump" r:id="rId12"/>
                        </a:rPr>
                        <a:t>[20]</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Lucida Sans"/>
                          <a:ea typeface="Lucida Sans"/>
                          <a:cs typeface="Lucida Sans"/>
                          <a:sym typeface="Lucida Sans"/>
                        </a:rPr>
                        <a:t>C</a:t>
                      </a:r>
                      <a:endParaRPr sz="1000" u="none" cap="none" strike="noStrike">
                        <a:latin typeface="Lucida Sans"/>
                        <a:ea typeface="Lucida Sans"/>
                        <a:cs typeface="Lucida Sans"/>
                        <a:sym typeface="Lucida Sans"/>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64350">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4</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Majumdar et al. </a:t>
                      </a:r>
                      <a:r>
                        <a:rPr lang="en-US" sz="1000" u="sng" cap="none" strike="noStrike">
                          <a:solidFill>
                            <a:schemeClr val="hlink"/>
                          </a:solidFill>
                          <a:latin typeface="Arial"/>
                          <a:ea typeface="Arial"/>
                          <a:cs typeface="Arial"/>
                          <a:sym typeface="Arial"/>
                          <a:hlinkClick action="ppaction://hlinksldjump" r:id="rId13"/>
                        </a:rPr>
                        <a:t>[17]</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Lucida Sans"/>
                          <a:ea typeface="Lucida Sans"/>
                          <a:cs typeface="Lucida Sans"/>
                          <a:sym typeface="Lucida Sans"/>
                        </a:rPr>
                        <a:t>C</a:t>
                      </a:r>
                      <a:endParaRPr sz="1000" u="none" cap="none" strike="noStrike">
                        <a:latin typeface="Lucida Sans"/>
                        <a:ea typeface="Lucida Sans"/>
                        <a:cs typeface="Lucida Sans"/>
                        <a:sym typeface="Lucida Sans"/>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64350">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5</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Burnim et al. </a:t>
                      </a:r>
                      <a:r>
                        <a:rPr lang="en-US" sz="1000" u="sng" cap="none" strike="noStrike">
                          <a:solidFill>
                            <a:schemeClr val="hlink"/>
                          </a:solidFill>
                          <a:latin typeface="Arial"/>
                          <a:ea typeface="Arial"/>
                          <a:cs typeface="Arial"/>
                          <a:sym typeface="Arial"/>
                          <a:hlinkClick action="ppaction://hlinksldjump" r:id="rId14"/>
                        </a:rPr>
                        <a:t>[21]</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Lucida Sans"/>
                          <a:ea typeface="Lucida Sans"/>
                          <a:cs typeface="Lucida Sans"/>
                          <a:sym typeface="Lucida Sans"/>
                        </a:rPr>
                        <a:t>C</a:t>
                      </a:r>
                      <a:endParaRPr sz="1000" u="none" cap="none" strike="noStrike">
                        <a:latin typeface="Lucida Sans"/>
                        <a:ea typeface="Lucida Sans"/>
                        <a:cs typeface="Lucida Sans"/>
                        <a:sym typeface="Lucida Sans"/>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64350">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6</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Kim et al. </a:t>
                      </a:r>
                      <a:r>
                        <a:rPr lang="en-US" sz="1000" u="sng" cap="none" strike="noStrike">
                          <a:solidFill>
                            <a:schemeClr val="hlink"/>
                          </a:solidFill>
                          <a:latin typeface="Arial"/>
                          <a:ea typeface="Arial"/>
                          <a:cs typeface="Arial"/>
                          <a:sym typeface="Arial"/>
                          <a:hlinkClick action="ppaction://hlinksldjump" r:id="rId15"/>
                        </a:rPr>
                        <a:t>[23]</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Lucida Sans"/>
                          <a:ea typeface="Lucida Sans"/>
                          <a:cs typeface="Lucida Sans"/>
                          <a:sym typeface="Lucida Sans"/>
                        </a:rPr>
                        <a:t>C</a:t>
                      </a:r>
                      <a:endParaRPr sz="1000" u="none" cap="none" strike="noStrike">
                        <a:latin typeface="Lucida Sans"/>
                        <a:ea typeface="Lucida Sans"/>
                        <a:cs typeface="Lucida Sans"/>
                        <a:sym typeface="Lucida Sans"/>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64350">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7</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Kim et al. </a:t>
                      </a:r>
                      <a:r>
                        <a:rPr lang="en-US" sz="1000" u="sng" cap="none" strike="noStrike">
                          <a:solidFill>
                            <a:schemeClr val="hlink"/>
                          </a:solidFill>
                          <a:latin typeface="Arial"/>
                          <a:ea typeface="Arial"/>
                          <a:cs typeface="Arial"/>
                          <a:sym typeface="Arial"/>
                          <a:hlinkClick action="ppaction://hlinksldjump" r:id="rId16"/>
                        </a:rPr>
                        <a:t>[22]</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Lucida Sans"/>
                          <a:ea typeface="Lucida Sans"/>
                          <a:cs typeface="Lucida Sans"/>
                          <a:sym typeface="Lucida Sans"/>
                        </a:rPr>
                        <a:t>C</a:t>
                      </a:r>
                      <a:endParaRPr sz="1000" u="none" cap="none" strike="noStrike">
                        <a:latin typeface="Lucida Sans"/>
                        <a:ea typeface="Lucida Sans"/>
                        <a:cs typeface="Lucida Sans"/>
                        <a:sym typeface="Lucida Sans"/>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Lucida Sans"/>
                          <a:ea typeface="Lucida Sans"/>
                          <a:cs typeface="Lucida Sans"/>
                          <a:sym typeface="Lucida Sans"/>
                        </a:rPr>
                        <a:t>C</a:t>
                      </a:r>
                      <a:endParaRPr sz="1000" u="none" cap="none" strike="noStrike">
                        <a:latin typeface="Lucida Sans"/>
                        <a:ea typeface="Lucida Sans"/>
                        <a:cs typeface="Lucida Sans"/>
                        <a:sym typeface="Lucida Sans"/>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Lucida Sans"/>
                          <a:ea typeface="Lucida Sans"/>
                          <a:cs typeface="Lucida Sans"/>
                          <a:sym typeface="Lucida Sans"/>
                        </a:rPr>
                        <a:t>C</a:t>
                      </a:r>
                      <a:endParaRPr sz="1000" u="none" cap="none" strike="noStrike">
                        <a:latin typeface="Lucida Sans"/>
                        <a:ea typeface="Lucida Sans"/>
                        <a:cs typeface="Lucida Sans"/>
                        <a:sym typeface="Lucida Sans"/>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64350">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8</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Kim et al. </a:t>
                      </a:r>
                      <a:r>
                        <a:rPr lang="en-US" sz="1000" u="sng" cap="none" strike="noStrike">
                          <a:solidFill>
                            <a:schemeClr val="hlink"/>
                          </a:solidFill>
                          <a:latin typeface="Arial"/>
                          <a:ea typeface="Arial"/>
                          <a:cs typeface="Arial"/>
                          <a:sym typeface="Arial"/>
                          <a:hlinkClick action="ppaction://hlinksldjump" r:id="rId17"/>
                        </a:rPr>
                        <a:t>[19, </a:t>
                      </a:r>
                      <a:r>
                        <a:rPr lang="en-US" sz="1000" u="sng" cap="none" strike="noStrike">
                          <a:solidFill>
                            <a:schemeClr val="hlink"/>
                          </a:solidFill>
                          <a:latin typeface="Arial"/>
                          <a:ea typeface="Arial"/>
                          <a:cs typeface="Arial"/>
                          <a:sym typeface="Arial"/>
                          <a:hlinkClick action="ppaction://hlinksldjump" r:id="rId18"/>
                        </a:rPr>
                        <a:t>25]</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Lucida Sans"/>
                          <a:ea typeface="Lucida Sans"/>
                          <a:cs typeface="Lucida Sans"/>
                          <a:sym typeface="Lucida Sans"/>
                        </a:rPr>
                        <a:t>C</a:t>
                      </a:r>
                      <a:endParaRPr sz="1000" u="none" cap="none" strike="noStrike">
                        <a:latin typeface="Lucida Sans"/>
                        <a:ea typeface="Lucida Sans"/>
                        <a:cs typeface="Lucida Sans"/>
                        <a:sym typeface="Lucida Sans"/>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Lucida Sans"/>
                          <a:ea typeface="Lucida Sans"/>
                          <a:cs typeface="Lucida Sans"/>
                          <a:sym typeface="Lucida Sans"/>
                        </a:rPr>
                        <a:t>C</a:t>
                      </a:r>
                      <a:endParaRPr sz="1000" u="none" cap="none" strike="noStrike">
                        <a:latin typeface="Lucida Sans"/>
                        <a:ea typeface="Lucida Sans"/>
                        <a:cs typeface="Lucida Sans"/>
                        <a:sym typeface="Lucida Sans"/>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Lucida Sans"/>
                          <a:ea typeface="Lucida Sans"/>
                          <a:cs typeface="Lucida Sans"/>
                          <a:sym typeface="Lucida Sans"/>
                        </a:rPr>
                        <a:t>C</a:t>
                      </a:r>
                      <a:endParaRPr sz="1000" u="none" cap="none" strike="noStrike">
                        <a:latin typeface="Lucida Sans"/>
                        <a:ea typeface="Lucida Sans"/>
                        <a:cs typeface="Lucida Sans"/>
                        <a:sym typeface="Lucida Sans"/>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64350">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9</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Sen et al. </a:t>
                      </a:r>
                      <a:r>
                        <a:rPr lang="en-US" sz="1000" u="sng" cap="none" strike="noStrike">
                          <a:solidFill>
                            <a:schemeClr val="hlink"/>
                          </a:solidFill>
                          <a:latin typeface="Arial"/>
                          <a:ea typeface="Arial"/>
                          <a:cs typeface="Arial"/>
                          <a:sym typeface="Arial"/>
                          <a:hlinkClick action="ppaction://hlinksldjump" r:id="rId19"/>
                        </a:rPr>
                        <a:t>[26]</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Lucida Sans"/>
                          <a:ea typeface="Lucida Sans"/>
                          <a:cs typeface="Lucida Sans"/>
                          <a:sym typeface="Lucida Sans"/>
                        </a:rPr>
                        <a:t>C</a:t>
                      </a:r>
                      <a:endParaRPr sz="1000" u="none" cap="none" strike="noStrike">
                        <a:latin typeface="Lucida Sans"/>
                        <a:ea typeface="Lucida Sans"/>
                        <a:cs typeface="Lucida Sans"/>
                        <a:sym typeface="Lucida Sans"/>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Lucida Sans"/>
                          <a:ea typeface="Lucida Sans"/>
                          <a:cs typeface="Lucida Sans"/>
                          <a:sym typeface="Lucida Sans"/>
                        </a:rPr>
                        <a:t>C</a:t>
                      </a:r>
                      <a:endParaRPr sz="1000" u="none" cap="none" strike="noStrike">
                        <a:latin typeface="Lucida Sans"/>
                        <a:ea typeface="Lucida Sans"/>
                        <a:cs typeface="Lucida Sans"/>
                        <a:sym typeface="Lucida Sans"/>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Lucida Sans"/>
                          <a:ea typeface="Lucida Sans"/>
                          <a:cs typeface="Lucida Sans"/>
                          <a:sym typeface="Lucida Sans"/>
                        </a:rPr>
                        <a:t>C</a:t>
                      </a:r>
                      <a:endParaRPr sz="1000" u="none" cap="none" strike="noStrike">
                        <a:latin typeface="Lucida Sans"/>
                        <a:ea typeface="Lucida Sans"/>
                        <a:cs typeface="Lucida Sans"/>
                        <a:sym typeface="Lucida Sans"/>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0000"/>
                        </a:lnSpc>
                        <a:spcBef>
                          <a:spcPts val="0"/>
                        </a:spcBef>
                        <a:spcAft>
                          <a:spcPts val="0"/>
                        </a:spcAft>
                        <a:buNone/>
                      </a:pPr>
                      <a:r>
                        <a:rPr lang="en-US" sz="1000" u="none" cap="none" strike="noStrike">
                          <a:latin typeface="Arial"/>
                          <a:ea typeface="Arial"/>
                          <a:cs typeface="Arial"/>
                          <a:sym typeface="Arial"/>
                        </a:rPr>
                        <a:t>X</a:t>
                      </a:r>
                      <a:endParaRPr sz="10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091" name="Google Shape;1091;p61"/>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2" name="Google Shape;1092;p61"/>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3" name="Google Shape;1093;p61"/>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4" name="Google Shape;1094;p61"/>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27/35</a:t>
            </a:r>
            <a:endParaRPr/>
          </a:p>
        </p:txBody>
      </p:sp>
      <p:sp>
        <p:nvSpPr>
          <p:cNvPr id="1095" name="Google Shape;1095;p61"/>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1096" name="Google Shape;1096;p61"/>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20"/>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62"/>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1102" name="Google Shape;1102;p62"/>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3" name="Google Shape;1103;p62"/>
          <p:cNvSpPr/>
          <p:nvPr/>
        </p:nvSpPr>
        <p:spPr>
          <a:xfrm>
            <a:off x="0" y="400210"/>
            <a:ext cx="4608004" cy="260646"/>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4" name="Google Shape;1104;p62"/>
          <p:cNvSpPr txBox="1"/>
          <p:nvPr>
            <p:ph type="title"/>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rtl="0" algn="l">
              <a:lnSpc>
                <a:spcPct val="100000"/>
              </a:lnSpc>
              <a:spcBef>
                <a:spcPts val="0"/>
              </a:spcBef>
              <a:spcAft>
                <a:spcPts val="0"/>
              </a:spcAft>
              <a:buNone/>
            </a:pPr>
            <a:r>
              <a:rPr b="0" lang="en-US">
                <a:latin typeface="Tahoma"/>
                <a:ea typeface="Tahoma"/>
                <a:cs typeface="Tahoma"/>
                <a:sym typeface="Tahoma"/>
              </a:rPr>
              <a:t>References </a:t>
            </a:r>
            <a:r>
              <a:rPr b="0" lang="en-US">
                <a:latin typeface="Lucida Sans"/>
                <a:ea typeface="Lucida Sans"/>
                <a:cs typeface="Lucida Sans"/>
                <a:sym typeface="Lucida Sans"/>
              </a:rPr>
              <a:t>≫ </a:t>
            </a:r>
            <a:r>
              <a:rPr b="0" lang="en-US">
                <a:latin typeface="Tahoma"/>
                <a:ea typeface="Tahoma"/>
                <a:cs typeface="Tahoma"/>
                <a:sym typeface="Tahoma"/>
              </a:rPr>
              <a:t>I</a:t>
            </a:r>
            <a:endParaRPr/>
          </a:p>
        </p:txBody>
      </p:sp>
      <p:sp>
        <p:nvSpPr>
          <p:cNvPr id="1105" name="Google Shape;1105;p62"/>
          <p:cNvSpPr/>
          <p:nvPr/>
        </p:nvSpPr>
        <p:spPr>
          <a:xfrm>
            <a:off x="0" y="658330"/>
            <a:ext cx="4608004" cy="50609"/>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6" name="Google Shape;1106;p62"/>
          <p:cNvSpPr/>
          <p:nvPr/>
        </p:nvSpPr>
        <p:spPr>
          <a:xfrm>
            <a:off x="465721" y="1125508"/>
            <a:ext cx="114214" cy="11421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7" name="Google Shape;1107;p62"/>
          <p:cNvSpPr txBox="1"/>
          <p:nvPr/>
        </p:nvSpPr>
        <p:spPr>
          <a:xfrm>
            <a:off x="489254" y="1114023"/>
            <a:ext cx="6731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600">
                <a:solidFill>
                  <a:srgbClr val="FFFFFF"/>
                </a:solidFill>
                <a:latin typeface="Arial"/>
                <a:ea typeface="Arial"/>
                <a:cs typeface="Arial"/>
                <a:sym typeface="Arial"/>
              </a:rPr>
              <a:t>1</a:t>
            </a:r>
            <a:endParaRPr sz="600">
              <a:solidFill>
                <a:schemeClr val="dk1"/>
              </a:solidFill>
              <a:latin typeface="Arial"/>
              <a:ea typeface="Arial"/>
              <a:cs typeface="Arial"/>
              <a:sym typeface="Arial"/>
            </a:endParaRPr>
          </a:p>
        </p:txBody>
      </p:sp>
      <p:sp>
        <p:nvSpPr>
          <p:cNvPr id="1108" name="Google Shape;1108;p62"/>
          <p:cNvSpPr txBox="1"/>
          <p:nvPr/>
        </p:nvSpPr>
        <p:spPr>
          <a:xfrm>
            <a:off x="624395" y="1097926"/>
            <a:ext cx="3369945" cy="387350"/>
          </a:xfrm>
          <a:prstGeom prst="rect">
            <a:avLst/>
          </a:prstGeom>
          <a:noFill/>
          <a:ln>
            <a:noFill/>
          </a:ln>
        </p:spPr>
        <p:txBody>
          <a:bodyPr anchorCtr="0" anchor="t" bIns="0" lIns="0" spcFirstLastPara="1" rIns="0" wrap="square" tIns="17125">
            <a:spAutoFit/>
          </a:bodyPr>
          <a:lstStyle/>
          <a:p>
            <a:pPr indent="0" lvl="0" marL="12700" marR="5080" rtl="0" algn="l">
              <a:lnSpc>
                <a:spcPct val="118750"/>
              </a:lnSpc>
              <a:spcBef>
                <a:spcPts val="0"/>
              </a:spcBef>
              <a:spcAft>
                <a:spcPts val="0"/>
              </a:spcAft>
              <a:buNone/>
            </a:pPr>
            <a:r>
              <a:rPr lang="en-US" sz="800">
                <a:solidFill>
                  <a:srgbClr val="A91717"/>
                </a:solidFill>
                <a:latin typeface="Arial"/>
                <a:ea typeface="Arial"/>
                <a:cs typeface="Arial"/>
                <a:sym typeface="Arial"/>
              </a:rPr>
              <a:t>Palacios, M., Garc´ıa-Fanjul, J., Tuya, J. and Spanoudakis, G., 2015.  Coverage-based testing for service level agreements. IEEE Transactions on  Services Computing, 8(2), pages 299-313.</a:t>
            </a:r>
            <a:endParaRPr sz="800">
              <a:solidFill>
                <a:schemeClr val="dk1"/>
              </a:solidFill>
              <a:latin typeface="Arial"/>
              <a:ea typeface="Arial"/>
              <a:cs typeface="Arial"/>
              <a:sym typeface="Arial"/>
            </a:endParaRPr>
          </a:p>
        </p:txBody>
      </p:sp>
      <p:sp>
        <p:nvSpPr>
          <p:cNvPr id="1109" name="Google Shape;1109;p62"/>
          <p:cNvSpPr/>
          <p:nvPr/>
        </p:nvSpPr>
        <p:spPr>
          <a:xfrm>
            <a:off x="465721" y="1607486"/>
            <a:ext cx="114214" cy="11421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0" name="Google Shape;1110;p62"/>
          <p:cNvSpPr txBox="1"/>
          <p:nvPr/>
        </p:nvSpPr>
        <p:spPr>
          <a:xfrm>
            <a:off x="489254" y="1596001"/>
            <a:ext cx="6731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600">
                <a:solidFill>
                  <a:srgbClr val="FFFFFF"/>
                </a:solidFill>
                <a:latin typeface="Arial"/>
                <a:ea typeface="Arial"/>
                <a:cs typeface="Arial"/>
                <a:sym typeface="Arial"/>
              </a:rPr>
              <a:t>2</a:t>
            </a:r>
            <a:endParaRPr sz="600">
              <a:solidFill>
                <a:schemeClr val="dk1"/>
              </a:solidFill>
              <a:latin typeface="Arial"/>
              <a:ea typeface="Arial"/>
              <a:cs typeface="Arial"/>
              <a:sym typeface="Arial"/>
            </a:endParaRPr>
          </a:p>
        </p:txBody>
      </p:sp>
      <p:sp>
        <p:nvSpPr>
          <p:cNvPr id="1111" name="Google Shape;1111;p62"/>
          <p:cNvSpPr txBox="1"/>
          <p:nvPr/>
        </p:nvSpPr>
        <p:spPr>
          <a:xfrm>
            <a:off x="624395" y="1579904"/>
            <a:ext cx="3613150" cy="387350"/>
          </a:xfrm>
          <a:prstGeom prst="rect">
            <a:avLst/>
          </a:prstGeom>
          <a:noFill/>
          <a:ln>
            <a:noFill/>
          </a:ln>
        </p:spPr>
        <p:txBody>
          <a:bodyPr anchorCtr="0" anchor="t" bIns="0" lIns="0" spcFirstLastPara="1" rIns="0" wrap="square" tIns="17125">
            <a:spAutoFit/>
          </a:bodyPr>
          <a:lstStyle/>
          <a:p>
            <a:pPr indent="0" lvl="0" marL="12700" marR="5080" rtl="0" algn="l">
              <a:lnSpc>
                <a:spcPct val="118750"/>
              </a:lnSpc>
              <a:spcBef>
                <a:spcPts val="0"/>
              </a:spcBef>
              <a:spcAft>
                <a:spcPts val="0"/>
              </a:spcAft>
              <a:buNone/>
            </a:pPr>
            <a:r>
              <a:rPr lang="en-US" sz="800">
                <a:solidFill>
                  <a:srgbClr val="A91717"/>
                </a:solidFill>
                <a:latin typeface="Arial"/>
                <a:ea typeface="Arial"/>
                <a:cs typeface="Arial"/>
                <a:sym typeface="Arial"/>
              </a:rPr>
              <a:t>Fraser, G. and Arcuri, A., 2014. A large-scale evaluation of automated unit test  generation using EvoSuite. ACM Transactions on Software Engineering and  Methodology (TOSEM), 24(2), page 8.</a:t>
            </a:r>
            <a:endParaRPr sz="800">
              <a:solidFill>
                <a:schemeClr val="dk1"/>
              </a:solidFill>
              <a:latin typeface="Arial"/>
              <a:ea typeface="Arial"/>
              <a:cs typeface="Arial"/>
              <a:sym typeface="Arial"/>
            </a:endParaRPr>
          </a:p>
        </p:txBody>
      </p:sp>
      <p:sp>
        <p:nvSpPr>
          <p:cNvPr id="1112" name="Google Shape;1112;p62"/>
          <p:cNvSpPr/>
          <p:nvPr/>
        </p:nvSpPr>
        <p:spPr>
          <a:xfrm>
            <a:off x="465721" y="2089464"/>
            <a:ext cx="114214" cy="114214"/>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3" name="Google Shape;1113;p62"/>
          <p:cNvSpPr txBox="1"/>
          <p:nvPr/>
        </p:nvSpPr>
        <p:spPr>
          <a:xfrm>
            <a:off x="489254" y="2077979"/>
            <a:ext cx="6731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600">
                <a:solidFill>
                  <a:srgbClr val="FFFFFF"/>
                </a:solidFill>
                <a:latin typeface="Arial"/>
                <a:ea typeface="Arial"/>
                <a:cs typeface="Arial"/>
                <a:sym typeface="Arial"/>
              </a:rPr>
              <a:t>3</a:t>
            </a:r>
            <a:endParaRPr sz="600">
              <a:solidFill>
                <a:schemeClr val="dk1"/>
              </a:solidFill>
              <a:latin typeface="Arial"/>
              <a:ea typeface="Arial"/>
              <a:cs typeface="Arial"/>
              <a:sym typeface="Arial"/>
            </a:endParaRPr>
          </a:p>
        </p:txBody>
      </p:sp>
      <p:sp>
        <p:nvSpPr>
          <p:cNvPr id="1114" name="Google Shape;1114;p62"/>
          <p:cNvSpPr txBox="1"/>
          <p:nvPr/>
        </p:nvSpPr>
        <p:spPr>
          <a:xfrm>
            <a:off x="624395" y="2061881"/>
            <a:ext cx="3475354" cy="387350"/>
          </a:xfrm>
          <a:prstGeom prst="rect">
            <a:avLst/>
          </a:prstGeom>
          <a:noFill/>
          <a:ln>
            <a:noFill/>
          </a:ln>
        </p:spPr>
        <p:txBody>
          <a:bodyPr anchorCtr="0" anchor="t" bIns="0" lIns="0" spcFirstLastPara="1" rIns="0" wrap="square" tIns="17125">
            <a:spAutoFit/>
          </a:bodyPr>
          <a:lstStyle/>
          <a:p>
            <a:pPr indent="0" lvl="0" marL="12700" marR="5080" rtl="0" algn="l">
              <a:lnSpc>
                <a:spcPct val="118750"/>
              </a:lnSpc>
              <a:spcBef>
                <a:spcPts val="0"/>
              </a:spcBef>
              <a:spcAft>
                <a:spcPts val="0"/>
              </a:spcAft>
              <a:buNone/>
            </a:pPr>
            <a:r>
              <a:rPr lang="en-US" sz="800">
                <a:solidFill>
                  <a:srgbClr val="A91717"/>
                </a:solidFill>
                <a:latin typeface="Arial"/>
                <a:ea typeface="Arial"/>
                <a:cs typeface="Arial"/>
                <a:sym typeface="Arial"/>
              </a:rPr>
              <a:t>Jones, JA. and Harrold, MJ. 2013. Test-suite reduction and prioritization for  modified condition/decision coverage. IEEE Transactions on Software  Engineering. 29(3), pages 195-209.</a:t>
            </a:r>
            <a:endParaRPr sz="800">
              <a:solidFill>
                <a:schemeClr val="dk1"/>
              </a:solidFill>
              <a:latin typeface="Arial"/>
              <a:ea typeface="Arial"/>
              <a:cs typeface="Arial"/>
              <a:sym typeface="Arial"/>
            </a:endParaRPr>
          </a:p>
        </p:txBody>
      </p:sp>
      <p:sp>
        <p:nvSpPr>
          <p:cNvPr id="1115" name="Google Shape;1115;p62"/>
          <p:cNvSpPr/>
          <p:nvPr/>
        </p:nvSpPr>
        <p:spPr>
          <a:xfrm>
            <a:off x="465721" y="2571442"/>
            <a:ext cx="114214" cy="114214"/>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6" name="Google Shape;1116;p62"/>
          <p:cNvSpPr txBox="1"/>
          <p:nvPr/>
        </p:nvSpPr>
        <p:spPr>
          <a:xfrm>
            <a:off x="489254" y="2559956"/>
            <a:ext cx="6731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600">
                <a:solidFill>
                  <a:srgbClr val="FFFFFF"/>
                </a:solidFill>
                <a:latin typeface="Arial"/>
                <a:ea typeface="Arial"/>
                <a:cs typeface="Arial"/>
                <a:sym typeface="Arial"/>
              </a:rPr>
              <a:t>4</a:t>
            </a:r>
            <a:endParaRPr sz="600">
              <a:solidFill>
                <a:schemeClr val="dk1"/>
              </a:solidFill>
              <a:latin typeface="Arial"/>
              <a:ea typeface="Arial"/>
              <a:cs typeface="Arial"/>
              <a:sym typeface="Arial"/>
            </a:endParaRPr>
          </a:p>
        </p:txBody>
      </p:sp>
      <p:sp>
        <p:nvSpPr>
          <p:cNvPr id="1117" name="Google Shape;1117;p62"/>
          <p:cNvSpPr txBox="1"/>
          <p:nvPr/>
        </p:nvSpPr>
        <p:spPr>
          <a:xfrm>
            <a:off x="624395" y="2543859"/>
            <a:ext cx="3610610" cy="387350"/>
          </a:xfrm>
          <a:prstGeom prst="rect">
            <a:avLst/>
          </a:prstGeom>
          <a:noFill/>
          <a:ln>
            <a:noFill/>
          </a:ln>
        </p:spPr>
        <p:txBody>
          <a:bodyPr anchorCtr="0" anchor="t" bIns="0" lIns="0" spcFirstLastPara="1" rIns="0" wrap="square" tIns="17125">
            <a:spAutoFit/>
          </a:bodyPr>
          <a:lstStyle/>
          <a:p>
            <a:pPr indent="0" lvl="0" marL="12700" marR="5080" rtl="0" algn="l">
              <a:lnSpc>
                <a:spcPct val="118750"/>
              </a:lnSpc>
              <a:spcBef>
                <a:spcPts val="0"/>
              </a:spcBef>
              <a:spcAft>
                <a:spcPts val="0"/>
              </a:spcAft>
              <a:buNone/>
            </a:pPr>
            <a:r>
              <a:rPr lang="en-US" sz="800">
                <a:solidFill>
                  <a:srgbClr val="A91717"/>
                </a:solidFill>
                <a:latin typeface="Arial"/>
                <a:ea typeface="Arial"/>
                <a:cs typeface="Arial"/>
                <a:sym typeface="Arial"/>
              </a:rPr>
              <a:t>Baluda, M., Braione, P., Denaro, G. and Pezz`e, M., 2011. Enhancing structural  software coverage by incrementally computing branch executability. Software  Quality Journal, 19(4), pages 725-751.</a:t>
            </a:r>
            <a:endParaRPr sz="800">
              <a:solidFill>
                <a:schemeClr val="dk1"/>
              </a:solidFill>
              <a:latin typeface="Arial"/>
              <a:ea typeface="Arial"/>
              <a:cs typeface="Arial"/>
              <a:sym typeface="Arial"/>
            </a:endParaRPr>
          </a:p>
        </p:txBody>
      </p:sp>
      <p:sp>
        <p:nvSpPr>
          <p:cNvPr id="1118" name="Google Shape;1118;p62"/>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9" name="Google Shape;1119;p62"/>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0" name="Google Shape;1120;p62"/>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1" name="Google Shape;1121;p62"/>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28/35</a:t>
            </a:r>
            <a:endParaRPr/>
          </a:p>
        </p:txBody>
      </p:sp>
      <p:sp>
        <p:nvSpPr>
          <p:cNvPr id="1122" name="Google Shape;1122;p62"/>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1123" name="Google Shape;1123;p62"/>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1"/>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63"/>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1129" name="Google Shape;1129;p63"/>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0" name="Google Shape;1130;p63"/>
          <p:cNvSpPr/>
          <p:nvPr/>
        </p:nvSpPr>
        <p:spPr>
          <a:xfrm>
            <a:off x="0" y="400210"/>
            <a:ext cx="4608004" cy="260646"/>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1" name="Google Shape;1131;p63"/>
          <p:cNvSpPr txBox="1"/>
          <p:nvPr>
            <p:ph type="title"/>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rtl="0" algn="l">
              <a:lnSpc>
                <a:spcPct val="100000"/>
              </a:lnSpc>
              <a:spcBef>
                <a:spcPts val="0"/>
              </a:spcBef>
              <a:spcAft>
                <a:spcPts val="0"/>
              </a:spcAft>
              <a:buNone/>
            </a:pPr>
            <a:r>
              <a:rPr b="0" lang="en-US">
                <a:latin typeface="Tahoma"/>
                <a:ea typeface="Tahoma"/>
                <a:cs typeface="Tahoma"/>
                <a:sym typeface="Tahoma"/>
              </a:rPr>
              <a:t>References </a:t>
            </a:r>
            <a:r>
              <a:rPr b="0" lang="en-US">
                <a:latin typeface="Lucida Sans"/>
                <a:ea typeface="Lucida Sans"/>
                <a:cs typeface="Lucida Sans"/>
                <a:sym typeface="Lucida Sans"/>
              </a:rPr>
              <a:t>≫ </a:t>
            </a:r>
            <a:r>
              <a:rPr b="0" lang="en-US">
                <a:latin typeface="Tahoma"/>
                <a:ea typeface="Tahoma"/>
                <a:cs typeface="Tahoma"/>
                <a:sym typeface="Tahoma"/>
              </a:rPr>
              <a:t>II</a:t>
            </a:r>
            <a:endParaRPr/>
          </a:p>
        </p:txBody>
      </p:sp>
      <p:sp>
        <p:nvSpPr>
          <p:cNvPr id="1132" name="Google Shape;1132;p63"/>
          <p:cNvSpPr/>
          <p:nvPr/>
        </p:nvSpPr>
        <p:spPr>
          <a:xfrm>
            <a:off x="0" y="658330"/>
            <a:ext cx="4608004" cy="50609"/>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3" name="Google Shape;1133;p63"/>
          <p:cNvSpPr/>
          <p:nvPr/>
        </p:nvSpPr>
        <p:spPr>
          <a:xfrm>
            <a:off x="465721" y="901925"/>
            <a:ext cx="114214" cy="11421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4" name="Google Shape;1134;p63"/>
          <p:cNvSpPr txBox="1"/>
          <p:nvPr/>
        </p:nvSpPr>
        <p:spPr>
          <a:xfrm>
            <a:off x="489254" y="890440"/>
            <a:ext cx="6731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600">
                <a:solidFill>
                  <a:srgbClr val="FFFFFF"/>
                </a:solidFill>
                <a:latin typeface="Arial"/>
                <a:ea typeface="Arial"/>
                <a:cs typeface="Arial"/>
                <a:sym typeface="Arial"/>
              </a:rPr>
              <a:t>5</a:t>
            </a:r>
            <a:endParaRPr sz="600">
              <a:solidFill>
                <a:schemeClr val="dk1"/>
              </a:solidFill>
              <a:latin typeface="Arial"/>
              <a:ea typeface="Arial"/>
              <a:cs typeface="Arial"/>
              <a:sym typeface="Arial"/>
            </a:endParaRPr>
          </a:p>
        </p:txBody>
      </p:sp>
      <p:sp>
        <p:nvSpPr>
          <p:cNvPr id="1135" name="Google Shape;1135;p63"/>
          <p:cNvSpPr txBox="1"/>
          <p:nvPr/>
        </p:nvSpPr>
        <p:spPr>
          <a:xfrm>
            <a:off x="624395" y="874343"/>
            <a:ext cx="3629025" cy="508000"/>
          </a:xfrm>
          <a:prstGeom prst="rect">
            <a:avLst/>
          </a:prstGeom>
          <a:noFill/>
          <a:ln>
            <a:noFill/>
          </a:ln>
        </p:spPr>
        <p:txBody>
          <a:bodyPr anchorCtr="0" anchor="t" bIns="0" lIns="0" spcFirstLastPara="1" rIns="0" wrap="square" tIns="17125">
            <a:spAutoFit/>
          </a:bodyPr>
          <a:lstStyle/>
          <a:p>
            <a:pPr indent="0" lvl="0" marL="12700" marR="5080" rtl="0" algn="l">
              <a:lnSpc>
                <a:spcPct val="118750"/>
              </a:lnSpc>
              <a:spcBef>
                <a:spcPts val="0"/>
              </a:spcBef>
              <a:spcAft>
                <a:spcPts val="0"/>
              </a:spcAft>
              <a:buNone/>
            </a:pPr>
            <a:r>
              <a:rPr lang="en-US" sz="800">
                <a:solidFill>
                  <a:srgbClr val="A91717"/>
                </a:solidFill>
                <a:latin typeface="Arial"/>
                <a:ea typeface="Arial"/>
                <a:cs typeface="Arial"/>
                <a:sym typeface="Arial"/>
              </a:rPr>
              <a:t>Jiang B, Tse TH, Grieskamp W, Kicillof N, Cao Y, Li X, Chan WK. 2011.  </a:t>
            </a:r>
            <a:r>
              <a:rPr i="1" lang="en-US" sz="800">
                <a:solidFill>
                  <a:srgbClr val="A91717"/>
                </a:solidFill>
                <a:latin typeface="Lucida Sans"/>
                <a:ea typeface="Lucida Sans"/>
                <a:cs typeface="Lucida Sans"/>
                <a:sym typeface="Lucida Sans"/>
              </a:rPr>
              <a:t>Assuring the model evolution of protocol software specifications by regression  testing process improvement</a:t>
            </a:r>
            <a:r>
              <a:rPr lang="en-US" sz="800">
                <a:solidFill>
                  <a:srgbClr val="A91717"/>
                </a:solidFill>
                <a:latin typeface="Arial"/>
                <a:ea typeface="Arial"/>
                <a:cs typeface="Arial"/>
                <a:sym typeface="Arial"/>
              </a:rPr>
              <a:t>. Software: Practice and Experience. 41(10). pages  1073-1103.</a:t>
            </a:r>
            <a:endParaRPr sz="800">
              <a:solidFill>
                <a:schemeClr val="dk1"/>
              </a:solidFill>
              <a:latin typeface="Arial"/>
              <a:ea typeface="Arial"/>
              <a:cs typeface="Arial"/>
              <a:sym typeface="Arial"/>
            </a:endParaRPr>
          </a:p>
        </p:txBody>
      </p:sp>
      <p:sp>
        <p:nvSpPr>
          <p:cNvPr id="1136" name="Google Shape;1136;p63"/>
          <p:cNvSpPr/>
          <p:nvPr/>
        </p:nvSpPr>
        <p:spPr>
          <a:xfrm>
            <a:off x="465721" y="1476448"/>
            <a:ext cx="114214" cy="114214"/>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7" name="Google Shape;1137;p63"/>
          <p:cNvSpPr txBox="1"/>
          <p:nvPr/>
        </p:nvSpPr>
        <p:spPr>
          <a:xfrm>
            <a:off x="489254" y="1448865"/>
            <a:ext cx="3596640" cy="387350"/>
          </a:xfrm>
          <a:prstGeom prst="rect">
            <a:avLst/>
          </a:prstGeom>
          <a:noFill/>
          <a:ln>
            <a:noFill/>
          </a:ln>
        </p:spPr>
        <p:txBody>
          <a:bodyPr anchorCtr="0" anchor="t" bIns="0" lIns="0" spcFirstLastPara="1" rIns="0" wrap="square" tIns="17125">
            <a:spAutoFit/>
          </a:bodyPr>
          <a:lstStyle/>
          <a:p>
            <a:pPr indent="-135255" lvl="0" marL="147320" marR="5080" rtl="0" algn="l">
              <a:lnSpc>
                <a:spcPct val="105555"/>
              </a:lnSpc>
              <a:spcBef>
                <a:spcPts val="0"/>
              </a:spcBef>
              <a:spcAft>
                <a:spcPts val="0"/>
              </a:spcAft>
              <a:buNone/>
            </a:pPr>
            <a:r>
              <a:rPr b="1" baseline="30000" lang="en-US" sz="900">
                <a:solidFill>
                  <a:srgbClr val="FFFFFF"/>
                </a:solidFill>
                <a:latin typeface="Arial"/>
                <a:ea typeface="Arial"/>
                <a:cs typeface="Arial"/>
                <a:sym typeface="Arial"/>
              </a:rPr>
              <a:t>6 </a:t>
            </a:r>
            <a:r>
              <a:rPr lang="en-US" sz="800">
                <a:solidFill>
                  <a:srgbClr val="A91717"/>
                </a:solidFill>
                <a:latin typeface="Arial"/>
                <a:ea typeface="Arial"/>
                <a:cs typeface="Arial"/>
                <a:sym typeface="Arial"/>
              </a:rPr>
              <a:t>McMinn, P. 2004. Search-based software test data generation: a survey:  Research articles. </a:t>
            </a:r>
            <a:r>
              <a:rPr i="1" lang="en-US" sz="800">
                <a:solidFill>
                  <a:srgbClr val="A91717"/>
                </a:solidFill>
                <a:latin typeface="Lucida Sans"/>
                <a:ea typeface="Lucida Sans"/>
                <a:cs typeface="Lucida Sans"/>
                <a:sym typeface="Lucida Sans"/>
              </a:rPr>
              <a:t>Software Testing, Verification and Reliability, 14(2)</a:t>
            </a:r>
            <a:r>
              <a:rPr lang="en-US" sz="800">
                <a:solidFill>
                  <a:srgbClr val="A91717"/>
                </a:solidFill>
                <a:latin typeface="Arial"/>
                <a:ea typeface="Arial"/>
                <a:cs typeface="Arial"/>
                <a:sym typeface="Arial"/>
              </a:rPr>
              <a:t>, pages  105–156.</a:t>
            </a:r>
            <a:endParaRPr sz="800">
              <a:solidFill>
                <a:schemeClr val="dk1"/>
              </a:solidFill>
              <a:latin typeface="Arial"/>
              <a:ea typeface="Arial"/>
              <a:cs typeface="Arial"/>
              <a:sym typeface="Arial"/>
            </a:endParaRPr>
          </a:p>
        </p:txBody>
      </p:sp>
      <p:sp>
        <p:nvSpPr>
          <p:cNvPr id="1138" name="Google Shape;1138;p63"/>
          <p:cNvSpPr/>
          <p:nvPr/>
        </p:nvSpPr>
        <p:spPr>
          <a:xfrm>
            <a:off x="465721" y="1930765"/>
            <a:ext cx="114214" cy="11421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9" name="Google Shape;1139;p63"/>
          <p:cNvSpPr txBox="1"/>
          <p:nvPr/>
        </p:nvSpPr>
        <p:spPr>
          <a:xfrm>
            <a:off x="489254" y="1919279"/>
            <a:ext cx="6731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600">
                <a:solidFill>
                  <a:srgbClr val="FFFFFF"/>
                </a:solidFill>
                <a:latin typeface="Arial"/>
                <a:ea typeface="Arial"/>
                <a:cs typeface="Arial"/>
                <a:sym typeface="Arial"/>
              </a:rPr>
              <a:t>7</a:t>
            </a:r>
            <a:endParaRPr sz="600">
              <a:solidFill>
                <a:schemeClr val="dk1"/>
              </a:solidFill>
              <a:latin typeface="Arial"/>
              <a:ea typeface="Arial"/>
              <a:cs typeface="Arial"/>
              <a:sym typeface="Arial"/>
            </a:endParaRPr>
          </a:p>
        </p:txBody>
      </p:sp>
      <p:sp>
        <p:nvSpPr>
          <p:cNvPr id="1140" name="Google Shape;1140;p63"/>
          <p:cNvSpPr txBox="1"/>
          <p:nvPr/>
        </p:nvSpPr>
        <p:spPr>
          <a:xfrm>
            <a:off x="624395" y="1903182"/>
            <a:ext cx="3629025" cy="387350"/>
          </a:xfrm>
          <a:prstGeom prst="rect">
            <a:avLst/>
          </a:prstGeom>
          <a:noFill/>
          <a:ln>
            <a:noFill/>
          </a:ln>
        </p:spPr>
        <p:txBody>
          <a:bodyPr anchorCtr="0" anchor="t" bIns="0" lIns="0" spcFirstLastPara="1" rIns="0" wrap="square" tIns="17125">
            <a:spAutoFit/>
          </a:bodyPr>
          <a:lstStyle/>
          <a:p>
            <a:pPr indent="0" lvl="0" marL="12700" marR="5080" rtl="0" algn="just">
              <a:lnSpc>
                <a:spcPct val="118750"/>
              </a:lnSpc>
              <a:spcBef>
                <a:spcPts val="0"/>
              </a:spcBef>
              <a:spcAft>
                <a:spcPts val="0"/>
              </a:spcAft>
              <a:buNone/>
            </a:pPr>
            <a:r>
              <a:rPr lang="en-US" sz="800">
                <a:solidFill>
                  <a:srgbClr val="A91717"/>
                </a:solidFill>
                <a:latin typeface="Arial"/>
                <a:ea typeface="Arial"/>
                <a:cs typeface="Arial"/>
                <a:sym typeface="Arial"/>
              </a:rPr>
              <a:t>Harman M., Hu L., Hierons R., Wegener J., Sthamer H., Baresel A., and Roper  M., 2004. Testability Transformation. </a:t>
            </a:r>
            <a:r>
              <a:rPr i="1" lang="en-US" sz="800">
                <a:solidFill>
                  <a:srgbClr val="A91717"/>
                </a:solidFill>
                <a:latin typeface="Lucida Sans"/>
                <a:ea typeface="Lucida Sans"/>
                <a:cs typeface="Lucida Sans"/>
                <a:sym typeface="Lucida Sans"/>
              </a:rPr>
              <a:t>IEEE TRANSACTIONS ON SOFTWARE  ENGINEERING</a:t>
            </a:r>
            <a:r>
              <a:rPr lang="en-US" sz="800">
                <a:solidFill>
                  <a:srgbClr val="A91717"/>
                </a:solidFill>
                <a:latin typeface="Arial"/>
                <a:ea typeface="Arial"/>
                <a:cs typeface="Arial"/>
                <a:sym typeface="Arial"/>
              </a:rPr>
              <a:t>, 30(1), pages 1-14.</a:t>
            </a:r>
            <a:endParaRPr sz="800">
              <a:solidFill>
                <a:schemeClr val="dk1"/>
              </a:solidFill>
              <a:latin typeface="Arial"/>
              <a:ea typeface="Arial"/>
              <a:cs typeface="Arial"/>
              <a:sym typeface="Arial"/>
            </a:endParaRPr>
          </a:p>
        </p:txBody>
      </p:sp>
      <p:sp>
        <p:nvSpPr>
          <p:cNvPr id="1141" name="Google Shape;1141;p63"/>
          <p:cNvSpPr/>
          <p:nvPr/>
        </p:nvSpPr>
        <p:spPr>
          <a:xfrm>
            <a:off x="465721" y="2410393"/>
            <a:ext cx="114214" cy="11421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2" name="Google Shape;1142;p63"/>
          <p:cNvSpPr txBox="1"/>
          <p:nvPr/>
        </p:nvSpPr>
        <p:spPr>
          <a:xfrm>
            <a:off x="489254" y="2398908"/>
            <a:ext cx="6731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600">
                <a:solidFill>
                  <a:srgbClr val="FFFFFF"/>
                </a:solidFill>
                <a:latin typeface="Arial"/>
                <a:ea typeface="Arial"/>
                <a:cs typeface="Arial"/>
                <a:sym typeface="Arial"/>
              </a:rPr>
              <a:t>8</a:t>
            </a:r>
            <a:endParaRPr sz="600">
              <a:solidFill>
                <a:schemeClr val="dk1"/>
              </a:solidFill>
              <a:latin typeface="Arial"/>
              <a:ea typeface="Arial"/>
              <a:cs typeface="Arial"/>
              <a:sym typeface="Arial"/>
            </a:endParaRPr>
          </a:p>
        </p:txBody>
      </p:sp>
      <p:sp>
        <p:nvSpPr>
          <p:cNvPr id="1143" name="Google Shape;1143;p63"/>
          <p:cNvSpPr txBox="1"/>
          <p:nvPr/>
        </p:nvSpPr>
        <p:spPr>
          <a:xfrm>
            <a:off x="624395" y="2382810"/>
            <a:ext cx="3600450" cy="387350"/>
          </a:xfrm>
          <a:prstGeom prst="rect">
            <a:avLst/>
          </a:prstGeom>
          <a:noFill/>
          <a:ln>
            <a:noFill/>
          </a:ln>
        </p:spPr>
        <p:txBody>
          <a:bodyPr anchorCtr="0" anchor="t" bIns="0" lIns="0" spcFirstLastPara="1" rIns="0" wrap="square" tIns="17125">
            <a:spAutoFit/>
          </a:bodyPr>
          <a:lstStyle/>
          <a:p>
            <a:pPr indent="0" lvl="0" marL="12700" marR="5080" rtl="0" algn="just">
              <a:lnSpc>
                <a:spcPct val="118750"/>
              </a:lnSpc>
              <a:spcBef>
                <a:spcPts val="0"/>
              </a:spcBef>
              <a:spcAft>
                <a:spcPts val="0"/>
              </a:spcAft>
              <a:buNone/>
            </a:pPr>
            <a:r>
              <a:rPr lang="en-US" sz="800">
                <a:solidFill>
                  <a:srgbClr val="A91717"/>
                </a:solidFill>
                <a:latin typeface="Arial"/>
                <a:ea typeface="Arial"/>
                <a:cs typeface="Arial"/>
                <a:sym typeface="Arial"/>
              </a:rPr>
              <a:t>Wegener, J., Baresel, A. and Sthamer, H., 2001. Evolutionary test environment  for automatic structural testing. Information and Software Technology, 43(14),  pages 841-854.</a:t>
            </a:r>
            <a:endParaRPr sz="800">
              <a:solidFill>
                <a:schemeClr val="dk1"/>
              </a:solidFill>
              <a:latin typeface="Arial"/>
              <a:ea typeface="Arial"/>
              <a:cs typeface="Arial"/>
              <a:sym typeface="Arial"/>
            </a:endParaRPr>
          </a:p>
        </p:txBody>
      </p:sp>
      <p:sp>
        <p:nvSpPr>
          <p:cNvPr id="1144" name="Google Shape;1144;p63"/>
          <p:cNvSpPr/>
          <p:nvPr/>
        </p:nvSpPr>
        <p:spPr>
          <a:xfrm>
            <a:off x="465721" y="2884395"/>
            <a:ext cx="114214" cy="114214"/>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5" name="Google Shape;1145;p63"/>
          <p:cNvSpPr txBox="1"/>
          <p:nvPr/>
        </p:nvSpPr>
        <p:spPr>
          <a:xfrm>
            <a:off x="489254" y="2856813"/>
            <a:ext cx="3611245" cy="267335"/>
          </a:xfrm>
          <a:prstGeom prst="rect">
            <a:avLst/>
          </a:prstGeom>
          <a:noFill/>
          <a:ln>
            <a:noFill/>
          </a:ln>
        </p:spPr>
        <p:txBody>
          <a:bodyPr anchorCtr="0" anchor="t" bIns="0" lIns="0" spcFirstLastPara="1" rIns="0" wrap="square" tIns="17125">
            <a:spAutoFit/>
          </a:bodyPr>
          <a:lstStyle/>
          <a:p>
            <a:pPr indent="-135255" lvl="0" marL="147320" marR="5080" rtl="0" algn="l">
              <a:lnSpc>
                <a:spcPct val="105555"/>
              </a:lnSpc>
              <a:spcBef>
                <a:spcPts val="0"/>
              </a:spcBef>
              <a:spcAft>
                <a:spcPts val="0"/>
              </a:spcAft>
              <a:buNone/>
            </a:pPr>
            <a:r>
              <a:rPr b="1" baseline="30000" lang="en-US" sz="900">
                <a:solidFill>
                  <a:srgbClr val="FFFFFF"/>
                </a:solidFill>
                <a:latin typeface="Arial"/>
                <a:ea typeface="Arial"/>
                <a:cs typeface="Arial"/>
                <a:sym typeface="Arial"/>
              </a:rPr>
              <a:t>9 </a:t>
            </a:r>
            <a:r>
              <a:rPr lang="en-US" sz="800">
                <a:solidFill>
                  <a:srgbClr val="A91717"/>
                </a:solidFill>
                <a:latin typeface="Arial"/>
                <a:ea typeface="Arial"/>
                <a:cs typeface="Arial"/>
                <a:sym typeface="Arial"/>
              </a:rPr>
              <a:t>Duran, J.W. and Ntafos, S.C., 1984. An evaluation of random testing. IEEE  transactions on software engineering, (4), pages 438-444.</a:t>
            </a:r>
            <a:endParaRPr sz="800">
              <a:solidFill>
                <a:schemeClr val="dk1"/>
              </a:solidFill>
              <a:latin typeface="Arial"/>
              <a:ea typeface="Arial"/>
              <a:cs typeface="Arial"/>
              <a:sym typeface="Arial"/>
            </a:endParaRPr>
          </a:p>
        </p:txBody>
      </p:sp>
      <p:sp>
        <p:nvSpPr>
          <p:cNvPr id="1146" name="Google Shape;1146;p63"/>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7" name="Google Shape;1147;p63"/>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8" name="Google Shape;1148;p63"/>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9" name="Google Shape;1149;p63"/>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29/35</a:t>
            </a:r>
            <a:endParaRPr/>
          </a:p>
        </p:txBody>
      </p:sp>
      <p:sp>
        <p:nvSpPr>
          <p:cNvPr id="1150" name="Google Shape;1150;p63"/>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1151" name="Google Shape;1151;p63"/>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1"/>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64"/>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1157" name="Google Shape;1157;p64"/>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8" name="Google Shape;1158;p64"/>
          <p:cNvSpPr/>
          <p:nvPr/>
        </p:nvSpPr>
        <p:spPr>
          <a:xfrm>
            <a:off x="0" y="400210"/>
            <a:ext cx="4608004" cy="260646"/>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9" name="Google Shape;1159;p64"/>
          <p:cNvSpPr txBox="1"/>
          <p:nvPr>
            <p:ph type="title"/>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rtl="0" algn="l">
              <a:lnSpc>
                <a:spcPct val="100000"/>
              </a:lnSpc>
              <a:spcBef>
                <a:spcPts val="0"/>
              </a:spcBef>
              <a:spcAft>
                <a:spcPts val="0"/>
              </a:spcAft>
              <a:buNone/>
            </a:pPr>
            <a:r>
              <a:rPr b="0" lang="en-US">
                <a:latin typeface="Tahoma"/>
                <a:ea typeface="Tahoma"/>
                <a:cs typeface="Tahoma"/>
                <a:sym typeface="Tahoma"/>
              </a:rPr>
              <a:t>References </a:t>
            </a:r>
            <a:r>
              <a:rPr b="0" lang="en-US">
                <a:latin typeface="Lucida Sans"/>
                <a:ea typeface="Lucida Sans"/>
                <a:cs typeface="Lucida Sans"/>
                <a:sym typeface="Lucida Sans"/>
              </a:rPr>
              <a:t>≫ </a:t>
            </a:r>
            <a:r>
              <a:rPr b="0" lang="en-US">
                <a:latin typeface="Tahoma"/>
                <a:ea typeface="Tahoma"/>
                <a:cs typeface="Tahoma"/>
                <a:sym typeface="Tahoma"/>
              </a:rPr>
              <a:t>III</a:t>
            </a:r>
            <a:endParaRPr/>
          </a:p>
        </p:txBody>
      </p:sp>
      <p:sp>
        <p:nvSpPr>
          <p:cNvPr id="1160" name="Google Shape;1160;p64"/>
          <p:cNvSpPr/>
          <p:nvPr/>
        </p:nvSpPr>
        <p:spPr>
          <a:xfrm>
            <a:off x="0" y="658330"/>
            <a:ext cx="4608004" cy="50609"/>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1" name="Google Shape;1161;p64"/>
          <p:cNvSpPr/>
          <p:nvPr/>
        </p:nvSpPr>
        <p:spPr>
          <a:xfrm>
            <a:off x="465721" y="836469"/>
            <a:ext cx="114214" cy="11421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2" name="Google Shape;1162;p64"/>
          <p:cNvSpPr/>
          <p:nvPr/>
        </p:nvSpPr>
        <p:spPr>
          <a:xfrm>
            <a:off x="465721" y="1194698"/>
            <a:ext cx="114214" cy="114214"/>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3" name="Google Shape;1163;p64"/>
          <p:cNvSpPr/>
          <p:nvPr/>
        </p:nvSpPr>
        <p:spPr>
          <a:xfrm>
            <a:off x="465721" y="1673120"/>
            <a:ext cx="114214" cy="114214"/>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4" name="Google Shape;1164;p64"/>
          <p:cNvSpPr/>
          <p:nvPr/>
        </p:nvSpPr>
        <p:spPr>
          <a:xfrm>
            <a:off x="465721" y="2151542"/>
            <a:ext cx="114214" cy="114214"/>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5" name="Google Shape;1165;p64"/>
          <p:cNvSpPr/>
          <p:nvPr/>
        </p:nvSpPr>
        <p:spPr>
          <a:xfrm>
            <a:off x="465721" y="2629976"/>
            <a:ext cx="114214" cy="114214"/>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6" name="Google Shape;1166;p64"/>
          <p:cNvSpPr/>
          <p:nvPr/>
        </p:nvSpPr>
        <p:spPr>
          <a:xfrm>
            <a:off x="465721" y="2988205"/>
            <a:ext cx="114214" cy="114214"/>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7" name="Google Shape;1167;p64"/>
          <p:cNvSpPr txBox="1"/>
          <p:nvPr/>
        </p:nvSpPr>
        <p:spPr>
          <a:xfrm>
            <a:off x="404875" y="808887"/>
            <a:ext cx="3892550" cy="2419350"/>
          </a:xfrm>
          <a:prstGeom prst="rect">
            <a:avLst/>
          </a:prstGeom>
          <a:noFill/>
          <a:ln>
            <a:noFill/>
          </a:ln>
        </p:spPr>
        <p:txBody>
          <a:bodyPr anchorCtr="0" anchor="t" bIns="0" lIns="0" spcFirstLastPara="1" rIns="0" wrap="square" tIns="17125">
            <a:spAutoFit/>
          </a:bodyPr>
          <a:lstStyle/>
          <a:p>
            <a:pPr indent="-156210" lvl="0" marL="231775" marR="68580" rtl="0" algn="l">
              <a:lnSpc>
                <a:spcPct val="105555"/>
              </a:lnSpc>
              <a:spcBef>
                <a:spcPts val="0"/>
              </a:spcBef>
              <a:spcAft>
                <a:spcPts val="0"/>
              </a:spcAft>
              <a:buNone/>
            </a:pPr>
            <a:r>
              <a:rPr b="1" baseline="30000" lang="en-US" sz="900">
                <a:solidFill>
                  <a:srgbClr val="FFFFFF"/>
                </a:solidFill>
                <a:latin typeface="Arial"/>
                <a:ea typeface="Arial"/>
                <a:cs typeface="Arial"/>
                <a:sym typeface="Arial"/>
              </a:rPr>
              <a:t>10 </a:t>
            </a:r>
            <a:r>
              <a:rPr lang="en-US" sz="800">
                <a:solidFill>
                  <a:srgbClr val="A91717"/>
                </a:solidFill>
                <a:latin typeface="Arial"/>
                <a:ea typeface="Arial"/>
                <a:cs typeface="Arial"/>
                <a:sym typeface="Arial"/>
              </a:rPr>
              <a:t>Miller, W., and Spooner, DL. 1976. Automatic generation of floating-point test  data. </a:t>
            </a:r>
            <a:r>
              <a:rPr i="1" lang="en-US" sz="800">
                <a:solidFill>
                  <a:srgbClr val="A91717"/>
                </a:solidFill>
                <a:latin typeface="Lucida Sans"/>
                <a:ea typeface="Lucida Sans"/>
                <a:cs typeface="Lucida Sans"/>
                <a:sym typeface="Lucida Sans"/>
              </a:rPr>
              <a:t>IEEE Transactions on Software Engineering</a:t>
            </a:r>
            <a:r>
              <a:rPr lang="en-US" sz="800">
                <a:solidFill>
                  <a:srgbClr val="A91717"/>
                </a:solidFill>
                <a:latin typeface="Arial"/>
                <a:ea typeface="Arial"/>
                <a:cs typeface="Arial"/>
                <a:sym typeface="Arial"/>
              </a:rPr>
              <a:t>, 2(3):223-226,</a:t>
            </a:r>
            <a:endParaRPr sz="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800">
              <a:solidFill>
                <a:schemeClr val="dk1"/>
              </a:solidFill>
              <a:latin typeface="Times New Roman"/>
              <a:ea typeface="Times New Roman"/>
              <a:cs typeface="Times New Roman"/>
              <a:sym typeface="Times New Roman"/>
            </a:endParaRPr>
          </a:p>
          <a:p>
            <a:pPr indent="-156210" lvl="0" marL="231775" marR="440690" rtl="0" algn="l">
              <a:lnSpc>
                <a:spcPct val="105555"/>
              </a:lnSpc>
              <a:spcBef>
                <a:spcPts val="0"/>
              </a:spcBef>
              <a:spcAft>
                <a:spcPts val="0"/>
              </a:spcAft>
              <a:buNone/>
            </a:pPr>
            <a:r>
              <a:rPr b="1" baseline="30000" lang="en-US" sz="900">
                <a:solidFill>
                  <a:srgbClr val="FFFFFF"/>
                </a:solidFill>
                <a:latin typeface="Arial"/>
                <a:ea typeface="Arial"/>
                <a:cs typeface="Arial"/>
                <a:sym typeface="Arial"/>
              </a:rPr>
              <a:t>11 </a:t>
            </a:r>
            <a:r>
              <a:rPr lang="en-US" sz="800">
                <a:solidFill>
                  <a:srgbClr val="A91717"/>
                </a:solidFill>
                <a:latin typeface="Arial"/>
                <a:ea typeface="Arial"/>
                <a:cs typeface="Arial"/>
                <a:sym typeface="Arial"/>
              </a:rPr>
              <a:t>Kuhn, DR. 1999. Fault classes and error detection capability of  specification-based testing. </a:t>
            </a:r>
            <a:r>
              <a:rPr i="1" lang="en-US" sz="800">
                <a:solidFill>
                  <a:srgbClr val="A91717"/>
                </a:solidFill>
                <a:latin typeface="Lucida Sans"/>
                <a:ea typeface="Lucida Sans"/>
                <a:cs typeface="Lucida Sans"/>
                <a:sym typeface="Lucida Sans"/>
              </a:rPr>
              <a:t>ACM Transactions on Software Engineering  Methodology</a:t>
            </a:r>
            <a:r>
              <a:rPr lang="en-US" sz="800">
                <a:solidFill>
                  <a:srgbClr val="A91717"/>
                </a:solidFill>
                <a:latin typeface="Arial"/>
                <a:ea typeface="Arial"/>
                <a:cs typeface="Arial"/>
                <a:sym typeface="Arial"/>
              </a:rPr>
              <a:t>, 8(4), pages 411-424.</a:t>
            </a:r>
            <a:endParaRPr sz="800">
              <a:solidFill>
                <a:schemeClr val="dk1"/>
              </a:solidFill>
              <a:latin typeface="Arial"/>
              <a:ea typeface="Arial"/>
              <a:cs typeface="Arial"/>
              <a:sym typeface="Arial"/>
            </a:endParaRPr>
          </a:p>
          <a:p>
            <a:pPr indent="0" lvl="0" marL="0" marR="0" rtl="0" algn="l">
              <a:lnSpc>
                <a:spcPct val="100000"/>
              </a:lnSpc>
              <a:spcBef>
                <a:spcPts val="55"/>
              </a:spcBef>
              <a:spcAft>
                <a:spcPts val="0"/>
              </a:spcAft>
              <a:buNone/>
            </a:pPr>
            <a:r>
              <a:t/>
            </a:r>
            <a:endParaRPr sz="750">
              <a:solidFill>
                <a:schemeClr val="dk1"/>
              </a:solidFill>
              <a:latin typeface="Times New Roman"/>
              <a:ea typeface="Times New Roman"/>
              <a:cs typeface="Times New Roman"/>
              <a:sym typeface="Times New Roman"/>
            </a:endParaRPr>
          </a:p>
          <a:p>
            <a:pPr indent="-156210" lvl="0" marL="231775" marR="67310" rtl="0" algn="l">
              <a:lnSpc>
                <a:spcPct val="105555"/>
              </a:lnSpc>
              <a:spcBef>
                <a:spcPts val="0"/>
              </a:spcBef>
              <a:spcAft>
                <a:spcPts val="0"/>
              </a:spcAft>
              <a:buNone/>
            </a:pPr>
            <a:r>
              <a:rPr b="1" baseline="30000" lang="en-US" sz="900">
                <a:solidFill>
                  <a:srgbClr val="FFFFFF"/>
                </a:solidFill>
                <a:latin typeface="Arial"/>
                <a:ea typeface="Arial"/>
                <a:cs typeface="Arial"/>
                <a:sym typeface="Arial"/>
              </a:rPr>
              <a:t>12 </a:t>
            </a:r>
            <a:r>
              <a:rPr lang="en-US" sz="800">
                <a:solidFill>
                  <a:srgbClr val="A91717"/>
                </a:solidFill>
                <a:latin typeface="Arial"/>
                <a:ea typeface="Arial"/>
                <a:cs typeface="Arial"/>
                <a:sym typeface="Arial"/>
              </a:rPr>
              <a:t>Ferguson, R. and Korel, B., 1996. The chaining approach for software test data  generation. ACM Transactions on Software Engineering and Methodology  (TOSEM), 5(1), pages. 63-86.</a:t>
            </a:r>
            <a:endParaRPr sz="800">
              <a:solidFill>
                <a:schemeClr val="dk1"/>
              </a:solidFill>
              <a:latin typeface="Arial"/>
              <a:ea typeface="Arial"/>
              <a:cs typeface="Arial"/>
              <a:sym typeface="Arial"/>
            </a:endParaRPr>
          </a:p>
          <a:p>
            <a:pPr indent="0" lvl="0" marL="0" marR="0" rtl="0" algn="l">
              <a:lnSpc>
                <a:spcPct val="100000"/>
              </a:lnSpc>
              <a:spcBef>
                <a:spcPts val="55"/>
              </a:spcBef>
              <a:spcAft>
                <a:spcPts val="0"/>
              </a:spcAft>
              <a:buNone/>
            </a:pPr>
            <a:r>
              <a:t/>
            </a:r>
            <a:endParaRPr sz="750">
              <a:solidFill>
                <a:schemeClr val="dk1"/>
              </a:solidFill>
              <a:latin typeface="Times New Roman"/>
              <a:ea typeface="Times New Roman"/>
              <a:cs typeface="Times New Roman"/>
              <a:sym typeface="Times New Roman"/>
            </a:endParaRPr>
          </a:p>
          <a:p>
            <a:pPr indent="-156210" lvl="0" marL="231775" marR="60960" rtl="0" algn="l">
              <a:lnSpc>
                <a:spcPct val="105555"/>
              </a:lnSpc>
              <a:spcBef>
                <a:spcPts val="0"/>
              </a:spcBef>
              <a:spcAft>
                <a:spcPts val="0"/>
              </a:spcAft>
              <a:buNone/>
            </a:pPr>
            <a:r>
              <a:rPr b="1" baseline="30000" lang="en-US" sz="900">
                <a:solidFill>
                  <a:srgbClr val="FFFFFF"/>
                </a:solidFill>
                <a:latin typeface="Arial"/>
                <a:ea typeface="Arial"/>
                <a:cs typeface="Arial"/>
                <a:sym typeface="Arial"/>
              </a:rPr>
              <a:t>13 </a:t>
            </a:r>
            <a:r>
              <a:rPr lang="en-US" sz="800">
                <a:solidFill>
                  <a:srgbClr val="A91717"/>
                </a:solidFill>
                <a:latin typeface="Arial"/>
                <a:ea typeface="Arial"/>
                <a:cs typeface="Arial"/>
                <a:sym typeface="Arial"/>
              </a:rPr>
              <a:t>DeMillo, R., and Offutt, J., 1993. Experimental results from an Automatic Test  Case Generation. </a:t>
            </a:r>
            <a:r>
              <a:rPr i="1" lang="en-US" sz="800">
                <a:solidFill>
                  <a:srgbClr val="A91717"/>
                </a:solidFill>
                <a:latin typeface="Lucida Sans"/>
                <a:ea typeface="Lucida Sans"/>
                <a:cs typeface="Lucida Sans"/>
                <a:sym typeface="Lucida Sans"/>
              </a:rPr>
              <a:t>ACM Transaction on Software Engineering Methodology</a:t>
            </a:r>
            <a:r>
              <a:rPr lang="en-US" sz="800">
                <a:solidFill>
                  <a:srgbClr val="A91717"/>
                </a:solidFill>
                <a:latin typeface="Arial"/>
                <a:ea typeface="Arial"/>
                <a:cs typeface="Arial"/>
                <a:sym typeface="Arial"/>
              </a:rPr>
              <a:t>,  2(2), pages 109-175.</a:t>
            </a:r>
            <a:endParaRPr sz="800">
              <a:solidFill>
                <a:schemeClr val="dk1"/>
              </a:solidFill>
              <a:latin typeface="Arial"/>
              <a:ea typeface="Arial"/>
              <a:cs typeface="Arial"/>
              <a:sym typeface="Arial"/>
            </a:endParaRPr>
          </a:p>
          <a:p>
            <a:pPr indent="0" lvl="0" marL="0" marR="0" rtl="0" algn="l">
              <a:lnSpc>
                <a:spcPct val="100000"/>
              </a:lnSpc>
              <a:spcBef>
                <a:spcPts val="55"/>
              </a:spcBef>
              <a:spcAft>
                <a:spcPts val="0"/>
              </a:spcAft>
              <a:buNone/>
            </a:pPr>
            <a:r>
              <a:t/>
            </a:r>
            <a:endParaRPr sz="750">
              <a:solidFill>
                <a:schemeClr val="dk1"/>
              </a:solidFill>
              <a:latin typeface="Times New Roman"/>
              <a:ea typeface="Times New Roman"/>
              <a:cs typeface="Times New Roman"/>
              <a:sym typeface="Times New Roman"/>
            </a:endParaRPr>
          </a:p>
          <a:p>
            <a:pPr indent="-156210" lvl="0" marL="231775" marR="184785" rtl="0" algn="l">
              <a:lnSpc>
                <a:spcPct val="105555"/>
              </a:lnSpc>
              <a:spcBef>
                <a:spcPts val="0"/>
              </a:spcBef>
              <a:spcAft>
                <a:spcPts val="0"/>
              </a:spcAft>
              <a:buNone/>
            </a:pPr>
            <a:r>
              <a:rPr b="1" baseline="30000" lang="en-US" sz="900">
                <a:solidFill>
                  <a:srgbClr val="FFFFFF"/>
                </a:solidFill>
                <a:latin typeface="Arial"/>
                <a:ea typeface="Arial"/>
                <a:cs typeface="Arial"/>
                <a:sym typeface="Arial"/>
              </a:rPr>
              <a:t>14 </a:t>
            </a:r>
            <a:r>
              <a:rPr lang="en-US" sz="800">
                <a:solidFill>
                  <a:srgbClr val="A91717"/>
                </a:solidFill>
                <a:latin typeface="Arial"/>
                <a:ea typeface="Arial"/>
                <a:cs typeface="Arial"/>
                <a:sym typeface="Arial"/>
              </a:rPr>
              <a:t>Ntafos, S.C., 1988. A comparison of some structural testing strategies. IEEE  Transactions on software engineering, 14(6), pages 868-874.</a:t>
            </a:r>
            <a:endParaRPr sz="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800">
              <a:solidFill>
                <a:schemeClr val="dk1"/>
              </a:solidFill>
              <a:latin typeface="Times New Roman"/>
              <a:ea typeface="Times New Roman"/>
              <a:cs typeface="Times New Roman"/>
              <a:sym typeface="Times New Roman"/>
            </a:endParaRPr>
          </a:p>
          <a:p>
            <a:pPr indent="-156210" lvl="0" marL="231775" marR="179070" rtl="0" algn="l">
              <a:lnSpc>
                <a:spcPct val="105555"/>
              </a:lnSpc>
              <a:spcBef>
                <a:spcPts val="0"/>
              </a:spcBef>
              <a:spcAft>
                <a:spcPts val="0"/>
              </a:spcAft>
              <a:buNone/>
            </a:pPr>
            <a:r>
              <a:rPr b="1" baseline="30000" lang="en-US" sz="900">
                <a:solidFill>
                  <a:srgbClr val="FFFFFF"/>
                </a:solidFill>
                <a:latin typeface="Arial"/>
                <a:ea typeface="Arial"/>
                <a:cs typeface="Arial"/>
                <a:sym typeface="Arial"/>
              </a:rPr>
              <a:t>15 </a:t>
            </a:r>
            <a:r>
              <a:rPr lang="en-US" sz="800">
                <a:solidFill>
                  <a:srgbClr val="A91717"/>
                </a:solidFill>
                <a:latin typeface="Arial"/>
                <a:ea typeface="Arial"/>
                <a:cs typeface="Arial"/>
                <a:sym typeface="Arial"/>
              </a:rPr>
              <a:t>Chilenski, J., and Miller. S. 1994 Application of Modified Condition/Decision  Coverage to Software Testing. </a:t>
            </a:r>
            <a:r>
              <a:rPr i="1" lang="en-US" sz="800">
                <a:solidFill>
                  <a:srgbClr val="A91717"/>
                </a:solidFill>
                <a:latin typeface="Lucida Sans"/>
                <a:ea typeface="Lucida Sans"/>
                <a:cs typeface="Lucida Sans"/>
                <a:sym typeface="Lucida Sans"/>
              </a:rPr>
              <a:t>Software Engineering Journal</a:t>
            </a:r>
            <a:r>
              <a:rPr lang="en-US" sz="800">
                <a:solidFill>
                  <a:srgbClr val="A91717"/>
                </a:solidFill>
                <a:latin typeface="Arial"/>
                <a:ea typeface="Arial"/>
                <a:cs typeface="Arial"/>
                <a:sym typeface="Arial"/>
              </a:rPr>
              <a:t>, pages 193-200.</a:t>
            </a:r>
            <a:endParaRPr sz="800">
              <a:solidFill>
                <a:schemeClr val="dk1"/>
              </a:solidFill>
              <a:latin typeface="Arial"/>
              <a:ea typeface="Arial"/>
              <a:cs typeface="Arial"/>
              <a:sym typeface="Arial"/>
            </a:endParaRPr>
          </a:p>
        </p:txBody>
      </p:sp>
      <p:sp>
        <p:nvSpPr>
          <p:cNvPr id="1168" name="Google Shape;1168;p64"/>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9" name="Google Shape;1169;p64"/>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0" name="Google Shape;1170;p64"/>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1" name="Google Shape;1171;p64"/>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30/35</a:t>
            </a:r>
            <a:endParaRPr/>
          </a:p>
        </p:txBody>
      </p:sp>
      <p:sp>
        <p:nvSpPr>
          <p:cNvPr id="1172" name="Google Shape;1172;p64"/>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1173" name="Google Shape;1173;p64"/>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0"/>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65"/>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1179" name="Google Shape;1179;p65"/>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0" name="Google Shape;1180;p65"/>
          <p:cNvSpPr/>
          <p:nvPr/>
        </p:nvSpPr>
        <p:spPr>
          <a:xfrm>
            <a:off x="0" y="400210"/>
            <a:ext cx="4608004" cy="260646"/>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1" name="Google Shape;1181;p65"/>
          <p:cNvSpPr txBox="1"/>
          <p:nvPr>
            <p:ph type="title"/>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rtl="0" algn="l">
              <a:lnSpc>
                <a:spcPct val="100000"/>
              </a:lnSpc>
              <a:spcBef>
                <a:spcPts val="0"/>
              </a:spcBef>
              <a:spcAft>
                <a:spcPts val="0"/>
              </a:spcAft>
              <a:buNone/>
            </a:pPr>
            <a:r>
              <a:rPr b="0" lang="en-US">
                <a:latin typeface="Tahoma"/>
                <a:ea typeface="Tahoma"/>
                <a:cs typeface="Tahoma"/>
                <a:sym typeface="Tahoma"/>
              </a:rPr>
              <a:t>References </a:t>
            </a:r>
            <a:r>
              <a:rPr b="0" lang="en-US">
                <a:latin typeface="Lucida Sans"/>
                <a:ea typeface="Lucida Sans"/>
                <a:cs typeface="Lucida Sans"/>
                <a:sym typeface="Lucida Sans"/>
              </a:rPr>
              <a:t>≫ </a:t>
            </a:r>
            <a:r>
              <a:rPr b="0" lang="en-US">
                <a:latin typeface="Tahoma"/>
                <a:ea typeface="Tahoma"/>
                <a:cs typeface="Tahoma"/>
                <a:sym typeface="Tahoma"/>
              </a:rPr>
              <a:t>IV</a:t>
            </a:r>
            <a:endParaRPr/>
          </a:p>
        </p:txBody>
      </p:sp>
      <p:sp>
        <p:nvSpPr>
          <p:cNvPr id="1182" name="Google Shape;1182;p65"/>
          <p:cNvSpPr/>
          <p:nvPr/>
        </p:nvSpPr>
        <p:spPr>
          <a:xfrm>
            <a:off x="0" y="658330"/>
            <a:ext cx="4608004" cy="50609"/>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3" name="Google Shape;1183;p65"/>
          <p:cNvSpPr/>
          <p:nvPr/>
        </p:nvSpPr>
        <p:spPr>
          <a:xfrm>
            <a:off x="465721" y="938793"/>
            <a:ext cx="114214" cy="11421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4" name="Google Shape;1184;p65"/>
          <p:cNvSpPr/>
          <p:nvPr/>
        </p:nvSpPr>
        <p:spPr>
          <a:xfrm>
            <a:off x="465721" y="1298902"/>
            <a:ext cx="114214" cy="114214"/>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5" name="Google Shape;1185;p65"/>
          <p:cNvSpPr/>
          <p:nvPr/>
        </p:nvSpPr>
        <p:spPr>
          <a:xfrm>
            <a:off x="465721" y="1773577"/>
            <a:ext cx="114214" cy="114214"/>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6" name="Google Shape;1186;p65"/>
          <p:cNvSpPr/>
          <p:nvPr/>
        </p:nvSpPr>
        <p:spPr>
          <a:xfrm>
            <a:off x="465721" y="2133685"/>
            <a:ext cx="114214" cy="114214"/>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7" name="Google Shape;1187;p65"/>
          <p:cNvSpPr/>
          <p:nvPr/>
        </p:nvSpPr>
        <p:spPr>
          <a:xfrm>
            <a:off x="465721" y="2708868"/>
            <a:ext cx="114214" cy="114214"/>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8" name="Google Shape;1188;p65"/>
          <p:cNvSpPr txBox="1"/>
          <p:nvPr/>
        </p:nvSpPr>
        <p:spPr>
          <a:xfrm>
            <a:off x="417576" y="911223"/>
            <a:ext cx="3842385" cy="2157730"/>
          </a:xfrm>
          <a:prstGeom prst="rect">
            <a:avLst/>
          </a:prstGeom>
          <a:noFill/>
          <a:ln>
            <a:noFill/>
          </a:ln>
        </p:spPr>
        <p:txBody>
          <a:bodyPr anchorCtr="0" anchor="t" bIns="0" lIns="0" spcFirstLastPara="1" rIns="0" wrap="square" tIns="12050">
            <a:spAutoFit/>
          </a:bodyPr>
          <a:lstStyle/>
          <a:p>
            <a:pPr indent="0" lvl="0" marL="63500" marR="0" rtl="0" algn="l">
              <a:lnSpc>
                <a:spcPct val="106111"/>
              </a:lnSpc>
              <a:spcBef>
                <a:spcPts val="0"/>
              </a:spcBef>
              <a:spcAft>
                <a:spcPts val="0"/>
              </a:spcAft>
              <a:buNone/>
            </a:pPr>
            <a:r>
              <a:rPr b="1" baseline="30000" lang="en-US" sz="900">
                <a:solidFill>
                  <a:srgbClr val="FFFFFF"/>
                </a:solidFill>
                <a:latin typeface="Arial"/>
                <a:ea typeface="Arial"/>
                <a:cs typeface="Arial"/>
                <a:sym typeface="Arial"/>
              </a:rPr>
              <a:t>16 </a:t>
            </a:r>
            <a:r>
              <a:rPr lang="en-US" sz="800">
                <a:solidFill>
                  <a:srgbClr val="A91717"/>
                </a:solidFill>
                <a:latin typeface="Arial"/>
                <a:ea typeface="Arial"/>
                <a:cs typeface="Arial"/>
                <a:sym typeface="Arial"/>
              </a:rPr>
              <a:t>Das A., and Mall R., 2013. Automatic Generation of MC/DC Test Data.</a:t>
            </a:r>
            <a:endParaRPr sz="800">
              <a:solidFill>
                <a:schemeClr val="dk1"/>
              </a:solidFill>
              <a:latin typeface="Arial"/>
              <a:ea typeface="Arial"/>
              <a:cs typeface="Arial"/>
              <a:sym typeface="Arial"/>
            </a:endParaRPr>
          </a:p>
          <a:p>
            <a:pPr indent="0" lvl="0" marL="219075" marR="0" rtl="0" algn="l">
              <a:lnSpc>
                <a:spcPct val="119375"/>
              </a:lnSpc>
              <a:spcBef>
                <a:spcPts val="0"/>
              </a:spcBef>
              <a:spcAft>
                <a:spcPts val="0"/>
              </a:spcAft>
              <a:buNone/>
            </a:pPr>
            <a:r>
              <a:rPr i="1" lang="en-US" sz="800">
                <a:solidFill>
                  <a:srgbClr val="A91717"/>
                </a:solidFill>
                <a:latin typeface="Lucida Sans"/>
                <a:ea typeface="Lucida Sans"/>
                <a:cs typeface="Lucida Sans"/>
                <a:sym typeface="Lucida Sans"/>
              </a:rPr>
              <a:t>International Journal of Software Engineering, Acta Press </a:t>
            </a:r>
            <a:r>
              <a:rPr lang="en-US" sz="800">
                <a:solidFill>
                  <a:srgbClr val="A91717"/>
                </a:solidFill>
                <a:latin typeface="Arial"/>
                <a:ea typeface="Arial"/>
                <a:cs typeface="Arial"/>
                <a:sym typeface="Arial"/>
              </a:rPr>
              <a:t>2(1).</a:t>
            </a:r>
            <a:endParaRPr sz="800">
              <a:solidFill>
                <a:schemeClr val="dk1"/>
              </a:solidFill>
              <a:latin typeface="Arial"/>
              <a:ea typeface="Arial"/>
              <a:cs typeface="Arial"/>
              <a:sym typeface="Arial"/>
            </a:endParaRPr>
          </a:p>
          <a:p>
            <a:pPr indent="0" lvl="0" marL="0" marR="0" rtl="0" algn="l">
              <a:lnSpc>
                <a:spcPct val="100000"/>
              </a:lnSpc>
              <a:spcBef>
                <a:spcPts val="50"/>
              </a:spcBef>
              <a:spcAft>
                <a:spcPts val="0"/>
              </a:spcAft>
              <a:buNone/>
            </a:pPr>
            <a:r>
              <a:t/>
            </a:r>
            <a:endParaRPr sz="800">
              <a:solidFill>
                <a:schemeClr val="dk1"/>
              </a:solidFill>
              <a:latin typeface="Times New Roman"/>
              <a:ea typeface="Times New Roman"/>
              <a:cs typeface="Times New Roman"/>
              <a:sym typeface="Times New Roman"/>
            </a:endParaRPr>
          </a:p>
          <a:p>
            <a:pPr indent="-156210" lvl="0" marL="219075" marR="109220" rtl="0" algn="l">
              <a:lnSpc>
                <a:spcPct val="105555"/>
              </a:lnSpc>
              <a:spcBef>
                <a:spcPts val="0"/>
              </a:spcBef>
              <a:spcAft>
                <a:spcPts val="0"/>
              </a:spcAft>
              <a:buNone/>
            </a:pPr>
            <a:r>
              <a:rPr b="1" baseline="30000" lang="en-US" sz="900">
                <a:solidFill>
                  <a:srgbClr val="FFFFFF"/>
                </a:solidFill>
                <a:latin typeface="Arial"/>
                <a:ea typeface="Arial"/>
                <a:cs typeface="Arial"/>
                <a:sym typeface="Arial"/>
              </a:rPr>
              <a:t>17 </a:t>
            </a:r>
            <a:r>
              <a:rPr lang="en-US" sz="800">
                <a:solidFill>
                  <a:srgbClr val="A91717"/>
                </a:solidFill>
                <a:latin typeface="Arial"/>
                <a:ea typeface="Arial"/>
                <a:cs typeface="Arial"/>
                <a:sym typeface="Arial"/>
              </a:rPr>
              <a:t>Majumder R., and Sen K., 2007. Hybrid Concolic Testing. </a:t>
            </a:r>
            <a:r>
              <a:rPr i="1" lang="en-US" sz="800">
                <a:solidFill>
                  <a:srgbClr val="A91717"/>
                </a:solidFill>
                <a:latin typeface="Lucida Sans"/>
                <a:ea typeface="Lucida Sans"/>
                <a:cs typeface="Lucida Sans"/>
                <a:sym typeface="Lucida Sans"/>
              </a:rPr>
              <a:t>Proceedings of the  29th International Conference on Software Engineering,IEEE Computer  Society,Washington, DC, USA </a:t>
            </a:r>
            <a:r>
              <a:rPr lang="en-US" sz="800">
                <a:solidFill>
                  <a:srgbClr val="A91717"/>
                </a:solidFill>
                <a:latin typeface="Arial"/>
                <a:ea typeface="Arial"/>
                <a:cs typeface="Arial"/>
                <a:sym typeface="Arial"/>
              </a:rPr>
              <a:t>pages 416-426.</a:t>
            </a:r>
            <a:endParaRPr sz="800">
              <a:solidFill>
                <a:schemeClr val="dk1"/>
              </a:solidFill>
              <a:latin typeface="Arial"/>
              <a:ea typeface="Arial"/>
              <a:cs typeface="Arial"/>
              <a:sym typeface="Arial"/>
            </a:endParaRPr>
          </a:p>
          <a:p>
            <a:pPr indent="0" lvl="0" marL="0" marR="0" rtl="0" algn="l">
              <a:lnSpc>
                <a:spcPct val="100000"/>
              </a:lnSpc>
              <a:spcBef>
                <a:spcPts val="25"/>
              </a:spcBef>
              <a:spcAft>
                <a:spcPts val="0"/>
              </a:spcAft>
              <a:buNone/>
            </a:pPr>
            <a:r>
              <a:t/>
            </a:r>
            <a:endParaRPr sz="750">
              <a:solidFill>
                <a:schemeClr val="dk1"/>
              </a:solidFill>
              <a:latin typeface="Times New Roman"/>
              <a:ea typeface="Times New Roman"/>
              <a:cs typeface="Times New Roman"/>
              <a:sym typeface="Times New Roman"/>
            </a:endParaRPr>
          </a:p>
          <a:p>
            <a:pPr indent="-156210" lvl="0" marL="219075" marR="144780" rtl="0" algn="l">
              <a:lnSpc>
                <a:spcPct val="105555"/>
              </a:lnSpc>
              <a:spcBef>
                <a:spcPts val="0"/>
              </a:spcBef>
              <a:spcAft>
                <a:spcPts val="0"/>
              </a:spcAft>
              <a:buNone/>
            </a:pPr>
            <a:r>
              <a:rPr b="1" baseline="30000" lang="en-US" sz="900">
                <a:solidFill>
                  <a:srgbClr val="FFFFFF"/>
                </a:solidFill>
                <a:latin typeface="Arial"/>
                <a:ea typeface="Arial"/>
                <a:cs typeface="Arial"/>
                <a:sym typeface="Arial"/>
              </a:rPr>
              <a:t>18 </a:t>
            </a:r>
            <a:r>
              <a:rPr lang="en-US" sz="800">
                <a:solidFill>
                  <a:srgbClr val="A91717"/>
                </a:solidFill>
                <a:latin typeface="Arial"/>
                <a:ea typeface="Arial"/>
                <a:cs typeface="Arial"/>
                <a:sym typeface="Arial"/>
              </a:rPr>
              <a:t>Hayhurst, KJ., Veerhusen DS., Chilenski, JJ., Rierson, LK. 2001. A Practical  Tutorial on Modified Condition/Decision Coverage, NASA/TM-2001-210876.</a:t>
            </a:r>
            <a:endParaRPr sz="800">
              <a:solidFill>
                <a:schemeClr val="dk1"/>
              </a:solidFill>
              <a:latin typeface="Arial"/>
              <a:ea typeface="Arial"/>
              <a:cs typeface="Arial"/>
              <a:sym typeface="Arial"/>
            </a:endParaRPr>
          </a:p>
          <a:p>
            <a:pPr indent="0" lvl="0" marL="0" marR="0" rtl="0" algn="l">
              <a:lnSpc>
                <a:spcPct val="100000"/>
              </a:lnSpc>
              <a:spcBef>
                <a:spcPts val="15"/>
              </a:spcBef>
              <a:spcAft>
                <a:spcPts val="0"/>
              </a:spcAft>
              <a:buNone/>
            </a:pPr>
            <a:r>
              <a:t/>
            </a:r>
            <a:endParaRPr sz="800">
              <a:solidFill>
                <a:schemeClr val="dk1"/>
              </a:solidFill>
              <a:latin typeface="Times New Roman"/>
              <a:ea typeface="Times New Roman"/>
              <a:cs typeface="Times New Roman"/>
              <a:sym typeface="Times New Roman"/>
            </a:endParaRPr>
          </a:p>
          <a:p>
            <a:pPr indent="-156210" lvl="0" marL="219075" marR="30480" rtl="0" algn="l">
              <a:lnSpc>
                <a:spcPct val="105555"/>
              </a:lnSpc>
              <a:spcBef>
                <a:spcPts val="0"/>
              </a:spcBef>
              <a:spcAft>
                <a:spcPts val="0"/>
              </a:spcAft>
              <a:buNone/>
            </a:pPr>
            <a:r>
              <a:rPr b="1" baseline="30000" lang="en-US" sz="900">
                <a:solidFill>
                  <a:srgbClr val="FFFFFF"/>
                </a:solidFill>
                <a:latin typeface="Arial"/>
                <a:ea typeface="Arial"/>
                <a:cs typeface="Arial"/>
                <a:sym typeface="Arial"/>
              </a:rPr>
              <a:t>19 </a:t>
            </a:r>
            <a:r>
              <a:rPr lang="en-US" sz="800">
                <a:solidFill>
                  <a:srgbClr val="A91717"/>
                </a:solidFill>
                <a:latin typeface="Arial"/>
                <a:ea typeface="Arial"/>
                <a:cs typeface="Arial"/>
                <a:sym typeface="Arial"/>
              </a:rPr>
              <a:t>Kim Y., and Kim M., 2011. SCORE: a scalable concolic testing tool for reliable  embedded software. </a:t>
            </a:r>
            <a:r>
              <a:rPr i="1" lang="en-US" sz="800">
                <a:solidFill>
                  <a:srgbClr val="A91717"/>
                </a:solidFill>
                <a:latin typeface="Lucida Sans"/>
                <a:ea typeface="Lucida Sans"/>
                <a:cs typeface="Lucida Sans"/>
                <a:sym typeface="Lucida Sans"/>
              </a:rPr>
              <a:t>Proceedings of the 19th ACM SIGSOFT symposium and  the 13th European conference on Foundations of software engineering </a:t>
            </a:r>
            <a:r>
              <a:rPr lang="en-US" sz="800">
                <a:solidFill>
                  <a:srgbClr val="A91717"/>
                </a:solidFill>
                <a:latin typeface="Arial"/>
                <a:ea typeface="Arial"/>
                <a:cs typeface="Arial"/>
                <a:sym typeface="Arial"/>
              </a:rPr>
              <a:t>pages  420-423.</a:t>
            </a:r>
            <a:endParaRPr sz="800">
              <a:solidFill>
                <a:schemeClr val="dk1"/>
              </a:solidFill>
              <a:latin typeface="Arial"/>
              <a:ea typeface="Arial"/>
              <a:cs typeface="Arial"/>
              <a:sym typeface="Arial"/>
            </a:endParaRPr>
          </a:p>
          <a:p>
            <a:pPr indent="0" lvl="0" marL="0" marR="0" rtl="0" algn="l">
              <a:lnSpc>
                <a:spcPct val="100000"/>
              </a:lnSpc>
              <a:spcBef>
                <a:spcPts val="40"/>
              </a:spcBef>
              <a:spcAft>
                <a:spcPts val="0"/>
              </a:spcAft>
              <a:buNone/>
            </a:pPr>
            <a:r>
              <a:t/>
            </a:r>
            <a:endParaRPr sz="600">
              <a:solidFill>
                <a:schemeClr val="dk1"/>
              </a:solidFill>
              <a:latin typeface="Times New Roman"/>
              <a:ea typeface="Times New Roman"/>
              <a:cs typeface="Times New Roman"/>
              <a:sym typeface="Times New Roman"/>
            </a:endParaRPr>
          </a:p>
          <a:p>
            <a:pPr indent="-156210" lvl="0" marL="219075" marR="45720" rtl="0" algn="l">
              <a:lnSpc>
                <a:spcPct val="105555"/>
              </a:lnSpc>
              <a:spcBef>
                <a:spcPts val="0"/>
              </a:spcBef>
              <a:spcAft>
                <a:spcPts val="0"/>
              </a:spcAft>
              <a:buNone/>
            </a:pPr>
            <a:r>
              <a:rPr b="1" baseline="30000" lang="en-US" sz="900">
                <a:solidFill>
                  <a:srgbClr val="FFFFFF"/>
                </a:solidFill>
                <a:latin typeface="Arial"/>
                <a:ea typeface="Arial"/>
                <a:cs typeface="Arial"/>
                <a:sym typeface="Arial"/>
              </a:rPr>
              <a:t>20 </a:t>
            </a:r>
            <a:r>
              <a:rPr lang="en-US" sz="800">
                <a:solidFill>
                  <a:srgbClr val="A91717"/>
                </a:solidFill>
                <a:latin typeface="Arial"/>
                <a:ea typeface="Arial"/>
                <a:cs typeface="Arial"/>
                <a:sym typeface="Arial"/>
              </a:rPr>
              <a:t>Kim, M., Kim, Y. and Choi, Y., 2012. Concolic testing of the multi-sector read  operation for flash storage platform software. Formal Aspects of Computing,  24(3), pages 355-374.</a:t>
            </a:r>
            <a:endParaRPr sz="800">
              <a:solidFill>
                <a:schemeClr val="dk1"/>
              </a:solidFill>
              <a:latin typeface="Arial"/>
              <a:ea typeface="Arial"/>
              <a:cs typeface="Arial"/>
              <a:sym typeface="Arial"/>
            </a:endParaRPr>
          </a:p>
        </p:txBody>
      </p:sp>
      <p:sp>
        <p:nvSpPr>
          <p:cNvPr id="1189" name="Google Shape;1189;p65"/>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0" name="Google Shape;1190;p65"/>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1" name="Google Shape;1191;p65"/>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2" name="Google Shape;1192;p65"/>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31/35</a:t>
            </a:r>
            <a:endParaRPr/>
          </a:p>
        </p:txBody>
      </p:sp>
      <p:sp>
        <p:nvSpPr>
          <p:cNvPr id="1193" name="Google Shape;1193;p65"/>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1194" name="Google Shape;1194;p65"/>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11"/>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66"/>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1200" name="Google Shape;1200;p66"/>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1" name="Google Shape;1201;p66"/>
          <p:cNvSpPr/>
          <p:nvPr/>
        </p:nvSpPr>
        <p:spPr>
          <a:xfrm>
            <a:off x="0" y="400210"/>
            <a:ext cx="4608004" cy="260646"/>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2" name="Google Shape;1202;p66"/>
          <p:cNvSpPr txBox="1"/>
          <p:nvPr>
            <p:ph type="title"/>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rtl="0" algn="l">
              <a:lnSpc>
                <a:spcPct val="100000"/>
              </a:lnSpc>
              <a:spcBef>
                <a:spcPts val="0"/>
              </a:spcBef>
              <a:spcAft>
                <a:spcPts val="0"/>
              </a:spcAft>
              <a:buNone/>
            </a:pPr>
            <a:r>
              <a:rPr b="0" lang="en-US">
                <a:latin typeface="Tahoma"/>
                <a:ea typeface="Tahoma"/>
                <a:cs typeface="Tahoma"/>
                <a:sym typeface="Tahoma"/>
              </a:rPr>
              <a:t>References </a:t>
            </a:r>
            <a:r>
              <a:rPr b="0" lang="en-US">
                <a:latin typeface="Lucida Sans"/>
                <a:ea typeface="Lucida Sans"/>
                <a:cs typeface="Lucida Sans"/>
                <a:sym typeface="Lucida Sans"/>
              </a:rPr>
              <a:t>≫ </a:t>
            </a:r>
            <a:r>
              <a:rPr b="0" lang="en-US">
                <a:latin typeface="Tahoma"/>
                <a:ea typeface="Tahoma"/>
                <a:cs typeface="Tahoma"/>
                <a:sym typeface="Tahoma"/>
              </a:rPr>
              <a:t>V</a:t>
            </a:r>
            <a:endParaRPr/>
          </a:p>
        </p:txBody>
      </p:sp>
      <p:sp>
        <p:nvSpPr>
          <p:cNvPr id="1203" name="Google Shape;1203;p66"/>
          <p:cNvSpPr/>
          <p:nvPr/>
        </p:nvSpPr>
        <p:spPr>
          <a:xfrm>
            <a:off x="0" y="658330"/>
            <a:ext cx="4608004" cy="50609"/>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4" name="Google Shape;1204;p66"/>
          <p:cNvSpPr/>
          <p:nvPr/>
        </p:nvSpPr>
        <p:spPr>
          <a:xfrm>
            <a:off x="465721" y="1044800"/>
            <a:ext cx="114214" cy="11421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5" name="Google Shape;1205;p66"/>
          <p:cNvSpPr/>
          <p:nvPr/>
        </p:nvSpPr>
        <p:spPr>
          <a:xfrm>
            <a:off x="465721" y="1401225"/>
            <a:ext cx="114214" cy="11421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6" name="Google Shape;1206;p66"/>
          <p:cNvSpPr/>
          <p:nvPr/>
        </p:nvSpPr>
        <p:spPr>
          <a:xfrm>
            <a:off x="465721" y="1978352"/>
            <a:ext cx="114214" cy="11421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7" name="Google Shape;1207;p66"/>
          <p:cNvSpPr/>
          <p:nvPr/>
        </p:nvSpPr>
        <p:spPr>
          <a:xfrm>
            <a:off x="465721" y="2555490"/>
            <a:ext cx="114214" cy="11421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8" name="Google Shape;1208;p66"/>
          <p:cNvSpPr txBox="1"/>
          <p:nvPr/>
        </p:nvSpPr>
        <p:spPr>
          <a:xfrm>
            <a:off x="430276" y="1017230"/>
            <a:ext cx="3869054" cy="1898014"/>
          </a:xfrm>
          <a:prstGeom prst="rect">
            <a:avLst/>
          </a:prstGeom>
          <a:noFill/>
          <a:ln>
            <a:noFill/>
          </a:ln>
        </p:spPr>
        <p:txBody>
          <a:bodyPr anchorCtr="0" anchor="t" bIns="0" lIns="0" spcFirstLastPara="1" rIns="0" wrap="square" tIns="17125">
            <a:spAutoFit/>
          </a:bodyPr>
          <a:lstStyle/>
          <a:p>
            <a:pPr indent="-156210" lvl="0" marL="206375" marR="43180" rtl="0" algn="l">
              <a:lnSpc>
                <a:spcPct val="105555"/>
              </a:lnSpc>
              <a:spcBef>
                <a:spcPts val="0"/>
              </a:spcBef>
              <a:spcAft>
                <a:spcPts val="0"/>
              </a:spcAft>
              <a:buNone/>
            </a:pPr>
            <a:r>
              <a:rPr b="1" baseline="30000" lang="en-US" sz="900">
                <a:solidFill>
                  <a:srgbClr val="FFFFFF"/>
                </a:solidFill>
                <a:latin typeface="Arial"/>
                <a:ea typeface="Arial"/>
                <a:cs typeface="Arial"/>
                <a:sym typeface="Arial"/>
              </a:rPr>
              <a:t>21 </a:t>
            </a:r>
            <a:r>
              <a:rPr lang="en-US" sz="800">
                <a:solidFill>
                  <a:srgbClr val="A91717"/>
                </a:solidFill>
                <a:latin typeface="Arial"/>
                <a:ea typeface="Arial"/>
                <a:cs typeface="Arial"/>
                <a:sym typeface="Arial"/>
              </a:rPr>
              <a:t>Burnim J., and Sen K., 2008. Heuristics for scalable dynamic test generation. </a:t>
            </a:r>
            <a:r>
              <a:rPr i="1" lang="en-US" sz="800">
                <a:solidFill>
                  <a:srgbClr val="A91717"/>
                </a:solidFill>
                <a:latin typeface="Lucida Sans"/>
                <a:ea typeface="Lucida Sans"/>
                <a:cs typeface="Lucida Sans"/>
                <a:sym typeface="Lucida Sans"/>
              </a:rPr>
              <a:t>In  Proc. ASE</a:t>
            </a:r>
            <a:r>
              <a:rPr lang="en-US" sz="800">
                <a:solidFill>
                  <a:srgbClr val="A91717"/>
                </a:solidFill>
                <a:latin typeface="Arial"/>
                <a:ea typeface="Arial"/>
                <a:cs typeface="Arial"/>
                <a:sym typeface="Arial"/>
              </a:rPr>
              <a:t>, pages 443-446, Washington, D.C., USA.</a:t>
            </a:r>
            <a:endParaRPr sz="800">
              <a:solidFill>
                <a:schemeClr val="dk1"/>
              </a:solidFill>
              <a:latin typeface="Arial"/>
              <a:ea typeface="Arial"/>
              <a:cs typeface="Arial"/>
              <a:sym typeface="Arial"/>
            </a:endParaRPr>
          </a:p>
          <a:p>
            <a:pPr indent="0" lvl="0" marL="0" marR="0" rtl="0" algn="l">
              <a:lnSpc>
                <a:spcPct val="100000"/>
              </a:lnSpc>
              <a:spcBef>
                <a:spcPts val="45"/>
              </a:spcBef>
              <a:spcAft>
                <a:spcPts val="0"/>
              </a:spcAft>
              <a:buNone/>
            </a:pPr>
            <a:r>
              <a:t/>
            </a:r>
            <a:endParaRPr sz="750">
              <a:solidFill>
                <a:schemeClr val="dk1"/>
              </a:solidFill>
              <a:latin typeface="Times New Roman"/>
              <a:ea typeface="Times New Roman"/>
              <a:cs typeface="Times New Roman"/>
              <a:sym typeface="Times New Roman"/>
            </a:endParaRPr>
          </a:p>
          <a:p>
            <a:pPr indent="-156210" lvl="0" marL="206375" marR="56514" rtl="0" algn="l">
              <a:lnSpc>
                <a:spcPct val="105555"/>
              </a:lnSpc>
              <a:spcBef>
                <a:spcPts val="0"/>
              </a:spcBef>
              <a:spcAft>
                <a:spcPts val="0"/>
              </a:spcAft>
              <a:buNone/>
            </a:pPr>
            <a:r>
              <a:rPr b="1" baseline="30000" lang="en-US" sz="900">
                <a:solidFill>
                  <a:srgbClr val="FFFFFF"/>
                </a:solidFill>
                <a:latin typeface="Arial"/>
                <a:ea typeface="Arial"/>
                <a:cs typeface="Arial"/>
                <a:sym typeface="Arial"/>
              </a:rPr>
              <a:t>22 </a:t>
            </a:r>
            <a:r>
              <a:rPr lang="en-US" sz="800">
                <a:solidFill>
                  <a:srgbClr val="A91717"/>
                </a:solidFill>
                <a:latin typeface="Arial"/>
                <a:ea typeface="Arial"/>
                <a:cs typeface="Arial"/>
                <a:sym typeface="Arial"/>
              </a:rPr>
              <a:t>Kim Y., Kim Y., Kim T., Lee G., Jang Y., and Kim M., 2013. Automated unit  testing of large industrial embedded software using concolic testing. </a:t>
            </a:r>
            <a:r>
              <a:rPr i="1" lang="en-US" sz="800">
                <a:solidFill>
                  <a:srgbClr val="A91717"/>
                </a:solidFill>
                <a:latin typeface="Lucida Sans"/>
                <a:ea typeface="Lucida Sans"/>
                <a:cs typeface="Lucida Sans"/>
                <a:sym typeface="Lucida Sans"/>
              </a:rPr>
              <a:t>IEEE/ACM  28th International Conference on Automated Software Engineering (ASE) </a:t>
            </a:r>
            <a:r>
              <a:rPr lang="en-US" sz="800">
                <a:solidFill>
                  <a:srgbClr val="A91717"/>
                </a:solidFill>
                <a:latin typeface="Arial"/>
                <a:ea typeface="Arial"/>
                <a:cs typeface="Arial"/>
                <a:sym typeface="Arial"/>
              </a:rPr>
              <a:t>pages  519-528.</a:t>
            </a:r>
            <a:endParaRPr sz="800">
              <a:solidFill>
                <a:schemeClr val="dk1"/>
              </a:solidFill>
              <a:latin typeface="Arial"/>
              <a:ea typeface="Arial"/>
              <a:cs typeface="Arial"/>
              <a:sym typeface="Arial"/>
            </a:endParaRPr>
          </a:p>
          <a:p>
            <a:pPr indent="0" lvl="0" marL="0" marR="0" rtl="0" algn="l">
              <a:lnSpc>
                <a:spcPct val="100000"/>
              </a:lnSpc>
              <a:spcBef>
                <a:spcPts val="55"/>
              </a:spcBef>
              <a:spcAft>
                <a:spcPts val="0"/>
              </a:spcAft>
              <a:buNone/>
            </a:pPr>
            <a:r>
              <a:t/>
            </a:r>
            <a:endParaRPr sz="600">
              <a:solidFill>
                <a:schemeClr val="dk1"/>
              </a:solidFill>
              <a:latin typeface="Times New Roman"/>
              <a:ea typeface="Times New Roman"/>
              <a:cs typeface="Times New Roman"/>
              <a:sym typeface="Times New Roman"/>
            </a:endParaRPr>
          </a:p>
          <a:p>
            <a:pPr indent="-156210" lvl="0" marL="206375" marR="299720" rtl="0" algn="l">
              <a:lnSpc>
                <a:spcPct val="105555"/>
              </a:lnSpc>
              <a:spcBef>
                <a:spcPts val="0"/>
              </a:spcBef>
              <a:spcAft>
                <a:spcPts val="0"/>
              </a:spcAft>
              <a:buNone/>
            </a:pPr>
            <a:r>
              <a:rPr b="1" baseline="30000" lang="en-US" sz="900">
                <a:solidFill>
                  <a:srgbClr val="FFFFFF"/>
                </a:solidFill>
                <a:latin typeface="Arial"/>
                <a:ea typeface="Arial"/>
                <a:cs typeface="Arial"/>
                <a:sym typeface="Arial"/>
              </a:rPr>
              <a:t>23 </a:t>
            </a:r>
            <a:r>
              <a:rPr lang="en-US" sz="800">
                <a:solidFill>
                  <a:srgbClr val="A91717"/>
                </a:solidFill>
                <a:latin typeface="Arial"/>
                <a:ea typeface="Arial"/>
                <a:cs typeface="Arial"/>
                <a:sym typeface="Arial"/>
              </a:rPr>
              <a:t>Kim M., and Kim Y.,and Jang Y., 2012. Industrial application of concolic  testing on embedded software: Case studies. </a:t>
            </a:r>
            <a:r>
              <a:rPr i="1" lang="en-US" sz="800">
                <a:solidFill>
                  <a:srgbClr val="A91717"/>
                </a:solidFill>
                <a:latin typeface="Lucida Sans"/>
                <a:ea typeface="Lucida Sans"/>
                <a:cs typeface="Lucida Sans"/>
                <a:sym typeface="Lucida Sans"/>
              </a:rPr>
              <a:t>IEEE Fifth International  Conference on Software Testing, Verification and Validation (ICST)</a:t>
            </a:r>
            <a:r>
              <a:rPr lang="en-US" sz="800">
                <a:solidFill>
                  <a:srgbClr val="A91717"/>
                </a:solidFill>
                <a:latin typeface="Arial"/>
                <a:ea typeface="Arial"/>
                <a:cs typeface="Arial"/>
                <a:sym typeface="Arial"/>
              </a:rPr>
              <a:t>, pages  390-399.</a:t>
            </a:r>
            <a:endParaRPr sz="800">
              <a:solidFill>
                <a:schemeClr val="dk1"/>
              </a:solidFill>
              <a:latin typeface="Arial"/>
              <a:ea typeface="Arial"/>
              <a:cs typeface="Arial"/>
              <a:sym typeface="Arial"/>
            </a:endParaRPr>
          </a:p>
          <a:p>
            <a:pPr indent="0" lvl="0" marL="0" marR="0" rtl="0" algn="l">
              <a:lnSpc>
                <a:spcPct val="100000"/>
              </a:lnSpc>
              <a:spcBef>
                <a:spcPts val="50"/>
              </a:spcBef>
              <a:spcAft>
                <a:spcPts val="0"/>
              </a:spcAft>
              <a:buNone/>
            </a:pPr>
            <a:r>
              <a:t/>
            </a:r>
            <a:endParaRPr sz="600">
              <a:solidFill>
                <a:schemeClr val="dk1"/>
              </a:solidFill>
              <a:latin typeface="Times New Roman"/>
              <a:ea typeface="Times New Roman"/>
              <a:cs typeface="Times New Roman"/>
              <a:sym typeface="Times New Roman"/>
            </a:endParaRPr>
          </a:p>
          <a:p>
            <a:pPr indent="-156210" lvl="0" marL="206375" marR="48260" rtl="0" algn="l">
              <a:lnSpc>
                <a:spcPct val="105555"/>
              </a:lnSpc>
              <a:spcBef>
                <a:spcPts val="5"/>
              </a:spcBef>
              <a:spcAft>
                <a:spcPts val="0"/>
              </a:spcAft>
              <a:buNone/>
            </a:pPr>
            <a:r>
              <a:rPr b="1" baseline="30000" lang="en-US" sz="900">
                <a:solidFill>
                  <a:srgbClr val="FFFFFF"/>
                </a:solidFill>
                <a:latin typeface="Arial"/>
                <a:ea typeface="Arial"/>
                <a:cs typeface="Arial"/>
                <a:sym typeface="Arial"/>
              </a:rPr>
              <a:t>24 </a:t>
            </a:r>
            <a:r>
              <a:rPr lang="en-US" sz="800">
                <a:solidFill>
                  <a:srgbClr val="A91717"/>
                </a:solidFill>
                <a:latin typeface="Arial"/>
                <a:ea typeface="Arial"/>
                <a:cs typeface="Arial"/>
                <a:sym typeface="Arial"/>
              </a:rPr>
              <a:t>Bokil, P., Darke, P., Shrotri, U., and Venkatesh, R., 2009. Automatic Test Data  Generation for C Programs. </a:t>
            </a:r>
            <a:r>
              <a:rPr i="1" lang="en-US" sz="800">
                <a:solidFill>
                  <a:srgbClr val="A91717"/>
                </a:solidFill>
                <a:latin typeface="Lucida Sans"/>
                <a:ea typeface="Lucida Sans"/>
                <a:cs typeface="Lucida Sans"/>
                <a:sym typeface="Lucida Sans"/>
              </a:rPr>
              <a:t>In proceedings 3rd IEEE International Conference  on Secure Software Integration and Reliability Improvement</a:t>
            </a:r>
            <a:r>
              <a:rPr lang="en-US" sz="800">
                <a:solidFill>
                  <a:srgbClr val="A91717"/>
                </a:solidFill>
                <a:latin typeface="Arial"/>
                <a:ea typeface="Arial"/>
                <a:cs typeface="Arial"/>
                <a:sym typeface="Arial"/>
              </a:rPr>
              <a:t>.</a:t>
            </a:r>
            <a:endParaRPr sz="800">
              <a:solidFill>
                <a:schemeClr val="dk1"/>
              </a:solidFill>
              <a:latin typeface="Arial"/>
              <a:ea typeface="Arial"/>
              <a:cs typeface="Arial"/>
              <a:sym typeface="Arial"/>
            </a:endParaRPr>
          </a:p>
        </p:txBody>
      </p:sp>
      <p:sp>
        <p:nvSpPr>
          <p:cNvPr id="1209" name="Google Shape;1209;p66"/>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0" name="Google Shape;1210;p66"/>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1" name="Google Shape;1211;p66"/>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2" name="Google Shape;1212;p66"/>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32/35</a:t>
            </a:r>
            <a:endParaRPr/>
          </a:p>
        </p:txBody>
      </p:sp>
      <p:sp>
        <p:nvSpPr>
          <p:cNvPr id="1213" name="Google Shape;1213;p66"/>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1214" name="Google Shape;1214;p66"/>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67"/>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1220" name="Google Shape;1220;p67"/>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1" name="Google Shape;1221;p67"/>
          <p:cNvSpPr/>
          <p:nvPr/>
        </p:nvSpPr>
        <p:spPr>
          <a:xfrm>
            <a:off x="0" y="400210"/>
            <a:ext cx="4608004" cy="260646"/>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2" name="Google Shape;1222;p67"/>
          <p:cNvSpPr txBox="1"/>
          <p:nvPr>
            <p:ph type="title"/>
          </p:nvPr>
        </p:nvSpPr>
        <p:spPr>
          <a:xfrm>
            <a:off x="0" y="397634"/>
            <a:ext cx="4608195" cy="244475"/>
          </a:xfrm>
          <a:prstGeom prst="rect">
            <a:avLst/>
          </a:prstGeom>
          <a:noFill/>
          <a:ln>
            <a:noFill/>
          </a:ln>
        </p:spPr>
        <p:txBody>
          <a:bodyPr anchorCtr="0" anchor="t" bIns="0" lIns="0" spcFirstLastPara="1" rIns="0" wrap="square" tIns="17125">
            <a:spAutoFit/>
          </a:bodyPr>
          <a:lstStyle/>
          <a:p>
            <a:pPr indent="0" lvl="0" marL="167005" rtl="0" algn="l">
              <a:lnSpc>
                <a:spcPct val="100000"/>
              </a:lnSpc>
              <a:spcBef>
                <a:spcPts val="0"/>
              </a:spcBef>
              <a:spcAft>
                <a:spcPts val="0"/>
              </a:spcAft>
              <a:buNone/>
            </a:pPr>
            <a:r>
              <a:rPr b="0" lang="en-US">
                <a:latin typeface="Tahoma"/>
                <a:ea typeface="Tahoma"/>
                <a:cs typeface="Tahoma"/>
                <a:sym typeface="Tahoma"/>
              </a:rPr>
              <a:t>References </a:t>
            </a:r>
            <a:r>
              <a:rPr b="0" lang="en-US">
                <a:latin typeface="Lucida Sans"/>
                <a:ea typeface="Lucida Sans"/>
                <a:cs typeface="Lucida Sans"/>
                <a:sym typeface="Lucida Sans"/>
              </a:rPr>
              <a:t>≫ </a:t>
            </a:r>
            <a:r>
              <a:rPr b="0" lang="en-US">
                <a:latin typeface="Tahoma"/>
                <a:ea typeface="Tahoma"/>
                <a:cs typeface="Tahoma"/>
                <a:sym typeface="Tahoma"/>
              </a:rPr>
              <a:t>VI</a:t>
            </a:r>
            <a:endParaRPr/>
          </a:p>
        </p:txBody>
      </p:sp>
      <p:sp>
        <p:nvSpPr>
          <p:cNvPr id="1223" name="Google Shape;1223;p67"/>
          <p:cNvSpPr/>
          <p:nvPr/>
        </p:nvSpPr>
        <p:spPr>
          <a:xfrm>
            <a:off x="0" y="658330"/>
            <a:ext cx="4608004" cy="50609"/>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4" name="Google Shape;1224;p67"/>
          <p:cNvSpPr/>
          <p:nvPr/>
        </p:nvSpPr>
        <p:spPr>
          <a:xfrm>
            <a:off x="465721" y="1423971"/>
            <a:ext cx="114214" cy="11421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5" name="Google Shape;1225;p67"/>
          <p:cNvSpPr/>
          <p:nvPr/>
        </p:nvSpPr>
        <p:spPr>
          <a:xfrm>
            <a:off x="465721" y="2008057"/>
            <a:ext cx="114214" cy="11421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6" name="Google Shape;1226;p67"/>
          <p:cNvSpPr txBox="1"/>
          <p:nvPr/>
        </p:nvSpPr>
        <p:spPr>
          <a:xfrm>
            <a:off x="455676" y="1396401"/>
            <a:ext cx="3584575" cy="851535"/>
          </a:xfrm>
          <a:prstGeom prst="rect">
            <a:avLst/>
          </a:prstGeom>
          <a:noFill/>
          <a:ln>
            <a:noFill/>
          </a:ln>
        </p:spPr>
        <p:txBody>
          <a:bodyPr anchorCtr="0" anchor="t" bIns="0" lIns="0" spcFirstLastPara="1" rIns="0" wrap="square" tIns="17125">
            <a:spAutoFit/>
          </a:bodyPr>
          <a:lstStyle/>
          <a:p>
            <a:pPr indent="-156210" lvl="0" marL="180975" marR="17780" rtl="0" algn="l">
              <a:lnSpc>
                <a:spcPct val="105555"/>
              </a:lnSpc>
              <a:spcBef>
                <a:spcPts val="0"/>
              </a:spcBef>
              <a:spcAft>
                <a:spcPts val="0"/>
              </a:spcAft>
              <a:buNone/>
            </a:pPr>
            <a:r>
              <a:rPr b="1" baseline="30000" lang="en-US" sz="900">
                <a:solidFill>
                  <a:srgbClr val="FFFFFF"/>
                </a:solidFill>
                <a:latin typeface="Arial"/>
                <a:ea typeface="Arial"/>
                <a:cs typeface="Arial"/>
                <a:sym typeface="Arial"/>
              </a:rPr>
              <a:t>25 </a:t>
            </a:r>
            <a:r>
              <a:rPr lang="en-US" sz="800">
                <a:solidFill>
                  <a:srgbClr val="A91717"/>
                </a:solidFill>
                <a:latin typeface="Arial"/>
                <a:ea typeface="Arial"/>
                <a:cs typeface="Arial"/>
                <a:sym typeface="Arial"/>
              </a:rPr>
              <a:t>Kim M., Kim Y., and Rothermel G., 2012. A Scalable Distributed Concolic  Testing Approach: An Empirical Evaluation. </a:t>
            </a:r>
            <a:r>
              <a:rPr i="1" lang="en-US" sz="800">
                <a:solidFill>
                  <a:srgbClr val="A91717"/>
                </a:solidFill>
                <a:latin typeface="Lucida Sans"/>
                <a:ea typeface="Lucida Sans"/>
                <a:cs typeface="Lucida Sans"/>
                <a:sym typeface="Lucida Sans"/>
              </a:rPr>
              <a:t>IEEE Fifth International  Conference on Software Testing, Verification and Validation (ICST)</a:t>
            </a:r>
            <a:r>
              <a:rPr lang="en-US" sz="800">
                <a:solidFill>
                  <a:srgbClr val="A91717"/>
                </a:solidFill>
                <a:latin typeface="Arial"/>
                <a:ea typeface="Arial"/>
                <a:cs typeface="Arial"/>
                <a:sym typeface="Arial"/>
              </a:rPr>
              <a:t>, pages  340-349.</a:t>
            </a:r>
            <a:endParaRPr sz="800">
              <a:solidFill>
                <a:schemeClr val="dk1"/>
              </a:solidFill>
              <a:latin typeface="Arial"/>
              <a:ea typeface="Arial"/>
              <a:cs typeface="Arial"/>
              <a:sym typeface="Arial"/>
            </a:endParaRPr>
          </a:p>
          <a:p>
            <a:pPr indent="0" lvl="0" marL="0" marR="0" rtl="0" algn="l">
              <a:lnSpc>
                <a:spcPct val="100000"/>
              </a:lnSpc>
              <a:spcBef>
                <a:spcPts val="50"/>
              </a:spcBef>
              <a:spcAft>
                <a:spcPts val="0"/>
              </a:spcAft>
              <a:buNone/>
            </a:pPr>
            <a:r>
              <a:t/>
            </a:r>
            <a:endParaRPr sz="650">
              <a:solidFill>
                <a:schemeClr val="dk1"/>
              </a:solidFill>
              <a:latin typeface="Times New Roman"/>
              <a:ea typeface="Times New Roman"/>
              <a:cs typeface="Times New Roman"/>
              <a:sym typeface="Times New Roman"/>
            </a:endParaRPr>
          </a:p>
          <a:p>
            <a:pPr indent="-156210" lvl="0" marL="180975" marR="39370" rtl="0" algn="l">
              <a:lnSpc>
                <a:spcPct val="105555"/>
              </a:lnSpc>
              <a:spcBef>
                <a:spcPts val="0"/>
              </a:spcBef>
              <a:spcAft>
                <a:spcPts val="0"/>
              </a:spcAft>
              <a:buNone/>
            </a:pPr>
            <a:r>
              <a:rPr b="1" baseline="30000" lang="en-US" sz="900">
                <a:solidFill>
                  <a:srgbClr val="FFFFFF"/>
                </a:solidFill>
                <a:latin typeface="Arial"/>
                <a:ea typeface="Arial"/>
                <a:cs typeface="Arial"/>
                <a:sym typeface="Arial"/>
              </a:rPr>
              <a:t>26 </a:t>
            </a:r>
            <a:r>
              <a:rPr lang="en-US" sz="800">
                <a:solidFill>
                  <a:srgbClr val="A91717"/>
                </a:solidFill>
                <a:latin typeface="Arial"/>
                <a:ea typeface="Arial"/>
                <a:cs typeface="Arial"/>
                <a:sym typeface="Arial"/>
              </a:rPr>
              <a:t>Sen K., and Agha G., 2006. CUTE and jCUTE: Concolic Unit Testing and  Explicit Path Model-Checking Tools (Tools Paper). </a:t>
            </a:r>
            <a:r>
              <a:rPr i="1" lang="en-US" sz="800">
                <a:solidFill>
                  <a:srgbClr val="A91717"/>
                </a:solidFill>
                <a:latin typeface="Lucida Sans"/>
                <a:ea typeface="Lucida Sans"/>
                <a:cs typeface="Lucida Sans"/>
                <a:sym typeface="Lucida Sans"/>
              </a:rPr>
              <a:t>DTIC Document</a:t>
            </a:r>
            <a:r>
              <a:rPr lang="en-US" sz="800">
                <a:solidFill>
                  <a:srgbClr val="A91717"/>
                </a:solidFill>
                <a:latin typeface="Arial"/>
                <a:ea typeface="Arial"/>
                <a:cs typeface="Arial"/>
                <a:sym typeface="Arial"/>
              </a:rPr>
              <a:t>.</a:t>
            </a:r>
            <a:endParaRPr sz="800">
              <a:solidFill>
                <a:schemeClr val="dk1"/>
              </a:solidFill>
              <a:latin typeface="Arial"/>
              <a:ea typeface="Arial"/>
              <a:cs typeface="Arial"/>
              <a:sym typeface="Arial"/>
            </a:endParaRPr>
          </a:p>
        </p:txBody>
      </p:sp>
      <p:sp>
        <p:nvSpPr>
          <p:cNvPr id="1227" name="Google Shape;1227;p67"/>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8" name="Google Shape;1228;p67"/>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9" name="Google Shape;1229;p67"/>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0" name="Google Shape;1230;p67"/>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33/35</a:t>
            </a:r>
            <a:endParaRPr/>
          </a:p>
        </p:txBody>
      </p:sp>
      <p:sp>
        <p:nvSpPr>
          <p:cNvPr id="1231" name="Google Shape;1231;p67"/>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1232" name="Google Shape;1232;p67"/>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9"/>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68"/>
          <p:cNvSpPr txBox="1"/>
          <p:nvPr/>
        </p:nvSpPr>
        <p:spPr>
          <a:xfrm>
            <a:off x="1342897" y="44251"/>
            <a:ext cx="866140" cy="286385"/>
          </a:xfrm>
          <a:prstGeom prst="rect">
            <a:avLst/>
          </a:prstGeom>
          <a:noFill/>
          <a:ln>
            <a:noFill/>
          </a:ln>
        </p:spPr>
        <p:txBody>
          <a:bodyPr anchorCtr="0" anchor="t" bIns="0" lIns="0" spcFirstLastPara="1" rIns="0" wrap="square" tIns="20300">
            <a:spAutoFit/>
          </a:bodyPr>
          <a:lstStyle/>
          <a:p>
            <a:pPr indent="412750" lvl="0" marL="12700" marR="5080" rtl="0" algn="r">
              <a:lnSpc>
                <a:spcPct val="111666"/>
              </a:lnSpc>
              <a:spcBef>
                <a:spcPts val="0"/>
              </a:spcBef>
              <a:spcAft>
                <a:spcPts val="0"/>
              </a:spcAft>
              <a:buNone/>
            </a:pPr>
            <a:r>
              <a:rPr b="1" lang="en-US" sz="600" u="sng">
                <a:solidFill>
                  <a:schemeClr val="hlink"/>
                </a:solidFill>
                <a:latin typeface="Arial"/>
                <a:ea typeface="Arial"/>
                <a:cs typeface="Arial"/>
                <a:sym typeface="Arial"/>
                <a:hlinkClick action="ppaction://hlinksldjump" r:id="rId3"/>
              </a:rPr>
              <a:t>Introduction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4"/>
              </a:rPr>
              <a:t>Fundamental Ideas </a:t>
            </a:r>
            <a:r>
              <a:rPr b="1" lang="en-US" sz="600">
                <a:solidFill>
                  <a:srgbClr val="7F7F7F"/>
                </a:solidFill>
                <a:latin typeface="Arial"/>
                <a:ea typeface="Arial"/>
                <a:cs typeface="Arial"/>
                <a:sym typeface="Arial"/>
              </a:rPr>
              <a:t> </a:t>
            </a:r>
            <a:r>
              <a:rPr b="1" lang="en-US" sz="600" u="sng">
                <a:solidFill>
                  <a:schemeClr val="hlink"/>
                </a:solidFill>
                <a:latin typeface="Arial"/>
                <a:ea typeface="Arial"/>
                <a:cs typeface="Arial"/>
                <a:sym typeface="Arial"/>
                <a:hlinkClick action="ppaction://hlinksldjump" r:id="rId5"/>
              </a:rPr>
              <a:t>Survey of Related works</a:t>
            </a:r>
            <a:endParaRPr sz="600">
              <a:solidFill>
                <a:schemeClr val="dk1"/>
              </a:solidFill>
              <a:latin typeface="Arial"/>
              <a:ea typeface="Arial"/>
              <a:cs typeface="Arial"/>
              <a:sym typeface="Arial"/>
            </a:endParaRPr>
          </a:p>
        </p:txBody>
      </p:sp>
      <p:sp>
        <p:nvSpPr>
          <p:cNvPr id="1238" name="Google Shape;1238;p68"/>
          <p:cNvSpPr/>
          <p:nvPr/>
        </p:nvSpPr>
        <p:spPr>
          <a:xfrm>
            <a:off x="2303995" y="0"/>
            <a:ext cx="2304415" cy="403225"/>
          </a:xfrm>
          <a:custGeom>
            <a:rect b="b" l="l" r="r" t="t"/>
            <a:pathLst>
              <a:path extrusionOk="0" h="403225" w="2304415">
                <a:moveTo>
                  <a:pt x="0" y="402742"/>
                </a:moveTo>
                <a:lnTo>
                  <a:pt x="2303995" y="402742"/>
                </a:lnTo>
                <a:lnTo>
                  <a:pt x="2303995" y="0"/>
                </a:lnTo>
                <a:lnTo>
                  <a:pt x="0" y="0"/>
                </a:lnTo>
                <a:lnTo>
                  <a:pt x="0" y="402742"/>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9" name="Google Shape;1239;p68"/>
          <p:cNvSpPr/>
          <p:nvPr/>
        </p:nvSpPr>
        <p:spPr>
          <a:xfrm>
            <a:off x="0" y="400215"/>
            <a:ext cx="4608004" cy="50609"/>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0" name="Google Shape;1240;p68"/>
          <p:cNvSpPr/>
          <p:nvPr/>
        </p:nvSpPr>
        <p:spPr>
          <a:xfrm>
            <a:off x="1764004" y="1857733"/>
            <a:ext cx="1080135" cy="395605"/>
          </a:xfrm>
          <a:custGeom>
            <a:rect b="b" l="l" r="r" t="t"/>
            <a:pathLst>
              <a:path extrusionOk="0" h="395605" w="1080135">
                <a:moveTo>
                  <a:pt x="1080013" y="395234"/>
                </a:moveTo>
                <a:lnTo>
                  <a:pt x="1052320" y="337048"/>
                </a:lnTo>
                <a:lnTo>
                  <a:pt x="1024628" y="284216"/>
                </a:lnTo>
                <a:lnTo>
                  <a:pt x="996935" y="236550"/>
                </a:lnTo>
                <a:lnTo>
                  <a:pt x="969242" y="193866"/>
                </a:lnTo>
                <a:lnTo>
                  <a:pt x="941550" y="155978"/>
                </a:lnTo>
                <a:lnTo>
                  <a:pt x="913857" y="122699"/>
                </a:lnTo>
                <a:lnTo>
                  <a:pt x="886164" y="93845"/>
                </a:lnTo>
                <a:lnTo>
                  <a:pt x="830779" y="48666"/>
                </a:lnTo>
                <a:lnTo>
                  <a:pt x="775394" y="18956"/>
                </a:lnTo>
                <a:lnTo>
                  <a:pt x="720008" y="3229"/>
                </a:lnTo>
                <a:lnTo>
                  <a:pt x="664623" y="0"/>
                </a:lnTo>
                <a:lnTo>
                  <a:pt x="636930" y="2607"/>
                </a:lnTo>
                <a:lnTo>
                  <a:pt x="581545" y="15337"/>
                </a:lnTo>
                <a:lnTo>
                  <a:pt x="526160" y="36850"/>
                </a:lnTo>
                <a:lnTo>
                  <a:pt x="470775" y="65661"/>
                </a:lnTo>
                <a:lnTo>
                  <a:pt x="415389" y="100283"/>
                </a:lnTo>
                <a:lnTo>
                  <a:pt x="360004" y="139231"/>
                </a:lnTo>
                <a:lnTo>
                  <a:pt x="304619" y="181019"/>
                </a:lnTo>
                <a:lnTo>
                  <a:pt x="249233" y="224162"/>
                </a:lnTo>
                <a:lnTo>
                  <a:pt x="221541" y="245777"/>
                </a:lnTo>
                <a:lnTo>
                  <a:pt x="166155" y="288166"/>
                </a:lnTo>
                <a:lnTo>
                  <a:pt x="110770" y="328196"/>
                </a:lnTo>
                <a:lnTo>
                  <a:pt x="55385" y="364380"/>
                </a:lnTo>
                <a:lnTo>
                  <a:pt x="27692" y="380566"/>
                </a:lnTo>
                <a:lnTo>
                  <a:pt x="0" y="395234"/>
                </a:lnTo>
              </a:path>
            </a:pathLst>
          </a:custGeom>
          <a:noFill/>
          <a:ln cap="flat" cmpd="sng" w="253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1" name="Google Shape;1241;p68"/>
          <p:cNvSpPr/>
          <p:nvPr/>
        </p:nvSpPr>
        <p:spPr>
          <a:xfrm>
            <a:off x="1764004" y="1172954"/>
            <a:ext cx="1080135" cy="471805"/>
          </a:xfrm>
          <a:custGeom>
            <a:rect b="b" l="l" r="r" t="t"/>
            <a:pathLst>
              <a:path extrusionOk="0" h="471805" w="1080135">
                <a:moveTo>
                  <a:pt x="0" y="0"/>
                </a:moveTo>
                <a:lnTo>
                  <a:pt x="25714" y="61739"/>
                </a:lnTo>
                <a:lnTo>
                  <a:pt x="51429" y="118485"/>
                </a:lnTo>
                <a:lnTo>
                  <a:pt x="77143" y="170385"/>
                </a:lnTo>
                <a:lnTo>
                  <a:pt x="102858" y="217588"/>
                </a:lnTo>
                <a:lnTo>
                  <a:pt x="128572" y="260243"/>
                </a:lnTo>
                <a:lnTo>
                  <a:pt x="154287" y="298499"/>
                </a:lnTo>
                <a:lnTo>
                  <a:pt x="180002" y="332504"/>
                </a:lnTo>
                <a:lnTo>
                  <a:pt x="205716" y="362406"/>
                </a:lnTo>
                <a:lnTo>
                  <a:pt x="257146" y="410500"/>
                </a:lnTo>
                <a:lnTo>
                  <a:pt x="308575" y="443970"/>
                </a:lnTo>
                <a:lnTo>
                  <a:pt x="360004" y="464006"/>
                </a:lnTo>
                <a:lnTo>
                  <a:pt x="411433" y="471796"/>
                </a:lnTo>
                <a:lnTo>
                  <a:pt x="437148" y="471471"/>
                </a:lnTo>
                <a:lnTo>
                  <a:pt x="488577" y="463124"/>
                </a:lnTo>
                <a:lnTo>
                  <a:pt x="540006" y="445506"/>
                </a:lnTo>
                <a:lnTo>
                  <a:pt x="591435" y="419806"/>
                </a:lnTo>
                <a:lnTo>
                  <a:pt x="642865" y="387213"/>
                </a:lnTo>
                <a:lnTo>
                  <a:pt x="694294" y="348918"/>
                </a:lnTo>
                <a:lnTo>
                  <a:pt x="745723" y="306110"/>
                </a:lnTo>
                <a:lnTo>
                  <a:pt x="797152" y="259978"/>
                </a:lnTo>
                <a:lnTo>
                  <a:pt x="848581" y="211713"/>
                </a:lnTo>
                <a:lnTo>
                  <a:pt x="900011" y="162502"/>
                </a:lnTo>
                <a:lnTo>
                  <a:pt x="925725" y="137914"/>
                </a:lnTo>
                <a:lnTo>
                  <a:pt x="977154" y="89517"/>
                </a:lnTo>
                <a:lnTo>
                  <a:pt x="1028584" y="43149"/>
                </a:lnTo>
                <a:lnTo>
                  <a:pt x="1054298" y="21098"/>
                </a:lnTo>
                <a:lnTo>
                  <a:pt x="1080013" y="0"/>
                </a:lnTo>
              </a:path>
            </a:pathLst>
          </a:custGeom>
          <a:noFill/>
          <a:ln cap="flat" cmpd="sng" w="253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2" name="Google Shape;1242;p68"/>
          <p:cNvSpPr txBox="1"/>
          <p:nvPr/>
        </p:nvSpPr>
        <p:spPr>
          <a:xfrm rot="-1800000">
            <a:off x="1581723" y="1617082"/>
            <a:ext cx="1502412" cy="313055"/>
          </a:xfrm>
          <a:prstGeom prst="rect">
            <a:avLst/>
          </a:prstGeom>
          <a:noFill/>
          <a:ln>
            <a:noFill/>
          </a:ln>
        </p:spPr>
        <p:txBody>
          <a:bodyPr anchorCtr="0" anchor="t" bIns="0" lIns="0" spcFirstLastPara="1" rIns="0" wrap="square" tIns="0">
            <a:spAutoFit/>
          </a:bodyPr>
          <a:lstStyle/>
          <a:p>
            <a:pPr indent="0" lvl="0" marL="0" marR="0" rtl="0" algn="l">
              <a:lnSpc>
                <a:spcPct val="67074"/>
              </a:lnSpc>
              <a:spcBef>
                <a:spcPts val="0"/>
              </a:spcBef>
              <a:spcAft>
                <a:spcPts val="0"/>
              </a:spcAft>
              <a:buNone/>
            </a:pPr>
            <a:r>
              <a:rPr lang="en-US" sz="2450">
                <a:solidFill>
                  <a:schemeClr val="dk1"/>
                </a:solidFill>
                <a:latin typeface="Tahoma"/>
                <a:ea typeface="Tahoma"/>
                <a:cs typeface="Tahoma"/>
                <a:sym typeface="Tahoma"/>
              </a:rPr>
              <a:t>Thank </a:t>
            </a:r>
            <a:r>
              <a:rPr baseline="30000" lang="en-US" sz="3675">
                <a:solidFill>
                  <a:schemeClr val="dk1"/>
                </a:solidFill>
                <a:latin typeface="Tahoma"/>
                <a:ea typeface="Tahoma"/>
                <a:cs typeface="Tahoma"/>
                <a:sym typeface="Tahoma"/>
              </a:rPr>
              <a:t>You!</a:t>
            </a:r>
            <a:endParaRPr baseline="30000" sz="3675">
              <a:solidFill>
                <a:schemeClr val="dk1"/>
              </a:solidFill>
              <a:latin typeface="Tahoma"/>
              <a:ea typeface="Tahoma"/>
              <a:cs typeface="Tahoma"/>
              <a:sym typeface="Tahoma"/>
            </a:endParaRPr>
          </a:p>
        </p:txBody>
      </p:sp>
      <p:sp>
        <p:nvSpPr>
          <p:cNvPr id="1243" name="Google Shape;1243;p68"/>
          <p:cNvSpPr/>
          <p:nvPr/>
        </p:nvSpPr>
        <p:spPr>
          <a:xfrm>
            <a:off x="27838" y="3329876"/>
            <a:ext cx="461009" cy="126364"/>
          </a:xfrm>
          <a:custGeom>
            <a:rect b="b" l="l" r="r" t="t"/>
            <a:pathLst>
              <a:path extrusionOk="0" h="126364" w="461009">
                <a:moveTo>
                  <a:pt x="0" y="126123"/>
                </a:moveTo>
                <a:lnTo>
                  <a:pt x="460832" y="126123"/>
                </a:lnTo>
                <a:lnTo>
                  <a:pt x="460832"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4" name="Google Shape;1244;p68"/>
          <p:cNvSpPr/>
          <p:nvPr/>
        </p:nvSpPr>
        <p:spPr>
          <a:xfrm>
            <a:off x="516496" y="3329876"/>
            <a:ext cx="1843405" cy="126364"/>
          </a:xfrm>
          <a:custGeom>
            <a:rect b="b" l="l" r="r" t="t"/>
            <a:pathLst>
              <a:path extrusionOk="0" h="126364" w="1843405">
                <a:moveTo>
                  <a:pt x="0" y="126123"/>
                </a:moveTo>
                <a:lnTo>
                  <a:pt x="1843176" y="126123"/>
                </a:lnTo>
                <a:lnTo>
                  <a:pt x="1843176" y="0"/>
                </a:lnTo>
                <a:lnTo>
                  <a:pt x="0" y="0"/>
                </a:lnTo>
                <a:lnTo>
                  <a:pt x="0" y="126123"/>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5" name="Google Shape;1245;p68"/>
          <p:cNvSpPr/>
          <p:nvPr/>
        </p:nvSpPr>
        <p:spPr>
          <a:xfrm>
            <a:off x="2387511" y="3329876"/>
            <a:ext cx="2220595" cy="126364"/>
          </a:xfrm>
          <a:custGeom>
            <a:rect b="b" l="l" r="r" t="t"/>
            <a:pathLst>
              <a:path extrusionOk="0" h="126364" w="2220595">
                <a:moveTo>
                  <a:pt x="0" y="126123"/>
                </a:moveTo>
                <a:lnTo>
                  <a:pt x="2220493" y="126123"/>
                </a:lnTo>
                <a:lnTo>
                  <a:pt x="2220493" y="0"/>
                </a:lnTo>
                <a:lnTo>
                  <a:pt x="0" y="0"/>
                </a:lnTo>
                <a:lnTo>
                  <a:pt x="0" y="126123"/>
                </a:lnTo>
                <a:close/>
              </a:path>
            </a:pathLst>
          </a:custGeom>
          <a:solidFill>
            <a:srgbClr val="A9171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6" name="Google Shape;1246;p68"/>
          <p:cNvSpPr txBox="1"/>
          <p:nvPr>
            <p:ph idx="12" type="sldNum"/>
          </p:nvPr>
        </p:nvSpPr>
        <p:spPr>
          <a:xfrm>
            <a:off x="128460" y="3344944"/>
            <a:ext cx="247015" cy="104139"/>
          </a:xfrm>
          <a:prstGeom prst="rect">
            <a:avLst/>
          </a:prstGeom>
          <a:noFill/>
          <a:ln>
            <a:noFill/>
          </a:ln>
        </p:spPr>
        <p:txBody>
          <a:bodyPr anchorCtr="0" anchor="t" bIns="0" lIns="0" spcFirstLastPara="1" rIns="0" wrap="square" tIns="0">
            <a:spAutoFit/>
          </a:bodyPr>
          <a:lstStyle/>
          <a:p>
            <a:pPr indent="0" lvl="0" marL="25400" rtl="0" algn="l">
              <a:lnSpc>
                <a:spcPct val="114166"/>
              </a:lnSpc>
              <a:spcBef>
                <a:spcPts val="0"/>
              </a:spcBef>
              <a:spcAft>
                <a:spcPts val="0"/>
              </a:spcAft>
              <a:buNone/>
            </a:pPr>
            <a:r>
              <a:rPr lang="en-US"/>
              <a:t>34/35</a:t>
            </a:r>
            <a:endParaRPr/>
          </a:p>
        </p:txBody>
      </p:sp>
      <p:sp>
        <p:nvSpPr>
          <p:cNvPr id="1247" name="Google Shape;1247;p68"/>
          <p:cNvSpPr txBox="1"/>
          <p:nvPr>
            <p:ph idx="11" type="ftr"/>
          </p:nvPr>
        </p:nvSpPr>
        <p:spPr>
          <a:xfrm>
            <a:off x="1206030" y="3344944"/>
            <a:ext cx="1059180" cy="104139"/>
          </a:xfrm>
          <a:prstGeom prst="rect">
            <a:avLst/>
          </a:prstGeom>
          <a:noFill/>
          <a:ln>
            <a:noFill/>
          </a:ln>
        </p:spPr>
        <p:txBody>
          <a:bodyPr anchorCtr="0" anchor="t" bIns="0" lIns="0" spcFirstLastPara="1" rIns="0" wrap="square" tIns="0">
            <a:spAutoFit/>
          </a:bodyPr>
          <a:lstStyle/>
          <a:p>
            <a:pPr indent="0" lvl="0" marL="12700" rtl="0" algn="l">
              <a:lnSpc>
                <a:spcPct val="114166"/>
              </a:lnSpc>
              <a:spcBef>
                <a:spcPts val="0"/>
              </a:spcBef>
              <a:spcAft>
                <a:spcPts val="0"/>
              </a:spcAft>
              <a:buNone/>
            </a:pPr>
            <a:r>
              <a:rPr lang="en-US"/>
              <a:t>Dr. Durga Prasad Mohapatra</a:t>
            </a:r>
            <a:endParaRPr/>
          </a:p>
        </p:txBody>
      </p:sp>
      <p:sp>
        <p:nvSpPr>
          <p:cNvPr id="1248" name="Google Shape;1248;p68"/>
          <p:cNvSpPr txBox="1"/>
          <p:nvPr/>
        </p:nvSpPr>
        <p:spPr>
          <a:xfrm>
            <a:off x="2482811" y="3344944"/>
            <a:ext cx="1946910" cy="104139"/>
          </a:xfrm>
          <a:prstGeom prst="rect">
            <a:avLst/>
          </a:prstGeom>
          <a:noFill/>
          <a:ln>
            <a:noFill/>
          </a:ln>
        </p:spPr>
        <p:txBody>
          <a:bodyPr anchorCtr="0" anchor="t" bIns="0" lIns="0" spcFirstLastPara="1" rIns="0" wrap="square" tIns="0">
            <a:spAutoFit/>
          </a:bodyPr>
          <a:lstStyle/>
          <a:p>
            <a:pPr indent="0" lvl="0" marL="12700" marR="0" rtl="0" algn="l">
              <a:lnSpc>
                <a:spcPct val="114166"/>
              </a:lnSpc>
              <a:spcBef>
                <a:spcPts val="0"/>
              </a:spcBef>
              <a:spcAft>
                <a:spcPts val="0"/>
              </a:spcAft>
              <a:buNone/>
            </a:pPr>
            <a:r>
              <a:rPr b="1" lang="en-US" sz="600" u="sng">
                <a:solidFill>
                  <a:schemeClr val="hlink"/>
                </a:solidFill>
                <a:latin typeface="Arial"/>
                <a:ea typeface="Arial"/>
                <a:cs typeface="Arial"/>
                <a:sym typeface="Arial"/>
                <a:hlinkClick action="ppaction://hlinksldjump" r:id="rId7"/>
              </a:rPr>
              <a:t>Concolic Testing: A modern software testing technique</a:t>
            </a:r>
            <a:endParaRPr sz="600">
              <a:solidFill>
                <a:schemeClr val="dk1"/>
              </a:solidFill>
              <a:latin typeface="Arial"/>
              <a:ea typeface="Arial"/>
              <a:cs typeface="Arial"/>
              <a:sym typeface="Arial"/>
            </a:endParaRPr>
          </a:p>
        </p:txBody>
      </p:sp>
    </p:spTree>
  </p:cSld>
  <p:clrMapOvr>
    <a:masterClrMapping/>
  </p:clrMapOvr>
  <p:transition>
    <p:fade thruBlk="1"/>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