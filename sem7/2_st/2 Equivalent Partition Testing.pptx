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291" r:id="rId44"/>
    <p:sldId id="292" r:id="rId45"/>
    <p:sldId id="293" r:id="rId46"/>
  </p:sldIdLst>
  <p:sldSz cx="9144000" cy="6858000" type="screen4x3"/>
  <p:notesSz cx="6858000" cy="9144000"/>
  <p:embeddedFontLst>
    <p:embeddedFont>
      <p:font typeface="Times" panose="02020603050405020304" pitchFamily="18" charset="0"/>
      <p:regular r:id="rId48"/>
      <p:bold r:id="rId49"/>
      <p:italic r:id="rId50"/>
      <p:boldItalic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  <p:embeddedFont>
      <p:font typeface="Gill Sans" panose="020B0604020202020204" charset="0"/>
      <p:regular r:id="rId56"/>
      <p:bold r:id="rId57"/>
    </p:embeddedFont>
    <p:embeddedFont>
      <p:font typeface="Comic Sans MS" panose="030F0702030302020204" pitchFamily="66" charset="0"/>
      <p:regular r:id="rId58"/>
      <p:bold r:id="rId59"/>
      <p:italic r:id="rId60"/>
      <p:boldItalic r:id="rId61"/>
    </p:embeddedFont>
    <p:embeddedFont>
      <p:font typeface="Arial Black" panose="020B0A04020102020204" pitchFamily="34" charset="0"/>
      <p:bold r:id="rId62"/>
    </p:embeddedFont>
    <p:embeddedFont>
      <p:font typeface="Libre Baskerville" panose="020B0604020202020204" charset="0"/>
      <p:regular r:id="rId63"/>
      <p:bold r:id="rId64"/>
      <p: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1650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61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94985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" name="Google Shape;98;p1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" name="Google Shape;106;p2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8" name="Google Shape;128;p5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7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1" name="Google Shape;151;p8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9" name="Google Shape;159;p9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7" name="Google Shape;167;p10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7" name="Google Shape;227;p11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5" name="Google Shape;235;p12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2" name="Google Shape;252;p13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2" name="Google Shape;312;p14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3" name="Google Shape;3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1062485" y="4351013"/>
            <a:ext cx="4736136" cy="350923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6175" y="695325"/>
            <a:ext cx="4560888" cy="3422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303213"/>
            <a:ext cx="4875213" cy="36560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2" name="Google Shape;522;p36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3" name="Google Shape;52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2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sz="45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3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4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sz="2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sz="21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10"/>
          <p:cNvSpPr>
            <a:spLocks noGrp="1"/>
          </p:cNvSpPr>
          <p:nvPr>
            <p:ph type="pic" idx="2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EAD8B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" name="Google Shape;82;p10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4846637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9985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>
            <a:alphaModFix/>
          </a:blip>
          <a:tile tx="0" ty="0" sx="90000" sy="90000" flip="xy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941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" name="Google Shape;8;p1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B3A787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914400" y="549275"/>
            <a:ext cx="7720013" cy="141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 sz="4800" b="1"/>
              <a:t> Black-box testing techniques</a:t>
            </a:r>
            <a:r>
              <a:rPr lang="en-US" sz="4800"/>
              <a:t/>
            </a:r>
            <a:br>
              <a:rPr lang="en-US" sz="4800"/>
            </a:br>
            <a:r>
              <a:rPr lang="en-US" sz="4800"/>
              <a:t>					</a:t>
            </a:r>
            <a:endParaRPr sz="3100" b="1"/>
          </a:p>
        </p:txBody>
      </p:sp>
      <p:sp>
        <p:nvSpPr>
          <p:cNvPr id="102" name="Google Shape;102;p1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371600" y="3124200"/>
            <a:ext cx="6858000" cy="175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Durga Prasad Mohapatra</a:t>
            </a:r>
            <a:endParaRPr sz="28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Professor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Dept. of CSE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NIT Rourkela</a:t>
            </a:r>
            <a:endParaRPr sz="2000" b="1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1300035" y="212724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5400"/>
              <a:buFont typeface="Gill Sans"/>
              <a:buNone/>
            </a:pPr>
            <a:r>
              <a:rPr lang="en-US" sz="5400"/>
              <a:t>Black-box Testing</a:t>
            </a: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1071435" y="1524000"/>
            <a:ext cx="7770813" cy="444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Test cases are designed using only </a:t>
            </a:r>
            <a:r>
              <a:rPr lang="en-US" sz="3600">
                <a:solidFill>
                  <a:srgbClr val="0000FF"/>
                </a:solidFill>
              </a:rPr>
              <a:t>functional specification</a:t>
            </a:r>
            <a:r>
              <a:rPr lang="en-US" sz="3600"/>
              <a:t> of the software: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/>
              <a:t>without any knowledge of the internal structure of the software.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For this reason, black-box testing is also known as  </a:t>
            </a:r>
            <a:r>
              <a:rPr lang="en-US" sz="3600" u="sng">
                <a:solidFill>
                  <a:srgbClr val="0000FF"/>
                </a:solidFill>
              </a:rPr>
              <a:t>functional testing.</a:t>
            </a:r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1066800" y="457200"/>
            <a:ext cx="8356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 sz="5400"/>
              <a:t>Errors detected by black box testing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Black-box testing attempts to find errors in the following categories:</a:t>
            </a:r>
            <a:endParaRPr/>
          </a:p>
          <a:p>
            <a:pPr marL="596646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To test the modules independently .</a:t>
            </a:r>
            <a:endParaRPr/>
          </a:p>
          <a:p>
            <a:pPr marL="596900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To test the functional validity of the software so that incorrect or missing functions can be recognized.</a:t>
            </a:r>
            <a:endParaRPr/>
          </a:p>
          <a:p>
            <a:pPr marL="596646" lvl="0" indent="-5143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To look for interface errors. 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1066800" y="16002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 startAt="4"/>
            </a:pPr>
            <a:r>
              <a:rPr lang="en-US"/>
              <a:t>To test the system behavior and check its performance .</a:t>
            </a:r>
            <a:endParaRPr/>
          </a:p>
          <a:p>
            <a:pPr marL="596900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 startAt="4"/>
            </a:pPr>
            <a:r>
              <a:rPr lang="en-US"/>
              <a:t>To test the maximum load or stress on the system.</a:t>
            </a:r>
            <a:endParaRPr/>
          </a:p>
          <a:p>
            <a:pPr marL="596900" lvl="0" indent="-5143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 startAt="4"/>
            </a:pPr>
            <a:r>
              <a:rPr lang="en-US"/>
              <a:t>To test the software such that the user/customer accepts the system within defined acceptable limits.</a:t>
            </a:r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66800" y="457200"/>
            <a:ext cx="8356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rPr>
              <a:t>Errors detected by black box testing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1271900" y="249237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 sz="5400"/>
              <a:t>Black-box Testing Techniques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1066800" y="1447800"/>
            <a:ext cx="7848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 fontScale="85000" lnSpcReduction="20000"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US" sz="4400"/>
              <a:t>There are many approaches to design black box test cases: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Equivalence class partitioning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Boundary value analysis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State table based testing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Decision table based testing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Cause-effect graph based testing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Orthogonal array testing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ct val="100000"/>
              <a:buChar char="◦"/>
            </a:pPr>
            <a:r>
              <a:rPr lang="en-US" sz="4000">
                <a:solidFill>
                  <a:srgbClr val="0000FF"/>
                </a:solidFill>
              </a:rPr>
              <a:t>Positive-negative testing</a:t>
            </a:r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400"/>
              <a:buFont typeface="Gill Sans"/>
              <a:buNone/>
            </a:pPr>
            <a:r>
              <a:rPr lang="en-US" sz="4400"/>
              <a:t>Black-box Testing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0" name="Google Shape;140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133600"/>
            <a:ext cx="64008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800"/>
              <a:buFont typeface="Gill Sans"/>
              <a:buNone/>
            </a:pPr>
            <a:r>
              <a:rPr lang="en-US" sz="4800"/>
              <a:t>Equivalence Class  Partitioning</a:t>
            </a:r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US" sz="4000"/>
              <a:t>Input values to a program are </a:t>
            </a:r>
            <a:r>
              <a:rPr lang="en-US" sz="3600"/>
              <a:t>partitioned into</a:t>
            </a:r>
            <a:r>
              <a:rPr lang="en-US" sz="4000"/>
              <a:t> </a:t>
            </a:r>
            <a:r>
              <a:rPr lang="en-US" sz="3600">
                <a:solidFill>
                  <a:srgbClr val="0000FF"/>
                </a:solidFill>
              </a:rPr>
              <a:t>equivalence classes</a:t>
            </a:r>
            <a:r>
              <a:rPr lang="en-US" sz="3600">
                <a:solidFill>
                  <a:srgbClr val="FFFF00"/>
                </a:solidFill>
              </a:rPr>
              <a:t>.</a:t>
            </a:r>
            <a:r>
              <a:rPr lang="en-US" sz="3600"/>
              <a:t> </a:t>
            </a:r>
            <a:endParaRPr/>
          </a:p>
          <a:p>
            <a:pPr marL="365760" lvl="0" indent="-283464" algn="just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3200"/>
              <a:buChar char="⚫"/>
            </a:pPr>
            <a:r>
              <a:rPr lang="en-US" sz="4000"/>
              <a:t>Partitioning is </a:t>
            </a:r>
            <a:r>
              <a:rPr lang="en-US" sz="3600"/>
              <a:t>done</a:t>
            </a:r>
            <a:r>
              <a:rPr lang="en-US" sz="4000"/>
              <a:t> </a:t>
            </a:r>
            <a:r>
              <a:rPr lang="en-US" sz="3600"/>
              <a:t>such that:</a:t>
            </a:r>
            <a:endParaRPr/>
          </a:p>
          <a:p>
            <a:pPr marL="640080" lvl="1" indent="-237744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◦"/>
            </a:pPr>
            <a:r>
              <a:rPr lang="en-US" sz="3600">
                <a:solidFill>
                  <a:srgbClr val="0000FF"/>
                </a:solidFill>
              </a:rPr>
              <a:t>program behaves in similar ways to every input value belonging to an equivalence class.</a:t>
            </a:r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400"/>
              <a:buFont typeface="Gill Sans"/>
              <a:buNone/>
            </a:pPr>
            <a:r>
              <a:rPr lang="en-US" sz="4400"/>
              <a:t>Why define equivalence classes?</a:t>
            </a:r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20"/>
              <a:buChar char="⚫"/>
            </a:pPr>
            <a:r>
              <a:rPr lang="en-US" sz="4400">
                <a:solidFill>
                  <a:srgbClr val="0000FF"/>
                </a:solidFill>
              </a:rPr>
              <a:t>Test the code with just one representative value from  each equivalence class:</a:t>
            </a:r>
            <a:r>
              <a:rPr lang="en-US" sz="4400">
                <a:solidFill>
                  <a:srgbClr val="FFFF00"/>
                </a:solidFill>
              </a:rPr>
              <a:t> </a:t>
            </a:r>
            <a:endParaRPr/>
          </a:p>
          <a:p>
            <a:pPr marL="640080" lvl="1" indent="-254000" algn="just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4000"/>
              <a:buChar char="◦"/>
            </a:pPr>
            <a:r>
              <a:rPr lang="en-US" sz="4000"/>
              <a:t>as good as testing using any other values from </a:t>
            </a:r>
            <a:r>
              <a:rPr lang="en-US" sz="3600"/>
              <a:t>the equivalence</a:t>
            </a:r>
            <a:r>
              <a:rPr lang="en-US" sz="4000"/>
              <a:t> classes.</a:t>
            </a:r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800"/>
              <a:buFont typeface="Gill Sans"/>
              <a:buNone/>
            </a:pPr>
            <a:r>
              <a:rPr lang="en-US" sz="4800"/>
              <a:t>Equivalence Class  Partitioning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20"/>
              <a:buChar char="⚫"/>
            </a:pPr>
            <a:r>
              <a:rPr lang="en-US" sz="4400"/>
              <a:t>How do you determine the equivalence classes?</a:t>
            </a:r>
            <a:endParaRPr/>
          </a:p>
          <a:p>
            <a:pPr marL="640080" lvl="1" indent="-254000" algn="just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4000"/>
              <a:buChar char="◦"/>
            </a:pPr>
            <a:r>
              <a:rPr lang="en-US" sz="4000"/>
              <a:t>examine the input data. </a:t>
            </a:r>
            <a:endParaRPr/>
          </a:p>
          <a:p>
            <a:pPr marL="640080" lvl="1" indent="-254000" algn="just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4000"/>
              <a:buChar char="◦"/>
            </a:pPr>
            <a:r>
              <a:rPr lang="en-US" sz="4000"/>
              <a:t>few general guidelines for determining the equivalence classes can be given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800"/>
              <a:buFont typeface="Gill Sans"/>
              <a:buNone/>
            </a:pPr>
            <a:r>
              <a:rPr lang="en-US" sz="4800"/>
              <a:t>Equivalence Class  Partitioning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685800" y="14478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If the input data to the program is specified by a </a:t>
            </a:r>
            <a:r>
              <a:rPr lang="en-US" sz="3600">
                <a:solidFill>
                  <a:srgbClr val="0000FF"/>
                </a:solidFill>
              </a:rPr>
              <a:t>range of values</a:t>
            </a:r>
            <a:r>
              <a:rPr lang="en-US">
                <a:solidFill>
                  <a:srgbClr val="0000FF"/>
                </a:solidFill>
              </a:rPr>
              <a:t>: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/>
              <a:t>e.g. numbers between 1 to 5000.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/>
              <a:t>one valid and two invalid equivalence classes are defined. 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cxnSp>
        <p:nvCxnSpPr>
          <p:cNvPr id="173" name="Google Shape;173;p22"/>
          <p:cNvCxnSpPr/>
          <p:nvPr/>
        </p:nvCxnSpPr>
        <p:spPr>
          <a:xfrm>
            <a:off x="2667000" y="5181600"/>
            <a:ext cx="4191000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2"/>
          <p:cNvSpPr txBox="1"/>
          <p:nvPr/>
        </p:nvSpPr>
        <p:spPr>
          <a:xfrm>
            <a:off x="2514600" y="47244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6324600" y="46482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176" name="Google Shape;176;p22"/>
          <p:cNvCxnSpPr/>
          <p:nvPr/>
        </p:nvCxnSpPr>
        <p:spPr>
          <a:xfrm>
            <a:off x="2819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2"/>
          <p:cNvCxnSpPr/>
          <p:nvPr/>
        </p:nvCxnSpPr>
        <p:spPr>
          <a:xfrm>
            <a:off x="2971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2"/>
          <p:cNvCxnSpPr/>
          <p:nvPr/>
        </p:nvCxnSpPr>
        <p:spPr>
          <a:xfrm>
            <a:off x="3124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2"/>
          <p:cNvCxnSpPr/>
          <p:nvPr/>
        </p:nvCxnSpPr>
        <p:spPr>
          <a:xfrm>
            <a:off x="3276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2"/>
          <p:cNvCxnSpPr/>
          <p:nvPr/>
        </p:nvCxnSpPr>
        <p:spPr>
          <a:xfrm>
            <a:off x="3429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2"/>
          <p:cNvCxnSpPr/>
          <p:nvPr/>
        </p:nvCxnSpPr>
        <p:spPr>
          <a:xfrm>
            <a:off x="3581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2"/>
          <p:cNvCxnSpPr/>
          <p:nvPr/>
        </p:nvCxnSpPr>
        <p:spPr>
          <a:xfrm>
            <a:off x="3733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2"/>
          <p:cNvCxnSpPr/>
          <p:nvPr/>
        </p:nvCxnSpPr>
        <p:spPr>
          <a:xfrm>
            <a:off x="3886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2"/>
          <p:cNvCxnSpPr/>
          <p:nvPr/>
        </p:nvCxnSpPr>
        <p:spPr>
          <a:xfrm>
            <a:off x="4038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2"/>
          <p:cNvCxnSpPr/>
          <p:nvPr/>
        </p:nvCxnSpPr>
        <p:spPr>
          <a:xfrm>
            <a:off x="4191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2"/>
          <p:cNvCxnSpPr/>
          <p:nvPr/>
        </p:nvCxnSpPr>
        <p:spPr>
          <a:xfrm>
            <a:off x="4343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2"/>
          <p:cNvCxnSpPr/>
          <p:nvPr/>
        </p:nvCxnSpPr>
        <p:spPr>
          <a:xfrm>
            <a:off x="4495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2"/>
          <p:cNvCxnSpPr/>
          <p:nvPr/>
        </p:nvCxnSpPr>
        <p:spPr>
          <a:xfrm>
            <a:off x="4648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2"/>
          <p:cNvCxnSpPr/>
          <p:nvPr/>
        </p:nvCxnSpPr>
        <p:spPr>
          <a:xfrm>
            <a:off x="4800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2"/>
          <p:cNvCxnSpPr/>
          <p:nvPr/>
        </p:nvCxnSpPr>
        <p:spPr>
          <a:xfrm>
            <a:off x="4953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2"/>
          <p:cNvCxnSpPr/>
          <p:nvPr/>
        </p:nvCxnSpPr>
        <p:spPr>
          <a:xfrm>
            <a:off x="5105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2"/>
          <p:cNvCxnSpPr/>
          <p:nvPr/>
        </p:nvCxnSpPr>
        <p:spPr>
          <a:xfrm>
            <a:off x="5257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2"/>
          <p:cNvCxnSpPr/>
          <p:nvPr/>
        </p:nvCxnSpPr>
        <p:spPr>
          <a:xfrm>
            <a:off x="5410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2"/>
          <p:cNvCxnSpPr/>
          <p:nvPr/>
        </p:nvCxnSpPr>
        <p:spPr>
          <a:xfrm>
            <a:off x="5562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5715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2"/>
          <p:cNvCxnSpPr/>
          <p:nvPr/>
        </p:nvCxnSpPr>
        <p:spPr>
          <a:xfrm>
            <a:off x="5867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2"/>
          <p:cNvCxnSpPr/>
          <p:nvPr/>
        </p:nvCxnSpPr>
        <p:spPr>
          <a:xfrm>
            <a:off x="6019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2"/>
          <p:cNvCxnSpPr/>
          <p:nvPr/>
        </p:nvCxnSpPr>
        <p:spPr>
          <a:xfrm>
            <a:off x="6172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2"/>
          <p:cNvCxnSpPr/>
          <p:nvPr/>
        </p:nvCxnSpPr>
        <p:spPr>
          <a:xfrm>
            <a:off x="6324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2"/>
          <p:cNvCxnSpPr/>
          <p:nvPr/>
        </p:nvCxnSpPr>
        <p:spPr>
          <a:xfrm>
            <a:off x="6477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2"/>
          <p:cNvCxnSpPr/>
          <p:nvPr/>
        </p:nvCxnSpPr>
        <p:spPr>
          <a:xfrm>
            <a:off x="6629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2"/>
          <p:cNvCxnSpPr/>
          <p:nvPr/>
        </p:nvCxnSpPr>
        <p:spPr>
          <a:xfrm>
            <a:off x="6781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3" name="Google Shape;203;p22"/>
          <p:cNvGrpSpPr/>
          <p:nvPr/>
        </p:nvGrpSpPr>
        <p:grpSpPr>
          <a:xfrm>
            <a:off x="4203700" y="4703763"/>
            <a:ext cx="747713" cy="400050"/>
            <a:chOff x="2648" y="2963"/>
            <a:chExt cx="471" cy="252"/>
          </a:xfrm>
        </p:grpSpPr>
        <p:sp>
          <p:nvSpPr>
            <p:cNvPr id="204" name="Google Shape;204;p22"/>
            <p:cNvSpPr/>
            <p:nvPr/>
          </p:nvSpPr>
          <p:spPr>
            <a:xfrm>
              <a:off x="2648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2779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2887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295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3022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209" name="Google Shape;209;p22"/>
          <p:cNvGrpSpPr/>
          <p:nvPr/>
        </p:nvGrpSpPr>
        <p:grpSpPr>
          <a:xfrm>
            <a:off x="1524000" y="5008563"/>
            <a:ext cx="990601" cy="401638"/>
            <a:chOff x="960" y="3155"/>
            <a:chExt cx="624" cy="253"/>
          </a:xfrm>
        </p:grpSpPr>
        <p:sp>
          <p:nvSpPr>
            <p:cNvPr id="210" name="Google Shape;210;p22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7010400" y="5008563"/>
            <a:ext cx="990601" cy="401638"/>
            <a:chOff x="4416" y="3155"/>
            <a:chExt cx="624" cy="253"/>
          </a:xfrm>
        </p:grpSpPr>
        <p:sp>
          <p:nvSpPr>
            <p:cNvPr id="218" name="Google Shape;218;p22"/>
            <p:cNvSpPr/>
            <p:nvPr/>
          </p:nvSpPr>
          <p:spPr>
            <a:xfrm>
              <a:off x="4416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4491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597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720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4821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488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949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800"/>
              <a:buFont typeface="Gill Sans"/>
              <a:buNone/>
            </a:pPr>
            <a:r>
              <a:rPr lang="en-US" sz="4800"/>
              <a:t>Equivalence Class  Partitioning</a:t>
            </a:r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body" idx="1"/>
          </p:nvPr>
        </p:nvSpPr>
        <p:spPr>
          <a:xfrm>
            <a:off x="685800" y="14478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⚫"/>
            </a:pPr>
            <a:r>
              <a:rPr lang="en-US" sz="3600"/>
              <a:t>If input is an enumerated set of  values: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/>
              <a:t>e.g. {a,b,c}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>
                <a:solidFill>
                  <a:srgbClr val="0000FF"/>
                </a:solidFill>
              </a:rPr>
              <a:t>one equivalence class for valid input values 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>
                <a:solidFill>
                  <a:srgbClr val="0000FF"/>
                </a:solidFill>
              </a:rPr>
              <a:t>another equivalence class for invalid input values should be defined.</a:t>
            </a:r>
            <a:r>
              <a:rPr lang="en-US" sz="3200">
                <a:solidFill>
                  <a:srgbClr val="FFFF00"/>
                </a:solidFill>
              </a:rPr>
              <a:t> </a:t>
            </a:r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>
            <a:spLocks noGrp="1"/>
          </p:cNvSpPr>
          <p:nvPr>
            <p:ph type="title"/>
          </p:nvPr>
        </p:nvSpPr>
        <p:spPr>
          <a:xfrm>
            <a:off x="990600" y="3048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 sz="7200"/>
              <a:t>Example - 1</a:t>
            </a:r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US" sz="4000"/>
              <a:t>A program reads an input value in the range of 1 and 5000: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◦"/>
            </a:pPr>
            <a:r>
              <a:rPr lang="en-US" sz="3600"/>
              <a:t>computes the square root of the input number </a:t>
            </a:r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4191000" y="3886200"/>
            <a:ext cx="1522413" cy="1217613"/>
          </a:xfrm>
          <a:prstGeom prst="ellipse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46800" rIns="18000" bIns="46800" anchor="ctr" anchorCtr="1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SQRT</a:t>
            </a:r>
            <a:endParaRPr/>
          </a:p>
        </p:txBody>
      </p:sp>
      <p:cxnSp>
        <p:nvCxnSpPr>
          <p:cNvPr id="242" name="Google Shape;242;p24"/>
          <p:cNvCxnSpPr/>
          <p:nvPr/>
        </p:nvCxnSpPr>
        <p:spPr>
          <a:xfrm>
            <a:off x="1600200" y="4495800"/>
            <a:ext cx="2590800" cy="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43" name="Google Shape;243;p24"/>
          <p:cNvCxnSpPr/>
          <p:nvPr/>
        </p:nvCxnSpPr>
        <p:spPr>
          <a:xfrm>
            <a:off x="5715000" y="4495800"/>
            <a:ext cx="1828800" cy="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44" name="Google Shape;244;p24"/>
          <p:cNvSpPr/>
          <p:nvPr/>
        </p:nvSpPr>
        <p:spPr>
          <a:xfrm>
            <a:off x="3276600" y="4114800"/>
            <a:ext cx="74613" cy="341313"/>
          </a:xfrm>
          <a:custGeom>
            <a:avLst/>
            <a:gdLst/>
            <a:ahLst/>
            <a:cxnLst/>
            <a:rect l="l" t="t" r="r" b="b"/>
            <a:pathLst>
              <a:path w="212" h="954" extrusionOk="0">
                <a:moveTo>
                  <a:pt x="0" y="284"/>
                </a:moveTo>
                <a:lnTo>
                  <a:pt x="211" y="284"/>
                </a:lnTo>
                <a:lnTo>
                  <a:pt x="211" y="291"/>
                </a:lnTo>
                <a:lnTo>
                  <a:pt x="211" y="890"/>
                </a:lnTo>
                <a:lnTo>
                  <a:pt x="211" y="899"/>
                </a:lnTo>
                <a:lnTo>
                  <a:pt x="211" y="946"/>
                </a:lnTo>
                <a:lnTo>
                  <a:pt x="211" y="953"/>
                </a:lnTo>
                <a:lnTo>
                  <a:pt x="0" y="953"/>
                </a:lnTo>
                <a:lnTo>
                  <a:pt x="0" y="946"/>
                </a:lnTo>
                <a:lnTo>
                  <a:pt x="0" y="899"/>
                </a:lnTo>
                <a:lnTo>
                  <a:pt x="0" y="890"/>
                </a:lnTo>
                <a:lnTo>
                  <a:pt x="0" y="338"/>
                </a:lnTo>
                <a:lnTo>
                  <a:pt x="0" y="331"/>
                </a:lnTo>
                <a:lnTo>
                  <a:pt x="0" y="291"/>
                </a:lnTo>
                <a:lnTo>
                  <a:pt x="0" y="284"/>
                </a:lnTo>
                <a:close/>
                <a:moveTo>
                  <a:pt x="0" y="0"/>
                </a:moveTo>
                <a:lnTo>
                  <a:pt x="211" y="0"/>
                </a:lnTo>
                <a:lnTo>
                  <a:pt x="211" y="7"/>
                </a:lnTo>
                <a:lnTo>
                  <a:pt x="211" y="113"/>
                </a:lnTo>
                <a:lnTo>
                  <a:pt x="211" y="122"/>
                </a:lnTo>
                <a:lnTo>
                  <a:pt x="0" y="122"/>
                </a:lnTo>
                <a:lnTo>
                  <a:pt x="0" y="113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705600" y="4038600"/>
            <a:ext cx="74613" cy="303213"/>
          </a:xfrm>
          <a:custGeom>
            <a:avLst/>
            <a:gdLst/>
            <a:ahLst/>
            <a:cxnLst/>
            <a:rect l="l" t="t" r="r" b="b"/>
            <a:pathLst>
              <a:path w="212" h="848" extrusionOk="0">
                <a:moveTo>
                  <a:pt x="0" y="251"/>
                </a:moveTo>
                <a:lnTo>
                  <a:pt x="211" y="251"/>
                </a:lnTo>
                <a:lnTo>
                  <a:pt x="211" y="258"/>
                </a:lnTo>
                <a:lnTo>
                  <a:pt x="211" y="790"/>
                </a:lnTo>
                <a:lnTo>
                  <a:pt x="211" y="797"/>
                </a:lnTo>
                <a:lnTo>
                  <a:pt x="211" y="840"/>
                </a:lnTo>
                <a:lnTo>
                  <a:pt x="211" y="847"/>
                </a:lnTo>
                <a:lnTo>
                  <a:pt x="0" y="847"/>
                </a:lnTo>
                <a:lnTo>
                  <a:pt x="0" y="840"/>
                </a:lnTo>
                <a:lnTo>
                  <a:pt x="0" y="797"/>
                </a:lnTo>
                <a:lnTo>
                  <a:pt x="0" y="790"/>
                </a:lnTo>
                <a:lnTo>
                  <a:pt x="0" y="300"/>
                </a:lnTo>
                <a:lnTo>
                  <a:pt x="0" y="293"/>
                </a:lnTo>
                <a:lnTo>
                  <a:pt x="0" y="258"/>
                </a:lnTo>
                <a:lnTo>
                  <a:pt x="0" y="251"/>
                </a:lnTo>
                <a:close/>
                <a:moveTo>
                  <a:pt x="0" y="0"/>
                </a:moveTo>
                <a:lnTo>
                  <a:pt x="211" y="0"/>
                </a:lnTo>
                <a:lnTo>
                  <a:pt x="211" y="7"/>
                </a:lnTo>
                <a:lnTo>
                  <a:pt x="211" y="99"/>
                </a:lnTo>
                <a:lnTo>
                  <a:pt x="211" y="106"/>
                </a:lnTo>
                <a:lnTo>
                  <a:pt x="0" y="106"/>
                </a:lnTo>
                <a:lnTo>
                  <a:pt x="0" y="99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246" name="Google Shape;246;p24"/>
          <p:cNvCxnSpPr/>
          <p:nvPr/>
        </p:nvCxnSpPr>
        <p:spPr>
          <a:xfrm rot="10800000" flipH="1">
            <a:off x="6400800" y="4191000"/>
            <a:ext cx="76200" cy="15240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24"/>
          <p:cNvCxnSpPr/>
          <p:nvPr/>
        </p:nvCxnSpPr>
        <p:spPr>
          <a:xfrm>
            <a:off x="6477000" y="4191000"/>
            <a:ext cx="76200" cy="15240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4"/>
          <p:cNvCxnSpPr/>
          <p:nvPr/>
        </p:nvCxnSpPr>
        <p:spPr>
          <a:xfrm rot="10800000">
            <a:off x="6553200" y="3962400"/>
            <a:ext cx="0" cy="38100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4"/>
          <p:cNvCxnSpPr/>
          <p:nvPr/>
        </p:nvCxnSpPr>
        <p:spPr>
          <a:xfrm>
            <a:off x="6553200" y="3962400"/>
            <a:ext cx="457200" cy="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600"/>
              <a:buFont typeface="Gill Sans"/>
              <a:buNone/>
            </a:pPr>
            <a:r>
              <a:rPr lang="en-US" sz="6600"/>
              <a:t> Example - 1 </a:t>
            </a:r>
            <a:r>
              <a:rPr lang="en-US"/>
              <a:t>(cont.)</a:t>
            </a:r>
            <a:endParaRPr/>
          </a:p>
        </p:txBody>
      </p:sp>
      <p:sp>
        <p:nvSpPr>
          <p:cNvPr id="256" name="Google Shape;256;p25"/>
          <p:cNvSpPr txBox="1">
            <a:spLocks noGrp="1"/>
          </p:cNvSpPr>
          <p:nvPr>
            <p:ph type="body" idx="1"/>
          </p:nvPr>
        </p:nvSpPr>
        <p:spPr>
          <a:xfrm>
            <a:off x="685800" y="14478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There are three equivalence classes:</a:t>
            </a:r>
            <a:r>
              <a:rPr lang="en-US" sz="3600"/>
              <a:t>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>
                <a:solidFill>
                  <a:srgbClr val="0000FF"/>
                </a:solidFill>
              </a:rPr>
              <a:t>the set of negative integers,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>
                <a:solidFill>
                  <a:srgbClr val="0000FF"/>
                </a:solidFill>
              </a:rPr>
              <a:t>set of integers in the range of 1 and</a:t>
            </a:r>
            <a:r>
              <a:rPr lang="en-US">
                <a:solidFill>
                  <a:srgbClr val="0000FF"/>
                </a:solidFill>
              </a:rPr>
              <a:t> 5000,</a:t>
            </a:r>
            <a:r>
              <a:rPr lang="en-US" sz="3200">
                <a:solidFill>
                  <a:srgbClr val="0000FF"/>
                </a:solidFill>
              </a:rPr>
              <a:t> 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SzPts val="3200"/>
              <a:buChar char="◦"/>
            </a:pPr>
            <a:r>
              <a:rPr lang="en-US" sz="3200">
                <a:solidFill>
                  <a:srgbClr val="0000FF"/>
                </a:solidFill>
              </a:rPr>
              <a:t>integers larger than 5000. </a:t>
            </a:r>
            <a:endParaRPr/>
          </a:p>
        </p:txBody>
      </p:sp>
      <p:sp>
        <p:nvSpPr>
          <p:cNvPr id="257" name="Google Shape;257;p2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cxnSp>
        <p:nvCxnSpPr>
          <p:cNvPr id="258" name="Google Shape;258;p25"/>
          <p:cNvCxnSpPr/>
          <p:nvPr/>
        </p:nvCxnSpPr>
        <p:spPr>
          <a:xfrm>
            <a:off x="2667000" y="5181600"/>
            <a:ext cx="4191000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5"/>
          <p:cNvSpPr txBox="1"/>
          <p:nvPr/>
        </p:nvSpPr>
        <p:spPr>
          <a:xfrm>
            <a:off x="2514600" y="47244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6324600" y="46482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261" name="Google Shape;261;p25"/>
          <p:cNvCxnSpPr/>
          <p:nvPr/>
        </p:nvCxnSpPr>
        <p:spPr>
          <a:xfrm>
            <a:off x="2819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5"/>
          <p:cNvCxnSpPr/>
          <p:nvPr/>
        </p:nvCxnSpPr>
        <p:spPr>
          <a:xfrm>
            <a:off x="2971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5"/>
          <p:cNvCxnSpPr/>
          <p:nvPr/>
        </p:nvCxnSpPr>
        <p:spPr>
          <a:xfrm>
            <a:off x="3124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5"/>
          <p:cNvCxnSpPr/>
          <p:nvPr/>
        </p:nvCxnSpPr>
        <p:spPr>
          <a:xfrm>
            <a:off x="3276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5"/>
          <p:cNvCxnSpPr/>
          <p:nvPr/>
        </p:nvCxnSpPr>
        <p:spPr>
          <a:xfrm>
            <a:off x="3429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5"/>
          <p:cNvCxnSpPr/>
          <p:nvPr/>
        </p:nvCxnSpPr>
        <p:spPr>
          <a:xfrm>
            <a:off x="3581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5"/>
          <p:cNvCxnSpPr/>
          <p:nvPr/>
        </p:nvCxnSpPr>
        <p:spPr>
          <a:xfrm>
            <a:off x="3733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5"/>
          <p:cNvCxnSpPr/>
          <p:nvPr/>
        </p:nvCxnSpPr>
        <p:spPr>
          <a:xfrm>
            <a:off x="3886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5"/>
          <p:cNvCxnSpPr/>
          <p:nvPr/>
        </p:nvCxnSpPr>
        <p:spPr>
          <a:xfrm>
            <a:off x="4038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5"/>
          <p:cNvCxnSpPr/>
          <p:nvPr/>
        </p:nvCxnSpPr>
        <p:spPr>
          <a:xfrm>
            <a:off x="4191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5"/>
          <p:cNvCxnSpPr/>
          <p:nvPr/>
        </p:nvCxnSpPr>
        <p:spPr>
          <a:xfrm>
            <a:off x="4343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25"/>
          <p:cNvCxnSpPr/>
          <p:nvPr/>
        </p:nvCxnSpPr>
        <p:spPr>
          <a:xfrm>
            <a:off x="4495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25"/>
          <p:cNvCxnSpPr/>
          <p:nvPr/>
        </p:nvCxnSpPr>
        <p:spPr>
          <a:xfrm>
            <a:off x="4648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25"/>
          <p:cNvCxnSpPr/>
          <p:nvPr/>
        </p:nvCxnSpPr>
        <p:spPr>
          <a:xfrm>
            <a:off x="4800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5"/>
          <p:cNvCxnSpPr/>
          <p:nvPr/>
        </p:nvCxnSpPr>
        <p:spPr>
          <a:xfrm>
            <a:off x="4953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5"/>
          <p:cNvCxnSpPr/>
          <p:nvPr/>
        </p:nvCxnSpPr>
        <p:spPr>
          <a:xfrm>
            <a:off x="5105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5"/>
          <p:cNvCxnSpPr/>
          <p:nvPr/>
        </p:nvCxnSpPr>
        <p:spPr>
          <a:xfrm>
            <a:off x="5257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5"/>
          <p:cNvCxnSpPr/>
          <p:nvPr/>
        </p:nvCxnSpPr>
        <p:spPr>
          <a:xfrm>
            <a:off x="5410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5"/>
          <p:cNvCxnSpPr/>
          <p:nvPr/>
        </p:nvCxnSpPr>
        <p:spPr>
          <a:xfrm>
            <a:off x="5562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5"/>
          <p:cNvCxnSpPr/>
          <p:nvPr/>
        </p:nvCxnSpPr>
        <p:spPr>
          <a:xfrm>
            <a:off x="5715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5"/>
          <p:cNvCxnSpPr/>
          <p:nvPr/>
        </p:nvCxnSpPr>
        <p:spPr>
          <a:xfrm>
            <a:off x="5867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5"/>
          <p:cNvCxnSpPr/>
          <p:nvPr/>
        </p:nvCxnSpPr>
        <p:spPr>
          <a:xfrm>
            <a:off x="6019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5"/>
          <p:cNvCxnSpPr/>
          <p:nvPr/>
        </p:nvCxnSpPr>
        <p:spPr>
          <a:xfrm>
            <a:off x="6172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5"/>
          <p:cNvCxnSpPr/>
          <p:nvPr/>
        </p:nvCxnSpPr>
        <p:spPr>
          <a:xfrm>
            <a:off x="6324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5"/>
          <p:cNvCxnSpPr/>
          <p:nvPr/>
        </p:nvCxnSpPr>
        <p:spPr>
          <a:xfrm>
            <a:off x="6477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5"/>
          <p:cNvCxnSpPr/>
          <p:nvPr/>
        </p:nvCxnSpPr>
        <p:spPr>
          <a:xfrm>
            <a:off x="6629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5"/>
          <p:cNvCxnSpPr/>
          <p:nvPr/>
        </p:nvCxnSpPr>
        <p:spPr>
          <a:xfrm>
            <a:off x="6781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8" name="Google Shape;288;p25"/>
          <p:cNvGrpSpPr/>
          <p:nvPr/>
        </p:nvGrpSpPr>
        <p:grpSpPr>
          <a:xfrm>
            <a:off x="4203700" y="4703763"/>
            <a:ext cx="747713" cy="400050"/>
            <a:chOff x="2648" y="2963"/>
            <a:chExt cx="471" cy="252"/>
          </a:xfrm>
        </p:grpSpPr>
        <p:sp>
          <p:nvSpPr>
            <p:cNvPr id="289" name="Google Shape;289;p25"/>
            <p:cNvSpPr/>
            <p:nvPr/>
          </p:nvSpPr>
          <p:spPr>
            <a:xfrm>
              <a:off x="2648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2779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2887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295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3022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294" name="Google Shape;294;p25"/>
          <p:cNvGrpSpPr/>
          <p:nvPr/>
        </p:nvGrpSpPr>
        <p:grpSpPr>
          <a:xfrm>
            <a:off x="1524000" y="5008563"/>
            <a:ext cx="990601" cy="401638"/>
            <a:chOff x="960" y="3155"/>
            <a:chExt cx="624" cy="253"/>
          </a:xfrm>
        </p:grpSpPr>
        <p:sp>
          <p:nvSpPr>
            <p:cNvPr id="295" name="Google Shape;295;p25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02" name="Google Shape;302;p25"/>
          <p:cNvGrpSpPr/>
          <p:nvPr/>
        </p:nvGrpSpPr>
        <p:grpSpPr>
          <a:xfrm>
            <a:off x="7010400" y="5008563"/>
            <a:ext cx="990601" cy="401638"/>
            <a:chOff x="4416" y="3155"/>
            <a:chExt cx="624" cy="253"/>
          </a:xfrm>
        </p:grpSpPr>
        <p:sp>
          <p:nvSpPr>
            <p:cNvPr id="303" name="Google Shape;303;p25"/>
            <p:cNvSpPr/>
            <p:nvPr/>
          </p:nvSpPr>
          <p:spPr>
            <a:xfrm>
              <a:off x="4416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4491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4597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4720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4821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488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4949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"/>
          <p:cNvSpPr txBox="1">
            <a:spLocks noGrp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 sz="7200"/>
              <a:t>Example - 1</a:t>
            </a:r>
            <a:r>
              <a:rPr lang="en-US" sz="4400"/>
              <a:t>(cont.)</a:t>
            </a:r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body" idx="1"/>
          </p:nvPr>
        </p:nvSpPr>
        <p:spPr>
          <a:xfrm>
            <a:off x="685800" y="1447800"/>
            <a:ext cx="7770813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US" sz="4000"/>
              <a:t>The test suite must include: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◦"/>
            </a:pPr>
            <a:r>
              <a:rPr lang="en-US" sz="3600"/>
              <a:t>representatives from each of the three equivalence classes:</a:t>
            </a:r>
            <a:endParaRPr/>
          </a:p>
          <a:p>
            <a:pPr marL="640080" lvl="1" indent="-23774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◦"/>
            </a:pPr>
            <a:r>
              <a:rPr lang="en-US" sz="3600">
                <a:solidFill>
                  <a:srgbClr val="0000FF"/>
                </a:solidFill>
              </a:rPr>
              <a:t>a possible test suite can be: </a:t>
            </a:r>
            <a:br>
              <a:rPr lang="en-US" sz="3600">
                <a:solidFill>
                  <a:srgbClr val="0000FF"/>
                </a:solidFill>
              </a:rPr>
            </a:br>
            <a:r>
              <a:rPr lang="en-US" sz="3600">
                <a:solidFill>
                  <a:srgbClr val="0000FF"/>
                </a:solidFill>
              </a:rPr>
              <a:t>{-5,500,6000}.</a:t>
            </a:r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cxnSp>
        <p:nvCxnSpPr>
          <p:cNvPr id="318" name="Google Shape;318;p26"/>
          <p:cNvCxnSpPr/>
          <p:nvPr/>
        </p:nvCxnSpPr>
        <p:spPr>
          <a:xfrm>
            <a:off x="2667000" y="5181600"/>
            <a:ext cx="4191000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6"/>
          <p:cNvSpPr txBox="1"/>
          <p:nvPr/>
        </p:nvSpPr>
        <p:spPr>
          <a:xfrm>
            <a:off x="2514600" y="47244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6324600" y="4572000"/>
            <a:ext cx="9128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321" name="Google Shape;321;p26"/>
          <p:cNvCxnSpPr/>
          <p:nvPr/>
        </p:nvCxnSpPr>
        <p:spPr>
          <a:xfrm>
            <a:off x="2819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6"/>
          <p:cNvCxnSpPr/>
          <p:nvPr/>
        </p:nvCxnSpPr>
        <p:spPr>
          <a:xfrm>
            <a:off x="2971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6"/>
          <p:cNvCxnSpPr/>
          <p:nvPr/>
        </p:nvCxnSpPr>
        <p:spPr>
          <a:xfrm>
            <a:off x="3124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6"/>
          <p:cNvCxnSpPr/>
          <p:nvPr/>
        </p:nvCxnSpPr>
        <p:spPr>
          <a:xfrm>
            <a:off x="3276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6"/>
          <p:cNvCxnSpPr/>
          <p:nvPr/>
        </p:nvCxnSpPr>
        <p:spPr>
          <a:xfrm>
            <a:off x="3429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6"/>
          <p:cNvCxnSpPr/>
          <p:nvPr/>
        </p:nvCxnSpPr>
        <p:spPr>
          <a:xfrm>
            <a:off x="3581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6"/>
          <p:cNvCxnSpPr/>
          <p:nvPr/>
        </p:nvCxnSpPr>
        <p:spPr>
          <a:xfrm>
            <a:off x="3733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6"/>
          <p:cNvCxnSpPr/>
          <p:nvPr/>
        </p:nvCxnSpPr>
        <p:spPr>
          <a:xfrm>
            <a:off x="3886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26"/>
          <p:cNvCxnSpPr/>
          <p:nvPr/>
        </p:nvCxnSpPr>
        <p:spPr>
          <a:xfrm>
            <a:off x="4038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6"/>
          <p:cNvCxnSpPr/>
          <p:nvPr/>
        </p:nvCxnSpPr>
        <p:spPr>
          <a:xfrm>
            <a:off x="4191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6"/>
          <p:cNvCxnSpPr/>
          <p:nvPr/>
        </p:nvCxnSpPr>
        <p:spPr>
          <a:xfrm>
            <a:off x="4343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6"/>
          <p:cNvCxnSpPr/>
          <p:nvPr/>
        </p:nvCxnSpPr>
        <p:spPr>
          <a:xfrm>
            <a:off x="4495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6"/>
          <p:cNvCxnSpPr/>
          <p:nvPr/>
        </p:nvCxnSpPr>
        <p:spPr>
          <a:xfrm>
            <a:off x="4648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6"/>
          <p:cNvCxnSpPr/>
          <p:nvPr/>
        </p:nvCxnSpPr>
        <p:spPr>
          <a:xfrm>
            <a:off x="4800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6"/>
          <p:cNvCxnSpPr/>
          <p:nvPr/>
        </p:nvCxnSpPr>
        <p:spPr>
          <a:xfrm>
            <a:off x="4953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6"/>
          <p:cNvCxnSpPr/>
          <p:nvPr/>
        </p:nvCxnSpPr>
        <p:spPr>
          <a:xfrm>
            <a:off x="5105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6"/>
          <p:cNvCxnSpPr/>
          <p:nvPr/>
        </p:nvCxnSpPr>
        <p:spPr>
          <a:xfrm>
            <a:off x="5257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Google Shape;338;p26"/>
          <p:cNvCxnSpPr/>
          <p:nvPr/>
        </p:nvCxnSpPr>
        <p:spPr>
          <a:xfrm>
            <a:off x="5410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9" name="Google Shape;339;p26"/>
          <p:cNvCxnSpPr/>
          <p:nvPr/>
        </p:nvCxnSpPr>
        <p:spPr>
          <a:xfrm>
            <a:off x="5562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6"/>
          <p:cNvCxnSpPr/>
          <p:nvPr/>
        </p:nvCxnSpPr>
        <p:spPr>
          <a:xfrm>
            <a:off x="5715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6"/>
          <p:cNvCxnSpPr/>
          <p:nvPr/>
        </p:nvCxnSpPr>
        <p:spPr>
          <a:xfrm>
            <a:off x="5867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26"/>
          <p:cNvCxnSpPr/>
          <p:nvPr/>
        </p:nvCxnSpPr>
        <p:spPr>
          <a:xfrm>
            <a:off x="6019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26"/>
          <p:cNvCxnSpPr/>
          <p:nvPr/>
        </p:nvCxnSpPr>
        <p:spPr>
          <a:xfrm>
            <a:off x="61722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26"/>
          <p:cNvCxnSpPr/>
          <p:nvPr/>
        </p:nvCxnSpPr>
        <p:spPr>
          <a:xfrm>
            <a:off x="63246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26"/>
          <p:cNvCxnSpPr/>
          <p:nvPr/>
        </p:nvCxnSpPr>
        <p:spPr>
          <a:xfrm>
            <a:off x="64770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26"/>
          <p:cNvCxnSpPr/>
          <p:nvPr/>
        </p:nvCxnSpPr>
        <p:spPr>
          <a:xfrm>
            <a:off x="66294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26"/>
          <p:cNvCxnSpPr/>
          <p:nvPr/>
        </p:nvCxnSpPr>
        <p:spPr>
          <a:xfrm>
            <a:off x="6781800" y="5105400"/>
            <a:ext cx="0" cy="15240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8" name="Google Shape;348;p26"/>
          <p:cNvGrpSpPr/>
          <p:nvPr/>
        </p:nvGrpSpPr>
        <p:grpSpPr>
          <a:xfrm>
            <a:off x="4660900" y="4703763"/>
            <a:ext cx="747713" cy="400050"/>
            <a:chOff x="2936" y="2963"/>
            <a:chExt cx="471" cy="252"/>
          </a:xfrm>
        </p:grpSpPr>
        <p:sp>
          <p:nvSpPr>
            <p:cNvPr id="349" name="Google Shape;349;p26"/>
            <p:cNvSpPr/>
            <p:nvPr/>
          </p:nvSpPr>
          <p:spPr>
            <a:xfrm>
              <a:off x="2936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3067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317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3243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310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54" name="Google Shape;354;p26"/>
          <p:cNvGrpSpPr/>
          <p:nvPr/>
        </p:nvGrpSpPr>
        <p:grpSpPr>
          <a:xfrm>
            <a:off x="1524000" y="5008563"/>
            <a:ext cx="990601" cy="401638"/>
            <a:chOff x="960" y="3155"/>
            <a:chExt cx="624" cy="253"/>
          </a:xfrm>
        </p:grpSpPr>
        <p:sp>
          <p:nvSpPr>
            <p:cNvPr id="355" name="Google Shape;355;p26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62" name="Google Shape;362;p26"/>
          <p:cNvGrpSpPr/>
          <p:nvPr/>
        </p:nvGrpSpPr>
        <p:grpSpPr>
          <a:xfrm>
            <a:off x="6934200" y="5008563"/>
            <a:ext cx="990600" cy="401638"/>
            <a:chOff x="4368" y="3155"/>
            <a:chExt cx="624" cy="253"/>
          </a:xfrm>
        </p:grpSpPr>
        <p:sp>
          <p:nvSpPr>
            <p:cNvPr id="363" name="Google Shape;363;p26"/>
            <p:cNvSpPr/>
            <p:nvPr/>
          </p:nvSpPr>
          <p:spPr>
            <a:xfrm>
              <a:off x="4368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4444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1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4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6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1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1" y="782"/>
                  </a:lnTo>
                  <a:lnTo>
                    <a:pt x="295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5" y="707"/>
                  </a:lnTo>
                  <a:lnTo>
                    <a:pt x="331" y="707"/>
                  </a:lnTo>
                  <a:lnTo>
                    <a:pt x="331" y="196"/>
                  </a:lnTo>
                  <a:lnTo>
                    <a:pt x="295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4549" y="3231"/>
              <a:ext cx="100" cy="177"/>
            </a:xfrm>
            <a:custGeom>
              <a:avLst/>
              <a:gdLst/>
              <a:ahLst/>
              <a:cxnLst/>
              <a:rect l="l" t="t" r="r" b="b"/>
              <a:pathLst>
                <a:path w="447" h="783" extrusionOk="0">
                  <a:moveTo>
                    <a:pt x="5" y="0"/>
                  </a:moveTo>
                  <a:lnTo>
                    <a:pt x="157" y="0"/>
                  </a:lnTo>
                  <a:lnTo>
                    <a:pt x="162" y="8"/>
                  </a:lnTo>
                  <a:lnTo>
                    <a:pt x="162" y="55"/>
                  </a:lnTo>
                  <a:lnTo>
                    <a:pt x="157" y="64"/>
                  </a:lnTo>
                  <a:lnTo>
                    <a:pt x="126" y="64"/>
                  </a:lnTo>
                  <a:lnTo>
                    <a:pt x="126" y="187"/>
                  </a:lnTo>
                  <a:lnTo>
                    <a:pt x="157" y="187"/>
                  </a:lnTo>
                  <a:lnTo>
                    <a:pt x="162" y="196"/>
                  </a:lnTo>
                  <a:lnTo>
                    <a:pt x="162" y="385"/>
                  </a:lnTo>
                  <a:lnTo>
                    <a:pt x="197" y="385"/>
                  </a:lnTo>
                  <a:lnTo>
                    <a:pt x="202" y="396"/>
                  </a:lnTo>
                  <a:lnTo>
                    <a:pt x="202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3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3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3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3" y="0"/>
                  </a:lnTo>
                  <a:lnTo>
                    <a:pt x="439" y="0"/>
                  </a:lnTo>
                  <a:lnTo>
                    <a:pt x="446" y="8"/>
                  </a:lnTo>
                  <a:lnTo>
                    <a:pt x="446" y="55"/>
                  </a:lnTo>
                  <a:lnTo>
                    <a:pt x="439" y="64"/>
                  </a:lnTo>
                  <a:lnTo>
                    <a:pt x="405" y="64"/>
                  </a:lnTo>
                  <a:lnTo>
                    <a:pt x="405" y="121"/>
                  </a:lnTo>
                  <a:lnTo>
                    <a:pt x="399" y="132"/>
                  </a:lnTo>
                  <a:lnTo>
                    <a:pt x="364" y="132"/>
                  </a:lnTo>
                  <a:lnTo>
                    <a:pt x="364" y="319"/>
                  </a:lnTo>
                  <a:lnTo>
                    <a:pt x="358" y="328"/>
                  </a:lnTo>
                  <a:lnTo>
                    <a:pt x="324" y="328"/>
                  </a:lnTo>
                  <a:lnTo>
                    <a:pt x="324" y="518"/>
                  </a:lnTo>
                  <a:lnTo>
                    <a:pt x="319" y="528"/>
                  </a:lnTo>
                  <a:lnTo>
                    <a:pt x="283" y="528"/>
                  </a:lnTo>
                  <a:lnTo>
                    <a:pt x="283" y="707"/>
                  </a:lnTo>
                  <a:lnTo>
                    <a:pt x="278" y="718"/>
                  </a:lnTo>
                  <a:lnTo>
                    <a:pt x="243" y="718"/>
                  </a:lnTo>
                  <a:lnTo>
                    <a:pt x="243" y="773"/>
                  </a:lnTo>
                  <a:lnTo>
                    <a:pt x="238" y="782"/>
                  </a:lnTo>
                  <a:lnTo>
                    <a:pt x="202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2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6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6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5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5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5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4672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7" h="783" extrusionOk="0">
                  <a:moveTo>
                    <a:pt x="204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4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7" y="641"/>
                  </a:lnTo>
                  <a:lnTo>
                    <a:pt x="87" y="460"/>
                  </a:lnTo>
                  <a:lnTo>
                    <a:pt x="117" y="460"/>
                  </a:lnTo>
                  <a:lnTo>
                    <a:pt x="123" y="452"/>
                  </a:lnTo>
                  <a:lnTo>
                    <a:pt x="123" y="396"/>
                  </a:lnTo>
                  <a:lnTo>
                    <a:pt x="198" y="396"/>
                  </a:lnTo>
                  <a:lnTo>
                    <a:pt x="204" y="385"/>
                  </a:lnTo>
                  <a:lnTo>
                    <a:pt x="204" y="328"/>
                  </a:lnTo>
                  <a:close/>
                  <a:moveTo>
                    <a:pt x="87" y="0"/>
                  </a:moveTo>
                  <a:lnTo>
                    <a:pt x="279" y="0"/>
                  </a:lnTo>
                  <a:lnTo>
                    <a:pt x="285" y="8"/>
                  </a:lnTo>
                  <a:lnTo>
                    <a:pt x="285" y="55"/>
                  </a:lnTo>
                  <a:lnTo>
                    <a:pt x="319" y="55"/>
                  </a:lnTo>
                  <a:lnTo>
                    <a:pt x="326" y="64"/>
                  </a:lnTo>
                  <a:lnTo>
                    <a:pt x="326" y="707"/>
                  </a:lnTo>
                  <a:lnTo>
                    <a:pt x="360" y="707"/>
                  </a:lnTo>
                  <a:lnTo>
                    <a:pt x="366" y="718"/>
                  </a:lnTo>
                  <a:lnTo>
                    <a:pt x="366" y="773"/>
                  </a:lnTo>
                  <a:lnTo>
                    <a:pt x="360" y="782"/>
                  </a:lnTo>
                  <a:lnTo>
                    <a:pt x="285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4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4" y="650"/>
                  </a:lnTo>
                  <a:lnTo>
                    <a:pt x="204" y="707"/>
                  </a:lnTo>
                  <a:lnTo>
                    <a:pt x="198" y="718"/>
                  </a:lnTo>
                  <a:lnTo>
                    <a:pt x="163" y="718"/>
                  </a:lnTo>
                  <a:lnTo>
                    <a:pt x="163" y="773"/>
                  </a:lnTo>
                  <a:lnTo>
                    <a:pt x="157" y="782"/>
                  </a:lnTo>
                  <a:lnTo>
                    <a:pt x="47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6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6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7" y="385"/>
                  </a:lnTo>
                  <a:lnTo>
                    <a:pt x="81" y="385"/>
                  </a:lnTo>
                  <a:lnTo>
                    <a:pt x="81" y="328"/>
                  </a:lnTo>
                  <a:lnTo>
                    <a:pt x="87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3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4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3" y="64"/>
                  </a:lnTo>
                  <a:lnTo>
                    <a:pt x="123" y="187"/>
                  </a:lnTo>
                  <a:lnTo>
                    <a:pt x="117" y="196"/>
                  </a:lnTo>
                  <a:lnTo>
                    <a:pt x="47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7" y="55"/>
                  </a:lnTo>
                  <a:lnTo>
                    <a:pt x="81" y="55"/>
                  </a:lnTo>
                  <a:lnTo>
                    <a:pt x="81" y="8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4773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4837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30" y="341"/>
                  </a:lnTo>
                  <a:lnTo>
                    <a:pt x="130" y="1040"/>
                  </a:lnTo>
                  <a:lnTo>
                    <a:pt x="166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6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50" y="0"/>
                  </a:moveTo>
                  <a:lnTo>
                    <a:pt x="123" y="0"/>
                  </a:lnTo>
                  <a:lnTo>
                    <a:pt x="130" y="11"/>
                  </a:lnTo>
                  <a:lnTo>
                    <a:pt x="130" y="132"/>
                  </a:lnTo>
                  <a:lnTo>
                    <a:pt x="123" y="143"/>
                  </a:lnTo>
                  <a:lnTo>
                    <a:pt x="50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4901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2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2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5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5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2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3" y="1051"/>
                  </a:lnTo>
                  <a:lnTo>
                    <a:pt x="283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5" y="1106"/>
                  </a:lnTo>
                  <a:lnTo>
                    <a:pt x="115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7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7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5" y="388"/>
                  </a:lnTo>
                  <a:lnTo>
                    <a:pt x="115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2" y="341"/>
                  </a:lnTo>
                  <a:lnTo>
                    <a:pt x="242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2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 - 2 </a:t>
            </a:r>
            <a:endParaRPr/>
          </a:p>
        </p:txBody>
      </p:sp>
      <p:sp>
        <p:nvSpPr>
          <p:cNvPr id="375" name="Google Shape;375;p2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A program reads three numbers, A, B, and C, with a range [1, 50] and prints the largest number. Design test cases for this program using equivalence class testing technique. </a:t>
            </a:r>
            <a:endParaRPr/>
          </a:p>
        </p:txBody>
      </p:sp>
      <p:sp>
        <p:nvSpPr>
          <p:cNvPr id="376" name="Google Shape;376;p2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382" name="Google Shape;382;p28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1. First we partition the domain of input as valid input values and invalid values, getting the following classes: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I1 = {&lt;A, B, C&gt; : 1 ≤ A ≤ 50}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I2 = {&lt;A, B, C&gt; : 1 ≤ B ≤ 50}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I3 = {&lt;A, B, C&gt; : 1 ≤ C ≤ 50}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I4 = {&lt;A, B, C&gt; : A &lt; 1}</a:t>
            </a:r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I5 = {&lt;A, B, C&gt; : A &gt; 50}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I6 = {&lt;A, B, C&gt; : B &lt; 1}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I7 = {&lt;A, B, C&gt; : B &gt; 50}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I8 = {&lt;A, B, C&gt; : C &lt; 1}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I9 = {&lt;A, B, C&gt; : C &gt; 50}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396" name="Google Shape;396;p30"/>
          <p:cNvSpPr txBox="1">
            <a:spLocks noGrp="1"/>
          </p:cNvSpPr>
          <p:nvPr>
            <p:ph type="body" idx="1"/>
          </p:nvPr>
        </p:nvSpPr>
        <p:spPr>
          <a:xfrm>
            <a:off x="1066800" y="14478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Now the test cases can be designed from the above derived classes, taking </a:t>
            </a:r>
            <a:endParaRPr/>
          </a:p>
          <a:p>
            <a:pPr marL="640080" lvl="1" indent="-237744" algn="just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>
                <a:solidFill>
                  <a:srgbClr val="FF0000"/>
                </a:solidFill>
              </a:rPr>
              <a:t>one test case from each class such that the test case covers maximum valid input classes,   and</a:t>
            </a:r>
            <a:endParaRPr/>
          </a:p>
          <a:p>
            <a:pPr marL="640080" lvl="1" indent="-237744" algn="just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>
                <a:solidFill>
                  <a:srgbClr val="FF0000"/>
                </a:solidFill>
              </a:rPr>
              <a:t>separate test cases for each invalid class.</a:t>
            </a:r>
            <a:endParaRPr/>
          </a:p>
        </p:txBody>
      </p:sp>
      <p:sp>
        <p:nvSpPr>
          <p:cNvPr id="397" name="Google Shape;397;p3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test cases are shown below: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404" name="Google Shape;404;p3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405" name="Google Shape;40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2514600"/>
            <a:ext cx="7467600" cy="3386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11" name="Google Shape;411;p3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2. We can derive another set of equivalence classes based on some possibilities for three integers, A, B, and C. These are given below: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I1 = {&lt;A, B, C&gt; : A &gt; B, A &gt; C}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I2 = {&lt;A, B, C&gt; : B &gt; A, B &gt; C}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I3 = {&lt;A, B, C&gt; : C &gt; A, C &gt; B} </a:t>
            </a:r>
            <a:endParaRPr/>
          </a:p>
        </p:txBody>
      </p:sp>
      <p:sp>
        <p:nvSpPr>
          <p:cNvPr id="412" name="Google Shape;412;p3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18" name="Google Shape;418;p33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I4 = {&lt;A, B, C&gt; : A = B, A ≠ C}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I5 = {&lt;A, B, C&gt; : B = C, A ≠ B}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I6 = {&lt;A, B, C&gt; : A = C, C ≠ B}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I7 = {&lt;A, B, C&gt; : A = B = C}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419" name="Google Shape;419;p3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425" name="Google Shape;425;p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2209800"/>
            <a:ext cx="7239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 - 3</a:t>
            </a:r>
            <a:endParaRPr/>
          </a:p>
        </p:txBody>
      </p:sp>
      <p:sp>
        <p:nvSpPr>
          <p:cNvPr id="432" name="Google Shape;432;p35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  A program determines the next date in the calendar. Its input is entered in the form of with the following range: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1 ≤ mm ≤ 12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1 ≤ dd ≤ 31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1900 ≤ yyyy ≤ 2025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433" name="Google Shape;433;p3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39" name="Google Shape;439;p36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Its output would be the next date or an error message ‘invalid date.’ Design test cases using equivalence class partitioning method.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440" name="Google Shape;440;p3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 </a:t>
            </a:r>
            <a:endParaRPr/>
          </a:p>
        </p:txBody>
      </p:sp>
      <p:sp>
        <p:nvSpPr>
          <p:cNvPr id="446" name="Google Shape;446;p3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  First, we partition the domain of input in terms of valid input values and invalid values, getting the following classes: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I1 = { &lt;m, d, y&gt; : 1 ≤ m ≤ 12}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I2 = {&lt;m, d, y&gt; : 1 ≤ d ≤ 31}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I3 = {&lt;m, d, y&gt; : 1900 ≤ y ≤ 2025}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 I4 = {&lt;m, d, y&gt; : m &lt; 1}</a:t>
            </a:r>
            <a:endParaRPr/>
          </a:p>
        </p:txBody>
      </p:sp>
      <p:sp>
        <p:nvSpPr>
          <p:cNvPr id="447" name="Google Shape;447;p3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53" name="Google Shape;453;p38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1209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I5 = {&lt;m, d, y&gt; : m &gt; 12}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I6 = {&lt;m, d, y&gt; : d &lt; 1}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I7 = {&lt;m, d, y&gt; : d &gt; 31}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I8 = {&lt;m, d, y&gt; : y &lt; 1900}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I9 = {&lt;m, d, y&gt; : y &gt; 2025}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454" name="Google Shape;454;p3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60" name="Google Shape;460;p39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test cases can be designed from the above derived classes, </a:t>
            </a:r>
            <a:endParaRPr/>
          </a:p>
          <a:p>
            <a:pPr marL="640080" lvl="1" indent="-237744" algn="just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taking one test case from each class such that the test case covers maximum valid input classes, and </a:t>
            </a:r>
            <a:endParaRPr/>
          </a:p>
          <a:p>
            <a:pPr marL="640080" lvl="1" indent="-237744" algn="just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separate test cases for each invalid class. </a:t>
            </a:r>
            <a:endParaRPr/>
          </a:p>
          <a:p>
            <a:pPr marL="365760" lvl="1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Noto Sans Symbols"/>
              <a:buChar char="⚫"/>
            </a:pPr>
            <a:r>
              <a:rPr lang="en-US" sz="3200"/>
              <a:t>The test cases are shown in next slide.</a:t>
            </a:r>
            <a:endParaRPr/>
          </a:p>
        </p:txBody>
      </p:sp>
      <p:sp>
        <p:nvSpPr>
          <p:cNvPr id="461" name="Google Shape;461;p3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467" name="Google Shape;467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905000"/>
            <a:ext cx="75438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 - 4</a:t>
            </a:r>
            <a:endParaRPr/>
          </a:p>
        </p:txBody>
      </p:sp>
      <p:sp>
        <p:nvSpPr>
          <p:cNvPr id="474" name="Google Shape;474;p41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A program takes an angle as input within the range [0, 360] and determines in which quadrant the angle lies. Design test cases using equivalence class partitioning method.</a:t>
            </a:r>
            <a:endParaRPr/>
          </a:p>
        </p:txBody>
      </p:sp>
      <p:sp>
        <p:nvSpPr>
          <p:cNvPr id="475" name="Google Shape;475;p4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81" name="Google Shape;481;p4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1. First, we partition the domain of input as valid and invalid classes as follows: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I1 = {&lt;Angle&gt; : 0 ≤ Angle ≤ 360}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I2 = {&lt;Angle&gt; : Angle &lt; 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I3 = {&lt;Angle&gt; : Angle &gt; 360}</a:t>
            </a:r>
            <a:endParaRPr/>
          </a:p>
        </p:txBody>
      </p:sp>
      <p:sp>
        <p:nvSpPr>
          <p:cNvPr id="482" name="Google Shape;482;p4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88" name="Google Shape;488;p43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test cases designed from these classes are shown below:</a:t>
            </a:r>
            <a:endParaRPr/>
          </a:p>
        </p:txBody>
      </p:sp>
      <p:sp>
        <p:nvSpPr>
          <p:cNvPr id="489" name="Google Shape;489;p4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490" name="Google Shape;49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3581400"/>
            <a:ext cx="70866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496" name="Google Shape;496;p44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2. The classes can also be prepared based on the output criteria as shown below: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O1 = {&lt;Angle&gt;: First Quadrant, if 0 ≤ Angle ≤ 90}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O2 = {&lt;Angle&gt;: Second Quadrant, if 91 ≤ Angle ≤ 180} 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O3 = {&lt;Angle&gt;: Third Quadrant, if 181 ≤ Angle ≤ 270}</a:t>
            </a:r>
            <a:endParaRPr/>
          </a:p>
        </p:txBody>
      </p:sp>
      <p:sp>
        <p:nvSpPr>
          <p:cNvPr id="497" name="Google Shape;497;p44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503" name="Google Shape;503;p45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O4 = {&lt;Angle&gt;: Fourth Quadrant, if 271 ≤ Angle ≤ 360} </a:t>
            </a:r>
            <a:endParaRPr/>
          </a:p>
          <a:p>
            <a:pPr marL="365760" lvl="0" indent="-283464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O5 = {&lt;Angle&gt;: Invalid Angle};</a:t>
            </a:r>
            <a:endParaRPr/>
          </a:p>
          <a:p>
            <a:pPr marL="365760" lvl="0" indent="-283464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However, O5 is not sufficient to cover all invalid conditions this way. Therefore, it must be further divided into equivalence classes as shown in next slide:</a:t>
            </a:r>
            <a:endParaRPr/>
          </a:p>
          <a:p>
            <a:pPr marL="365760" lvl="0" indent="-1209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endParaRPr/>
          </a:p>
        </p:txBody>
      </p:sp>
      <p:sp>
        <p:nvSpPr>
          <p:cNvPr id="504" name="Google Shape;504;p4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6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510" name="Google Shape;510;p46"/>
          <p:cNvSpPr txBox="1">
            <a:spLocks noGrp="1"/>
          </p:cNvSpPr>
          <p:nvPr>
            <p:ph type="body" idx="1"/>
          </p:nvPr>
        </p:nvSpPr>
        <p:spPr>
          <a:xfrm>
            <a:off x="1066800" y="1447800"/>
            <a:ext cx="7848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O5</a:t>
            </a:r>
            <a:r>
              <a:rPr lang="en-US" sz="2400"/>
              <a:t>1</a:t>
            </a:r>
            <a:r>
              <a:rPr lang="en-US"/>
              <a:t>={&lt;Angle&gt;: Invalid Angle, if Angle &gt; 360} </a:t>
            </a:r>
            <a:endParaRPr/>
          </a:p>
          <a:p>
            <a:pPr marL="365760" lvl="0" indent="-283464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O5</a:t>
            </a:r>
            <a:r>
              <a:rPr lang="en-US" sz="2400"/>
              <a:t>2</a:t>
            </a:r>
            <a:r>
              <a:rPr lang="en-US"/>
              <a:t>={&lt;Angle&gt;: Invalid Angle, if Angle &lt; 0}</a:t>
            </a:r>
            <a:endParaRPr/>
          </a:p>
        </p:txBody>
      </p:sp>
      <p:sp>
        <p:nvSpPr>
          <p:cNvPr id="511" name="Google Shape;511;p4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7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517" name="Google Shape;517;p47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Now, the test cases can be designed from the above derived classes as shown below:</a:t>
            </a:r>
            <a:endParaRPr/>
          </a:p>
        </p:txBody>
      </p:sp>
      <p:sp>
        <p:nvSpPr>
          <p:cNvPr id="518" name="Google Shape;518;p4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519" name="Google Shape;5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3429000"/>
            <a:ext cx="73914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8000"/>
              </a:lnSpc>
              <a:buSzPts val="1980"/>
            </a:pPr>
            <a:r>
              <a:rPr lang="en-US" sz="4000" b="1" dirty="0" smtClean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Example-5: </a:t>
            </a:r>
            <a:r>
              <a:rPr lang="en-US" sz="4000" b="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Intersection of two straight lines</a:t>
            </a:r>
            <a:endParaRPr dirty="0"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632159" y="940418"/>
            <a:ext cx="7797600" cy="559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3046" indent="-288004">
              <a:spcBef>
                <a:spcPts val="0"/>
              </a:spcBef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Q. Design B-B test cases for the following program: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program checks if  2 straight lines intersect and print their point of intersection.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  The straight line may be represented as: y  =  mx + c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Straight lines are given in the form of (m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(m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 classes are as follows: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Noto Sans Symbols"/>
              <a:buChar char="✔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The lines are parallel i.e. m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So points are (1, 2) and (1, 5)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Noto Sans Symbols"/>
              <a:buChar char="✔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Coincident lines i.e. m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c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And points are (2, 3) and (2, 3)</a:t>
            </a:r>
            <a:endParaRPr/>
          </a:p>
          <a:p>
            <a:pPr marL="383046" indent="-220611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3766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71040" y="325474"/>
            <a:ext cx="7797600" cy="11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8000"/>
              </a:lnSpc>
              <a:buSzPts val="1980"/>
            </a:pPr>
            <a:r>
              <a:rPr lang="en-US" sz="4000" b="1" dirty="0" smtClean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Example-5 </a:t>
            </a:r>
            <a:r>
              <a:rPr lang="en-US" sz="2400" b="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Contd.</a:t>
            </a:r>
            <a:endParaRPr dirty="0"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71040" y="1746903"/>
            <a:ext cx="7797600" cy="4308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3046" indent="-220611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Noto Sans Symbols"/>
              <a:buChar char="✔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 Lines intersecting at one point i.e. 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points may be (2, 5) and (3, 6).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there are 3 valid equivalent classes. You may include one more valid equivalent classes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no boundary values here.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 resultant test suite is: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{{(1, 2),(1, 5)}, {(2, 3),(2, 3)} {(2, 5),(3, 6)}.</a:t>
            </a:r>
            <a:endParaRPr/>
          </a:p>
          <a:p>
            <a:pPr marL="383046" indent="-220611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endParaRPr sz="2400" b="1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0879" y="2322964"/>
            <a:ext cx="914400" cy="345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8850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217440" y="318273"/>
            <a:ext cx="8709120" cy="11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8000"/>
              </a:lnSpc>
              <a:buSzPts val="1980"/>
            </a:pPr>
            <a:r>
              <a:rPr lang="en-US" sz="4000" b="1" dirty="0" smtClean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Example-6: </a:t>
            </a:r>
            <a:r>
              <a:rPr lang="en-US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Solving quadratic equations </a:t>
            </a:r>
            <a:endParaRPr dirty="0"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671040" y="1746903"/>
            <a:ext cx="7797600" cy="4308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Q. Design B-B test cases for the following program: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The program solves quadratic equations of the form 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It accepts 3 floating point values as input and gives the roots, e.g. The input may be (7.7, 3.3 and 4.5).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Equivalent Classes are as follows: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Font typeface="Comic Sans M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4ac inputs are: a= 2.0, b=4.0 and c=2.0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Font typeface="Comic Sans M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4ac  inputs are a=2.0, b= 5.0 and c=2.0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Font typeface="Comic Sans M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4ac  inputs are a=2.0, b= 3.0 and c=2.0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Font typeface="Comic Sans M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 Equation inputs are a=0, b= 0 and c=10.0</a:t>
            </a:r>
            <a:endParaRPr/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down the test cases accordingly.</a:t>
            </a:r>
            <a:endParaRPr/>
          </a:p>
          <a:p>
            <a:pPr marL="364325" indent="-214850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4325" indent="-282242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3046" indent="-220611">
              <a:spcBef>
                <a:spcPts val="0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1680" y="2461218"/>
            <a:ext cx="1510560" cy="4579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16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671040" y="325474"/>
            <a:ext cx="7797600" cy="11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8000"/>
              </a:lnSpc>
              <a:buSzPts val="1980"/>
            </a:pPr>
            <a:r>
              <a:rPr lang="en-US" sz="4000" b="1" dirty="0" smtClean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Example-7: </a:t>
            </a:r>
            <a:r>
              <a:rPr lang="en-US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Solving linear equations </a:t>
            </a:r>
            <a:endParaRPr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671040" y="1746903"/>
            <a:ext cx="7797600" cy="4308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3046" indent="-288004">
              <a:spcBef>
                <a:spcPts val="0"/>
              </a:spcBef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Q. Design B-B test cases for the following program: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program solves linear equations in upto 10 independent variables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e.g. 5x+6y+z=5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10x+2y+5z=20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…………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…………</a:t>
            </a:r>
            <a:endParaRPr/>
          </a:p>
          <a:p>
            <a:pPr marL="383046" indent="-220611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4827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671040" y="325474"/>
            <a:ext cx="7797600" cy="11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8000"/>
              </a:lnSpc>
              <a:buSzPts val="2430"/>
            </a:pPr>
            <a:r>
              <a:rPr lang="en-US" sz="4900" b="1" dirty="0" smtClean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Example-7 </a:t>
            </a:r>
            <a:r>
              <a:rPr lang="en-US" sz="3300" b="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Contd.</a:t>
            </a:r>
            <a:r>
              <a:rPr lang="en-US" sz="4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671040" y="1746903"/>
            <a:ext cx="7797600" cy="4308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383046" indent="-288004">
              <a:spcBef>
                <a:spcPts val="0"/>
              </a:spcBef>
              <a:buClr>
                <a:srgbClr val="000000"/>
              </a:buClr>
              <a:buFont typeface="Noto Sans Symbols"/>
              <a:buChar char="●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Equivalent Classes are as follows: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Font typeface="Gill Sans"/>
              <a:buAutoNum type="romanUcPeriod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Equivalent Classes </a:t>
            </a:r>
            <a:endParaRPr/>
          </a:p>
          <a:p>
            <a:pPr marL="1383860" lvl="3" indent="-570248">
              <a:spcBef>
                <a:spcPts val="1179"/>
              </a:spcBef>
              <a:buClr>
                <a:srgbClr val="000000"/>
              </a:buClr>
              <a:buSzPts val="1500"/>
              <a:buFont typeface="Gill Sans"/>
              <a:buAutoNum type="alphaL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Solution (# var &lt; #eqns)</a:t>
            </a:r>
            <a:endParaRPr/>
          </a:p>
          <a:p>
            <a:pPr marL="1383860" lvl="3" indent="-570248">
              <a:spcBef>
                <a:spcPts val="454"/>
              </a:spcBef>
              <a:buClr>
                <a:srgbClr val="000000"/>
              </a:buClr>
              <a:buSzPts val="1500"/>
              <a:buFont typeface="Gill Sans"/>
              <a:buAutoNum type="alphaL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Solution (# var &gt; #eqns)</a:t>
            </a:r>
            <a:endParaRPr/>
          </a:p>
          <a:p>
            <a:pPr marL="1383860" lvl="3" indent="-570248">
              <a:spcBef>
                <a:spcPts val="454"/>
              </a:spcBef>
              <a:buClr>
                <a:srgbClr val="000000"/>
              </a:buClr>
              <a:buSzPts val="1500"/>
              <a:buFont typeface="Gill Sans"/>
              <a:buAutoNum type="alphaL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Solution (# var = #eqns)</a:t>
            </a:r>
            <a:endParaRPr/>
          </a:p>
          <a:p>
            <a:pPr marL="383046" indent="-288004">
              <a:spcBef>
                <a:spcPts val="454"/>
              </a:spcBef>
              <a:buClr>
                <a:srgbClr val="000000"/>
              </a:buClr>
              <a:buFont typeface="Gill Sans"/>
              <a:buAutoNum type="romanUcPeriod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 Equivalent Classes </a:t>
            </a:r>
            <a:endParaRPr sz="29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383860" lvl="3" indent="-570248">
              <a:spcBef>
                <a:spcPts val="1179"/>
              </a:spcBef>
              <a:buClr>
                <a:srgbClr val="000000"/>
              </a:buClr>
              <a:buSzPts val="1500"/>
              <a:buFont typeface="Gill Sans"/>
              <a:buAutoNum type="alphaL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 many Variables (# var &gt; 10)</a:t>
            </a:r>
            <a:endParaRPr/>
          </a:p>
          <a:p>
            <a:pPr marL="1383860" lvl="3" indent="-570248">
              <a:spcBef>
                <a:spcPts val="454"/>
              </a:spcBef>
              <a:buClr>
                <a:srgbClr val="000000"/>
              </a:buClr>
              <a:buSzPts val="1500"/>
              <a:buFont typeface="Gill Sans"/>
              <a:buAutoNum type="alphaLcPeriod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 Equation (# var = 0)</a:t>
            </a:r>
            <a:endParaRPr/>
          </a:p>
          <a:p>
            <a:pPr marL="1383860" lvl="3" indent="-483846">
              <a:spcBef>
                <a:spcPts val="454"/>
              </a:spcBef>
              <a:buClr>
                <a:srgbClr val="000000"/>
              </a:buClr>
              <a:buSzPts val="1500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83860" lvl="3" indent="-570248">
              <a:spcBef>
                <a:spcPts val="454"/>
              </a:spcBef>
              <a:buClr>
                <a:srgbClr val="000000"/>
              </a:buClr>
              <a:buSzPts val="15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down the test cases accordingly.</a:t>
            </a:r>
            <a:endParaRPr/>
          </a:p>
          <a:p>
            <a:pPr marL="383046" indent="-236163">
              <a:spcBef>
                <a:spcPts val="454"/>
              </a:spcBef>
              <a:buClr>
                <a:srgbClr val="000000"/>
              </a:buClr>
              <a:buSzPts val="900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06359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32160" y="0"/>
            <a:ext cx="8087040" cy="11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8000"/>
              </a:lnSpc>
              <a:buSzPts val="1980"/>
            </a:pPr>
            <a:r>
              <a:rPr lang="en-US" sz="4000" b="1" dirty="0" smtClean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Example-8: </a:t>
            </a:r>
            <a:r>
              <a:rPr lang="en-US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of two circles</a:t>
            </a:r>
            <a:endParaRPr dirty="0"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563039" y="940419"/>
            <a:ext cx="7797600" cy="543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83046" indent="-288004">
              <a:spcBef>
                <a:spcPts val="0"/>
              </a:spcBef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Q. Design B-B test cases for the following program: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program finds the points of intersection of 2 circles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Equivalent Classes are as follows: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Gill San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distance between(x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(x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i.e. not intersecting 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Gill San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distance i.e. touching at 1 point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Gill San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distance i.e. intersecting at 2 points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Gill San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Distance=0 and 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i.e. overlapping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Gill San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Distance=0 and 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r</a:t>
            </a:r>
            <a:r>
              <a:rPr lang="en-US" sz="240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Font typeface="Gill Sans"/>
              <a:buAutoNum type="romanU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 circles</a:t>
            </a:r>
            <a:endParaRPr/>
          </a:p>
          <a:p>
            <a:pPr marL="383046" indent="-288004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down the test cases accordingly.</a:t>
            </a:r>
            <a:endParaRPr/>
          </a:p>
          <a:p>
            <a:pPr marL="383046" indent="-220611">
              <a:spcBef>
                <a:spcPts val="1179"/>
              </a:spcBef>
              <a:buClr>
                <a:srgbClr val="000000"/>
              </a:buClr>
              <a:buSzPts val="1170"/>
              <a:buNone/>
            </a:pP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444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17440" y="275068"/>
            <a:ext cx="8716320" cy="101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algn="ctr">
              <a:lnSpc>
                <a:spcPct val="88000"/>
              </a:lnSpc>
            </a:pPr>
            <a:r>
              <a:rPr lang="en-US" sz="36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Example-9: </a:t>
            </a:r>
            <a:r>
              <a:rPr lang="en-US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Book Option in LIS</a:t>
            </a:r>
            <a:endParaRPr dirty="0"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563040" y="1294696"/>
            <a:ext cx="8370720" cy="495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52329" indent="-570248" algn="just">
              <a:spcBef>
                <a:spcPts val="0"/>
              </a:spcBef>
              <a:buClr>
                <a:srgbClr val="000000"/>
              </a:buClr>
              <a:buSzPts val="1260"/>
              <a:buNone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Q. Design B-B test cases for the option </a:t>
            </a:r>
            <a:r>
              <a:rPr lang="en-US" sz="25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Book </a:t>
            </a: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Keyword (e.g. Author name or title).</a:t>
            </a:r>
            <a:endParaRPr/>
          </a:p>
          <a:p>
            <a:pPr marL="652329" indent="-570248" algn="just">
              <a:spcBef>
                <a:spcPts val="1179"/>
              </a:spcBef>
              <a:buClr>
                <a:srgbClr val="000000"/>
              </a:buClr>
              <a:buSzPts val="1260"/>
              <a:buNone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The  equivalent classes and the corresponding test cases are as follows:</a:t>
            </a:r>
            <a:endParaRPr/>
          </a:p>
          <a:p>
            <a:pPr marL="652329" indent="-570248" algn="just">
              <a:spcBef>
                <a:spcPts val="1179"/>
              </a:spcBef>
              <a:buClr>
                <a:srgbClr val="000000"/>
              </a:buClr>
              <a:buSzPts val="1260"/>
              <a:buFont typeface="Gill Sans"/>
              <a:buChar char="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present in catalogue (SE, not present)</a:t>
            </a:r>
            <a:endParaRPr/>
          </a:p>
          <a:p>
            <a:pPr marL="652329" indent="-570248" algn="just">
              <a:spcBef>
                <a:spcPts val="1179"/>
              </a:spcBef>
              <a:buClr>
                <a:srgbClr val="000000"/>
              </a:buClr>
              <a:buSzPts val="1260"/>
              <a:buFont typeface="Gill Sans"/>
              <a:buChar char="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in catalogue (SE, present, 15 issued, not available)</a:t>
            </a:r>
            <a:endParaRPr/>
          </a:p>
          <a:p>
            <a:pPr marL="652329" indent="-570248" algn="just">
              <a:spcBef>
                <a:spcPts val="1179"/>
              </a:spcBef>
              <a:buClr>
                <a:srgbClr val="000000"/>
              </a:buClr>
              <a:buSzPts val="1260"/>
              <a:buFont typeface="Gill Sans"/>
              <a:buChar char="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in catalogue (SE, present, 10 issued, 5 available)</a:t>
            </a:r>
            <a:endParaRPr/>
          </a:p>
          <a:p>
            <a:pPr marL="652329" indent="-570248" algn="just">
              <a:spcBef>
                <a:spcPts val="1179"/>
              </a:spcBef>
              <a:buClr>
                <a:srgbClr val="000000"/>
              </a:buClr>
              <a:buSzPts val="1260"/>
              <a:buNone/>
            </a:pP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2329" indent="-570248" algn="just">
              <a:spcBef>
                <a:spcPts val="1179"/>
              </a:spcBef>
              <a:buClr>
                <a:srgbClr val="000000"/>
              </a:buClr>
              <a:buSzPts val="1260"/>
              <a:buNone/>
            </a:pP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3046" indent="-215427">
              <a:spcBef>
                <a:spcPts val="1179"/>
              </a:spcBef>
              <a:buClr>
                <a:srgbClr val="000000"/>
              </a:buClr>
              <a:buSzPts val="1260"/>
              <a:buNone/>
            </a:pP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86866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0813" cy="115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526" name="Google Shape;526;p48"/>
          <p:cNvSpPr txBox="1">
            <a:spLocks noGrp="1"/>
          </p:cNvSpPr>
          <p:nvPr>
            <p:ph type="body" idx="1"/>
          </p:nvPr>
        </p:nvSpPr>
        <p:spPr>
          <a:xfrm>
            <a:off x="1066800" y="1371600"/>
            <a:ext cx="7770813" cy="443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t" anchorCtr="0">
            <a:normAutofit/>
          </a:bodyPr>
          <a:lstStyle/>
          <a:p>
            <a:pPr marL="365760" lvl="0" indent="-28346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⚫"/>
            </a:pPr>
            <a:r>
              <a:rPr lang="en-US" sz="4000"/>
              <a:t>Discussed the errors detected by black-box test testing techniques.</a:t>
            </a:r>
            <a:endParaRPr/>
          </a:p>
          <a:p>
            <a:pPr marL="365760" lvl="0" indent="-283464" algn="just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3200"/>
              <a:buChar char="⚫"/>
            </a:pPr>
            <a:r>
              <a:rPr lang="en-US" sz="4000"/>
              <a:t>Explained equivalence partitioning technique with some examples.</a:t>
            </a:r>
            <a:endParaRPr/>
          </a:p>
        </p:txBody>
      </p:sp>
      <p:sp>
        <p:nvSpPr>
          <p:cNvPr id="527" name="Google Shape;527;p4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"/>
          <p:cNvSpPr txBox="1"/>
          <p:nvPr/>
        </p:nvSpPr>
        <p:spPr>
          <a:xfrm>
            <a:off x="1127760" y="279401"/>
            <a:ext cx="7863840" cy="86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00" tIns="39300" rIns="15100" bIns="39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533" name="Google Shape;533;p49"/>
          <p:cNvSpPr/>
          <p:nvPr/>
        </p:nvSpPr>
        <p:spPr>
          <a:xfrm>
            <a:off x="1143000" y="1397000"/>
            <a:ext cx="7848600" cy="3488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400" tIns="51200" rIns="102400" bIns="51200" anchor="t" anchorCtr="0">
            <a:noAutofit/>
          </a:bodyPr>
          <a:lstStyle/>
          <a:p>
            <a:pPr marL="384015" marR="0" lvl="0" indent="-38401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marL="384015" marR="0" lvl="0" indent="-38401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Naresh Chauhan, Software Testing: Principles and Practices, (Chapter – 4), Second Edition, Oxford University Press,  2016.</a:t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84015" marR="0" lvl="0" indent="-20621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>
            <a:spLocks noGrp="1"/>
          </p:cNvSpPr>
          <p:nvPr>
            <p:ph type="title"/>
          </p:nvPr>
        </p:nvSpPr>
        <p:spPr>
          <a:xfrm>
            <a:off x="424800" y="-303872"/>
            <a:ext cx="8223840" cy="177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600"/>
              <a:buFont typeface="Gill Sans"/>
              <a:buNone/>
            </a:pPr>
            <a:r>
              <a:rPr lang="en-US" sz="6600"/>
              <a:t> </a:t>
            </a:r>
            <a:endParaRPr/>
          </a:p>
        </p:txBody>
      </p:sp>
      <p:sp>
        <p:nvSpPr>
          <p:cNvPr id="539" name="Google Shape;539;p50"/>
          <p:cNvSpPr txBox="1">
            <a:spLocks noGrp="1"/>
          </p:cNvSpPr>
          <p:nvPr>
            <p:ph type="body" idx="1"/>
          </p:nvPr>
        </p:nvSpPr>
        <p:spPr>
          <a:xfrm>
            <a:off x="348480" y="1307657"/>
            <a:ext cx="8516160" cy="47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t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20"/>
              <a:buNone/>
            </a:pPr>
            <a:endParaRPr sz="4400"/>
          </a:p>
          <a:p>
            <a:pPr marL="0" lvl="0" indent="0" algn="l" rtl="0">
              <a:lnSpc>
                <a:spcPct val="105000"/>
              </a:lnSpc>
              <a:spcBef>
                <a:spcPts val="220"/>
              </a:spcBef>
              <a:spcAft>
                <a:spcPts val="0"/>
              </a:spcAft>
              <a:buSzPts val="3520"/>
              <a:buNone/>
            </a:pPr>
            <a:endParaRPr sz="4400"/>
          </a:p>
          <a:p>
            <a:pPr marL="0" lvl="0" indent="0" algn="l" rtl="0">
              <a:lnSpc>
                <a:spcPct val="105000"/>
              </a:lnSpc>
              <a:spcBef>
                <a:spcPts val="220"/>
              </a:spcBef>
              <a:spcAft>
                <a:spcPts val="0"/>
              </a:spcAft>
              <a:buSzPts val="3520"/>
              <a:buNone/>
            </a:pPr>
            <a:endParaRPr sz="4400"/>
          </a:p>
          <a:p>
            <a:pPr marL="0" lvl="0" indent="0" algn="l" rtl="0">
              <a:lnSpc>
                <a:spcPct val="105000"/>
              </a:lnSpc>
              <a:spcBef>
                <a:spcPts val="220"/>
              </a:spcBef>
              <a:spcAft>
                <a:spcPts val="0"/>
              </a:spcAft>
              <a:buSzPts val="3520"/>
              <a:buNone/>
            </a:pPr>
            <a:r>
              <a:rPr lang="en-US" sz="4400"/>
              <a:t>				</a:t>
            </a:r>
            <a:r>
              <a:rPr lang="en-US" sz="4400" b="1"/>
              <a:t>Thank You</a:t>
            </a:r>
            <a:endParaRPr/>
          </a:p>
        </p:txBody>
      </p:sp>
      <p:sp>
        <p:nvSpPr>
          <p:cNvPr id="540" name="Google Shape;540;p5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</Words>
  <Application>Microsoft Office PowerPoint</Application>
  <PresentationFormat>On-screen Show (4:3)</PresentationFormat>
  <Paragraphs>261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Times</vt:lpstr>
      <vt:lpstr>Verdana</vt:lpstr>
      <vt:lpstr>Gill Sans</vt:lpstr>
      <vt:lpstr>Comic Sans MS</vt:lpstr>
      <vt:lpstr>Arial Black</vt:lpstr>
      <vt:lpstr>Libre Baskerville</vt:lpstr>
      <vt:lpstr>Noto Sans Symbols</vt:lpstr>
      <vt:lpstr>Times New Roman</vt:lpstr>
      <vt:lpstr>Solstice</vt:lpstr>
      <vt:lpstr> Black-box testing techniques      </vt:lpstr>
      <vt:lpstr>Black-box Testing</vt:lpstr>
      <vt:lpstr>Errors detected by black box testing</vt:lpstr>
      <vt:lpstr>PowerPoint Presentation</vt:lpstr>
      <vt:lpstr>Black-box Testing Techniques</vt:lpstr>
      <vt:lpstr>Black-box Testing</vt:lpstr>
      <vt:lpstr>Equivalence Class  Partitioning</vt:lpstr>
      <vt:lpstr>Why define equivalence classes?</vt:lpstr>
      <vt:lpstr>Equivalence Class  Partitioning</vt:lpstr>
      <vt:lpstr>Equivalence Class  Partitioning</vt:lpstr>
      <vt:lpstr>Equivalence Class  Partitioning</vt:lpstr>
      <vt:lpstr>Example - 1</vt:lpstr>
      <vt:lpstr> Example - 1 (cont.)</vt:lpstr>
      <vt:lpstr>Example - 1(cont.)</vt:lpstr>
      <vt:lpstr>Example - 2 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Example - 3</vt:lpstr>
      <vt:lpstr>Example</vt:lpstr>
      <vt:lpstr>Solution </vt:lpstr>
      <vt:lpstr>Solution</vt:lpstr>
      <vt:lpstr>Solution</vt:lpstr>
      <vt:lpstr>Solution</vt:lpstr>
      <vt:lpstr>Example - 4</vt:lpstr>
      <vt:lpstr>Solution</vt:lpstr>
      <vt:lpstr>Solution</vt:lpstr>
      <vt:lpstr>Solution</vt:lpstr>
      <vt:lpstr>Solution</vt:lpstr>
      <vt:lpstr>Solution</vt:lpstr>
      <vt:lpstr>Solution</vt:lpstr>
      <vt:lpstr>Example-5: Intersection of two straight lines</vt:lpstr>
      <vt:lpstr>Example-5 Contd.</vt:lpstr>
      <vt:lpstr>Example-6: Solving quadratic equations </vt:lpstr>
      <vt:lpstr>Example-7: Solving linear equations </vt:lpstr>
      <vt:lpstr>Example-7 Contd. </vt:lpstr>
      <vt:lpstr>Example-8: Intersection of two circles</vt:lpstr>
      <vt:lpstr>Example-9: Query Book Option in LIS</vt:lpstr>
      <vt:lpstr>Summary</vt:lpstr>
      <vt:lpstr>PowerPoint Presentation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Black-box testing techniques      </dc:title>
  <cp:lastModifiedBy>Admin</cp:lastModifiedBy>
  <cp:revision>1</cp:revision>
  <dcterms:modified xsi:type="dcterms:W3CDTF">2026-07-24T05:54:26Z</dcterms:modified>
</cp:coreProperties>
</file>