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9144000"/>
  <p:notesSz cx="6858000" cy="9144000"/>
  <p:embeddedFontLst>
    <p:embeddedFont>
      <p:font typeface="Gill San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747EC3-9BEE-4359-89C8-865D0792875C}">
  <a:tblStyle styleId="{C8747EC3-9BEE-4359-89C8-865D0792875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GillSans-bold.fntdata"/><Relationship Id="rId16" Type="http://schemas.openxmlformats.org/officeDocument/2006/relationships/slide" Target="slides/slide10.xml"/><Relationship Id="rId38" Type="http://schemas.openxmlformats.org/officeDocument/2006/relationships/font" Target="fonts/Gill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4" name="Google Shape;11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1" name="Google Shape;12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6" name="Google Shape;14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5" name="Google Shape;19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3" name="Google Shape;20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4" name="Google Shape;23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1" name="Google Shape;24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8" name="Google Shape;24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1432560" y="1850064"/>
            <a:ext cx="7406640" cy="175260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3" name="Google Shape;23;p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6" name="Google Shape;26;p2"/>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27" name="Google Shape;27;p2"/>
          <p:cNvSpPr/>
          <p:nvPr/>
        </p:nvSpPr>
        <p:spPr>
          <a:xfrm>
            <a:off x="1157176" y="1345016"/>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1" name="Google Shape;31;p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4" name="Shape 34"/>
        <p:cNvGrpSpPr/>
        <p:nvPr/>
      </p:nvGrpSpPr>
      <p:grpSpPr>
        <a:xfrm>
          <a:off x="0" y="0"/>
          <a:ext cx="0" cy="0"/>
          <a:chOff x="0" y="0"/>
          <a:chExt cx="0" cy="0"/>
        </a:xfrm>
      </p:grpSpPr>
      <p:sp>
        <p:nvSpPr>
          <p:cNvPr id="35" name="Google Shape;35;p4"/>
          <p:cNvSpPr/>
          <p:nvPr/>
        </p:nvSpPr>
        <p:spPr>
          <a:xfrm>
            <a:off x="2282890" y="-54"/>
            <a:ext cx="6858000"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36" name="Google Shape;36;p4"/>
          <p:cNvSpPr txBox="1"/>
          <p:nvPr>
            <p:ph type="title"/>
          </p:nvPr>
        </p:nvSpPr>
        <p:spPr>
          <a:xfrm>
            <a:off x="2578392" y="2600325"/>
            <a:ext cx="6400800" cy="22860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 type="body"/>
          </p:nvPr>
        </p:nvSpPr>
        <p:spPr>
          <a:xfrm>
            <a:off x="2578392" y="1066800"/>
            <a:ext cx="6400800" cy="1509712"/>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 name="Google Shape;38;p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1" name="Google Shape;41;p4"/>
          <p:cNvSpPr/>
          <p:nvPr/>
        </p:nvSpPr>
        <p:spPr>
          <a:xfrm>
            <a:off x="2286000" y="0"/>
            <a:ext cx="76200"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42" name="Google Shape;42;p4"/>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43" name="Google Shape;43;p4"/>
          <p:cNvSpPr/>
          <p:nvPr/>
        </p:nvSpPr>
        <p:spPr>
          <a:xfrm>
            <a:off x="2408064" y="2745870"/>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7" name="Google Shape;47;p5"/>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8" name="Google Shape;48;p5"/>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1" name="Shape 51"/>
        <p:cNvGrpSpPr/>
        <p:nvPr/>
      </p:nvGrpSpPr>
      <p:grpSpPr>
        <a:xfrm>
          <a:off x="0" y="0"/>
          <a:ext cx="0" cy="0"/>
          <a:chOff x="0" y="0"/>
          <a:chExt cx="0" cy="0"/>
        </a:xfrm>
      </p:grpSpPr>
      <p:sp>
        <p:nvSpPr>
          <p:cNvPr id="52" name="Google Shape;52;p6"/>
          <p:cNvSpPr txBox="1"/>
          <p:nvPr>
            <p:ph type="title"/>
          </p:nvPr>
        </p:nvSpPr>
        <p:spPr>
          <a:xfrm>
            <a:off x="457200" y="5160336"/>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txBox="1"/>
          <p:nvPr>
            <p:ph idx="1" type="body"/>
          </p:nvPr>
        </p:nvSpPr>
        <p:spPr>
          <a:xfrm>
            <a:off x="45720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6"/>
          <p:cNvSpPr txBox="1"/>
          <p:nvPr>
            <p:ph idx="2" type="body"/>
          </p:nvPr>
        </p:nvSpPr>
        <p:spPr>
          <a:xfrm>
            <a:off x="466344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5" name="Google Shape;55;p6"/>
          <p:cNvSpPr txBox="1"/>
          <p:nvPr>
            <p:ph idx="3" type="body"/>
          </p:nvPr>
        </p:nvSpPr>
        <p:spPr>
          <a:xfrm>
            <a:off x="45720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6" name="Google Shape;56;p6"/>
          <p:cNvSpPr txBox="1"/>
          <p:nvPr>
            <p:ph idx="4" type="body"/>
          </p:nvPr>
        </p:nvSpPr>
        <p:spPr>
          <a:xfrm>
            <a:off x="466344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7" name="Google Shape;57;p6"/>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5" name="Shape 65"/>
        <p:cNvGrpSpPr/>
        <p:nvPr/>
      </p:nvGrpSpPr>
      <p:grpSpPr>
        <a:xfrm>
          <a:off x="0" y="0"/>
          <a:ext cx="0" cy="0"/>
          <a:chOff x="0" y="0"/>
          <a:chExt cx="0" cy="0"/>
        </a:xfrm>
      </p:grpSpPr>
      <p:sp>
        <p:nvSpPr>
          <p:cNvPr id="66" name="Google Shape;66;p8"/>
          <p:cNvSpPr/>
          <p:nvPr/>
        </p:nvSpPr>
        <p:spPr>
          <a:xfrm>
            <a:off x="1014984" y="0"/>
            <a:ext cx="812901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67" name="Google Shape;67;p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9"/>
          <p:cNvSpPr txBox="1"/>
          <p:nvPr>
            <p:ph type="title"/>
          </p:nvPr>
        </p:nvSpPr>
        <p:spPr>
          <a:xfrm>
            <a:off x="457200" y="216778"/>
            <a:ext cx="3810000" cy="1162050"/>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 type="body"/>
          </p:nvPr>
        </p:nvSpPr>
        <p:spPr>
          <a:xfrm>
            <a:off x="457200" y="1406964"/>
            <a:ext cx="3810000" cy="698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9"/>
          <p:cNvSpPr txBox="1"/>
          <p:nvPr>
            <p:ph idx="2" type="body"/>
          </p:nvPr>
        </p:nvSpPr>
        <p:spPr>
          <a:xfrm>
            <a:off x="457200" y="2133600"/>
            <a:ext cx="8153400" cy="3992563"/>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txBox="1"/>
          <p:nvPr>
            <p:ph type="title"/>
          </p:nvPr>
        </p:nvSpPr>
        <p:spPr>
          <a:xfrm>
            <a:off x="5886896" y="1066800"/>
            <a:ext cx="2743200"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3" name="Google Shape;83;p10"/>
          <p:cNvSpPr/>
          <p:nvPr/>
        </p:nvSpPr>
        <p:spPr>
          <a:xfrm>
            <a:off x="762000" y="1066800"/>
            <a:ext cx="4572000" cy="4572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b="0" i="0" sz="3200" u="none" cap="none" strike="noStrike">
              <a:solidFill>
                <a:schemeClr val="dk1"/>
              </a:solidFill>
              <a:latin typeface="Gill Sans"/>
              <a:ea typeface="Gill Sans"/>
              <a:cs typeface="Gill Sans"/>
              <a:sym typeface="Gill Sans"/>
            </a:endParaRPr>
          </a:p>
        </p:txBody>
      </p:sp>
      <p:sp>
        <p:nvSpPr>
          <p:cNvPr id="84" name="Google Shape;84;p10"/>
          <p:cNvSpPr/>
          <p:nvPr>
            <p:ph idx="2" type="pic"/>
          </p:nvPr>
        </p:nvSpPr>
        <p:spPr>
          <a:xfrm>
            <a:off x="838200" y="1143003"/>
            <a:ext cx="4419600" cy="3514531"/>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85" name="Google Shape;85;p10"/>
          <p:cNvSpPr/>
          <p:nvPr/>
        </p:nvSpPr>
        <p:spPr>
          <a:xfrm rot="-2131329">
            <a:off x="396725" y="954341"/>
            <a:ext cx="685800"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86" name="Google Shape;86;p10"/>
          <p:cNvSpPr/>
          <p:nvPr/>
        </p:nvSpPr>
        <p:spPr>
          <a:xfrm flipH="1" rot="2103354">
            <a:off x="5003667" y="936786"/>
            <a:ext cx="649224"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87" name="Google Shape;87;p10"/>
          <p:cNvSpPr txBox="1"/>
          <p:nvPr>
            <p:ph idx="1" type="body"/>
          </p:nvPr>
        </p:nvSpPr>
        <p:spPr>
          <a:xfrm>
            <a:off x="838200" y="4800600"/>
            <a:ext cx="4419600"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
          <p:cNvSpPr txBox="1"/>
          <p:nvPr>
            <p:ph idx="1" type="body"/>
          </p:nvPr>
        </p:nvSpPr>
        <p:spPr>
          <a:xfrm rot="5400000">
            <a:off x="2784348" y="99060"/>
            <a:ext cx="480060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4846637" y="2286002"/>
            <a:ext cx="5851525"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
          <p:cNvSpPr txBox="1"/>
          <p:nvPr>
            <p:ph idx="1" type="body"/>
          </p:nvPr>
        </p:nvSpPr>
        <p:spPr>
          <a:xfrm rot="5400000">
            <a:off x="998537" y="419103"/>
            <a:ext cx="5851525"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 name="Shape 9"/>
        <p:cNvGrpSpPr/>
        <p:nvPr/>
      </p:nvGrpSpPr>
      <p:grpSpPr>
        <a:xfrm>
          <a:off x="0" y="0"/>
          <a:ext cx="0" cy="0"/>
          <a:chOff x="0" y="0"/>
          <a:chExt cx="0" cy="0"/>
        </a:xfrm>
      </p:grpSpPr>
      <p:sp>
        <p:nvSpPr>
          <p:cNvPr id="10" name="Google Shape;10;p1"/>
          <p:cNvSpPr/>
          <p:nvPr/>
        </p:nvSpPr>
        <p:spPr>
          <a:xfrm>
            <a:off x="-815927" y="-815922"/>
            <a:ext cx="1638887" cy="1638887"/>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 name="Google Shape;11;p1"/>
          <p:cNvSpPr/>
          <p:nvPr/>
        </p:nvSpPr>
        <p:spPr>
          <a:xfrm>
            <a:off x="168816" y="21102"/>
            <a:ext cx="1702191" cy="1702191"/>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2" name="Google Shape;12;p1"/>
          <p:cNvSpPr/>
          <p:nvPr/>
        </p:nvSpPr>
        <p:spPr>
          <a:xfrm rot="2315675">
            <a:off x="182881" y="1055077"/>
            <a:ext cx="1125717" cy="1102624"/>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3" name="Google Shape;13;p1"/>
          <p:cNvSpPr/>
          <p:nvPr/>
        </p:nvSpPr>
        <p:spPr>
          <a:xfrm>
            <a:off x="1012873" y="-54"/>
            <a:ext cx="8131127"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4" name="Google Shape;14;p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 name="Google Shape;16;p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 name="Google Shape;18;p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200" u="none" cap="none" strike="noStrike">
                <a:solidFill>
                  <a:srgbClr val="B3A787"/>
                </a:solidFill>
                <a:latin typeface="Gill Sans"/>
                <a:ea typeface="Gill Sans"/>
                <a:cs typeface="Gill Sans"/>
                <a:sym typeface="Gill Sans"/>
              </a:defRPr>
            </a:lvl1pPr>
            <a:lvl2pPr indent="0" lvl="1" marL="0" marR="0" rtl="0" algn="ctr">
              <a:spcBef>
                <a:spcPts val="0"/>
              </a:spcBef>
              <a:buNone/>
              <a:defRPr b="0" i="0" sz="1200" u="none" cap="none" strike="noStrike">
                <a:solidFill>
                  <a:srgbClr val="B3A787"/>
                </a:solidFill>
                <a:latin typeface="Gill Sans"/>
                <a:ea typeface="Gill Sans"/>
                <a:cs typeface="Gill Sans"/>
                <a:sym typeface="Gill Sans"/>
              </a:defRPr>
            </a:lvl2pPr>
            <a:lvl3pPr indent="0" lvl="2" marL="0" marR="0" rtl="0" algn="ctr">
              <a:spcBef>
                <a:spcPts val="0"/>
              </a:spcBef>
              <a:buNone/>
              <a:defRPr b="0" i="0" sz="1200" u="none" cap="none" strike="noStrike">
                <a:solidFill>
                  <a:srgbClr val="B3A787"/>
                </a:solidFill>
                <a:latin typeface="Gill Sans"/>
                <a:ea typeface="Gill Sans"/>
                <a:cs typeface="Gill Sans"/>
                <a:sym typeface="Gill Sans"/>
              </a:defRPr>
            </a:lvl3pPr>
            <a:lvl4pPr indent="0" lvl="3" marL="0" marR="0" rtl="0" algn="ctr">
              <a:spcBef>
                <a:spcPts val="0"/>
              </a:spcBef>
              <a:buNone/>
              <a:defRPr b="0" i="0" sz="1200" u="none" cap="none" strike="noStrike">
                <a:solidFill>
                  <a:srgbClr val="B3A787"/>
                </a:solidFill>
                <a:latin typeface="Gill Sans"/>
                <a:ea typeface="Gill Sans"/>
                <a:cs typeface="Gill Sans"/>
                <a:sym typeface="Gill Sans"/>
              </a:defRPr>
            </a:lvl4pPr>
            <a:lvl5pPr indent="0" lvl="4" marL="0" marR="0" rtl="0" algn="ctr">
              <a:spcBef>
                <a:spcPts val="0"/>
              </a:spcBef>
              <a:buNone/>
              <a:defRPr b="0" i="0" sz="1200" u="none" cap="none" strike="noStrike">
                <a:solidFill>
                  <a:srgbClr val="B3A787"/>
                </a:solidFill>
                <a:latin typeface="Gill Sans"/>
                <a:ea typeface="Gill Sans"/>
                <a:cs typeface="Gill Sans"/>
                <a:sym typeface="Gill Sans"/>
              </a:defRPr>
            </a:lvl5pPr>
            <a:lvl6pPr indent="0" lvl="5" marL="0" marR="0" rtl="0" algn="ctr">
              <a:spcBef>
                <a:spcPts val="0"/>
              </a:spcBef>
              <a:buNone/>
              <a:defRPr b="0" i="0" sz="1200" u="none" cap="none" strike="noStrike">
                <a:solidFill>
                  <a:srgbClr val="B3A787"/>
                </a:solidFill>
                <a:latin typeface="Gill Sans"/>
                <a:ea typeface="Gill Sans"/>
                <a:cs typeface="Gill Sans"/>
                <a:sym typeface="Gill Sans"/>
              </a:defRPr>
            </a:lvl6pPr>
            <a:lvl7pPr indent="0" lvl="6" marL="0" marR="0" rtl="0" algn="ctr">
              <a:spcBef>
                <a:spcPts val="0"/>
              </a:spcBef>
              <a:buNone/>
              <a:defRPr b="0" i="0" sz="1200" u="none" cap="none" strike="noStrike">
                <a:solidFill>
                  <a:srgbClr val="B3A787"/>
                </a:solidFill>
                <a:latin typeface="Gill Sans"/>
                <a:ea typeface="Gill Sans"/>
                <a:cs typeface="Gill Sans"/>
                <a:sym typeface="Gill Sans"/>
              </a:defRPr>
            </a:lvl7pPr>
            <a:lvl8pPr indent="0" lvl="7" marL="0" marR="0" rtl="0" algn="ctr">
              <a:spcBef>
                <a:spcPts val="0"/>
              </a:spcBef>
              <a:buNone/>
              <a:defRPr b="0" i="0" sz="1200" u="none" cap="none" strike="noStrike">
                <a:solidFill>
                  <a:srgbClr val="B3A787"/>
                </a:solidFill>
                <a:latin typeface="Gill Sans"/>
                <a:ea typeface="Gill Sans"/>
                <a:cs typeface="Gill Sans"/>
                <a:sym typeface="Gill Sans"/>
              </a:defRPr>
            </a:lvl8pPr>
            <a:lvl9pPr indent="0" lvl="8" marL="0" marR="0" rtl="0" algn="ctr">
              <a:spcBef>
                <a:spcPts val="0"/>
              </a:spcBef>
              <a:buNone/>
              <a:defRPr b="0" i="0" sz="1200" u="none" cap="none" strike="noStrike">
                <a:solidFill>
                  <a:srgbClr val="B3A787"/>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19" name="Google Shape;19;p1"/>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ph type="ctrTitle"/>
          </p:nvPr>
        </p:nvSpPr>
        <p:spPr>
          <a:xfrm>
            <a:off x="1432560" y="836712"/>
            <a:ext cx="7603936" cy="99537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sz="4000"/>
              <a:t>STATE  TABLE  AND DECISION TABLE BASED TESTING </a:t>
            </a:r>
            <a:endParaRPr/>
          </a:p>
        </p:txBody>
      </p:sp>
      <p:sp>
        <p:nvSpPr>
          <p:cNvPr id="105" name="Google Shape;105;p13"/>
          <p:cNvSpPr txBox="1"/>
          <p:nvPr>
            <p:ph idx="1" type="subTitle"/>
          </p:nvPr>
        </p:nvSpPr>
        <p:spPr>
          <a:xfrm>
            <a:off x="1187624" y="3501008"/>
            <a:ext cx="7406640" cy="1752600"/>
          </a:xfrm>
          <a:prstGeom prst="rect">
            <a:avLst/>
          </a:prstGeom>
          <a:noFill/>
          <a:ln>
            <a:noFill/>
          </a:ln>
        </p:spPr>
        <p:txBody>
          <a:bodyPr anchorCtr="0" anchor="t" bIns="45700" lIns="91425" spcFirstLastPara="1" rIns="91425" wrap="square" tIns="0">
            <a:normAutofit lnSpcReduction="10000"/>
          </a:bodyPr>
          <a:lstStyle/>
          <a:p>
            <a:pPr indent="0" lvl="0" marL="27432" rtl="0" algn="ctr">
              <a:lnSpc>
                <a:spcPct val="100000"/>
              </a:lnSpc>
              <a:spcBef>
                <a:spcPts val="0"/>
              </a:spcBef>
              <a:spcAft>
                <a:spcPts val="0"/>
              </a:spcAft>
              <a:buSzPts val="2080"/>
              <a:buNone/>
            </a:pPr>
            <a:r>
              <a:rPr lang="en-US"/>
              <a:t>Durga Prasad Mohapatra</a:t>
            </a:r>
            <a:endParaRPr/>
          </a:p>
          <a:p>
            <a:pPr indent="0" lvl="0" marL="27432" rtl="0" algn="ctr">
              <a:lnSpc>
                <a:spcPct val="100000"/>
              </a:lnSpc>
              <a:spcBef>
                <a:spcPts val="600"/>
              </a:spcBef>
              <a:spcAft>
                <a:spcPts val="0"/>
              </a:spcAft>
              <a:buSzPts val="2080"/>
              <a:buNone/>
            </a:pPr>
            <a:r>
              <a:rPr lang="en-US"/>
              <a:t>Professor</a:t>
            </a:r>
            <a:endParaRPr/>
          </a:p>
          <a:p>
            <a:pPr indent="0" lvl="0" marL="27432" rtl="0" algn="ctr">
              <a:lnSpc>
                <a:spcPct val="100000"/>
              </a:lnSpc>
              <a:spcBef>
                <a:spcPts val="600"/>
              </a:spcBef>
              <a:spcAft>
                <a:spcPts val="0"/>
              </a:spcAft>
              <a:buSzPts val="2080"/>
              <a:buNone/>
            </a:pPr>
            <a:r>
              <a:rPr lang="en-US"/>
              <a:t>Dept. of CSE</a:t>
            </a:r>
            <a:endParaRPr/>
          </a:p>
          <a:p>
            <a:pPr indent="0" lvl="0" marL="27432" rtl="0" algn="ctr">
              <a:lnSpc>
                <a:spcPct val="100000"/>
              </a:lnSpc>
              <a:spcBef>
                <a:spcPts val="600"/>
              </a:spcBef>
              <a:spcAft>
                <a:spcPts val="0"/>
              </a:spcAft>
              <a:buSzPts val="2080"/>
              <a:buNone/>
            </a:pPr>
            <a:r>
              <a:rPr lang="en-US"/>
              <a:t>N.I.T. Rourkela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4"/>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62214"/>
              </a:buClr>
              <a:buSzPts val="3200"/>
              <a:buFont typeface="Gill Sans"/>
              <a:buNone/>
            </a:pPr>
            <a:r>
              <a:rPr b="1" lang="en-US" sz="3200"/>
              <a:t>STATE TABLE – BASED TESTING </a:t>
            </a:r>
            <a:endParaRPr sz="3200"/>
          </a:p>
        </p:txBody>
      </p:sp>
      <p:sp>
        <p:nvSpPr>
          <p:cNvPr id="111" name="Google Shape;111;p14"/>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Tables are useful tools for representing and documenting many types of information     relating to test case design.</a:t>
            </a:r>
            <a:endParaRPr/>
          </a:p>
          <a:p>
            <a:pPr indent="-120903" lvl="0" marL="365760" rtl="0" algn="just">
              <a:lnSpc>
                <a:spcPct val="100000"/>
              </a:lnSpc>
              <a:spcBef>
                <a:spcPts val="600"/>
              </a:spcBef>
              <a:spcAft>
                <a:spcPts val="0"/>
              </a:spcAft>
              <a:buSzPts val="2560"/>
              <a:buNone/>
            </a:pPr>
            <a:r>
              <a:t/>
            </a:r>
            <a:endParaRPr/>
          </a:p>
          <a:p>
            <a:pPr indent="-283464" lvl="0" marL="365760" rtl="0" algn="just">
              <a:lnSpc>
                <a:spcPct val="100000"/>
              </a:lnSpc>
              <a:spcBef>
                <a:spcPts val="600"/>
              </a:spcBef>
              <a:spcAft>
                <a:spcPts val="0"/>
              </a:spcAft>
              <a:buSzPts val="2560"/>
              <a:buChar char="⚫"/>
            </a:pPr>
            <a:r>
              <a:rPr lang="en-US"/>
              <a:t>These are beneficial for applications which can be described using state transition diagrams and state 	tables.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type="title"/>
          </p:nvPr>
        </p:nvSpPr>
        <p:spPr>
          <a:xfrm>
            <a:off x="948114" y="404664"/>
            <a:ext cx="82296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sz="4000"/>
              <a:t>Basic terms related to State Table</a:t>
            </a:r>
            <a:br>
              <a:rPr b="1" lang="en-US" sz="4000"/>
            </a:br>
            <a:r>
              <a:rPr b="1" lang="en-US" sz="3200"/>
              <a:t>1.  Finite State Machine (FSM)</a:t>
            </a:r>
            <a:r>
              <a:rPr b="1" lang="en-US" sz="4000"/>
              <a:t> </a:t>
            </a:r>
            <a:endParaRPr b="1" sz="4000"/>
          </a:p>
        </p:txBody>
      </p:sp>
      <p:sp>
        <p:nvSpPr>
          <p:cNvPr id="118" name="Google Shape;118;p15"/>
          <p:cNvSpPr txBox="1"/>
          <p:nvPr>
            <p:ph idx="1" type="body"/>
          </p:nvPr>
        </p:nvSpPr>
        <p:spPr>
          <a:xfrm>
            <a:off x="1115616" y="1628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560"/>
              <a:buChar char="⚫"/>
            </a:pPr>
            <a:r>
              <a:rPr lang="en-US"/>
              <a:t>An FSM is a behavioral model whose  outcome depends upon both the previous and current inputs.</a:t>
            </a:r>
            <a:endParaRPr/>
          </a:p>
          <a:p>
            <a:pPr indent="-283464" lvl="0" marL="365760" rtl="0" algn="just">
              <a:lnSpc>
                <a:spcPct val="100000"/>
              </a:lnSpc>
              <a:spcBef>
                <a:spcPts val="600"/>
              </a:spcBef>
              <a:spcAft>
                <a:spcPts val="0"/>
              </a:spcAft>
              <a:buSzPts val="2560"/>
              <a:buChar char="⚫"/>
            </a:pPr>
            <a:r>
              <a:rPr lang="en-US"/>
              <a:t>This model can be prepared for software structure or software behavior.</a:t>
            </a:r>
            <a:endParaRPr/>
          </a:p>
          <a:p>
            <a:pPr indent="-283464" lvl="0" marL="365760" rtl="0" algn="just">
              <a:lnSpc>
                <a:spcPct val="100000"/>
              </a:lnSpc>
              <a:spcBef>
                <a:spcPts val="600"/>
              </a:spcBef>
              <a:spcAft>
                <a:spcPts val="0"/>
              </a:spcAft>
              <a:buSzPts val="2560"/>
              <a:buChar char="⚫"/>
            </a:pPr>
            <a:r>
              <a:rPr lang="en-US"/>
              <a:t>It can be used as a tool for functional testing.</a:t>
            </a:r>
            <a:endParaRPr/>
          </a:p>
          <a:p>
            <a:pPr indent="-120903" lvl="0" marL="365760" rtl="0" algn="l">
              <a:lnSpc>
                <a:spcPct val="100000"/>
              </a:lnSpc>
              <a:spcBef>
                <a:spcPts val="600"/>
              </a:spcBef>
              <a:spcAft>
                <a:spcPts val="0"/>
              </a:spcAft>
              <a:buSzPts val="2560"/>
              <a:buNone/>
            </a:pPr>
            <a:r>
              <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txBox="1"/>
          <p:nvPr>
            <p:ph type="title"/>
          </p:nvPr>
        </p:nvSpPr>
        <p:spPr>
          <a:xfrm>
            <a:off x="755576" y="188640"/>
            <a:ext cx="8229600" cy="1020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sz="3600"/>
              <a:t>2. </a:t>
            </a:r>
            <a:r>
              <a:rPr b="1" lang="en-US" sz="3200"/>
              <a:t>State Transition Diagrams or State Graph</a:t>
            </a:r>
            <a:endParaRPr b="1" sz="3200"/>
          </a:p>
        </p:txBody>
      </p:sp>
      <p:sp>
        <p:nvSpPr>
          <p:cNvPr id="125" name="Google Shape;125;p16"/>
          <p:cNvSpPr txBox="1"/>
          <p:nvPr>
            <p:ph idx="1" type="body"/>
          </p:nvPr>
        </p:nvSpPr>
        <p:spPr>
          <a:xfrm>
            <a:off x="683568" y="836712"/>
            <a:ext cx="8229600" cy="4953000"/>
          </a:xfrm>
          <a:prstGeom prst="rect">
            <a:avLst/>
          </a:prstGeom>
          <a:noFill/>
          <a:ln>
            <a:noFill/>
          </a:ln>
        </p:spPr>
        <p:txBody>
          <a:bodyPr anchorCtr="0" anchor="t" bIns="45700" lIns="91425" spcFirstLastPara="1" rIns="91425" wrap="square" tIns="45700">
            <a:normAutofit/>
          </a:bodyPr>
          <a:lstStyle/>
          <a:p>
            <a:pPr indent="-141223" lvl="0" marL="365760" rtl="0" algn="just">
              <a:lnSpc>
                <a:spcPct val="80000"/>
              </a:lnSpc>
              <a:spcBef>
                <a:spcPts val="0"/>
              </a:spcBef>
              <a:spcAft>
                <a:spcPts val="0"/>
              </a:spcAft>
              <a:buSzPts val="2240"/>
              <a:buNone/>
            </a:pPr>
            <a:r>
              <a:t/>
            </a:r>
            <a:endParaRPr sz="2800"/>
          </a:p>
          <a:p>
            <a:pPr indent="-141223" lvl="0" marL="365760" rtl="0" algn="just">
              <a:lnSpc>
                <a:spcPct val="80000"/>
              </a:lnSpc>
              <a:spcBef>
                <a:spcPts val="600"/>
              </a:spcBef>
              <a:spcAft>
                <a:spcPts val="0"/>
              </a:spcAft>
              <a:buSzPts val="2240"/>
              <a:buNone/>
            </a:pPr>
            <a:r>
              <a:t/>
            </a:r>
            <a:endParaRPr sz="2800"/>
          </a:p>
          <a:p>
            <a:pPr indent="-283464" lvl="0" marL="365760" rtl="0" algn="just">
              <a:lnSpc>
                <a:spcPct val="80000"/>
              </a:lnSpc>
              <a:spcBef>
                <a:spcPts val="600"/>
              </a:spcBef>
              <a:spcAft>
                <a:spcPts val="0"/>
              </a:spcAft>
              <a:buSzPts val="2880"/>
              <a:buChar char="⚫"/>
            </a:pPr>
            <a:r>
              <a:rPr lang="en-US" sz="3600"/>
              <a:t>A system or its components may have a number of states depending on its </a:t>
            </a:r>
            <a:r>
              <a:rPr i="1" lang="en-US" sz="3600" u="sng"/>
              <a:t>input and time</a:t>
            </a:r>
            <a:r>
              <a:rPr i="1" lang="en-US" sz="3600"/>
              <a:t>.</a:t>
            </a:r>
            <a:endParaRPr/>
          </a:p>
          <a:p>
            <a:pPr indent="-283464" lvl="0" marL="365760" rtl="0" algn="just">
              <a:lnSpc>
                <a:spcPct val="80000"/>
              </a:lnSpc>
              <a:spcBef>
                <a:spcPts val="600"/>
              </a:spcBef>
              <a:spcAft>
                <a:spcPts val="0"/>
              </a:spcAft>
              <a:buSzPts val="2880"/>
              <a:buChar char="⚫"/>
            </a:pPr>
            <a:r>
              <a:rPr lang="en-US" sz="3600"/>
              <a:t>States are represented by </a:t>
            </a:r>
            <a:r>
              <a:rPr i="1" lang="en-US" sz="3600" u="sng"/>
              <a:t>nodes.</a:t>
            </a:r>
            <a:endParaRPr/>
          </a:p>
          <a:p>
            <a:pPr indent="-283464" lvl="0" marL="365760" rtl="0" algn="just">
              <a:lnSpc>
                <a:spcPct val="80000"/>
              </a:lnSpc>
              <a:spcBef>
                <a:spcPts val="600"/>
              </a:spcBef>
              <a:spcAft>
                <a:spcPts val="0"/>
              </a:spcAft>
              <a:buSzPts val="2880"/>
              <a:buChar char="⚫"/>
            </a:pPr>
            <a:r>
              <a:rPr i="1" lang="en-US" sz="3600"/>
              <a:t>With the help of nodes and transition links between nodes, a STD or SG can be prepared.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State Graph</a:t>
            </a:r>
            <a:endParaRPr/>
          </a:p>
        </p:txBody>
      </p:sp>
      <p:sp>
        <p:nvSpPr>
          <p:cNvPr id="131" name="Google Shape;131;p1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A state graph is the pictorial representation of an FSM.</a:t>
            </a:r>
            <a:endParaRPr/>
          </a:p>
          <a:p>
            <a:pPr indent="-283464" lvl="0" marL="365760" rtl="0" algn="l">
              <a:lnSpc>
                <a:spcPct val="100000"/>
              </a:lnSpc>
              <a:spcBef>
                <a:spcPts val="600"/>
              </a:spcBef>
              <a:spcAft>
                <a:spcPts val="0"/>
              </a:spcAft>
              <a:buSzPts val="2560"/>
              <a:buChar char="⚫"/>
            </a:pPr>
            <a:r>
              <a:rPr lang="en-US"/>
              <a:t>Its purpose is to depict the states that a system or its components can assume.</a:t>
            </a:r>
            <a:endParaRPr/>
          </a:p>
          <a:p>
            <a:pPr indent="-283464" lvl="0" marL="365760" rtl="0" algn="l">
              <a:lnSpc>
                <a:spcPct val="100000"/>
              </a:lnSpc>
              <a:spcBef>
                <a:spcPts val="600"/>
              </a:spcBef>
              <a:spcAft>
                <a:spcPts val="0"/>
              </a:spcAft>
              <a:buSzPts val="2560"/>
              <a:buChar char="⚫"/>
            </a:pPr>
            <a:r>
              <a:rPr lang="en-US"/>
              <a:t>It shows the events or circumstances that cause or result from a change from one state to another.</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State Graph  cont …</a:t>
            </a:r>
            <a:endParaRPr/>
          </a:p>
        </p:txBody>
      </p:sp>
      <p:sp>
        <p:nvSpPr>
          <p:cNvPr id="137" name="Google Shape;137;p18"/>
          <p:cNvSpPr txBox="1"/>
          <p:nvPr>
            <p:ph idx="1" type="body"/>
          </p:nvPr>
        </p:nvSpPr>
        <p:spPr>
          <a:xfrm>
            <a:off x="1115616" y="1484784"/>
            <a:ext cx="7498080" cy="4800600"/>
          </a:xfrm>
          <a:prstGeom prst="rect">
            <a:avLst/>
          </a:prstGeom>
          <a:noFill/>
          <a:ln>
            <a:noFill/>
          </a:ln>
        </p:spPr>
        <p:txBody>
          <a:bodyPr anchorCtr="0" anchor="t" bIns="45700" lIns="91425" spcFirstLastPara="1" rIns="91425" wrap="square" tIns="45700">
            <a:normAutofit/>
          </a:bodyPr>
          <a:lstStyle/>
          <a:p>
            <a:pPr indent="-283464" lvl="0" marL="365760" rtl="0" algn="just">
              <a:lnSpc>
                <a:spcPct val="80000"/>
              </a:lnSpc>
              <a:spcBef>
                <a:spcPts val="0"/>
              </a:spcBef>
              <a:spcAft>
                <a:spcPts val="0"/>
              </a:spcAft>
              <a:buSzPts val="2560"/>
              <a:buChar char="⚫"/>
            </a:pPr>
            <a:r>
              <a:rPr lang="en-US"/>
              <a:t>Whatever is being modeled is subjected to inputs.</a:t>
            </a:r>
            <a:endParaRPr/>
          </a:p>
          <a:p>
            <a:pPr indent="-283464" lvl="0" marL="365760" rtl="0" algn="just">
              <a:lnSpc>
                <a:spcPct val="80000"/>
              </a:lnSpc>
              <a:spcBef>
                <a:spcPts val="600"/>
              </a:spcBef>
              <a:spcAft>
                <a:spcPts val="0"/>
              </a:spcAft>
              <a:buSzPts val="2560"/>
              <a:buChar char="⚫"/>
            </a:pPr>
            <a:r>
              <a:rPr lang="en-US"/>
              <a:t>As a result of these inputs, when one state is changed to another is called a </a:t>
            </a:r>
            <a:r>
              <a:rPr i="1" lang="en-US" u="sng"/>
              <a:t>transition.</a:t>
            </a:r>
            <a:endParaRPr/>
          </a:p>
          <a:p>
            <a:pPr indent="-283464" lvl="0" marL="365760" rtl="0" algn="just">
              <a:lnSpc>
                <a:spcPct val="80000"/>
              </a:lnSpc>
              <a:spcBef>
                <a:spcPts val="600"/>
              </a:spcBef>
              <a:spcAft>
                <a:spcPts val="0"/>
              </a:spcAft>
              <a:buSzPts val="2560"/>
              <a:buChar char="⚫"/>
            </a:pPr>
            <a:r>
              <a:rPr lang="en-US"/>
              <a:t>Transitions are represented by links that join the nodes. </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Example</a:t>
            </a:r>
            <a:endParaRPr/>
          </a:p>
        </p:txBody>
      </p:sp>
      <p:sp>
        <p:nvSpPr>
          <p:cNvPr id="143" name="Google Shape;143;p19"/>
          <p:cNvSpPr txBox="1"/>
          <p:nvPr>
            <p:ph idx="1" type="body"/>
          </p:nvPr>
        </p:nvSpPr>
        <p:spPr>
          <a:xfrm>
            <a:off x="887760" y="1196752"/>
            <a:ext cx="8229600" cy="5105400"/>
          </a:xfrm>
          <a:prstGeom prst="rect">
            <a:avLst/>
          </a:prstGeom>
          <a:noFill/>
          <a:ln>
            <a:noFill/>
          </a:ln>
        </p:spPr>
        <p:txBody>
          <a:bodyPr anchorCtr="0" anchor="t" bIns="45700" lIns="91425" spcFirstLastPara="1" rIns="91425" wrap="square" tIns="45700">
            <a:normAutofit/>
          </a:bodyPr>
          <a:lstStyle/>
          <a:p>
            <a:pPr indent="-571500" lvl="0" marL="571500" rtl="0" algn="l">
              <a:lnSpc>
                <a:spcPct val="100000"/>
              </a:lnSpc>
              <a:spcBef>
                <a:spcPts val="0"/>
              </a:spcBef>
              <a:spcAft>
                <a:spcPts val="0"/>
              </a:spcAft>
              <a:buSzPts val="2560"/>
              <a:buFont typeface="Arial"/>
              <a:buNone/>
            </a:pPr>
            <a:r>
              <a:rPr lang="en-US"/>
              <a:t>For example, a task in an O. S. can have its following states: </a:t>
            </a:r>
            <a:endParaRPr/>
          </a:p>
          <a:p>
            <a:pPr indent="-571500" lvl="0" marL="571500" rtl="0" algn="l">
              <a:lnSpc>
                <a:spcPct val="100000"/>
              </a:lnSpc>
              <a:spcBef>
                <a:spcPts val="600"/>
              </a:spcBef>
              <a:spcAft>
                <a:spcPts val="0"/>
              </a:spcAft>
              <a:buSzPts val="2240"/>
              <a:buFont typeface="Arial"/>
              <a:buAutoNum type="romanLcPeriod"/>
            </a:pPr>
            <a:r>
              <a:rPr b="1" lang="en-US" sz="2800"/>
              <a:t>New State : </a:t>
            </a:r>
            <a:r>
              <a:rPr lang="en-US" sz="2800"/>
              <a:t>When a task is newly created </a:t>
            </a:r>
            <a:endParaRPr/>
          </a:p>
          <a:p>
            <a:pPr indent="-571500" lvl="0" marL="571500" rtl="0" algn="l">
              <a:lnSpc>
                <a:spcPct val="100000"/>
              </a:lnSpc>
              <a:spcBef>
                <a:spcPts val="600"/>
              </a:spcBef>
              <a:spcAft>
                <a:spcPts val="0"/>
              </a:spcAft>
              <a:buSzPts val="2240"/>
              <a:buFont typeface="Arial"/>
              <a:buAutoNum type="romanLcPeriod"/>
            </a:pPr>
            <a:r>
              <a:rPr b="1" lang="en-US" sz="2800"/>
              <a:t>Ready :</a:t>
            </a:r>
            <a:r>
              <a:rPr lang="en-US" sz="2800"/>
              <a:t> When the task is waiting in the ready queue for its turn.</a:t>
            </a:r>
            <a:endParaRPr/>
          </a:p>
          <a:p>
            <a:pPr indent="-571500" lvl="0" marL="571500" rtl="0" algn="l">
              <a:lnSpc>
                <a:spcPct val="100000"/>
              </a:lnSpc>
              <a:spcBef>
                <a:spcPts val="600"/>
              </a:spcBef>
              <a:spcAft>
                <a:spcPts val="0"/>
              </a:spcAft>
              <a:buSzPts val="2240"/>
              <a:buFont typeface="Arial"/>
              <a:buAutoNum type="romanLcPeriod"/>
            </a:pPr>
            <a:r>
              <a:rPr b="1" lang="en-US" sz="2800"/>
              <a:t>Running :</a:t>
            </a:r>
            <a:r>
              <a:rPr lang="en-US" sz="2800"/>
              <a:t> When Instructions of the task are being executed by CPU.</a:t>
            </a:r>
            <a:endParaRPr/>
          </a:p>
          <a:p>
            <a:pPr indent="-571500" lvl="0" marL="571500" rtl="0" algn="l">
              <a:lnSpc>
                <a:spcPct val="100000"/>
              </a:lnSpc>
              <a:spcBef>
                <a:spcPts val="600"/>
              </a:spcBef>
              <a:spcAft>
                <a:spcPts val="0"/>
              </a:spcAft>
              <a:buSzPts val="2240"/>
              <a:buFont typeface="Arial"/>
              <a:buAutoNum type="romanLcPeriod"/>
            </a:pPr>
            <a:r>
              <a:rPr b="1" lang="en-US" sz="2800"/>
              <a:t>Waiting :</a:t>
            </a:r>
            <a:r>
              <a:rPr lang="en-US" sz="2800"/>
              <a:t> When the task is waiting for an I/O event or reception of a signal</a:t>
            </a:r>
            <a:endParaRPr/>
          </a:p>
          <a:p>
            <a:pPr indent="-571500" lvl="0" marL="571500" rtl="0" algn="l">
              <a:lnSpc>
                <a:spcPct val="100000"/>
              </a:lnSpc>
              <a:spcBef>
                <a:spcPts val="600"/>
              </a:spcBef>
              <a:spcAft>
                <a:spcPts val="0"/>
              </a:spcAft>
              <a:buSzPts val="2240"/>
              <a:buFont typeface="Arial"/>
              <a:buAutoNum type="romanLcPeriod"/>
            </a:pPr>
            <a:r>
              <a:rPr b="1" lang="en-US" sz="2800"/>
              <a:t>Terminated :</a:t>
            </a:r>
            <a:r>
              <a:rPr lang="en-US" sz="2800"/>
              <a:t> The task has finished execution.</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1043608" y="0"/>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State Graph</a:t>
            </a:r>
            <a:endParaRPr/>
          </a:p>
        </p:txBody>
      </p:sp>
      <p:sp>
        <p:nvSpPr>
          <p:cNvPr id="150" name="Google Shape;150;p20"/>
          <p:cNvSpPr txBox="1"/>
          <p:nvPr>
            <p:ph idx="1" type="body"/>
          </p:nvPr>
        </p:nvSpPr>
        <p:spPr>
          <a:xfrm>
            <a:off x="609600" y="777082"/>
            <a:ext cx="8229600" cy="5892278"/>
          </a:xfrm>
          <a:prstGeom prst="rect">
            <a:avLst/>
          </a:prstGeom>
          <a:noFill/>
          <a:ln>
            <a:noFill/>
          </a:ln>
        </p:spPr>
        <p:txBody>
          <a:bodyPr anchorCtr="0" anchor="t" bIns="45700" lIns="91425" spcFirstLastPara="1" rIns="91425" wrap="square" tIns="45700">
            <a:normAutofit lnSpcReduction="10000"/>
          </a:bodyPr>
          <a:lstStyle/>
          <a:p>
            <a:pPr indent="-480060" lvl="0" marL="571500" rtl="0" algn="l">
              <a:lnSpc>
                <a:spcPct val="100000"/>
              </a:lnSpc>
              <a:spcBef>
                <a:spcPts val="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57150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480060" lvl="0" marL="571500" rtl="0" algn="l">
              <a:lnSpc>
                <a:spcPct val="100000"/>
              </a:lnSpc>
              <a:spcBef>
                <a:spcPts val="600"/>
              </a:spcBef>
              <a:spcAft>
                <a:spcPts val="0"/>
              </a:spcAft>
              <a:buSzPts val="1440"/>
              <a:buFont typeface="Arial"/>
              <a:buNone/>
            </a:pPr>
            <a:r>
              <a:t/>
            </a:r>
            <a:endParaRPr sz="1800"/>
          </a:p>
          <a:p>
            <a:pPr indent="-236537" lvl="0" marL="1150938" rtl="0" algn="l">
              <a:lnSpc>
                <a:spcPct val="100000"/>
              </a:lnSpc>
              <a:spcBef>
                <a:spcPts val="600"/>
              </a:spcBef>
              <a:spcAft>
                <a:spcPts val="0"/>
              </a:spcAft>
              <a:buSzPts val="1440"/>
              <a:buFont typeface="Arial"/>
              <a:buChar char="•"/>
            </a:pPr>
            <a:r>
              <a:rPr lang="en-US" sz="1800"/>
              <a:t>New State : When a task is newly created </a:t>
            </a:r>
            <a:endParaRPr/>
          </a:p>
          <a:p>
            <a:pPr indent="-236537" lvl="0" marL="1150938" rtl="0" algn="l">
              <a:lnSpc>
                <a:spcPct val="100000"/>
              </a:lnSpc>
              <a:spcBef>
                <a:spcPts val="600"/>
              </a:spcBef>
              <a:spcAft>
                <a:spcPts val="0"/>
              </a:spcAft>
              <a:buSzPts val="1440"/>
              <a:buFont typeface="Arial"/>
              <a:buChar char="•"/>
            </a:pPr>
            <a:r>
              <a:rPr lang="en-US" sz="1800"/>
              <a:t>Ready : When the task is waiting in the ready queue for its turn.</a:t>
            </a:r>
            <a:endParaRPr/>
          </a:p>
          <a:p>
            <a:pPr indent="-236537" lvl="0" marL="1150938" rtl="0" algn="l">
              <a:lnSpc>
                <a:spcPct val="100000"/>
              </a:lnSpc>
              <a:spcBef>
                <a:spcPts val="600"/>
              </a:spcBef>
              <a:spcAft>
                <a:spcPts val="0"/>
              </a:spcAft>
              <a:buSzPts val="1440"/>
              <a:buFont typeface="Arial"/>
              <a:buChar char="•"/>
            </a:pPr>
            <a:r>
              <a:rPr lang="en-US" sz="1800"/>
              <a:t>Running : When Instructions of the task are being executed by CPU.</a:t>
            </a:r>
            <a:endParaRPr/>
          </a:p>
          <a:p>
            <a:pPr indent="-236537" lvl="0" marL="1150938" rtl="0" algn="l">
              <a:lnSpc>
                <a:spcPct val="100000"/>
              </a:lnSpc>
              <a:spcBef>
                <a:spcPts val="600"/>
              </a:spcBef>
              <a:spcAft>
                <a:spcPts val="0"/>
              </a:spcAft>
              <a:buSzPts val="1440"/>
              <a:buFont typeface="Arial"/>
              <a:buChar char="•"/>
            </a:pPr>
            <a:r>
              <a:rPr lang="en-US" sz="1800"/>
              <a:t>Waiting : When the task is waiting for an I/O event or reception of a signal</a:t>
            </a:r>
            <a:endParaRPr/>
          </a:p>
          <a:p>
            <a:pPr indent="-236537" lvl="0" marL="1150938" rtl="0" algn="l">
              <a:lnSpc>
                <a:spcPct val="100000"/>
              </a:lnSpc>
              <a:spcBef>
                <a:spcPts val="600"/>
              </a:spcBef>
              <a:spcAft>
                <a:spcPts val="0"/>
              </a:spcAft>
              <a:buSzPts val="1440"/>
              <a:buFont typeface="Arial"/>
              <a:buChar char="•"/>
            </a:pPr>
            <a:r>
              <a:rPr lang="en-US" sz="1800"/>
              <a:t>Terminated : The task has finished execution.</a:t>
            </a:r>
            <a:endParaRPr/>
          </a:p>
          <a:p>
            <a:pPr indent="-294640" lvl="0" marL="457200" rtl="0" algn="l">
              <a:lnSpc>
                <a:spcPct val="100000"/>
              </a:lnSpc>
              <a:spcBef>
                <a:spcPts val="600"/>
              </a:spcBef>
              <a:spcAft>
                <a:spcPts val="0"/>
              </a:spcAft>
              <a:buSzPts val="2560"/>
              <a:buFont typeface="Arial"/>
              <a:buNone/>
            </a:pPr>
            <a:r>
              <a:t/>
            </a:r>
            <a:endParaRPr/>
          </a:p>
        </p:txBody>
      </p:sp>
      <p:grpSp>
        <p:nvGrpSpPr>
          <p:cNvPr id="151" name="Google Shape;151;p20"/>
          <p:cNvGrpSpPr/>
          <p:nvPr/>
        </p:nvGrpSpPr>
        <p:grpSpPr>
          <a:xfrm>
            <a:off x="1190229" y="1098550"/>
            <a:ext cx="7620000" cy="2971800"/>
            <a:chOff x="609600" y="1447800"/>
            <a:chExt cx="7620000" cy="2971800"/>
          </a:xfrm>
        </p:grpSpPr>
        <p:sp>
          <p:nvSpPr>
            <p:cNvPr id="152" name="Google Shape;152;p20"/>
            <p:cNvSpPr/>
            <p:nvPr/>
          </p:nvSpPr>
          <p:spPr>
            <a:xfrm>
              <a:off x="609600" y="1447800"/>
              <a:ext cx="1143000" cy="6096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New</a:t>
              </a:r>
              <a:endParaRPr b="0" i="0" sz="1800" u="none" cap="none" strike="noStrike">
                <a:solidFill>
                  <a:schemeClr val="lt1"/>
                </a:solidFill>
                <a:latin typeface="Gill Sans"/>
                <a:ea typeface="Gill Sans"/>
                <a:cs typeface="Gill Sans"/>
                <a:sym typeface="Gill Sans"/>
              </a:endParaRPr>
            </a:p>
          </p:txBody>
        </p:sp>
        <p:sp>
          <p:nvSpPr>
            <p:cNvPr id="153" name="Google Shape;153;p20"/>
            <p:cNvSpPr/>
            <p:nvPr/>
          </p:nvSpPr>
          <p:spPr>
            <a:xfrm>
              <a:off x="1752600" y="2667000"/>
              <a:ext cx="1143000" cy="7620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Ready</a:t>
              </a:r>
              <a:endParaRPr b="0" i="0" sz="1800" u="none" cap="none" strike="noStrike">
                <a:solidFill>
                  <a:schemeClr val="lt1"/>
                </a:solidFill>
                <a:latin typeface="Gill Sans"/>
                <a:ea typeface="Gill Sans"/>
                <a:cs typeface="Gill Sans"/>
                <a:sym typeface="Gill Sans"/>
              </a:endParaRPr>
            </a:p>
          </p:txBody>
        </p:sp>
        <p:sp>
          <p:nvSpPr>
            <p:cNvPr id="154" name="Google Shape;154;p20"/>
            <p:cNvSpPr/>
            <p:nvPr/>
          </p:nvSpPr>
          <p:spPr>
            <a:xfrm>
              <a:off x="4191000" y="2667000"/>
              <a:ext cx="1447800" cy="6858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Running</a:t>
              </a:r>
              <a:endParaRPr b="0" i="0" sz="1800" u="none" cap="none" strike="noStrike">
                <a:solidFill>
                  <a:schemeClr val="lt1"/>
                </a:solidFill>
                <a:latin typeface="Gill Sans"/>
                <a:ea typeface="Gill Sans"/>
                <a:cs typeface="Gill Sans"/>
                <a:sym typeface="Gill Sans"/>
              </a:endParaRPr>
            </a:p>
          </p:txBody>
        </p:sp>
        <p:sp>
          <p:nvSpPr>
            <p:cNvPr id="155" name="Google Shape;155;p20"/>
            <p:cNvSpPr/>
            <p:nvPr/>
          </p:nvSpPr>
          <p:spPr>
            <a:xfrm>
              <a:off x="6400800" y="1524000"/>
              <a:ext cx="1828800" cy="6096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Terminated</a:t>
              </a:r>
              <a:endParaRPr b="0" i="0" sz="1800" u="none" cap="none" strike="noStrike">
                <a:solidFill>
                  <a:schemeClr val="lt1"/>
                </a:solidFill>
                <a:latin typeface="Gill Sans"/>
                <a:ea typeface="Gill Sans"/>
                <a:cs typeface="Gill Sans"/>
                <a:sym typeface="Gill Sans"/>
              </a:endParaRPr>
            </a:p>
          </p:txBody>
        </p:sp>
        <p:sp>
          <p:nvSpPr>
            <p:cNvPr id="156" name="Google Shape;156;p20"/>
            <p:cNvSpPr/>
            <p:nvPr/>
          </p:nvSpPr>
          <p:spPr>
            <a:xfrm>
              <a:off x="4114800" y="3886200"/>
              <a:ext cx="1600200" cy="5334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Waiting</a:t>
              </a:r>
              <a:endParaRPr b="0" i="0" sz="1800" u="none" cap="none" strike="noStrike">
                <a:solidFill>
                  <a:schemeClr val="lt1"/>
                </a:solidFill>
                <a:latin typeface="Gill Sans"/>
                <a:ea typeface="Gill Sans"/>
                <a:cs typeface="Gill Sans"/>
                <a:sym typeface="Gill Sans"/>
              </a:endParaRPr>
            </a:p>
          </p:txBody>
        </p:sp>
        <p:cxnSp>
          <p:nvCxnSpPr>
            <p:cNvPr id="157" name="Google Shape;157;p20"/>
            <p:cNvCxnSpPr>
              <a:stCxn id="152" idx="6"/>
            </p:cNvCxnSpPr>
            <p:nvPr/>
          </p:nvCxnSpPr>
          <p:spPr>
            <a:xfrm>
              <a:off x="1752600" y="1752600"/>
              <a:ext cx="1500" cy="1143000"/>
            </a:xfrm>
            <a:prstGeom prst="straightConnector1">
              <a:avLst/>
            </a:prstGeom>
            <a:noFill/>
            <a:ln cap="flat" cmpd="sng" w="25400">
              <a:solidFill>
                <a:schemeClr val="accent1"/>
              </a:solidFill>
              <a:prstDash val="solid"/>
              <a:round/>
              <a:headEnd len="sm" w="sm" type="none"/>
              <a:tailEnd len="med" w="med" type="stealth"/>
            </a:ln>
          </p:spPr>
        </p:cxnSp>
        <p:cxnSp>
          <p:nvCxnSpPr>
            <p:cNvPr id="158" name="Google Shape;158;p20"/>
            <p:cNvCxnSpPr>
              <a:stCxn id="153" idx="7"/>
            </p:cNvCxnSpPr>
            <p:nvPr/>
          </p:nvCxnSpPr>
          <p:spPr>
            <a:xfrm flipH="1" rot="10800000">
              <a:off x="2728212" y="2743792"/>
              <a:ext cx="1614600" cy="34800"/>
            </a:xfrm>
            <a:prstGeom prst="straightConnector1">
              <a:avLst/>
            </a:prstGeom>
            <a:noFill/>
            <a:ln cap="flat" cmpd="sng" w="25400">
              <a:solidFill>
                <a:schemeClr val="accent1"/>
              </a:solidFill>
              <a:prstDash val="solid"/>
              <a:round/>
              <a:headEnd len="sm" w="sm" type="none"/>
              <a:tailEnd len="med" w="med" type="stealth"/>
            </a:ln>
          </p:spPr>
        </p:cxnSp>
        <p:cxnSp>
          <p:nvCxnSpPr>
            <p:cNvPr id="159" name="Google Shape;159;p20"/>
            <p:cNvCxnSpPr>
              <a:endCxn id="153" idx="5"/>
            </p:cNvCxnSpPr>
            <p:nvPr/>
          </p:nvCxnSpPr>
          <p:spPr>
            <a:xfrm flipH="1">
              <a:off x="2728212" y="3264908"/>
              <a:ext cx="1765200" cy="52500"/>
            </a:xfrm>
            <a:prstGeom prst="straightConnector1">
              <a:avLst/>
            </a:prstGeom>
            <a:noFill/>
            <a:ln cap="flat" cmpd="sng" w="25400">
              <a:solidFill>
                <a:schemeClr val="accent1"/>
              </a:solidFill>
              <a:prstDash val="solid"/>
              <a:round/>
              <a:headEnd len="sm" w="sm" type="none"/>
              <a:tailEnd len="med" w="med" type="stealth"/>
            </a:ln>
          </p:spPr>
        </p:cxnSp>
        <p:cxnSp>
          <p:nvCxnSpPr>
            <p:cNvPr id="160" name="Google Shape;160;p20"/>
            <p:cNvCxnSpPr>
              <a:stCxn id="156" idx="2"/>
            </p:cNvCxnSpPr>
            <p:nvPr/>
          </p:nvCxnSpPr>
          <p:spPr>
            <a:xfrm rot="10800000">
              <a:off x="2438400" y="3505200"/>
              <a:ext cx="1676400" cy="647700"/>
            </a:xfrm>
            <a:prstGeom prst="straightConnector1">
              <a:avLst/>
            </a:prstGeom>
            <a:noFill/>
            <a:ln cap="flat" cmpd="sng" w="25400">
              <a:solidFill>
                <a:schemeClr val="accent1"/>
              </a:solidFill>
              <a:prstDash val="solid"/>
              <a:round/>
              <a:headEnd len="sm" w="sm" type="none"/>
              <a:tailEnd len="med" w="med" type="stealth"/>
            </a:ln>
          </p:spPr>
        </p:cxnSp>
        <p:cxnSp>
          <p:nvCxnSpPr>
            <p:cNvPr id="161" name="Google Shape;161;p20"/>
            <p:cNvCxnSpPr>
              <a:stCxn id="154" idx="4"/>
              <a:endCxn id="156" idx="0"/>
            </p:cNvCxnSpPr>
            <p:nvPr/>
          </p:nvCxnSpPr>
          <p:spPr>
            <a:xfrm>
              <a:off x="4914900" y="3352800"/>
              <a:ext cx="0" cy="533400"/>
            </a:xfrm>
            <a:prstGeom prst="straightConnector1">
              <a:avLst/>
            </a:prstGeom>
            <a:noFill/>
            <a:ln cap="flat" cmpd="sng" w="25400">
              <a:solidFill>
                <a:schemeClr val="accent1"/>
              </a:solidFill>
              <a:prstDash val="solid"/>
              <a:round/>
              <a:headEnd len="sm" w="sm" type="none"/>
              <a:tailEnd len="med" w="med" type="stealth"/>
            </a:ln>
          </p:spPr>
        </p:cxnSp>
        <p:cxnSp>
          <p:nvCxnSpPr>
            <p:cNvPr id="162" name="Google Shape;162;p20"/>
            <p:cNvCxnSpPr/>
            <p:nvPr/>
          </p:nvCxnSpPr>
          <p:spPr>
            <a:xfrm flipH="1" rot="10800000">
              <a:off x="5410200" y="2133600"/>
              <a:ext cx="1447800" cy="609600"/>
            </a:xfrm>
            <a:prstGeom prst="straightConnector1">
              <a:avLst/>
            </a:prstGeom>
            <a:noFill/>
            <a:ln cap="flat" cmpd="sng" w="25400">
              <a:solidFill>
                <a:schemeClr val="accent1"/>
              </a:solidFill>
              <a:prstDash val="solid"/>
              <a:round/>
              <a:headEnd len="sm" w="sm" type="none"/>
              <a:tailEnd len="med" w="med" type="stealth"/>
            </a:ln>
          </p:spPr>
        </p:cxnSp>
        <p:sp>
          <p:nvSpPr>
            <p:cNvPr id="163" name="Google Shape;163;p20"/>
            <p:cNvSpPr/>
            <p:nvPr/>
          </p:nvSpPr>
          <p:spPr>
            <a:xfrm>
              <a:off x="1676400" y="19812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Admitted,T1</a:t>
              </a:r>
              <a:endParaRPr b="0" i="0" sz="1800" u="none" cap="none" strike="noStrike">
                <a:solidFill>
                  <a:schemeClr val="dk1"/>
                </a:solidFill>
                <a:latin typeface="Gill Sans"/>
                <a:ea typeface="Gill Sans"/>
                <a:cs typeface="Gill Sans"/>
                <a:sym typeface="Gill Sans"/>
              </a:endParaRPr>
            </a:p>
          </p:txBody>
        </p:sp>
        <p:sp>
          <p:nvSpPr>
            <p:cNvPr id="164" name="Google Shape;164;p20"/>
            <p:cNvSpPr/>
            <p:nvPr/>
          </p:nvSpPr>
          <p:spPr>
            <a:xfrm>
              <a:off x="2743200" y="23622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Dispatch,T2</a:t>
              </a:r>
              <a:endParaRPr b="0" i="0" sz="1800" u="none" cap="none" strike="noStrike">
                <a:solidFill>
                  <a:schemeClr val="dk1"/>
                </a:solidFill>
                <a:latin typeface="Gill Sans"/>
                <a:ea typeface="Gill Sans"/>
                <a:cs typeface="Gill Sans"/>
                <a:sym typeface="Gill Sans"/>
              </a:endParaRPr>
            </a:p>
          </p:txBody>
        </p:sp>
        <p:sp>
          <p:nvSpPr>
            <p:cNvPr id="165" name="Google Shape;165;p20"/>
            <p:cNvSpPr/>
            <p:nvPr/>
          </p:nvSpPr>
          <p:spPr>
            <a:xfrm>
              <a:off x="5029200" y="22098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Exit,T6</a:t>
              </a:r>
              <a:endParaRPr b="0" i="0" sz="1800" u="none" cap="none" strike="noStrike">
                <a:solidFill>
                  <a:schemeClr val="dk1"/>
                </a:solidFill>
                <a:latin typeface="Gill Sans"/>
                <a:ea typeface="Gill Sans"/>
                <a:cs typeface="Gill Sans"/>
                <a:sym typeface="Gill Sans"/>
              </a:endParaRPr>
            </a:p>
          </p:txBody>
        </p:sp>
        <p:sp>
          <p:nvSpPr>
            <p:cNvPr id="166" name="Google Shape;166;p20"/>
            <p:cNvSpPr/>
            <p:nvPr/>
          </p:nvSpPr>
          <p:spPr>
            <a:xfrm>
              <a:off x="2895600" y="32766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Interrupt,T3</a:t>
              </a:r>
              <a:endParaRPr b="0" i="0" sz="1800" u="none" cap="none" strike="noStrike">
                <a:solidFill>
                  <a:schemeClr val="dk1"/>
                </a:solidFill>
                <a:latin typeface="Gill Sans"/>
                <a:ea typeface="Gill Sans"/>
                <a:cs typeface="Gill Sans"/>
                <a:sym typeface="Gill Sans"/>
              </a:endParaRPr>
            </a:p>
          </p:txBody>
        </p:sp>
        <p:sp>
          <p:nvSpPr>
            <p:cNvPr id="167" name="Google Shape;167;p20"/>
            <p:cNvSpPr/>
            <p:nvPr/>
          </p:nvSpPr>
          <p:spPr>
            <a:xfrm>
              <a:off x="1752600" y="3733800"/>
              <a:ext cx="1600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I/O or event completion, T5</a:t>
              </a:r>
              <a:endParaRPr b="0" i="0" sz="1800" u="none" cap="none" strike="noStrike">
                <a:solidFill>
                  <a:schemeClr val="dk1"/>
                </a:solidFill>
                <a:latin typeface="Gill Sans"/>
                <a:ea typeface="Gill Sans"/>
                <a:cs typeface="Gill Sans"/>
                <a:sym typeface="Gill Sans"/>
              </a:endParaRPr>
            </a:p>
          </p:txBody>
        </p:sp>
        <p:sp>
          <p:nvSpPr>
            <p:cNvPr id="168" name="Google Shape;168;p20"/>
            <p:cNvSpPr/>
            <p:nvPr/>
          </p:nvSpPr>
          <p:spPr>
            <a:xfrm>
              <a:off x="4953000" y="3429000"/>
              <a:ext cx="1600200" cy="381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I/O or event wait, T4</a:t>
              </a:r>
              <a:endParaRPr b="0" i="0" sz="1800" u="none" cap="none" strike="noStrike">
                <a:solidFill>
                  <a:schemeClr val="dk1"/>
                </a:solidFill>
                <a:latin typeface="Gill Sans"/>
                <a:ea typeface="Gill Sans"/>
                <a:cs typeface="Gill Sans"/>
                <a:sym typeface="Gill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idx="1" type="body"/>
          </p:nvPr>
        </p:nvSpPr>
        <p:spPr>
          <a:xfrm>
            <a:off x="806624" y="1600200"/>
            <a:ext cx="8229600" cy="5105400"/>
          </a:xfrm>
          <a:prstGeom prst="rect">
            <a:avLst/>
          </a:prstGeom>
          <a:noFill/>
          <a:ln>
            <a:noFill/>
          </a:ln>
        </p:spPr>
        <p:txBody>
          <a:bodyPr anchorCtr="0" anchor="t" bIns="45700" lIns="91425" spcFirstLastPara="1" rIns="91425" wrap="square" tIns="45700">
            <a:normAutofit fontScale="92500" lnSpcReduction="20000"/>
          </a:bodyPr>
          <a:lstStyle/>
          <a:p>
            <a:pPr indent="-133096" lvl="0" marL="365760" rtl="0" algn="l">
              <a:lnSpc>
                <a:spcPct val="100000"/>
              </a:lnSpc>
              <a:spcBef>
                <a:spcPts val="0"/>
              </a:spcBef>
              <a:spcAft>
                <a:spcPts val="0"/>
              </a:spcAft>
              <a:buSzPct val="80000"/>
              <a:buFont typeface="Arial"/>
              <a:buNone/>
            </a:pPr>
            <a:r>
              <a:t/>
            </a:r>
            <a:endParaRPr/>
          </a:p>
          <a:p>
            <a:pPr indent="-133096" lvl="0" marL="365760" rtl="0" algn="l">
              <a:lnSpc>
                <a:spcPct val="100000"/>
              </a:lnSpc>
              <a:spcBef>
                <a:spcPts val="600"/>
              </a:spcBef>
              <a:spcAft>
                <a:spcPts val="0"/>
              </a:spcAft>
              <a:buSzPct val="80000"/>
              <a:buFont typeface="Arial"/>
              <a:buNone/>
            </a:pPr>
            <a:r>
              <a:t/>
            </a:r>
            <a:endParaRPr/>
          </a:p>
          <a:p>
            <a:pPr indent="-133096" lvl="0" marL="365760" rtl="0" algn="l">
              <a:lnSpc>
                <a:spcPct val="100000"/>
              </a:lnSpc>
              <a:spcBef>
                <a:spcPts val="600"/>
              </a:spcBef>
              <a:spcAft>
                <a:spcPts val="0"/>
              </a:spcAft>
              <a:buSzPct val="80000"/>
              <a:buFont typeface="Arial"/>
              <a:buNone/>
            </a:pPr>
            <a:r>
              <a:t/>
            </a:r>
            <a:endParaRPr/>
          </a:p>
          <a:p>
            <a:pPr indent="-133096" lvl="0" marL="365760" rtl="0" algn="l">
              <a:lnSpc>
                <a:spcPct val="100000"/>
              </a:lnSpc>
              <a:spcBef>
                <a:spcPts val="600"/>
              </a:spcBef>
              <a:spcAft>
                <a:spcPts val="0"/>
              </a:spcAft>
              <a:buSzPct val="80000"/>
              <a:buFont typeface="Arial"/>
              <a:buNone/>
            </a:pPr>
            <a:r>
              <a:t/>
            </a:r>
            <a:endParaRPr/>
          </a:p>
          <a:p>
            <a:pPr indent="-283464" lvl="0" marL="365760" rtl="0" algn="l">
              <a:lnSpc>
                <a:spcPct val="100000"/>
              </a:lnSpc>
              <a:spcBef>
                <a:spcPts val="600"/>
              </a:spcBef>
              <a:spcAft>
                <a:spcPts val="0"/>
              </a:spcAft>
              <a:buSzPct val="79999"/>
              <a:buFont typeface="Arial"/>
              <a:buNone/>
            </a:pPr>
            <a:r>
              <a:t/>
            </a:r>
            <a:endParaRPr b="1" sz="2600"/>
          </a:p>
          <a:p>
            <a:pPr indent="-283464" lvl="0" marL="365760" rtl="0" algn="l">
              <a:lnSpc>
                <a:spcPct val="100000"/>
              </a:lnSpc>
              <a:spcBef>
                <a:spcPts val="600"/>
              </a:spcBef>
              <a:spcAft>
                <a:spcPts val="0"/>
              </a:spcAft>
              <a:buSzPct val="79999"/>
              <a:buFont typeface="Arial"/>
              <a:buNone/>
            </a:pPr>
            <a:r>
              <a:rPr b="1" lang="en-US" sz="2600"/>
              <a:t>Each arrow link provides two types of Information : </a:t>
            </a:r>
            <a:endParaRPr/>
          </a:p>
          <a:p>
            <a:pPr indent="-283464" lvl="0" marL="365760" rtl="0" algn="l">
              <a:lnSpc>
                <a:spcPct val="100000"/>
              </a:lnSpc>
              <a:spcBef>
                <a:spcPts val="600"/>
              </a:spcBef>
              <a:spcAft>
                <a:spcPts val="0"/>
              </a:spcAft>
              <a:buSzPct val="79999"/>
              <a:buFont typeface="Arial"/>
              <a:buAutoNum type="arabicPeriod"/>
            </a:pPr>
            <a:r>
              <a:rPr b="1" lang="en-US" sz="1800"/>
              <a:t>Transition events like admitted, dispatch, interrupt, etc. </a:t>
            </a:r>
            <a:endParaRPr/>
          </a:p>
          <a:p>
            <a:pPr indent="-283464" lvl="0" marL="365760" rtl="0" algn="l">
              <a:lnSpc>
                <a:spcPct val="100000"/>
              </a:lnSpc>
              <a:spcBef>
                <a:spcPts val="600"/>
              </a:spcBef>
              <a:spcAft>
                <a:spcPts val="0"/>
              </a:spcAft>
              <a:buSzPct val="79999"/>
              <a:buFont typeface="Arial"/>
              <a:buAutoNum type="arabicPeriod"/>
            </a:pPr>
            <a:r>
              <a:rPr b="1" lang="en-US" sz="1800"/>
              <a:t>The resulting output from a state like T1, T2, T3 etc.</a:t>
            </a:r>
            <a:endParaRPr/>
          </a:p>
          <a:p>
            <a:pPr indent="-283464" lvl="0" marL="365760" rtl="0" algn="l">
              <a:lnSpc>
                <a:spcPct val="100000"/>
              </a:lnSpc>
              <a:spcBef>
                <a:spcPts val="600"/>
              </a:spcBef>
              <a:spcAft>
                <a:spcPts val="0"/>
              </a:spcAft>
              <a:buSzPct val="79999"/>
              <a:buFont typeface="Arial"/>
              <a:buNone/>
            </a:pPr>
            <a:r>
              <a:rPr b="1" lang="en-US" sz="1800"/>
              <a:t>	T0=Task is in new state and waiting for admission to ready queue.</a:t>
            </a:r>
            <a:endParaRPr/>
          </a:p>
          <a:p>
            <a:pPr indent="-283464" lvl="0" marL="365760" rtl="0" algn="l">
              <a:lnSpc>
                <a:spcPct val="100000"/>
              </a:lnSpc>
              <a:spcBef>
                <a:spcPts val="600"/>
              </a:spcBef>
              <a:spcAft>
                <a:spcPts val="0"/>
              </a:spcAft>
              <a:buSzPct val="79999"/>
              <a:buFont typeface="Arial"/>
              <a:buNone/>
            </a:pPr>
            <a:r>
              <a:rPr b="1" lang="en-US" sz="1800"/>
              <a:t>	T1= A new task admitted to ready queue</a:t>
            </a:r>
            <a:endParaRPr/>
          </a:p>
          <a:p>
            <a:pPr indent="-283464" lvl="0" marL="365760" rtl="0" algn="l">
              <a:lnSpc>
                <a:spcPct val="100000"/>
              </a:lnSpc>
              <a:spcBef>
                <a:spcPts val="600"/>
              </a:spcBef>
              <a:spcAft>
                <a:spcPts val="0"/>
              </a:spcAft>
              <a:buSzPct val="79999"/>
              <a:buFont typeface="Arial"/>
              <a:buNone/>
            </a:pPr>
            <a:r>
              <a:rPr b="1" lang="en-US" sz="1800"/>
              <a:t>	T2= A ready task has started running </a:t>
            </a:r>
            <a:endParaRPr/>
          </a:p>
          <a:p>
            <a:pPr indent="-283464" lvl="0" marL="365760" rtl="0" algn="l">
              <a:lnSpc>
                <a:spcPct val="100000"/>
              </a:lnSpc>
              <a:spcBef>
                <a:spcPts val="600"/>
              </a:spcBef>
              <a:spcAft>
                <a:spcPts val="0"/>
              </a:spcAft>
              <a:buSzPct val="79999"/>
              <a:buFont typeface="Arial"/>
              <a:buNone/>
            </a:pPr>
            <a:r>
              <a:rPr b="1" lang="en-US" sz="1800"/>
              <a:t>	T3= Running task has been interrupted </a:t>
            </a:r>
            <a:endParaRPr/>
          </a:p>
          <a:p>
            <a:pPr indent="-283464" lvl="0" marL="365760" rtl="0" algn="l">
              <a:lnSpc>
                <a:spcPct val="100000"/>
              </a:lnSpc>
              <a:spcBef>
                <a:spcPts val="600"/>
              </a:spcBef>
              <a:spcAft>
                <a:spcPts val="0"/>
              </a:spcAft>
              <a:buSzPct val="79999"/>
              <a:buFont typeface="Arial"/>
              <a:buNone/>
            </a:pPr>
            <a:r>
              <a:rPr b="1" lang="en-US" sz="1800"/>
              <a:t>	T4= Running task is waiting for I/O or event</a:t>
            </a:r>
            <a:endParaRPr/>
          </a:p>
          <a:p>
            <a:pPr indent="-283464" lvl="0" marL="365760" rtl="0" algn="l">
              <a:lnSpc>
                <a:spcPct val="100000"/>
              </a:lnSpc>
              <a:spcBef>
                <a:spcPts val="600"/>
              </a:spcBef>
              <a:spcAft>
                <a:spcPts val="0"/>
              </a:spcAft>
              <a:buSzPct val="79999"/>
              <a:buFont typeface="Arial"/>
              <a:buNone/>
            </a:pPr>
            <a:r>
              <a:rPr b="1" lang="en-US" sz="1800"/>
              <a:t>	T5= Wait period of waiting task is over </a:t>
            </a:r>
            <a:endParaRPr/>
          </a:p>
          <a:p>
            <a:pPr indent="-283464" lvl="0" marL="365760" rtl="0" algn="l">
              <a:lnSpc>
                <a:spcPct val="100000"/>
              </a:lnSpc>
              <a:spcBef>
                <a:spcPts val="600"/>
              </a:spcBef>
              <a:spcAft>
                <a:spcPts val="0"/>
              </a:spcAft>
              <a:buSzPct val="79999"/>
              <a:buFont typeface="Arial"/>
              <a:buNone/>
            </a:pPr>
            <a:r>
              <a:rPr b="1" lang="en-US" sz="1800"/>
              <a:t>	T6= Task has completed execution</a:t>
            </a:r>
            <a:endParaRPr b="1" sz="1800"/>
          </a:p>
        </p:txBody>
      </p:sp>
      <p:grpSp>
        <p:nvGrpSpPr>
          <p:cNvPr id="175" name="Google Shape;175;p21"/>
          <p:cNvGrpSpPr/>
          <p:nvPr/>
        </p:nvGrpSpPr>
        <p:grpSpPr>
          <a:xfrm>
            <a:off x="1187624" y="304800"/>
            <a:ext cx="7620000" cy="2971800"/>
            <a:chOff x="609600" y="1447800"/>
            <a:chExt cx="7620000" cy="2971800"/>
          </a:xfrm>
        </p:grpSpPr>
        <p:sp>
          <p:nvSpPr>
            <p:cNvPr id="176" name="Google Shape;176;p21"/>
            <p:cNvSpPr/>
            <p:nvPr/>
          </p:nvSpPr>
          <p:spPr>
            <a:xfrm>
              <a:off x="609600" y="1447800"/>
              <a:ext cx="1143000" cy="6096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New</a:t>
              </a:r>
              <a:endParaRPr b="0" i="0" sz="1800" u="none" cap="none" strike="noStrike">
                <a:solidFill>
                  <a:schemeClr val="lt1"/>
                </a:solidFill>
                <a:latin typeface="Gill Sans"/>
                <a:ea typeface="Gill Sans"/>
                <a:cs typeface="Gill Sans"/>
                <a:sym typeface="Gill Sans"/>
              </a:endParaRPr>
            </a:p>
          </p:txBody>
        </p:sp>
        <p:sp>
          <p:nvSpPr>
            <p:cNvPr id="177" name="Google Shape;177;p21"/>
            <p:cNvSpPr/>
            <p:nvPr/>
          </p:nvSpPr>
          <p:spPr>
            <a:xfrm>
              <a:off x="1752600" y="2667000"/>
              <a:ext cx="1143000" cy="7620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Ready</a:t>
              </a:r>
              <a:endParaRPr b="0" i="0" sz="1800" u="none" cap="none" strike="noStrike">
                <a:solidFill>
                  <a:schemeClr val="lt1"/>
                </a:solidFill>
                <a:latin typeface="Gill Sans"/>
                <a:ea typeface="Gill Sans"/>
                <a:cs typeface="Gill Sans"/>
                <a:sym typeface="Gill Sans"/>
              </a:endParaRPr>
            </a:p>
          </p:txBody>
        </p:sp>
        <p:sp>
          <p:nvSpPr>
            <p:cNvPr id="178" name="Google Shape;178;p21"/>
            <p:cNvSpPr/>
            <p:nvPr/>
          </p:nvSpPr>
          <p:spPr>
            <a:xfrm>
              <a:off x="4191000" y="2667000"/>
              <a:ext cx="1447800" cy="6858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Running</a:t>
              </a:r>
              <a:endParaRPr b="0" i="0" sz="1800" u="none" cap="none" strike="noStrike">
                <a:solidFill>
                  <a:schemeClr val="lt1"/>
                </a:solidFill>
                <a:latin typeface="Gill Sans"/>
                <a:ea typeface="Gill Sans"/>
                <a:cs typeface="Gill Sans"/>
                <a:sym typeface="Gill Sans"/>
              </a:endParaRPr>
            </a:p>
          </p:txBody>
        </p:sp>
        <p:sp>
          <p:nvSpPr>
            <p:cNvPr id="179" name="Google Shape;179;p21"/>
            <p:cNvSpPr/>
            <p:nvPr/>
          </p:nvSpPr>
          <p:spPr>
            <a:xfrm>
              <a:off x="6400800" y="1524000"/>
              <a:ext cx="1828800" cy="6096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Terminated</a:t>
              </a:r>
              <a:endParaRPr b="0" i="0" sz="1800" u="none" cap="none" strike="noStrike">
                <a:solidFill>
                  <a:schemeClr val="lt1"/>
                </a:solidFill>
                <a:latin typeface="Gill Sans"/>
                <a:ea typeface="Gill Sans"/>
                <a:cs typeface="Gill Sans"/>
                <a:sym typeface="Gill Sans"/>
              </a:endParaRPr>
            </a:p>
          </p:txBody>
        </p:sp>
        <p:sp>
          <p:nvSpPr>
            <p:cNvPr id="180" name="Google Shape;180;p21"/>
            <p:cNvSpPr/>
            <p:nvPr/>
          </p:nvSpPr>
          <p:spPr>
            <a:xfrm>
              <a:off x="4114800" y="3886200"/>
              <a:ext cx="1600200" cy="533400"/>
            </a:xfrm>
            <a:prstGeom prst="ellipse">
              <a:avLst/>
            </a:prstGeom>
            <a:solidFill>
              <a:schemeClr val="accent1"/>
            </a:solidFill>
            <a:ln cap="flat" cmpd="sng" w="25400">
              <a:solidFill>
                <a:srgbClr val="286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Gill Sans"/>
                  <a:ea typeface="Gill Sans"/>
                  <a:cs typeface="Gill Sans"/>
                  <a:sym typeface="Gill Sans"/>
                </a:rPr>
                <a:t>Waiting</a:t>
              </a:r>
              <a:endParaRPr b="0" i="0" sz="1800" u="none" cap="none" strike="noStrike">
                <a:solidFill>
                  <a:schemeClr val="lt1"/>
                </a:solidFill>
                <a:latin typeface="Gill Sans"/>
                <a:ea typeface="Gill Sans"/>
                <a:cs typeface="Gill Sans"/>
                <a:sym typeface="Gill Sans"/>
              </a:endParaRPr>
            </a:p>
          </p:txBody>
        </p:sp>
        <p:cxnSp>
          <p:nvCxnSpPr>
            <p:cNvPr id="181" name="Google Shape;181;p21"/>
            <p:cNvCxnSpPr>
              <a:stCxn id="176" idx="6"/>
            </p:cNvCxnSpPr>
            <p:nvPr/>
          </p:nvCxnSpPr>
          <p:spPr>
            <a:xfrm>
              <a:off x="1752600" y="1752600"/>
              <a:ext cx="1500" cy="1143000"/>
            </a:xfrm>
            <a:prstGeom prst="straightConnector1">
              <a:avLst/>
            </a:prstGeom>
            <a:noFill/>
            <a:ln cap="flat" cmpd="sng" w="25400">
              <a:solidFill>
                <a:schemeClr val="accent1"/>
              </a:solidFill>
              <a:prstDash val="solid"/>
              <a:round/>
              <a:headEnd len="sm" w="sm" type="none"/>
              <a:tailEnd len="med" w="med" type="stealth"/>
            </a:ln>
          </p:spPr>
        </p:cxnSp>
        <p:cxnSp>
          <p:nvCxnSpPr>
            <p:cNvPr id="182" name="Google Shape;182;p21"/>
            <p:cNvCxnSpPr>
              <a:stCxn id="177" idx="7"/>
            </p:cNvCxnSpPr>
            <p:nvPr/>
          </p:nvCxnSpPr>
          <p:spPr>
            <a:xfrm flipH="1" rot="10800000">
              <a:off x="2728212" y="2743792"/>
              <a:ext cx="1614600" cy="34800"/>
            </a:xfrm>
            <a:prstGeom prst="straightConnector1">
              <a:avLst/>
            </a:prstGeom>
            <a:noFill/>
            <a:ln cap="flat" cmpd="sng" w="25400">
              <a:solidFill>
                <a:schemeClr val="accent1"/>
              </a:solidFill>
              <a:prstDash val="solid"/>
              <a:round/>
              <a:headEnd len="sm" w="sm" type="none"/>
              <a:tailEnd len="med" w="med" type="stealth"/>
            </a:ln>
          </p:spPr>
        </p:cxnSp>
        <p:cxnSp>
          <p:nvCxnSpPr>
            <p:cNvPr id="183" name="Google Shape;183;p21"/>
            <p:cNvCxnSpPr>
              <a:endCxn id="177" idx="5"/>
            </p:cNvCxnSpPr>
            <p:nvPr/>
          </p:nvCxnSpPr>
          <p:spPr>
            <a:xfrm flipH="1">
              <a:off x="2728212" y="3264908"/>
              <a:ext cx="1765200" cy="52500"/>
            </a:xfrm>
            <a:prstGeom prst="straightConnector1">
              <a:avLst/>
            </a:prstGeom>
            <a:noFill/>
            <a:ln cap="flat" cmpd="sng" w="25400">
              <a:solidFill>
                <a:schemeClr val="accent1"/>
              </a:solidFill>
              <a:prstDash val="solid"/>
              <a:round/>
              <a:headEnd len="sm" w="sm" type="none"/>
              <a:tailEnd len="med" w="med" type="stealth"/>
            </a:ln>
          </p:spPr>
        </p:cxnSp>
        <p:cxnSp>
          <p:nvCxnSpPr>
            <p:cNvPr id="184" name="Google Shape;184;p21"/>
            <p:cNvCxnSpPr>
              <a:stCxn id="180" idx="2"/>
            </p:cNvCxnSpPr>
            <p:nvPr/>
          </p:nvCxnSpPr>
          <p:spPr>
            <a:xfrm rot="10800000">
              <a:off x="2438400" y="3429000"/>
              <a:ext cx="1676400" cy="723900"/>
            </a:xfrm>
            <a:prstGeom prst="straightConnector1">
              <a:avLst/>
            </a:prstGeom>
            <a:noFill/>
            <a:ln cap="flat" cmpd="sng" w="25400">
              <a:solidFill>
                <a:schemeClr val="accent1"/>
              </a:solidFill>
              <a:prstDash val="solid"/>
              <a:round/>
              <a:headEnd len="sm" w="sm" type="none"/>
              <a:tailEnd len="med" w="med" type="stealth"/>
            </a:ln>
          </p:spPr>
        </p:cxnSp>
        <p:cxnSp>
          <p:nvCxnSpPr>
            <p:cNvPr id="185" name="Google Shape;185;p21"/>
            <p:cNvCxnSpPr>
              <a:stCxn id="178" idx="4"/>
              <a:endCxn id="180" idx="0"/>
            </p:cNvCxnSpPr>
            <p:nvPr/>
          </p:nvCxnSpPr>
          <p:spPr>
            <a:xfrm>
              <a:off x="4914900" y="3352800"/>
              <a:ext cx="0" cy="533400"/>
            </a:xfrm>
            <a:prstGeom prst="straightConnector1">
              <a:avLst/>
            </a:prstGeom>
            <a:noFill/>
            <a:ln cap="flat" cmpd="sng" w="25400">
              <a:solidFill>
                <a:schemeClr val="accent1"/>
              </a:solidFill>
              <a:prstDash val="solid"/>
              <a:round/>
              <a:headEnd len="sm" w="sm" type="none"/>
              <a:tailEnd len="med" w="med" type="stealth"/>
            </a:ln>
          </p:spPr>
        </p:cxnSp>
        <p:cxnSp>
          <p:nvCxnSpPr>
            <p:cNvPr id="186" name="Google Shape;186;p21"/>
            <p:cNvCxnSpPr/>
            <p:nvPr/>
          </p:nvCxnSpPr>
          <p:spPr>
            <a:xfrm flipH="1" rot="10800000">
              <a:off x="5410200" y="2133600"/>
              <a:ext cx="1447800" cy="609600"/>
            </a:xfrm>
            <a:prstGeom prst="straightConnector1">
              <a:avLst/>
            </a:prstGeom>
            <a:noFill/>
            <a:ln cap="flat" cmpd="sng" w="25400">
              <a:solidFill>
                <a:schemeClr val="accent1"/>
              </a:solidFill>
              <a:prstDash val="solid"/>
              <a:round/>
              <a:headEnd len="sm" w="sm" type="none"/>
              <a:tailEnd len="med" w="med" type="stealth"/>
            </a:ln>
          </p:spPr>
        </p:cxnSp>
        <p:sp>
          <p:nvSpPr>
            <p:cNvPr id="187" name="Google Shape;187;p21"/>
            <p:cNvSpPr/>
            <p:nvPr/>
          </p:nvSpPr>
          <p:spPr>
            <a:xfrm>
              <a:off x="1676400" y="19812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Admitted,T1</a:t>
              </a:r>
              <a:endParaRPr b="0" i="0" sz="1800" u="none" cap="none" strike="noStrike">
                <a:solidFill>
                  <a:schemeClr val="dk1"/>
                </a:solidFill>
                <a:latin typeface="Gill Sans"/>
                <a:ea typeface="Gill Sans"/>
                <a:cs typeface="Gill Sans"/>
                <a:sym typeface="Gill Sans"/>
              </a:endParaRPr>
            </a:p>
          </p:txBody>
        </p:sp>
        <p:sp>
          <p:nvSpPr>
            <p:cNvPr id="188" name="Google Shape;188;p21"/>
            <p:cNvSpPr/>
            <p:nvPr/>
          </p:nvSpPr>
          <p:spPr>
            <a:xfrm>
              <a:off x="2743200" y="23622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Dispatch,T2</a:t>
              </a:r>
              <a:endParaRPr b="0" i="0" sz="1800" u="none" cap="none" strike="noStrike">
                <a:solidFill>
                  <a:schemeClr val="dk1"/>
                </a:solidFill>
                <a:latin typeface="Gill Sans"/>
                <a:ea typeface="Gill Sans"/>
                <a:cs typeface="Gill Sans"/>
                <a:sym typeface="Gill Sans"/>
              </a:endParaRPr>
            </a:p>
          </p:txBody>
        </p:sp>
        <p:sp>
          <p:nvSpPr>
            <p:cNvPr id="189" name="Google Shape;189;p21"/>
            <p:cNvSpPr/>
            <p:nvPr/>
          </p:nvSpPr>
          <p:spPr>
            <a:xfrm>
              <a:off x="5029200" y="22098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Exit,T6</a:t>
              </a:r>
              <a:endParaRPr b="0" i="0" sz="1800" u="none" cap="none" strike="noStrike">
                <a:solidFill>
                  <a:schemeClr val="dk1"/>
                </a:solidFill>
                <a:latin typeface="Gill Sans"/>
                <a:ea typeface="Gill Sans"/>
                <a:cs typeface="Gill Sans"/>
                <a:sym typeface="Gill Sans"/>
              </a:endParaRPr>
            </a:p>
          </p:txBody>
        </p:sp>
        <p:sp>
          <p:nvSpPr>
            <p:cNvPr id="190" name="Google Shape;190;p21"/>
            <p:cNvSpPr/>
            <p:nvPr/>
          </p:nvSpPr>
          <p:spPr>
            <a:xfrm>
              <a:off x="2895600" y="3276600"/>
              <a:ext cx="1447800" cy="304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Interrupt,T3</a:t>
              </a:r>
              <a:endParaRPr b="0" i="0" sz="1800" u="none" cap="none" strike="noStrike">
                <a:solidFill>
                  <a:schemeClr val="dk1"/>
                </a:solidFill>
                <a:latin typeface="Gill Sans"/>
                <a:ea typeface="Gill Sans"/>
                <a:cs typeface="Gill Sans"/>
                <a:sym typeface="Gill Sans"/>
              </a:endParaRPr>
            </a:p>
          </p:txBody>
        </p:sp>
        <p:sp>
          <p:nvSpPr>
            <p:cNvPr id="191" name="Google Shape;191;p21"/>
            <p:cNvSpPr/>
            <p:nvPr/>
          </p:nvSpPr>
          <p:spPr>
            <a:xfrm>
              <a:off x="1752600" y="3733800"/>
              <a:ext cx="1600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I/O or event completion, T5</a:t>
              </a:r>
              <a:endParaRPr b="0" i="0" sz="1800" u="none" cap="none" strike="noStrike">
                <a:solidFill>
                  <a:schemeClr val="dk1"/>
                </a:solidFill>
                <a:latin typeface="Gill Sans"/>
                <a:ea typeface="Gill Sans"/>
                <a:cs typeface="Gill Sans"/>
                <a:sym typeface="Gill Sans"/>
              </a:endParaRPr>
            </a:p>
          </p:txBody>
        </p:sp>
        <p:sp>
          <p:nvSpPr>
            <p:cNvPr id="192" name="Google Shape;192;p21"/>
            <p:cNvSpPr/>
            <p:nvPr/>
          </p:nvSpPr>
          <p:spPr>
            <a:xfrm>
              <a:off x="4953000" y="3429000"/>
              <a:ext cx="1600200" cy="381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Gill Sans"/>
                  <a:ea typeface="Gill Sans"/>
                  <a:cs typeface="Gill Sans"/>
                  <a:sym typeface="Gill Sans"/>
                </a:rPr>
                <a:t>I/O or event wait, T4</a:t>
              </a:r>
              <a:endParaRPr b="0" i="0" sz="1800" u="none" cap="none" strike="noStrike">
                <a:solidFill>
                  <a:schemeClr val="dk1"/>
                </a:solidFill>
                <a:latin typeface="Gill Sans"/>
                <a:ea typeface="Gill Sans"/>
                <a:cs typeface="Gill Sans"/>
                <a:sym typeface="Gill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3.  State Table </a:t>
            </a:r>
            <a:endParaRPr/>
          </a:p>
        </p:txBody>
      </p:sp>
      <p:sp>
        <p:nvSpPr>
          <p:cNvPr id="199" name="Google Shape;199;p22"/>
          <p:cNvSpPr txBox="1"/>
          <p:nvPr>
            <p:ph idx="1" type="body"/>
          </p:nvPr>
        </p:nvSpPr>
        <p:spPr>
          <a:xfrm>
            <a:off x="1435608" y="1447800"/>
            <a:ext cx="7498080" cy="5005536"/>
          </a:xfrm>
          <a:prstGeom prst="rect">
            <a:avLst/>
          </a:prstGeom>
          <a:noFill/>
          <a:ln>
            <a:noFill/>
          </a:ln>
        </p:spPr>
        <p:txBody>
          <a:bodyPr anchorCtr="0" anchor="t" bIns="45700" lIns="91425" spcFirstLastPara="1" rIns="91425" wrap="square" tIns="45700">
            <a:normAutofit fontScale="40000" lnSpcReduction="20000"/>
          </a:bodyPr>
          <a:lstStyle/>
          <a:p>
            <a:pPr indent="-218439" lvl="0" marL="365760" rtl="0" algn="l">
              <a:lnSpc>
                <a:spcPct val="100000"/>
              </a:lnSpc>
              <a:spcBef>
                <a:spcPts val="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18439" lvl="0" marL="365760" rtl="0" algn="l">
              <a:lnSpc>
                <a:spcPct val="100000"/>
              </a:lnSpc>
              <a:spcBef>
                <a:spcPts val="600"/>
              </a:spcBef>
              <a:spcAft>
                <a:spcPts val="0"/>
              </a:spcAft>
              <a:buSzPct val="80000"/>
              <a:buFont typeface="Arial"/>
              <a:buNone/>
            </a:pPr>
            <a:r>
              <a:t/>
            </a:r>
            <a:endParaRPr/>
          </a:p>
          <a:p>
            <a:pPr indent="-283464" lvl="0" marL="365760" rtl="0" algn="l">
              <a:lnSpc>
                <a:spcPct val="100000"/>
              </a:lnSpc>
              <a:spcBef>
                <a:spcPts val="600"/>
              </a:spcBef>
              <a:spcAft>
                <a:spcPts val="0"/>
              </a:spcAft>
              <a:buSzPct val="80000"/>
              <a:buFont typeface="Arial"/>
              <a:buChar char="•"/>
            </a:pPr>
            <a:r>
              <a:rPr lang="en-US" sz="4500"/>
              <a:t>Each rows of the table corresponds to a state.</a:t>
            </a:r>
            <a:endParaRPr/>
          </a:p>
          <a:p>
            <a:pPr indent="-283464" lvl="0" marL="365760" rtl="0" algn="l">
              <a:lnSpc>
                <a:spcPct val="100000"/>
              </a:lnSpc>
              <a:spcBef>
                <a:spcPts val="600"/>
              </a:spcBef>
              <a:spcAft>
                <a:spcPts val="0"/>
              </a:spcAft>
              <a:buSzPct val="80000"/>
              <a:buFont typeface="Arial"/>
              <a:buNone/>
            </a:pPr>
            <a:r>
              <a:t/>
            </a:r>
            <a:endParaRPr sz="4500"/>
          </a:p>
          <a:p>
            <a:pPr indent="-283464" lvl="0" marL="365760" rtl="0" algn="l">
              <a:lnSpc>
                <a:spcPct val="100000"/>
              </a:lnSpc>
              <a:spcBef>
                <a:spcPts val="600"/>
              </a:spcBef>
              <a:spcAft>
                <a:spcPts val="0"/>
              </a:spcAft>
              <a:buSzPct val="80000"/>
              <a:buFont typeface="Arial"/>
              <a:buChar char="•"/>
            </a:pPr>
            <a:r>
              <a:rPr lang="en-US" sz="4500"/>
              <a:t>Each column corresponds to an input condition </a:t>
            </a:r>
            <a:endParaRPr/>
          </a:p>
          <a:p>
            <a:pPr indent="-283464" lvl="0" marL="365760" rtl="0" algn="l">
              <a:lnSpc>
                <a:spcPct val="100000"/>
              </a:lnSpc>
              <a:spcBef>
                <a:spcPts val="600"/>
              </a:spcBef>
              <a:spcAft>
                <a:spcPts val="0"/>
              </a:spcAft>
              <a:buSzPct val="80000"/>
              <a:buFont typeface="Arial"/>
              <a:buNone/>
            </a:pPr>
            <a:r>
              <a:t/>
            </a:r>
            <a:endParaRPr sz="4500"/>
          </a:p>
          <a:p>
            <a:pPr indent="-283464" lvl="0" marL="365760" rtl="0" algn="l">
              <a:lnSpc>
                <a:spcPct val="100000"/>
              </a:lnSpc>
              <a:spcBef>
                <a:spcPts val="600"/>
              </a:spcBef>
              <a:spcAft>
                <a:spcPts val="0"/>
              </a:spcAft>
              <a:buSzPct val="80000"/>
              <a:buFont typeface="Arial"/>
              <a:buChar char="•"/>
            </a:pPr>
            <a:r>
              <a:rPr lang="en-US" sz="4500"/>
              <a:t>The box at the intersection of a row and a column specifies the next state (transition) and the outputs, if any. </a:t>
            </a:r>
            <a:endParaRPr sz="4500"/>
          </a:p>
        </p:txBody>
      </p:sp>
      <p:graphicFrame>
        <p:nvGraphicFramePr>
          <p:cNvPr id="200" name="Google Shape;200;p22"/>
          <p:cNvGraphicFramePr/>
          <p:nvPr/>
        </p:nvGraphicFramePr>
        <p:xfrm>
          <a:off x="1043608" y="1124744"/>
          <a:ext cx="3000000" cy="3000000"/>
        </p:xfrm>
        <a:graphic>
          <a:graphicData uri="http://schemas.openxmlformats.org/drawingml/2006/table">
            <a:tbl>
              <a:tblPr>
                <a:noFill/>
                <a:tableStyleId>{C8747EC3-9BEE-4359-89C8-865D0792875C}</a:tableStyleId>
              </a:tblPr>
              <a:tblGrid>
                <a:gridCol w="1025225"/>
                <a:gridCol w="1156900"/>
                <a:gridCol w="1119175"/>
                <a:gridCol w="1023625"/>
                <a:gridCol w="1138425"/>
                <a:gridCol w="1024425"/>
                <a:gridCol w="1360825"/>
              </a:tblGrid>
              <a:tr h="648075">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State/input Event</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Admit</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Dispatch</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Interrupt</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I/O or event Wait</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I/O or event Wait Over</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Exit</a:t>
                      </a:r>
                      <a:endParaRPr sz="1600" u="none" cap="none" strike="noStrike">
                        <a:latin typeface="Calibri"/>
                        <a:ea typeface="Calibri"/>
                        <a:cs typeface="Calibri"/>
                        <a:sym typeface="Calibri"/>
                      </a:endParaRPr>
                    </a:p>
                  </a:txBody>
                  <a:tcPr marT="0" marB="0" marR="67325" marL="673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27400">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New </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Ready/T1</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New / T0</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New / T0</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New / T0</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New / T0</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New / T0</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0525">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Ready </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Ready / T1</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Running /T2</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Ready / T1</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Ready / T1</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Ready / T1</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Ready / T1</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4050">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Running </a:t>
                      </a:r>
                      <a:endParaRPr/>
                    </a:p>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Running /T2</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Running /T2</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Ready / T3</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Waiting/T4</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Running/ T2</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Terminated/ T6</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575">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Waiting </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Waiting/T4</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Waiting/T4</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Waiting/ T4</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Waiting/T4</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Ready /T5</a:t>
                      </a:r>
                      <a:endParaRPr sz="1600" u="none" cap="none" strike="noStrike">
                        <a:latin typeface="Calibri"/>
                        <a:ea typeface="Calibri"/>
                        <a:cs typeface="Calibri"/>
                        <a:sym typeface="Calibri"/>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Waiting/T4</a:t>
                      </a:r>
                      <a:endParaRPr/>
                    </a:p>
                  </a:txBody>
                  <a:tcPr marT="0" marB="0" marR="67325" marL="673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1043608" y="188640"/>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000"/>
              <a:buFont typeface="Gill Sans"/>
              <a:buNone/>
            </a:pPr>
            <a:r>
              <a:rPr b="1" lang="en-US" sz="4000"/>
              <a:t>4. State Table-Based Testing </a:t>
            </a:r>
            <a:endParaRPr/>
          </a:p>
        </p:txBody>
      </p:sp>
      <p:sp>
        <p:nvSpPr>
          <p:cNvPr id="207" name="Google Shape;207;p23"/>
          <p:cNvSpPr txBox="1"/>
          <p:nvPr>
            <p:ph idx="1" type="body"/>
          </p:nvPr>
        </p:nvSpPr>
        <p:spPr>
          <a:xfrm>
            <a:off x="915825" y="1412776"/>
            <a:ext cx="7904647" cy="4525963"/>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After reviewing the basics, we can start functional testing with state tables. </a:t>
            </a:r>
            <a:endParaRPr/>
          </a:p>
          <a:p>
            <a:pPr indent="-283464" lvl="0" marL="365760" rtl="0" algn="l">
              <a:lnSpc>
                <a:spcPct val="100000"/>
              </a:lnSpc>
              <a:spcBef>
                <a:spcPts val="600"/>
              </a:spcBef>
              <a:spcAft>
                <a:spcPts val="0"/>
              </a:spcAft>
              <a:buSzPts val="2880"/>
              <a:buFont typeface="Arial"/>
              <a:buNone/>
            </a:pPr>
            <a:r>
              <a:rPr b="1" lang="en-US" sz="3600" u="sng"/>
              <a:t>Steps:</a:t>
            </a:r>
            <a:endParaRPr/>
          </a:p>
          <a:p>
            <a:pPr indent="-283464" lvl="0" marL="365760" rtl="0" algn="l">
              <a:lnSpc>
                <a:spcPct val="100000"/>
              </a:lnSpc>
              <a:spcBef>
                <a:spcPts val="600"/>
              </a:spcBef>
              <a:spcAft>
                <a:spcPts val="0"/>
              </a:spcAft>
              <a:buSzPts val="2560"/>
              <a:buFont typeface="Arial"/>
              <a:buNone/>
            </a:pPr>
            <a:r>
              <a:rPr b="1" lang="en-US"/>
              <a:t>1. Identify the states </a:t>
            </a:r>
            <a:endParaRPr/>
          </a:p>
          <a:p>
            <a:pPr indent="-283464" lvl="0" marL="365760" rtl="0" algn="l">
              <a:lnSpc>
                <a:spcPct val="100000"/>
              </a:lnSpc>
              <a:spcBef>
                <a:spcPts val="600"/>
              </a:spcBef>
              <a:spcAft>
                <a:spcPts val="0"/>
              </a:spcAft>
              <a:buSzPts val="2560"/>
              <a:buFont typeface="Arial"/>
              <a:buNone/>
            </a:pPr>
            <a:r>
              <a:rPr lang="en-US"/>
              <a:t>   The number of states in a state graph is the number of states we choose to recognize or model.</a:t>
            </a:r>
            <a:endParaRPr/>
          </a:p>
          <a:p>
            <a:pPr indent="-181864" lvl="0" marL="365760" rtl="0" algn="l">
              <a:lnSpc>
                <a:spcPct val="100000"/>
              </a:lnSpc>
              <a:spcBef>
                <a:spcPts val="600"/>
              </a:spcBef>
              <a:spcAft>
                <a:spcPts val="0"/>
              </a:spcAft>
              <a:buSzPts val="1600"/>
              <a:buNone/>
            </a:pPr>
            <a:r>
              <a:t/>
            </a:r>
            <a:endParaRPr sz="2000"/>
          </a:p>
          <a:p>
            <a:pPr indent="-181864" lvl="0" marL="365760" rtl="0" algn="l">
              <a:lnSpc>
                <a:spcPct val="100000"/>
              </a:lnSpc>
              <a:spcBef>
                <a:spcPts val="600"/>
              </a:spcBef>
              <a:spcAft>
                <a:spcPts val="0"/>
              </a:spcAft>
              <a:buSzPts val="1600"/>
              <a:buNone/>
            </a:pPr>
            <a:r>
              <a:t/>
            </a:r>
            <a:endParaRPr sz="2000"/>
          </a:p>
          <a:p>
            <a:pPr indent="-181864" lvl="0" marL="365760" rtl="0" algn="l">
              <a:lnSpc>
                <a:spcPct val="100000"/>
              </a:lnSpc>
              <a:spcBef>
                <a:spcPts val="600"/>
              </a:spcBef>
              <a:spcAft>
                <a:spcPts val="0"/>
              </a:spcAft>
              <a:buSzPts val="1600"/>
              <a:buNone/>
            </a:pPr>
            <a:r>
              <a:t/>
            </a:r>
            <a:endParaRPr sz="2000"/>
          </a:p>
          <a:p>
            <a:pPr indent="-120903" lvl="0" marL="365760" rtl="0" algn="l">
              <a:lnSpc>
                <a:spcPct val="100000"/>
              </a:lnSpc>
              <a:spcBef>
                <a:spcPts val="600"/>
              </a:spcBef>
              <a:spcAft>
                <a:spcPts val="0"/>
              </a:spcAft>
              <a:buSzPts val="2560"/>
              <a:buNone/>
            </a:pPr>
            <a:r>
              <a:t/>
            </a:r>
            <a:endParaRPr/>
          </a:p>
          <a:p>
            <a:pPr indent="-283464" lvl="0" marL="365760" rtl="0" algn="l">
              <a:lnSpc>
                <a:spcPct val="100000"/>
              </a:lnSpc>
              <a:spcBef>
                <a:spcPts val="600"/>
              </a:spcBef>
              <a:spcAft>
                <a:spcPts val="0"/>
              </a:spcAft>
              <a:buSzPts val="2560"/>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a:t>Finding the number of states </a:t>
            </a:r>
            <a:br>
              <a:rPr lang="en-US"/>
            </a:br>
            <a:endParaRPr/>
          </a:p>
        </p:txBody>
      </p:sp>
      <p:sp>
        <p:nvSpPr>
          <p:cNvPr id="213" name="Google Shape;213;p24"/>
          <p:cNvSpPr txBox="1"/>
          <p:nvPr>
            <p:ph idx="1" type="body"/>
          </p:nvPr>
        </p:nvSpPr>
        <p:spPr>
          <a:xfrm>
            <a:off x="1331640" y="1556792"/>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First, identify all the component factors of the state.</a:t>
            </a:r>
            <a:endParaRPr/>
          </a:p>
          <a:p>
            <a:pPr indent="-283464" lvl="0" marL="365760" rtl="0" algn="l">
              <a:lnSpc>
                <a:spcPct val="100000"/>
              </a:lnSpc>
              <a:spcBef>
                <a:spcPts val="600"/>
              </a:spcBef>
              <a:spcAft>
                <a:spcPts val="0"/>
              </a:spcAft>
              <a:buSzPts val="2560"/>
              <a:buChar char="⚫"/>
            </a:pPr>
            <a:r>
              <a:rPr lang="en-US"/>
              <a:t>Identify all the allowable values for each factor</a:t>
            </a:r>
            <a:endParaRPr/>
          </a:p>
          <a:p>
            <a:pPr indent="-283464" lvl="0" marL="365760" rtl="0" algn="l">
              <a:lnSpc>
                <a:spcPct val="100000"/>
              </a:lnSpc>
              <a:spcBef>
                <a:spcPts val="600"/>
              </a:spcBef>
              <a:spcAft>
                <a:spcPts val="0"/>
              </a:spcAft>
              <a:buSzPts val="2560"/>
              <a:buChar char="⚫"/>
            </a:pPr>
            <a:r>
              <a:rPr lang="en-US"/>
              <a:t>The number of states is the product of the number of allowable values of all the factors.</a:t>
            </a:r>
            <a:endParaRPr/>
          </a:p>
          <a:p>
            <a:pPr indent="-283464" lvl="0" marL="365760" rtl="0" algn="l">
              <a:lnSpc>
                <a:spcPct val="100000"/>
              </a:lnSpc>
              <a:spcBef>
                <a:spcPts val="600"/>
              </a:spcBef>
              <a:spcAft>
                <a:spcPts val="0"/>
              </a:spcAft>
              <a:buSzPts val="2560"/>
              <a:buFont typeface="Arial"/>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5"/>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Steps cont …</a:t>
            </a:r>
            <a:endParaRPr/>
          </a:p>
        </p:txBody>
      </p:sp>
      <p:sp>
        <p:nvSpPr>
          <p:cNvPr id="219" name="Google Shape;219;p25"/>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Font typeface="Arial"/>
              <a:buNone/>
            </a:pPr>
            <a:r>
              <a:rPr b="1" lang="en-US"/>
              <a:t>2. Prepare state transition diagram after understanding transitions between states</a:t>
            </a:r>
            <a:endParaRPr/>
          </a:p>
          <a:p>
            <a:pPr indent="-283464" lvl="0" marL="365760" rtl="0" algn="l">
              <a:lnSpc>
                <a:spcPct val="100000"/>
              </a:lnSpc>
              <a:spcBef>
                <a:spcPts val="600"/>
              </a:spcBef>
              <a:spcAft>
                <a:spcPts val="0"/>
              </a:spcAft>
              <a:buSzPts val="2560"/>
              <a:buChar char="⚫"/>
            </a:pPr>
            <a:r>
              <a:rPr lang="en-US"/>
              <a:t>After having all the states, identify the inputs on each state and transitions between states and prepare the state graph.</a:t>
            </a:r>
            <a:endParaRPr/>
          </a:p>
          <a:p>
            <a:pPr indent="-283464" lvl="0" marL="365760" rtl="0" algn="l">
              <a:lnSpc>
                <a:spcPct val="100000"/>
              </a:lnSpc>
              <a:spcBef>
                <a:spcPts val="600"/>
              </a:spcBef>
              <a:spcAft>
                <a:spcPts val="0"/>
              </a:spcAft>
              <a:buSzPts val="2560"/>
              <a:buChar char="⚫"/>
            </a:pPr>
            <a:r>
              <a:rPr lang="en-US"/>
              <a:t>Every input state combination must have a specified transition.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 Steps cont …</a:t>
            </a:r>
            <a:endParaRPr/>
          </a:p>
        </p:txBody>
      </p:sp>
      <p:sp>
        <p:nvSpPr>
          <p:cNvPr id="225" name="Google Shape;225;p26"/>
          <p:cNvSpPr txBox="1"/>
          <p:nvPr>
            <p:ph idx="1" type="body"/>
          </p:nvPr>
        </p:nvSpPr>
        <p:spPr>
          <a:xfrm>
            <a:off x="1115616" y="1628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Font typeface="Arial"/>
              <a:buNone/>
            </a:pPr>
            <a:r>
              <a:rPr lang="en-US"/>
              <a:t>	</a:t>
            </a:r>
            <a:r>
              <a:rPr b="1" lang="en-US"/>
              <a:t>3.  Convert the state graph into the state 	table as discussed earlier</a:t>
            </a:r>
            <a:br>
              <a:rPr b="1" lang="en-US"/>
            </a:br>
            <a:br>
              <a:rPr b="1" lang="en-US"/>
            </a:br>
            <a:r>
              <a:rPr b="1" lang="en-US"/>
              <a:t>4. 	Analyze the state table for its 	completeness.</a:t>
            </a:r>
            <a:br>
              <a:rPr b="1" lang="en-US"/>
            </a:b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4300"/>
              <a:buFont typeface="Gill Sans"/>
              <a:buNone/>
            </a:pPr>
            <a:r>
              <a:rPr lang="en-US"/>
              <a:t>Steps cont …</a:t>
            </a:r>
            <a:endParaRPr/>
          </a:p>
        </p:txBody>
      </p:sp>
      <p:sp>
        <p:nvSpPr>
          <p:cNvPr id="231" name="Google Shape;231;p27"/>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fontScale="85000" lnSpcReduction="20000"/>
          </a:bodyPr>
          <a:lstStyle/>
          <a:p>
            <a:pPr indent="0" lvl="0" marL="82296" rtl="0" algn="just">
              <a:lnSpc>
                <a:spcPct val="100000"/>
              </a:lnSpc>
              <a:spcBef>
                <a:spcPts val="0"/>
              </a:spcBef>
              <a:spcAft>
                <a:spcPts val="0"/>
              </a:spcAft>
              <a:buSzPct val="80000"/>
              <a:buNone/>
            </a:pPr>
            <a:r>
              <a:rPr b="1" lang="en-US"/>
              <a:t>5. Develop the test cases  from the state table, in a tabular form, with the following entries.</a:t>
            </a:r>
            <a:endParaRPr b="1"/>
          </a:p>
          <a:p>
            <a:pPr indent="-283464" lvl="0" marL="365760" rtl="0" algn="l">
              <a:lnSpc>
                <a:spcPct val="100000"/>
              </a:lnSpc>
              <a:spcBef>
                <a:spcPts val="600"/>
              </a:spcBef>
              <a:spcAft>
                <a:spcPts val="0"/>
              </a:spcAft>
              <a:buSzPct val="80000"/>
              <a:buFont typeface="Arial"/>
              <a:buChar char="•"/>
            </a:pPr>
            <a:r>
              <a:rPr b="1" lang="en-US"/>
              <a:t>Test cases ID : </a:t>
            </a:r>
            <a:r>
              <a:rPr lang="en-US"/>
              <a:t>a unique identifier for each test case </a:t>
            </a:r>
            <a:endParaRPr/>
          </a:p>
          <a:p>
            <a:pPr indent="-283464" lvl="0" marL="365760" rtl="0" algn="l">
              <a:lnSpc>
                <a:spcPct val="100000"/>
              </a:lnSpc>
              <a:spcBef>
                <a:spcPts val="600"/>
              </a:spcBef>
              <a:spcAft>
                <a:spcPts val="0"/>
              </a:spcAft>
              <a:buSzPct val="80000"/>
              <a:buFont typeface="Arial"/>
              <a:buChar char="•"/>
            </a:pPr>
            <a:r>
              <a:rPr b="1" lang="en-US"/>
              <a:t>Test Source :</a:t>
            </a:r>
            <a:r>
              <a:rPr lang="en-US"/>
              <a:t> a trace back to the corresponding cell in the state table. </a:t>
            </a:r>
            <a:endParaRPr/>
          </a:p>
          <a:p>
            <a:pPr indent="-283464" lvl="0" marL="365760" rtl="0" algn="l">
              <a:lnSpc>
                <a:spcPct val="100000"/>
              </a:lnSpc>
              <a:spcBef>
                <a:spcPts val="600"/>
              </a:spcBef>
              <a:spcAft>
                <a:spcPts val="0"/>
              </a:spcAft>
              <a:buSzPct val="80000"/>
              <a:buFont typeface="Arial"/>
              <a:buChar char="•"/>
            </a:pPr>
            <a:r>
              <a:rPr b="1" lang="en-US"/>
              <a:t>Current state :</a:t>
            </a:r>
            <a:r>
              <a:rPr lang="en-US"/>
              <a:t> the initial condition to run the test </a:t>
            </a:r>
            <a:endParaRPr/>
          </a:p>
          <a:p>
            <a:pPr indent="-283464" lvl="0" marL="365760" rtl="0" algn="l">
              <a:lnSpc>
                <a:spcPct val="100000"/>
              </a:lnSpc>
              <a:spcBef>
                <a:spcPts val="600"/>
              </a:spcBef>
              <a:spcAft>
                <a:spcPts val="0"/>
              </a:spcAft>
              <a:buSzPct val="80000"/>
              <a:buFont typeface="Arial"/>
              <a:buChar char="•"/>
            </a:pPr>
            <a:r>
              <a:rPr b="1" lang="en-US"/>
              <a:t>Event :</a:t>
            </a:r>
            <a:r>
              <a:rPr lang="en-US"/>
              <a:t> the input triggered by the user </a:t>
            </a:r>
            <a:endParaRPr/>
          </a:p>
          <a:p>
            <a:pPr indent="-283464" lvl="0" marL="365760" rtl="0" algn="l">
              <a:lnSpc>
                <a:spcPct val="100000"/>
              </a:lnSpc>
              <a:spcBef>
                <a:spcPts val="600"/>
              </a:spcBef>
              <a:spcAft>
                <a:spcPts val="0"/>
              </a:spcAft>
              <a:buSzPct val="80000"/>
              <a:buFont typeface="Arial"/>
              <a:buChar char="•"/>
            </a:pPr>
            <a:r>
              <a:rPr b="1" lang="en-US"/>
              <a:t>Output : </a:t>
            </a:r>
            <a:r>
              <a:rPr lang="en-US"/>
              <a:t>the current value returned </a:t>
            </a:r>
            <a:endParaRPr/>
          </a:p>
          <a:p>
            <a:pPr indent="-283464" lvl="0" marL="365760" rtl="0" algn="l">
              <a:lnSpc>
                <a:spcPct val="100000"/>
              </a:lnSpc>
              <a:spcBef>
                <a:spcPts val="600"/>
              </a:spcBef>
              <a:spcAft>
                <a:spcPts val="0"/>
              </a:spcAft>
              <a:buSzPct val="80000"/>
              <a:buFont typeface="Arial"/>
              <a:buChar char="•"/>
            </a:pPr>
            <a:r>
              <a:rPr b="1" lang="en-US"/>
              <a:t>Next State : </a:t>
            </a:r>
            <a:r>
              <a:rPr lang="en-US"/>
              <a:t>the new state achieved </a:t>
            </a:r>
            <a:endParaRPr b="1"/>
          </a:p>
          <a:p>
            <a:pPr indent="-145287" lvl="0" marL="365760" rtl="0" algn="l">
              <a:lnSpc>
                <a:spcPct val="100000"/>
              </a:lnSpc>
              <a:spcBef>
                <a:spcPts val="600"/>
              </a:spcBef>
              <a:spcAft>
                <a:spcPts val="0"/>
              </a:spcAft>
              <a:buSzPct val="8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755576" y="8531"/>
            <a:ext cx="8229600" cy="57606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2400"/>
              <a:buFont typeface="Gill Sans"/>
              <a:buNone/>
            </a:pPr>
            <a:r>
              <a:rPr lang="en-US" sz="2400"/>
              <a:t>Test Cases for the O.S. Example</a:t>
            </a:r>
            <a:endParaRPr sz="4400"/>
          </a:p>
        </p:txBody>
      </p:sp>
      <p:graphicFrame>
        <p:nvGraphicFramePr>
          <p:cNvPr id="238" name="Google Shape;238;p28"/>
          <p:cNvGraphicFramePr/>
          <p:nvPr/>
        </p:nvGraphicFramePr>
        <p:xfrm>
          <a:off x="1187624" y="683640"/>
          <a:ext cx="3000000" cy="3000000"/>
        </p:xfrm>
        <a:graphic>
          <a:graphicData uri="http://schemas.openxmlformats.org/drawingml/2006/table">
            <a:tbl>
              <a:tblPr>
                <a:noFill/>
                <a:tableStyleId>{C8747EC3-9BEE-4359-89C8-865D0792875C}</a:tableStyleId>
              </a:tblPr>
              <a:tblGrid>
                <a:gridCol w="1672000"/>
                <a:gridCol w="1223000"/>
                <a:gridCol w="1672000"/>
                <a:gridCol w="1327500"/>
                <a:gridCol w="905175"/>
                <a:gridCol w="905175"/>
              </a:tblGrid>
              <a:tr h="227725">
                <a:tc rowSpan="2">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Test case ID</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Test Source</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Input</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gridSpan="2">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Expected results</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227725">
                <a:tc vMerge="1"/>
                <a:tc vMerge="1"/>
                <a:tc>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Current State</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Event</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Output </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200" u="none" cap="none" strike="noStrike">
                          <a:latin typeface="Calibri"/>
                          <a:ea typeface="Calibri"/>
                          <a:cs typeface="Calibri"/>
                          <a:sym typeface="Calibri"/>
                        </a:rPr>
                        <a:t>Next state </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Admit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Dispatch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T0</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Interrupt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T0</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T0</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TC5</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5</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 over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T0</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TC6</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6</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Exit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T0</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New</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TC7</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7</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Admit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TC8</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8</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Dispatch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TC9</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9</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Interrupt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TC10</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10</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T1</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 over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T1</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Exit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T1</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Admit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Dispatch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TC15</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15</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Interrupt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TC16</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16</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TC17</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17</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 over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247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TC18</a:t>
                      </a:r>
                      <a:endParaRPr sz="1200" u="none" cap="none" strike="noStrike">
                        <a:latin typeface="Calibri"/>
                        <a:ea typeface="Calibri"/>
                        <a:cs typeface="Calibri"/>
                        <a:sym typeface="Calibri"/>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18</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Running</a:t>
                      </a:r>
                      <a:endParaRPr sz="1200" u="none" cap="none" strike="noStrike">
                        <a:latin typeface="Calibri"/>
                        <a:ea typeface="Calibri"/>
                        <a:cs typeface="Calibri"/>
                        <a:sym typeface="Calibri"/>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Exit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T6</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100" u="none" cap="none" strike="noStrike">
                          <a:latin typeface="Calibri"/>
                          <a:ea typeface="Calibri"/>
                          <a:cs typeface="Calibri"/>
                          <a:sym typeface="Calibri"/>
                        </a:rPr>
                        <a:t>Terminated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TC19</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19</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Admit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TC20</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20</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Dispatch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T4</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TC21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21</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Interrupt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T4</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TC22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22</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T4</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TC23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23</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I/O wait over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T5</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Ready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7725">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TC24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Cell 24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a:t>
                      </a:r>
                      <a:endParaRPr/>
                    </a:p>
                  </a:txBody>
                  <a:tcPr marT="0" marB="0" marR="55600" marL="556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Exit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T4</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200" u="none" cap="none" strike="noStrike">
                          <a:latin typeface="Calibri"/>
                          <a:ea typeface="Calibri"/>
                          <a:cs typeface="Calibri"/>
                          <a:sym typeface="Calibri"/>
                        </a:rPr>
                        <a:t>Waiting </a:t>
                      </a:r>
                      <a:endParaRPr/>
                    </a:p>
                  </a:txBody>
                  <a:tcPr marT="0" marB="0" marR="55600" marL="556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9"/>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Decision Table – Based Testing </a:t>
            </a:r>
            <a:endParaRPr/>
          </a:p>
        </p:txBody>
      </p:sp>
      <p:sp>
        <p:nvSpPr>
          <p:cNvPr id="245" name="Google Shape;245;p29"/>
          <p:cNvSpPr txBox="1"/>
          <p:nvPr>
            <p:ph idx="1" type="body"/>
          </p:nvPr>
        </p:nvSpPr>
        <p:spPr>
          <a:xfrm>
            <a:off x="965200" y="1412776"/>
            <a:ext cx="7999288" cy="417195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1920"/>
              <a:buChar char="⚫"/>
            </a:pPr>
            <a:r>
              <a:rPr lang="en-US" sz="2400"/>
              <a:t>Boundary value analysis and equivalence class partitioning methods do not consider combinations of input conditions. </a:t>
            </a:r>
            <a:endParaRPr/>
          </a:p>
          <a:p>
            <a:pPr indent="-283464" lvl="0" marL="365760" rtl="0" algn="just">
              <a:lnSpc>
                <a:spcPct val="100000"/>
              </a:lnSpc>
              <a:spcBef>
                <a:spcPts val="600"/>
              </a:spcBef>
              <a:spcAft>
                <a:spcPts val="0"/>
              </a:spcAft>
              <a:buSzPts val="1920"/>
              <a:buChar char="⚫"/>
            </a:pPr>
            <a:r>
              <a:rPr lang="en-US" sz="2400"/>
              <a:t>There may be some critical behavior to be tested when some combinations of input conditions are considered.</a:t>
            </a:r>
            <a:endParaRPr/>
          </a:p>
          <a:p>
            <a:pPr indent="-283464" lvl="0" marL="365760" rtl="0" algn="just">
              <a:lnSpc>
                <a:spcPct val="100000"/>
              </a:lnSpc>
              <a:spcBef>
                <a:spcPts val="600"/>
              </a:spcBef>
              <a:spcAft>
                <a:spcPts val="0"/>
              </a:spcAft>
              <a:buSzPts val="1920"/>
              <a:buChar char="⚫"/>
            </a:pPr>
            <a:r>
              <a:rPr lang="en-US" sz="2400"/>
              <a:t>Decision table is another useful method to represent the information in a tabular method.</a:t>
            </a:r>
            <a:endParaRPr/>
          </a:p>
          <a:p>
            <a:pPr indent="-283464" lvl="0" marL="365760" rtl="0" algn="just">
              <a:lnSpc>
                <a:spcPct val="100000"/>
              </a:lnSpc>
              <a:spcBef>
                <a:spcPts val="600"/>
              </a:spcBef>
              <a:spcAft>
                <a:spcPts val="0"/>
              </a:spcAft>
              <a:buSzPts val="1920"/>
              <a:buChar char="⚫"/>
            </a:pPr>
            <a:r>
              <a:rPr lang="en-US" sz="2400"/>
              <a:t>Decision table has the specialty to consider complex combinations of input conditions and resulting actions. </a:t>
            </a:r>
            <a:endParaRPr/>
          </a:p>
          <a:p>
            <a:pPr indent="-283464" lvl="0" marL="365760" rtl="0" algn="just">
              <a:lnSpc>
                <a:spcPct val="100000"/>
              </a:lnSpc>
              <a:spcBef>
                <a:spcPts val="600"/>
              </a:spcBef>
              <a:spcAft>
                <a:spcPts val="0"/>
              </a:spcAft>
              <a:buSzPts val="1920"/>
              <a:buChar char="⚫"/>
            </a:pPr>
            <a:r>
              <a:rPr lang="en-US" sz="2400"/>
              <a:t>Decision tables obtain their power from logical expressions.</a:t>
            </a:r>
            <a:endParaRPr/>
          </a:p>
          <a:p>
            <a:pPr indent="-283464" lvl="0" marL="365760" rtl="0" algn="just">
              <a:lnSpc>
                <a:spcPct val="100000"/>
              </a:lnSpc>
              <a:spcBef>
                <a:spcPts val="600"/>
              </a:spcBef>
              <a:spcAft>
                <a:spcPts val="0"/>
              </a:spcAft>
              <a:buSzPts val="1920"/>
              <a:buChar char="⚫"/>
            </a:pPr>
            <a:r>
              <a:rPr lang="en-US" sz="2400"/>
              <a:t>Each operand or variable in a logical expression takes on the value, TRUE or FALSE</a:t>
            </a:r>
            <a:endParaRPr/>
          </a:p>
          <a:p>
            <a:pPr indent="-120903" lvl="0" marL="365760" rtl="0" algn="l">
              <a:lnSpc>
                <a:spcPct val="100000"/>
              </a:lnSpc>
              <a:spcBef>
                <a:spcPts val="600"/>
              </a:spcBef>
              <a:spcAft>
                <a:spcPts val="0"/>
              </a:spcAft>
              <a:buSzPts val="256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u="sng"/>
              <a:t>Formation of Decision Table</a:t>
            </a:r>
            <a:endParaRPr/>
          </a:p>
        </p:txBody>
      </p:sp>
      <p:graphicFrame>
        <p:nvGraphicFramePr>
          <p:cNvPr id="252" name="Google Shape;252;p30"/>
          <p:cNvGraphicFramePr/>
          <p:nvPr/>
        </p:nvGraphicFramePr>
        <p:xfrm>
          <a:off x="1259632" y="1628800"/>
          <a:ext cx="3000000" cy="3000000"/>
        </p:xfrm>
        <a:graphic>
          <a:graphicData uri="http://schemas.openxmlformats.org/drawingml/2006/table">
            <a:tbl>
              <a:tblPr>
                <a:noFill/>
                <a:tableStyleId>{C8747EC3-9BEE-4359-89C8-865D0792875C}</a:tableStyleId>
              </a:tblPr>
              <a:tblGrid>
                <a:gridCol w="1066525"/>
                <a:gridCol w="1066525"/>
                <a:gridCol w="1066525"/>
                <a:gridCol w="1066525"/>
                <a:gridCol w="1066525"/>
                <a:gridCol w="1066525"/>
                <a:gridCol w="1066525"/>
              </a:tblGrid>
              <a:tr h="293925">
                <a:tc rowSpan="2">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Condition Stub</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1</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2</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3</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4</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81750">
                <a:tc vMerge="1"/>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C1</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C2</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C3</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False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False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False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 </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I</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True</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I</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81750">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Action Stub</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A1</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A2</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A3</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53" name="Google Shape;253;p30"/>
          <p:cNvSpPr/>
          <p:nvPr/>
        </p:nvSpPr>
        <p:spPr>
          <a:xfrm>
            <a:off x="1115616" y="4135888"/>
            <a:ext cx="7272900" cy="2308200"/>
          </a:xfrm>
          <a:prstGeom prst="rect">
            <a:avLst/>
          </a:prstGeom>
          <a:noFill/>
          <a:ln>
            <a:noFill/>
          </a:ln>
        </p:spPr>
        <p:txBody>
          <a:bodyPr anchorCtr="0" anchor="t" bIns="45700" lIns="91425" spcFirstLastPara="1" rIns="91425" wrap="square" tIns="45700">
            <a:noAutofit/>
          </a:bodyPr>
          <a:lstStyle/>
          <a:p>
            <a:pPr indent="-285750" lvl="0" marL="285750" marR="0" rtl="0" algn="just">
              <a:spcBef>
                <a:spcPts val="0"/>
              </a:spcBef>
              <a:spcAft>
                <a:spcPts val="0"/>
              </a:spcAft>
              <a:buClr>
                <a:schemeClr val="dk1"/>
              </a:buClr>
              <a:buSzPts val="2400"/>
              <a:buFont typeface="Arial"/>
              <a:buChar char="•"/>
            </a:pPr>
            <a:r>
              <a:rPr b="1" i="0" lang="en-US" sz="2400" u="none" cap="none" strike="noStrike">
                <a:solidFill>
                  <a:schemeClr val="dk1"/>
                </a:solidFill>
                <a:latin typeface="Gill Sans"/>
                <a:ea typeface="Gill Sans"/>
                <a:cs typeface="Gill Sans"/>
                <a:sym typeface="Gill Sans"/>
              </a:rPr>
              <a:t>Condition stub</a:t>
            </a:r>
            <a:r>
              <a:rPr b="0" i="0" lang="en-US" sz="2400" u="none" cap="none" strike="noStrike">
                <a:solidFill>
                  <a:schemeClr val="dk1"/>
                </a:solidFill>
                <a:latin typeface="Gill Sans"/>
                <a:ea typeface="Gill Sans"/>
                <a:cs typeface="Gill Sans"/>
                <a:sym typeface="Gill Sans"/>
              </a:rPr>
              <a:t> It is a list a list of input conditions for which the complex combination is made.</a:t>
            </a:r>
            <a:endParaRPr/>
          </a:p>
          <a:p>
            <a:pPr indent="-133350" lvl="0" marL="285750" marR="0" rtl="0" algn="just">
              <a:spcBef>
                <a:spcPts val="0"/>
              </a:spcBef>
              <a:spcAft>
                <a:spcPts val="0"/>
              </a:spcAft>
              <a:buClr>
                <a:schemeClr val="dk1"/>
              </a:buClr>
              <a:buSzPts val="2400"/>
              <a:buFont typeface="Arial"/>
              <a:buNone/>
            </a:pPr>
            <a:r>
              <a:t/>
            </a:r>
            <a:endParaRPr b="0" i="0" sz="2400" u="none" cap="none" strike="noStrike">
              <a:solidFill>
                <a:schemeClr val="dk1"/>
              </a:solidFill>
              <a:latin typeface="Gill Sans"/>
              <a:ea typeface="Gill Sans"/>
              <a:cs typeface="Gill Sans"/>
              <a:sym typeface="Gill Sans"/>
            </a:endParaRPr>
          </a:p>
          <a:p>
            <a:pPr indent="-285750" lvl="0" marL="285750" marR="0" rtl="0" algn="just">
              <a:spcBef>
                <a:spcPts val="0"/>
              </a:spcBef>
              <a:spcAft>
                <a:spcPts val="0"/>
              </a:spcAft>
              <a:buClr>
                <a:schemeClr val="dk1"/>
              </a:buClr>
              <a:buSzPts val="2400"/>
              <a:buFont typeface="Arial"/>
              <a:buChar char="•"/>
            </a:pPr>
            <a:r>
              <a:rPr b="1" i="0" lang="en-US" sz="2400" u="none" cap="none" strike="noStrike">
                <a:solidFill>
                  <a:schemeClr val="dk1"/>
                </a:solidFill>
                <a:latin typeface="Gill Sans"/>
                <a:ea typeface="Gill Sans"/>
                <a:cs typeface="Gill Sans"/>
                <a:sym typeface="Gill Sans"/>
              </a:rPr>
              <a:t>Action stub </a:t>
            </a:r>
            <a:r>
              <a:rPr b="0" i="0" lang="en-US" sz="2400" u="none" cap="none" strike="noStrike">
                <a:solidFill>
                  <a:schemeClr val="dk1"/>
                </a:solidFill>
                <a:latin typeface="Gill Sans"/>
                <a:ea typeface="Gill Sans"/>
                <a:cs typeface="Gill Sans"/>
                <a:sym typeface="Gill Sans"/>
              </a:rPr>
              <a:t>It is a list of resulting action which will be performed if a combination of input condition is satisfied.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 </a:t>
            </a:r>
            <a:endParaRPr/>
          </a:p>
        </p:txBody>
      </p:sp>
      <p:sp>
        <p:nvSpPr>
          <p:cNvPr id="259" name="Google Shape;259;p3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560"/>
              <a:buNone/>
            </a:pPr>
            <a:r>
              <a:rPr b="1" lang="en-US"/>
              <a:t>Condition entry </a:t>
            </a:r>
            <a:endParaRPr/>
          </a:p>
          <a:p>
            <a:pPr indent="-283464" lvl="0" marL="365760" rtl="0" algn="just">
              <a:lnSpc>
                <a:spcPct val="100000"/>
              </a:lnSpc>
              <a:spcBef>
                <a:spcPts val="600"/>
              </a:spcBef>
              <a:spcAft>
                <a:spcPts val="0"/>
              </a:spcAft>
              <a:buSzPts val="2560"/>
              <a:buFont typeface="Arial"/>
              <a:buChar char="•"/>
            </a:pPr>
            <a:r>
              <a:rPr lang="en-US"/>
              <a:t>It is a specific entry in the table corresponding to input conditions mentioned in the condition stub. </a:t>
            </a:r>
            <a:endParaRPr/>
          </a:p>
          <a:p>
            <a:pPr indent="-283464" lvl="0" marL="365760" rtl="0" algn="just">
              <a:lnSpc>
                <a:spcPct val="100000"/>
              </a:lnSpc>
              <a:spcBef>
                <a:spcPts val="600"/>
              </a:spcBef>
              <a:spcAft>
                <a:spcPts val="0"/>
              </a:spcAft>
              <a:buSzPts val="2560"/>
              <a:buFont typeface="Arial"/>
              <a:buChar char="•"/>
            </a:pPr>
            <a:r>
              <a:rPr lang="en-US"/>
              <a:t>When the condition entry takes only two values – TRUE or FALSE then it is called </a:t>
            </a:r>
            <a:r>
              <a:rPr b="1" i="1" lang="en-US"/>
              <a:t>Limited Entry Decision Table.</a:t>
            </a:r>
            <a:endParaRPr/>
          </a:p>
          <a:p>
            <a:pPr indent="-283464" lvl="0" marL="365760" rtl="0" algn="just">
              <a:lnSpc>
                <a:spcPct val="100000"/>
              </a:lnSpc>
              <a:spcBef>
                <a:spcPts val="600"/>
              </a:spcBef>
              <a:spcAft>
                <a:spcPts val="0"/>
              </a:spcAft>
              <a:buSzPts val="2560"/>
              <a:buFont typeface="Arial"/>
              <a:buChar char="•"/>
            </a:pPr>
            <a:r>
              <a:rPr lang="en-US"/>
              <a:t>When the condition entry takes several values , then it is called </a:t>
            </a:r>
            <a:r>
              <a:rPr b="1" i="1" lang="en-US"/>
              <a:t>Extended Entry Decision Table.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 </a:t>
            </a:r>
            <a:endParaRPr/>
          </a:p>
        </p:txBody>
      </p:sp>
      <p:sp>
        <p:nvSpPr>
          <p:cNvPr id="265" name="Google Shape;265;p32"/>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fontScale="85000" lnSpcReduction="20000"/>
          </a:bodyPr>
          <a:lstStyle/>
          <a:p>
            <a:pPr indent="-283464" lvl="0" marL="365760" rtl="0" algn="just">
              <a:lnSpc>
                <a:spcPct val="100000"/>
              </a:lnSpc>
              <a:spcBef>
                <a:spcPts val="0"/>
              </a:spcBef>
              <a:spcAft>
                <a:spcPts val="0"/>
              </a:spcAft>
              <a:buSzPct val="80000"/>
              <a:buNone/>
            </a:pPr>
            <a:r>
              <a:rPr b="1" lang="en-US"/>
              <a:t>Action entry </a:t>
            </a:r>
            <a:r>
              <a:rPr lang="en-US"/>
              <a:t>It is the entry in the table for the resulting action to be performed. </a:t>
            </a:r>
            <a:endParaRPr/>
          </a:p>
          <a:p>
            <a:pPr indent="-283464" lvl="0" marL="365760" rtl="0" algn="just">
              <a:lnSpc>
                <a:spcPct val="100000"/>
              </a:lnSpc>
              <a:spcBef>
                <a:spcPts val="600"/>
              </a:spcBef>
              <a:spcAft>
                <a:spcPts val="0"/>
              </a:spcAft>
              <a:buSzPct val="80000"/>
              <a:buFont typeface="Arial"/>
              <a:buChar char="•"/>
            </a:pPr>
            <a:r>
              <a:rPr lang="en-US"/>
              <a:t>List all actions that can be associated with a specific procedure.</a:t>
            </a:r>
            <a:endParaRPr/>
          </a:p>
          <a:p>
            <a:pPr indent="-283464" lvl="0" marL="365760" rtl="0" algn="just">
              <a:lnSpc>
                <a:spcPct val="100000"/>
              </a:lnSpc>
              <a:spcBef>
                <a:spcPts val="600"/>
              </a:spcBef>
              <a:spcAft>
                <a:spcPts val="0"/>
              </a:spcAft>
              <a:buSzPct val="80000"/>
              <a:buFont typeface="Arial"/>
              <a:buChar char="•"/>
            </a:pPr>
            <a:r>
              <a:rPr b="1" i="1" lang="en-US"/>
              <a:t> </a:t>
            </a:r>
            <a:r>
              <a:rPr lang="en-US"/>
              <a:t>List  all conditions during execution of the procedure.</a:t>
            </a:r>
            <a:endParaRPr/>
          </a:p>
          <a:p>
            <a:pPr indent="-283464" lvl="0" marL="365760" rtl="0" algn="just">
              <a:lnSpc>
                <a:spcPct val="100000"/>
              </a:lnSpc>
              <a:spcBef>
                <a:spcPts val="600"/>
              </a:spcBef>
              <a:spcAft>
                <a:spcPts val="0"/>
              </a:spcAft>
              <a:buSzPct val="80000"/>
              <a:buFont typeface="Arial"/>
              <a:buChar char="•"/>
            </a:pPr>
            <a:r>
              <a:rPr lang="en-US"/>
              <a:t>Associate specific sets of conditions with specific actions, eliminating impossible combinations and conditions; alternatively, develop every possible permutation of conditions.</a:t>
            </a:r>
            <a:endParaRPr/>
          </a:p>
          <a:p>
            <a:pPr indent="-283464" lvl="0" marL="365760" rtl="0" algn="just">
              <a:lnSpc>
                <a:spcPct val="100000"/>
              </a:lnSpc>
              <a:spcBef>
                <a:spcPts val="600"/>
              </a:spcBef>
              <a:spcAft>
                <a:spcPts val="0"/>
              </a:spcAft>
              <a:buSzPct val="80000"/>
              <a:buFont typeface="Arial"/>
              <a:buChar char="•"/>
            </a:pPr>
            <a:r>
              <a:rPr lang="en-US"/>
              <a:t>Define rules by indicating what action occurs for a set of conditions.</a:t>
            </a:r>
            <a:endParaRPr/>
          </a:p>
          <a:p>
            <a:pPr indent="-145287" lvl="0" marL="365760" rtl="0" algn="l">
              <a:lnSpc>
                <a:spcPct val="100000"/>
              </a:lnSpc>
              <a:spcBef>
                <a:spcPts val="600"/>
              </a:spcBef>
              <a:spcAft>
                <a:spcPts val="0"/>
              </a:spcAft>
              <a:buSzPct val="8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3600"/>
              <a:buFont typeface="Gill Sans"/>
              <a:buNone/>
            </a:pPr>
            <a:r>
              <a:rPr lang="en-US" sz="3600"/>
              <a:t>Test Case Design using Decision Table</a:t>
            </a:r>
            <a:endParaRPr sz="3600"/>
          </a:p>
        </p:txBody>
      </p:sp>
      <p:sp>
        <p:nvSpPr>
          <p:cNvPr id="271" name="Google Shape;271;p33"/>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Font typeface="Arial"/>
              <a:buChar char="•"/>
            </a:pPr>
            <a:r>
              <a:rPr lang="en-US"/>
              <a:t>Interpret condition stubs as the inputs for the test case.</a:t>
            </a:r>
            <a:endParaRPr/>
          </a:p>
          <a:p>
            <a:pPr indent="-283464" lvl="0" marL="365760" rtl="0" algn="l">
              <a:lnSpc>
                <a:spcPct val="100000"/>
              </a:lnSpc>
              <a:spcBef>
                <a:spcPts val="600"/>
              </a:spcBef>
              <a:spcAft>
                <a:spcPts val="0"/>
              </a:spcAft>
              <a:buSzPts val="2560"/>
              <a:buFont typeface="Arial"/>
              <a:buChar char="•"/>
            </a:pPr>
            <a:r>
              <a:rPr lang="en-US"/>
              <a:t>Interpret action stubs as the expected output for the test case.</a:t>
            </a:r>
            <a:endParaRPr/>
          </a:p>
          <a:p>
            <a:pPr indent="-283464" lvl="0" marL="365760" rtl="0" algn="l">
              <a:lnSpc>
                <a:spcPct val="100000"/>
              </a:lnSpc>
              <a:spcBef>
                <a:spcPts val="600"/>
              </a:spcBef>
              <a:spcAft>
                <a:spcPts val="0"/>
              </a:spcAft>
              <a:buSzPts val="2560"/>
              <a:buFont typeface="Arial"/>
              <a:buChar char="•"/>
            </a:pPr>
            <a:r>
              <a:rPr lang="en-US"/>
              <a:t>Rule, which is the combination of input conditions, becomes the test case itself.</a:t>
            </a:r>
            <a:endParaRPr/>
          </a:p>
          <a:p>
            <a:pPr indent="-283464" lvl="0" marL="365760" rtl="0" algn="l">
              <a:lnSpc>
                <a:spcPct val="100000"/>
              </a:lnSpc>
              <a:spcBef>
                <a:spcPts val="600"/>
              </a:spcBef>
              <a:spcAft>
                <a:spcPts val="0"/>
              </a:spcAft>
              <a:buSzPts val="2560"/>
              <a:buFont typeface="Arial"/>
              <a:buChar char="•"/>
            </a:pPr>
            <a:r>
              <a:rPr lang="en-US"/>
              <a:t>If there are </a:t>
            </a:r>
            <a:r>
              <a:rPr i="1" lang="en-US"/>
              <a:t>k </a:t>
            </a:r>
            <a:r>
              <a:rPr lang="en-US"/>
              <a:t>rules over </a:t>
            </a:r>
            <a:r>
              <a:rPr i="1" lang="en-US"/>
              <a:t>n </a:t>
            </a:r>
            <a:r>
              <a:rPr lang="en-US"/>
              <a:t>binary conditions, there are at least </a:t>
            </a:r>
            <a:r>
              <a:rPr i="1" lang="en-US"/>
              <a:t>k </a:t>
            </a:r>
            <a:r>
              <a:rPr lang="en-US"/>
              <a:t>test cases and at the most 2</a:t>
            </a:r>
            <a:r>
              <a:rPr baseline="30000" lang="en-US"/>
              <a:t>n  </a:t>
            </a:r>
            <a:r>
              <a:rPr lang="en-US"/>
              <a:t>test cases. </a:t>
            </a:r>
            <a:endParaRPr/>
          </a:p>
          <a:p>
            <a:pPr indent="-120903" lvl="0" marL="365760" rtl="0" algn="l">
              <a:lnSpc>
                <a:spcPct val="100000"/>
              </a:lnSpc>
              <a:spcBef>
                <a:spcPts val="600"/>
              </a:spcBef>
              <a:spcAft>
                <a:spcPts val="0"/>
              </a:spcAft>
              <a:buSzPts val="2560"/>
              <a:buFont typeface="Arial"/>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1043608" y="116632"/>
            <a:ext cx="7632848" cy="5635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sz="4000"/>
              <a:t>Example - 1 </a:t>
            </a:r>
            <a:endParaRPr sz="4000"/>
          </a:p>
        </p:txBody>
      </p:sp>
      <p:sp>
        <p:nvSpPr>
          <p:cNvPr id="277" name="Google Shape;277;p34"/>
          <p:cNvSpPr txBox="1"/>
          <p:nvPr>
            <p:ph idx="1" type="body"/>
          </p:nvPr>
        </p:nvSpPr>
        <p:spPr>
          <a:xfrm>
            <a:off x="755576" y="764704"/>
            <a:ext cx="8229600" cy="4525963"/>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120"/>
              <a:buFont typeface="Arial"/>
              <a:buNone/>
            </a:pPr>
            <a:r>
              <a:rPr lang="en-US" sz="1400"/>
              <a:t>     </a:t>
            </a:r>
            <a:r>
              <a:rPr lang="en-US" sz="1800"/>
              <a:t>A program calculates the total salary of an employee with the conditions that if the working hours are less than or equal to 48, then give normal salary. The hours over 48 normal working days are calculated at the rate of 1.25 of the salary. However, on holidays or Sundays, the hours are calculated at the rate of 2.00 times of the salary. Design test cases using decision table testing.</a:t>
            </a:r>
            <a:endParaRPr sz="1400"/>
          </a:p>
          <a:p>
            <a:pPr indent="-283464" lvl="0" marL="365760" rtl="0" algn="l">
              <a:lnSpc>
                <a:spcPct val="100000"/>
              </a:lnSpc>
              <a:spcBef>
                <a:spcPts val="600"/>
              </a:spcBef>
              <a:spcAft>
                <a:spcPts val="0"/>
              </a:spcAft>
              <a:buSzPts val="1600"/>
              <a:buFont typeface="Arial"/>
              <a:buNone/>
            </a:pPr>
            <a:r>
              <a:t/>
            </a:r>
            <a:endParaRPr b="1" sz="2000" u="sng"/>
          </a:p>
          <a:p>
            <a:pPr indent="-283464" lvl="0" marL="365760" rtl="0" algn="l">
              <a:lnSpc>
                <a:spcPct val="100000"/>
              </a:lnSpc>
              <a:spcBef>
                <a:spcPts val="600"/>
              </a:spcBef>
              <a:spcAft>
                <a:spcPts val="0"/>
              </a:spcAft>
              <a:buSzPts val="1600"/>
              <a:buFont typeface="Arial"/>
              <a:buNone/>
            </a:pPr>
            <a:r>
              <a:rPr b="1" lang="en-US" sz="2000"/>
              <a:t>   Solution </a:t>
            </a:r>
            <a:endParaRPr/>
          </a:p>
          <a:p>
            <a:pPr indent="-283464" lvl="0" marL="365760" rtl="0" algn="ctr">
              <a:lnSpc>
                <a:spcPct val="100000"/>
              </a:lnSpc>
              <a:spcBef>
                <a:spcPts val="600"/>
              </a:spcBef>
              <a:spcAft>
                <a:spcPts val="0"/>
              </a:spcAft>
              <a:buSzPts val="1600"/>
              <a:buFont typeface="Arial"/>
              <a:buNone/>
            </a:pPr>
            <a:r>
              <a:rPr b="1" lang="en-US" sz="2000"/>
              <a:t>                                        </a:t>
            </a:r>
            <a:endParaRPr/>
          </a:p>
          <a:p>
            <a:pPr indent="-283464" lvl="0" marL="365760" rtl="0" algn="ctr">
              <a:lnSpc>
                <a:spcPct val="100000"/>
              </a:lnSpc>
              <a:spcBef>
                <a:spcPts val="600"/>
              </a:spcBef>
              <a:spcAft>
                <a:spcPts val="0"/>
              </a:spcAft>
              <a:buSzPts val="1600"/>
              <a:buFont typeface="Arial"/>
              <a:buNone/>
            </a:pPr>
            <a:r>
              <a:rPr b="1" lang="en-US" sz="2000"/>
              <a:t>					Entry</a:t>
            </a:r>
            <a:endParaRPr/>
          </a:p>
          <a:p>
            <a:pPr indent="-283464" lvl="0" marL="365760" rtl="0" algn="ctr">
              <a:lnSpc>
                <a:spcPct val="100000"/>
              </a:lnSpc>
              <a:spcBef>
                <a:spcPts val="600"/>
              </a:spcBef>
              <a:spcAft>
                <a:spcPts val="0"/>
              </a:spcAft>
              <a:buSzPts val="1600"/>
              <a:buFont typeface="Arial"/>
              <a:buNone/>
            </a:pPr>
            <a:r>
              <a:t/>
            </a:r>
            <a:endParaRPr b="1" sz="2000"/>
          </a:p>
          <a:p>
            <a:pPr indent="-283464" lvl="0" marL="365760" rtl="0" algn="ctr">
              <a:lnSpc>
                <a:spcPct val="100000"/>
              </a:lnSpc>
              <a:spcBef>
                <a:spcPts val="600"/>
              </a:spcBef>
              <a:spcAft>
                <a:spcPts val="0"/>
              </a:spcAft>
              <a:buSzPts val="1600"/>
              <a:buFont typeface="Arial"/>
              <a:buNone/>
            </a:pPr>
            <a:r>
              <a:t/>
            </a:r>
            <a:endParaRPr b="1" sz="2000"/>
          </a:p>
          <a:p>
            <a:pPr indent="-283464" lvl="0" marL="365760" rtl="0" algn="ctr">
              <a:lnSpc>
                <a:spcPct val="100000"/>
              </a:lnSpc>
              <a:spcBef>
                <a:spcPts val="600"/>
              </a:spcBef>
              <a:spcAft>
                <a:spcPts val="0"/>
              </a:spcAft>
              <a:buSzPts val="1600"/>
              <a:buFont typeface="Arial"/>
              <a:buNone/>
            </a:pPr>
            <a:r>
              <a:t/>
            </a:r>
            <a:endParaRPr b="1" sz="2000"/>
          </a:p>
          <a:p>
            <a:pPr indent="-283464" lvl="0" marL="365760" rtl="0" algn="ctr">
              <a:lnSpc>
                <a:spcPct val="100000"/>
              </a:lnSpc>
              <a:spcBef>
                <a:spcPts val="600"/>
              </a:spcBef>
              <a:spcAft>
                <a:spcPts val="0"/>
              </a:spcAft>
              <a:buSzPts val="1600"/>
              <a:buFont typeface="Arial"/>
              <a:buNone/>
            </a:pPr>
            <a:r>
              <a:t/>
            </a:r>
            <a:endParaRPr b="1" sz="2000"/>
          </a:p>
          <a:p>
            <a:pPr indent="-283464" lvl="0" marL="365760" rtl="0" algn="ctr">
              <a:lnSpc>
                <a:spcPct val="100000"/>
              </a:lnSpc>
              <a:spcBef>
                <a:spcPts val="600"/>
              </a:spcBef>
              <a:spcAft>
                <a:spcPts val="0"/>
              </a:spcAft>
              <a:buSzPts val="1600"/>
              <a:buFont typeface="Arial"/>
              <a:buNone/>
            </a:pPr>
            <a:r>
              <a:t/>
            </a:r>
            <a:endParaRPr b="1" sz="2000"/>
          </a:p>
        </p:txBody>
      </p:sp>
      <p:graphicFrame>
        <p:nvGraphicFramePr>
          <p:cNvPr id="278" name="Google Shape;278;p34"/>
          <p:cNvGraphicFramePr/>
          <p:nvPr/>
        </p:nvGraphicFramePr>
        <p:xfrm>
          <a:off x="971600" y="3717032"/>
          <a:ext cx="3000000" cy="3000000"/>
        </p:xfrm>
        <a:graphic>
          <a:graphicData uri="http://schemas.openxmlformats.org/drawingml/2006/table">
            <a:tbl>
              <a:tblPr>
                <a:noFill/>
                <a:tableStyleId>{C8747EC3-9BEE-4359-89C8-865D0792875C}</a:tableStyleId>
              </a:tblPr>
              <a:tblGrid>
                <a:gridCol w="1524000"/>
                <a:gridCol w="2538425"/>
                <a:gridCol w="1168400"/>
                <a:gridCol w="1052500"/>
                <a:gridCol w="1336675"/>
              </a:tblGrid>
              <a:tr h="304800">
                <a:tc>
                  <a:txBody>
                    <a:bodyPr/>
                    <a:lstStyle/>
                    <a:p>
                      <a:pPr indent="0" lvl="0" marL="0" marR="0" rtl="0" algn="l">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1</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2</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Rule 3</a:t>
                      </a:r>
                      <a:endParaRPr b="0" i="0" sz="1800" u="none" cap="none" strike="noStrike">
                        <a:solidFill>
                          <a:schemeClr val="dk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8000">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Condition Stub</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C1: Working hours &gt; 48</a:t>
                      </a:r>
                      <a:endParaRPr/>
                    </a:p>
                    <a:p>
                      <a:pPr indent="0" lvl="0" marL="0" marR="0" rtl="0" algn="l">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C2: Holidays or Sundays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I</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F</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T</a:t>
                      </a:r>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35000">
                <a:tc>
                  <a:txBody>
                    <a:bodyPr/>
                    <a:lstStyle/>
                    <a:p>
                      <a:pPr indent="0" lvl="0" marL="0" marR="0" rtl="0" algn="ctr">
                        <a:lnSpc>
                          <a:spcPct val="115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Action Stub</a:t>
                      </a:r>
                      <a:endParaRPr b="0" i="0" sz="1800" u="none" cap="none" strike="noStrike">
                        <a:solidFill>
                          <a:schemeClr val="dk1"/>
                        </a:solidFill>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A1: Normal Salary </a:t>
                      </a:r>
                      <a:endParaRPr/>
                    </a:p>
                    <a:p>
                      <a:pPr indent="0" lvl="0" marL="0" marR="0" rtl="0" algn="l">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A2: 1.25 of salary</a:t>
                      </a:r>
                      <a:endParaRPr/>
                    </a:p>
                    <a:p>
                      <a:pPr indent="0" lvl="0" marL="0" marR="0" rtl="0" algn="l">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A3: 2.00 of salary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800"/>
                        <a:buFont typeface="Gill Sans"/>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5"/>
          <p:cNvSpPr txBox="1"/>
          <p:nvPr>
            <p:ph type="title"/>
          </p:nvPr>
        </p:nvSpPr>
        <p:spPr>
          <a:xfrm>
            <a:off x="1259632" y="98072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b="1" lang="en-US" sz="4400"/>
              <a:t>Decision Table </a:t>
            </a:r>
            <a:br>
              <a:rPr b="1" lang="en-US" sz="4400"/>
            </a:br>
            <a:endParaRPr/>
          </a:p>
        </p:txBody>
      </p:sp>
      <p:pic>
        <p:nvPicPr>
          <p:cNvPr id="284" name="Google Shape;284;p35"/>
          <p:cNvPicPr preferRelativeResize="0"/>
          <p:nvPr>
            <p:ph idx="1" type="body"/>
          </p:nvPr>
        </p:nvPicPr>
        <p:blipFill rotWithShape="1">
          <a:blip r:embed="rId3">
            <a:alphaModFix/>
          </a:blip>
          <a:srcRect b="0" l="0" r="0" t="0"/>
          <a:stretch/>
        </p:blipFill>
        <p:spPr>
          <a:xfrm>
            <a:off x="1331640" y="2060848"/>
            <a:ext cx="7416824" cy="151216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562214"/>
              </a:buClr>
              <a:buSzPct val="100000"/>
              <a:buFont typeface="Gill Sans"/>
              <a:buNone/>
            </a:pPr>
            <a:r>
              <a:rPr lang="en-US" sz="4000"/>
              <a:t>Expanding the Immaterial Cases in Decision Table</a:t>
            </a:r>
            <a:endParaRPr sz="4000"/>
          </a:p>
        </p:txBody>
      </p:sp>
      <p:sp>
        <p:nvSpPr>
          <p:cNvPr id="290" name="Google Shape;290;p36"/>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560"/>
              <a:buChar char="⚫"/>
            </a:pPr>
            <a:r>
              <a:rPr lang="en-US"/>
              <a:t>These conditions means that the value of a particular condition in the specific rule does not make a difference whether it is TRUE or FALSE.</a:t>
            </a:r>
            <a:endParaRPr/>
          </a:p>
          <a:p>
            <a:pPr indent="-283464" lvl="0" marL="365760" rtl="0" algn="l">
              <a:lnSpc>
                <a:spcPct val="100000"/>
              </a:lnSpc>
              <a:spcBef>
                <a:spcPts val="600"/>
              </a:spcBef>
              <a:spcAft>
                <a:spcPts val="0"/>
              </a:spcAft>
              <a:buSzPts val="2560"/>
              <a:buChar char="⚫"/>
            </a:pPr>
            <a:r>
              <a:rPr lang="en-US"/>
              <a:t>Sometimes expanding the decision table to spell out don’t-care conditions can reveal hidden problems.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 - 1 </a:t>
            </a:r>
            <a:endParaRPr/>
          </a:p>
        </p:txBody>
      </p:sp>
      <p:sp>
        <p:nvSpPr>
          <p:cNvPr id="296" name="Google Shape;296;p37"/>
          <p:cNvSpPr txBox="1"/>
          <p:nvPr>
            <p:ph idx="1" type="body"/>
          </p:nvPr>
        </p:nvSpPr>
        <p:spPr>
          <a:xfrm>
            <a:off x="1115616" y="1484784"/>
            <a:ext cx="7498080" cy="4800600"/>
          </a:xfrm>
          <a:prstGeom prst="rect">
            <a:avLst/>
          </a:prstGeom>
          <a:noFill/>
          <a:ln>
            <a:noFill/>
          </a:ln>
        </p:spPr>
        <p:txBody>
          <a:bodyPr anchorCtr="0" anchor="t" bIns="45700" lIns="91425" spcFirstLastPara="1" rIns="91425" wrap="square" tIns="45700">
            <a:normAutofit lnSpcReduction="10000"/>
          </a:bodyPr>
          <a:lstStyle/>
          <a:p>
            <a:pPr indent="-283464" lvl="0" marL="365760" rtl="0" algn="ctr">
              <a:lnSpc>
                <a:spcPct val="100000"/>
              </a:lnSpc>
              <a:spcBef>
                <a:spcPts val="0"/>
              </a:spcBef>
              <a:spcAft>
                <a:spcPts val="0"/>
              </a:spcAft>
              <a:buSzPts val="2560"/>
              <a:buFont typeface="Arial"/>
              <a:buNone/>
            </a:pPr>
            <a:r>
              <a:rPr lang="en-US"/>
              <a:t>             Entry (Decision table) </a:t>
            </a:r>
            <a:endParaRPr/>
          </a:p>
          <a:p>
            <a:pPr indent="-283464" lvl="0" marL="365760" rtl="0" algn="ctr">
              <a:lnSpc>
                <a:spcPct val="100000"/>
              </a:lnSpc>
              <a:spcBef>
                <a:spcPts val="600"/>
              </a:spcBef>
              <a:spcAft>
                <a:spcPts val="0"/>
              </a:spcAft>
              <a:buSzPts val="2560"/>
              <a:buFont typeface="Arial"/>
              <a:buNone/>
            </a:pPr>
            <a:r>
              <a:t/>
            </a:r>
            <a:endParaRPr/>
          </a:p>
          <a:p>
            <a:pPr indent="-283464" lvl="0" marL="365760" rtl="0" algn="ctr">
              <a:lnSpc>
                <a:spcPct val="100000"/>
              </a:lnSpc>
              <a:spcBef>
                <a:spcPts val="600"/>
              </a:spcBef>
              <a:spcAft>
                <a:spcPts val="0"/>
              </a:spcAft>
              <a:buSzPts val="2560"/>
              <a:buFont typeface="Arial"/>
              <a:buNone/>
            </a:pPr>
            <a:r>
              <a:t/>
            </a:r>
            <a:endParaRPr/>
          </a:p>
          <a:p>
            <a:pPr indent="-283464" lvl="0" marL="365760" rtl="0" algn="ctr">
              <a:lnSpc>
                <a:spcPct val="100000"/>
              </a:lnSpc>
              <a:spcBef>
                <a:spcPts val="600"/>
              </a:spcBef>
              <a:spcAft>
                <a:spcPts val="0"/>
              </a:spcAft>
              <a:buSzPts val="2560"/>
              <a:buFont typeface="Arial"/>
              <a:buNone/>
            </a:pPr>
            <a:r>
              <a:t/>
            </a:r>
            <a:endParaRPr/>
          </a:p>
          <a:p>
            <a:pPr indent="-283464" lvl="0" marL="365760" rtl="0" algn="l">
              <a:lnSpc>
                <a:spcPct val="100000"/>
              </a:lnSpc>
              <a:spcBef>
                <a:spcPts val="600"/>
              </a:spcBef>
              <a:spcAft>
                <a:spcPts val="0"/>
              </a:spcAft>
              <a:buSzPts val="2560"/>
              <a:buFont typeface="Arial"/>
              <a:buNone/>
            </a:pPr>
            <a:r>
              <a:t/>
            </a:r>
            <a:endParaRPr/>
          </a:p>
          <a:p>
            <a:pPr indent="-283464" lvl="0" marL="365760" rtl="0" algn="l">
              <a:lnSpc>
                <a:spcPct val="100000"/>
              </a:lnSpc>
              <a:spcBef>
                <a:spcPts val="600"/>
              </a:spcBef>
              <a:spcAft>
                <a:spcPts val="0"/>
              </a:spcAft>
              <a:buSzPts val="2560"/>
              <a:buFont typeface="Arial"/>
              <a:buNone/>
            </a:pPr>
            <a:r>
              <a:t/>
            </a:r>
            <a:endParaRPr/>
          </a:p>
          <a:p>
            <a:pPr indent="-283464" lvl="0" marL="365760" rtl="0" algn="l">
              <a:lnSpc>
                <a:spcPct val="100000"/>
              </a:lnSpc>
              <a:spcBef>
                <a:spcPts val="600"/>
              </a:spcBef>
              <a:spcAft>
                <a:spcPts val="0"/>
              </a:spcAft>
              <a:buSzPts val="2560"/>
              <a:buChar char="⚫"/>
            </a:pPr>
            <a:r>
              <a:rPr lang="en-US"/>
              <a:t>The immaterial test case in rule 1 of the above table can be expanded by taking both T and F values of C1. </a:t>
            </a:r>
            <a:endParaRPr/>
          </a:p>
        </p:txBody>
      </p:sp>
      <p:graphicFrame>
        <p:nvGraphicFramePr>
          <p:cNvPr id="297" name="Google Shape;297;p37"/>
          <p:cNvGraphicFramePr/>
          <p:nvPr/>
        </p:nvGraphicFramePr>
        <p:xfrm>
          <a:off x="1187624" y="1988840"/>
          <a:ext cx="3000000" cy="3000000"/>
        </p:xfrm>
        <a:graphic>
          <a:graphicData uri="http://schemas.openxmlformats.org/drawingml/2006/table">
            <a:tbl>
              <a:tblPr>
                <a:noFill/>
                <a:tableStyleId>{C8747EC3-9BEE-4359-89C8-865D0792875C}</a:tableStyleId>
              </a:tblPr>
              <a:tblGrid>
                <a:gridCol w="1523675"/>
                <a:gridCol w="2539450"/>
                <a:gridCol w="1168300"/>
                <a:gridCol w="1052050"/>
                <a:gridCol w="1336500"/>
              </a:tblGrid>
              <a:tr h="254000">
                <a:tc>
                  <a:txBody>
                    <a:bodyPr/>
                    <a:lstStyle/>
                    <a:p>
                      <a:pPr indent="0" lvl="0" marL="0" marR="0" rtl="0" algn="l">
                        <a:lnSpc>
                          <a:spcPct val="115000"/>
                        </a:lnSpc>
                        <a:spcBef>
                          <a:spcPts val="0"/>
                        </a:spcBef>
                        <a:spcAft>
                          <a:spcPts val="0"/>
                        </a:spcAft>
                        <a:buNone/>
                      </a:pPr>
                      <a:r>
                        <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1</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2</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3</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8000">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Condition Stub</a:t>
                      </a:r>
                      <a:endParaRPr sz="16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C1: Working hours &gt; 48</a:t>
                      </a:r>
                      <a:endParaRPr/>
                    </a:p>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C2: Holidays or Sundays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I</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T</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62000">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Action Stub</a:t>
                      </a:r>
                      <a:endParaRPr sz="16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A1: Normal Salary </a:t>
                      </a:r>
                      <a:endParaRPr/>
                    </a:p>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A2: 1.25 of salary</a:t>
                      </a:r>
                      <a:endParaRPr/>
                    </a:p>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A3: 2.00 of salary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Entry (Expanded decision table)</a:t>
            </a:r>
            <a:endParaRPr/>
          </a:p>
        </p:txBody>
      </p:sp>
      <p:sp>
        <p:nvSpPr>
          <p:cNvPr id="303" name="Google Shape;303;p38"/>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p>
            <a:pPr indent="-120903" lvl="0" marL="365760" rtl="0" algn="l">
              <a:lnSpc>
                <a:spcPct val="100000"/>
              </a:lnSpc>
              <a:spcBef>
                <a:spcPts val="0"/>
              </a:spcBef>
              <a:spcAft>
                <a:spcPts val="0"/>
              </a:spcAft>
              <a:buSzPts val="2560"/>
              <a:buNone/>
            </a:pPr>
            <a:r>
              <a:t/>
            </a:r>
            <a:endParaRPr/>
          </a:p>
          <a:p>
            <a:pPr indent="-120903" lvl="0" marL="365760" rtl="0" algn="l">
              <a:lnSpc>
                <a:spcPct val="100000"/>
              </a:lnSpc>
              <a:spcBef>
                <a:spcPts val="600"/>
              </a:spcBef>
              <a:spcAft>
                <a:spcPts val="0"/>
              </a:spcAft>
              <a:buSzPts val="2560"/>
              <a:buNone/>
            </a:pPr>
            <a:r>
              <a:t/>
            </a:r>
            <a:endParaRPr/>
          </a:p>
          <a:p>
            <a:pPr indent="-120903" lvl="0" marL="365760" rtl="0" algn="l">
              <a:lnSpc>
                <a:spcPct val="100000"/>
              </a:lnSpc>
              <a:spcBef>
                <a:spcPts val="600"/>
              </a:spcBef>
              <a:spcAft>
                <a:spcPts val="0"/>
              </a:spcAft>
              <a:buSzPts val="2560"/>
              <a:buNone/>
            </a:pPr>
            <a:r>
              <a:t/>
            </a:r>
            <a:endParaRPr/>
          </a:p>
          <a:p>
            <a:pPr indent="-283464" lvl="0" marL="365760" rtl="0" algn="ctr">
              <a:lnSpc>
                <a:spcPct val="100000"/>
              </a:lnSpc>
              <a:spcBef>
                <a:spcPts val="600"/>
              </a:spcBef>
              <a:spcAft>
                <a:spcPts val="0"/>
              </a:spcAft>
              <a:buSzPts val="2560"/>
              <a:buFont typeface="Arial"/>
              <a:buNone/>
            </a:pPr>
            <a:r>
              <a:t/>
            </a:r>
            <a:endParaRPr/>
          </a:p>
          <a:p>
            <a:pPr indent="-283464" lvl="0" marL="365760" rtl="0" algn="ctr">
              <a:lnSpc>
                <a:spcPct val="100000"/>
              </a:lnSpc>
              <a:spcBef>
                <a:spcPts val="600"/>
              </a:spcBef>
              <a:spcAft>
                <a:spcPts val="0"/>
              </a:spcAft>
              <a:buSzPts val="2560"/>
              <a:buFont typeface="Arial"/>
              <a:buNone/>
            </a:pPr>
            <a:r>
              <a:rPr lang="en-US"/>
              <a:t>Entry (Expanded decision table)</a:t>
            </a:r>
            <a:endParaRPr/>
          </a:p>
          <a:p>
            <a:pPr indent="-283464" lvl="0" marL="365760" rtl="0" algn="ctr">
              <a:lnSpc>
                <a:spcPct val="100000"/>
              </a:lnSpc>
              <a:spcBef>
                <a:spcPts val="600"/>
              </a:spcBef>
              <a:spcAft>
                <a:spcPts val="0"/>
              </a:spcAft>
              <a:buSzPts val="2560"/>
              <a:buFont typeface="Arial"/>
              <a:buNone/>
            </a:pPr>
            <a:r>
              <a:t/>
            </a:r>
            <a:endParaRPr/>
          </a:p>
        </p:txBody>
      </p:sp>
      <p:graphicFrame>
        <p:nvGraphicFramePr>
          <p:cNvPr id="304" name="Google Shape;304;p38"/>
          <p:cNvGraphicFramePr/>
          <p:nvPr/>
        </p:nvGraphicFramePr>
        <p:xfrm>
          <a:off x="1115616" y="1268760"/>
          <a:ext cx="3000000" cy="3000000"/>
        </p:xfrm>
        <a:graphic>
          <a:graphicData uri="http://schemas.openxmlformats.org/drawingml/2006/table">
            <a:tbl>
              <a:tblPr>
                <a:noFill/>
                <a:tableStyleId>{C8747EC3-9BEE-4359-89C8-865D0792875C}</a:tableStyleId>
              </a:tblPr>
              <a:tblGrid>
                <a:gridCol w="1347750"/>
                <a:gridCol w="2076575"/>
                <a:gridCol w="989800"/>
                <a:gridCol w="903350"/>
                <a:gridCol w="1114250"/>
                <a:gridCol w="1035875"/>
              </a:tblGrid>
              <a:tr h="279400">
                <a:tc>
                  <a:txBody>
                    <a:bodyPr/>
                    <a:lstStyle/>
                    <a:p>
                      <a:pPr indent="0" lvl="0" marL="0" marR="0" rtl="0" algn="l">
                        <a:lnSpc>
                          <a:spcPct val="115000"/>
                        </a:lnSpc>
                        <a:spcBef>
                          <a:spcPts val="0"/>
                        </a:spcBef>
                        <a:spcAft>
                          <a:spcPts val="0"/>
                        </a:spcAft>
                        <a:buNone/>
                      </a:pPr>
                      <a:r>
                        <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1-1</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1-2</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2</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Rule 3</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8800">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Condition Stub</a:t>
                      </a:r>
                      <a:endParaRPr sz="16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C1: Working hours &gt; 48</a:t>
                      </a:r>
                      <a:endParaRPr/>
                    </a:p>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C2: Holidays or Sundays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T</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T</a:t>
                      </a:r>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38200">
                <a:tc>
                  <a:txBody>
                    <a:bodyPr/>
                    <a:lstStyle/>
                    <a:p>
                      <a:pPr indent="0" lvl="0" marL="0" marR="0" rtl="0" algn="ctr">
                        <a:lnSpc>
                          <a:spcPct val="115000"/>
                        </a:lnSpc>
                        <a:spcBef>
                          <a:spcPts val="0"/>
                        </a:spcBef>
                        <a:spcAft>
                          <a:spcPts val="0"/>
                        </a:spcAft>
                        <a:buNone/>
                      </a:pPr>
                      <a:r>
                        <a:rPr b="1" lang="en-US" sz="1600" u="none" cap="none" strike="noStrike">
                          <a:latin typeface="Calibri"/>
                          <a:ea typeface="Calibri"/>
                          <a:cs typeface="Calibri"/>
                          <a:sym typeface="Calibri"/>
                        </a:rPr>
                        <a:t>Action Stub</a:t>
                      </a:r>
                      <a:endParaRPr sz="1600" u="none" cap="none" strike="noStrike">
                        <a:latin typeface="Calibri"/>
                        <a:ea typeface="Calibri"/>
                        <a:cs typeface="Calibri"/>
                        <a:sym typeface="Calibri"/>
                      </a:endParaRPr>
                    </a:p>
                  </a:txBody>
                  <a:tcPr marT="0" marB="0" marR="68575" marL="6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A1: Normal Salary </a:t>
                      </a:r>
                      <a:endParaRPr/>
                    </a:p>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A2: 1.25 of salary</a:t>
                      </a:r>
                      <a:endParaRPr/>
                    </a:p>
                    <a:p>
                      <a:pPr indent="0" lvl="0" marL="0" marR="0" rtl="0" algn="l">
                        <a:lnSpc>
                          <a:spcPct val="115000"/>
                        </a:lnSpc>
                        <a:spcBef>
                          <a:spcPts val="0"/>
                        </a:spcBef>
                        <a:spcAft>
                          <a:spcPts val="0"/>
                        </a:spcAft>
                        <a:buNone/>
                      </a:pPr>
                      <a:r>
                        <a:rPr lang="en-US" sz="1600" u="none" cap="none" strike="noStrike">
                          <a:latin typeface="Calibri"/>
                          <a:ea typeface="Calibri"/>
                          <a:cs typeface="Calibri"/>
                          <a:sym typeface="Calibri"/>
                        </a:rPr>
                        <a:t>A3: 2.00 of salary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sz="16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t/>
                      </a:r>
                      <a:endParaRPr sz="1600" u="none" cap="none" strike="noStrike">
                        <a:latin typeface="Calibri"/>
                        <a:ea typeface="Calibri"/>
                        <a:cs typeface="Calibri"/>
                        <a:sym typeface="Calibri"/>
                      </a:endParaRPr>
                    </a:p>
                    <a:p>
                      <a:pPr indent="0" lvl="0" marL="0" marR="0" rtl="0" algn="ctr">
                        <a:lnSpc>
                          <a:spcPct val="115000"/>
                        </a:lnSpc>
                        <a:spcBef>
                          <a:spcPts val="0"/>
                        </a:spcBef>
                        <a:spcAft>
                          <a:spcPts val="0"/>
                        </a:spcAft>
                        <a:buNone/>
                      </a:pPr>
                      <a:r>
                        <a:rPr lang="en-US" sz="1600" u="none" cap="none" strike="noStrike">
                          <a:latin typeface="Calibri"/>
                          <a:ea typeface="Calibri"/>
                          <a:cs typeface="Calibri"/>
                          <a:sym typeface="Calibri"/>
                        </a:rPr>
                        <a:t>X</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305" name="Google Shape;305;p38"/>
          <p:cNvGraphicFramePr/>
          <p:nvPr/>
        </p:nvGraphicFramePr>
        <p:xfrm>
          <a:off x="1219200" y="4419600"/>
          <a:ext cx="3000000" cy="3000000"/>
        </p:xfrm>
        <a:graphic>
          <a:graphicData uri="http://schemas.openxmlformats.org/drawingml/2006/table">
            <a:tbl>
              <a:tblPr>
                <a:noFill/>
                <a:tableStyleId>{C8747EC3-9BEE-4359-89C8-865D0792875C}</a:tableStyleId>
              </a:tblPr>
              <a:tblGrid>
                <a:gridCol w="1687625"/>
                <a:gridCol w="1874525"/>
                <a:gridCol w="1411150"/>
                <a:gridCol w="2037100"/>
              </a:tblGrid>
              <a:tr h="381000">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Test case ID</a:t>
                      </a:r>
                      <a:endParaRPr sz="18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Working hour</a:t>
                      </a:r>
                      <a:endParaRPr sz="18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Day</a:t>
                      </a:r>
                      <a:endParaRPr sz="18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800" u="none" cap="none" strike="noStrike">
                          <a:latin typeface="Calibri"/>
                          <a:ea typeface="Calibri"/>
                          <a:cs typeface="Calibri"/>
                          <a:sym typeface="Calibri"/>
                        </a:rPr>
                        <a:t>Expected Result</a:t>
                      </a:r>
                      <a:endParaRPr sz="1800" u="none" cap="none" strike="noStrike">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0">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2</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3</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4</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48</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50</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52</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30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Monday</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Tuesday</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Sunday</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Sunday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Normal Salary</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1.25 of salary</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2.00 of salary</a:t>
                      </a:r>
                      <a:endParaRPr/>
                    </a:p>
                    <a:p>
                      <a:pPr indent="0" lvl="0" marL="0" marR="0" rtl="0" algn="ctr">
                        <a:lnSpc>
                          <a:spcPct val="115000"/>
                        </a:lnSpc>
                        <a:spcBef>
                          <a:spcPts val="0"/>
                        </a:spcBef>
                        <a:spcAft>
                          <a:spcPts val="0"/>
                        </a:spcAft>
                        <a:buNone/>
                      </a:pPr>
                      <a:r>
                        <a:rPr lang="en-US" sz="1800" u="none" cap="none" strike="noStrike">
                          <a:latin typeface="Calibri"/>
                          <a:ea typeface="Calibri"/>
                          <a:cs typeface="Calibri"/>
                          <a:sym typeface="Calibri"/>
                        </a:rPr>
                        <a:t>2.00 of salary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type="title"/>
          </p:nvPr>
        </p:nvSpPr>
        <p:spPr>
          <a:xfrm>
            <a:off x="1115616" y="0"/>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Example - 2</a:t>
            </a:r>
            <a:endParaRPr/>
          </a:p>
        </p:txBody>
      </p:sp>
      <p:sp>
        <p:nvSpPr>
          <p:cNvPr id="311" name="Google Shape;311;p39"/>
          <p:cNvSpPr txBox="1"/>
          <p:nvPr>
            <p:ph idx="1" type="body"/>
          </p:nvPr>
        </p:nvSpPr>
        <p:spPr>
          <a:xfrm>
            <a:off x="965200" y="1124744"/>
            <a:ext cx="8178800" cy="4968552"/>
          </a:xfrm>
          <a:prstGeom prst="rect">
            <a:avLst/>
          </a:prstGeom>
          <a:noFill/>
          <a:ln>
            <a:noFill/>
          </a:ln>
        </p:spPr>
        <p:txBody>
          <a:bodyPr anchorCtr="0" anchor="t" bIns="45700" lIns="91425" spcFirstLastPara="1" rIns="91425" wrap="square" tIns="45700">
            <a:noAutofit/>
          </a:bodyPr>
          <a:lstStyle/>
          <a:p>
            <a:pPr indent="0" lvl="0" marL="82296" rtl="0" algn="just">
              <a:lnSpc>
                <a:spcPct val="100000"/>
              </a:lnSpc>
              <a:spcBef>
                <a:spcPts val="0"/>
              </a:spcBef>
              <a:spcAft>
                <a:spcPts val="0"/>
              </a:spcAft>
              <a:buSzPts val="1600"/>
              <a:buNone/>
            </a:pPr>
            <a:r>
              <a:rPr lang="en-US" sz="2000"/>
              <a:t>A wholesaler has three commodities to sell and has three types of customers. Discount is given as per the following procedure:</a:t>
            </a:r>
            <a:endParaRPr/>
          </a:p>
          <a:p>
            <a:pPr indent="0" lvl="0" marL="0" rtl="0" algn="just">
              <a:lnSpc>
                <a:spcPct val="100000"/>
              </a:lnSpc>
              <a:spcBef>
                <a:spcPts val="600"/>
              </a:spcBef>
              <a:spcAft>
                <a:spcPts val="0"/>
              </a:spcAft>
              <a:buSzPts val="1600"/>
              <a:buNone/>
            </a:pPr>
            <a:r>
              <a:rPr lang="en-US" sz="2000"/>
              <a:t> (a) For DGS &amp; D orders, 10% discount is given irrespective of the value of the order.</a:t>
            </a:r>
            <a:endParaRPr/>
          </a:p>
          <a:p>
            <a:pPr indent="0" lvl="0" marL="0" rtl="0" algn="just">
              <a:lnSpc>
                <a:spcPct val="100000"/>
              </a:lnSpc>
              <a:spcBef>
                <a:spcPts val="600"/>
              </a:spcBef>
              <a:spcAft>
                <a:spcPts val="0"/>
              </a:spcAft>
              <a:buSzPts val="1600"/>
              <a:buNone/>
            </a:pPr>
            <a:r>
              <a:rPr lang="en-US" sz="2000"/>
              <a:t> (b) For orders of more than Rs 50,000, agents get a discount of 15% and the retailer gets a discount of 10%.</a:t>
            </a:r>
            <a:endParaRPr/>
          </a:p>
          <a:p>
            <a:pPr indent="0" lvl="0" marL="0" rtl="0" algn="just">
              <a:lnSpc>
                <a:spcPct val="100000"/>
              </a:lnSpc>
              <a:spcBef>
                <a:spcPts val="600"/>
              </a:spcBef>
              <a:spcAft>
                <a:spcPts val="0"/>
              </a:spcAft>
              <a:buSzPts val="1600"/>
              <a:buNone/>
            </a:pPr>
            <a:r>
              <a:rPr lang="en-US" sz="2000"/>
              <a:t>(c) For orders of Rs 20,000 or more and up to Rs 50,000, agents get 12% and the retailer gets 8% discount.</a:t>
            </a:r>
            <a:endParaRPr/>
          </a:p>
          <a:p>
            <a:pPr indent="0" lvl="0" marL="0" rtl="0" algn="just">
              <a:lnSpc>
                <a:spcPct val="100000"/>
              </a:lnSpc>
              <a:spcBef>
                <a:spcPts val="600"/>
              </a:spcBef>
              <a:spcAft>
                <a:spcPts val="0"/>
              </a:spcAft>
              <a:buSzPts val="1600"/>
              <a:buNone/>
            </a:pPr>
            <a:r>
              <a:rPr lang="en-US" sz="2000"/>
              <a:t>(d) For orders of less than Rs 20,000, agents get 8% and the retailer gets 5% discount. </a:t>
            </a:r>
            <a:endParaRPr/>
          </a:p>
          <a:p>
            <a:pPr indent="0" lvl="0" marL="0" rtl="0" algn="just">
              <a:lnSpc>
                <a:spcPct val="100000"/>
              </a:lnSpc>
              <a:spcBef>
                <a:spcPts val="600"/>
              </a:spcBef>
              <a:spcAft>
                <a:spcPts val="0"/>
              </a:spcAft>
              <a:buSzPts val="1600"/>
              <a:buNone/>
            </a:pPr>
            <a:r>
              <a:rPr lang="en-US" sz="2000"/>
              <a:t>The aforementioned rules do not apply to the furniture items wherein a flat rate of 10% discount s admissible to all customers irrespective of the value of the order. </a:t>
            </a:r>
            <a:endParaRPr/>
          </a:p>
          <a:p>
            <a:pPr indent="0" lvl="0" marL="0" rtl="0" algn="just">
              <a:lnSpc>
                <a:spcPct val="100000"/>
              </a:lnSpc>
              <a:spcBef>
                <a:spcPts val="600"/>
              </a:spcBef>
              <a:spcAft>
                <a:spcPts val="0"/>
              </a:spcAft>
              <a:buSzPts val="1600"/>
              <a:buNone/>
            </a:pPr>
            <a:r>
              <a:rPr lang="en-US" sz="2000"/>
              <a:t>Design the test cases for this system using decision table testing.</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0"/>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Decision Table for Example 2 </a:t>
            </a:r>
            <a:endParaRPr/>
          </a:p>
        </p:txBody>
      </p:sp>
      <p:pic>
        <p:nvPicPr>
          <p:cNvPr id="317" name="Google Shape;317;p40"/>
          <p:cNvPicPr preferRelativeResize="0"/>
          <p:nvPr/>
        </p:nvPicPr>
        <p:blipFill rotWithShape="1">
          <a:blip r:embed="rId3">
            <a:alphaModFix/>
          </a:blip>
          <a:srcRect b="0" l="0" r="0" t="0"/>
          <a:stretch/>
        </p:blipFill>
        <p:spPr>
          <a:xfrm>
            <a:off x="1043608" y="1772816"/>
            <a:ext cx="8100392" cy="453650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62214"/>
              </a:buClr>
              <a:buSzPts val="4300"/>
              <a:buFont typeface="Gill Sans"/>
              <a:buNone/>
            </a:pPr>
            <a:r>
              <a:rPr lang="en-US"/>
              <a:t>Test cases for Example - 2</a:t>
            </a:r>
            <a:endParaRPr/>
          </a:p>
        </p:txBody>
      </p:sp>
      <p:sp>
        <p:nvSpPr>
          <p:cNvPr id="323" name="Google Shape;323;p41"/>
          <p:cNvSpPr txBox="1"/>
          <p:nvPr>
            <p:ph idx="1" type="body"/>
          </p:nvPr>
        </p:nvSpPr>
        <p:spPr>
          <a:xfrm>
            <a:off x="755576" y="1484784"/>
            <a:ext cx="8178800" cy="4171950"/>
          </a:xfrm>
          <a:prstGeom prst="rect">
            <a:avLst/>
          </a:prstGeom>
          <a:noFill/>
          <a:ln>
            <a:noFill/>
          </a:ln>
        </p:spPr>
        <p:txBody>
          <a:bodyPr anchorCtr="0" anchor="t" bIns="45700" lIns="91425" spcFirstLastPara="1" rIns="91425" wrap="square" tIns="45700">
            <a:normAutofit/>
          </a:bodyPr>
          <a:lstStyle/>
          <a:p>
            <a:pPr indent="0" lvl="0" marL="82296" rtl="0" algn="just">
              <a:lnSpc>
                <a:spcPct val="100000"/>
              </a:lnSpc>
              <a:spcBef>
                <a:spcPts val="0"/>
              </a:spcBef>
              <a:spcAft>
                <a:spcPts val="0"/>
              </a:spcAft>
              <a:buSzPts val="1920"/>
              <a:buNone/>
            </a:pPr>
            <a:r>
              <a:rPr lang="en-US" sz="2400"/>
              <a:t> </a:t>
            </a:r>
            <a:endParaRPr/>
          </a:p>
        </p:txBody>
      </p:sp>
      <p:graphicFrame>
        <p:nvGraphicFramePr>
          <p:cNvPr id="324" name="Google Shape;324;p41"/>
          <p:cNvGraphicFramePr/>
          <p:nvPr/>
        </p:nvGraphicFramePr>
        <p:xfrm>
          <a:off x="1187624" y="2054448"/>
          <a:ext cx="3000000" cy="3000000"/>
        </p:xfrm>
        <a:graphic>
          <a:graphicData uri="http://schemas.openxmlformats.org/drawingml/2006/table">
            <a:tbl>
              <a:tblPr bandRow="1" firstRow="1">
                <a:noFill/>
                <a:tableStyleId>{C8747EC3-9BEE-4359-89C8-865D0792875C}</a:tableStyleId>
              </a:tblPr>
              <a:tblGrid>
                <a:gridCol w="1143000"/>
                <a:gridCol w="1600200"/>
                <a:gridCol w="1447800"/>
                <a:gridCol w="1561150"/>
                <a:gridCol w="1791650"/>
              </a:tblGrid>
              <a:tr h="370850">
                <a:tc>
                  <a:txBody>
                    <a:bodyPr/>
                    <a:lstStyle/>
                    <a:p>
                      <a:pPr indent="0" lvl="0" marL="0" marR="0" rtl="0" algn="l">
                        <a:spcBef>
                          <a:spcPts val="0"/>
                        </a:spcBef>
                        <a:spcAft>
                          <a:spcPts val="0"/>
                        </a:spcAft>
                        <a:buNone/>
                      </a:pPr>
                      <a:r>
                        <a:rPr lang="en-US" sz="1800" u="none" cap="none" strike="noStrike"/>
                        <a:t>Test Case Id</a:t>
                      </a:r>
                      <a:endParaRPr sz="1800"/>
                    </a:p>
                  </a:txBody>
                  <a:tcPr marT="45725" marB="45725" marR="91450" marL="91450"/>
                </a:tc>
                <a:tc>
                  <a:txBody>
                    <a:bodyPr/>
                    <a:lstStyle/>
                    <a:p>
                      <a:pPr indent="0" lvl="0" marL="0" marR="0" rtl="0" algn="l">
                        <a:spcBef>
                          <a:spcPts val="0"/>
                        </a:spcBef>
                        <a:spcAft>
                          <a:spcPts val="0"/>
                        </a:spcAft>
                        <a:buNone/>
                      </a:pPr>
                      <a:r>
                        <a:rPr lang="en-US" sz="1800"/>
                        <a:t>Type of Customer</a:t>
                      </a:r>
                      <a:endParaRPr sz="1800"/>
                    </a:p>
                  </a:txBody>
                  <a:tcPr marT="45725" marB="45725" marR="91450" marL="91450"/>
                </a:tc>
                <a:tc>
                  <a:txBody>
                    <a:bodyPr/>
                    <a:lstStyle/>
                    <a:p>
                      <a:pPr indent="0" lvl="0" marL="0" marR="0" rtl="0" algn="l">
                        <a:spcBef>
                          <a:spcPts val="0"/>
                        </a:spcBef>
                        <a:spcAft>
                          <a:spcPts val="0"/>
                        </a:spcAft>
                        <a:buNone/>
                      </a:pPr>
                      <a:r>
                        <a:rPr lang="en-US" sz="1800"/>
                        <a:t>Product Furniture?</a:t>
                      </a:r>
                      <a:endParaRPr sz="1800"/>
                    </a:p>
                  </a:txBody>
                  <a:tcPr marT="45725" marB="45725" marR="91450" marL="91450"/>
                </a:tc>
                <a:tc>
                  <a:txBody>
                    <a:bodyPr/>
                    <a:lstStyle/>
                    <a:p>
                      <a:pPr indent="0" lvl="0" marL="0" marR="0" rtl="0" algn="l">
                        <a:spcBef>
                          <a:spcPts val="0"/>
                        </a:spcBef>
                        <a:spcAft>
                          <a:spcPts val="0"/>
                        </a:spcAft>
                        <a:buNone/>
                      </a:pPr>
                      <a:r>
                        <a:rPr lang="en-US" sz="1800"/>
                        <a:t>Order value (Rs)</a:t>
                      </a:r>
                      <a:endParaRPr sz="1800"/>
                    </a:p>
                  </a:txBody>
                  <a:tcPr marT="45725" marB="45725" marR="91450" marL="91450"/>
                </a:tc>
                <a:tc>
                  <a:txBody>
                    <a:bodyPr/>
                    <a:lstStyle/>
                    <a:p>
                      <a:pPr indent="0" lvl="0" marL="0" marR="0" rtl="0" algn="l">
                        <a:spcBef>
                          <a:spcPts val="0"/>
                        </a:spcBef>
                        <a:spcAft>
                          <a:spcPts val="0"/>
                        </a:spcAft>
                        <a:buNone/>
                      </a:pPr>
                      <a:r>
                        <a:rPr lang="en-US" sz="1800"/>
                        <a:t>Expected Result</a:t>
                      </a:r>
                      <a:endParaRPr sz="1800"/>
                    </a:p>
                  </a:txBody>
                  <a:tcPr marT="45725" marB="45725" marR="91450" marL="91450"/>
                </a:tc>
              </a:tr>
              <a:tr h="370850">
                <a:tc>
                  <a:txBody>
                    <a:bodyPr/>
                    <a:lstStyle/>
                    <a:p>
                      <a:pPr indent="0" lvl="0" marL="0" marR="0" rtl="0" algn="l">
                        <a:spcBef>
                          <a:spcPts val="0"/>
                        </a:spcBef>
                        <a:spcAft>
                          <a:spcPts val="0"/>
                        </a:spcAft>
                        <a:buNone/>
                      </a:pPr>
                      <a:r>
                        <a:rPr lang="en-US" sz="1800"/>
                        <a:t>1</a:t>
                      </a:r>
                      <a:endParaRPr sz="1800"/>
                    </a:p>
                  </a:txBody>
                  <a:tcPr marT="45725" marB="45725" marR="91450" marL="91450"/>
                </a:tc>
                <a:tc>
                  <a:txBody>
                    <a:bodyPr/>
                    <a:lstStyle/>
                    <a:p>
                      <a:pPr indent="0" lvl="0" marL="0" marR="0" rtl="0" algn="l">
                        <a:spcBef>
                          <a:spcPts val="0"/>
                        </a:spcBef>
                        <a:spcAft>
                          <a:spcPts val="0"/>
                        </a:spcAft>
                        <a:buNone/>
                      </a:pPr>
                      <a:r>
                        <a:rPr lang="en-US" sz="1800"/>
                        <a:t>DGS</a:t>
                      </a:r>
                      <a:r>
                        <a:rPr lang="en-US" sz="1800"/>
                        <a:t> &amp; D</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51,000</a:t>
                      </a:r>
                      <a:endParaRPr sz="1800"/>
                    </a:p>
                  </a:txBody>
                  <a:tcPr marT="45725" marB="45725" marR="91450" marL="91450"/>
                </a:tc>
                <a:tc>
                  <a:txBody>
                    <a:bodyPr/>
                    <a:lstStyle/>
                    <a:p>
                      <a:pPr indent="0" lvl="0" marL="0" marR="0" rtl="0" algn="l">
                        <a:spcBef>
                          <a:spcPts val="0"/>
                        </a:spcBef>
                        <a:spcAft>
                          <a:spcPts val="0"/>
                        </a:spcAft>
                        <a:buNone/>
                      </a:pPr>
                      <a:r>
                        <a:rPr lang="en-US" sz="1800"/>
                        <a:t>10% Discount</a:t>
                      </a:r>
                      <a:endParaRPr sz="1800"/>
                    </a:p>
                  </a:txBody>
                  <a:tcPr marT="45725" marB="45725" marR="91450" marL="91450"/>
                </a:tc>
              </a:tr>
              <a:tr h="370850">
                <a:tc>
                  <a:txBody>
                    <a:bodyPr/>
                    <a:lstStyle/>
                    <a:p>
                      <a:pPr indent="0" lvl="0" marL="0" marR="0" rtl="0" algn="l">
                        <a:spcBef>
                          <a:spcPts val="0"/>
                        </a:spcBef>
                        <a:spcAft>
                          <a:spcPts val="0"/>
                        </a:spcAft>
                        <a:buNone/>
                      </a:pPr>
                      <a:r>
                        <a:rPr lang="en-US" sz="1800"/>
                        <a:t>2</a:t>
                      </a:r>
                      <a:endParaRPr sz="1800"/>
                    </a:p>
                  </a:txBody>
                  <a:tcPr marT="45725" marB="45725" marR="91450" marL="91450"/>
                </a:tc>
                <a:tc>
                  <a:txBody>
                    <a:bodyPr/>
                    <a:lstStyle/>
                    <a:p>
                      <a:pPr indent="0" lvl="0" marL="0" marR="0" rtl="0" algn="l">
                        <a:spcBef>
                          <a:spcPts val="0"/>
                        </a:spcBef>
                        <a:spcAft>
                          <a:spcPts val="0"/>
                        </a:spcAft>
                        <a:buNone/>
                      </a:pPr>
                      <a:r>
                        <a:rPr lang="en-US" sz="1800"/>
                        <a:t>Agent</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52,000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15% Discount</a:t>
                      </a:r>
                      <a:endParaRPr/>
                    </a:p>
                  </a:txBody>
                  <a:tcPr marT="45725" marB="45725" marR="91450" marL="91450"/>
                </a:tc>
              </a:tr>
              <a:tr h="370850">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Retailer</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53,000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10% Discount</a:t>
                      </a:r>
                      <a:endParaRPr/>
                    </a:p>
                  </a:txBody>
                  <a:tcPr marT="45725" marB="45725" marR="91450" marL="91450"/>
                </a:tc>
              </a:tr>
              <a:tr h="370850">
                <a:tc>
                  <a:txBody>
                    <a:bodyPr/>
                    <a:lstStyle/>
                    <a:p>
                      <a:pPr indent="0" lvl="0" marL="0" marR="0" rtl="0" algn="l">
                        <a:spcBef>
                          <a:spcPts val="0"/>
                        </a:spcBef>
                        <a:spcAft>
                          <a:spcPts val="0"/>
                        </a:spcAft>
                        <a:buNone/>
                      </a:pPr>
                      <a:r>
                        <a:rPr lang="en-US" sz="1800"/>
                        <a:t>4</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Agent</a:t>
                      </a:r>
                      <a:endParaRPr/>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23,000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12% Discount</a:t>
                      </a:r>
                      <a:endParaRPr/>
                    </a:p>
                  </a:txBody>
                  <a:tcPr marT="45725" marB="45725" marR="91450" marL="91450"/>
                </a:tc>
              </a:tr>
              <a:tr h="370850">
                <a:tc>
                  <a:txBody>
                    <a:bodyPr/>
                    <a:lstStyle/>
                    <a:p>
                      <a:pPr indent="0" lvl="0" marL="0" marR="0" rtl="0" algn="l">
                        <a:spcBef>
                          <a:spcPts val="0"/>
                        </a:spcBef>
                        <a:spcAft>
                          <a:spcPts val="0"/>
                        </a:spcAft>
                        <a:buNone/>
                      </a:pPr>
                      <a:r>
                        <a:rPr lang="en-US" sz="1800"/>
                        <a:t>5</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Retailer</a:t>
                      </a:r>
                      <a:endParaRPr/>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27,000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8% Discount</a:t>
                      </a:r>
                      <a:endParaRPr/>
                    </a:p>
                  </a:txBody>
                  <a:tcPr marT="45725" marB="45725" marR="91450" marL="91450"/>
                </a:tc>
              </a:tr>
              <a:tr h="370850">
                <a:tc>
                  <a:txBody>
                    <a:bodyPr/>
                    <a:lstStyle/>
                    <a:p>
                      <a:pPr indent="0" lvl="0" marL="0" marR="0" rtl="0" algn="l">
                        <a:spcBef>
                          <a:spcPts val="0"/>
                        </a:spcBef>
                        <a:spcAft>
                          <a:spcPts val="0"/>
                        </a:spcAft>
                        <a:buNone/>
                      </a:pPr>
                      <a:r>
                        <a:rPr lang="en-US" sz="1800"/>
                        <a:t>6</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Agent</a:t>
                      </a:r>
                      <a:endParaRPr/>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15,000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8% Discount</a:t>
                      </a:r>
                      <a:endParaRPr/>
                    </a:p>
                  </a:txBody>
                  <a:tcPr marT="45725" marB="45725" marR="91450" marL="91450"/>
                </a:tc>
              </a:tr>
              <a:tr h="370850">
                <a:tc>
                  <a:txBody>
                    <a:bodyPr/>
                    <a:lstStyle/>
                    <a:p>
                      <a:pPr indent="0" lvl="0" marL="0" marR="0" rtl="0" algn="l">
                        <a:spcBef>
                          <a:spcPts val="0"/>
                        </a:spcBef>
                        <a:spcAft>
                          <a:spcPts val="0"/>
                        </a:spcAft>
                        <a:buNone/>
                      </a:pPr>
                      <a:r>
                        <a:rPr lang="en-US" sz="1800"/>
                        <a:t>7</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Retailer</a:t>
                      </a:r>
                      <a:endParaRPr/>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18,000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5% Discount</a:t>
                      </a:r>
                      <a:endParaRPr/>
                    </a:p>
                  </a:txBody>
                  <a:tcPr marT="45725" marB="45725" marR="91450" marL="91450"/>
                </a:tc>
              </a:tr>
              <a:tr h="370850">
                <a:tc>
                  <a:txBody>
                    <a:bodyPr/>
                    <a:lstStyle/>
                    <a:p>
                      <a:pPr indent="0" lvl="0" marL="0" marR="0" rtl="0" algn="l">
                        <a:spcBef>
                          <a:spcPts val="0"/>
                        </a:spcBef>
                        <a:spcAft>
                          <a:spcPts val="0"/>
                        </a:spcAft>
                        <a:buNone/>
                      </a:pPr>
                      <a:r>
                        <a:rPr lang="en-US" sz="1800"/>
                        <a:t>8</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Agent</a:t>
                      </a:r>
                      <a:endParaRPr/>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34,000</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Gill Sans"/>
                        <a:buNone/>
                      </a:pPr>
                      <a:r>
                        <a:rPr lang="en-US" sz="1800"/>
                        <a:t>10% Discount</a:t>
                      </a:r>
                      <a:endParaRPr/>
                    </a:p>
                  </a:txBody>
                  <a:tcPr marT="45725" marB="45725"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nvSpPr>
        <p:spPr>
          <a:xfrm>
            <a:off x="1127760" y="279401"/>
            <a:ext cx="7863840" cy="861775"/>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b="0" i="0" lang="en-US" sz="4800" u="none" cap="none" strike="noStrike">
                <a:solidFill>
                  <a:srgbClr val="572314"/>
                </a:solidFill>
                <a:latin typeface="Gill Sans"/>
                <a:ea typeface="Gill Sans"/>
                <a:cs typeface="Gill Sans"/>
                <a:sym typeface="Gill Sans"/>
              </a:rPr>
              <a:t>References </a:t>
            </a:r>
            <a:endParaRPr/>
          </a:p>
        </p:txBody>
      </p:sp>
      <p:sp>
        <p:nvSpPr>
          <p:cNvPr id="330" name="Google Shape;330;p42"/>
          <p:cNvSpPr/>
          <p:nvPr/>
        </p:nvSpPr>
        <p:spPr>
          <a:xfrm>
            <a:off x="1143000" y="1397000"/>
            <a:ext cx="7848600" cy="2103952"/>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b="0" i="0" lang="en-US" sz="2800" u="none" cap="none" strike="noStrike">
                <a:solidFill>
                  <a:schemeClr val="dk1"/>
                </a:solidFill>
                <a:latin typeface="Gill Sans"/>
                <a:ea typeface="Gill Sans"/>
                <a:cs typeface="Gill Sans"/>
                <a:sym typeface="Gill Sans"/>
              </a:rPr>
              <a:t>Naresh Chauhan, Software Testing: Principles and Practices, (Chapter – 4),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b="0" i="0" sz="2800" u="none" cap="none" strike="noStrike">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type="title"/>
          </p:nvPr>
        </p:nvSpPr>
        <p:spPr>
          <a:xfrm>
            <a:off x="424800" y="-303872"/>
            <a:ext cx="8223840" cy="1774267"/>
          </a:xfrm>
          <a:prstGeom prst="rect">
            <a:avLst/>
          </a:prstGeom>
          <a:noFill/>
          <a:ln>
            <a:noFill/>
          </a:ln>
        </p:spPr>
        <p:txBody>
          <a:bodyPr anchorCtr="0" anchor="ctr" bIns="41450" lIns="82925" spcFirstLastPara="1" rIns="82925" wrap="square" tIns="41450">
            <a:normAutofit/>
          </a:bodyPr>
          <a:lstStyle/>
          <a:p>
            <a:pPr indent="0" lvl="0" marL="0" rtl="0" algn="l">
              <a:spcBef>
                <a:spcPts val="0"/>
              </a:spcBef>
              <a:spcAft>
                <a:spcPts val="0"/>
              </a:spcAft>
              <a:buClr>
                <a:srgbClr val="562214"/>
              </a:buClr>
              <a:buSzPts val="6600"/>
              <a:buFont typeface="Gill Sans"/>
              <a:buNone/>
            </a:pPr>
            <a:r>
              <a:rPr lang="en-US" sz="6600"/>
              <a:t> </a:t>
            </a:r>
            <a:endParaRPr/>
          </a:p>
        </p:txBody>
      </p:sp>
      <p:sp>
        <p:nvSpPr>
          <p:cNvPr id="336" name="Google Shape;336;p43"/>
          <p:cNvSpPr txBox="1"/>
          <p:nvPr>
            <p:ph idx="1" type="body"/>
          </p:nvPr>
        </p:nvSpPr>
        <p:spPr>
          <a:xfrm>
            <a:off x="348480" y="1307657"/>
            <a:ext cx="8516160" cy="4752499"/>
          </a:xfrm>
          <a:prstGeom prst="rect">
            <a:avLst/>
          </a:prstGeom>
          <a:noFill/>
          <a:ln>
            <a:noFill/>
          </a:ln>
        </p:spPr>
        <p:txBody>
          <a:bodyPr anchorCtr="0" anchor="t" bIns="41450" lIns="82925" spcFirstLastPara="1" rIns="82925" wrap="square" tIns="41450">
            <a:normAutofit/>
          </a:bodyPr>
          <a:lstStyle/>
          <a:p>
            <a:pPr indent="0" lvl="0" marL="0" rtl="0" algn="l">
              <a:lnSpc>
                <a:spcPct val="105000"/>
              </a:lnSpc>
              <a:spcBef>
                <a:spcPts val="0"/>
              </a:spcBef>
              <a:spcAft>
                <a:spcPts val="0"/>
              </a:spcAft>
              <a:buSzPts val="3520"/>
              <a:buNone/>
            </a:pPr>
            <a:r>
              <a:t/>
            </a:r>
            <a:endParaRPr sz="4400"/>
          </a:p>
          <a:p>
            <a:pPr indent="0" lvl="0" marL="0" rtl="0" algn="l">
              <a:lnSpc>
                <a:spcPct val="105000"/>
              </a:lnSpc>
              <a:spcBef>
                <a:spcPts val="220"/>
              </a:spcBef>
              <a:spcAft>
                <a:spcPts val="0"/>
              </a:spcAft>
              <a:buSzPts val="3520"/>
              <a:buNone/>
            </a:pPr>
            <a:r>
              <a:t/>
            </a:r>
            <a:endParaRPr sz="4400"/>
          </a:p>
          <a:p>
            <a:pPr indent="0" lvl="0" marL="0" rtl="0" algn="l">
              <a:lnSpc>
                <a:spcPct val="105000"/>
              </a:lnSpc>
              <a:spcBef>
                <a:spcPts val="220"/>
              </a:spcBef>
              <a:spcAft>
                <a:spcPts val="0"/>
              </a:spcAft>
              <a:buSzPts val="3520"/>
              <a:buNone/>
            </a:pPr>
            <a:r>
              <a:t/>
            </a:r>
            <a:endParaRPr sz="4400"/>
          </a:p>
          <a:p>
            <a:pPr indent="0" lvl="0" marL="0" rtl="0" algn="l">
              <a:lnSpc>
                <a:spcPct val="105000"/>
              </a:lnSpc>
              <a:spcBef>
                <a:spcPts val="220"/>
              </a:spcBef>
              <a:spcAft>
                <a:spcPts val="0"/>
              </a:spcAft>
              <a:buSzPts val="3520"/>
              <a:buNone/>
            </a:pPr>
            <a:r>
              <a:rPr lang="en-US" sz="4400"/>
              <a:t>				</a:t>
            </a:r>
            <a:r>
              <a:rPr b="1" lang="en-US" sz="4400"/>
              <a:t>Thank You</a:t>
            </a:r>
            <a:endParaRPr/>
          </a:p>
        </p:txBody>
      </p:sp>
      <p:sp>
        <p:nvSpPr>
          <p:cNvPr id="337" name="Google Shape;337;p43"/>
          <p:cNvSpPr txBox="1"/>
          <p:nvPr>
            <p:ph idx="12" type="sldNum"/>
          </p:nvPr>
        </p:nvSpPr>
        <p:spPr>
          <a:xfrm>
            <a:off x="8613648" y="6305550"/>
            <a:ext cx="457200" cy="476250"/>
          </a:xfrm>
          <a:prstGeom prst="rect">
            <a:avLst/>
          </a:prstGeom>
          <a:noFill/>
          <a:ln>
            <a:noFill/>
          </a:ln>
        </p:spPr>
        <p:txBody>
          <a:bodyPr anchorCtr="0" anchor="b" bIns="41450" lIns="82925" spcFirstLastPara="1" rIns="82925" wrap="square" tIns="41450">
            <a:noAutofit/>
          </a:bodyPr>
          <a:lstStyle/>
          <a:p>
            <a:pPr indent="0" lvl="0" marL="0" rtl="0" algn="ctr">
              <a:spcBef>
                <a:spcPts val="0"/>
              </a:spcBef>
              <a:spcAft>
                <a:spcPts val="0"/>
              </a:spcAft>
              <a:buNone/>
            </a:pPr>
            <a:fld id="{00000000-1234-1234-1234-123412341234}" type="slidenum">
              <a:rPr lang="en-US" sz="1400">
                <a:solidFill>
                  <a:srgbClr val="000000"/>
                </a:solidFill>
                <a:latin typeface="Arial"/>
                <a:ea typeface="Arial"/>
                <a:cs typeface="Arial"/>
                <a:sym typeface="Arial"/>
              </a:rPr>
              <a:t>‹#›</a:t>
            </a:fld>
            <a:endParaRPr sz="14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